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51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510" r:id="rId70"/>
    <p:sldId id="360" r:id="rId71"/>
    <p:sldId id="26646"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1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646"/>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MO" userId="S::Melinda.Ojeda@det.nsw.edu.au::d90aca96-824c-4874-b48e-bcce1db91155" providerId="AD"/>
  <p188:author id="{8C6D2936-6756-1476-1E4B-4B33D1F539E1}" name="Carrie Webeck" initials="CW" userId="S::carrie-ann.webeck@det.nsw.edu.au::e5c4b697-ca15-4f3a-a906-1289ddc2fc07" providerId="AD"/>
  <p188:author id="{95D16B7D-CADB-F2BF-AC29-D680545C75EE}" name="Carrie Webeck" initials="CW" userId="S::CARRIE-ANN.WEBECK@det.nsw.edu.au::e5c4b697-ca15-4f3a-a906-1289ddc2fc07" providerId="AD"/>
  <p188:author id="{DA9BD088-CFEB-C075-A83C-A3F4AD168C73}" name="Andy Azariah (Andrea)" initials="" userId="S::Andrea.Azariah5@det.nsw.edu.au::7d601812-350f-4ed8-86d1-fa0869c3257c"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51F"/>
    <a:srgbClr val="FFFFFF"/>
    <a:srgbClr val="FF66C4"/>
    <a:srgbClr val="FFDE59"/>
    <a:srgbClr val="38B6FF"/>
    <a:srgbClr val="7ED957"/>
    <a:srgbClr val="FF99FF"/>
    <a:srgbClr val="66FFFF"/>
    <a:srgbClr val="FFCC66"/>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ACCD22-055F-4196-9B08-CC324E12B253}" v="1017" dt="2025-11-30T22:57:48.984"/>
    <p1510:client id="{DFB24334-CC92-48F8-A771-1C08AAA8FF47}" v="3" dt="2025-11-30T07:42:03.13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25</a:t>
            </a:r>
          </a:p>
          <a:p>
            <a:pPr marL="285750" indent="-285750">
              <a:buFont typeface="Arial" panose="020B0604020202020204" pitchFamily="34" charset="0"/>
              <a:buChar char="•"/>
            </a:pPr>
            <a:r>
              <a:rPr lang="en-AU"/>
              <a:t>Stage 3 Year B Unit 24</a:t>
            </a:r>
          </a:p>
          <a:p>
            <a:pPr marL="285750" indent="-285750">
              <a:buFont typeface="Arial" panose="020B0604020202020204" pitchFamily="34" charset="0"/>
              <a:buChar char="•"/>
            </a:pPr>
            <a:r>
              <a:rPr lang="en-AU"/>
              <a:t>Stage 3 Year B Unit 23</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Representing quantity fractions B</a:t>
            </a:r>
          </a:p>
          <a:p>
            <a:endParaRPr lang="en-AU" sz="1800"/>
          </a:p>
          <a:p>
            <a:r>
              <a:rPr lang="en-AU" sz="1800" b="1"/>
              <a:t>Division: fractions as sharing 1</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Lamingtons from </a:t>
            </a:r>
            <a:r>
              <a:rPr lang="en-AU" sz="1600" kern="1200" err="1">
                <a:solidFill>
                  <a:schemeClr val="tx1"/>
                </a:solidFill>
                <a:effectLst/>
                <a:latin typeface="Arial" panose="020B0604020202020204" pitchFamily="34" charset="0"/>
                <a:ea typeface="+mn-ea"/>
                <a:cs typeface="Arial" panose="020B0604020202020204" pitchFamily="34" charset="0"/>
              </a:rPr>
              <a:t>reSolve</a:t>
            </a:r>
            <a:r>
              <a:rPr lang="en-AU" sz="1600" kern="1200">
                <a:solidFill>
                  <a:schemeClr val="tx1"/>
                </a:solidFill>
                <a:effectLst/>
                <a:latin typeface="Arial" panose="020B0604020202020204" pitchFamily="34" charset="0"/>
                <a:ea typeface="+mn-ea"/>
                <a:cs typeface="Arial" panose="020B0604020202020204" pitchFamily="34" charset="0"/>
              </a:rPr>
              <a:t> by Australian Government Department of Education.</a:t>
            </a:r>
          </a:p>
          <a:p>
            <a:endParaRPr lang="en-AU" sz="1800">
              <a:effectLst/>
              <a:latin typeface="Arial" panose="020B0604020202020204" pitchFamily="34" charset="0"/>
              <a:ea typeface="Calibri" panose="020F0502020204030204" pitchFamily="34" charset="0"/>
            </a:endParaRPr>
          </a:p>
          <a:p>
            <a:pPr marL="342900" lvl="0" indent="-342900">
              <a:lnSpc>
                <a:spcPct val="150000"/>
              </a:lnSpc>
              <a:buFont typeface="+mj-lt"/>
              <a:buAutoNum type="arabicPeriod"/>
            </a:pPr>
            <a:r>
              <a:rPr lang="en-AU" sz="1800">
                <a:effectLst/>
                <a:latin typeface="Arial" panose="020B0604020202020204" pitchFamily="34" charset="0"/>
                <a:ea typeface="Calibri" panose="020F0502020204030204" pitchFamily="34" charset="0"/>
              </a:rPr>
              <a:t>Select 10 students. Position them so they cannot see the plates until they are called for their turn.</a:t>
            </a:r>
          </a:p>
          <a:p>
            <a:pPr marL="342900" lvl="0" indent="-342900">
              <a:lnSpc>
                <a:spcPct val="150000"/>
              </a:lnSpc>
              <a:buFont typeface="+mj-lt"/>
              <a:buAutoNum type="arabicPeriod"/>
            </a:pPr>
            <a:r>
              <a:rPr lang="en-AU" sz="1800">
                <a:effectLst/>
                <a:latin typeface="Arial" panose="020B0604020202020204" pitchFamily="34" charset="0"/>
                <a:ea typeface="Calibri" panose="020F0502020204030204" pitchFamily="34" charset="0"/>
              </a:rPr>
              <a:t>Ask the first student to sit behind a plate. Ask them to justify their choice.</a:t>
            </a:r>
          </a:p>
          <a:p>
            <a:pPr marL="342900" lvl="0" indent="-342900">
              <a:lnSpc>
                <a:spcPct val="150000"/>
              </a:lnSpc>
              <a:buFont typeface="+mj-lt"/>
              <a:buAutoNum type="arabicPeriod"/>
            </a:pPr>
            <a:r>
              <a:rPr lang="en-AU" sz="1800">
                <a:effectLst/>
                <a:latin typeface="Arial" panose="020B0604020202020204" pitchFamily="34" charset="0"/>
                <a:ea typeface="Calibri" panose="020F0502020204030204" pitchFamily="34" charset="0"/>
              </a:rPr>
              <a:t>Repeat for the other 9 students, reminding them that they will need to share the chocolate with whoever is behind their plate.</a:t>
            </a:r>
          </a:p>
          <a:p>
            <a:pPr marL="342900" lvl="0" indent="-342900">
              <a:lnSpc>
                <a:spcPct val="150000"/>
              </a:lnSpc>
              <a:buFont typeface="+mj-lt"/>
              <a:buAutoNum type="arabicPeriod"/>
            </a:pPr>
            <a:r>
              <a:rPr lang="en-AU" sz="1800">
                <a:effectLst/>
                <a:latin typeface="Arial" panose="020B0604020202020204" pitchFamily="34" charset="0"/>
                <a:ea typeface="Calibri" panose="020F0502020204030204" pitchFamily="34" charset="0"/>
              </a:rPr>
              <a:t>Ask how much chocolate the students behind each plate will receive. Students think-pair-share and justify their thinking.</a:t>
            </a:r>
          </a:p>
          <a:p>
            <a:pPr marL="342900" lvl="0" indent="-342900">
              <a:lnSpc>
                <a:spcPct val="150000"/>
              </a:lnSpc>
              <a:buFont typeface="+mj-lt"/>
              <a:buAutoNum type="arabicPeriod"/>
            </a:pPr>
            <a:r>
              <a:rPr lang="en-AU" sz="1800">
                <a:effectLst/>
                <a:latin typeface="Arial" panose="020B0604020202020204" pitchFamily="34" charset="0"/>
                <a:ea typeface="Calibri" panose="020F0502020204030204" pitchFamily="34" charset="0"/>
              </a:rPr>
              <a:t>Discuss similarities and differences between different strategies used.</a:t>
            </a:r>
          </a:p>
          <a:p>
            <a:pPr marL="342900" lvl="0" indent="-342900">
              <a:lnSpc>
                <a:spcPct val="150000"/>
              </a:lnSpc>
              <a:buFont typeface="+mj-lt"/>
              <a:buAutoNum type="arabicPeriod"/>
            </a:pPr>
            <a:r>
              <a:rPr lang="en-AU" sz="1800">
                <a:effectLst/>
                <a:latin typeface="Arial" panose="020B0604020202020204" pitchFamily="34" charset="0"/>
                <a:ea typeface="Calibri" panose="020F0502020204030204" pitchFamily="34" charset="0"/>
              </a:rPr>
              <a:t>Demonstrate solving the problem by dividing each chocolate bar into the same number of parts as students. Record how much chocolate students in each group would receive, for example 3 fifths.</a:t>
            </a:r>
          </a:p>
          <a:p>
            <a:pPr marL="342900" lvl="0" indent="-342900">
              <a:lnSpc>
                <a:spcPct val="150000"/>
              </a:lnSpc>
              <a:spcBef>
                <a:spcPts val="1200"/>
              </a:spcBef>
              <a:buFont typeface="+mj-lt"/>
              <a:buAutoNum type="arabicPeriod"/>
            </a:pPr>
            <a:r>
              <a:rPr lang="en-AU" sz="1800">
                <a:effectLst/>
                <a:latin typeface="Arial" panose="020B0604020202020204" pitchFamily="34" charset="0"/>
                <a:ea typeface="Calibri" panose="020F0502020204030204" pitchFamily="34" charset="0"/>
              </a:rPr>
              <a:t>Explain that this strategy demonstrates that fractions represent division because 3 shared between 5 is equal to 3 fifths</a:t>
            </a:r>
            <a:r>
              <a:rPr lang="en-AU" sz="1800">
                <a:effectLst/>
                <a:latin typeface="Arial" panose="020B0604020202020204" pitchFamily="34" charset="0"/>
                <a:ea typeface="Yu Mincho" panose="02020400000000000000" pitchFamily="18" charset="-128"/>
              </a:rPr>
              <a:t>, so 3 ÷ 5 = 3 fifths.</a:t>
            </a:r>
            <a:endParaRPr lang="en-AU" sz="1800">
              <a:effectLst/>
              <a:latin typeface="Arial" panose="020B0604020202020204" pitchFamily="34" charset="0"/>
              <a:ea typeface="Calibri" panose="020F0502020204030204" pitchFamily="34" charset="0"/>
            </a:endParaRPr>
          </a:p>
          <a:p>
            <a:pPr marL="342900" lvl="0" indent="-342900">
              <a:lnSpc>
                <a:spcPct val="150000"/>
              </a:lnSpc>
              <a:buFont typeface="+mj-lt"/>
              <a:buAutoNum type="arabicPeriod"/>
            </a:pPr>
            <a:r>
              <a:rPr lang="en-AU" sz="1800">
                <a:effectLst/>
                <a:latin typeface="Arial" panose="020B0604020202020204" pitchFamily="34" charset="0"/>
                <a:ea typeface="Calibri" panose="020F0502020204030204" pitchFamily="34" charset="0"/>
              </a:rPr>
              <a:t>Ask students to demonstrate if the same applies to the other 2 groups.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59929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p>
          <a:p>
            <a:pPr>
              <a:defRPr/>
            </a:pPr>
            <a:r>
              <a:rPr lang="en-AU" b="0">
                <a:solidFill>
                  <a:srgbClr val="444444"/>
                </a:solidFill>
                <a:latin typeface="Arial"/>
                <a:cs typeface="Arial"/>
              </a:rPr>
              <a:t>Representing quantity fractions B</a:t>
            </a:r>
            <a:endParaRPr lang="en-US" b="0">
              <a:solidFill>
                <a:srgbClr val="444444"/>
              </a:solidFill>
              <a:latin typeface="Arial"/>
              <a:cs typeface="Arial"/>
            </a:endParaRPr>
          </a:p>
          <a:p>
            <a:pPr algn="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a:t>
            </a:r>
            <a:endParaRPr lang="en-AU"/>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Division: fractions as sharing 2</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Lamingtons from </a:t>
            </a:r>
            <a:r>
              <a:rPr lang="en-AU" sz="1600" kern="1200" err="1">
                <a:solidFill>
                  <a:schemeClr val="tx1"/>
                </a:solidFill>
                <a:effectLst/>
                <a:latin typeface="Arial" panose="020B0604020202020204" pitchFamily="34" charset="0"/>
                <a:ea typeface="+mn-ea"/>
                <a:cs typeface="Arial" panose="020B0604020202020204" pitchFamily="34" charset="0"/>
              </a:rPr>
              <a:t>reSolve</a:t>
            </a:r>
            <a:r>
              <a:rPr lang="en-AU" sz="1600" kern="1200">
                <a:solidFill>
                  <a:schemeClr val="tx1"/>
                </a:solidFill>
                <a:effectLst/>
                <a:latin typeface="Arial" panose="020B0604020202020204" pitchFamily="34" charset="0"/>
                <a:ea typeface="+mn-ea"/>
                <a:cs typeface="Arial" panose="020B0604020202020204" pitchFamily="34" charset="0"/>
              </a:rPr>
              <a:t> by Australian Government Department of Education.</a:t>
            </a:r>
          </a:p>
          <a:p>
            <a:pPr marL="342900" indent="-342900">
              <a:buFont typeface="+mj-lt"/>
              <a:buAutoNum type="arabicPeriod"/>
            </a:pPr>
            <a:endParaRPr lang="en-AU" b="0"/>
          </a:p>
          <a:p>
            <a:r>
              <a:rPr lang="en-AU" b="0"/>
              <a:t>This resource corresponds to Resource 31 – sharing chocolate in Stage 3 Year B Unit 25. </a:t>
            </a:r>
          </a:p>
          <a:p>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another class completed the chocolate bar sharing activity from Lesson 1. However, in this class, all 24 students participated. The first plate had 3 chocolates, the second had 4, the third had 5 and a fourth had 6. The 24 students came into their classroom one at a time and chose where to sit.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to work in pairs and use the fractions as division strategy shown in Lesson 1 to solve the questions. Encourage students to draw their solutions.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pairs to share their thinking.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Discuss student responses, asking question such as: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was challenging about this task?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all pairs have the same answers? Why or why not?</a:t>
            </a:r>
          </a:p>
          <a:p>
            <a:endParaRPr lang="en-AU" b="0"/>
          </a:p>
          <a:p>
            <a:endParaRPr lang="en-AU" b="1"/>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a:solidFill>
                  <a:srgbClr val="000000"/>
                </a:solidFill>
                <a:effectLst/>
                <a:latin typeface="Arial" panose="020B0604020202020204" pitchFamily="34" charset="0"/>
                <a:cs typeface="Arial" panose="020B0604020202020204" pitchFamily="34" charset="0"/>
              </a:rPr>
              <a:t>Geometric Measure B</a:t>
            </a:r>
          </a:p>
          <a:p>
            <a:pPr>
              <a:defRPr/>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Fair shares with fractions 1</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Lamingtons from </a:t>
            </a:r>
            <a:r>
              <a:rPr lang="en-AU" sz="1600" kern="1200" err="1">
                <a:solidFill>
                  <a:schemeClr val="tx1"/>
                </a:solidFill>
                <a:effectLst/>
                <a:latin typeface="Arial" panose="020B0604020202020204" pitchFamily="34" charset="0"/>
                <a:ea typeface="+mn-ea"/>
                <a:cs typeface="Arial" panose="020B0604020202020204" pitchFamily="34" charset="0"/>
              </a:rPr>
              <a:t>reSolve</a:t>
            </a:r>
            <a:r>
              <a:rPr lang="en-AU" sz="1600" kern="1200">
                <a:solidFill>
                  <a:schemeClr val="tx1"/>
                </a:solidFill>
                <a:effectLst/>
                <a:latin typeface="Arial" panose="020B0604020202020204" pitchFamily="34" charset="0"/>
                <a:ea typeface="+mn-ea"/>
                <a:cs typeface="Arial" panose="020B0604020202020204" pitchFamily="34" charset="0"/>
              </a:rPr>
              <a:t> by Australian Government Department of Education.</a:t>
            </a:r>
          </a:p>
          <a:p>
            <a:endParaRPr lang="en-AU" b="0"/>
          </a:p>
          <a:p>
            <a:r>
              <a:rPr lang="en-AU" b="0"/>
              <a:t>This resource corresponds to Resource 31 – sharing chocolate in Stage 3 Year B Unit .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Use Resource 31 – sharing chocolate to review the previous activity, reminding students that in the scenario students in the: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first group received 3 fifths.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second group received 4 fifths.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third group received 5 sixths.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fourth group received 6 eighths.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2.     Ask students to consider how much each student would receive if the chocolate bars were shared equally across the groups.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many students are there? 24.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many chocolate bars are there? 18.</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 strategy used in the previous lessons the best strategy? Why or why not? It is not the best strategy because it is impractical to cut chocolate bars into 24 pieces.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are some suggested strategies similar and how are they different?</a:t>
            </a:r>
          </a:p>
          <a:p>
            <a:pPr marL="0" lvl="0" indent="0">
              <a:buFont typeface="+mj-lt"/>
              <a:buNone/>
            </a:pPr>
            <a:r>
              <a:rPr lang="en-AU" sz="1600" kern="1200">
                <a:solidFill>
                  <a:schemeClr val="tx1"/>
                </a:solidFill>
                <a:effectLst/>
                <a:latin typeface="Arial" panose="020B0604020202020204" pitchFamily="34" charset="0"/>
                <a:ea typeface="+mn-ea"/>
                <a:cs typeface="Arial" panose="020B0604020202020204" pitchFamily="34" charset="0"/>
              </a:rPr>
              <a:t>3.     Demonstrate dividing 12 chocolate bars in half, giving 24 halves and therefore, each student one half. Divide the remaining 6 chocolate bars into quarters,</a:t>
            </a:r>
            <a:r>
              <a:rPr lang="en-AU" sz="1600" kern="1200" baseline="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giving 24 quarters and therefore, each student a further one quarter. Each student now receives one half plus one quarter.</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Ask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think of another way to write one half, one quarter and</a:t>
            </a:r>
            <a:r>
              <a:rPr lang="en-AU" sz="1600" kern="1200" baseline="0">
                <a:solidFill>
                  <a:schemeClr val="tx1"/>
                </a:solidFill>
                <a:effectLst/>
                <a:latin typeface="Arial" panose="020B0604020202020204" pitchFamily="34" charset="0"/>
                <a:ea typeface="+mn-ea"/>
                <a:cs typeface="Arial" panose="020B0604020202020204" pitchFamily="34" charset="0"/>
              </a:rPr>
              <a:t> 3 quarters?</a:t>
            </a:r>
            <a:r>
              <a:rPr lang="en-AU" sz="1600" kern="1200">
                <a:solidFill>
                  <a:schemeClr val="tx1"/>
                </a:solidFill>
                <a:effectLst/>
                <a:latin typeface="Arial" panose="020B0604020202020204" pitchFamily="34" charset="0"/>
                <a:ea typeface="+mn-ea"/>
                <a:cs typeface="Arial" panose="020B0604020202020204" pitchFamily="34" charset="0"/>
              </a:rPr>
              <a:t> How do you know?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group gets more using this method? The first group.</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group gets less using this method? The second and third groups.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group gets the same using this method? The fourth group.</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Representing quantity fractions B</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a:t>
            </a:r>
            <a:endParaRPr lang="en-AU"/>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 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Fair shares with fractions 2</a:t>
            </a:r>
          </a:p>
          <a:p>
            <a:r>
              <a:rPr lang="en-AU" sz="1600" kern="1200">
                <a:solidFill>
                  <a:schemeClr val="tx1"/>
                </a:solidFill>
                <a:effectLst/>
                <a:latin typeface="Arial"/>
                <a:cs typeface="Arial"/>
              </a:rPr>
              <a:t>This activity is an adaptation of Lamingtons from </a:t>
            </a:r>
            <a:r>
              <a:rPr lang="en-AU" sz="1600" kern="1200" err="1">
                <a:solidFill>
                  <a:schemeClr val="tx1"/>
                </a:solidFill>
                <a:effectLst/>
                <a:latin typeface="Arial"/>
                <a:cs typeface="Arial"/>
              </a:rPr>
              <a:t>reSolve</a:t>
            </a:r>
            <a:r>
              <a:rPr lang="en-AU" sz="1600" kern="1200">
                <a:solidFill>
                  <a:schemeClr val="tx1"/>
                </a:solidFill>
                <a:effectLst/>
                <a:latin typeface="Arial"/>
                <a:cs typeface="Arial"/>
              </a:rPr>
              <a:t> by Australian Government Department of Education.</a:t>
            </a:r>
            <a:r>
              <a:rPr lang="en-AU">
                <a:latin typeface="Arial"/>
                <a:cs typeface="Arial"/>
              </a:rPr>
              <a:t> </a:t>
            </a:r>
            <a:br>
              <a:rPr lang="en-US"/>
            </a:br>
            <a:endParaRPr lang="en-AU" sz="1600" b="1"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Explain to students that they will be designing their own problem. Their task is to create their own chocolate-sharing scenario and work out how much each person would get.</a:t>
            </a: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Model the process. For example, there are 4 chocolate bars and 5 students. Each student would get 4 ÷ 5, which is four fifths of a chocolate bar. Show how this could be represented with a labelled diagram or drawing</a:t>
            </a:r>
            <a:r>
              <a:rPr lang="en-AU" sz="1600" b="1" kern="1200">
                <a:solidFill>
                  <a:schemeClr val="tx1"/>
                </a:solidFill>
                <a:effectLst/>
                <a:latin typeface="Arial" panose="020B0604020202020204" pitchFamily="34" charset="0"/>
                <a:ea typeface="+mn-ea"/>
                <a:cs typeface="Arial" panose="020B0604020202020204" pitchFamily="34" charset="0"/>
              </a:rPr>
              <a:t>.</a:t>
            </a: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b="0" kern="1200">
                <a:solidFill>
                  <a:schemeClr val="tx1"/>
                </a:solidFill>
                <a:effectLst/>
                <a:latin typeface="Arial" panose="020B0604020202020204" pitchFamily="34" charset="0"/>
                <a:ea typeface="+mn-ea"/>
                <a:cs typeface="Arial" panose="020B0604020202020204" pitchFamily="34" charset="0"/>
              </a:rPr>
              <a:t>Ask student to use whiteboards to record their problem, including:</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The total number of chocolate bars.</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The total number of people.</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A diagram or model to represent the sharing.</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A fraction representing how much each person receives.</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A reflection prompt: Is this a fair share? How do you know?</a:t>
            </a:r>
          </a:p>
          <a:p>
            <a:pPr marL="342900" lvl="0" indent="-342900">
              <a:buFont typeface="+mj-lt"/>
              <a:buAutoNum type="arabicPeriod" startAt="4"/>
            </a:pPr>
            <a:r>
              <a:rPr lang="en-AU" sz="1600" b="0" kern="1200">
                <a:solidFill>
                  <a:schemeClr val="tx1"/>
                </a:solidFill>
                <a:effectLst/>
                <a:latin typeface="Arial" panose="020B0604020202020204" pitchFamily="34" charset="0"/>
                <a:ea typeface="+mn-ea"/>
                <a:cs typeface="Arial" panose="020B0604020202020204" pitchFamily="34" charset="0"/>
              </a:rPr>
              <a:t>Students work in pairs to:</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create and solve their own chocolate-sharing problem</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represent their thinking using diagrams and fractions</a:t>
            </a:r>
          </a:p>
          <a:p>
            <a:pPr marL="342900" lvl="0" indent="-34290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justify their reasoning.</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Represents numbers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a:t>
            </a:r>
            <a:endParaRPr lang="en-AU"/>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 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b="0" kern="1200">
                <a:solidFill>
                  <a:schemeClr val="tx1"/>
                </a:solidFill>
                <a:effectLst/>
                <a:latin typeface="Arial" panose="020B0604020202020204" pitchFamily="34" charset="0"/>
                <a:ea typeface="+mn-ea"/>
                <a:cs typeface="Arial" panose="020B0604020202020204" pitchFamily="34" charset="0"/>
              </a:rPr>
              <a:t>This slide is designed to be used in presentation mode to reveal stacks one at a time.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Fractions and percentages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Simple fractions as percentages from NZ Maths by New Zealand Ministry of Education.</a:t>
            </a:r>
          </a:p>
          <a:p>
            <a:endParaRPr lang="en-AU" b="0"/>
          </a:p>
          <a:p>
            <a:r>
              <a:rPr lang="en-AU" b="0"/>
              <a:t>This resource corresponds to Figures 5 &amp; 6 in Stage 3 Year B Unit 25. </a:t>
            </a:r>
          </a:p>
          <a:p>
            <a:endParaRPr lang="en-AU" b="0"/>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Show students a stack of 2 interlocking cubes of different colours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what fractions can be seen (one half).</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what percentage can be seen and how it could be written. (50%.)</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Show students 2 other stacks of interlocking cubes that also represent 50% of each colour.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same about all 3 stacks and what is different?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each colour is in each stack? 50%.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it be 50% when there are different numbers in each stack? Remind students that 50% is equal to one half?</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many of each colour would there be if there were 100 cubes in total?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you show 25% of 100 interlocking cubes? Explain your thinking.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you show 10% of 100 cubes? Explain your thinking.</a:t>
            </a:r>
          </a:p>
          <a:p>
            <a:pPr marL="342900" lvl="0" indent="-342900">
              <a:buFont typeface="+mj-lt"/>
              <a:buAutoNum type="arabicPeriod" startAt="6"/>
            </a:pPr>
            <a:r>
              <a:rPr lang="en-AU" sz="1600" kern="1200">
                <a:solidFill>
                  <a:schemeClr val="tx1"/>
                </a:solidFill>
                <a:effectLst/>
                <a:latin typeface="Arial" panose="020B0604020202020204" pitchFamily="34" charset="0"/>
                <a:ea typeface="+mn-ea"/>
                <a:cs typeface="Arial" panose="020B0604020202020204" pitchFamily="34" charset="0"/>
              </a:rPr>
              <a:t>Distribute interlocking cubes and in small groups make stacks to show: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50%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25%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75%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100%.</a:t>
            </a:r>
          </a:p>
          <a:p>
            <a:pPr marL="342900" lvl="0" indent="-342900">
              <a:buFont typeface="+mj-lt"/>
              <a:buAutoNum type="arabicPeriod" startAt="7"/>
            </a:pPr>
            <a:r>
              <a:rPr lang="en-AU" sz="1600" kern="1200">
                <a:solidFill>
                  <a:schemeClr val="tx1"/>
                </a:solidFill>
                <a:effectLst/>
                <a:latin typeface="Arial" panose="020B0604020202020204" pitchFamily="34" charset="0"/>
                <a:ea typeface="+mn-ea"/>
                <a:cs typeface="Arial" panose="020B0604020202020204" pitchFamily="34" charset="0"/>
              </a:rPr>
              <a:t>Select groups to share their stacks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 you know that the percentage is correct?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think of a fraction that is the same as the percentage?</a:t>
            </a:r>
          </a:p>
          <a:p>
            <a:pPr marL="342900" indent="-342900">
              <a:buFont typeface="+mj-lt"/>
              <a:buAutoNum type="arabicPeriod"/>
            </a:pP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Represents numbers B</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B</a:t>
            </a:r>
            <a:endParaRPr lang="en-AU"/>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Percentages for comparisons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‘Best At?’ from </a:t>
            </a:r>
            <a:r>
              <a:rPr lang="en-AU" sz="1600" i="1" kern="1200">
                <a:solidFill>
                  <a:schemeClr val="tx1"/>
                </a:solidFill>
                <a:effectLst/>
                <a:latin typeface="Arial" panose="020B0604020202020204" pitchFamily="34" charset="0"/>
                <a:ea typeface="+mn-ea"/>
                <a:cs typeface="Arial" panose="020B0604020202020204" pitchFamily="34" charset="0"/>
              </a:rPr>
              <a:t>A Practical Guide to Transforming Primary Mathematics: Activities and tasks that really work</a:t>
            </a:r>
            <a:r>
              <a:rPr lang="en-AU" sz="1600" kern="1200">
                <a:solidFill>
                  <a:schemeClr val="tx1"/>
                </a:solidFill>
                <a:effectLst/>
                <a:latin typeface="Arial" panose="020B0604020202020204" pitchFamily="34" charset="0"/>
                <a:ea typeface="+mn-ea"/>
                <a:cs typeface="Arial" panose="020B0604020202020204" pitchFamily="34" charset="0"/>
              </a:rPr>
              <a:t> by Askew.</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Figure 6 – example double number line in Stage 3 Year B Unit 25.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b="1"/>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and explain their thinking.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students can check their answer by using a double number line.</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a:solidFill>
                  <a:schemeClr val="tx1"/>
                </a:solidFill>
                <a:effectLst/>
                <a:latin typeface="Arial" panose="020B0604020202020204" pitchFamily="34" charset="0"/>
                <a:ea typeface="+mn-ea"/>
                <a:cs typeface="Arial" panose="020B0604020202020204" pitchFamily="34" charset="0"/>
              </a:rPr>
              <a:t>Demonstrate drawing a double number line to represent the mathematics test. Explain that it has a scale of 0–20 on the top and from 0% to 100% on the bottom. Ask students to assist by adding the benchmark percentages on the bottom, such as 50%, 25%, 75% and 10%, then adding the corresponding score on the top, such as 10, 5, 15 and 2.</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Identify and record Remy’s mathematics score and corresponding percentage on the number line.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students use the same method to draw a double number line to represent the English test and identify and record Remy’s score. Explain that students will need to mark 10%, then the other percentage multiples of 10 can be added.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thinking and explain which test result is higher.</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endParaRPr lang="en-AU" sz="1600" b="1" i="0">
              <a:solidFill>
                <a:schemeClr val="tx1"/>
              </a:solidFill>
              <a:latin typeface="Arial" panose="020B0604020202020204" pitchFamily="34" charset="0"/>
              <a:cs typeface="Arial" panose="020B0604020202020204" pitchFamily="34" charset="0"/>
            </a:endParaRPr>
          </a:p>
          <a:p>
            <a:r>
              <a:rPr lang="en-AU" sz="1600" b="0" i="0">
                <a:solidFill>
                  <a:schemeClr val="tx1"/>
                </a:solidFill>
                <a:latin typeface="Arial" panose="020B0604020202020204" pitchFamily="34" charset="0"/>
                <a:cs typeface="Arial" panose="020B0604020202020204" pitchFamily="34" charset="0"/>
              </a:rPr>
              <a:t>Three-dimensional spatial structure A</a:t>
            </a:r>
            <a:endParaRPr lang="en-AU" b="0"/>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Activity title</a:t>
            </a:r>
          </a:p>
          <a:p>
            <a:r>
              <a:rPr lang="en-AU" b="0"/>
              <a:t>This resource corresponds to Resource 32 – percentage match in Stage 3 Year B Unit 25.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Distribute the matching cards from Resource 32– percentage match to small groups of students.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students are playing a memory-style game to find and collect matching trios.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rules are: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Shuffle all cards and place them face down in a grid.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take turns flipping over 3 cards to try to find a matching trio.</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a player finds a correct trio, they keep the cards and have another turn.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the cards do not match, they are flipped back over in the same positions, and the next player takes a turn.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game continues until all cards have been matched.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player with the most trios at the end is the winner.</a:t>
            </a:r>
          </a:p>
          <a:p>
            <a:pPr marL="342900" lvl="0" indent="-342900">
              <a:buFont typeface="+mj-lt"/>
              <a:buAutoNum type="arabicPeriod" startAt="4"/>
            </a:pPr>
            <a:r>
              <a:rPr lang="en-AU" sz="1600" kern="1200">
                <a:solidFill>
                  <a:schemeClr val="tx1"/>
                </a:solidFill>
                <a:effectLst/>
                <a:latin typeface="Arial" panose="020B0604020202020204" pitchFamily="34" charset="0"/>
                <a:ea typeface="+mn-ea"/>
                <a:cs typeface="Arial" panose="020B0604020202020204" pitchFamily="34" charset="0"/>
              </a:rPr>
              <a:t>Reflect on the activity, asking questions such as: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matches were the hardest to find?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matches were the easiest to find?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Were there any you weren’t sure about? How did you work them out?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helped you remember where certain cards were?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this game help you in recognising equivalent fractions, decimals and percentages?</a:t>
            </a:r>
          </a:p>
          <a:p>
            <a:pPr marL="342900" indent="-34290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Represents numbers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A</a:t>
            </a:r>
            <a:endParaRPr lang="en-AU"/>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Activity title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Doughnut Percents from NRICH by University of Cambridge.</a:t>
            </a:r>
          </a:p>
          <a:p>
            <a:endParaRPr lang="en-AU" b="0"/>
          </a:p>
          <a:p>
            <a:r>
              <a:rPr lang="en-AU" b="0"/>
              <a:t>This resource corresponds to Resource 33 – doughnut percents in Stage 3 Year B Unit 25.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Distribute the 8 domino cards from Resource 33 – doughnut percents to pairs of students so that each student has 4 dominoes.</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each student must end up with a set of 4 dominoes arranged to form a ‘doughnut’, where touching ends have equal value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the rules are designed to encourage teamwork. The rules are: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Each player starts with 4 dominoes in front of them.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dominoes in front of each person should be visible to both players.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pass dominoes to their partner to help each other complete their doughnut.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Team members can only give dominoes; they cannot take dominoes from someone else.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Each team member must always have at least 2 dominoes in front of them.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No one can talk or give non-verbal signals to other members of the team.</a:t>
            </a:r>
          </a:p>
          <a:p>
            <a:pPr marL="342900" lvl="0" indent="-342900">
              <a:buFont typeface="+mj-lt"/>
              <a:buAutoNum type="arabicPeriod" startAt="4"/>
            </a:pPr>
            <a:r>
              <a:rPr lang="en-AU" sz="1600" kern="1200">
                <a:solidFill>
                  <a:schemeClr val="tx1"/>
                </a:solidFill>
                <a:effectLst/>
                <a:latin typeface="Arial" panose="020B0604020202020204" pitchFamily="34" charset="0"/>
                <a:ea typeface="+mn-ea"/>
                <a:cs typeface="Arial" panose="020B0604020202020204" pitchFamily="34" charset="0"/>
              </a:rPr>
              <a:t>Reflect on the activity, asking questions such as: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domino ends were the hardest to match?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Were there any that you didn’t know? Were you still able to match them? What strategy did you use?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domino ends were the easiest to match?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Would you change anything about this activity? Why or why not?</a:t>
            </a:r>
          </a:p>
          <a:p>
            <a:pPr marL="342900" indent="-342900">
              <a:buFont typeface="+mj-lt"/>
              <a:buAutoNum type="arabicPeriod"/>
            </a:pP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31C4-8455-FBF6-31CF-3EFAA3436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B2CDE-C058-B05E-0DF7-C351521E2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762B0-1023-7E6A-E1EE-A1229026243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42779AA-4EA2-96FF-1C9E-BB2D881CC986}"/>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02951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6.png"/><Relationship Id="rId7"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curriculum.nsw.edu.au/learning-areas/mathematics/mathematics-k-10-2022/content/stage-3/fa0c228e92?show=advic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urriculum.nsw.edu.au/learning-areas/mathematics/mathematics-k-10-2022/content/stage-3/fa934b5e3a?show=advice"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newzealandcurriculum.tahurangi.education.govt.nz/simple-fractions-as-percentages/5637196337.p"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resolve.edu.au/v84-sequences/lamingt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www.abs.gov.au/statistics/industry/tourism-and-transport/overseas-arrivals-and-departures-australia/latest-release#arrivals-and-departures"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problems/doughnut-percents"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B Unit 25.</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25</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101208"/>
            <a:ext cx="11243037" cy="893226"/>
          </a:xfrm>
        </p:spPr>
        <p:txBody>
          <a:bodyPr/>
          <a:lstStyle/>
          <a:p>
            <a:r>
              <a:rPr lang="en-US" sz="4400"/>
              <a:t>How would you record </a:t>
            </a:r>
            <a:r>
              <a:rPr lang="en-US" sz="4400" b="1"/>
              <a:t>3 divided by 4 </a:t>
            </a:r>
            <a:r>
              <a:rPr lang="en-US" sz="4400"/>
              <a:t>as a fraction?</a:t>
            </a:r>
          </a:p>
        </p:txBody>
      </p:sp>
      <p:pic>
        <p:nvPicPr>
          <p:cNvPr id="23" name="Picture 22" descr="one square divided into quarters">
            <a:extLst>
              <a:ext uri="{FF2B5EF4-FFF2-40B4-BE49-F238E27FC236}">
                <a16:creationId xmlns:a16="http://schemas.microsoft.com/office/drawing/2014/main" id="{53CB26CA-FD5A-0BD7-3888-5BB21B7AB7AA}"/>
              </a:ext>
            </a:extLst>
          </p:cNvPr>
          <p:cNvPicPr>
            <a:picLocks noChangeAspect="1"/>
          </p:cNvPicPr>
          <p:nvPr/>
        </p:nvPicPr>
        <p:blipFill>
          <a:blip r:embed="rId4"/>
          <a:stretch>
            <a:fillRect/>
          </a:stretch>
        </p:blipFill>
        <p:spPr>
          <a:xfrm>
            <a:off x="3578024" y="2475740"/>
            <a:ext cx="1915700" cy="1904816"/>
          </a:xfrm>
          <a:prstGeom prst="rect">
            <a:avLst/>
          </a:prstGeom>
          <a:ln>
            <a:noFill/>
          </a:ln>
          <a:effectLst>
            <a:outerShdw blurRad="292100" dist="139700" dir="2700000" algn="tl" rotWithShape="0">
              <a:srgbClr val="333333">
                <a:alpha val="65000"/>
              </a:srgbClr>
            </a:outerShdw>
          </a:effectLst>
        </p:spPr>
      </p:pic>
      <p:pic>
        <p:nvPicPr>
          <p:cNvPr id="24" name="Picture 23" descr="a second square divided into quarters">
            <a:extLst>
              <a:ext uri="{FF2B5EF4-FFF2-40B4-BE49-F238E27FC236}">
                <a16:creationId xmlns:a16="http://schemas.microsoft.com/office/drawing/2014/main" id="{5C93490F-A93B-8C71-A1CF-B8E3CEC18773}"/>
              </a:ext>
            </a:extLst>
          </p:cNvPr>
          <p:cNvPicPr>
            <a:picLocks noChangeAspect="1"/>
          </p:cNvPicPr>
          <p:nvPr/>
        </p:nvPicPr>
        <p:blipFill>
          <a:blip r:embed="rId4"/>
          <a:stretch>
            <a:fillRect/>
          </a:stretch>
        </p:blipFill>
        <p:spPr>
          <a:xfrm>
            <a:off x="5781992" y="2476592"/>
            <a:ext cx="1915700" cy="1904816"/>
          </a:xfrm>
          <a:prstGeom prst="rect">
            <a:avLst/>
          </a:prstGeom>
          <a:ln>
            <a:noFill/>
          </a:ln>
          <a:effectLst>
            <a:outerShdw blurRad="292100" dist="139700" dir="2700000" algn="tl" rotWithShape="0">
              <a:srgbClr val="333333">
                <a:alpha val="65000"/>
              </a:srgbClr>
            </a:outerShdw>
          </a:effectLst>
        </p:spPr>
      </p:pic>
      <p:pic>
        <p:nvPicPr>
          <p:cNvPr id="25" name="Picture 24" descr="a third square divided into quarters">
            <a:extLst>
              <a:ext uri="{FF2B5EF4-FFF2-40B4-BE49-F238E27FC236}">
                <a16:creationId xmlns:a16="http://schemas.microsoft.com/office/drawing/2014/main" id="{6D09BF77-FA74-B934-2ED0-69280198EB8B}"/>
              </a:ext>
            </a:extLst>
          </p:cNvPr>
          <p:cNvPicPr>
            <a:picLocks noChangeAspect="1"/>
          </p:cNvPicPr>
          <p:nvPr/>
        </p:nvPicPr>
        <p:blipFill>
          <a:blip r:embed="rId4"/>
          <a:stretch>
            <a:fillRect/>
          </a:stretch>
        </p:blipFill>
        <p:spPr>
          <a:xfrm>
            <a:off x="8027524" y="2475740"/>
            <a:ext cx="1915700" cy="1904816"/>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055D882C-AF43-C390-844D-CF785253532C}"/>
              </a:ext>
            </a:extLst>
          </p:cNvPr>
          <p:cNvSpPr txBox="1"/>
          <p:nvPr/>
        </p:nvSpPr>
        <p:spPr>
          <a:xfrm>
            <a:off x="1549615" y="47343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767BC3B-8468-128C-1853-95928299ED64}"/>
                  </a:ext>
                </a:extLst>
              </p:cNvPr>
              <p:cNvSpPr txBox="1"/>
              <p:nvPr/>
            </p:nvSpPr>
            <p:spPr>
              <a:xfrm>
                <a:off x="1311087" y="55573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3</m:t>
                          </m:r>
                        </m:num>
                        <m:den>
                          <m:r>
                            <a:rPr lang="en-AU" sz="3200" b="0" i="1" smtClean="0">
                              <a:latin typeface="Cambria Math" panose="02040503050406030204" pitchFamily="18" charset="0"/>
                            </a:rPr>
                            <m:t>4</m:t>
                          </m:r>
                        </m:den>
                      </m:f>
                    </m:oMath>
                  </m:oMathPara>
                </a14:m>
                <a:endParaRPr lang="en-AU" sz="1800"/>
              </a:p>
            </p:txBody>
          </p:sp>
        </mc:Choice>
        <mc:Fallback xmlns="">
          <p:sp>
            <p:nvSpPr>
              <p:cNvPr id="13" name="TextBox 12">
                <a:extLst>
                  <a:ext uri="{FF2B5EF4-FFF2-40B4-BE49-F238E27FC236}">
                    <a16:creationId xmlns:a16="http://schemas.microsoft.com/office/drawing/2014/main" id="{9767BC3B-8468-128C-1853-95928299ED64}"/>
                  </a:ext>
                </a:extLst>
              </p:cNvPr>
              <p:cNvSpPr txBox="1">
                <a:spLocks noRot="1" noChangeAspect="1" noMove="1" noResize="1" noEditPoints="1" noAdjustHandles="1" noChangeArrowheads="1" noChangeShapeType="1" noTextEdit="1"/>
              </p:cNvSpPr>
              <p:nvPr/>
            </p:nvSpPr>
            <p:spPr>
              <a:xfrm>
                <a:off x="1311087" y="5557300"/>
                <a:ext cx="914400" cy="914400"/>
              </a:xfrm>
              <a:prstGeom prst="rect">
                <a:avLst/>
              </a:prstGeom>
              <a:blipFill>
                <a:blip r:embed="rId5"/>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3A7CB9AE-0F31-FA92-BCB3-C4AD3EF18B05}"/>
              </a:ext>
            </a:extLst>
          </p:cNvPr>
          <p:cNvSpPr txBox="1"/>
          <p:nvPr/>
        </p:nvSpPr>
        <p:spPr>
          <a:xfrm>
            <a:off x="4383039" y="47623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20B0965-11C3-7985-5FC8-D064B43DC4A0}"/>
                  </a:ext>
                </a:extLst>
              </p:cNvPr>
              <p:cNvSpPr txBox="1"/>
              <p:nvPr/>
            </p:nvSpPr>
            <p:spPr>
              <a:xfrm>
                <a:off x="4162178" y="5583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4</m:t>
                          </m:r>
                        </m:den>
                      </m:f>
                    </m:oMath>
                  </m:oMathPara>
                </a14:m>
                <a:endParaRPr lang="en-AU" sz="1800"/>
              </a:p>
            </p:txBody>
          </p:sp>
        </mc:Choice>
        <mc:Fallback xmlns="">
          <p:sp>
            <p:nvSpPr>
              <p:cNvPr id="14" name="TextBox 13">
                <a:extLst>
                  <a:ext uri="{FF2B5EF4-FFF2-40B4-BE49-F238E27FC236}">
                    <a16:creationId xmlns:a16="http://schemas.microsoft.com/office/drawing/2014/main" id="{E20B0965-11C3-7985-5FC8-D064B43DC4A0}"/>
                  </a:ext>
                </a:extLst>
              </p:cNvPr>
              <p:cNvSpPr txBox="1">
                <a:spLocks noRot="1" noChangeAspect="1" noMove="1" noResize="1" noEditPoints="1" noAdjustHandles="1" noChangeArrowheads="1" noChangeShapeType="1" noTextEdit="1"/>
              </p:cNvSpPr>
              <p:nvPr/>
            </p:nvSpPr>
            <p:spPr>
              <a:xfrm>
                <a:off x="4162178" y="5583600"/>
                <a:ext cx="914400" cy="914400"/>
              </a:xfrm>
              <a:prstGeom prst="rect">
                <a:avLst/>
              </a:prstGeom>
              <a:blipFill>
                <a:blip r:embed="rId6"/>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2ADCA88-1230-AEE8-EFD6-D8F0DF7EEE5C}"/>
              </a:ext>
            </a:extLst>
          </p:cNvPr>
          <p:cNvSpPr txBox="1"/>
          <p:nvPr/>
        </p:nvSpPr>
        <p:spPr>
          <a:xfrm>
            <a:off x="7216463" y="47247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6241669-E4C7-E705-0DA7-10CC99E3806A}"/>
                  </a:ext>
                </a:extLst>
              </p:cNvPr>
              <p:cNvSpPr txBox="1"/>
              <p:nvPr/>
            </p:nvSpPr>
            <p:spPr>
              <a:xfrm>
                <a:off x="7013269" y="5583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4</m:t>
                          </m:r>
                        </m:num>
                        <m:den>
                          <m:r>
                            <a:rPr lang="en-AU" sz="3200" b="0" i="1" smtClean="0">
                              <a:latin typeface="Cambria Math" panose="02040503050406030204" pitchFamily="18" charset="0"/>
                            </a:rPr>
                            <m:t>3</m:t>
                          </m:r>
                        </m:den>
                      </m:f>
                    </m:oMath>
                  </m:oMathPara>
                </a14:m>
                <a:endParaRPr lang="en-AU" sz="1800"/>
              </a:p>
            </p:txBody>
          </p:sp>
        </mc:Choice>
        <mc:Fallback xmlns="">
          <p:sp>
            <p:nvSpPr>
              <p:cNvPr id="15" name="TextBox 14">
                <a:extLst>
                  <a:ext uri="{FF2B5EF4-FFF2-40B4-BE49-F238E27FC236}">
                    <a16:creationId xmlns:a16="http://schemas.microsoft.com/office/drawing/2014/main" id="{D6241669-E4C7-E705-0DA7-10CC99E3806A}"/>
                  </a:ext>
                </a:extLst>
              </p:cNvPr>
              <p:cNvSpPr txBox="1">
                <a:spLocks noRot="1" noChangeAspect="1" noMove="1" noResize="1" noEditPoints="1" noAdjustHandles="1" noChangeArrowheads="1" noChangeShapeType="1" noTextEdit="1"/>
              </p:cNvSpPr>
              <p:nvPr/>
            </p:nvSpPr>
            <p:spPr>
              <a:xfrm>
                <a:off x="7013269" y="5583600"/>
                <a:ext cx="914400" cy="914400"/>
              </a:xfrm>
              <a:prstGeom prst="rect">
                <a:avLst/>
              </a:prstGeom>
              <a:blipFill>
                <a:blip r:embed="rId7"/>
                <a:stretch>
                  <a:fillRect b="-667"/>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2C63D4C-D53C-5250-A986-AB949B67DEB8}"/>
              </a:ext>
            </a:extLst>
          </p:cNvPr>
          <p:cNvSpPr txBox="1"/>
          <p:nvPr/>
        </p:nvSpPr>
        <p:spPr>
          <a:xfrm>
            <a:off x="10049886" y="47247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7D3CC16-53B1-6E00-03A6-B141B3F0DD27}"/>
                  </a:ext>
                </a:extLst>
              </p:cNvPr>
              <p:cNvSpPr txBox="1"/>
              <p:nvPr/>
            </p:nvSpPr>
            <p:spPr>
              <a:xfrm>
                <a:off x="9864359" y="55573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3</m:t>
                          </m:r>
                        </m:den>
                      </m:f>
                    </m:oMath>
                  </m:oMathPara>
                </a14:m>
                <a:endParaRPr lang="en-AU" sz="1800"/>
              </a:p>
            </p:txBody>
          </p:sp>
        </mc:Choice>
        <mc:Fallback xmlns="">
          <p:sp>
            <p:nvSpPr>
              <p:cNvPr id="16" name="TextBox 15">
                <a:extLst>
                  <a:ext uri="{FF2B5EF4-FFF2-40B4-BE49-F238E27FC236}">
                    <a16:creationId xmlns:a16="http://schemas.microsoft.com/office/drawing/2014/main" id="{F7D3CC16-53B1-6E00-03A6-B141B3F0DD27}"/>
                  </a:ext>
                </a:extLst>
              </p:cNvPr>
              <p:cNvSpPr txBox="1">
                <a:spLocks noRot="1" noChangeAspect="1" noMove="1" noResize="1" noEditPoints="1" noAdjustHandles="1" noChangeArrowheads="1" noChangeShapeType="1" noTextEdit="1"/>
              </p:cNvSpPr>
              <p:nvPr/>
            </p:nvSpPr>
            <p:spPr>
              <a:xfrm>
                <a:off x="9864359" y="5557300"/>
                <a:ext cx="914400" cy="914400"/>
              </a:xfrm>
              <a:prstGeom prst="rect">
                <a:avLst/>
              </a:prstGeom>
              <a:blipFill>
                <a:blip r:embed="rId8"/>
                <a:stretch>
                  <a:fillRect b="-667"/>
                </a:stretch>
              </a:blipFill>
            </p:spPr>
            <p:txBody>
              <a:bodyPr/>
              <a:lstStyle/>
              <a:p>
                <a:r>
                  <a:rPr lang="en-US">
                    <a:noFill/>
                  </a:rPr>
                  <a:t> </a:t>
                </a:r>
              </a:p>
            </p:txBody>
          </p:sp>
        </mc:Fallback>
      </mc:AlternateContent>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5D29A137-654C-02CA-E46F-6ECA63E5F381}"/>
              </a:ext>
            </a:extLst>
          </p:cNvPr>
          <p:cNvSpPr txBox="1"/>
          <p:nvPr/>
        </p:nvSpPr>
        <p:spPr>
          <a:xfrm>
            <a:off x="360000" y="907560"/>
            <a:ext cx="11123999" cy="2150648"/>
          </a:xfrm>
          <a:prstGeom prst="rect">
            <a:avLst/>
          </a:prstGeom>
          <a:noFill/>
        </p:spPr>
        <p:txBody>
          <a:bodyPr wrap="square" lIns="0" tIns="0" rIns="0" bIns="0" rtlCol="0">
            <a:noAutofit/>
          </a:bodyPr>
          <a:lstStyle/>
          <a:p>
            <a:pPr>
              <a:lnSpc>
                <a:spcPct val="150000"/>
              </a:lnSpc>
            </a:pPr>
            <a:r>
              <a:rPr lang="en-AU" sz="3400" b="1"/>
              <a:t>Describe</a:t>
            </a:r>
            <a:r>
              <a:rPr lang="en-AU" sz="3400"/>
              <a:t> how the </a:t>
            </a:r>
            <a:r>
              <a:rPr lang="en-AU" sz="3400" b="1"/>
              <a:t>distribution of data</a:t>
            </a:r>
            <a:r>
              <a:rPr lang="en-AU" sz="3400"/>
              <a:t> is different in these graphs.</a:t>
            </a:r>
          </a:p>
        </p:txBody>
      </p:sp>
      <p:pic>
        <p:nvPicPr>
          <p:cNvPr id="5" name="Picture 4" descr="Two column graphs comparing the average monthly temperature of Sydney and Darwin.">
            <a:extLst>
              <a:ext uri="{FF2B5EF4-FFF2-40B4-BE49-F238E27FC236}">
                <a16:creationId xmlns:a16="http://schemas.microsoft.com/office/drawing/2014/main" id="{A4294A8F-92F0-FF24-757D-DD4C8594B395}"/>
              </a:ext>
            </a:extLst>
          </p:cNvPr>
          <p:cNvPicPr>
            <a:picLocks noChangeAspect="1"/>
          </p:cNvPicPr>
          <p:nvPr/>
        </p:nvPicPr>
        <p:blipFill>
          <a:blip r:embed="rId4"/>
          <a:srcRect t="6218" b="10916"/>
          <a:stretch>
            <a:fillRect/>
          </a:stretch>
        </p:blipFill>
        <p:spPr>
          <a:xfrm>
            <a:off x="3268217" y="1947134"/>
            <a:ext cx="8043660" cy="47488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38ECEEA-61DF-DD65-72B8-BE5784AC7910}"/>
                  </a:ext>
                </a:extLst>
              </p:cNvPr>
              <p:cNvSpPr txBox="1"/>
              <p:nvPr/>
            </p:nvSpPr>
            <p:spPr>
              <a:xfrm>
                <a:off x="963023" y="1580962"/>
                <a:ext cx="10520977" cy="3696076"/>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Which is larger  </a:t>
                </a:r>
                <a14:m>
                  <m:oMath xmlns:m="http://schemas.openxmlformats.org/officeDocument/2006/math">
                    <m:f>
                      <m:fPr>
                        <m:ctrlPr>
                          <a:rPr lang="en-AU" sz="4400" b="1" i="1">
                            <a:latin typeface="Cambria Math" panose="02040503050406030204" pitchFamily="18" charset="0"/>
                          </a:rPr>
                        </m:ctrlPr>
                      </m:fPr>
                      <m:num>
                        <m:r>
                          <a:rPr lang="en-AU" sz="4400" b="1" i="1">
                            <a:latin typeface="Cambria Math" panose="02040503050406030204" pitchFamily="18" charset="0"/>
                          </a:rPr>
                          <m:t>𝟐</m:t>
                        </m:r>
                      </m:num>
                      <m:den>
                        <m:r>
                          <a:rPr lang="en-AU" sz="4400" b="1" i="1">
                            <a:latin typeface="Cambria Math" panose="02040503050406030204" pitchFamily="18" charset="0"/>
                          </a:rPr>
                          <m:t>𝟑</m:t>
                        </m:r>
                      </m:den>
                    </m:f>
                  </m:oMath>
                </a14:m>
                <a:r>
                  <a:rPr lang="en-AU" sz="4400" b="1"/>
                  <a:t>  </a:t>
                </a:r>
                <a:r>
                  <a:rPr lang="en-AU" sz="4400"/>
                  <a:t>or </a:t>
                </a:r>
                <a:r>
                  <a:rPr lang="en-AU" sz="4400" b="1"/>
                  <a:t> </a:t>
                </a:r>
                <a14:m>
                  <m:oMath xmlns:m="http://schemas.openxmlformats.org/officeDocument/2006/math">
                    <m:f>
                      <m:fPr>
                        <m:ctrlPr>
                          <a:rPr lang="en-AU" sz="4400" b="1" i="1">
                            <a:latin typeface="Cambria Math" panose="02040503050406030204" pitchFamily="18" charset="0"/>
                          </a:rPr>
                        </m:ctrlPr>
                      </m:fPr>
                      <m:num>
                        <m:r>
                          <a:rPr lang="en-AU" sz="4400" b="1" i="1">
                            <a:latin typeface="Cambria Math" panose="02040503050406030204" pitchFamily="18" charset="0"/>
                          </a:rPr>
                          <m:t>𝟑</m:t>
                        </m:r>
                      </m:num>
                      <m:den>
                        <m:r>
                          <a:rPr lang="en-AU" sz="4400" b="1" i="1">
                            <a:latin typeface="Cambria Math" panose="02040503050406030204" pitchFamily="18" charset="0"/>
                          </a:rPr>
                          <m:t>𝟒</m:t>
                        </m:r>
                      </m:den>
                    </m:f>
                    <m:r>
                      <a:rPr lang="en-AU" sz="4400" b="0" i="1" smtClean="0">
                        <a:latin typeface="Cambria Math" panose="02040503050406030204" pitchFamily="18" charset="0"/>
                      </a:rPr>
                      <m:t>?</m:t>
                    </m:r>
                  </m:oMath>
                </a14:m>
                <a:endParaRPr lang="en-AU" sz="4400" b="0" i="1">
                  <a:latin typeface="Cambria Math" panose="02040503050406030204" pitchFamily="18" charset="0"/>
                </a:endParaRPr>
              </a:p>
              <a:p>
                <a:pPr algn="ctr">
                  <a:lnSpc>
                    <a:spcPct val="150000"/>
                  </a:lnSpc>
                  <a:spcBef>
                    <a:spcPts val="1200"/>
                  </a:spcBef>
                  <a:spcAft>
                    <a:spcPts val="600"/>
                  </a:spcAft>
                </a:pPr>
                <a:r>
                  <a:rPr lang="en-AU" sz="4400" b="1"/>
                  <a:t>Communicate</a:t>
                </a:r>
                <a:r>
                  <a:rPr lang="en-AU" sz="4400"/>
                  <a:t> your </a:t>
                </a:r>
                <a:r>
                  <a:rPr lang="en-AU" sz="4400" b="1"/>
                  <a:t>reasoning</a:t>
                </a:r>
                <a:r>
                  <a:rPr lang="en-AU" sz="4400"/>
                  <a:t> by placing both fractions on a </a:t>
                </a:r>
                <a:r>
                  <a:rPr lang="en-AU" sz="4400" b="1"/>
                  <a:t>number line</a:t>
                </a:r>
                <a:r>
                  <a:rPr lang="en-AU" sz="4400"/>
                  <a:t>.</a:t>
                </a:r>
                <a14:m>
                  <m:oMath xmlns:m="http://schemas.openxmlformats.org/officeDocument/2006/math">
                    <m:r>
                      <a:rPr lang="en-AU" sz="4400" i="1">
                        <a:latin typeface="Cambria Math" panose="02040503050406030204" pitchFamily="18" charset="0"/>
                      </a:rPr>
                      <m:t> </m:t>
                    </m:r>
                  </m:oMath>
                </a14:m>
                <a:endParaRPr lang="en-AU" sz="4400">
                  <a:ea typeface="Calibri" panose="020F0502020204030204" pitchFamily="34" charset="0"/>
                </a:endParaRPr>
              </a:p>
            </p:txBody>
          </p:sp>
        </mc:Choice>
        <mc:Fallback xmlns="">
          <p:sp>
            <p:nvSpPr>
              <p:cNvPr id="7" name="TextBox 6">
                <a:extLst>
                  <a:ext uri="{FF2B5EF4-FFF2-40B4-BE49-F238E27FC236}">
                    <a16:creationId xmlns:a16="http://schemas.microsoft.com/office/drawing/2014/main" id="{238ECEEA-61DF-DD65-72B8-BE5784AC7910}"/>
                  </a:ext>
                </a:extLst>
              </p:cNvPr>
              <p:cNvSpPr txBox="1">
                <a:spLocks noRot="1" noChangeAspect="1" noMove="1" noResize="1" noEditPoints="1" noAdjustHandles="1" noChangeArrowheads="1" noChangeShapeType="1" noTextEdit="1"/>
              </p:cNvSpPr>
              <p:nvPr/>
            </p:nvSpPr>
            <p:spPr>
              <a:xfrm>
                <a:off x="963023" y="1580962"/>
                <a:ext cx="10520977" cy="3696076"/>
              </a:xfrm>
              <a:prstGeom prst="rect">
                <a:avLst/>
              </a:prstGeom>
              <a:blipFill>
                <a:blip r:embed="rId4"/>
                <a:stretch>
                  <a:fillRect l="-1390" r="-232" b="-6755"/>
                </a:stretch>
              </a:blipFill>
            </p:spPr>
            <p:txBody>
              <a:bodyPr/>
              <a:lstStyle/>
              <a:p>
                <a:r>
                  <a:rPr lang="en-US">
                    <a:noFill/>
                  </a:rPr>
                  <a:t> </a:t>
                </a:r>
              </a:p>
            </p:txBody>
          </p:sp>
        </mc:Fallback>
      </mc:AlternateContent>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4" name="Picture 13" descr="Converting sheet showing two number sentence templates.&#10;The top row converts kilometres to metres with four boxes after a decimal point.&#10;The bottom row converts metres to kilometres with four digits before the decimal point.&#10;Used for practising metric conversions by placing digits and decimal points correctly.">
            <a:extLst>
              <a:ext uri="{FF2B5EF4-FFF2-40B4-BE49-F238E27FC236}">
                <a16:creationId xmlns:a16="http://schemas.microsoft.com/office/drawing/2014/main" id="{5FA9D332-77F8-BB35-710A-79AD5AB11A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000" y="1849448"/>
            <a:ext cx="5471887" cy="3465491"/>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3E19DE0B-2DF4-FAEA-4ACF-511B53426B21}"/>
              </a:ext>
            </a:extLst>
          </p:cNvPr>
          <p:cNvSpPr txBox="1"/>
          <p:nvPr/>
        </p:nvSpPr>
        <p:spPr>
          <a:xfrm>
            <a:off x="6210749" y="803596"/>
            <a:ext cx="5471885" cy="5749074"/>
          </a:xfrm>
          <a:prstGeom prst="rect">
            <a:avLst/>
          </a:prstGeom>
          <a:noFill/>
        </p:spPr>
        <p:txBody>
          <a:bodyPr wrap="square">
            <a:spAutoFit/>
          </a:bodyPr>
          <a:lstStyle/>
          <a:p>
            <a:pPr>
              <a:lnSpc>
                <a:spcPct val="150000"/>
              </a:lnSpc>
              <a:spcBef>
                <a:spcPts val="1200"/>
              </a:spcBef>
              <a:spcAft>
                <a:spcPts val="600"/>
              </a:spcAft>
            </a:pPr>
            <a:r>
              <a:rPr lang="en-AU" sz="4000">
                <a:latin typeface="+mj-lt"/>
              </a:rPr>
              <a:t>Alan ran </a:t>
            </a:r>
            <a:r>
              <a:rPr lang="en-AU" sz="4000" b="1">
                <a:latin typeface="+mj-lt"/>
              </a:rPr>
              <a:t>2.396km</a:t>
            </a:r>
            <a:r>
              <a:rPr lang="en-AU" sz="4000">
                <a:latin typeface="+mj-lt"/>
              </a:rPr>
              <a:t> on Monday. How many </a:t>
            </a:r>
            <a:r>
              <a:rPr lang="en-AU" sz="4000" b="1">
                <a:latin typeface="+mj-lt"/>
              </a:rPr>
              <a:t>metres</a:t>
            </a:r>
            <a:r>
              <a:rPr lang="en-AU" sz="4000">
                <a:latin typeface="+mj-lt"/>
              </a:rPr>
              <a:t> did he run? </a:t>
            </a:r>
          </a:p>
          <a:p>
            <a:pPr>
              <a:lnSpc>
                <a:spcPct val="150000"/>
              </a:lnSpc>
              <a:spcBef>
                <a:spcPts val="1200"/>
              </a:spcBef>
              <a:spcAft>
                <a:spcPts val="600"/>
              </a:spcAft>
            </a:pPr>
            <a:r>
              <a:rPr lang="en-AU" sz="4000"/>
              <a:t>Alan ran </a:t>
            </a:r>
            <a:r>
              <a:rPr lang="en-AU" sz="4000" b="1"/>
              <a:t>3187m</a:t>
            </a:r>
            <a:r>
              <a:rPr lang="en-AU" sz="4000"/>
              <a:t> on Friday. How many </a:t>
            </a:r>
            <a:r>
              <a:rPr lang="en-AU" sz="4000" b="1"/>
              <a:t>kilometres</a:t>
            </a:r>
            <a:r>
              <a:rPr lang="en-AU" sz="4000"/>
              <a:t> did he run?</a:t>
            </a:r>
            <a:endParaRPr lang="en-AU" sz="4000">
              <a:ea typeface="Calibri" panose="020F0502020204030204" pitchFamily="34" charset="0"/>
            </a:endParaRP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4945D2D-36AF-3791-1DCB-1E3828C92402}"/>
              </a:ext>
            </a:extLst>
          </p:cNvPr>
          <p:cNvSpPr txBox="1"/>
          <p:nvPr/>
        </p:nvSpPr>
        <p:spPr>
          <a:xfrm>
            <a:off x="871930" y="751265"/>
            <a:ext cx="10448139" cy="6060826"/>
          </a:xfrm>
          <a:prstGeom prst="rect">
            <a:avLst/>
          </a:prstGeom>
          <a:noFill/>
        </p:spPr>
        <p:txBody>
          <a:bodyPr wrap="square">
            <a:spAutoFit/>
          </a:bodyPr>
          <a:lstStyle/>
          <a:p>
            <a:pPr lvl="0" algn="ctr">
              <a:lnSpc>
                <a:spcPct val="150000"/>
              </a:lnSpc>
            </a:pPr>
            <a:r>
              <a:rPr lang="en-AU" sz="4400"/>
              <a:t>Draw </a:t>
            </a:r>
            <a:r>
              <a:rPr lang="en-AU" sz="4400" b="1"/>
              <a:t>3 types </a:t>
            </a:r>
            <a:r>
              <a:rPr lang="en-AU" sz="4400"/>
              <a:t>of </a:t>
            </a:r>
            <a:r>
              <a:rPr lang="en-AU" sz="4400" b="1"/>
              <a:t>triangles</a:t>
            </a:r>
            <a:r>
              <a:rPr lang="en-AU" sz="4400"/>
              <a:t>:</a:t>
            </a:r>
          </a:p>
          <a:p>
            <a:pPr marL="342900" lvl="0" indent="-342900" algn="ctr">
              <a:lnSpc>
                <a:spcPct val="150000"/>
              </a:lnSpc>
              <a:buFont typeface="Arial" panose="020B0604020202020204" pitchFamily="34" charset="0"/>
              <a:buChar char="•"/>
            </a:pPr>
            <a:r>
              <a:rPr lang="en-AU" sz="4400"/>
              <a:t>an equilateral</a:t>
            </a:r>
          </a:p>
          <a:p>
            <a:pPr marL="342900" lvl="0" indent="-342900" algn="ctr">
              <a:lnSpc>
                <a:spcPct val="150000"/>
              </a:lnSpc>
              <a:buFont typeface="Arial" panose="020B0604020202020204" pitchFamily="34" charset="0"/>
              <a:buChar char="•"/>
            </a:pPr>
            <a:r>
              <a:rPr lang="en-AU" sz="4400"/>
              <a:t>an isosceles </a:t>
            </a:r>
          </a:p>
          <a:p>
            <a:pPr marL="342900" lvl="0" indent="-342900" algn="ctr">
              <a:lnSpc>
                <a:spcPct val="150000"/>
              </a:lnSpc>
              <a:buFont typeface="Arial" panose="020B0604020202020204" pitchFamily="34" charset="0"/>
              <a:buChar char="•"/>
            </a:pPr>
            <a:r>
              <a:rPr lang="en-AU" sz="4400"/>
              <a:t>a scalene</a:t>
            </a:r>
          </a:p>
          <a:p>
            <a:pPr lvl="0" algn="ctr">
              <a:lnSpc>
                <a:spcPct val="150000"/>
              </a:lnSpc>
            </a:pPr>
            <a:r>
              <a:rPr lang="en-AU" sz="4400" b="1"/>
              <a:t>Describe</a:t>
            </a:r>
            <a:r>
              <a:rPr lang="en-AU" sz="4400"/>
              <a:t> the </a:t>
            </a:r>
            <a:r>
              <a:rPr lang="en-AU" sz="4400" b="1"/>
              <a:t>properties </a:t>
            </a:r>
            <a:r>
              <a:rPr lang="en-AU" sz="4400"/>
              <a:t>that </a:t>
            </a:r>
            <a:r>
              <a:rPr lang="en-AU" sz="4400" b="1"/>
              <a:t>identify</a:t>
            </a:r>
            <a:r>
              <a:rPr lang="en-AU" sz="4400"/>
              <a:t> and </a:t>
            </a:r>
            <a:r>
              <a:rPr lang="en-AU" sz="4400" b="1"/>
              <a:t>classify</a:t>
            </a:r>
            <a:r>
              <a:rPr lang="en-AU" sz="4400"/>
              <a:t> each triangle.</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AAEC53-3303-E739-72F1-B626DA99950A}"/>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2A4363AB-7862-BE98-5162-B42EF2D4D40A}"/>
              </a:ext>
            </a:extLst>
          </p:cNvPr>
          <p:cNvSpPr>
            <a:spLocks noGrp="1"/>
          </p:cNvSpPr>
          <p:nvPr>
            <p:ph type="title"/>
          </p:nvPr>
        </p:nvSpPr>
        <p:spPr/>
        <p:txBody>
          <a:bodyPr/>
          <a:lstStyle/>
          <a:p>
            <a:r>
              <a:rPr lang="en-AU"/>
              <a:t>Activity 1 – division: fractions as sharing 1</a:t>
            </a:r>
          </a:p>
        </p:txBody>
      </p:sp>
      <p:pic>
        <p:nvPicPr>
          <p:cNvPr id="16" name="Picture 15"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 Placeholder 4">
            <a:extLst>
              <a:ext uri="{FF2B5EF4-FFF2-40B4-BE49-F238E27FC236}">
                <a16:creationId xmlns:a16="http://schemas.microsoft.com/office/drawing/2014/main" id="{8A02DB49-26A0-AC35-BF05-9068781CA279}"/>
              </a:ext>
            </a:extLst>
          </p:cNvPr>
          <p:cNvSpPr>
            <a:spLocks noGrp="1"/>
          </p:cNvSpPr>
          <p:nvPr>
            <p:ph type="body" sz="quarter" idx="17"/>
          </p:nvPr>
        </p:nvSpPr>
        <p:spPr>
          <a:xfrm>
            <a:off x="359999" y="1097258"/>
            <a:ext cx="11484000" cy="4807835"/>
          </a:xfrm>
        </p:spPr>
        <p:txBody>
          <a:bodyPr/>
          <a:lstStyle/>
          <a:p>
            <a:pPr algn="ctr"/>
            <a:r>
              <a:rPr lang="en-AU" sz="4400"/>
              <a:t>Which plate will you sit behind? </a:t>
            </a:r>
          </a:p>
          <a:p>
            <a:endParaRPr lang="en-AU" sz="4400"/>
          </a:p>
          <a:p>
            <a:endParaRPr lang="en-AU" sz="2400"/>
          </a:p>
          <a:p>
            <a:endParaRPr lang="en-AU" sz="2400"/>
          </a:p>
          <a:p>
            <a:endParaRPr lang="en-AU" sz="2400"/>
          </a:p>
          <a:p>
            <a:pPr algn="ctr"/>
            <a:r>
              <a:rPr lang="en-AU" sz="4400" b="1"/>
              <a:t>Justify</a:t>
            </a:r>
            <a:r>
              <a:rPr lang="en-AU" sz="4400"/>
              <a:t> your </a:t>
            </a:r>
            <a:r>
              <a:rPr lang="en-AU" sz="4400" b="1"/>
              <a:t>choice</a:t>
            </a:r>
            <a:r>
              <a:rPr lang="en-AU" sz="4400"/>
              <a:t>.</a:t>
            </a:r>
          </a:p>
        </p:txBody>
      </p:sp>
      <p:pic>
        <p:nvPicPr>
          <p:cNvPr id="15" name="Picture 14" descr="3 plates. The first plate has a bar of chocolate, the second plate has 2 bars of chocolate and the third plate has 3 bars or chocolate.">
            <a:extLst>
              <a:ext uri="{FF2B5EF4-FFF2-40B4-BE49-F238E27FC236}">
                <a16:creationId xmlns:a16="http://schemas.microsoft.com/office/drawing/2014/main" id="{2E747868-CFBB-96ED-D08F-E53001F29D8B}"/>
              </a:ext>
            </a:extLst>
          </p:cNvPr>
          <p:cNvPicPr>
            <a:picLocks noChangeAspect="1"/>
          </p:cNvPicPr>
          <p:nvPr/>
        </p:nvPicPr>
        <p:blipFill>
          <a:blip r:embed="rId4"/>
          <a:stretch>
            <a:fillRect/>
          </a:stretch>
        </p:blipFill>
        <p:spPr>
          <a:xfrm>
            <a:off x="934417" y="2218264"/>
            <a:ext cx="10108044" cy="30726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3934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p:txBody>
              <a:bodyPr/>
              <a:lstStyle/>
              <a:p>
                <a:r>
                  <a:rPr lang="en-AU" sz="4400"/>
                  <a:t>If I divided 2 brownies between 3 children, each child would get </a:t>
                </a: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3</m:t>
                        </m:r>
                      </m:den>
                    </m:f>
                  </m:oMath>
                </a14:m>
                <a:r>
                  <a:rPr lang="en-AU" sz="4400"/>
                  <a:t> .</a:t>
                </a:r>
              </a:p>
            </p:txBody>
          </p:sp>
        </mc:Choice>
        <mc:Fallback xmlns="">
          <p:sp>
            <p:nvSpPr>
              <p:cNvPr id="6" name="Text Placeholder 5">
                <a:extLst>
                  <a:ext uri="{FF2B5EF4-FFF2-40B4-BE49-F238E27FC236}">
                    <a16:creationId xmlns:a16="http://schemas.microsoft.com/office/drawing/2014/main" id="{8CC0313E-620B-44F6-1CF2-E78C8F63E324}"/>
                  </a:ext>
                </a:extLst>
              </p:cNvPr>
              <p:cNvSpPr>
                <a:spLocks noGrp="1" noRot="1" noChangeAspect="1" noMove="1" noResize="1" noEditPoints="1" noAdjustHandles="1" noChangeArrowheads="1" noChangeShapeType="1" noTextEdit="1"/>
              </p:cNvSpPr>
              <p:nvPr>
                <p:ph type="body" sz="quarter" idx="22"/>
              </p:nvPr>
            </p:nvSpPr>
            <p:spPr>
              <a:blipFill>
                <a:blip r:embed="rId4"/>
                <a:stretch>
                  <a:fillRect l="-2983" b="-179452"/>
                </a:stretch>
              </a:blipFill>
            </p:spPr>
            <p:txBody>
              <a:bodyPr/>
              <a:lstStyle/>
              <a:p>
                <a:r>
                  <a:rPr lang="en-US">
                    <a:noFill/>
                  </a:rPr>
                  <a:t> </a:t>
                </a:r>
              </a:p>
            </p:txBody>
          </p:sp>
        </mc:Fallback>
      </mc:AlternateContent>
      <p:pic>
        <p:nvPicPr>
          <p:cNvPr id="11" name="Picture 10" descr="2 brownies">
            <a:extLst>
              <a:ext uri="{FF2B5EF4-FFF2-40B4-BE49-F238E27FC236}">
                <a16:creationId xmlns:a16="http://schemas.microsoft.com/office/drawing/2014/main" id="{6F28F627-7025-E1F1-BEB7-682DF4AA0AF0}"/>
              </a:ext>
            </a:extLst>
          </p:cNvPr>
          <p:cNvPicPr>
            <a:picLocks noChangeAspect="1"/>
          </p:cNvPicPr>
          <p:nvPr/>
        </p:nvPicPr>
        <p:blipFill>
          <a:blip r:embed="rId5"/>
          <a:stretch>
            <a:fillRect/>
          </a:stretch>
        </p:blipFill>
        <p:spPr>
          <a:xfrm>
            <a:off x="6398891" y="2569972"/>
            <a:ext cx="4725109" cy="2170996"/>
          </a:xfrm>
          <a:prstGeom prst="rect">
            <a:avLst/>
          </a:prstGeom>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57D5F1B-DD31-3408-7080-7D2E67BFFF65}"/>
              </a:ext>
            </a:extLst>
          </p:cNvPr>
          <p:cNvSpPr txBox="1"/>
          <p:nvPr/>
        </p:nvSpPr>
        <p:spPr>
          <a:xfrm>
            <a:off x="560492" y="1184223"/>
            <a:ext cx="3521644" cy="4025900"/>
          </a:xfrm>
          <a:prstGeom prst="rect">
            <a:avLst/>
          </a:prstGeom>
          <a:noFill/>
        </p:spPr>
        <p:txBody>
          <a:bodyPr wrap="square" lIns="0" tIns="0" rIns="0" bIns="0" rtlCol="0">
            <a:noAutofit/>
          </a:bodyPr>
          <a:lstStyle/>
          <a:p>
            <a:pPr>
              <a:lnSpc>
                <a:spcPct val="150000"/>
              </a:lnSpc>
            </a:pPr>
            <a:r>
              <a:rPr lang="en-AU" sz="4400"/>
              <a:t>What is the </a:t>
            </a:r>
            <a:r>
              <a:rPr lang="en-AU" sz="4400" b="1"/>
              <a:t>range</a:t>
            </a:r>
            <a:r>
              <a:rPr lang="en-AU" sz="4400"/>
              <a:t> of pulse rates </a:t>
            </a:r>
            <a:r>
              <a:rPr lang="en-AU" sz="4400" b="1"/>
              <a:t>after exercise</a:t>
            </a:r>
            <a:r>
              <a:rPr lang="en-AU" sz="4400"/>
              <a:t>?</a:t>
            </a:r>
          </a:p>
        </p:txBody>
      </p:sp>
      <p:pic>
        <p:nvPicPr>
          <p:cNvPr id="5" name="Picture 4" descr="Pulse rate column graph showing Pulse rates in beats per minute resting and after exercise. &#10;Keira - 80 resting and 110 after exercise. &#10;Marli - 86 resting and 98 after exercise.&#10;Bella - 78 resting and 100 after exercise.&#10;Bayah - 82 resting and 120 after exercise.&#10;Kenji - 70 resting and 96 after exercise.&#10;Koen - 84 resting and 112 after exercise.&#10;Monaro - 76 resting and 116 after exercise. Tahnee - 82 resting and 124 after exercise.&#10;Kody - 88 resting and 118 after exercise.&#10;Naomi - 76 resting and 116 after exercise.">
            <a:extLst>
              <a:ext uri="{FF2B5EF4-FFF2-40B4-BE49-F238E27FC236}">
                <a16:creationId xmlns:a16="http://schemas.microsoft.com/office/drawing/2014/main" id="{B4D92DE2-EB0C-AE17-8789-1F07246CDB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7110" y="1203098"/>
            <a:ext cx="8136890" cy="50342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Empty fraction wall. 9 different bars representing different fractions from 1 to twelfths.">
            <a:extLst>
              <a:ext uri="{FF2B5EF4-FFF2-40B4-BE49-F238E27FC236}">
                <a16:creationId xmlns:a16="http://schemas.microsoft.com/office/drawing/2014/main" id="{6F44644D-7B25-66AC-104B-35245F010BC0}"/>
              </a:ext>
            </a:extLst>
          </p:cNvPr>
          <p:cNvPicPr>
            <a:picLocks noChangeAspect="1"/>
          </p:cNvPicPr>
          <p:nvPr/>
        </p:nvPicPr>
        <p:blipFill rotWithShape="1">
          <a:blip r:embed="rId4">
            <a:extLst>
              <a:ext uri="{28A0092B-C50C-407E-A947-70E740481C1C}">
                <a14:useLocalDpi xmlns:a14="http://schemas.microsoft.com/office/drawing/2010/main" val="0"/>
              </a:ext>
            </a:extLst>
          </a:blip>
          <a:srcRect b="15063"/>
          <a:stretch>
            <a:fillRect/>
          </a:stretch>
        </p:blipFill>
        <p:spPr bwMode="auto">
          <a:xfrm>
            <a:off x="592647" y="1924678"/>
            <a:ext cx="5669005" cy="3008644"/>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146509C1-B157-3C03-0408-B8744C22285C}"/>
              </a:ext>
            </a:extLst>
          </p:cNvPr>
          <p:cNvSpPr txBox="1"/>
          <p:nvPr/>
        </p:nvSpPr>
        <p:spPr>
          <a:xfrm>
            <a:off x="6544982" y="1123304"/>
            <a:ext cx="5501244" cy="5045164"/>
          </a:xfrm>
          <a:prstGeom prst="rect">
            <a:avLst/>
          </a:prstGeom>
          <a:noFill/>
        </p:spPr>
        <p:txBody>
          <a:bodyPr wrap="square">
            <a:spAutoFit/>
          </a:bodyPr>
          <a:lstStyle/>
          <a:p>
            <a:pPr>
              <a:lnSpc>
                <a:spcPct val="150000"/>
              </a:lnSpc>
              <a:spcBef>
                <a:spcPts val="1200"/>
              </a:spcBef>
              <a:spcAft>
                <a:spcPts val="600"/>
              </a:spcAft>
              <a:buNone/>
            </a:pPr>
            <a:r>
              <a:rPr lang="en-AU" sz="4400">
                <a:latin typeface="Arial" panose="020B0604020202020204" pitchFamily="34" charset="0"/>
                <a:ea typeface="Calibri" panose="020F0502020204030204" pitchFamily="34" charset="0"/>
              </a:rPr>
              <a:t>R</a:t>
            </a:r>
            <a:r>
              <a:rPr lang="en-AU" sz="4400">
                <a:effectLst/>
                <a:latin typeface="Arial" panose="020B0604020202020204" pitchFamily="34" charset="0"/>
                <a:ea typeface="Calibri" panose="020F0502020204030204" pitchFamily="34" charset="0"/>
              </a:rPr>
              <a:t>ecord the </a:t>
            </a:r>
            <a:r>
              <a:rPr lang="en-AU" sz="4400" b="1">
                <a:effectLst/>
                <a:latin typeface="Arial" panose="020B0604020202020204" pitchFamily="34" charset="0"/>
                <a:ea typeface="Calibri" panose="020F0502020204030204" pitchFamily="34" charset="0"/>
              </a:rPr>
              <a:t>equivalent fractions</a:t>
            </a:r>
            <a:r>
              <a:rPr lang="en-AU" sz="4400">
                <a:effectLst/>
                <a:latin typeface="Arial" panose="020B0604020202020204" pitchFamily="34" charset="0"/>
                <a:ea typeface="Calibri" panose="020F0502020204030204" pitchFamily="34" charset="0"/>
              </a:rPr>
              <a:t> for </a:t>
            </a:r>
            <a:r>
              <a:rPr lang="en-AU" sz="4400" b="1">
                <a:effectLst/>
                <a:latin typeface="Arial" panose="020B0604020202020204" pitchFamily="34" charset="0"/>
                <a:ea typeface="Calibri" panose="020F0502020204030204" pitchFamily="34" charset="0"/>
              </a:rPr>
              <a:t>half</a:t>
            </a:r>
            <a:r>
              <a:rPr lang="en-AU" sz="4400">
                <a:effectLst/>
                <a:latin typeface="Arial" panose="020B0604020202020204" pitchFamily="34" charset="0"/>
                <a:ea typeface="Calibri" panose="020F0502020204030204" pitchFamily="34" charset="0"/>
              </a:rPr>
              <a:t> in quarters, eighths, sixths and tenths.</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Two lengths recorded.&#10;&#10;The first strip has: 10 mm = 1 cm = 0.01 m = 0.00001 km.&#10;The second strip has: 1 km = 1000 m = 100 000 cm = 1 000 000 mm">
            <a:extLst>
              <a:ext uri="{FF2B5EF4-FFF2-40B4-BE49-F238E27FC236}">
                <a16:creationId xmlns:a16="http://schemas.microsoft.com/office/drawing/2014/main" id="{98F0E773-2D58-7822-0C3F-923898D80B2D}"/>
              </a:ext>
            </a:extLst>
          </p:cNvPr>
          <p:cNvPicPr>
            <a:picLocks noChangeAspect="1"/>
          </p:cNvPicPr>
          <p:nvPr/>
        </p:nvPicPr>
        <p:blipFill>
          <a:blip r:embed="rId4">
            <a:extLst>
              <a:ext uri="{28A0092B-C50C-407E-A947-70E740481C1C}">
                <a14:useLocalDpi xmlns:a14="http://schemas.microsoft.com/office/drawing/2010/main" val="0"/>
              </a:ext>
            </a:extLst>
          </a:blip>
          <a:srcRect t="56298"/>
          <a:stretch>
            <a:fillRect/>
          </a:stretch>
        </p:blipFill>
        <p:spPr>
          <a:xfrm>
            <a:off x="1588121" y="802987"/>
            <a:ext cx="9015757" cy="1986403"/>
          </a:xfrm>
          <a:prstGeom prst="rect">
            <a:avLst/>
          </a:prstGeom>
        </p:spPr>
      </p:pic>
      <p:sp>
        <p:nvSpPr>
          <p:cNvPr id="5" name="TextBox 4">
            <a:extLst>
              <a:ext uri="{FF2B5EF4-FFF2-40B4-BE49-F238E27FC236}">
                <a16:creationId xmlns:a16="http://schemas.microsoft.com/office/drawing/2014/main" id="{A8259722-3AB4-B0EC-8B92-D324AFA9CBE3}"/>
              </a:ext>
            </a:extLst>
          </p:cNvPr>
          <p:cNvSpPr txBox="1"/>
          <p:nvPr/>
        </p:nvSpPr>
        <p:spPr>
          <a:xfrm>
            <a:off x="368370" y="2928813"/>
            <a:ext cx="11475630" cy="3694409"/>
          </a:xfrm>
          <a:prstGeom prst="rect">
            <a:avLst/>
          </a:prstGeom>
          <a:noFill/>
        </p:spPr>
        <p:txBody>
          <a:bodyPr wrap="square">
            <a:spAutoFit/>
          </a:bodyPr>
          <a:lstStyle/>
          <a:p>
            <a:pPr>
              <a:lnSpc>
                <a:spcPct val="150000"/>
              </a:lnSpc>
            </a:pPr>
            <a:r>
              <a:rPr lang="en-AU" sz="3200"/>
              <a:t>Emma jogged </a:t>
            </a:r>
            <a:r>
              <a:rPr lang="en-AU" sz="3200" b="1"/>
              <a:t>3.9 kilometres </a:t>
            </a:r>
            <a:r>
              <a:rPr lang="en-AU" sz="3200"/>
              <a:t>around the park, then walked </a:t>
            </a:r>
          </a:p>
          <a:p>
            <a:pPr>
              <a:lnSpc>
                <a:spcPct val="150000"/>
              </a:lnSpc>
            </a:pPr>
            <a:r>
              <a:rPr lang="en-AU" sz="3200" b="1"/>
              <a:t>1890 metres </a:t>
            </a:r>
            <a:r>
              <a:rPr lang="en-AU" sz="3200"/>
              <a:t>to the nearby café and later cycled </a:t>
            </a:r>
            <a:r>
              <a:rPr lang="en-AU" sz="3200" b="1"/>
              <a:t>410 000 centimetres </a:t>
            </a:r>
            <a:r>
              <a:rPr lang="en-AU" sz="3200"/>
              <a:t>to her friend’s house.</a:t>
            </a:r>
          </a:p>
          <a:p>
            <a:pPr algn="ctr">
              <a:lnSpc>
                <a:spcPct val="150000"/>
              </a:lnSpc>
            </a:pPr>
            <a:r>
              <a:rPr lang="en-AU" sz="3200"/>
              <a:t>Which </a:t>
            </a:r>
            <a:r>
              <a:rPr lang="en-AU" sz="3200" b="1"/>
              <a:t>distance</a:t>
            </a:r>
            <a:r>
              <a:rPr lang="en-AU" sz="3200"/>
              <a:t> was the </a:t>
            </a:r>
            <a:r>
              <a:rPr lang="en-AU" sz="3200" b="1"/>
              <a:t>longest</a:t>
            </a:r>
            <a:r>
              <a:rPr lang="en-AU" sz="3200"/>
              <a:t>?</a:t>
            </a:r>
          </a:p>
          <a:p>
            <a:pPr algn="ctr">
              <a:lnSpc>
                <a:spcPct val="150000"/>
              </a:lnSpc>
            </a:pPr>
            <a:r>
              <a:rPr lang="en-AU" sz="3200" b="1">
                <a:ea typeface="Cambria Math" panose="02040503050406030204" pitchFamily="18" charset="0"/>
                <a:cs typeface="Arial"/>
              </a:rPr>
              <a:t>Explain </a:t>
            </a:r>
            <a:r>
              <a:rPr lang="en-AU" sz="3200">
                <a:ea typeface="Cambria Math" panose="02040503050406030204" pitchFamily="18" charset="0"/>
                <a:cs typeface="Arial"/>
              </a:rPr>
              <a:t>your</a:t>
            </a:r>
            <a:r>
              <a:rPr lang="en-AU" sz="3200" b="1">
                <a:ea typeface="Cambria Math" panose="02040503050406030204" pitchFamily="18" charset="0"/>
                <a:cs typeface="Arial"/>
              </a:rPr>
              <a:t> thinking.</a:t>
            </a:r>
            <a:endParaRPr lang="en-AU" sz="3200"/>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n image of a garden bed with 2 large plants. The length of the box is labelled 12 m and the width is unknown and marked with a question mark.">
            <a:extLst>
              <a:ext uri="{FF2B5EF4-FFF2-40B4-BE49-F238E27FC236}">
                <a16:creationId xmlns:a16="http://schemas.microsoft.com/office/drawing/2014/main" id="{63696F95-3A13-549D-4940-9639B256AD02}"/>
              </a:ext>
            </a:extLst>
          </p:cNvPr>
          <p:cNvPicPr>
            <a:picLocks noChangeAspect="1"/>
          </p:cNvPicPr>
          <p:nvPr/>
        </p:nvPicPr>
        <p:blipFill rotWithShape="1">
          <a:blip r:embed="rId4"/>
          <a:srcRect t="928"/>
          <a:stretch/>
        </p:blipFill>
        <p:spPr bwMode="auto">
          <a:xfrm>
            <a:off x="246024" y="905601"/>
            <a:ext cx="4102100" cy="5324895"/>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2DDA3F2E-5CEC-8E5C-8577-37F8D43DDF48}"/>
              </a:ext>
            </a:extLst>
          </p:cNvPr>
          <p:cNvSpPr txBox="1"/>
          <p:nvPr/>
        </p:nvSpPr>
        <p:spPr>
          <a:xfrm>
            <a:off x="4462100" y="753516"/>
            <a:ext cx="7454529" cy="5210465"/>
          </a:xfrm>
          <a:prstGeom prst="rect">
            <a:avLst/>
          </a:prstGeom>
          <a:noFill/>
        </p:spPr>
        <p:txBody>
          <a:bodyPr wrap="square">
            <a:spAutoFit/>
          </a:bodyPr>
          <a:lstStyle/>
          <a:p>
            <a:pPr>
              <a:lnSpc>
                <a:spcPct val="150000"/>
              </a:lnSpc>
              <a:spcAft>
                <a:spcPts val="2400"/>
              </a:spcAft>
            </a:pPr>
            <a:r>
              <a:rPr lang="en-AU" sz="4000"/>
              <a:t>The area of this garden bed is </a:t>
            </a:r>
            <a:r>
              <a:rPr lang="en-AU" sz="4000" b="1"/>
              <a:t>72 m²</a:t>
            </a:r>
            <a:r>
              <a:rPr lang="en-AU" sz="4000"/>
              <a:t>.</a:t>
            </a:r>
          </a:p>
          <a:p>
            <a:pPr>
              <a:lnSpc>
                <a:spcPct val="150000"/>
              </a:lnSpc>
              <a:spcAft>
                <a:spcPts val="2400"/>
              </a:spcAft>
            </a:pPr>
            <a:r>
              <a:rPr lang="en-AU" sz="4000"/>
              <a:t>What is the </a:t>
            </a:r>
            <a:r>
              <a:rPr lang="en-AU" sz="4000" b="1"/>
              <a:t>missing length </a:t>
            </a:r>
            <a:r>
              <a:rPr lang="en-AU" sz="4000"/>
              <a:t>of the garden bed?</a:t>
            </a:r>
          </a:p>
          <a:p>
            <a:pPr algn="ctr">
              <a:lnSpc>
                <a:spcPct val="150000"/>
              </a:lnSpc>
              <a:spcAft>
                <a:spcPts val="2400"/>
              </a:spcAft>
            </a:pPr>
            <a:r>
              <a:rPr lang="en-AU" sz="4000" b="1">
                <a:ea typeface="Cambria Math" panose="02040503050406030204" pitchFamily="18" charset="0"/>
                <a:cs typeface="Arial"/>
              </a:rPr>
              <a:t>Communicate </a:t>
            </a:r>
            <a:r>
              <a:rPr lang="en-AU" sz="4000">
                <a:ea typeface="Cambria Math" panose="02040503050406030204" pitchFamily="18" charset="0"/>
                <a:cs typeface="Arial"/>
              </a:rPr>
              <a:t>your</a:t>
            </a:r>
            <a:r>
              <a:rPr lang="en-AU" sz="4000" b="1">
                <a:ea typeface="Cambria Math" panose="02040503050406030204" pitchFamily="18" charset="0"/>
                <a:cs typeface="Arial"/>
              </a:rPr>
              <a:t> reasoning.</a:t>
            </a:r>
            <a:endParaRPr lang="en-AU" sz="400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division: fractions as sharing 2</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9" name="Picture 8" descr="4 chocolate bars. &#10;5 children share 3 chocolate bars. &#10;5 children share 4 chocolate bars. &#10;6 children share 5 chocolate bars. &#10;8 children share 6 chocolate bars. &#10;How much chocolate bars does each student in each group get? &#10;Who do you think gets the most? Why?&#10;Who do you think gets the least? Why?">
            <a:extLst>
              <a:ext uri="{FF2B5EF4-FFF2-40B4-BE49-F238E27FC236}">
                <a16:creationId xmlns:a16="http://schemas.microsoft.com/office/drawing/2014/main" id="{5BE78877-78CF-55A9-DF3F-5B4E231D6E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0864" y="1249785"/>
            <a:ext cx="8546157" cy="5163047"/>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8" name="Picture 7" descr="5 children - 3 chocolate bars have been separated into fifths">
            <a:extLst>
              <a:ext uri="{FF2B5EF4-FFF2-40B4-BE49-F238E27FC236}">
                <a16:creationId xmlns:a16="http://schemas.microsoft.com/office/drawing/2014/main" id="{BAEAB56A-FC6D-9F01-AFEB-2BB0C1DFF890}"/>
              </a:ext>
            </a:extLst>
          </p:cNvPr>
          <p:cNvPicPr>
            <a:picLocks noChangeAspect="1"/>
          </p:cNvPicPr>
          <p:nvPr/>
        </p:nvPicPr>
        <p:blipFill>
          <a:blip r:embed="rId4"/>
          <a:stretch>
            <a:fillRect/>
          </a:stretch>
        </p:blipFill>
        <p:spPr>
          <a:xfrm>
            <a:off x="6680192" y="75123"/>
            <a:ext cx="4025900" cy="4530755"/>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772350" y="1252516"/>
            <a:ext cx="5857049" cy="2989283"/>
          </a:xfrm>
        </p:spPr>
        <p:txBody>
          <a:bodyPr/>
          <a:lstStyle/>
          <a:p>
            <a:r>
              <a:rPr lang="en-US" sz="4400"/>
              <a:t>What </a:t>
            </a:r>
            <a:r>
              <a:rPr lang="en-US" sz="4400" b="1"/>
              <a:t>fraction </a:t>
            </a:r>
            <a:r>
              <a:rPr lang="en-US" sz="4400"/>
              <a:t>of chocolate would each child receive?</a:t>
            </a:r>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47122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459F8B0-415A-7D25-1372-F823170EA7D6}"/>
                  </a:ext>
                </a:extLst>
              </p:cNvPr>
              <p:cNvSpPr txBox="1"/>
              <p:nvPr/>
            </p:nvSpPr>
            <p:spPr>
              <a:xfrm>
                <a:off x="1023280" y="5583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3</m:t>
                          </m:r>
                        </m:num>
                        <m:den>
                          <m:r>
                            <a:rPr lang="en-AU" sz="3200" b="0" i="1" smtClean="0">
                              <a:latin typeface="Cambria Math" panose="02040503050406030204" pitchFamily="18" charset="0"/>
                            </a:rPr>
                            <m:t>4</m:t>
                          </m:r>
                        </m:den>
                      </m:f>
                    </m:oMath>
                  </m:oMathPara>
                </a14:m>
                <a:endParaRPr lang="en-AU" sz="1800"/>
              </a:p>
            </p:txBody>
          </p:sp>
        </mc:Choice>
        <mc:Fallback xmlns="">
          <p:sp>
            <p:nvSpPr>
              <p:cNvPr id="13" name="TextBox 12">
                <a:extLst>
                  <a:ext uri="{FF2B5EF4-FFF2-40B4-BE49-F238E27FC236}">
                    <a16:creationId xmlns:a16="http://schemas.microsoft.com/office/drawing/2014/main" id="{9459F8B0-415A-7D25-1372-F823170EA7D6}"/>
                  </a:ext>
                </a:extLst>
              </p:cNvPr>
              <p:cNvSpPr txBox="1">
                <a:spLocks noRot="1" noChangeAspect="1" noMove="1" noResize="1" noEditPoints="1" noAdjustHandles="1" noChangeArrowheads="1" noChangeShapeType="1" noTextEdit="1"/>
              </p:cNvSpPr>
              <p:nvPr/>
            </p:nvSpPr>
            <p:spPr>
              <a:xfrm>
                <a:off x="1023280" y="5583600"/>
                <a:ext cx="914400" cy="914400"/>
              </a:xfrm>
              <a:prstGeom prst="rect">
                <a:avLst/>
              </a:prstGeom>
              <a:blipFill>
                <a:blip r:embed="rId5"/>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6BFC4FD-CDBD-E74C-2B4B-957276E8D806}"/>
              </a:ext>
            </a:extLst>
          </p:cNvPr>
          <p:cNvSpPr txBox="1"/>
          <p:nvPr/>
        </p:nvSpPr>
        <p:spPr>
          <a:xfrm>
            <a:off x="4219739" y="47122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FCAE95C-7685-2408-8AF4-88552F20E053}"/>
                  </a:ext>
                </a:extLst>
              </p:cNvPr>
              <p:cNvSpPr txBox="1"/>
              <p:nvPr/>
            </p:nvSpPr>
            <p:spPr>
              <a:xfrm>
                <a:off x="4027253" y="5583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3</m:t>
                          </m:r>
                        </m:num>
                        <m:den>
                          <m:r>
                            <a:rPr lang="en-AU" sz="3200" b="0" i="1" smtClean="0">
                              <a:latin typeface="Cambria Math" panose="02040503050406030204" pitchFamily="18" charset="0"/>
                            </a:rPr>
                            <m:t>5</m:t>
                          </m:r>
                        </m:den>
                      </m:f>
                    </m:oMath>
                  </m:oMathPara>
                </a14:m>
                <a:endParaRPr lang="en-AU" sz="1800"/>
              </a:p>
            </p:txBody>
          </p:sp>
        </mc:Choice>
        <mc:Fallback xmlns="">
          <p:sp>
            <p:nvSpPr>
              <p:cNvPr id="14" name="TextBox 13">
                <a:extLst>
                  <a:ext uri="{FF2B5EF4-FFF2-40B4-BE49-F238E27FC236}">
                    <a16:creationId xmlns:a16="http://schemas.microsoft.com/office/drawing/2014/main" id="{DFCAE95C-7685-2408-8AF4-88552F20E053}"/>
                  </a:ext>
                </a:extLst>
              </p:cNvPr>
              <p:cNvSpPr txBox="1">
                <a:spLocks noRot="1" noChangeAspect="1" noMove="1" noResize="1" noEditPoints="1" noAdjustHandles="1" noChangeArrowheads="1" noChangeShapeType="1" noTextEdit="1"/>
              </p:cNvSpPr>
              <p:nvPr/>
            </p:nvSpPr>
            <p:spPr>
              <a:xfrm>
                <a:off x="4027253" y="5583600"/>
                <a:ext cx="914400" cy="914400"/>
              </a:xfrm>
              <a:prstGeom prst="rect">
                <a:avLst/>
              </a:prstGeom>
              <a:blipFill>
                <a:blip r:embed="rId6"/>
                <a:stretch>
                  <a:fillRect b="-66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CCBA3B1-EB4D-D918-A8D0-B78C7621C52A}"/>
              </a:ext>
            </a:extLst>
          </p:cNvPr>
          <p:cNvSpPr txBox="1"/>
          <p:nvPr/>
        </p:nvSpPr>
        <p:spPr>
          <a:xfrm>
            <a:off x="7223712" y="47122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F9FA353-F790-14A0-C0AB-4AC2512F09C1}"/>
                  </a:ext>
                </a:extLst>
              </p:cNvPr>
              <p:cNvSpPr txBox="1"/>
              <p:nvPr/>
            </p:nvSpPr>
            <p:spPr>
              <a:xfrm>
                <a:off x="7031226" y="55836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5</m:t>
                          </m:r>
                        </m:num>
                        <m:den>
                          <m:r>
                            <a:rPr lang="en-AU" sz="3200" b="0" i="1" smtClean="0">
                              <a:latin typeface="Cambria Math" panose="02040503050406030204" pitchFamily="18" charset="0"/>
                            </a:rPr>
                            <m:t>3</m:t>
                          </m:r>
                        </m:den>
                      </m:f>
                    </m:oMath>
                  </m:oMathPara>
                </a14:m>
                <a:endParaRPr lang="en-AU" sz="1800"/>
              </a:p>
            </p:txBody>
          </p:sp>
        </mc:Choice>
        <mc:Fallback xmlns="">
          <p:sp>
            <p:nvSpPr>
              <p:cNvPr id="15" name="TextBox 14">
                <a:extLst>
                  <a:ext uri="{FF2B5EF4-FFF2-40B4-BE49-F238E27FC236}">
                    <a16:creationId xmlns:a16="http://schemas.microsoft.com/office/drawing/2014/main" id="{4F9FA353-F790-14A0-C0AB-4AC2512F09C1}"/>
                  </a:ext>
                </a:extLst>
              </p:cNvPr>
              <p:cNvSpPr txBox="1">
                <a:spLocks noRot="1" noChangeAspect="1" noMove="1" noResize="1" noEditPoints="1" noAdjustHandles="1" noChangeArrowheads="1" noChangeShapeType="1" noTextEdit="1"/>
              </p:cNvSpPr>
              <p:nvPr/>
            </p:nvSpPr>
            <p:spPr>
              <a:xfrm>
                <a:off x="7031226" y="5583600"/>
                <a:ext cx="914400" cy="914400"/>
              </a:xfrm>
              <a:prstGeom prst="rect">
                <a:avLst/>
              </a:prstGeom>
              <a:blipFill>
                <a:blip r:embed="rId7"/>
                <a:stretch>
                  <a:fillRect b="-2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02A7C63-4C7D-5EB4-47F9-AF81CCED5985}"/>
              </a:ext>
            </a:extLst>
          </p:cNvPr>
          <p:cNvSpPr txBox="1"/>
          <p:nvPr/>
        </p:nvSpPr>
        <p:spPr>
          <a:xfrm>
            <a:off x="10227686" y="47122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9E358CA-50D2-10AF-3027-6BD0FAAF6FA9}"/>
                  </a:ext>
                </a:extLst>
              </p:cNvPr>
              <p:cNvSpPr txBox="1"/>
              <p:nvPr/>
            </p:nvSpPr>
            <p:spPr>
              <a:xfrm>
                <a:off x="10035200" y="555730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2</m:t>
                          </m:r>
                        </m:num>
                        <m:den>
                          <m:r>
                            <a:rPr lang="en-AU" sz="3200" b="0" i="1" smtClean="0">
                              <a:latin typeface="Cambria Math" panose="02040503050406030204" pitchFamily="18" charset="0"/>
                            </a:rPr>
                            <m:t>5</m:t>
                          </m:r>
                        </m:den>
                      </m:f>
                    </m:oMath>
                  </m:oMathPara>
                </a14:m>
                <a:endParaRPr lang="en-AU" sz="1800"/>
              </a:p>
            </p:txBody>
          </p:sp>
        </mc:Choice>
        <mc:Fallback xmlns="">
          <p:sp>
            <p:nvSpPr>
              <p:cNvPr id="16" name="TextBox 15">
                <a:extLst>
                  <a:ext uri="{FF2B5EF4-FFF2-40B4-BE49-F238E27FC236}">
                    <a16:creationId xmlns:a16="http://schemas.microsoft.com/office/drawing/2014/main" id="{49E358CA-50D2-10AF-3027-6BD0FAAF6FA9}"/>
                  </a:ext>
                </a:extLst>
              </p:cNvPr>
              <p:cNvSpPr txBox="1">
                <a:spLocks noRot="1" noChangeAspect="1" noMove="1" noResize="1" noEditPoints="1" noAdjustHandles="1" noChangeArrowheads="1" noChangeShapeType="1" noTextEdit="1"/>
              </p:cNvSpPr>
              <p:nvPr/>
            </p:nvSpPr>
            <p:spPr>
              <a:xfrm>
                <a:off x="10035200" y="5557300"/>
                <a:ext cx="914400" cy="914400"/>
              </a:xfrm>
              <a:prstGeom prst="rect">
                <a:avLst/>
              </a:prstGeom>
              <a:blipFill>
                <a:blip r:embed="rId8"/>
                <a:stretch>
                  <a:fillRect b="-667"/>
                </a:stretch>
              </a:blipFill>
            </p:spPr>
            <p:txBody>
              <a:bodyPr/>
              <a:lstStyle/>
              <a:p>
                <a:r>
                  <a:rPr lang="en-US">
                    <a:noFill/>
                  </a:rPr>
                  <a:t> </a:t>
                </a:r>
              </a:p>
            </p:txBody>
          </p:sp>
        </mc:Fallback>
      </mc:AlternateContent>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Short-term visitor arrivals, state or territory of stay – May 2023. Map of Australia with states and territories colour coded by number of arrivals.">
            <a:extLst>
              <a:ext uri="{FF2B5EF4-FFF2-40B4-BE49-F238E27FC236}">
                <a16:creationId xmlns:a16="http://schemas.microsoft.com/office/drawing/2014/main" id="{3D59888E-DE05-8020-B65D-5E56B085628F}"/>
              </a:ext>
            </a:extLst>
          </p:cNvPr>
          <p:cNvPicPr>
            <a:picLocks noChangeAspect="1"/>
          </p:cNvPicPr>
          <p:nvPr/>
        </p:nvPicPr>
        <p:blipFill>
          <a:blip r:embed="rId4"/>
          <a:stretch>
            <a:fillRect/>
          </a:stretch>
        </p:blipFill>
        <p:spPr>
          <a:xfrm>
            <a:off x="488462" y="1184223"/>
            <a:ext cx="5187462" cy="5236308"/>
          </a:xfrm>
          <a:prstGeom prst="rect">
            <a:avLst/>
          </a:prstGeom>
        </p:spPr>
      </p:pic>
      <p:sp>
        <p:nvSpPr>
          <p:cNvPr id="11" name="Text Placeholder 17">
            <a:extLst>
              <a:ext uri="{FF2B5EF4-FFF2-40B4-BE49-F238E27FC236}">
                <a16:creationId xmlns:a16="http://schemas.microsoft.com/office/drawing/2014/main" id="{567F1A99-4E2C-F95B-EADA-8B2D8754CE4D}"/>
              </a:ext>
            </a:extLst>
          </p:cNvPr>
          <p:cNvSpPr txBox="1">
            <a:spLocks/>
          </p:cNvSpPr>
          <p:nvPr/>
        </p:nvSpPr>
        <p:spPr>
          <a:xfrm>
            <a:off x="5765424" y="1185095"/>
            <a:ext cx="6078576" cy="5510905"/>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Aft>
                <a:spcPts val="2400"/>
              </a:spcAft>
              <a:buFont typeface="Arial" panose="020B0604020202020204" pitchFamily="34" charset="0"/>
              <a:buChar char="•"/>
            </a:pPr>
            <a:r>
              <a:rPr lang="en-US" sz="3200">
                <a:latin typeface="Arial"/>
                <a:cs typeface="Arial"/>
              </a:rPr>
              <a:t>Which state has the </a:t>
            </a:r>
            <a:r>
              <a:rPr lang="en-US" sz="3200" b="1">
                <a:latin typeface="Arial"/>
                <a:cs typeface="Arial"/>
              </a:rPr>
              <a:t>highest </a:t>
            </a:r>
            <a:r>
              <a:rPr lang="en-US" sz="3200">
                <a:latin typeface="Arial"/>
                <a:cs typeface="Arial"/>
              </a:rPr>
              <a:t>number of short-term visitors?</a:t>
            </a:r>
          </a:p>
          <a:p>
            <a:pPr marL="457200" indent="-457200">
              <a:spcAft>
                <a:spcPts val="2400"/>
              </a:spcAft>
              <a:buFont typeface="Arial" panose="020B0604020202020204" pitchFamily="34" charset="0"/>
              <a:buChar char="•"/>
            </a:pPr>
            <a:r>
              <a:rPr lang="en-AU" sz="3200"/>
              <a:t>Which has the </a:t>
            </a:r>
            <a:r>
              <a:rPr lang="en-AU" sz="3200" b="1"/>
              <a:t>lowest </a:t>
            </a:r>
            <a:r>
              <a:rPr lang="en-US" sz="3200">
                <a:latin typeface="Arial"/>
                <a:cs typeface="Arial"/>
              </a:rPr>
              <a:t>number of short-term visitors?</a:t>
            </a:r>
          </a:p>
          <a:p>
            <a:pPr marL="457200" indent="-457200">
              <a:spcAft>
                <a:spcPts val="2400"/>
              </a:spcAft>
              <a:buFont typeface="Arial" panose="020B0604020202020204" pitchFamily="34" charset="0"/>
              <a:buChar char="•"/>
            </a:pPr>
            <a:r>
              <a:rPr lang="en-AU" sz="3200" b="1"/>
              <a:t>Where</a:t>
            </a:r>
            <a:r>
              <a:rPr lang="en-AU" sz="3200"/>
              <a:t> might you see this type of data representation? </a:t>
            </a:r>
            <a:r>
              <a:rPr lang="en-AU" sz="3600"/>
              <a:t>​</a:t>
            </a:r>
            <a:endParaRPr lang="en-US" sz="3600">
              <a:latin typeface="Arial"/>
              <a:cs typeface="Arial"/>
            </a:endParaRP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4 different sized rectangles labelled A - D. The largest rectangle is labelled A and shows 1/4 shaded. The next largest rectangle is labelled D and shows 1/4 shaded. A smaller rectangle is labelled B and shows 1/2 shaded. The smallest rectangle is labelled C and shows 1/3 shaded. ">
            <a:extLst>
              <a:ext uri="{FF2B5EF4-FFF2-40B4-BE49-F238E27FC236}">
                <a16:creationId xmlns:a16="http://schemas.microsoft.com/office/drawing/2014/main" id="{E669B3A3-8DDC-65D3-DB31-D387150A0BDA}"/>
              </a:ext>
            </a:extLst>
          </p:cNvPr>
          <p:cNvPicPr>
            <a:picLocks noChangeAspect="1"/>
          </p:cNvPicPr>
          <p:nvPr/>
        </p:nvPicPr>
        <p:blipFill>
          <a:blip r:embed="rId4"/>
          <a:stretch>
            <a:fillRect/>
          </a:stretch>
        </p:blipFill>
        <p:spPr>
          <a:xfrm>
            <a:off x="995045" y="1148260"/>
            <a:ext cx="3767455" cy="5367740"/>
          </a:xfrm>
          <a:prstGeom prst="rect">
            <a:avLst/>
          </a:prstGeom>
        </p:spPr>
      </p:pic>
      <p:sp>
        <p:nvSpPr>
          <p:cNvPr id="8" name="TextBox 7">
            <a:extLst>
              <a:ext uri="{FF2B5EF4-FFF2-40B4-BE49-F238E27FC236}">
                <a16:creationId xmlns:a16="http://schemas.microsoft.com/office/drawing/2014/main" id="{3A23627E-F2B1-E86A-5A00-A56F266BE728}"/>
              </a:ext>
            </a:extLst>
          </p:cNvPr>
          <p:cNvSpPr txBox="1"/>
          <p:nvPr/>
        </p:nvSpPr>
        <p:spPr>
          <a:xfrm>
            <a:off x="5065708" y="1131599"/>
            <a:ext cx="6775021" cy="5275996"/>
          </a:xfrm>
          <a:prstGeom prst="rect">
            <a:avLst/>
          </a:prstGeom>
          <a:noFill/>
        </p:spPr>
        <p:txBody>
          <a:bodyPr wrap="square" lIns="0" rIns="0">
            <a:spAutoFit/>
          </a:bodyPr>
          <a:lstStyle/>
          <a:p>
            <a:pPr algn="ctr">
              <a:lnSpc>
                <a:spcPct val="150000"/>
              </a:lnSpc>
              <a:spcAft>
                <a:spcPts val="1800"/>
              </a:spcAft>
            </a:pPr>
            <a:r>
              <a:rPr lang="en-AU" sz="4400">
                <a:effectLst/>
                <a:latin typeface="Arial" panose="020B0604020202020204" pitchFamily="34" charset="0"/>
                <a:ea typeface="Calibri" panose="020F0502020204030204" pitchFamily="34" charset="0"/>
              </a:rPr>
              <a:t>Why do you need a </a:t>
            </a:r>
            <a:r>
              <a:rPr lang="en-AU" sz="4400" b="1">
                <a:effectLst/>
                <a:latin typeface="Arial" panose="020B0604020202020204" pitchFamily="34" charset="0"/>
                <a:ea typeface="Calibri" panose="020F0502020204030204" pitchFamily="34" charset="0"/>
              </a:rPr>
              <a:t>common whole</a:t>
            </a:r>
            <a:r>
              <a:rPr lang="en-AU" sz="4400">
                <a:effectLst/>
                <a:latin typeface="Arial" panose="020B0604020202020204" pitchFamily="34" charset="0"/>
                <a:ea typeface="Calibri" panose="020F0502020204030204" pitchFamily="34" charset="0"/>
              </a:rPr>
              <a:t> when comparing fractions? </a:t>
            </a:r>
            <a:endParaRPr lang="en-AU" sz="4400" b="1">
              <a:latin typeface="Arial" panose="020B0604020202020204" pitchFamily="34" charset="0"/>
              <a:ea typeface="Calibri" panose="020F0502020204030204" pitchFamily="34" charset="0"/>
            </a:endParaRPr>
          </a:p>
          <a:p>
            <a:pPr algn="ctr">
              <a:lnSpc>
                <a:spcPct val="150000"/>
              </a:lnSpc>
              <a:spcAft>
                <a:spcPts val="1800"/>
              </a:spcAft>
            </a:pPr>
            <a:r>
              <a:rPr lang="en-AU" sz="4400" b="1">
                <a:effectLst/>
                <a:latin typeface="Arial" panose="020B0604020202020204" pitchFamily="34" charset="0"/>
                <a:ea typeface="Calibri" panose="020F0502020204030204" pitchFamily="34" charset="0"/>
              </a:rPr>
              <a:t>C</a:t>
            </a:r>
            <a:r>
              <a:rPr lang="en-AU" sz="4400" b="1">
                <a:latin typeface="Arial" panose="020B0604020202020204" pitchFamily="34" charset="0"/>
                <a:ea typeface="Calibri" panose="020F0502020204030204" pitchFamily="34" charset="0"/>
              </a:rPr>
              <a:t>ommunicate</a:t>
            </a:r>
            <a:r>
              <a:rPr lang="en-AU" sz="4400">
                <a:latin typeface="Arial" panose="020B0604020202020204" pitchFamily="34" charset="0"/>
                <a:ea typeface="Calibri" panose="020F0502020204030204" pitchFamily="34" charset="0"/>
              </a:rPr>
              <a:t> your </a:t>
            </a:r>
            <a:r>
              <a:rPr lang="en-AU" sz="4400" b="1">
                <a:latin typeface="Arial" panose="020B0604020202020204" pitchFamily="34" charset="0"/>
                <a:ea typeface="Calibri" panose="020F0502020204030204" pitchFamily="34" charset="0"/>
              </a:rPr>
              <a:t>reasoning</a:t>
            </a:r>
            <a:r>
              <a:rPr lang="en-AU" sz="4400">
                <a:latin typeface="Arial" panose="020B0604020202020204" pitchFamily="34" charset="0"/>
                <a:ea typeface="Calibri" panose="020F0502020204030204" pitchFamily="34" charset="0"/>
              </a:rPr>
              <a:t>.</a:t>
            </a:r>
            <a:endParaRPr lang="en-AU" sz="4400"/>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C9E3C670-D9AE-9B3A-CCCE-ACF23C677D56}"/>
              </a:ext>
            </a:extLst>
          </p:cNvPr>
          <p:cNvSpPr txBox="1"/>
          <p:nvPr/>
        </p:nvSpPr>
        <p:spPr>
          <a:xfrm>
            <a:off x="455574" y="1048887"/>
            <a:ext cx="11585976" cy="1364412"/>
          </a:xfrm>
          <a:prstGeom prst="rect">
            <a:avLst/>
          </a:prstGeom>
          <a:noFill/>
        </p:spPr>
        <p:txBody>
          <a:bodyPr wrap="square">
            <a:spAutoFit/>
          </a:bodyPr>
          <a:lstStyle/>
          <a:p>
            <a:pPr>
              <a:lnSpc>
                <a:spcPct val="107000"/>
              </a:lnSpc>
              <a:spcBef>
                <a:spcPts val="1200"/>
              </a:spcBef>
              <a:spcAft>
                <a:spcPts val="800"/>
              </a:spcAft>
              <a:buNone/>
            </a:pPr>
            <a:r>
              <a:rPr lang="en-AU" sz="3200">
                <a:effectLst/>
                <a:latin typeface="Arial" panose="020B0604020202020204" pitchFamily="34" charset="0"/>
                <a:ea typeface="Calibri" panose="020F0502020204030204" pitchFamily="34" charset="0"/>
              </a:rPr>
              <a:t>Cristian is looking for a walk that is about </a:t>
            </a:r>
            <a:r>
              <a:rPr lang="en-AU" sz="3200" b="1">
                <a:latin typeface="Arial" panose="020B0604020202020204" pitchFamily="34" charset="0"/>
                <a:ea typeface="Calibri" panose="020F0502020204030204" pitchFamily="34" charset="0"/>
              </a:rPr>
              <a:t>4</a:t>
            </a:r>
            <a:r>
              <a:rPr lang="en-AU" sz="3200" b="1">
                <a:effectLst/>
                <a:latin typeface="Arial" panose="020B0604020202020204" pitchFamily="34" charset="0"/>
                <a:ea typeface="Calibri" panose="020F0502020204030204" pitchFamily="34" charset="0"/>
              </a:rPr>
              <a:t> kilometres</a:t>
            </a:r>
            <a:r>
              <a:rPr lang="en-AU" sz="3200">
                <a:effectLst/>
                <a:latin typeface="Arial" panose="020B0604020202020204" pitchFamily="34" charset="0"/>
                <a:ea typeface="Calibri" panose="020F0502020204030204" pitchFamily="34" charset="0"/>
              </a:rPr>
              <a:t>. </a:t>
            </a:r>
          </a:p>
          <a:p>
            <a:pPr algn="ctr">
              <a:lnSpc>
                <a:spcPct val="107000"/>
              </a:lnSpc>
              <a:spcBef>
                <a:spcPts val="1200"/>
              </a:spcBef>
              <a:spcAft>
                <a:spcPts val="800"/>
              </a:spcAft>
              <a:buNone/>
            </a:pPr>
            <a:r>
              <a:rPr lang="en-AU" sz="3200">
                <a:effectLst/>
                <a:latin typeface="Arial" panose="020B0604020202020204" pitchFamily="34" charset="0"/>
                <a:ea typeface="Calibri" panose="020F0502020204030204" pitchFamily="34" charset="0"/>
              </a:rPr>
              <a:t>Which walk is </a:t>
            </a:r>
            <a:r>
              <a:rPr lang="en-AU" sz="3200" b="1">
                <a:effectLst/>
                <a:latin typeface="Arial" panose="020B0604020202020204" pitchFamily="34" charset="0"/>
                <a:ea typeface="Calibri" panose="020F0502020204030204" pitchFamily="34" charset="0"/>
              </a:rPr>
              <a:t>closest</a:t>
            </a:r>
            <a:r>
              <a:rPr lang="en-AU" sz="3200">
                <a:effectLst/>
                <a:latin typeface="Arial" panose="020B0604020202020204" pitchFamily="34" charset="0"/>
                <a:ea typeface="Calibri" panose="020F0502020204030204" pitchFamily="34" charset="0"/>
              </a:rPr>
              <a:t> to that distance?</a:t>
            </a:r>
          </a:p>
        </p:txBody>
      </p:sp>
      <p:graphicFrame>
        <p:nvGraphicFramePr>
          <p:cNvPr id="8" name="Table 7">
            <a:extLst>
              <a:ext uri="{FF2B5EF4-FFF2-40B4-BE49-F238E27FC236}">
                <a16:creationId xmlns:a16="http://schemas.microsoft.com/office/drawing/2014/main" id="{C8C4D80D-90CD-5318-BCA8-2631FCB69B27}"/>
              </a:ext>
            </a:extLst>
          </p:cNvPr>
          <p:cNvGraphicFramePr>
            <a:graphicFrameLocks noGrp="1"/>
          </p:cNvGraphicFramePr>
          <p:nvPr>
            <p:extLst>
              <p:ext uri="{D42A27DB-BD31-4B8C-83A1-F6EECF244321}">
                <p14:modId xmlns:p14="http://schemas.microsoft.com/office/powerpoint/2010/main" val="3988448351"/>
              </p:ext>
            </p:extLst>
          </p:nvPr>
        </p:nvGraphicFramePr>
        <p:xfrm>
          <a:off x="768666" y="2532091"/>
          <a:ext cx="10654666" cy="3082932"/>
        </p:xfrm>
        <a:graphic>
          <a:graphicData uri="http://schemas.openxmlformats.org/drawingml/2006/table">
            <a:tbl>
              <a:tblPr firstRow="1" firstCol="1" bandRow="1">
                <a:tableStyleId>{5A111915-BE36-4E01-A7E5-04B1672EAD32}</a:tableStyleId>
              </a:tblPr>
              <a:tblGrid>
                <a:gridCol w="3648832">
                  <a:extLst>
                    <a:ext uri="{9D8B030D-6E8A-4147-A177-3AD203B41FA5}">
                      <a16:colId xmlns:a16="http://schemas.microsoft.com/office/drawing/2014/main" val="3510283802"/>
                    </a:ext>
                  </a:extLst>
                </a:gridCol>
                <a:gridCol w="2718027">
                  <a:extLst>
                    <a:ext uri="{9D8B030D-6E8A-4147-A177-3AD203B41FA5}">
                      <a16:colId xmlns:a16="http://schemas.microsoft.com/office/drawing/2014/main" val="1031850905"/>
                    </a:ext>
                  </a:extLst>
                </a:gridCol>
                <a:gridCol w="2050441">
                  <a:extLst>
                    <a:ext uri="{9D8B030D-6E8A-4147-A177-3AD203B41FA5}">
                      <a16:colId xmlns:a16="http://schemas.microsoft.com/office/drawing/2014/main" val="1815427739"/>
                    </a:ext>
                  </a:extLst>
                </a:gridCol>
                <a:gridCol w="2237366">
                  <a:extLst>
                    <a:ext uri="{9D8B030D-6E8A-4147-A177-3AD203B41FA5}">
                      <a16:colId xmlns:a16="http://schemas.microsoft.com/office/drawing/2014/main" val="3020659513"/>
                    </a:ext>
                  </a:extLst>
                </a:gridCol>
              </a:tblGrid>
              <a:tr h="1287807">
                <a:tc>
                  <a:txBody>
                    <a:bodyPr/>
                    <a:lstStyle/>
                    <a:p>
                      <a:pPr algn="ctr">
                        <a:lnSpc>
                          <a:spcPct val="107000"/>
                        </a:lnSpc>
                        <a:spcBef>
                          <a:spcPts val="1200"/>
                        </a:spcBef>
                        <a:spcAft>
                          <a:spcPts val="800"/>
                        </a:spcAft>
                        <a:buNone/>
                      </a:pPr>
                      <a:r>
                        <a:rPr lang="en-AU" sz="2800">
                          <a:effectLst/>
                          <a:latin typeface="+mj-lt"/>
                        </a:rPr>
                        <a:t>Length of walks</a:t>
                      </a:r>
                      <a:endParaRPr lang="en-AU" sz="2800">
                        <a:effectLst/>
                        <a:latin typeface="+mj-lt"/>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00000"/>
                        </a:lnSpc>
                        <a:spcBef>
                          <a:spcPts val="600"/>
                        </a:spcBef>
                        <a:spcAft>
                          <a:spcPts val="600"/>
                        </a:spcAft>
                        <a:buNone/>
                      </a:pPr>
                      <a:r>
                        <a:rPr lang="en-AU" sz="2800">
                          <a:effectLst/>
                          <a:latin typeface="+mj-lt"/>
                        </a:rPr>
                        <a:t>centimetres</a:t>
                      </a:r>
                    </a:p>
                    <a:p>
                      <a:pPr algn="ctr">
                        <a:lnSpc>
                          <a:spcPct val="100000"/>
                        </a:lnSpc>
                        <a:spcBef>
                          <a:spcPts val="600"/>
                        </a:spcBef>
                        <a:spcAft>
                          <a:spcPts val="600"/>
                        </a:spcAft>
                        <a:buNone/>
                      </a:pPr>
                      <a:r>
                        <a:rPr lang="en-AU" sz="2800">
                          <a:effectLst/>
                          <a:latin typeface="+mj-lt"/>
                        </a:rPr>
                        <a:t> (cm)</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628650" indent="-263525" algn="ctr" defTabSz="628650">
                        <a:lnSpc>
                          <a:spcPct val="100000"/>
                        </a:lnSpc>
                        <a:spcBef>
                          <a:spcPts val="600"/>
                        </a:spcBef>
                        <a:spcAft>
                          <a:spcPts val="600"/>
                        </a:spcAft>
                        <a:buNone/>
                      </a:pPr>
                      <a:r>
                        <a:rPr lang="en-AU" sz="2800">
                          <a:effectLst/>
                          <a:latin typeface="+mj-lt"/>
                        </a:rPr>
                        <a:t>metres </a:t>
                      </a:r>
                    </a:p>
                    <a:p>
                      <a:pPr marL="628650" indent="-263525" algn="ctr" defTabSz="628650">
                        <a:lnSpc>
                          <a:spcPct val="100000"/>
                        </a:lnSpc>
                        <a:spcBef>
                          <a:spcPts val="600"/>
                        </a:spcBef>
                        <a:spcAft>
                          <a:spcPts val="600"/>
                        </a:spcAft>
                        <a:buNone/>
                      </a:pPr>
                      <a:r>
                        <a:rPr lang="en-AU" sz="2800">
                          <a:effectLst/>
                          <a:latin typeface="+mj-lt"/>
                        </a:rPr>
                        <a:t>(m)</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00000"/>
                        </a:lnSpc>
                        <a:spcBef>
                          <a:spcPts val="600"/>
                        </a:spcBef>
                        <a:spcAft>
                          <a:spcPts val="600"/>
                        </a:spcAft>
                        <a:buNone/>
                      </a:pPr>
                      <a:r>
                        <a:rPr lang="en-AU" sz="2800">
                          <a:effectLst/>
                          <a:latin typeface="+mj-lt"/>
                        </a:rPr>
                        <a:t>kilometres</a:t>
                      </a:r>
                    </a:p>
                    <a:p>
                      <a:pPr algn="ctr">
                        <a:lnSpc>
                          <a:spcPct val="100000"/>
                        </a:lnSpc>
                        <a:spcBef>
                          <a:spcPts val="600"/>
                        </a:spcBef>
                        <a:spcAft>
                          <a:spcPts val="600"/>
                        </a:spcAft>
                        <a:buNone/>
                      </a:pPr>
                      <a:r>
                        <a:rPr lang="en-AU" sz="2800">
                          <a:effectLst/>
                          <a:latin typeface="+mj-lt"/>
                        </a:rPr>
                        <a:t> (km)</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905451796"/>
                  </a:ext>
                </a:extLst>
              </a:tr>
              <a:tr h="591058">
                <a:tc>
                  <a:txBody>
                    <a:bodyPr/>
                    <a:lstStyle/>
                    <a:p>
                      <a:pPr algn="ctr">
                        <a:lnSpc>
                          <a:spcPct val="107000"/>
                        </a:lnSpc>
                        <a:spcBef>
                          <a:spcPts val="1200"/>
                        </a:spcBef>
                        <a:spcAft>
                          <a:spcPts val="800"/>
                        </a:spcAft>
                        <a:buNone/>
                      </a:pPr>
                      <a:r>
                        <a:rPr lang="en-AU" sz="2800" b="0">
                          <a:effectLst/>
                          <a:latin typeface="+mj-lt"/>
                        </a:rPr>
                        <a:t>Goanna Gap Walk</a:t>
                      </a:r>
                      <a:endParaRPr lang="en-AU" sz="2800" b="0">
                        <a:effectLst/>
                        <a:latin typeface="+mj-lt"/>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870 000 cm</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 </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8.7 km</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956160"/>
                  </a:ext>
                </a:extLst>
              </a:tr>
              <a:tr h="613009">
                <a:tc>
                  <a:txBody>
                    <a:bodyPr/>
                    <a:lstStyle/>
                    <a:p>
                      <a:pPr algn="ctr">
                        <a:lnSpc>
                          <a:spcPct val="107000"/>
                        </a:lnSpc>
                        <a:spcBef>
                          <a:spcPts val="1200"/>
                        </a:spcBef>
                        <a:spcAft>
                          <a:spcPts val="800"/>
                        </a:spcAft>
                        <a:buNone/>
                      </a:pPr>
                      <a:r>
                        <a:rPr lang="en-AU" sz="2800" b="0">
                          <a:effectLst/>
                          <a:latin typeface="+mj-lt"/>
                        </a:rPr>
                        <a:t>Eagle Lookout Trail</a:t>
                      </a:r>
                      <a:endParaRPr lang="en-AU" sz="2800" b="0">
                        <a:effectLst/>
                        <a:latin typeface="+mj-lt"/>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 </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4278 m</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 </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0603358"/>
                  </a:ext>
                </a:extLst>
              </a:tr>
              <a:tr h="591058">
                <a:tc>
                  <a:txBody>
                    <a:bodyPr/>
                    <a:lstStyle/>
                    <a:p>
                      <a:pPr algn="ctr">
                        <a:lnSpc>
                          <a:spcPct val="107000"/>
                        </a:lnSpc>
                        <a:spcBef>
                          <a:spcPts val="1200"/>
                        </a:spcBef>
                        <a:spcAft>
                          <a:spcPts val="800"/>
                        </a:spcAft>
                        <a:buNone/>
                      </a:pPr>
                      <a:r>
                        <a:rPr lang="en-AU" sz="2800" b="0">
                          <a:effectLst/>
                          <a:latin typeface="+mj-lt"/>
                        </a:rPr>
                        <a:t>Ironbark Ridge Walk</a:t>
                      </a:r>
                      <a:endParaRPr lang="en-AU" sz="2800" b="0">
                        <a:effectLst/>
                        <a:latin typeface="+mj-lt"/>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395 000 cm</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 </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Bef>
                          <a:spcPts val="1200"/>
                        </a:spcBef>
                        <a:spcAft>
                          <a:spcPts val="800"/>
                        </a:spcAft>
                        <a:buNone/>
                      </a:pPr>
                      <a:r>
                        <a:rPr lang="en-AU" sz="2800">
                          <a:effectLst/>
                          <a:latin typeface="+mj-lt"/>
                        </a:rPr>
                        <a:t> </a:t>
                      </a:r>
                      <a:endParaRPr lang="en-AU" sz="2800">
                        <a:effectLst/>
                        <a:latin typeface="+mj-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5182413"/>
                  </a:ext>
                </a:extLst>
              </a:tr>
            </a:tbl>
          </a:graphicData>
        </a:graphic>
      </p:graphicFrame>
      <p:sp>
        <p:nvSpPr>
          <p:cNvPr id="5" name="TextBox 4">
            <a:extLst>
              <a:ext uri="{FF2B5EF4-FFF2-40B4-BE49-F238E27FC236}">
                <a16:creationId xmlns:a16="http://schemas.microsoft.com/office/drawing/2014/main" id="{B74633D1-4356-043E-420C-39255B9BF18D}"/>
              </a:ext>
            </a:extLst>
          </p:cNvPr>
          <p:cNvSpPr txBox="1"/>
          <p:nvPr/>
        </p:nvSpPr>
        <p:spPr>
          <a:xfrm>
            <a:off x="1544044" y="5733816"/>
            <a:ext cx="9103911" cy="764184"/>
          </a:xfrm>
          <a:prstGeom prst="rect">
            <a:avLst/>
          </a:prstGeom>
          <a:noFill/>
        </p:spPr>
        <p:txBody>
          <a:bodyPr wrap="square">
            <a:spAutoFit/>
          </a:bodyPr>
          <a:lstStyle/>
          <a:p>
            <a:pPr algn="ctr">
              <a:lnSpc>
                <a:spcPct val="107000"/>
              </a:lnSpc>
              <a:spcBef>
                <a:spcPts val="1200"/>
              </a:spcBef>
              <a:spcAft>
                <a:spcPts val="800"/>
              </a:spcAft>
            </a:pPr>
            <a:r>
              <a:rPr lang="en-AU" sz="4400" b="1">
                <a:ea typeface="Cambria Math" panose="02040503050406030204" pitchFamily="18" charset="0"/>
                <a:cs typeface="Arial"/>
              </a:rPr>
              <a:t>Communicate </a:t>
            </a:r>
            <a:r>
              <a:rPr lang="en-AU" sz="4400">
                <a:ea typeface="Cambria Math" panose="02040503050406030204" pitchFamily="18" charset="0"/>
                <a:cs typeface="Arial"/>
              </a:rPr>
              <a:t>your</a:t>
            </a:r>
            <a:r>
              <a:rPr lang="en-AU" sz="4400" b="1">
                <a:ea typeface="Cambria Math" panose="02040503050406030204" pitchFamily="18" charset="0"/>
                <a:cs typeface="Arial"/>
              </a:rPr>
              <a:t> thinking.</a:t>
            </a:r>
            <a:endParaRPr lang="en-AU" sz="4400">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3" name="Picture 12" descr="a pyramid with a pentagonal base">
            <a:extLst>
              <a:ext uri="{FF2B5EF4-FFF2-40B4-BE49-F238E27FC236}">
                <a16:creationId xmlns:a16="http://schemas.microsoft.com/office/drawing/2014/main" id="{E966B490-C3BD-08DB-D2B2-9DBA5E5EECA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5514" b="89975" l="7612" r="89764">
                        <a14:foregroundMark x1="19685" y1="44361" x2="19685" y2="44361"/>
                        <a14:foregroundMark x1="19685" y1="69424" x2="19685" y2="69424"/>
                        <a14:foregroundMark x1="30446" y1="66917" x2="30446" y2="66917"/>
                        <a14:foregroundMark x1="14698" y1="68421" x2="14698" y2="68421"/>
                        <a14:foregroundMark x1="7612" y1="69424" x2="7612" y2="69424"/>
                        <a14:foregroundMark x1="15223" y1="79699" x2="15223" y2="79699"/>
                        <a14:foregroundMark x1="17585" y1="80451" x2="17585" y2="80451"/>
                        <a14:foregroundMark x1="13123" y1="77694" x2="13123" y2="77694"/>
                        <a14:foregroundMark x1="26509" y1="68421" x2="26509" y2="68421"/>
                        <a14:foregroundMark x1="53018" y1="83960" x2="53018" y2="83960"/>
                        <a14:foregroundMark x1="67717" y1="67920" x2="67717" y2="67920"/>
                        <a14:foregroundMark x1="77953" y1="50877" x2="77953" y2="50877"/>
                        <a14:foregroundMark x1="46719" y1="47368" x2="46719" y2="47368"/>
                        <a14:foregroundMark x1="47769" y1="39599" x2="47769" y2="39599"/>
                        <a14:foregroundMark x1="47769" y1="31830" x2="47769" y2="31830"/>
                        <a14:foregroundMark x1="47769" y1="23559" x2="47769" y2="23559"/>
                        <a14:foregroundMark x1="47769" y1="16291" x2="47769" y2="16291"/>
                        <a14:foregroundMark x1="46719" y1="60652" x2="46719" y2="60652"/>
                        <a14:foregroundMark x1="46719" y1="55138" x2="46719" y2="55138"/>
                        <a14:foregroundMark x1="38583" y1="65414" x2="38583" y2="65414"/>
                        <a14:foregroundMark x1="48294" y1="63409" x2="48294" y2="63409"/>
                        <a14:foregroundMark x1="55381" y1="65414" x2="55381" y2="65414"/>
                        <a14:foregroundMark x1="62205" y1="66917" x2="62205" y2="66917"/>
                        <a14:foregroundMark x1="72966" y1="69424" x2="72966" y2="69424"/>
                        <a14:foregroundMark x1="46719" y1="46366" x2="46719" y2="46366"/>
                        <a14:foregroundMark x1="48294" y1="45363" x2="48294" y2="45363"/>
                        <a14:foregroundMark x1="49344" y1="8772" x2="49344" y2="8772"/>
                        <a14:foregroundMark x1="48819" y1="5514" x2="48819" y2="5514"/>
                        <a14:foregroundMark x1="20735" y1="67920" x2="20735" y2="67920"/>
                        <a14:foregroundMark x1="80052" y1="69424" x2="80052" y2="69424"/>
                        <a14:foregroundMark x1="86089" y1="70677" x2="86089" y2="70677"/>
                      </a14:backgroundRemoval>
                    </a14:imgEffect>
                  </a14:imgLayer>
                </a14:imgProps>
              </a:ext>
            </a:extLst>
          </a:blip>
          <a:stretch>
            <a:fillRect/>
          </a:stretch>
        </p:blipFill>
        <p:spPr>
          <a:xfrm>
            <a:off x="1404121" y="1542405"/>
            <a:ext cx="3798074" cy="3977511"/>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9A0E57F5-9927-7D26-4393-B128A1EDEED0}"/>
              </a:ext>
            </a:extLst>
          </p:cNvPr>
          <p:cNvSpPr txBox="1"/>
          <p:nvPr/>
        </p:nvSpPr>
        <p:spPr>
          <a:xfrm>
            <a:off x="5385942" y="2028616"/>
            <a:ext cx="6098058" cy="2800767"/>
          </a:xfrm>
          <a:prstGeom prst="rect">
            <a:avLst/>
          </a:prstGeom>
          <a:noFill/>
        </p:spPr>
        <p:txBody>
          <a:bodyPr wrap="square">
            <a:spAutoFit/>
          </a:bodyPr>
          <a:lstStyle/>
          <a:p>
            <a:pPr lvl="0" algn="ctr"/>
            <a:r>
              <a:rPr lang="en-AU" sz="4400" b="1"/>
              <a:t>Name </a:t>
            </a:r>
            <a:r>
              <a:rPr lang="en-AU" sz="4400"/>
              <a:t>this 3D object.</a:t>
            </a:r>
          </a:p>
          <a:p>
            <a:pPr lvl="0" algn="ctr"/>
            <a:endParaRPr lang="en-AU" sz="4400"/>
          </a:p>
          <a:p>
            <a:pPr lvl="0" algn="ctr"/>
            <a:r>
              <a:rPr lang="en-AU" sz="4400" b="1"/>
              <a:t>Describe 3 properties </a:t>
            </a:r>
            <a:r>
              <a:rPr lang="en-AU" sz="4400"/>
              <a:t>of the object</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fair shares with fractions 1</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4 chocolate bars. &#10;5 children share 3 chocolate bars. &#10;5 children share 4 chocolate bars. &#10;6 children share 5 chocolate bars. &#10;8 children share 6 chocolate bars. &#10;How much chocolate bars does each student in each group get? &#10;Who do you think gets the most? Why?&#10;Who do you think gets the least? Why?">
            <a:extLst>
              <a:ext uri="{FF2B5EF4-FFF2-40B4-BE49-F238E27FC236}">
                <a16:creationId xmlns:a16="http://schemas.microsoft.com/office/drawing/2014/main" id="{8CA8FAAE-9C24-A224-58CC-C1C8D18DC0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8956" y="1097258"/>
            <a:ext cx="6239527" cy="3769527"/>
          </a:xfrm>
          <a:prstGeom prst="rect">
            <a:avLst/>
          </a:prstGeom>
        </p:spPr>
      </p:pic>
      <p:sp>
        <p:nvSpPr>
          <p:cNvPr id="7" name="TextBox 6">
            <a:extLst>
              <a:ext uri="{FF2B5EF4-FFF2-40B4-BE49-F238E27FC236}">
                <a16:creationId xmlns:a16="http://schemas.microsoft.com/office/drawing/2014/main" id="{55597A09-A58E-68EA-F996-6E314A63FF4E}"/>
              </a:ext>
            </a:extLst>
          </p:cNvPr>
          <p:cNvSpPr txBox="1"/>
          <p:nvPr/>
        </p:nvSpPr>
        <p:spPr>
          <a:xfrm>
            <a:off x="290437" y="4759815"/>
            <a:ext cx="11536566" cy="1651671"/>
          </a:xfrm>
          <a:prstGeom prst="rect">
            <a:avLst/>
          </a:prstGeom>
          <a:noFill/>
        </p:spPr>
        <p:txBody>
          <a:bodyPr wrap="square">
            <a:spAutoFit/>
          </a:bodyPr>
          <a:lstStyle/>
          <a:p>
            <a:pPr>
              <a:lnSpc>
                <a:spcPct val="150000"/>
              </a:lnSpc>
            </a:pPr>
            <a:r>
              <a:rPr lang="en-AU" sz="3600">
                <a:latin typeface="Arial" panose="020B0604020202020204" pitchFamily="34" charset="0"/>
                <a:ea typeface="Calibri" panose="020F0502020204030204" pitchFamily="34" charset="0"/>
              </a:rPr>
              <a:t>C</a:t>
            </a:r>
            <a:r>
              <a:rPr lang="en-AU" sz="3600">
                <a:effectLst/>
                <a:latin typeface="Arial" panose="020B0604020202020204" pitchFamily="34" charset="0"/>
                <a:ea typeface="Calibri" panose="020F0502020204030204" pitchFamily="34" charset="0"/>
              </a:rPr>
              <a:t>onsider how much each student would receive if the chocolate bars were shared equally across the groups.</a:t>
            </a:r>
            <a:endParaRPr lang="en-AU" sz="3600"/>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948963" y="1500716"/>
                <a:ext cx="5591537" cy="893226"/>
              </a:xfrm>
            </p:spPr>
            <p:txBody>
              <a:bodyPr/>
              <a:lstStyle/>
              <a:p>
                <a:r>
                  <a:rPr lang="en-AU" sz="4000"/>
                  <a:t>Each child will receive </a:t>
                </a:r>
                <a14:m>
                  <m:oMath xmlns:m="http://schemas.openxmlformats.org/officeDocument/2006/math">
                    <m:f>
                      <m:fPr>
                        <m:ctrlPr>
                          <a:rPr lang="en-AU" sz="4000" b="1" i="1" smtClean="0">
                            <a:latin typeface="Cambria Math" panose="02040503050406030204" pitchFamily="18" charset="0"/>
                          </a:rPr>
                        </m:ctrlPr>
                      </m:fPr>
                      <m:num>
                        <m:r>
                          <a:rPr lang="en-AU" sz="4000" b="1" i="1" smtClean="0">
                            <a:latin typeface="Cambria Math" panose="02040503050406030204" pitchFamily="18" charset="0"/>
                          </a:rPr>
                          <m:t>𝟏</m:t>
                        </m:r>
                      </m:num>
                      <m:den>
                        <m:r>
                          <a:rPr lang="en-AU" sz="4000" b="1" i="1" smtClean="0">
                            <a:latin typeface="Cambria Math" panose="02040503050406030204" pitchFamily="18" charset="0"/>
                          </a:rPr>
                          <m:t>𝟑</m:t>
                        </m:r>
                      </m:den>
                    </m:f>
                  </m:oMath>
                </a14:m>
                <a:r>
                  <a:rPr lang="en-AU" sz="4000" b="1"/>
                  <a:t> </a:t>
                </a:r>
                <a:r>
                  <a:rPr lang="en-AU" sz="4000"/>
                  <a:t>of the chocolate bars.</a:t>
                </a:r>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xfrm>
                <a:off x="948963" y="1500716"/>
                <a:ext cx="5591537" cy="893226"/>
              </a:xfrm>
              <a:blipFill>
                <a:blip r:embed="rId4"/>
                <a:stretch>
                  <a:fillRect l="-5562" b="-171429"/>
                </a:stretch>
              </a:blipFill>
            </p:spPr>
            <p:txBody>
              <a:bodyPr/>
              <a:lstStyle/>
              <a:p>
                <a:r>
                  <a:rPr lang="en-US">
                    <a:noFill/>
                  </a:rPr>
                  <a:t> </a:t>
                </a:r>
              </a:p>
            </p:txBody>
          </p:sp>
        </mc:Fallback>
      </mc:AlternateContent>
      <p:pic>
        <p:nvPicPr>
          <p:cNvPr id="9" name="Picture 8" descr="3 children - 2 chocolate bars have been divided into thirds">
            <a:extLst>
              <a:ext uri="{FF2B5EF4-FFF2-40B4-BE49-F238E27FC236}">
                <a16:creationId xmlns:a16="http://schemas.microsoft.com/office/drawing/2014/main" id="{11FBCD1B-3CE2-575C-FDFE-E7F0824A559C}"/>
              </a:ext>
            </a:extLst>
          </p:cNvPr>
          <p:cNvPicPr>
            <a:picLocks noChangeAspect="1"/>
          </p:cNvPicPr>
          <p:nvPr/>
        </p:nvPicPr>
        <p:blipFill>
          <a:blip r:embed="rId5"/>
          <a:stretch>
            <a:fillRect/>
          </a:stretch>
        </p:blipFill>
        <p:spPr>
          <a:xfrm>
            <a:off x="7193474" y="360000"/>
            <a:ext cx="3201810" cy="4663505"/>
          </a:xfrm>
          <a:prstGeom prst="rect">
            <a:avLst/>
          </a:prstGeom>
        </p:spPr>
      </p:pic>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17">
            <a:extLst>
              <a:ext uri="{FF2B5EF4-FFF2-40B4-BE49-F238E27FC236}">
                <a16:creationId xmlns:a16="http://schemas.microsoft.com/office/drawing/2014/main" id="{08B390F1-7AFC-075A-57ED-2A48E95D3B30}"/>
              </a:ext>
            </a:extLst>
          </p:cNvPr>
          <p:cNvSpPr txBox="1">
            <a:spLocks/>
          </p:cNvSpPr>
          <p:nvPr/>
        </p:nvSpPr>
        <p:spPr>
          <a:xfrm>
            <a:off x="246024" y="1342187"/>
            <a:ext cx="4883642" cy="243649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What was the </a:t>
            </a:r>
            <a:r>
              <a:rPr lang="en-US" sz="3600" b="1"/>
              <a:t>highest </a:t>
            </a:r>
            <a:r>
              <a:rPr lang="en-US" sz="3600"/>
              <a:t>maximum temperature recorded? </a:t>
            </a:r>
          </a:p>
          <a:p>
            <a:r>
              <a:rPr lang="en-AU" sz="3600"/>
              <a:t>What was the </a:t>
            </a:r>
            <a:r>
              <a:rPr lang="en-AU" sz="3600" b="1"/>
              <a:t>lowest</a:t>
            </a:r>
            <a:r>
              <a:rPr lang="en-AU" sz="3600"/>
              <a:t> minimum temperature recorded?</a:t>
            </a:r>
          </a:p>
          <a:p>
            <a:endParaRPr lang="en-US" sz="3600"/>
          </a:p>
        </p:txBody>
      </p:sp>
      <p:pic>
        <p:nvPicPr>
          <p:cNvPr id="4" name="Picture 3" descr="Beijing 2022 Olympic Games Daily Temperatures (maximum and minimum in degrees celcius) for days in January. &#10;4th - minimum -6, maximum 2.&#10;5th - minimum -7, maximum 5. &#10;6th - minimum -5, maximum 6.&#10;7th - minimum -5, maximum 6.&#10;8th - minimum -5, maximum 8.&#10;9th - minimum -4, maximum 7.&#10;10th - minimum -4, maximum 9.&#10;11th - minimum -2, maximum 7.&#10;12th - minimum -3, maximum 2.&#10;13th - minimum -4, maximum -2.&#10;14th - minimum -7, maximum 0.&#10;15th - minimum -9, maximum -3.&#10;16th - minimum -10, maximum 1.&#10;17th - minimum -8, maximum -1.&#10;18th - minimum -6, maximum 2.&#10;19th - minimum -8, maximum 1.&#10;20th - minimum -8, maximum 4.">
            <a:extLst>
              <a:ext uri="{FF2B5EF4-FFF2-40B4-BE49-F238E27FC236}">
                <a16:creationId xmlns:a16="http://schemas.microsoft.com/office/drawing/2014/main" id="{620A3EB6-DCB9-1259-1A22-D634BBB2A15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bwMode="auto">
          <a:xfrm>
            <a:off x="5279757" y="1520775"/>
            <a:ext cx="6564243" cy="4658672"/>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 large square is divided into four coloured sections of different sizes.&#10;The entire top half of the shape is shaded green.&#10;Below it, on the left, is a blue square that is half the size of the green section.&#10;To the right of the blue square are two stacked rectangles: the pink rectangle on top and the orange rectangle below. Each of these is half the size of the blue square.&#10;">
            <a:extLst>
              <a:ext uri="{FF2B5EF4-FFF2-40B4-BE49-F238E27FC236}">
                <a16:creationId xmlns:a16="http://schemas.microsoft.com/office/drawing/2014/main" id="{B2396082-5997-69AF-273E-811E1D351668}"/>
              </a:ext>
            </a:extLst>
          </p:cNvPr>
          <p:cNvPicPr>
            <a:picLocks noChangeAspect="1"/>
          </p:cNvPicPr>
          <p:nvPr/>
        </p:nvPicPr>
        <p:blipFill>
          <a:blip r:embed="rId4"/>
          <a:stretch>
            <a:fillRect/>
          </a:stretch>
        </p:blipFill>
        <p:spPr>
          <a:xfrm>
            <a:off x="478929" y="2504660"/>
            <a:ext cx="3559671" cy="3429000"/>
          </a:xfrm>
          <a:prstGeom prst="rect">
            <a:avLst/>
          </a:prstGeom>
        </p:spPr>
      </p:pic>
      <p:sp>
        <p:nvSpPr>
          <p:cNvPr id="8" name="TextBox 7">
            <a:extLst>
              <a:ext uri="{FF2B5EF4-FFF2-40B4-BE49-F238E27FC236}">
                <a16:creationId xmlns:a16="http://schemas.microsoft.com/office/drawing/2014/main" id="{C658E581-5FF0-C05A-01E3-CAA3DC3F8573}"/>
              </a:ext>
            </a:extLst>
          </p:cNvPr>
          <p:cNvSpPr txBox="1"/>
          <p:nvPr/>
        </p:nvSpPr>
        <p:spPr>
          <a:xfrm>
            <a:off x="4220224" y="1419687"/>
            <a:ext cx="7725752" cy="5078313"/>
          </a:xfrm>
          <a:prstGeom prst="rect">
            <a:avLst/>
          </a:prstGeom>
          <a:noFill/>
        </p:spPr>
        <p:txBody>
          <a:bodyPr wrap="square">
            <a:spAutoFit/>
          </a:bodyPr>
          <a:lstStyle/>
          <a:p>
            <a:pPr>
              <a:lnSpc>
                <a:spcPct val="150000"/>
              </a:lnSpc>
              <a:spcAft>
                <a:spcPts val="1200"/>
              </a:spcAft>
            </a:pPr>
            <a:r>
              <a:rPr lang="en-AU" sz="3600">
                <a:effectLst/>
                <a:latin typeface="Arial" panose="020B0604020202020204" pitchFamily="34" charset="0"/>
                <a:ea typeface="Calibri" panose="020F0502020204030204" pitchFamily="34" charset="0"/>
              </a:rPr>
              <a:t>What </a:t>
            </a:r>
            <a:r>
              <a:rPr lang="en-AU" sz="3600" b="1">
                <a:effectLst/>
                <a:latin typeface="Arial" panose="020B0604020202020204" pitchFamily="34" charset="0"/>
                <a:ea typeface="Calibri" panose="020F0502020204030204" pitchFamily="34" charset="0"/>
              </a:rPr>
              <a:t>fraction</a:t>
            </a:r>
            <a:r>
              <a:rPr lang="en-AU" sz="3600">
                <a:effectLst/>
                <a:latin typeface="Arial" panose="020B0604020202020204" pitchFamily="34" charset="0"/>
                <a:ea typeface="Calibri" panose="020F0502020204030204" pitchFamily="34" charset="0"/>
              </a:rPr>
              <a:t> of the whole shape is</a:t>
            </a:r>
            <a:r>
              <a:rPr lang="en-AU" sz="3600">
                <a:latin typeface="Arial" panose="020B0604020202020204" pitchFamily="34" charset="0"/>
                <a:ea typeface="Calibri" panose="020F0502020204030204" pitchFamily="34" charset="0"/>
              </a:rPr>
              <a:t>:</a:t>
            </a:r>
            <a:r>
              <a:rPr lang="en-AU" sz="3600">
                <a:effectLst/>
                <a:latin typeface="Arial" panose="020B0604020202020204" pitchFamily="34" charset="0"/>
                <a:ea typeface="Calibri" panose="020F0502020204030204" pitchFamily="34" charset="0"/>
              </a:rPr>
              <a:t> </a:t>
            </a:r>
          </a:p>
          <a:p>
            <a:pPr marL="571500" indent="-571500">
              <a:lnSpc>
                <a:spcPct val="150000"/>
              </a:lnSpc>
              <a:spcAft>
                <a:spcPts val="600"/>
              </a:spcAft>
              <a:buFont typeface="Arial" panose="020B0604020202020204" pitchFamily="34" charset="0"/>
              <a:buChar char="•"/>
            </a:pPr>
            <a:r>
              <a:rPr lang="en-AU" sz="3600" b="1">
                <a:solidFill>
                  <a:srgbClr val="7ED957"/>
                </a:solidFill>
                <a:effectLst/>
                <a:latin typeface="Arial" panose="020B0604020202020204" pitchFamily="34" charset="0"/>
                <a:ea typeface="Calibri" panose="020F0502020204030204" pitchFamily="34" charset="0"/>
              </a:rPr>
              <a:t>green</a:t>
            </a:r>
            <a:r>
              <a:rPr lang="en-AU" sz="3600">
                <a:effectLst/>
                <a:latin typeface="Arial" panose="020B0604020202020204" pitchFamily="34" charset="0"/>
                <a:ea typeface="Calibri" panose="020F0502020204030204" pitchFamily="34" charset="0"/>
              </a:rPr>
              <a:t>?</a:t>
            </a:r>
          </a:p>
          <a:p>
            <a:pPr marL="571500" indent="-571500">
              <a:lnSpc>
                <a:spcPct val="150000"/>
              </a:lnSpc>
              <a:spcAft>
                <a:spcPts val="600"/>
              </a:spcAft>
              <a:buFont typeface="Arial" panose="020B0604020202020204" pitchFamily="34" charset="0"/>
              <a:buChar char="•"/>
            </a:pPr>
            <a:r>
              <a:rPr lang="en-AU" sz="3600" b="1">
                <a:solidFill>
                  <a:srgbClr val="38B6FF"/>
                </a:solidFill>
                <a:latin typeface="Arial" panose="020B0604020202020204" pitchFamily="34" charset="0"/>
                <a:ea typeface="Calibri" panose="020F0502020204030204" pitchFamily="34" charset="0"/>
              </a:rPr>
              <a:t>blue</a:t>
            </a:r>
            <a:r>
              <a:rPr lang="en-AU" sz="3600">
                <a:latin typeface="Arial" panose="020B0604020202020204" pitchFamily="34" charset="0"/>
                <a:ea typeface="Calibri" panose="020F0502020204030204" pitchFamily="34" charset="0"/>
              </a:rPr>
              <a:t>?</a:t>
            </a:r>
          </a:p>
          <a:p>
            <a:pPr marL="571500" indent="-571500">
              <a:lnSpc>
                <a:spcPct val="150000"/>
              </a:lnSpc>
              <a:spcAft>
                <a:spcPts val="600"/>
              </a:spcAft>
              <a:buFont typeface="Arial" panose="020B0604020202020204" pitchFamily="34" charset="0"/>
              <a:buChar char="•"/>
            </a:pPr>
            <a:r>
              <a:rPr lang="en-AU" sz="3600" b="1">
                <a:solidFill>
                  <a:srgbClr val="FF66C4"/>
                </a:solidFill>
                <a:latin typeface="Arial" panose="020B0604020202020204" pitchFamily="34" charset="0"/>
                <a:ea typeface="Calibri" panose="020F0502020204030204" pitchFamily="34" charset="0"/>
              </a:rPr>
              <a:t>pink</a:t>
            </a:r>
            <a:r>
              <a:rPr lang="en-AU" sz="3600">
                <a:latin typeface="Arial" panose="020B0604020202020204" pitchFamily="34" charset="0"/>
                <a:ea typeface="Calibri" panose="020F0502020204030204" pitchFamily="34" charset="0"/>
              </a:rPr>
              <a:t>?</a:t>
            </a:r>
          </a:p>
          <a:p>
            <a:pPr marL="571500" indent="-571500">
              <a:lnSpc>
                <a:spcPct val="150000"/>
              </a:lnSpc>
              <a:spcAft>
                <a:spcPts val="600"/>
              </a:spcAft>
              <a:buFont typeface="Arial" panose="020B0604020202020204" pitchFamily="34" charset="0"/>
              <a:buChar char="•"/>
            </a:pPr>
            <a:r>
              <a:rPr lang="en-AU" sz="3600" b="1">
                <a:solidFill>
                  <a:srgbClr val="FF751F"/>
                </a:solidFill>
                <a:latin typeface="Arial" panose="020B0604020202020204" pitchFamily="34" charset="0"/>
                <a:ea typeface="Calibri" panose="020F0502020204030204" pitchFamily="34" charset="0"/>
              </a:rPr>
              <a:t>orange</a:t>
            </a:r>
            <a:r>
              <a:rPr lang="en-AU" sz="3600">
                <a:latin typeface="Arial" panose="020B0604020202020204" pitchFamily="34" charset="0"/>
                <a:ea typeface="Calibri" panose="020F0502020204030204" pitchFamily="34" charset="0"/>
              </a:rPr>
              <a:t> and </a:t>
            </a:r>
            <a:r>
              <a:rPr lang="en-AU" sz="3600" b="1">
                <a:solidFill>
                  <a:srgbClr val="FF66C4"/>
                </a:solidFill>
                <a:latin typeface="Arial" panose="020B0604020202020204" pitchFamily="34" charset="0"/>
                <a:ea typeface="Calibri" panose="020F0502020204030204" pitchFamily="34" charset="0"/>
              </a:rPr>
              <a:t>pink </a:t>
            </a:r>
            <a:r>
              <a:rPr lang="en-AU" sz="3600">
                <a:latin typeface="Arial" panose="020B0604020202020204" pitchFamily="34" charset="0"/>
                <a:ea typeface="Calibri" panose="020F0502020204030204" pitchFamily="34" charset="0"/>
              </a:rPr>
              <a:t>combined?</a:t>
            </a:r>
          </a:p>
          <a:p>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74C84AB-277D-25A7-0DBC-96F6CF5180C7}"/>
              </a:ext>
            </a:extLst>
          </p:cNvPr>
          <p:cNvSpPr txBox="1"/>
          <p:nvPr/>
        </p:nvSpPr>
        <p:spPr>
          <a:xfrm>
            <a:off x="454616" y="632800"/>
            <a:ext cx="11282768" cy="6060826"/>
          </a:xfrm>
          <a:prstGeom prst="rect">
            <a:avLst/>
          </a:prstGeom>
          <a:noFill/>
        </p:spPr>
        <p:txBody>
          <a:bodyPr wrap="square">
            <a:spAutoFit/>
          </a:bodyPr>
          <a:lstStyle/>
          <a:p>
            <a:pPr lvl="0" algn="ctr">
              <a:lnSpc>
                <a:spcPct val="150000"/>
              </a:lnSpc>
            </a:pPr>
            <a:r>
              <a:rPr lang="en-AU" sz="4400"/>
              <a:t>Bec measured the perimeter of a </a:t>
            </a:r>
          </a:p>
          <a:p>
            <a:pPr algn="ctr">
              <a:lnSpc>
                <a:spcPct val="150000"/>
              </a:lnSpc>
            </a:pPr>
            <a:r>
              <a:rPr lang="en-AU" sz="4400" b="1"/>
              <a:t>basketball court </a:t>
            </a:r>
            <a:r>
              <a:rPr lang="en-AU" sz="4400"/>
              <a:t>as 87.78 m. </a:t>
            </a:r>
          </a:p>
          <a:p>
            <a:pPr algn="ctr">
              <a:lnSpc>
                <a:spcPct val="150000"/>
              </a:lnSpc>
            </a:pPr>
            <a:r>
              <a:rPr lang="en-AU" sz="4400"/>
              <a:t>Sally measured the perimeter of a </a:t>
            </a:r>
            <a:r>
              <a:rPr lang="en-AU" sz="4400" b="1"/>
              <a:t>futsal field </a:t>
            </a:r>
            <a:r>
              <a:rPr lang="en-AU" sz="4400"/>
              <a:t>as 1760 cm. </a:t>
            </a:r>
          </a:p>
          <a:p>
            <a:pPr algn="ctr">
              <a:lnSpc>
                <a:spcPct val="150000"/>
              </a:lnSpc>
            </a:pPr>
            <a:r>
              <a:rPr lang="en-AU" sz="4400"/>
              <a:t>Which has the </a:t>
            </a:r>
            <a:r>
              <a:rPr lang="en-AU" sz="4400" b="1"/>
              <a:t>largest</a:t>
            </a:r>
            <a:r>
              <a:rPr lang="en-AU" sz="4400"/>
              <a:t> perimeter? </a:t>
            </a:r>
          </a:p>
          <a:p>
            <a:pPr algn="ctr">
              <a:lnSpc>
                <a:spcPct val="150000"/>
              </a:lnSpc>
            </a:pP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4E1B869-1EBE-A0C2-14B4-7E9BAE543C4E}"/>
              </a:ext>
            </a:extLst>
          </p:cNvPr>
          <p:cNvSpPr txBox="1"/>
          <p:nvPr/>
        </p:nvSpPr>
        <p:spPr>
          <a:xfrm>
            <a:off x="649578" y="726473"/>
            <a:ext cx="10551822" cy="5045164"/>
          </a:xfrm>
          <a:prstGeom prst="rect">
            <a:avLst/>
          </a:prstGeom>
          <a:noFill/>
        </p:spPr>
        <p:txBody>
          <a:bodyPr wrap="square">
            <a:spAutoFit/>
          </a:bodyPr>
          <a:lstStyle/>
          <a:p>
            <a:pPr>
              <a:lnSpc>
                <a:spcPct val="150000"/>
              </a:lnSpc>
            </a:pPr>
            <a:r>
              <a:rPr lang="en-AU" sz="4400" b="1">
                <a:effectLst/>
                <a:latin typeface="Arial" panose="020B0604020202020204" pitchFamily="34" charset="0"/>
                <a:ea typeface="Calibri" panose="020F0502020204030204" pitchFamily="34" charset="0"/>
              </a:rPr>
              <a:t>Convert</a:t>
            </a:r>
            <a:r>
              <a:rPr lang="en-AU" sz="4400">
                <a:effectLst/>
                <a:latin typeface="Arial" panose="020B0604020202020204" pitchFamily="34" charset="0"/>
                <a:ea typeface="Calibri" panose="020F0502020204030204" pitchFamily="34" charset="0"/>
              </a:rPr>
              <a:t> the following times into </a:t>
            </a:r>
            <a:r>
              <a:rPr lang="en-AU" sz="4400" b="1">
                <a:effectLst/>
                <a:latin typeface="Arial" panose="020B0604020202020204" pitchFamily="34" charset="0"/>
                <a:ea typeface="Calibri" panose="020F0502020204030204" pitchFamily="34" charset="0"/>
              </a:rPr>
              <a:t>12-hour time:</a:t>
            </a:r>
          </a:p>
          <a:p>
            <a:pPr marL="342900" indent="-342900">
              <a:lnSpc>
                <a:spcPct val="150000"/>
              </a:lnSpc>
              <a:buFont typeface="Arial" panose="020B0604020202020204" pitchFamily="34" charset="0"/>
              <a:buChar char="•"/>
            </a:pPr>
            <a:r>
              <a:rPr lang="en-AU" sz="4400">
                <a:latin typeface="Arial" panose="020B0604020202020204" pitchFamily="34" charset="0"/>
                <a:ea typeface="Calibri" panose="020F0502020204030204" pitchFamily="34" charset="0"/>
              </a:rPr>
              <a:t>09:45</a:t>
            </a:r>
          </a:p>
          <a:p>
            <a:pPr marL="342900" indent="-342900">
              <a:lnSpc>
                <a:spcPct val="150000"/>
              </a:lnSpc>
              <a:buFont typeface="Arial" panose="020B0604020202020204" pitchFamily="34" charset="0"/>
              <a:buChar char="•"/>
            </a:pPr>
            <a:r>
              <a:rPr lang="en-AU" sz="4400">
                <a:latin typeface="Arial" panose="020B0604020202020204" pitchFamily="34" charset="0"/>
                <a:ea typeface="Calibri" panose="020F0502020204030204" pitchFamily="34" charset="0"/>
              </a:rPr>
              <a:t>13:15</a:t>
            </a:r>
          </a:p>
          <a:p>
            <a:pPr marL="342900" indent="-342900">
              <a:lnSpc>
                <a:spcPct val="150000"/>
              </a:lnSpc>
              <a:buFont typeface="Arial" panose="020B0604020202020204" pitchFamily="34" charset="0"/>
              <a:buChar char="•"/>
            </a:pPr>
            <a:r>
              <a:rPr lang="en-AU" sz="4400">
                <a:latin typeface="Arial" panose="020B0604020202020204" pitchFamily="34" charset="0"/>
                <a:ea typeface="Calibri" panose="020F0502020204030204" pitchFamily="34" charset="0"/>
              </a:rPr>
              <a:t>19:20</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fair shares with fractions 2</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BDE4FD1A-C33B-86CB-7B29-BAEDBDF2CC4A}"/>
              </a:ext>
            </a:extLst>
          </p:cNvPr>
          <p:cNvSpPr txBox="1"/>
          <p:nvPr/>
        </p:nvSpPr>
        <p:spPr>
          <a:xfrm>
            <a:off x="338668" y="905601"/>
            <a:ext cx="8515350" cy="5829481"/>
          </a:xfrm>
          <a:prstGeom prst="rect">
            <a:avLst/>
          </a:prstGeom>
          <a:noFill/>
        </p:spPr>
        <p:txBody>
          <a:bodyPr wrap="square">
            <a:spAutoFit/>
          </a:bodyPr>
          <a:lstStyle/>
          <a:p>
            <a:pPr>
              <a:lnSpc>
                <a:spcPct val="150000"/>
              </a:lnSpc>
            </a:pPr>
            <a:r>
              <a:rPr lang="en-AU" sz="2800" b="1">
                <a:latin typeface="Arial" panose="020B0604020202020204" pitchFamily="34" charset="0"/>
                <a:ea typeface="Calibri" panose="020F0502020204030204" pitchFamily="34" charset="0"/>
              </a:rPr>
              <a:t>Create </a:t>
            </a:r>
            <a:r>
              <a:rPr lang="en-AU" sz="2800">
                <a:latin typeface="Arial" panose="020B0604020202020204" pitchFamily="34" charset="0"/>
                <a:ea typeface="Calibri" panose="020F0502020204030204" pitchFamily="34" charset="0"/>
              </a:rPr>
              <a:t>your own chocolate-sharing </a:t>
            </a:r>
            <a:r>
              <a:rPr lang="en-AU" sz="2800" b="1">
                <a:latin typeface="Arial" panose="020B0604020202020204" pitchFamily="34" charset="0"/>
                <a:ea typeface="Calibri" panose="020F0502020204030204" pitchFamily="34" charset="0"/>
              </a:rPr>
              <a:t>scenario.</a:t>
            </a:r>
            <a:r>
              <a:rPr lang="en-AU" sz="2800">
                <a:latin typeface="Arial" panose="020B0604020202020204" pitchFamily="34" charset="0"/>
                <a:ea typeface="Calibri" panose="020F0502020204030204" pitchFamily="34" charset="0"/>
              </a:rPr>
              <a:t> Include:</a:t>
            </a:r>
          </a:p>
          <a:p>
            <a:pPr marL="457200" lvl="0" indent="-457200">
              <a:lnSpc>
                <a:spcPct val="150000"/>
              </a:lnSpc>
              <a:buFont typeface="Arial" panose="020B0604020202020204" pitchFamily="34" charset="0"/>
              <a:buChar char="•"/>
            </a:pPr>
            <a:r>
              <a:rPr lang="en-AU" sz="2800"/>
              <a:t>The total number of chocolate bars.</a:t>
            </a:r>
          </a:p>
          <a:p>
            <a:pPr marL="457200" lvl="0" indent="-457200">
              <a:lnSpc>
                <a:spcPct val="150000"/>
              </a:lnSpc>
              <a:buFont typeface="Arial" panose="020B0604020202020204" pitchFamily="34" charset="0"/>
              <a:buChar char="•"/>
            </a:pPr>
            <a:r>
              <a:rPr lang="en-AU" sz="2800"/>
              <a:t>The total number of people.</a:t>
            </a:r>
          </a:p>
          <a:p>
            <a:pPr marL="457200" lvl="0" indent="-457200">
              <a:lnSpc>
                <a:spcPct val="150000"/>
              </a:lnSpc>
              <a:buFont typeface="Arial" panose="020B0604020202020204" pitchFamily="34" charset="0"/>
              <a:buChar char="•"/>
            </a:pPr>
            <a:r>
              <a:rPr lang="en-AU" sz="2800"/>
              <a:t>A diagram or model to represent the sharing.</a:t>
            </a:r>
          </a:p>
          <a:p>
            <a:pPr marL="457200" lvl="0" indent="-457200">
              <a:lnSpc>
                <a:spcPct val="150000"/>
              </a:lnSpc>
              <a:buFont typeface="Arial" panose="020B0604020202020204" pitchFamily="34" charset="0"/>
              <a:buChar char="•"/>
            </a:pPr>
            <a:r>
              <a:rPr lang="en-AU" sz="2800"/>
              <a:t>A fraction representing how much each person receives.</a:t>
            </a:r>
          </a:p>
          <a:p>
            <a:pPr marL="457200" lvl="0" indent="-457200">
              <a:lnSpc>
                <a:spcPct val="150000"/>
              </a:lnSpc>
              <a:buFont typeface="Arial" panose="020B0604020202020204" pitchFamily="34" charset="0"/>
              <a:buChar char="•"/>
            </a:pPr>
            <a:r>
              <a:rPr lang="en-AU" sz="2800"/>
              <a:t>A reflection prompt: Is this a fair share? How do you know?</a:t>
            </a:r>
          </a:p>
        </p:txBody>
      </p:sp>
      <p:sp>
        <p:nvSpPr>
          <p:cNvPr id="9" name="TextBox 8">
            <a:extLst>
              <a:ext uri="{FF2B5EF4-FFF2-40B4-BE49-F238E27FC236}">
                <a16:creationId xmlns:a16="http://schemas.microsoft.com/office/drawing/2014/main" id="{DDDE53A8-8B36-3EA5-884B-C7C4C6ACB430}"/>
              </a:ext>
            </a:extLst>
          </p:cNvPr>
          <p:cNvSpPr txBox="1"/>
          <p:nvPr/>
        </p:nvSpPr>
        <p:spPr>
          <a:xfrm>
            <a:off x="10079568" y="1384754"/>
            <a:ext cx="2492503" cy="546100"/>
          </a:xfrm>
          <a:prstGeom prst="rect">
            <a:avLst/>
          </a:prstGeom>
          <a:noFill/>
        </p:spPr>
        <p:txBody>
          <a:bodyPr wrap="square" lIns="0" tIns="0" rIns="0" bIns="0" rtlCol="0">
            <a:noAutofit/>
          </a:bodyPr>
          <a:lstStyle/>
          <a:p>
            <a:pPr algn="l"/>
            <a:r>
              <a:rPr lang="en-AU" sz="1800">
                <a:solidFill>
                  <a:schemeClr val="accent2"/>
                </a:solidFill>
              </a:rPr>
              <a:t>Example</a:t>
            </a:r>
          </a:p>
        </p:txBody>
      </p:sp>
      <p:pic>
        <p:nvPicPr>
          <p:cNvPr id="8" name="Picture 7" descr="4 chocolate bars split into 5ths. 5 children underneath.">
            <a:extLst>
              <a:ext uri="{FF2B5EF4-FFF2-40B4-BE49-F238E27FC236}">
                <a16:creationId xmlns:a16="http://schemas.microsoft.com/office/drawing/2014/main" id="{1E7EA84D-74C1-AA69-DBEE-B25BF59E4969}"/>
              </a:ext>
            </a:extLst>
          </p:cNvPr>
          <p:cNvPicPr>
            <a:picLocks noChangeAspect="1"/>
          </p:cNvPicPr>
          <p:nvPr/>
        </p:nvPicPr>
        <p:blipFill>
          <a:blip r:embed="rId4"/>
          <a:stretch>
            <a:fillRect/>
          </a:stretch>
        </p:blipFill>
        <p:spPr>
          <a:xfrm>
            <a:off x="8854018" y="1883350"/>
            <a:ext cx="3251200" cy="258214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45ECDB-4A61-D938-5744-3FD53F7131AF}"/>
                  </a:ext>
                </a:extLst>
              </p:cNvPr>
              <p:cNvSpPr txBox="1"/>
              <p:nvPr/>
            </p:nvSpPr>
            <p:spPr>
              <a:xfrm>
                <a:off x="9317568" y="4465493"/>
                <a:ext cx="2748682" cy="546100"/>
              </a:xfrm>
              <a:prstGeom prst="rect">
                <a:avLst/>
              </a:prstGeom>
              <a:solidFill>
                <a:schemeClr val="bg1"/>
              </a:solidFill>
            </p:spPr>
            <p:txBody>
              <a:bodyPr wrap="square" lIns="0" tIns="0" rIns="0" bIns="0" rtlCol="0">
                <a:noAutofit/>
              </a:bodyPr>
              <a:lstStyle/>
              <a:p>
                <a:r>
                  <a:rPr lang="en-AU">
                    <a:solidFill>
                      <a:schemeClr val="accent2"/>
                    </a:solidFill>
                    <a:latin typeface="Arial" panose="020B0604020202020204" pitchFamily="34" charset="0"/>
                    <a:cs typeface="Arial" panose="020B0604020202020204" pitchFamily="34" charset="0"/>
                  </a:rPr>
                  <a:t>Each student would get 4 ÷ 5, which is </a:t>
                </a:r>
                <a14:m>
                  <m:oMath xmlns:m="http://schemas.openxmlformats.org/officeDocument/2006/math">
                    <m:f>
                      <m:fPr>
                        <m:ctrlPr>
                          <a:rPr lang="en-AU" i="1">
                            <a:solidFill>
                              <a:schemeClr val="accent2"/>
                            </a:solidFill>
                            <a:latin typeface="Cambria Math" panose="02040503050406030204" pitchFamily="18" charset="0"/>
                            <a:cs typeface="Arial" panose="020B0604020202020204" pitchFamily="34" charset="0"/>
                          </a:rPr>
                        </m:ctrlPr>
                      </m:fPr>
                      <m:num>
                        <m:r>
                          <a:rPr lang="en-AU" i="1">
                            <a:solidFill>
                              <a:schemeClr val="accent2"/>
                            </a:solidFill>
                            <a:latin typeface="Cambria Math" panose="02040503050406030204" pitchFamily="18" charset="0"/>
                            <a:cs typeface="Arial" panose="020B0604020202020204" pitchFamily="34" charset="0"/>
                          </a:rPr>
                          <m:t>4</m:t>
                        </m:r>
                      </m:num>
                      <m:den>
                        <m:r>
                          <a:rPr lang="en-AU" i="1">
                            <a:solidFill>
                              <a:schemeClr val="accent2"/>
                            </a:solidFill>
                            <a:latin typeface="Cambria Math" panose="02040503050406030204" pitchFamily="18" charset="0"/>
                            <a:cs typeface="Arial" panose="020B0604020202020204" pitchFamily="34" charset="0"/>
                          </a:rPr>
                          <m:t>5</m:t>
                        </m:r>
                      </m:den>
                    </m:f>
                  </m:oMath>
                </a14:m>
                <a:r>
                  <a:rPr lang="en-AU">
                    <a:solidFill>
                      <a:schemeClr val="accent2"/>
                    </a:solidFill>
                    <a:latin typeface="Arial" panose="020B0604020202020204" pitchFamily="34" charset="0"/>
                    <a:cs typeface="Arial" panose="020B0604020202020204" pitchFamily="34" charset="0"/>
                  </a:rPr>
                  <a:t> of a chocolate bar.</a:t>
                </a:r>
                <a:endParaRPr lang="en-AU">
                  <a:solidFill>
                    <a:schemeClr val="accent2"/>
                  </a:solidFill>
                </a:endParaRPr>
              </a:p>
            </p:txBody>
          </p:sp>
        </mc:Choice>
        <mc:Fallback xmlns="">
          <p:sp>
            <p:nvSpPr>
              <p:cNvPr id="10" name="TextBox 9">
                <a:extLst>
                  <a:ext uri="{FF2B5EF4-FFF2-40B4-BE49-F238E27FC236}">
                    <a16:creationId xmlns:a16="http://schemas.microsoft.com/office/drawing/2014/main" id="{9845ECDB-4A61-D938-5744-3FD53F7131AF}"/>
                  </a:ext>
                </a:extLst>
              </p:cNvPr>
              <p:cNvSpPr txBox="1">
                <a:spLocks noRot="1" noChangeAspect="1" noMove="1" noResize="1" noEditPoints="1" noAdjustHandles="1" noChangeArrowheads="1" noChangeShapeType="1" noTextEdit="1"/>
              </p:cNvSpPr>
              <p:nvPr/>
            </p:nvSpPr>
            <p:spPr>
              <a:xfrm>
                <a:off x="9317568" y="4465493"/>
                <a:ext cx="2748682" cy="546100"/>
              </a:xfrm>
              <a:prstGeom prst="rect">
                <a:avLst/>
              </a:prstGeom>
              <a:blipFill>
                <a:blip r:embed="rId5"/>
                <a:stretch>
                  <a:fillRect l="-6652" t="-16854" r="-6874" b="-165169"/>
                </a:stretch>
              </a:blipFill>
            </p:spPr>
            <p:txBody>
              <a:bodyPr/>
              <a:lstStyle/>
              <a:p>
                <a:r>
                  <a:rPr lang="en-US">
                    <a:noFill/>
                  </a:rPr>
                  <a:t> </a:t>
                </a:r>
              </a:p>
            </p:txBody>
          </p:sp>
        </mc:Fallback>
      </mc:AlternateContent>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983974" y="1625946"/>
                <a:ext cx="10217426" cy="893226"/>
              </a:xfrm>
            </p:spPr>
            <p:txBody>
              <a:bodyPr/>
              <a:lstStyle/>
              <a:p>
                <a:pPr algn="ctr"/>
                <a:r>
                  <a:rPr lang="en-US" sz="4400"/>
                  <a:t>How do you write </a:t>
                </a:r>
                <a14:m>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2</m:t>
                        </m:r>
                      </m:den>
                    </m:f>
                  </m:oMath>
                </a14:m>
                <a:r>
                  <a:rPr lang="en-US" sz="4400"/>
                  <a:t> as a </a:t>
                </a:r>
                <a:r>
                  <a:rPr lang="en-US" sz="4400" b="1"/>
                  <a:t>percentage</a:t>
                </a:r>
                <a:r>
                  <a:rPr lang="en-US" sz="4400"/>
                  <a:t>?</a:t>
                </a:r>
              </a:p>
            </p:txBody>
          </p:sp>
        </mc:Choice>
        <mc:Fallback xmlns="">
          <p:sp>
            <p:nvSpPr>
              <p:cNvPr id="18" name="Text Placeholder 17">
                <a:extLst>
                  <a:ext uri="{FF2B5EF4-FFF2-40B4-BE49-F238E27FC236}">
                    <a16:creationId xmlns:a16="http://schemas.microsoft.com/office/drawing/2014/main" id="{E180F3B1-ACC7-4559-EA73-174DB17A0983}"/>
                  </a:ext>
                </a:extLst>
              </p:cNvPr>
              <p:cNvSpPr>
                <a:spLocks noGrp="1" noRot="1" noChangeAspect="1" noMove="1" noResize="1" noEditPoints="1" noAdjustHandles="1" noChangeArrowheads="1" noChangeShapeType="1" noTextEdit="1"/>
              </p:cNvSpPr>
              <p:nvPr>
                <p:ph type="body" sz="quarter" idx="24"/>
              </p:nvPr>
            </p:nvSpPr>
            <p:spPr>
              <a:xfrm>
                <a:off x="983974" y="1625946"/>
                <a:ext cx="10217426" cy="893226"/>
              </a:xfrm>
              <a:blipFill>
                <a:blip r:embed="rId4"/>
                <a:stretch>
                  <a:fillRect b="-6575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E6EA9CC-6235-8807-420B-A4371AC418C0}"/>
              </a:ext>
            </a:extLst>
          </p:cNvPr>
          <p:cNvSpPr txBox="1"/>
          <p:nvPr/>
        </p:nvSpPr>
        <p:spPr>
          <a:xfrm>
            <a:off x="1480480" y="46341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8" name="Text Placeholder 17">
            <a:extLst>
              <a:ext uri="{FF2B5EF4-FFF2-40B4-BE49-F238E27FC236}">
                <a16:creationId xmlns:a16="http://schemas.microsoft.com/office/drawing/2014/main" id="{DCFD5154-12D4-A789-FF6D-B91157D47FB1}"/>
              </a:ext>
            </a:extLst>
          </p:cNvPr>
          <p:cNvSpPr txBox="1">
            <a:spLocks/>
          </p:cNvSpPr>
          <p:nvPr/>
        </p:nvSpPr>
        <p:spPr>
          <a:xfrm>
            <a:off x="1209928" y="5451288"/>
            <a:ext cx="122516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12%</a:t>
            </a:r>
            <a:endParaRPr lang="en-US" sz="4400"/>
          </a:p>
        </p:txBody>
      </p:sp>
      <p:sp>
        <p:nvSpPr>
          <p:cNvPr id="10" name="TextBox 9">
            <a:extLst>
              <a:ext uri="{FF2B5EF4-FFF2-40B4-BE49-F238E27FC236}">
                <a16:creationId xmlns:a16="http://schemas.microsoft.com/office/drawing/2014/main" id="{4AB24A3E-5574-D79C-6A0F-06D3F8A29BB1}"/>
              </a:ext>
            </a:extLst>
          </p:cNvPr>
          <p:cNvSpPr txBox="1"/>
          <p:nvPr/>
        </p:nvSpPr>
        <p:spPr>
          <a:xfrm>
            <a:off x="4484453" y="46341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Text Placeholder 17">
            <a:extLst>
              <a:ext uri="{FF2B5EF4-FFF2-40B4-BE49-F238E27FC236}">
                <a16:creationId xmlns:a16="http://schemas.microsoft.com/office/drawing/2014/main" id="{EFDB5BC2-DBD7-41DD-4A73-ACFAE0DA3195}"/>
              </a:ext>
            </a:extLst>
          </p:cNvPr>
          <p:cNvSpPr txBox="1">
            <a:spLocks/>
          </p:cNvSpPr>
          <p:nvPr/>
        </p:nvSpPr>
        <p:spPr>
          <a:xfrm>
            <a:off x="4204189" y="5372786"/>
            <a:ext cx="135436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20%</a:t>
            </a:r>
            <a:endParaRPr lang="en-US" sz="4400"/>
          </a:p>
        </p:txBody>
      </p:sp>
      <p:sp>
        <p:nvSpPr>
          <p:cNvPr id="12" name="TextBox 11">
            <a:extLst>
              <a:ext uri="{FF2B5EF4-FFF2-40B4-BE49-F238E27FC236}">
                <a16:creationId xmlns:a16="http://schemas.microsoft.com/office/drawing/2014/main" id="{D92289C6-858E-E449-16B6-10640E9A4385}"/>
              </a:ext>
            </a:extLst>
          </p:cNvPr>
          <p:cNvSpPr txBox="1"/>
          <p:nvPr/>
        </p:nvSpPr>
        <p:spPr>
          <a:xfrm>
            <a:off x="7140560" y="46341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7">
            <a:extLst>
              <a:ext uri="{FF2B5EF4-FFF2-40B4-BE49-F238E27FC236}">
                <a16:creationId xmlns:a16="http://schemas.microsoft.com/office/drawing/2014/main" id="{6CDF1A90-FB9B-316E-1F52-FDA23643BA3C}"/>
              </a:ext>
            </a:extLst>
          </p:cNvPr>
          <p:cNvSpPr txBox="1">
            <a:spLocks/>
          </p:cNvSpPr>
          <p:nvPr/>
        </p:nvSpPr>
        <p:spPr>
          <a:xfrm>
            <a:off x="6868562" y="5451288"/>
            <a:ext cx="122515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75%</a:t>
            </a:r>
            <a:endParaRPr lang="en-US" sz="4400"/>
          </a:p>
        </p:txBody>
      </p:sp>
      <p:sp>
        <p:nvSpPr>
          <p:cNvPr id="11" name="TextBox 10">
            <a:extLst>
              <a:ext uri="{FF2B5EF4-FFF2-40B4-BE49-F238E27FC236}">
                <a16:creationId xmlns:a16="http://schemas.microsoft.com/office/drawing/2014/main" id="{C22AC239-77AC-A298-F7CD-0F89091EC017}"/>
              </a:ext>
            </a:extLst>
          </p:cNvPr>
          <p:cNvSpPr txBox="1"/>
          <p:nvPr/>
        </p:nvSpPr>
        <p:spPr>
          <a:xfrm>
            <a:off x="9796667" y="464654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5" name="Text Placeholder 17">
            <a:extLst>
              <a:ext uri="{FF2B5EF4-FFF2-40B4-BE49-F238E27FC236}">
                <a16:creationId xmlns:a16="http://schemas.microsoft.com/office/drawing/2014/main" id="{28B36005-DCE1-7823-FD68-CB94F807FB3B}"/>
              </a:ext>
            </a:extLst>
          </p:cNvPr>
          <p:cNvSpPr txBox="1">
            <a:spLocks/>
          </p:cNvSpPr>
          <p:nvPr/>
        </p:nvSpPr>
        <p:spPr>
          <a:xfrm>
            <a:off x="9496610" y="5465872"/>
            <a:ext cx="131129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50%</a:t>
            </a:r>
            <a:endParaRPr lang="en-US" sz="4400"/>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458048" y="409304"/>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17">
            <a:extLst>
              <a:ext uri="{FF2B5EF4-FFF2-40B4-BE49-F238E27FC236}">
                <a16:creationId xmlns:a16="http://schemas.microsoft.com/office/drawing/2014/main" id="{F42DF677-A90F-6698-D048-A134F629EEC1}"/>
              </a:ext>
            </a:extLst>
          </p:cNvPr>
          <p:cNvSpPr txBox="1">
            <a:spLocks/>
          </p:cNvSpPr>
          <p:nvPr/>
        </p:nvSpPr>
        <p:spPr>
          <a:xfrm>
            <a:off x="246024" y="1184223"/>
            <a:ext cx="451701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What was the </a:t>
            </a:r>
            <a:r>
              <a:rPr lang="en-US" sz="3600" b="1"/>
              <a:t>range </a:t>
            </a:r>
            <a:r>
              <a:rPr lang="en-US" sz="3600"/>
              <a:t>of student responses for </a:t>
            </a:r>
            <a:r>
              <a:rPr lang="en-US" sz="3600" b="1"/>
              <a:t>K-2</a:t>
            </a:r>
            <a:r>
              <a:rPr lang="en-US" sz="3600"/>
              <a:t>?</a:t>
            </a:r>
          </a:p>
          <a:p>
            <a:r>
              <a:rPr lang="en-US" sz="3600"/>
              <a:t>What was the </a:t>
            </a:r>
            <a:r>
              <a:rPr lang="en-US" sz="3600" b="1"/>
              <a:t>mode </a:t>
            </a:r>
            <a:r>
              <a:rPr lang="en-US" sz="3600"/>
              <a:t>of student responses for </a:t>
            </a:r>
            <a:r>
              <a:rPr lang="en-US" sz="3600" b="1"/>
              <a:t>3-6</a:t>
            </a:r>
            <a:r>
              <a:rPr lang="en-US" sz="3600"/>
              <a:t>?</a:t>
            </a:r>
          </a:p>
        </p:txBody>
      </p:sp>
      <p:pic>
        <p:nvPicPr>
          <p:cNvPr id="4" name="Picture 3" descr="A column graph with blue and orange bars displaying lunchtime places for K to 2 and 3 to 6 students. Blue represents K-2 and orange represents 3-6. &#10;Sandpit - K-2 has 8 students and 3-6 has 2 students.&#10;Adventure playground - K-2 has 9 students and 3-6 has 9 students. &#10;Sports field - K-2 has 0 students and 3-6 has 10 students. &#10;Tree house K-2 has 7 students and 3-6 has 2 students.&#10;Library K-2 has 5 students and 3-6 has 5 students.&#10;Concrete areas K-2 has 15 students and 3-6 has 12 students.">
            <a:extLst>
              <a:ext uri="{FF2B5EF4-FFF2-40B4-BE49-F238E27FC236}">
                <a16:creationId xmlns:a16="http://schemas.microsoft.com/office/drawing/2014/main" id="{65CCB8A1-5015-0AE6-E2BF-8D3764214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7189" y="1402616"/>
            <a:ext cx="6850063" cy="43384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1" name="Picture 10" descr="A square separated into four quarters (squares) and then separated further into eighths (triangles)">
            <a:extLst>
              <a:ext uri="{FF2B5EF4-FFF2-40B4-BE49-F238E27FC236}">
                <a16:creationId xmlns:a16="http://schemas.microsoft.com/office/drawing/2014/main" id="{A4C94263-74BB-9DF5-2CB7-8F201AD846CC}"/>
              </a:ext>
            </a:extLst>
          </p:cNvPr>
          <p:cNvPicPr>
            <a:picLocks noChangeAspect="1"/>
          </p:cNvPicPr>
          <p:nvPr/>
        </p:nvPicPr>
        <p:blipFill>
          <a:blip r:embed="rId4"/>
          <a:stretch>
            <a:fillRect/>
          </a:stretch>
        </p:blipFill>
        <p:spPr>
          <a:xfrm>
            <a:off x="444806" y="1761798"/>
            <a:ext cx="3949903" cy="3988005"/>
          </a:xfrm>
          <a:prstGeom prst="rect">
            <a:avLst/>
          </a:prstGeom>
        </p:spPr>
      </p:pic>
      <p:sp>
        <p:nvSpPr>
          <p:cNvPr id="9" name="TextBox 8">
            <a:extLst>
              <a:ext uri="{FF2B5EF4-FFF2-40B4-BE49-F238E27FC236}">
                <a16:creationId xmlns:a16="http://schemas.microsoft.com/office/drawing/2014/main" id="{F95DB96D-A970-0EC1-FB9A-72DA8F0B1A41}"/>
              </a:ext>
            </a:extLst>
          </p:cNvPr>
          <p:cNvSpPr txBox="1"/>
          <p:nvPr/>
        </p:nvSpPr>
        <p:spPr>
          <a:xfrm>
            <a:off x="4621695" y="360000"/>
            <a:ext cx="6646020" cy="6291659"/>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sz="4400">
                <a:effectLst/>
                <a:latin typeface="Arial" panose="020B0604020202020204" pitchFamily="34" charset="0"/>
                <a:ea typeface="DengXian" panose="02010600030101010101" pitchFamily="2" charset="-122"/>
              </a:rPr>
              <a:t>How many </a:t>
            </a:r>
            <a:r>
              <a:rPr lang="en-AU" sz="4400" b="1">
                <a:effectLst/>
                <a:latin typeface="Arial" panose="020B0604020202020204" pitchFamily="34" charset="0"/>
                <a:ea typeface="DengXian" panose="02010600030101010101" pitchFamily="2" charset="-122"/>
              </a:rPr>
              <a:t>equal parts </a:t>
            </a:r>
            <a:r>
              <a:rPr lang="en-AU" sz="4400">
                <a:effectLst/>
                <a:latin typeface="Arial" panose="020B0604020202020204" pitchFamily="34" charset="0"/>
                <a:ea typeface="DengXian" panose="02010600030101010101" pitchFamily="2" charset="-122"/>
              </a:rPr>
              <a:t>is the whole shape divided into? </a:t>
            </a:r>
          </a:p>
          <a:p>
            <a:pPr marL="342900" lvl="0" indent="-342900">
              <a:lnSpc>
                <a:spcPct val="150000"/>
              </a:lnSpc>
              <a:spcBef>
                <a:spcPts val="1200"/>
              </a:spcBef>
              <a:spcAft>
                <a:spcPts val="600"/>
              </a:spcAft>
              <a:buFont typeface="Arial" panose="020B0604020202020204" pitchFamily="34" charset="0"/>
              <a:buChar char="•"/>
            </a:pPr>
            <a:r>
              <a:rPr lang="en-AU" sz="4400">
                <a:effectLst/>
                <a:latin typeface="Arial" panose="020B0604020202020204" pitchFamily="34" charset="0"/>
                <a:ea typeface="DengXian" panose="02010600030101010101" pitchFamily="2" charset="-122"/>
              </a:rPr>
              <a:t>How</a:t>
            </a:r>
            <a:r>
              <a:rPr lang="en-AU" sz="4400">
                <a:latin typeface="Arial" panose="020B0604020202020204" pitchFamily="34" charset="0"/>
                <a:ea typeface="DengXian" panose="02010600030101010101" pitchFamily="2" charset="-122"/>
              </a:rPr>
              <a:t> do</a:t>
            </a:r>
            <a:r>
              <a:rPr lang="en-AU" sz="4400">
                <a:effectLst/>
                <a:latin typeface="Arial" panose="020B0604020202020204" pitchFamily="34" charset="0"/>
                <a:ea typeface="DengXian" panose="02010600030101010101" pitchFamily="2" charset="-122"/>
              </a:rPr>
              <a:t> you record </a:t>
            </a:r>
            <a:r>
              <a:rPr lang="en-AU" sz="4400" b="1">
                <a:latin typeface="Arial" panose="020B0604020202020204" pitchFamily="34" charset="0"/>
                <a:ea typeface="DengXian" panose="02010600030101010101" pitchFamily="2" charset="-122"/>
              </a:rPr>
              <a:t>one</a:t>
            </a:r>
            <a:r>
              <a:rPr lang="en-AU" sz="4400">
                <a:latin typeface="Arial" panose="020B0604020202020204" pitchFamily="34" charset="0"/>
                <a:ea typeface="DengXian" panose="02010600030101010101" pitchFamily="2" charset="-122"/>
              </a:rPr>
              <a:t> of these parts </a:t>
            </a:r>
            <a:r>
              <a:rPr lang="en-AU" sz="4400">
                <a:effectLst/>
                <a:latin typeface="Arial" panose="020B0604020202020204" pitchFamily="34" charset="0"/>
                <a:ea typeface="DengXian" panose="02010600030101010101" pitchFamily="2" charset="-122"/>
              </a:rPr>
              <a:t>as a </a:t>
            </a:r>
            <a:r>
              <a:rPr lang="en-AU" sz="4400" b="1">
                <a:effectLst/>
                <a:latin typeface="Arial" panose="020B0604020202020204" pitchFamily="34" charset="0"/>
                <a:ea typeface="DengXian" panose="02010600030101010101" pitchFamily="2" charset="-122"/>
              </a:rPr>
              <a:t>fraction</a:t>
            </a:r>
            <a:r>
              <a:rPr lang="en-AU" sz="4400">
                <a:effectLst/>
                <a:latin typeface="Arial" panose="020B0604020202020204" pitchFamily="34" charset="0"/>
                <a:ea typeface="DengXian" panose="02010600030101010101" pitchFamily="2" charset="-122"/>
              </a:rPr>
              <a:t>? </a:t>
            </a:r>
            <a:endParaRPr lang="en-AU" sz="44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068DC80-7AB4-35E2-0EF0-95127F6CFE9C}"/>
              </a:ext>
            </a:extLst>
          </p:cNvPr>
          <p:cNvSpPr txBox="1"/>
          <p:nvPr/>
        </p:nvSpPr>
        <p:spPr>
          <a:xfrm>
            <a:off x="670658" y="1004439"/>
            <a:ext cx="6097904" cy="1938992"/>
          </a:xfrm>
          <a:prstGeom prst="rect">
            <a:avLst/>
          </a:prstGeom>
          <a:noFill/>
        </p:spPr>
        <p:txBody>
          <a:bodyPr wrap="square">
            <a:spAutoFit/>
          </a:bodyPr>
          <a:lstStyle/>
          <a:p>
            <a:r>
              <a:rPr lang="en-AU" b="1">
                <a:effectLst/>
                <a:latin typeface="Arial" panose="020B0604020202020204" pitchFamily="34" charset="0"/>
                <a:ea typeface="Calibri" panose="020F0502020204030204" pitchFamily="34" charset="0"/>
              </a:rPr>
              <a:t>Shape A</a:t>
            </a:r>
            <a:r>
              <a:rPr lang="en-AU">
                <a:effectLst/>
                <a:latin typeface="Arial" panose="020B0604020202020204" pitchFamily="34" charset="0"/>
                <a:ea typeface="Calibri" panose="020F0502020204030204" pitchFamily="34" charset="0"/>
              </a:rPr>
              <a:t>:</a:t>
            </a:r>
          </a:p>
          <a:p>
            <a:endParaRPr lang="en-AU">
              <a:effectLst/>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a:latin typeface="Arial" panose="020B0604020202020204" pitchFamily="34" charset="0"/>
                <a:ea typeface="Calibri" panose="020F0502020204030204" pitchFamily="34" charset="0"/>
              </a:rPr>
              <a:t>Area = 24 cm²</a:t>
            </a:r>
          </a:p>
          <a:p>
            <a:pPr marL="342900" indent="-342900">
              <a:buFont typeface="Arial" panose="020B0604020202020204" pitchFamily="34" charset="0"/>
              <a:buChar char="•"/>
            </a:pPr>
            <a:endParaRPr lang="en-AU">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a:latin typeface="Arial" panose="020B0604020202020204" pitchFamily="34" charset="0"/>
                <a:ea typeface="Calibri" panose="020F0502020204030204" pitchFamily="34" charset="0"/>
              </a:rPr>
              <a:t>Perimeter =</a:t>
            </a:r>
          </a:p>
        </p:txBody>
      </p:sp>
      <p:sp>
        <p:nvSpPr>
          <p:cNvPr id="12" name="TextBox 11">
            <a:extLst>
              <a:ext uri="{FF2B5EF4-FFF2-40B4-BE49-F238E27FC236}">
                <a16:creationId xmlns:a16="http://schemas.microsoft.com/office/drawing/2014/main" id="{BAE255D6-7D00-629B-FDE2-B2BBC304E474}"/>
              </a:ext>
            </a:extLst>
          </p:cNvPr>
          <p:cNvSpPr txBox="1"/>
          <p:nvPr/>
        </p:nvSpPr>
        <p:spPr>
          <a:xfrm>
            <a:off x="4615425" y="912531"/>
            <a:ext cx="6097904" cy="1938992"/>
          </a:xfrm>
          <a:prstGeom prst="rect">
            <a:avLst/>
          </a:prstGeom>
          <a:noFill/>
        </p:spPr>
        <p:txBody>
          <a:bodyPr wrap="square">
            <a:spAutoFit/>
          </a:bodyPr>
          <a:lstStyle/>
          <a:p>
            <a:r>
              <a:rPr lang="en-AU" b="1">
                <a:effectLst/>
                <a:latin typeface="Arial" panose="020B0604020202020204" pitchFamily="34" charset="0"/>
                <a:ea typeface="Calibri" panose="020F0502020204030204" pitchFamily="34" charset="0"/>
              </a:rPr>
              <a:t>Shape B</a:t>
            </a:r>
            <a:r>
              <a:rPr lang="en-AU">
                <a:effectLst/>
                <a:latin typeface="Arial" panose="020B0604020202020204" pitchFamily="34" charset="0"/>
                <a:ea typeface="Calibri" panose="020F0502020204030204" pitchFamily="34" charset="0"/>
              </a:rPr>
              <a:t>:</a:t>
            </a:r>
          </a:p>
          <a:p>
            <a:endParaRPr lang="en-AU">
              <a:effectLst/>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a:latin typeface="Arial" panose="020B0604020202020204" pitchFamily="34" charset="0"/>
                <a:ea typeface="Calibri" panose="020F0502020204030204" pitchFamily="34" charset="0"/>
              </a:rPr>
              <a:t>Area = 24 cm²</a:t>
            </a:r>
          </a:p>
          <a:p>
            <a:pPr marL="342900" indent="-342900">
              <a:buFont typeface="Arial" panose="020B0604020202020204" pitchFamily="34" charset="0"/>
              <a:buChar char="•"/>
            </a:pPr>
            <a:endParaRPr lang="en-AU">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a:latin typeface="Arial" panose="020B0604020202020204" pitchFamily="34" charset="0"/>
                <a:ea typeface="Calibri" panose="020F0502020204030204" pitchFamily="34" charset="0"/>
              </a:rPr>
              <a:t>Perimeter =</a:t>
            </a:r>
          </a:p>
        </p:txBody>
      </p:sp>
      <p:sp>
        <p:nvSpPr>
          <p:cNvPr id="13" name="TextBox 12">
            <a:extLst>
              <a:ext uri="{FF2B5EF4-FFF2-40B4-BE49-F238E27FC236}">
                <a16:creationId xmlns:a16="http://schemas.microsoft.com/office/drawing/2014/main" id="{79080390-9AA5-B1CC-9CED-66639DF5CA74}"/>
              </a:ext>
            </a:extLst>
          </p:cNvPr>
          <p:cNvSpPr txBox="1"/>
          <p:nvPr/>
        </p:nvSpPr>
        <p:spPr>
          <a:xfrm>
            <a:off x="8560192" y="863112"/>
            <a:ext cx="6097904" cy="1938992"/>
          </a:xfrm>
          <a:prstGeom prst="rect">
            <a:avLst/>
          </a:prstGeom>
          <a:noFill/>
        </p:spPr>
        <p:txBody>
          <a:bodyPr wrap="square">
            <a:spAutoFit/>
          </a:bodyPr>
          <a:lstStyle/>
          <a:p>
            <a:r>
              <a:rPr lang="en-AU" b="1">
                <a:effectLst/>
                <a:latin typeface="Arial" panose="020B0604020202020204" pitchFamily="34" charset="0"/>
                <a:ea typeface="Calibri" panose="020F0502020204030204" pitchFamily="34" charset="0"/>
              </a:rPr>
              <a:t>Shape C</a:t>
            </a:r>
            <a:r>
              <a:rPr lang="en-AU">
                <a:effectLst/>
                <a:latin typeface="Arial" panose="020B0604020202020204" pitchFamily="34" charset="0"/>
                <a:ea typeface="Calibri" panose="020F0502020204030204" pitchFamily="34" charset="0"/>
              </a:rPr>
              <a:t>:</a:t>
            </a:r>
          </a:p>
          <a:p>
            <a:endParaRPr lang="en-AU">
              <a:effectLst/>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a:latin typeface="Arial" panose="020B0604020202020204" pitchFamily="34" charset="0"/>
                <a:ea typeface="Calibri" panose="020F0502020204030204" pitchFamily="34" charset="0"/>
              </a:rPr>
              <a:t>Area = 24 cm²</a:t>
            </a:r>
          </a:p>
          <a:p>
            <a:pPr marL="342900" indent="-342900">
              <a:buFont typeface="Arial" panose="020B0604020202020204" pitchFamily="34" charset="0"/>
              <a:buChar char="•"/>
            </a:pPr>
            <a:endParaRPr lang="en-AU">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a:latin typeface="Arial" panose="020B0604020202020204" pitchFamily="34" charset="0"/>
                <a:ea typeface="Calibri" panose="020F0502020204030204" pitchFamily="34" charset="0"/>
              </a:rPr>
              <a:t>Perimeter =</a:t>
            </a:r>
          </a:p>
        </p:txBody>
      </p:sp>
      <p:pic>
        <p:nvPicPr>
          <p:cNvPr id="11" name="Picture 10" descr="3 rectangles drawn on grid paper. All have an area of 24 cm squared.&#10;A - 6x4&#10;B - 8x3&#10;C - 12x2">
            <a:extLst>
              <a:ext uri="{FF2B5EF4-FFF2-40B4-BE49-F238E27FC236}">
                <a16:creationId xmlns:a16="http://schemas.microsoft.com/office/drawing/2014/main" id="{2FA8F113-C1AD-E25D-E7ED-F43F1D079E99}"/>
              </a:ext>
            </a:extLst>
          </p:cNvPr>
          <p:cNvPicPr>
            <a:picLocks noChangeAspect="1"/>
          </p:cNvPicPr>
          <p:nvPr/>
        </p:nvPicPr>
        <p:blipFill>
          <a:blip r:embed="rId4"/>
          <a:srcRect b="2888"/>
          <a:stretch>
            <a:fillRect/>
          </a:stretch>
        </p:blipFill>
        <p:spPr>
          <a:xfrm>
            <a:off x="360000" y="3042269"/>
            <a:ext cx="3800299" cy="3193551"/>
          </a:xfrm>
          <a:prstGeom prst="rect">
            <a:avLst/>
          </a:prstGeom>
        </p:spPr>
      </p:pic>
      <p:sp>
        <p:nvSpPr>
          <p:cNvPr id="15" name="TextBox 14">
            <a:extLst>
              <a:ext uri="{FF2B5EF4-FFF2-40B4-BE49-F238E27FC236}">
                <a16:creationId xmlns:a16="http://schemas.microsoft.com/office/drawing/2014/main" id="{738CA8EF-94E7-92CD-D266-900AC6F66513}"/>
              </a:ext>
            </a:extLst>
          </p:cNvPr>
          <p:cNvSpPr txBox="1"/>
          <p:nvPr/>
        </p:nvSpPr>
        <p:spPr>
          <a:xfrm>
            <a:off x="4470719" y="3396493"/>
            <a:ext cx="7518327" cy="2713500"/>
          </a:xfrm>
          <a:prstGeom prst="rect">
            <a:avLst/>
          </a:prstGeom>
          <a:noFill/>
        </p:spPr>
        <p:txBody>
          <a:bodyPr wrap="square">
            <a:spAutoFit/>
          </a:bodyPr>
          <a:lstStyle/>
          <a:p>
            <a:pPr lvl="0" algn="ctr">
              <a:lnSpc>
                <a:spcPct val="150000"/>
              </a:lnSpc>
              <a:spcBef>
                <a:spcPts val="1200"/>
              </a:spcBef>
              <a:spcAft>
                <a:spcPts val="600"/>
              </a:spcAft>
            </a:pPr>
            <a:r>
              <a:rPr lang="en-AU" sz="3600">
                <a:effectLst/>
                <a:latin typeface="Arial" panose="020B0604020202020204" pitchFamily="34" charset="0"/>
                <a:ea typeface="Calibri" panose="020F0502020204030204" pitchFamily="34" charset="0"/>
                <a:cs typeface="Times New Roman" panose="02020603050405020304" pitchFamily="18" charset="0"/>
              </a:rPr>
              <a:t>Do rectangles with the same </a:t>
            </a:r>
            <a:r>
              <a:rPr lang="en-AU" sz="3600" b="1">
                <a:effectLst/>
                <a:latin typeface="Arial" panose="020B0604020202020204" pitchFamily="34" charset="0"/>
                <a:ea typeface="Calibri" panose="020F0502020204030204" pitchFamily="34" charset="0"/>
                <a:cs typeface="Times New Roman" panose="02020603050405020304" pitchFamily="18" charset="0"/>
              </a:rPr>
              <a:t>area</a:t>
            </a:r>
            <a:r>
              <a:rPr lang="en-AU" sz="3600">
                <a:effectLst/>
                <a:latin typeface="Arial" panose="020B0604020202020204" pitchFamily="34" charset="0"/>
                <a:ea typeface="Calibri" panose="020F0502020204030204" pitchFamily="34" charset="0"/>
                <a:cs typeface="Times New Roman" panose="02020603050405020304" pitchFamily="18" charset="0"/>
              </a:rPr>
              <a:t> always have the same </a:t>
            </a:r>
            <a:r>
              <a:rPr lang="en-AU" sz="3600" b="1">
                <a:effectLst/>
                <a:latin typeface="Arial" panose="020B0604020202020204" pitchFamily="34" charset="0"/>
                <a:ea typeface="Calibri" panose="020F0502020204030204" pitchFamily="34" charset="0"/>
                <a:cs typeface="Times New Roman" panose="02020603050405020304" pitchFamily="18" charset="0"/>
              </a:rPr>
              <a:t>perimeter</a:t>
            </a:r>
            <a:r>
              <a:rPr lang="en-AU" sz="3600">
                <a:effectLst/>
                <a:latin typeface="Arial" panose="020B0604020202020204" pitchFamily="34" charset="0"/>
                <a:ea typeface="Calibri" panose="020F0502020204030204" pitchFamily="34" charset="0"/>
                <a:cs typeface="Times New Roman" panose="02020603050405020304" pitchFamily="18" charset="0"/>
              </a:rPr>
              <a:t>? </a:t>
            </a:r>
          </a:p>
          <a:p>
            <a:pPr lvl="0" algn="ctr">
              <a:lnSpc>
                <a:spcPct val="150000"/>
              </a:lnSpc>
              <a:spcBef>
                <a:spcPts val="1200"/>
              </a:spcBef>
              <a:spcAft>
                <a:spcPts val="600"/>
              </a:spcAft>
            </a:pPr>
            <a:r>
              <a:rPr lang="en-AU" sz="3600" b="1">
                <a:latin typeface="Arial" panose="020B0604020202020204" pitchFamily="34" charset="0"/>
                <a:ea typeface="Calibri" panose="020F0502020204030204" pitchFamily="34" charset="0"/>
                <a:cs typeface="Times New Roman" panose="02020603050405020304" pitchFamily="18" charset="0"/>
              </a:rPr>
              <a:t>Communicate </a:t>
            </a:r>
            <a:r>
              <a:rPr lang="en-AU" sz="3600">
                <a:latin typeface="Arial" panose="020B0604020202020204" pitchFamily="34" charset="0"/>
                <a:ea typeface="Calibri" panose="020F0502020204030204" pitchFamily="34" charset="0"/>
                <a:cs typeface="Times New Roman" panose="02020603050405020304" pitchFamily="18" charset="0"/>
              </a:rPr>
              <a:t>your</a:t>
            </a:r>
            <a:r>
              <a:rPr lang="en-AU" sz="3600" b="1">
                <a:latin typeface="Arial" panose="020B0604020202020204" pitchFamily="34" charset="0"/>
                <a:ea typeface="Calibri" panose="020F0502020204030204" pitchFamily="34" charset="0"/>
                <a:cs typeface="Times New Roman" panose="02020603050405020304" pitchFamily="18" charset="0"/>
              </a:rPr>
              <a:t> thinking</a:t>
            </a:r>
            <a:r>
              <a:rPr lang="en-AU" sz="3600">
                <a:latin typeface="Arial" panose="020B0604020202020204" pitchFamily="34" charset="0"/>
                <a:ea typeface="Calibri" panose="020F0502020204030204" pitchFamily="34" charset="0"/>
                <a:cs typeface="Times New Roman" panose="02020603050405020304" pitchFamily="18" charset="0"/>
              </a:rPr>
              <a:t>.</a:t>
            </a:r>
            <a:endParaRPr lang="en-AU" sz="360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8B06BDD-5C2A-F0A7-B8E1-73E167312D54}"/>
              </a:ext>
            </a:extLst>
          </p:cNvPr>
          <p:cNvSpPr txBox="1"/>
          <p:nvPr/>
        </p:nvSpPr>
        <p:spPr>
          <a:xfrm>
            <a:off x="3127513" y="1547058"/>
            <a:ext cx="6096000" cy="3475503"/>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DengXian" panose="02010600030101010101" pitchFamily="2" charset="-122"/>
              </a:rPr>
              <a:t>Which is </a:t>
            </a:r>
            <a:r>
              <a:rPr lang="en-AU" sz="4400" b="1">
                <a:effectLst/>
                <a:latin typeface="Arial" panose="020B0604020202020204" pitchFamily="34" charset="0"/>
                <a:ea typeface="DengXian" panose="02010600030101010101" pitchFamily="2" charset="-122"/>
              </a:rPr>
              <a:t>heavier</a:t>
            </a:r>
            <a:r>
              <a:rPr lang="en-AU" sz="4400" b="1">
                <a:latin typeface="Arial" panose="020B0604020202020204" pitchFamily="34" charset="0"/>
                <a:ea typeface="DengXian" panose="02010600030101010101" pitchFamily="2" charset="-122"/>
              </a:rPr>
              <a:t>:</a:t>
            </a:r>
            <a:endParaRPr lang="en-AU" sz="4400">
              <a:effectLst/>
              <a:latin typeface="Arial" panose="020B0604020202020204" pitchFamily="34" charset="0"/>
              <a:ea typeface="DengXian" panose="02010600030101010101" pitchFamily="2" charset="-122"/>
            </a:endParaRPr>
          </a:p>
          <a:p>
            <a:pPr marL="342900" lvl="0" indent="-342900" algn="ctr">
              <a:lnSpc>
                <a:spcPct val="150000"/>
              </a:lnSpc>
              <a:spcBef>
                <a:spcPts val="1200"/>
              </a:spcBef>
              <a:spcAft>
                <a:spcPts val="600"/>
              </a:spcAft>
              <a:buFont typeface="Arial" panose="020B0604020202020204" pitchFamily="34" charset="0"/>
              <a:buChar char="•"/>
            </a:pPr>
            <a:r>
              <a:rPr lang="en-AU" sz="4400">
                <a:effectLst/>
                <a:latin typeface="Arial" panose="020B0604020202020204" pitchFamily="34" charset="0"/>
                <a:ea typeface="DengXian" panose="02010600030101010101" pitchFamily="2" charset="-122"/>
              </a:rPr>
              <a:t>2000 g or 1.2 kg?</a:t>
            </a:r>
          </a:p>
          <a:p>
            <a:pPr marL="342900" lvl="0" indent="-342900" algn="ctr">
              <a:lnSpc>
                <a:spcPct val="150000"/>
              </a:lnSpc>
              <a:spcBef>
                <a:spcPts val="1200"/>
              </a:spcBef>
              <a:spcAft>
                <a:spcPts val="600"/>
              </a:spcAft>
              <a:buFont typeface="Arial" panose="020B0604020202020204" pitchFamily="34" charset="0"/>
              <a:buChar char="•"/>
            </a:pPr>
            <a:r>
              <a:rPr lang="en-AU" sz="4400">
                <a:effectLst/>
                <a:latin typeface="Arial" panose="020B0604020202020204" pitchFamily="34" charset="0"/>
                <a:ea typeface="DengXian" panose="02010600030101010101" pitchFamily="2" charset="-122"/>
              </a:rPr>
              <a:t> 0.234 t or 35.9 kg?</a:t>
            </a:r>
            <a:endParaRPr lang="en-AU" sz="44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fractions and percentages</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Slide Number Placeholder 1">
            <a:extLst>
              <a:ext uri="{FF2B5EF4-FFF2-40B4-BE49-F238E27FC236}">
                <a16:creationId xmlns:a16="http://schemas.microsoft.com/office/drawing/2014/main" id="{A0199F7E-B10D-3037-4EFC-3C9464DE2D7E}"/>
              </a:ext>
            </a:extLst>
          </p:cNvPr>
          <p:cNvSpPr txBox="1">
            <a:spLocks/>
          </p:cNvSpPr>
          <p:nvPr/>
        </p:nvSpPr>
        <p:spPr>
          <a:xfrm>
            <a:off x="1125182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defRPr/>
            </a:pPr>
            <a:fld id="{10A01DC5-1685-4615-8240-15192985C6A2}" type="slidenum">
              <a:rPr lang="en-AU" smtClean="0">
                <a:solidFill>
                  <a:srgbClr val="22272B"/>
                </a:solidFill>
                <a:latin typeface="Public Sans Light"/>
              </a:rPr>
              <a:pPr>
                <a:defRPr/>
              </a:pPr>
              <a:t>38</a:t>
            </a:fld>
            <a:endParaRPr lang="en-AU">
              <a:solidFill>
                <a:srgbClr val="22272B"/>
              </a:solidFill>
              <a:latin typeface="Public Sans Light"/>
            </a:endParaRPr>
          </a:p>
        </p:txBody>
      </p:sp>
      <p:sp>
        <p:nvSpPr>
          <p:cNvPr id="8" name="TextBox 7">
            <a:extLst>
              <a:ext uri="{FF2B5EF4-FFF2-40B4-BE49-F238E27FC236}">
                <a16:creationId xmlns:a16="http://schemas.microsoft.com/office/drawing/2014/main" id="{C544D3CD-A940-726A-1406-67755B95ED3D}"/>
              </a:ext>
            </a:extLst>
          </p:cNvPr>
          <p:cNvSpPr txBox="1"/>
          <p:nvPr/>
        </p:nvSpPr>
        <p:spPr>
          <a:xfrm>
            <a:off x="360000" y="1112745"/>
            <a:ext cx="7801761" cy="584775"/>
          </a:xfrm>
          <a:prstGeom prst="rect">
            <a:avLst/>
          </a:prstGeom>
          <a:noFill/>
        </p:spPr>
        <p:txBody>
          <a:bodyPr wrap="square">
            <a:spAutoFit/>
          </a:bodyPr>
          <a:lstStyle/>
          <a:p>
            <a:r>
              <a:rPr lang="en-AU" sz="3200">
                <a:latin typeface="Arial" panose="020B0604020202020204" pitchFamily="34" charset="0"/>
                <a:ea typeface="Calibri" panose="020F0502020204030204" pitchFamily="34" charset="0"/>
              </a:rPr>
              <a:t>W</a:t>
            </a:r>
            <a:r>
              <a:rPr lang="en-AU" sz="3200">
                <a:effectLst/>
                <a:latin typeface="Arial" panose="020B0604020202020204" pitchFamily="34" charset="0"/>
                <a:ea typeface="Calibri" panose="020F0502020204030204" pitchFamily="34" charset="0"/>
              </a:rPr>
              <a:t>hat fractions can </a:t>
            </a:r>
            <a:r>
              <a:rPr lang="en-AU" sz="3200">
                <a:latin typeface="Arial" panose="020B0604020202020204" pitchFamily="34" charset="0"/>
                <a:ea typeface="Calibri" panose="020F0502020204030204" pitchFamily="34" charset="0"/>
              </a:rPr>
              <a:t>you see?</a:t>
            </a:r>
            <a:endParaRPr lang="en-AU" sz="3200"/>
          </a:p>
        </p:txBody>
      </p:sp>
      <p:sp>
        <p:nvSpPr>
          <p:cNvPr id="10" name="TextBox 9">
            <a:extLst>
              <a:ext uri="{FF2B5EF4-FFF2-40B4-BE49-F238E27FC236}">
                <a16:creationId xmlns:a16="http://schemas.microsoft.com/office/drawing/2014/main" id="{A5283CA1-687F-DE7E-BBF8-BABB5F3DBB47}"/>
              </a:ext>
            </a:extLst>
          </p:cNvPr>
          <p:cNvSpPr txBox="1"/>
          <p:nvPr/>
        </p:nvSpPr>
        <p:spPr>
          <a:xfrm>
            <a:off x="360000" y="4388918"/>
            <a:ext cx="4034200" cy="2217082"/>
          </a:xfrm>
          <a:prstGeom prst="rect">
            <a:avLst/>
          </a:prstGeom>
          <a:noFill/>
        </p:spPr>
        <p:txBody>
          <a:bodyPr wrap="square">
            <a:spAutoFit/>
          </a:bodyPr>
          <a:lstStyle/>
          <a:p>
            <a:pPr>
              <a:lnSpc>
                <a:spcPct val="150000"/>
              </a:lnSpc>
            </a:pPr>
            <a:r>
              <a:rPr lang="en-AU" sz="3200">
                <a:latin typeface="Arial" panose="020B0604020202020204" pitchFamily="34" charset="0"/>
                <a:ea typeface="Calibri" panose="020F0502020204030204" pitchFamily="34" charset="0"/>
              </a:rPr>
              <a:t>What </a:t>
            </a:r>
            <a:r>
              <a:rPr lang="en-AU" sz="3200" b="1">
                <a:latin typeface="Arial" panose="020B0604020202020204" pitchFamily="34" charset="0"/>
                <a:ea typeface="Calibri" panose="020F0502020204030204" pitchFamily="34" charset="0"/>
              </a:rPr>
              <a:t>percentage</a:t>
            </a:r>
            <a:r>
              <a:rPr lang="en-AU" sz="3200">
                <a:latin typeface="Arial" panose="020B0604020202020204" pitchFamily="34" charset="0"/>
                <a:ea typeface="Calibri" panose="020F0502020204030204" pitchFamily="34" charset="0"/>
              </a:rPr>
              <a:t> can you see? How could this be written?</a:t>
            </a:r>
          </a:p>
        </p:txBody>
      </p:sp>
      <p:grpSp>
        <p:nvGrpSpPr>
          <p:cNvPr id="116" name="Group 115" descr="2 interlocking cubes joined together, one yellow and one blue">
            <a:extLst>
              <a:ext uri="{FF2B5EF4-FFF2-40B4-BE49-F238E27FC236}">
                <a16:creationId xmlns:a16="http://schemas.microsoft.com/office/drawing/2014/main" id="{8A008AFD-9354-2E7F-A49F-3DB62CB09BB4}"/>
              </a:ext>
            </a:extLst>
          </p:cNvPr>
          <p:cNvGrpSpPr/>
          <p:nvPr/>
        </p:nvGrpSpPr>
        <p:grpSpPr>
          <a:xfrm>
            <a:off x="7733313" y="360000"/>
            <a:ext cx="1531979" cy="3481118"/>
            <a:chOff x="7733313" y="999047"/>
            <a:chExt cx="1531979" cy="3481118"/>
          </a:xfrm>
        </p:grpSpPr>
        <p:pic>
          <p:nvPicPr>
            <p:cNvPr id="96" name="Picture 95" descr="4 interlocking cubes joined together, two yellow and two blue">
              <a:extLst>
                <a:ext uri="{FF2B5EF4-FFF2-40B4-BE49-F238E27FC236}">
                  <a16:creationId xmlns:a16="http://schemas.microsoft.com/office/drawing/2014/main" id="{9A3AA919-52CF-F34F-DB43-8C603551AFB8}"/>
                </a:ext>
              </a:extLst>
            </p:cNvPr>
            <p:cNvPicPr>
              <a:picLocks noChangeAspect="1"/>
            </p:cNvPicPr>
            <p:nvPr/>
          </p:nvPicPr>
          <p:blipFill>
            <a:blip r:embed="rId4"/>
            <a:stretch>
              <a:fillRect/>
            </a:stretch>
          </p:blipFill>
          <p:spPr>
            <a:xfrm>
              <a:off x="7733313" y="2109151"/>
              <a:ext cx="579170" cy="2365453"/>
            </a:xfrm>
            <a:prstGeom prst="rect">
              <a:avLst/>
            </a:prstGeom>
            <a:ln>
              <a:noFill/>
            </a:ln>
            <a:effectLst>
              <a:outerShdw blurRad="292100" dist="139700" dir="2700000" algn="tl" rotWithShape="0">
                <a:srgbClr val="333333">
                  <a:alpha val="65000"/>
                </a:srgbClr>
              </a:outerShdw>
            </a:effectLst>
          </p:spPr>
        </p:pic>
        <p:pic>
          <p:nvPicPr>
            <p:cNvPr id="98" name="Picture 97" descr="6 interlocking cubes joined together, three yellow and three blue">
              <a:extLst>
                <a:ext uri="{FF2B5EF4-FFF2-40B4-BE49-F238E27FC236}">
                  <a16:creationId xmlns:a16="http://schemas.microsoft.com/office/drawing/2014/main" id="{F8325C76-390F-DEAF-3D8B-846949AA4F21}"/>
                </a:ext>
              </a:extLst>
            </p:cNvPr>
            <p:cNvPicPr>
              <a:picLocks noChangeAspect="1"/>
            </p:cNvPicPr>
            <p:nvPr/>
          </p:nvPicPr>
          <p:blipFill>
            <a:blip r:embed="rId5"/>
            <a:stretch>
              <a:fillRect/>
            </a:stretch>
          </p:blipFill>
          <p:spPr>
            <a:xfrm>
              <a:off x="8692218" y="999047"/>
              <a:ext cx="573074" cy="3481118"/>
            </a:xfrm>
            <a:prstGeom prst="rect">
              <a:avLst/>
            </a:prstGeom>
            <a:ln>
              <a:noFill/>
            </a:ln>
            <a:effectLst>
              <a:outerShdw blurRad="292100" dist="139700" dir="2700000" algn="tl" rotWithShape="0">
                <a:srgbClr val="333333">
                  <a:alpha val="65000"/>
                </a:srgbClr>
              </a:outerShdw>
            </a:effectLst>
          </p:spPr>
        </p:pic>
      </p:grpSp>
      <p:pic>
        <p:nvPicPr>
          <p:cNvPr id="115" name="Picture 114" descr="2 interlocking cubes joined together, one yellow and one blue">
            <a:extLst>
              <a:ext uri="{FF2B5EF4-FFF2-40B4-BE49-F238E27FC236}">
                <a16:creationId xmlns:a16="http://schemas.microsoft.com/office/drawing/2014/main" id="{CB94D205-8BE7-180A-72F4-DE27252E9FBF}"/>
              </a:ext>
            </a:extLst>
          </p:cNvPr>
          <p:cNvPicPr>
            <a:picLocks noChangeAspect="1"/>
          </p:cNvPicPr>
          <p:nvPr/>
        </p:nvPicPr>
        <p:blipFill>
          <a:blip r:embed="rId6"/>
          <a:stretch>
            <a:fillRect/>
          </a:stretch>
        </p:blipFill>
        <p:spPr>
          <a:xfrm>
            <a:off x="1993904" y="2435168"/>
            <a:ext cx="558537" cy="1400389"/>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9268A34E-BFBD-10CB-673F-66FFE3589E9E}"/>
              </a:ext>
            </a:extLst>
          </p:cNvPr>
          <p:cNvSpPr txBox="1"/>
          <p:nvPr/>
        </p:nvSpPr>
        <p:spPr>
          <a:xfrm>
            <a:off x="6010688" y="3899655"/>
            <a:ext cx="6097656" cy="2955746"/>
          </a:xfrm>
          <a:prstGeom prst="rect">
            <a:avLst/>
          </a:prstGeom>
          <a:noFill/>
        </p:spPr>
        <p:txBody>
          <a:bodyPr wrap="square">
            <a:spAutoFit/>
          </a:bodyPr>
          <a:lstStyle/>
          <a:p>
            <a:pPr lvl="0">
              <a:lnSpc>
                <a:spcPct val="150000"/>
              </a:lnSpc>
              <a:spcBef>
                <a:spcPts val="1200"/>
              </a:spcBef>
            </a:pPr>
            <a:r>
              <a:rPr lang="en-AU" sz="3200">
                <a:latin typeface="Arial" panose="020B0604020202020204" pitchFamily="34" charset="0"/>
                <a:ea typeface="Calibri" panose="020F0502020204030204" pitchFamily="34" charset="0"/>
              </a:rPr>
              <a:t>What is the </a:t>
            </a:r>
            <a:r>
              <a:rPr lang="en-AU" sz="3200" b="1">
                <a:latin typeface="Arial" panose="020B0604020202020204" pitchFamily="34" charset="0"/>
                <a:ea typeface="Calibri" panose="020F0502020204030204" pitchFamily="34" charset="0"/>
              </a:rPr>
              <a:t>same </a:t>
            </a:r>
            <a:r>
              <a:rPr lang="en-AU" sz="3200">
                <a:latin typeface="Arial" panose="020B0604020202020204" pitchFamily="34" charset="0"/>
                <a:ea typeface="Calibri" panose="020F0502020204030204" pitchFamily="34" charset="0"/>
              </a:rPr>
              <a:t>about </a:t>
            </a:r>
            <a:r>
              <a:rPr lang="en-AU" sz="3200" b="1">
                <a:latin typeface="Arial" panose="020B0604020202020204" pitchFamily="34" charset="0"/>
                <a:ea typeface="Calibri" panose="020F0502020204030204" pitchFamily="34" charset="0"/>
              </a:rPr>
              <a:t>all 3</a:t>
            </a:r>
            <a:r>
              <a:rPr lang="en-AU" sz="3200">
                <a:latin typeface="Arial" panose="020B0604020202020204" pitchFamily="34" charset="0"/>
                <a:ea typeface="Calibri" panose="020F0502020204030204" pitchFamily="34" charset="0"/>
              </a:rPr>
              <a:t> stacks and what is different?</a:t>
            </a:r>
          </a:p>
          <a:p>
            <a:pPr>
              <a:lnSpc>
                <a:spcPct val="150000"/>
              </a:lnSpc>
            </a:pPr>
            <a:r>
              <a:rPr lang="en-AU" sz="3200">
                <a:latin typeface="Arial" panose="020B0604020202020204" pitchFamily="34" charset="0"/>
                <a:ea typeface="Calibri" panose="020F0502020204030204" pitchFamily="34" charset="0"/>
              </a:rPr>
              <a:t>What </a:t>
            </a:r>
            <a:r>
              <a:rPr lang="en-AU" sz="3200" b="1">
                <a:latin typeface="Arial" panose="020B0604020202020204" pitchFamily="34" charset="0"/>
                <a:ea typeface="Calibri" panose="020F0502020204030204" pitchFamily="34" charset="0"/>
              </a:rPr>
              <a:t>percentage</a:t>
            </a:r>
            <a:r>
              <a:rPr lang="en-AU" sz="3200">
                <a:latin typeface="Arial" panose="020B0604020202020204" pitchFamily="34" charset="0"/>
                <a:ea typeface="Calibri" panose="020F0502020204030204" pitchFamily="34" charset="0"/>
              </a:rPr>
              <a:t> of each colour is in each stack? </a:t>
            </a: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9" name="Picture 8" descr="A bar model showing $160 divided into halves and quarters">
            <a:extLst>
              <a:ext uri="{FF2B5EF4-FFF2-40B4-BE49-F238E27FC236}">
                <a16:creationId xmlns:a16="http://schemas.microsoft.com/office/drawing/2014/main" id="{C3A045FF-36C6-D42D-87D9-8D87336AA184}"/>
              </a:ext>
            </a:extLst>
          </p:cNvPr>
          <p:cNvPicPr>
            <a:picLocks noChangeAspect="1"/>
          </p:cNvPicPr>
          <p:nvPr/>
        </p:nvPicPr>
        <p:blipFill>
          <a:blip r:embed="rId4"/>
          <a:stretch>
            <a:fillRect/>
          </a:stretch>
        </p:blipFill>
        <p:spPr>
          <a:xfrm>
            <a:off x="2931597" y="877589"/>
            <a:ext cx="6328806" cy="2586899"/>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250989" y="3972689"/>
            <a:ext cx="5690021" cy="893226"/>
          </a:xfrm>
        </p:spPr>
        <p:txBody>
          <a:bodyPr/>
          <a:lstStyle/>
          <a:p>
            <a:pPr algn="ctr"/>
            <a:r>
              <a:rPr lang="en-AU" sz="4400" b="1"/>
              <a:t>75% </a:t>
            </a:r>
            <a:r>
              <a:rPr lang="en-AU" sz="4400"/>
              <a:t>of </a:t>
            </a:r>
            <a:r>
              <a:rPr lang="en-AU" sz="4400" b="1"/>
              <a:t>$160 </a:t>
            </a:r>
            <a:r>
              <a:rPr lang="en-AU" sz="4400"/>
              <a:t>is </a:t>
            </a:r>
            <a:r>
              <a:rPr lang="en-AU" sz="4400" b="1"/>
              <a:t>$40.</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977352866"/>
              </p:ext>
            </p:extLst>
          </p:nvPr>
        </p:nvGraphicFramePr>
        <p:xfrm>
          <a:off x="2442981" y="537411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3E42E08-AB1C-95A5-8E74-8385BDF52FF1}"/>
              </a:ext>
            </a:extLst>
          </p:cNvPr>
          <p:cNvSpPr txBox="1"/>
          <p:nvPr/>
        </p:nvSpPr>
        <p:spPr>
          <a:xfrm>
            <a:off x="594398" y="810560"/>
            <a:ext cx="10529602" cy="5866478"/>
          </a:xfrm>
          <a:prstGeom prst="rect">
            <a:avLst/>
          </a:prstGeom>
          <a:noFill/>
        </p:spPr>
        <p:txBody>
          <a:bodyPr wrap="square">
            <a:spAutoFit/>
          </a:bodyPr>
          <a:lstStyle/>
          <a:p>
            <a:pPr lvl="0">
              <a:lnSpc>
                <a:spcPct val="150000"/>
              </a:lnSpc>
              <a:spcBef>
                <a:spcPts val="1200"/>
              </a:spcBef>
              <a:spcAft>
                <a:spcPts val="600"/>
              </a:spcAft>
            </a:pPr>
            <a:r>
              <a:rPr lang="en-AU" sz="4200" b="1">
                <a:latin typeface="Arial" panose="020B0604020202020204" pitchFamily="34" charset="0"/>
                <a:ea typeface="Calibri" panose="020F0502020204030204" pitchFamily="34" charset="0"/>
              </a:rPr>
              <a:t>Round</a:t>
            </a:r>
            <a:r>
              <a:rPr lang="en-AU" sz="4200">
                <a:latin typeface="Arial" panose="020B0604020202020204" pitchFamily="34" charset="0"/>
                <a:ea typeface="Calibri" panose="020F0502020204030204" pitchFamily="34" charset="0"/>
              </a:rPr>
              <a:t> these numbers to the nearest </a:t>
            </a:r>
            <a:r>
              <a:rPr lang="en-AU" sz="4200" b="1">
                <a:latin typeface="Arial" panose="020B0604020202020204" pitchFamily="34" charset="0"/>
                <a:ea typeface="Calibri" panose="020F0502020204030204" pitchFamily="34" charset="0"/>
              </a:rPr>
              <a:t>hundred thousand</a:t>
            </a:r>
            <a:r>
              <a:rPr lang="en-AU" sz="4200">
                <a:latin typeface="Arial" panose="020B0604020202020204" pitchFamily="34" charset="0"/>
                <a:ea typeface="Calibri" panose="020F0502020204030204" pitchFamily="34" charset="0"/>
              </a:rPr>
              <a:t>:</a:t>
            </a:r>
            <a:endParaRPr lang="en-AU" sz="4200">
              <a:effectLst/>
              <a:latin typeface="Arial" panose="020B0604020202020204" pitchFamily="34" charset="0"/>
              <a:ea typeface="Calibri" panose="020F0502020204030204" pitchFamily="34" charset="0"/>
            </a:endParaRPr>
          </a:p>
          <a:p>
            <a:pPr marL="571500" lvl="0" indent="-571500" algn="ctr">
              <a:lnSpc>
                <a:spcPct val="150000"/>
              </a:lnSpc>
              <a:buFont typeface="Arial" panose="020B0604020202020204" pitchFamily="34" charset="0"/>
              <a:buChar char="•"/>
            </a:pPr>
            <a:r>
              <a:rPr lang="en-AU" sz="4200"/>
              <a:t>3 276 489</a:t>
            </a:r>
          </a:p>
          <a:p>
            <a:pPr marL="571500" lvl="0" indent="-571500" algn="ctr">
              <a:lnSpc>
                <a:spcPct val="150000"/>
              </a:lnSpc>
              <a:buFont typeface="Arial" panose="020B0604020202020204" pitchFamily="34" charset="0"/>
              <a:buChar char="•"/>
            </a:pPr>
            <a:r>
              <a:rPr lang="en-AU" sz="4200"/>
              <a:t>5 842 173</a:t>
            </a:r>
          </a:p>
          <a:p>
            <a:pPr marL="571500" lvl="0" indent="-571500" algn="ctr">
              <a:lnSpc>
                <a:spcPct val="150000"/>
              </a:lnSpc>
              <a:buFont typeface="Arial" panose="020B0604020202020204" pitchFamily="34" charset="0"/>
              <a:buChar char="•"/>
            </a:pPr>
            <a:r>
              <a:rPr lang="en-AU" sz="4200"/>
              <a:t>7 159 622</a:t>
            </a:r>
          </a:p>
          <a:p>
            <a:pPr marL="571500" lvl="0" indent="-571500" algn="ctr">
              <a:lnSpc>
                <a:spcPct val="150000"/>
              </a:lnSpc>
              <a:buFont typeface="Arial" panose="020B0604020202020204" pitchFamily="34" charset="0"/>
              <a:buChar char="•"/>
            </a:pPr>
            <a:r>
              <a:rPr lang="en-AU" sz="4200"/>
              <a:t>9 903 457</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2990621-31DA-F6DC-FA2E-B81BC56F9E2A}"/>
              </a:ext>
            </a:extLst>
          </p:cNvPr>
          <p:cNvSpPr txBox="1"/>
          <p:nvPr/>
        </p:nvSpPr>
        <p:spPr>
          <a:xfrm>
            <a:off x="830411" y="1022030"/>
            <a:ext cx="10367268" cy="5656164"/>
          </a:xfrm>
          <a:prstGeom prst="rect">
            <a:avLst/>
          </a:prstGeom>
          <a:noFill/>
        </p:spPr>
        <p:txBody>
          <a:bodyPr wrap="square">
            <a:spAutoFit/>
          </a:bodyPr>
          <a:lstStyle/>
          <a:p>
            <a:pPr algn="ctr">
              <a:lnSpc>
                <a:spcPct val="150000"/>
              </a:lnSpc>
            </a:pPr>
            <a:r>
              <a:rPr lang="en-AU" sz="4400"/>
              <a:t>My vegetable garden has produced </a:t>
            </a:r>
            <a:r>
              <a:rPr lang="en-AU" sz="4400" b="1"/>
              <a:t>25</a:t>
            </a:r>
            <a:r>
              <a:rPr lang="en-AU" sz="4400"/>
              <a:t> carrots. </a:t>
            </a:r>
          </a:p>
          <a:p>
            <a:pPr algn="ctr">
              <a:lnSpc>
                <a:spcPct val="150000"/>
              </a:lnSpc>
            </a:pPr>
            <a:r>
              <a:rPr lang="en-AU" sz="4400"/>
              <a:t>If I sold </a:t>
            </a:r>
            <a:r>
              <a:rPr lang="en-AU" sz="4400" b="1"/>
              <a:t>one-fifth</a:t>
            </a:r>
            <a:r>
              <a:rPr lang="en-AU" sz="4400"/>
              <a:t> of them, </a:t>
            </a:r>
            <a:r>
              <a:rPr lang="en-AU" sz="4400" b="1"/>
              <a:t>how many </a:t>
            </a:r>
            <a:r>
              <a:rPr lang="en-AU" sz="4400"/>
              <a:t>did I sell?</a:t>
            </a:r>
          </a:p>
          <a:p>
            <a:pPr algn="ctr">
              <a:lnSpc>
                <a:spcPct val="150000"/>
              </a:lnSpc>
            </a:pPr>
            <a:r>
              <a:rPr lang="en-AU" sz="4400">
                <a:ea typeface="Calibri" panose="020F0502020204030204" pitchFamily="34" charset="0"/>
              </a:rPr>
              <a:t>Use a </a:t>
            </a:r>
            <a:r>
              <a:rPr lang="en-AU" sz="4400" b="1">
                <a:ea typeface="Calibri" panose="020F0502020204030204" pitchFamily="34" charset="0"/>
              </a:rPr>
              <a:t>bar model </a:t>
            </a:r>
            <a:r>
              <a:rPr lang="en-AU" sz="4400">
                <a:ea typeface="Calibri" panose="020F0502020204030204" pitchFamily="34" charset="0"/>
              </a:rPr>
              <a:t>to record the solution.</a:t>
            </a:r>
            <a:endParaRPr lang="en-AU" sz="4400"/>
          </a:p>
          <a:p>
            <a:pPr>
              <a:lnSpc>
                <a:spcPct val="150000"/>
              </a:lnSpc>
            </a:pPr>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3" name="Picture 12" descr="The ZOOM strategy. Start time on the left with a Z in the centre, showing the minutes on top, hours on the diagonal and minutes below, and finish time on the right.">
            <a:extLst>
              <a:ext uri="{FF2B5EF4-FFF2-40B4-BE49-F238E27FC236}">
                <a16:creationId xmlns:a16="http://schemas.microsoft.com/office/drawing/2014/main" id="{BF43E03E-0E3A-5108-461F-EE9BD00A6D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000" y="1723406"/>
            <a:ext cx="4656428" cy="3385307"/>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F2AA8210-B425-7BFA-E67D-B0C2FB274EFF}"/>
              </a:ext>
            </a:extLst>
          </p:cNvPr>
          <p:cNvSpPr txBox="1"/>
          <p:nvPr/>
        </p:nvSpPr>
        <p:spPr>
          <a:xfrm>
            <a:off x="5319636" y="1008837"/>
            <a:ext cx="6539948" cy="5352940"/>
          </a:xfrm>
          <a:prstGeom prst="rect">
            <a:avLst/>
          </a:prstGeom>
          <a:noFill/>
        </p:spPr>
        <p:txBody>
          <a:bodyPr wrap="square">
            <a:spAutoFit/>
          </a:bodyPr>
          <a:lstStyle/>
          <a:p>
            <a:pPr>
              <a:lnSpc>
                <a:spcPct val="150000"/>
              </a:lnSpc>
              <a:spcAft>
                <a:spcPts val="2400"/>
              </a:spcAft>
            </a:pPr>
            <a:r>
              <a:rPr lang="en-AU" sz="4400"/>
              <a:t>Mel left home at </a:t>
            </a:r>
            <a:r>
              <a:rPr lang="en-AU" sz="4400" b="1"/>
              <a:t>6.20 am </a:t>
            </a:r>
            <a:r>
              <a:rPr lang="en-AU" sz="4400"/>
              <a:t>and returned at </a:t>
            </a:r>
            <a:r>
              <a:rPr lang="en-AU" sz="4400" b="1"/>
              <a:t>4:35 pm</a:t>
            </a:r>
            <a:r>
              <a:rPr lang="en-AU" sz="4400"/>
              <a:t>. </a:t>
            </a:r>
          </a:p>
          <a:p>
            <a:pPr>
              <a:lnSpc>
                <a:spcPct val="150000"/>
              </a:lnSpc>
              <a:spcAft>
                <a:spcPts val="2400"/>
              </a:spcAft>
            </a:pPr>
            <a:r>
              <a:rPr lang="en-AU" sz="4400"/>
              <a:t>How much time has </a:t>
            </a:r>
            <a:r>
              <a:rPr lang="en-AU" sz="4400" b="1"/>
              <a:t>elapsed</a:t>
            </a:r>
            <a:r>
              <a:rPr lang="en-AU" sz="4400"/>
              <a:t> since she left home?</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rapezoid 4" descr="trapezium">
            <a:extLst>
              <a:ext uri="{FF2B5EF4-FFF2-40B4-BE49-F238E27FC236}">
                <a16:creationId xmlns:a16="http://schemas.microsoft.com/office/drawing/2014/main" id="{8ADA45DB-60FD-D441-569D-8D02321B5557}"/>
              </a:ext>
            </a:extLst>
          </p:cNvPr>
          <p:cNvSpPr>
            <a:spLocks noChangeAspect="1"/>
          </p:cNvSpPr>
          <p:nvPr/>
        </p:nvSpPr>
        <p:spPr>
          <a:xfrm>
            <a:off x="260405" y="2259681"/>
            <a:ext cx="4324122" cy="1961591"/>
          </a:xfrm>
          <a:prstGeom prst="trapezoid">
            <a:avLst/>
          </a:prstGeom>
          <a:solidFill>
            <a:srgbClr val="FF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F3CB2872-CA3B-1910-4581-5C40BA629313}"/>
              </a:ext>
            </a:extLst>
          </p:cNvPr>
          <p:cNvSpPr txBox="1"/>
          <p:nvPr/>
        </p:nvSpPr>
        <p:spPr>
          <a:xfrm>
            <a:off x="4484319" y="1573207"/>
            <a:ext cx="7707681" cy="4262064"/>
          </a:xfrm>
          <a:prstGeom prst="rect">
            <a:avLst/>
          </a:prstGeom>
          <a:noFill/>
        </p:spPr>
        <p:txBody>
          <a:bodyPr wrap="square">
            <a:spAutoFit/>
          </a:bodyPr>
          <a:lstStyle/>
          <a:p>
            <a:pPr algn="ctr">
              <a:lnSpc>
                <a:spcPct val="150000"/>
              </a:lnSpc>
              <a:spcAft>
                <a:spcPts val="3000"/>
              </a:spcAft>
            </a:pPr>
            <a:r>
              <a:rPr lang="en-AU" sz="3800" b="1"/>
              <a:t>Name</a:t>
            </a:r>
            <a:r>
              <a:rPr lang="en-AU" sz="3800"/>
              <a:t> and </a:t>
            </a:r>
            <a:r>
              <a:rPr lang="en-AU" sz="3800" b="1"/>
              <a:t>classify</a:t>
            </a:r>
            <a:r>
              <a:rPr lang="en-AU" sz="3800"/>
              <a:t> this </a:t>
            </a:r>
            <a:r>
              <a:rPr lang="en-AU" sz="3800" b="1"/>
              <a:t>2D</a:t>
            </a:r>
            <a:r>
              <a:rPr lang="en-AU" sz="3800"/>
              <a:t> shape. </a:t>
            </a:r>
          </a:p>
          <a:p>
            <a:pPr algn="ctr">
              <a:lnSpc>
                <a:spcPct val="150000"/>
              </a:lnSpc>
              <a:spcAft>
                <a:spcPts val="3000"/>
              </a:spcAft>
            </a:pPr>
            <a:r>
              <a:rPr lang="en-AU" sz="3800"/>
              <a:t>How many </a:t>
            </a:r>
            <a:r>
              <a:rPr lang="en-AU" sz="3800" b="1"/>
              <a:t>lines of symmetry </a:t>
            </a:r>
            <a:r>
              <a:rPr lang="en-AU" sz="3800"/>
              <a:t>does this shape have?</a:t>
            </a:r>
          </a:p>
          <a:p>
            <a:pPr algn="ctr">
              <a:lnSpc>
                <a:spcPct val="150000"/>
              </a:lnSpc>
              <a:spcAft>
                <a:spcPts val="3000"/>
              </a:spcAft>
            </a:pPr>
            <a:r>
              <a:rPr lang="en-AU" sz="3800" b="1"/>
              <a:t>Communicate </a:t>
            </a:r>
            <a:r>
              <a:rPr lang="en-AU" sz="3800"/>
              <a:t>your </a:t>
            </a:r>
            <a:r>
              <a:rPr lang="en-AU" sz="3800" b="1"/>
              <a:t>thinking</a:t>
            </a:r>
            <a:r>
              <a:rPr lang="en-AU" sz="3800"/>
              <a:t>.</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percentages for comparisons</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9C44E9F1-E940-0DDE-0B81-B3DD19EE401F}"/>
              </a:ext>
            </a:extLst>
          </p:cNvPr>
          <p:cNvSpPr txBox="1"/>
          <p:nvPr/>
        </p:nvSpPr>
        <p:spPr>
          <a:xfrm>
            <a:off x="449600" y="936059"/>
            <a:ext cx="11511841" cy="5177379"/>
          </a:xfrm>
          <a:prstGeom prst="rect">
            <a:avLst/>
          </a:prstGeom>
          <a:noFill/>
        </p:spPr>
        <p:txBody>
          <a:bodyPr wrap="square">
            <a:spAutoFit/>
          </a:bodyPr>
          <a:lstStyle/>
          <a:p>
            <a:pPr>
              <a:lnSpc>
                <a:spcPct val="150000"/>
              </a:lnSpc>
            </a:pPr>
            <a:r>
              <a:rPr lang="en-AU" sz="3000" b="0" i="0">
                <a:solidFill>
                  <a:srgbClr val="000000"/>
                </a:solidFill>
                <a:effectLst/>
                <a:highlight>
                  <a:srgbClr val="FFFFFF"/>
                </a:highlight>
                <a:latin typeface="Arial" panose="020B0604020202020204" pitchFamily="34" charset="0"/>
                <a:cs typeface="Arial" panose="020B0604020202020204" pitchFamily="34" charset="0"/>
              </a:rPr>
              <a:t>Remy scored </a:t>
            </a:r>
            <a:r>
              <a:rPr lang="en-AU" sz="3000" b="1" i="0">
                <a:solidFill>
                  <a:srgbClr val="000000"/>
                </a:solidFill>
                <a:effectLst/>
                <a:highlight>
                  <a:srgbClr val="FFFFFF"/>
                </a:highlight>
                <a:latin typeface="Arial" panose="020B0604020202020204" pitchFamily="34" charset="0"/>
                <a:cs typeface="Arial" panose="020B0604020202020204" pitchFamily="34" charset="0"/>
              </a:rPr>
              <a:t>15 out of 20</a:t>
            </a:r>
            <a:r>
              <a:rPr lang="en-AU" sz="3000" b="0" i="0">
                <a:solidFill>
                  <a:srgbClr val="000000"/>
                </a:solidFill>
                <a:effectLst/>
                <a:highlight>
                  <a:srgbClr val="FFFFFF"/>
                </a:highlight>
                <a:latin typeface="Arial" panose="020B0604020202020204" pitchFamily="34" charset="0"/>
                <a:cs typeface="Arial" panose="020B0604020202020204" pitchFamily="34" charset="0"/>
              </a:rPr>
              <a:t> on a mathematics test and </a:t>
            </a:r>
            <a:r>
              <a:rPr lang="en-AU" sz="3000" b="1" i="0">
                <a:solidFill>
                  <a:srgbClr val="000000"/>
                </a:solidFill>
                <a:effectLst/>
                <a:highlight>
                  <a:srgbClr val="FFFFFF"/>
                </a:highlight>
                <a:latin typeface="Arial" panose="020B0604020202020204" pitchFamily="34" charset="0"/>
                <a:cs typeface="Arial" panose="020B0604020202020204" pitchFamily="34" charset="0"/>
              </a:rPr>
              <a:t>20 out of 25</a:t>
            </a:r>
            <a:r>
              <a:rPr lang="en-AU" sz="3000" b="0" i="0">
                <a:solidFill>
                  <a:srgbClr val="000000"/>
                </a:solidFill>
                <a:effectLst/>
                <a:highlight>
                  <a:srgbClr val="FFFFFF"/>
                </a:highlight>
                <a:latin typeface="Arial" panose="020B0604020202020204" pitchFamily="34" charset="0"/>
                <a:cs typeface="Arial" panose="020B0604020202020204" pitchFamily="34" charset="0"/>
              </a:rPr>
              <a:t> on an English test. Remy said that she was </a:t>
            </a:r>
            <a:r>
              <a:rPr lang="en-AU" sz="3000" b="1" i="0">
                <a:solidFill>
                  <a:srgbClr val="000000"/>
                </a:solidFill>
                <a:effectLst/>
                <a:highlight>
                  <a:srgbClr val="FFFFFF"/>
                </a:highlight>
                <a:latin typeface="Arial" panose="020B0604020202020204" pitchFamily="34" charset="0"/>
                <a:cs typeface="Arial" panose="020B0604020202020204" pitchFamily="34" charset="0"/>
              </a:rPr>
              <a:t>better at English </a:t>
            </a:r>
            <a:r>
              <a:rPr lang="en-AU" sz="3000" b="0" i="0">
                <a:solidFill>
                  <a:srgbClr val="000000"/>
                </a:solidFill>
                <a:effectLst/>
                <a:highlight>
                  <a:srgbClr val="FFFFFF"/>
                </a:highlight>
                <a:latin typeface="Arial" panose="020B0604020202020204" pitchFamily="34" charset="0"/>
                <a:cs typeface="Arial" panose="020B0604020202020204" pitchFamily="34" charset="0"/>
              </a:rPr>
              <a:t>because she got more questions right than she did on the mathematics test. Her friend Ben said that Remy was </a:t>
            </a:r>
            <a:r>
              <a:rPr lang="en-AU" sz="3000" b="1" i="0">
                <a:solidFill>
                  <a:srgbClr val="000000"/>
                </a:solidFill>
                <a:effectLst/>
                <a:highlight>
                  <a:srgbClr val="FFFFFF"/>
                </a:highlight>
                <a:latin typeface="Arial" panose="020B0604020202020204" pitchFamily="34" charset="0"/>
                <a:cs typeface="Arial" panose="020B0604020202020204" pitchFamily="34" charset="0"/>
              </a:rPr>
              <a:t>equally good</a:t>
            </a:r>
            <a:r>
              <a:rPr lang="en-AU" sz="3000" b="0" i="0">
                <a:solidFill>
                  <a:srgbClr val="000000"/>
                </a:solidFill>
                <a:effectLst/>
                <a:highlight>
                  <a:srgbClr val="FFFFFF"/>
                </a:highlight>
                <a:latin typeface="Arial" panose="020B0604020202020204" pitchFamily="34" charset="0"/>
                <a:cs typeface="Arial" panose="020B0604020202020204" pitchFamily="34" charset="0"/>
              </a:rPr>
              <a:t> at mathematics and at English because she got 5 questions wrong in each test.</a:t>
            </a:r>
          </a:p>
          <a:p>
            <a:pPr>
              <a:lnSpc>
                <a:spcPct val="150000"/>
              </a:lnSpc>
            </a:pPr>
            <a:endParaRPr lang="en-AU" sz="1400" b="0" i="0">
              <a:solidFill>
                <a:srgbClr val="000000"/>
              </a:solidFill>
              <a:effectLst/>
              <a:highlight>
                <a:srgbClr val="FFFFFF"/>
              </a:highlight>
              <a:latin typeface="Arial" panose="020B0604020202020204" pitchFamily="34" charset="0"/>
              <a:cs typeface="Arial" panose="020B0604020202020204" pitchFamily="34" charset="0"/>
            </a:endParaRPr>
          </a:p>
          <a:p>
            <a:pPr>
              <a:lnSpc>
                <a:spcPct val="150000"/>
              </a:lnSpc>
            </a:pPr>
            <a:r>
              <a:rPr lang="en-AU" sz="3000" b="0" i="0">
                <a:solidFill>
                  <a:srgbClr val="000000"/>
                </a:solidFill>
                <a:effectLst/>
                <a:highlight>
                  <a:srgbClr val="FFFFFF"/>
                </a:highlight>
                <a:latin typeface="Arial" panose="020B0604020202020204" pitchFamily="34" charset="0"/>
                <a:cs typeface="Arial" panose="020B0604020202020204" pitchFamily="34" charset="0"/>
              </a:rPr>
              <a:t>Who is </a:t>
            </a:r>
            <a:r>
              <a:rPr lang="en-AU" sz="3000" b="1" i="0">
                <a:solidFill>
                  <a:srgbClr val="000000"/>
                </a:solidFill>
                <a:effectLst/>
                <a:highlight>
                  <a:srgbClr val="FFFFFF"/>
                </a:highlight>
                <a:latin typeface="Arial" panose="020B0604020202020204" pitchFamily="34" charset="0"/>
                <a:cs typeface="Arial" panose="020B0604020202020204" pitchFamily="34" charset="0"/>
              </a:rPr>
              <a:t>correct</a:t>
            </a:r>
            <a:r>
              <a:rPr lang="en-AU" sz="3000" b="0" i="0">
                <a:solidFill>
                  <a:srgbClr val="000000"/>
                </a:solidFill>
                <a:effectLst/>
                <a:highlight>
                  <a:srgbClr val="FFFFFF"/>
                </a:highlight>
                <a:latin typeface="Arial" panose="020B0604020202020204" pitchFamily="34" charset="0"/>
                <a:cs typeface="Arial" panose="020B0604020202020204" pitchFamily="34" charset="0"/>
              </a:rPr>
              <a:t>? </a:t>
            </a:r>
            <a:r>
              <a:rPr lang="en-AU" sz="3000">
                <a:solidFill>
                  <a:srgbClr val="000000"/>
                </a:solidFill>
                <a:highlight>
                  <a:srgbClr val="FFFFFF"/>
                </a:highlight>
                <a:latin typeface="Arial" panose="020B0604020202020204" pitchFamily="34" charset="0"/>
                <a:cs typeface="Arial" panose="020B0604020202020204" pitchFamily="34" charset="0"/>
              </a:rPr>
              <a:t>Use a </a:t>
            </a:r>
            <a:r>
              <a:rPr lang="en-AU" sz="3000" b="1">
                <a:solidFill>
                  <a:srgbClr val="000000"/>
                </a:solidFill>
                <a:highlight>
                  <a:srgbClr val="FFFFFF"/>
                </a:highlight>
                <a:latin typeface="Arial" panose="020B0604020202020204" pitchFamily="34" charset="0"/>
                <a:cs typeface="Arial" panose="020B0604020202020204" pitchFamily="34" charset="0"/>
              </a:rPr>
              <a:t>double number line </a:t>
            </a:r>
            <a:r>
              <a:rPr lang="en-AU" sz="3000">
                <a:solidFill>
                  <a:srgbClr val="000000"/>
                </a:solidFill>
                <a:highlight>
                  <a:srgbClr val="FFFFFF"/>
                </a:highlight>
                <a:latin typeface="Arial" panose="020B0604020202020204" pitchFamily="34" charset="0"/>
                <a:cs typeface="Arial" panose="020B0604020202020204" pitchFamily="34" charset="0"/>
              </a:rPr>
              <a:t>to check your answer.</a:t>
            </a:r>
            <a:endParaRPr lang="en-AU" sz="3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1480480" y="1963447"/>
                <a:ext cx="11243037" cy="893226"/>
              </a:xfrm>
            </p:spPr>
            <p:txBody>
              <a:bodyPr/>
              <a:lstStyle/>
              <a:p>
                <a:r>
                  <a:rPr lang="en-US" sz="4400"/>
                  <a:t>How do you write </a:t>
                </a:r>
                <a14:m>
                  <m:oMath xmlns:m="http://schemas.openxmlformats.org/officeDocument/2006/math">
                    <m:f>
                      <m:fPr>
                        <m:ctrlPr>
                          <a:rPr lang="en-US" sz="4400" i="1">
                            <a:latin typeface="Cambria Math" panose="02040503050406030204" pitchFamily="18" charset="0"/>
                          </a:rPr>
                        </m:ctrlPr>
                      </m:fPr>
                      <m:num>
                        <m:r>
                          <a:rPr lang="en-AU" sz="4400" b="0" i="1" smtClean="0">
                            <a:latin typeface="Cambria Math" panose="02040503050406030204" pitchFamily="18" charset="0"/>
                          </a:rPr>
                          <m:t>4</m:t>
                        </m:r>
                      </m:num>
                      <m:den>
                        <m:r>
                          <a:rPr lang="en-AU" sz="4400" b="0" i="1" smtClean="0">
                            <a:latin typeface="Cambria Math" panose="02040503050406030204" pitchFamily="18" charset="0"/>
                          </a:rPr>
                          <m:t>5</m:t>
                        </m:r>
                      </m:den>
                    </m:f>
                  </m:oMath>
                </a14:m>
                <a:r>
                  <a:rPr lang="en-US" sz="4400"/>
                  <a:t> as a percentage?</a:t>
                </a:r>
              </a:p>
              <a:p>
                <a:endParaRPr lang="en-US" sz="4400"/>
              </a:p>
            </p:txBody>
          </p:sp>
        </mc:Choice>
        <mc:Fallback xmlns="">
          <p:sp>
            <p:nvSpPr>
              <p:cNvPr id="18" name="Text Placeholder 17">
                <a:extLst>
                  <a:ext uri="{FF2B5EF4-FFF2-40B4-BE49-F238E27FC236}">
                    <a16:creationId xmlns:a16="http://schemas.microsoft.com/office/drawing/2014/main" id="{9E5118E7-BD4E-1C6F-9677-4C0228A02948}"/>
                  </a:ext>
                </a:extLst>
              </p:cNvPr>
              <p:cNvSpPr>
                <a:spLocks noGrp="1" noRot="1" noChangeAspect="1" noMove="1" noResize="1" noEditPoints="1" noAdjustHandles="1" noChangeArrowheads="1" noChangeShapeType="1" noTextEdit="1"/>
              </p:cNvSpPr>
              <p:nvPr>
                <p:ph type="body" sz="quarter" idx="24"/>
              </p:nvPr>
            </p:nvSpPr>
            <p:spPr>
              <a:xfrm>
                <a:off x="1480480" y="1963447"/>
                <a:ext cx="11243037" cy="893226"/>
              </a:xfrm>
              <a:blipFill>
                <a:blip r:embed="rId3"/>
                <a:stretch>
                  <a:fillRect l="-3037" b="-6530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B9CE09D-4912-352C-EDD3-2F5B22293E2B}"/>
              </a:ext>
            </a:extLst>
          </p:cNvPr>
          <p:cNvSpPr txBox="1"/>
          <p:nvPr/>
        </p:nvSpPr>
        <p:spPr>
          <a:xfrm>
            <a:off x="1215766" y="39766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9" y="39766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27686" y="39766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23712" y="39766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7" name="Text Placeholder 17">
            <a:extLst>
              <a:ext uri="{FF2B5EF4-FFF2-40B4-BE49-F238E27FC236}">
                <a16:creationId xmlns:a16="http://schemas.microsoft.com/office/drawing/2014/main" id="{251848A8-C804-2379-50DC-E20241E7A7D7}"/>
              </a:ext>
            </a:extLst>
          </p:cNvPr>
          <p:cNvSpPr txBox="1">
            <a:spLocks/>
          </p:cNvSpPr>
          <p:nvPr/>
        </p:nvSpPr>
        <p:spPr>
          <a:xfrm>
            <a:off x="972585" y="4715289"/>
            <a:ext cx="1211815" cy="148925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40%</a:t>
            </a:r>
            <a:endParaRPr lang="en-US" sz="4400"/>
          </a:p>
        </p:txBody>
      </p:sp>
      <p:sp>
        <p:nvSpPr>
          <p:cNvPr id="5" name="Text Placeholder 17">
            <a:extLst>
              <a:ext uri="{FF2B5EF4-FFF2-40B4-BE49-F238E27FC236}">
                <a16:creationId xmlns:a16="http://schemas.microsoft.com/office/drawing/2014/main" id="{CB30B774-2B65-441B-8187-E00A5F79B5D0}"/>
              </a:ext>
            </a:extLst>
          </p:cNvPr>
          <p:cNvSpPr txBox="1">
            <a:spLocks/>
          </p:cNvSpPr>
          <p:nvPr/>
        </p:nvSpPr>
        <p:spPr>
          <a:xfrm>
            <a:off x="3927551" y="4715287"/>
            <a:ext cx="1211815" cy="148925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80%</a:t>
            </a:r>
            <a:endParaRPr lang="en-US" sz="4400"/>
          </a:p>
        </p:txBody>
      </p:sp>
      <p:sp>
        <p:nvSpPr>
          <p:cNvPr id="6" name="Text Placeholder 17">
            <a:extLst>
              <a:ext uri="{FF2B5EF4-FFF2-40B4-BE49-F238E27FC236}">
                <a16:creationId xmlns:a16="http://schemas.microsoft.com/office/drawing/2014/main" id="{C2F96344-BBA5-6CAB-BD97-86E5698372E2}"/>
              </a:ext>
            </a:extLst>
          </p:cNvPr>
          <p:cNvSpPr txBox="1">
            <a:spLocks/>
          </p:cNvSpPr>
          <p:nvPr/>
        </p:nvSpPr>
        <p:spPr>
          <a:xfrm>
            <a:off x="6882518" y="4715288"/>
            <a:ext cx="1211815" cy="148925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50%</a:t>
            </a:r>
            <a:endParaRPr lang="en-US" sz="4400"/>
          </a:p>
        </p:txBody>
      </p:sp>
      <p:sp>
        <p:nvSpPr>
          <p:cNvPr id="8" name="Text Placeholder 17">
            <a:extLst>
              <a:ext uri="{FF2B5EF4-FFF2-40B4-BE49-F238E27FC236}">
                <a16:creationId xmlns:a16="http://schemas.microsoft.com/office/drawing/2014/main" id="{E3501C42-DA26-FF0E-D205-41E81AB55B90}"/>
              </a:ext>
            </a:extLst>
          </p:cNvPr>
          <p:cNvSpPr txBox="1">
            <a:spLocks/>
          </p:cNvSpPr>
          <p:nvPr/>
        </p:nvSpPr>
        <p:spPr>
          <a:xfrm>
            <a:off x="9962969" y="4715288"/>
            <a:ext cx="1211815" cy="148925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45%</a:t>
            </a:r>
            <a:endParaRPr lang="en-US" sz="4400"/>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36CA3DB-0C44-1E2F-AF29-AB5FD4038309}"/>
              </a:ext>
            </a:extLst>
          </p:cNvPr>
          <p:cNvSpPr txBox="1"/>
          <p:nvPr/>
        </p:nvSpPr>
        <p:spPr>
          <a:xfrm>
            <a:off x="360000" y="1398023"/>
            <a:ext cx="4678076" cy="5040611"/>
          </a:xfrm>
          <a:prstGeom prst="rect">
            <a:avLst/>
          </a:prstGeom>
          <a:noFill/>
        </p:spPr>
        <p:txBody>
          <a:bodyPr wrap="square">
            <a:spAutoFit/>
          </a:bodyPr>
          <a:lstStyle/>
          <a:p>
            <a:pPr lvl="0" algn="ctr">
              <a:lnSpc>
                <a:spcPct val="150000"/>
              </a:lnSpc>
              <a:spcBef>
                <a:spcPts val="1200"/>
              </a:spcBef>
              <a:spcAft>
                <a:spcPts val="600"/>
              </a:spcAft>
            </a:pPr>
            <a:r>
              <a:rPr lang="en-AU" sz="3200">
                <a:latin typeface="Arial" panose="020B0604020202020204" pitchFamily="34" charset="0"/>
                <a:ea typeface="Calibri" panose="020F0502020204030204" pitchFamily="34" charset="0"/>
              </a:rPr>
              <a:t>Write the number that is </a:t>
            </a:r>
            <a:r>
              <a:rPr lang="en-AU" sz="3200" b="1">
                <a:latin typeface="Arial" panose="020B0604020202020204" pitchFamily="34" charset="0"/>
                <a:ea typeface="Calibri" panose="020F0502020204030204" pitchFamily="34" charset="0"/>
              </a:rPr>
              <a:t>10 times</a:t>
            </a:r>
            <a:r>
              <a:rPr lang="en-AU" sz="3200">
                <a:latin typeface="Arial" panose="020B0604020202020204" pitchFamily="34" charset="0"/>
                <a:ea typeface="Calibri" panose="020F0502020204030204" pitchFamily="34" charset="0"/>
              </a:rPr>
              <a:t>:</a:t>
            </a:r>
          </a:p>
          <a:p>
            <a:pPr marL="457200" lvl="0" indent="-457200" algn="ctr">
              <a:lnSpc>
                <a:spcPct val="150000"/>
              </a:lnSpc>
              <a:spcBef>
                <a:spcPts val="1200"/>
              </a:spcBef>
              <a:spcAft>
                <a:spcPts val="600"/>
              </a:spcAft>
              <a:buFont typeface="Arial" panose="020B0604020202020204" pitchFamily="34" charset="0"/>
              <a:buChar char="•"/>
            </a:pPr>
            <a:r>
              <a:rPr lang="en-AU" sz="3200">
                <a:effectLst/>
                <a:latin typeface="Arial" panose="020B0604020202020204" pitchFamily="34" charset="0"/>
                <a:ea typeface="Calibri" panose="020F0502020204030204" pitchFamily="34" charset="0"/>
              </a:rPr>
              <a:t>0.8</a:t>
            </a:r>
          </a:p>
          <a:p>
            <a:pPr marL="457200" lvl="0" indent="-457200" algn="ctr">
              <a:lnSpc>
                <a:spcPct val="150000"/>
              </a:lnSpc>
              <a:spcBef>
                <a:spcPts val="1200"/>
              </a:spcBef>
              <a:spcAft>
                <a:spcPts val="600"/>
              </a:spcAft>
              <a:buFont typeface="Arial" panose="020B0604020202020204" pitchFamily="34" charset="0"/>
              <a:buChar char="•"/>
            </a:pPr>
            <a:r>
              <a:rPr lang="en-AU" sz="3200">
                <a:latin typeface="Arial" panose="020B0604020202020204" pitchFamily="34" charset="0"/>
                <a:ea typeface="Calibri" panose="020F0502020204030204" pitchFamily="34" charset="0"/>
              </a:rPr>
              <a:t>1.3</a:t>
            </a:r>
          </a:p>
          <a:p>
            <a:pPr marL="457200" lvl="0" indent="-457200" algn="ctr">
              <a:lnSpc>
                <a:spcPct val="150000"/>
              </a:lnSpc>
              <a:spcBef>
                <a:spcPts val="1200"/>
              </a:spcBef>
              <a:spcAft>
                <a:spcPts val="600"/>
              </a:spcAft>
              <a:buFont typeface="Arial" panose="020B0604020202020204" pitchFamily="34" charset="0"/>
              <a:buChar char="•"/>
            </a:pPr>
            <a:r>
              <a:rPr lang="en-AU" sz="3200">
                <a:effectLst/>
                <a:latin typeface="Arial" panose="020B0604020202020204" pitchFamily="34" charset="0"/>
                <a:ea typeface="Calibri" panose="020F0502020204030204" pitchFamily="34" charset="0"/>
              </a:rPr>
              <a:t>3.62</a:t>
            </a:r>
          </a:p>
          <a:p>
            <a:pPr lvl="0">
              <a:lnSpc>
                <a:spcPct val="150000"/>
              </a:lnSpc>
            </a:pPr>
            <a:endParaRPr lang="en-AU"/>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93BAB16-60CE-D50B-AF08-7D4CD886969D}"/>
                  </a:ext>
                </a:extLst>
              </p:cNvPr>
              <p:cNvSpPr txBox="1"/>
              <p:nvPr/>
            </p:nvSpPr>
            <p:spPr>
              <a:xfrm>
                <a:off x="6484873" y="1146608"/>
                <a:ext cx="4999127" cy="5292026"/>
              </a:xfrm>
              <a:prstGeom prst="rect">
                <a:avLst/>
              </a:prstGeom>
              <a:noFill/>
            </p:spPr>
            <p:txBody>
              <a:bodyPr wrap="square">
                <a:spAutoFit/>
              </a:bodyPr>
              <a:lstStyle/>
              <a:p>
                <a:pPr lvl="0" algn="ctr">
                  <a:lnSpc>
                    <a:spcPct val="150000"/>
                  </a:lnSpc>
                </a:pPr>
                <a:r>
                  <a:rPr lang="en-AU" sz="3200"/>
                  <a:t>Write the number that is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num>
                      <m:den>
                        <m:r>
                          <a:rPr lang="en-AU" sz="3200" b="1" i="0">
                            <a:latin typeface="Cambria Math" panose="02040503050406030204" pitchFamily="18" charset="0"/>
                          </a:rPr>
                          <m:t>𝟏𝟎</m:t>
                        </m:r>
                      </m:den>
                    </m:f>
                  </m:oMath>
                </a14:m>
                <a:r>
                  <a:rPr lang="en-AU" sz="3200" b="1"/>
                  <a:t> </a:t>
                </a:r>
                <a:r>
                  <a:rPr lang="en-AU" sz="3200"/>
                  <a:t>of</a:t>
                </a:r>
                <a:r>
                  <a:rPr lang="en-AU" sz="3200" b="1"/>
                  <a:t> </a:t>
                </a:r>
                <a:r>
                  <a:rPr lang="en-AU" sz="3200"/>
                  <a:t>the following:</a:t>
                </a:r>
              </a:p>
              <a:p>
                <a:pPr marL="342900" lvl="0" indent="-342900" algn="ctr">
                  <a:lnSpc>
                    <a:spcPct val="150000"/>
                  </a:lnSpc>
                  <a:spcBef>
                    <a:spcPts val="1200"/>
                  </a:spcBef>
                  <a:spcAft>
                    <a:spcPts val="600"/>
                  </a:spcAft>
                  <a:buFont typeface="Arial" panose="020B0604020202020204" pitchFamily="34" charset="0"/>
                  <a:buChar char="•"/>
                </a:pPr>
                <a:r>
                  <a:rPr lang="en-AU" sz="3200">
                    <a:latin typeface="Arial" panose="020B0604020202020204" pitchFamily="34" charset="0"/>
                    <a:ea typeface="Calibri" panose="020F0502020204030204" pitchFamily="34" charset="0"/>
                  </a:rPr>
                  <a:t>0.44</a:t>
                </a:r>
              </a:p>
              <a:p>
                <a:pPr marL="342900" lvl="0" indent="-342900" algn="ctr">
                  <a:lnSpc>
                    <a:spcPct val="150000"/>
                  </a:lnSpc>
                  <a:spcBef>
                    <a:spcPts val="1200"/>
                  </a:spcBef>
                  <a:spcAft>
                    <a:spcPts val="600"/>
                  </a:spcAft>
                  <a:buFont typeface="Arial" panose="020B0604020202020204" pitchFamily="34" charset="0"/>
                  <a:buChar char="•"/>
                </a:pPr>
                <a:r>
                  <a:rPr lang="en-AU" sz="3200">
                    <a:latin typeface="Arial" panose="020B0604020202020204" pitchFamily="34" charset="0"/>
                    <a:ea typeface="Calibri" panose="020F0502020204030204" pitchFamily="34" charset="0"/>
                  </a:rPr>
                  <a:t>6.5</a:t>
                </a:r>
              </a:p>
              <a:p>
                <a:pPr marL="342900" lvl="0" indent="-342900" algn="ctr">
                  <a:lnSpc>
                    <a:spcPct val="150000"/>
                  </a:lnSpc>
                  <a:spcBef>
                    <a:spcPts val="1200"/>
                  </a:spcBef>
                  <a:spcAft>
                    <a:spcPts val="600"/>
                  </a:spcAft>
                  <a:buFont typeface="Arial" panose="020B0604020202020204" pitchFamily="34" charset="0"/>
                  <a:buChar char="•"/>
                </a:pPr>
                <a:r>
                  <a:rPr lang="en-AU" sz="3200">
                    <a:latin typeface="Arial" panose="020B0604020202020204" pitchFamily="34" charset="0"/>
                    <a:ea typeface="Calibri" panose="020F0502020204030204" pitchFamily="34" charset="0"/>
                  </a:rPr>
                  <a:t>21.7</a:t>
                </a:r>
                <a:endParaRPr lang="en-AU" sz="3200"/>
              </a:p>
              <a:p>
                <a:pPr marL="342900" lvl="0" indent="-342900">
                  <a:lnSpc>
                    <a:spcPct val="150000"/>
                  </a:lnSpc>
                  <a:buFont typeface="Courier New" panose="02070309020205020404" pitchFamily="49" charset="0"/>
                  <a:buChar char="o"/>
                </a:pPr>
                <a:endParaRPr lang="en-AU"/>
              </a:p>
            </p:txBody>
          </p:sp>
        </mc:Choice>
        <mc:Fallback xmlns="">
          <p:sp>
            <p:nvSpPr>
              <p:cNvPr id="5" name="TextBox 4">
                <a:extLst>
                  <a:ext uri="{FF2B5EF4-FFF2-40B4-BE49-F238E27FC236}">
                    <a16:creationId xmlns:a16="http://schemas.microsoft.com/office/drawing/2014/main" id="{793BAB16-60CE-D50B-AF08-7D4CD886969D}"/>
                  </a:ext>
                </a:extLst>
              </p:cNvPr>
              <p:cNvSpPr txBox="1">
                <a:spLocks noRot="1" noChangeAspect="1" noMove="1" noResize="1" noEditPoints="1" noAdjustHandles="1" noChangeArrowheads="1" noChangeShapeType="1" noTextEdit="1"/>
              </p:cNvSpPr>
              <p:nvPr/>
            </p:nvSpPr>
            <p:spPr>
              <a:xfrm>
                <a:off x="6484873" y="1146608"/>
                <a:ext cx="4999127" cy="5292026"/>
              </a:xfrm>
              <a:prstGeom prst="rect">
                <a:avLst/>
              </a:prstGeom>
              <a:blipFill>
                <a:blip r:embed="rId4"/>
                <a:stretch>
                  <a:fillRect l="-2683"/>
                </a:stretch>
              </a:blipFill>
            </p:spPr>
            <p:txBody>
              <a:bodyPr/>
              <a:lstStyle/>
              <a:p>
                <a:r>
                  <a:rPr lang="en-US">
                    <a:noFill/>
                  </a:rPr>
                  <a:t> </a:t>
                </a:r>
              </a:p>
            </p:txBody>
          </p:sp>
        </mc:Fallback>
      </mc:AlternateContent>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947D632-3B19-4A18-8B7F-FB2744287069}"/>
                  </a:ext>
                </a:extLst>
              </p:cNvPr>
              <p:cNvSpPr txBox="1"/>
              <p:nvPr/>
            </p:nvSpPr>
            <p:spPr>
              <a:xfrm>
                <a:off x="4715840" y="2987144"/>
                <a:ext cx="2760320" cy="1535549"/>
              </a:xfrm>
              <a:prstGeom prst="rect">
                <a:avLst/>
              </a:prstGeom>
              <a:noFill/>
            </p:spPr>
            <p:txBody>
              <a:bodyPr wrap="square">
                <a:spAutoFit/>
              </a:bodyPr>
              <a:lstStyle/>
              <a:p>
                <a14:m>
                  <m:oMath xmlns:m="http://schemas.openxmlformats.org/officeDocument/2006/math">
                    <m:f>
                      <m:fPr>
                        <m:ctrlPr>
                          <a:rPr lang="en-AU" sz="6600" i="1" smtClean="0">
                            <a:latin typeface="Cambria Math" panose="02040503050406030204" pitchFamily="18" charset="0"/>
                          </a:rPr>
                        </m:ctrlPr>
                      </m:fPr>
                      <m:num>
                        <m:r>
                          <a:rPr lang="en-AU" sz="6600" i="1">
                            <a:latin typeface="Cambria Math" panose="02040503050406030204" pitchFamily="18" charset="0"/>
                          </a:rPr>
                          <m:t>1</m:t>
                        </m:r>
                      </m:num>
                      <m:den>
                        <m:r>
                          <a:rPr lang="en-AU" sz="6600" i="1">
                            <a:latin typeface="Cambria Math" panose="02040503050406030204" pitchFamily="18" charset="0"/>
                          </a:rPr>
                          <m:t>4</m:t>
                        </m:r>
                      </m:den>
                    </m:f>
                  </m:oMath>
                </a14:m>
                <a:r>
                  <a:rPr lang="en-AU" sz="6600"/>
                  <a:t> + </a:t>
                </a:r>
                <a14:m>
                  <m:oMath xmlns:m="http://schemas.openxmlformats.org/officeDocument/2006/math">
                    <m:f>
                      <m:fPr>
                        <m:ctrlPr>
                          <a:rPr lang="en-AU" sz="6600" i="1">
                            <a:latin typeface="Cambria Math" panose="02040503050406030204" pitchFamily="18" charset="0"/>
                          </a:rPr>
                        </m:ctrlPr>
                      </m:fPr>
                      <m:num>
                        <m:r>
                          <a:rPr lang="en-AU" sz="6600" b="0" i="1" smtClean="0">
                            <a:latin typeface="Cambria Math" panose="02040503050406030204" pitchFamily="18" charset="0"/>
                          </a:rPr>
                          <m:t>3</m:t>
                        </m:r>
                      </m:num>
                      <m:den>
                        <m:r>
                          <a:rPr lang="en-AU" sz="6600" i="1">
                            <a:latin typeface="Cambria Math" panose="02040503050406030204" pitchFamily="18" charset="0"/>
                          </a:rPr>
                          <m:t>8</m:t>
                        </m:r>
                      </m:den>
                    </m:f>
                  </m:oMath>
                </a14:m>
                <a:r>
                  <a:rPr lang="en-AU" sz="6600"/>
                  <a:t> =</a:t>
                </a:r>
                <a:endParaRPr lang="en-AU" sz="6000"/>
              </a:p>
            </p:txBody>
          </p:sp>
        </mc:Choice>
        <mc:Fallback xmlns="">
          <p:sp>
            <p:nvSpPr>
              <p:cNvPr id="7" name="TextBox 6">
                <a:extLst>
                  <a:ext uri="{FF2B5EF4-FFF2-40B4-BE49-F238E27FC236}">
                    <a16:creationId xmlns:a16="http://schemas.microsoft.com/office/drawing/2014/main" id="{0947D632-3B19-4A18-8B7F-FB2744287069}"/>
                  </a:ext>
                </a:extLst>
              </p:cNvPr>
              <p:cNvSpPr txBox="1">
                <a:spLocks noRot="1" noChangeAspect="1" noMove="1" noResize="1" noEditPoints="1" noAdjustHandles="1" noChangeArrowheads="1" noChangeShapeType="1" noTextEdit="1"/>
              </p:cNvSpPr>
              <p:nvPr/>
            </p:nvSpPr>
            <p:spPr>
              <a:xfrm>
                <a:off x="4715840" y="2987144"/>
                <a:ext cx="2760320" cy="1535549"/>
              </a:xfrm>
              <a:prstGeom prst="rect">
                <a:avLst/>
              </a:prstGeom>
              <a:blipFill>
                <a:blip r:embed="rId4"/>
                <a:stretch>
                  <a:fillRect t="-1984" r="-8407" b="-13492"/>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10707DD-40B5-4437-3DBD-650F5E00B1D6}"/>
              </a:ext>
            </a:extLst>
          </p:cNvPr>
          <p:cNvSpPr txBox="1"/>
          <p:nvPr/>
        </p:nvSpPr>
        <p:spPr>
          <a:xfrm>
            <a:off x="1316188" y="1365414"/>
            <a:ext cx="10875812" cy="901593"/>
          </a:xfrm>
          <a:prstGeom prst="rect">
            <a:avLst/>
          </a:prstGeom>
          <a:noFill/>
        </p:spPr>
        <p:txBody>
          <a:bodyPr wrap="square">
            <a:spAutoFit/>
          </a:bodyPr>
          <a:lstStyle/>
          <a:p>
            <a:pPr>
              <a:lnSpc>
                <a:spcPct val="150000"/>
              </a:lnSpc>
            </a:pPr>
            <a:r>
              <a:rPr lang="en-AU" sz="4000">
                <a:effectLst/>
                <a:latin typeface="Arial" panose="020B0604020202020204" pitchFamily="34" charset="0"/>
                <a:ea typeface="Calibri" panose="020F0502020204030204" pitchFamily="34" charset="0"/>
              </a:rPr>
              <a:t>Use a </a:t>
            </a:r>
            <a:r>
              <a:rPr lang="en-AU" sz="4000" b="1">
                <a:effectLst/>
                <a:latin typeface="Arial" panose="020B0604020202020204" pitchFamily="34" charset="0"/>
                <a:ea typeface="Calibri" panose="020F0502020204030204" pitchFamily="34" charset="0"/>
              </a:rPr>
              <a:t>fraction strip </a:t>
            </a:r>
            <a:r>
              <a:rPr lang="en-AU" sz="4000">
                <a:effectLst/>
                <a:latin typeface="Arial" panose="020B0604020202020204" pitchFamily="34" charset="0"/>
                <a:ea typeface="Calibri" panose="020F0502020204030204" pitchFamily="34" charset="0"/>
              </a:rPr>
              <a:t>to record the solution to: </a:t>
            </a:r>
            <a:endParaRPr lang="en-AU" sz="4000"/>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8" name="Table 7">
            <a:extLst>
              <a:ext uri="{FF2B5EF4-FFF2-40B4-BE49-F238E27FC236}">
                <a16:creationId xmlns:a16="http://schemas.microsoft.com/office/drawing/2014/main" id="{389DABA2-8E45-1BA1-DD68-6508D741A969}"/>
              </a:ext>
            </a:extLst>
          </p:cNvPr>
          <p:cNvGraphicFramePr>
            <a:graphicFrameLocks noGrp="1"/>
          </p:cNvGraphicFramePr>
          <p:nvPr>
            <p:extLst>
              <p:ext uri="{D42A27DB-BD31-4B8C-83A1-F6EECF244321}">
                <p14:modId xmlns:p14="http://schemas.microsoft.com/office/powerpoint/2010/main" val="1573698235"/>
              </p:ext>
            </p:extLst>
          </p:nvPr>
        </p:nvGraphicFramePr>
        <p:xfrm>
          <a:off x="4605307" y="1233295"/>
          <a:ext cx="7038053" cy="5233632"/>
        </p:xfrm>
        <a:graphic>
          <a:graphicData uri="http://schemas.openxmlformats.org/drawingml/2006/table">
            <a:tbl>
              <a:tblPr firstRow="1" firstCol="1" bandRow="1">
                <a:tableStyleId>{5A111915-BE36-4E01-A7E5-04B1672EAD32}</a:tableStyleId>
              </a:tblPr>
              <a:tblGrid>
                <a:gridCol w="823775">
                  <a:extLst>
                    <a:ext uri="{9D8B030D-6E8A-4147-A177-3AD203B41FA5}">
                      <a16:colId xmlns:a16="http://schemas.microsoft.com/office/drawing/2014/main" val="3671827069"/>
                    </a:ext>
                  </a:extLst>
                </a:gridCol>
                <a:gridCol w="724543">
                  <a:extLst>
                    <a:ext uri="{9D8B030D-6E8A-4147-A177-3AD203B41FA5}">
                      <a16:colId xmlns:a16="http://schemas.microsoft.com/office/drawing/2014/main" val="2224081878"/>
                    </a:ext>
                  </a:extLst>
                </a:gridCol>
                <a:gridCol w="1097947">
                  <a:extLst>
                    <a:ext uri="{9D8B030D-6E8A-4147-A177-3AD203B41FA5}">
                      <a16:colId xmlns:a16="http://schemas.microsoft.com/office/drawing/2014/main" val="1985331105"/>
                    </a:ext>
                  </a:extLst>
                </a:gridCol>
                <a:gridCol w="1097947">
                  <a:extLst>
                    <a:ext uri="{9D8B030D-6E8A-4147-A177-3AD203B41FA5}">
                      <a16:colId xmlns:a16="http://schemas.microsoft.com/office/drawing/2014/main" val="1261992501"/>
                    </a:ext>
                  </a:extLst>
                </a:gridCol>
                <a:gridCol w="1097947">
                  <a:extLst>
                    <a:ext uri="{9D8B030D-6E8A-4147-A177-3AD203B41FA5}">
                      <a16:colId xmlns:a16="http://schemas.microsoft.com/office/drawing/2014/main" val="2934319790"/>
                    </a:ext>
                  </a:extLst>
                </a:gridCol>
                <a:gridCol w="1097947">
                  <a:extLst>
                    <a:ext uri="{9D8B030D-6E8A-4147-A177-3AD203B41FA5}">
                      <a16:colId xmlns:a16="http://schemas.microsoft.com/office/drawing/2014/main" val="2061866649"/>
                    </a:ext>
                  </a:extLst>
                </a:gridCol>
                <a:gridCol w="1097947">
                  <a:extLst>
                    <a:ext uri="{9D8B030D-6E8A-4147-A177-3AD203B41FA5}">
                      <a16:colId xmlns:a16="http://schemas.microsoft.com/office/drawing/2014/main" val="3735539873"/>
                    </a:ext>
                  </a:extLst>
                </a:gridCol>
              </a:tblGrid>
              <a:tr h="347070">
                <a:tc>
                  <a:txBody>
                    <a:bodyPr/>
                    <a:lstStyle/>
                    <a:p>
                      <a:pPr algn="ctr">
                        <a:lnSpc>
                          <a:spcPct val="150000"/>
                        </a:lnSpc>
                        <a:spcBef>
                          <a:spcPts val="1200"/>
                        </a:spcBef>
                        <a:spcAft>
                          <a:spcPts val="600"/>
                        </a:spcAft>
                        <a:buNone/>
                      </a:pPr>
                      <a:r>
                        <a:rPr lang="en-AU" sz="1100">
                          <a:effectLst/>
                        </a:rPr>
                        <a:t>12-hour</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100">
                          <a:effectLst/>
                        </a:rPr>
                        <a:t>24-hour</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100">
                          <a:effectLst/>
                        </a:rPr>
                        <a:t>Monday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100">
                          <a:effectLst/>
                        </a:rPr>
                        <a:t>Tuesday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100">
                          <a:effectLst/>
                        </a:rPr>
                        <a:t>Wednesday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100">
                          <a:effectLst/>
                        </a:rPr>
                        <a:t>Thursday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buNone/>
                      </a:pPr>
                      <a:r>
                        <a:rPr lang="en-AU" sz="1100">
                          <a:effectLst/>
                        </a:rPr>
                        <a:t>Friday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86003853"/>
                  </a:ext>
                </a:extLst>
              </a:tr>
              <a:tr h="351667">
                <a:tc>
                  <a:txBody>
                    <a:bodyPr/>
                    <a:lstStyle/>
                    <a:p>
                      <a:pPr>
                        <a:lnSpc>
                          <a:spcPct val="150000"/>
                        </a:lnSpc>
                        <a:spcBef>
                          <a:spcPts val="1200"/>
                        </a:spcBef>
                        <a:spcAft>
                          <a:spcPts val="600"/>
                        </a:spcAft>
                        <a:buNone/>
                      </a:pPr>
                      <a:r>
                        <a:rPr lang="en-AU" sz="1050">
                          <a:effectLst/>
                        </a:rPr>
                        <a:t>8:30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08:30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68622"/>
                  </a:ext>
                </a:extLst>
              </a:tr>
              <a:tr h="347070">
                <a:tc>
                  <a:txBody>
                    <a:bodyPr/>
                    <a:lstStyle/>
                    <a:p>
                      <a:pPr>
                        <a:lnSpc>
                          <a:spcPct val="150000"/>
                        </a:lnSpc>
                        <a:spcBef>
                          <a:spcPts val="1200"/>
                        </a:spcBef>
                        <a:spcAft>
                          <a:spcPts val="600"/>
                        </a:spcAft>
                        <a:buNone/>
                      </a:pPr>
                      <a:r>
                        <a:rPr lang="en-AU" sz="1050">
                          <a:effectLst/>
                        </a:rPr>
                        <a:t>9:00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09:00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7D830"/>
                    </a:solidFill>
                  </a:tcPr>
                </a:tc>
                <a:tc>
                  <a:txBody>
                    <a:bodyPr/>
                    <a:lstStyle/>
                    <a:p>
                      <a:pPr>
                        <a:lnSpc>
                          <a:spcPct val="150000"/>
                        </a:lnSpc>
                        <a:spcBef>
                          <a:spcPts val="1200"/>
                        </a:spcBef>
                        <a:spcAft>
                          <a:spcPts val="600"/>
                        </a:spcAft>
                        <a:buNone/>
                      </a:pPr>
                      <a:r>
                        <a:rPr lang="en-AU" sz="1100">
                          <a:effectLst/>
                        </a:rPr>
                        <a:t>Sport</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099055370"/>
                  </a:ext>
                </a:extLst>
              </a:tr>
              <a:tr h="351667">
                <a:tc>
                  <a:txBody>
                    <a:bodyPr/>
                    <a:lstStyle/>
                    <a:p>
                      <a:pPr>
                        <a:lnSpc>
                          <a:spcPct val="150000"/>
                        </a:lnSpc>
                        <a:spcBef>
                          <a:spcPts val="1200"/>
                        </a:spcBef>
                        <a:spcAft>
                          <a:spcPts val="600"/>
                        </a:spcAft>
                        <a:buNone/>
                      </a:pPr>
                      <a:r>
                        <a:rPr lang="en-AU" sz="1050">
                          <a:effectLst/>
                        </a:rPr>
                        <a:t>9:30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09:30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7D830"/>
                    </a:solidFill>
                  </a:tcPr>
                </a:tc>
                <a:tc>
                  <a:txBody>
                    <a:bodyPr/>
                    <a:lstStyle/>
                    <a:p>
                      <a:pPr>
                        <a:lnSpc>
                          <a:spcPct val="150000"/>
                        </a:lnSpc>
                        <a:spcBef>
                          <a:spcPts val="1200"/>
                        </a:spcBef>
                        <a:spcAft>
                          <a:spcPts val="600"/>
                        </a:spcAft>
                        <a:buNone/>
                      </a:pPr>
                      <a:r>
                        <a:rPr lang="en-AU" sz="1100">
                          <a:effectLst/>
                        </a:rPr>
                        <a:t>Sport</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16873781"/>
                  </a:ext>
                </a:extLst>
              </a:tr>
              <a:tr h="347070">
                <a:tc>
                  <a:txBody>
                    <a:bodyPr/>
                    <a:lstStyle/>
                    <a:p>
                      <a:pPr>
                        <a:lnSpc>
                          <a:spcPct val="150000"/>
                        </a:lnSpc>
                        <a:spcBef>
                          <a:spcPts val="1200"/>
                        </a:spcBef>
                        <a:spcAft>
                          <a:spcPts val="600"/>
                        </a:spcAft>
                        <a:buNone/>
                      </a:pPr>
                      <a:r>
                        <a:rPr lang="en-AU" sz="1050">
                          <a:effectLst/>
                        </a:rPr>
                        <a:t>10:00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10:00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227471207"/>
                  </a:ext>
                </a:extLst>
              </a:tr>
              <a:tr h="351667">
                <a:tc>
                  <a:txBody>
                    <a:bodyPr/>
                    <a:lstStyle/>
                    <a:p>
                      <a:pPr>
                        <a:lnSpc>
                          <a:spcPct val="150000"/>
                        </a:lnSpc>
                        <a:spcBef>
                          <a:spcPts val="1200"/>
                        </a:spcBef>
                        <a:spcAft>
                          <a:spcPts val="600"/>
                        </a:spcAft>
                        <a:buNone/>
                      </a:pPr>
                      <a:r>
                        <a:rPr lang="en-AU" sz="1050">
                          <a:effectLst/>
                        </a:rPr>
                        <a:t>10:30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10:30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nSpc>
                          <a:spcPct val="150000"/>
                        </a:lnSpc>
                        <a:spcBef>
                          <a:spcPts val="1200"/>
                        </a:spcBef>
                        <a:spcAft>
                          <a:spcPts val="600"/>
                        </a:spcAft>
                        <a:buNone/>
                      </a:pPr>
                      <a:r>
                        <a:rPr lang="en-AU" sz="1100">
                          <a:effectLst/>
                        </a:rPr>
                        <a:t>English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025125382"/>
                  </a:ext>
                </a:extLst>
              </a:tr>
              <a:tr h="347070">
                <a:tc>
                  <a:txBody>
                    <a:bodyPr/>
                    <a:lstStyle/>
                    <a:p>
                      <a:pPr>
                        <a:lnSpc>
                          <a:spcPct val="150000"/>
                        </a:lnSpc>
                        <a:spcBef>
                          <a:spcPts val="1200"/>
                        </a:spcBef>
                        <a:spcAft>
                          <a:spcPts val="600"/>
                        </a:spcAft>
                        <a:buNone/>
                      </a:pPr>
                      <a:r>
                        <a:rPr lang="en-AU" sz="1050">
                          <a:effectLst/>
                        </a:rPr>
                        <a:t>11:00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11:00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Recess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62479574"/>
                  </a:ext>
                </a:extLst>
              </a:tr>
              <a:tr h="347070">
                <a:tc>
                  <a:txBody>
                    <a:bodyPr/>
                    <a:lstStyle/>
                    <a:p>
                      <a:pPr>
                        <a:lnSpc>
                          <a:spcPct val="150000"/>
                        </a:lnSpc>
                        <a:spcBef>
                          <a:spcPts val="1200"/>
                        </a:spcBef>
                        <a:spcAft>
                          <a:spcPts val="600"/>
                        </a:spcAft>
                        <a:buNone/>
                      </a:pPr>
                      <a:r>
                        <a:rPr lang="en-AU" sz="1050">
                          <a:effectLst/>
                        </a:rPr>
                        <a:t>11:30 am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11:30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extLst>
                  <a:ext uri="{0D108BD9-81ED-4DB2-BD59-A6C34878D82A}">
                    <a16:rowId xmlns:a16="http://schemas.microsoft.com/office/drawing/2014/main" val="268304832"/>
                  </a:ext>
                </a:extLst>
              </a:tr>
              <a:tr h="351667">
                <a:tc>
                  <a:txBody>
                    <a:bodyPr/>
                    <a:lstStyle/>
                    <a:p>
                      <a:pPr>
                        <a:lnSpc>
                          <a:spcPct val="150000"/>
                        </a:lnSpc>
                        <a:spcBef>
                          <a:spcPts val="1200"/>
                        </a:spcBef>
                        <a:spcAft>
                          <a:spcPts val="600"/>
                        </a:spcAft>
                        <a:buNone/>
                      </a:pPr>
                      <a:r>
                        <a:rPr lang="en-AU" sz="1050">
                          <a:effectLst/>
                        </a:rPr>
                        <a:t>12:00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12:00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extLst>
                  <a:ext uri="{0D108BD9-81ED-4DB2-BD59-A6C34878D82A}">
                    <a16:rowId xmlns:a16="http://schemas.microsoft.com/office/drawing/2014/main" val="2150037845"/>
                  </a:ext>
                </a:extLst>
              </a:tr>
              <a:tr h="347070">
                <a:tc>
                  <a:txBody>
                    <a:bodyPr/>
                    <a:lstStyle/>
                    <a:p>
                      <a:pPr>
                        <a:lnSpc>
                          <a:spcPct val="150000"/>
                        </a:lnSpc>
                        <a:spcBef>
                          <a:spcPts val="1200"/>
                        </a:spcBef>
                        <a:spcAft>
                          <a:spcPts val="600"/>
                        </a:spcAft>
                        <a:buNone/>
                      </a:pPr>
                      <a:r>
                        <a:rPr lang="en-AU" sz="1050">
                          <a:effectLst/>
                        </a:rPr>
                        <a:t>12:30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12:30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a:txBody>
                    <a:bodyPr/>
                    <a:lstStyle/>
                    <a:p>
                      <a:pPr>
                        <a:lnSpc>
                          <a:spcPct val="150000"/>
                        </a:lnSpc>
                        <a:spcBef>
                          <a:spcPts val="1200"/>
                        </a:spcBef>
                        <a:spcAft>
                          <a:spcPts val="600"/>
                        </a:spcAft>
                        <a:buNone/>
                      </a:pPr>
                      <a:r>
                        <a:rPr lang="en-AU" sz="1100">
                          <a:effectLst/>
                        </a:rPr>
                        <a:t>Maths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extLst>
                  <a:ext uri="{0D108BD9-81ED-4DB2-BD59-A6C34878D82A}">
                    <a16:rowId xmlns:a16="http://schemas.microsoft.com/office/drawing/2014/main" val="3445593005"/>
                  </a:ext>
                </a:extLst>
              </a:tr>
              <a:tr h="351667">
                <a:tc>
                  <a:txBody>
                    <a:bodyPr/>
                    <a:lstStyle/>
                    <a:p>
                      <a:pPr>
                        <a:lnSpc>
                          <a:spcPct val="150000"/>
                        </a:lnSpc>
                        <a:spcBef>
                          <a:spcPts val="1200"/>
                        </a:spcBef>
                        <a:spcAft>
                          <a:spcPts val="600"/>
                        </a:spcAft>
                        <a:buNone/>
                      </a:pPr>
                      <a:r>
                        <a:rPr lang="en-AU" sz="1050">
                          <a:effectLst/>
                        </a:rPr>
                        <a:t>1:00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13:00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1100">
                          <a:effectLst/>
                        </a:rPr>
                        <a:t>Lunch</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89792920"/>
                  </a:ext>
                </a:extLst>
              </a:tr>
              <a:tr h="347070">
                <a:tc>
                  <a:txBody>
                    <a:bodyPr/>
                    <a:lstStyle/>
                    <a:p>
                      <a:pPr>
                        <a:lnSpc>
                          <a:spcPct val="150000"/>
                        </a:lnSpc>
                        <a:spcBef>
                          <a:spcPts val="1200"/>
                        </a:spcBef>
                        <a:spcAft>
                          <a:spcPts val="600"/>
                        </a:spcAft>
                        <a:buNone/>
                      </a:pPr>
                      <a:r>
                        <a:rPr lang="en-AU" sz="1050">
                          <a:effectLst/>
                        </a:rPr>
                        <a:t>1:30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13:30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nSpc>
                          <a:spcPct val="150000"/>
                        </a:lnSpc>
                        <a:spcBef>
                          <a:spcPts val="1200"/>
                        </a:spcBef>
                        <a:spcAft>
                          <a:spcPts val="600"/>
                        </a:spcAft>
                        <a:buNone/>
                      </a:pPr>
                      <a:r>
                        <a:rPr lang="en-AU" sz="1100">
                          <a:effectLst/>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nSpc>
                          <a:spcPct val="150000"/>
                        </a:lnSpc>
                        <a:spcBef>
                          <a:spcPts val="1200"/>
                        </a:spcBef>
                        <a:spcAft>
                          <a:spcPts val="600"/>
                        </a:spcAft>
                        <a:buNone/>
                      </a:pPr>
                      <a:r>
                        <a:rPr lang="en-AU" sz="1100">
                          <a:effectLst/>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nSpc>
                          <a:spcPct val="150000"/>
                        </a:lnSpc>
                        <a:spcBef>
                          <a:spcPts val="1200"/>
                        </a:spcBef>
                        <a:spcAft>
                          <a:spcPts val="600"/>
                        </a:spcAft>
                        <a:buNone/>
                      </a:pPr>
                      <a:r>
                        <a:rPr lang="en-AU" sz="1100">
                          <a:effectLst/>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nSpc>
                          <a:spcPct val="150000"/>
                        </a:lnSpc>
                        <a:spcBef>
                          <a:spcPts val="1200"/>
                        </a:spcBef>
                        <a:spcAft>
                          <a:spcPts val="600"/>
                        </a:spcAft>
                        <a:buNone/>
                      </a:pPr>
                      <a:r>
                        <a:rPr lang="en-AU" sz="1100">
                          <a:effectLst/>
                        </a:rPr>
                        <a:t>Science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144574902"/>
                  </a:ext>
                </a:extLst>
              </a:tr>
              <a:tr h="347070">
                <a:tc>
                  <a:txBody>
                    <a:bodyPr/>
                    <a:lstStyle/>
                    <a:p>
                      <a:pPr>
                        <a:lnSpc>
                          <a:spcPct val="150000"/>
                        </a:lnSpc>
                        <a:spcBef>
                          <a:spcPts val="1200"/>
                        </a:spcBef>
                        <a:spcAft>
                          <a:spcPts val="600"/>
                        </a:spcAft>
                        <a:buNone/>
                      </a:pPr>
                      <a:r>
                        <a:rPr lang="en-AU" sz="1050">
                          <a:effectLst/>
                        </a:rPr>
                        <a:t>2:00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14:00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nSpc>
                          <a:spcPct val="150000"/>
                        </a:lnSpc>
                        <a:spcBef>
                          <a:spcPts val="1200"/>
                        </a:spcBef>
                        <a:spcAft>
                          <a:spcPts val="600"/>
                        </a:spcAft>
                        <a:buNone/>
                      </a:pPr>
                      <a:r>
                        <a:rPr lang="en-AU" sz="1100">
                          <a:effectLst/>
                        </a:rPr>
                        <a:t>Library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FF"/>
                    </a:solidFill>
                  </a:tcPr>
                </a:tc>
                <a:tc>
                  <a:txBody>
                    <a:bodyPr/>
                    <a:lstStyle/>
                    <a:p>
                      <a:pPr>
                        <a:lnSpc>
                          <a:spcPct val="150000"/>
                        </a:lnSpc>
                        <a:spcBef>
                          <a:spcPts val="1200"/>
                        </a:spcBef>
                        <a:spcAft>
                          <a:spcPts val="600"/>
                        </a:spcAft>
                        <a:buNone/>
                      </a:pPr>
                      <a:r>
                        <a:rPr lang="en-AU" sz="1100">
                          <a:effectLst/>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7D830"/>
                    </a:solidFill>
                  </a:tcPr>
                </a:tc>
                <a:tc>
                  <a:txBody>
                    <a:bodyPr/>
                    <a:lstStyle/>
                    <a:p>
                      <a:pPr>
                        <a:lnSpc>
                          <a:spcPct val="150000"/>
                        </a:lnSpc>
                        <a:spcBef>
                          <a:spcPts val="1200"/>
                        </a:spcBef>
                        <a:spcAft>
                          <a:spcPts val="600"/>
                        </a:spcAft>
                        <a:buNone/>
                      </a:pPr>
                      <a:r>
                        <a:rPr lang="en-AU" sz="1100">
                          <a:effectLst/>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nSpc>
                          <a:spcPct val="150000"/>
                        </a:lnSpc>
                        <a:spcBef>
                          <a:spcPts val="1200"/>
                        </a:spcBef>
                        <a:spcAft>
                          <a:spcPts val="600"/>
                        </a:spcAft>
                        <a:buNone/>
                      </a:pPr>
                      <a:r>
                        <a:rPr lang="en-AU" sz="1100">
                          <a:effectLst/>
                        </a:rPr>
                        <a:t>Science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84970903"/>
                  </a:ext>
                </a:extLst>
              </a:tr>
              <a:tr h="351667">
                <a:tc>
                  <a:txBody>
                    <a:bodyPr/>
                    <a:lstStyle/>
                    <a:p>
                      <a:pPr>
                        <a:lnSpc>
                          <a:spcPct val="150000"/>
                        </a:lnSpc>
                        <a:spcBef>
                          <a:spcPts val="1200"/>
                        </a:spcBef>
                        <a:spcAft>
                          <a:spcPts val="600"/>
                        </a:spcAft>
                        <a:buNone/>
                      </a:pPr>
                      <a:r>
                        <a:rPr lang="en-AU" sz="1050">
                          <a:effectLst/>
                        </a:rPr>
                        <a:t>2:30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14:30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HSIE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nSpc>
                          <a:spcPct val="150000"/>
                        </a:lnSpc>
                        <a:spcBef>
                          <a:spcPts val="1200"/>
                        </a:spcBef>
                        <a:spcAft>
                          <a:spcPts val="600"/>
                        </a:spcAft>
                        <a:buNone/>
                      </a:pPr>
                      <a:r>
                        <a:rPr lang="en-AU" sz="1100">
                          <a:effectLst/>
                        </a:rPr>
                        <a:t>Assembly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FF"/>
                    </a:solidFill>
                  </a:tcPr>
                </a:tc>
                <a:tc>
                  <a:txBody>
                    <a:bodyPr/>
                    <a:lstStyle/>
                    <a:p>
                      <a:pPr>
                        <a:lnSpc>
                          <a:spcPct val="150000"/>
                        </a:lnSpc>
                        <a:spcBef>
                          <a:spcPts val="1200"/>
                        </a:spcBef>
                        <a:spcAft>
                          <a:spcPts val="600"/>
                        </a:spcAft>
                        <a:buNone/>
                      </a:pPr>
                      <a:r>
                        <a:rPr lang="en-AU" sz="1100">
                          <a:effectLst/>
                        </a:rPr>
                        <a:t>PD/H/PE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7D830"/>
                    </a:solidFill>
                  </a:tcPr>
                </a:tc>
                <a:tc>
                  <a:txBody>
                    <a:bodyPr/>
                    <a:lstStyle/>
                    <a:p>
                      <a:pPr>
                        <a:lnSpc>
                          <a:spcPct val="150000"/>
                        </a:lnSpc>
                        <a:spcBef>
                          <a:spcPts val="1200"/>
                        </a:spcBef>
                        <a:spcAft>
                          <a:spcPts val="600"/>
                        </a:spcAft>
                        <a:buNone/>
                      </a:pPr>
                      <a:r>
                        <a:rPr lang="en-AU" sz="1100">
                          <a:effectLst/>
                        </a:rPr>
                        <a:t>Creative arts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nSpc>
                          <a:spcPct val="150000"/>
                        </a:lnSpc>
                        <a:spcBef>
                          <a:spcPts val="1200"/>
                        </a:spcBef>
                        <a:spcAft>
                          <a:spcPts val="600"/>
                        </a:spcAft>
                        <a:buNone/>
                      </a:pPr>
                      <a:r>
                        <a:rPr lang="en-AU" sz="1100">
                          <a:effectLst/>
                        </a:rPr>
                        <a:t>Science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91704296"/>
                  </a:ext>
                </a:extLst>
              </a:tr>
              <a:tr h="347070">
                <a:tc>
                  <a:txBody>
                    <a:bodyPr/>
                    <a:lstStyle/>
                    <a:p>
                      <a:pPr>
                        <a:lnSpc>
                          <a:spcPct val="150000"/>
                        </a:lnSpc>
                        <a:spcBef>
                          <a:spcPts val="1200"/>
                        </a:spcBef>
                        <a:spcAft>
                          <a:spcPts val="600"/>
                        </a:spcAft>
                        <a:buNone/>
                      </a:pPr>
                      <a:r>
                        <a:rPr lang="en-AU" sz="1050">
                          <a:effectLst/>
                        </a:rPr>
                        <a:t>3:00 pm</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050">
                          <a:effectLst/>
                        </a:rPr>
                        <a:t>15:00</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100">
                          <a:effectLst/>
                        </a:rPr>
                        <a:t> </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3039" marR="4303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4266066"/>
                  </a:ext>
                </a:extLst>
              </a:tr>
            </a:tbl>
          </a:graphicData>
        </a:graphic>
      </p:graphicFrame>
      <p:sp>
        <p:nvSpPr>
          <p:cNvPr id="9" name="TextBox 8">
            <a:extLst>
              <a:ext uri="{FF2B5EF4-FFF2-40B4-BE49-F238E27FC236}">
                <a16:creationId xmlns:a16="http://schemas.microsoft.com/office/drawing/2014/main" id="{EEB8E3D3-5287-C954-0506-6EAD81F63A2F}"/>
              </a:ext>
            </a:extLst>
          </p:cNvPr>
          <p:cNvSpPr txBox="1"/>
          <p:nvPr/>
        </p:nvSpPr>
        <p:spPr>
          <a:xfrm>
            <a:off x="180142" y="978082"/>
            <a:ext cx="4273560" cy="5206490"/>
          </a:xfrm>
          <a:prstGeom prst="rect">
            <a:avLst/>
          </a:prstGeom>
          <a:noFill/>
        </p:spPr>
        <p:txBody>
          <a:bodyPr wrap="square">
            <a:spAutoFit/>
          </a:bodyPr>
          <a:lstStyle/>
          <a:p>
            <a:pPr marL="457200" indent="-457200">
              <a:lnSpc>
                <a:spcPct val="150000"/>
              </a:lnSpc>
              <a:spcAft>
                <a:spcPts val="1800"/>
              </a:spcAft>
              <a:buFont typeface="Arial" panose="020B0604020202020204" pitchFamily="34" charset="0"/>
              <a:buChar char="•"/>
            </a:pPr>
            <a:r>
              <a:rPr lang="en-AU" sz="3600" b="0" i="0">
                <a:solidFill>
                  <a:srgbClr val="000000"/>
                </a:solidFill>
                <a:effectLst/>
                <a:highlight>
                  <a:srgbClr val="FFFFFF"/>
                </a:highlight>
                <a:latin typeface="Arial" panose="020B0604020202020204" pitchFamily="34" charset="0"/>
                <a:cs typeface="Arial" panose="020B0604020202020204" pitchFamily="34" charset="0"/>
              </a:rPr>
              <a:t>What time </a:t>
            </a:r>
            <a:r>
              <a:rPr lang="en-AU" sz="3600">
                <a:solidFill>
                  <a:srgbClr val="000000"/>
                </a:solidFill>
                <a:highlight>
                  <a:srgbClr val="FFFFFF"/>
                </a:highlight>
                <a:latin typeface="Arial" panose="020B0604020202020204" pitchFamily="34" charset="0"/>
                <a:cs typeface="Arial" panose="020B0604020202020204" pitchFamily="34" charset="0"/>
              </a:rPr>
              <a:t>does </a:t>
            </a:r>
            <a:r>
              <a:rPr lang="en-AU" sz="3600" b="1">
                <a:solidFill>
                  <a:srgbClr val="000000"/>
                </a:solidFill>
                <a:highlight>
                  <a:srgbClr val="FFFFFF"/>
                </a:highlight>
                <a:latin typeface="Arial" panose="020B0604020202020204" pitchFamily="34" charset="0"/>
                <a:cs typeface="Arial" panose="020B0604020202020204" pitchFamily="34" charset="0"/>
              </a:rPr>
              <a:t>PD/H/PE start</a:t>
            </a:r>
            <a:r>
              <a:rPr lang="en-AU" sz="3600">
                <a:solidFill>
                  <a:srgbClr val="000000"/>
                </a:solidFill>
                <a:highlight>
                  <a:srgbClr val="FFFFFF"/>
                </a:highlight>
                <a:latin typeface="Arial" panose="020B0604020202020204" pitchFamily="34" charset="0"/>
                <a:cs typeface="Arial" panose="020B0604020202020204" pitchFamily="34" charset="0"/>
              </a:rPr>
              <a:t> on a </a:t>
            </a:r>
            <a:r>
              <a:rPr lang="en-AU" sz="3600" b="1">
                <a:solidFill>
                  <a:srgbClr val="000000"/>
                </a:solidFill>
                <a:highlight>
                  <a:srgbClr val="FFFFFF"/>
                </a:highlight>
                <a:latin typeface="Arial" panose="020B0604020202020204" pitchFamily="34" charset="0"/>
                <a:cs typeface="Arial" panose="020B0604020202020204" pitchFamily="34" charset="0"/>
              </a:rPr>
              <a:t>Wednesday</a:t>
            </a:r>
            <a:r>
              <a:rPr lang="en-AU" sz="3600">
                <a:solidFill>
                  <a:srgbClr val="000000"/>
                </a:solidFill>
                <a:highlight>
                  <a:srgbClr val="FFFFFF"/>
                </a:highlight>
                <a:latin typeface="Arial" panose="020B0604020202020204" pitchFamily="34" charset="0"/>
                <a:cs typeface="Arial" panose="020B0604020202020204" pitchFamily="34" charset="0"/>
              </a:rPr>
              <a:t>?</a:t>
            </a:r>
            <a:r>
              <a:rPr lang="en-AU" sz="3600" b="0" i="0">
                <a:solidFill>
                  <a:srgbClr val="000000"/>
                </a:solidFill>
                <a:effectLst/>
                <a:highlight>
                  <a:srgbClr val="FFFFFF"/>
                </a:highlight>
                <a:latin typeface="Arial" panose="020B0604020202020204" pitchFamily="34" charset="0"/>
                <a:cs typeface="Arial" panose="020B0604020202020204" pitchFamily="34" charset="0"/>
              </a:rPr>
              <a:t> </a:t>
            </a:r>
          </a:p>
          <a:p>
            <a:pPr marL="457200" indent="-457200">
              <a:lnSpc>
                <a:spcPct val="150000"/>
              </a:lnSpc>
              <a:spcAft>
                <a:spcPts val="1800"/>
              </a:spcAft>
              <a:buFont typeface="Arial" panose="020B0604020202020204" pitchFamily="34" charset="0"/>
              <a:buChar char="•"/>
            </a:pPr>
            <a:r>
              <a:rPr lang="en-AU" sz="3600">
                <a:solidFill>
                  <a:srgbClr val="000000"/>
                </a:solidFill>
                <a:highlight>
                  <a:srgbClr val="FFFFFF"/>
                </a:highlight>
                <a:latin typeface="Arial" panose="020B0604020202020204" pitchFamily="34" charset="0"/>
                <a:cs typeface="Arial" panose="020B0604020202020204" pitchFamily="34" charset="0"/>
              </a:rPr>
              <a:t>Which subject </a:t>
            </a:r>
            <a:r>
              <a:rPr lang="en-AU" sz="3600" b="1">
                <a:solidFill>
                  <a:srgbClr val="000000"/>
                </a:solidFill>
                <a:highlight>
                  <a:srgbClr val="FFFFFF"/>
                </a:highlight>
                <a:latin typeface="Arial" panose="020B0604020202020204" pitchFamily="34" charset="0"/>
                <a:cs typeface="Arial" panose="020B0604020202020204" pitchFamily="34" charset="0"/>
              </a:rPr>
              <a:t>finishes</a:t>
            </a:r>
            <a:r>
              <a:rPr lang="en-AU" sz="3600">
                <a:solidFill>
                  <a:srgbClr val="000000"/>
                </a:solidFill>
                <a:highlight>
                  <a:srgbClr val="FFFFFF"/>
                </a:highlight>
                <a:latin typeface="Arial" panose="020B0604020202020204" pitchFamily="34" charset="0"/>
                <a:cs typeface="Arial" panose="020B0604020202020204" pitchFamily="34" charset="0"/>
              </a:rPr>
              <a:t> at </a:t>
            </a:r>
            <a:r>
              <a:rPr lang="en-AU" sz="3600" b="1">
                <a:solidFill>
                  <a:srgbClr val="000000"/>
                </a:solidFill>
                <a:highlight>
                  <a:srgbClr val="FFFFFF"/>
                </a:highlight>
                <a:latin typeface="Arial" panose="020B0604020202020204" pitchFamily="34" charset="0"/>
                <a:cs typeface="Arial" panose="020B0604020202020204" pitchFamily="34" charset="0"/>
              </a:rPr>
              <a:t>14:00</a:t>
            </a:r>
            <a:r>
              <a:rPr lang="en-AU" sz="3600">
                <a:solidFill>
                  <a:srgbClr val="000000"/>
                </a:solidFill>
                <a:highlight>
                  <a:srgbClr val="FFFFFF"/>
                </a:highlight>
                <a:latin typeface="Arial" panose="020B0604020202020204" pitchFamily="34" charset="0"/>
                <a:cs typeface="Arial" panose="020B0604020202020204" pitchFamily="34" charset="0"/>
              </a:rPr>
              <a:t> on a Tuesday?</a:t>
            </a:r>
            <a:endParaRPr lang="en-AU" sz="3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F69C93A-620D-83BA-7A2F-ECD505A61293}"/>
              </a:ext>
            </a:extLst>
          </p:cNvPr>
          <p:cNvSpPr txBox="1"/>
          <p:nvPr/>
        </p:nvSpPr>
        <p:spPr>
          <a:xfrm>
            <a:off x="396979" y="1433937"/>
            <a:ext cx="11548997" cy="4210192"/>
          </a:xfrm>
          <a:prstGeom prst="rect">
            <a:avLst/>
          </a:prstGeom>
          <a:noFill/>
        </p:spPr>
        <p:txBody>
          <a:bodyPr wrap="square">
            <a:spAutoFit/>
          </a:bodyPr>
          <a:lstStyle/>
          <a:p>
            <a:pPr algn="ctr">
              <a:lnSpc>
                <a:spcPct val="200000"/>
              </a:lnSpc>
              <a:spcAft>
                <a:spcPts val="2400"/>
              </a:spcAft>
            </a:pPr>
            <a:r>
              <a:rPr lang="en-AU" sz="4000" b="0" i="0">
                <a:solidFill>
                  <a:srgbClr val="000000"/>
                </a:solidFill>
                <a:effectLst/>
                <a:highlight>
                  <a:srgbClr val="FFFFFF"/>
                </a:highlight>
                <a:latin typeface="Arial" panose="020B0604020202020204" pitchFamily="34" charset="0"/>
                <a:cs typeface="Arial" panose="020B0604020202020204" pitchFamily="34" charset="0"/>
              </a:rPr>
              <a:t>Elyssa’s tap </a:t>
            </a:r>
            <a:r>
              <a:rPr lang="en-AU" sz="4000">
                <a:solidFill>
                  <a:srgbClr val="000000"/>
                </a:solidFill>
                <a:highlight>
                  <a:srgbClr val="FFFFFF"/>
                </a:highlight>
                <a:latin typeface="Arial" panose="020B0604020202020204" pitchFamily="34" charset="0"/>
                <a:cs typeface="Arial" panose="020B0604020202020204" pitchFamily="34" charset="0"/>
              </a:rPr>
              <a:t>l</a:t>
            </a:r>
            <a:r>
              <a:rPr lang="en-AU" sz="4000" b="0" i="0">
                <a:solidFill>
                  <a:srgbClr val="000000"/>
                </a:solidFill>
                <a:effectLst/>
                <a:highlight>
                  <a:srgbClr val="FFFFFF"/>
                </a:highlight>
                <a:latin typeface="Arial" panose="020B0604020202020204" pitchFamily="34" charset="0"/>
                <a:cs typeface="Arial" panose="020B0604020202020204" pitchFamily="34" charset="0"/>
              </a:rPr>
              <a:t>eaks </a:t>
            </a:r>
            <a:r>
              <a:rPr lang="en-AU" sz="4000" b="1" i="0">
                <a:solidFill>
                  <a:srgbClr val="000000"/>
                </a:solidFill>
                <a:effectLst/>
                <a:highlight>
                  <a:srgbClr val="FFFFFF"/>
                </a:highlight>
                <a:latin typeface="Arial" panose="020B0604020202020204" pitchFamily="34" charset="0"/>
                <a:cs typeface="Arial" panose="020B0604020202020204" pitchFamily="34" charset="0"/>
              </a:rPr>
              <a:t>200 mL per hour</a:t>
            </a:r>
            <a:r>
              <a:rPr lang="en-AU" sz="4000" b="0" i="0">
                <a:solidFill>
                  <a:srgbClr val="000000"/>
                </a:solidFill>
                <a:effectLst/>
                <a:highlight>
                  <a:srgbClr val="FFFFFF"/>
                </a:highlight>
                <a:latin typeface="Arial" panose="020B0604020202020204" pitchFamily="34" charset="0"/>
                <a:cs typeface="Arial" panose="020B0604020202020204" pitchFamily="34" charset="0"/>
              </a:rPr>
              <a:t>.</a:t>
            </a:r>
            <a:endParaRPr lang="en-AU" sz="4000">
              <a:solidFill>
                <a:srgbClr val="000000"/>
              </a:solidFill>
              <a:highlight>
                <a:srgbClr val="FFFFFF"/>
              </a:highlight>
              <a:latin typeface="Arial" panose="020B0604020202020204" pitchFamily="34" charset="0"/>
              <a:cs typeface="Arial" panose="020B0604020202020204" pitchFamily="34" charset="0"/>
            </a:endParaRPr>
          </a:p>
          <a:p>
            <a:pPr algn="ctr">
              <a:lnSpc>
                <a:spcPct val="200000"/>
              </a:lnSpc>
              <a:spcAft>
                <a:spcPts val="2400"/>
              </a:spcAft>
            </a:pPr>
            <a:r>
              <a:rPr lang="en-AU" sz="4000">
                <a:solidFill>
                  <a:srgbClr val="000000"/>
                </a:solidFill>
                <a:highlight>
                  <a:srgbClr val="FFFFFF"/>
                </a:highlight>
                <a:latin typeface="Arial" panose="020B0604020202020204" pitchFamily="34" charset="0"/>
                <a:cs typeface="Arial" panose="020B0604020202020204" pitchFamily="34" charset="0"/>
              </a:rPr>
              <a:t>How many </a:t>
            </a:r>
            <a:r>
              <a:rPr lang="en-AU" sz="4000" b="1">
                <a:solidFill>
                  <a:srgbClr val="000000"/>
                </a:solidFill>
                <a:highlight>
                  <a:srgbClr val="FFFFFF"/>
                </a:highlight>
                <a:latin typeface="Arial" panose="020B0604020202020204" pitchFamily="34" charset="0"/>
                <a:cs typeface="Arial" panose="020B0604020202020204" pitchFamily="34" charset="0"/>
              </a:rPr>
              <a:t>millilitres</a:t>
            </a:r>
            <a:r>
              <a:rPr lang="en-AU" sz="4000">
                <a:solidFill>
                  <a:srgbClr val="000000"/>
                </a:solidFill>
                <a:highlight>
                  <a:srgbClr val="FFFFFF"/>
                </a:highlight>
                <a:latin typeface="Arial" panose="020B0604020202020204" pitchFamily="34" charset="0"/>
                <a:cs typeface="Arial" panose="020B0604020202020204" pitchFamily="34" charset="0"/>
              </a:rPr>
              <a:t> have leaked after </a:t>
            </a:r>
            <a:r>
              <a:rPr lang="en-AU" sz="4000" b="1">
                <a:solidFill>
                  <a:srgbClr val="000000"/>
                </a:solidFill>
                <a:highlight>
                  <a:srgbClr val="FFFFFF"/>
                </a:highlight>
                <a:latin typeface="Arial" panose="020B0604020202020204" pitchFamily="34" charset="0"/>
                <a:cs typeface="Arial" panose="020B0604020202020204" pitchFamily="34" charset="0"/>
              </a:rPr>
              <a:t>8 hours</a:t>
            </a:r>
            <a:r>
              <a:rPr lang="en-AU" sz="4000">
                <a:solidFill>
                  <a:srgbClr val="000000"/>
                </a:solidFill>
                <a:highlight>
                  <a:srgbClr val="FFFFFF"/>
                </a:highlight>
                <a:latin typeface="Arial" panose="020B0604020202020204" pitchFamily="34" charset="0"/>
                <a:cs typeface="Arial" panose="020B0604020202020204" pitchFamily="34" charset="0"/>
              </a:rPr>
              <a:t>?</a:t>
            </a:r>
          </a:p>
          <a:p>
            <a:pPr algn="ctr">
              <a:lnSpc>
                <a:spcPct val="200000"/>
              </a:lnSpc>
              <a:spcAft>
                <a:spcPts val="2400"/>
              </a:spcAft>
            </a:pPr>
            <a:r>
              <a:rPr lang="en-AU" sz="4000">
                <a:solidFill>
                  <a:srgbClr val="000000"/>
                </a:solidFill>
                <a:highlight>
                  <a:srgbClr val="FFFFFF"/>
                </a:highlight>
                <a:latin typeface="Arial" panose="020B0604020202020204" pitchFamily="34" charset="0"/>
                <a:cs typeface="Arial" panose="020B0604020202020204" pitchFamily="34" charset="0"/>
              </a:rPr>
              <a:t>How many </a:t>
            </a:r>
            <a:r>
              <a:rPr lang="en-AU" sz="4000" b="1">
                <a:solidFill>
                  <a:srgbClr val="000000"/>
                </a:solidFill>
                <a:highlight>
                  <a:srgbClr val="FFFFFF"/>
                </a:highlight>
                <a:latin typeface="Arial" panose="020B0604020202020204" pitchFamily="34" charset="0"/>
                <a:cs typeface="Arial" panose="020B0604020202020204" pitchFamily="34" charset="0"/>
              </a:rPr>
              <a:t>litres</a:t>
            </a:r>
            <a:r>
              <a:rPr lang="en-AU" sz="4000">
                <a:solidFill>
                  <a:srgbClr val="000000"/>
                </a:solidFill>
                <a:highlight>
                  <a:srgbClr val="FFFFFF"/>
                </a:highlight>
                <a:latin typeface="Arial" panose="020B0604020202020204" pitchFamily="34" charset="0"/>
                <a:cs typeface="Arial" panose="020B0604020202020204" pitchFamily="34" charset="0"/>
              </a:rPr>
              <a:t> have leaked after </a:t>
            </a:r>
            <a:r>
              <a:rPr lang="en-AU" sz="4000" b="1">
                <a:solidFill>
                  <a:srgbClr val="000000"/>
                </a:solidFill>
                <a:highlight>
                  <a:srgbClr val="FFFFFF"/>
                </a:highlight>
                <a:latin typeface="Arial" panose="020B0604020202020204" pitchFamily="34" charset="0"/>
                <a:cs typeface="Arial" panose="020B0604020202020204" pitchFamily="34" charset="0"/>
              </a:rPr>
              <a:t>8 hours</a:t>
            </a:r>
            <a:r>
              <a:rPr lang="en-AU" sz="4000">
                <a:solidFill>
                  <a:srgbClr val="000000"/>
                </a:solidFill>
                <a:highlight>
                  <a:srgbClr val="FFFFFF"/>
                </a:highligh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59999" y="360000"/>
            <a:ext cx="10879501" cy="545601"/>
          </a:xfrm>
        </p:spPr>
        <p:txBody>
          <a:bodyPr/>
          <a:lstStyle/>
          <a:p>
            <a:r>
              <a:rPr lang="en-AU" sz="3100"/>
              <a:t>Activity 7 – equivalent percentages, fractions and decimals 1</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9181548-8DF2-9633-521C-B9C4EE8D93E2}"/>
                  </a:ext>
                </a:extLst>
              </p:cNvPr>
              <p:cNvGraphicFramePr>
                <a:graphicFrameLocks noGrp="1"/>
              </p:cNvGraphicFramePr>
              <p:nvPr>
                <p:extLst>
                  <p:ext uri="{D42A27DB-BD31-4B8C-83A1-F6EECF244321}">
                    <p14:modId xmlns:p14="http://schemas.microsoft.com/office/powerpoint/2010/main" val="1021487669"/>
                  </p:ext>
                </p:extLst>
              </p:nvPr>
            </p:nvGraphicFramePr>
            <p:xfrm>
              <a:off x="231648" y="1219538"/>
              <a:ext cx="11612349" cy="4949613"/>
            </p:xfrm>
            <a:graphic>
              <a:graphicData uri="http://schemas.openxmlformats.org/drawingml/2006/table">
                <a:tbl>
                  <a:tblPr firstRow="1" bandRow="1">
                    <a:tableStyleId>{5A111915-BE36-4E01-A7E5-04B1672EAD32}</a:tableStyleId>
                  </a:tblPr>
                  <a:tblGrid>
                    <a:gridCol w="1658907">
                      <a:extLst>
                        <a:ext uri="{9D8B030D-6E8A-4147-A177-3AD203B41FA5}">
                          <a16:colId xmlns:a16="http://schemas.microsoft.com/office/drawing/2014/main" val="2875589019"/>
                        </a:ext>
                      </a:extLst>
                    </a:gridCol>
                    <a:gridCol w="1658907">
                      <a:extLst>
                        <a:ext uri="{9D8B030D-6E8A-4147-A177-3AD203B41FA5}">
                          <a16:colId xmlns:a16="http://schemas.microsoft.com/office/drawing/2014/main" val="1480867078"/>
                        </a:ext>
                      </a:extLst>
                    </a:gridCol>
                    <a:gridCol w="1658907">
                      <a:extLst>
                        <a:ext uri="{9D8B030D-6E8A-4147-A177-3AD203B41FA5}">
                          <a16:colId xmlns:a16="http://schemas.microsoft.com/office/drawing/2014/main" val="4280593961"/>
                        </a:ext>
                      </a:extLst>
                    </a:gridCol>
                    <a:gridCol w="1658907">
                      <a:extLst>
                        <a:ext uri="{9D8B030D-6E8A-4147-A177-3AD203B41FA5}">
                          <a16:colId xmlns:a16="http://schemas.microsoft.com/office/drawing/2014/main" val="1271390506"/>
                        </a:ext>
                      </a:extLst>
                    </a:gridCol>
                    <a:gridCol w="1658907">
                      <a:extLst>
                        <a:ext uri="{9D8B030D-6E8A-4147-A177-3AD203B41FA5}">
                          <a16:colId xmlns:a16="http://schemas.microsoft.com/office/drawing/2014/main" val="524365488"/>
                        </a:ext>
                      </a:extLst>
                    </a:gridCol>
                    <a:gridCol w="1658907">
                      <a:extLst>
                        <a:ext uri="{9D8B030D-6E8A-4147-A177-3AD203B41FA5}">
                          <a16:colId xmlns:a16="http://schemas.microsoft.com/office/drawing/2014/main" val="2558976681"/>
                        </a:ext>
                      </a:extLst>
                    </a:gridCol>
                    <a:gridCol w="1658907">
                      <a:extLst>
                        <a:ext uri="{9D8B030D-6E8A-4147-A177-3AD203B41FA5}">
                          <a16:colId xmlns:a16="http://schemas.microsoft.com/office/drawing/2014/main" val="2777617133"/>
                        </a:ext>
                      </a:extLst>
                    </a:gridCol>
                  </a:tblGrid>
                  <a:tr h="1649871">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solidFill>
                                          <a:schemeClr val="tx1"/>
                                        </a:solidFill>
                                        <a:latin typeface="Cambria Math" panose="02040503050406030204" pitchFamily="18" charset="0"/>
                                      </a:rPr>
                                    </m:ctrlPr>
                                  </m:fPr>
                                  <m:num>
                                    <m:r>
                                      <a:rPr lang="en-AU" sz="3600" b="0" i="1" smtClean="0">
                                        <a:solidFill>
                                          <a:schemeClr val="tx1"/>
                                        </a:solidFill>
                                        <a:latin typeface="Cambria Math" panose="02040503050406030204" pitchFamily="18" charset="0"/>
                                      </a:rPr>
                                      <m:t>1</m:t>
                                    </m:r>
                                  </m:num>
                                  <m:den>
                                    <m:r>
                                      <a:rPr lang="en-AU" sz="3600" b="0" i="1" smtClean="0">
                                        <a:solidFill>
                                          <a:schemeClr val="tx1"/>
                                        </a:solidFill>
                                        <a:latin typeface="Cambria Math" panose="02040503050406030204" pitchFamily="18" charset="0"/>
                                      </a:rPr>
                                      <m:t>1</m:t>
                                    </m:r>
                                  </m:den>
                                </m:f>
                              </m:oMath>
                            </m:oMathPara>
                          </a14:m>
                          <a:endParaRPr lang="en-AU" sz="36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solidFill>
                                          <a:schemeClr val="tx1"/>
                                        </a:solidFill>
                                        <a:latin typeface="Cambria Math" panose="02040503050406030204" pitchFamily="18" charset="0"/>
                                        <a:cs typeface="Arial" panose="020B0604020202020204" pitchFamily="34" charset="0"/>
                                      </a:rPr>
                                    </m:ctrlPr>
                                  </m:fPr>
                                  <m:num>
                                    <m:r>
                                      <a:rPr lang="en-AU" sz="3600" b="0" i="1" smtClean="0">
                                        <a:solidFill>
                                          <a:schemeClr val="tx1"/>
                                        </a:solidFill>
                                        <a:latin typeface="Cambria Math" panose="02040503050406030204" pitchFamily="18" charset="0"/>
                                        <a:cs typeface="Arial" panose="020B0604020202020204" pitchFamily="34" charset="0"/>
                                      </a:rPr>
                                      <m:t>1</m:t>
                                    </m:r>
                                  </m:num>
                                  <m:den>
                                    <m:r>
                                      <a:rPr lang="en-AU" sz="3600" b="0" i="1" smtClean="0">
                                        <a:solidFill>
                                          <a:schemeClr val="tx1"/>
                                        </a:solidFill>
                                        <a:latin typeface="Cambria Math" panose="02040503050406030204" pitchFamily="18" charset="0"/>
                                        <a:cs typeface="Arial" panose="020B0604020202020204" pitchFamily="34" charset="0"/>
                                      </a:rPr>
                                      <m:t>4</m:t>
                                    </m:r>
                                  </m:den>
                                </m:f>
                              </m:oMath>
                            </m:oMathPara>
                          </a14:m>
                          <a:endParaRPr lang="en-AU" sz="36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384852"/>
                      </a:ext>
                    </a:extLst>
                  </a:tr>
                  <a:tr h="1649871">
                    <a:tc>
                      <a:txBody>
                        <a:bodyPr/>
                        <a:lstStyle/>
                        <a:p>
                          <a:pPr algn="ctr"/>
                          <a:r>
                            <a:rPr lang="en-AU" sz="3600" b="0">
                              <a:solidFill>
                                <a:schemeClr val="tx1"/>
                              </a:solidFill>
                              <a:latin typeface="Arial" panose="020B0604020202020204" pitchFamily="34" charset="0"/>
                              <a:cs typeface="Arial" panose="020B0604020202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solidFill>
                                          <a:schemeClr val="tx1"/>
                                        </a:solidFill>
                                        <a:latin typeface="Cambria Math" panose="02040503050406030204" pitchFamily="18" charset="0"/>
                                        <a:cs typeface="Arial" panose="020B0604020202020204" pitchFamily="34" charset="0"/>
                                      </a:rPr>
                                    </m:ctrlPr>
                                  </m:fPr>
                                  <m:num>
                                    <m:r>
                                      <a:rPr lang="en-AU" sz="3600" b="0" i="1" smtClean="0">
                                        <a:solidFill>
                                          <a:schemeClr val="tx1"/>
                                        </a:solidFill>
                                        <a:latin typeface="Cambria Math" panose="02040503050406030204" pitchFamily="18" charset="0"/>
                                        <a:cs typeface="Arial" panose="020B0604020202020204" pitchFamily="34" charset="0"/>
                                      </a:rPr>
                                      <m:t>1</m:t>
                                    </m:r>
                                  </m:num>
                                  <m:den>
                                    <m:r>
                                      <a:rPr lang="en-AU" sz="3600" b="0" i="1" smtClean="0">
                                        <a:solidFill>
                                          <a:schemeClr val="tx1"/>
                                        </a:solidFill>
                                        <a:latin typeface="Cambria Math" panose="02040503050406030204" pitchFamily="18" charset="0"/>
                                        <a:cs typeface="Arial" panose="020B0604020202020204" pitchFamily="34" charset="0"/>
                                      </a:rPr>
                                      <m:t>2</m:t>
                                    </m:r>
                                  </m:den>
                                </m:f>
                              </m:oMath>
                            </m:oMathPara>
                          </a14:m>
                          <a:endParaRPr lang="en-AU" sz="36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solidFill>
                                          <a:schemeClr val="tx1"/>
                                        </a:solidFill>
                                        <a:latin typeface="Cambria Math" panose="02040503050406030204" pitchFamily="18" charset="0"/>
                                        <a:cs typeface="Arial" panose="020B0604020202020204" pitchFamily="34" charset="0"/>
                                      </a:rPr>
                                    </m:ctrlPr>
                                  </m:fPr>
                                  <m:num>
                                    <m:r>
                                      <a:rPr lang="en-AU" sz="3600" b="0" i="1" smtClean="0">
                                        <a:solidFill>
                                          <a:schemeClr val="tx1"/>
                                        </a:solidFill>
                                        <a:latin typeface="Cambria Math" panose="02040503050406030204" pitchFamily="18" charset="0"/>
                                        <a:cs typeface="Arial" panose="020B0604020202020204" pitchFamily="34" charset="0"/>
                                      </a:rPr>
                                      <m:t>1</m:t>
                                    </m:r>
                                  </m:num>
                                  <m:den>
                                    <m:r>
                                      <a:rPr lang="en-AU" sz="3600" b="0" i="1" smtClean="0">
                                        <a:solidFill>
                                          <a:schemeClr val="tx1"/>
                                        </a:solidFill>
                                        <a:latin typeface="Cambria Math" panose="02040503050406030204" pitchFamily="18" charset="0"/>
                                        <a:cs typeface="Arial" panose="020B0604020202020204" pitchFamily="34" charset="0"/>
                                      </a:rPr>
                                      <m:t>10</m:t>
                                    </m:r>
                                  </m:den>
                                </m:f>
                              </m:oMath>
                            </m:oMathPara>
                          </a14:m>
                          <a:endParaRPr lang="en-AU" sz="36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849810"/>
                      </a:ext>
                    </a:extLst>
                  </a:tr>
                  <a:tr h="1649871">
                    <a:tc>
                      <a:txBody>
                        <a:bodyPr/>
                        <a:lstStyle/>
                        <a:p>
                          <a:pPr algn="ctr"/>
                          <a:r>
                            <a:rPr lang="en-AU" sz="3600" b="0">
                              <a:solidFill>
                                <a:schemeClr val="tx1"/>
                              </a:solidFill>
                              <a:latin typeface="Arial" panose="020B0604020202020204" pitchFamily="34" charset="0"/>
                              <a:cs typeface="Arial" panose="020B06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solidFill>
                                          <a:schemeClr val="tx1"/>
                                        </a:solidFill>
                                        <a:latin typeface="Cambria Math" panose="02040503050406030204" pitchFamily="18" charset="0"/>
                                        <a:cs typeface="Arial" panose="020B0604020202020204" pitchFamily="34" charset="0"/>
                                      </a:rPr>
                                    </m:ctrlPr>
                                  </m:fPr>
                                  <m:num>
                                    <m:r>
                                      <a:rPr lang="en-AU" sz="3600" b="0" i="1" smtClean="0">
                                        <a:solidFill>
                                          <a:schemeClr val="tx1"/>
                                        </a:solidFill>
                                        <a:latin typeface="Cambria Math" panose="02040503050406030204" pitchFamily="18" charset="0"/>
                                        <a:cs typeface="Arial" panose="020B0604020202020204" pitchFamily="34" charset="0"/>
                                      </a:rPr>
                                      <m:t>4</m:t>
                                    </m:r>
                                  </m:num>
                                  <m:den>
                                    <m:r>
                                      <a:rPr lang="en-AU" sz="3600" b="0" i="1" smtClean="0">
                                        <a:solidFill>
                                          <a:schemeClr val="tx1"/>
                                        </a:solidFill>
                                        <a:latin typeface="Cambria Math" panose="02040503050406030204" pitchFamily="18" charset="0"/>
                                        <a:cs typeface="Arial" panose="020B0604020202020204" pitchFamily="34" charset="0"/>
                                      </a:rPr>
                                      <m:t>5</m:t>
                                    </m:r>
                                  </m:den>
                                </m:f>
                              </m:oMath>
                            </m:oMathPara>
                          </a14:m>
                          <a:endParaRPr lang="en-AU" sz="36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solidFill>
                                          <a:schemeClr val="tx1"/>
                                        </a:solidFill>
                                        <a:latin typeface="Cambria Math" panose="02040503050406030204" pitchFamily="18" charset="0"/>
                                        <a:cs typeface="Arial" panose="020B0604020202020204" pitchFamily="34" charset="0"/>
                                      </a:rPr>
                                    </m:ctrlPr>
                                  </m:fPr>
                                  <m:num>
                                    <m:r>
                                      <a:rPr lang="en-AU" sz="3600" b="0" i="1" smtClean="0">
                                        <a:solidFill>
                                          <a:schemeClr val="tx1"/>
                                        </a:solidFill>
                                        <a:latin typeface="Cambria Math" panose="02040503050406030204" pitchFamily="18" charset="0"/>
                                        <a:cs typeface="Arial" panose="020B0604020202020204" pitchFamily="34" charset="0"/>
                                      </a:rPr>
                                      <m:t>2</m:t>
                                    </m:r>
                                  </m:num>
                                  <m:den>
                                    <m:r>
                                      <a:rPr lang="en-AU" sz="3600" b="0" i="1" smtClean="0">
                                        <a:solidFill>
                                          <a:schemeClr val="tx1"/>
                                        </a:solidFill>
                                        <a:latin typeface="Cambria Math" panose="02040503050406030204" pitchFamily="18" charset="0"/>
                                        <a:cs typeface="Arial" panose="020B0604020202020204" pitchFamily="34" charset="0"/>
                                      </a:rPr>
                                      <m:t>5</m:t>
                                    </m:r>
                                  </m:den>
                                </m:f>
                              </m:oMath>
                            </m:oMathPara>
                          </a14:m>
                          <a:endParaRPr lang="en-AU" sz="36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solidFill>
                                          <a:schemeClr val="tx1"/>
                                        </a:solidFill>
                                        <a:latin typeface="Cambria Math" panose="02040503050406030204" pitchFamily="18" charset="0"/>
                                        <a:cs typeface="Arial" panose="020B0604020202020204" pitchFamily="34" charset="0"/>
                                      </a:rPr>
                                    </m:ctrlPr>
                                  </m:fPr>
                                  <m:num>
                                    <m:r>
                                      <a:rPr lang="en-AU" sz="3600" b="0" i="1" smtClean="0">
                                        <a:solidFill>
                                          <a:schemeClr val="tx1"/>
                                        </a:solidFill>
                                        <a:latin typeface="Cambria Math" panose="02040503050406030204" pitchFamily="18" charset="0"/>
                                        <a:cs typeface="Arial" panose="020B0604020202020204" pitchFamily="34" charset="0"/>
                                      </a:rPr>
                                      <m:t>3</m:t>
                                    </m:r>
                                  </m:num>
                                  <m:den>
                                    <m:r>
                                      <a:rPr lang="en-AU" sz="3600" b="0" i="1" smtClean="0">
                                        <a:solidFill>
                                          <a:schemeClr val="tx1"/>
                                        </a:solidFill>
                                        <a:latin typeface="Cambria Math" panose="02040503050406030204" pitchFamily="18" charset="0"/>
                                        <a:cs typeface="Arial" panose="020B0604020202020204" pitchFamily="34" charset="0"/>
                                      </a:rPr>
                                      <m:t>4</m:t>
                                    </m:r>
                                  </m:den>
                                </m:f>
                              </m:oMath>
                            </m:oMathPara>
                          </a14:m>
                          <a:endParaRPr lang="en-AU" sz="36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9770138"/>
                      </a:ext>
                    </a:extLst>
                  </a:tr>
                </a:tbl>
              </a:graphicData>
            </a:graphic>
          </p:graphicFrame>
        </mc:Choice>
        <mc:Fallback xmlns="">
          <p:graphicFrame>
            <p:nvGraphicFramePr>
              <p:cNvPr id="3" name="Table 2">
                <a:extLst>
                  <a:ext uri="{FF2B5EF4-FFF2-40B4-BE49-F238E27FC236}">
                    <a16:creationId xmlns:a16="http://schemas.microsoft.com/office/drawing/2014/main" id="{09181548-8DF2-9633-521C-B9C4EE8D93E2}"/>
                  </a:ext>
                </a:extLst>
              </p:cNvPr>
              <p:cNvGraphicFramePr>
                <a:graphicFrameLocks noGrp="1"/>
              </p:cNvGraphicFramePr>
              <p:nvPr>
                <p:extLst>
                  <p:ext uri="{D42A27DB-BD31-4B8C-83A1-F6EECF244321}">
                    <p14:modId xmlns:p14="http://schemas.microsoft.com/office/powerpoint/2010/main" val="1021487669"/>
                  </p:ext>
                </p:extLst>
              </p:nvPr>
            </p:nvGraphicFramePr>
            <p:xfrm>
              <a:off x="231648" y="1219538"/>
              <a:ext cx="11612349" cy="4949613"/>
            </p:xfrm>
            <a:graphic>
              <a:graphicData uri="http://schemas.openxmlformats.org/drawingml/2006/table">
                <a:tbl>
                  <a:tblPr firstRow="1" bandRow="1">
                    <a:tableStyleId>{5A111915-BE36-4E01-A7E5-04B1672EAD32}</a:tableStyleId>
                  </a:tblPr>
                  <a:tblGrid>
                    <a:gridCol w="1658907">
                      <a:extLst>
                        <a:ext uri="{9D8B030D-6E8A-4147-A177-3AD203B41FA5}">
                          <a16:colId xmlns:a16="http://schemas.microsoft.com/office/drawing/2014/main" val="2875589019"/>
                        </a:ext>
                      </a:extLst>
                    </a:gridCol>
                    <a:gridCol w="1658907">
                      <a:extLst>
                        <a:ext uri="{9D8B030D-6E8A-4147-A177-3AD203B41FA5}">
                          <a16:colId xmlns:a16="http://schemas.microsoft.com/office/drawing/2014/main" val="1480867078"/>
                        </a:ext>
                      </a:extLst>
                    </a:gridCol>
                    <a:gridCol w="1658907">
                      <a:extLst>
                        <a:ext uri="{9D8B030D-6E8A-4147-A177-3AD203B41FA5}">
                          <a16:colId xmlns:a16="http://schemas.microsoft.com/office/drawing/2014/main" val="4280593961"/>
                        </a:ext>
                      </a:extLst>
                    </a:gridCol>
                    <a:gridCol w="1658907">
                      <a:extLst>
                        <a:ext uri="{9D8B030D-6E8A-4147-A177-3AD203B41FA5}">
                          <a16:colId xmlns:a16="http://schemas.microsoft.com/office/drawing/2014/main" val="1271390506"/>
                        </a:ext>
                      </a:extLst>
                    </a:gridCol>
                    <a:gridCol w="1658907">
                      <a:extLst>
                        <a:ext uri="{9D8B030D-6E8A-4147-A177-3AD203B41FA5}">
                          <a16:colId xmlns:a16="http://schemas.microsoft.com/office/drawing/2014/main" val="524365488"/>
                        </a:ext>
                      </a:extLst>
                    </a:gridCol>
                    <a:gridCol w="1658907">
                      <a:extLst>
                        <a:ext uri="{9D8B030D-6E8A-4147-A177-3AD203B41FA5}">
                          <a16:colId xmlns:a16="http://schemas.microsoft.com/office/drawing/2014/main" val="2558976681"/>
                        </a:ext>
                      </a:extLst>
                    </a:gridCol>
                    <a:gridCol w="1658907">
                      <a:extLst>
                        <a:ext uri="{9D8B030D-6E8A-4147-A177-3AD203B41FA5}">
                          <a16:colId xmlns:a16="http://schemas.microsoft.com/office/drawing/2014/main" val="2777617133"/>
                        </a:ext>
                      </a:extLst>
                    </a:gridCol>
                  </a:tblGrid>
                  <a:tr h="1649871">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35" t="-369" r="-601103" b="-200738"/>
                          </a:stretch>
                        </a:blipFill>
                      </a:tcPr>
                    </a:tc>
                    <a:tc>
                      <a:txBody>
                        <a:bodyPr/>
                        <a:lstStyle/>
                        <a:p>
                          <a:pPr algn="ctr"/>
                          <a:r>
                            <a:rPr lang="en-AU" sz="3600" b="0">
                              <a:solidFill>
                                <a:schemeClr val="tx1"/>
                              </a:solidFill>
                              <a:latin typeface="Arial" panose="020B0604020202020204" pitchFamily="34" charset="0"/>
                              <a:cs typeface="Arial" panose="020B0604020202020204" pitchFamily="34" charset="0"/>
                            </a:rPr>
                            <a:t>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3600" b="0">
                              <a:solidFill>
                                <a:schemeClr val="tx1"/>
                              </a:solidFill>
                              <a:latin typeface="Arial" panose="020B0604020202020204" pitchFamily="34" charset="0"/>
                              <a:cs typeface="Arial" panose="020B0604020202020204"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103" t="-369" r="-100735" b="-200738"/>
                          </a:stretch>
                        </a:blipFill>
                      </a:tcPr>
                    </a:tc>
                    <a:tc>
                      <a:txBody>
                        <a:bodyPr/>
                        <a:lstStyle/>
                        <a:p>
                          <a:pPr algn="ctr"/>
                          <a:r>
                            <a:rPr lang="en-AU" sz="3600" b="0">
                              <a:solidFill>
                                <a:schemeClr val="tx1"/>
                              </a:solidFill>
                              <a:latin typeface="Arial" panose="020B0604020202020204" pitchFamily="34" charset="0"/>
                              <a:cs typeface="Arial" panose="020B0604020202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384852"/>
                      </a:ext>
                    </a:extLst>
                  </a:tr>
                  <a:tr h="1649871">
                    <a:tc>
                      <a:txBody>
                        <a:bodyPr/>
                        <a:lstStyle/>
                        <a:p>
                          <a:pPr algn="ctr"/>
                          <a:r>
                            <a:rPr lang="en-AU" sz="3600" b="0">
                              <a:solidFill>
                                <a:schemeClr val="tx1"/>
                              </a:solidFill>
                              <a:latin typeface="Arial" panose="020B0604020202020204" pitchFamily="34" charset="0"/>
                              <a:cs typeface="Arial" panose="020B0604020202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634" t="-100741" r="-299634" b="-101481"/>
                          </a:stretch>
                        </a:blipFill>
                      </a:tcPr>
                    </a:tc>
                    <a:tc>
                      <a:txBody>
                        <a:bodyPr/>
                        <a:lstStyle/>
                        <a:p>
                          <a:pPr algn="ctr"/>
                          <a:r>
                            <a:rPr lang="en-AU" sz="3600" b="0">
                              <a:solidFill>
                                <a:schemeClr val="tx1"/>
                              </a:solidFill>
                              <a:latin typeface="Arial" panose="020B0604020202020204" pitchFamily="34" charset="0"/>
                              <a:cs typeface="Arial" panose="020B0604020202020204" pitchFamily="34" charset="0"/>
                            </a:rP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b="0">
                              <a:solidFill>
                                <a:schemeClr val="tx1"/>
                              </a:solidFill>
                              <a:latin typeface="Arial" panose="020B0604020202020204" pitchFamily="34" charset="0"/>
                              <a:cs typeface="Arial" panose="020B0604020202020204"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103" t="-100741" r="-735" b="-101481"/>
                          </a:stretch>
                        </a:blipFill>
                      </a:tcPr>
                    </a:tc>
                    <a:extLst>
                      <a:ext uri="{0D108BD9-81ED-4DB2-BD59-A6C34878D82A}">
                        <a16:rowId xmlns:a16="http://schemas.microsoft.com/office/drawing/2014/main" val="2006849810"/>
                      </a:ext>
                    </a:extLst>
                  </a:tr>
                  <a:tr h="1649871">
                    <a:tc>
                      <a:txBody>
                        <a:bodyPr/>
                        <a:lstStyle/>
                        <a:p>
                          <a:pPr algn="ctr"/>
                          <a:r>
                            <a:rPr lang="en-AU" sz="3600" b="0">
                              <a:solidFill>
                                <a:schemeClr val="tx1"/>
                              </a:solidFill>
                              <a:latin typeface="Arial" panose="020B0604020202020204" pitchFamily="34" charset="0"/>
                              <a:cs typeface="Arial" panose="020B0604020202020204" pitchFamily="34" charset="0"/>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735" t="-200000" r="-501103" b="-1107"/>
                          </a:stretch>
                        </a:blipFill>
                      </a:tcPr>
                    </a:tc>
                    <a:tc>
                      <a:txBody>
                        <a:bodyPr/>
                        <a:lstStyle/>
                        <a:p>
                          <a:pPr algn="ctr"/>
                          <a:r>
                            <a:rPr lang="en-AU" sz="3600" b="0">
                              <a:solidFill>
                                <a:schemeClr val="tx1"/>
                              </a:solidFill>
                              <a:latin typeface="Arial" panose="020B0604020202020204" pitchFamily="34" charset="0"/>
                              <a:cs typeface="Arial" panose="020B0604020202020204" pitchFamily="34"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634" t="-200000" r="-299634" b="-1107"/>
                          </a:stretch>
                        </a:blipFill>
                      </a:tcPr>
                    </a:tc>
                    <a:tc>
                      <a:txBody>
                        <a:bodyPr/>
                        <a:lstStyle/>
                        <a:p>
                          <a:pPr algn="ctr"/>
                          <a:r>
                            <a:rPr lang="en-AU" sz="3600" b="0">
                              <a:solidFill>
                                <a:schemeClr val="tx1"/>
                              </a:solidFill>
                              <a:latin typeface="Arial" panose="020B0604020202020204" pitchFamily="34" charset="0"/>
                              <a:cs typeface="Arial" panose="020B0604020202020204" pitchFamily="34" charset="0"/>
                            </a:rPr>
                            <a:t>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103" t="-200000" r="-100735" b="-1107"/>
                          </a:stretch>
                        </a:blipFill>
                      </a:tcPr>
                    </a:tc>
                    <a:tc>
                      <a:txBody>
                        <a:bodyPr/>
                        <a:lstStyle/>
                        <a:p>
                          <a:pPr algn="ctr"/>
                          <a:r>
                            <a:rPr lang="en-AU" sz="3600" b="0">
                              <a:solidFill>
                                <a:schemeClr val="tx1"/>
                              </a:solidFill>
                              <a:latin typeface="Arial" panose="020B0604020202020204" pitchFamily="34" charset="0"/>
                              <a:cs typeface="Arial" panose="020B0604020202020204" pitchFamily="34" charset="0"/>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9770138"/>
                      </a:ext>
                    </a:extLst>
                  </a:tr>
                </a:tbl>
              </a:graphicData>
            </a:graphic>
          </p:graphicFrame>
        </mc:Fallback>
      </mc:AlternateContent>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2288673" y="1883327"/>
                <a:ext cx="8075000" cy="893226"/>
              </a:xfrm>
            </p:spPr>
            <p:txBody>
              <a:bodyPr/>
              <a:lstStyle/>
              <a:p>
                <a:r>
                  <a:rPr lang="en-AU" sz="4400" b="1"/>
                  <a:t>25% </a:t>
                </a:r>
                <a:r>
                  <a:rPr lang="en-AU" sz="4400"/>
                  <a:t>is equivalent to </a:t>
                </a:r>
                <a:r>
                  <a:rPr lang="en-AU" sz="4400" b="1"/>
                  <a:t>0.25 </a:t>
                </a:r>
                <a:r>
                  <a:rPr lang="en-AU" sz="4400"/>
                  <a:t>and </a:t>
                </a:r>
                <a14:m>
                  <m:oMath xmlns:m="http://schemas.openxmlformats.org/officeDocument/2006/math">
                    <m:f>
                      <m:fPr>
                        <m:ctrlPr>
                          <a:rPr lang="en-AU" sz="4400" i="1" smtClean="0">
                            <a:latin typeface="Cambria Math" panose="02040503050406030204" pitchFamily="18" charset="0"/>
                          </a:rPr>
                        </m:ctrlPr>
                      </m:fPr>
                      <m:num>
                        <m:r>
                          <a:rPr lang="en-AU" sz="4400" b="1" i="1" smtClean="0">
                            <a:latin typeface="Cambria Math" panose="02040503050406030204" pitchFamily="18" charset="0"/>
                          </a:rPr>
                          <m:t>𝟏</m:t>
                        </m:r>
                      </m:num>
                      <m:den>
                        <m:r>
                          <a:rPr lang="en-AU" sz="4400" b="1" i="1" smtClean="0">
                            <a:latin typeface="Cambria Math" panose="02040503050406030204" pitchFamily="18" charset="0"/>
                          </a:rPr>
                          <m:t>𝟒</m:t>
                        </m:r>
                      </m:den>
                    </m:f>
                  </m:oMath>
                </a14:m>
                <a:r>
                  <a:rPr lang="en-AU" sz="4400" b="1"/>
                  <a:t>.</a:t>
                </a:r>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2288673" y="1883327"/>
                <a:ext cx="8075000" cy="893226"/>
              </a:xfrm>
              <a:blipFill>
                <a:blip r:embed="rId4"/>
                <a:stretch>
                  <a:fillRect l="-4151" r="-1962" b="-69178"/>
                </a:stretch>
              </a:blipFill>
            </p:spPr>
            <p:txBody>
              <a:bodyPr/>
              <a:lstStyle/>
              <a:p>
                <a:r>
                  <a:rPr lang="en-US">
                    <a:noFill/>
                  </a:rPr>
                  <a:t> </a:t>
                </a:r>
              </a:p>
            </p:txBody>
          </p:sp>
        </mc:Fallback>
      </mc:AlternateContent>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A09AA77-DD86-AEEE-EAFE-47262CA8B446}"/>
              </a:ext>
            </a:extLst>
          </p:cNvPr>
          <p:cNvSpPr txBox="1"/>
          <p:nvPr/>
        </p:nvSpPr>
        <p:spPr>
          <a:xfrm>
            <a:off x="455243" y="905601"/>
            <a:ext cx="10272025" cy="6425605"/>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rPr>
              <a:t>Draw a number line and mark</a:t>
            </a:r>
            <a:r>
              <a:rPr lang="en-AU" sz="4400">
                <a:latin typeface="Arial" panose="020B0604020202020204" pitchFamily="34" charset="0"/>
                <a:ea typeface="Calibri" panose="020F0502020204030204" pitchFamily="34" charset="0"/>
              </a:rPr>
              <a:t> the following decimals:</a:t>
            </a:r>
          </a:p>
          <a:p>
            <a:pPr marL="571500" lvl="0" indent="-571500" algn="ctr">
              <a:lnSpc>
                <a:spcPct val="150000"/>
              </a:lnSpc>
              <a:spcBef>
                <a:spcPts val="1200"/>
              </a:spcBef>
              <a:spcAft>
                <a:spcPts val="600"/>
              </a:spcAft>
              <a:buFont typeface="Arial" panose="020B0604020202020204" pitchFamily="34" charset="0"/>
              <a:buChar char="•"/>
            </a:pPr>
            <a:r>
              <a:rPr lang="en-AU" sz="4400">
                <a:effectLst/>
                <a:latin typeface="Arial" panose="020B0604020202020204" pitchFamily="34" charset="0"/>
                <a:ea typeface="Calibri" panose="020F0502020204030204" pitchFamily="34" charset="0"/>
              </a:rPr>
              <a:t>1.609</a:t>
            </a:r>
          </a:p>
          <a:p>
            <a:pPr marL="571500" lvl="0" indent="-571500" algn="ctr">
              <a:lnSpc>
                <a:spcPct val="150000"/>
              </a:lnSpc>
              <a:spcBef>
                <a:spcPts val="1200"/>
              </a:spcBef>
              <a:spcAft>
                <a:spcPts val="600"/>
              </a:spcAft>
              <a:buFont typeface="Arial" panose="020B0604020202020204" pitchFamily="34" charset="0"/>
              <a:buChar char="•"/>
            </a:pPr>
            <a:r>
              <a:rPr lang="en-AU" sz="4400">
                <a:effectLst/>
                <a:latin typeface="Arial" panose="020B0604020202020204" pitchFamily="34" charset="0"/>
                <a:ea typeface="Calibri" panose="020F0502020204030204" pitchFamily="34" charset="0"/>
              </a:rPr>
              <a:t>1.80</a:t>
            </a:r>
          </a:p>
          <a:p>
            <a:pPr marL="571500" lvl="0" indent="-571500" algn="ctr">
              <a:lnSpc>
                <a:spcPct val="150000"/>
              </a:lnSpc>
              <a:spcBef>
                <a:spcPts val="1200"/>
              </a:spcBef>
              <a:spcAft>
                <a:spcPts val="600"/>
              </a:spcAft>
              <a:buFont typeface="Arial" panose="020B0604020202020204" pitchFamily="34" charset="0"/>
              <a:buChar char="•"/>
            </a:pPr>
            <a:r>
              <a:rPr lang="en-AU" sz="4400">
                <a:effectLst/>
                <a:latin typeface="Arial" panose="020B0604020202020204" pitchFamily="34" charset="0"/>
                <a:ea typeface="Calibri" panose="020F0502020204030204" pitchFamily="34" charset="0"/>
              </a:rPr>
              <a:t>1.021</a:t>
            </a:r>
          </a:p>
          <a:p>
            <a:pPr lvl="0">
              <a:lnSpc>
                <a:spcPct val="150000"/>
              </a:lnSpc>
            </a:pPr>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3D8750-71D6-5DE3-6DB0-8CE43D6C80BC}"/>
                  </a:ext>
                </a:extLst>
              </p:cNvPr>
              <p:cNvSpPr txBox="1"/>
              <p:nvPr/>
            </p:nvSpPr>
            <p:spPr>
              <a:xfrm>
                <a:off x="473100" y="888063"/>
                <a:ext cx="11472876" cy="5807937"/>
              </a:xfrm>
              <a:prstGeom prst="rect">
                <a:avLst/>
              </a:prstGeom>
              <a:noFill/>
            </p:spPr>
            <p:txBody>
              <a:bodyPr wrap="square">
                <a:spAutoFit/>
              </a:bodyPr>
              <a:lstStyle/>
              <a:p>
                <a:pPr algn="ctr">
                  <a:lnSpc>
                    <a:spcPct val="150000"/>
                  </a:lnSpc>
                  <a:spcAft>
                    <a:spcPts val="1800"/>
                  </a:spcAft>
                </a:pPr>
                <a:r>
                  <a:rPr lang="en-AU" sz="3600"/>
                  <a:t>I planted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𝟏</m:t>
                        </m:r>
                      </m:num>
                      <m:den>
                        <m:r>
                          <a:rPr lang="en-AU" sz="3600" b="1" i="1">
                            <a:latin typeface="Cambria Math" panose="02040503050406030204" pitchFamily="18" charset="0"/>
                          </a:rPr>
                          <m:t>𝟓</m:t>
                        </m:r>
                      </m:den>
                    </m:f>
                  </m:oMath>
                </a14:m>
                <a:r>
                  <a:rPr lang="en-AU" sz="3600"/>
                  <a:t> of my garden with potatoes and </a:t>
                </a:r>
                <a14:m>
                  <m:oMath xmlns:m="http://schemas.openxmlformats.org/officeDocument/2006/math">
                    <m:f>
                      <m:fPr>
                        <m:ctrlPr>
                          <a:rPr lang="en-AU" sz="3600" i="1">
                            <a:latin typeface="Cambria Math" panose="02040503050406030204" pitchFamily="18" charset="0"/>
                          </a:rPr>
                        </m:ctrlPr>
                      </m:fPr>
                      <m:num>
                        <m:r>
                          <a:rPr lang="en-AU" sz="3600" b="1" i="1" smtClean="0">
                            <a:latin typeface="Cambria Math" panose="02040503050406030204" pitchFamily="18" charset="0"/>
                          </a:rPr>
                          <m:t>𝟔</m:t>
                        </m:r>
                      </m:num>
                      <m:den>
                        <m:r>
                          <a:rPr lang="en-AU" sz="3600" b="0" i="1">
                            <a:latin typeface="Cambria Math" panose="02040503050406030204" pitchFamily="18" charset="0"/>
                          </a:rPr>
                          <m:t>10</m:t>
                        </m:r>
                      </m:den>
                    </m:f>
                  </m:oMath>
                </a14:m>
                <a:r>
                  <a:rPr lang="en-AU" sz="3600"/>
                  <a:t> with carrots. </a:t>
                </a:r>
              </a:p>
              <a:p>
                <a:pPr algn="ctr">
                  <a:lnSpc>
                    <a:spcPct val="150000"/>
                  </a:lnSpc>
                  <a:spcAft>
                    <a:spcPts val="1800"/>
                  </a:spcAft>
                </a:pPr>
                <a:r>
                  <a:rPr lang="en-AU" sz="3600"/>
                  <a:t>What </a:t>
                </a:r>
                <a:r>
                  <a:rPr lang="en-AU" sz="3600" b="1"/>
                  <a:t>fraction</a:t>
                </a:r>
                <a:r>
                  <a:rPr lang="en-AU" sz="3600"/>
                  <a:t> of my garden is </a:t>
                </a:r>
                <a:r>
                  <a:rPr lang="en-AU" sz="3600" b="1"/>
                  <a:t>now planted </a:t>
                </a:r>
                <a:r>
                  <a:rPr lang="en-AU" sz="3600"/>
                  <a:t>with vegetables? </a:t>
                </a:r>
              </a:p>
              <a:p>
                <a:pPr algn="ctr">
                  <a:lnSpc>
                    <a:spcPct val="150000"/>
                  </a:lnSpc>
                  <a:spcAft>
                    <a:spcPts val="1800"/>
                  </a:spcAft>
                </a:pPr>
                <a:r>
                  <a:rPr lang="en-AU" sz="3600"/>
                  <a:t>What </a:t>
                </a:r>
                <a:r>
                  <a:rPr lang="en-AU" sz="3600" b="1"/>
                  <a:t>fraction</a:t>
                </a:r>
                <a:r>
                  <a:rPr lang="en-AU" sz="3600"/>
                  <a:t> of my garden </a:t>
                </a:r>
                <a:r>
                  <a:rPr lang="en-AU" sz="3600" b="1"/>
                  <a:t>still needs to be planted </a:t>
                </a:r>
                <a:r>
                  <a:rPr lang="en-AU" sz="3600"/>
                  <a:t>so that it is full?</a:t>
                </a:r>
              </a:p>
            </p:txBody>
          </p:sp>
        </mc:Choice>
        <mc:Fallback xmlns="">
          <p:sp>
            <p:nvSpPr>
              <p:cNvPr id="5" name="TextBox 4">
                <a:extLst>
                  <a:ext uri="{FF2B5EF4-FFF2-40B4-BE49-F238E27FC236}">
                    <a16:creationId xmlns:a16="http://schemas.microsoft.com/office/drawing/2014/main" id="{5E3D8750-71D6-5DE3-6DB0-8CE43D6C80BC}"/>
                  </a:ext>
                </a:extLst>
              </p:cNvPr>
              <p:cNvSpPr txBox="1">
                <a:spLocks noRot="1" noChangeAspect="1" noMove="1" noResize="1" noEditPoints="1" noAdjustHandles="1" noChangeArrowheads="1" noChangeShapeType="1" noTextEdit="1"/>
              </p:cNvSpPr>
              <p:nvPr/>
            </p:nvSpPr>
            <p:spPr>
              <a:xfrm>
                <a:off x="473100" y="888063"/>
                <a:ext cx="11472876" cy="5807937"/>
              </a:xfrm>
              <a:prstGeom prst="rect">
                <a:avLst/>
              </a:prstGeom>
              <a:blipFill>
                <a:blip r:embed="rId4"/>
                <a:stretch>
                  <a:fillRect l="-425" r="-1382" b="-3046"/>
                </a:stretch>
              </a:blipFill>
            </p:spPr>
            <p:txBody>
              <a:bodyPr/>
              <a:lstStyle/>
              <a:p>
                <a:r>
                  <a:rPr lang="en-US">
                    <a:noFill/>
                  </a:rPr>
                  <a:t> </a:t>
                </a:r>
              </a:p>
            </p:txBody>
          </p:sp>
        </mc:Fallback>
      </mc:AlternateContent>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F2BBA8C-5BDE-5B9B-AF78-78B3A7D1E2C2}"/>
              </a:ext>
            </a:extLst>
          </p:cNvPr>
          <p:cNvSpPr txBox="1"/>
          <p:nvPr/>
        </p:nvSpPr>
        <p:spPr>
          <a:xfrm>
            <a:off x="660539" y="1394966"/>
            <a:ext cx="10823461" cy="4902689"/>
          </a:xfrm>
          <a:prstGeom prst="rect">
            <a:avLst/>
          </a:prstGeom>
          <a:noFill/>
        </p:spPr>
        <p:txBody>
          <a:bodyPr wrap="square">
            <a:spAutoFit/>
          </a:bodyPr>
          <a:lstStyle/>
          <a:p>
            <a:pPr algn="ctr">
              <a:lnSpc>
                <a:spcPct val="150000"/>
              </a:lnSpc>
              <a:spcAft>
                <a:spcPts val="600"/>
              </a:spcAft>
            </a:pPr>
            <a:r>
              <a:rPr lang="en-AU" sz="4000" b="1">
                <a:effectLst/>
                <a:latin typeface="Arial" panose="020B0604020202020204" pitchFamily="34" charset="0"/>
                <a:ea typeface="Calibri" panose="020F0502020204030204" pitchFamily="34" charset="0"/>
              </a:rPr>
              <a:t>Convert</a:t>
            </a:r>
            <a:r>
              <a:rPr lang="en-AU" sz="4000">
                <a:effectLst/>
                <a:latin typeface="Arial" panose="020B0604020202020204" pitchFamily="34" charset="0"/>
                <a:ea typeface="Calibri" panose="020F0502020204030204" pitchFamily="34" charset="0"/>
              </a:rPr>
              <a:t> the following times into </a:t>
            </a:r>
            <a:r>
              <a:rPr lang="en-AU" sz="4000" b="1">
                <a:effectLst/>
                <a:latin typeface="Arial" panose="020B0604020202020204" pitchFamily="34" charset="0"/>
                <a:ea typeface="Calibri" panose="020F0502020204030204" pitchFamily="34" charset="0"/>
              </a:rPr>
              <a:t>24-hour time.</a:t>
            </a:r>
            <a:endParaRPr lang="en-AU" sz="4000" b="1">
              <a:latin typeface="Arial" panose="020B0604020202020204" pitchFamily="34" charset="0"/>
              <a:ea typeface="Calibri" panose="020F0502020204030204" pitchFamily="34" charset="0"/>
            </a:endParaRPr>
          </a:p>
          <a:p>
            <a:pPr marL="342900" indent="-342900" algn="ctr">
              <a:lnSpc>
                <a:spcPct val="150000"/>
              </a:lnSpc>
              <a:spcAft>
                <a:spcPts val="600"/>
              </a:spcAft>
              <a:buFont typeface="Arial" panose="020B0604020202020204" pitchFamily="34" charset="0"/>
              <a:buChar char="•"/>
            </a:pPr>
            <a:r>
              <a:rPr lang="en-AU" sz="4000">
                <a:latin typeface="Arial" panose="020B0604020202020204" pitchFamily="34" charset="0"/>
                <a:ea typeface="Calibri" panose="020F0502020204030204" pitchFamily="34" charset="0"/>
              </a:rPr>
              <a:t>5:45 am</a:t>
            </a:r>
          </a:p>
          <a:p>
            <a:pPr marL="342900" indent="-342900" algn="ctr">
              <a:lnSpc>
                <a:spcPct val="150000"/>
              </a:lnSpc>
              <a:spcAft>
                <a:spcPts val="600"/>
              </a:spcAft>
              <a:buFont typeface="Arial" panose="020B0604020202020204" pitchFamily="34" charset="0"/>
              <a:buChar char="•"/>
            </a:pPr>
            <a:r>
              <a:rPr lang="en-AU" sz="4000">
                <a:latin typeface="Arial" panose="020B0604020202020204" pitchFamily="34" charset="0"/>
                <a:ea typeface="Calibri" panose="020F0502020204030204" pitchFamily="34" charset="0"/>
              </a:rPr>
              <a:t>8:15 pm</a:t>
            </a:r>
          </a:p>
          <a:p>
            <a:pPr marL="342900" indent="-342900" algn="ctr">
              <a:lnSpc>
                <a:spcPct val="150000"/>
              </a:lnSpc>
              <a:spcAft>
                <a:spcPts val="600"/>
              </a:spcAft>
              <a:buFont typeface="Arial" panose="020B0604020202020204" pitchFamily="34" charset="0"/>
              <a:buChar char="•"/>
            </a:pPr>
            <a:r>
              <a:rPr lang="en-AU" sz="4000">
                <a:latin typeface="Arial" panose="020B0604020202020204" pitchFamily="34" charset="0"/>
                <a:ea typeface="Calibri" panose="020F0502020204030204" pitchFamily="34" charset="0"/>
              </a:rPr>
              <a:t>1:40 pm</a:t>
            </a:r>
          </a:p>
          <a:p>
            <a:pPr marL="342900" indent="-342900" algn="ctr">
              <a:lnSpc>
                <a:spcPct val="150000"/>
              </a:lnSpc>
              <a:spcAft>
                <a:spcPts val="600"/>
              </a:spcAft>
              <a:buFont typeface="Arial" panose="020B0604020202020204" pitchFamily="34" charset="0"/>
              <a:buChar char="•"/>
            </a:pPr>
            <a:r>
              <a:rPr lang="en-AU" sz="4000">
                <a:latin typeface="Arial" panose="020B0604020202020204" pitchFamily="34" charset="0"/>
                <a:ea typeface="Calibri" panose="020F0502020204030204" pitchFamily="34" charset="0"/>
              </a:rPr>
              <a:t>11:30 am</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17775D7-8E6C-AC19-512C-815E413987FC}"/>
              </a:ext>
            </a:extLst>
          </p:cNvPr>
          <p:cNvSpPr txBox="1"/>
          <p:nvPr/>
        </p:nvSpPr>
        <p:spPr>
          <a:xfrm>
            <a:off x="5745942" y="2028615"/>
            <a:ext cx="6098058" cy="2800767"/>
          </a:xfrm>
          <a:prstGeom prst="rect">
            <a:avLst/>
          </a:prstGeom>
          <a:noFill/>
        </p:spPr>
        <p:txBody>
          <a:bodyPr wrap="square">
            <a:spAutoFit/>
          </a:bodyPr>
          <a:lstStyle/>
          <a:p>
            <a:pPr lvl="0" algn="ctr"/>
            <a:r>
              <a:rPr lang="en-AU" sz="4400" b="1"/>
              <a:t>Name </a:t>
            </a:r>
            <a:r>
              <a:rPr lang="en-AU" sz="4400"/>
              <a:t>the 3D object.</a:t>
            </a:r>
          </a:p>
          <a:p>
            <a:pPr lvl="0" algn="ctr"/>
            <a:endParaRPr lang="en-AU" sz="4400"/>
          </a:p>
          <a:p>
            <a:pPr lvl="0" algn="ctr"/>
            <a:r>
              <a:rPr lang="en-AU" sz="4400" b="1"/>
              <a:t>Describe 3 properties </a:t>
            </a:r>
            <a:r>
              <a:rPr lang="en-AU" sz="4400"/>
              <a:t>of this object.</a:t>
            </a:r>
          </a:p>
        </p:txBody>
      </p:sp>
      <p:pic>
        <p:nvPicPr>
          <p:cNvPr id="9" name="Picture 8" descr="rectangular prism">
            <a:extLst>
              <a:ext uri="{FF2B5EF4-FFF2-40B4-BE49-F238E27FC236}">
                <a16:creationId xmlns:a16="http://schemas.microsoft.com/office/drawing/2014/main" id="{BD7A418E-BB45-1454-3172-7D8E7B74C4E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597" b="90233" l="9979" r="89809">
                        <a14:foregroundMark x1="19958" y1="10388" x2="19958" y2="10388"/>
                        <a14:foregroundMark x1="20382" y1="19070" x2="20382" y2="19070"/>
                        <a14:foregroundMark x1="15074" y1="15194" x2="15074" y2="15194"/>
                        <a14:foregroundMark x1="21019" y1="18450" x2="21019" y2="18450"/>
                        <a14:foregroundMark x1="28662" y1="7597" x2="28662" y2="7597"/>
                        <a14:foregroundMark x1="89384" y1="10388" x2="89384" y2="10388"/>
                        <a14:foregroundMark x1="84289" y1="15814" x2="84289" y2="15814"/>
                        <a14:foregroundMark x1="64013" y1="28372" x2="64013" y2="28372"/>
                        <a14:foregroundMark x1="76858" y1="45891" x2="76858" y2="45891"/>
                        <a14:foregroundMark x1="83864" y1="78450" x2="83864" y2="78450"/>
                        <a14:foregroundMark x1="59660" y1="90233" x2="59660" y2="90233"/>
                        <a14:foregroundMark x1="20594" y1="36899" x2="20594" y2="36899"/>
                        <a14:foregroundMark x1="20382" y1="45581" x2="20382" y2="45581"/>
                        <a14:foregroundMark x1="20170" y1="54419" x2="20170" y2="54419"/>
                        <a14:foregroundMark x1="20382" y1="65271" x2="20382" y2="65271"/>
                        <a14:foregroundMark x1="14013" y1="78760" x2="14013" y2="78760"/>
                        <a14:foregroundMark x1="10085" y1="86047" x2="10085" y2="86047"/>
                        <a14:foregroundMark x1="28025" y1="70698" x2="28025" y2="70698"/>
                        <a14:foregroundMark x1="34289" y1="70388" x2="34289" y2="70388"/>
                        <a14:foregroundMark x1="39597" y1="70078" x2="39597" y2="70078"/>
                        <a14:foregroundMark x1="46497" y1="69767" x2="46497" y2="69767"/>
                        <a14:foregroundMark x1="52866" y1="70078" x2="52866" y2="70078"/>
                        <a14:foregroundMark x1="58599" y1="70078" x2="58599" y2="70078"/>
                        <a14:foregroundMark x1="65074" y1="69767" x2="65074" y2="69767"/>
                        <a14:foregroundMark x1="71656" y1="70078" x2="71656" y2="70078"/>
                        <a14:backgroundMark x1="8280" y1="14884" x2="8280" y2="14884"/>
                        <a14:backgroundMark x1="15287" y1="22171" x2="15287" y2="22171"/>
                        <a14:backgroundMark x1="4352" y1="10698" x2="19639" y2="0"/>
                        <a14:backgroundMark x1="30149" y1="16899" x2="30149" y2="16899"/>
                        <a14:backgroundMark x1="30149" y1="16899" x2="30149" y2="16899"/>
                        <a14:backgroundMark x1="30149" y1="16899" x2="70594" y2="15194"/>
                        <a14:backgroundMark x1="70594" y1="15194" x2="70594" y2="15504"/>
                      </a14:backgroundRemoval>
                    </a14:imgEffect>
                  </a14:imgLayer>
                </a14:imgProps>
              </a:ext>
            </a:extLst>
          </a:blip>
          <a:stretch>
            <a:fillRect/>
          </a:stretch>
        </p:blipFill>
        <p:spPr>
          <a:xfrm>
            <a:off x="822354" y="1760103"/>
            <a:ext cx="4874729" cy="33377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sz="3000"/>
              <a:t>Activity 8 – equivalent percentages, fractions and decimals 2</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Four equivalent percentage dominoes arranged in a square so that touching ends have an equal value and there is a hole in the centre. Equal values are one quarter and 25%, 0.8 and 80%, 10% and one tenth, a rectangle divided into four equal parts where all parts are shaded yellow and 100%.">
            <a:extLst>
              <a:ext uri="{FF2B5EF4-FFF2-40B4-BE49-F238E27FC236}">
                <a16:creationId xmlns:a16="http://schemas.microsoft.com/office/drawing/2014/main" id="{BBE4DBCF-60F8-268A-7142-ACB2DFEF0FAB}"/>
              </a:ext>
            </a:extLst>
          </p:cNvPr>
          <p:cNvGrpSpPr/>
          <p:nvPr/>
        </p:nvGrpSpPr>
        <p:grpSpPr>
          <a:xfrm>
            <a:off x="4074915" y="2369246"/>
            <a:ext cx="3837185" cy="3815654"/>
            <a:chOff x="3112614" y="839241"/>
            <a:chExt cx="4299082" cy="4377066"/>
          </a:xfrm>
        </p:grpSpPr>
        <p:grpSp>
          <p:nvGrpSpPr>
            <p:cNvPr id="5" name="Group 2">
              <a:extLst>
                <a:ext uri="{FF2B5EF4-FFF2-40B4-BE49-F238E27FC236}">
                  <a16:creationId xmlns:a16="http://schemas.microsoft.com/office/drawing/2014/main" id="{59507B07-FD89-C269-EB4C-06F9ED17BA64}"/>
                </a:ext>
              </a:extLst>
            </p:cNvPr>
            <p:cNvGrpSpPr/>
            <p:nvPr/>
          </p:nvGrpSpPr>
          <p:grpSpPr>
            <a:xfrm rot="-5400000">
              <a:off x="2408676" y="3060971"/>
              <a:ext cx="2845935" cy="1438057"/>
              <a:chOff x="0" y="0"/>
              <a:chExt cx="3794580" cy="1917409"/>
            </a:xfrm>
          </p:grpSpPr>
          <p:grpSp>
            <p:nvGrpSpPr>
              <p:cNvPr id="49" name="Group 3">
                <a:extLst>
                  <a:ext uri="{FF2B5EF4-FFF2-40B4-BE49-F238E27FC236}">
                    <a16:creationId xmlns:a16="http://schemas.microsoft.com/office/drawing/2014/main" id="{514EC6FE-DBD3-DC8F-BE12-09B2FE7034A2}"/>
                  </a:ext>
                </a:extLst>
              </p:cNvPr>
              <p:cNvGrpSpPr/>
              <p:nvPr/>
            </p:nvGrpSpPr>
            <p:grpSpPr>
              <a:xfrm>
                <a:off x="0" y="0"/>
                <a:ext cx="1897290" cy="1917409"/>
                <a:chOff x="0" y="0"/>
                <a:chExt cx="509959" cy="515367"/>
              </a:xfrm>
            </p:grpSpPr>
            <p:sp>
              <p:nvSpPr>
                <p:cNvPr id="55" name="Freeform 4">
                  <a:extLst>
                    <a:ext uri="{FF2B5EF4-FFF2-40B4-BE49-F238E27FC236}">
                      <a16:creationId xmlns:a16="http://schemas.microsoft.com/office/drawing/2014/main" id="{B7397135-20B1-C39D-D258-47384AA92342}"/>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56" name="TextBox 5">
                  <a:extLst>
                    <a:ext uri="{FF2B5EF4-FFF2-40B4-BE49-F238E27FC236}">
                      <a16:creationId xmlns:a16="http://schemas.microsoft.com/office/drawing/2014/main" id="{9F8328EF-5A9F-D2C7-E757-7B5C40CEFB1D}"/>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grpSp>
            <p:nvGrpSpPr>
              <p:cNvPr id="50" name="Group 6">
                <a:extLst>
                  <a:ext uri="{FF2B5EF4-FFF2-40B4-BE49-F238E27FC236}">
                    <a16:creationId xmlns:a16="http://schemas.microsoft.com/office/drawing/2014/main" id="{89CD0934-64EC-325C-30FF-770BD89F0F71}"/>
                  </a:ext>
                </a:extLst>
              </p:cNvPr>
              <p:cNvGrpSpPr/>
              <p:nvPr/>
            </p:nvGrpSpPr>
            <p:grpSpPr>
              <a:xfrm>
                <a:off x="1897290" y="0"/>
                <a:ext cx="1897290" cy="1917409"/>
                <a:chOff x="0" y="0"/>
                <a:chExt cx="509959" cy="515367"/>
              </a:xfrm>
            </p:grpSpPr>
            <p:sp>
              <p:nvSpPr>
                <p:cNvPr id="53" name="Freeform 7">
                  <a:extLst>
                    <a:ext uri="{FF2B5EF4-FFF2-40B4-BE49-F238E27FC236}">
                      <a16:creationId xmlns:a16="http://schemas.microsoft.com/office/drawing/2014/main" id="{52992EC3-077D-E5C5-D150-85A72F7A7D08}"/>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54" name="TextBox 8">
                  <a:extLst>
                    <a:ext uri="{FF2B5EF4-FFF2-40B4-BE49-F238E27FC236}">
                      <a16:creationId xmlns:a16="http://schemas.microsoft.com/office/drawing/2014/main" id="{1B7C0A20-38DE-ACCC-BB4D-B66519A4B4B7}"/>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sp>
            <p:nvSpPr>
              <p:cNvPr id="51" name="TextBox 9">
                <a:extLst>
                  <a:ext uri="{FF2B5EF4-FFF2-40B4-BE49-F238E27FC236}">
                    <a16:creationId xmlns:a16="http://schemas.microsoft.com/office/drawing/2014/main" id="{6497D23D-051C-B43B-FB0C-60342FEC5485}"/>
                  </a:ext>
                </a:extLst>
              </p:cNvPr>
              <p:cNvSpPr txBox="1"/>
              <p:nvPr/>
            </p:nvSpPr>
            <p:spPr>
              <a:xfrm>
                <a:off x="2373691" y="409077"/>
                <a:ext cx="1020620" cy="844829"/>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10%</a:t>
                </a:r>
              </a:p>
            </p:txBody>
          </p:sp>
          <p:sp>
            <p:nvSpPr>
              <p:cNvPr id="52" name="TextBox 10">
                <a:extLst>
                  <a:ext uri="{FF2B5EF4-FFF2-40B4-BE49-F238E27FC236}">
                    <a16:creationId xmlns:a16="http://schemas.microsoft.com/office/drawing/2014/main" id="{4F413B00-6A1F-9926-09A9-B32867AC738B}"/>
                  </a:ext>
                </a:extLst>
              </p:cNvPr>
              <p:cNvSpPr txBox="1"/>
              <p:nvPr/>
            </p:nvSpPr>
            <p:spPr>
              <a:xfrm>
                <a:off x="237893" y="449860"/>
                <a:ext cx="1421503" cy="844829"/>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80%</a:t>
                </a:r>
              </a:p>
            </p:txBody>
          </p:sp>
        </p:grpSp>
        <p:grpSp>
          <p:nvGrpSpPr>
            <p:cNvPr id="7" name="Group 11">
              <a:extLst>
                <a:ext uri="{FF2B5EF4-FFF2-40B4-BE49-F238E27FC236}">
                  <a16:creationId xmlns:a16="http://schemas.microsoft.com/office/drawing/2014/main" id="{865D10C3-60FF-BC27-464C-74D5DB8CFA51}"/>
                </a:ext>
              </a:extLst>
            </p:cNvPr>
            <p:cNvGrpSpPr/>
            <p:nvPr/>
          </p:nvGrpSpPr>
          <p:grpSpPr>
            <a:xfrm>
              <a:off x="3112614" y="839241"/>
              <a:ext cx="2861025" cy="1517792"/>
              <a:chOff x="-20120" y="-106313"/>
              <a:chExt cx="3814700" cy="2023722"/>
            </a:xfrm>
          </p:grpSpPr>
          <p:grpSp>
            <p:nvGrpSpPr>
              <p:cNvPr id="28" name="Group 12">
                <a:extLst>
                  <a:ext uri="{FF2B5EF4-FFF2-40B4-BE49-F238E27FC236}">
                    <a16:creationId xmlns:a16="http://schemas.microsoft.com/office/drawing/2014/main" id="{6D149EDF-F4CC-72B3-C9A8-722C01D32133}"/>
                  </a:ext>
                </a:extLst>
              </p:cNvPr>
              <p:cNvGrpSpPr/>
              <p:nvPr/>
            </p:nvGrpSpPr>
            <p:grpSpPr>
              <a:xfrm>
                <a:off x="-20120" y="-106313"/>
                <a:ext cx="1917410" cy="2023722"/>
                <a:chOff x="-5408" y="-28575"/>
                <a:chExt cx="515367" cy="543942"/>
              </a:xfrm>
            </p:grpSpPr>
            <p:sp>
              <p:nvSpPr>
                <p:cNvPr id="47" name="Freeform 13">
                  <a:extLst>
                    <a:ext uri="{FF2B5EF4-FFF2-40B4-BE49-F238E27FC236}">
                      <a16:creationId xmlns:a16="http://schemas.microsoft.com/office/drawing/2014/main" id="{69CF9F0B-67B2-2F4D-F590-B9E174F1635C}"/>
                    </a:ext>
                  </a:extLst>
                </p:cNvPr>
                <p:cNvSpPr/>
                <p:nvPr/>
              </p:nvSpPr>
              <p:spPr>
                <a:xfrm>
                  <a:off x="-5408"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48" name="TextBox 14">
                  <a:extLst>
                    <a:ext uri="{FF2B5EF4-FFF2-40B4-BE49-F238E27FC236}">
                      <a16:creationId xmlns:a16="http://schemas.microsoft.com/office/drawing/2014/main" id="{76A099E6-A7A9-F6C3-36B6-D59C45B1EF5B}"/>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grpSp>
            <p:nvGrpSpPr>
              <p:cNvPr id="29" name="Group 15">
                <a:extLst>
                  <a:ext uri="{FF2B5EF4-FFF2-40B4-BE49-F238E27FC236}">
                    <a16:creationId xmlns:a16="http://schemas.microsoft.com/office/drawing/2014/main" id="{B8F82AD5-0949-65ED-786C-4589F8EEC02B}"/>
                  </a:ext>
                </a:extLst>
              </p:cNvPr>
              <p:cNvGrpSpPr/>
              <p:nvPr/>
            </p:nvGrpSpPr>
            <p:grpSpPr>
              <a:xfrm>
                <a:off x="1897290" y="0"/>
                <a:ext cx="1897290" cy="1917409"/>
                <a:chOff x="0" y="0"/>
                <a:chExt cx="509959" cy="515367"/>
              </a:xfrm>
            </p:grpSpPr>
            <p:sp>
              <p:nvSpPr>
                <p:cNvPr id="45" name="Freeform 16">
                  <a:extLst>
                    <a:ext uri="{FF2B5EF4-FFF2-40B4-BE49-F238E27FC236}">
                      <a16:creationId xmlns:a16="http://schemas.microsoft.com/office/drawing/2014/main" id="{2B161D4B-3D4C-CE1E-5022-401B095B98BF}"/>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46" name="TextBox 17">
                  <a:extLst>
                    <a:ext uri="{FF2B5EF4-FFF2-40B4-BE49-F238E27FC236}">
                      <a16:creationId xmlns:a16="http://schemas.microsoft.com/office/drawing/2014/main" id="{B1E81D84-1B32-D55A-D17D-24DCE7A5B8D7}"/>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grpSp>
            <p:nvGrpSpPr>
              <p:cNvPr id="30" name="Group 18">
                <a:extLst>
                  <a:ext uri="{FF2B5EF4-FFF2-40B4-BE49-F238E27FC236}">
                    <a16:creationId xmlns:a16="http://schemas.microsoft.com/office/drawing/2014/main" id="{B902C621-3FEC-7822-484D-78ECD701B22B}"/>
                  </a:ext>
                </a:extLst>
              </p:cNvPr>
              <p:cNvGrpSpPr/>
              <p:nvPr/>
            </p:nvGrpSpPr>
            <p:grpSpPr>
              <a:xfrm>
                <a:off x="2544096" y="1351033"/>
                <a:ext cx="488901" cy="468782"/>
                <a:chOff x="0" y="0"/>
                <a:chExt cx="131408" cy="126001"/>
              </a:xfrm>
            </p:grpSpPr>
            <p:sp>
              <p:nvSpPr>
                <p:cNvPr id="43" name="Freeform 19">
                  <a:extLst>
                    <a:ext uri="{FF2B5EF4-FFF2-40B4-BE49-F238E27FC236}">
                      <a16:creationId xmlns:a16="http://schemas.microsoft.com/office/drawing/2014/main" id="{6EFBAEA8-76A1-5496-84D6-C57E181A93DA}"/>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endParaRPr lang="en-AU" sz="2000"/>
                </a:p>
              </p:txBody>
            </p:sp>
            <p:sp>
              <p:nvSpPr>
                <p:cNvPr id="44" name="TextBox 20">
                  <a:extLst>
                    <a:ext uri="{FF2B5EF4-FFF2-40B4-BE49-F238E27FC236}">
                      <a16:creationId xmlns:a16="http://schemas.microsoft.com/office/drawing/2014/main" id="{F195BE78-7688-AB35-8EE4-B6CDA3161161}"/>
                    </a:ext>
                  </a:extLst>
                </p:cNvPr>
                <p:cNvSpPr txBox="1"/>
                <p:nvPr/>
              </p:nvSpPr>
              <p:spPr>
                <a:xfrm>
                  <a:off x="0" y="-28575"/>
                  <a:ext cx="131408" cy="154576"/>
                </a:xfrm>
                <a:prstGeom prst="rect">
                  <a:avLst/>
                </a:prstGeom>
              </p:spPr>
              <p:txBody>
                <a:bodyPr lIns="50800" tIns="50800" rIns="50800" bIns="50800" rtlCol="0" anchor="ctr"/>
                <a:lstStyle/>
                <a:p>
                  <a:pPr algn="ctr">
                    <a:lnSpc>
                      <a:spcPts val="1960"/>
                    </a:lnSpc>
                  </a:pPr>
                  <a:endParaRPr sz="2000"/>
                </a:p>
              </p:txBody>
            </p:sp>
          </p:grpSp>
          <p:grpSp>
            <p:nvGrpSpPr>
              <p:cNvPr id="31" name="Group 21">
                <a:extLst>
                  <a:ext uri="{FF2B5EF4-FFF2-40B4-BE49-F238E27FC236}">
                    <a16:creationId xmlns:a16="http://schemas.microsoft.com/office/drawing/2014/main" id="{E56AD1A4-03C8-411F-F32B-08E947C9770D}"/>
                  </a:ext>
                </a:extLst>
              </p:cNvPr>
              <p:cNvGrpSpPr/>
              <p:nvPr/>
            </p:nvGrpSpPr>
            <p:grpSpPr>
              <a:xfrm>
                <a:off x="2544096" y="882251"/>
                <a:ext cx="488901" cy="468782"/>
                <a:chOff x="0" y="0"/>
                <a:chExt cx="131408" cy="126001"/>
              </a:xfrm>
            </p:grpSpPr>
            <p:sp>
              <p:nvSpPr>
                <p:cNvPr id="41" name="Freeform 22">
                  <a:extLst>
                    <a:ext uri="{FF2B5EF4-FFF2-40B4-BE49-F238E27FC236}">
                      <a16:creationId xmlns:a16="http://schemas.microsoft.com/office/drawing/2014/main" id="{46EA08CC-A394-7FB9-6199-89FCF7C26515}"/>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endParaRPr lang="en-AU" sz="2000"/>
                </a:p>
              </p:txBody>
            </p:sp>
            <p:sp>
              <p:nvSpPr>
                <p:cNvPr id="42" name="TextBox 23">
                  <a:extLst>
                    <a:ext uri="{FF2B5EF4-FFF2-40B4-BE49-F238E27FC236}">
                      <a16:creationId xmlns:a16="http://schemas.microsoft.com/office/drawing/2014/main" id="{65015E62-1480-04BE-39CC-4D3FBD0F9BD3}"/>
                    </a:ext>
                  </a:extLst>
                </p:cNvPr>
                <p:cNvSpPr txBox="1"/>
                <p:nvPr/>
              </p:nvSpPr>
              <p:spPr>
                <a:xfrm>
                  <a:off x="0" y="-28575"/>
                  <a:ext cx="131408" cy="154576"/>
                </a:xfrm>
                <a:prstGeom prst="rect">
                  <a:avLst/>
                </a:prstGeom>
              </p:spPr>
              <p:txBody>
                <a:bodyPr lIns="50800" tIns="50800" rIns="50800" bIns="50800" rtlCol="0" anchor="ctr"/>
                <a:lstStyle/>
                <a:p>
                  <a:pPr algn="ctr">
                    <a:lnSpc>
                      <a:spcPts val="1960"/>
                    </a:lnSpc>
                  </a:pPr>
                  <a:endParaRPr sz="2000"/>
                </a:p>
              </p:txBody>
            </p:sp>
          </p:grpSp>
          <p:grpSp>
            <p:nvGrpSpPr>
              <p:cNvPr id="32" name="Group 24">
                <a:extLst>
                  <a:ext uri="{FF2B5EF4-FFF2-40B4-BE49-F238E27FC236}">
                    <a16:creationId xmlns:a16="http://schemas.microsoft.com/office/drawing/2014/main" id="{62969E35-8DE5-EF24-9693-B35FE3A430F2}"/>
                  </a:ext>
                </a:extLst>
              </p:cNvPr>
              <p:cNvGrpSpPr/>
              <p:nvPr/>
            </p:nvGrpSpPr>
            <p:grpSpPr>
              <a:xfrm>
                <a:off x="2544096" y="503995"/>
                <a:ext cx="488901" cy="468782"/>
                <a:chOff x="0" y="0"/>
                <a:chExt cx="131408" cy="126001"/>
              </a:xfrm>
            </p:grpSpPr>
            <p:sp>
              <p:nvSpPr>
                <p:cNvPr id="39" name="Freeform 25">
                  <a:extLst>
                    <a:ext uri="{FF2B5EF4-FFF2-40B4-BE49-F238E27FC236}">
                      <a16:creationId xmlns:a16="http://schemas.microsoft.com/office/drawing/2014/main" id="{57986471-AB2C-795B-D523-EE6543FAB920}"/>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endParaRPr lang="en-AU" sz="2000"/>
                </a:p>
              </p:txBody>
            </p:sp>
            <p:sp>
              <p:nvSpPr>
                <p:cNvPr id="40" name="TextBox 26">
                  <a:extLst>
                    <a:ext uri="{FF2B5EF4-FFF2-40B4-BE49-F238E27FC236}">
                      <a16:creationId xmlns:a16="http://schemas.microsoft.com/office/drawing/2014/main" id="{F88B25BB-10A0-CEF2-A479-275EC06C2855}"/>
                    </a:ext>
                  </a:extLst>
                </p:cNvPr>
                <p:cNvSpPr txBox="1"/>
                <p:nvPr/>
              </p:nvSpPr>
              <p:spPr>
                <a:xfrm>
                  <a:off x="0" y="-28575"/>
                  <a:ext cx="131408" cy="154576"/>
                </a:xfrm>
                <a:prstGeom prst="rect">
                  <a:avLst/>
                </a:prstGeom>
              </p:spPr>
              <p:txBody>
                <a:bodyPr lIns="50800" tIns="50800" rIns="50800" bIns="50800" rtlCol="0" anchor="ctr"/>
                <a:lstStyle/>
                <a:p>
                  <a:pPr algn="ctr">
                    <a:lnSpc>
                      <a:spcPts val="1960"/>
                    </a:lnSpc>
                  </a:pPr>
                  <a:endParaRPr sz="2000"/>
                </a:p>
              </p:txBody>
            </p:sp>
          </p:grpSp>
          <p:grpSp>
            <p:nvGrpSpPr>
              <p:cNvPr id="33" name="Group 27">
                <a:extLst>
                  <a:ext uri="{FF2B5EF4-FFF2-40B4-BE49-F238E27FC236}">
                    <a16:creationId xmlns:a16="http://schemas.microsoft.com/office/drawing/2014/main" id="{A78B9F22-5079-F5E4-0C13-A3BD40B980B2}"/>
                  </a:ext>
                </a:extLst>
              </p:cNvPr>
              <p:cNvGrpSpPr/>
              <p:nvPr/>
            </p:nvGrpSpPr>
            <p:grpSpPr>
              <a:xfrm>
                <a:off x="2544096" y="97595"/>
                <a:ext cx="488901" cy="468782"/>
                <a:chOff x="0" y="0"/>
                <a:chExt cx="131408" cy="126001"/>
              </a:xfrm>
            </p:grpSpPr>
            <p:sp>
              <p:nvSpPr>
                <p:cNvPr id="37" name="Freeform 28">
                  <a:extLst>
                    <a:ext uri="{FF2B5EF4-FFF2-40B4-BE49-F238E27FC236}">
                      <a16:creationId xmlns:a16="http://schemas.microsoft.com/office/drawing/2014/main" id="{640E0088-1B5A-8513-AD56-672EA6314243}"/>
                    </a:ext>
                  </a:extLst>
                </p:cNvPr>
                <p:cNvSpPr/>
                <p:nvPr/>
              </p:nvSpPr>
              <p:spPr>
                <a:xfrm>
                  <a:off x="0" y="0"/>
                  <a:ext cx="131408" cy="126001"/>
                </a:xfrm>
                <a:custGeom>
                  <a:avLst/>
                  <a:gdLst/>
                  <a:ahLst/>
                  <a:cxnLst/>
                  <a:rect l="l" t="t" r="r" b="b"/>
                  <a:pathLst>
                    <a:path w="131408" h="126001">
                      <a:moveTo>
                        <a:pt x="0" y="0"/>
                      </a:moveTo>
                      <a:lnTo>
                        <a:pt x="131408" y="0"/>
                      </a:lnTo>
                      <a:lnTo>
                        <a:pt x="131408" y="126001"/>
                      </a:lnTo>
                      <a:lnTo>
                        <a:pt x="0" y="126001"/>
                      </a:lnTo>
                      <a:close/>
                    </a:path>
                  </a:pathLst>
                </a:custGeom>
                <a:solidFill>
                  <a:srgbClr val="FFDE59"/>
                </a:solidFill>
                <a:ln w="38100" cap="sq">
                  <a:solidFill>
                    <a:srgbClr val="000000"/>
                  </a:solidFill>
                  <a:prstDash val="solid"/>
                  <a:miter/>
                </a:ln>
              </p:spPr>
              <p:txBody>
                <a:bodyPr/>
                <a:lstStyle/>
                <a:p>
                  <a:endParaRPr lang="en-AU" sz="2000"/>
                </a:p>
              </p:txBody>
            </p:sp>
            <p:sp>
              <p:nvSpPr>
                <p:cNvPr id="38" name="TextBox 29">
                  <a:extLst>
                    <a:ext uri="{FF2B5EF4-FFF2-40B4-BE49-F238E27FC236}">
                      <a16:creationId xmlns:a16="http://schemas.microsoft.com/office/drawing/2014/main" id="{B1AAFD3F-A14E-F51D-BA70-0417EC8C9413}"/>
                    </a:ext>
                  </a:extLst>
                </p:cNvPr>
                <p:cNvSpPr txBox="1"/>
                <p:nvPr/>
              </p:nvSpPr>
              <p:spPr>
                <a:xfrm>
                  <a:off x="0" y="-28575"/>
                  <a:ext cx="131408" cy="154576"/>
                </a:xfrm>
                <a:prstGeom prst="rect">
                  <a:avLst/>
                </a:prstGeom>
              </p:spPr>
              <p:txBody>
                <a:bodyPr lIns="50800" tIns="50800" rIns="50800" bIns="50800" rtlCol="0" anchor="ctr"/>
                <a:lstStyle/>
                <a:p>
                  <a:pPr algn="ctr">
                    <a:lnSpc>
                      <a:spcPts val="1960"/>
                    </a:lnSpc>
                  </a:pPr>
                  <a:endParaRPr sz="2000"/>
                </a:p>
              </p:txBody>
            </p:sp>
          </p:grpSp>
          <p:sp>
            <p:nvSpPr>
              <p:cNvPr id="34" name="TextBox 30">
                <a:extLst>
                  <a:ext uri="{FF2B5EF4-FFF2-40B4-BE49-F238E27FC236}">
                    <a16:creationId xmlns:a16="http://schemas.microsoft.com/office/drawing/2014/main" id="{1208FA98-2476-40EE-997F-44B4C7639D61}"/>
                  </a:ext>
                </a:extLst>
              </p:cNvPr>
              <p:cNvSpPr txBox="1"/>
              <p:nvPr/>
            </p:nvSpPr>
            <p:spPr>
              <a:xfrm>
                <a:off x="795941" y="-52760"/>
                <a:ext cx="206772" cy="852901"/>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1</a:t>
                </a:r>
              </a:p>
            </p:txBody>
          </p:sp>
          <p:sp>
            <p:nvSpPr>
              <p:cNvPr id="35" name="TextBox 31">
                <a:extLst>
                  <a:ext uri="{FF2B5EF4-FFF2-40B4-BE49-F238E27FC236}">
                    <a16:creationId xmlns:a16="http://schemas.microsoft.com/office/drawing/2014/main" id="{588A0382-A147-A473-67F2-400E14457E5E}"/>
                  </a:ext>
                </a:extLst>
              </p:cNvPr>
              <p:cNvSpPr txBox="1"/>
              <p:nvPr/>
            </p:nvSpPr>
            <p:spPr>
              <a:xfrm>
                <a:off x="613192" y="882250"/>
                <a:ext cx="687887" cy="852901"/>
              </a:xfrm>
              <a:prstGeom prst="rect">
                <a:avLst/>
              </a:prstGeom>
            </p:spPr>
            <p:txBody>
              <a:bodyPr wrap="square"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10</a:t>
                </a:r>
              </a:p>
            </p:txBody>
          </p:sp>
          <p:sp>
            <p:nvSpPr>
              <p:cNvPr id="36" name="AutoShape 32">
                <a:extLst>
                  <a:ext uri="{FF2B5EF4-FFF2-40B4-BE49-F238E27FC236}">
                    <a16:creationId xmlns:a16="http://schemas.microsoft.com/office/drawing/2014/main" id="{1D150080-7013-4C86-951D-B616DEF9B4A3}"/>
                  </a:ext>
                </a:extLst>
              </p:cNvPr>
              <p:cNvSpPr/>
              <p:nvPr/>
            </p:nvSpPr>
            <p:spPr>
              <a:xfrm>
                <a:off x="399099" y="972776"/>
                <a:ext cx="1000459" cy="0"/>
              </a:xfrm>
              <a:prstGeom prst="line">
                <a:avLst/>
              </a:prstGeom>
              <a:ln w="50800" cap="flat">
                <a:solidFill>
                  <a:srgbClr val="000000"/>
                </a:solidFill>
                <a:prstDash val="solid"/>
                <a:headEnd type="none" w="sm" len="sm"/>
                <a:tailEnd type="none" w="sm" len="sm"/>
              </a:ln>
            </p:spPr>
            <p:txBody>
              <a:bodyPr/>
              <a:lstStyle/>
              <a:p>
                <a:endParaRPr lang="en-AU" sz="2000"/>
              </a:p>
            </p:txBody>
          </p:sp>
        </p:grpSp>
        <p:grpSp>
          <p:nvGrpSpPr>
            <p:cNvPr id="8" name="Group 33">
              <a:extLst>
                <a:ext uri="{FF2B5EF4-FFF2-40B4-BE49-F238E27FC236}">
                  <a16:creationId xmlns:a16="http://schemas.microsoft.com/office/drawing/2014/main" id="{932A3F35-6A80-2E50-478E-978C9D3F114E}"/>
                </a:ext>
              </a:extLst>
            </p:cNvPr>
            <p:cNvGrpSpPr/>
            <p:nvPr/>
          </p:nvGrpSpPr>
          <p:grpSpPr>
            <a:xfrm rot="5400000">
              <a:off x="5269700" y="1622915"/>
              <a:ext cx="2845935" cy="1438057"/>
              <a:chOff x="0" y="0"/>
              <a:chExt cx="3794580" cy="1917409"/>
            </a:xfrm>
          </p:grpSpPr>
          <p:grpSp>
            <p:nvGrpSpPr>
              <p:cNvPr id="18" name="Group 34">
                <a:extLst>
                  <a:ext uri="{FF2B5EF4-FFF2-40B4-BE49-F238E27FC236}">
                    <a16:creationId xmlns:a16="http://schemas.microsoft.com/office/drawing/2014/main" id="{DF8EAF13-82B0-96F7-AADD-E89EB05C3694}"/>
                  </a:ext>
                </a:extLst>
              </p:cNvPr>
              <p:cNvGrpSpPr/>
              <p:nvPr/>
            </p:nvGrpSpPr>
            <p:grpSpPr>
              <a:xfrm>
                <a:off x="0" y="0"/>
                <a:ext cx="1897290" cy="1917409"/>
                <a:chOff x="0" y="0"/>
                <a:chExt cx="509959" cy="515367"/>
              </a:xfrm>
            </p:grpSpPr>
            <p:sp>
              <p:nvSpPr>
                <p:cNvPr id="26" name="Freeform 35">
                  <a:extLst>
                    <a:ext uri="{FF2B5EF4-FFF2-40B4-BE49-F238E27FC236}">
                      <a16:creationId xmlns:a16="http://schemas.microsoft.com/office/drawing/2014/main" id="{9CF3F3B9-B3A6-C425-8D79-84463892B3B6}"/>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27" name="TextBox 36">
                  <a:extLst>
                    <a:ext uri="{FF2B5EF4-FFF2-40B4-BE49-F238E27FC236}">
                      <a16:creationId xmlns:a16="http://schemas.microsoft.com/office/drawing/2014/main" id="{35F7CDE7-5751-1021-EBC0-575D42210762}"/>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grpSp>
            <p:nvGrpSpPr>
              <p:cNvPr id="19" name="Group 37">
                <a:extLst>
                  <a:ext uri="{FF2B5EF4-FFF2-40B4-BE49-F238E27FC236}">
                    <a16:creationId xmlns:a16="http://schemas.microsoft.com/office/drawing/2014/main" id="{B7FA74EC-2C02-F1D8-D8E6-B829F2092FC7}"/>
                  </a:ext>
                </a:extLst>
              </p:cNvPr>
              <p:cNvGrpSpPr/>
              <p:nvPr/>
            </p:nvGrpSpPr>
            <p:grpSpPr>
              <a:xfrm>
                <a:off x="1897290" y="0"/>
                <a:ext cx="1897290" cy="1917409"/>
                <a:chOff x="0" y="0"/>
                <a:chExt cx="509959" cy="515367"/>
              </a:xfrm>
            </p:grpSpPr>
            <p:sp>
              <p:nvSpPr>
                <p:cNvPr id="24" name="Freeform 38">
                  <a:extLst>
                    <a:ext uri="{FF2B5EF4-FFF2-40B4-BE49-F238E27FC236}">
                      <a16:creationId xmlns:a16="http://schemas.microsoft.com/office/drawing/2014/main" id="{1BB3C733-DEBF-366E-ECDA-938746E173A8}"/>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25" name="TextBox 39">
                  <a:extLst>
                    <a:ext uri="{FF2B5EF4-FFF2-40B4-BE49-F238E27FC236}">
                      <a16:creationId xmlns:a16="http://schemas.microsoft.com/office/drawing/2014/main" id="{27BC68B4-7BE3-282F-DA5E-E1778D4EAD2B}"/>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sp>
            <p:nvSpPr>
              <p:cNvPr id="20" name="TextBox 40">
                <a:extLst>
                  <a:ext uri="{FF2B5EF4-FFF2-40B4-BE49-F238E27FC236}">
                    <a16:creationId xmlns:a16="http://schemas.microsoft.com/office/drawing/2014/main" id="{26497C63-E4E5-7B00-11E9-686AE43821C1}"/>
                  </a:ext>
                </a:extLst>
              </p:cNvPr>
              <p:cNvSpPr txBox="1"/>
              <p:nvPr/>
            </p:nvSpPr>
            <p:spPr>
              <a:xfrm>
                <a:off x="348339" y="364093"/>
                <a:ext cx="1317592" cy="844829"/>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100%</a:t>
                </a:r>
              </a:p>
            </p:txBody>
          </p:sp>
          <p:sp>
            <p:nvSpPr>
              <p:cNvPr id="21" name="TextBox 41">
                <a:extLst>
                  <a:ext uri="{FF2B5EF4-FFF2-40B4-BE49-F238E27FC236}">
                    <a16:creationId xmlns:a16="http://schemas.microsoft.com/office/drawing/2014/main" id="{3374379F-16FD-B438-E083-5A98278AA9C3}"/>
                  </a:ext>
                </a:extLst>
              </p:cNvPr>
              <p:cNvSpPr txBox="1"/>
              <p:nvPr/>
            </p:nvSpPr>
            <p:spPr>
              <a:xfrm>
                <a:off x="2702946" y="67020"/>
                <a:ext cx="206773" cy="844829"/>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1</a:t>
                </a:r>
              </a:p>
            </p:txBody>
          </p:sp>
          <p:sp>
            <p:nvSpPr>
              <p:cNvPr id="22" name="TextBox 42">
                <a:extLst>
                  <a:ext uri="{FF2B5EF4-FFF2-40B4-BE49-F238E27FC236}">
                    <a16:creationId xmlns:a16="http://schemas.microsoft.com/office/drawing/2014/main" id="{4B496449-3707-27B9-806F-AB331C7DBA1F}"/>
                  </a:ext>
                </a:extLst>
              </p:cNvPr>
              <p:cNvSpPr txBox="1"/>
              <p:nvPr/>
            </p:nvSpPr>
            <p:spPr>
              <a:xfrm>
                <a:off x="2561060" y="839251"/>
                <a:ext cx="517624" cy="844829"/>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4</a:t>
                </a:r>
              </a:p>
            </p:txBody>
          </p:sp>
          <p:sp>
            <p:nvSpPr>
              <p:cNvPr id="23" name="AutoShape 43">
                <a:extLst>
                  <a:ext uri="{FF2B5EF4-FFF2-40B4-BE49-F238E27FC236}">
                    <a16:creationId xmlns:a16="http://schemas.microsoft.com/office/drawing/2014/main" id="{45850C45-EC19-516B-08F6-4CDF08A03332}"/>
                  </a:ext>
                </a:extLst>
              </p:cNvPr>
              <p:cNvSpPr/>
              <p:nvPr/>
            </p:nvSpPr>
            <p:spPr>
              <a:xfrm>
                <a:off x="2403504" y="907651"/>
                <a:ext cx="1000459" cy="0"/>
              </a:xfrm>
              <a:prstGeom prst="line">
                <a:avLst/>
              </a:prstGeom>
              <a:ln w="50800" cap="flat">
                <a:solidFill>
                  <a:srgbClr val="000000"/>
                </a:solidFill>
                <a:prstDash val="solid"/>
                <a:headEnd type="none" w="sm" len="sm"/>
                <a:tailEnd type="none" w="sm" len="sm"/>
              </a:ln>
            </p:spPr>
            <p:txBody>
              <a:bodyPr/>
              <a:lstStyle/>
              <a:p>
                <a:endParaRPr lang="en-AU" sz="2000"/>
              </a:p>
            </p:txBody>
          </p:sp>
        </p:grpSp>
        <p:grpSp>
          <p:nvGrpSpPr>
            <p:cNvPr id="9" name="Group 44">
              <a:extLst>
                <a:ext uri="{FF2B5EF4-FFF2-40B4-BE49-F238E27FC236}">
                  <a16:creationId xmlns:a16="http://schemas.microsoft.com/office/drawing/2014/main" id="{9FFF6CA2-1445-CE9D-BF79-67458D07768F}"/>
                </a:ext>
              </a:extLst>
            </p:cNvPr>
            <p:cNvGrpSpPr/>
            <p:nvPr/>
          </p:nvGrpSpPr>
          <p:grpSpPr>
            <a:xfrm>
              <a:off x="4550671" y="3778250"/>
              <a:ext cx="2861025" cy="1438057"/>
              <a:chOff x="0" y="0"/>
              <a:chExt cx="3757127" cy="1917409"/>
            </a:xfrm>
          </p:grpSpPr>
          <p:grpSp>
            <p:nvGrpSpPr>
              <p:cNvPr id="10" name="Group 45">
                <a:extLst>
                  <a:ext uri="{FF2B5EF4-FFF2-40B4-BE49-F238E27FC236}">
                    <a16:creationId xmlns:a16="http://schemas.microsoft.com/office/drawing/2014/main" id="{04C1409D-6DF7-39CC-09E9-981CA04EF98B}"/>
                  </a:ext>
                </a:extLst>
              </p:cNvPr>
              <p:cNvGrpSpPr/>
              <p:nvPr/>
            </p:nvGrpSpPr>
            <p:grpSpPr>
              <a:xfrm>
                <a:off x="0" y="0"/>
                <a:ext cx="1897290" cy="1917409"/>
                <a:chOff x="0" y="0"/>
                <a:chExt cx="509959" cy="515367"/>
              </a:xfrm>
            </p:grpSpPr>
            <p:sp>
              <p:nvSpPr>
                <p:cNvPr id="16" name="Freeform 46">
                  <a:extLst>
                    <a:ext uri="{FF2B5EF4-FFF2-40B4-BE49-F238E27FC236}">
                      <a16:creationId xmlns:a16="http://schemas.microsoft.com/office/drawing/2014/main" id="{74877C52-CCE4-1DEB-6592-112B53EFD684}"/>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17" name="TextBox 47">
                  <a:extLst>
                    <a:ext uri="{FF2B5EF4-FFF2-40B4-BE49-F238E27FC236}">
                      <a16:creationId xmlns:a16="http://schemas.microsoft.com/office/drawing/2014/main" id="{B3E35E39-8522-9F38-9FA7-B15726B2B81C}"/>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sp>
            <p:nvSpPr>
              <p:cNvPr id="11" name="TextBox 48">
                <a:extLst>
                  <a:ext uri="{FF2B5EF4-FFF2-40B4-BE49-F238E27FC236}">
                    <a16:creationId xmlns:a16="http://schemas.microsoft.com/office/drawing/2014/main" id="{6AC448D2-82FB-B9FE-FFED-9BDA77EAF954}"/>
                  </a:ext>
                </a:extLst>
              </p:cNvPr>
              <p:cNvSpPr txBox="1"/>
              <p:nvPr/>
            </p:nvSpPr>
            <p:spPr>
              <a:xfrm>
                <a:off x="388423" y="499703"/>
                <a:ext cx="1192871" cy="852902"/>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0.8</a:t>
                </a:r>
              </a:p>
            </p:txBody>
          </p:sp>
          <p:grpSp>
            <p:nvGrpSpPr>
              <p:cNvPr id="12" name="Group 49">
                <a:extLst>
                  <a:ext uri="{FF2B5EF4-FFF2-40B4-BE49-F238E27FC236}">
                    <a16:creationId xmlns:a16="http://schemas.microsoft.com/office/drawing/2014/main" id="{099031BF-DAFF-266F-6553-4562E11938CD}"/>
                  </a:ext>
                </a:extLst>
              </p:cNvPr>
              <p:cNvGrpSpPr/>
              <p:nvPr/>
            </p:nvGrpSpPr>
            <p:grpSpPr>
              <a:xfrm>
                <a:off x="1859837" y="0"/>
                <a:ext cx="1897290" cy="1917409"/>
                <a:chOff x="0" y="0"/>
                <a:chExt cx="509959" cy="515367"/>
              </a:xfrm>
            </p:grpSpPr>
            <p:sp>
              <p:nvSpPr>
                <p:cNvPr id="14" name="Freeform 50">
                  <a:extLst>
                    <a:ext uri="{FF2B5EF4-FFF2-40B4-BE49-F238E27FC236}">
                      <a16:creationId xmlns:a16="http://schemas.microsoft.com/office/drawing/2014/main" id="{B1784100-AE5A-A080-598E-BD14E9BC62C2}"/>
                    </a:ext>
                  </a:extLst>
                </p:cNvPr>
                <p:cNvSpPr/>
                <p:nvPr/>
              </p:nvSpPr>
              <p:spPr>
                <a:xfrm>
                  <a:off x="0" y="0"/>
                  <a:ext cx="509959" cy="515367"/>
                </a:xfrm>
                <a:custGeom>
                  <a:avLst/>
                  <a:gdLst/>
                  <a:ahLst/>
                  <a:cxnLst/>
                  <a:rect l="l" t="t" r="r" b="b"/>
                  <a:pathLst>
                    <a:path w="509959" h="515367">
                      <a:moveTo>
                        <a:pt x="0" y="0"/>
                      </a:moveTo>
                      <a:lnTo>
                        <a:pt x="509959" y="0"/>
                      </a:lnTo>
                      <a:lnTo>
                        <a:pt x="509959" y="515367"/>
                      </a:lnTo>
                      <a:lnTo>
                        <a:pt x="0" y="515367"/>
                      </a:lnTo>
                      <a:close/>
                    </a:path>
                  </a:pathLst>
                </a:custGeom>
                <a:solidFill>
                  <a:srgbClr val="FFFFFF"/>
                </a:solidFill>
                <a:ln w="38100" cap="sq">
                  <a:solidFill>
                    <a:srgbClr val="000000"/>
                  </a:solidFill>
                  <a:prstDash val="solid"/>
                  <a:miter/>
                </a:ln>
              </p:spPr>
              <p:txBody>
                <a:bodyPr/>
                <a:lstStyle/>
                <a:p>
                  <a:endParaRPr lang="en-AU" sz="2000"/>
                </a:p>
              </p:txBody>
            </p:sp>
            <p:sp>
              <p:nvSpPr>
                <p:cNvPr id="15" name="TextBox 51">
                  <a:extLst>
                    <a:ext uri="{FF2B5EF4-FFF2-40B4-BE49-F238E27FC236}">
                      <a16:creationId xmlns:a16="http://schemas.microsoft.com/office/drawing/2014/main" id="{A67B78A6-EE32-2C84-FF5E-6A5ADC3C7C62}"/>
                    </a:ext>
                  </a:extLst>
                </p:cNvPr>
                <p:cNvSpPr txBox="1"/>
                <p:nvPr/>
              </p:nvSpPr>
              <p:spPr>
                <a:xfrm>
                  <a:off x="0" y="-28575"/>
                  <a:ext cx="509959" cy="543942"/>
                </a:xfrm>
                <a:prstGeom prst="rect">
                  <a:avLst/>
                </a:prstGeom>
              </p:spPr>
              <p:txBody>
                <a:bodyPr lIns="50800" tIns="50800" rIns="50800" bIns="50800" rtlCol="0" anchor="ctr"/>
                <a:lstStyle/>
                <a:p>
                  <a:pPr algn="ctr">
                    <a:lnSpc>
                      <a:spcPts val="1960"/>
                    </a:lnSpc>
                  </a:pPr>
                  <a:endParaRPr sz="2000"/>
                </a:p>
              </p:txBody>
            </p:sp>
          </p:grpSp>
          <p:sp>
            <p:nvSpPr>
              <p:cNvPr id="13" name="TextBox 52">
                <a:extLst>
                  <a:ext uri="{FF2B5EF4-FFF2-40B4-BE49-F238E27FC236}">
                    <a16:creationId xmlns:a16="http://schemas.microsoft.com/office/drawing/2014/main" id="{2EACF64C-9217-90CA-63F6-A47F14F0C9FD}"/>
                  </a:ext>
                </a:extLst>
              </p:cNvPr>
              <p:cNvSpPr txBox="1"/>
              <p:nvPr/>
            </p:nvSpPr>
            <p:spPr>
              <a:xfrm>
                <a:off x="2163989" y="456098"/>
                <a:ext cx="1192870" cy="852902"/>
              </a:xfrm>
              <a:prstGeom prst="rect">
                <a:avLst/>
              </a:prstGeom>
            </p:spPr>
            <p:txBody>
              <a:bodyPr lIns="0" tIns="0" rIns="0" bIns="0" rtlCol="0" anchor="t">
                <a:spAutoFit/>
              </a:bodyPr>
              <a:lstStyle/>
              <a:p>
                <a:pPr algn="ctr">
                  <a:lnSpc>
                    <a:spcPts val="4199"/>
                  </a:lnSpc>
                  <a:spcBef>
                    <a:spcPct val="0"/>
                  </a:spcBef>
                </a:pPr>
                <a:r>
                  <a:rPr lang="en-US" sz="2000">
                    <a:solidFill>
                      <a:srgbClr val="000000"/>
                    </a:solidFill>
                    <a:latin typeface="Public Sans"/>
                    <a:ea typeface="Public Sans"/>
                    <a:cs typeface="Public Sans"/>
                    <a:sym typeface="Public Sans"/>
                  </a:rPr>
                  <a:t>25%</a:t>
                </a:r>
              </a:p>
            </p:txBody>
          </p:sp>
        </p:grpSp>
      </p:grpSp>
      <p:sp>
        <p:nvSpPr>
          <p:cNvPr id="58" name="TextBox 57">
            <a:extLst>
              <a:ext uri="{FF2B5EF4-FFF2-40B4-BE49-F238E27FC236}">
                <a16:creationId xmlns:a16="http://schemas.microsoft.com/office/drawing/2014/main" id="{16A625E9-EF24-C4DC-A549-1FE3A76E15D3}"/>
              </a:ext>
            </a:extLst>
          </p:cNvPr>
          <p:cNvSpPr txBox="1"/>
          <p:nvPr/>
        </p:nvSpPr>
        <p:spPr>
          <a:xfrm>
            <a:off x="955748" y="1725607"/>
            <a:ext cx="6096000" cy="461665"/>
          </a:xfrm>
          <a:prstGeom prst="rect">
            <a:avLst/>
          </a:prstGeom>
          <a:noFill/>
        </p:spPr>
        <p:txBody>
          <a:bodyPr wrap="square">
            <a:spAutoFit/>
          </a:bodyPr>
          <a:lstStyle/>
          <a:p>
            <a:r>
              <a:rPr lang="en-AU">
                <a:solidFill>
                  <a:schemeClr val="accent1"/>
                </a:solidFill>
                <a:latin typeface="Arial" panose="020B0604020202020204" pitchFamily="34" charset="0"/>
                <a:ea typeface="Calibri" panose="020F0502020204030204" pitchFamily="34" charset="0"/>
              </a:rPr>
              <a:t>E</a:t>
            </a:r>
            <a:r>
              <a:rPr lang="en-AU" sz="2400">
                <a:solidFill>
                  <a:schemeClr val="accent1"/>
                </a:solidFill>
                <a:effectLst/>
                <a:latin typeface="Arial" panose="020B0604020202020204" pitchFamily="34" charset="0"/>
                <a:ea typeface="Calibri" panose="020F0502020204030204" pitchFamily="34" charset="0"/>
              </a:rPr>
              <a:t>xample dominoes in a doughnut</a:t>
            </a:r>
            <a:endParaRPr lang="en-AU">
              <a:solidFill>
                <a:schemeClr val="accent1"/>
              </a:solidFill>
            </a:endParaRP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691991"/>
            <a:ext cx="11484000" cy="2626009"/>
          </a:xfrm>
        </p:spPr>
        <p:txBody>
          <a:bodyPr/>
          <a:lstStyle/>
          <a:p>
            <a:pPr>
              <a:lnSpc>
                <a:spcPct val="150000"/>
              </a:lnSpc>
              <a:spcBef>
                <a:spcPts val="1200"/>
              </a:spcBef>
              <a:spcAft>
                <a:spcPts val="600"/>
              </a:spcAft>
              <a:buNone/>
            </a:pPr>
            <a:r>
              <a:rPr lang="en-AU" sz="1200" u="sng">
                <a:solidFill>
                  <a:srgbClr val="2F5496"/>
                </a:solidFill>
                <a:effectLst/>
                <a:latin typeface="Arial" panose="020B0604020202020204" pitchFamily="34" charset="0"/>
                <a:ea typeface="Calibri" panose="020F0502020204030204" pitchFamily="34" charset="0"/>
                <a:hlinkClick r:id="rId6"/>
              </a:rPr>
              <a:t>Mathematics K–10 Syllabus</a:t>
            </a:r>
            <a:r>
              <a:rPr lang="en-AU" sz="1200">
                <a:effectLst/>
                <a:latin typeface="Arial" panose="020B0604020202020204" pitchFamily="34" charset="0"/>
                <a:ea typeface="Calibri" panose="020F0502020204030204" pitchFamily="34" charset="0"/>
              </a:rPr>
              <a:t> © NSW Education Standards Authority (NESA) for and on behalf of the Crown in right of the State of New South Wales, 2022.</a:t>
            </a:r>
          </a:p>
          <a:p>
            <a:pPr>
              <a:lnSpc>
                <a:spcPct val="150000"/>
              </a:lnSpc>
              <a:spcBef>
                <a:spcPts val="1200"/>
              </a:spcBef>
              <a:spcAft>
                <a:spcPts val="600"/>
              </a:spcAft>
              <a:buNone/>
            </a:pPr>
            <a:r>
              <a:rPr lang="en-AU" sz="1200" u="sng">
                <a:solidFill>
                  <a:srgbClr val="2F5496"/>
                </a:solidFill>
                <a:effectLst/>
                <a:latin typeface="Arial" panose="020B0604020202020204" pitchFamily="34" charset="0"/>
                <a:ea typeface="Calibri" panose="020F0502020204030204" pitchFamily="34" charset="0"/>
                <a:hlinkClick r:id="rId7"/>
              </a:rPr>
              <a:t>National Numeracy Learning Progression</a:t>
            </a:r>
            <a:r>
              <a:rPr lang="en-AU" sz="1200">
                <a:effectLst/>
                <a:latin typeface="Arial" panose="020B0604020202020204" pitchFamily="34" charset="0"/>
                <a:ea typeface="Calibri" panose="020F0502020204030204" pitchFamily="34" charset="0"/>
              </a:rPr>
              <a:t> © Australian Curriculum, Assessment and Reporting Authority (ACARA) 2010 to present, unless otherwise indicated. This material was downloaded from the </a:t>
            </a:r>
            <a:r>
              <a:rPr lang="en-AU" sz="1200" u="sng">
                <a:solidFill>
                  <a:srgbClr val="2F5496"/>
                </a:solidFill>
                <a:effectLst/>
                <a:latin typeface="Arial" panose="020B0604020202020204" pitchFamily="34" charset="0"/>
                <a:ea typeface="Calibri" panose="020F0502020204030204" pitchFamily="34" charset="0"/>
                <a:hlinkClick r:id="rId8"/>
              </a:rPr>
              <a:t>Australian Curriculum</a:t>
            </a:r>
            <a:r>
              <a:rPr lang="en-AU" sz="1200">
                <a:effectLst/>
                <a:latin typeface="Arial" panose="020B0604020202020204" pitchFamily="34" charset="0"/>
                <a:ea typeface="Calibri" panose="020F0502020204030204" pitchFamily="34" charset="0"/>
              </a:rPr>
              <a:t> website (National Numeracy Learning Progression) (accessed 25 July 2025) and was not modified.</a:t>
            </a:r>
          </a:p>
          <a:p>
            <a:r>
              <a:rPr lang="en-AU"/>
              <a:t>NSW Education Standards Authority (NESA) (2022a) ‘</a:t>
            </a:r>
            <a:r>
              <a:rPr lang="en-AU" u="sng">
                <a:hlinkClick r:id="rId9"/>
              </a:rPr>
              <a:t>Teaching advice for Data A</a:t>
            </a:r>
            <a:r>
              <a:rPr lang="en-AU"/>
              <a:t>’, </a:t>
            </a:r>
            <a:r>
              <a:rPr lang="en-AU" i="1"/>
              <a:t>Stage 3</a:t>
            </a:r>
            <a:r>
              <a:rPr lang="en-AU"/>
              <a:t>, NSW Curriculum website, accessed 15 October 2025.</a:t>
            </a:r>
          </a:p>
          <a:p>
            <a:r>
              <a:rPr lang="en-AU"/>
              <a:t>——(2022b) ‘</a:t>
            </a:r>
            <a:r>
              <a:rPr lang="en-AU" u="sng">
                <a:hlinkClick r:id="rId10"/>
              </a:rPr>
              <a:t>Teaching advice for Data B</a:t>
            </a:r>
            <a:r>
              <a:rPr lang="en-AU"/>
              <a:t>’, </a:t>
            </a:r>
            <a:r>
              <a:rPr lang="en-AU" i="1"/>
              <a:t>Stage 3</a:t>
            </a:r>
            <a:r>
              <a:rPr lang="en-AU"/>
              <a:t>, NSW Curriculum website, accessed 15 October 2025.</a:t>
            </a:r>
            <a:endParaRPr lang="en-AU" sz="1200">
              <a:effectLst/>
              <a:latin typeface="Arial" panose="020B0604020202020204" pitchFamily="34" charset="0"/>
              <a:ea typeface="Calibri" panose="020F0502020204030204" pitchFamily="34" charset="0"/>
            </a:endParaRPr>
          </a:p>
          <a:p>
            <a:endParaRPr lang="en-AU"/>
          </a:p>
          <a:p>
            <a:endParaRPr lang="en-AU"/>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9134-672E-13E2-E2F2-2E4489E202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730F17-37CC-CCA1-C274-8010B1852D8D}"/>
              </a:ext>
            </a:extLst>
          </p:cNvPr>
          <p:cNvSpPr>
            <a:spLocks noGrp="1"/>
          </p:cNvSpPr>
          <p:nvPr>
            <p:ph type="title"/>
          </p:nvPr>
        </p:nvSpPr>
        <p:spPr/>
        <p:txBody>
          <a:bodyPr/>
          <a:lstStyle/>
          <a:p>
            <a:r>
              <a:rPr lang="en-AU">
                <a:latin typeface="+mj-lt"/>
              </a:rPr>
              <a:t>References 2</a:t>
            </a:r>
          </a:p>
        </p:txBody>
      </p:sp>
      <p:sp>
        <p:nvSpPr>
          <p:cNvPr id="6" name="TextBox 5">
            <a:extLst>
              <a:ext uri="{FF2B5EF4-FFF2-40B4-BE49-F238E27FC236}">
                <a16:creationId xmlns:a16="http://schemas.microsoft.com/office/drawing/2014/main" id="{5829E4F4-0A22-233A-15F4-0B8C6C4BB4F2}"/>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FCD8120B-14FD-4232-67D4-4167A08BA851}"/>
              </a:ext>
            </a:extLst>
          </p:cNvPr>
          <p:cNvSpPr>
            <a:spLocks noGrp="1"/>
          </p:cNvSpPr>
          <p:nvPr>
            <p:ph idx="1"/>
          </p:nvPr>
        </p:nvSpPr>
        <p:spPr>
          <a:xfrm>
            <a:off x="335826" y="3740118"/>
            <a:ext cx="11471998" cy="2289709"/>
          </a:xfrm>
        </p:spPr>
        <p:txBody>
          <a:bodyPr/>
          <a:lstStyle/>
          <a:p>
            <a:r>
              <a:rPr lang="en-US"/>
              <a:t>Askew M (2016) </a:t>
            </a:r>
            <a:r>
              <a:rPr lang="en-AU" i="1"/>
              <a:t>A Practical Guide to Transforming Primary Mathematics: Activities and tasks that really work</a:t>
            </a:r>
            <a:r>
              <a:rPr lang="en-US"/>
              <a:t>, 1</a:t>
            </a:r>
            <a:r>
              <a:rPr lang="en-AU" err="1"/>
              <a:t>st</a:t>
            </a:r>
            <a:r>
              <a:rPr lang="en-US"/>
              <a:t> </a:t>
            </a:r>
            <a:r>
              <a:rPr lang="en-US" err="1"/>
              <a:t>edn</a:t>
            </a:r>
            <a:r>
              <a:rPr lang="en-US"/>
              <a:t>, Routledge, UK.</a:t>
            </a:r>
          </a:p>
          <a:p>
            <a:r>
              <a:rPr lang="en-AU"/>
              <a:t>ABS (Australian Bureau of Statistics) (2023) </a:t>
            </a:r>
            <a:r>
              <a:rPr lang="en-AU" i="1" u="sng">
                <a:hlinkClick r:id="rId6"/>
              </a:rPr>
              <a:t>Overseas Arrivals and Departures, Australia</a:t>
            </a:r>
            <a:r>
              <a:rPr lang="en-AU"/>
              <a:t> [dataset], ABS website, accessed 3 July 2023.</a:t>
            </a:r>
            <a:endParaRPr lang="en-US"/>
          </a:p>
          <a:p>
            <a:r>
              <a:rPr lang="en-AU"/>
              <a:t>Australian Academy of Science (2020)</a:t>
            </a:r>
            <a:r>
              <a:rPr lang="en-AU" i="1"/>
              <a:t> ‘</a:t>
            </a:r>
            <a:r>
              <a:rPr lang="en-AU" u="sng">
                <a:hlinkClick r:id="rId7"/>
              </a:rPr>
              <a:t>Lamingtons</a:t>
            </a:r>
            <a:r>
              <a:rPr lang="en-AU"/>
              <a:t>’, </a:t>
            </a:r>
            <a:r>
              <a:rPr lang="en-AU" i="1"/>
              <a:t>Classic sequences for AC V8.4</a:t>
            </a:r>
            <a:r>
              <a:rPr lang="en-AU"/>
              <a:t>, </a:t>
            </a:r>
            <a:r>
              <a:rPr lang="en-AU" err="1"/>
              <a:t>reSolve</a:t>
            </a:r>
            <a:r>
              <a:rPr lang="en-AU"/>
              <a:t> website, accessed 27 June 2023.</a:t>
            </a:r>
          </a:p>
          <a:p>
            <a:r>
              <a:rPr lang="en-AU"/>
              <a:t>New Zealand Ministry of Education (n.d.)  ‘</a:t>
            </a:r>
            <a:r>
              <a:rPr lang="en-AU" u="sng">
                <a:hlinkClick r:id="rId8"/>
              </a:rPr>
              <a:t>Simple fractions as percentages’</a:t>
            </a:r>
            <a:r>
              <a:rPr lang="en-AU"/>
              <a:t>, Mathematics and Statistics </a:t>
            </a:r>
            <a:r>
              <a:rPr lang="en-AU" i="1"/>
              <a:t>Resources</a:t>
            </a:r>
            <a:r>
              <a:rPr lang="en-AU"/>
              <a:t>, </a:t>
            </a:r>
            <a:r>
              <a:rPr lang="en-AU" err="1"/>
              <a:t>Tāhūrangi</a:t>
            </a:r>
            <a:r>
              <a:rPr lang="en-AU"/>
              <a:t> - New Zealand Curriculum website, accessed 28 June 2023.</a:t>
            </a:r>
          </a:p>
          <a:p>
            <a:r>
              <a:rPr lang="en-AU"/>
              <a:t>University of Cambridge (n.d.) </a:t>
            </a:r>
            <a:r>
              <a:rPr lang="en-AU" u="sng">
                <a:hlinkClick r:id="rId9"/>
              </a:rPr>
              <a:t>Doughnut percents</a:t>
            </a:r>
            <a:r>
              <a:rPr lang="en-AU"/>
              <a:t>, NRICH website, accessed 28 June 2023.</a:t>
            </a:r>
          </a:p>
          <a:p>
            <a:endParaRPr lang="en-AU"/>
          </a:p>
          <a:p>
            <a:endParaRPr lang="en-AU"/>
          </a:p>
          <a:p>
            <a:endParaRPr lang="en-AU"/>
          </a:p>
        </p:txBody>
      </p:sp>
      <p:sp>
        <p:nvSpPr>
          <p:cNvPr id="2" name="Slide Number Placeholder 1">
            <a:extLst>
              <a:ext uri="{FF2B5EF4-FFF2-40B4-BE49-F238E27FC236}">
                <a16:creationId xmlns:a16="http://schemas.microsoft.com/office/drawing/2014/main" id="{D64190E5-B777-5F18-340D-E724FCDED2F4}"/>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640847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00DA3D-9F99-458E-9DAB-0CE3DD324CEB}">
  <ds:schemaRefs>
    <ds:schemaRef ds:uri="http://schemas.microsoft.com/sharepoint/v3/contenttype/forms"/>
  </ds:schemaRefs>
</ds:datastoreItem>
</file>

<file path=customXml/itemProps2.xml><?xml version="1.0" encoding="utf-8"?>
<ds:datastoreItem xmlns:ds="http://schemas.openxmlformats.org/officeDocument/2006/customXml" ds:itemID="{92A79ED5-3D27-435D-B83C-BD2537F20B0A}">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DBA48D6-CFA2-4617-904D-3830373476E8}"/>
</file>

<file path=docProps/app.xml><?xml version="1.0" encoding="utf-8"?>
<Properties xmlns="http://schemas.openxmlformats.org/officeDocument/2006/extended-properties" xmlns:vt="http://schemas.openxmlformats.org/officeDocument/2006/docPropsVTypes">
  <Template>student-facing-primary-template-2025-v1-5</Template>
  <TotalTime>0</TotalTime>
  <Words>6895</Words>
  <Application>Microsoft Office PowerPoint</Application>
  <PresentationFormat>Widescreen</PresentationFormat>
  <Paragraphs>1026</Paragraphs>
  <Slides>69</Slides>
  <Notes>69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Courier New</vt:lpstr>
      <vt:lpstr>Wingdings</vt:lpstr>
      <vt:lpstr>Arial</vt:lpstr>
      <vt:lpstr>Times New Roman</vt:lpstr>
      <vt:lpstr>Public Sans</vt:lpstr>
      <vt:lpstr>Calibri</vt:lpstr>
      <vt:lpstr>Cambria Math</vt:lpstr>
      <vt:lpstr>Public Sans Light</vt:lpstr>
      <vt:lpstr>Montserrat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division: fractions as sharing 1</vt:lpstr>
      <vt:lpstr>Review of learning 2</vt:lpstr>
      <vt:lpstr>True or false (1)</vt:lpstr>
      <vt:lpstr>Short response (5)</vt:lpstr>
      <vt:lpstr>Short response (6)</vt:lpstr>
      <vt:lpstr>Short response (7)</vt:lpstr>
      <vt:lpstr>Short response (8)</vt:lpstr>
      <vt:lpstr>Activity 2 – division: fractions as sharing 2</vt:lpstr>
      <vt:lpstr>Review of learning 3</vt:lpstr>
      <vt:lpstr>Multiple choice (2)</vt:lpstr>
      <vt:lpstr>Short response (9)</vt:lpstr>
      <vt:lpstr>Short response (10)</vt:lpstr>
      <vt:lpstr>Short response (11)</vt:lpstr>
      <vt:lpstr>Short response (12)</vt:lpstr>
      <vt:lpstr>Activity 3 – fair shares with fractions 1</vt:lpstr>
      <vt:lpstr>Review of learning 4</vt:lpstr>
      <vt:lpstr>True or false (2)</vt:lpstr>
      <vt:lpstr>Short response (13)</vt:lpstr>
      <vt:lpstr>Short response (14)</vt:lpstr>
      <vt:lpstr>Short response (15)</vt:lpstr>
      <vt:lpstr>Short response (16)</vt:lpstr>
      <vt:lpstr>Activity 4 – fair shares with fractions 2</vt:lpstr>
      <vt:lpstr>Review of learning 5</vt:lpstr>
      <vt:lpstr>Multiple choice (3)</vt:lpstr>
      <vt:lpstr>Short response (17)</vt:lpstr>
      <vt:lpstr>Short response (18)</vt:lpstr>
      <vt:lpstr>Short response (19)</vt:lpstr>
      <vt:lpstr>Short response (20)</vt:lpstr>
      <vt:lpstr>Activity 5 – fractions and percentages</vt:lpstr>
      <vt:lpstr>Review of learning 6</vt:lpstr>
      <vt:lpstr>True or false (3)</vt:lpstr>
      <vt:lpstr>Short response (21)</vt:lpstr>
      <vt:lpstr>Short response (22)</vt:lpstr>
      <vt:lpstr>Short response (23)</vt:lpstr>
      <vt:lpstr>Short response (24)</vt:lpstr>
      <vt:lpstr>Activity 6 – percentages for comparisons</vt:lpstr>
      <vt:lpstr>Review of learning 7</vt:lpstr>
      <vt:lpstr>Multiple choice (4)</vt:lpstr>
      <vt:lpstr>Short response (25)</vt:lpstr>
      <vt:lpstr>Short response (26)</vt:lpstr>
      <vt:lpstr>Short response (27)</vt:lpstr>
      <vt:lpstr>Short response (28)</vt:lpstr>
      <vt:lpstr>Activity 7 – equivalent percentages, fractions and decimals 1</vt:lpstr>
      <vt:lpstr>Review of learning 8</vt:lpstr>
      <vt:lpstr>True or false (4)</vt:lpstr>
      <vt:lpstr>Short response (29)</vt:lpstr>
      <vt:lpstr>Short response (30)</vt:lpstr>
      <vt:lpstr>Short response (31)</vt:lpstr>
      <vt:lpstr>Short response (32)</vt:lpstr>
      <vt:lpstr>Activity 8 – equivalent percentages, fractions and decimals 2</vt:lpstr>
      <vt:lpstr>Double Venn diagram</vt:lpstr>
      <vt:lpstr>Frayer</vt:lpstr>
      <vt:lpstr>Spider map</vt:lpstr>
      <vt:lpstr>Cline</vt:lpstr>
      <vt:lpstr>Compare and contrast</vt:lpstr>
      <vt:lpstr>Multiple choice (5)</vt:lpstr>
      <vt:lpstr>Multiple choice (6)</vt:lpstr>
      <vt:lpstr>References</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2025-12-01T02:01:28Z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