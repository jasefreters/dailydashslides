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679D_6D4F2E9.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67DB_563BE536.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7"/>
  </p:notesMasterIdLst>
  <p:handoutMasterIdLst>
    <p:handoutMasterId r:id="rId78"/>
  </p:handoutMasterIdLst>
  <p:sldIdLst>
    <p:sldId id="365" r:id="rId5"/>
    <p:sldId id="26505" r:id="rId6"/>
    <p:sldId id="26359" r:id="rId7"/>
    <p:sldId id="271" r:id="rId8"/>
    <p:sldId id="26577" r:id="rId9"/>
    <p:sldId id="358" r:id="rId10"/>
    <p:sldId id="26580" r:id="rId11"/>
    <p:sldId id="26581" r:id="rId12"/>
    <p:sldId id="26582" r:id="rId13"/>
    <p:sldId id="26576" r:id="rId14"/>
    <p:sldId id="26525" r:id="rId15"/>
    <p:sldId id="26526" r:id="rId16"/>
    <p:sldId id="26583" r:id="rId17"/>
    <p:sldId id="26586" r:id="rId18"/>
    <p:sldId id="26587" r:id="rId19"/>
    <p:sldId id="26588" r:id="rId20"/>
    <p:sldId id="26589" r:id="rId21"/>
    <p:sldId id="26590" r:id="rId22"/>
    <p:sldId id="26591" r:id="rId23"/>
    <p:sldId id="26592" r:id="rId24"/>
    <p:sldId id="26593" r:id="rId25"/>
    <p:sldId id="26596" r:id="rId26"/>
    <p:sldId id="26597" r:id="rId27"/>
    <p:sldId id="26598" r:id="rId28"/>
    <p:sldId id="26599" r:id="rId29"/>
    <p:sldId id="26600" r:id="rId30"/>
    <p:sldId id="26601" r:id="rId31"/>
    <p:sldId id="26604" r:id="rId32"/>
    <p:sldId id="26605" r:id="rId33"/>
    <p:sldId id="26606" r:id="rId34"/>
    <p:sldId id="26607" r:id="rId35"/>
    <p:sldId id="26608" r:id="rId36"/>
    <p:sldId id="26609" r:id="rId37"/>
    <p:sldId id="26610" r:id="rId38"/>
    <p:sldId id="26612" r:id="rId39"/>
    <p:sldId id="26614" r:id="rId40"/>
    <p:sldId id="26615" r:id="rId41"/>
    <p:sldId id="26616" r:id="rId42"/>
    <p:sldId id="26617" r:id="rId43"/>
    <p:sldId id="26618" r:id="rId44"/>
    <p:sldId id="26619" r:id="rId45"/>
    <p:sldId id="26622" r:id="rId46"/>
    <p:sldId id="26623" r:id="rId47"/>
    <p:sldId id="26624" r:id="rId48"/>
    <p:sldId id="26625" r:id="rId49"/>
    <p:sldId id="26626" r:id="rId50"/>
    <p:sldId id="26627" r:id="rId51"/>
    <p:sldId id="26646" r:id="rId52"/>
    <p:sldId id="26628" r:id="rId53"/>
    <p:sldId id="26629" r:id="rId54"/>
    <p:sldId id="26632" r:id="rId55"/>
    <p:sldId id="26633" r:id="rId56"/>
    <p:sldId id="26634" r:id="rId57"/>
    <p:sldId id="26635" r:id="rId58"/>
    <p:sldId id="26636" r:id="rId59"/>
    <p:sldId id="26637" r:id="rId60"/>
    <p:sldId id="26640" r:id="rId61"/>
    <p:sldId id="26641" r:id="rId62"/>
    <p:sldId id="26642" r:id="rId63"/>
    <p:sldId id="26643" r:id="rId64"/>
    <p:sldId id="26644" r:id="rId65"/>
    <p:sldId id="26645" r:id="rId66"/>
    <p:sldId id="26393" r:id="rId67"/>
    <p:sldId id="26387" r:id="rId68"/>
    <p:sldId id="26395" r:id="rId69"/>
    <p:sldId id="26391" r:id="rId70"/>
    <p:sldId id="26402" r:id="rId71"/>
    <p:sldId id="26507" r:id="rId72"/>
    <p:sldId id="26510" r:id="rId73"/>
    <p:sldId id="360" r:id="rId74"/>
    <p:sldId id="26647" r:id="rId75"/>
    <p:sldId id="361" r:id="rId76"/>
  </p:sldIdLst>
  <p:sldSz cx="12192000" cy="6858000"/>
  <p:notesSz cx="6858000" cy="9144000"/>
  <p:embeddedFontLs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576"/>
            <p14:sldId id="26525"/>
            <p14:sldId id="2652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2"/>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 id="26646"/>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26647"/>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1B1BAE1E-6EF3-DBA4-64B9-54D7242E20D4}" name="Stacey Makila" initials="SM" userId="S::Stacey.Wolfenden@det.nsw.edu.au::1f90aada-aa7f-459b-b23b-17275cc27e9e" providerId="AD"/>
  <p188:author id="{0EB36D6E-3AE9-3B2C-28D2-8291BFBA4A39}" name="Christie Williams" initials="CW" userId="S::christie.williams2@det.nsw.edu.au::881f3a5c-b614-46db-a2f1-8ad4840e9c37"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EA9B0C"/>
    <a:srgbClr val="007A8A"/>
    <a:srgbClr val="9B6808"/>
    <a:srgbClr val="427B2D"/>
    <a:srgbClr val="B51458"/>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FA4C4B-6E42-4AAE-942D-C0FD5699F89D}" v="35" dt="2025-10-22T00:49:30.590"/>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424" y="36"/>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6.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1.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2.fntdata"/><Relationship Id="rId85" Type="http://schemas.openxmlformats.org/officeDocument/2006/relationships/font" Target="fonts/font7.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handoutMaster" Target="handoutMasters/handoutMaster1.xml"/><Relationship Id="rId81" Type="http://schemas.openxmlformats.org/officeDocument/2006/relationships/font" Target="fonts/font3.fntdata"/><Relationship Id="rId86" Type="http://schemas.openxmlformats.org/officeDocument/2006/relationships/font" Target="fonts/font8.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9.fntdata"/><Relationship Id="rId61" Type="http://schemas.openxmlformats.org/officeDocument/2006/relationships/slide" Target="slides/slide57.xml"/><Relationship Id="rId82" Type="http://schemas.openxmlformats.org/officeDocument/2006/relationships/font" Target="fonts/font4.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notesMaster" Target="notesMasters/notesMaster1.xml"/></Relationships>
</file>

<file path=ppt/comments/modernComment_67DB_563BE536.xml><?xml version="1.0" encoding="utf-8"?>
<p188:cmLst xmlns:a="http://schemas.openxmlformats.org/drawingml/2006/main" xmlns:r="http://schemas.openxmlformats.org/officeDocument/2006/relationships" xmlns:p188="http://schemas.microsoft.com/office/powerpoint/2018/8/main">
  <p188:cm id="{D496F1B2-5B4E-42D8-8009-9AF6E3E3451D}" authorId="{FD7747EE-57F8-CAC5-7CAF-C637FBE93789}" created="2025-10-22T22:00:36.292">
    <ac:txMkLst xmlns:ac="http://schemas.microsoft.com/office/drawing/2013/main/command">
      <pc:docMk xmlns:pc="http://schemas.microsoft.com/office/powerpoint/2013/main/command"/>
      <pc:sldMk xmlns:pc="http://schemas.microsoft.com/office/powerpoint/2013/main/command" cId="1446765878" sldId="26587"/>
      <ac:spMk id="4" creationId="{C5E78443-4838-1ACA-D30B-5147683777C6}"/>
      <ac:txMk cp="35" len="27">
        <ac:context len="63" hash="51805585"/>
      </ac:txMk>
    </ac:txMkLst>
    <p188:pos x="9084854" y="2206077"/>
    <p188:txBody>
      <a:bodyPr/>
      <a:lstStyle/>
      <a:p>
        <a:r>
          <a:rPr lang="en-AU"/>
          <a:t>I believe these have been bolded throughout the other RoLs. </a:t>
        </a:r>
      </a:p>
    </p188:txBody>
  </p188:cm>
</p188:cmLst>
</file>

<file path=ppt/comments/modernComment_679D_6D4F2E9.xml><?xml version="1.0" encoding="utf-8"?>
<p188:cmLst xmlns:a="http://schemas.openxmlformats.org/drawingml/2006/main" xmlns:r="http://schemas.openxmlformats.org/officeDocument/2006/relationships" xmlns:p188="http://schemas.microsoft.com/office/powerpoint/2018/8/main">
  <p188:cm id="{BC21EDA1-D893-47EA-8D9B-66FC17FCCFFE}" authorId="{FD7747EE-57F8-CAC5-7CAF-C637FBE93789}" created="2025-10-22T21:34:08.899">
    <ac:txMkLst xmlns:ac="http://schemas.microsoft.com/office/drawing/2013/main/command">
      <pc:docMk xmlns:pc="http://schemas.microsoft.com/office/powerpoint/2013/main/command"/>
      <pc:sldMk xmlns:pc="http://schemas.microsoft.com/office/powerpoint/2013/main/command" cId="114619113" sldId="26525"/>
      <ac:spMk id="3" creationId="{E13EDC38-C7E4-F80D-3771-95FC648B856D}"/>
      <ac:txMk cp="12" len="10">
        <ac:context len="29" hash="2397349041"/>
      </ac:txMk>
    </ac:txMkLst>
    <p188:pos x="4076533" y="207267"/>
    <p188:txBody>
      <a:bodyPr/>
      <a:lstStyle/>
      <a:p>
        <a:r>
          <a:rPr lang="en-AU"/>
          <a:t>Please add DNS icon to the next 2 slides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27/10/2025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27/10/2025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22</a:t>
            </a:r>
          </a:p>
          <a:p>
            <a:pPr marL="285750" indent="-285750">
              <a:buFont typeface="Arial" panose="020B0604020202020204" pitchFamily="34" charset="0"/>
              <a:buChar char="•"/>
            </a:pPr>
            <a:r>
              <a:rPr lang="en-AU"/>
              <a:t>Stage 2 Year B Unit 21</a:t>
            </a:r>
          </a:p>
          <a:p>
            <a:pPr marL="285750" indent="-285750">
              <a:buFont typeface="Arial" panose="020B0604020202020204" pitchFamily="34" charset="0"/>
              <a:buChar char="•"/>
            </a:pPr>
            <a:r>
              <a:rPr lang="en-AU"/>
              <a:t>Stage 2 Year A Unit 20</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 </a:t>
            </a:r>
          </a:p>
          <a:p>
            <a:pPr>
              <a:defRPr/>
            </a:pPr>
            <a:r>
              <a:rPr lang="en-AU" b="0">
                <a:latin typeface="Arial"/>
                <a:cs typeface="Arial"/>
              </a:rPr>
              <a:t>Additive relations A</a:t>
            </a:r>
            <a:endParaRPr lang="en-US" b="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Representing numbers using place value A: Whole numbers</a:t>
            </a: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Geometric measure A: Position</a:t>
            </a: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Activity 1 </a:t>
            </a:r>
            <a:r>
              <a:rPr lang="en-AU"/>
              <a:t>– </a:t>
            </a:r>
            <a:r>
              <a:rPr lang="en-AU" b="1"/>
              <a:t>Equality</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number sentence 24 + 11 = 23 + 12 and ask the students if the statement is correct and have them explain their thinking.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b="0"/>
              <a:t>Resource 15 – solve it cards</a:t>
            </a:r>
            <a:r>
              <a:rPr lang="en-AU" sz="1600" b="0" u="sng" kern="1200">
                <a:solidFill>
                  <a:schemeClr val="tx1"/>
                </a:solidFill>
                <a:effectLst/>
                <a:latin typeface="Arial" panose="020B0604020202020204" pitchFamily="34" charset="0"/>
                <a:ea typeface="+mn-ea"/>
                <a:cs typeface="Arial" panose="020B0604020202020204" pitchFamily="34" charset="0"/>
              </a:rPr>
              <a:t>.</a:t>
            </a:r>
            <a:r>
              <a:rPr lang="en-AU" sz="1600" kern="1200">
                <a:solidFill>
                  <a:schemeClr val="tx1"/>
                </a:solidFill>
                <a:effectLst/>
                <a:latin typeface="Arial" panose="020B0604020202020204" pitchFamily="34" charset="0"/>
                <a:ea typeface="+mn-ea"/>
                <a:cs typeface="Arial" panose="020B0604020202020204" pitchFamily="34" charset="0"/>
              </a:rPr>
              <a:t> Students individually solve the cards in their workbooks.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share their answers and justify their responses.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and ask students how they would explain the concept of equality to someone who is just beginning to learn about number sentences and the equals sign.</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1D869-73D5-19E8-AF8A-88FA2FFFD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2E4CE-4C72-DBB3-FD55-BBD1231EC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AD4577-54EF-6C22-D625-880F18BBF0AA}"/>
              </a:ext>
            </a:extLst>
          </p:cNvPr>
          <p:cNvSpPr>
            <a:spLocks noGrp="1"/>
          </p:cNvSpPr>
          <p:nvPr>
            <p:ph type="body" idx="1"/>
          </p:nvPr>
        </p:nvSpPr>
        <p:spPr/>
        <p:txBody>
          <a:bodyPr/>
          <a:lstStyle/>
          <a:p>
            <a:r>
              <a:rPr lang="en-AU" b="1"/>
              <a:t>Activity 1</a:t>
            </a:r>
            <a:r>
              <a:rPr lang="en-AU"/>
              <a:t>–</a:t>
            </a:r>
            <a:r>
              <a:rPr lang="en-AU" b="1"/>
              <a:t>equality continued</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Resource 15 – solve it cards in Stage 2 Year B Unit 22. </a:t>
            </a:r>
          </a:p>
          <a:p>
            <a:endParaRPr lang="en-AU" b="0"/>
          </a:p>
          <a:p>
            <a:pPr marL="0" lvl="0" indent="0">
              <a:lnSpc>
                <a:spcPct val="150000"/>
              </a:lnSpc>
              <a:spcBef>
                <a:spcPts val="1200"/>
              </a:spcBef>
              <a:spcAft>
                <a:spcPts val="600"/>
              </a:spcAft>
              <a:buFont typeface="+mj-lt"/>
              <a:buNone/>
              <a:tabLst>
                <a:tab pos="228600" algn="l"/>
              </a:tabLst>
            </a:pPr>
            <a:endParaRPr lang="en-AU"/>
          </a:p>
        </p:txBody>
      </p:sp>
      <p:sp>
        <p:nvSpPr>
          <p:cNvPr id="4" name="Slide Number Placeholder 3">
            <a:extLst>
              <a:ext uri="{FF2B5EF4-FFF2-40B4-BE49-F238E27FC236}">
                <a16:creationId xmlns:a16="http://schemas.microsoft.com/office/drawing/2014/main" id="{A12D6707-E8C2-99D5-0B6F-8B886E47E920}"/>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381959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5E22B-8680-FF84-51BC-27275ADD4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149AD-3BEC-56CE-2C7E-B7F35743D2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52AF5-7874-2E09-B863-1DAF10DEE57A}"/>
              </a:ext>
            </a:extLst>
          </p:cNvPr>
          <p:cNvSpPr>
            <a:spLocks noGrp="1"/>
          </p:cNvSpPr>
          <p:nvPr>
            <p:ph type="body" idx="1"/>
          </p:nvPr>
        </p:nvSpPr>
        <p:spPr/>
        <p:txBody>
          <a:bodyPr/>
          <a:lstStyle/>
          <a:p>
            <a:r>
              <a:rPr lang="en-AU" b="1"/>
              <a:t>Activity 1</a:t>
            </a:r>
            <a:r>
              <a:rPr lang="en-AU"/>
              <a:t>–</a:t>
            </a:r>
            <a:r>
              <a:rPr lang="en-AU" b="1"/>
              <a:t>equality continued</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Resource 15 – solve it cards in Stage 2 Year B Unit 22. </a:t>
            </a:r>
          </a:p>
          <a:p>
            <a:endParaRPr lang="en-AU" b="0"/>
          </a:p>
          <a:p>
            <a:endParaRPr lang="en-AU"/>
          </a:p>
        </p:txBody>
      </p:sp>
      <p:sp>
        <p:nvSpPr>
          <p:cNvPr id="4" name="Slide Number Placeholder 3">
            <a:extLst>
              <a:ext uri="{FF2B5EF4-FFF2-40B4-BE49-F238E27FC236}">
                <a16:creationId xmlns:a16="http://schemas.microsoft.com/office/drawing/2014/main" id="{8D9980CF-81D4-5F45-02E9-0D0EF4AC013C}"/>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693956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latin typeface="Arial"/>
                <a:cs typeface="Arial"/>
              </a:rPr>
              <a:t>Additive relations A</a:t>
            </a:r>
            <a:endParaRPr lang="en-US" b="0">
              <a:solidFill>
                <a:srgbClr val="444444"/>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Representing numbers using place value B: Whole numbers</a:t>
            </a: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Geometric measure A: Position</a:t>
            </a: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Activity 2 – equivalence</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Reach 100 from NRICH by University of Cambridge (Faculty of Mathematics).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draw a square and divide it into quarters. They choose 4 different digits from one to 9 and put them in each box. The aim is to find 4 different digits that give four 2-digit numbers which add or balance to a total of 100.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using associative property of addition to form multiples of 10 is a useful strategy. For example, 52 + 19 + 51 + 29 = 51 + 19 + 52 + 29. Explain that using place value understanding flexibly makes it is easier to solve 51 +19 = 70 and then add on 52 + 29.</a:t>
            </a:r>
          </a:p>
          <a:p>
            <a:r>
              <a:rPr lang="en-AU" sz="1600" b="1" kern="1200">
                <a:solidFill>
                  <a:schemeClr val="tx1"/>
                </a:solidFill>
                <a:effectLst/>
                <a:latin typeface="Arial" panose="020B0604020202020204" pitchFamily="34" charset="0"/>
                <a:ea typeface="+mn-ea"/>
                <a:cs typeface="Arial" panose="020B0604020202020204" pitchFamily="34" charset="0"/>
              </a:rPr>
              <a:t>Associative law: </a:t>
            </a:r>
            <a:r>
              <a:rPr lang="en-AU" sz="1600" kern="1200">
                <a:solidFill>
                  <a:schemeClr val="tx1"/>
                </a:solidFill>
                <a:effectLst/>
                <a:latin typeface="Arial" panose="020B0604020202020204" pitchFamily="34" charset="0"/>
                <a:ea typeface="+mn-ea"/>
                <a:cs typeface="Arial" panose="020B0604020202020204" pitchFamily="34" charset="0"/>
              </a:rPr>
              <a:t>when more than 2 numbers are added or multiplied, the result is unchanged regardless of how they are grouped or associated. For example, 22 + 13 + 8 = 22 + 8 + 13 = 30 + 13 = 43.</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try to solve the challenge and record all the solutions they can find on a whiteboard.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discuss the different strategies students used to find balancing equations to 100.</a:t>
            </a:r>
          </a:p>
          <a:p>
            <a:pPr marL="285750" indent="-285750">
              <a:buFont typeface="Arial" panose="020B0604020202020204" pitchFamily="34" charset="0"/>
              <a:buChar char="•"/>
            </a:pP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Representing numbers using place value B: Decimals</a:t>
            </a: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Activity 3 – finding the missing numbers addition</a:t>
            </a:r>
          </a:p>
          <a:p>
            <a:r>
              <a:rPr lang="en-AU" b="0"/>
              <a:t>This resource corresponds to Resource 16 – finding the missing numbers addition in Stage 2 Year B Unit 22.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b="0"/>
              <a:t>Resource 16 – finding the missing numbers addition.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to students they will be finding the missing numbers in each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solve and record the addition number sentences on whiteboards.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does it mean for the differences to be equal?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to solve the problems?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 use subtraction to help solve any of the number sentences?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Decimals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Activity 4 – finding the missing number subtraction</a:t>
            </a:r>
          </a:p>
          <a:p>
            <a:r>
              <a:rPr lang="en-AU" b="0"/>
              <a:t>This resource corresponds to Resource 17 – finding the missing numbers subtraction in Stage 2 Year A Unit 22.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b="0"/>
              <a:t>Resource 17 – finding the missing numbers subtraction.</a:t>
            </a: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to students they will be finding the missing numbers in each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solve and record the subtraction number sentences on whiteboards.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to solve the problems?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 use addition to help solve any of the number sentences?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A: Whole numbers</a:t>
            </a: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Representing numbers using place value B: Decimals</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Additive relations A</a:t>
            </a: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B: Volume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a:p>
          <a:p>
            <a:r>
              <a:rPr lang="en-AU" b="1"/>
              <a:t>Activity 5 – how many way?</a:t>
            </a:r>
          </a:p>
          <a:p>
            <a:r>
              <a:rPr lang="en-AU" sz="1600" kern="1200">
                <a:solidFill>
                  <a:schemeClr val="tx1"/>
                </a:solidFill>
                <a:effectLst/>
                <a:latin typeface="Arial" panose="020B0604020202020204" pitchFamily="34" charset="0"/>
                <a:ea typeface="+mn-ea"/>
                <a:cs typeface="Arial" panose="020B0604020202020204" pitchFamily="34" charset="0"/>
              </a:rPr>
              <a:t>Th</a:t>
            </a:r>
            <a:r>
              <a:rPr lang="en-US" sz="1600" kern="1200">
                <a:solidFill>
                  <a:schemeClr val="tx1"/>
                </a:solidFill>
                <a:effectLst/>
                <a:latin typeface="Arial" panose="020B0604020202020204" pitchFamily="34" charset="0"/>
                <a:ea typeface="+mn-ea"/>
                <a:cs typeface="Arial" panose="020B0604020202020204" pitchFamily="34" charset="0"/>
              </a:rPr>
              <a:t>is activity is an adaptation of ‘</a:t>
            </a:r>
            <a:r>
              <a:rPr lang="en-AU" sz="1600" kern="1200">
                <a:solidFill>
                  <a:schemeClr val="tx1"/>
                </a:solidFill>
                <a:effectLst/>
                <a:latin typeface="Arial" panose="020B0604020202020204" pitchFamily="34" charset="0"/>
                <a:ea typeface="+mn-ea"/>
                <a:cs typeface="Arial" panose="020B0604020202020204" pitchFamily="34" charset="0"/>
              </a:rPr>
              <a:t>Place value tasks’ from </a:t>
            </a:r>
            <a:r>
              <a:rPr lang="en-AU" sz="1600" i="1" kern="1200">
                <a:solidFill>
                  <a:schemeClr val="tx1"/>
                </a:solidFill>
                <a:effectLst/>
                <a:latin typeface="Arial" panose="020B0604020202020204" pitchFamily="34" charset="0"/>
                <a:ea typeface="+mn-ea"/>
                <a:cs typeface="Arial" panose="020B0604020202020204" pitchFamily="34" charset="0"/>
              </a:rPr>
              <a:t>Open-ended maths activities</a:t>
            </a:r>
            <a:r>
              <a:rPr lang="en-AU" sz="1600" kern="1200">
                <a:solidFill>
                  <a:schemeClr val="tx1"/>
                </a:solidFill>
                <a:effectLst/>
                <a:latin typeface="Arial" panose="020B0604020202020204" pitchFamily="34" charset="0"/>
                <a:ea typeface="+mn-ea"/>
                <a:cs typeface="Arial" panose="020B0604020202020204" pitchFamily="34" charset="0"/>
              </a:rPr>
              <a:t> by Sullivan and Lilburn.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an whiteboard and ask how many ways they can rename 1265.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responses using thousands, hundreds, tens and ones, for example, 1000 + 200 + 60 + 5, 1000 + 100 + 150 + 15 and so 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After giving students time to respond, provide students with MAB materials to test out the conjectures and swap the MAB materials to make the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to answer the question, and how effective were they?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does understanding standard form assist in performing mathematical operations?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A: Whole numbers</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Additive relations B</a:t>
            </a: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Representing numbers using place value B: Decimals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Two-dimensional spatial structure A: Area</a:t>
            </a: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a:p>
          <a:p>
            <a:r>
              <a:rPr lang="en-AU" b="1"/>
              <a:t>Activity 6 – </a:t>
            </a:r>
            <a:r>
              <a:rPr lang="en-AU" b="1">
                <a:latin typeface="Arial"/>
                <a:cs typeface="Arial"/>
              </a:rPr>
              <a:t>two truths and a lie</a:t>
            </a:r>
          </a:p>
          <a:p>
            <a:r>
              <a:rPr lang="en-AU" b="0"/>
              <a:t>This resource corresponds to Resource 18 and resource 19 in Stage 2 Year B Unit 22.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following statements that are 2 truths and a lie.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b="0"/>
              <a:t>Resource 18 – what is my number? 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32 can be represented with 5 MAB materials.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68 can be represented with 41 MAB materials.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145 can be represented with 25 MAB materials.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read each statement and then test using MAB materials to identify which are the truths or the lie.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small groups of students with one copy of </a:t>
            </a:r>
            <a:r>
              <a:rPr lang="en-AU" b="0"/>
              <a:t>Resource 19 – what is my number? 2 </a:t>
            </a:r>
            <a:r>
              <a:rPr lang="en-AU" sz="1600" kern="1200">
                <a:solidFill>
                  <a:schemeClr val="tx1"/>
                </a:solidFill>
                <a:effectLst/>
                <a:latin typeface="Arial" panose="020B0604020202020204" pitchFamily="34" charset="0"/>
                <a:ea typeface="+mn-ea"/>
                <a:cs typeface="Arial" panose="020B0604020202020204" pitchFamily="34" charset="0"/>
              </a:rPr>
              <a:t>and MAB materials. Students test each statement and record the representation of MAB materials on </a:t>
            </a:r>
            <a:r>
              <a:rPr lang="en-AU" b="0"/>
              <a:t>Resource 19 – what is my number? 2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work together to identify which statement is the lie by proving the accuracy of all 3 statements.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decide which MAB materials to choose for each statement?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Were there any statements that were particularly challenging to determine as truth or lie?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 rely on any specific strategies to make your choices?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14381-30E0-3A50-5A36-DD21E28D7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19373-68C9-38D9-C605-F6919CBAD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C5D520-B03C-F89D-4AAF-6582F61AA380}"/>
              </a:ext>
            </a:extLst>
          </p:cNvPr>
          <p:cNvSpPr>
            <a:spLocks noGrp="1"/>
          </p:cNvSpPr>
          <p:nvPr>
            <p:ph type="body" idx="1"/>
          </p:nvPr>
        </p:nvSpPr>
        <p:spPr/>
        <p:txBody>
          <a:bodyPr/>
          <a:lstStyle/>
          <a:p>
            <a:endParaRPr lang="en-AU"/>
          </a:p>
          <a:p>
            <a:r>
              <a:rPr lang="en-AU" b="1"/>
              <a:t>Activity 6 – </a:t>
            </a:r>
            <a:r>
              <a:rPr lang="en-AU" b="1">
                <a:latin typeface="Arial"/>
                <a:cs typeface="Arial"/>
              </a:rPr>
              <a:t>two truths and a lie continued</a:t>
            </a:r>
          </a:p>
          <a:p>
            <a:r>
              <a:rPr lang="en-AU" b="0"/>
              <a:t>This resource corresponds to Resource – 19 in Stage 2 Year B Unit 22. </a:t>
            </a:r>
          </a:p>
          <a:p>
            <a:endParaRPr lang="en-AU" b="1"/>
          </a:p>
          <a:p>
            <a:endParaRPr lang="en-AU"/>
          </a:p>
        </p:txBody>
      </p:sp>
      <p:sp>
        <p:nvSpPr>
          <p:cNvPr id="4" name="Slide Number Placeholder 3">
            <a:extLst>
              <a:ext uri="{FF2B5EF4-FFF2-40B4-BE49-F238E27FC236}">
                <a16:creationId xmlns:a16="http://schemas.microsoft.com/office/drawing/2014/main" id="{6FB9259F-EA5E-0FB2-22EE-C851CFD1A9DF}"/>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8991742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A: Whole numbers</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Additive relations A</a:t>
            </a: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Non-spatial measure A: Time</a:t>
            </a:r>
          </a:p>
          <a:p>
            <a:endParaRPr lang="en-AU" b="1"/>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a:p>
          <a:p>
            <a:r>
              <a:rPr lang="en-AU" b="1"/>
              <a:t>Activity 7 – partitioning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shuffle game cards numbered zero to 9 and place them face down in a stack.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Each player takes turns drawing 4 cards from the stack to form a 4-digit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Each player records the 4-digit number formed on their whiteboard, the standard place value form and a non-standard place value representation.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Each player swaps their whiteboard and checks their peer’s standard and non-standard representations.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the representation is correct, the student gets a point.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 2 selects 4 cards to form a new 4-digit number and repeats the process.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the process for 5 rounds.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and ask students to identify the strategies they used and to justify their answers when identifying the place value in non-standard form.</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number expanders can assist students to understand place value and renaming numbers into non-standard forms.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numbers using place value A: Whole numbers</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Multiplicative relations A</a:t>
            </a: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Multiplicative relations A</a:t>
            </a: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Two-dimensional spatial structure A: 2D shape</a:t>
            </a: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a:p>
          <a:p>
            <a:r>
              <a:rPr lang="en-AU" b="1"/>
              <a:t>Activity 8 – </a:t>
            </a:r>
            <a:r>
              <a:rPr lang="en-AU" b="1">
                <a:latin typeface="Arial"/>
                <a:cs typeface="Arial"/>
              </a:rPr>
              <a:t>which number is closest?</a:t>
            </a:r>
          </a:p>
          <a:p>
            <a:r>
              <a:rPr lang="en-AU" b="0"/>
              <a:t>This resource corresponds to Resource 20 – which number is closest? in Stage 2 Year B Unit 22. </a:t>
            </a:r>
          </a:p>
          <a:p>
            <a:endParaRPr lang="en-AU" b="0"/>
          </a:p>
          <a:p>
            <a:pPr mar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As Close As It Gets from Maths is Figure-Out-Able! by Harris. Key ideas for Stage 2 place value are outlined in the syllabus teaching advice and in the professional learning module The role of place value from My Professional Learning by the NSW Department of Education.</a:t>
            </a:r>
          </a:p>
          <a:p>
            <a:pPr mar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b="0"/>
              <a:t>Resource 20 – which number is closest?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an individual whiteboard and ask which representation is the closest to 300 on card 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test using MAB materials to identify which non-standard form is closest to 300.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work together to identify which non-standard forms are closest to the target number on cards 2, 4 and 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for cards 3 and 6 they will need to find a suitable number to match the non-standard forms.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to answer the questions, and how effective were they?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does understanding non-standard form assist in performing mathematical operations?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For cards 3 and 6 how did you justify your answers when identifying the place value in non-standard form?</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4.xml"/><Relationship Id="rId7" Type="http://schemas.openxmlformats.org/officeDocument/2006/relationships/slide" Target="slide41.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7.xml"/><Relationship Id="rId5" Type="http://schemas.openxmlformats.org/officeDocument/2006/relationships/slide" Target="slide20.xml"/><Relationship Id="rId10" Type="http://schemas.openxmlformats.org/officeDocument/2006/relationships/slide" Target="slide34.xml"/><Relationship Id="rId4" Type="http://schemas.openxmlformats.org/officeDocument/2006/relationships/slide" Target="slide13.xml"/><Relationship Id="rId9" Type="http://schemas.openxmlformats.org/officeDocument/2006/relationships/slide" Target="slide5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679D_6D4F2E9.xm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67DB_563BE536.xm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2.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7.xml"/><Relationship Id="rId1" Type="http://schemas.openxmlformats.org/officeDocument/2006/relationships/slideLayout" Target="../slideLayouts/slideLayout1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slide" Target="slide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australiancurriculum.edu.au/resources/national-literacy-and-numeracy-learning-progressions/version-3-of-national-literacy-and-numeracy-learning-progressions/"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apsmo.edu.au/wp-content/uploads/2023/01/ME-Paper-5-2022.pdf" TargetMode="External"/><Relationship Id="rId5" Type="http://schemas.openxmlformats.org/officeDocument/2006/relationships/hyperlink" Target="https://curriculum.nsw.edu.au/" TargetMode="External"/><Relationship Id="rId10" Type="http://schemas.openxmlformats.org/officeDocument/2006/relationships/hyperlink" Target="https://apsmo.edu.au/wp-content/uploads/2023/01/MGJ-Paper-1-2022.pdf"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iview.abc.net.au/show/mini-lessons-maths/series/1/video/ED2003V015S00"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nrich.maths.org/1130" TargetMode="External"/><Relationship Id="rId5" Type="http://schemas.openxmlformats.org/officeDocument/2006/relationships/hyperlink" Target="https://resources.education.nsw.gov.au/detail/A-39" TargetMode="External"/><Relationship Id="rId4" Type="http://schemas.openxmlformats.org/officeDocument/2006/relationships/hyperlink" Target="https://curriculum.nsw.edu.au/"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2 Year B Unit 22.</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22</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2</a:t>
              </a: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3</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4</a:t>
              </a: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6</a:t>
              </a: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7</a:t>
              </a: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8</a:t>
              </a: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5</a:t>
              </a: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0000" y="1662040"/>
            <a:ext cx="11243037" cy="893226"/>
          </a:xfrm>
        </p:spPr>
        <p:txBody>
          <a:bodyPr/>
          <a:lstStyle/>
          <a:p>
            <a:pPr algn="ctr"/>
            <a:r>
              <a:rPr lang="en-US" sz="4400" b="1"/>
              <a:t>Complete</a:t>
            </a:r>
            <a:r>
              <a:rPr lang="en-US" sz="4400"/>
              <a:t> the number sentence.</a:t>
            </a:r>
          </a:p>
          <a:p>
            <a:endParaRPr lang="en-US" sz="4400"/>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Rectangle 4" descr="A black outline of a square.">
            <a:extLst>
              <a:ext uri="{FF2B5EF4-FFF2-40B4-BE49-F238E27FC236}">
                <a16:creationId xmlns:a16="http://schemas.microsoft.com/office/drawing/2014/main" id="{9E63F491-F966-5680-1FB5-B6C522505FA6}"/>
              </a:ext>
            </a:extLst>
          </p:cNvPr>
          <p:cNvSpPr/>
          <p:nvPr/>
        </p:nvSpPr>
        <p:spPr>
          <a:xfrm>
            <a:off x="3413623" y="3164305"/>
            <a:ext cx="806116" cy="72189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EF57835F-E72E-AC91-B53B-8F5C41307F98}"/>
              </a:ext>
            </a:extLst>
          </p:cNvPr>
          <p:cNvSpPr txBox="1"/>
          <p:nvPr/>
        </p:nvSpPr>
        <p:spPr>
          <a:xfrm>
            <a:off x="4400967" y="3164305"/>
            <a:ext cx="5386802" cy="1937084"/>
          </a:xfrm>
          <a:prstGeom prst="rect">
            <a:avLst/>
          </a:prstGeom>
          <a:noFill/>
        </p:spPr>
        <p:txBody>
          <a:bodyPr wrap="square" lIns="0" tIns="0" rIns="0" bIns="0" rtlCol="0">
            <a:noAutofit/>
          </a:bodyPr>
          <a:lstStyle/>
          <a:p>
            <a:pPr algn="l"/>
            <a:r>
              <a:rPr lang="en-AU" sz="4400"/>
              <a:t>+ 26 = 16 + 23</a:t>
            </a:r>
          </a:p>
        </p:txBody>
      </p:sp>
      <p:sp>
        <p:nvSpPr>
          <p:cNvPr id="7" name="TextBox 6">
            <a:extLst>
              <a:ext uri="{FF2B5EF4-FFF2-40B4-BE49-F238E27FC236}">
                <a16:creationId xmlns:a16="http://schemas.microsoft.com/office/drawing/2014/main" id="{25C1CDEA-4C29-32ED-5ABA-F5CA94649CAB}"/>
              </a:ext>
            </a:extLst>
          </p:cNvPr>
          <p:cNvSpPr txBox="1"/>
          <p:nvPr/>
        </p:nvSpPr>
        <p:spPr>
          <a:xfrm>
            <a:off x="2068067" y="5658487"/>
            <a:ext cx="914400" cy="914400"/>
          </a:xfrm>
          <a:prstGeom prst="rect">
            <a:avLst/>
          </a:prstGeom>
          <a:noFill/>
        </p:spPr>
        <p:txBody>
          <a:bodyPr wrap="none" lIns="0" tIns="0" rIns="0" bIns="0" rtlCol="0">
            <a:noAutofit/>
          </a:bodyPr>
          <a:lstStyle/>
          <a:p>
            <a:pPr algn="l"/>
            <a:r>
              <a:rPr lang="en-AU" sz="4400"/>
              <a:t>12</a:t>
            </a:r>
          </a:p>
        </p:txBody>
      </p:sp>
      <p:sp>
        <p:nvSpPr>
          <p:cNvPr id="8" name="TextBox 7">
            <a:extLst>
              <a:ext uri="{FF2B5EF4-FFF2-40B4-BE49-F238E27FC236}">
                <a16:creationId xmlns:a16="http://schemas.microsoft.com/office/drawing/2014/main" id="{CA590192-5EC1-A047-72E8-D68993BDAA15}"/>
              </a:ext>
            </a:extLst>
          </p:cNvPr>
          <p:cNvSpPr txBox="1"/>
          <p:nvPr/>
        </p:nvSpPr>
        <p:spPr>
          <a:xfrm>
            <a:off x="4982833" y="5579171"/>
            <a:ext cx="914400" cy="914400"/>
          </a:xfrm>
          <a:prstGeom prst="rect">
            <a:avLst/>
          </a:prstGeom>
          <a:noFill/>
        </p:spPr>
        <p:txBody>
          <a:bodyPr wrap="none" lIns="0" tIns="0" rIns="0" bIns="0" rtlCol="0">
            <a:noAutofit/>
          </a:bodyPr>
          <a:lstStyle/>
          <a:p>
            <a:pPr algn="l"/>
            <a:r>
              <a:rPr lang="en-AU" sz="4400"/>
              <a:t>16</a:t>
            </a:r>
          </a:p>
        </p:txBody>
      </p:sp>
      <p:sp>
        <p:nvSpPr>
          <p:cNvPr id="13" name="TextBox 12">
            <a:extLst>
              <a:ext uri="{FF2B5EF4-FFF2-40B4-BE49-F238E27FC236}">
                <a16:creationId xmlns:a16="http://schemas.microsoft.com/office/drawing/2014/main" id="{EFD9D854-C90D-004B-F6F6-40C3191D482D}"/>
              </a:ext>
            </a:extLst>
          </p:cNvPr>
          <p:cNvSpPr txBox="1"/>
          <p:nvPr/>
        </p:nvSpPr>
        <p:spPr>
          <a:xfrm>
            <a:off x="7948533" y="5579171"/>
            <a:ext cx="914400" cy="914400"/>
          </a:xfrm>
          <a:prstGeom prst="rect">
            <a:avLst/>
          </a:prstGeom>
          <a:noFill/>
        </p:spPr>
        <p:txBody>
          <a:bodyPr wrap="none" lIns="0" tIns="0" rIns="0" bIns="0" rtlCol="0">
            <a:noAutofit/>
          </a:bodyPr>
          <a:lstStyle/>
          <a:p>
            <a:pPr algn="l"/>
            <a:r>
              <a:rPr lang="en-AU" sz="4400"/>
              <a:t>13</a:t>
            </a:r>
          </a:p>
        </p:txBody>
      </p:sp>
      <p:sp>
        <p:nvSpPr>
          <p:cNvPr id="14" name="TextBox 13">
            <a:extLst>
              <a:ext uri="{FF2B5EF4-FFF2-40B4-BE49-F238E27FC236}">
                <a16:creationId xmlns:a16="http://schemas.microsoft.com/office/drawing/2014/main" id="{D15FBD5D-2095-5A07-FC08-91ADD6494C74}"/>
              </a:ext>
            </a:extLst>
          </p:cNvPr>
          <p:cNvSpPr txBox="1"/>
          <p:nvPr/>
        </p:nvSpPr>
        <p:spPr>
          <a:xfrm>
            <a:off x="10918976" y="5601600"/>
            <a:ext cx="914400" cy="914400"/>
          </a:xfrm>
          <a:prstGeom prst="rect">
            <a:avLst/>
          </a:prstGeom>
          <a:noFill/>
        </p:spPr>
        <p:txBody>
          <a:bodyPr wrap="none" lIns="0" tIns="0" rIns="0" bIns="0" rtlCol="0">
            <a:noAutofit/>
          </a:bodyPr>
          <a:lstStyle/>
          <a:p>
            <a:pPr algn="l"/>
            <a:r>
              <a:rPr lang="en-AU" sz="4400"/>
              <a:t>10</a:t>
            </a:r>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4631008-9EA7-F29D-3FBC-2479427E8BC8}"/>
              </a:ext>
            </a:extLst>
          </p:cNvPr>
          <p:cNvSpPr txBox="1"/>
          <p:nvPr/>
        </p:nvSpPr>
        <p:spPr>
          <a:xfrm>
            <a:off x="1174706" y="2055852"/>
            <a:ext cx="9552562" cy="3249038"/>
          </a:xfrm>
          <a:prstGeom prst="rect">
            <a:avLst/>
          </a:prstGeom>
          <a:noFill/>
        </p:spPr>
        <p:txBody>
          <a:bodyPr wrap="square" lIns="0" tIns="0" rIns="0" bIns="0" rtlCol="0">
            <a:noAutofit/>
          </a:bodyPr>
          <a:lstStyle/>
          <a:p>
            <a:pPr algn="ctr">
              <a:lnSpc>
                <a:spcPct val="150000"/>
              </a:lnSpc>
            </a:pPr>
            <a:r>
              <a:rPr lang="en-AU" sz="4400" b="1"/>
              <a:t>Record</a:t>
            </a:r>
            <a:r>
              <a:rPr lang="en-AU" sz="4400"/>
              <a:t> the </a:t>
            </a:r>
            <a:r>
              <a:rPr lang="en-AU" sz="4400" b="1"/>
              <a:t>quantity value </a:t>
            </a:r>
            <a:r>
              <a:rPr lang="en-AU" sz="4400"/>
              <a:t>of each digit in 543</a:t>
            </a:r>
            <a:r>
              <a:rPr lang="en-AU" sz="1800"/>
              <a:t>.</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F9C687A-2449-06B6-6957-3C510FC1171C}"/>
              </a:ext>
            </a:extLst>
          </p:cNvPr>
          <p:cNvSpPr txBox="1"/>
          <p:nvPr/>
        </p:nvSpPr>
        <p:spPr>
          <a:xfrm>
            <a:off x="360000" y="1946347"/>
            <a:ext cx="11585976" cy="2757487"/>
          </a:xfrm>
          <a:prstGeom prst="rect">
            <a:avLst/>
          </a:prstGeom>
          <a:noFill/>
        </p:spPr>
        <p:txBody>
          <a:bodyPr wrap="square" lIns="0" tIns="0" rIns="0" bIns="0" rtlCol="0">
            <a:noAutofit/>
          </a:bodyPr>
          <a:lstStyle/>
          <a:p>
            <a:pPr algn="ctr">
              <a:lnSpc>
                <a:spcPct val="150000"/>
              </a:lnSpc>
            </a:pPr>
            <a:r>
              <a:rPr lang="en-AU" sz="4400" b="1"/>
              <a:t>Order</a:t>
            </a:r>
            <a:r>
              <a:rPr lang="en-AU" sz="4400"/>
              <a:t> these numbers from </a:t>
            </a:r>
            <a:r>
              <a:rPr lang="en-AU" sz="4400" b="1"/>
              <a:t>smallest</a:t>
            </a:r>
            <a:r>
              <a:rPr lang="en-AU" sz="4400"/>
              <a:t> to </a:t>
            </a:r>
            <a:r>
              <a:rPr lang="en-AU" sz="4400" b="1"/>
              <a:t>largest</a:t>
            </a:r>
            <a:r>
              <a:rPr lang="en-AU" sz="4400"/>
              <a:t>.</a:t>
            </a:r>
          </a:p>
          <a:p>
            <a:pPr algn="ctr"/>
            <a:endParaRPr lang="en-AU" sz="4400"/>
          </a:p>
          <a:p>
            <a:pPr algn="ctr"/>
            <a:r>
              <a:rPr lang="en-AU" sz="4800"/>
              <a:t>3847   2091   3487  2901  1078</a:t>
            </a:r>
            <a:endParaRPr lang="en-AU" sz="2000"/>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32911F3-244D-3892-650A-C8CD9766D044}"/>
              </a:ext>
            </a:extLst>
          </p:cNvPr>
          <p:cNvSpPr txBox="1"/>
          <p:nvPr/>
        </p:nvSpPr>
        <p:spPr>
          <a:xfrm>
            <a:off x="477672" y="1869743"/>
            <a:ext cx="3664404" cy="4394579"/>
          </a:xfrm>
          <a:prstGeom prst="rect">
            <a:avLst/>
          </a:prstGeom>
          <a:noFill/>
        </p:spPr>
        <p:txBody>
          <a:bodyPr wrap="square" lIns="0" tIns="0" rIns="0" bIns="0" rtlCol="0">
            <a:noAutofit/>
          </a:bodyPr>
          <a:lstStyle/>
          <a:p>
            <a:pPr algn="ctr">
              <a:lnSpc>
                <a:spcPct val="150000"/>
              </a:lnSpc>
            </a:pPr>
            <a:r>
              <a:rPr lang="en-AU" sz="4000" b="1"/>
              <a:t>Record</a:t>
            </a:r>
            <a:r>
              <a:rPr lang="en-AU" sz="4000"/>
              <a:t> the </a:t>
            </a:r>
            <a:r>
              <a:rPr lang="en-AU" sz="4000" b="1"/>
              <a:t>coordinates</a:t>
            </a:r>
            <a:r>
              <a:rPr lang="en-AU" sz="4000"/>
              <a:t> for the location of the </a:t>
            </a:r>
            <a:r>
              <a:rPr lang="en-AU" sz="4000" b="1"/>
              <a:t>treasure icon.</a:t>
            </a:r>
            <a:endParaRPr lang="en-AU" sz="4000"/>
          </a:p>
        </p:txBody>
      </p:sp>
      <p:pic>
        <p:nvPicPr>
          <p:cNvPr id="8" name="Picture 7">
            <a:extLst>
              <a:ext uri="{FF2B5EF4-FFF2-40B4-BE49-F238E27FC236}">
                <a16:creationId xmlns:a16="http://schemas.microsoft.com/office/drawing/2014/main" id="{396F5258-3769-2FD9-4BDA-533CAA6E2162}"/>
              </a:ext>
            </a:extLst>
          </p:cNvPr>
          <p:cNvPicPr>
            <a:picLocks noChangeAspect="1"/>
          </p:cNvPicPr>
          <p:nvPr/>
        </p:nvPicPr>
        <p:blipFill>
          <a:blip r:embed="rId4"/>
          <a:stretch>
            <a:fillRect/>
          </a:stretch>
        </p:blipFill>
        <p:spPr>
          <a:xfrm>
            <a:off x="4735319" y="1573519"/>
            <a:ext cx="6979009" cy="455318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A series of roads joined at intersections to represent the street map. At different locations on the map are the following landmarks: a forest, a farm, a factory, wind turbines, a supermarket, two houses, a school, or hospital come up a park with a lake, a fairground, two apartment buildings, a museum, a petrol station and a repair shop.  ">
            <a:extLst>
              <a:ext uri="{FF2B5EF4-FFF2-40B4-BE49-F238E27FC236}">
                <a16:creationId xmlns:a16="http://schemas.microsoft.com/office/drawing/2014/main" id="{2060A77D-9F63-A9F8-A28C-9753CFE3ED35}"/>
              </a:ext>
            </a:extLst>
          </p:cNvPr>
          <p:cNvPicPr>
            <a:picLocks noChangeAspect="1"/>
          </p:cNvPicPr>
          <p:nvPr/>
        </p:nvPicPr>
        <p:blipFill>
          <a:blip r:embed="rId4"/>
          <a:stretch>
            <a:fillRect/>
          </a:stretch>
        </p:blipFill>
        <p:spPr>
          <a:xfrm>
            <a:off x="5221404" y="1461544"/>
            <a:ext cx="6724572" cy="4806734"/>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7E42030A-8FFE-7794-2374-1D605F44098B}"/>
              </a:ext>
            </a:extLst>
          </p:cNvPr>
          <p:cNvSpPr txBox="1"/>
          <p:nvPr/>
        </p:nvSpPr>
        <p:spPr>
          <a:xfrm>
            <a:off x="151929" y="1461544"/>
            <a:ext cx="4420071" cy="4333461"/>
          </a:xfrm>
          <a:prstGeom prst="rect">
            <a:avLst/>
          </a:prstGeom>
          <a:noFill/>
        </p:spPr>
        <p:txBody>
          <a:bodyPr wrap="square" lIns="0" tIns="0" rIns="0" bIns="0" rtlCol="0">
            <a:noAutofit/>
          </a:bodyPr>
          <a:lstStyle/>
          <a:p>
            <a:pPr algn="ctr">
              <a:lnSpc>
                <a:spcPct val="150000"/>
              </a:lnSpc>
            </a:pPr>
            <a:r>
              <a:rPr lang="en-AU" sz="4000" b="1"/>
              <a:t>Record</a:t>
            </a:r>
            <a:r>
              <a:rPr lang="en-AU" sz="4000"/>
              <a:t> the directions to get from the </a:t>
            </a:r>
            <a:r>
              <a:rPr lang="en-AU" sz="4000" b="1" dirty="0" err="1"/>
              <a:t>ferris</a:t>
            </a:r>
            <a:r>
              <a:rPr lang="en-AU" sz="4000" b="1"/>
              <a:t> wheel </a:t>
            </a:r>
            <a:r>
              <a:rPr lang="en-AU" sz="4000"/>
              <a:t>to the </a:t>
            </a:r>
            <a:r>
              <a:rPr lang="en-AU" sz="4000" b="1"/>
              <a:t>hospital</a:t>
            </a:r>
            <a:r>
              <a:rPr lang="en-AU" sz="4000"/>
              <a:t>.</a:t>
            </a:r>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equality </a:t>
            </a:r>
            <a:r>
              <a:rPr lang="en-AU">
                <a:solidFill>
                  <a:schemeClr val="bg1"/>
                </a:solidFill>
              </a:rPr>
              <a:t>(1)</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B7AF0A7D-D2A3-8A58-68D1-6ED867C228DB}"/>
              </a:ext>
            </a:extLst>
          </p:cNvPr>
          <p:cNvSpPr txBox="1"/>
          <p:nvPr/>
        </p:nvSpPr>
        <p:spPr>
          <a:xfrm>
            <a:off x="3241307" y="2786687"/>
            <a:ext cx="6097604" cy="923330"/>
          </a:xfrm>
          <a:prstGeom prst="rect">
            <a:avLst/>
          </a:prstGeom>
          <a:noFill/>
        </p:spPr>
        <p:txBody>
          <a:bodyPr wrap="square">
            <a:spAutoFit/>
          </a:bodyPr>
          <a:lstStyle/>
          <a:p>
            <a:r>
              <a:rPr lang="en-AU" sz="5400"/>
              <a:t>24 + 11 = 23 + 12</a:t>
            </a:r>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5F93B-5D96-8E89-8D08-C70F2F4091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3EDC38-C7E4-F80D-3771-95FC648B856D}"/>
              </a:ext>
            </a:extLst>
          </p:cNvPr>
          <p:cNvSpPr>
            <a:spLocks noGrp="1"/>
          </p:cNvSpPr>
          <p:nvPr>
            <p:ph type="title"/>
          </p:nvPr>
        </p:nvSpPr>
        <p:spPr>
          <a:xfrm>
            <a:off x="360000" y="360000"/>
            <a:ext cx="11484000" cy="545601"/>
          </a:xfrm>
        </p:spPr>
        <p:txBody>
          <a:bodyPr/>
          <a:lstStyle/>
          <a:p>
            <a:r>
              <a:rPr lang="en-AU"/>
              <a:t>Activity 1 – equality </a:t>
            </a:r>
            <a:r>
              <a:rPr lang="en-AU">
                <a:solidFill>
                  <a:schemeClr val="bg1"/>
                </a:solidFill>
              </a:rPr>
              <a:t>(2)(1)</a:t>
            </a:r>
          </a:p>
        </p:txBody>
      </p:sp>
      <p:pic>
        <p:nvPicPr>
          <p:cNvPr id="6" name="Picture 5" descr="Top left - a balanced set of scales. On the left side the mass 13g and a missing amount, the right side mass is 28g, find the missing mass. Top right shows a missing number equation ? - 38 + 16 =.&#10;Bottom left shows a missing number sentence ? - 38 = 45 with multiple choices of 45 + 38; 45 - 38; 38 - 45. &#10;Bottom right shows a missing total 200 + 60 + 3 = ? with multiple choices of 200603; 20063; 2603; 263.">
            <a:extLst>
              <a:ext uri="{FF2B5EF4-FFF2-40B4-BE49-F238E27FC236}">
                <a16:creationId xmlns:a16="http://schemas.microsoft.com/office/drawing/2014/main" id="{609CE8A8-C651-ECD2-FC5A-71A54C748455}"/>
              </a:ext>
            </a:extLst>
          </p:cNvPr>
          <p:cNvPicPr>
            <a:picLocks noChangeAspect="1"/>
          </p:cNvPicPr>
          <p:nvPr/>
        </p:nvPicPr>
        <p:blipFill>
          <a:blip r:embed="rId4"/>
          <a:stretch>
            <a:fillRect/>
          </a:stretch>
        </p:blipFill>
        <p:spPr>
          <a:xfrm>
            <a:off x="1906482" y="1040488"/>
            <a:ext cx="8379036" cy="5655512"/>
          </a:xfrm>
          <a:prstGeom prst="rect">
            <a:avLst/>
          </a:prstGeom>
          <a:ln w="19050">
            <a:solidFill>
              <a:schemeClr val="tx1"/>
            </a:solidFill>
          </a:ln>
        </p:spPr>
      </p:pic>
      <p:sp>
        <p:nvSpPr>
          <p:cNvPr id="2" name="Slide Number Placeholder 1">
            <a:extLst>
              <a:ext uri="{FF2B5EF4-FFF2-40B4-BE49-F238E27FC236}">
                <a16:creationId xmlns:a16="http://schemas.microsoft.com/office/drawing/2014/main" id="{F5768313-F64D-8829-606E-741D47E3FCF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spTree>
    <p:extLst>
      <p:ext uri="{BB962C8B-B14F-4D97-AF65-F5344CB8AC3E}">
        <p14:creationId xmlns:p14="http://schemas.microsoft.com/office/powerpoint/2010/main" val="114619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9163-8A4A-0F81-A487-67244D4293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32DB6D-5983-D8EA-2ED7-9CBF0098B84C}"/>
              </a:ext>
            </a:extLst>
          </p:cNvPr>
          <p:cNvSpPr>
            <a:spLocks noGrp="1"/>
          </p:cNvSpPr>
          <p:nvPr>
            <p:ph type="title"/>
          </p:nvPr>
        </p:nvSpPr>
        <p:spPr>
          <a:xfrm>
            <a:off x="360000" y="360000"/>
            <a:ext cx="11484000" cy="545601"/>
          </a:xfrm>
        </p:spPr>
        <p:txBody>
          <a:bodyPr/>
          <a:lstStyle/>
          <a:p>
            <a:r>
              <a:rPr lang="en-AU"/>
              <a:t>Activity 1 – equality </a:t>
            </a:r>
            <a:r>
              <a:rPr lang="en-AU">
                <a:solidFill>
                  <a:schemeClr val="bg1"/>
                </a:solidFill>
              </a:rPr>
              <a:t>(3)(2)</a:t>
            </a:r>
          </a:p>
        </p:txBody>
      </p:sp>
      <p:pic>
        <p:nvPicPr>
          <p:cNvPr id="5" name="Picture 4" descr="Top left - shows a missing number sentence 47 + 16 = ? with multiple choices of 53; 62; 63; 513. &#10;Top right - choose the right answer for the statement The difference between 65 and 37 is 28. Multiple choice answers - 65 - 37 = 28; 65 + 37 = 28; 28 + 65 = 37; 37 - 28 = 65.&#10;Bottom left shows a missing number sentence 32 - ? = 14.&#10;Bottom right shows a missing number sentence 19 + ? + 8 = 45.">
            <a:extLst>
              <a:ext uri="{FF2B5EF4-FFF2-40B4-BE49-F238E27FC236}">
                <a16:creationId xmlns:a16="http://schemas.microsoft.com/office/drawing/2014/main" id="{F858A8A6-2FFA-A9BE-AD9F-81572C73E116}"/>
              </a:ext>
            </a:extLst>
          </p:cNvPr>
          <p:cNvPicPr>
            <a:picLocks noChangeAspect="1"/>
          </p:cNvPicPr>
          <p:nvPr/>
        </p:nvPicPr>
        <p:blipFill>
          <a:blip r:embed="rId3"/>
          <a:stretch>
            <a:fillRect/>
          </a:stretch>
        </p:blipFill>
        <p:spPr>
          <a:xfrm>
            <a:off x="1844404" y="990897"/>
            <a:ext cx="8503192" cy="5705103"/>
          </a:xfrm>
          <a:prstGeom prst="rect">
            <a:avLst/>
          </a:prstGeom>
          <a:ln w="19050">
            <a:solidFill>
              <a:schemeClr val="tx1"/>
            </a:solidFill>
          </a:ln>
        </p:spPr>
      </p:pic>
      <p:sp>
        <p:nvSpPr>
          <p:cNvPr id="2" name="Slide Number Placeholder 1">
            <a:extLst>
              <a:ext uri="{FF2B5EF4-FFF2-40B4-BE49-F238E27FC236}">
                <a16:creationId xmlns:a16="http://schemas.microsoft.com/office/drawing/2014/main" id="{7D6BB2D2-B0F1-3F92-AA95-7C25B075D57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858307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920325" y="2493524"/>
            <a:ext cx="6488272" cy="893226"/>
          </a:xfrm>
        </p:spPr>
        <p:txBody>
          <a:bodyPr/>
          <a:lstStyle/>
          <a:p>
            <a:r>
              <a:rPr lang="en-AU" sz="4400"/>
              <a:t>32 + 18 = 35 + 14</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4"/>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5E78443-4838-1ACA-D30B-5147683777C6}"/>
              </a:ext>
            </a:extLst>
          </p:cNvPr>
          <p:cNvSpPr txBox="1"/>
          <p:nvPr/>
        </p:nvSpPr>
        <p:spPr>
          <a:xfrm>
            <a:off x="1058213" y="2459056"/>
            <a:ext cx="10065787" cy="2782110"/>
          </a:xfrm>
          <a:prstGeom prst="rect">
            <a:avLst/>
          </a:prstGeom>
          <a:noFill/>
        </p:spPr>
        <p:txBody>
          <a:bodyPr wrap="square" lIns="0" tIns="0" rIns="0" bIns="0" rtlCol="0">
            <a:noAutofit/>
          </a:bodyPr>
          <a:lstStyle/>
          <a:p>
            <a:pPr algn="ctr">
              <a:lnSpc>
                <a:spcPct val="150000"/>
              </a:lnSpc>
            </a:pPr>
            <a:r>
              <a:rPr lang="en-AU" sz="4400"/>
              <a:t>Use </a:t>
            </a:r>
            <a:r>
              <a:rPr lang="en-AU" sz="4400" b="1"/>
              <a:t>regrouping</a:t>
            </a:r>
            <a:r>
              <a:rPr lang="en-AU" sz="4400"/>
              <a:t> to solve </a:t>
            </a:r>
            <a:r>
              <a:rPr lang="en-AU" sz="4400" b="1"/>
              <a:t>473 + 37</a:t>
            </a:r>
            <a:r>
              <a:rPr lang="en-AU" sz="4400"/>
              <a:t>.</a:t>
            </a:r>
          </a:p>
          <a:p>
            <a:pPr algn="ctr">
              <a:lnSpc>
                <a:spcPct val="150000"/>
              </a:lnSpc>
            </a:pPr>
            <a:endParaRPr lang="en-AU" sz="4400"/>
          </a:p>
          <a:p>
            <a:pPr algn="ctr">
              <a:lnSpc>
                <a:spcPct val="150000"/>
              </a:lnSpc>
            </a:pPr>
            <a:r>
              <a:rPr lang="en-AU" sz="4400" b="1" dirty="0"/>
              <a:t>Communicate</a:t>
            </a:r>
            <a:r>
              <a:rPr lang="en-AU" sz="4400"/>
              <a:t> your </a:t>
            </a:r>
            <a:r>
              <a:rPr lang="en-AU" sz="4400" b="1" dirty="0"/>
              <a:t>thinking</a:t>
            </a:r>
            <a:r>
              <a:rPr lang="en-AU" sz="4400"/>
              <a:t>. </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C385B18-1B12-4EC0-F6AE-68A2AE0329FB}"/>
              </a:ext>
            </a:extLst>
          </p:cNvPr>
          <p:cNvSpPr txBox="1"/>
          <p:nvPr/>
        </p:nvSpPr>
        <p:spPr>
          <a:xfrm>
            <a:off x="717349" y="1907381"/>
            <a:ext cx="11585976" cy="2757487"/>
          </a:xfrm>
          <a:prstGeom prst="rect">
            <a:avLst/>
          </a:prstGeom>
          <a:noFill/>
        </p:spPr>
        <p:txBody>
          <a:bodyPr wrap="square" lIns="0" tIns="0" rIns="0" bIns="0" rtlCol="0">
            <a:noAutofit/>
          </a:bodyPr>
          <a:lstStyle/>
          <a:p>
            <a:pPr>
              <a:lnSpc>
                <a:spcPct val="150000"/>
              </a:lnSpc>
            </a:pPr>
            <a:r>
              <a:rPr lang="en-AU" sz="4000" b="1"/>
              <a:t>Complete</a:t>
            </a:r>
            <a:r>
              <a:rPr lang="en-AU" sz="4000"/>
              <a:t> these sentences.</a:t>
            </a:r>
          </a:p>
          <a:p>
            <a:pPr marL="571500" indent="-571500">
              <a:lnSpc>
                <a:spcPct val="150000"/>
              </a:lnSpc>
              <a:buFont typeface="Arial" panose="020B0604020202020204" pitchFamily="34" charset="0"/>
              <a:buChar char="•"/>
            </a:pPr>
            <a:r>
              <a:rPr lang="en-AU" sz="4000" b="1"/>
              <a:t>Ascending</a:t>
            </a:r>
            <a:r>
              <a:rPr lang="en-AU" sz="4000"/>
              <a:t> order means ….</a:t>
            </a:r>
          </a:p>
          <a:p>
            <a:pPr marL="571500" indent="-571500">
              <a:lnSpc>
                <a:spcPct val="150000"/>
              </a:lnSpc>
              <a:buFont typeface="Arial" panose="020B0604020202020204" pitchFamily="34" charset="0"/>
              <a:buChar char="•"/>
            </a:pPr>
            <a:r>
              <a:rPr lang="en-AU" sz="4000" b="1"/>
              <a:t>Descending </a:t>
            </a:r>
            <a:r>
              <a:rPr lang="en-AU" sz="4000"/>
              <a:t>order means ….</a:t>
            </a:r>
          </a:p>
          <a:p>
            <a:pPr algn="ctr"/>
            <a:endParaRPr lang="en-AU" sz="200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21CE6D5-5E07-33A9-067B-2ED6F37AE047}"/>
              </a:ext>
            </a:extLst>
          </p:cNvPr>
          <p:cNvSpPr txBox="1"/>
          <p:nvPr/>
        </p:nvSpPr>
        <p:spPr>
          <a:xfrm>
            <a:off x="360000" y="1831572"/>
            <a:ext cx="3664404" cy="4394579"/>
          </a:xfrm>
          <a:prstGeom prst="rect">
            <a:avLst/>
          </a:prstGeom>
          <a:noFill/>
        </p:spPr>
        <p:txBody>
          <a:bodyPr wrap="square" lIns="0" tIns="0" rIns="0" bIns="0" rtlCol="0">
            <a:noAutofit/>
          </a:bodyPr>
          <a:lstStyle/>
          <a:p>
            <a:pPr algn="ctr">
              <a:lnSpc>
                <a:spcPct val="150000"/>
              </a:lnSpc>
            </a:pPr>
            <a:r>
              <a:rPr lang="en-AU" sz="4400" dirty="0"/>
              <a:t>What</a:t>
            </a:r>
            <a:r>
              <a:rPr lang="en-AU" sz="4400" b="1" dirty="0"/>
              <a:t> </a:t>
            </a:r>
            <a:r>
              <a:rPr lang="en-AU" sz="4400" dirty="0"/>
              <a:t>is located at </a:t>
            </a:r>
            <a:r>
              <a:rPr lang="en-AU" sz="4400" b="1" dirty="0"/>
              <a:t>G6 </a:t>
            </a:r>
            <a:r>
              <a:rPr lang="en-AU" sz="4400" dirty="0"/>
              <a:t>and</a:t>
            </a:r>
            <a:r>
              <a:rPr lang="en-AU" sz="4400" b="1" dirty="0"/>
              <a:t> F5?</a:t>
            </a:r>
            <a:endParaRPr lang="en-AU" sz="4400" dirty="0"/>
          </a:p>
        </p:txBody>
      </p:sp>
      <p:pic>
        <p:nvPicPr>
          <p:cNvPr id="8" name="Picture 7">
            <a:extLst>
              <a:ext uri="{FF2B5EF4-FFF2-40B4-BE49-F238E27FC236}">
                <a16:creationId xmlns:a16="http://schemas.microsoft.com/office/drawing/2014/main" id="{F1A83550-D875-816B-12DA-59439710860E}"/>
              </a:ext>
            </a:extLst>
          </p:cNvPr>
          <p:cNvPicPr>
            <a:picLocks noChangeAspect="1"/>
          </p:cNvPicPr>
          <p:nvPr/>
        </p:nvPicPr>
        <p:blipFill>
          <a:blip r:embed="rId4"/>
          <a:stretch>
            <a:fillRect/>
          </a:stretch>
        </p:blipFill>
        <p:spPr>
          <a:xfrm>
            <a:off x="4387794" y="1318663"/>
            <a:ext cx="6979009" cy="4553184"/>
          </a:xfrm>
          <a:prstGeom prst="rect">
            <a:avLst/>
          </a:prstGeom>
        </p:spPr>
      </p:pic>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F2CDBFE-8EB8-F48D-EABE-ABAEF2247BBD}"/>
              </a:ext>
            </a:extLst>
          </p:cNvPr>
          <p:cNvSpPr txBox="1"/>
          <p:nvPr/>
        </p:nvSpPr>
        <p:spPr>
          <a:xfrm>
            <a:off x="863725" y="1427923"/>
            <a:ext cx="10464550" cy="1726094"/>
          </a:xfrm>
          <a:prstGeom prst="rect">
            <a:avLst/>
          </a:prstGeom>
          <a:noFill/>
        </p:spPr>
        <p:txBody>
          <a:bodyPr wrap="square" lIns="0" tIns="0" rIns="0" bIns="0" rtlCol="0">
            <a:noAutofit/>
          </a:bodyPr>
          <a:lstStyle/>
          <a:p>
            <a:pPr algn="ctr">
              <a:lnSpc>
                <a:spcPct val="150000"/>
              </a:lnSpc>
            </a:pPr>
            <a:r>
              <a:rPr lang="en-AU" sz="3600" b="1"/>
              <a:t>Record the numbers </a:t>
            </a:r>
            <a:r>
              <a:rPr lang="en-AU" sz="3600"/>
              <a:t>that complete the sentences.</a:t>
            </a:r>
          </a:p>
          <a:p>
            <a:pPr algn="ctr">
              <a:lnSpc>
                <a:spcPct val="150000"/>
              </a:lnSpc>
            </a:pPr>
            <a:endParaRPr lang="en-AU" sz="3600"/>
          </a:p>
          <a:p>
            <a:pPr>
              <a:lnSpc>
                <a:spcPct val="150000"/>
              </a:lnSpc>
            </a:pPr>
            <a:r>
              <a:rPr lang="en-AU" sz="3600"/>
              <a:t>There are _____  </a:t>
            </a:r>
            <a:r>
              <a:rPr lang="en-AU" sz="3600" b="1"/>
              <a:t>millimetres</a:t>
            </a:r>
            <a:r>
              <a:rPr lang="en-AU" sz="3600"/>
              <a:t> in </a:t>
            </a:r>
            <a:r>
              <a:rPr lang="en-AU" sz="3600" b="1"/>
              <a:t>1</a:t>
            </a:r>
            <a:r>
              <a:rPr lang="en-AU" sz="3600"/>
              <a:t> </a:t>
            </a:r>
            <a:r>
              <a:rPr lang="en-AU" sz="3600" b="1"/>
              <a:t>centimetre</a:t>
            </a:r>
            <a:r>
              <a:rPr lang="en-AU" sz="3600"/>
              <a:t>.</a:t>
            </a:r>
          </a:p>
          <a:p>
            <a:pPr>
              <a:lnSpc>
                <a:spcPct val="150000"/>
              </a:lnSpc>
            </a:pPr>
            <a:r>
              <a:rPr lang="en-AU" sz="3600"/>
              <a:t>There are _____  </a:t>
            </a:r>
            <a:r>
              <a:rPr lang="en-AU" sz="3600" b="1"/>
              <a:t>millimetres</a:t>
            </a:r>
            <a:r>
              <a:rPr lang="en-AU" sz="3600"/>
              <a:t> in </a:t>
            </a:r>
            <a:r>
              <a:rPr lang="en-AU" sz="3600" b="1"/>
              <a:t>2</a:t>
            </a:r>
            <a:r>
              <a:rPr lang="en-AU" sz="3600"/>
              <a:t> </a:t>
            </a:r>
            <a:r>
              <a:rPr lang="en-AU" sz="3600" b="1"/>
              <a:t>centimetres</a:t>
            </a:r>
            <a:r>
              <a:rPr lang="en-AU" sz="3600"/>
              <a:t>.</a:t>
            </a:r>
          </a:p>
          <a:p>
            <a:pPr>
              <a:lnSpc>
                <a:spcPct val="150000"/>
              </a:lnSpc>
            </a:pPr>
            <a:r>
              <a:rPr lang="en-AU" sz="3600"/>
              <a:t>There are _____  </a:t>
            </a:r>
            <a:r>
              <a:rPr lang="en-AU" sz="3600" b="1"/>
              <a:t>millimetres </a:t>
            </a:r>
            <a:r>
              <a:rPr lang="en-AU" sz="3600"/>
              <a:t>in </a:t>
            </a:r>
            <a:r>
              <a:rPr lang="en-AU" sz="3600" b="1"/>
              <a:t>6</a:t>
            </a:r>
            <a:r>
              <a:rPr lang="en-AU" sz="3600"/>
              <a:t> </a:t>
            </a:r>
            <a:r>
              <a:rPr lang="en-AU" sz="3600" b="1"/>
              <a:t>centimetres</a:t>
            </a:r>
            <a:r>
              <a:rPr lang="en-AU" sz="3600"/>
              <a:t>.</a:t>
            </a:r>
          </a:p>
          <a:p>
            <a:pPr algn="ctr">
              <a:lnSpc>
                <a:spcPct val="150000"/>
              </a:lnSpc>
            </a:pPr>
            <a:endParaRPr lang="en-AU" sz="3200"/>
          </a:p>
          <a:p>
            <a:pPr algn="l"/>
            <a:endParaRPr lang="en-AU" sz="1800"/>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equivalence</a:t>
            </a:r>
          </a:p>
        </p:txBody>
      </p:sp>
      <p:sp>
        <p:nvSpPr>
          <p:cNvPr id="2" name="Slide Number Placeholder 1" descr="A four-square box with the numbers left to right, top to bottom - 5, 2, 1, 9.">
            <a:extLst>
              <a:ext uri="{FF2B5EF4-FFF2-40B4-BE49-F238E27FC236}">
                <a16:creationId xmlns:a16="http://schemas.microsoft.com/office/drawing/2014/main" id="{667A3C9A-16B3-82E5-17C0-1858EAFCD543}"/>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19</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four-square box with the numbers left to right, top to bottom - 5, 2, 1, 9.">
            <a:extLst>
              <a:ext uri="{FF2B5EF4-FFF2-40B4-BE49-F238E27FC236}">
                <a16:creationId xmlns:a16="http://schemas.microsoft.com/office/drawing/2014/main" id="{CCF2FB73-2802-7A5B-E139-41682514AB83}"/>
              </a:ext>
            </a:extLst>
          </p:cNvPr>
          <p:cNvPicPr>
            <a:picLocks noChangeAspect="1"/>
          </p:cNvPicPr>
          <p:nvPr/>
        </p:nvPicPr>
        <p:blipFill>
          <a:blip r:embed="rId4"/>
          <a:stretch>
            <a:fillRect/>
          </a:stretch>
        </p:blipFill>
        <p:spPr>
          <a:xfrm>
            <a:off x="527113" y="1674246"/>
            <a:ext cx="4081577" cy="4071859"/>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07A32A92-B251-2841-D46A-71FFBD7FCC18}"/>
              </a:ext>
            </a:extLst>
          </p:cNvPr>
          <p:cNvSpPr txBox="1"/>
          <p:nvPr/>
        </p:nvSpPr>
        <p:spPr>
          <a:xfrm>
            <a:off x="5189292" y="1674246"/>
            <a:ext cx="6858774" cy="4026102"/>
          </a:xfrm>
          <a:prstGeom prst="rect">
            <a:avLst/>
          </a:prstGeom>
          <a:noFill/>
        </p:spPr>
        <p:txBody>
          <a:bodyPr wrap="square">
            <a:spAutoFit/>
          </a:bodyPr>
          <a:lstStyle/>
          <a:p>
            <a:pPr>
              <a:lnSpc>
                <a:spcPct val="150000"/>
              </a:lnSpc>
              <a:buNone/>
            </a:pPr>
            <a:r>
              <a:rPr lang="en-AU" sz="2900" b="0" i="0" dirty="0">
                <a:solidFill>
                  <a:srgbClr val="000000"/>
                </a:solidFill>
                <a:effectLst/>
                <a:latin typeface="Arial" panose="020B0604020202020204" pitchFamily="34" charset="0"/>
                <a:cs typeface="Arial" panose="020B0604020202020204" pitchFamily="34" charset="0"/>
              </a:rPr>
              <a:t>This gives four 2-digit numbers:</a:t>
            </a:r>
            <a:endParaRPr lang="en-AU" sz="2900" dirty="0">
              <a:solidFill>
                <a:srgbClr val="000000"/>
              </a:solidFill>
              <a:effectLst/>
              <a:latin typeface="Arial" panose="020B0604020202020204" pitchFamily="34" charset="0"/>
              <a:cs typeface="Arial" panose="020B0604020202020204" pitchFamily="34" charset="0"/>
            </a:endParaRPr>
          </a:p>
          <a:p>
            <a:pPr>
              <a:lnSpc>
                <a:spcPct val="150000"/>
              </a:lnSpc>
              <a:buNone/>
            </a:pPr>
            <a:r>
              <a:rPr lang="en-AU" sz="2900" b="0" i="0" dirty="0">
                <a:solidFill>
                  <a:srgbClr val="000000"/>
                </a:solidFill>
                <a:effectLst/>
                <a:latin typeface="Arial" panose="020B0604020202020204" pitchFamily="34" charset="0"/>
                <a:cs typeface="Arial" panose="020B0604020202020204" pitchFamily="34" charset="0"/>
              </a:rPr>
              <a:t>52 (reading along the 1st row)</a:t>
            </a:r>
            <a:endParaRPr lang="en-AU" sz="2900" dirty="0">
              <a:solidFill>
                <a:srgbClr val="000000"/>
              </a:solidFill>
              <a:effectLst/>
              <a:latin typeface="Arial" panose="020B0604020202020204" pitchFamily="34" charset="0"/>
              <a:cs typeface="Arial" panose="020B0604020202020204" pitchFamily="34" charset="0"/>
            </a:endParaRPr>
          </a:p>
          <a:p>
            <a:pPr>
              <a:lnSpc>
                <a:spcPct val="150000"/>
              </a:lnSpc>
              <a:buNone/>
            </a:pPr>
            <a:r>
              <a:rPr lang="en-AU" sz="2900" b="0" i="0" dirty="0">
                <a:solidFill>
                  <a:srgbClr val="000000"/>
                </a:solidFill>
                <a:effectLst/>
                <a:latin typeface="Arial" panose="020B0604020202020204" pitchFamily="34" charset="0"/>
                <a:cs typeface="Arial" panose="020B0604020202020204" pitchFamily="34" charset="0"/>
              </a:rPr>
              <a:t>19 (reading along the 2nd row)</a:t>
            </a:r>
            <a:endParaRPr lang="en-AU" sz="2900" dirty="0">
              <a:solidFill>
                <a:srgbClr val="000000"/>
              </a:solidFill>
              <a:effectLst/>
              <a:latin typeface="Arial" panose="020B0604020202020204" pitchFamily="34" charset="0"/>
              <a:cs typeface="Arial" panose="020B0604020202020204" pitchFamily="34" charset="0"/>
            </a:endParaRPr>
          </a:p>
          <a:p>
            <a:pPr>
              <a:lnSpc>
                <a:spcPct val="150000"/>
              </a:lnSpc>
              <a:buNone/>
            </a:pPr>
            <a:r>
              <a:rPr lang="en-AU" sz="2900" b="0" i="0" dirty="0">
                <a:solidFill>
                  <a:srgbClr val="000000"/>
                </a:solidFill>
                <a:effectLst/>
                <a:latin typeface="Arial" panose="020B0604020202020204" pitchFamily="34" charset="0"/>
                <a:cs typeface="Arial" panose="020B0604020202020204" pitchFamily="34" charset="0"/>
              </a:rPr>
              <a:t>51 (reading down the left hand column)</a:t>
            </a:r>
            <a:endParaRPr lang="en-AU" sz="2900" dirty="0">
              <a:solidFill>
                <a:srgbClr val="000000"/>
              </a:solidFill>
              <a:effectLst/>
              <a:latin typeface="Arial" panose="020B0604020202020204" pitchFamily="34" charset="0"/>
              <a:cs typeface="Arial" panose="020B0604020202020204" pitchFamily="34" charset="0"/>
            </a:endParaRPr>
          </a:p>
          <a:p>
            <a:pPr>
              <a:lnSpc>
                <a:spcPct val="150000"/>
              </a:lnSpc>
              <a:buNone/>
            </a:pPr>
            <a:r>
              <a:rPr lang="en-AU" sz="2900" b="0" i="0" dirty="0">
                <a:solidFill>
                  <a:srgbClr val="000000"/>
                </a:solidFill>
                <a:effectLst/>
                <a:latin typeface="Arial" panose="020B0604020202020204" pitchFamily="34" charset="0"/>
                <a:cs typeface="Arial" panose="020B0604020202020204" pitchFamily="34" charset="0"/>
              </a:rPr>
              <a:t>29 (reading down the right hand column)</a:t>
            </a:r>
            <a:endParaRPr lang="en-AU" sz="2900" dirty="0">
              <a:solidFill>
                <a:srgbClr val="000000"/>
              </a:solidFill>
              <a:effectLst/>
              <a:latin typeface="Arial" panose="020B0604020202020204" pitchFamily="34" charset="0"/>
              <a:cs typeface="Arial" panose="020B0604020202020204" pitchFamily="34" charset="0"/>
            </a:endParaRPr>
          </a:p>
          <a:p>
            <a:pPr>
              <a:lnSpc>
                <a:spcPct val="150000"/>
              </a:lnSpc>
            </a:pPr>
            <a:r>
              <a:rPr lang="en-AU" sz="2900" b="0" i="0" dirty="0">
                <a:solidFill>
                  <a:srgbClr val="000000"/>
                </a:solidFill>
                <a:effectLst/>
                <a:latin typeface="Arial" panose="020B0604020202020204" pitchFamily="34" charset="0"/>
                <a:cs typeface="Arial" panose="020B0604020202020204" pitchFamily="34" charset="0"/>
              </a:rPr>
              <a:t>In this case their sum is 151. </a:t>
            </a:r>
            <a:endParaRPr lang="en-AU" sz="2900"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93A7A-9C27-9EEF-CD29-DBB1D9D84022}"/>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sp>
        <p:nvSpPr>
          <p:cNvPr id="9" name="TextBox 8">
            <a:extLst>
              <a:ext uri="{FF2B5EF4-FFF2-40B4-BE49-F238E27FC236}">
                <a16:creationId xmlns:a16="http://schemas.microsoft.com/office/drawing/2014/main" id="{AF13415D-5ABE-8CE1-9EF6-D83C6FF3BAC9}"/>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Box 4">
            <a:extLst>
              <a:ext uri="{FF2B5EF4-FFF2-40B4-BE49-F238E27FC236}">
                <a16:creationId xmlns:a16="http://schemas.microsoft.com/office/drawing/2014/main" id="{A082A25C-F436-0C2E-2785-269B43F2EBE5}"/>
              </a:ext>
            </a:extLst>
          </p:cNvPr>
          <p:cNvSpPr txBox="1"/>
          <p:nvPr/>
        </p:nvSpPr>
        <p:spPr>
          <a:xfrm>
            <a:off x="841941" y="1838131"/>
            <a:ext cx="10642059" cy="1937084"/>
          </a:xfrm>
          <a:prstGeom prst="rect">
            <a:avLst/>
          </a:prstGeom>
          <a:noFill/>
        </p:spPr>
        <p:txBody>
          <a:bodyPr wrap="square" lIns="0" tIns="0" rIns="0" bIns="0" rtlCol="0">
            <a:noAutofit/>
          </a:bodyPr>
          <a:lstStyle/>
          <a:p>
            <a:pPr algn="ctr">
              <a:lnSpc>
                <a:spcPct val="150000"/>
              </a:lnSpc>
            </a:pPr>
            <a:r>
              <a:rPr lang="en-AU" sz="4400"/>
              <a:t>32 + 7 and 22 + 17 </a:t>
            </a:r>
          </a:p>
          <a:p>
            <a:pPr algn="ctr">
              <a:lnSpc>
                <a:spcPct val="150000"/>
              </a:lnSpc>
            </a:pPr>
            <a:r>
              <a:rPr lang="en-AU" sz="4400"/>
              <a:t>are both </a:t>
            </a:r>
            <a:r>
              <a:rPr lang="en-AU" sz="4400" b="1"/>
              <a:t>equivalent</a:t>
            </a:r>
            <a:r>
              <a:rPr lang="en-AU" sz="4400"/>
              <a:t> to</a:t>
            </a:r>
            <a:r>
              <a:rPr lang="en-AU" sz="4400" dirty="0"/>
              <a:t>…</a:t>
            </a:r>
            <a:endParaRPr lang="en-AU" sz="4400"/>
          </a:p>
        </p:txBody>
      </p:sp>
      <p:sp>
        <p:nvSpPr>
          <p:cNvPr id="7" name="TextBox 6">
            <a:extLst>
              <a:ext uri="{FF2B5EF4-FFF2-40B4-BE49-F238E27FC236}">
                <a16:creationId xmlns:a16="http://schemas.microsoft.com/office/drawing/2014/main" id="{2622AE4C-F20C-6169-D357-DE84C4CCCE1E}"/>
              </a:ext>
            </a:extLst>
          </p:cNvPr>
          <p:cNvSpPr txBox="1"/>
          <p:nvPr/>
        </p:nvSpPr>
        <p:spPr>
          <a:xfrm>
            <a:off x="2068067" y="5595856"/>
            <a:ext cx="914400" cy="914400"/>
          </a:xfrm>
          <a:prstGeom prst="rect">
            <a:avLst/>
          </a:prstGeom>
          <a:noFill/>
        </p:spPr>
        <p:txBody>
          <a:bodyPr wrap="none" lIns="0" tIns="0" rIns="0" bIns="0" rtlCol="0">
            <a:noAutofit/>
          </a:bodyPr>
          <a:lstStyle/>
          <a:p>
            <a:pPr algn="l"/>
            <a:r>
              <a:rPr lang="en-AU" sz="4400"/>
              <a:t>39</a:t>
            </a:r>
          </a:p>
        </p:txBody>
      </p:sp>
      <p:sp>
        <p:nvSpPr>
          <p:cNvPr id="8" name="TextBox 7">
            <a:extLst>
              <a:ext uri="{FF2B5EF4-FFF2-40B4-BE49-F238E27FC236}">
                <a16:creationId xmlns:a16="http://schemas.microsoft.com/office/drawing/2014/main" id="{C176EB85-2167-CE09-2633-27AACB535B8B}"/>
              </a:ext>
            </a:extLst>
          </p:cNvPr>
          <p:cNvSpPr txBox="1"/>
          <p:nvPr/>
        </p:nvSpPr>
        <p:spPr>
          <a:xfrm>
            <a:off x="4830026" y="5595856"/>
            <a:ext cx="914400" cy="914400"/>
          </a:xfrm>
          <a:prstGeom prst="rect">
            <a:avLst/>
          </a:prstGeom>
          <a:noFill/>
        </p:spPr>
        <p:txBody>
          <a:bodyPr wrap="none" lIns="0" tIns="0" rIns="0" bIns="0" rtlCol="0">
            <a:noAutofit/>
          </a:bodyPr>
          <a:lstStyle/>
          <a:p>
            <a:pPr algn="l"/>
            <a:r>
              <a:rPr lang="en-AU" sz="4400"/>
              <a:t>46</a:t>
            </a:r>
          </a:p>
        </p:txBody>
      </p:sp>
      <p:sp>
        <p:nvSpPr>
          <p:cNvPr id="13" name="TextBox 12">
            <a:extLst>
              <a:ext uri="{FF2B5EF4-FFF2-40B4-BE49-F238E27FC236}">
                <a16:creationId xmlns:a16="http://schemas.microsoft.com/office/drawing/2014/main" id="{214CBF18-3E8B-16B4-6DC4-7EE7A4795F34}"/>
              </a:ext>
            </a:extLst>
          </p:cNvPr>
          <p:cNvSpPr txBox="1"/>
          <p:nvPr/>
        </p:nvSpPr>
        <p:spPr>
          <a:xfrm>
            <a:off x="7923957" y="5583600"/>
            <a:ext cx="914400" cy="914400"/>
          </a:xfrm>
          <a:prstGeom prst="rect">
            <a:avLst/>
          </a:prstGeom>
          <a:noFill/>
        </p:spPr>
        <p:txBody>
          <a:bodyPr wrap="none" lIns="0" tIns="0" rIns="0" bIns="0" rtlCol="0">
            <a:noAutofit/>
          </a:bodyPr>
          <a:lstStyle/>
          <a:p>
            <a:pPr algn="l"/>
            <a:r>
              <a:rPr lang="en-AU" sz="4400"/>
              <a:t>37</a:t>
            </a:r>
          </a:p>
        </p:txBody>
      </p:sp>
      <p:sp>
        <p:nvSpPr>
          <p:cNvPr id="14" name="TextBox 13">
            <a:extLst>
              <a:ext uri="{FF2B5EF4-FFF2-40B4-BE49-F238E27FC236}">
                <a16:creationId xmlns:a16="http://schemas.microsoft.com/office/drawing/2014/main" id="{1F0FC15B-5573-018E-BDFE-C772E1070B34}"/>
              </a:ext>
            </a:extLst>
          </p:cNvPr>
          <p:cNvSpPr txBox="1"/>
          <p:nvPr/>
        </p:nvSpPr>
        <p:spPr>
          <a:xfrm>
            <a:off x="10837973" y="5595856"/>
            <a:ext cx="914400" cy="914400"/>
          </a:xfrm>
          <a:prstGeom prst="rect">
            <a:avLst/>
          </a:prstGeom>
          <a:noFill/>
        </p:spPr>
        <p:txBody>
          <a:bodyPr wrap="none" lIns="0" tIns="0" rIns="0" bIns="0" rtlCol="0">
            <a:noAutofit/>
          </a:bodyPr>
          <a:lstStyle/>
          <a:p>
            <a:pPr algn="l"/>
            <a:r>
              <a:rPr lang="en-AU" sz="4400"/>
              <a:t>49</a:t>
            </a:r>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5E38AE0-3A80-1873-6D69-C2D8667BA6CE}"/>
              </a:ext>
            </a:extLst>
          </p:cNvPr>
          <p:cNvSpPr txBox="1"/>
          <p:nvPr/>
        </p:nvSpPr>
        <p:spPr>
          <a:xfrm>
            <a:off x="1278014" y="1993292"/>
            <a:ext cx="9929108" cy="4029501"/>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Use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regrouping</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to solve </a:t>
            </a:r>
            <a:r>
              <a:rPr lang="en-AU" sz="4400" b="1">
                <a:solidFill>
                  <a:srgbClr val="22272B"/>
                </a:solidFill>
                <a:latin typeface="Arial" panose="020B0604020202020204"/>
              </a:rPr>
              <a:t>284</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 - 76</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a:t>
            </a:r>
          </a:p>
          <a:p>
            <a:pPr marL="0" marR="0" lvl="0" indent="0" algn="ctr" defTabSz="609585" rtl="0" eaLnBrk="1" fontAlgn="auto" latinLnBrk="0" hangingPunct="1">
              <a:lnSpc>
                <a:spcPct val="150000"/>
              </a:lnSpc>
              <a:spcBef>
                <a:spcPts val="0"/>
              </a:spcBef>
              <a:spcAft>
                <a:spcPts val="0"/>
              </a:spcAft>
              <a:buClrTx/>
              <a:buSzTx/>
              <a:buFontTx/>
              <a:buNone/>
              <a:tabLst/>
              <a:defRPr/>
            </a:pP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a:p>
            <a:pPr marL="0" marR="0" lvl="0" indent="0" algn="ctr" defTabSz="609585" rtl="0" eaLnBrk="1" fontAlgn="auto" latinLnBrk="0" hangingPunct="1">
              <a:lnSpc>
                <a:spcPct val="150000"/>
              </a:lnSpc>
              <a:spcBef>
                <a:spcPts val="0"/>
              </a:spcBef>
              <a:spcAft>
                <a:spcPts val="0"/>
              </a:spcAft>
              <a:buClrTx/>
              <a:buSzTx/>
              <a:buFontTx/>
              <a:buNone/>
              <a:tabLst/>
              <a:defRPr/>
            </a:pP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Communicate</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your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thinking</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33F4A818-103C-4396-D5B9-9B05F8818706}"/>
              </a:ext>
            </a:extLst>
          </p:cNvPr>
          <p:cNvSpPr txBox="1"/>
          <p:nvPr/>
        </p:nvSpPr>
        <p:spPr>
          <a:xfrm>
            <a:off x="1171178" y="1425542"/>
            <a:ext cx="10101660" cy="1574652"/>
          </a:xfrm>
          <a:prstGeom prst="rect">
            <a:avLst/>
          </a:prstGeom>
          <a:noFill/>
        </p:spPr>
        <p:txBody>
          <a:bodyPr wrap="square" lIns="0" tIns="0" rIns="0" bIns="0" rtlCol="0">
            <a:noAutofit/>
          </a:bodyPr>
          <a:lstStyle/>
          <a:p>
            <a:pPr algn="ctr">
              <a:lnSpc>
                <a:spcPct val="150000"/>
              </a:lnSpc>
            </a:pPr>
            <a:r>
              <a:rPr lang="en-AU" sz="4000"/>
              <a:t>How many </a:t>
            </a:r>
            <a:r>
              <a:rPr lang="en-AU" sz="4000" b="1"/>
              <a:t>tenths </a:t>
            </a:r>
            <a:r>
              <a:rPr lang="en-AU" sz="4000"/>
              <a:t>have been shaded pink?</a:t>
            </a:r>
          </a:p>
          <a:p>
            <a:pPr algn="ctr">
              <a:lnSpc>
                <a:spcPct val="150000"/>
              </a:lnSpc>
            </a:pPr>
            <a:r>
              <a:rPr lang="en-AU" sz="4000" b="1"/>
              <a:t>Record</a:t>
            </a:r>
            <a:r>
              <a:rPr lang="en-AU" sz="4000"/>
              <a:t> using </a:t>
            </a:r>
            <a:r>
              <a:rPr lang="en-AU" sz="4000" b="1"/>
              <a:t>decimal notation</a:t>
            </a:r>
            <a:r>
              <a:rPr lang="en-AU" sz="3600"/>
              <a:t>.</a:t>
            </a:r>
          </a:p>
        </p:txBody>
      </p:sp>
      <p:pic>
        <p:nvPicPr>
          <p:cNvPr id="12" name="Picture 11">
            <a:extLst>
              <a:ext uri="{FF2B5EF4-FFF2-40B4-BE49-F238E27FC236}">
                <a16:creationId xmlns:a16="http://schemas.microsoft.com/office/drawing/2014/main" id="{9B761168-7A9A-9DAB-D156-2DEEE69DF0D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093067" y="3354525"/>
            <a:ext cx="8298096" cy="300035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5908080-C133-DF25-81F1-E679AE9F3E53}"/>
              </a:ext>
            </a:extLst>
          </p:cNvPr>
          <p:cNvSpPr txBox="1"/>
          <p:nvPr/>
        </p:nvSpPr>
        <p:spPr>
          <a:xfrm>
            <a:off x="968991" y="1801504"/>
            <a:ext cx="10367268" cy="4435874"/>
          </a:xfrm>
          <a:prstGeom prst="rect">
            <a:avLst/>
          </a:prstGeom>
          <a:noFill/>
        </p:spPr>
        <p:txBody>
          <a:bodyPr wrap="square" lIns="0" tIns="0" rIns="0" bIns="0" rtlCol="0">
            <a:noAutofit/>
          </a:bodyPr>
          <a:lstStyle/>
          <a:p>
            <a:pPr algn="ctr">
              <a:lnSpc>
                <a:spcPct val="150000"/>
              </a:lnSpc>
            </a:pPr>
            <a:r>
              <a:rPr lang="en-AU" sz="4400" b="1"/>
              <a:t>Record</a:t>
            </a:r>
            <a:r>
              <a:rPr lang="en-AU" sz="4400"/>
              <a:t> 3 </a:t>
            </a:r>
            <a:r>
              <a:rPr lang="en-AU" sz="4400" b="1"/>
              <a:t>different</a:t>
            </a:r>
            <a:r>
              <a:rPr lang="en-AU" sz="4400"/>
              <a:t> ways $4 can be made using a </a:t>
            </a:r>
            <a:r>
              <a:rPr lang="en-AU" sz="4400" b="1"/>
              <a:t>combination</a:t>
            </a:r>
            <a:r>
              <a:rPr lang="en-AU" sz="4400"/>
              <a:t> of gold and silver coins.</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9B46AA1-5F90-1201-3814-1F2F4BC8DD6F}"/>
              </a:ext>
            </a:extLst>
          </p:cNvPr>
          <p:cNvSpPr txBox="1"/>
          <p:nvPr/>
        </p:nvSpPr>
        <p:spPr>
          <a:xfrm>
            <a:off x="1013254" y="1184223"/>
            <a:ext cx="9714014" cy="2001078"/>
          </a:xfrm>
          <a:prstGeom prst="rect">
            <a:avLst/>
          </a:prstGeom>
          <a:noFill/>
        </p:spPr>
        <p:txBody>
          <a:bodyPr wrap="square" lIns="0" tIns="0" rIns="0" bIns="0" rtlCol="0">
            <a:noAutofit/>
          </a:bodyPr>
          <a:lstStyle/>
          <a:p>
            <a:pPr algn="ctr">
              <a:lnSpc>
                <a:spcPct val="150000"/>
              </a:lnSpc>
            </a:pPr>
            <a:r>
              <a:rPr lang="en-AU" sz="4000"/>
              <a:t>A jar contains different coloured jellybeans </a:t>
            </a:r>
            <a:r>
              <a:rPr lang="en-AU" sz="4000" b="1">
                <a:solidFill>
                  <a:srgbClr val="FF0000"/>
                </a:solidFill>
              </a:rPr>
              <a:t>red</a:t>
            </a:r>
            <a:r>
              <a:rPr lang="en-AU" sz="4000"/>
              <a:t>, </a:t>
            </a:r>
            <a:r>
              <a:rPr lang="en-AU" sz="4000" b="1">
                <a:solidFill>
                  <a:schemeClr val="accent2"/>
                </a:solidFill>
              </a:rPr>
              <a:t>blue</a:t>
            </a:r>
            <a:r>
              <a:rPr lang="en-AU" sz="4000"/>
              <a:t>, </a:t>
            </a:r>
            <a:r>
              <a:rPr lang="en-AU" sz="4000" b="1">
                <a:solidFill>
                  <a:srgbClr val="FF6600"/>
                </a:solidFill>
              </a:rPr>
              <a:t>orange</a:t>
            </a:r>
            <a:r>
              <a:rPr lang="en-AU" sz="4000"/>
              <a:t>, </a:t>
            </a:r>
            <a:r>
              <a:rPr lang="en-AU" sz="4000" b="1">
                <a:solidFill>
                  <a:srgbClr val="00B050"/>
                </a:solidFill>
              </a:rPr>
              <a:t>green</a:t>
            </a:r>
            <a:r>
              <a:rPr lang="en-AU" sz="4000"/>
              <a:t> and </a:t>
            </a:r>
            <a:r>
              <a:rPr lang="en-AU" sz="4000" b="1">
                <a:solidFill>
                  <a:srgbClr val="FFC000"/>
                </a:solidFill>
              </a:rPr>
              <a:t>yellow</a:t>
            </a:r>
            <a:r>
              <a:rPr lang="en-AU" sz="4000"/>
              <a:t>.</a:t>
            </a:r>
            <a:br>
              <a:rPr lang="en-AU" sz="4000"/>
            </a:br>
            <a:r>
              <a:rPr lang="en-AU" sz="4000"/>
              <a:t>Clara randomly picks </a:t>
            </a:r>
            <a:r>
              <a:rPr lang="en-AU" sz="4000" b="1"/>
              <a:t>1</a:t>
            </a:r>
            <a:r>
              <a:rPr lang="en-AU" sz="4000"/>
              <a:t> jellybean.</a:t>
            </a:r>
          </a:p>
          <a:p>
            <a:pPr algn="ctr">
              <a:lnSpc>
                <a:spcPct val="150000"/>
              </a:lnSpc>
            </a:pPr>
            <a:endParaRPr lang="en-AU" sz="4000"/>
          </a:p>
          <a:p>
            <a:pPr algn="ctr">
              <a:lnSpc>
                <a:spcPct val="150000"/>
              </a:lnSpc>
            </a:pPr>
            <a:r>
              <a:rPr lang="en-AU" sz="4000" b="1"/>
              <a:t>Record</a:t>
            </a:r>
            <a:r>
              <a:rPr lang="en-AU" sz="4000"/>
              <a:t> </a:t>
            </a:r>
            <a:r>
              <a:rPr lang="en-AU" sz="4000" b="1"/>
              <a:t>all</a:t>
            </a:r>
            <a:r>
              <a:rPr lang="en-AU" sz="4000"/>
              <a:t> possible </a:t>
            </a:r>
            <a:r>
              <a:rPr lang="en-AU" sz="4000" b="1"/>
              <a:t>outcomes.</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81400"/>
            <a:ext cx="10367268" cy="545601"/>
          </a:xfrm>
        </p:spPr>
        <p:txBody>
          <a:bodyPr/>
          <a:lstStyle/>
          <a:p>
            <a:r>
              <a:rPr lang="en-AU"/>
              <a:t>Activity 3 – finding the missing numbers addition</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series of addition algorithms with one number missing to make equal solutions.">
            <a:extLst>
              <a:ext uri="{FF2B5EF4-FFF2-40B4-BE49-F238E27FC236}">
                <a16:creationId xmlns:a16="http://schemas.microsoft.com/office/drawing/2014/main" id="{C3FD5DFD-F939-1EA1-2083-31E333821976}"/>
              </a:ext>
            </a:extLst>
          </p:cNvPr>
          <p:cNvPicPr>
            <a:picLocks noChangeAspect="1"/>
          </p:cNvPicPr>
          <p:nvPr/>
        </p:nvPicPr>
        <p:blipFill>
          <a:blip r:embed="rId4"/>
          <a:srcRect l="1" r="-2078" b="45486"/>
          <a:stretch>
            <a:fillRect/>
          </a:stretch>
        </p:blipFill>
        <p:spPr>
          <a:xfrm>
            <a:off x="360000" y="1903373"/>
            <a:ext cx="5183730" cy="4280857"/>
          </a:xfrm>
          <a:prstGeom prst="rect">
            <a:avLst/>
          </a:prstGeom>
          <a:ln>
            <a:noFill/>
          </a:ln>
          <a:effectLst>
            <a:outerShdw blurRad="292100" dist="139700" dir="2700000" algn="tl" rotWithShape="0">
              <a:srgbClr val="333333">
                <a:alpha val="65000"/>
              </a:srgbClr>
            </a:outerShdw>
          </a:effectLst>
        </p:spPr>
      </p:pic>
      <p:pic>
        <p:nvPicPr>
          <p:cNvPr id="5" name="Picture 4" descr="A series of addition algorithms with one number missing to make equal solutions.">
            <a:extLst>
              <a:ext uri="{FF2B5EF4-FFF2-40B4-BE49-F238E27FC236}">
                <a16:creationId xmlns:a16="http://schemas.microsoft.com/office/drawing/2014/main" id="{94206041-5DA0-A2EB-B0BF-B8A0CB45E2CD}"/>
              </a:ext>
            </a:extLst>
          </p:cNvPr>
          <p:cNvPicPr>
            <a:picLocks noChangeAspect="1"/>
          </p:cNvPicPr>
          <p:nvPr/>
        </p:nvPicPr>
        <p:blipFill>
          <a:blip r:embed="rId4"/>
          <a:srcRect l="1" t="55278" r="-9848"/>
          <a:stretch>
            <a:fillRect/>
          </a:stretch>
        </p:blipFill>
        <p:spPr>
          <a:xfrm>
            <a:off x="6452336" y="1595699"/>
            <a:ext cx="5031664" cy="33808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898538" y="2493524"/>
            <a:ext cx="5050909" cy="893226"/>
          </a:xfrm>
        </p:spPr>
        <p:txBody>
          <a:bodyPr/>
          <a:lstStyle/>
          <a:p>
            <a:r>
              <a:rPr lang="en-AU" sz="4400"/>
              <a:t>20 - 13 = 17 - 10</a:t>
            </a:r>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364E913-8A01-D23B-46BD-02EE54778ECC}"/>
              </a:ext>
            </a:extLst>
          </p:cNvPr>
          <p:cNvSpPr txBox="1"/>
          <p:nvPr/>
        </p:nvSpPr>
        <p:spPr>
          <a:xfrm>
            <a:off x="1149178" y="1184223"/>
            <a:ext cx="10083114" cy="3509951"/>
          </a:xfrm>
          <a:prstGeom prst="rect">
            <a:avLst/>
          </a:prstGeom>
          <a:noFill/>
        </p:spPr>
        <p:txBody>
          <a:bodyPr wrap="square" lIns="0" tIns="0" rIns="0" bIns="0" rtlCol="0">
            <a:noAutofit/>
          </a:bodyPr>
          <a:lstStyle/>
          <a:p>
            <a:pPr algn="l"/>
            <a:endParaRPr lang="en-AU" sz="1800"/>
          </a:p>
          <a:p>
            <a:pPr algn="ctr">
              <a:lnSpc>
                <a:spcPct val="150000"/>
              </a:lnSpc>
            </a:pPr>
            <a:r>
              <a:rPr lang="en-AU" sz="4400"/>
              <a:t>Use </a:t>
            </a:r>
            <a:r>
              <a:rPr lang="en-AU" sz="4400" b="1"/>
              <a:t>partitioning</a:t>
            </a:r>
            <a:r>
              <a:rPr lang="en-AU" sz="4400"/>
              <a:t> and </a:t>
            </a:r>
            <a:r>
              <a:rPr lang="en-AU" sz="4400" b="1"/>
              <a:t>regrouping</a:t>
            </a:r>
            <a:r>
              <a:rPr lang="en-AU" sz="4400"/>
              <a:t> strategies to determine </a:t>
            </a:r>
            <a:r>
              <a:rPr lang="en-AU" sz="4400" b="1"/>
              <a:t>2</a:t>
            </a:r>
            <a:r>
              <a:rPr lang="en-AU" sz="4400"/>
              <a:t> numbers that </a:t>
            </a:r>
            <a:r>
              <a:rPr lang="en-AU" sz="4400" b="1"/>
              <a:t>combine</a:t>
            </a:r>
            <a:r>
              <a:rPr lang="en-AU" sz="4400"/>
              <a:t> to make 784.</a:t>
            </a:r>
          </a:p>
          <a:p>
            <a:pPr algn="ctr">
              <a:lnSpc>
                <a:spcPct val="150000"/>
              </a:lnSpc>
            </a:pPr>
            <a:endParaRPr lang="en-AU" sz="4400"/>
          </a:p>
          <a:p>
            <a:pPr algn="ctr">
              <a:lnSpc>
                <a:spcPct val="150000"/>
              </a:lnSpc>
            </a:pPr>
            <a:r>
              <a:rPr lang="en-AU" sz="4400" b="1" dirty="0"/>
              <a:t>Communicate</a:t>
            </a:r>
            <a:r>
              <a:rPr lang="en-AU" sz="4400"/>
              <a:t> your </a:t>
            </a:r>
            <a:r>
              <a:rPr lang="en-AU" sz="4400" b="1" dirty="0"/>
              <a:t>thinking</a:t>
            </a:r>
            <a:r>
              <a:rPr lang="en-AU" sz="4400"/>
              <a:t>. </a:t>
            </a:r>
            <a:endParaRPr lang="en-AU" sz="1800"/>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1D48E175-6524-709A-E0AC-658563CEC7FB}"/>
              </a:ext>
            </a:extLst>
          </p:cNvPr>
          <p:cNvSpPr txBox="1"/>
          <p:nvPr/>
        </p:nvSpPr>
        <p:spPr>
          <a:xfrm>
            <a:off x="1064224" y="1360072"/>
            <a:ext cx="10063551" cy="1085850"/>
          </a:xfrm>
          <a:prstGeom prst="rect">
            <a:avLst/>
          </a:prstGeom>
          <a:noFill/>
        </p:spPr>
        <p:txBody>
          <a:bodyPr wrap="square" lIns="0" tIns="0" rIns="0" bIns="0" rtlCol="0">
            <a:noAutofit/>
          </a:bodyPr>
          <a:lstStyle/>
          <a:p>
            <a:pPr algn="ctr">
              <a:lnSpc>
                <a:spcPct val="150000"/>
              </a:lnSpc>
            </a:pPr>
            <a:r>
              <a:rPr lang="en-AU" sz="3600"/>
              <a:t>Use</a:t>
            </a:r>
            <a:r>
              <a:rPr lang="en-AU" sz="3600" b="1"/>
              <a:t> decimal notation </a:t>
            </a:r>
            <a:r>
              <a:rPr lang="en-AU" sz="3600"/>
              <a:t>to</a:t>
            </a:r>
            <a:r>
              <a:rPr lang="en-AU" sz="3600" b="1"/>
              <a:t> record</a:t>
            </a:r>
            <a:r>
              <a:rPr lang="en-AU" sz="3600"/>
              <a:t> the decimal represented in the tenths </a:t>
            </a:r>
            <a:r>
              <a:rPr lang="en-AU" sz="3600" dirty="0"/>
              <a:t>mats</a:t>
            </a:r>
            <a:r>
              <a:rPr lang="en-AU" sz="3600"/>
              <a:t>.</a:t>
            </a:r>
          </a:p>
        </p:txBody>
      </p:sp>
      <p:pic>
        <p:nvPicPr>
          <p:cNvPr id="9" name="Picture 8" descr="A decimal mat show 1 whole and 2 tenths shaded in pink.">
            <a:extLst>
              <a:ext uri="{FF2B5EF4-FFF2-40B4-BE49-F238E27FC236}">
                <a16:creationId xmlns:a16="http://schemas.microsoft.com/office/drawing/2014/main" id="{4EA31249-C35D-2C85-45DE-2A929A91BD68}"/>
              </a:ext>
            </a:extLst>
          </p:cNvPr>
          <p:cNvPicPr>
            <a:picLocks noChangeAspect="1"/>
          </p:cNvPicPr>
          <p:nvPr/>
        </p:nvPicPr>
        <p:blipFill>
          <a:blip r:embed="rId4"/>
          <a:stretch>
            <a:fillRect/>
          </a:stretch>
        </p:blipFill>
        <p:spPr>
          <a:xfrm>
            <a:off x="1421573" y="3153655"/>
            <a:ext cx="9348851" cy="2654612"/>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BEDBA84-4D78-1031-84BB-9D39ECC1B738}"/>
              </a:ext>
            </a:extLst>
          </p:cNvPr>
          <p:cNvSpPr txBox="1"/>
          <p:nvPr/>
        </p:nvSpPr>
        <p:spPr>
          <a:xfrm>
            <a:off x="863600" y="2140062"/>
            <a:ext cx="10634132" cy="2224585"/>
          </a:xfrm>
          <a:prstGeom prst="rect">
            <a:avLst/>
          </a:prstGeom>
          <a:noFill/>
        </p:spPr>
        <p:txBody>
          <a:bodyPr wrap="square" lIns="0" tIns="0" rIns="0" bIns="0" rtlCol="0">
            <a:noAutofit/>
          </a:bodyPr>
          <a:lstStyle/>
          <a:p>
            <a:pPr algn="ctr"/>
            <a:r>
              <a:rPr lang="en-AU" sz="4400" b="1"/>
              <a:t>Complete</a:t>
            </a:r>
            <a:r>
              <a:rPr lang="en-AU" sz="4400"/>
              <a:t> the sentence.</a:t>
            </a:r>
          </a:p>
          <a:p>
            <a:pPr algn="ctr"/>
            <a:endParaRPr lang="en-AU" sz="4400"/>
          </a:p>
          <a:p>
            <a:pPr algn="ctr">
              <a:lnSpc>
                <a:spcPct val="150000"/>
              </a:lnSpc>
            </a:pPr>
            <a:r>
              <a:rPr lang="en-AU" sz="4400" b="1"/>
              <a:t>6792</a:t>
            </a:r>
            <a:r>
              <a:rPr lang="en-AU" sz="4400"/>
              <a:t> can be </a:t>
            </a:r>
            <a:r>
              <a:rPr lang="en-AU" sz="4400" b="1"/>
              <a:t>partitioned</a:t>
            </a:r>
            <a:r>
              <a:rPr lang="en-AU" sz="4400"/>
              <a:t> in </a:t>
            </a:r>
            <a:r>
              <a:rPr lang="en-AU" sz="4400" b="1"/>
              <a:t>non-standard</a:t>
            </a:r>
            <a:r>
              <a:rPr lang="en-AU" sz="4400"/>
              <a:t> form as</a:t>
            </a:r>
            <a:r>
              <a:rPr lang="en-AU" sz="4400" dirty="0"/>
              <a:t>…</a:t>
            </a:r>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CC6BF6B-8479-6960-E52A-C1A3B3BAD238}"/>
              </a:ext>
            </a:extLst>
          </p:cNvPr>
          <p:cNvSpPr txBox="1"/>
          <p:nvPr/>
        </p:nvSpPr>
        <p:spPr>
          <a:xfrm>
            <a:off x="1334709" y="1921565"/>
            <a:ext cx="9806609" cy="3564835"/>
          </a:xfrm>
          <a:prstGeom prst="rect">
            <a:avLst/>
          </a:prstGeom>
          <a:noFill/>
        </p:spPr>
        <p:txBody>
          <a:bodyPr wrap="square" lIns="0" tIns="0" rIns="0" bIns="0" rtlCol="0">
            <a:noAutofit/>
          </a:bodyPr>
          <a:lstStyle/>
          <a:p>
            <a:pPr algn="ctr">
              <a:lnSpc>
                <a:spcPct val="150000"/>
              </a:lnSpc>
            </a:pPr>
            <a:r>
              <a:rPr lang="en-AU" sz="4400" b="1"/>
              <a:t>Record</a:t>
            </a:r>
            <a:r>
              <a:rPr lang="en-AU" sz="4400"/>
              <a:t> 3 </a:t>
            </a:r>
            <a:r>
              <a:rPr lang="en-AU" sz="4400" b="1"/>
              <a:t>different</a:t>
            </a:r>
            <a:r>
              <a:rPr lang="en-AU" sz="4400"/>
              <a:t> items that </a:t>
            </a:r>
            <a:r>
              <a:rPr lang="en-AU" sz="4400" b="1"/>
              <a:t>each </a:t>
            </a:r>
            <a:r>
              <a:rPr lang="en-AU" sz="4400"/>
              <a:t>have a </a:t>
            </a:r>
            <a:r>
              <a:rPr lang="en-AU" sz="4400" b="1"/>
              <a:t>mass</a:t>
            </a:r>
            <a:r>
              <a:rPr lang="en-AU" sz="4400"/>
              <a:t> of about </a:t>
            </a:r>
            <a:r>
              <a:rPr lang="en-AU" sz="4400" b="1"/>
              <a:t>1 kilogram</a:t>
            </a:r>
            <a:r>
              <a:rPr lang="en-AU" sz="4400"/>
              <a:t>.</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finding the missing number subtraction</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series of subtraction algroithms with a missing number to make both sides equal.&#10;">
            <a:extLst>
              <a:ext uri="{FF2B5EF4-FFF2-40B4-BE49-F238E27FC236}">
                <a16:creationId xmlns:a16="http://schemas.microsoft.com/office/drawing/2014/main" id="{E10FA5EF-B9D9-67DD-30D9-CFD599D3E97A}"/>
              </a:ext>
            </a:extLst>
          </p:cNvPr>
          <p:cNvPicPr>
            <a:picLocks noChangeAspect="1"/>
          </p:cNvPicPr>
          <p:nvPr/>
        </p:nvPicPr>
        <p:blipFill>
          <a:blip r:embed="rId4"/>
          <a:srcRect t="59450" b="-1"/>
          <a:stretch>
            <a:fillRect/>
          </a:stretch>
        </p:blipFill>
        <p:spPr>
          <a:xfrm>
            <a:off x="6600186" y="1650577"/>
            <a:ext cx="4952516" cy="3212923"/>
          </a:xfrm>
          <a:prstGeom prst="rect">
            <a:avLst/>
          </a:prstGeom>
          <a:ln>
            <a:noFill/>
          </a:ln>
          <a:effectLst>
            <a:outerShdw blurRad="292100" dist="139700" dir="2700000" algn="tl" rotWithShape="0">
              <a:srgbClr val="333333">
                <a:alpha val="65000"/>
              </a:srgbClr>
            </a:outerShdw>
          </a:effectLst>
        </p:spPr>
      </p:pic>
      <p:pic>
        <p:nvPicPr>
          <p:cNvPr id="5" name="Picture 4" descr="A series of subtraction algroithms with a missing number to make both sides equal.&#10;">
            <a:extLst>
              <a:ext uri="{FF2B5EF4-FFF2-40B4-BE49-F238E27FC236}">
                <a16:creationId xmlns:a16="http://schemas.microsoft.com/office/drawing/2014/main" id="{4691365F-0EDE-E137-13AF-5F093F0CED24}"/>
              </a:ext>
            </a:extLst>
          </p:cNvPr>
          <p:cNvPicPr>
            <a:picLocks noChangeAspect="1"/>
          </p:cNvPicPr>
          <p:nvPr/>
        </p:nvPicPr>
        <p:blipFill>
          <a:blip r:embed="rId4"/>
          <a:srcRect l="7924" b="42626"/>
          <a:stretch>
            <a:fillRect/>
          </a:stretch>
        </p:blipFill>
        <p:spPr>
          <a:xfrm>
            <a:off x="896247" y="1718311"/>
            <a:ext cx="4905153" cy="44454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C2BFFC-84AB-C30B-C108-1205554FD32A}"/>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sp>
        <p:nvSpPr>
          <p:cNvPr id="14" name="Text Placeholder 13">
            <a:extLst>
              <a:ext uri="{FF2B5EF4-FFF2-40B4-BE49-F238E27FC236}">
                <a16:creationId xmlns:a16="http://schemas.microsoft.com/office/drawing/2014/main" id="{3637AEFE-A71B-D626-319A-5221A7FBA3D7}"/>
              </a:ext>
            </a:extLst>
          </p:cNvPr>
          <p:cNvSpPr>
            <a:spLocks noGrp="1"/>
          </p:cNvSpPr>
          <p:nvPr>
            <p:ph type="body" sz="quarter" idx="27"/>
          </p:nvPr>
        </p:nvSpPr>
        <p:spPr>
          <a:xfrm>
            <a:off x="1345520" y="5425723"/>
            <a:ext cx="10175920" cy="641396"/>
          </a:xfrm>
        </p:spPr>
        <p:txBody>
          <a:bodyPr anchor="ctr"/>
          <a:lstStyle/>
          <a:p>
            <a:r>
              <a:rPr lang="en-US" sz="3600"/>
              <a:t>1000 + 600 + 50 +2</a:t>
            </a:r>
          </a:p>
        </p:txBody>
      </p:sp>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360000" y="1625945"/>
            <a:ext cx="11243037" cy="754243"/>
          </a:xfrm>
        </p:spPr>
        <p:txBody>
          <a:bodyPr/>
          <a:lstStyle/>
          <a:p>
            <a:pPr algn="ctr"/>
            <a:r>
              <a:rPr lang="en-US" sz="4400"/>
              <a:t>1652 can be </a:t>
            </a:r>
            <a:r>
              <a:rPr lang="en-US" sz="4400" b="1"/>
              <a:t>renamed</a:t>
            </a:r>
            <a:r>
              <a:rPr lang="en-US" sz="4400"/>
              <a:t> as…</a:t>
            </a:r>
          </a:p>
        </p:txBody>
      </p:sp>
      <p:sp>
        <p:nvSpPr>
          <p:cNvPr id="16" name="Text Placeholder 15">
            <a:extLst>
              <a:ext uri="{FF2B5EF4-FFF2-40B4-BE49-F238E27FC236}">
                <a16:creationId xmlns:a16="http://schemas.microsoft.com/office/drawing/2014/main" id="{045B94D9-74FB-9D4A-9C43-F68419839CEC}"/>
              </a:ext>
            </a:extLst>
          </p:cNvPr>
          <p:cNvSpPr>
            <a:spLocks noGrp="1"/>
          </p:cNvSpPr>
          <p:nvPr>
            <p:ph type="body" sz="quarter" idx="29"/>
          </p:nvPr>
        </p:nvSpPr>
        <p:spPr>
          <a:xfrm>
            <a:off x="1345520" y="4575670"/>
            <a:ext cx="10175920" cy="641396"/>
          </a:xfrm>
        </p:spPr>
        <p:txBody>
          <a:bodyPr anchor="ctr"/>
          <a:lstStyle/>
          <a:p>
            <a:r>
              <a:rPr lang="en-US" sz="3600"/>
              <a:t>1000 + 6000 + 50 + 2</a:t>
            </a:r>
          </a:p>
        </p:txBody>
      </p:sp>
      <p:sp>
        <p:nvSpPr>
          <p:cNvPr id="17" name="Text Placeholder 16">
            <a:extLst>
              <a:ext uri="{FF2B5EF4-FFF2-40B4-BE49-F238E27FC236}">
                <a16:creationId xmlns:a16="http://schemas.microsoft.com/office/drawing/2014/main" id="{A1FD909E-672C-E197-EB78-8A0BA88E0D15}"/>
              </a:ext>
            </a:extLst>
          </p:cNvPr>
          <p:cNvSpPr>
            <a:spLocks noGrp="1"/>
          </p:cNvSpPr>
          <p:nvPr>
            <p:ph type="body" sz="quarter" idx="30"/>
          </p:nvPr>
        </p:nvSpPr>
        <p:spPr>
          <a:xfrm>
            <a:off x="1345520" y="3725617"/>
            <a:ext cx="10175920" cy="641396"/>
          </a:xfrm>
        </p:spPr>
        <p:txBody>
          <a:bodyPr anchor="ctr"/>
          <a:lstStyle/>
          <a:p>
            <a:r>
              <a:rPr lang="en-US" sz="3600"/>
              <a:t>160 + 50 + 2</a:t>
            </a:r>
          </a:p>
        </p:txBody>
      </p:sp>
      <p:sp>
        <p:nvSpPr>
          <p:cNvPr id="18" name="Text Placeholder 17">
            <a:extLst>
              <a:ext uri="{FF2B5EF4-FFF2-40B4-BE49-F238E27FC236}">
                <a16:creationId xmlns:a16="http://schemas.microsoft.com/office/drawing/2014/main" id="{09A20CC9-6FEE-6369-4AC1-968CEAB9E49B}"/>
              </a:ext>
            </a:extLst>
          </p:cNvPr>
          <p:cNvSpPr>
            <a:spLocks noGrp="1"/>
          </p:cNvSpPr>
          <p:nvPr>
            <p:ph type="body" sz="quarter" idx="31"/>
          </p:nvPr>
        </p:nvSpPr>
        <p:spPr>
          <a:xfrm>
            <a:off x="1345520" y="2877704"/>
            <a:ext cx="10175920" cy="641396"/>
          </a:xfrm>
        </p:spPr>
        <p:txBody>
          <a:bodyPr anchor="ctr"/>
          <a:lstStyle/>
          <a:p>
            <a:r>
              <a:rPr lang="en-US" sz="3600"/>
              <a:t>1000 + 600 + 500 + 20</a:t>
            </a:r>
          </a:p>
        </p:txBody>
      </p:sp>
      <p:sp>
        <p:nvSpPr>
          <p:cNvPr id="9" name="TextBox 8">
            <a:extLst>
              <a:ext uri="{FF2B5EF4-FFF2-40B4-BE49-F238E27FC236}">
                <a16:creationId xmlns:a16="http://schemas.microsoft.com/office/drawing/2014/main" id="{9DAA2006-ADB4-D15B-B158-97DC39D266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BF8FF86A-8259-4B6A-DD05-B5338957EDC3}"/>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CD2988DB-B474-6203-5DD2-06443FE29ECF}"/>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BF4B35E9-90ED-91CF-6E7D-3023EE60AD9E}"/>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A4D93B1C-8640-0057-E118-4A82C116762C}"/>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DB5B8B5-C122-4773-1211-E0E248DD92C0}"/>
              </a:ext>
            </a:extLst>
          </p:cNvPr>
          <p:cNvSpPr txBox="1"/>
          <p:nvPr/>
        </p:nvSpPr>
        <p:spPr>
          <a:xfrm>
            <a:off x="1434986" y="1483943"/>
            <a:ext cx="9292282" cy="1264596"/>
          </a:xfrm>
          <a:prstGeom prst="rect">
            <a:avLst/>
          </a:prstGeom>
          <a:noFill/>
        </p:spPr>
        <p:txBody>
          <a:bodyPr wrap="square" lIns="0" tIns="0" rIns="0" bIns="0" rtlCol="0">
            <a:noAutofit/>
          </a:bodyPr>
          <a:lstStyle/>
          <a:p>
            <a:pPr algn="ctr">
              <a:lnSpc>
                <a:spcPct val="150000"/>
              </a:lnSpc>
            </a:pPr>
            <a:r>
              <a:rPr lang="en-AU" sz="4000"/>
              <a:t>The school library has </a:t>
            </a:r>
            <a:r>
              <a:rPr lang="en-AU" sz="4000" b="1"/>
              <a:t>562</a:t>
            </a:r>
            <a:r>
              <a:rPr lang="en-AU" sz="4000"/>
              <a:t>. If </a:t>
            </a:r>
            <a:r>
              <a:rPr lang="en-AU" sz="4000" b="1"/>
              <a:t>337</a:t>
            </a:r>
            <a:r>
              <a:rPr lang="en-AU" sz="4000"/>
              <a:t> were </a:t>
            </a:r>
            <a:r>
              <a:rPr lang="en-AU" sz="4000" b="1"/>
              <a:t>borrowed, </a:t>
            </a:r>
            <a:r>
              <a:rPr lang="en-AU" sz="4000"/>
              <a:t>how many books were </a:t>
            </a:r>
            <a:r>
              <a:rPr lang="en-AU" sz="4000" b="1"/>
              <a:t>left</a:t>
            </a:r>
            <a:r>
              <a:rPr lang="en-AU" sz="4000"/>
              <a:t> in the library?</a:t>
            </a:r>
          </a:p>
          <a:p>
            <a:pPr algn="ctr">
              <a:lnSpc>
                <a:spcPct val="150000"/>
              </a:lnSpc>
            </a:pPr>
            <a:endParaRPr lang="en-AU" sz="4000"/>
          </a:p>
          <a:p>
            <a:pPr algn="ctr">
              <a:lnSpc>
                <a:spcPct val="150000"/>
              </a:lnSpc>
            </a:pPr>
            <a:r>
              <a:rPr lang="en-AU" sz="4000" b="1"/>
              <a:t>Record</a:t>
            </a:r>
            <a:r>
              <a:rPr lang="en-AU" sz="4000"/>
              <a:t> your thinking using a </a:t>
            </a:r>
            <a:r>
              <a:rPr lang="en-AU" sz="4000" b="1"/>
              <a:t>bar model.</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ED10EB8-5160-35CE-8215-405CB0F22C23}"/>
              </a:ext>
            </a:extLst>
          </p:cNvPr>
          <p:cNvSpPr txBox="1"/>
          <p:nvPr/>
        </p:nvSpPr>
        <p:spPr>
          <a:xfrm>
            <a:off x="979388" y="1478741"/>
            <a:ext cx="10501312" cy="4758637"/>
          </a:xfrm>
          <a:prstGeom prst="rect">
            <a:avLst/>
          </a:prstGeom>
          <a:noFill/>
        </p:spPr>
        <p:txBody>
          <a:bodyPr wrap="square" lIns="0" tIns="0" rIns="0" bIns="0" rtlCol="0">
            <a:noAutofit/>
          </a:bodyPr>
          <a:lstStyle/>
          <a:p>
            <a:pPr algn="ctr">
              <a:lnSpc>
                <a:spcPct val="150000"/>
              </a:lnSpc>
            </a:pPr>
            <a:r>
              <a:rPr lang="en-AU" sz="4000"/>
              <a:t>Conrad said that </a:t>
            </a:r>
            <a:r>
              <a:rPr lang="en-AU" sz="4000" b="1"/>
              <a:t>0.6</a:t>
            </a:r>
            <a:r>
              <a:rPr lang="en-AU" sz="4000"/>
              <a:t> and </a:t>
            </a:r>
            <a:r>
              <a:rPr lang="en-AU" sz="4000" b="1"/>
              <a:t>0.60</a:t>
            </a:r>
          </a:p>
          <a:p>
            <a:pPr algn="ctr">
              <a:lnSpc>
                <a:spcPct val="150000"/>
              </a:lnSpc>
            </a:pPr>
            <a:r>
              <a:rPr lang="en-AU" sz="4000"/>
              <a:t>represent </a:t>
            </a:r>
            <a:r>
              <a:rPr lang="en-AU" sz="4000" b="1"/>
              <a:t>different</a:t>
            </a:r>
            <a:r>
              <a:rPr lang="en-AU" sz="4000"/>
              <a:t> </a:t>
            </a:r>
            <a:r>
              <a:rPr lang="en-AU" sz="4000" b="1"/>
              <a:t>values</a:t>
            </a:r>
            <a:r>
              <a:rPr lang="en-AU" sz="4000"/>
              <a:t>.</a:t>
            </a:r>
          </a:p>
          <a:p>
            <a:pPr algn="ctr">
              <a:lnSpc>
                <a:spcPct val="150000"/>
              </a:lnSpc>
            </a:pPr>
            <a:endParaRPr lang="en-AU" sz="4000"/>
          </a:p>
          <a:p>
            <a:pPr algn="ctr">
              <a:lnSpc>
                <a:spcPct val="150000"/>
              </a:lnSpc>
            </a:pPr>
            <a:r>
              <a:rPr lang="en-AU" sz="4000"/>
              <a:t>Is Conrad correct? </a:t>
            </a:r>
          </a:p>
          <a:p>
            <a:pPr algn="ctr">
              <a:lnSpc>
                <a:spcPct val="150000"/>
              </a:lnSpc>
            </a:pPr>
            <a:r>
              <a:rPr lang="en-AU" sz="4000" b="1"/>
              <a:t>Communicate</a:t>
            </a:r>
            <a:r>
              <a:rPr lang="en-AU" sz="4000"/>
              <a:t> your </a:t>
            </a:r>
            <a:r>
              <a:rPr lang="en-AU" sz="4000" b="1" dirty="0"/>
              <a:t>reasoning</a:t>
            </a:r>
            <a:r>
              <a:rPr lang="en-AU" sz="4000"/>
              <a:t>.</a:t>
            </a:r>
          </a:p>
          <a:p>
            <a:pPr algn="l">
              <a:lnSpc>
                <a:spcPct val="150000"/>
              </a:lnSpc>
            </a:pPr>
            <a:endParaRPr lang="en-AU" sz="1800"/>
          </a:p>
          <a:p>
            <a:pPr algn="l"/>
            <a:endParaRPr lang="en-AU" sz="180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BC11EA7-7333-5CCD-207A-4EDF9B1C980C}"/>
              </a:ext>
            </a:extLst>
          </p:cNvPr>
          <p:cNvSpPr txBox="1"/>
          <p:nvPr/>
        </p:nvSpPr>
        <p:spPr>
          <a:xfrm>
            <a:off x="1652327" y="1364776"/>
            <a:ext cx="9471673" cy="2756848"/>
          </a:xfrm>
          <a:prstGeom prst="rect">
            <a:avLst/>
          </a:prstGeom>
          <a:noFill/>
        </p:spPr>
        <p:txBody>
          <a:bodyPr wrap="square" lIns="0" tIns="0" rIns="0" bIns="0" rtlCol="0">
            <a:noAutofit/>
          </a:bodyPr>
          <a:lstStyle/>
          <a:p>
            <a:pPr algn="ctr">
              <a:lnSpc>
                <a:spcPct val="150000"/>
              </a:lnSpc>
            </a:pPr>
            <a:r>
              <a:rPr lang="en-AU" sz="4400"/>
              <a:t>Which </a:t>
            </a:r>
            <a:r>
              <a:rPr lang="en-AU" sz="4400" b="1"/>
              <a:t>strategy</a:t>
            </a:r>
            <a:r>
              <a:rPr lang="en-AU" sz="4400"/>
              <a:t> would be </a:t>
            </a:r>
            <a:r>
              <a:rPr lang="en-AU" sz="4400" b="1"/>
              <a:t>most efficient</a:t>
            </a:r>
            <a:r>
              <a:rPr lang="en-AU" sz="4400"/>
              <a:t> to use when solving </a:t>
            </a:r>
          </a:p>
          <a:p>
            <a:pPr algn="ctr">
              <a:lnSpc>
                <a:spcPct val="150000"/>
              </a:lnSpc>
            </a:pPr>
            <a:r>
              <a:rPr lang="en-AU" sz="4400"/>
              <a:t>146 – 88?</a:t>
            </a:r>
          </a:p>
          <a:p>
            <a:pPr algn="ctr">
              <a:lnSpc>
                <a:spcPct val="150000"/>
              </a:lnSpc>
            </a:pPr>
            <a:endParaRPr lang="en-AU" sz="4400"/>
          </a:p>
          <a:p>
            <a:pPr algn="ctr">
              <a:lnSpc>
                <a:spcPct val="150000"/>
              </a:lnSpc>
            </a:pPr>
            <a:r>
              <a:rPr lang="en-AU" sz="4400" b="1" dirty="0"/>
              <a:t>Communicate</a:t>
            </a:r>
            <a:r>
              <a:rPr lang="en-AU" sz="4400"/>
              <a:t> your </a:t>
            </a:r>
            <a:r>
              <a:rPr lang="en-AU" sz="4400" b="1" dirty="0"/>
              <a:t>reasoning</a:t>
            </a:r>
            <a:r>
              <a:rPr lang="en-AU" sz="4400"/>
              <a:t>.</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9A8CA33-8744-EEBF-A81F-71156997A5A2}"/>
              </a:ext>
            </a:extLst>
          </p:cNvPr>
          <p:cNvSpPr txBox="1"/>
          <p:nvPr/>
        </p:nvSpPr>
        <p:spPr>
          <a:xfrm>
            <a:off x="503583" y="1775791"/>
            <a:ext cx="11247693" cy="3087757"/>
          </a:xfrm>
          <a:prstGeom prst="rect">
            <a:avLst/>
          </a:prstGeom>
          <a:noFill/>
        </p:spPr>
        <p:txBody>
          <a:bodyPr wrap="square" lIns="0" tIns="0" rIns="0" bIns="0" rtlCol="0">
            <a:noAutofit/>
          </a:bodyPr>
          <a:lstStyle/>
          <a:p>
            <a:pPr algn="ctr">
              <a:lnSpc>
                <a:spcPct val="150000"/>
              </a:lnSpc>
            </a:pPr>
            <a:r>
              <a:rPr lang="en-AU" sz="4400" b="1"/>
              <a:t>Record</a:t>
            </a:r>
            <a:r>
              <a:rPr lang="en-AU" sz="4400"/>
              <a:t> the following in </a:t>
            </a:r>
            <a:r>
              <a:rPr lang="en-AU" sz="4400" b="1"/>
              <a:t>litres</a:t>
            </a:r>
            <a:r>
              <a:rPr lang="en-AU" sz="4400"/>
              <a:t> and </a:t>
            </a:r>
            <a:r>
              <a:rPr lang="en-AU" sz="4400" b="1"/>
              <a:t>millilitres</a:t>
            </a:r>
            <a:r>
              <a:rPr lang="en-AU" sz="4400"/>
              <a:t>.</a:t>
            </a:r>
          </a:p>
          <a:p>
            <a:pPr marL="571500" indent="-571500" algn="ctr">
              <a:lnSpc>
                <a:spcPct val="150000"/>
              </a:lnSpc>
              <a:buFont typeface="Arial" panose="020B0604020202020204" pitchFamily="34" charset="0"/>
              <a:buChar char="•"/>
            </a:pPr>
            <a:r>
              <a:rPr lang="en-AU" sz="4400"/>
              <a:t>1500 mL</a:t>
            </a:r>
          </a:p>
          <a:p>
            <a:pPr marL="571500" indent="-571500" algn="ctr">
              <a:lnSpc>
                <a:spcPct val="150000"/>
              </a:lnSpc>
              <a:buFont typeface="Arial" panose="020B0604020202020204" pitchFamily="34" charset="0"/>
              <a:buChar char="•"/>
            </a:pPr>
            <a:r>
              <a:rPr lang="en-AU" sz="4400"/>
              <a:t>2700 mL</a:t>
            </a:r>
          </a:p>
          <a:p>
            <a:pPr marL="571500" indent="-571500" algn="ctr">
              <a:lnSpc>
                <a:spcPct val="150000"/>
              </a:lnSpc>
              <a:buFont typeface="Arial" panose="020B0604020202020204" pitchFamily="34" charset="0"/>
              <a:buChar char="•"/>
            </a:pPr>
            <a:r>
              <a:rPr lang="en-AU" sz="4400"/>
              <a:t>1450 mL</a:t>
            </a:r>
          </a:p>
          <a:p>
            <a:pPr algn="l"/>
            <a:endParaRPr lang="en-AU" sz="1800"/>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how many way?</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A3705A20-B4CE-B4E8-AF67-C719C4639700}"/>
              </a:ext>
            </a:extLst>
          </p:cNvPr>
          <p:cNvSpPr txBox="1"/>
          <p:nvPr/>
        </p:nvSpPr>
        <p:spPr>
          <a:xfrm>
            <a:off x="705398" y="1610065"/>
            <a:ext cx="10781203" cy="475013"/>
          </a:xfrm>
          <a:prstGeom prst="rect">
            <a:avLst/>
          </a:prstGeom>
          <a:noFill/>
        </p:spPr>
        <p:txBody>
          <a:bodyPr wrap="square" lIns="0" tIns="0" rIns="0" bIns="0" rtlCol="0">
            <a:noAutofit/>
          </a:bodyPr>
          <a:lstStyle/>
          <a:p>
            <a:pPr algn="ctr">
              <a:lnSpc>
                <a:spcPct val="150000"/>
              </a:lnSpc>
            </a:pPr>
            <a:r>
              <a:rPr lang="en-AU" sz="4400" b="1">
                <a:latin typeface="Arial" panose="020B0604020202020204" pitchFamily="34" charset="0"/>
                <a:cs typeface="Arial" panose="020B0604020202020204" pitchFamily="34" charset="0"/>
              </a:rPr>
              <a:t>How many </a:t>
            </a:r>
            <a:r>
              <a:rPr lang="en-AU" sz="4400">
                <a:latin typeface="Arial" panose="020B0604020202020204" pitchFamily="34" charset="0"/>
                <a:cs typeface="Arial" panose="020B0604020202020204" pitchFamily="34" charset="0"/>
              </a:rPr>
              <a:t>ways can you </a:t>
            </a:r>
            <a:r>
              <a:rPr lang="en-AU" sz="4400" b="1">
                <a:latin typeface="Arial" panose="020B0604020202020204" pitchFamily="34" charset="0"/>
                <a:cs typeface="Arial" panose="020B0604020202020204" pitchFamily="34" charset="0"/>
              </a:rPr>
              <a:t>rename </a:t>
            </a:r>
            <a:r>
              <a:rPr lang="en-AU" sz="4400">
                <a:latin typeface="Arial" panose="020B0604020202020204" pitchFamily="34" charset="0"/>
                <a:cs typeface="Arial" panose="020B0604020202020204" pitchFamily="34" charset="0"/>
              </a:rPr>
              <a:t>this number?</a:t>
            </a:r>
          </a:p>
        </p:txBody>
      </p:sp>
      <p:sp>
        <p:nvSpPr>
          <p:cNvPr id="5" name="TextBox 4">
            <a:extLst>
              <a:ext uri="{FF2B5EF4-FFF2-40B4-BE49-F238E27FC236}">
                <a16:creationId xmlns:a16="http://schemas.microsoft.com/office/drawing/2014/main" id="{4DD9A84A-8799-BC0E-3C4E-D3FE0D16F88F}"/>
              </a:ext>
            </a:extLst>
          </p:cNvPr>
          <p:cNvSpPr txBox="1"/>
          <p:nvPr/>
        </p:nvSpPr>
        <p:spPr>
          <a:xfrm>
            <a:off x="4419599" y="3942769"/>
            <a:ext cx="3352800" cy="2121408"/>
          </a:xfrm>
          <a:prstGeom prst="rect">
            <a:avLst/>
          </a:prstGeom>
          <a:noFill/>
        </p:spPr>
        <p:txBody>
          <a:bodyPr wrap="square" lIns="0" tIns="0" rIns="0" bIns="0" rtlCol="0">
            <a:noAutofit/>
          </a:bodyPr>
          <a:lstStyle/>
          <a:p>
            <a:pPr algn="l"/>
            <a:r>
              <a:rPr lang="en-AU" sz="11500">
                <a:latin typeface="Arial" panose="020B0604020202020204" pitchFamily="34" charset="0"/>
                <a:cs typeface="Arial" panose="020B0604020202020204" pitchFamily="34" charset="0"/>
              </a:rPr>
              <a:t>1265</a:t>
            </a:r>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1625946"/>
            <a:ext cx="11243037" cy="893226"/>
          </a:xfrm>
        </p:spPr>
        <p:txBody>
          <a:bodyPr/>
          <a:lstStyle/>
          <a:p>
            <a:pPr algn="ctr"/>
            <a:r>
              <a:rPr lang="en-AU" sz="4400" b="1"/>
              <a:t>145</a:t>
            </a:r>
            <a:r>
              <a:rPr lang="en-AU" sz="4400"/>
              <a:t> can be </a:t>
            </a:r>
            <a:r>
              <a:rPr lang="en-AU" sz="4400" b="1"/>
              <a:t>renamed</a:t>
            </a:r>
            <a:r>
              <a:rPr lang="en-AU" sz="4400"/>
              <a:t> as </a:t>
            </a:r>
          </a:p>
          <a:p>
            <a:pPr algn="ctr"/>
            <a:r>
              <a:rPr lang="en-AU" sz="4400"/>
              <a:t>13 tens and 15 ones</a:t>
            </a:r>
          </a:p>
          <a:p>
            <a:endParaRPr lang="en-AU" sz="4400"/>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6C6AFFE-C9E4-958A-345D-70A3CD6CAE0C}"/>
              </a:ext>
            </a:extLst>
          </p:cNvPr>
          <p:cNvSpPr txBox="1"/>
          <p:nvPr/>
        </p:nvSpPr>
        <p:spPr>
          <a:xfrm>
            <a:off x="360000" y="1045981"/>
            <a:ext cx="7617318" cy="5511777"/>
          </a:xfrm>
          <a:prstGeom prst="rect">
            <a:avLst/>
          </a:prstGeom>
          <a:noFill/>
        </p:spPr>
        <p:txBody>
          <a:bodyPr wrap="square" lIns="0" tIns="0" rIns="0" bIns="0" rtlCol="0">
            <a:noAutofit/>
          </a:bodyPr>
          <a:lstStyle/>
          <a:p>
            <a:pPr algn="ctr">
              <a:lnSpc>
                <a:spcPct val="150000"/>
              </a:lnSpc>
            </a:pPr>
            <a:r>
              <a:rPr lang="en-AU" sz="4000" dirty="0"/>
              <a:t>Selina used a </a:t>
            </a:r>
            <a:r>
              <a:rPr lang="en-AU" sz="4000" b="1" dirty="0"/>
              <a:t>vertical algorithm </a:t>
            </a:r>
            <a:r>
              <a:rPr lang="en-AU" sz="4000" dirty="0"/>
              <a:t>to solve 247 + 328. Her teacher asked her to </a:t>
            </a:r>
            <a:r>
              <a:rPr lang="en-AU" sz="4000" b="1" dirty="0"/>
              <a:t>explain</a:t>
            </a:r>
            <a:r>
              <a:rPr lang="en-AU" sz="4000" dirty="0"/>
              <a:t> what the </a:t>
            </a:r>
          </a:p>
          <a:p>
            <a:pPr algn="ctr">
              <a:lnSpc>
                <a:spcPct val="150000"/>
              </a:lnSpc>
            </a:pPr>
            <a:r>
              <a:rPr lang="en-AU" sz="4000" b="1" dirty="0">
                <a:solidFill>
                  <a:srgbClr val="0070C0"/>
                </a:solidFill>
              </a:rPr>
              <a:t>1</a:t>
            </a:r>
            <a:r>
              <a:rPr lang="en-AU" sz="4000" dirty="0"/>
              <a:t> meant in her recording. </a:t>
            </a:r>
          </a:p>
          <a:p>
            <a:pPr algn="ctr">
              <a:lnSpc>
                <a:spcPct val="150000"/>
              </a:lnSpc>
            </a:pPr>
            <a:r>
              <a:rPr lang="en-AU" sz="4000" dirty="0"/>
              <a:t>What could Selina say? </a:t>
            </a:r>
          </a:p>
          <a:p>
            <a:pPr algn="ctr">
              <a:lnSpc>
                <a:spcPct val="150000"/>
              </a:lnSpc>
            </a:pPr>
            <a:r>
              <a:rPr lang="en-AU" sz="4000" b="1" dirty="0"/>
              <a:t>Communicate</a:t>
            </a:r>
            <a:r>
              <a:rPr lang="en-AU" sz="4000" dirty="0"/>
              <a:t> your </a:t>
            </a:r>
            <a:r>
              <a:rPr lang="en-AU" sz="4000" b="1" dirty="0"/>
              <a:t>reasoning</a:t>
            </a:r>
            <a:r>
              <a:rPr lang="en-AU" sz="4000" dirty="0"/>
              <a:t>.</a:t>
            </a:r>
          </a:p>
          <a:p>
            <a:pPr algn="ctr"/>
            <a:endParaRPr lang="en-AU" sz="4400" dirty="0"/>
          </a:p>
        </p:txBody>
      </p:sp>
      <p:sp>
        <p:nvSpPr>
          <p:cNvPr id="5" name="TextBox 4">
            <a:extLst>
              <a:ext uri="{FF2B5EF4-FFF2-40B4-BE49-F238E27FC236}">
                <a16:creationId xmlns:a16="http://schemas.microsoft.com/office/drawing/2014/main" id="{2014EC38-6690-61D0-40BE-5C8D95684C39}"/>
              </a:ext>
            </a:extLst>
          </p:cNvPr>
          <p:cNvSpPr txBox="1"/>
          <p:nvPr/>
        </p:nvSpPr>
        <p:spPr>
          <a:xfrm>
            <a:off x="9575257" y="2035945"/>
            <a:ext cx="408561" cy="545601"/>
          </a:xfrm>
          <a:prstGeom prst="rect">
            <a:avLst/>
          </a:prstGeom>
          <a:noFill/>
        </p:spPr>
        <p:txBody>
          <a:bodyPr wrap="square" lIns="0" tIns="0" rIns="0" bIns="0" rtlCol="0">
            <a:noAutofit/>
          </a:bodyPr>
          <a:lstStyle/>
          <a:p>
            <a:pPr algn="l"/>
            <a:r>
              <a:rPr lang="en-AU" sz="3200" b="1" dirty="0">
                <a:solidFill>
                  <a:srgbClr val="0070C0"/>
                </a:solidFill>
              </a:rPr>
              <a:t>1</a:t>
            </a:r>
          </a:p>
        </p:txBody>
      </p:sp>
      <p:cxnSp>
        <p:nvCxnSpPr>
          <p:cNvPr id="8" name="Straight Connector 7">
            <a:extLst>
              <a:ext uri="{FF2B5EF4-FFF2-40B4-BE49-F238E27FC236}">
                <a16:creationId xmlns:a16="http://schemas.microsoft.com/office/drawing/2014/main" id="{35C1450F-E285-E8D8-5CF4-DD3A32D35FD0}"/>
              </a:ext>
              <a:ext uri="{C183D7F6-B498-43B3-948B-1728B52AA6E4}">
                <adec:decorative xmlns:adec="http://schemas.microsoft.com/office/drawing/2017/decorative" val="1"/>
              </a:ext>
            </a:extLst>
          </p:cNvPr>
          <p:cNvCxnSpPr/>
          <p:nvPr/>
        </p:nvCxnSpPr>
        <p:spPr>
          <a:xfrm>
            <a:off x="8631674" y="4592151"/>
            <a:ext cx="229572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8E4F509-201A-99C3-9DA0-F452DAC7D4C3}"/>
              </a:ext>
            </a:extLst>
          </p:cNvPr>
          <p:cNvSpPr txBox="1"/>
          <p:nvPr/>
        </p:nvSpPr>
        <p:spPr>
          <a:xfrm>
            <a:off x="8385879" y="2035945"/>
            <a:ext cx="4047778" cy="4342484"/>
          </a:xfrm>
          <a:prstGeom prst="rect">
            <a:avLst/>
          </a:prstGeom>
          <a:noFill/>
        </p:spPr>
        <p:txBody>
          <a:bodyPr wrap="square" lIns="0" tIns="0" rIns="0" bIns="0" rtlCol="0">
            <a:noAutofit/>
          </a:bodyPr>
          <a:lstStyle/>
          <a:p>
            <a:pPr>
              <a:lnSpc>
                <a:spcPct val="150000"/>
              </a:lnSpc>
            </a:pPr>
            <a:r>
              <a:rPr lang="en-AU" sz="6000" dirty="0"/>
              <a:t>   2 4 7</a:t>
            </a:r>
          </a:p>
          <a:p>
            <a:pPr>
              <a:lnSpc>
                <a:spcPct val="150000"/>
              </a:lnSpc>
            </a:pPr>
            <a:r>
              <a:rPr lang="en-AU" sz="6000" dirty="0"/>
              <a:t>+ 3 2 8</a:t>
            </a:r>
          </a:p>
          <a:p>
            <a:pPr>
              <a:lnSpc>
                <a:spcPct val="150000"/>
              </a:lnSpc>
            </a:pPr>
            <a:r>
              <a:rPr lang="en-AU" sz="6000" dirty="0">
                <a:solidFill>
                  <a:schemeClr val="tx2"/>
                </a:solidFill>
              </a:rPr>
              <a:t>   </a:t>
            </a:r>
            <a:r>
              <a:rPr lang="en-AU" sz="6000" dirty="0"/>
              <a:t>5 7 8</a:t>
            </a:r>
            <a:endParaRPr lang="en-AU" sz="4400" dirty="0"/>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D1B7667-7FE7-059C-D14D-13B2F4CCE542}"/>
              </a:ext>
            </a:extLst>
          </p:cNvPr>
          <p:cNvSpPr txBox="1"/>
          <p:nvPr/>
        </p:nvSpPr>
        <p:spPr>
          <a:xfrm>
            <a:off x="735346" y="1946996"/>
            <a:ext cx="10748654" cy="2814638"/>
          </a:xfrm>
          <a:prstGeom prst="rect">
            <a:avLst/>
          </a:prstGeom>
          <a:noFill/>
        </p:spPr>
        <p:txBody>
          <a:bodyPr wrap="square" lIns="0" tIns="0" rIns="0" bIns="0" rtlCol="0">
            <a:noAutofit/>
          </a:bodyPr>
          <a:lstStyle/>
          <a:p>
            <a:pPr algn="ctr"/>
            <a:r>
              <a:rPr lang="en-AU" sz="4400"/>
              <a:t>Which decimal </a:t>
            </a:r>
            <a:r>
              <a:rPr lang="en-AU" sz="4400" b="1"/>
              <a:t>does not </a:t>
            </a:r>
            <a:r>
              <a:rPr lang="en-AU" sz="4400"/>
              <a:t>belong?</a:t>
            </a:r>
          </a:p>
          <a:p>
            <a:pPr algn="ctr"/>
            <a:endParaRPr lang="en-AU" sz="4400"/>
          </a:p>
          <a:p>
            <a:pPr algn="ctr"/>
            <a:r>
              <a:rPr lang="en-AU" sz="4400"/>
              <a:t>0.70    7.0    0.7</a:t>
            </a:r>
          </a:p>
          <a:p>
            <a:pPr algn="ctr"/>
            <a:endParaRPr lang="en-AU" sz="4400"/>
          </a:p>
          <a:p>
            <a:pPr algn="ctr"/>
            <a:r>
              <a:rPr lang="en-AU" sz="4400" b="1" dirty="0"/>
              <a:t>Communicate</a:t>
            </a:r>
            <a:r>
              <a:rPr lang="en-AU" sz="4400"/>
              <a:t> your </a:t>
            </a:r>
            <a:r>
              <a:rPr lang="en-AU" sz="4400" b="1" dirty="0"/>
              <a:t>reasoning</a:t>
            </a:r>
            <a:r>
              <a:rPr lang="en-AU" sz="4400"/>
              <a:t>.</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A125F97-E1D9-A5BF-969F-20C3C3FD13B0}"/>
              </a:ext>
            </a:extLst>
          </p:cNvPr>
          <p:cNvSpPr txBox="1"/>
          <p:nvPr/>
        </p:nvSpPr>
        <p:spPr>
          <a:xfrm>
            <a:off x="774979" y="1184223"/>
            <a:ext cx="10103893" cy="2483893"/>
          </a:xfrm>
          <a:prstGeom prst="rect">
            <a:avLst/>
          </a:prstGeom>
          <a:noFill/>
        </p:spPr>
        <p:txBody>
          <a:bodyPr wrap="square" lIns="0" tIns="0" rIns="0" bIns="0" rtlCol="0">
            <a:noAutofit/>
          </a:bodyPr>
          <a:lstStyle/>
          <a:p>
            <a:pPr algn="ctr">
              <a:lnSpc>
                <a:spcPct val="150000"/>
              </a:lnSpc>
            </a:pPr>
            <a:r>
              <a:rPr lang="en-AU" sz="4400"/>
              <a:t>Use the </a:t>
            </a:r>
            <a:r>
              <a:rPr lang="en-AU" sz="4400" b="1"/>
              <a:t>associative property </a:t>
            </a:r>
            <a:r>
              <a:rPr lang="en-AU" sz="4400"/>
              <a:t>to form </a:t>
            </a:r>
            <a:r>
              <a:rPr lang="en-AU" sz="4400" b="1"/>
              <a:t>multiples of 10 </a:t>
            </a:r>
            <a:r>
              <a:rPr lang="en-AU" sz="4400"/>
              <a:t>to solve this addition equation: </a:t>
            </a:r>
          </a:p>
          <a:p>
            <a:pPr algn="ctr">
              <a:lnSpc>
                <a:spcPct val="150000"/>
              </a:lnSpc>
            </a:pPr>
            <a:endParaRPr lang="en-AU"/>
          </a:p>
          <a:p>
            <a:pPr algn="ctr">
              <a:lnSpc>
                <a:spcPct val="150000"/>
              </a:lnSpc>
            </a:pPr>
            <a:r>
              <a:rPr lang="en-AU" sz="4400"/>
              <a:t>23 + 12 + 7 = </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DE02FCF-FC67-D1DC-59AC-FC15316E48D0}"/>
              </a:ext>
            </a:extLst>
          </p:cNvPr>
          <p:cNvSpPr txBox="1"/>
          <p:nvPr/>
        </p:nvSpPr>
        <p:spPr>
          <a:xfrm>
            <a:off x="360000" y="2045501"/>
            <a:ext cx="8892209" cy="3843131"/>
          </a:xfrm>
          <a:prstGeom prst="rect">
            <a:avLst/>
          </a:prstGeom>
          <a:noFill/>
        </p:spPr>
        <p:txBody>
          <a:bodyPr wrap="square" lIns="0" tIns="0" rIns="0" bIns="0" rtlCol="0">
            <a:noAutofit/>
          </a:bodyPr>
          <a:lstStyle/>
          <a:p>
            <a:pPr algn="ctr">
              <a:lnSpc>
                <a:spcPct val="150000"/>
              </a:lnSpc>
            </a:pPr>
            <a:r>
              <a:rPr lang="en-AU" sz="4000" b="1"/>
              <a:t>Estimate</a:t>
            </a:r>
            <a:r>
              <a:rPr lang="en-AU" sz="4000"/>
              <a:t> the </a:t>
            </a:r>
            <a:r>
              <a:rPr lang="en-AU" sz="4000" b="1"/>
              <a:t>area</a:t>
            </a:r>
            <a:r>
              <a:rPr lang="en-AU" sz="4000"/>
              <a:t> of a regular-sized sticky note using </a:t>
            </a:r>
            <a:r>
              <a:rPr lang="en-AU" sz="4000" b="1"/>
              <a:t>square centimetres</a:t>
            </a:r>
            <a:r>
              <a:rPr lang="en-AU" sz="4000"/>
              <a:t>.</a:t>
            </a:r>
          </a:p>
          <a:p>
            <a:pPr algn="ctr">
              <a:lnSpc>
                <a:spcPct val="150000"/>
              </a:lnSpc>
            </a:pPr>
            <a:endParaRPr lang="en-AU" sz="4000"/>
          </a:p>
          <a:p>
            <a:pPr algn="ctr">
              <a:lnSpc>
                <a:spcPct val="150000"/>
              </a:lnSpc>
            </a:pPr>
            <a:r>
              <a:rPr lang="en-AU" sz="4000" b="1" dirty="0"/>
              <a:t>Communicate</a:t>
            </a:r>
            <a:r>
              <a:rPr lang="en-AU" sz="4000"/>
              <a:t> your </a:t>
            </a:r>
            <a:r>
              <a:rPr lang="en-AU" sz="4000" b="1" dirty="0"/>
              <a:t>reasoning</a:t>
            </a:r>
            <a:r>
              <a:rPr lang="en-AU" sz="4000"/>
              <a:t>.</a:t>
            </a:r>
          </a:p>
        </p:txBody>
      </p:sp>
      <p:pic>
        <p:nvPicPr>
          <p:cNvPr id="7" name="Picture 6" descr="A yellow sticky note to clarify what is meant by 'regular sized' sticky note.">
            <a:extLst>
              <a:ext uri="{FF2B5EF4-FFF2-40B4-BE49-F238E27FC236}">
                <a16:creationId xmlns:a16="http://schemas.microsoft.com/office/drawing/2014/main" id="{F4B9AE46-B76F-9753-7582-09C39F1113F9}"/>
              </a:ext>
            </a:extLst>
          </p:cNvPr>
          <p:cNvPicPr>
            <a:picLocks noChangeAspect="1"/>
          </p:cNvPicPr>
          <p:nvPr/>
        </p:nvPicPr>
        <p:blipFill>
          <a:blip r:embed="rId4"/>
          <a:srcRect l="23360" t="43961" r="42759" b="5249"/>
          <a:stretch>
            <a:fillRect/>
          </a:stretch>
        </p:blipFill>
        <p:spPr>
          <a:xfrm>
            <a:off x="9253511" y="2409937"/>
            <a:ext cx="2938489" cy="3114261"/>
          </a:xfrm>
          <a:prstGeom prst="rect">
            <a:avLst/>
          </a:prstGeom>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a:t>
            </a:r>
            <a:r>
              <a:rPr lang="en-AU">
                <a:latin typeface="Arial"/>
                <a:cs typeface="Arial"/>
              </a:rPr>
              <a:t>two truths and a lie </a:t>
            </a:r>
            <a:r>
              <a:rPr lang="en-AU">
                <a:solidFill>
                  <a:schemeClr val="bg1"/>
                </a:solidFill>
                <a:latin typeface="Arial"/>
                <a:cs typeface="Arial"/>
              </a:rPr>
              <a:t>(1)</a:t>
            </a:r>
            <a:endParaRPr lang="en-AU">
              <a:solidFill>
                <a:schemeClr val="bg1"/>
              </a:solidFill>
            </a:endParaRP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29494D2F-3D77-3776-2BEE-C28DDAB1AC19}"/>
              </a:ext>
            </a:extLst>
          </p:cNvPr>
          <p:cNvSpPr txBox="1"/>
          <p:nvPr/>
        </p:nvSpPr>
        <p:spPr>
          <a:xfrm>
            <a:off x="530921" y="1237593"/>
            <a:ext cx="11009438" cy="5278407"/>
          </a:xfrm>
          <a:prstGeom prst="rect">
            <a:avLst/>
          </a:prstGeom>
          <a:noFill/>
        </p:spPr>
        <p:txBody>
          <a:bodyPr wrap="none" lIns="0" tIns="0" rIns="0" bIns="0" rtlCol="0">
            <a:noAutofit/>
          </a:bodyPr>
          <a:lstStyle/>
          <a:p>
            <a:pPr>
              <a:lnSpc>
                <a:spcPct val="150000"/>
              </a:lnSpc>
            </a:pPr>
            <a:r>
              <a:rPr lang="en-AU" sz="3600" dirty="0">
                <a:solidFill>
                  <a:srgbClr val="000000"/>
                </a:solidFill>
                <a:latin typeface="Arial" panose="020B0604020202020204" pitchFamily="34" charset="0"/>
              </a:rPr>
              <a:t>Read each statement and then test using MAB materials</a:t>
            </a:r>
          </a:p>
          <a:p>
            <a:pPr>
              <a:lnSpc>
                <a:spcPct val="150000"/>
              </a:lnSpc>
            </a:pPr>
            <a:r>
              <a:rPr lang="en-AU" sz="3600" dirty="0">
                <a:solidFill>
                  <a:srgbClr val="000000"/>
                </a:solidFill>
                <a:latin typeface="Arial" panose="020B0604020202020204" pitchFamily="34" charset="0"/>
              </a:rPr>
              <a:t>to identify which are the </a:t>
            </a:r>
            <a:r>
              <a:rPr lang="en-AU" sz="3600" b="1" dirty="0">
                <a:solidFill>
                  <a:srgbClr val="000000"/>
                </a:solidFill>
                <a:latin typeface="Arial" panose="020B0604020202020204" pitchFamily="34" charset="0"/>
              </a:rPr>
              <a:t>truths</a:t>
            </a:r>
            <a:r>
              <a:rPr lang="en-AU" sz="3600" dirty="0">
                <a:solidFill>
                  <a:srgbClr val="000000"/>
                </a:solidFill>
                <a:latin typeface="Arial" panose="020B0604020202020204" pitchFamily="34" charset="0"/>
              </a:rPr>
              <a:t> and which is the </a:t>
            </a:r>
            <a:r>
              <a:rPr lang="en-AU" sz="3600" b="1" dirty="0">
                <a:solidFill>
                  <a:srgbClr val="000000"/>
                </a:solidFill>
                <a:latin typeface="Arial" panose="020B0604020202020204" pitchFamily="34" charset="0"/>
              </a:rPr>
              <a:t>lie</a:t>
            </a:r>
            <a:r>
              <a:rPr lang="en-AU" sz="3600" dirty="0">
                <a:solidFill>
                  <a:srgbClr val="000000"/>
                </a:solidFill>
                <a:latin typeface="Arial" panose="020B0604020202020204" pitchFamily="34" charset="0"/>
              </a:rPr>
              <a:t>. </a:t>
            </a:r>
            <a:endParaRPr lang="en-AU" sz="3600" dirty="0">
              <a:latin typeface="Arial" panose="020B0604020202020204" pitchFamily="34" charset="0"/>
              <a:cs typeface="Arial" panose="020B0604020202020204" pitchFamily="34" charset="0"/>
            </a:endParaRPr>
          </a:p>
          <a:p>
            <a:pPr>
              <a:lnSpc>
                <a:spcPct val="150000"/>
              </a:lnSpc>
            </a:pPr>
            <a:r>
              <a:rPr lang="en-AU" sz="3600" dirty="0">
                <a:latin typeface="Arial" panose="020B0604020202020204" pitchFamily="34" charset="0"/>
                <a:cs typeface="Arial" panose="020B0604020202020204" pitchFamily="34" charset="0"/>
              </a:rPr>
              <a:t>The number…</a:t>
            </a:r>
          </a:p>
          <a:p>
            <a:pPr algn="ctr">
              <a:lnSpc>
                <a:spcPct val="150000"/>
              </a:lnSpc>
            </a:pPr>
            <a:r>
              <a:rPr lang="en-AU" sz="3600" dirty="0">
                <a:latin typeface="Arial" panose="020B0604020202020204" pitchFamily="34" charset="0"/>
                <a:cs typeface="Arial" panose="020B0604020202020204" pitchFamily="34" charset="0"/>
              </a:rPr>
              <a:t>a. 32 can be represented with 5 MAB materials.</a:t>
            </a:r>
          </a:p>
          <a:p>
            <a:pPr algn="ctr">
              <a:lnSpc>
                <a:spcPct val="150000"/>
              </a:lnSpc>
            </a:pPr>
            <a:r>
              <a:rPr lang="en-AU" sz="3600" dirty="0">
                <a:latin typeface="Arial" panose="020B0604020202020204" pitchFamily="34" charset="0"/>
                <a:cs typeface="Arial" panose="020B0604020202020204" pitchFamily="34" charset="0"/>
              </a:rPr>
              <a:t>b. 68 can be represented with 41 MAB materials.</a:t>
            </a:r>
          </a:p>
          <a:p>
            <a:pPr algn="ctr">
              <a:lnSpc>
                <a:spcPct val="150000"/>
              </a:lnSpc>
            </a:pPr>
            <a:r>
              <a:rPr lang="en-AU" sz="3600" dirty="0">
                <a:latin typeface="Arial" panose="020B0604020202020204" pitchFamily="34" charset="0"/>
                <a:cs typeface="Arial" panose="020B0604020202020204" pitchFamily="34" charset="0"/>
              </a:rPr>
              <a:t>c.145 can be represented with 25 MAB materials.</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EB9-77F2-374E-EEF6-C0AAB0EA0D0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8FFAA4-F4EE-3B2F-9406-6DCAAE97264F}"/>
              </a:ext>
            </a:extLst>
          </p:cNvPr>
          <p:cNvSpPr>
            <a:spLocks noGrp="1"/>
          </p:cNvSpPr>
          <p:nvPr>
            <p:ph type="title"/>
          </p:nvPr>
        </p:nvSpPr>
        <p:spPr>
          <a:xfrm>
            <a:off x="360000" y="360000"/>
            <a:ext cx="10367268" cy="545601"/>
          </a:xfrm>
        </p:spPr>
        <p:txBody>
          <a:bodyPr/>
          <a:lstStyle/>
          <a:p>
            <a:r>
              <a:rPr lang="en-AU"/>
              <a:t>Activity 6 – </a:t>
            </a:r>
            <a:r>
              <a:rPr lang="en-AU">
                <a:latin typeface="Arial"/>
                <a:cs typeface="Arial"/>
              </a:rPr>
              <a:t>two truths and a lie </a:t>
            </a:r>
            <a:r>
              <a:rPr lang="en-AU">
                <a:solidFill>
                  <a:schemeClr val="bg1"/>
                </a:solidFill>
                <a:latin typeface="Arial"/>
                <a:cs typeface="Arial"/>
              </a:rPr>
              <a:t>(2)</a:t>
            </a:r>
            <a:endParaRPr lang="en-AU">
              <a:solidFill>
                <a:schemeClr val="bg1"/>
              </a:solidFill>
            </a:endParaRPr>
          </a:p>
        </p:txBody>
      </p:sp>
      <p:sp>
        <p:nvSpPr>
          <p:cNvPr id="2" name="Slide Number Placeholder 1">
            <a:extLst>
              <a:ext uri="{FF2B5EF4-FFF2-40B4-BE49-F238E27FC236}">
                <a16:creationId xmlns:a16="http://schemas.microsoft.com/office/drawing/2014/main" id="{435844B8-E4B9-D444-9C53-A6306A8B679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4" name="Picture 3" descr="image of a head with cogs turning inside">
            <a:extLst>
              <a:ext uri="{FF2B5EF4-FFF2-40B4-BE49-F238E27FC236}">
                <a16:creationId xmlns:a16="http://schemas.microsoft.com/office/drawing/2014/main" id="{89FBA0A2-82AD-4266-B764-5D35EB2464F0}"/>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Grid with 9 rows (7 of them empty) and 5 columns. The first row reads 'The number...', the second row has the following column headings:  representation, hundreds, tens, ones and total MABs.">
            <a:extLst>
              <a:ext uri="{FF2B5EF4-FFF2-40B4-BE49-F238E27FC236}">
                <a16:creationId xmlns:a16="http://schemas.microsoft.com/office/drawing/2014/main" id="{8D6E8013-59BF-3009-2CB1-2046F05FB3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5500" y="1097258"/>
            <a:ext cx="9531768" cy="5719060"/>
          </a:xfrm>
          <a:prstGeom prst="rect">
            <a:avLst/>
          </a:prstGeom>
        </p:spPr>
      </p:pic>
    </p:spTree>
    <p:extLst>
      <p:ext uri="{BB962C8B-B14F-4D97-AF65-F5344CB8AC3E}">
        <p14:creationId xmlns:p14="http://schemas.microsoft.com/office/powerpoint/2010/main" val="735623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714849" y="737406"/>
            <a:ext cx="13402578" cy="893226"/>
          </a:xfrm>
        </p:spPr>
        <p:txBody>
          <a:bodyPr/>
          <a:lstStyle/>
          <a:p>
            <a:pPr algn="ctr"/>
            <a:r>
              <a:rPr lang="en-US" sz="4400"/>
              <a:t>2000 + 400 +</a:t>
            </a:r>
            <a:r>
              <a:rPr lang="en-US" sz="4400" dirty="0"/>
              <a:t> </a:t>
            </a:r>
            <a:r>
              <a:rPr lang="en-US" sz="4400"/>
              <a:t>20 + 6 </a:t>
            </a:r>
          </a:p>
          <a:p>
            <a:pPr algn="ctr"/>
            <a:r>
              <a:rPr lang="en-US" sz="4400"/>
              <a:t>and </a:t>
            </a:r>
          </a:p>
          <a:p>
            <a:pPr algn="ctr"/>
            <a:r>
              <a:rPr lang="en-US" sz="4400"/>
              <a:t>24 hundred + 26 ones</a:t>
            </a:r>
          </a:p>
          <a:p>
            <a:pPr algn="ctr"/>
            <a:r>
              <a:rPr lang="en-US" sz="4400"/>
              <a:t>are both </a:t>
            </a:r>
            <a:r>
              <a:rPr lang="en-US" sz="4400" b="1"/>
              <a:t>representations</a:t>
            </a:r>
            <a:r>
              <a:rPr lang="en-US" sz="4400"/>
              <a:t> of ….</a:t>
            </a:r>
          </a:p>
        </p:txBody>
      </p:sp>
      <p:sp>
        <p:nvSpPr>
          <p:cNvPr id="9" name="TextBox 8">
            <a:extLst>
              <a:ext uri="{FF2B5EF4-FFF2-40B4-BE49-F238E27FC236}">
                <a16:creationId xmlns:a16="http://schemas.microsoft.com/office/drawing/2014/main" id="{8B9CE09D-4912-352C-EDD3-2F5B22293E2B}"/>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F03294A5-CB62-91E6-0D20-1199ECBFAF01}"/>
              </a:ext>
            </a:extLst>
          </p:cNvPr>
          <p:cNvSpPr txBox="1"/>
          <p:nvPr/>
        </p:nvSpPr>
        <p:spPr>
          <a:xfrm>
            <a:off x="9840134"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3D31413-FF78-7189-1A0F-0B12F84CC32D}"/>
              </a:ext>
            </a:extLst>
          </p:cNvPr>
          <p:cNvSpPr txBox="1"/>
          <p:nvPr/>
        </p:nvSpPr>
        <p:spPr>
          <a:xfrm>
            <a:off x="6958998"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Box 4">
            <a:extLst>
              <a:ext uri="{FF2B5EF4-FFF2-40B4-BE49-F238E27FC236}">
                <a16:creationId xmlns:a16="http://schemas.microsoft.com/office/drawing/2014/main" id="{5EED8729-2597-B90A-E3EC-27CD564DAE31}"/>
              </a:ext>
            </a:extLst>
          </p:cNvPr>
          <p:cNvSpPr txBox="1"/>
          <p:nvPr/>
        </p:nvSpPr>
        <p:spPr>
          <a:xfrm>
            <a:off x="2068067" y="5595856"/>
            <a:ext cx="914400" cy="914400"/>
          </a:xfrm>
          <a:prstGeom prst="rect">
            <a:avLst/>
          </a:prstGeom>
          <a:noFill/>
        </p:spPr>
        <p:txBody>
          <a:bodyPr wrap="none" lIns="0" tIns="0" rIns="0" bIns="0" rtlCol="0">
            <a:noAutofit/>
          </a:bodyPr>
          <a:lstStyle/>
          <a:p>
            <a:pPr algn="l"/>
            <a:r>
              <a:rPr lang="en-AU" sz="4400"/>
              <a:t>2426</a:t>
            </a:r>
          </a:p>
        </p:txBody>
      </p:sp>
      <p:sp>
        <p:nvSpPr>
          <p:cNvPr id="6" name="TextBox 5">
            <a:extLst>
              <a:ext uri="{FF2B5EF4-FFF2-40B4-BE49-F238E27FC236}">
                <a16:creationId xmlns:a16="http://schemas.microsoft.com/office/drawing/2014/main" id="{1EE70FA8-D2F1-20A0-DA8B-ECBE97AAE3DC}"/>
              </a:ext>
            </a:extLst>
          </p:cNvPr>
          <p:cNvSpPr txBox="1"/>
          <p:nvPr/>
        </p:nvSpPr>
        <p:spPr>
          <a:xfrm>
            <a:off x="5072040" y="5595856"/>
            <a:ext cx="914400" cy="914400"/>
          </a:xfrm>
          <a:prstGeom prst="rect">
            <a:avLst/>
          </a:prstGeom>
          <a:noFill/>
        </p:spPr>
        <p:txBody>
          <a:bodyPr wrap="none" lIns="0" tIns="0" rIns="0" bIns="0" rtlCol="0">
            <a:noAutofit/>
          </a:bodyPr>
          <a:lstStyle/>
          <a:p>
            <a:pPr algn="l"/>
            <a:r>
              <a:rPr lang="en-AU" sz="4400"/>
              <a:t>2406</a:t>
            </a:r>
          </a:p>
        </p:txBody>
      </p:sp>
      <p:sp>
        <p:nvSpPr>
          <p:cNvPr id="7" name="TextBox 6">
            <a:extLst>
              <a:ext uri="{FF2B5EF4-FFF2-40B4-BE49-F238E27FC236}">
                <a16:creationId xmlns:a16="http://schemas.microsoft.com/office/drawing/2014/main" id="{D457A1DF-3312-D120-7DA6-436A340ADAE4}"/>
              </a:ext>
            </a:extLst>
          </p:cNvPr>
          <p:cNvSpPr txBox="1"/>
          <p:nvPr/>
        </p:nvSpPr>
        <p:spPr>
          <a:xfrm>
            <a:off x="7653546" y="5605966"/>
            <a:ext cx="914400" cy="914400"/>
          </a:xfrm>
          <a:prstGeom prst="rect">
            <a:avLst/>
          </a:prstGeom>
          <a:noFill/>
        </p:spPr>
        <p:txBody>
          <a:bodyPr wrap="none" lIns="0" tIns="0" rIns="0" bIns="0" rtlCol="0">
            <a:noAutofit/>
          </a:bodyPr>
          <a:lstStyle/>
          <a:p>
            <a:pPr algn="l"/>
            <a:r>
              <a:rPr lang="en-AU" sz="4400"/>
              <a:t>2026</a:t>
            </a:r>
          </a:p>
        </p:txBody>
      </p:sp>
      <p:sp>
        <p:nvSpPr>
          <p:cNvPr id="8" name="TextBox 7">
            <a:extLst>
              <a:ext uri="{FF2B5EF4-FFF2-40B4-BE49-F238E27FC236}">
                <a16:creationId xmlns:a16="http://schemas.microsoft.com/office/drawing/2014/main" id="{41E3BBEF-9073-0175-1771-9ACBC3C0F846}"/>
              </a:ext>
            </a:extLst>
          </p:cNvPr>
          <p:cNvSpPr txBox="1"/>
          <p:nvPr/>
        </p:nvSpPr>
        <p:spPr>
          <a:xfrm>
            <a:off x="10501308" y="5605966"/>
            <a:ext cx="914400" cy="914400"/>
          </a:xfrm>
          <a:prstGeom prst="rect">
            <a:avLst/>
          </a:prstGeom>
          <a:noFill/>
        </p:spPr>
        <p:txBody>
          <a:bodyPr wrap="none" lIns="0" tIns="0" rIns="0" bIns="0" rtlCol="0">
            <a:noAutofit/>
          </a:bodyPr>
          <a:lstStyle/>
          <a:p>
            <a:pPr algn="l"/>
            <a:r>
              <a:rPr lang="en-AU" sz="4400"/>
              <a:t>246</a:t>
            </a:r>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644785E-B060-0C43-4E82-C8B4D035065D}"/>
              </a:ext>
            </a:extLst>
          </p:cNvPr>
          <p:cNvSpPr txBox="1"/>
          <p:nvPr/>
        </p:nvSpPr>
        <p:spPr>
          <a:xfrm>
            <a:off x="8144222" y="1795041"/>
            <a:ext cx="4047778" cy="4350212"/>
          </a:xfrm>
          <a:prstGeom prst="rect">
            <a:avLst/>
          </a:prstGeom>
          <a:noFill/>
        </p:spPr>
        <p:txBody>
          <a:bodyPr wrap="square" lIns="0" tIns="0" rIns="0" bIns="0" rtlCol="0">
            <a:noAutofit/>
          </a:bodyPr>
          <a:lstStyle/>
          <a:p>
            <a:pPr>
              <a:lnSpc>
                <a:spcPct val="150000"/>
              </a:lnSpc>
            </a:pPr>
            <a:r>
              <a:rPr lang="en-AU" sz="6000"/>
              <a:t>   6 9 9</a:t>
            </a:r>
          </a:p>
          <a:p>
            <a:pPr>
              <a:lnSpc>
                <a:spcPct val="150000"/>
              </a:lnSpc>
            </a:pPr>
            <a:r>
              <a:rPr lang="en-AU" sz="6000"/>
              <a:t>-     9 6</a:t>
            </a:r>
          </a:p>
          <a:p>
            <a:pPr>
              <a:lnSpc>
                <a:spcPct val="150000"/>
              </a:lnSpc>
            </a:pPr>
            <a:r>
              <a:rPr lang="en-AU" sz="6000">
                <a:solidFill>
                  <a:schemeClr val="tx2"/>
                </a:solidFill>
              </a:rPr>
              <a:t>   </a:t>
            </a:r>
            <a:r>
              <a:rPr lang="en-AU" sz="6000">
                <a:solidFill>
                  <a:srgbClr val="0070C0"/>
                </a:solidFill>
              </a:rPr>
              <a:t>6 0 3</a:t>
            </a:r>
            <a:endParaRPr lang="en-AU" sz="4400">
              <a:solidFill>
                <a:srgbClr val="0070C0"/>
              </a:solidFill>
            </a:endParaRPr>
          </a:p>
        </p:txBody>
      </p:sp>
      <p:cxnSp>
        <p:nvCxnSpPr>
          <p:cNvPr id="7" name="Straight Connector 6">
            <a:extLst>
              <a:ext uri="{FF2B5EF4-FFF2-40B4-BE49-F238E27FC236}">
                <a16:creationId xmlns:a16="http://schemas.microsoft.com/office/drawing/2014/main" id="{D68D90E7-4A94-6188-7EC5-D8347C109061}"/>
              </a:ext>
              <a:ext uri="{C183D7F6-B498-43B3-948B-1728B52AA6E4}">
                <adec:decorative xmlns:adec="http://schemas.microsoft.com/office/drawing/2017/decorative" val="1"/>
              </a:ext>
            </a:extLst>
          </p:cNvPr>
          <p:cNvCxnSpPr/>
          <p:nvPr/>
        </p:nvCxnSpPr>
        <p:spPr>
          <a:xfrm>
            <a:off x="8144222" y="4444409"/>
            <a:ext cx="271130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C251F31-F26A-9387-4D3F-976F6A18BD68}"/>
              </a:ext>
            </a:extLst>
          </p:cNvPr>
          <p:cNvSpPr txBox="1"/>
          <p:nvPr/>
        </p:nvSpPr>
        <p:spPr>
          <a:xfrm>
            <a:off x="360000" y="1243982"/>
            <a:ext cx="7337972" cy="5152780"/>
          </a:xfrm>
          <a:prstGeom prst="rect">
            <a:avLst/>
          </a:prstGeom>
          <a:noFill/>
        </p:spPr>
        <p:txBody>
          <a:bodyPr wrap="square" lIns="0" tIns="0" rIns="0" bIns="0" rtlCol="0">
            <a:noAutofit/>
          </a:bodyPr>
          <a:lstStyle/>
          <a:p>
            <a:pPr algn="ctr">
              <a:lnSpc>
                <a:spcPct val="150000"/>
              </a:lnSpc>
            </a:pPr>
            <a:r>
              <a:rPr lang="en-AU" sz="3600"/>
              <a:t>Evie used a </a:t>
            </a:r>
            <a:r>
              <a:rPr lang="en-AU" sz="3600" b="1"/>
              <a:t>vertical algorithm </a:t>
            </a:r>
            <a:r>
              <a:rPr lang="en-AU" sz="3600"/>
              <a:t>to solve 699 – 96. </a:t>
            </a:r>
          </a:p>
          <a:p>
            <a:pPr algn="ctr">
              <a:lnSpc>
                <a:spcPct val="150000"/>
              </a:lnSpc>
            </a:pPr>
            <a:r>
              <a:rPr lang="en-AU" sz="3600"/>
              <a:t>Is this the most </a:t>
            </a:r>
            <a:r>
              <a:rPr lang="en-AU" sz="3600" b="1"/>
              <a:t>efficient</a:t>
            </a:r>
            <a:r>
              <a:rPr lang="en-AU" sz="3600"/>
              <a:t> </a:t>
            </a:r>
            <a:r>
              <a:rPr lang="en-AU" sz="3600" b="1"/>
              <a:t>strategy</a:t>
            </a:r>
            <a:r>
              <a:rPr lang="en-AU" sz="3600"/>
              <a:t> she could have used? </a:t>
            </a:r>
          </a:p>
          <a:p>
            <a:pPr algn="ctr"/>
            <a:endParaRPr lang="en-AU" sz="3600"/>
          </a:p>
          <a:p>
            <a:pPr algn="ctr"/>
            <a:endParaRPr lang="en-AU" sz="3600"/>
          </a:p>
          <a:p>
            <a:pPr algn="ctr"/>
            <a:r>
              <a:rPr lang="en-AU" sz="3600" b="1" dirty="0"/>
              <a:t>Communicate</a:t>
            </a:r>
            <a:r>
              <a:rPr lang="en-AU" sz="3600"/>
              <a:t> your </a:t>
            </a:r>
            <a:r>
              <a:rPr lang="en-AU" sz="3600" b="1" dirty="0"/>
              <a:t>reasoning</a:t>
            </a:r>
            <a:r>
              <a:rPr lang="en-AU" sz="3600"/>
              <a:t>.</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0" name="Group 9" descr="A multiplication chart showing multiples of 1 to 10 with multiples of 2, 4 and 8 highlighted in pink.">
            <a:extLst>
              <a:ext uri="{FF2B5EF4-FFF2-40B4-BE49-F238E27FC236}">
                <a16:creationId xmlns:a16="http://schemas.microsoft.com/office/drawing/2014/main" id="{079150FE-407F-9315-478A-24619DA5DCE1}"/>
              </a:ext>
            </a:extLst>
          </p:cNvPr>
          <p:cNvGrpSpPr/>
          <p:nvPr/>
        </p:nvGrpSpPr>
        <p:grpSpPr>
          <a:xfrm>
            <a:off x="6238238" y="1265052"/>
            <a:ext cx="4885762" cy="5170119"/>
            <a:chOff x="6238238" y="1265052"/>
            <a:chExt cx="4885762" cy="5170119"/>
          </a:xfrm>
        </p:grpSpPr>
        <p:pic>
          <p:nvPicPr>
            <p:cNvPr id="4" name="Picture 3" descr="A multiplication chart showing multiples of 1 through to 10 with muleiples of 2, 4 and 8 highlighted in pink.">
              <a:extLst>
                <a:ext uri="{FF2B5EF4-FFF2-40B4-BE49-F238E27FC236}">
                  <a16:creationId xmlns:a16="http://schemas.microsoft.com/office/drawing/2014/main" id="{16FC7F28-9E56-A4E1-CBC5-1C435790BAF2}"/>
                </a:ext>
              </a:extLst>
            </p:cNvPr>
            <p:cNvPicPr>
              <a:picLocks noChangeAspect="1"/>
            </p:cNvPicPr>
            <p:nvPr/>
          </p:nvPicPr>
          <p:blipFill>
            <a:blip r:embed="rId4"/>
            <a:stretch>
              <a:fillRect/>
            </a:stretch>
          </p:blipFill>
          <p:spPr>
            <a:xfrm>
              <a:off x="6238238" y="1265052"/>
              <a:ext cx="4885762" cy="5170119"/>
            </a:xfrm>
            <a:prstGeom prst="rect">
              <a:avLst/>
            </a:prstGeom>
          </p:spPr>
        </p:pic>
        <p:sp>
          <p:nvSpPr>
            <p:cNvPr id="5" name="Rectangle 4">
              <a:extLst>
                <a:ext uri="{FF2B5EF4-FFF2-40B4-BE49-F238E27FC236}">
                  <a16:creationId xmlns:a16="http://schemas.microsoft.com/office/drawing/2014/main" id="{CD5ACA5F-E465-9862-1A44-F261C98AB05F}"/>
                </a:ext>
              </a:extLst>
            </p:cNvPr>
            <p:cNvSpPr/>
            <p:nvPr/>
          </p:nvSpPr>
          <p:spPr>
            <a:xfrm>
              <a:off x="6717670" y="2257425"/>
              <a:ext cx="4312806" cy="414338"/>
            </a:xfrm>
            <a:prstGeom prst="rect">
              <a:avLst/>
            </a:prstGeom>
            <a:solidFill>
              <a:schemeClr val="accent6">
                <a:lumMod val="90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2EE326BE-EA6B-ED4A-E051-34DBFEF0E9B8}"/>
                </a:ext>
              </a:extLst>
            </p:cNvPr>
            <p:cNvSpPr/>
            <p:nvPr/>
          </p:nvSpPr>
          <p:spPr>
            <a:xfrm>
              <a:off x="6717670" y="3177752"/>
              <a:ext cx="4312806" cy="414338"/>
            </a:xfrm>
            <a:prstGeom prst="rect">
              <a:avLst/>
            </a:prstGeom>
            <a:solidFill>
              <a:schemeClr val="accent6">
                <a:lumMod val="90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6930F614-C8C5-70C2-E448-4B7DE717EAC5}"/>
                </a:ext>
              </a:extLst>
            </p:cNvPr>
            <p:cNvSpPr/>
            <p:nvPr/>
          </p:nvSpPr>
          <p:spPr>
            <a:xfrm>
              <a:off x="6717670" y="5042874"/>
              <a:ext cx="4312806" cy="414338"/>
            </a:xfrm>
            <a:prstGeom prst="rect">
              <a:avLst/>
            </a:prstGeom>
            <a:solidFill>
              <a:schemeClr val="accent6">
                <a:lumMod val="90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 name="TextBox 8">
            <a:extLst>
              <a:ext uri="{FF2B5EF4-FFF2-40B4-BE49-F238E27FC236}">
                <a16:creationId xmlns:a16="http://schemas.microsoft.com/office/drawing/2014/main" id="{EC695BC0-2BC0-8F5D-6541-A389F817899D}"/>
              </a:ext>
            </a:extLst>
          </p:cNvPr>
          <p:cNvSpPr txBox="1"/>
          <p:nvPr/>
        </p:nvSpPr>
        <p:spPr>
          <a:xfrm>
            <a:off x="488751" y="1410205"/>
            <a:ext cx="5465011" cy="4363770"/>
          </a:xfrm>
          <a:prstGeom prst="rect">
            <a:avLst/>
          </a:prstGeom>
          <a:noFill/>
        </p:spPr>
        <p:txBody>
          <a:bodyPr wrap="square" lIns="0" tIns="0" rIns="0" bIns="0" rtlCol="0">
            <a:noAutofit/>
          </a:bodyPr>
          <a:lstStyle/>
          <a:p>
            <a:pPr algn="ctr">
              <a:lnSpc>
                <a:spcPct val="150000"/>
              </a:lnSpc>
            </a:pPr>
            <a:r>
              <a:rPr lang="en-AU" sz="3600" b="1" dirty="0"/>
              <a:t>Multiples</a:t>
            </a:r>
            <a:r>
              <a:rPr lang="en-AU" sz="3600" dirty="0"/>
              <a:t> of </a:t>
            </a:r>
            <a:r>
              <a:rPr lang="en-AU" sz="3600" b="1" dirty="0"/>
              <a:t>2</a:t>
            </a:r>
            <a:r>
              <a:rPr lang="en-AU" sz="3600" dirty="0"/>
              <a:t>, </a:t>
            </a:r>
            <a:r>
              <a:rPr lang="en-AU" sz="3600" b="1" dirty="0"/>
              <a:t>4</a:t>
            </a:r>
            <a:r>
              <a:rPr lang="en-AU" sz="3600" dirty="0"/>
              <a:t>, and </a:t>
            </a:r>
            <a:r>
              <a:rPr lang="en-AU" sz="3600" b="1" dirty="0"/>
              <a:t>8</a:t>
            </a:r>
            <a:r>
              <a:rPr lang="en-AU" sz="3600" dirty="0"/>
              <a:t>  are highlighted in pink on the multiplication chart. </a:t>
            </a:r>
            <a:r>
              <a:rPr lang="en-AU" sz="3600" b="1" dirty="0"/>
              <a:t>Describe</a:t>
            </a:r>
            <a:r>
              <a:rPr lang="en-AU" sz="3600" dirty="0"/>
              <a:t> the relationship between these </a:t>
            </a:r>
            <a:r>
              <a:rPr lang="en-AU" sz="3600" b="1" dirty="0"/>
              <a:t>multiples.</a:t>
            </a:r>
            <a:endParaRPr lang="en-AU" sz="2000" dirty="0"/>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A975A04-B51C-1CBE-F7E2-4BDBBB510BA8}"/>
              </a:ext>
            </a:extLst>
          </p:cNvPr>
          <p:cNvSpPr txBox="1"/>
          <p:nvPr/>
        </p:nvSpPr>
        <p:spPr>
          <a:xfrm>
            <a:off x="1258957" y="2040835"/>
            <a:ext cx="10084904" cy="2464904"/>
          </a:xfrm>
          <a:prstGeom prst="rect">
            <a:avLst/>
          </a:prstGeom>
          <a:noFill/>
        </p:spPr>
        <p:txBody>
          <a:bodyPr wrap="square" lIns="0" tIns="0" rIns="0" bIns="0" rtlCol="0">
            <a:noAutofit/>
          </a:bodyPr>
          <a:lstStyle/>
          <a:p>
            <a:pPr algn="ctr">
              <a:lnSpc>
                <a:spcPct val="150000"/>
              </a:lnSpc>
            </a:pPr>
            <a:r>
              <a:rPr lang="en-AU" sz="4400"/>
              <a:t>Solve </a:t>
            </a:r>
            <a:r>
              <a:rPr lang="en-AU" sz="4400" b="1"/>
              <a:t>72 – 59 </a:t>
            </a:r>
            <a:r>
              <a:rPr lang="en-AU" sz="4400"/>
              <a:t>using the </a:t>
            </a:r>
            <a:r>
              <a:rPr lang="en-AU" sz="4400" b="1"/>
              <a:t>most</a:t>
            </a:r>
            <a:r>
              <a:rPr lang="en-AU" sz="4400"/>
              <a:t> </a:t>
            </a:r>
            <a:r>
              <a:rPr lang="en-AU" sz="4400" b="1"/>
              <a:t>efficient </a:t>
            </a:r>
            <a:r>
              <a:rPr lang="en-AU" sz="4400"/>
              <a:t>strategy. </a:t>
            </a:r>
          </a:p>
          <a:p>
            <a:pPr algn="ctr">
              <a:lnSpc>
                <a:spcPct val="150000"/>
              </a:lnSpc>
            </a:pPr>
            <a:r>
              <a:rPr lang="en-AU" sz="4400" b="1" dirty="0"/>
              <a:t>Communicate</a:t>
            </a:r>
            <a:r>
              <a:rPr lang="en-AU" sz="4400"/>
              <a:t> your </a:t>
            </a:r>
            <a:r>
              <a:rPr lang="en-AU" sz="4400" b="1" dirty="0"/>
              <a:t>reasoning</a:t>
            </a:r>
            <a:r>
              <a:rPr lang="en-AU" sz="4400"/>
              <a:t>.</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4F023C6C-F66A-33E5-3F38-10B3F0208882}"/>
              </a:ext>
            </a:extLst>
          </p:cNvPr>
          <p:cNvSpPr txBox="1"/>
          <p:nvPr/>
        </p:nvSpPr>
        <p:spPr>
          <a:xfrm>
            <a:off x="360000" y="1593208"/>
            <a:ext cx="11436626" cy="3671583"/>
          </a:xfrm>
          <a:prstGeom prst="rect">
            <a:avLst/>
          </a:prstGeom>
          <a:noFill/>
        </p:spPr>
        <p:txBody>
          <a:bodyPr wrap="square">
            <a:spAutoFit/>
          </a:bodyPr>
          <a:lstStyle/>
          <a:p>
            <a:pPr algn="ctr">
              <a:lnSpc>
                <a:spcPct val="150000"/>
              </a:lnSpc>
            </a:pPr>
            <a:r>
              <a:rPr lang="en-AU" sz="4000"/>
              <a:t>Complete the sentences.</a:t>
            </a:r>
          </a:p>
          <a:p>
            <a:pPr algn="ctr">
              <a:lnSpc>
                <a:spcPct val="150000"/>
              </a:lnSpc>
            </a:pPr>
            <a:r>
              <a:rPr lang="en-AU" sz="4000"/>
              <a:t>A </a:t>
            </a:r>
            <a:r>
              <a:rPr lang="en-AU" sz="4000" b="1"/>
              <a:t>quarter-hour</a:t>
            </a:r>
            <a:r>
              <a:rPr lang="en-AU" sz="4000"/>
              <a:t> is </a:t>
            </a:r>
            <a:r>
              <a:rPr lang="en-AU" sz="4000" b="1"/>
              <a:t>equal</a:t>
            </a:r>
            <a:r>
              <a:rPr lang="en-AU" sz="4000"/>
              <a:t> to ____ minutes.</a:t>
            </a:r>
          </a:p>
          <a:p>
            <a:pPr algn="ctr">
              <a:lnSpc>
                <a:spcPct val="150000"/>
              </a:lnSpc>
            </a:pPr>
            <a:r>
              <a:rPr lang="en-AU" sz="4000"/>
              <a:t>A </a:t>
            </a:r>
            <a:r>
              <a:rPr lang="en-AU" sz="4000" b="1"/>
              <a:t>half-hour</a:t>
            </a:r>
            <a:r>
              <a:rPr lang="en-AU" sz="4000"/>
              <a:t> is </a:t>
            </a:r>
            <a:r>
              <a:rPr lang="en-AU" sz="4000" b="1"/>
              <a:t>equal</a:t>
            </a:r>
            <a:r>
              <a:rPr lang="en-AU" sz="4000"/>
              <a:t> to ____ minutes.</a:t>
            </a:r>
          </a:p>
          <a:p>
            <a:pPr algn="ctr">
              <a:lnSpc>
                <a:spcPct val="150000"/>
              </a:lnSpc>
            </a:pPr>
            <a:r>
              <a:rPr lang="en-AU" sz="4000"/>
              <a:t>An </a:t>
            </a:r>
            <a:r>
              <a:rPr lang="en-AU" sz="4000" b="1"/>
              <a:t>hour</a:t>
            </a:r>
            <a:r>
              <a:rPr lang="en-AU" sz="4000"/>
              <a:t> is </a:t>
            </a:r>
            <a:r>
              <a:rPr lang="en-AU" sz="4000" b="1"/>
              <a:t>equal</a:t>
            </a:r>
            <a:r>
              <a:rPr lang="en-AU" sz="4000"/>
              <a:t> to ____ minutes.</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partitioning</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6415 expanded into 6000 + 400+10+5=6415. 64 hundreds + 15 ones = 6415 or 6400 + 15 = 6415.">
            <a:extLst>
              <a:ext uri="{FF2B5EF4-FFF2-40B4-BE49-F238E27FC236}">
                <a16:creationId xmlns:a16="http://schemas.microsoft.com/office/drawing/2014/main" id="{D0F6EDEE-A020-F0F3-ABE9-E89C20FAEDAA}"/>
              </a:ext>
            </a:extLst>
          </p:cNvPr>
          <p:cNvPicPr>
            <a:picLocks noChangeAspect="1"/>
          </p:cNvPicPr>
          <p:nvPr/>
        </p:nvPicPr>
        <p:blipFill>
          <a:blip r:embed="rId4"/>
          <a:stretch>
            <a:fillRect/>
          </a:stretch>
        </p:blipFill>
        <p:spPr>
          <a:xfrm>
            <a:off x="2884162" y="1681738"/>
            <a:ext cx="6423676" cy="4406240"/>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600963" y="2046911"/>
            <a:ext cx="11243037" cy="893226"/>
          </a:xfrm>
        </p:spPr>
        <p:txBody>
          <a:bodyPr/>
          <a:lstStyle/>
          <a:p>
            <a:pPr algn="ctr"/>
            <a:r>
              <a:rPr lang="en-AU" sz="4400"/>
              <a:t>39 tens is ten </a:t>
            </a:r>
            <a:r>
              <a:rPr lang="en-AU" sz="4400" b="1"/>
              <a:t>less</a:t>
            </a:r>
            <a:r>
              <a:rPr lang="en-AU" sz="4400"/>
              <a:t> than </a:t>
            </a:r>
            <a:r>
              <a:rPr lang="en-AU" sz="4400" b="1"/>
              <a:t>400.</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5" name="Table 4">
            <a:extLst>
              <a:ext uri="{FF2B5EF4-FFF2-40B4-BE49-F238E27FC236}">
                <a16:creationId xmlns:a16="http://schemas.microsoft.com/office/drawing/2014/main" id="{50A8EC1B-B6FA-7138-9147-2736580C058B}"/>
              </a:ext>
            </a:extLst>
          </p:cNvPr>
          <p:cNvGraphicFramePr>
            <a:graphicFrameLocks noGrp="1"/>
          </p:cNvGraphicFramePr>
          <p:nvPr>
            <p:extLst>
              <p:ext uri="{D42A27DB-BD31-4B8C-83A1-F6EECF244321}">
                <p14:modId xmlns:p14="http://schemas.microsoft.com/office/powerpoint/2010/main" val="1017913877"/>
              </p:ext>
            </p:extLst>
          </p:nvPr>
        </p:nvGraphicFramePr>
        <p:xfrm>
          <a:off x="4397038" y="3451970"/>
          <a:ext cx="7122931" cy="2725283"/>
        </p:xfrm>
        <a:graphic>
          <a:graphicData uri="http://schemas.openxmlformats.org/drawingml/2006/table">
            <a:tbl>
              <a:tblPr firstRow="1" bandRow="1">
                <a:tableStyleId>{5A111915-BE36-4E01-A7E5-04B1672EAD32}</a:tableStyleId>
              </a:tblPr>
              <a:tblGrid>
                <a:gridCol w="971309">
                  <a:extLst>
                    <a:ext uri="{9D8B030D-6E8A-4147-A177-3AD203B41FA5}">
                      <a16:colId xmlns:a16="http://schemas.microsoft.com/office/drawing/2014/main" val="1005420287"/>
                    </a:ext>
                  </a:extLst>
                </a:gridCol>
                <a:gridCol w="2590156">
                  <a:extLst>
                    <a:ext uri="{9D8B030D-6E8A-4147-A177-3AD203B41FA5}">
                      <a16:colId xmlns:a16="http://schemas.microsoft.com/office/drawing/2014/main" val="1130613189"/>
                    </a:ext>
                  </a:extLst>
                </a:gridCol>
                <a:gridCol w="1780733">
                  <a:extLst>
                    <a:ext uri="{9D8B030D-6E8A-4147-A177-3AD203B41FA5}">
                      <a16:colId xmlns:a16="http://schemas.microsoft.com/office/drawing/2014/main" val="1604603986"/>
                    </a:ext>
                  </a:extLst>
                </a:gridCol>
                <a:gridCol w="1780733">
                  <a:extLst>
                    <a:ext uri="{9D8B030D-6E8A-4147-A177-3AD203B41FA5}">
                      <a16:colId xmlns:a16="http://schemas.microsoft.com/office/drawing/2014/main" val="2559047639"/>
                    </a:ext>
                  </a:extLst>
                </a:gridCol>
              </a:tblGrid>
              <a:tr h="722039">
                <a:tc>
                  <a:txBody>
                    <a:bodyPr/>
                    <a:lstStyle/>
                    <a:p>
                      <a:pPr algn="ctr"/>
                      <a:endParaRPr lang="en-AU" sz="3200"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AU" sz="3200" b="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AU" sz="3200" b="0"/>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AU" sz="3200" b="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986303205"/>
                  </a:ext>
                </a:extLst>
              </a:tr>
              <a:tr h="667748">
                <a:tc>
                  <a:txBody>
                    <a:bodyPr/>
                    <a:lstStyle/>
                    <a:p>
                      <a:pPr algn="ctr"/>
                      <a:r>
                        <a:rPr lang="en-AU" sz="3200"/>
                        <a:t>436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4567567"/>
                  </a:ext>
                </a:extLst>
              </a:tr>
              <a:tr h="667748">
                <a:tc>
                  <a:txBody>
                    <a:bodyPr/>
                    <a:lstStyle/>
                    <a:p>
                      <a:pPr algn="ctr"/>
                      <a:r>
                        <a:rPr lang="en-AU" sz="3200"/>
                        <a:t>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4943808"/>
                  </a:ext>
                </a:extLst>
              </a:tr>
              <a:tr h="667748">
                <a:tc>
                  <a:txBody>
                    <a:bodyPr/>
                    <a:lstStyle/>
                    <a:p>
                      <a:pPr algn="ctr"/>
                      <a:r>
                        <a:rPr lang="en-AU" sz="320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3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8169191"/>
                  </a:ext>
                </a:extLst>
              </a:tr>
            </a:tbl>
          </a:graphicData>
        </a:graphic>
      </p:graphicFrame>
      <p:sp>
        <p:nvSpPr>
          <p:cNvPr id="7" name="TextBox 6">
            <a:extLst>
              <a:ext uri="{FF2B5EF4-FFF2-40B4-BE49-F238E27FC236}">
                <a16:creationId xmlns:a16="http://schemas.microsoft.com/office/drawing/2014/main" id="{F79DF644-6D9B-0117-760D-4E21275A7E7D}"/>
              </a:ext>
            </a:extLst>
          </p:cNvPr>
          <p:cNvSpPr txBox="1"/>
          <p:nvPr/>
        </p:nvSpPr>
        <p:spPr>
          <a:xfrm>
            <a:off x="360000" y="1212321"/>
            <a:ext cx="11653284" cy="915500"/>
          </a:xfrm>
          <a:prstGeom prst="rect">
            <a:avLst/>
          </a:prstGeom>
          <a:noFill/>
        </p:spPr>
        <p:txBody>
          <a:bodyPr wrap="square" lIns="0" tIns="0" rIns="0" bIns="0" rtlCol="0">
            <a:noAutofit/>
          </a:bodyPr>
          <a:lstStyle/>
          <a:p>
            <a:pPr algn="ctr">
              <a:lnSpc>
                <a:spcPct val="150000"/>
              </a:lnSpc>
            </a:pPr>
            <a:r>
              <a:rPr lang="en-AU" sz="3200"/>
              <a:t>Evie solved 436 – 53 using a </a:t>
            </a:r>
            <a:r>
              <a:rPr lang="en-AU" sz="3200" b="1"/>
              <a:t>vertical algorithm</a:t>
            </a:r>
            <a:r>
              <a:rPr lang="en-AU" sz="3200"/>
              <a:t>. Use the table below to </a:t>
            </a:r>
            <a:r>
              <a:rPr lang="en-AU" sz="3200" b="1"/>
              <a:t>represent</a:t>
            </a:r>
            <a:r>
              <a:rPr lang="en-AU" sz="3200"/>
              <a:t> her thinking by drawing </a:t>
            </a:r>
            <a:r>
              <a:rPr lang="en-AU" sz="3200" b="1"/>
              <a:t>MAB materials</a:t>
            </a:r>
            <a:r>
              <a:rPr lang="en-AU" sz="3200"/>
              <a:t>. </a:t>
            </a:r>
          </a:p>
        </p:txBody>
      </p:sp>
      <p:sp>
        <p:nvSpPr>
          <p:cNvPr id="9" name="TextBox 8">
            <a:extLst>
              <a:ext uri="{FF2B5EF4-FFF2-40B4-BE49-F238E27FC236}">
                <a16:creationId xmlns:a16="http://schemas.microsoft.com/office/drawing/2014/main" id="{16A00F71-9927-E913-0FED-8E64F61692E2}"/>
              </a:ext>
            </a:extLst>
          </p:cNvPr>
          <p:cNvSpPr txBox="1"/>
          <p:nvPr/>
        </p:nvSpPr>
        <p:spPr>
          <a:xfrm>
            <a:off x="871871" y="3429000"/>
            <a:ext cx="2062715" cy="2748253"/>
          </a:xfrm>
          <a:prstGeom prst="rect">
            <a:avLst/>
          </a:prstGeom>
          <a:noFill/>
        </p:spPr>
        <p:txBody>
          <a:bodyPr wrap="square">
            <a:spAutoFit/>
          </a:bodyPr>
          <a:lstStyle/>
          <a:p>
            <a:pPr>
              <a:lnSpc>
                <a:spcPct val="150000"/>
              </a:lnSpc>
            </a:pPr>
            <a:r>
              <a:rPr lang="en-AU" sz="4000"/>
              <a:t>   4 3 6</a:t>
            </a:r>
          </a:p>
          <a:p>
            <a:pPr>
              <a:lnSpc>
                <a:spcPct val="150000"/>
              </a:lnSpc>
            </a:pPr>
            <a:r>
              <a:rPr lang="en-AU" sz="4000"/>
              <a:t>-     5 3</a:t>
            </a:r>
          </a:p>
          <a:p>
            <a:pPr>
              <a:lnSpc>
                <a:spcPct val="150000"/>
              </a:lnSpc>
            </a:pPr>
            <a:r>
              <a:rPr lang="en-AU" sz="4000">
                <a:solidFill>
                  <a:schemeClr val="tx2"/>
                </a:solidFill>
              </a:rPr>
              <a:t>   </a:t>
            </a:r>
            <a:r>
              <a:rPr lang="en-AU" sz="4000">
                <a:solidFill>
                  <a:srgbClr val="0070C0"/>
                </a:solidFill>
              </a:rPr>
              <a:t>3 8 3</a:t>
            </a:r>
            <a:endParaRPr lang="en-AU" sz="2800">
              <a:solidFill>
                <a:srgbClr val="0070C0"/>
              </a:solidFill>
            </a:endParaRPr>
          </a:p>
        </p:txBody>
      </p:sp>
      <p:cxnSp>
        <p:nvCxnSpPr>
          <p:cNvPr id="11" name="Straight Connector 10">
            <a:extLst>
              <a:ext uri="{FF2B5EF4-FFF2-40B4-BE49-F238E27FC236}">
                <a16:creationId xmlns:a16="http://schemas.microsoft.com/office/drawing/2014/main" id="{19849A50-B81D-7E8B-E994-A310F70D0E46}"/>
              </a:ext>
              <a:ext uri="{C183D7F6-B498-43B3-948B-1728B52AA6E4}">
                <adec:decorative xmlns:adec="http://schemas.microsoft.com/office/drawing/2017/decorative" val="1"/>
              </a:ext>
            </a:extLst>
          </p:cNvPr>
          <p:cNvCxnSpPr/>
          <p:nvPr/>
        </p:nvCxnSpPr>
        <p:spPr>
          <a:xfrm>
            <a:off x="776177" y="5252484"/>
            <a:ext cx="24454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E471DC4-7FB2-A45B-6969-EC6F03A3A777}"/>
              </a:ext>
            </a:extLst>
          </p:cNvPr>
          <p:cNvSpPr txBox="1"/>
          <p:nvPr/>
        </p:nvSpPr>
        <p:spPr>
          <a:xfrm>
            <a:off x="1699437" y="3681900"/>
            <a:ext cx="318977" cy="313659"/>
          </a:xfrm>
          <a:prstGeom prst="rect">
            <a:avLst/>
          </a:prstGeom>
          <a:noFill/>
        </p:spPr>
        <p:txBody>
          <a:bodyPr wrap="square" lIns="0" tIns="0" rIns="0" bIns="0" rtlCol="0">
            <a:noAutofit/>
          </a:bodyPr>
          <a:lstStyle/>
          <a:p>
            <a:pPr algn="l"/>
            <a:r>
              <a:rPr lang="en-AU" sz="2000">
                <a:solidFill>
                  <a:srgbClr val="0070C0"/>
                </a:solidFill>
              </a:rPr>
              <a:t>1</a:t>
            </a:r>
          </a:p>
        </p:txBody>
      </p:sp>
      <p:sp>
        <p:nvSpPr>
          <p:cNvPr id="13" name="TextBox 12">
            <a:extLst>
              <a:ext uri="{FF2B5EF4-FFF2-40B4-BE49-F238E27FC236}">
                <a16:creationId xmlns:a16="http://schemas.microsoft.com/office/drawing/2014/main" id="{32501B67-B5E6-4C5B-0777-ABC6581D0149}"/>
              </a:ext>
            </a:extLst>
          </p:cNvPr>
          <p:cNvSpPr txBox="1"/>
          <p:nvPr/>
        </p:nvSpPr>
        <p:spPr>
          <a:xfrm>
            <a:off x="1235147" y="3653802"/>
            <a:ext cx="318977" cy="313659"/>
          </a:xfrm>
          <a:prstGeom prst="rect">
            <a:avLst/>
          </a:prstGeom>
          <a:noFill/>
        </p:spPr>
        <p:txBody>
          <a:bodyPr wrap="square" lIns="0" tIns="0" rIns="0" bIns="0" rtlCol="0">
            <a:noAutofit/>
          </a:bodyPr>
          <a:lstStyle/>
          <a:p>
            <a:pPr algn="l"/>
            <a:r>
              <a:rPr lang="en-AU" sz="2000">
                <a:solidFill>
                  <a:srgbClr val="0070C0"/>
                </a:solidFill>
              </a:rPr>
              <a:t>3</a:t>
            </a:r>
          </a:p>
        </p:txBody>
      </p:sp>
      <p:cxnSp>
        <p:nvCxnSpPr>
          <p:cNvPr id="15" name="Straight Connector 14">
            <a:extLst>
              <a:ext uri="{FF2B5EF4-FFF2-40B4-BE49-F238E27FC236}">
                <a16:creationId xmlns:a16="http://schemas.microsoft.com/office/drawing/2014/main" id="{303DD29F-8325-2FE3-A2D5-B3864814E733}"/>
              </a:ext>
              <a:ext uri="{C183D7F6-B498-43B3-948B-1728B52AA6E4}">
                <adec:decorative xmlns:adec="http://schemas.microsoft.com/office/drawing/2017/decorative" val="1"/>
              </a:ext>
            </a:extLst>
          </p:cNvPr>
          <p:cNvCxnSpPr>
            <a:cxnSpLocks/>
          </p:cNvCxnSpPr>
          <p:nvPr/>
        </p:nvCxnSpPr>
        <p:spPr>
          <a:xfrm flipH="1">
            <a:off x="1412357" y="3681900"/>
            <a:ext cx="287080" cy="571123"/>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E5B9146-9C12-95FE-94C3-A8CC3FDE92C4}"/>
              </a:ext>
            </a:extLst>
          </p:cNvPr>
          <p:cNvSpPr txBox="1"/>
          <p:nvPr/>
        </p:nvSpPr>
        <p:spPr>
          <a:xfrm>
            <a:off x="1255594" y="2060812"/>
            <a:ext cx="9680812" cy="2497540"/>
          </a:xfrm>
          <a:prstGeom prst="rect">
            <a:avLst/>
          </a:prstGeom>
          <a:noFill/>
        </p:spPr>
        <p:txBody>
          <a:bodyPr wrap="square" lIns="0" tIns="0" rIns="0" bIns="0" rtlCol="0">
            <a:noAutofit/>
          </a:bodyPr>
          <a:lstStyle/>
          <a:p>
            <a:pPr algn="ctr">
              <a:lnSpc>
                <a:spcPct val="150000"/>
              </a:lnSpc>
            </a:pPr>
            <a:r>
              <a:rPr lang="en-AU" sz="4400"/>
              <a:t>Draw an </a:t>
            </a:r>
            <a:r>
              <a:rPr lang="en-AU" sz="4400" b="1"/>
              <a:t>array</a:t>
            </a:r>
            <a:r>
              <a:rPr lang="en-AU" sz="4400"/>
              <a:t> that shows 4 x 5. </a:t>
            </a:r>
          </a:p>
          <a:p>
            <a:pPr algn="ctr">
              <a:lnSpc>
                <a:spcPct val="150000"/>
              </a:lnSpc>
            </a:pPr>
            <a:r>
              <a:rPr lang="en-AU" sz="4400" b="1"/>
              <a:t>Record</a:t>
            </a:r>
            <a:r>
              <a:rPr lang="en-AU" sz="4400"/>
              <a:t> ways to </a:t>
            </a:r>
            <a:r>
              <a:rPr lang="en-AU" sz="4400" b="1"/>
              <a:t>describe</a:t>
            </a:r>
            <a:r>
              <a:rPr lang="en-AU" sz="4400"/>
              <a:t> your </a:t>
            </a:r>
            <a:r>
              <a:rPr lang="en-AU" sz="4400" b="1"/>
              <a:t>array</a:t>
            </a:r>
            <a:r>
              <a:rPr lang="en-AU" sz="4400"/>
              <a:t>.</a:t>
            </a:r>
          </a:p>
          <a:p>
            <a:pPr algn="l"/>
            <a:endParaRPr lang="en-AU" sz="1800"/>
          </a:p>
          <a:p>
            <a:pPr algn="l"/>
            <a:endParaRPr lang="en-AU" sz="1800"/>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8" name="Group 17" descr="An array of blue circles showing 3 rows of 4.">
            <a:extLst>
              <a:ext uri="{FF2B5EF4-FFF2-40B4-BE49-F238E27FC236}">
                <a16:creationId xmlns:a16="http://schemas.microsoft.com/office/drawing/2014/main" id="{C1D4C083-4825-6DE4-C767-32E4FA18CDEC}"/>
              </a:ext>
            </a:extLst>
          </p:cNvPr>
          <p:cNvGrpSpPr/>
          <p:nvPr/>
        </p:nvGrpSpPr>
        <p:grpSpPr>
          <a:xfrm>
            <a:off x="4283766" y="3784048"/>
            <a:ext cx="3624468" cy="2250848"/>
            <a:chOff x="3617845" y="3139634"/>
            <a:chExt cx="3624468" cy="2250848"/>
          </a:xfrm>
        </p:grpSpPr>
        <p:sp>
          <p:nvSpPr>
            <p:cNvPr id="5" name="Oval 4">
              <a:extLst>
                <a:ext uri="{FF2B5EF4-FFF2-40B4-BE49-F238E27FC236}">
                  <a16:creationId xmlns:a16="http://schemas.microsoft.com/office/drawing/2014/main" id="{E999C5EA-9734-0569-2D2F-3A7A2ACCFB5C}"/>
                </a:ext>
              </a:extLst>
            </p:cNvPr>
            <p:cNvSpPr/>
            <p:nvPr/>
          </p:nvSpPr>
          <p:spPr>
            <a:xfrm>
              <a:off x="5758069" y="3156199"/>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5B7EA9D4-F299-5F40-2F90-25CB96A72B55}"/>
                </a:ext>
              </a:extLst>
            </p:cNvPr>
            <p:cNvSpPr/>
            <p:nvPr/>
          </p:nvSpPr>
          <p:spPr>
            <a:xfrm>
              <a:off x="3617845" y="4047244"/>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12FFD4CD-2B04-A038-BDB4-FC347FF62EDC}"/>
                </a:ext>
              </a:extLst>
            </p:cNvPr>
            <p:cNvSpPr/>
            <p:nvPr/>
          </p:nvSpPr>
          <p:spPr>
            <a:xfrm>
              <a:off x="3617845" y="4844880"/>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6FB59C8B-AAFB-6232-5620-D10893221D4D}"/>
                </a:ext>
              </a:extLst>
            </p:cNvPr>
            <p:cNvSpPr/>
            <p:nvPr/>
          </p:nvSpPr>
          <p:spPr>
            <a:xfrm>
              <a:off x="3617845" y="3156199"/>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349E2D91-1D6D-53A5-0C0B-D5C5C28D9E70}"/>
                </a:ext>
              </a:extLst>
            </p:cNvPr>
            <p:cNvSpPr/>
            <p:nvPr/>
          </p:nvSpPr>
          <p:spPr>
            <a:xfrm>
              <a:off x="4687957" y="3139634"/>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D8F20D56-18B9-CE50-16F1-66B3D2B3D08F}"/>
                </a:ext>
              </a:extLst>
            </p:cNvPr>
            <p:cNvSpPr/>
            <p:nvPr/>
          </p:nvSpPr>
          <p:spPr>
            <a:xfrm>
              <a:off x="5728252" y="4040694"/>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29413E79-178B-05A3-B739-BEBA716E650C}"/>
                </a:ext>
              </a:extLst>
            </p:cNvPr>
            <p:cNvSpPr/>
            <p:nvPr/>
          </p:nvSpPr>
          <p:spPr>
            <a:xfrm>
              <a:off x="5711687" y="4844881"/>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DB15D3F8-D12F-3631-BDD1-3F31361E0C20}"/>
                </a:ext>
              </a:extLst>
            </p:cNvPr>
            <p:cNvSpPr/>
            <p:nvPr/>
          </p:nvSpPr>
          <p:spPr>
            <a:xfrm>
              <a:off x="4664766" y="4844880"/>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124D728C-6D4B-0A93-C0B0-95CDAE9AC5B0}"/>
                </a:ext>
              </a:extLst>
            </p:cNvPr>
            <p:cNvSpPr/>
            <p:nvPr/>
          </p:nvSpPr>
          <p:spPr>
            <a:xfrm>
              <a:off x="4691270" y="4040693"/>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9D6B30D5-115A-5644-4BDE-004BCDE6DC7A}"/>
                </a:ext>
              </a:extLst>
            </p:cNvPr>
            <p:cNvSpPr/>
            <p:nvPr/>
          </p:nvSpPr>
          <p:spPr>
            <a:xfrm>
              <a:off x="6698973" y="3140763"/>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8EA5B2F6-D937-03B4-7FB1-C58A9FB09798}"/>
                </a:ext>
              </a:extLst>
            </p:cNvPr>
            <p:cNvSpPr/>
            <p:nvPr/>
          </p:nvSpPr>
          <p:spPr>
            <a:xfrm>
              <a:off x="6698973" y="4040695"/>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a:extLst>
                <a:ext uri="{FF2B5EF4-FFF2-40B4-BE49-F238E27FC236}">
                  <a16:creationId xmlns:a16="http://schemas.microsoft.com/office/drawing/2014/main" id="{8A76B1C9-CD6A-933D-3460-6546D3AC9C93}"/>
                </a:ext>
              </a:extLst>
            </p:cNvPr>
            <p:cNvSpPr/>
            <p:nvPr/>
          </p:nvSpPr>
          <p:spPr>
            <a:xfrm>
              <a:off x="6698974" y="4844881"/>
              <a:ext cx="543339" cy="545601"/>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9" name="TextBox 18">
            <a:extLst>
              <a:ext uri="{FF2B5EF4-FFF2-40B4-BE49-F238E27FC236}">
                <a16:creationId xmlns:a16="http://schemas.microsoft.com/office/drawing/2014/main" id="{8DE001A6-BF68-B848-27EA-78D92A9C6A47}"/>
              </a:ext>
            </a:extLst>
          </p:cNvPr>
          <p:cNvSpPr txBox="1"/>
          <p:nvPr/>
        </p:nvSpPr>
        <p:spPr>
          <a:xfrm>
            <a:off x="723337" y="1373060"/>
            <a:ext cx="10997113" cy="1094522"/>
          </a:xfrm>
          <a:prstGeom prst="rect">
            <a:avLst/>
          </a:prstGeom>
          <a:noFill/>
        </p:spPr>
        <p:txBody>
          <a:bodyPr wrap="square" lIns="0" tIns="0" rIns="0" bIns="0" rtlCol="0">
            <a:noAutofit/>
          </a:bodyPr>
          <a:lstStyle/>
          <a:p>
            <a:pPr algn="ctr">
              <a:lnSpc>
                <a:spcPct val="150000"/>
              </a:lnSpc>
            </a:pPr>
            <a:r>
              <a:rPr lang="en-AU" sz="4400" b="1"/>
              <a:t>Record</a:t>
            </a:r>
            <a:r>
              <a:rPr lang="en-AU" sz="4400"/>
              <a:t> all </a:t>
            </a:r>
            <a:r>
              <a:rPr lang="en-AU" sz="4400" b="1"/>
              <a:t>multiplication</a:t>
            </a:r>
            <a:r>
              <a:rPr lang="en-AU" sz="4400"/>
              <a:t> and </a:t>
            </a:r>
            <a:r>
              <a:rPr lang="en-AU" sz="4400" b="1"/>
              <a:t>division</a:t>
            </a:r>
            <a:r>
              <a:rPr lang="en-AU" sz="4400"/>
              <a:t> facts from this </a:t>
            </a:r>
            <a:r>
              <a:rPr lang="en-AU" sz="4400" b="1"/>
              <a:t>array</a:t>
            </a:r>
            <a:r>
              <a:rPr lang="en-AU" sz="4400"/>
              <a:t>.</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28D7620-C302-B68A-77DB-455ABA45002E}"/>
              </a:ext>
            </a:extLst>
          </p:cNvPr>
          <p:cNvSpPr txBox="1"/>
          <p:nvPr/>
        </p:nvSpPr>
        <p:spPr>
          <a:xfrm>
            <a:off x="986920" y="2040836"/>
            <a:ext cx="9740348" cy="3233530"/>
          </a:xfrm>
          <a:prstGeom prst="rect">
            <a:avLst/>
          </a:prstGeom>
          <a:noFill/>
        </p:spPr>
        <p:txBody>
          <a:bodyPr wrap="square" lIns="0" tIns="0" rIns="0" bIns="0" rtlCol="0">
            <a:noAutofit/>
          </a:bodyPr>
          <a:lstStyle/>
          <a:p>
            <a:pPr algn="ctr">
              <a:lnSpc>
                <a:spcPct val="150000"/>
              </a:lnSpc>
            </a:pPr>
            <a:r>
              <a:rPr lang="en-AU" sz="4400" b="1"/>
              <a:t>List</a:t>
            </a:r>
            <a:r>
              <a:rPr lang="en-AU" sz="4400"/>
              <a:t> </a:t>
            </a:r>
            <a:r>
              <a:rPr lang="en-AU" sz="4400" b="1"/>
              <a:t>quadrilaterals </a:t>
            </a:r>
            <a:r>
              <a:rPr lang="en-AU" sz="4400"/>
              <a:t>that have</a:t>
            </a:r>
            <a:r>
              <a:rPr lang="en-AU" sz="4400" b="1"/>
              <a:t> all sides equal in length</a:t>
            </a:r>
            <a:r>
              <a:rPr lang="en-AU" sz="4400"/>
              <a:t>.</a:t>
            </a:r>
          </a:p>
          <a:p>
            <a:endParaRPr lang="en-AU" sz="4400"/>
          </a:p>
          <a:p>
            <a:pPr algn="l"/>
            <a:endParaRPr lang="en-AU" sz="1800"/>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a:t>
            </a:r>
            <a:r>
              <a:rPr lang="en-AU">
                <a:latin typeface="Arial"/>
                <a:cs typeface="Arial"/>
              </a:rPr>
              <a:t>which number is closest?</a:t>
            </a:r>
            <a:br>
              <a:rPr lang="en-AU"/>
            </a:br>
            <a:endParaRPr lang="en-AU"/>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6 questions asking which number is the closest?&#10;Q1: 300. &#10;a) 28 tens&#10;c) 40 tens - 80&#10;b) 24 tens + 40&#10;d) 19 tens + 130&#10;Q2. 2813&#10;a) 27 hundreds&#10;c) 26 hundreds + 82 tens&#10;b) 29 hundreds&#10;d) 272 tens&#10;Q3. Number is blacket out&#10;a) 45 hundreds&#10;c) 44 hundreds + 27 tens&#10;b) 46 hundreds&#10;d) 459 tens&#10;Q4. 500&#10;a) 49 tens&#10;c) 40 tens - 180&#10;b) 44 tens + 40&#10;d) 8 tens + 430&#10;Q5. 7609&#10;7609&#10;a) 75 hundreds&#10;c) 74 hundreds + 97 tens&#10;b) 77 hundreds&#10;d) 752 tens&#10;Q6. Number blacked out&#10;a) 63 hundreds&#10;c) 62 hundreds + 17 tens&#10;b) 64 hundreds&#10;d) 639 tens">
            <a:extLst>
              <a:ext uri="{FF2B5EF4-FFF2-40B4-BE49-F238E27FC236}">
                <a16:creationId xmlns:a16="http://schemas.microsoft.com/office/drawing/2014/main" id="{8A1DFF84-F96A-546E-F5F5-3EA8D32DDCB9}"/>
              </a:ext>
            </a:extLst>
          </p:cNvPr>
          <p:cNvPicPr>
            <a:picLocks noChangeAspect="1"/>
          </p:cNvPicPr>
          <p:nvPr/>
        </p:nvPicPr>
        <p:blipFill>
          <a:blip r:embed="rId4"/>
          <a:stretch>
            <a:fillRect/>
          </a:stretch>
        </p:blipFill>
        <p:spPr>
          <a:xfrm>
            <a:off x="1515979" y="1000828"/>
            <a:ext cx="8361948" cy="56051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64</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68</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69</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a:t>[</a:t>
            </a:r>
            <a:r>
              <a:rPr lang="en-AU">
                <a:hlinkClick r:id="rId6"/>
              </a:rPr>
              <a:t>Mathematics K–10 Syllabus </a:t>
            </a:r>
            <a:r>
              <a:rPr lang="en-AU"/>
              <a:t>© NSW Education Standards Authority (NESA) for and on behalf of the Crown in right of the State of New South Wales, 2022.</a:t>
            </a:r>
          </a:p>
          <a:p>
            <a:pPr>
              <a:spcBef>
                <a:spcPts val="1200"/>
              </a:spcBef>
              <a:spcAft>
                <a:spcPts val="600"/>
              </a:spcAft>
            </a:pPr>
            <a:r>
              <a:rPr lang="en-AU" u="sng">
                <a:solidFill>
                  <a:srgbClr val="2F5496"/>
                </a:solidFill>
                <a:ea typeface="Calibri" panose="020F0502020204030204" pitchFamily="34" charset="0"/>
                <a:hlinkClick r:id="rId7"/>
              </a:rPr>
              <a:t>National Numeracy Learning Progression</a:t>
            </a:r>
            <a:r>
              <a:rPr lang="en-AU">
                <a:ea typeface="Calibri" panose="020F0502020204030204" pitchFamily="34" charset="0"/>
              </a:rPr>
              <a:t> © Australian Curriculum, Assessment and Reporting Authority (ACARA) 2010 to present, unless otherwise indicated. This material was downloaded from the </a:t>
            </a:r>
            <a:r>
              <a:rPr lang="en-AU" u="sng">
                <a:solidFill>
                  <a:srgbClr val="2F5496"/>
                </a:solidFill>
                <a:ea typeface="Calibri" panose="020F0502020204030204" pitchFamily="34" charset="0"/>
                <a:hlinkClick r:id="rId8"/>
              </a:rPr>
              <a:t>Australian Curriculum</a:t>
            </a:r>
            <a:r>
              <a:rPr lang="en-AU">
                <a:ea typeface="Calibri" panose="020F0502020204030204" pitchFamily="34" charset="0"/>
              </a:rPr>
              <a:t> website (National Numeracy Learning Progression) (accessed 28 August 2023) and was not modified.</a:t>
            </a:r>
          </a:p>
          <a:p>
            <a:pPr>
              <a:spcBef>
                <a:spcPts val="1200"/>
              </a:spcBef>
              <a:spcAft>
                <a:spcPts val="600"/>
              </a:spcAft>
            </a:pPr>
            <a:r>
              <a:rPr lang="en-AU">
                <a:ea typeface="Calibri" panose="020F0502020204030204" pitchFamily="34" charset="0"/>
              </a:rPr>
              <a:t>ABC </a:t>
            </a:r>
            <a:r>
              <a:rPr lang="en-AU" err="1">
                <a:ea typeface="Calibri" panose="020F0502020204030204" pitchFamily="34" charset="0"/>
              </a:rPr>
              <a:t>iview</a:t>
            </a:r>
            <a:r>
              <a:rPr lang="en-AU">
                <a:ea typeface="Calibri" panose="020F0502020204030204" pitchFamily="34" charset="0"/>
              </a:rPr>
              <a:t> (2021) ‘Mini Lessons: Maths – </a:t>
            </a:r>
            <a:r>
              <a:rPr lang="en-AU" u="sng">
                <a:solidFill>
                  <a:srgbClr val="2F5496"/>
                </a:solidFill>
                <a:ea typeface="Calibri" panose="020F0502020204030204" pitchFamily="34" charset="0"/>
                <a:hlinkClick r:id="rId9"/>
              </a:rPr>
              <a:t>Series 1 Episode 15 Years 3-4: Partitioning Numbers Using Efficient Strategies’</a:t>
            </a:r>
            <a:r>
              <a:rPr lang="en-AU">
                <a:ea typeface="Calibri" panose="020F0502020204030204" pitchFamily="34" charset="0"/>
              </a:rPr>
              <a:t>, ABC </a:t>
            </a:r>
            <a:r>
              <a:rPr lang="en-AU" err="1">
                <a:ea typeface="Calibri" panose="020F0502020204030204" pitchFamily="34" charset="0"/>
              </a:rPr>
              <a:t>iview</a:t>
            </a:r>
            <a:r>
              <a:rPr lang="en-AU">
                <a:ea typeface="Calibri" panose="020F0502020204030204" pitchFamily="34" charset="0"/>
              </a:rPr>
              <a:t>, accessed 26 June 2023.</a:t>
            </a:r>
          </a:p>
          <a:p>
            <a:pPr>
              <a:spcBef>
                <a:spcPts val="1200"/>
              </a:spcBef>
              <a:spcAft>
                <a:spcPts val="600"/>
              </a:spcAft>
            </a:pPr>
            <a:r>
              <a:rPr lang="en-AU">
                <a:ea typeface="Calibri" panose="020F0502020204030204" pitchFamily="34" charset="0"/>
              </a:rPr>
              <a:t>Australasian Problem-Solving Mathematical Olympiads (APSMO) (2022) </a:t>
            </a:r>
            <a:r>
              <a:rPr lang="en-AU" i="1" u="sng">
                <a:solidFill>
                  <a:srgbClr val="2F5496"/>
                </a:solidFill>
                <a:ea typeface="Calibri" panose="020F0502020204030204" pitchFamily="34" charset="0"/>
                <a:hlinkClick r:id="rId10"/>
              </a:rPr>
              <a:t>Maths games </a:t>
            </a:r>
            <a:r>
              <a:rPr lang="en-AU" u="sng">
                <a:solidFill>
                  <a:srgbClr val="2F5496"/>
                </a:solidFill>
                <a:ea typeface="Calibri" panose="020F0502020204030204" pitchFamily="34" charset="0"/>
                <a:hlinkClick r:id="rId10"/>
              </a:rPr>
              <a:t>[PDF 529 KB]</a:t>
            </a:r>
            <a:r>
              <a:rPr lang="en-AU" i="1" u="sng">
                <a:solidFill>
                  <a:srgbClr val="2F5496"/>
                </a:solidFill>
                <a:ea typeface="Calibri" panose="020F0502020204030204" pitchFamily="34" charset="0"/>
              </a:rPr>
              <a:t>,</a:t>
            </a:r>
            <a:r>
              <a:rPr lang="en-AU">
                <a:ea typeface="Calibri" panose="020F0502020204030204" pitchFamily="34" charset="0"/>
              </a:rPr>
              <a:t> APSMO website, accessed 26 June 2023. </a:t>
            </a:r>
          </a:p>
          <a:p>
            <a:pPr>
              <a:spcBef>
                <a:spcPts val="1200"/>
              </a:spcBef>
              <a:spcAft>
                <a:spcPts val="600"/>
              </a:spcAft>
            </a:pPr>
            <a:r>
              <a:rPr lang="en-AU">
                <a:ea typeface="Calibri" panose="020F0502020204030204" pitchFamily="34" charset="0"/>
              </a:rPr>
              <a:t>Australasian Problem-Solving Mathematical Olympiads (APSMO) (2022) </a:t>
            </a:r>
            <a:r>
              <a:rPr lang="en-AU" i="1" u="sng">
                <a:solidFill>
                  <a:srgbClr val="2F5496"/>
                </a:solidFill>
                <a:ea typeface="Calibri" panose="020F0502020204030204" pitchFamily="34" charset="0"/>
                <a:hlinkClick r:id="rId11"/>
              </a:rPr>
              <a:t>Maths explorer </a:t>
            </a:r>
            <a:r>
              <a:rPr lang="en-AU" u="sng">
                <a:solidFill>
                  <a:srgbClr val="2F5496"/>
                </a:solidFill>
                <a:ea typeface="Calibri" panose="020F0502020204030204" pitchFamily="34" charset="0"/>
                <a:hlinkClick r:id="rId11"/>
              </a:rPr>
              <a:t>[PDF 530 KB]</a:t>
            </a:r>
            <a:r>
              <a:rPr lang="en-AU">
                <a:ea typeface="Calibri" panose="020F0502020204030204" pitchFamily="34" charset="0"/>
              </a:rPr>
              <a:t>, APSMO website, accessed 26 June 2023.</a:t>
            </a:r>
          </a:p>
          <a:p>
            <a:pPr>
              <a:spcBef>
                <a:spcPts val="1200"/>
              </a:spcBef>
              <a:spcAft>
                <a:spcPts val="600"/>
              </a:spcAft>
            </a:pPr>
            <a:r>
              <a:rPr lang="en-AU">
                <a:ea typeface="Calibri" panose="020F0502020204030204" pitchFamily="34" charset="0"/>
              </a:rPr>
              <a:t>New Zealand Ministry of Education (</a:t>
            </a:r>
            <a:r>
              <a:rPr lang="en-AU" err="1">
                <a:ea typeface="Calibri" panose="020F0502020204030204" pitchFamily="34" charset="0"/>
              </a:rPr>
              <a:t>n.d</a:t>
            </a:r>
            <a:r>
              <a:rPr lang="en-AU">
                <a:ea typeface="Calibri" panose="020F0502020204030204" pitchFamily="34" charset="0"/>
              </a:rPr>
              <a:t>) </a:t>
            </a:r>
            <a:r>
              <a:rPr lang="en-AU" i="1" u="sng">
                <a:solidFill>
                  <a:srgbClr val="2F5496"/>
                </a:solidFill>
                <a:ea typeface="Calibri" panose="020F0502020204030204" pitchFamily="34" charset="0"/>
              </a:rPr>
              <a:t>Create 5000 </a:t>
            </a:r>
            <a:r>
              <a:rPr lang="en-AU" u="sng">
                <a:solidFill>
                  <a:srgbClr val="2F5496"/>
                </a:solidFill>
                <a:ea typeface="Calibri" panose="020F0502020204030204" pitchFamily="34" charset="0"/>
              </a:rPr>
              <a:t>[PDF 352 KB]</a:t>
            </a:r>
            <a:r>
              <a:rPr lang="en-AU">
                <a:ea typeface="Calibri" panose="020F0502020204030204" pitchFamily="34" charset="0"/>
              </a:rPr>
              <a:t>, NZ Maths website, accessed 26 June 2023.</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solidFill>
                  <a:srgbClr val="002060"/>
                </a:solidFill>
              </a:rPr>
              <a:t>References </a:t>
            </a:r>
            <a:r>
              <a:rPr lang="en-AU">
                <a:solidFill>
                  <a:schemeClr val="accent4"/>
                </a:solidFill>
              </a:rPr>
              <a:t>(2)</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lnSpc>
                <a:spcPct val="150000"/>
              </a:lnSpc>
              <a:spcBef>
                <a:spcPts val="1200"/>
              </a:spcBef>
              <a:spcAft>
                <a:spcPts val="600"/>
              </a:spcAft>
            </a:pPr>
            <a:r>
              <a:rPr lang="en-AU" sz="1200">
                <a:effectLst/>
                <a:ea typeface="Calibri" panose="020F0502020204030204" pitchFamily="34" charset="0"/>
              </a:rPr>
              <a:t>New Zealand Ministry of Education (</a:t>
            </a:r>
            <a:r>
              <a:rPr lang="en-AU" sz="1200" err="1">
                <a:effectLst/>
                <a:ea typeface="Calibri" panose="020F0502020204030204" pitchFamily="34" charset="0"/>
              </a:rPr>
              <a:t>n.d</a:t>
            </a:r>
            <a:r>
              <a:rPr lang="en-AU" sz="1200">
                <a:effectLst/>
                <a:ea typeface="Calibri" panose="020F0502020204030204" pitchFamily="34" charset="0"/>
              </a:rPr>
              <a:t>) </a:t>
            </a:r>
            <a:r>
              <a:rPr lang="en-AU" sz="1200" i="1" u="sng">
                <a:solidFill>
                  <a:srgbClr val="2F5496"/>
                </a:solidFill>
                <a:effectLst/>
                <a:ea typeface="Calibri" panose="020F0502020204030204" pitchFamily="34" charset="0"/>
              </a:rPr>
              <a:t>Problems to solve</a:t>
            </a:r>
            <a:r>
              <a:rPr lang="en-AU" sz="1200">
                <a:effectLst/>
                <a:ea typeface="Calibri" panose="020F0502020204030204" pitchFamily="34" charset="0"/>
              </a:rPr>
              <a:t>, NZ Maths website, accessed 26 June 2023.</a:t>
            </a:r>
          </a:p>
          <a:p>
            <a:pPr>
              <a:lnSpc>
                <a:spcPct val="150000"/>
              </a:lnSpc>
              <a:spcBef>
                <a:spcPts val="1200"/>
              </a:spcBef>
              <a:spcAft>
                <a:spcPts val="600"/>
              </a:spcAft>
            </a:pPr>
            <a:r>
              <a:rPr lang="en-AU" sz="1200">
                <a:effectLst/>
                <a:ea typeface="Calibri" panose="020F0502020204030204" pitchFamily="34" charset="0"/>
              </a:rPr>
              <a:t>State of New South Wales (Department of Education) (2023) </a:t>
            </a:r>
            <a:r>
              <a:rPr lang="en-AU" sz="1200" i="1" u="sng">
                <a:solidFill>
                  <a:srgbClr val="2F5496"/>
                </a:solidFill>
                <a:effectLst/>
                <a:ea typeface="Calibri" panose="020F0502020204030204" pitchFamily="34" charset="0"/>
                <a:hlinkClick r:id="rId5"/>
              </a:rPr>
              <a:t>Equivalent number sentences</a:t>
            </a:r>
            <a:r>
              <a:rPr lang="en-AU" sz="1200" u="sng">
                <a:solidFill>
                  <a:srgbClr val="2F5496"/>
                </a:solidFill>
                <a:effectLst/>
                <a:ea typeface="Calibri" panose="020F0502020204030204" pitchFamily="34" charset="0"/>
                <a:hlinkClick r:id="rId5"/>
              </a:rPr>
              <a:t>,</a:t>
            </a:r>
            <a:r>
              <a:rPr lang="en-AU" sz="1200">
                <a:effectLst/>
                <a:ea typeface="Calibri" panose="020F0502020204030204" pitchFamily="34" charset="0"/>
              </a:rPr>
              <a:t> Universal Resource Hub website, accessed 26 June 2023.</a:t>
            </a:r>
          </a:p>
          <a:p>
            <a:pPr>
              <a:lnSpc>
                <a:spcPct val="150000"/>
              </a:lnSpc>
              <a:spcBef>
                <a:spcPts val="1200"/>
              </a:spcBef>
              <a:spcAft>
                <a:spcPts val="600"/>
              </a:spcAft>
            </a:pPr>
            <a:r>
              <a:rPr lang="en-AU" sz="1200">
                <a:effectLst/>
                <a:ea typeface="Calibri" panose="020F0502020204030204" pitchFamily="34" charset="0"/>
              </a:rPr>
              <a:t>Sullivan P (2018) </a:t>
            </a:r>
            <a:r>
              <a:rPr lang="en-AU" sz="1200" i="1">
                <a:effectLst/>
                <a:ea typeface="Calibri" panose="020F0502020204030204" pitchFamily="34" charset="0"/>
              </a:rPr>
              <a:t>Challenging Mathematical Tasks: Unlocking the potential of all students</a:t>
            </a:r>
            <a:r>
              <a:rPr lang="en-AU" sz="1200">
                <a:effectLst/>
                <a:ea typeface="Calibri" panose="020F0502020204030204" pitchFamily="34" charset="0"/>
              </a:rPr>
              <a:t>, Oxford University Press, Australia and New Zealand.</a:t>
            </a:r>
          </a:p>
          <a:p>
            <a:pPr>
              <a:lnSpc>
                <a:spcPct val="150000"/>
              </a:lnSpc>
              <a:spcBef>
                <a:spcPts val="1200"/>
              </a:spcBef>
              <a:spcAft>
                <a:spcPts val="600"/>
              </a:spcAft>
            </a:pPr>
            <a:r>
              <a:rPr lang="en-AU" sz="1200">
                <a:effectLst/>
                <a:ea typeface="Calibri" panose="020F0502020204030204" pitchFamily="34" charset="0"/>
              </a:rPr>
              <a:t>Sullivan P and Lilburn P (2017) </a:t>
            </a:r>
            <a:r>
              <a:rPr lang="en-AU" sz="1200" i="1">
                <a:effectLst/>
                <a:ea typeface="Calibri" panose="020F0502020204030204" pitchFamily="34" charset="0"/>
              </a:rPr>
              <a:t>Open-Ended Maths Activities</a:t>
            </a:r>
            <a:r>
              <a:rPr lang="en-AU" sz="1200">
                <a:effectLst/>
                <a:ea typeface="Calibri" panose="020F0502020204030204" pitchFamily="34" charset="0"/>
              </a:rPr>
              <a:t>, 2nd </a:t>
            </a:r>
            <a:r>
              <a:rPr lang="en-AU" sz="1200" err="1">
                <a:effectLst/>
                <a:ea typeface="Calibri" panose="020F0502020204030204" pitchFamily="34" charset="0"/>
              </a:rPr>
              <a:t>edn</a:t>
            </a:r>
            <a:r>
              <a:rPr lang="en-AU" sz="1200">
                <a:effectLst/>
                <a:ea typeface="Calibri" panose="020F0502020204030204" pitchFamily="34" charset="0"/>
              </a:rPr>
              <a:t>, Oxford University Press, Australia and New Zealand.</a:t>
            </a:r>
          </a:p>
          <a:p>
            <a:pPr>
              <a:lnSpc>
                <a:spcPct val="150000"/>
              </a:lnSpc>
              <a:spcBef>
                <a:spcPts val="1200"/>
              </a:spcBef>
              <a:spcAft>
                <a:spcPts val="600"/>
              </a:spcAft>
            </a:pPr>
            <a:r>
              <a:rPr lang="en-AU" sz="1200">
                <a:effectLst/>
                <a:ea typeface="Calibri" panose="020F0502020204030204" pitchFamily="34" charset="0"/>
              </a:rPr>
              <a:t>University of Cambridge (Faculty of Mathematics) (2023) </a:t>
            </a:r>
            <a:r>
              <a:rPr lang="en-AU" sz="1200" i="1" u="sng">
                <a:solidFill>
                  <a:srgbClr val="2F5496"/>
                </a:solidFill>
                <a:effectLst/>
                <a:ea typeface="Calibri" panose="020F0502020204030204" pitchFamily="34" charset="0"/>
                <a:hlinkClick r:id="rId6"/>
              </a:rPr>
              <a:t>Reach 100</a:t>
            </a:r>
            <a:r>
              <a:rPr lang="en-AU" sz="1200">
                <a:effectLst/>
                <a:ea typeface="Calibri" panose="020F0502020204030204" pitchFamily="34" charset="0"/>
              </a:rPr>
              <a:t>, NRICH website, accessed 26 June 2023.</a:t>
            </a:r>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71</a:t>
            </a:fld>
            <a:endParaRPr lang="en-AU"/>
          </a:p>
        </p:txBody>
      </p:sp>
    </p:spTree>
    <p:extLst>
      <p:ext uri="{BB962C8B-B14F-4D97-AF65-F5344CB8AC3E}">
        <p14:creationId xmlns:p14="http://schemas.microsoft.com/office/powerpoint/2010/main" val="388289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805222-5458-423B-AF04-23A6C7BD5E37}">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E555570-2BD4-426B-AA32-0A79CB6508A8}">
  <ds:schemaRefs>
    <ds:schemaRef ds:uri="http://schemas.openxmlformats.org/package/2006/metadata/core-properties"/>
    <ds:schemaRef ds:uri="http://schemas.microsoft.com/office/2006/documentManagement/types"/>
    <ds:schemaRef ds:uri="60129b06-f64b-40a8-96e2-c5b2f86112b1"/>
    <ds:schemaRef ds:uri="http://schemas.microsoft.com/office/2006/metadata/properties"/>
    <ds:schemaRef ds:uri="7e763d47-3c66-4c58-9425-1477fd3ccd1e"/>
    <ds:schemaRef ds:uri="http://schemas.microsoft.com/office/infopath/2007/PartnerControls"/>
    <ds:schemaRef ds:uri="http://www.w3.org/XML/1998/namespace"/>
    <ds:schemaRef ds:uri="http://purl.org/dc/dcmitype/"/>
    <ds:schemaRef ds:uri="http://purl.org/dc/terms/"/>
    <ds:schemaRef ds:uri="http://purl.org/dc/elements/1.1/"/>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Mathematics-stage 2-unit 22-review of learning (1)</Template>
  <TotalTime>0</TotalTime>
  <Words>6161</Words>
  <Application>Microsoft Office PowerPoint</Application>
  <PresentationFormat>Widescreen</PresentationFormat>
  <Paragraphs>825</Paragraphs>
  <Slides>72</Slides>
  <Notes>71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Wingdings</vt:lpstr>
      <vt:lpstr>Public Sans</vt:lpstr>
      <vt:lpstr>Public Sans Light</vt:lpstr>
      <vt:lpstr>Times New Roman</vt:lpstr>
      <vt:lpstr>Calibri</vt:lpstr>
      <vt:lpstr>Arial</vt:lpstr>
      <vt:lpstr>Montserrat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equality (1)</vt:lpstr>
      <vt:lpstr>Activity 1 – equality (2)(1)</vt:lpstr>
      <vt:lpstr>Activity 1 – equality (3)(2)</vt:lpstr>
      <vt:lpstr>Review of learning 2</vt:lpstr>
      <vt:lpstr>True or false (1)</vt:lpstr>
      <vt:lpstr>Short response (5)</vt:lpstr>
      <vt:lpstr>Short response (6)</vt:lpstr>
      <vt:lpstr>Short response (7)</vt:lpstr>
      <vt:lpstr>Short response (8)</vt:lpstr>
      <vt:lpstr>Activity 2 – equivalence</vt:lpstr>
      <vt:lpstr>Review of learning 3</vt:lpstr>
      <vt:lpstr>Multiple choice (2)</vt:lpstr>
      <vt:lpstr>Short response (9)</vt:lpstr>
      <vt:lpstr>Short response (10)</vt:lpstr>
      <vt:lpstr>Short response (11)</vt:lpstr>
      <vt:lpstr>Short response (12)</vt:lpstr>
      <vt:lpstr>Activity 3 – finding the missing numbers addition</vt:lpstr>
      <vt:lpstr>Review of learning 4</vt:lpstr>
      <vt:lpstr>True or false (2)</vt:lpstr>
      <vt:lpstr>Short response (13)</vt:lpstr>
      <vt:lpstr>Short response (14)</vt:lpstr>
      <vt:lpstr>Short response (15)</vt:lpstr>
      <vt:lpstr>Short response (16)</vt:lpstr>
      <vt:lpstr>Activity 4 – finding the missing number subtraction</vt:lpstr>
      <vt:lpstr>Review of learning 5</vt:lpstr>
      <vt:lpstr>Multiple choice (3)</vt:lpstr>
      <vt:lpstr>Short response (17)</vt:lpstr>
      <vt:lpstr>Short response (18)</vt:lpstr>
      <vt:lpstr>Short response (19)</vt:lpstr>
      <vt:lpstr>Short response (20)</vt:lpstr>
      <vt:lpstr>Activity 5 – how many way?</vt:lpstr>
      <vt:lpstr>Review of learning 6</vt:lpstr>
      <vt:lpstr>True or false (3)</vt:lpstr>
      <vt:lpstr>Short response (21)</vt:lpstr>
      <vt:lpstr>Short response (22)</vt:lpstr>
      <vt:lpstr>Short response (23)</vt:lpstr>
      <vt:lpstr>Short response (24)</vt:lpstr>
      <vt:lpstr>Activity 6 – two truths and a lie (1)</vt:lpstr>
      <vt:lpstr>Activity 6 – two truths and a lie (2)</vt:lpstr>
      <vt:lpstr>Review of learning 7</vt:lpstr>
      <vt:lpstr>Multiple choice (4)</vt:lpstr>
      <vt:lpstr>Short response (25)</vt:lpstr>
      <vt:lpstr>Short response (26)</vt:lpstr>
      <vt:lpstr>Short response (27)</vt:lpstr>
      <vt:lpstr>Short response (28)</vt:lpstr>
      <vt:lpstr>Activity 7 – partitioning</vt:lpstr>
      <vt:lpstr>Review of learning 8</vt:lpstr>
      <vt:lpstr>True or false (4)</vt:lpstr>
      <vt:lpstr>Short response (29)</vt:lpstr>
      <vt:lpstr>Short response (30)</vt:lpstr>
      <vt:lpstr>Short response (31)</vt:lpstr>
      <vt:lpstr>Short response (32)</vt:lpstr>
      <vt:lpstr>Activity 8 – which number is closest? </vt:lpstr>
      <vt:lpstr>Double Venn diagram</vt:lpstr>
      <vt:lpstr>Frayer</vt:lpstr>
      <vt:lpstr>Spider map</vt:lpstr>
      <vt:lpstr>Cline</vt:lpstr>
      <vt:lpstr>Compare and contrast</vt:lpstr>
      <vt:lpstr>Multiple choice (5)</vt:lpstr>
      <vt:lpstr>Multiple choice (6)</vt:lpstr>
      <vt:lpstr>References (1)</vt:lpstr>
      <vt:lpstr>References (2)</vt:lpstr>
      <vt:lpstr>Copyright</vt:lpstr>
    </vt:vector>
  </TitlesOfParts>
  <Manager/>
  <Company>NSW Department of Education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Stacey Makila</dc:creator>
  <cp:keywords/>
  <dc:description/>
  <cp:lastModifiedBy>Daniel Archer</cp:lastModifiedBy>
  <cp:revision>2</cp:revision>
  <dcterms:created xsi:type="dcterms:W3CDTF">2025-08-15T00:39:51Z</dcterms:created>
  <dcterms:modified xsi:type="dcterms:W3CDTF">2025-10-26T20:38:25Z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