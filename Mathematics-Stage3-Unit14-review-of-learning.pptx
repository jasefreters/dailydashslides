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50"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1"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50"/>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1"/>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FF9352"/>
    <a:srgbClr val="0252D4"/>
    <a:srgbClr val="FF914D"/>
    <a:srgbClr val="FFFFFF"/>
    <a:srgbClr val="38B6FF"/>
    <a:srgbClr val="8C52FF"/>
    <a:srgbClr val="E1261C"/>
    <a:srgbClr val="EA9B0C"/>
    <a:srgbClr val="007A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85548-16BE-491B-8F9F-8309E3655593}" v="5" dt="2026-06-19T00:03:08.238"/>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764" y="36"/>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6/07/2026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6/07/2026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14</a:t>
            </a:r>
          </a:p>
          <a:p>
            <a:pPr marL="285750" indent="-285750">
              <a:buFont typeface="Arial" panose="020B0604020202020204" pitchFamily="34" charset="0"/>
              <a:buChar char="•"/>
            </a:pPr>
            <a:r>
              <a:rPr lang="en-AU"/>
              <a:t>Stage 3 Year A Unit 13</a:t>
            </a:r>
          </a:p>
          <a:p>
            <a:pPr marL="285750" indent="-285750">
              <a:buFont typeface="Arial" panose="020B0604020202020204" pitchFamily="34" charset="0"/>
              <a:buChar char="•"/>
            </a:pPr>
            <a:r>
              <a:rPr lang="en-AU"/>
              <a:t>Stage 3 Year A Unit 12</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Decimal numbers</a:t>
            </a:r>
          </a:p>
          <a:p>
            <a:r>
              <a:rPr lang="en-AU" b="0"/>
              <a:t>This resource corresponds to Resource 18 – missing decimal numbers  in Stage 3 Year A Unit 14. </a:t>
            </a:r>
          </a:p>
          <a:p>
            <a:pPr marL="342900" indent="-342900">
              <a:buFont typeface="+mj-lt"/>
              <a:buAutoNum type="arabicPeriod"/>
            </a:pPr>
            <a:endParaRPr lang="en-AU" b="0"/>
          </a:p>
          <a:p>
            <a:pPr marL="342900" indent="-342900">
              <a:buFont typeface="+mj-lt"/>
              <a:buAutoNum type="arabicPeriod"/>
            </a:pPr>
            <a:r>
              <a:rPr lang="en-AU" b="0"/>
              <a:t>Ask:</a:t>
            </a:r>
          </a:p>
          <a:p>
            <a:pPr marL="952485" lvl="1" indent="-342900">
              <a:buFont typeface="Arial" panose="020B0604020202020204" pitchFamily="34" charset="0"/>
              <a:buChar char="•"/>
            </a:pPr>
            <a:r>
              <a:rPr lang="en-AU" b="0"/>
              <a:t>What do you see?</a:t>
            </a:r>
          </a:p>
          <a:p>
            <a:pPr marL="952485" lvl="1" indent="-342900">
              <a:buFont typeface="Arial" panose="020B0604020202020204" pitchFamily="34" charset="0"/>
              <a:buChar char="•"/>
            </a:pPr>
            <a:r>
              <a:rPr lang="en-AU" b="0"/>
              <a:t>What are you wondering?</a:t>
            </a:r>
          </a:p>
          <a:p>
            <a:pPr marL="342900" indent="-342900">
              <a:buFont typeface="+mj-lt"/>
              <a:buAutoNum type="arabicPeriod"/>
            </a:pPr>
            <a:r>
              <a:rPr lang="en-AU" b="0"/>
              <a:t>Explain that the labelled sticky notes fell off the number line and need to be placed back on in ascending order.</a:t>
            </a:r>
          </a:p>
          <a:p>
            <a:pPr marL="342900" indent="-342900">
              <a:buFont typeface="+mj-lt"/>
              <a:buAutoNum type="arabicPeriod"/>
            </a:pPr>
            <a:r>
              <a:rPr lang="en-AU" b="0"/>
              <a:t>Provide students with Resource 18 – missing decimal numbers and writing materials. Instruct students to read the decimal aloud as it is placed on the number line. Remind students that the decimal 0.918 is read as ‘918 thousandths’, not ‘zero point nine one eight’.</a:t>
            </a:r>
          </a:p>
          <a:p>
            <a:pPr marL="342900" indent="-342900">
              <a:buFont typeface="+mj-lt"/>
              <a:buAutoNum type="arabicPeriod"/>
            </a:pPr>
            <a:r>
              <a:rPr lang="en-AU" b="0"/>
              <a:t>Students turn and talk with a partner and share strategies and their solution. Ask:</a:t>
            </a:r>
          </a:p>
          <a:p>
            <a:pPr marL="952485" lvl="1" indent="-342900">
              <a:buFont typeface="Arial" panose="020B0604020202020204" pitchFamily="34" charset="0"/>
              <a:buChar char="•"/>
            </a:pPr>
            <a:r>
              <a:rPr lang="en-AU" b="0"/>
              <a:t>What would be the closest whole number?</a:t>
            </a:r>
          </a:p>
          <a:p>
            <a:pPr marL="952485" lvl="1" indent="-342900">
              <a:buFont typeface="Arial" panose="020B0604020202020204" pitchFamily="34" charset="0"/>
              <a:buChar char="•"/>
            </a:pPr>
            <a:r>
              <a:rPr lang="en-AU" b="0"/>
              <a:t>Can you explain the place value for each of the digits in a decimal number, for example 0.901?</a:t>
            </a:r>
          </a:p>
          <a:p>
            <a:pPr marL="952485" lvl="1" indent="-342900">
              <a:buFont typeface="Arial" panose="020B0604020202020204" pitchFamily="34" charset="0"/>
              <a:buChar char="•"/>
            </a:pPr>
            <a:r>
              <a:rPr lang="en-AU" b="0"/>
              <a:t>How can you check that you have placed the decimal numbers in the correct order along the number line?</a:t>
            </a:r>
          </a:p>
          <a:p>
            <a:pPr marL="952485" lvl="1" indent="-342900">
              <a:buFont typeface="Arial" panose="020B0604020202020204" pitchFamily="34" charset="0"/>
              <a:buChar char="•"/>
            </a:pPr>
            <a:r>
              <a:rPr lang="en-AU" b="0"/>
              <a:t>Did you place all the sticky notes? Why or why not?</a:t>
            </a:r>
          </a:p>
          <a:p>
            <a:pPr marL="952485" lvl="1" indent="-342900">
              <a:buFont typeface="Arial" panose="020B0604020202020204" pitchFamily="34" charset="0"/>
              <a:buChar char="•"/>
            </a:pPr>
            <a:r>
              <a:rPr lang="en-AU" b="0"/>
              <a:t>What was a useful strategy? Explain.</a:t>
            </a:r>
          </a:p>
          <a:p>
            <a:endParaRPr lang="en-AU" b="0"/>
          </a:p>
          <a:p>
            <a:pPr marL="342900" indent="-342900">
              <a:buFont typeface="+mj-lt"/>
              <a:buAutoNum type="arabicPeriod"/>
            </a:pPr>
            <a:endParaRPr lang="en-AU" b="0"/>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Before and after decimal numbers</a:t>
            </a:r>
          </a:p>
          <a:p>
            <a:r>
              <a:rPr lang="en-AU" b="0"/>
              <a:t>This resource corresponds to Resource 19 – before and after in Stage 3 Year A Unit 14. </a:t>
            </a:r>
          </a:p>
          <a:p>
            <a:endParaRPr lang="en-AU" b="0"/>
          </a:p>
          <a:p>
            <a:pPr marL="342900" indent="-342900">
              <a:buFont typeface="+mj-lt"/>
              <a:buAutoNum type="arabicPeriod"/>
            </a:pPr>
            <a:r>
              <a:rPr lang="en-AU" b="0"/>
              <a:t>Provide students with Resource 19 – before and after and writing materials.</a:t>
            </a:r>
          </a:p>
          <a:p>
            <a:pPr marL="342900" indent="-342900">
              <a:buFont typeface="+mj-lt"/>
              <a:buAutoNum type="arabicPeriod"/>
            </a:pPr>
            <a:r>
              <a:rPr lang="en-AU" b="0"/>
              <a:t>Students record the decimal number that comes before and after each displayed decimal number.</a:t>
            </a:r>
          </a:p>
          <a:p>
            <a:pPr marL="342900" indent="-342900">
              <a:buFont typeface="+mj-lt"/>
              <a:buAutoNum type="arabicPeriod"/>
            </a:pPr>
            <a:r>
              <a:rPr lang="en-AU" b="0"/>
              <a:t>Select students to say a chosen decimal number aloud and identify the ones, tenths, hundredths and thousandths.</a:t>
            </a:r>
          </a:p>
          <a:p>
            <a:pPr marL="342900" indent="-342900">
              <a:buFont typeface="+mj-lt"/>
              <a:buAutoNum type="arabicPeriod"/>
            </a:pPr>
            <a:r>
              <a:rPr lang="en-AU" b="0"/>
              <a:t>Ask the following questions:</a:t>
            </a:r>
          </a:p>
          <a:p>
            <a:pPr marL="952485" lvl="1" indent="-342900">
              <a:buFont typeface="Arial" panose="020B0604020202020204" pitchFamily="34" charset="0"/>
              <a:buChar char="•"/>
            </a:pPr>
            <a:r>
              <a:rPr lang="en-AU" b="0"/>
              <a:t>Which decimal is the largest? How do you know?</a:t>
            </a:r>
          </a:p>
          <a:p>
            <a:pPr marL="952485" lvl="1" indent="-342900">
              <a:buFont typeface="Arial" panose="020B0604020202020204" pitchFamily="34" charset="0"/>
              <a:buChar char="•"/>
            </a:pPr>
            <a:r>
              <a:rPr lang="en-AU" b="0"/>
              <a:t>Which decimal is the smallest? How do you know?</a:t>
            </a:r>
          </a:p>
          <a:p>
            <a:pPr marL="952485" lvl="1" indent="-342900">
              <a:buFont typeface="Arial" panose="020B0604020202020204" pitchFamily="34" charset="0"/>
              <a:buChar char="•"/>
            </a:pPr>
            <a:r>
              <a:rPr lang="en-AU" b="0"/>
              <a:t>Which decimal is closest to a whole number? Explain how you know.</a:t>
            </a:r>
          </a:p>
          <a:p>
            <a:pPr marL="342900" indent="-342900">
              <a:buFont typeface="+mj-lt"/>
              <a:buAutoNum type="arabicPeriod"/>
            </a:pPr>
            <a:endParaRPr lang="en-AU" b="0"/>
          </a:p>
          <a:p>
            <a:pPr marL="342900" indent="-342900">
              <a:buFont typeface="+mj-lt"/>
              <a:buAutoNum type="arabicPeriod"/>
            </a:pPr>
            <a:endParaRPr lang="en-AU" b="0"/>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Making thousandths</a:t>
            </a:r>
          </a:p>
          <a:p>
            <a:r>
              <a:rPr lang="en-AU" b="0"/>
              <a:t>This resource corresponds to Resource 20 – </a:t>
            </a:r>
            <a:r>
              <a:rPr lang="en-AU" sz="1600" u="none" kern="1200">
                <a:solidFill>
                  <a:schemeClr val="tx1"/>
                </a:solidFill>
                <a:effectLst/>
                <a:latin typeface="Arial" panose="020B0604020202020204" pitchFamily="34" charset="0"/>
                <a:ea typeface="+mn-ea"/>
                <a:cs typeface="Arial" panose="020B0604020202020204" pitchFamily="34" charset="0"/>
              </a:rPr>
              <a:t>making thousandths</a:t>
            </a:r>
            <a:r>
              <a:rPr lang="en-AU" b="0"/>
              <a:t> in Stage 3 Year A Unit 14. </a:t>
            </a:r>
            <a:endParaRPr lang="en-AU" b="1"/>
          </a:p>
          <a:p>
            <a:pPr marL="342900" indent="-342900">
              <a:buFont typeface="+mj-lt"/>
              <a:buAutoNum type="arabicPeriod"/>
            </a:pPr>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students with </a:t>
            </a:r>
            <a:r>
              <a:rPr lang="en-AU" sz="1600" u="none" kern="1200">
                <a:solidFill>
                  <a:schemeClr val="tx1"/>
                </a:solidFill>
                <a:effectLst/>
                <a:latin typeface="Arial" panose="020B0604020202020204" pitchFamily="34" charset="0"/>
                <a:ea typeface="+mn-ea"/>
                <a:cs typeface="Arial" panose="020B0604020202020204" pitchFamily="34" charset="0"/>
              </a:rPr>
              <a:t>Resource 20 – making thousandths</a:t>
            </a:r>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Instruct students to record the largest and the smallest decimal number that can be made using 4 of the digits. For example, the smallest decimal is 1.234 and the largest decimal is 5.432.</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and explain solutions. 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 you know your numbers are the largest and the smallest possible decimal numbers?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you could repeat a digit, which one would it be and why?</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is most helpful?</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check your solutions?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For an additional challenge, offer students to either repeat one digit or use a zero. Select students to explain which one they would select and why.</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br>
              <a:rPr lang="en-AU">
                <a:latin typeface="Arial"/>
                <a:cs typeface="Arial"/>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Decimals in the place value system</a:t>
            </a:r>
          </a:p>
          <a:p>
            <a:r>
              <a:rPr lang="en-AU" b="0"/>
              <a:t>This activity is an adaptation of ‘2 truths 1 lie’ from Thinking mathematically resources by the State of New South Wales (Department of Education). </a:t>
            </a:r>
          </a:p>
          <a:p>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students play ‘2 truths 1 lie’ by recording on their individual whiteboard 2 facts involving decimals and one lie. For example, a student could record 0.5 is the same as 0.50, 0.3 is greater than 0.03 and 0.4 is the same as 40 tenths.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swap whiteboards and identify which statements are true and which is the lie, justifying their reasoning.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Repeat with new statements.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DDD10-FFB9-235B-9792-FA551A497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FBE4B-F452-522C-1288-2BA8E662018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5C259C3-87C1-CF2D-93C0-27E9A7719C4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EF58A2E-ECF2-2B5F-DA6E-9ED237110F83}"/>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568472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A</a:t>
            </a:r>
          </a:p>
          <a:p>
            <a:endParaRPr lang="en-AU"/>
          </a:p>
          <a:p>
            <a:r>
              <a:rPr lang="en-AU" b="1"/>
              <a:t>Order fractions</a:t>
            </a:r>
          </a:p>
          <a:p>
            <a:r>
              <a:rPr lang="en-AU" b="0"/>
              <a:t>This resource corresponds to Resource 21 – fractions in Stage 3 Year A Unit 14. </a:t>
            </a:r>
          </a:p>
          <a:p>
            <a:pPr marL="342900" indent="-342900">
              <a:buFont typeface="+mj-lt"/>
              <a:buAutoNum type="arabicPeriod"/>
            </a:pPr>
            <a:endParaRPr lang="en-AU" b="0"/>
          </a:p>
          <a:p>
            <a:pPr marL="342900" indent="-342900">
              <a:buFont typeface="+mj-lt"/>
              <a:buAutoNum type="arabicPeriod"/>
            </a:pPr>
            <a:r>
              <a:rPr lang="en-AU" b="0"/>
              <a:t>Provide students with Resource 21 – fractions. Students place the fractions in the correct place on the number line.</a:t>
            </a:r>
          </a:p>
          <a:p>
            <a:pPr marL="342900" indent="-342900">
              <a:buFont typeface="+mj-lt"/>
              <a:buAutoNum type="arabicPeriod"/>
            </a:pPr>
            <a:r>
              <a:rPr lang="en-AU" b="0"/>
              <a:t>Students then add any other common fractions to the number line that they know. For example, one sixth.</a:t>
            </a:r>
          </a:p>
          <a:p>
            <a:pPr marL="342900" indent="-342900">
              <a:buFont typeface="+mj-lt"/>
              <a:buAutoNum type="arabicPeriod"/>
            </a:pPr>
            <a:r>
              <a:rPr lang="en-AU" b="0"/>
              <a:t>Select students to share and explain the placement of the fractions.</a:t>
            </a:r>
          </a:p>
          <a:p>
            <a:endParaRPr lang="en-AU" b="0"/>
          </a:p>
          <a:p>
            <a:pPr marL="342900" indent="-342900">
              <a:buFont typeface="+mj-lt"/>
              <a:buAutoNum type="arabicPeriod"/>
            </a:pPr>
            <a:endParaRPr lang="en-AU" b="0"/>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a:t>
            </a:r>
            <a:br>
              <a:rPr lang="en-AU">
                <a:latin typeface="Arial"/>
                <a:cs typeface="Arial"/>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A</a:t>
            </a:r>
          </a:p>
          <a:p>
            <a:endParaRPr lang="en-AU"/>
          </a:p>
          <a:p>
            <a:r>
              <a:rPr lang="en-AU" b="1"/>
              <a:t>Fractions on a number line</a:t>
            </a:r>
          </a:p>
          <a:p>
            <a:r>
              <a:rPr lang="en-AU" b="0"/>
              <a:t>Numerator: the top number is the numerator, which identifies the number of parts. The line separating the top number from the bottom number is called the fraction bar; it is also sometimes referred to as the ‘vinculum’.</a:t>
            </a:r>
          </a:p>
          <a:p>
            <a:r>
              <a:rPr lang="en-AU" b="0"/>
              <a:t>Denominator: the bottom number is called the denominator and is the total number of equal parts the whole is broken into.</a:t>
            </a:r>
          </a:p>
          <a:p>
            <a:r>
              <a:rPr lang="en-AU" b="0"/>
              <a:t>Unit fraction: a unit fraction can be defined as a fraction whose numerator is 1.</a:t>
            </a:r>
          </a:p>
          <a:p>
            <a:r>
              <a:rPr lang="en-AU" b="0"/>
              <a:t>	</a:t>
            </a:r>
          </a:p>
          <a:p>
            <a:pPr marL="342900" indent="-342900">
              <a:buFont typeface="+mj-lt"/>
              <a:buAutoNum type="arabicPeriod"/>
            </a:pPr>
            <a:r>
              <a:rPr lang="en-AU" b="0"/>
              <a:t>Provide each student with a 10-sided dice and an individual whiteboard. Students draw a number line from 0–1.</a:t>
            </a:r>
          </a:p>
          <a:p>
            <a:pPr marL="342900" indent="-342900">
              <a:buFont typeface="+mj-lt"/>
              <a:buAutoNum type="arabicPeriod"/>
            </a:pPr>
            <a:r>
              <a:rPr lang="en-AU" b="0"/>
              <a:t>Revise the meaning of the denominator, numerator and fraction line.</a:t>
            </a:r>
          </a:p>
          <a:p>
            <a:pPr marL="342900" indent="-342900">
              <a:buFont typeface="+mj-lt"/>
              <a:buAutoNum type="arabicPeriod"/>
            </a:pPr>
            <a:r>
              <a:rPr lang="en-AU" b="0"/>
              <a:t>Students roll the dice and use the number rolled as the denominator with the numerator always being one. For example, if students roll a 5 the fractions will be one fifth.</a:t>
            </a:r>
          </a:p>
          <a:p>
            <a:pPr marL="342900" indent="-342900">
              <a:buFont typeface="+mj-lt"/>
              <a:buAutoNum type="arabicPeriod"/>
            </a:pPr>
            <a:r>
              <a:rPr lang="en-AU" b="0"/>
              <a:t>Students place the fraction on the number line in the correct location.</a:t>
            </a:r>
          </a:p>
          <a:p>
            <a:pPr marL="342900" indent="-342900">
              <a:buFont typeface="+mj-lt"/>
              <a:buAutoNum type="arabicPeriod"/>
            </a:pPr>
            <a:r>
              <a:rPr lang="en-AU" b="0"/>
              <a:t>Select students to share and explain the placement of the fractions.</a:t>
            </a:r>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A</a:t>
            </a:r>
          </a:p>
          <a:p>
            <a:endParaRPr lang="en-AU"/>
          </a:p>
          <a:p>
            <a:r>
              <a:rPr lang="en-AU" b="1"/>
              <a:t>Fraction of time</a:t>
            </a:r>
          </a:p>
          <a:p>
            <a:r>
              <a:rPr lang="en-AU" b="0"/>
              <a:t>This resource corresponds to Resource 22 – fraction line in Stage 3 Year A Unit 14. </a:t>
            </a:r>
          </a:p>
          <a:p>
            <a:endParaRPr lang="en-AU" b="1"/>
          </a:p>
          <a:p>
            <a:pPr marL="342900" indent="-342900">
              <a:buFont typeface="+mj-lt"/>
              <a:buAutoNum type="arabicPeriod"/>
            </a:pPr>
            <a:r>
              <a:rPr lang="en-AU" b="0"/>
              <a:t>Ask in what situation one whole equals 60 of something.</a:t>
            </a:r>
          </a:p>
          <a:p>
            <a:pPr marL="342900" indent="-342900">
              <a:buFont typeface="+mj-lt"/>
              <a:buAutoNum type="arabicPeriod"/>
            </a:pPr>
            <a:endParaRPr lang="en-AU" b="0"/>
          </a:p>
          <a:p>
            <a:pPr marL="0" indent="0">
              <a:buFont typeface="+mj-lt"/>
              <a:buNone/>
            </a:pPr>
            <a:r>
              <a:rPr lang="en-AU" b="0"/>
              <a:t>Note: provide time for students to make the connection between one hour and 60 minutes, or prompt them if needed.</a:t>
            </a:r>
          </a:p>
          <a:p>
            <a:pPr marL="0" indent="0">
              <a:buFont typeface="+mj-lt"/>
              <a:buNone/>
            </a:pPr>
            <a:endParaRPr lang="en-AU" b="0"/>
          </a:p>
          <a:p>
            <a:pPr marL="342900" indent="-342900">
              <a:buFont typeface="+mj-lt"/>
              <a:buAutoNum type="arabicPeriod" startAt="2"/>
            </a:pPr>
            <a:r>
              <a:rPr lang="en-AU" b="0"/>
              <a:t>Explain that on Resource 22 – fraction line students need to place the fractions in the correct place on the number line and then record the equivalent minutes above the line (see Figure 6).</a:t>
            </a:r>
          </a:p>
          <a:p>
            <a:pPr marL="342900" indent="-342900">
              <a:buFont typeface="+mj-lt"/>
              <a:buAutoNum type="arabicPeriod" startAt="2"/>
            </a:pPr>
            <a:r>
              <a:rPr lang="en-AU" b="0"/>
              <a:t>Select students to share and explain their placement of the fractions and the equivalent minutes.</a:t>
            </a:r>
          </a:p>
          <a:p>
            <a:pPr marL="342900" indent="-342900">
              <a:buFont typeface="+mj-lt"/>
              <a:buAutoNum type="arabicPeriod" startAt="2"/>
            </a:pPr>
            <a:endParaRPr lang="en-AU" b="0"/>
          </a:p>
          <a:p>
            <a:pPr marL="342900" indent="-342900">
              <a:buFont typeface="+mj-lt"/>
              <a:buAutoNum type="arabicPeriod" startAt="2"/>
            </a:pPr>
            <a:endParaRPr lang="en-AU" b="1"/>
          </a:p>
          <a:p>
            <a:pPr marL="342900" indent="-342900">
              <a:buFont typeface="+mj-lt"/>
              <a:buAutoNum type="arabicPeriod" startAt="2"/>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A</a:t>
            </a:r>
          </a:p>
          <a:p>
            <a:endParaRPr lang="en-AU"/>
          </a:p>
          <a:p>
            <a:r>
              <a:rPr lang="en-AU" b="1"/>
              <a:t>Compare and order fractions</a:t>
            </a:r>
          </a:p>
          <a:p>
            <a:endParaRPr lang="en-AU" b="1"/>
          </a:p>
          <a:p>
            <a:pPr marL="342900" indent="-342900">
              <a:buFont typeface="+mj-lt"/>
              <a:buAutoNum type="arabicPeriod"/>
            </a:pPr>
            <a:r>
              <a:rPr lang="en-AU" b="0"/>
              <a:t>In pairs, provide students with two 10-sided dice and an individual whiteboard. Students draw a number line from 0–1.</a:t>
            </a:r>
          </a:p>
          <a:p>
            <a:pPr marL="342900" indent="-342900">
              <a:buFont typeface="+mj-lt"/>
              <a:buAutoNum type="arabicPeriod"/>
            </a:pPr>
            <a:r>
              <a:rPr lang="en-AU" b="0"/>
              <a:t>Students roll the dice and use the numbers rolled to make a fraction (no greater than 1). For example, if students rolled a 5 and an 8, the fraction would be five eighths. Students then write the fraction on the number line in the correct location.</a:t>
            </a:r>
          </a:p>
          <a:p>
            <a:pPr marL="342900" indent="-342900">
              <a:buFont typeface="+mj-lt"/>
              <a:buAutoNum type="arabicPeriod"/>
            </a:pPr>
            <a:r>
              <a:rPr lang="en-AU" b="0"/>
              <a:t>Once both students have created a fraction and placed it on the number line, the teacher announces the winning location such as closest to one, closest to zero, closest to 0.5, and so on.</a:t>
            </a:r>
          </a:p>
          <a:p>
            <a:pPr marL="342900" indent="-342900">
              <a:buFont typeface="+mj-lt"/>
              <a:buAutoNum type="arabicPeriod"/>
            </a:pPr>
            <a:endParaRPr lang="en-AU" b="0"/>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EFE1-EDC7-AAED-AEC6-98779A014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1899C0-23F4-4EA8-54EF-CB643B0E65F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694DB9F-DF5C-609E-7A64-39D96073EE5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4A5C4BF-F481-92B3-2A39-BE254DC3B0BB}"/>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14584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7.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4.sv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6.png"/><Relationship Id="rId7"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55.sv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newzealandcurriculum.tahurangi.education.govt.nz/weighty-problems/5637167095.p"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resolve.edu.au/v84-sequences/measurement-jump"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mathematics/mathematics-curriculum-resources-k-12/thinking-mathematically-resources/mathematics-s1-reasoning"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resources.education.nsw.gov.au/detail/TSM-75"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aligns to the learning in Stage 3 Year A Unit 14 and revisits content from earlier sample units.</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14</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1329141" y="1184019"/>
            <a:ext cx="9537533" cy="1969489"/>
          </a:xfrm>
        </p:spPr>
        <p:txBody>
          <a:bodyPr/>
          <a:lstStyle/>
          <a:p>
            <a:pPr algn="ctr"/>
            <a:r>
              <a:rPr lang="en-US" sz="4400" b="1" dirty="0"/>
              <a:t> </a:t>
            </a:r>
            <a:r>
              <a:rPr lang="en-US" sz="4400" dirty="0"/>
              <a:t>The value of the 7 in the decimal number </a:t>
            </a:r>
            <a:r>
              <a:rPr lang="en-US" sz="4400" b="1" dirty="0"/>
              <a:t>2.379 </a:t>
            </a:r>
            <a:r>
              <a:rPr lang="en-US" sz="4400" dirty="0"/>
              <a:t>is…</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grpSp>
        <p:nvGrpSpPr>
          <p:cNvPr id="19" name="Group 18">
            <a:extLst>
              <a:ext uri="{FF2B5EF4-FFF2-40B4-BE49-F238E27FC236}">
                <a16:creationId xmlns:a16="http://schemas.microsoft.com/office/drawing/2014/main" id="{0F5353FB-7F2E-494B-CACA-5BA624DFBD44}"/>
              </a:ext>
            </a:extLst>
          </p:cNvPr>
          <p:cNvGrpSpPr/>
          <p:nvPr/>
        </p:nvGrpSpPr>
        <p:grpSpPr>
          <a:xfrm>
            <a:off x="866076" y="4880542"/>
            <a:ext cx="1301391" cy="1608991"/>
            <a:chOff x="866076" y="4880542"/>
            <a:chExt cx="1301391" cy="1608991"/>
          </a:xfrm>
        </p:grpSpPr>
        <p:sp>
          <p:nvSpPr>
            <p:cNvPr id="9" name="TextBox 8">
              <a:extLst>
                <a:ext uri="{FF2B5EF4-FFF2-40B4-BE49-F238E27FC236}">
                  <a16:creationId xmlns:a16="http://schemas.microsoft.com/office/drawing/2014/main" id="{055D882C-AF43-C390-844D-CF785253532C}"/>
                </a:ext>
              </a:extLst>
            </p:cNvPr>
            <p:cNvSpPr txBox="1"/>
            <p:nvPr/>
          </p:nvSpPr>
          <p:spPr>
            <a:xfrm>
              <a:off x="1325325" y="48805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17">
              <a:extLst>
                <a:ext uri="{FF2B5EF4-FFF2-40B4-BE49-F238E27FC236}">
                  <a16:creationId xmlns:a16="http://schemas.microsoft.com/office/drawing/2014/main" id="{DF2248AE-B46C-D7C3-4FB0-999A5AE749EC}"/>
                </a:ext>
              </a:extLst>
            </p:cNvPr>
            <p:cNvSpPr txBox="1">
              <a:spLocks/>
            </p:cNvSpPr>
            <p:nvPr/>
          </p:nvSpPr>
          <p:spPr>
            <a:xfrm>
              <a:off x="866076" y="5504788"/>
              <a:ext cx="1301391" cy="984745"/>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7</a:t>
              </a:r>
            </a:p>
          </p:txBody>
        </p:sp>
      </p:grpSp>
      <p:grpSp>
        <p:nvGrpSpPr>
          <p:cNvPr id="20" name="Group 19">
            <a:extLst>
              <a:ext uri="{FF2B5EF4-FFF2-40B4-BE49-F238E27FC236}">
                <a16:creationId xmlns:a16="http://schemas.microsoft.com/office/drawing/2014/main" id="{E3ABDF40-3BB5-719E-7440-D9FD882D3937}"/>
              </a:ext>
            </a:extLst>
          </p:cNvPr>
          <p:cNvGrpSpPr/>
          <p:nvPr/>
        </p:nvGrpSpPr>
        <p:grpSpPr>
          <a:xfrm>
            <a:off x="3669843" y="4880542"/>
            <a:ext cx="1848337" cy="1608990"/>
            <a:chOff x="3669843" y="4880542"/>
            <a:chExt cx="1848337" cy="1608990"/>
          </a:xfrm>
        </p:grpSpPr>
        <p:sp>
          <p:nvSpPr>
            <p:cNvPr id="10" name="TextBox 9">
              <a:extLst>
                <a:ext uri="{FF2B5EF4-FFF2-40B4-BE49-F238E27FC236}">
                  <a16:creationId xmlns:a16="http://schemas.microsoft.com/office/drawing/2014/main" id="{3A7CB9AE-0F31-FA92-BCB3-C4AD3EF18B05}"/>
                </a:ext>
              </a:extLst>
            </p:cNvPr>
            <p:cNvSpPr txBox="1"/>
            <p:nvPr/>
          </p:nvSpPr>
          <p:spPr>
            <a:xfrm>
              <a:off x="4329298" y="48805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 Placeholder 17">
              <a:extLst>
                <a:ext uri="{FF2B5EF4-FFF2-40B4-BE49-F238E27FC236}">
                  <a16:creationId xmlns:a16="http://schemas.microsoft.com/office/drawing/2014/main" id="{B9332F5B-B8FE-8987-4670-94A2A1B00254}"/>
                </a:ext>
              </a:extLst>
            </p:cNvPr>
            <p:cNvSpPr txBox="1">
              <a:spLocks/>
            </p:cNvSpPr>
            <p:nvPr/>
          </p:nvSpPr>
          <p:spPr>
            <a:xfrm>
              <a:off x="3669843" y="5504787"/>
              <a:ext cx="1848337" cy="984745"/>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7 tenths</a:t>
              </a:r>
            </a:p>
          </p:txBody>
        </p:sp>
      </p:grpSp>
      <p:grpSp>
        <p:nvGrpSpPr>
          <p:cNvPr id="21" name="Group 20">
            <a:extLst>
              <a:ext uri="{FF2B5EF4-FFF2-40B4-BE49-F238E27FC236}">
                <a16:creationId xmlns:a16="http://schemas.microsoft.com/office/drawing/2014/main" id="{DA456044-76D9-B0BD-369E-5D57E9FD8E19}"/>
              </a:ext>
            </a:extLst>
          </p:cNvPr>
          <p:cNvGrpSpPr/>
          <p:nvPr/>
        </p:nvGrpSpPr>
        <p:grpSpPr>
          <a:xfrm>
            <a:off x="6384062" y="4880542"/>
            <a:ext cx="2427845" cy="1588723"/>
            <a:chOff x="6384062" y="4880542"/>
            <a:chExt cx="2427845" cy="1588723"/>
          </a:xfrm>
        </p:grpSpPr>
        <p:sp>
          <p:nvSpPr>
            <p:cNvPr id="12" name="TextBox 11">
              <a:extLst>
                <a:ext uri="{FF2B5EF4-FFF2-40B4-BE49-F238E27FC236}">
                  <a16:creationId xmlns:a16="http://schemas.microsoft.com/office/drawing/2014/main" id="{92ADCA88-1230-AEE8-EFD6-D8F0DF7EEE5C}"/>
                </a:ext>
              </a:extLst>
            </p:cNvPr>
            <p:cNvSpPr txBox="1"/>
            <p:nvPr/>
          </p:nvSpPr>
          <p:spPr>
            <a:xfrm>
              <a:off x="7333271" y="48805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7">
              <a:extLst>
                <a:ext uri="{FF2B5EF4-FFF2-40B4-BE49-F238E27FC236}">
                  <a16:creationId xmlns:a16="http://schemas.microsoft.com/office/drawing/2014/main" id="{86D05C31-227D-0B6E-7DF2-0903E87C15D0}"/>
                </a:ext>
              </a:extLst>
            </p:cNvPr>
            <p:cNvSpPr txBox="1">
              <a:spLocks/>
            </p:cNvSpPr>
            <p:nvPr/>
          </p:nvSpPr>
          <p:spPr>
            <a:xfrm>
              <a:off x="6384062" y="5484520"/>
              <a:ext cx="2427845" cy="984745"/>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7 hundredths</a:t>
              </a:r>
            </a:p>
          </p:txBody>
        </p:sp>
      </p:grpSp>
      <p:grpSp>
        <p:nvGrpSpPr>
          <p:cNvPr id="22" name="Group 21">
            <a:extLst>
              <a:ext uri="{FF2B5EF4-FFF2-40B4-BE49-F238E27FC236}">
                <a16:creationId xmlns:a16="http://schemas.microsoft.com/office/drawing/2014/main" id="{FB28C43E-B4B3-5355-F722-4E6ECC099849}"/>
              </a:ext>
            </a:extLst>
          </p:cNvPr>
          <p:cNvGrpSpPr/>
          <p:nvPr/>
        </p:nvGrpSpPr>
        <p:grpSpPr>
          <a:xfrm>
            <a:off x="9098281" y="4880542"/>
            <a:ext cx="2745719" cy="1584322"/>
            <a:chOff x="9098281" y="4880542"/>
            <a:chExt cx="2745719" cy="1584322"/>
          </a:xfrm>
        </p:grpSpPr>
        <p:sp>
          <p:nvSpPr>
            <p:cNvPr id="11" name="TextBox 10">
              <a:extLst>
                <a:ext uri="{FF2B5EF4-FFF2-40B4-BE49-F238E27FC236}">
                  <a16:creationId xmlns:a16="http://schemas.microsoft.com/office/drawing/2014/main" id="{F2C63D4C-D53C-5250-A986-AB949B67DEB8}"/>
                </a:ext>
              </a:extLst>
            </p:cNvPr>
            <p:cNvSpPr txBox="1">
              <a:spLocks/>
            </p:cNvSpPr>
            <p:nvPr/>
          </p:nvSpPr>
          <p:spPr>
            <a:xfrm>
              <a:off x="10337245" y="48805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7" name="Text Placeholder 17">
              <a:extLst>
                <a:ext uri="{FF2B5EF4-FFF2-40B4-BE49-F238E27FC236}">
                  <a16:creationId xmlns:a16="http://schemas.microsoft.com/office/drawing/2014/main" id="{DE3F4E15-39FF-0916-E1C2-440355978FA0}"/>
                </a:ext>
              </a:extLst>
            </p:cNvPr>
            <p:cNvSpPr txBox="1">
              <a:spLocks/>
            </p:cNvSpPr>
            <p:nvPr/>
          </p:nvSpPr>
          <p:spPr>
            <a:xfrm>
              <a:off x="9098281" y="5480119"/>
              <a:ext cx="2745719" cy="984745"/>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7 thousandths</a:t>
              </a:r>
            </a:p>
          </p:txBody>
        </p:sp>
      </p:gr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17">
            <a:extLst>
              <a:ext uri="{FF2B5EF4-FFF2-40B4-BE49-F238E27FC236}">
                <a16:creationId xmlns:a16="http://schemas.microsoft.com/office/drawing/2014/main" id="{85C3F2BF-372E-C1AD-9C42-73FFFBBB6154}"/>
              </a:ext>
            </a:extLst>
          </p:cNvPr>
          <p:cNvSpPr txBox="1">
            <a:spLocks/>
          </p:cNvSpPr>
          <p:nvPr/>
        </p:nvSpPr>
        <p:spPr>
          <a:xfrm>
            <a:off x="348000" y="1013590"/>
            <a:ext cx="11495408" cy="162370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7200">
                <a:solidFill>
                  <a:srgbClr val="146CFD"/>
                </a:solidFill>
              </a:rPr>
              <a:t>5.125 m</a:t>
            </a:r>
          </a:p>
        </p:txBody>
      </p:sp>
      <p:sp>
        <p:nvSpPr>
          <p:cNvPr id="8" name="Text Placeholder 17">
            <a:extLst>
              <a:ext uri="{FF2B5EF4-FFF2-40B4-BE49-F238E27FC236}">
                <a16:creationId xmlns:a16="http://schemas.microsoft.com/office/drawing/2014/main" id="{D23BEEFB-D8B1-C57B-7FE0-E4E16A95C1C6}"/>
              </a:ext>
            </a:extLst>
          </p:cNvPr>
          <p:cNvSpPr txBox="1">
            <a:spLocks/>
          </p:cNvSpPr>
          <p:nvPr/>
        </p:nvSpPr>
        <p:spPr>
          <a:xfrm>
            <a:off x="754466" y="2807926"/>
            <a:ext cx="10682476" cy="360008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AU" sz="3600"/>
              <a:t>What does the </a:t>
            </a:r>
            <a:r>
              <a:rPr lang="en-AU" sz="3600" b="1"/>
              <a:t>5</a:t>
            </a:r>
            <a:r>
              <a:rPr lang="en-AU" sz="3600"/>
              <a:t> represent in this number?</a:t>
            </a:r>
          </a:p>
          <a:p>
            <a:pPr marL="742950" indent="-742950">
              <a:buFont typeface="+mj-lt"/>
              <a:buAutoNum type="alphaLcParenR"/>
            </a:pPr>
            <a:r>
              <a:rPr lang="en-AU" sz="3600"/>
              <a:t>What does the </a:t>
            </a:r>
            <a:r>
              <a:rPr lang="en-AU" sz="3600" b="1"/>
              <a:t>125</a:t>
            </a:r>
            <a:r>
              <a:rPr lang="en-AU" sz="3600"/>
              <a:t> represent in this number?</a:t>
            </a:r>
          </a:p>
          <a:p>
            <a:pPr marL="742950" indent="-742950">
              <a:buFont typeface="+mj-lt"/>
              <a:buAutoNum type="alphaLcParenR"/>
            </a:pPr>
            <a:r>
              <a:rPr lang="en-AU" sz="3600"/>
              <a:t>How can </a:t>
            </a:r>
            <a:r>
              <a:rPr lang="en-AU" sz="3600" b="1"/>
              <a:t>5.125 m </a:t>
            </a:r>
            <a:r>
              <a:rPr lang="en-AU" sz="3600"/>
              <a:t>be </a:t>
            </a:r>
            <a:r>
              <a:rPr lang="en-AU" sz="3600" b="1"/>
              <a:t>renamed</a:t>
            </a:r>
            <a:r>
              <a:rPr lang="en-AU" sz="3600"/>
              <a:t> to an equivalent length?</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17">
            <a:extLst>
              <a:ext uri="{FF2B5EF4-FFF2-40B4-BE49-F238E27FC236}">
                <a16:creationId xmlns:a16="http://schemas.microsoft.com/office/drawing/2014/main" id="{F2134DBD-DFDB-6A3D-047B-9E5FA7C18294}"/>
              </a:ext>
            </a:extLst>
          </p:cNvPr>
          <p:cNvSpPr txBox="1">
            <a:spLocks/>
          </p:cNvSpPr>
          <p:nvPr/>
        </p:nvSpPr>
        <p:spPr>
          <a:xfrm>
            <a:off x="336592" y="905601"/>
            <a:ext cx="11495408" cy="162370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dirty="0"/>
              <a:t>248 × 6</a:t>
            </a:r>
          </a:p>
        </p:txBody>
      </p:sp>
      <p:sp>
        <p:nvSpPr>
          <p:cNvPr id="8" name="Text Placeholder 17">
            <a:extLst>
              <a:ext uri="{FF2B5EF4-FFF2-40B4-BE49-F238E27FC236}">
                <a16:creationId xmlns:a16="http://schemas.microsoft.com/office/drawing/2014/main" id="{E390EF3A-01FE-06BF-AB7F-5FE96D24DB60}"/>
              </a:ext>
            </a:extLst>
          </p:cNvPr>
          <p:cNvSpPr txBox="1">
            <a:spLocks/>
          </p:cNvSpPr>
          <p:nvPr/>
        </p:nvSpPr>
        <p:spPr>
          <a:xfrm>
            <a:off x="754464" y="1988144"/>
            <a:ext cx="10682476" cy="218568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Partition</a:t>
            </a:r>
            <a:r>
              <a:rPr lang="en-AU" sz="4400"/>
              <a:t> 248 into its </a:t>
            </a:r>
            <a:r>
              <a:rPr lang="en-AU" sz="4400" b="1"/>
              <a:t>place value parts </a:t>
            </a:r>
            <a:r>
              <a:rPr lang="en-AU" sz="4400"/>
              <a:t>to help </a:t>
            </a:r>
            <a:r>
              <a:rPr lang="en-AU" sz="4400" b="1"/>
              <a:t>solve</a:t>
            </a:r>
            <a:r>
              <a:rPr lang="en-AU" sz="4400"/>
              <a:t> this </a:t>
            </a:r>
            <a:r>
              <a:rPr lang="en-AU" sz="4400" b="1"/>
              <a:t>equation</a:t>
            </a:r>
            <a:r>
              <a:rPr lang="en-AU" sz="4400"/>
              <a:t>.</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5" name="Picture 4" descr="A long horizontal bar divided into three coloured sections: a large light-yellow section on the left, followed by a smaller orange section, and then a green section on the right. The number 6 is shown to the left of the bar. Above the bar are three letters A, B, and C, positioned roughly over the yellow, orange, and green sections respectively.">
            <a:extLst>
              <a:ext uri="{FF2B5EF4-FFF2-40B4-BE49-F238E27FC236}">
                <a16:creationId xmlns:a16="http://schemas.microsoft.com/office/drawing/2014/main" id="{CE36BAAC-59F0-80EB-FA7C-548B49C6D3A5}"/>
              </a:ext>
            </a:extLst>
          </p:cNvPr>
          <p:cNvPicPr>
            <a:picLocks noChangeAspect="1"/>
          </p:cNvPicPr>
          <p:nvPr/>
        </p:nvPicPr>
        <p:blipFill>
          <a:blip r:embed="rId4"/>
          <a:stretch>
            <a:fillRect/>
          </a:stretch>
        </p:blipFill>
        <p:spPr>
          <a:xfrm>
            <a:off x="185894" y="4173831"/>
            <a:ext cx="11321302" cy="2018718"/>
          </a:xfrm>
          <a:prstGeom prst="rect">
            <a:avLst/>
          </a:prstGeom>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6ACB0BE5-BA22-6DF8-B6D4-4CC0C313643D}"/>
              </a:ext>
            </a:extLst>
          </p:cNvPr>
          <p:cNvSpPr txBox="1">
            <a:spLocks/>
          </p:cNvSpPr>
          <p:nvPr/>
        </p:nvSpPr>
        <p:spPr>
          <a:xfrm>
            <a:off x="360000" y="1582814"/>
            <a:ext cx="6532676" cy="450378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Identify</a:t>
            </a:r>
            <a:r>
              <a:rPr lang="en-AU" sz="4400">
                <a:latin typeface="Arial"/>
                <a:cs typeface="Arial"/>
              </a:rPr>
              <a:t> which triangle is:</a:t>
            </a:r>
          </a:p>
          <a:p>
            <a:pPr marL="742950" indent="-742950">
              <a:buFont typeface="+mj-lt"/>
              <a:buAutoNum type="alphaLcParenR"/>
            </a:pPr>
            <a:r>
              <a:rPr lang="en-AU" sz="4400">
                <a:latin typeface="Arial"/>
                <a:cs typeface="Arial"/>
              </a:rPr>
              <a:t>equilateral</a:t>
            </a:r>
          </a:p>
          <a:p>
            <a:pPr marL="742950" indent="-742950">
              <a:buFont typeface="+mj-lt"/>
              <a:buAutoNum type="alphaLcParenR"/>
            </a:pPr>
            <a:r>
              <a:rPr lang="en-AU" sz="4400">
                <a:latin typeface="Arial"/>
                <a:cs typeface="Arial"/>
              </a:rPr>
              <a:t>isosceles</a:t>
            </a:r>
          </a:p>
          <a:p>
            <a:pPr marL="742950" indent="-742950">
              <a:buFont typeface="+mj-lt"/>
              <a:buAutoNum type="alphaLcParenR"/>
            </a:pPr>
            <a:r>
              <a:rPr lang="en-AU" sz="4400">
                <a:latin typeface="Arial"/>
                <a:cs typeface="Arial"/>
              </a:rPr>
              <a:t>scalene</a:t>
            </a:r>
            <a:endParaRPr lang="en-US" sz="4400" b="1"/>
          </a:p>
        </p:txBody>
      </p:sp>
      <p:sp>
        <p:nvSpPr>
          <p:cNvPr id="4" name="TextBox 3">
            <a:extLst>
              <a:ext uri="{FF2B5EF4-FFF2-40B4-BE49-F238E27FC236}">
                <a16:creationId xmlns:a16="http://schemas.microsoft.com/office/drawing/2014/main" id="{0589BFC1-ECC7-CDE7-DDBD-48493A4C2993}"/>
              </a:ext>
            </a:extLst>
          </p:cNvPr>
          <p:cNvSpPr txBox="1"/>
          <p:nvPr/>
        </p:nvSpPr>
        <p:spPr>
          <a:xfrm>
            <a:off x="8556061" y="50554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1.</a:t>
            </a:r>
          </a:p>
        </p:txBody>
      </p:sp>
      <p:pic>
        <p:nvPicPr>
          <p:cNvPr id="11" name="Picture 10" descr="A. A triangle with two sides the same length and two equal angles, with a longer base.">
            <a:extLst>
              <a:ext uri="{FF2B5EF4-FFF2-40B4-BE49-F238E27FC236}">
                <a16:creationId xmlns:a16="http://schemas.microsoft.com/office/drawing/2014/main" id="{844A9E73-9FB3-A047-196C-9BCCA19F146E}"/>
              </a:ext>
            </a:extLst>
          </p:cNvPr>
          <p:cNvPicPr>
            <a:picLocks noChangeAspect="1"/>
          </p:cNvPicPr>
          <p:nvPr/>
        </p:nvPicPr>
        <p:blipFill>
          <a:blip r:embed="rId4"/>
          <a:stretch>
            <a:fillRect/>
          </a:stretch>
        </p:blipFill>
        <p:spPr>
          <a:xfrm>
            <a:off x="9056713" y="360000"/>
            <a:ext cx="1737826" cy="2567421"/>
          </a:xfrm>
          <a:prstGeom prst="rect">
            <a:avLst/>
          </a:prstGeom>
        </p:spPr>
      </p:pic>
      <p:sp>
        <p:nvSpPr>
          <p:cNvPr id="7" name="TextBox 6">
            <a:extLst>
              <a:ext uri="{FF2B5EF4-FFF2-40B4-BE49-F238E27FC236}">
                <a16:creationId xmlns:a16="http://schemas.microsoft.com/office/drawing/2014/main" id="{C5CF14A5-EDD1-7258-BFF2-19EEDB71D889}"/>
              </a:ext>
            </a:extLst>
          </p:cNvPr>
          <p:cNvSpPr txBox="1"/>
          <p:nvPr/>
        </p:nvSpPr>
        <p:spPr>
          <a:xfrm>
            <a:off x="6064001" y="291918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2.</a:t>
            </a:r>
          </a:p>
        </p:txBody>
      </p:sp>
      <p:pic>
        <p:nvPicPr>
          <p:cNvPr id="13" name="Picture 12" descr="B. A triangle with all three sides the same length and all three angles equal.">
            <a:extLst>
              <a:ext uri="{FF2B5EF4-FFF2-40B4-BE49-F238E27FC236}">
                <a16:creationId xmlns:a16="http://schemas.microsoft.com/office/drawing/2014/main" id="{E0B130BB-4E04-835C-47D3-0E55A4D8E2F7}"/>
              </a:ext>
            </a:extLst>
          </p:cNvPr>
          <p:cNvPicPr>
            <a:picLocks noChangeAspect="1"/>
          </p:cNvPicPr>
          <p:nvPr/>
        </p:nvPicPr>
        <p:blipFill>
          <a:blip r:embed="rId5"/>
          <a:stretch>
            <a:fillRect/>
          </a:stretch>
        </p:blipFill>
        <p:spPr>
          <a:xfrm>
            <a:off x="6064001" y="3517466"/>
            <a:ext cx="2286411" cy="2153222"/>
          </a:xfrm>
          <a:prstGeom prst="rect">
            <a:avLst/>
          </a:prstGeom>
        </p:spPr>
      </p:pic>
      <p:sp>
        <p:nvSpPr>
          <p:cNvPr id="9" name="TextBox 8">
            <a:extLst>
              <a:ext uri="{FF2B5EF4-FFF2-40B4-BE49-F238E27FC236}">
                <a16:creationId xmlns:a16="http://schemas.microsoft.com/office/drawing/2014/main" id="{0819319C-1BB4-245C-F856-6059B6AE8BD2}"/>
              </a:ext>
            </a:extLst>
          </p:cNvPr>
          <p:cNvSpPr txBox="1"/>
          <p:nvPr/>
        </p:nvSpPr>
        <p:spPr>
          <a:xfrm>
            <a:off x="8884394" y="36641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3.</a:t>
            </a:r>
          </a:p>
        </p:txBody>
      </p:sp>
      <p:pic>
        <p:nvPicPr>
          <p:cNvPr id="15" name="Picture 14" descr="C. A triangle with three sides of different lengths and no equal angles.">
            <a:extLst>
              <a:ext uri="{FF2B5EF4-FFF2-40B4-BE49-F238E27FC236}">
                <a16:creationId xmlns:a16="http://schemas.microsoft.com/office/drawing/2014/main" id="{30F262EC-3A96-EB98-F4EE-B42FCAF2F99F}"/>
              </a:ext>
            </a:extLst>
          </p:cNvPr>
          <p:cNvPicPr>
            <a:picLocks noChangeAspect="1"/>
          </p:cNvPicPr>
          <p:nvPr/>
        </p:nvPicPr>
        <p:blipFill>
          <a:blip r:embed="rId6"/>
          <a:stretch>
            <a:fillRect/>
          </a:stretch>
        </p:blipFill>
        <p:spPr>
          <a:xfrm>
            <a:off x="8884394" y="4402789"/>
            <a:ext cx="3061582" cy="1924119"/>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EE74B533-FD44-C702-4D2D-A126FA3092A0}"/>
              </a:ext>
            </a:extLst>
          </p:cNvPr>
          <p:cNvSpPr txBox="1"/>
          <p:nvPr/>
        </p:nvSpPr>
        <p:spPr>
          <a:xfrm>
            <a:off x="360000" y="809530"/>
            <a:ext cx="4964244" cy="2955746"/>
          </a:xfrm>
          <a:prstGeom prst="rect">
            <a:avLst/>
          </a:prstGeom>
          <a:noFill/>
        </p:spPr>
        <p:txBody>
          <a:bodyPr wrap="square">
            <a:spAutoFit/>
          </a:bodyPr>
          <a:lstStyle/>
          <a:p>
            <a:pPr algn="ctr">
              <a:lnSpc>
                <a:spcPct val="150000"/>
              </a:lnSpc>
            </a:pPr>
            <a:r>
              <a:rPr lang="en-AU" sz="3200">
                <a:solidFill>
                  <a:srgbClr val="000000"/>
                </a:solidFill>
              </a:rPr>
              <a:t>Record the </a:t>
            </a:r>
            <a:r>
              <a:rPr lang="en-AU" sz="3200" b="1">
                <a:solidFill>
                  <a:srgbClr val="000000"/>
                </a:solidFill>
              </a:rPr>
              <a:t>coordinates</a:t>
            </a:r>
            <a:r>
              <a:rPr lang="en-AU" sz="3200">
                <a:solidFill>
                  <a:srgbClr val="000000"/>
                </a:solidFill>
              </a:rPr>
              <a:t> of each star on the </a:t>
            </a:r>
            <a:r>
              <a:rPr lang="en-AU" sz="3200" b="1">
                <a:solidFill>
                  <a:srgbClr val="000000"/>
                </a:solidFill>
              </a:rPr>
              <a:t>first quadrant </a:t>
            </a:r>
            <a:r>
              <a:rPr lang="en-AU" sz="3200">
                <a:solidFill>
                  <a:srgbClr val="000000"/>
                </a:solidFill>
              </a:rPr>
              <a:t>of the </a:t>
            </a:r>
            <a:r>
              <a:rPr lang="en-AU" sz="3200" b="1">
                <a:solidFill>
                  <a:srgbClr val="000000"/>
                </a:solidFill>
              </a:rPr>
              <a:t>Cartesian plane</a:t>
            </a:r>
            <a:r>
              <a:rPr lang="en-AU" sz="3200">
                <a:solidFill>
                  <a:srgbClr val="000000"/>
                </a:solidFill>
              </a:rPr>
              <a:t>.</a:t>
            </a:r>
          </a:p>
        </p:txBody>
      </p:sp>
      <p:grpSp>
        <p:nvGrpSpPr>
          <p:cNvPr id="17" name="Group 16" descr="a) purple star&#10;b) green star&#10;c) blue star&#10;d) orange star">
            <a:extLst>
              <a:ext uri="{FF2B5EF4-FFF2-40B4-BE49-F238E27FC236}">
                <a16:creationId xmlns:a16="http://schemas.microsoft.com/office/drawing/2014/main" id="{AB1EB73B-BD76-A66E-CB81-9CD1E7602C13}"/>
              </a:ext>
            </a:extLst>
          </p:cNvPr>
          <p:cNvGrpSpPr/>
          <p:nvPr/>
        </p:nvGrpSpPr>
        <p:grpSpPr>
          <a:xfrm>
            <a:off x="2209635" y="3671422"/>
            <a:ext cx="1111202" cy="3186578"/>
            <a:chOff x="1548327" y="3329422"/>
            <a:chExt cx="1111202" cy="3186578"/>
          </a:xfrm>
        </p:grpSpPr>
        <p:sp>
          <p:nvSpPr>
            <p:cNvPr id="5" name="Freeform 26">
              <a:extLst>
                <a:ext uri="{FF2B5EF4-FFF2-40B4-BE49-F238E27FC236}">
                  <a16:creationId xmlns:a16="http://schemas.microsoft.com/office/drawing/2014/main" id="{67DA52E9-2B44-AC34-824F-837C67F951C8}"/>
                </a:ext>
              </a:extLst>
            </p:cNvPr>
            <p:cNvSpPr/>
            <p:nvPr/>
          </p:nvSpPr>
          <p:spPr>
            <a:xfrm>
              <a:off x="2182113" y="4368615"/>
              <a:ext cx="477416" cy="453112"/>
            </a:xfrm>
            <a:custGeom>
              <a:avLst/>
              <a:gdLst/>
              <a:ahLst/>
              <a:cxnLst/>
              <a:rect l="l" t="t" r="r" b="b"/>
              <a:pathLst>
                <a:path w="477416" h="453112">
                  <a:moveTo>
                    <a:pt x="0" y="0"/>
                  </a:moveTo>
                  <a:lnTo>
                    <a:pt x="477417" y="0"/>
                  </a:lnTo>
                  <a:lnTo>
                    <a:pt x="477417" y="453111"/>
                  </a:lnTo>
                  <a:lnTo>
                    <a:pt x="0" y="4531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7" name="Freeform 27">
              <a:extLst>
                <a:ext uri="{FF2B5EF4-FFF2-40B4-BE49-F238E27FC236}">
                  <a16:creationId xmlns:a16="http://schemas.microsoft.com/office/drawing/2014/main" id="{4079A002-4B7A-1432-1F7E-674CAEDC97AF}"/>
                </a:ext>
              </a:extLst>
            </p:cNvPr>
            <p:cNvSpPr/>
            <p:nvPr/>
          </p:nvSpPr>
          <p:spPr>
            <a:xfrm>
              <a:off x="2182113" y="5948160"/>
              <a:ext cx="477416" cy="453112"/>
            </a:xfrm>
            <a:custGeom>
              <a:avLst/>
              <a:gdLst/>
              <a:ahLst/>
              <a:cxnLst/>
              <a:rect l="l" t="t" r="r" b="b"/>
              <a:pathLst>
                <a:path w="477416" h="453112">
                  <a:moveTo>
                    <a:pt x="0" y="0"/>
                  </a:moveTo>
                  <a:lnTo>
                    <a:pt x="477416" y="0"/>
                  </a:lnTo>
                  <a:lnTo>
                    <a:pt x="477416" y="453112"/>
                  </a:lnTo>
                  <a:lnTo>
                    <a:pt x="0" y="4531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28">
              <a:extLst>
                <a:ext uri="{FF2B5EF4-FFF2-40B4-BE49-F238E27FC236}">
                  <a16:creationId xmlns:a16="http://schemas.microsoft.com/office/drawing/2014/main" id="{BA8A99FD-9D0F-C47D-A14B-680DDAAA2D48}"/>
                </a:ext>
              </a:extLst>
            </p:cNvPr>
            <p:cNvSpPr/>
            <p:nvPr/>
          </p:nvSpPr>
          <p:spPr>
            <a:xfrm>
              <a:off x="2182113" y="5158388"/>
              <a:ext cx="477416" cy="453112"/>
            </a:xfrm>
            <a:custGeom>
              <a:avLst/>
              <a:gdLst/>
              <a:ahLst/>
              <a:cxnLst/>
              <a:rect l="l" t="t" r="r" b="b"/>
              <a:pathLst>
                <a:path w="477416" h="453112">
                  <a:moveTo>
                    <a:pt x="0" y="0"/>
                  </a:moveTo>
                  <a:lnTo>
                    <a:pt x="477416" y="0"/>
                  </a:lnTo>
                  <a:lnTo>
                    <a:pt x="477416" y="453112"/>
                  </a:lnTo>
                  <a:lnTo>
                    <a:pt x="0" y="45311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9" name="Freeform 29">
              <a:extLst>
                <a:ext uri="{FF2B5EF4-FFF2-40B4-BE49-F238E27FC236}">
                  <a16:creationId xmlns:a16="http://schemas.microsoft.com/office/drawing/2014/main" id="{59E41096-65C6-0581-96E4-C49D36D35AB4}"/>
                </a:ext>
              </a:extLst>
            </p:cNvPr>
            <p:cNvSpPr/>
            <p:nvPr/>
          </p:nvSpPr>
          <p:spPr>
            <a:xfrm>
              <a:off x="2182113" y="3578842"/>
              <a:ext cx="477416" cy="453112"/>
            </a:xfrm>
            <a:custGeom>
              <a:avLst/>
              <a:gdLst/>
              <a:ahLst/>
              <a:cxnLst/>
              <a:rect l="l" t="t" r="r" b="b"/>
              <a:pathLst>
                <a:path w="477416" h="453112">
                  <a:moveTo>
                    <a:pt x="0" y="0"/>
                  </a:moveTo>
                  <a:lnTo>
                    <a:pt x="477416" y="0"/>
                  </a:lnTo>
                  <a:lnTo>
                    <a:pt x="477416" y="453111"/>
                  </a:lnTo>
                  <a:lnTo>
                    <a:pt x="0" y="45311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2" name="TextBox 11">
              <a:extLst>
                <a:ext uri="{FF2B5EF4-FFF2-40B4-BE49-F238E27FC236}">
                  <a16:creationId xmlns:a16="http://schemas.microsoft.com/office/drawing/2014/main" id="{5721F7BE-66A5-449B-E9CA-0AF4AD9A9CB5}"/>
                </a:ext>
              </a:extLst>
            </p:cNvPr>
            <p:cNvSpPr txBox="1"/>
            <p:nvPr/>
          </p:nvSpPr>
          <p:spPr>
            <a:xfrm>
              <a:off x="1548327" y="3329422"/>
              <a:ext cx="737850" cy="3186578"/>
            </a:xfrm>
            <a:prstGeom prst="rect">
              <a:avLst/>
            </a:prstGeom>
            <a:noFill/>
          </p:spPr>
          <p:txBody>
            <a:bodyPr wrap="square">
              <a:spAutoFit/>
            </a:bodyPr>
            <a:lstStyle/>
            <a:p>
              <a:pPr marL="514350" indent="-514350" rtl="0" fontAlgn="base">
                <a:lnSpc>
                  <a:spcPct val="150000"/>
                </a:lnSpc>
                <a:spcAft>
                  <a:spcPts val="600"/>
                </a:spcAft>
                <a:buFont typeface="+mj-lt"/>
                <a:buAutoNum type="alphaLcParenR"/>
              </a:pPr>
              <a:r>
                <a:rPr lang="en-AU" sz="3200" b="0" i="0" u="none" strike="noStrike">
                  <a:effectLst/>
                  <a:latin typeface="Arial" panose="020B0604020202020204" pitchFamily="34" charset="0"/>
                </a:rPr>
                <a:t> </a:t>
              </a:r>
              <a:endParaRPr lang="en-AU" sz="3200" b="0" i="0" u="none" strike="noStrike">
                <a:solidFill>
                  <a:srgbClr val="FF751F"/>
                </a:solidFill>
                <a:effectLst/>
                <a:latin typeface="Arial" panose="020B0604020202020204" pitchFamily="34" charset="0"/>
              </a:endParaRPr>
            </a:p>
            <a:p>
              <a:pPr marL="514350" indent="-514350" rtl="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p:txBody>
        </p:sp>
      </p:grpSp>
      <p:pic>
        <p:nvPicPr>
          <p:cNvPr id="19" name="Picture 18" descr="A coordinate grid is shown with the x-axis running horizontally and the y-axis running vertically, both labelled and marked with numbers from 0 to 7. Four stars are placed at different points on the grid.">
            <a:extLst>
              <a:ext uri="{FF2B5EF4-FFF2-40B4-BE49-F238E27FC236}">
                <a16:creationId xmlns:a16="http://schemas.microsoft.com/office/drawing/2014/main" id="{D8468528-3C77-CDC6-A3C6-20CD733EF378}"/>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202314" y="1324805"/>
            <a:ext cx="5091898" cy="5014258"/>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decimal numbers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73" name="Group 72" descr="A number line labelled 0.910 with 9 interval markers to 0.920. There are a variety of sticky notes with decimals which can possibly be used to plot on the number line. For example 2.917 cannot be used but 0.914 can be used.">
            <a:extLst>
              <a:ext uri="{FF2B5EF4-FFF2-40B4-BE49-F238E27FC236}">
                <a16:creationId xmlns:a16="http://schemas.microsoft.com/office/drawing/2014/main" id="{C7A703B8-C0DD-A15D-5909-BCBE4EF658D6}"/>
              </a:ext>
            </a:extLst>
          </p:cNvPr>
          <p:cNvGrpSpPr/>
          <p:nvPr/>
        </p:nvGrpSpPr>
        <p:grpSpPr>
          <a:xfrm>
            <a:off x="722948" y="1018065"/>
            <a:ext cx="10744055" cy="5677935"/>
            <a:chOff x="722948" y="1018065"/>
            <a:chExt cx="10744055" cy="5677935"/>
          </a:xfrm>
        </p:grpSpPr>
        <p:pic>
          <p:nvPicPr>
            <p:cNvPr id="71" name="Picture 70" descr="A number line labelled 0.910 with 9 interval markers to 0.920. There are a variety of sticky notes with decimals which can possibly be used to plot on the number line. For example 2.917 cannot be used but 0.914 can be used.">
              <a:extLst>
                <a:ext uri="{FF2B5EF4-FFF2-40B4-BE49-F238E27FC236}">
                  <a16:creationId xmlns:a16="http://schemas.microsoft.com/office/drawing/2014/main" id="{9C0797A7-1857-CEF8-90FA-76C7AD91EE0A}"/>
                </a:ext>
              </a:extLst>
            </p:cNvPr>
            <p:cNvPicPr>
              <a:picLocks noChangeAspect="1"/>
            </p:cNvPicPr>
            <p:nvPr/>
          </p:nvPicPr>
          <p:blipFill>
            <a:blip r:embed="rId4">
              <a:extLst>
                <a:ext uri="{28A0092B-C50C-407E-A947-70E740481C1C}">
                  <a14:useLocalDpi xmlns:a14="http://schemas.microsoft.com/office/drawing/2010/main" val="0"/>
                </a:ext>
              </a:extLst>
            </a:blip>
            <a:srcRect t="4608" b="70937"/>
            <a:stretch>
              <a:fillRect/>
            </a:stretch>
          </p:blipFill>
          <p:spPr>
            <a:xfrm>
              <a:off x="722948" y="1018065"/>
              <a:ext cx="10744055" cy="1708057"/>
            </a:xfrm>
            <a:prstGeom prst="rect">
              <a:avLst/>
            </a:prstGeom>
          </p:spPr>
        </p:pic>
        <p:pic>
          <p:nvPicPr>
            <p:cNvPr id="72" name="Picture 71" descr="A number line labelled 0.910 with 9 interval markers to 0.920. There are a variety of sticky notes with decimals which can possibly be used to plot on the number line. For example 2.917 cannot be used but 0.914 can be used.">
              <a:extLst>
                <a:ext uri="{FF2B5EF4-FFF2-40B4-BE49-F238E27FC236}">
                  <a16:creationId xmlns:a16="http://schemas.microsoft.com/office/drawing/2014/main" id="{BD2CB92D-BF75-6A29-FB6D-9A2FBC781343}"/>
                </a:ext>
              </a:extLst>
            </p:cNvPr>
            <p:cNvPicPr>
              <a:picLocks noChangeAspect="1"/>
            </p:cNvPicPr>
            <p:nvPr/>
          </p:nvPicPr>
          <p:blipFill>
            <a:blip r:embed="rId4">
              <a:extLst>
                <a:ext uri="{28A0092B-C50C-407E-A947-70E740481C1C}">
                  <a14:useLocalDpi xmlns:a14="http://schemas.microsoft.com/office/drawing/2010/main" val="0"/>
                </a:ext>
              </a:extLst>
            </a:blip>
            <a:srcRect l="2152" t="55780" r="4923" b="1280"/>
            <a:stretch>
              <a:fillRect/>
            </a:stretch>
          </p:blipFill>
          <p:spPr>
            <a:xfrm>
              <a:off x="1103039" y="3696874"/>
              <a:ext cx="9983872" cy="2999126"/>
            </a:xfrm>
            <a:prstGeom prst="rect">
              <a:avLst/>
            </a:prstGeom>
          </p:spPr>
        </p:pic>
      </p:gr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1" y="999140"/>
            <a:ext cx="11243037" cy="1511030"/>
          </a:xfrm>
        </p:spPr>
        <p:txBody>
          <a:bodyPr/>
          <a:lstStyle/>
          <a:p>
            <a:pPr algn="ctr"/>
            <a:r>
              <a:rPr lang="en-AU" sz="7200">
                <a:solidFill>
                  <a:srgbClr val="146CFD"/>
                </a:solidFill>
              </a:rPr>
              <a:t>4.725</a:t>
            </a:r>
          </a:p>
        </p:txBody>
      </p:sp>
      <p:sp>
        <p:nvSpPr>
          <p:cNvPr id="8" name="Text Placeholder 5">
            <a:extLst>
              <a:ext uri="{FF2B5EF4-FFF2-40B4-BE49-F238E27FC236}">
                <a16:creationId xmlns:a16="http://schemas.microsoft.com/office/drawing/2014/main" id="{07F7696D-11A2-96BB-F9CB-DE1FC8F61E55}"/>
              </a:ext>
            </a:extLst>
          </p:cNvPr>
          <p:cNvSpPr txBox="1">
            <a:spLocks/>
          </p:cNvSpPr>
          <p:nvPr/>
        </p:nvSpPr>
        <p:spPr>
          <a:xfrm>
            <a:off x="1612559" y="2941970"/>
            <a:ext cx="8966881" cy="182865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The value of </a:t>
            </a:r>
            <a:r>
              <a:rPr lang="en-AU" sz="4400" b="1"/>
              <a:t>2</a:t>
            </a:r>
            <a:r>
              <a:rPr lang="en-AU" sz="4400"/>
              <a:t> in this number is </a:t>
            </a:r>
            <a:endParaRPr lang="en-AU" sz="4400" dirty="0"/>
          </a:p>
          <a:p>
            <a:pPr algn="ctr"/>
            <a:r>
              <a:rPr lang="en-AU" sz="4400" b="1"/>
              <a:t>2 hundredths</a:t>
            </a:r>
            <a:r>
              <a:rPr lang="en-AU" sz="4400"/>
              <a:t>.</a:t>
            </a:r>
          </a:p>
        </p:txBody>
      </p:sp>
      <p:graphicFrame>
        <p:nvGraphicFramePr>
          <p:cNvPr id="7" name="Table 6">
            <a:extLst>
              <a:ext uri="{FF2B5EF4-FFF2-40B4-BE49-F238E27FC236}">
                <a16:creationId xmlns:a16="http://schemas.microsoft.com/office/drawing/2014/main" id="{D59508EB-1A00-9397-C3EA-7D2056B1710E}"/>
              </a:ext>
            </a:extLst>
          </p:cNvPr>
          <p:cNvGraphicFramePr>
            <a:graphicFrameLocks noGrp="1"/>
          </p:cNvGraphicFramePr>
          <p:nvPr>
            <p:extLst>
              <p:ext uri="{D42A27DB-BD31-4B8C-83A1-F6EECF244321}">
                <p14:modId xmlns:p14="http://schemas.microsoft.com/office/powerpoint/2010/main" val="1891167145"/>
              </p:ext>
            </p:extLst>
          </p:nvPr>
        </p:nvGraphicFramePr>
        <p:xfrm>
          <a:off x="2557462" y="5756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0" name="Picture Placeholder 10">
                <a:extLst>
                  <a:ext uri="{FF2B5EF4-FFF2-40B4-BE49-F238E27FC236}">
                    <a16:creationId xmlns:a16="http://schemas.microsoft.com/office/drawing/2014/main" id="{2AA96C35-FB0F-D225-F13E-A438EFA65361}"/>
                  </a:ext>
                </a:extLst>
              </p:cNvPr>
              <p:cNvSpPr txBox="1">
                <a:spLocks/>
              </p:cNvSpPr>
              <p:nvPr/>
            </p:nvSpPr>
            <p:spPr>
              <a:xfrm>
                <a:off x="700196" y="882774"/>
                <a:ext cx="11131804" cy="5494992"/>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400">
                    <a:solidFill>
                      <a:srgbClr val="146CFD"/>
                    </a:solidFill>
                  </a:rPr>
                  <a:t>15.5 cm is </a:t>
                </a:r>
                <a:r>
                  <a:rPr lang="en-AU" sz="3400" b="1">
                    <a:solidFill>
                      <a:srgbClr val="146CFD"/>
                    </a:solidFill>
                  </a:rPr>
                  <a:t>15 centimetres and 5 millimetres </a:t>
                </a:r>
              </a:p>
              <a:p>
                <a:pPr algn="ctr"/>
                <a:r>
                  <a:rPr lang="en-AU" sz="3400">
                    <a:solidFill>
                      <a:srgbClr val="146CFD"/>
                    </a:solidFill>
                  </a:rPr>
                  <a:t>or </a:t>
                </a:r>
                <a:r>
                  <a:rPr lang="en-AU" sz="3400" b="1">
                    <a:solidFill>
                      <a:srgbClr val="146CFD"/>
                    </a:solidFill>
                  </a:rPr>
                  <a:t>15 </a:t>
                </a:r>
                <a14:m>
                  <m:oMath xmlns:m="http://schemas.openxmlformats.org/officeDocument/2006/math">
                    <m:f>
                      <m:fPr>
                        <m:ctrlPr>
                          <a:rPr lang="en-AU" sz="3400" b="1" i="1">
                            <a:solidFill>
                              <a:srgbClr val="146CFD"/>
                            </a:solidFill>
                            <a:latin typeface="Cambria Math" panose="02040503050406030204" pitchFamily="18" charset="0"/>
                          </a:rPr>
                        </m:ctrlPr>
                      </m:fPr>
                      <m:num>
                        <m:r>
                          <a:rPr lang="en-AU" sz="3400" b="1" i="1">
                            <a:solidFill>
                              <a:srgbClr val="146CFD"/>
                            </a:solidFill>
                            <a:latin typeface="Cambria Math" panose="02040503050406030204" pitchFamily="18" charset="0"/>
                          </a:rPr>
                          <m:t>𝟏</m:t>
                        </m:r>
                      </m:num>
                      <m:den>
                        <m:r>
                          <a:rPr lang="en-AU" sz="3400" b="1" i="1">
                            <a:solidFill>
                              <a:srgbClr val="146CFD"/>
                            </a:solidFill>
                            <a:latin typeface="Cambria Math" panose="02040503050406030204" pitchFamily="18" charset="0"/>
                          </a:rPr>
                          <m:t>𝟐</m:t>
                        </m:r>
                      </m:den>
                    </m:f>
                  </m:oMath>
                </a14:m>
                <a:r>
                  <a:rPr lang="en-AU" sz="3400" b="1">
                    <a:solidFill>
                      <a:srgbClr val="146CFD"/>
                    </a:solidFill>
                  </a:rPr>
                  <a:t> centimetres</a:t>
                </a:r>
                <a:r>
                  <a:rPr lang="en-AU" sz="3400">
                    <a:solidFill>
                      <a:srgbClr val="146CFD"/>
                    </a:solidFill>
                    <a:cs typeface="Arial"/>
                  </a:rPr>
                  <a:t>. </a:t>
                </a:r>
                <a:endParaRPr lang="en-AU" sz="3400">
                  <a:solidFill>
                    <a:srgbClr val="146CFD"/>
                  </a:solidFill>
                </a:endParaRPr>
              </a:p>
              <a:p>
                <a:pPr algn="ctr"/>
                <a:r>
                  <a:rPr lang="en-AU" sz="3400" b="1">
                    <a:cs typeface="Arial"/>
                  </a:rPr>
                  <a:t>Use this </a:t>
                </a:r>
                <a:r>
                  <a:rPr lang="en-AU" sz="3400">
                    <a:cs typeface="Arial"/>
                  </a:rPr>
                  <a:t>to</a:t>
                </a:r>
                <a:r>
                  <a:rPr lang="en-AU" sz="3400" b="1">
                    <a:cs typeface="Arial"/>
                  </a:rPr>
                  <a:t> interpret </a:t>
                </a:r>
                <a:r>
                  <a:rPr lang="en-AU" sz="3400">
                    <a:cs typeface="Arial"/>
                  </a:rPr>
                  <a:t>and </a:t>
                </a:r>
                <a:r>
                  <a:rPr lang="en-AU" sz="3400" b="1">
                    <a:cs typeface="Arial"/>
                  </a:rPr>
                  <a:t>record</a:t>
                </a:r>
                <a:r>
                  <a:rPr lang="en-AU" sz="3400">
                    <a:cs typeface="Arial"/>
                  </a:rPr>
                  <a:t> these </a:t>
                </a:r>
                <a:r>
                  <a:rPr lang="en-AU" sz="3400" b="1">
                    <a:cs typeface="Arial"/>
                  </a:rPr>
                  <a:t>measurements:</a:t>
                </a:r>
                <a:endParaRPr lang="en-US" sz="3400">
                  <a:cs typeface="Arial"/>
                </a:endParaRPr>
              </a:p>
              <a:p>
                <a:pPr marL="742950" indent="-742950">
                  <a:buFont typeface="+mj-lt"/>
                  <a:buAutoNum type="alphaLcParenR"/>
                </a:pPr>
                <a:r>
                  <a:rPr lang="en-US" sz="3400">
                    <a:latin typeface="Arial"/>
                    <a:cs typeface="Arial"/>
                  </a:rPr>
                  <a:t>43.5 cm</a:t>
                </a:r>
              </a:p>
              <a:p>
                <a:pPr marL="742950" indent="-742950">
                  <a:buFont typeface="+mj-lt"/>
                  <a:buAutoNum type="alphaLcParenR"/>
                </a:pPr>
                <a:r>
                  <a:rPr lang="en-US" sz="3400">
                    <a:latin typeface="Arial"/>
                    <a:cs typeface="Arial"/>
                  </a:rPr>
                  <a:t>84.75 cm</a:t>
                </a:r>
              </a:p>
              <a:p>
                <a:pPr marL="742950" indent="-742950">
                  <a:buFont typeface="+mj-lt"/>
                  <a:buAutoNum type="alphaLcParenR"/>
                </a:pPr>
                <a:r>
                  <a:rPr lang="en-US" sz="3400">
                    <a:latin typeface="Arial"/>
                    <a:cs typeface="Arial"/>
                  </a:rPr>
                  <a:t>61.25 m</a:t>
                </a:r>
                <a:endParaRPr lang="en-US" sz="3400"/>
              </a:p>
            </p:txBody>
          </p:sp>
        </mc:Choice>
        <mc:Fallback xmlns="">
          <p:sp>
            <p:nvSpPr>
              <p:cNvPr id="10" name="Picture Placeholder 10">
                <a:extLst>
                  <a:ext uri="{FF2B5EF4-FFF2-40B4-BE49-F238E27FC236}">
                    <a16:creationId xmlns:a16="http://schemas.microsoft.com/office/drawing/2014/main" id="{2AA96C35-FB0F-D225-F13E-A438EFA65361}"/>
                  </a:ext>
                </a:extLst>
              </p:cNvPr>
              <p:cNvSpPr txBox="1">
                <a:spLocks noRot="1" noChangeAspect="1" noMove="1" noResize="1" noEditPoints="1" noAdjustHandles="1" noChangeArrowheads="1" noChangeShapeType="1" noTextEdit="1"/>
              </p:cNvSpPr>
              <p:nvPr/>
            </p:nvSpPr>
            <p:spPr>
              <a:xfrm>
                <a:off x="700196" y="882774"/>
                <a:ext cx="11131804" cy="5494992"/>
              </a:xfrm>
              <a:prstGeom prst="rect">
                <a:avLst/>
              </a:prstGeom>
              <a:blipFill>
                <a:blip r:embed="rId4"/>
                <a:stretch>
                  <a:fillRect l="-1369" r="-931" b="-876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E87C2F3-1446-2990-6797-44A4FDD1F991}"/>
              </a:ext>
            </a:extLst>
          </p:cNvPr>
          <p:cNvSpPr txBox="1">
            <a:spLocks/>
          </p:cNvSpPr>
          <p:nvPr/>
        </p:nvSpPr>
        <p:spPr>
          <a:xfrm>
            <a:off x="360000" y="1091682"/>
            <a:ext cx="11243037" cy="151103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dirty="0">
                <a:solidFill>
                  <a:srgbClr val="146CFD"/>
                </a:solidFill>
              </a:rPr>
              <a:t>2564 × 3</a:t>
            </a:r>
          </a:p>
        </p:txBody>
      </p:sp>
      <p:sp>
        <p:nvSpPr>
          <p:cNvPr id="7" name="Text Placeholder 5">
            <a:extLst>
              <a:ext uri="{FF2B5EF4-FFF2-40B4-BE49-F238E27FC236}">
                <a16:creationId xmlns:a16="http://schemas.microsoft.com/office/drawing/2014/main" id="{6F644503-18E4-9EB9-7224-76C91AE8C3BD}"/>
              </a:ext>
            </a:extLst>
          </p:cNvPr>
          <p:cNvSpPr txBox="1">
            <a:spLocks/>
          </p:cNvSpPr>
          <p:nvPr/>
        </p:nvSpPr>
        <p:spPr>
          <a:xfrm>
            <a:off x="986280" y="2788793"/>
            <a:ext cx="10219440" cy="182865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the </a:t>
            </a:r>
            <a:r>
              <a:rPr lang="en-AU" sz="4400" b="1"/>
              <a:t>distributive property </a:t>
            </a:r>
            <a:r>
              <a:rPr lang="en-AU" sz="4400"/>
              <a:t>with </a:t>
            </a:r>
            <a:r>
              <a:rPr lang="en-AU" sz="4400" b="1"/>
              <a:t>partial products </a:t>
            </a:r>
            <a:r>
              <a:rPr lang="en-AU" sz="4400"/>
              <a:t>to solve this problem.</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6589B5F0-5543-E12D-2FAE-6A87CBA6C5F9}"/>
              </a:ext>
            </a:extLst>
          </p:cNvPr>
          <p:cNvSpPr txBox="1">
            <a:spLocks/>
          </p:cNvSpPr>
          <p:nvPr/>
        </p:nvSpPr>
        <p:spPr>
          <a:xfrm>
            <a:off x="542449" y="986069"/>
            <a:ext cx="11107102" cy="1014729"/>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Match</a:t>
            </a:r>
            <a:r>
              <a:rPr lang="en-AU" sz="4400">
                <a:latin typeface="Arial"/>
                <a:cs typeface="Arial"/>
              </a:rPr>
              <a:t> the </a:t>
            </a:r>
            <a:r>
              <a:rPr lang="en-AU" sz="4400" b="1">
                <a:latin typeface="Arial"/>
                <a:cs typeface="Arial"/>
              </a:rPr>
              <a:t>triangle</a:t>
            </a:r>
            <a:r>
              <a:rPr lang="en-AU" sz="4400">
                <a:latin typeface="Arial"/>
                <a:cs typeface="Arial"/>
              </a:rPr>
              <a:t> with its </a:t>
            </a:r>
            <a:r>
              <a:rPr lang="en-AU" sz="4400" b="1">
                <a:latin typeface="Arial"/>
                <a:cs typeface="Arial"/>
              </a:rPr>
              <a:t>classification</a:t>
            </a:r>
            <a:r>
              <a:rPr lang="en-AU" sz="4400">
                <a:latin typeface="Arial"/>
                <a:cs typeface="Arial"/>
              </a:rPr>
              <a:t>.</a:t>
            </a:r>
          </a:p>
        </p:txBody>
      </p:sp>
      <p:sp>
        <p:nvSpPr>
          <p:cNvPr id="16" name="Picture Placeholder 10">
            <a:extLst>
              <a:ext uri="{FF2B5EF4-FFF2-40B4-BE49-F238E27FC236}">
                <a16:creationId xmlns:a16="http://schemas.microsoft.com/office/drawing/2014/main" id="{DFAEE3DC-7B2E-E7D3-1E85-7D942AEAA7EC}"/>
              </a:ext>
            </a:extLst>
          </p:cNvPr>
          <p:cNvSpPr txBox="1">
            <a:spLocks/>
          </p:cNvSpPr>
          <p:nvPr/>
        </p:nvSpPr>
        <p:spPr>
          <a:xfrm>
            <a:off x="326605" y="2884363"/>
            <a:ext cx="3518929" cy="319275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rabicPeriod"/>
            </a:pPr>
            <a:r>
              <a:rPr lang="en-AU" sz="4400">
                <a:latin typeface="Arial"/>
                <a:cs typeface="Arial"/>
              </a:rPr>
              <a:t>equilateral</a:t>
            </a:r>
          </a:p>
          <a:p>
            <a:pPr marL="742950" indent="-742950">
              <a:buFont typeface="+mj-lt"/>
              <a:buAutoNum type="arabicPeriod"/>
            </a:pPr>
            <a:r>
              <a:rPr lang="en-AU" sz="4400">
                <a:latin typeface="Arial"/>
                <a:cs typeface="Arial"/>
              </a:rPr>
              <a:t>isosceles</a:t>
            </a:r>
          </a:p>
          <a:p>
            <a:pPr marL="742950" indent="-742950">
              <a:buFont typeface="+mj-lt"/>
              <a:buAutoNum type="arabicPeriod"/>
            </a:pPr>
            <a:r>
              <a:rPr lang="en-AU" sz="4400">
                <a:latin typeface="Arial"/>
                <a:cs typeface="Arial"/>
              </a:rPr>
              <a:t>scalene</a:t>
            </a:r>
            <a:endParaRPr lang="en-US" sz="4400" b="1"/>
          </a:p>
        </p:txBody>
      </p:sp>
      <p:grpSp>
        <p:nvGrpSpPr>
          <p:cNvPr id="7" name="Group 6" descr="A blue box that states A. no equal sides and no equal angles&#10;">
            <a:extLst>
              <a:ext uri="{FF2B5EF4-FFF2-40B4-BE49-F238E27FC236}">
                <a16:creationId xmlns:a16="http://schemas.microsoft.com/office/drawing/2014/main" id="{A3DFBF36-F485-3DD3-BC87-29816CA3B8C4}"/>
              </a:ext>
            </a:extLst>
          </p:cNvPr>
          <p:cNvGrpSpPr/>
          <p:nvPr/>
        </p:nvGrpSpPr>
        <p:grpSpPr>
          <a:xfrm>
            <a:off x="5725067" y="2392185"/>
            <a:ext cx="6046149" cy="1109877"/>
            <a:chOff x="5813892" y="2395547"/>
            <a:chExt cx="5725770" cy="1109877"/>
          </a:xfrm>
        </p:grpSpPr>
        <p:sp>
          <p:nvSpPr>
            <p:cNvPr id="8" name="Rectangle: Rounded Corners 7">
              <a:extLst>
                <a:ext uri="{FF2B5EF4-FFF2-40B4-BE49-F238E27FC236}">
                  <a16:creationId xmlns:a16="http://schemas.microsoft.com/office/drawing/2014/main" id="{C017AB51-432A-D66B-C0B3-1385C7EFEFBC}"/>
                </a:ext>
              </a:extLst>
            </p:cNvPr>
            <p:cNvSpPr/>
            <p:nvPr/>
          </p:nvSpPr>
          <p:spPr>
            <a:xfrm>
              <a:off x="5813892" y="2395547"/>
              <a:ext cx="5623794" cy="11098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DC5FDE2D-D894-2F43-AF3E-65D5BAAE8EBB}"/>
                </a:ext>
              </a:extLst>
            </p:cNvPr>
            <p:cNvSpPr txBox="1"/>
            <p:nvPr/>
          </p:nvSpPr>
          <p:spPr>
            <a:xfrm>
              <a:off x="5991540" y="2661560"/>
              <a:ext cx="5548122" cy="577850"/>
            </a:xfrm>
            <a:prstGeom prst="rect">
              <a:avLst/>
            </a:prstGeom>
            <a:noFill/>
            <a:ln>
              <a:noFill/>
            </a:ln>
          </p:spPr>
          <p:txBody>
            <a:bodyPr wrap="square">
              <a:spAutoFit/>
            </a:bodyPr>
            <a:lstStyle/>
            <a:p>
              <a:pPr>
                <a:lnSpc>
                  <a:spcPct val="150000"/>
                </a:lnSpc>
              </a:pPr>
              <a:r>
                <a:rPr lang="en-AU" b="1" i="0">
                  <a:effectLst/>
                </a:rPr>
                <a:t>A. </a:t>
              </a:r>
              <a:r>
                <a:rPr lang="en-AU" b="0" i="0">
                  <a:effectLst/>
                </a:rPr>
                <a:t>no equal sides and no equal angles</a:t>
              </a:r>
              <a:endParaRPr lang="en-AU"/>
            </a:p>
          </p:txBody>
        </p:sp>
      </p:grpSp>
      <p:grpSp>
        <p:nvGrpSpPr>
          <p:cNvPr id="10" name="Group 9" descr="A blue box that states B. 3 equal sides and 3 equal angles&#10;">
            <a:extLst>
              <a:ext uri="{FF2B5EF4-FFF2-40B4-BE49-F238E27FC236}">
                <a16:creationId xmlns:a16="http://schemas.microsoft.com/office/drawing/2014/main" id="{B77E119E-0750-B789-C879-FAB37A4736F3}"/>
              </a:ext>
            </a:extLst>
          </p:cNvPr>
          <p:cNvGrpSpPr/>
          <p:nvPr/>
        </p:nvGrpSpPr>
        <p:grpSpPr>
          <a:xfrm>
            <a:off x="5700619" y="3847174"/>
            <a:ext cx="6245357" cy="1109877"/>
            <a:chOff x="5570793" y="3837208"/>
            <a:chExt cx="5801442" cy="1109877"/>
          </a:xfrm>
        </p:grpSpPr>
        <p:sp>
          <p:nvSpPr>
            <p:cNvPr id="11" name="Rectangle: Rounded Corners 10">
              <a:extLst>
                <a:ext uri="{FF2B5EF4-FFF2-40B4-BE49-F238E27FC236}">
                  <a16:creationId xmlns:a16="http://schemas.microsoft.com/office/drawing/2014/main" id="{DDC739A9-7198-D20D-1693-9384A45014B5}"/>
                </a:ext>
              </a:extLst>
            </p:cNvPr>
            <p:cNvSpPr/>
            <p:nvPr/>
          </p:nvSpPr>
          <p:spPr>
            <a:xfrm>
              <a:off x="5570793" y="3837208"/>
              <a:ext cx="5623794" cy="11098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7612A644-BF24-7D78-BDD6-1F19A1A6E9BC}"/>
                </a:ext>
              </a:extLst>
            </p:cNvPr>
            <p:cNvSpPr txBox="1"/>
            <p:nvPr/>
          </p:nvSpPr>
          <p:spPr>
            <a:xfrm>
              <a:off x="5748441" y="4103221"/>
              <a:ext cx="5623794" cy="577850"/>
            </a:xfrm>
            <a:prstGeom prst="rect">
              <a:avLst/>
            </a:prstGeom>
            <a:noFill/>
          </p:spPr>
          <p:txBody>
            <a:bodyPr wrap="square">
              <a:spAutoFit/>
            </a:bodyPr>
            <a:lstStyle/>
            <a:p>
              <a:pPr>
                <a:lnSpc>
                  <a:spcPct val="150000"/>
                </a:lnSpc>
              </a:pPr>
              <a:r>
                <a:rPr lang="en-AU" b="1" i="0">
                  <a:effectLst/>
                </a:rPr>
                <a:t>B. </a:t>
              </a:r>
              <a:r>
                <a:rPr lang="en-AU" b="0" i="0">
                  <a:effectLst/>
                </a:rPr>
                <a:t>3 equal sides and 3 equal angles</a:t>
              </a:r>
              <a:endParaRPr lang="en-AU"/>
            </a:p>
          </p:txBody>
        </p:sp>
      </p:grpSp>
      <p:grpSp>
        <p:nvGrpSpPr>
          <p:cNvPr id="13" name="Group 12" descr="A blue box that states C. 2 equal sides and 2 equal angles.">
            <a:extLst>
              <a:ext uri="{FF2B5EF4-FFF2-40B4-BE49-F238E27FC236}">
                <a16:creationId xmlns:a16="http://schemas.microsoft.com/office/drawing/2014/main" id="{6410145D-5CB3-C43E-F88D-B94B589B9717}"/>
              </a:ext>
            </a:extLst>
          </p:cNvPr>
          <p:cNvGrpSpPr/>
          <p:nvPr/>
        </p:nvGrpSpPr>
        <p:grpSpPr>
          <a:xfrm>
            <a:off x="5706150" y="5348438"/>
            <a:ext cx="6035166" cy="1109877"/>
            <a:chOff x="6182370" y="5189172"/>
            <a:chExt cx="5623794" cy="1109877"/>
          </a:xfrm>
        </p:grpSpPr>
        <p:sp>
          <p:nvSpPr>
            <p:cNvPr id="14" name="Rectangle: Rounded Corners 13">
              <a:extLst>
                <a:ext uri="{FF2B5EF4-FFF2-40B4-BE49-F238E27FC236}">
                  <a16:creationId xmlns:a16="http://schemas.microsoft.com/office/drawing/2014/main" id="{CE91C1D0-ED0A-0BED-B6C1-CCADEEA29EED}"/>
                </a:ext>
              </a:extLst>
            </p:cNvPr>
            <p:cNvSpPr/>
            <p:nvPr/>
          </p:nvSpPr>
          <p:spPr>
            <a:xfrm>
              <a:off x="6182370" y="5189172"/>
              <a:ext cx="5623794" cy="11098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3190BA01-7042-B3C2-A6F5-B142EF7E12F4}"/>
                </a:ext>
              </a:extLst>
            </p:cNvPr>
            <p:cNvSpPr txBox="1"/>
            <p:nvPr/>
          </p:nvSpPr>
          <p:spPr>
            <a:xfrm>
              <a:off x="6354780" y="5455185"/>
              <a:ext cx="5278165" cy="577850"/>
            </a:xfrm>
            <a:prstGeom prst="rect">
              <a:avLst/>
            </a:prstGeom>
            <a:noFill/>
          </p:spPr>
          <p:txBody>
            <a:bodyPr wrap="square">
              <a:spAutoFit/>
            </a:bodyPr>
            <a:lstStyle/>
            <a:p>
              <a:pPr>
                <a:lnSpc>
                  <a:spcPct val="150000"/>
                </a:lnSpc>
              </a:pPr>
              <a:r>
                <a:rPr lang="en-AU" b="1" i="0">
                  <a:effectLst/>
                </a:rPr>
                <a:t>C. </a:t>
              </a:r>
              <a:r>
                <a:rPr lang="en-AU" b="0" i="0">
                  <a:effectLst/>
                </a:rPr>
                <a:t>2 equal sides and 2 equal angles</a:t>
              </a:r>
              <a:endParaRPr lang="en-AU"/>
            </a:p>
          </p:txBody>
        </p:sp>
      </p:gr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C6A78DCF-1522-B899-09F2-50AB3F25CC3A}"/>
              </a:ext>
            </a:extLst>
          </p:cNvPr>
          <p:cNvSpPr txBox="1"/>
          <p:nvPr/>
        </p:nvSpPr>
        <p:spPr>
          <a:xfrm>
            <a:off x="340687" y="1050570"/>
            <a:ext cx="5128875" cy="2217082"/>
          </a:xfrm>
          <a:prstGeom prst="rect">
            <a:avLst/>
          </a:prstGeom>
          <a:noFill/>
        </p:spPr>
        <p:txBody>
          <a:bodyPr wrap="square">
            <a:spAutoFit/>
          </a:bodyPr>
          <a:lstStyle/>
          <a:p>
            <a:pPr algn="ctr" rtl="0" fontAlgn="base">
              <a:lnSpc>
                <a:spcPct val="150000"/>
              </a:lnSpc>
              <a:spcAft>
                <a:spcPts val="600"/>
              </a:spcAft>
              <a:buNone/>
            </a:pPr>
            <a:r>
              <a:rPr lang="en-AU" sz="3200" b="0" i="0" u="none" strike="noStrike">
                <a:solidFill>
                  <a:srgbClr val="000000"/>
                </a:solidFill>
                <a:effectLst/>
                <a:latin typeface="Arial" panose="020B0604020202020204" pitchFamily="34" charset="0"/>
              </a:rPr>
              <a:t>Record the </a:t>
            </a:r>
            <a:r>
              <a:rPr lang="en-AU" sz="3200" b="1" i="0" u="none" strike="noStrike">
                <a:solidFill>
                  <a:srgbClr val="000000"/>
                </a:solidFill>
                <a:effectLst/>
                <a:latin typeface="Arial" panose="020B0604020202020204" pitchFamily="34" charset="0"/>
              </a:rPr>
              <a:t>coordinates</a:t>
            </a:r>
            <a:r>
              <a:rPr lang="en-AU" sz="3200" b="0" i="0" u="none" strike="noStrike">
                <a:solidFill>
                  <a:srgbClr val="000000"/>
                </a:solidFill>
                <a:effectLst/>
                <a:latin typeface="Arial" panose="020B0604020202020204" pitchFamily="34" charset="0"/>
              </a:rPr>
              <a:t> of each dinosaur on the </a:t>
            </a:r>
            <a:r>
              <a:rPr lang="en-AU" sz="3200" b="1" i="0" u="none" strike="noStrike">
                <a:solidFill>
                  <a:srgbClr val="000000"/>
                </a:solidFill>
                <a:effectLst/>
                <a:latin typeface="Arial" panose="020B0604020202020204" pitchFamily="34" charset="0"/>
              </a:rPr>
              <a:t>Cartesian plane</a:t>
            </a:r>
            <a:r>
              <a:rPr lang="en-AU" sz="3200" b="0" i="0" u="none" strike="noStrike">
                <a:solidFill>
                  <a:srgbClr val="000000"/>
                </a:solidFill>
                <a:effectLst/>
                <a:latin typeface="Arial" panose="020B0604020202020204" pitchFamily="34" charset="0"/>
              </a:rPr>
              <a:t>.</a:t>
            </a:r>
            <a:r>
              <a:rPr lang="en-US" sz="3200" b="0" i="0">
                <a:solidFill>
                  <a:srgbClr val="22272B"/>
                </a:solidFill>
                <a:effectLst/>
                <a:latin typeface="Arial" panose="020B0604020202020204" pitchFamily="34" charset="0"/>
              </a:rPr>
              <a:t>​</a:t>
            </a:r>
          </a:p>
        </p:txBody>
      </p:sp>
      <p:grpSp>
        <p:nvGrpSpPr>
          <p:cNvPr id="19" name="Group 18" descr="a) green dino&#10;b) blue dino&#10;c) purple dino&#10;d) orange dino">
            <a:extLst>
              <a:ext uri="{FF2B5EF4-FFF2-40B4-BE49-F238E27FC236}">
                <a16:creationId xmlns:a16="http://schemas.microsoft.com/office/drawing/2014/main" id="{2E4D2F8C-586C-2558-6963-C5758B5CA23B}"/>
              </a:ext>
            </a:extLst>
          </p:cNvPr>
          <p:cNvGrpSpPr/>
          <p:nvPr/>
        </p:nvGrpSpPr>
        <p:grpSpPr>
          <a:xfrm>
            <a:off x="2281758" y="3311422"/>
            <a:ext cx="1246732" cy="3186578"/>
            <a:chOff x="1481475" y="2912545"/>
            <a:chExt cx="1246732" cy="3186578"/>
          </a:xfrm>
        </p:grpSpPr>
        <p:sp>
          <p:nvSpPr>
            <p:cNvPr id="10" name="TextBox 9">
              <a:extLst>
                <a:ext uri="{FF2B5EF4-FFF2-40B4-BE49-F238E27FC236}">
                  <a16:creationId xmlns:a16="http://schemas.microsoft.com/office/drawing/2014/main" id="{15452183-26F3-2CD1-62F1-365EC49BB516}"/>
                </a:ext>
              </a:extLst>
            </p:cNvPr>
            <p:cNvSpPr txBox="1"/>
            <p:nvPr/>
          </p:nvSpPr>
          <p:spPr>
            <a:xfrm>
              <a:off x="1481475" y="2912545"/>
              <a:ext cx="737850" cy="3186578"/>
            </a:xfrm>
            <a:prstGeom prst="rect">
              <a:avLst/>
            </a:prstGeom>
            <a:noFill/>
          </p:spPr>
          <p:txBody>
            <a:bodyPr wrap="square">
              <a:spAutoFit/>
            </a:bodyPr>
            <a:lstStyle/>
            <a:p>
              <a:pPr marL="514350" indent="-514350" rtl="0" fontAlgn="base">
                <a:lnSpc>
                  <a:spcPct val="150000"/>
                </a:lnSpc>
                <a:spcAft>
                  <a:spcPts val="600"/>
                </a:spcAft>
                <a:buFont typeface="+mj-lt"/>
                <a:buAutoNum type="alphaLcParenR"/>
              </a:pPr>
              <a:r>
                <a:rPr lang="en-AU" sz="3200" b="0" i="0" u="none" strike="noStrike">
                  <a:effectLst/>
                  <a:latin typeface="Arial" panose="020B0604020202020204" pitchFamily="34" charset="0"/>
                </a:rPr>
                <a:t> </a:t>
              </a:r>
              <a:endParaRPr lang="en-AU" sz="3200" b="0" i="0" u="none" strike="noStrike">
                <a:solidFill>
                  <a:srgbClr val="FF751F"/>
                </a:solidFill>
                <a:effectLst/>
                <a:latin typeface="Arial" panose="020B0604020202020204" pitchFamily="34" charset="0"/>
              </a:endParaRPr>
            </a:p>
            <a:p>
              <a:pPr marL="514350" indent="-514350" rtl="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p:txBody>
        </p:sp>
        <p:sp>
          <p:nvSpPr>
            <p:cNvPr id="15" name="Freeform 33">
              <a:extLst>
                <a:ext uri="{FF2B5EF4-FFF2-40B4-BE49-F238E27FC236}">
                  <a16:creationId xmlns:a16="http://schemas.microsoft.com/office/drawing/2014/main" id="{2A30CE32-9E69-2E7D-F0BE-FC6DF60EE600}"/>
                </a:ext>
              </a:extLst>
            </p:cNvPr>
            <p:cNvSpPr/>
            <p:nvPr/>
          </p:nvSpPr>
          <p:spPr>
            <a:xfrm>
              <a:off x="2028995" y="3135055"/>
              <a:ext cx="695239" cy="525542"/>
            </a:xfrm>
            <a:custGeom>
              <a:avLst/>
              <a:gdLst/>
              <a:ahLst/>
              <a:cxnLst/>
              <a:rect l="l" t="t" r="r" b="b"/>
              <a:pathLst>
                <a:path w="695239" h="525542">
                  <a:moveTo>
                    <a:pt x="0" y="0"/>
                  </a:moveTo>
                  <a:lnTo>
                    <a:pt x="695240" y="0"/>
                  </a:lnTo>
                  <a:lnTo>
                    <a:pt x="695240" y="525542"/>
                  </a:lnTo>
                  <a:lnTo>
                    <a:pt x="0" y="525542"/>
                  </a:lnTo>
                  <a:lnTo>
                    <a:pt x="0" y="0"/>
                  </a:lnTo>
                  <a:close/>
                </a:path>
              </a:pathLst>
            </a:custGeom>
            <a:blipFill>
              <a:blip r:embed="rId4"/>
              <a:stretch>
                <a:fillRect/>
              </a:stretch>
            </a:blipFill>
            <a:effectLst/>
          </p:spPr>
          <p:txBody>
            <a:bodyPr/>
            <a:lstStyle/>
            <a:p>
              <a:endParaRPr lang="en-AU"/>
            </a:p>
          </p:txBody>
        </p:sp>
        <p:sp>
          <p:nvSpPr>
            <p:cNvPr id="16" name="Freeform 34">
              <a:extLst>
                <a:ext uri="{FF2B5EF4-FFF2-40B4-BE49-F238E27FC236}">
                  <a16:creationId xmlns:a16="http://schemas.microsoft.com/office/drawing/2014/main" id="{1FD1FA44-DF36-2CF9-35C5-6227F5620217}"/>
                </a:ext>
              </a:extLst>
            </p:cNvPr>
            <p:cNvSpPr/>
            <p:nvPr/>
          </p:nvSpPr>
          <p:spPr>
            <a:xfrm>
              <a:off x="2028995" y="3883106"/>
              <a:ext cx="695239" cy="525542"/>
            </a:xfrm>
            <a:custGeom>
              <a:avLst/>
              <a:gdLst/>
              <a:ahLst/>
              <a:cxnLst/>
              <a:rect l="l" t="t" r="r" b="b"/>
              <a:pathLst>
                <a:path w="695239" h="525542">
                  <a:moveTo>
                    <a:pt x="0" y="0"/>
                  </a:moveTo>
                  <a:lnTo>
                    <a:pt x="695240" y="0"/>
                  </a:lnTo>
                  <a:lnTo>
                    <a:pt x="695240" y="525542"/>
                  </a:lnTo>
                  <a:lnTo>
                    <a:pt x="0" y="525542"/>
                  </a:lnTo>
                  <a:lnTo>
                    <a:pt x="0" y="0"/>
                  </a:lnTo>
                  <a:close/>
                </a:path>
              </a:pathLst>
            </a:custGeom>
            <a:blipFill>
              <a:blip r:embed="rId5"/>
              <a:stretch>
                <a:fillRect/>
              </a:stretch>
            </a:blipFill>
          </p:spPr>
          <p:txBody>
            <a:bodyPr/>
            <a:lstStyle/>
            <a:p>
              <a:endParaRPr lang="en-AU"/>
            </a:p>
          </p:txBody>
        </p:sp>
        <p:sp>
          <p:nvSpPr>
            <p:cNvPr id="17" name="Freeform 35">
              <a:extLst>
                <a:ext uri="{FF2B5EF4-FFF2-40B4-BE49-F238E27FC236}">
                  <a16:creationId xmlns:a16="http://schemas.microsoft.com/office/drawing/2014/main" id="{76DEF018-A626-101A-CD9E-73E3E1D7924B}"/>
                </a:ext>
              </a:extLst>
            </p:cNvPr>
            <p:cNvSpPr/>
            <p:nvPr/>
          </p:nvSpPr>
          <p:spPr>
            <a:xfrm>
              <a:off x="2032968" y="4728343"/>
              <a:ext cx="695239" cy="525542"/>
            </a:xfrm>
            <a:custGeom>
              <a:avLst/>
              <a:gdLst/>
              <a:ahLst/>
              <a:cxnLst/>
              <a:rect l="l" t="t" r="r" b="b"/>
              <a:pathLst>
                <a:path w="695239" h="525542">
                  <a:moveTo>
                    <a:pt x="0" y="0"/>
                  </a:moveTo>
                  <a:lnTo>
                    <a:pt x="695239" y="0"/>
                  </a:lnTo>
                  <a:lnTo>
                    <a:pt x="695239" y="525542"/>
                  </a:lnTo>
                  <a:lnTo>
                    <a:pt x="0" y="525542"/>
                  </a:lnTo>
                  <a:lnTo>
                    <a:pt x="0" y="0"/>
                  </a:lnTo>
                  <a:close/>
                </a:path>
              </a:pathLst>
            </a:custGeom>
            <a:blipFill>
              <a:blip r:embed="rId6"/>
              <a:stretch>
                <a:fillRect/>
              </a:stretch>
            </a:blipFill>
          </p:spPr>
          <p:txBody>
            <a:bodyPr/>
            <a:lstStyle/>
            <a:p>
              <a:endParaRPr lang="en-AU"/>
            </a:p>
          </p:txBody>
        </p:sp>
        <p:sp>
          <p:nvSpPr>
            <p:cNvPr id="18" name="Freeform 36">
              <a:extLst>
                <a:ext uri="{FF2B5EF4-FFF2-40B4-BE49-F238E27FC236}">
                  <a16:creationId xmlns:a16="http://schemas.microsoft.com/office/drawing/2014/main" id="{A7A14364-1FE1-B323-0344-BA7892843C2B}"/>
                </a:ext>
              </a:extLst>
            </p:cNvPr>
            <p:cNvSpPr/>
            <p:nvPr/>
          </p:nvSpPr>
          <p:spPr>
            <a:xfrm>
              <a:off x="2028996" y="5573580"/>
              <a:ext cx="695239" cy="525542"/>
            </a:xfrm>
            <a:custGeom>
              <a:avLst/>
              <a:gdLst/>
              <a:ahLst/>
              <a:cxnLst/>
              <a:rect l="l" t="t" r="r" b="b"/>
              <a:pathLst>
                <a:path w="695239" h="525542">
                  <a:moveTo>
                    <a:pt x="0" y="0"/>
                  </a:moveTo>
                  <a:lnTo>
                    <a:pt x="695239" y="0"/>
                  </a:lnTo>
                  <a:lnTo>
                    <a:pt x="695239" y="525542"/>
                  </a:lnTo>
                  <a:lnTo>
                    <a:pt x="0" y="525542"/>
                  </a:lnTo>
                  <a:lnTo>
                    <a:pt x="0" y="0"/>
                  </a:lnTo>
                  <a:close/>
                </a:path>
              </a:pathLst>
            </a:custGeom>
            <a:blipFill>
              <a:blip r:embed="rId7"/>
              <a:stretch>
                <a:fillRect/>
              </a:stretch>
            </a:blipFill>
          </p:spPr>
          <p:txBody>
            <a:bodyPr/>
            <a:lstStyle/>
            <a:p>
              <a:endParaRPr lang="en-AU"/>
            </a:p>
          </p:txBody>
        </p:sp>
      </p:grpSp>
      <p:pic>
        <p:nvPicPr>
          <p:cNvPr id="7" name="Picture 6" descr="A coordinate grid is shown with the x-axis running horizontally and the y-axis running vertically, both labelled and marked with positive and negative numbers. Four dinosaurs are placed at different points on the grid.">
            <a:extLst>
              <a:ext uri="{FF2B5EF4-FFF2-40B4-BE49-F238E27FC236}">
                <a16:creationId xmlns:a16="http://schemas.microsoft.com/office/drawing/2014/main" id="{63A4E047-E688-B64C-6DDA-4286134D1C66}"/>
              </a:ext>
            </a:extLst>
          </p:cNvPr>
          <p:cNvPicPr>
            <a:picLocks noChangeAspect="1"/>
          </p:cNvPicPr>
          <p:nvPr/>
        </p:nvPicPr>
        <p:blipFill>
          <a:blip r:embed="rId8"/>
          <a:srcRect l="2778" t="3918" r="3293" b="4987"/>
          <a:stretch>
            <a:fillRect/>
          </a:stretch>
        </p:blipFill>
        <p:spPr>
          <a:xfrm>
            <a:off x="6273649" y="1323534"/>
            <a:ext cx="5210351" cy="5053155"/>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before and after decimals numbers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8759BD9C-644B-AB73-E63C-2CCDF35BB75C}"/>
              </a:ext>
            </a:extLst>
          </p:cNvPr>
          <p:cNvGraphicFramePr>
            <a:graphicFrameLocks noGrp="1"/>
          </p:cNvGraphicFramePr>
          <p:nvPr>
            <p:extLst>
              <p:ext uri="{D42A27DB-BD31-4B8C-83A1-F6EECF244321}">
                <p14:modId xmlns:p14="http://schemas.microsoft.com/office/powerpoint/2010/main" val="3283739938"/>
              </p:ext>
            </p:extLst>
          </p:nvPr>
        </p:nvGraphicFramePr>
        <p:xfrm>
          <a:off x="1098658" y="1418645"/>
          <a:ext cx="9994683" cy="4913965"/>
        </p:xfrm>
        <a:graphic>
          <a:graphicData uri="http://schemas.openxmlformats.org/drawingml/2006/table">
            <a:tbl>
              <a:tblPr firstRow="1" bandRow="1">
                <a:tableStyleId>{5A111915-BE36-4E01-A7E5-04B1672EAD32}</a:tableStyleId>
              </a:tblPr>
              <a:tblGrid>
                <a:gridCol w="3331561">
                  <a:extLst>
                    <a:ext uri="{9D8B030D-6E8A-4147-A177-3AD203B41FA5}">
                      <a16:colId xmlns:a16="http://schemas.microsoft.com/office/drawing/2014/main" val="2856736052"/>
                    </a:ext>
                  </a:extLst>
                </a:gridCol>
                <a:gridCol w="3331561">
                  <a:extLst>
                    <a:ext uri="{9D8B030D-6E8A-4147-A177-3AD203B41FA5}">
                      <a16:colId xmlns:a16="http://schemas.microsoft.com/office/drawing/2014/main" val="3692385410"/>
                    </a:ext>
                  </a:extLst>
                </a:gridCol>
                <a:gridCol w="3331561">
                  <a:extLst>
                    <a:ext uri="{9D8B030D-6E8A-4147-A177-3AD203B41FA5}">
                      <a16:colId xmlns:a16="http://schemas.microsoft.com/office/drawing/2014/main" val="4202215151"/>
                    </a:ext>
                  </a:extLst>
                </a:gridCol>
              </a:tblGrid>
              <a:tr h="701995">
                <a:tc>
                  <a:txBody>
                    <a:bodyPr/>
                    <a:lstStyle/>
                    <a:p>
                      <a:pPr algn="ctr"/>
                      <a:r>
                        <a:rPr lang="en-AU" sz="2800" b="0">
                          <a:solidFill>
                            <a:schemeClr val="bg1"/>
                          </a:solidFill>
                          <a:latin typeface="+mn-lt"/>
                        </a:rPr>
                        <a:t>Before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solidFill>
                  </a:tcPr>
                </a:tc>
                <a:tc>
                  <a:txBody>
                    <a:bodyPr/>
                    <a:lstStyle/>
                    <a:p>
                      <a:pPr algn="ctr"/>
                      <a:r>
                        <a:rPr lang="en-AU" sz="2800" b="0">
                          <a:solidFill>
                            <a:schemeClr val="bg1"/>
                          </a:solidFill>
                          <a:latin typeface="+mn-lt"/>
                        </a:rPr>
                        <a:t>Decimal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solidFill>
                  </a:tcPr>
                </a:tc>
                <a:tc>
                  <a:txBody>
                    <a:bodyPr/>
                    <a:lstStyle/>
                    <a:p>
                      <a:pPr algn="ctr"/>
                      <a:r>
                        <a:rPr lang="en-AU" sz="2800" b="0">
                          <a:solidFill>
                            <a:schemeClr val="bg1"/>
                          </a:solidFill>
                          <a:latin typeface="+mn-lt"/>
                        </a:rPr>
                        <a:t>After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916216563"/>
                  </a:ext>
                </a:extLst>
              </a:tr>
              <a:tr h="701995">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AU" sz="2800">
                          <a:latin typeface="+mn-lt"/>
                        </a:rPr>
                        <a:t>0.125</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3764839"/>
                  </a:ext>
                </a:extLst>
              </a:tr>
              <a:tr h="701995">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r>
                        <a:rPr lang="en-AU" sz="2800">
                          <a:latin typeface="+mn-lt"/>
                        </a:rPr>
                        <a:t>2.065</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904785024"/>
                  </a:ext>
                </a:extLst>
              </a:tr>
              <a:tr h="701995">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AU" sz="2800">
                          <a:latin typeface="+mn-lt"/>
                        </a:rPr>
                        <a:t>1.988</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0854745"/>
                  </a:ext>
                </a:extLst>
              </a:tr>
              <a:tr h="701995">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r>
                        <a:rPr lang="en-AU" sz="2800">
                          <a:latin typeface="+mn-lt"/>
                        </a:rPr>
                        <a:t>6.107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22965567"/>
                  </a:ext>
                </a:extLst>
              </a:tr>
              <a:tr h="701995">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AU" sz="2800">
                          <a:latin typeface="+mn-lt"/>
                        </a:rPr>
                        <a:t>0.002</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414356"/>
                  </a:ext>
                </a:extLst>
              </a:tr>
              <a:tr h="701995">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r>
                        <a:rPr lang="en-AU" sz="2800">
                          <a:latin typeface="+mn-lt"/>
                        </a:rPr>
                        <a:t>0.999</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endParaRPr lang="en-AU" sz="2800">
                        <a:latin typeface="+mn-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04449222"/>
                  </a:ext>
                </a:extLst>
              </a:tr>
            </a:tbl>
          </a:graphicData>
        </a:graphic>
      </p:graphicFrame>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grpSp>
        <p:nvGrpSpPr>
          <p:cNvPr id="19" name="Group 18" descr="6, 4, 5, 7">
            <a:extLst>
              <a:ext uri="{FF2B5EF4-FFF2-40B4-BE49-F238E27FC236}">
                <a16:creationId xmlns:a16="http://schemas.microsoft.com/office/drawing/2014/main" id="{2CDD088A-667E-3A7A-ADA1-4D24C3D5E2A8}"/>
              </a:ext>
            </a:extLst>
          </p:cNvPr>
          <p:cNvGrpSpPr/>
          <p:nvPr/>
        </p:nvGrpSpPr>
        <p:grpSpPr>
          <a:xfrm>
            <a:off x="2473633" y="863285"/>
            <a:ext cx="7533967" cy="1437422"/>
            <a:chOff x="1932167" y="937405"/>
            <a:chExt cx="9784734" cy="1437422"/>
          </a:xfrm>
        </p:grpSpPr>
        <p:sp>
          <p:nvSpPr>
            <p:cNvPr id="7" name="Rectangle 6">
              <a:extLst>
                <a:ext uri="{FF2B5EF4-FFF2-40B4-BE49-F238E27FC236}">
                  <a16:creationId xmlns:a16="http://schemas.microsoft.com/office/drawing/2014/main" id="{59432BB6-D099-615E-4AA5-9C82DB94EA26}"/>
                </a:ext>
              </a:extLst>
            </p:cNvPr>
            <p:cNvSpPr/>
            <p:nvPr/>
          </p:nvSpPr>
          <p:spPr>
            <a:xfrm>
              <a:off x="1932167" y="1137037"/>
              <a:ext cx="9784734" cy="1237790"/>
            </a:xfrm>
            <a:prstGeom prst="rect">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17">
              <a:extLst>
                <a:ext uri="{FF2B5EF4-FFF2-40B4-BE49-F238E27FC236}">
                  <a16:creationId xmlns:a16="http://schemas.microsoft.com/office/drawing/2014/main" id="{E8887C4A-EE4A-1F87-457F-BD2F330CD272}"/>
                </a:ext>
              </a:extLst>
            </p:cNvPr>
            <p:cNvSpPr txBox="1">
              <a:spLocks/>
            </p:cNvSpPr>
            <p:nvPr/>
          </p:nvSpPr>
          <p:spPr>
            <a:xfrm>
              <a:off x="3149596" y="937405"/>
              <a:ext cx="7349875" cy="135378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Aft>
                  <a:spcPts val="0"/>
                </a:spcAft>
              </a:pPr>
              <a:r>
                <a:rPr lang="en-US" sz="6600">
                  <a:solidFill>
                    <a:srgbClr val="146CFD"/>
                  </a:solidFill>
                </a:rPr>
                <a:t>6, 4, 5, 7</a:t>
              </a:r>
            </a:p>
            <a:p>
              <a:pPr algn="ctr">
                <a:spcAft>
                  <a:spcPts val="0"/>
                </a:spcAft>
              </a:pPr>
              <a:endParaRPr lang="en-US" sz="4400"/>
            </a:p>
          </p:txBody>
        </p:sp>
      </p:gr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197584" y="2587674"/>
            <a:ext cx="11796831" cy="1936238"/>
          </a:xfrm>
        </p:spPr>
        <p:txBody>
          <a:bodyPr/>
          <a:lstStyle/>
          <a:p>
            <a:pPr algn="ctr"/>
            <a:r>
              <a:rPr lang="en-US" sz="4400"/>
              <a:t>The </a:t>
            </a:r>
            <a:r>
              <a:rPr lang="en-US" sz="4400" b="1"/>
              <a:t>largest decimal </a:t>
            </a:r>
            <a:r>
              <a:rPr lang="en-US" sz="4400"/>
              <a:t>that can be made by arranging these numbers is:</a:t>
            </a:r>
          </a:p>
          <a:p>
            <a:pPr algn="ctr"/>
            <a:endParaRPr lang="en-US" sz="4400"/>
          </a:p>
        </p:txBody>
      </p:sp>
      <p:sp>
        <p:nvSpPr>
          <p:cNvPr id="9" name="TextBox 8">
            <a:extLst>
              <a:ext uri="{FF2B5EF4-FFF2-40B4-BE49-F238E27FC236}">
                <a16:creationId xmlns:a16="http://schemas.microsoft.com/office/drawing/2014/main" id="{AF13415D-5ABE-8CE1-9EF6-D83C6FF3BAC9}"/>
              </a:ext>
            </a:extLst>
          </p:cNvPr>
          <p:cNvSpPr txBox="1"/>
          <p:nvPr/>
        </p:nvSpPr>
        <p:spPr>
          <a:xfrm>
            <a:off x="1325323" y="51587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 Placeholder 17">
            <a:extLst>
              <a:ext uri="{FF2B5EF4-FFF2-40B4-BE49-F238E27FC236}">
                <a16:creationId xmlns:a16="http://schemas.microsoft.com/office/drawing/2014/main" id="{5B7CCB53-BF6C-E55B-7DE8-1B12B8A49F4C}"/>
              </a:ext>
            </a:extLst>
          </p:cNvPr>
          <p:cNvSpPr txBox="1">
            <a:spLocks/>
          </p:cNvSpPr>
          <p:nvPr/>
        </p:nvSpPr>
        <p:spPr>
          <a:xfrm>
            <a:off x="792139" y="5649150"/>
            <a:ext cx="1586743" cy="84885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4.567</a:t>
            </a:r>
          </a:p>
        </p:txBody>
      </p:sp>
      <p:sp>
        <p:nvSpPr>
          <p:cNvPr id="10" name="TextBox 9">
            <a:extLst>
              <a:ext uri="{FF2B5EF4-FFF2-40B4-BE49-F238E27FC236}">
                <a16:creationId xmlns:a16="http://schemas.microsoft.com/office/drawing/2014/main" id="{06BFC4FD-CDBD-E74C-2B4B-957276E8D806}"/>
              </a:ext>
            </a:extLst>
          </p:cNvPr>
          <p:cNvSpPr txBox="1"/>
          <p:nvPr/>
        </p:nvSpPr>
        <p:spPr>
          <a:xfrm>
            <a:off x="4329296" y="51587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5" name="Text Placeholder 17">
            <a:extLst>
              <a:ext uri="{FF2B5EF4-FFF2-40B4-BE49-F238E27FC236}">
                <a16:creationId xmlns:a16="http://schemas.microsoft.com/office/drawing/2014/main" id="{9D20DAFA-AF69-CC57-8E83-A631CA7DE957}"/>
              </a:ext>
            </a:extLst>
          </p:cNvPr>
          <p:cNvSpPr txBox="1">
            <a:spLocks/>
          </p:cNvSpPr>
          <p:nvPr/>
        </p:nvSpPr>
        <p:spPr>
          <a:xfrm>
            <a:off x="3796112" y="5649150"/>
            <a:ext cx="1586743" cy="84885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6.574</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333269" y="51587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7">
            <a:extLst>
              <a:ext uri="{FF2B5EF4-FFF2-40B4-BE49-F238E27FC236}">
                <a16:creationId xmlns:a16="http://schemas.microsoft.com/office/drawing/2014/main" id="{8E0BFBE7-58DC-B095-285A-9A6F087E1117}"/>
              </a:ext>
            </a:extLst>
          </p:cNvPr>
          <p:cNvSpPr txBox="1">
            <a:spLocks/>
          </p:cNvSpPr>
          <p:nvPr/>
        </p:nvSpPr>
        <p:spPr>
          <a:xfrm>
            <a:off x="6800085" y="5649150"/>
            <a:ext cx="1586743" cy="84885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7.654</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337243" y="51587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7" name="Text Placeholder 17">
            <a:extLst>
              <a:ext uri="{FF2B5EF4-FFF2-40B4-BE49-F238E27FC236}">
                <a16:creationId xmlns:a16="http://schemas.microsoft.com/office/drawing/2014/main" id="{328CC40A-6A5B-F043-0EA0-68889B1D1A45}"/>
              </a:ext>
            </a:extLst>
          </p:cNvPr>
          <p:cNvSpPr txBox="1">
            <a:spLocks/>
          </p:cNvSpPr>
          <p:nvPr/>
        </p:nvSpPr>
        <p:spPr>
          <a:xfrm>
            <a:off x="9804058" y="5649150"/>
            <a:ext cx="1586743" cy="84885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7.645</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741B6F3-6E89-7AAF-E80C-431667322157}"/>
              </a:ext>
            </a:extLst>
          </p:cNvPr>
          <p:cNvSpPr txBox="1">
            <a:spLocks/>
          </p:cNvSpPr>
          <p:nvPr/>
        </p:nvSpPr>
        <p:spPr>
          <a:xfrm>
            <a:off x="586033" y="1634645"/>
            <a:ext cx="11019934" cy="119839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Sofia ran</a:t>
            </a:r>
            <a:r>
              <a:rPr lang="en-AU" sz="4400" b="1"/>
              <a:t> 2600 m</a:t>
            </a:r>
            <a:r>
              <a:rPr lang="en-AU" sz="4400"/>
              <a:t>.</a:t>
            </a:r>
          </a:p>
        </p:txBody>
      </p:sp>
      <p:sp>
        <p:nvSpPr>
          <p:cNvPr id="4" name="Text Placeholder 5">
            <a:extLst>
              <a:ext uri="{FF2B5EF4-FFF2-40B4-BE49-F238E27FC236}">
                <a16:creationId xmlns:a16="http://schemas.microsoft.com/office/drawing/2014/main" id="{82E55968-F52A-1BC0-3DD6-4284E0F9205D}"/>
              </a:ext>
            </a:extLst>
          </p:cNvPr>
          <p:cNvSpPr txBox="1">
            <a:spLocks/>
          </p:cNvSpPr>
          <p:nvPr/>
        </p:nvSpPr>
        <p:spPr>
          <a:xfrm>
            <a:off x="586033" y="3425765"/>
            <a:ext cx="11019934" cy="119839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How many </a:t>
            </a:r>
            <a:r>
              <a:rPr lang="en-AU" sz="4400" b="1"/>
              <a:t>kilometres</a:t>
            </a:r>
            <a:r>
              <a:rPr lang="en-AU" sz="4400"/>
              <a:t> did she run?</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565297A8-56AE-97C4-7F94-45F7A58C23EF}"/>
              </a:ext>
            </a:extLst>
          </p:cNvPr>
          <p:cNvSpPr txBox="1">
            <a:spLocks/>
          </p:cNvSpPr>
          <p:nvPr/>
        </p:nvSpPr>
        <p:spPr>
          <a:xfrm>
            <a:off x="0" y="4318000"/>
            <a:ext cx="6573519" cy="151103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7200"/>
              <a:t>24 × 45 =</a:t>
            </a:r>
          </a:p>
        </p:txBody>
      </p:sp>
      <p:sp>
        <p:nvSpPr>
          <p:cNvPr id="7" name="Text Placeholder 5">
            <a:extLst>
              <a:ext uri="{FF2B5EF4-FFF2-40B4-BE49-F238E27FC236}">
                <a16:creationId xmlns:a16="http://schemas.microsoft.com/office/drawing/2014/main" id="{385B1D8D-277D-032D-F3AA-90B394EBDFF2}"/>
              </a:ext>
            </a:extLst>
          </p:cNvPr>
          <p:cNvSpPr txBox="1">
            <a:spLocks/>
          </p:cNvSpPr>
          <p:nvPr/>
        </p:nvSpPr>
        <p:spPr>
          <a:xfrm>
            <a:off x="646157" y="1934570"/>
            <a:ext cx="4897476" cy="121085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the </a:t>
            </a:r>
            <a:r>
              <a:rPr lang="en-AU" sz="4400" b="1"/>
              <a:t>area model </a:t>
            </a:r>
            <a:r>
              <a:rPr lang="en-AU" sz="4400"/>
              <a:t>to</a:t>
            </a:r>
            <a:r>
              <a:rPr lang="en-AU" sz="4400" b="1"/>
              <a:t> </a:t>
            </a:r>
            <a:r>
              <a:rPr lang="en-AU" sz="4400"/>
              <a:t>solve:</a:t>
            </a:r>
          </a:p>
        </p:txBody>
      </p:sp>
      <p:pic>
        <p:nvPicPr>
          <p:cNvPr id="9" name="Picture 8" descr="An area model divided into four smaller rectangles by dashed lines. The top is split into 40 and 5, and the side is split into 4 and 20. Inside each section are the partial products: 4 × 40, 4 × 5, 20 × 40, and 20 × 5. To the right, a vertical algorithm shows 45 multiplied by 24.">
            <a:extLst>
              <a:ext uri="{FF2B5EF4-FFF2-40B4-BE49-F238E27FC236}">
                <a16:creationId xmlns:a16="http://schemas.microsoft.com/office/drawing/2014/main" id="{167AB370-4F32-C71F-43CD-6A8D0D77F489}"/>
              </a:ext>
            </a:extLst>
          </p:cNvPr>
          <p:cNvPicPr>
            <a:picLocks noChangeAspect="1"/>
          </p:cNvPicPr>
          <p:nvPr/>
        </p:nvPicPr>
        <p:blipFill>
          <a:blip r:embed="rId4"/>
          <a:srcRect l="7084" t="8425" r="37238" b="7517"/>
          <a:stretch>
            <a:fillRect/>
          </a:stretch>
        </p:blipFill>
        <p:spPr>
          <a:xfrm>
            <a:off x="6648368" y="1486823"/>
            <a:ext cx="4911712" cy="4641539"/>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E71648C5-71F4-8614-14DC-CC782B95E440}"/>
              </a:ext>
            </a:extLst>
          </p:cNvPr>
          <p:cNvSpPr txBox="1">
            <a:spLocks/>
          </p:cNvSpPr>
          <p:nvPr/>
        </p:nvSpPr>
        <p:spPr>
          <a:xfrm>
            <a:off x="99801" y="957152"/>
            <a:ext cx="11992397" cy="1014729"/>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Match</a:t>
            </a:r>
            <a:r>
              <a:rPr lang="en-AU" sz="4400">
                <a:latin typeface="Arial"/>
                <a:cs typeface="Arial"/>
              </a:rPr>
              <a:t> the </a:t>
            </a:r>
            <a:r>
              <a:rPr lang="en-AU" sz="4400" b="1">
                <a:latin typeface="Arial"/>
                <a:cs typeface="Arial"/>
              </a:rPr>
              <a:t>quadrilateral</a:t>
            </a:r>
            <a:r>
              <a:rPr lang="en-AU" sz="4400">
                <a:latin typeface="Arial"/>
                <a:cs typeface="Arial"/>
              </a:rPr>
              <a:t> with its </a:t>
            </a:r>
            <a:r>
              <a:rPr lang="en-AU" sz="4400" b="1">
                <a:latin typeface="Arial"/>
                <a:cs typeface="Arial"/>
              </a:rPr>
              <a:t>classification</a:t>
            </a:r>
            <a:r>
              <a:rPr lang="en-AU" sz="4400">
                <a:latin typeface="Arial"/>
                <a:cs typeface="Arial"/>
              </a:rPr>
              <a:t>.</a:t>
            </a:r>
          </a:p>
        </p:txBody>
      </p:sp>
      <p:sp>
        <p:nvSpPr>
          <p:cNvPr id="16" name="Picture Placeholder 10">
            <a:extLst>
              <a:ext uri="{FF2B5EF4-FFF2-40B4-BE49-F238E27FC236}">
                <a16:creationId xmlns:a16="http://schemas.microsoft.com/office/drawing/2014/main" id="{B8977781-87E4-673C-8111-3A46517B1245}"/>
              </a:ext>
            </a:extLst>
          </p:cNvPr>
          <p:cNvSpPr txBox="1">
            <a:spLocks/>
          </p:cNvSpPr>
          <p:nvPr/>
        </p:nvSpPr>
        <p:spPr>
          <a:xfrm>
            <a:off x="360000" y="2355001"/>
            <a:ext cx="4107831" cy="384002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rabicPeriod"/>
            </a:pPr>
            <a:r>
              <a:rPr lang="en-AU" sz="3600">
                <a:latin typeface="Arial"/>
                <a:cs typeface="Arial"/>
              </a:rPr>
              <a:t>square</a:t>
            </a:r>
          </a:p>
          <a:p>
            <a:pPr marL="742950" indent="-742950">
              <a:buFont typeface="+mj-lt"/>
              <a:buAutoNum type="arabicPeriod"/>
            </a:pPr>
            <a:r>
              <a:rPr lang="en-AU" sz="3600">
                <a:latin typeface="Arial"/>
                <a:cs typeface="Arial"/>
              </a:rPr>
              <a:t>rectangle</a:t>
            </a:r>
          </a:p>
          <a:p>
            <a:pPr marL="742950" indent="-742950">
              <a:buFont typeface="+mj-lt"/>
              <a:buAutoNum type="arabicPeriod"/>
            </a:pPr>
            <a:r>
              <a:rPr lang="en-AU" sz="3600">
                <a:latin typeface="Arial"/>
                <a:cs typeface="Arial"/>
              </a:rPr>
              <a:t>parallelogram</a:t>
            </a:r>
          </a:p>
          <a:p>
            <a:pPr marL="742950" indent="-742950">
              <a:buFont typeface="+mj-lt"/>
              <a:buAutoNum type="arabicPeriod"/>
            </a:pPr>
            <a:r>
              <a:rPr lang="en-AU" sz="3600">
                <a:latin typeface="Arial"/>
                <a:cs typeface="Arial"/>
              </a:rPr>
              <a:t>rhombus</a:t>
            </a:r>
            <a:endParaRPr lang="en-US" sz="3600" b="1"/>
          </a:p>
        </p:txBody>
      </p:sp>
      <p:grpSp>
        <p:nvGrpSpPr>
          <p:cNvPr id="27" name="Group 26" descr="A blue box that states A. 2 pairs of equal sides and 2 pairs of equal angles.">
            <a:extLst>
              <a:ext uri="{FF2B5EF4-FFF2-40B4-BE49-F238E27FC236}">
                <a16:creationId xmlns:a16="http://schemas.microsoft.com/office/drawing/2014/main" id="{9243E283-D92E-21ED-1026-848112772C47}"/>
              </a:ext>
            </a:extLst>
          </p:cNvPr>
          <p:cNvGrpSpPr/>
          <p:nvPr/>
        </p:nvGrpSpPr>
        <p:grpSpPr>
          <a:xfrm>
            <a:off x="5819246" y="2152946"/>
            <a:ext cx="5938467" cy="1014730"/>
            <a:chOff x="5819246" y="2152946"/>
            <a:chExt cx="5938467" cy="1014730"/>
          </a:xfrm>
        </p:grpSpPr>
        <p:sp>
          <p:nvSpPr>
            <p:cNvPr id="8" name="Rectangle: Rounded Corners 7">
              <a:extLst>
                <a:ext uri="{FF2B5EF4-FFF2-40B4-BE49-F238E27FC236}">
                  <a16:creationId xmlns:a16="http://schemas.microsoft.com/office/drawing/2014/main" id="{D84BC14E-0621-4DFB-DD23-1F67E00D9B0B}"/>
                </a:ext>
              </a:extLst>
            </p:cNvPr>
            <p:cNvSpPr/>
            <p:nvPr/>
          </p:nvSpPr>
          <p:spPr>
            <a:xfrm>
              <a:off x="5819246" y="2152946"/>
              <a:ext cx="5938467" cy="101473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descr="A blue box that states A. 2 pairs of equal sides and 2 pairs of equal angles.">
              <a:extLst>
                <a:ext uri="{FF2B5EF4-FFF2-40B4-BE49-F238E27FC236}">
                  <a16:creationId xmlns:a16="http://schemas.microsoft.com/office/drawing/2014/main" id="{37094461-EB53-6AE1-A9CC-E7BD1A89CB45}"/>
                </a:ext>
              </a:extLst>
            </p:cNvPr>
            <p:cNvSpPr txBox="1"/>
            <p:nvPr/>
          </p:nvSpPr>
          <p:spPr>
            <a:xfrm>
              <a:off x="6006834" y="2241642"/>
              <a:ext cx="5548593" cy="830997"/>
            </a:xfrm>
            <a:prstGeom prst="rect">
              <a:avLst/>
            </a:prstGeom>
            <a:noFill/>
            <a:ln>
              <a:noFill/>
            </a:ln>
          </p:spPr>
          <p:txBody>
            <a:bodyPr wrap="square">
              <a:spAutoFit/>
            </a:bodyPr>
            <a:lstStyle/>
            <a:p>
              <a:r>
                <a:rPr lang="en-AU" b="1" i="0">
                  <a:effectLst/>
                </a:rPr>
                <a:t>A. </a:t>
              </a:r>
              <a:r>
                <a:rPr lang="en-AU" b="0" i="0">
                  <a:effectLst/>
                </a:rPr>
                <a:t>2 pairs of equal sides and 2 pairs of equal angles</a:t>
              </a:r>
              <a:endParaRPr lang="en-AU"/>
            </a:p>
          </p:txBody>
        </p:sp>
      </p:grpSp>
      <p:grpSp>
        <p:nvGrpSpPr>
          <p:cNvPr id="26" name="Group 25" descr="A blue box that states B. 4 equal sides and 4 equal angles.">
            <a:extLst>
              <a:ext uri="{FF2B5EF4-FFF2-40B4-BE49-F238E27FC236}">
                <a16:creationId xmlns:a16="http://schemas.microsoft.com/office/drawing/2014/main" id="{FA33EA0B-7E99-F09F-DBEE-CEF34B4C42B8}"/>
              </a:ext>
            </a:extLst>
          </p:cNvPr>
          <p:cNvGrpSpPr/>
          <p:nvPr/>
        </p:nvGrpSpPr>
        <p:grpSpPr>
          <a:xfrm>
            <a:off x="5819246" y="3260283"/>
            <a:ext cx="5938467" cy="1014730"/>
            <a:chOff x="5819246" y="3260283"/>
            <a:chExt cx="5938467" cy="1014730"/>
          </a:xfrm>
        </p:grpSpPr>
        <p:sp>
          <p:nvSpPr>
            <p:cNvPr id="18" name="Rectangle: Rounded Corners 17">
              <a:extLst>
                <a:ext uri="{FF2B5EF4-FFF2-40B4-BE49-F238E27FC236}">
                  <a16:creationId xmlns:a16="http://schemas.microsoft.com/office/drawing/2014/main" id="{D07DE094-8B80-94C4-563A-69A665A4EE14}"/>
                </a:ext>
              </a:extLst>
            </p:cNvPr>
            <p:cNvSpPr/>
            <p:nvPr/>
          </p:nvSpPr>
          <p:spPr>
            <a:xfrm>
              <a:off x="5819246" y="3260283"/>
              <a:ext cx="5938467" cy="101473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BD274AD5-9386-514F-248C-DB5D677A0BA5}"/>
                </a:ext>
              </a:extLst>
            </p:cNvPr>
            <p:cNvSpPr txBox="1"/>
            <p:nvPr/>
          </p:nvSpPr>
          <p:spPr>
            <a:xfrm>
              <a:off x="6010508" y="3536815"/>
              <a:ext cx="5555941" cy="461665"/>
            </a:xfrm>
            <a:prstGeom prst="rect">
              <a:avLst/>
            </a:prstGeom>
            <a:noFill/>
            <a:ln>
              <a:noFill/>
            </a:ln>
          </p:spPr>
          <p:txBody>
            <a:bodyPr wrap="square">
              <a:spAutoFit/>
            </a:bodyPr>
            <a:lstStyle/>
            <a:p>
              <a:r>
                <a:rPr lang="en-AU" b="1" i="0">
                  <a:effectLst/>
                </a:rPr>
                <a:t>B. </a:t>
              </a:r>
              <a:r>
                <a:rPr lang="en-AU"/>
                <a:t>4 equal sides and 4 equal angles</a:t>
              </a:r>
            </a:p>
          </p:txBody>
        </p:sp>
      </p:grpSp>
      <p:grpSp>
        <p:nvGrpSpPr>
          <p:cNvPr id="28" name="Group 27" descr="A blue box that states C. 2 pairs of equal sides and 4 equal angles.">
            <a:extLst>
              <a:ext uri="{FF2B5EF4-FFF2-40B4-BE49-F238E27FC236}">
                <a16:creationId xmlns:a16="http://schemas.microsoft.com/office/drawing/2014/main" id="{54236CD3-4976-A60F-9662-09478D4915D9}"/>
              </a:ext>
            </a:extLst>
          </p:cNvPr>
          <p:cNvGrpSpPr/>
          <p:nvPr/>
        </p:nvGrpSpPr>
        <p:grpSpPr>
          <a:xfrm>
            <a:off x="5819246" y="4367620"/>
            <a:ext cx="5938467" cy="1014730"/>
            <a:chOff x="5819246" y="4367620"/>
            <a:chExt cx="5938467" cy="1014730"/>
          </a:xfrm>
        </p:grpSpPr>
        <p:sp>
          <p:nvSpPr>
            <p:cNvPr id="21" name="Rectangle: Rounded Corners 20">
              <a:extLst>
                <a:ext uri="{FF2B5EF4-FFF2-40B4-BE49-F238E27FC236}">
                  <a16:creationId xmlns:a16="http://schemas.microsoft.com/office/drawing/2014/main" id="{5F452FF3-E9EA-C2E9-D275-5A71B12AB450}"/>
                </a:ext>
              </a:extLst>
            </p:cNvPr>
            <p:cNvSpPr/>
            <p:nvPr/>
          </p:nvSpPr>
          <p:spPr>
            <a:xfrm>
              <a:off x="5819246" y="4367620"/>
              <a:ext cx="5938467" cy="101473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TextBox 21">
              <a:extLst>
                <a:ext uri="{FF2B5EF4-FFF2-40B4-BE49-F238E27FC236}">
                  <a16:creationId xmlns:a16="http://schemas.microsoft.com/office/drawing/2014/main" id="{2033C248-D573-74FE-34CA-5D2996649119}"/>
                </a:ext>
              </a:extLst>
            </p:cNvPr>
            <p:cNvSpPr txBox="1"/>
            <p:nvPr/>
          </p:nvSpPr>
          <p:spPr>
            <a:xfrm>
              <a:off x="6006834" y="4470621"/>
              <a:ext cx="5452232" cy="830997"/>
            </a:xfrm>
            <a:prstGeom prst="rect">
              <a:avLst/>
            </a:prstGeom>
            <a:noFill/>
            <a:ln>
              <a:noFill/>
            </a:ln>
          </p:spPr>
          <p:txBody>
            <a:bodyPr wrap="square">
              <a:spAutoFit/>
            </a:bodyPr>
            <a:lstStyle/>
            <a:p>
              <a:r>
                <a:rPr lang="en-AU" b="1" i="0">
                  <a:effectLst/>
                </a:rPr>
                <a:t>C. </a:t>
              </a:r>
              <a:r>
                <a:rPr lang="en-AU"/>
                <a:t>2 pairs of equal sides and 4 equal angles</a:t>
              </a:r>
            </a:p>
          </p:txBody>
        </p:sp>
      </p:grpSp>
      <p:grpSp>
        <p:nvGrpSpPr>
          <p:cNvPr id="29" name="Group 28" descr="A blue box that states D. 4 equal sides and 2 pairs of equal angles.">
            <a:extLst>
              <a:ext uri="{FF2B5EF4-FFF2-40B4-BE49-F238E27FC236}">
                <a16:creationId xmlns:a16="http://schemas.microsoft.com/office/drawing/2014/main" id="{DCA85825-3DB0-BECD-3465-EEE1BDEEBD4B}"/>
              </a:ext>
            </a:extLst>
          </p:cNvPr>
          <p:cNvGrpSpPr/>
          <p:nvPr/>
        </p:nvGrpSpPr>
        <p:grpSpPr>
          <a:xfrm>
            <a:off x="5819246" y="5474960"/>
            <a:ext cx="5938467" cy="1014730"/>
            <a:chOff x="5819246" y="5474960"/>
            <a:chExt cx="5938467" cy="1014730"/>
          </a:xfrm>
        </p:grpSpPr>
        <p:sp>
          <p:nvSpPr>
            <p:cNvPr id="24" name="Rectangle: Rounded Corners 23">
              <a:extLst>
                <a:ext uri="{FF2B5EF4-FFF2-40B4-BE49-F238E27FC236}">
                  <a16:creationId xmlns:a16="http://schemas.microsoft.com/office/drawing/2014/main" id="{4CC9F528-23B2-195A-E868-7B5316E8ED11}"/>
                </a:ext>
              </a:extLst>
            </p:cNvPr>
            <p:cNvSpPr/>
            <p:nvPr/>
          </p:nvSpPr>
          <p:spPr>
            <a:xfrm>
              <a:off x="5819246" y="5474960"/>
              <a:ext cx="5938467" cy="1014730"/>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0003C589-6C6D-7B12-120F-764F8D669015}"/>
                </a:ext>
              </a:extLst>
            </p:cNvPr>
            <p:cNvSpPr txBox="1"/>
            <p:nvPr/>
          </p:nvSpPr>
          <p:spPr>
            <a:xfrm>
              <a:off x="6006834" y="5573814"/>
              <a:ext cx="5555941" cy="830997"/>
            </a:xfrm>
            <a:prstGeom prst="rect">
              <a:avLst/>
            </a:prstGeom>
            <a:noFill/>
            <a:ln>
              <a:noFill/>
            </a:ln>
          </p:spPr>
          <p:txBody>
            <a:bodyPr wrap="square">
              <a:spAutoFit/>
            </a:bodyPr>
            <a:lstStyle/>
            <a:p>
              <a:r>
                <a:rPr lang="en-AU" b="1" i="0">
                  <a:effectLst/>
                </a:rPr>
                <a:t>D. </a:t>
              </a:r>
              <a:r>
                <a:rPr lang="en-AU" b="0" i="0">
                  <a:effectLst/>
                </a:rPr>
                <a:t>4 equal sides and 2 pairs of equal angles</a:t>
              </a:r>
              <a:endParaRPr lang="en-AU"/>
            </a:p>
          </p:txBody>
        </p:sp>
      </p:gr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AD0E665-9FB5-9667-64E4-A44C789C7AB5}"/>
              </a:ext>
            </a:extLst>
          </p:cNvPr>
          <p:cNvSpPr txBox="1"/>
          <p:nvPr/>
        </p:nvSpPr>
        <p:spPr>
          <a:xfrm>
            <a:off x="836983" y="1184780"/>
            <a:ext cx="6319732" cy="1939884"/>
          </a:xfrm>
          <a:prstGeom prst="rect">
            <a:avLst/>
          </a:prstGeom>
          <a:noFill/>
        </p:spPr>
        <p:txBody>
          <a:bodyPr wrap="square" lIns="0" tIns="0" rIns="0" bIns="0" rtlCol="0">
            <a:noAutofit/>
          </a:bodyPr>
          <a:lstStyle/>
          <a:p>
            <a:pPr algn="ctr">
              <a:lnSpc>
                <a:spcPct val="150000"/>
              </a:lnSpc>
            </a:pPr>
            <a:r>
              <a:rPr lang="en-AU" sz="4400" b="1">
                <a:latin typeface="+mj-lt"/>
              </a:rPr>
              <a:t>Identify</a:t>
            </a:r>
            <a:r>
              <a:rPr lang="en-AU" sz="4400">
                <a:latin typeface="+mj-lt"/>
              </a:rPr>
              <a:t> the</a:t>
            </a:r>
          </a:p>
          <a:p>
            <a:pPr marL="742950" indent="-742950" algn="ctr">
              <a:lnSpc>
                <a:spcPct val="150000"/>
              </a:lnSpc>
              <a:buFont typeface="+mj-lt"/>
              <a:buAutoNum type="alphaLcParenR"/>
            </a:pPr>
            <a:r>
              <a:rPr lang="en-AU" sz="4400" b="1">
                <a:latin typeface="+mj-lt"/>
              </a:rPr>
              <a:t>regular </a:t>
            </a:r>
            <a:r>
              <a:rPr lang="en-AU" sz="4400">
                <a:latin typeface="+mj-lt"/>
              </a:rPr>
              <a:t>polygon</a:t>
            </a:r>
          </a:p>
          <a:p>
            <a:pPr marL="742950" indent="-742950" algn="ctr">
              <a:lnSpc>
                <a:spcPct val="150000"/>
              </a:lnSpc>
              <a:buFont typeface="+mj-lt"/>
              <a:buAutoNum type="alphaLcParenR"/>
            </a:pPr>
            <a:r>
              <a:rPr lang="en-AU" sz="4400" b="1">
                <a:latin typeface="+mj-lt"/>
              </a:rPr>
              <a:t>irregular </a:t>
            </a:r>
            <a:r>
              <a:rPr lang="en-AU" sz="4400">
                <a:latin typeface="+mj-lt"/>
              </a:rPr>
              <a:t>polygon</a:t>
            </a:r>
          </a:p>
        </p:txBody>
      </p:sp>
      <p:sp>
        <p:nvSpPr>
          <p:cNvPr id="4" name="TextBox 3">
            <a:extLst>
              <a:ext uri="{FF2B5EF4-FFF2-40B4-BE49-F238E27FC236}">
                <a16:creationId xmlns:a16="http://schemas.microsoft.com/office/drawing/2014/main" id="{21F87B6A-F49A-4FFE-33FF-49D2B12D5A04}"/>
              </a:ext>
            </a:extLst>
          </p:cNvPr>
          <p:cNvSpPr txBox="1"/>
          <p:nvPr/>
        </p:nvSpPr>
        <p:spPr>
          <a:xfrm>
            <a:off x="8298746" y="108910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1.</a:t>
            </a:r>
          </a:p>
        </p:txBody>
      </p:sp>
      <p:pic>
        <p:nvPicPr>
          <p:cNvPr id="11" name="Picture 10" descr="A, a closed shape made of straight edges forms a stepped outline with several right-angle turns.">
            <a:extLst>
              <a:ext uri="{FF2B5EF4-FFF2-40B4-BE49-F238E27FC236}">
                <a16:creationId xmlns:a16="http://schemas.microsoft.com/office/drawing/2014/main" id="{5916006D-A448-9E71-8F39-0686D4073468}"/>
              </a:ext>
            </a:extLst>
          </p:cNvPr>
          <p:cNvPicPr>
            <a:picLocks noChangeAspect="1"/>
          </p:cNvPicPr>
          <p:nvPr/>
        </p:nvPicPr>
        <p:blipFill>
          <a:blip r:embed="rId4"/>
          <a:stretch>
            <a:fillRect/>
          </a:stretch>
        </p:blipFill>
        <p:spPr>
          <a:xfrm>
            <a:off x="8979779" y="1089102"/>
            <a:ext cx="2002687" cy="2679376"/>
          </a:xfrm>
          <a:prstGeom prst="rect">
            <a:avLst/>
          </a:prstGeom>
        </p:spPr>
      </p:pic>
      <p:sp>
        <p:nvSpPr>
          <p:cNvPr id="5" name="TextBox 4">
            <a:extLst>
              <a:ext uri="{FF2B5EF4-FFF2-40B4-BE49-F238E27FC236}">
                <a16:creationId xmlns:a16="http://schemas.microsoft.com/office/drawing/2014/main" id="{1FACA813-C31F-A896-4655-9FC5AD77A273}"/>
              </a:ext>
            </a:extLst>
          </p:cNvPr>
          <p:cNvSpPr txBox="1"/>
          <p:nvPr/>
        </p:nvSpPr>
        <p:spPr>
          <a:xfrm>
            <a:off x="8489875" y="39833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2.</a:t>
            </a:r>
          </a:p>
        </p:txBody>
      </p:sp>
      <p:pic>
        <p:nvPicPr>
          <p:cNvPr id="13" name="Picture 12" descr="B, a closed shape has eight straight sides of equal length.">
            <a:extLst>
              <a:ext uri="{FF2B5EF4-FFF2-40B4-BE49-F238E27FC236}">
                <a16:creationId xmlns:a16="http://schemas.microsoft.com/office/drawing/2014/main" id="{BB168D48-BC30-7706-4834-03AB1E4278C4}"/>
              </a:ext>
            </a:extLst>
          </p:cNvPr>
          <p:cNvPicPr>
            <a:picLocks noChangeAspect="1"/>
          </p:cNvPicPr>
          <p:nvPr/>
        </p:nvPicPr>
        <p:blipFill>
          <a:blip r:embed="rId5"/>
          <a:stretch>
            <a:fillRect/>
          </a:stretch>
        </p:blipFill>
        <p:spPr>
          <a:xfrm>
            <a:off x="9027789" y="3983354"/>
            <a:ext cx="2558229" cy="2532646"/>
          </a:xfrm>
          <a:prstGeom prst="rect">
            <a:avLst/>
          </a:prstGeom>
        </p:spPr>
      </p:pic>
      <p:sp>
        <p:nvSpPr>
          <p:cNvPr id="9" name="TextBox 8">
            <a:extLst>
              <a:ext uri="{FF2B5EF4-FFF2-40B4-BE49-F238E27FC236}">
                <a16:creationId xmlns:a16="http://schemas.microsoft.com/office/drawing/2014/main" id="{F7B9727F-5DAB-5640-436B-4F531D0779D6}"/>
              </a:ext>
            </a:extLst>
          </p:cNvPr>
          <p:cNvSpPr txBox="1"/>
          <p:nvPr/>
        </p:nvSpPr>
        <p:spPr>
          <a:xfrm>
            <a:off x="953887" y="5177767"/>
            <a:ext cx="6550585" cy="751110"/>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making thousandths</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table for students to record decimals. There are 5 columns labelled tens, ones, decimal point, tenths, hundredths and thousandths. There are the number cards to be used below which are 1, 2, 3, 4 and 5.">
            <a:extLst>
              <a:ext uri="{FF2B5EF4-FFF2-40B4-BE49-F238E27FC236}">
                <a16:creationId xmlns:a16="http://schemas.microsoft.com/office/drawing/2014/main" id="{6D719601-DCFA-CCB3-A973-CFF9B0560EFD}"/>
              </a:ext>
            </a:extLst>
          </p:cNvPr>
          <p:cNvPicPr>
            <a:picLocks noChangeAspect="1"/>
          </p:cNvPicPr>
          <p:nvPr/>
        </p:nvPicPr>
        <p:blipFill>
          <a:blip r:embed="rId4"/>
          <a:stretch>
            <a:fillRect/>
          </a:stretch>
        </p:blipFill>
        <p:spPr>
          <a:xfrm>
            <a:off x="769176" y="1205258"/>
            <a:ext cx="10653648" cy="5400742"/>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474481" y="1928096"/>
            <a:ext cx="11243037" cy="893226"/>
          </a:xfrm>
        </p:spPr>
        <p:txBody>
          <a:bodyPr/>
          <a:lstStyle/>
          <a:p>
            <a:pPr algn="ctr"/>
            <a:r>
              <a:rPr lang="en-AU" sz="4400"/>
              <a:t>0.725 is </a:t>
            </a:r>
            <a:r>
              <a:rPr lang="en-AU" sz="4400" b="1"/>
              <a:t>greater than </a:t>
            </a:r>
            <a:r>
              <a:rPr lang="en-AU" sz="4400"/>
              <a:t>0.072</a:t>
            </a:r>
          </a:p>
        </p:txBody>
      </p:sp>
      <p:graphicFrame>
        <p:nvGraphicFramePr>
          <p:cNvPr id="7" name="Table 6">
            <a:extLst>
              <a:ext uri="{FF2B5EF4-FFF2-40B4-BE49-F238E27FC236}">
                <a16:creationId xmlns:a16="http://schemas.microsoft.com/office/drawing/2014/main" id="{86BEEBF2-1387-D7DF-96A6-E016E52B5DE5}"/>
              </a:ext>
            </a:extLst>
          </p:cNvPr>
          <p:cNvGraphicFramePr>
            <a:graphicFrameLocks noGrp="1"/>
          </p:cNvGraphicFramePr>
          <p:nvPr>
            <p:extLst>
              <p:ext uri="{D42A27DB-BD31-4B8C-83A1-F6EECF244321}">
                <p14:modId xmlns:p14="http://schemas.microsoft.com/office/powerpoint/2010/main" val="1098523669"/>
              </p:ext>
            </p:extLst>
          </p:nvPr>
        </p:nvGraphicFramePr>
        <p:xfrm>
          <a:off x="2557461" y="435977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5" name="TextBox 4">
            <a:extLst>
              <a:ext uri="{FF2B5EF4-FFF2-40B4-BE49-F238E27FC236}">
                <a16:creationId xmlns:a16="http://schemas.microsoft.com/office/drawing/2014/main" id="{D452C33B-0953-D899-22FE-1C47B7D88D57}"/>
              </a:ext>
            </a:extLst>
          </p:cNvPr>
          <p:cNvSpPr txBox="1"/>
          <p:nvPr/>
        </p:nvSpPr>
        <p:spPr>
          <a:xfrm>
            <a:off x="698629" y="5609567"/>
            <a:ext cx="11145371" cy="751110"/>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07A52888-FC02-65FA-59D6-BF0938142A96}"/>
              </a:ext>
            </a:extLst>
          </p:cNvPr>
          <p:cNvSpPr txBox="1">
            <a:spLocks/>
          </p:cNvSpPr>
          <p:nvPr/>
        </p:nvSpPr>
        <p:spPr>
          <a:xfrm>
            <a:off x="840829" y="1188707"/>
            <a:ext cx="10510342" cy="109537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What is the </a:t>
            </a:r>
            <a:r>
              <a:rPr lang="en-AU" sz="4400" b="1"/>
              <a:t>perimeter</a:t>
            </a:r>
            <a:r>
              <a:rPr lang="en-AU" sz="4400"/>
              <a:t> of each shape?</a:t>
            </a:r>
          </a:p>
        </p:txBody>
      </p:sp>
      <p:pic>
        <p:nvPicPr>
          <p:cNvPr id="11" name="Picture 10" descr="A, a square has each side measuring 3 metres.">
            <a:extLst>
              <a:ext uri="{FF2B5EF4-FFF2-40B4-BE49-F238E27FC236}">
                <a16:creationId xmlns:a16="http://schemas.microsoft.com/office/drawing/2014/main" id="{333729D9-958B-9B50-9681-6048F2300FA6}"/>
              </a:ext>
            </a:extLst>
          </p:cNvPr>
          <p:cNvPicPr>
            <a:picLocks noChangeAspect="1"/>
          </p:cNvPicPr>
          <p:nvPr/>
        </p:nvPicPr>
        <p:blipFill>
          <a:blip r:embed="rId4"/>
          <a:stretch>
            <a:fillRect/>
          </a:stretch>
        </p:blipFill>
        <p:spPr>
          <a:xfrm>
            <a:off x="566816" y="3752826"/>
            <a:ext cx="2424233" cy="3091334"/>
          </a:xfrm>
          <a:prstGeom prst="rect">
            <a:avLst/>
          </a:prstGeom>
        </p:spPr>
      </p:pic>
      <p:sp>
        <p:nvSpPr>
          <p:cNvPr id="7" name="TextBox 6">
            <a:extLst>
              <a:ext uri="{FF2B5EF4-FFF2-40B4-BE49-F238E27FC236}">
                <a16:creationId xmlns:a16="http://schemas.microsoft.com/office/drawing/2014/main" id="{C4745486-4E75-50DC-88E6-064B4663BFD2}"/>
              </a:ext>
            </a:extLst>
          </p:cNvPr>
          <p:cNvSpPr txBox="1"/>
          <p:nvPr/>
        </p:nvSpPr>
        <p:spPr>
          <a:xfrm>
            <a:off x="4668238" y="31845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pic>
        <p:nvPicPr>
          <p:cNvPr id="13" name="Picture 12" descr="B, a triangle has a base labelled 5 metres.">
            <a:extLst>
              <a:ext uri="{FF2B5EF4-FFF2-40B4-BE49-F238E27FC236}">
                <a16:creationId xmlns:a16="http://schemas.microsoft.com/office/drawing/2014/main" id="{4CF138AF-8F81-5BA5-798B-D2FA4693EDD3}"/>
              </a:ext>
            </a:extLst>
          </p:cNvPr>
          <p:cNvPicPr>
            <a:picLocks noChangeAspect="1"/>
          </p:cNvPicPr>
          <p:nvPr/>
        </p:nvPicPr>
        <p:blipFill>
          <a:blip r:embed="rId5"/>
          <a:stretch>
            <a:fillRect/>
          </a:stretch>
        </p:blipFill>
        <p:spPr>
          <a:xfrm>
            <a:off x="4668238" y="3923221"/>
            <a:ext cx="2389286" cy="2845223"/>
          </a:xfrm>
          <a:prstGeom prst="rect">
            <a:avLst/>
          </a:prstGeom>
        </p:spPr>
      </p:pic>
      <p:sp>
        <p:nvSpPr>
          <p:cNvPr id="9" name="TextBox 8">
            <a:extLst>
              <a:ext uri="{FF2B5EF4-FFF2-40B4-BE49-F238E27FC236}">
                <a16:creationId xmlns:a16="http://schemas.microsoft.com/office/drawing/2014/main" id="{E84F2142-78DA-2303-EC54-DE90BA3FDD6B}"/>
              </a:ext>
            </a:extLst>
          </p:cNvPr>
          <p:cNvSpPr txBox="1"/>
          <p:nvPr/>
        </p:nvSpPr>
        <p:spPr>
          <a:xfrm>
            <a:off x="8826047" y="31845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15" name="Picture 14" descr="C, a rectangle has a horizontal side labelled 7 metres and a vertical side labelled 2 metres.">
            <a:extLst>
              <a:ext uri="{FF2B5EF4-FFF2-40B4-BE49-F238E27FC236}">
                <a16:creationId xmlns:a16="http://schemas.microsoft.com/office/drawing/2014/main" id="{C589A02A-B70D-0C8C-4DBA-84D38B426131}"/>
              </a:ext>
            </a:extLst>
          </p:cNvPr>
          <p:cNvPicPr>
            <a:picLocks noChangeAspect="1"/>
          </p:cNvPicPr>
          <p:nvPr/>
        </p:nvPicPr>
        <p:blipFill>
          <a:blip r:embed="rId6"/>
          <a:stretch>
            <a:fillRect/>
          </a:stretch>
        </p:blipFill>
        <p:spPr>
          <a:xfrm>
            <a:off x="7934794" y="4161381"/>
            <a:ext cx="3909206" cy="2274224"/>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4" name="TextBox 3">
            <a:extLst>
              <a:ext uri="{FF2B5EF4-FFF2-40B4-BE49-F238E27FC236}">
                <a16:creationId xmlns:a16="http://schemas.microsoft.com/office/drawing/2014/main" id="{1C164214-396F-7DD5-4192-65D9542EE6C7}"/>
              </a:ext>
            </a:extLst>
          </p:cNvPr>
          <p:cNvSpPr txBox="1"/>
          <p:nvPr/>
        </p:nvSpPr>
        <p:spPr>
          <a:xfrm>
            <a:off x="601762" y="31845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AA5667C1-88E2-8039-DD26-322A1BF28DE4}"/>
              </a:ext>
            </a:extLst>
          </p:cNvPr>
          <p:cNvSpPr txBox="1">
            <a:spLocks/>
          </p:cNvSpPr>
          <p:nvPr/>
        </p:nvSpPr>
        <p:spPr>
          <a:xfrm>
            <a:off x="243348" y="1511596"/>
            <a:ext cx="5300286" cy="419085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the </a:t>
            </a:r>
            <a:r>
              <a:rPr lang="en-AU" sz="4400" b="1"/>
              <a:t>area model </a:t>
            </a:r>
            <a:r>
              <a:rPr lang="en-AU" sz="4400"/>
              <a:t>to solve:</a:t>
            </a:r>
          </a:p>
        </p:txBody>
      </p:sp>
      <p:sp>
        <p:nvSpPr>
          <p:cNvPr id="5" name="Text Placeholder 5">
            <a:extLst>
              <a:ext uri="{FF2B5EF4-FFF2-40B4-BE49-F238E27FC236}">
                <a16:creationId xmlns:a16="http://schemas.microsoft.com/office/drawing/2014/main" id="{E9099564-72E0-4BB6-A199-285C1FB8AAC4}"/>
              </a:ext>
            </a:extLst>
          </p:cNvPr>
          <p:cNvSpPr txBox="1">
            <a:spLocks/>
          </p:cNvSpPr>
          <p:nvPr/>
        </p:nvSpPr>
        <p:spPr>
          <a:xfrm>
            <a:off x="889237" y="3835374"/>
            <a:ext cx="4008507" cy="151103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7200"/>
              <a:t>32 × 54</a:t>
            </a:r>
          </a:p>
        </p:txBody>
      </p:sp>
      <p:pic>
        <p:nvPicPr>
          <p:cNvPr id="10" name="Picture 9" descr="An area model is divided into four smaller rectangles by dashed lines. The top is split into 50 and 4, and the side is split into 2 and 30.">
            <a:extLst>
              <a:ext uri="{FF2B5EF4-FFF2-40B4-BE49-F238E27FC236}">
                <a16:creationId xmlns:a16="http://schemas.microsoft.com/office/drawing/2014/main" id="{61C861AC-BBD7-EFC1-6354-5E577EE4C0C5}"/>
              </a:ext>
            </a:extLst>
          </p:cNvPr>
          <p:cNvPicPr>
            <a:picLocks noChangeAspect="1"/>
          </p:cNvPicPr>
          <p:nvPr/>
        </p:nvPicPr>
        <p:blipFill>
          <a:blip r:embed="rId4"/>
          <a:stretch>
            <a:fillRect/>
          </a:stretch>
        </p:blipFill>
        <p:spPr>
          <a:xfrm>
            <a:off x="5950916" y="1657112"/>
            <a:ext cx="5589729" cy="4127053"/>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E78612ED-0815-396A-F394-4CA0779B2D86}"/>
              </a:ext>
            </a:extLst>
          </p:cNvPr>
          <p:cNvSpPr txBox="1">
            <a:spLocks/>
          </p:cNvSpPr>
          <p:nvPr/>
        </p:nvSpPr>
        <p:spPr>
          <a:xfrm>
            <a:off x="614253" y="976369"/>
            <a:ext cx="10719298" cy="114179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the </a:t>
            </a:r>
            <a:r>
              <a:rPr lang="en-AU" sz="4400" b="1"/>
              <a:t>area model </a:t>
            </a:r>
            <a:r>
              <a:rPr lang="en-AU" sz="4400"/>
              <a:t>to </a:t>
            </a:r>
            <a:r>
              <a:rPr lang="en-AU" sz="4400" b="1"/>
              <a:t>calculate</a:t>
            </a:r>
            <a:r>
              <a:rPr lang="en-AU" sz="4400"/>
              <a:t> the </a:t>
            </a:r>
            <a:r>
              <a:rPr lang="en-AU" sz="4400" b="1"/>
              <a:t>area</a:t>
            </a:r>
            <a:r>
              <a:rPr lang="en-AU" sz="4400"/>
              <a:t> of this </a:t>
            </a:r>
            <a:r>
              <a:rPr lang="en-AU" sz="4400" b="1"/>
              <a:t>rectangle:</a:t>
            </a:r>
            <a:endParaRPr lang="en-AU" sz="4400"/>
          </a:p>
        </p:txBody>
      </p:sp>
      <p:pic>
        <p:nvPicPr>
          <p:cNvPr id="8" name="Picture 7" descr="A four-sided shape with opposite sides equal, showing a horizontal side labelled 32 metres and a vertical side labelled 8 metres.">
            <a:extLst>
              <a:ext uri="{FF2B5EF4-FFF2-40B4-BE49-F238E27FC236}">
                <a16:creationId xmlns:a16="http://schemas.microsoft.com/office/drawing/2014/main" id="{2D94A537-7053-DA2C-7192-BEC557E1B541}"/>
              </a:ext>
            </a:extLst>
          </p:cNvPr>
          <p:cNvPicPr>
            <a:picLocks noChangeAspect="1"/>
          </p:cNvPicPr>
          <p:nvPr/>
        </p:nvPicPr>
        <p:blipFill>
          <a:blip r:embed="rId4"/>
          <a:stretch>
            <a:fillRect/>
          </a:stretch>
        </p:blipFill>
        <p:spPr>
          <a:xfrm>
            <a:off x="2579913" y="3330733"/>
            <a:ext cx="7032171" cy="3167267"/>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289AE5AE-B65D-0DD3-2B57-78856341D090}"/>
              </a:ext>
            </a:extLst>
          </p:cNvPr>
          <p:cNvSpPr txBox="1">
            <a:spLocks/>
          </p:cNvSpPr>
          <p:nvPr/>
        </p:nvSpPr>
        <p:spPr>
          <a:xfrm>
            <a:off x="1276636" y="2114846"/>
            <a:ext cx="5300286" cy="204803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Draw</a:t>
            </a:r>
            <a:r>
              <a:rPr lang="en-AU" sz="4400"/>
              <a:t> the </a:t>
            </a:r>
            <a:r>
              <a:rPr lang="en-AU" sz="4400" b="1"/>
              <a:t>net</a:t>
            </a:r>
            <a:r>
              <a:rPr lang="en-AU" sz="4400"/>
              <a:t> for this </a:t>
            </a:r>
            <a:r>
              <a:rPr lang="en-AU" sz="4400" b="1"/>
              <a:t>three-dimensional shape</a:t>
            </a:r>
            <a:r>
              <a:rPr lang="en-AU" sz="4400"/>
              <a:t>.</a:t>
            </a:r>
          </a:p>
        </p:txBody>
      </p:sp>
      <p:sp>
        <p:nvSpPr>
          <p:cNvPr id="7" name="Freeform 4" descr="A three-dimensional solid with a square base and three triangular faces that slope upward to meet at a single point at the top. ">
            <a:extLst>
              <a:ext uri="{FF2B5EF4-FFF2-40B4-BE49-F238E27FC236}">
                <a16:creationId xmlns:a16="http://schemas.microsoft.com/office/drawing/2014/main" id="{9D8D6052-C5DF-A16E-B0D0-E44DCFB57C34}"/>
              </a:ext>
            </a:extLst>
          </p:cNvPr>
          <p:cNvSpPr/>
          <p:nvPr/>
        </p:nvSpPr>
        <p:spPr>
          <a:xfrm>
            <a:off x="6983322" y="1415477"/>
            <a:ext cx="4248842" cy="4562515"/>
          </a:xfrm>
          <a:custGeom>
            <a:avLst/>
            <a:gdLst/>
            <a:ahLst/>
            <a:cxnLst/>
            <a:rect l="l" t="t" r="r" b="b"/>
            <a:pathLst>
              <a:path w="2816100" h="3024000">
                <a:moveTo>
                  <a:pt x="0" y="0"/>
                </a:moveTo>
                <a:lnTo>
                  <a:pt x="2816100" y="0"/>
                </a:lnTo>
                <a:lnTo>
                  <a:pt x="2816100" y="3024000"/>
                </a:lnTo>
                <a:lnTo>
                  <a:pt x="0" y="3024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decimals in the place value system</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cartoon of a school-aged boy with brown hair stands in front of a whiteboard, smiling with his hands on his hips and wearing a shirt, tie and backpack. A speech bubble above him reads, “2 truths and one lie. Which one is a lie?”&#10;&#10;On the whiteboard beside him are three statements written in blue:&#10;&#10;“0.5 is the same as 0.50”&#10;“0.3 is greater than 0.03”&#10;“0.4 is the same as 40 tenths”">
            <a:extLst>
              <a:ext uri="{FF2B5EF4-FFF2-40B4-BE49-F238E27FC236}">
                <a16:creationId xmlns:a16="http://schemas.microsoft.com/office/drawing/2014/main" id="{9B602585-99D5-54A1-A757-877D1B873BCE}"/>
              </a:ext>
            </a:extLst>
          </p:cNvPr>
          <p:cNvPicPr>
            <a:picLocks noChangeAspect="1"/>
          </p:cNvPicPr>
          <p:nvPr/>
        </p:nvPicPr>
        <p:blipFill>
          <a:blip r:embed="rId4"/>
          <a:stretch>
            <a:fillRect/>
          </a:stretch>
        </p:blipFill>
        <p:spPr>
          <a:xfrm>
            <a:off x="480929" y="894495"/>
            <a:ext cx="10824105" cy="5711505"/>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112736" y="1259292"/>
            <a:ext cx="12162791" cy="1872628"/>
          </a:xfrm>
        </p:spPr>
        <p:txBody>
          <a:bodyPr/>
          <a:lstStyle/>
          <a:p>
            <a:pPr algn="ctr"/>
            <a:r>
              <a:rPr lang="en-US" sz="4000"/>
              <a:t>Which </a:t>
            </a:r>
            <a:r>
              <a:rPr lang="en-US" sz="4000" b="1"/>
              <a:t>fraction</a:t>
            </a:r>
            <a:r>
              <a:rPr lang="en-US" sz="4000"/>
              <a:t> would be </a:t>
            </a:r>
            <a:r>
              <a:rPr lang="en-US" sz="4000" b="1"/>
              <a:t>located</a:t>
            </a:r>
            <a:r>
              <a:rPr lang="en-US" sz="4000"/>
              <a:t> at the </a:t>
            </a:r>
            <a:r>
              <a:rPr lang="en-US" sz="4000" b="1">
                <a:solidFill>
                  <a:schemeClr val="accent2"/>
                </a:solidFill>
              </a:rPr>
              <a:t>blue</a:t>
            </a:r>
            <a:r>
              <a:rPr lang="en-US" sz="4000"/>
              <a:t> line?</a:t>
            </a:r>
          </a:p>
        </p:txBody>
      </p:sp>
      <p:sp>
        <p:nvSpPr>
          <p:cNvPr id="9" name="TextBox 8">
            <a:extLst>
              <a:ext uri="{FF2B5EF4-FFF2-40B4-BE49-F238E27FC236}">
                <a16:creationId xmlns:a16="http://schemas.microsoft.com/office/drawing/2014/main" id="{4E6EA9CC-6235-8807-420B-A4371AC418C0}"/>
              </a:ext>
            </a:extLst>
          </p:cNvPr>
          <p:cNvSpPr txBox="1"/>
          <p:nvPr/>
        </p:nvSpPr>
        <p:spPr>
          <a:xfrm>
            <a:off x="1325325" y="48210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8" name="Text Placeholder 17">
                <a:extLst>
                  <a:ext uri="{FF2B5EF4-FFF2-40B4-BE49-F238E27FC236}">
                    <a16:creationId xmlns:a16="http://schemas.microsoft.com/office/drawing/2014/main" id="{C574522F-948D-BBA7-BEFC-952883513FAC}"/>
                  </a:ext>
                </a:extLst>
              </p:cNvPr>
              <p:cNvSpPr txBox="1">
                <a:spLocks/>
              </p:cNvSpPr>
              <p:nvPr/>
            </p:nvSpPr>
            <p:spPr>
              <a:xfrm>
                <a:off x="1190462" y="5321896"/>
                <a:ext cx="769947" cy="187262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f>
                        <m:fPr>
                          <m:ctrlPr>
                            <a:rPr lang="en-US" sz="3200" i="1" dirty="0" smtClean="0">
                              <a:latin typeface="Cambria Math" panose="02040503050406030204" pitchFamily="18" charset="0"/>
                            </a:rPr>
                          </m:ctrlPr>
                        </m:fPr>
                        <m:num>
                          <m:r>
                            <a:rPr lang="en-AU" sz="3200" b="0" i="1" dirty="0" smtClean="0">
                              <a:latin typeface="Cambria Math" panose="02040503050406030204" pitchFamily="18" charset="0"/>
                            </a:rPr>
                            <m:t>1</m:t>
                          </m:r>
                        </m:num>
                        <m:den>
                          <m:r>
                            <a:rPr lang="en-AU" sz="3200" b="0" i="1" dirty="0" smtClean="0">
                              <a:latin typeface="Cambria Math" panose="02040503050406030204" pitchFamily="18" charset="0"/>
                            </a:rPr>
                            <m:t>4</m:t>
                          </m:r>
                        </m:den>
                      </m:f>
                    </m:oMath>
                  </m:oMathPara>
                </a14:m>
                <a:endParaRPr/>
              </a:p>
            </p:txBody>
          </p:sp>
        </mc:Choice>
        <mc:Fallback xmlns="">
          <p:sp>
            <p:nvSpPr>
              <p:cNvPr id="8" name="Text Placeholder 17">
                <a:extLst>
                  <a:ext uri="{FF2B5EF4-FFF2-40B4-BE49-F238E27FC236}">
                    <a16:creationId xmlns:a16="http://schemas.microsoft.com/office/drawing/2014/main" id="{C574522F-948D-BBA7-BEFC-952883513FAC}"/>
                  </a:ext>
                </a:extLst>
              </p:cNvPr>
              <p:cNvSpPr txBox="1">
                <a:spLocks noRot="1" noChangeAspect="1" noMove="1" noResize="1" noEditPoints="1" noAdjustHandles="1" noChangeArrowheads="1" noChangeShapeType="1" noTextEdit="1"/>
              </p:cNvSpPr>
              <p:nvPr/>
            </p:nvSpPr>
            <p:spPr>
              <a:xfrm>
                <a:off x="1190462" y="5321896"/>
                <a:ext cx="769947" cy="1872628"/>
              </a:xfrm>
              <a:prstGeom prst="rect">
                <a:avLst/>
              </a:prstGeom>
              <a:blipFill>
                <a:blip r:embed="rId4"/>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AB24A3E-5574-D79C-6A0F-06D3F8A29BB1}"/>
              </a:ext>
            </a:extLst>
          </p:cNvPr>
          <p:cNvSpPr txBox="1"/>
          <p:nvPr/>
        </p:nvSpPr>
        <p:spPr>
          <a:xfrm>
            <a:off x="4329298" y="48210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13" name="Text Placeholder 17">
                <a:extLst>
                  <a:ext uri="{FF2B5EF4-FFF2-40B4-BE49-F238E27FC236}">
                    <a16:creationId xmlns:a16="http://schemas.microsoft.com/office/drawing/2014/main" id="{BF441104-DCC0-BAF8-65D0-81CD890BEB0A}"/>
                  </a:ext>
                </a:extLst>
              </p:cNvPr>
              <p:cNvSpPr txBox="1">
                <a:spLocks/>
              </p:cNvSpPr>
              <p:nvPr/>
            </p:nvSpPr>
            <p:spPr>
              <a:xfrm>
                <a:off x="4194435" y="5321896"/>
                <a:ext cx="769947" cy="187262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f>
                        <m:fPr>
                          <m:ctrlPr>
                            <a:rPr lang="en-US" sz="3200" i="1" dirty="0" smtClean="0">
                              <a:latin typeface="Cambria Math" panose="02040503050406030204" pitchFamily="18" charset="0"/>
                            </a:rPr>
                          </m:ctrlPr>
                        </m:fPr>
                        <m:num>
                          <m:r>
                            <a:rPr lang="en-AU" sz="3200" b="0" i="1" dirty="0" smtClean="0">
                              <a:latin typeface="Cambria Math" panose="02040503050406030204" pitchFamily="18" charset="0"/>
                            </a:rPr>
                            <m:t>1</m:t>
                          </m:r>
                        </m:num>
                        <m:den>
                          <m:r>
                            <a:rPr lang="en-AU" sz="3200" b="0" i="1" dirty="0" smtClean="0">
                              <a:latin typeface="Cambria Math" panose="02040503050406030204" pitchFamily="18" charset="0"/>
                            </a:rPr>
                            <m:t>2</m:t>
                          </m:r>
                        </m:den>
                      </m:f>
                    </m:oMath>
                  </m:oMathPara>
                </a14:m>
                <a:endParaRPr/>
              </a:p>
            </p:txBody>
          </p:sp>
        </mc:Choice>
        <mc:Fallback xmlns="">
          <p:sp>
            <p:nvSpPr>
              <p:cNvPr id="13" name="Text Placeholder 17">
                <a:extLst>
                  <a:ext uri="{FF2B5EF4-FFF2-40B4-BE49-F238E27FC236}">
                    <a16:creationId xmlns:a16="http://schemas.microsoft.com/office/drawing/2014/main" id="{BF441104-DCC0-BAF8-65D0-81CD890BEB0A}"/>
                  </a:ext>
                </a:extLst>
              </p:cNvPr>
              <p:cNvSpPr txBox="1">
                <a:spLocks noRot="1" noChangeAspect="1" noMove="1" noResize="1" noEditPoints="1" noAdjustHandles="1" noChangeArrowheads="1" noChangeShapeType="1" noTextEdit="1"/>
              </p:cNvSpPr>
              <p:nvPr/>
            </p:nvSpPr>
            <p:spPr>
              <a:xfrm>
                <a:off x="4194435" y="5321896"/>
                <a:ext cx="769947" cy="1872628"/>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92289C6-858E-E449-16B6-10640E9A4385}"/>
              </a:ext>
            </a:extLst>
          </p:cNvPr>
          <p:cNvSpPr txBox="1"/>
          <p:nvPr/>
        </p:nvSpPr>
        <p:spPr>
          <a:xfrm>
            <a:off x="7333271" y="48210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4" name="Text Placeholder 17">
                <a:extLst>
                  <a:ext uri="{FF2B5EF4-FFF2-40B4-BE49-F238E27FC236}">
                    <a16:creationId xmlns:a16="http://schemas.microsoft.com/office/drawing/2014/main" id="{6AB7D743-1AD7-EC1F-3544-448B5931B547}"/>
                  </a:ext>
                </a:extLst>
              </p:cNvPr>
              <p:cNvSpPr txBox="1">
                <a:spLocks/>
              </p:cNvSpPr>
              <p:nvPr/>
            </p:nvSpPr>
            <p:spPr>
              <a:xfrm>
                <a:off x="7198408" y="5321896"/>
                <a:ext cx="769947" cy="187262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f>
                        <m:fPr>
                          <m:ctrlPr>
                            <a:rPr lang="en-US" sz="3200" i="1" dirty="0" smtClean="0">
                              <a:latin typeface="Cambria Math" panose="02040503050406030204" pitchFamily="18" charset="0"/>
                            </a:rPr>
                          </m:ctrlPr>
                        </m:fPr>
                        <m:num>
                          <m:r>
                            <a:rPr lang="en-AU" sz="3200" b="0" i="1" dirty="0" smtClean="0">
                              <a:latin typeface="Cambria Math" panose="02040503050406030204" pitchFamily="18" charset="0"/>
                            </a:rPr>
                            <m:t>1</m:t>
                          </m:r>
                        </m:num>
                        <m:den>
                          <m:r>
                            <a:rPr lang="en-AU" sz="3200" b="0" i="1" dirty="0" smtClean="0">
                              <a:latin typeface="Cambria Math" panose="02040503050406030204" pitchFamily="18" charset="0"/>
                            </a:rPr>
                            <m:t>5</m:t>
                          </m:r>
                        </m:den>
                      </m:f>
                    </m:oMath>
                  </m:oMathPara>
                </a14:m>
                <a:endParaRPr/>
              </a:p>
            </p:txBody>
          </p:sp>
        </mc:Choice>
        <mc:Fallback xmlns="">
          <p:sp>
            <p:nvSpPr>
              <p:cNvPr id="14" name="Text Placeholder 17">
                <a:extLst>
                  <a:ext uri="{FF2B5EF4-FFF2-40B4-BE49-F238E27FC236}">
                    <a16:creationId xmlns:a16="http://schemas.microsoft.com/office/drawing/2014/main" id="{6AB7D743-1AD7-EC1F-3544-448B5931B547}"/>
                  </a:ext>
                </a:extLst>
              </p:cNvPr>
              <p:cNvSpPr txBox="1">
                <a:spLocks noRot="1" noChangeAspect="1" noMove="1" noResize="1" noEditPoints="1" noAdjustHandles="1" noChangeArrowheads="1" noChangeShapeType="1" noTextEdit="1"/>
              </p:cNvSpPr>
              <p:nvPr/>
            </p:nvSpPr>
            <p:spPr>
              <a:xfrm>
                <a:off x="7198408" y="5321896"/>
                <a:ext cx="769947" cy="1872628"/>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22AC239-77AC-A298-F7CD-0F89091EC017}"/>
              </a:ext>
            </a:extLst>
          </p:cNvPr>
          <p:cNvSpPr txBox="1"/>
          <p:nvPr/>
        </p:nvSpPr>
        <p:spPr>
          <a:xfrm>
            <a:off x="10337245" y="48210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5" name="Text Placeholder 17">
                <a:extLst>
                  <a:ext uri="{FF2B5EF4-FFF2-40B4-BE49-F238E27FC236}">
                    <a16:creationId xmlns:a16="http://schemas.microsoft.com/office/drawing/2014/main" id="{B2E40458-1FCD-3D09-958D-4628F7F76844}"/>
                  </a:ext>
                </a:extLst>
              </p:cNvPr>
              <p:cNvSpPr txBox="1">
                <a:spLocks/>
              </p:cNvSpPr>
              <p:nvPr/>
            </p:nvSpPr>
            <p:spPr>
              <a:xfrm>
                <a:off x="10202381" y="5321896"/>
                <a:ext cx="769947" cy="187262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14:m>
                  <m:oMathPara xmlns:m="http://schemas.openxmlformats.org/officeDocument/2006/math">
                    <m:oMathParaPr>
                      <m:jc m:val="centerGroup"/>
                    </m:oMathParaPr>
                    <m:oMath xmlns:m="http://schemas.openxmlformats.org/officeDocument/2006/math">
                      <m:f>
                        <m:fPr>
                          <m:ctrlPr>
                            <a:rPr lang="en-US" sz="3200" i="1" dirty="0" smtClean="0">
                              <a:latin typeface="Cambria Math" panose="02040503050406030204" pitchFamily="18" charset="0"/>
                            </a:rPr>
                          </m:ctrlPr>
                        </m:fPr>
                        <m:num>
                          <m:r>
                            <a:rPr lang="en-AU" sz="3200" b="0" i="1" dirty="0" smtClean="0">
                              <a:latin typeface="Cambria Math" panose="02040503050406030204" pitchFamily="18" charset="0"/>
                            </a:rPr>
                            <m:t>1</m:t>
                          </m:r>
                        </m:num>
                        <m:den>
                          <m:r>
                            <a:rPr lang="en-AU" sz="3200" b="0" i="1" dirty="0" smtClean="0">
                              <a:latin typeface="Cambria Math" panose="02040503050406030204" pitchFamily="18" charset="0"/>
                            </a:rPr>
                            <m:t>3</m:t>
                          </m:r>
                        </m:den>
                      </m:f>
                    </m:oMath>
                  </m:oMathPara>
                </a14:m>
                <a:endParaRPr/>
              </a:p>
            </p:txBody>
          </p:sp>
        </mc:Choice>
        <mc:Fallback xmlns="">
          <p:sp>
            <p:nvSpPr>
              <p:cNvPr id="15" name="Text Placeholder 17">
                <a:extLst>
                  <a:ext uri="{FF2B5EF4-FFF2-40B4-BE49-F238E27FC236}">
                    <a16:creationId xmlns:a16="http://schemas.microsoft.com/office/drawing/2014/main" id="{B2E40458-1FCD-3D09-958D-4628F7F76844}"/>
                  </a:ext>
                </a:extLst>
              </p:cNvPr>
              <p:cNvSpPr txBox="1">
                <a:spLocks noRot="1" noChangeAspect="1" noMove="1" noResize="1" noEditPoints="1" noAdjustHandles="1" noChangeArrowheads="1" noChangeShapeType="1" noTextEdit="1"/>
              </p:cNvSpPr>
              <p:nvPr/>
            </p:nvSpPr>
            <p:spPr>
              <a:xfrm>
                <a:off x="10202381" y="5321896"/>
                <a:ext cx="769947" cy="1872628"/>
              </a:xfrm>
              <a:prstGeom prst="rect">
                <a:avLst/>
              </a:prstGeom>
              <a:blipFill>
                <a:blip r:embed="rId7"/>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pic>
        <p:nvPicPr>
          <p:cNvPr id="6" name="Picture 5" descr="A horizontal number line with arrows at both ends shows a point labelled 0 on the left and 1 on the right. There are evenly spaced marks between them, and one mark between 0 and 1 is highlighted in blue.">
            <a:extLst>
              <a:ext uri="{FF2B5EF4-FFF2-40B4-BE49-F238E27FC236}">
                <a16:creationId xmlns:a16="http://schemas.microsoft.com/office/drawing/2014/main" id="{7598FB1B-7AB2-F23A-5140-EB1D1AAFE4D6}"/>
              </a:ext>
            </a:extLst>
          </p:cNvPr>
          <p:cNvPicPr>
            <a:picLocks noChangeAspect="1"/>
          </p:cNvPicPr>
          <p:nvPr/>
        </p:nvPicPr>
        <p:blipFill>
          <a:blip r:embed="rId8"/>
          <a:stretch>
            <a:fillRect/>
          </a:stretch>
        </p:blipFill>
        <p:spPr>
          <a:xfrm>
            <a:off x="0" y="2086044"/>
            <a:ext cx="12192000" cy="2685912"/>
          </a:xfrm>
          <a:prstGeom prst="rect">
            <a:avLst/>
          </a:prstGeom>
        </p:spPr>
      </p:pic>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833F55C8-8E1E-4CC0-5E9D-6C7373D0544B}"/>
              </a:ext>
            </a:extLst>
          </p:cNvPr>
          <p:cNvSpPr txBox="1">
            <a:spLocks/>
          </p:cNvSpPr>
          <p:nvPr/>
        </p:nvSpPr>
        <p:spPr>
          <a:xfrm>
            <a:off x="332440" y="972317"/>
            <a:ext cx="11511560" cy="108586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This </a:t>
            </a:r>
            <a:r>
              <a:rPr lang="en-AU" sz="4400" b="1"/>
              <a:t>rectangle</a:t>
            </a:r>
            <a:r>
              <a:rPr lang="en-AU" sz="4400"/>
              <a:t> has a </a:t>
            </a:r>
            <a:r>
              <a:rPr lang="en-AU" sz="4400" b="1"/>
              <a:t>perimeter</a:t>
            </a:r>
            <a:r>
              <a:rPr lang="en-AU" sz="4400"/>
              <a:t> of </a:t>
            </a:r>
            <a:r>
              <a:rPr lang="en-AU" sz="4400" b="1"/>
              <a:t>16 metres</a:t>
            </a:r>
            <a:r>
              <a:rPr lang="en-AU" sz="4400"/>
              <a:t>.</a:t>
            </a:r>
          </a:p>
        </p:txBody>
      </p:sp>
      <p:pic>
        <p:nvPicPr>
          <p:cNvPr id="10" name="Picture 9" descr="A four-sided shape with opposite sides equal, showing a horizontal side labelled 5 metres and a vertical side labelled 3 metres.">
            <a:extLst>
              <a:ext uri="{FF2B5EF4-FFF2-40B4-BE49-F238E27FC236}">
                <a16:creationId xmlns:a16="http://schemas.microsoft.com/office/drawing/2014/main" id="{73120B71-DEE9-8881-C0AF-28F4BA1E10D9}"/>
              </a:ext>
            </a:extLst>
          </p:cNvPr>
          <p:cNvPicPr>
            <a:picLocks noChangeAspect="1"/>
          </p:cNvPicPr>
          <p:nvPr/>
        </p:nvPicPr>
        <p:blipFill>
          <a:blip r:embed="rId4"/>
          <a:stretch>
            <a:fillRect/>
          </a:stretch>
        </p:blipFill>
        <p:spPr>
          <a:xfrm>
            <a:off x="2997795" y="2075009"/>
            <a:ext cx="5931462" cy="2696962"/>
          </a:xfrm>
          <a:prstGeom prst="rect">
            <a:avLst/>
          </a:prstGeom>
          <a:ln>
            <a:noFill/>
          </a:ln>
          <a:effectLst>
            <a:outerShdw blurRad="292100" dist="139700" dir="2700000" algn="tl" rotWithShape="0">
              <a:srgbClr val="333333">
                <a:alpha val="65000"/>
              </a:srgbClr>
            </a:outerShdw>
          </a:effectLst>
        </p:spPr>
      </p:pic>
      <p:sp>
        <p:nvSpPr>
          <p:cNvPr id="7" name="Text Placeholder 5">
            <a:extLst>
              <a:ext uri="{FF2B5EF4-FFF2-40B4-BE49-F238E27FC236}">
                <a16:creationId xmlns:a16="http://schemas.microsoft.com/office/drawing/2014/main" id="{BF3EB1F9-8E9C-155E-3AB6-983E98A58F13}"/>
              </a:ext>
            </a:extLst>
          </p:cNvPr>
          <p:cNvSpPr txBox="1">
            <a:spLocks/>
          </p:cNvSpPr>
          <p:nvPr/>
        </p:nvSpPr>
        <p:spPr>
          <a:xfrm>
            <a:off x="233497" y="4602885"/>
            <a:ext cx="11725005" cy="19170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Draw </a:t>
            </a:r>
            <a:r>
              <a:rPr lang="en-AU" sz="4400" dirty="0"/>
              <a:t>and</a:t>
            </a:r>
            <a:r>
              <a:rPr lang="en-AU" sz="4400" b="1" dirty="0"/>
              <a:t> label </a:t>
            </a:r>
            <a:r>
              <a:rPr lang="en-AU" sz="4400" dirty="0"/>
              <a:t>a</a:t>
            </a:r>
            <a:r>
              <a:rPr lang="en-AU" sz="4400" b="1" dirty="0"/>
              <a:t> rectangle</a:t>
            </a:r>
            <a:r>
              <a:rPr lang="en-AU" sz="4400" dirty="0"/>
              <a:t> with the </a:t>
            </a:r>
            <a:r>
              <a:rPr lang="en-AU" sz="4400" b="1" dirty="0"/>
              <a:t>same perimeter </a:t>
            </a:r>
            <a:r>
              <a:rPr lang="en-AU" sz="4400" dirty="0"/>
              <a:t>but </a:t>
            </a:r>
            <a:r>
              <a:rPr lang="en-AU" sz="4400" b="1" dirty="0"/>
              <a:t>different side lengths</a:t>
            </a:r>
            <a:r>
              <a:rPr lang="en-AU" sz="4400" dirty="0"/>
              <a:t>.</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C4CE821-3E50-65A0-67AF-BA1A481F4DC9}"/>
              </a:ext>
            </a:extLst>
          </p:cNvPr>
          <p:cNvSpPr txBox="1"/>
          <p:nvPr/>
        </p:nvSpPr>
        <p:spPr>
          <a:xfrm>
            <a:off x="449788" y="1184223"/>
            <a:ext cx="11292422" cy="1998176"/>
          </a:xfrm>
          <a:prstGeom prst="rect">
            <a:avLst/>
          </a:prstGeom>
          <a:noFill/>
        </p:spPr>
        <p:txBody>
          <a:bodyPr wrap="square">
            <a:spAutoFit/>
          </a:bodyPr>
          <a:lstStyle/>
          <a:p>
            <a:pPr algn="ctr">
              <a:lnSpc>
                <a:spcPct val="150000"/>
              </a:lnSpc>
            </a:pPr>
            <a:r>
              <a:rPr lang="en-AU" sz="4400">
                <a:latin typeface="Arial" panose="020B0604020202020204" pitchFamily="34" charset="0"/>
                <a:ea typeface="Calibri" panose="020F0502020204030204" pitchFamily="34" charset="0"/>
              </a:rPr>
              <a:t>Choose the most </a:t>
            </a:r>
            <a:r>
              <a:rPr lang="en-AU" sz="4400" b="1">
                <a:latin typeface="Arial" panose="020B0604020202020204" pitchFamily="34" charset="0"/>
                <a:ea typeface="Calibri" panose="020F0502020204030204" pitchFamily="34" charset="0"/>
              </a:rPr>
              <a:t>appropriate multiplicative strategy </a:t>
            </a:r>
            <a:r>
              <a:rPr lang="en-AU" sz="4400">
                <a:latin typeface="Arial" panose="020B0604020202020204" pitchFamily="34" charset="0"/>
                <a:ea typeface="Calibri" panose="020F0502020204030204" pitchFamily="34" charset="0"/>
              </a:rPr>
              <a:t>to solve:</a:t>
            </a:r>
          </a:p>
        </p:txBody>
      </p:sp>
      <p:sp>
        <p:nvSpPr>
          <p:cNvPr id="8" name="Text Placeholder 5">
            <a:extLst>
              <a:ext uri="{FF2B5EF4-FFF2-40B4-BE49-F238E27FC236}">
                <a16:creationId xmlns:a16="http://schemas.microsoft.com/office/drawing/2014/main" id="{866B4DC5-7F03-DB25-E51A-AC05523BB3B2}"/>
              </a:ext>
            </a:extLst>
          </p:cNvPr>
          <p:cNvSpPr txBox="1">
            <a:spLocks/>
          </p:cNvSpPr>
          <p:nvPr/>
        </p:nvSpPr>
        <p:spPr>
          <a:xfrm>
            <a:off x="4091745" y="3465213"/>
            <a:ext cx="4008507" cy="151103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dirty="0">
                <a:solidFill>
                  <a:srgbClr val="146CFD"/>
                </a:solidFill>
              </a:rPr>
              <a:t>732 × 45</a:t>
            </a:r>
          </a:p>
        </p:txBody>
      </p:sp>
      <p:sp>
        <p:nvSpPr>
          <p:cNvPr id="7" name="TextBox 6">
            <a:extLst>
              <a:ext uri="{FF2B5EF4-FFF2-40B4-BE49-F238E27FC236}">
                <a16:creationId xmlns:a16="http://schemas.microsoft.com/office/drawing/2014/main" id="{CDF3D620-3881-9208-A4EE-9D51EC6873C5}"/>
              </a:ext>
            </a:extLst>
          </p:cNvPr>
          <p:cNvSpPr txBox="1"/>
          <p:nvPr/>
        </p:nvSpPr>
        <p:spPr>
          <a:xfrm>
            <a:off x="449788" y="5254865"/>
            <a:ext cx="11292422" cy="982513"/>
          </a:xfrm>
          <a:prstGeom prst="rect">
            <a:avLst/>
          </a:prstGeom>
          <a:noFill/>
        </p:spPr>
        <p:txBody>
          <a:bodyPr wrap="square">
            <a:spAutoFit/>
          </a:bodyPr>
          <a:lstStyle/>
          <a:p>
            <a:pPr algn="ctr">
              <a:lnSpc>
                <a:spcPct val="150000"/>
              </a:lnSpc>
            </a:pPr>
            <a:r>
              <a:rPr lang="en-AU" sz="4400" b="1"/>
              <a:t>Communicate </a:t>
            </a:r>
            <a:r>
              <a:rPr lang="en-AU" sz="4400"/>
              <a:t>your</a:t>
            </a:r>
            <a:r>
              <a:rPr lang="en-AU" sz="4400" b="1"/>
              <a:t> reasoning.</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3FF3C-12E6-7C83-6A88-8A2C762224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CA97277-46B6-1D41-DB35-2128C322D27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203EF9E9-6913-DCD9-C658-02A4D4E844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6D3E5CAC-BEDB-2F91-E1BE-73B6C1B69E0A}"/>
              </a:ext>
            </a:extLst>
          </p:cNvPr>
          <p:cNvSpPr txBox="1">
            <a:spLocks/>
          </p:cNvSpPr>
          <p:nvPr/>
        </p:nvSpPr>
        <p:spPr>
          <a:xfrm>
            <a:off x="768823" y="1345839"/>
            <a:ext cx="5617029" cy="159939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Both </a:t>
            </a:r>
            <a:r>
              <a:rPr lang="en-AU" sz="3600" b="1"/>
              <a:t>rectangles</a:t>
            </a:r>
            <a:r>
              <a:rPr lang="en-AU" sz="3600"/>
              <a:t> have a </a:t>
            </a:r>
            <a:r>
              <a:rPr lang="en-AU" sz="3600" b="1"/>
              <a:t>perimeter</a:t>
            </a:r>
            <a:r>
              <a:rPr lang="en-AU" sz="3600"/>
              <a:t> of </a:t>
            </a:r>
            <a:r>
              <a:rPr lang="en-AU" sz="3600" b="1"/>
              <a:t>24 metres</a:t>
            </a:r>
            <a:r>
              <a:rPr lang="en-AU" sz="3600"/>
              <a:t>.</a:t>
            </a:r>
          </a:p>
        </p:txBody>
      </p:sp>
      <p:sp>
        <p:nvSpPr>
          <p:cNvPr id="7" name="Text Placeholder 5">
            <a:extLst>
              <a:ext uri="{FF2B5EF4-FFF2-40B4-BE49-F238E27FC236}">
                <a16:creationId xmlns:a16="http://schemas.microsoft.com/office/drawing/2014/main" id="{9530C4EA-687D-6724-414A-4BC7EFF2B5FB}"/>
              </a:ext>
            </a:extLst>
          </p:cNvPr>
          <p:cNvSpPr txBox="1">
            <a:spLocks/>
          </p:cNvSpPr>
          <p:nvPr/>
        </p:nvSpPr>
        <p:spPr>
          <a:xfrm>
            <a:off x="1318573" y="3415726"/>
            <a:ext cx="4517530" cy="184926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Do they have the </a:t>
            </a:r>
            <a:r>
              <a:rPr lang="en-AU" sz="3600" b="1"/>
              <a:t>same area</a:t>
            </a:r>
            <a:r>
              <a:rPr lang="en-AU" sz="3600"/>
              <a:t>?</a:t>
            </a:r>
          </a:p>
        </p:txBody>
      </p:sp>
      <p:sp>
        <p:nvSpPr>
          <p:cNvPr id="9" name="Text Placeholder 5">
            <a:extLst>
              <a:ext uri="{FF2B5EF4-FFF2-40B4-BE49-F238E27FC236}">
                <a16:creationId xmlns:a16="http://schemas.microsoft.com/office/drawing/2014/main" id="{B6CDF62E-8208-C1AC-0537-171FA1A8F9F4}"/>
              </a:ext>
            </a:extLst>
          </p:cNvPr>
          <p:cNvSpPr txBox="1">
            <a:spLocks/>
          </p:cNvSpPr>
          <p:nvPr/>
        </p:nvSpPr>
        <p:spPr>
          <a:xfrm>
            <a:off x="117061" y="5735486"/>
            <a:ext cx="6920551" cy="78051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a:t>
            </a:r>
            <a:r>
              <a:rPr lang="en-AU" sz="3600"/>
              <a:t> your </a:t>
            </a:r>
            <a:r>
              <a:rPr lang="en-AU" sz="3600" b="1"/>
              <a:t>reasoning</a:t>
            </a:r>
            <a:r>
              <a:rPr lang="en-AU" sz="3600"/>
              <a:t>.</a:t>
            </a:r>
          </a:p>
        </p:txBody>
      </p:sp>
      <p:grpSp>
        <p:nvGrpSpPr>
          <p:cNvPr id="13" name="Group 12" descr="Two four-sided shapes are shown on grid backgrounds.&#10;&#10;The top shape has a horizontal side labelled 8 metres and a vertical side labelled 4 metres, with the grid visible inside the outline.&#10;&#10;The bottom shape has a horizontal side labelled 5 metres and a vertical side labelled 7 metres, also shown on a grid.">
            <a:extLst>
              <a:ext uri="{FF2B5EF4-FFF2-40B4-BE49-F238E27FC236}">
                <a16:creationId xmlns:a16="http://schemas.microsoft.com/office/drawing/2014/main" id="{ED00A5E9-759D-EDCF-F247-9D5E3D3C6D0A}"/>
              </a:ext>
            </a:extLst>
          </p:cNvPr>
          <p:cNvGrpSpPr/>
          <p:nvPr/>
        </p:nvGrpSpPr>
        <p:grpSpPr>
          <a:xfrm>
            <a:off x="7150056" y="726473"/>
            <a:ext cx="3674455" cy="5863243"/>
            <a:chOff x="7356021" y="832757"/>
            <a:chExt cx="3674455" cy="5863243"/>
          </a:xfrm>
        </p:grpSpPr>
        <p:sp>
          <p:nvSpPr>
            <p:cNvPr id="12" name="Rectangle 11">
              <a:extLst>
                <a:ext uri="{FF2B5EF4-FFF2-40B4-BE49-F238E27FC236}">
                  <a16:creationId xmlns:a16="http://schemas.microsoft.com/office/drawing/2014/main" id="{69CD16FE-8DF0-3EFB-4A67-CF54ABEEC51C}"/>
                </a:ext>
              </a:extLst>
            </p:cNvPr>
            <p:cNvSpPr/>
            <p:nvPr/>
          </p:nvSpPr>
          <p:spPr>
            <a:xfrm>
              <a:off x="7356021" y="832757"/>
              <a:ext cx="3674455" cy="5863243"/>
            </a:xfrm>
            <a:prstGeom prst="rect">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a:extLst>
                <a:ext uri="{FF2B5EF4-FFF2-40B4-BE49-F238E27FC236}">
                  <a16:creationId xmlns:a16="http://schemas.microsoft.com/office/drawing/2014/main" id="{02436C27-D572-56DB-75AA-2F0F78A571AD}"/>
                </a:ext>
              </a:extLst>
            </p:cNvPr>
            <p:cNvPicPr>
              <a:picLocks noChangeAspect="1"/>
            </p:cNvPicPr>
            <p:nvPr/>
          </p:nvPicPr>
          <p:blipFill>
            <a:blip r:embed="rId4"/>
            <a:srcRect l="7463" t="3918" r="5753" b="2362"/>
            <a:stretch>
              <a:fillRect/>
            </a:stretch>
          </p:blipFill>
          <p:spPr>
            <a:xfrm>
              <a:off x="7792825" y="1008489"/>
              <a:ext cx="3080602" cy="5511778"/>
            </a:xfrm>
            <a:prstGeom prst="rect">
              <a:avLst/>
            </a:prstGeom>
          </p:spPr>
        </p:pic>
      </p:grpSp>
      <p:sp>
        <p:nvSpPr>
          <p:cNvPr id="2" name="Slide Number Placeholder 1">
            <a:extLst>
              <a:ext uri="{FF2B5EF4-FFF2-40B4-BE49-F238E27FC236}">
                <a16:creationId xmlns:a16="http://schemas.microsoft.com/office/drawing/2014/main" id="{E3AF8130-35A0-0374-0263-8BEC31C147E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3693154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44A11733-CE14-23A9-A902-ADC8D58DA41B}"/>
              </a:ext>
            </a:extLst>
          </p:cNvPr>
          <p:cNvSpPr txBox="1">
            <a:spLocks/>
          </p:cNvSpPr>
          <p:nvPr/>
        </p:nvSpPr>
        <p:spPr>
          <a:xfrm>
            <a:off x="775167" y="1755923"/>
            <a:ext cx="5543770" cy="306040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Identify</a:t>
            </a:r>
            <a:r>
              <a:rPr lang="en-AU" sz="4400"/>
              <a:t> the</a:t>
            </a:r>
          </a:p>
          <a:p>
            <a:pPr algn="ctr"/>
            <a:r>
              <a:rPr lang="en-AU" sz="4400" b="1"/>
              <a:t>three-dimensional shapes </a:t>
            </a:r>
            <a:r>
              <a:rPr lang="en-AU" sz="4400"/>
              <a:t>from </a:t>
            </a:r>
          </a:p>
          <a:p>
            <a:pPr algn="ctr"/>
            <a:r>
              <a:rPr lang="en-AU" sz="4400"/>
              <a:t>these </a:t>
            </a:r>
            <a:r>
              <a:rPr lang="en-AU" sz="4400" b="1"/>
              <a:t>nets.</a:t>
            </a:r>
            <a:endParaRPr lang="en-AU" sz="4400"/>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2B9204F7-332A-6CDC-CE5C-685A8FF89B3A}"/>
              </a:ext>
            </a:extLst>
          </p:cNvPr>
          <p:cNvSpPr txBox="1"/>
          <p:nvPr/>
        </p:nvSpPr>
        <p:spPr>
          <a:xfrm>
            <a:off x="6426557" y="5362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0558F877-943C-ADBA-182E-A85E80CB32B8}"/>
              </a:ext>
            </a:extLst>
          </p:cNvPr>
          <p:cNvSpPr txBox="1"/>
          <p:nvPr/>
        </p:nvSpPr>
        <p:spPr>
          <a:xfrm>
            <a:off x="8122801" y="538004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pic>
        <p:nvPicPr>
          <p:cNvPr id="12" name="Picture 11" descr="A, three equal-sized squares are joined in a vertical line. A triangle is attached to each side of the middle square, extending outward.">
            <a:extLst>
              <a:ext uri="{FF2B5EF4-FFF2-40B4-BE49-F238E27FC236}">
                <a16:creationId xmlns:a16="http://schemas.microsoft.com/office/drawing/2014/main" id="{E860EF55-8ECD-BA9D-5872-9F40563187FD}"/>
              </a:ext>
            </a:extLst>
          </p:cNvPr>
          <p:cNvPicPr>
            <a:picLocks noChangeAspect="1"/>
          </p:cNvPicPr>
          <p:nvPr/>
        </p:nvPicPr>
        <p:blipFill>
          <a:blip r:embed="rId4"/>
          <a:stretch>
            <a:fillRect/>
          </a:stretch>
        </p:blipFill>
        <p:spPr>
          <a:xfrm>
            <a:off x="7106820" y="414050"/>
            <a:ext cx="3294193" cy="3140975"/>
          </a:xfrm>
          <a:prstGeom prst="rect">
            <a:avLst/>
          </a:prstGeom>
        </p:spPr>
      </p:pic>
      <p:pic>
        <p:nvPicPr>
          <p:cNvPr id="14" name="Picture 13" descr="B, several triangles are joined edge to edge to form a larger triangular arrangement, with smaller triangular sections visible within the outline.">
            <a:extLst>
              <a:ext uri="{FF2B5EF4-FFF2-40B4-BE49-F238E27FC236}">
                <a16:creationId xmlns:a16="http://schemas.microsoft.com/office/drawing/2014/main" id="{50E4DFA7-8310-16E7-4A9C-830A1A17E52C}"/>
              </a:ext>
            </a:extLst>
          </p:cNvPr>
          <p:cNvPicPr>
            <a:picLocks noChangeAspect="1"/>
          </p:cNvPicPr>
          <p:nvPr/>
        </p:nvPicPr>
        <p:blipFill>
          <a:blip r:embed="rId5"/>
          <a:stretch>
            <a:fillRect/>
          </a:stretch>
        </p:blipFill>
        <p:spPr>
          <a:xfrm>
            <a:off x="8644949" y="3555025"/>
            <a:ext cx="2676903" cy="3140975"/>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order fractions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number line labelled 0 to 1 hour. Fractions of the hour being one-eighth, one-quarter, one-third, one-half, two-thirds and one-fifth are listed below.">
            <a:extLst>
              <a:ext uri="{FF2B5EF4-FFF2-40B4-BE49-F238E27FC236}">
                <a16:creationId xmlns:a16="http://schemas.microsoft.com/office/drawing/2014/main" id="{091AEFF3-5E91-8E2D-A059-8F73731695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9355" y="2324908"/>
            <a:ext cx="10713290" cy="4480338"/>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11" name="Picture 10" descr="A cartoon of a school-aged boy with dark hair stands beside a whiteboard, looking thoughtful with one hand on his chin. A speech bubble above him reads, “Eight is bigger than four so one eighth must be bigger than one quarter.”&#10;On the whiteboard is a horizontal number line with arrows at both ends. The left end is labelled 0 and the right end is labelled 1. Two marked points appear between them: one closer to 0 labelled one quarter, and another closer to 1 labelled one eighth.">
            <a:extLst>
              <a:ext uri="{FF2B5EF4-FFF2-40B4-BE49-F238E27FC236}">
                <a16:creationId xmlns:a16="http://schemas.microsoft.com/office/drawing/2014/main" id="{22C970C3-5BB3-A5BA-97DB-44E9FB41A505}"/>
              </a:ext>
            </a:extLst>
          </p:cNvPr>
          <p:cNvPicPr>
            <a:picLocks noChangeAspect="1"/>
          </p:cNvPicPr>
          <p:nvPr/>
        </p:nvPicPr>
        <p:blipFill>
          <a:blip r:embed="rId4"/>
          <a:stretch>
            <a:fillRect/>
          </a:stretch>
        </p:blipFill>
        <p:spPr>
          <a:xfrm>
            <a:off x="728875" y="905601"/>
            <a:ext cx="9901025" cy="4547840"/>
          </a:xfrm>
          <a:prstGeom prst="rect">
            <a:avLst/>
          </a:prstGeom>
        </p:spPr>
      </p:pic>
      <p:graphicFrame>
        <p:nvGraphicFramePr>
          <p:cNvPr id="7" name="Table 6">
            <a:extLst>
              <a:ext uri="{FF2B5EF4-FFF2-40B4-BE49-F238E27FC236}">
                <a16:creationId xmlns:a16="http://schemas.microsoft.com/office/drawing/2014/main" id="{FDFCA8ED-A16D-772C-E8E3-ABC15D28F20D}"/>
              </a:ext>
            </a:extLst>
          </p:cNvPr>
          <p:cNvGraphicFramePr>
            <a:graphicFrameLocks noGrp="1"/>
          </p:cNvGraphicFramePr>
          <p:nvPr>
            <p:extLst>
              <p:ext uri="{D42A27DB-BD31-4B8C-83A1-F6EECF244321}">
                <p14:modId xmlns:p14="http://schemas.microsoft.com/office/powerpoint/2010/main" val="3581560302"/>
              </p:ext>
            </p:extLst>
          </p:nvPr>
        </p:nvGraphicFramePr>
        <p:xfrm>
          <a:off x="2557462" y="5756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B683B6E0-D6E0-C7ED-0FB1-BA1B5DC9D80F}"/>
              </a:ext>
            </a:extLst>
          </p:cNvPr>
          <p:cNvSpPr txBox="1">
            <a:spLocks/>
          </p:cNvSpPr>
          <p:nvPr/>
        </p:nvSpPr>
        <p:spPr>
          <a:xfrm>
            <a:off x="814172" y="1210444"/>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Record </a:t>
            </a:r>
            <a:r>
              <a:rPr lang="en-AU" sz="4400">
                <a:latin typeface="Arial"/>
                <a:cs typeface="Arial"/>
              </a:rPr>
              <a:t>these measurements using </a:t>
            </a:r>
            <a:r>
              <a:rPr lang="en-AU" sz="4400" b="1">
                <a:latin typeface="Arial"/>
                <a:cs typeface="Arial"/>
              </a:rPr>
              <a:t>kilograms</a:t>
            </a:r>
            <a:r>
              <a:rPr lang="en-AU" sz="4400">
                <a:latin typeface="Arial"/>
                <a:cs typeface="Arial"/>
              </a:rPr>
              <a:t> and </a:t>
            </a:r>
            <a:r>
              <a:rPr lang="en-AU" sz="4400" b="1">
                <a:latin typeface="Arial"/>
                <a:cs typeface="Arial"/>
              </a:rPr>
              <a:t>grams</a:t>
            </a:r>
            <a:r>
              <a:rPr lang="en-AU" sz="4400">
                <a:latin typeface="Arial"/>
                <a:cs typeface="Arial"/>
              </a:rPr>
              <a:t>: </a:t>
            </a:r>
            <a:endParaRPr lang="en-US" sz="4400">
              <a:latin typeface="Arial"/>
              <a:cs typeface="Arial"/>
            </a:endParaRPr>
          </a:p>
        </p:txBody>
      </p:sp>
      <p:sp>
        <p:nvSpPr>
          <p:cNvPr id="7" name="Picture Placeholder 10">
            <a:extLst>
              <a:ext uri="{FF2B5EF4-FFF2-40B4-BE49-F238E27FC236}">
                <a16:creationId xmlns:a16="http://schemas.microsoft.com/office/drawing/2014/main" id="{2EB9F0F9-CAE6-711C-A4B6-E95BDCA2C1D8}"/>
              </a:ext>
            </a:extLst>
          </p:cNvPr>
          <p:cNvSpPr txBox="1">
            <a:spLocks/>
          </p:cNvSpPr>
          <p:nvPr/>
        </p:nvSpPr>
        <p:spPr>
          <a:xfrm>
            <a:off x="1376814" y="3295490"/>
            <a:ext cx="4166820" cy="340051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3.06 kg</a:t>
            </a:r>
          </a:p>
          <a:p>
            <a:pPr marL="742950" indent="-742950">
              <a:buFont typeface="+mj-lt"/>
              <a:buAutoNum type="alphaLcParenR"/>
            </a:pPr>
            <a:r>
              <a:rPr lang="en-US" sz="4400">
                <a:latin typeface="Arial"/>
                <a:cs typeface="Arial"/>
              </a:rPr>
              <a:t>53.25 kg</a:t>
            </a:r>
          </a:p>
          <a:p>
            <a:pPr marL="742950" indent="-742950">
              <a:buFont typeface="+mj-lt"/>
              <a:buAutoNum type="alphaLcParenR"/>
            </a:pPr>
            <a:r>
              <a:rPr lang="en-US" sz="4400">
                <a:latin typeface="Arial"/>
                <a:cs typeface="Arial"/>
              </a:rPr>
              <a:t>7.308 kg</a:t>
            </a:r>
            <a:endParaRPr lang="en-US" sz="4400"/>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A9D8C423-2F87-A2BA-9B34-913CF8C06C45}"/>
              </a:ext>
            </a:extLst>
          </p:cNvPr>
          <p:cNvSpPr txBox="1">
            <a:spLocks/>
          </p:cNvSpPr>
          <p:nvPr/>
        </p:nvSpPr>
        <p:spPr>
          <a:xfrm>
            <a:off x="4091744" y="1113251"/>
            <a:ext cx="4008507" cy="151103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dirty="0">
                <a:solidFill>
                  <a:srgbClr val="146CFD"/>
                </a:solidFill>
              </a:rPr>
              <a:t>38 </a:t>
            </a:r>
            <a:r>
              <a:rPr lang="en-AU" sz="5400" dirty="0">
                <a:solidFill>
                  <a:srgbClr val="146CFD"/>
                </a:solidFill>
                <a:ea typeface="Calibri" panose="020F0502020204030204" pitchFamily="34" charset="0"/>
                <a:cs typeface="Times New Roman" panose="02020603050405020304" pitchFamily="18" charset="0"/>
              </a:rPr>
              <a:t>÷</a:t>
            </a:r>
            <a:r>
              <a:rPr lang="en-AU" sz="5400" dirty="0">
                <a:solidFill>
                  <a:srgbClr val="146CFD"/>
                </a:solidFill>
              </a:rPr>
              <a:t> 6</a:t>
            </a:r>
          </a:p>
        </p:txBody>
      </p:sp>
      <p:sp>
        <p:nvSpPr>
          <p:cNvPr id="5" name="TextBox 4">
            <a:extLst>
              <a:ext uri="{FF2B5EF4-FFF2-40B4-BE49-F238E27FC236}">
                <a16:creationId xmlns:a16="http://schemas.microsoft.com/office/drawing/2014/main" id="{34354110-4B46-6E0F-8A9B-33E3E60E97C8}"/>
              </a:ext>
            </a:extLst>
          </p:cNvPr>
          <p:cNvSpPr txBox="1"/>
          <p:nvPr/>
        </p:nvSpPr>
        <p:spPr>
          <a:xfrm>
            <a:off x="895142" y="2831931"/>
            <a:ext cx="9927580" cy="2713500"/>
          </a:xfrm>
          <a:prstGeom prst="rect">
            <a:avLst/>
          </a:prstGeom>
          <a:noFill/>
        </p:spPr>
        <p:txBody>
          <a:bodyPr wrap="square">
            <a:spAutoFit/>
          </a:bodyPr>
          <a:lstStyle/>
          <a:p>
            <a:pPr lvl="0">
              <a:lnSpc>
                <a:spcPct val="150000"/>
              </a:lnSpc>
              <a:spcBef>
                <a:spcPts val="1200"/>
              </a:spcBef>
              <a:spcAft>
                <a:spcPts val="600"/>
              </a:spcAft>
            </a:pPr>
            <a:r>
              <a:rPr lang="en-AU" sz="3600" dirty="0">
                <a:effectLst/>
                <a:latin typeface="Arial" panose="020B0604020202020204" pitchFamily="34" charset="0"/>
                <a:ea typeface="Calibri" panose="020F0502020204030204" pitchFamily="34" charset="0"/>
                <a:cs typeface="Times New Roman" panose="02020603050405020304" pitchFamily="18" charset="0"/>
              </a:rPr>
              <a:t>a) Draw an </a:t>
            </a:r>
            <a:r>
              <a:rPr lang="en-AU" sz="3600" b="1" dirty="0">
                <a:effectLst/>
                <a:latin typeface="Arial" panose="020B0604020202020204" pitchFamily="34" charset="0"/>
                <a:ea typeface="Calibri" panose="020F0502020204030204" pitchFamily="34" charset="0"/>
                <a:cs typeface="Times New Roman" panose="02020603050405020304" pitchFamily="18" charset="0"/>
              </a:rPr>
              <a:t>array</a:t>
            </a:r>
            <a:r>
              <a:rPr lang="en-AU" sz="3600" dirty="0">
                <a:effectLst/>
                <a:latin typeface="Arial" panose="020B0604020202020204" pitchFamily="34" charset="0"/>
                <a:ea typeface="Calibri" panose="020F0502020204030204" pitchFamily="34" charset="0"/>
                <a:cs typeface="Times New Roman" panose="02020603050405020304" pitchFamily="18" charset="0"/>
              </a:rPr>
              <a:t> to model the equation.</a:t>
            </a:r>
          </a:p>
          <a:p>
            <a:pPr lvl="0">
              <a:lnSpc>
                <a:spcPct val="150000"/>
              </a:lnSpc>
              <a:spcBef>
                <a:spcPts val="1200"/>
              </a:spcBef>
              <a:spcAft>
                <a:spcPts val="600"/>
              </a:spcAft>
            </a:pPr>
            <a:r>
              <a:rPr lang="en-AU" sz="3600" dirty="0">
                <a:latin typeface="Arial" panose="020B0604020202020204" pitchFamily="34" charset="0"/>
                <a:ea typeface="Calibri" panose="020F0502020204030204" pitchFamily="34" charset="0"/>
                <a:cs typeface="Times New Roman" panose="02020603050405020304" pitchFamily="18" charset="0"/>
              </a:rPr>
              <a:t>b) </a:t>
            </a:r>
            <a:r>
              <a:rPr lang="en-AU" sz="3600" b="1" dirty="0">
                <a:latin typeface="Arial" panose="020B0604020202020204" pitchFamily="34" charset="0"/>
                <a:ea typeface="Calibri" panose="020F0502020204030204" pitchFamily="34" charset="0"/>
                <a:cs typeface="Times New Roman" panose="02020603050405020304" pitchFamily="18" charset="0"/>
              </a:rPr>
              <a:t>Record</a:t>
            </a:r>
            <a:r>
              <a:rPr lang="en-AU" sz="3600" dirty="0">
                <a:latin typeface="Arial" panose="020B0604020202020204" pitchFamily="34" charset="0"/>
                <a:ea typeface="Calibri" panose="020F0502020204030204" pitchFamily="34" charset="0"/>
                <a:cs typeface="Times New Roman" panose="02020603050405020304" pitchFamily="18" charset="0"/>
              </a:rPr>
              <a:t> the </a:t>
            </a:r>
            <a:r>
              <a:rPr lang="en-AU" sz="3600" b="1" dirty="0">
                <a:latin typeface="Arial" panose="020B0604020202020204" pitchFamily="34" charset="0"/>
                <a:ea typeface="Calibri" panose="020F0502020204030204" pitchFamily="34" charset="0"/>
                <a:cs typeface="Times New Roman" panose="02020603050405020304" pitchFamily="18" charset="0"/>
              </a:rPr>
              <a:t>inverse multiplication </a:t>
            </a:r>
            <a:r>
              <a:rPr lang="en-AU" sz="3600" dirty="0">
                <a:latin typeface="Arial" panose="020B0604020202020204" pitchFamily="34" charset="0"/>
                <a:ea typeface="Calibri" panose="020F0502020204030204" pitchFamily="34" charset="0"/>
                <a:cs typeface="Times New Roman" panose="02020603050405020304" pitchFamily="18" charset="0"/>
              </a:rPr>
              <a:t>number sentence.</a:t>
            </a:r>
            <a:endParaRPr lang="en-AU" sz="3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79CE6D52-BB62-DEED-C1DD-D795DD50429A}"/>
              </a:ext>
            </a:extLst>
          </p:cNvPr>
          <p:cNvSpPr txBox="1">
            <a:spLocks/>
          </p:cNvSpPr>
          <p:nvPr/>
        </p:nvSpPr>
        <p:spPr>
          <a:xfrm>
            <a:off x="814171" y="815217"/>
            <a:ext cx="10563656" cy="1078319"/>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Calculate </a:t>
            </a:r>
            <a:r>
              <a:rPr lang="en-AU" sz="4400">
                <a:latin typeface="Arial"/>
                <a:cs typeface="Arial"/>
              </a:rPr>
              <a:t>the </a:t>
            </a:r>
            <a:r>
              <a:rPr lang="en-AU" sz="4400" b="1">
                <a:latin typeface="Arial"/>
                <a:cs typeface="Arial"/>
              </a:rPr>
              <a:t>area </a:t>
            </a:r>
            <a:r>
              <a:rPr lang="en-AU" sz="4400">
                <a:latin typeface="Arial"/>
                <a:cs typeface="Arial"/>
              </a:rPr>
              <a:t>of this </a:t>
            </a:r>
            <a:r>
              <a:rPr lang="en-AU" sz="4400" b="1">
                <a:latin typeface="Arial"/>
                <a:cs typeface="Arial"/>
              </a:rPr>
              <a:t>rectangle:</a:t>
            </a:r>
            <a:endParaRPr lang="en-US" sz="4400">
              <a:latin typeface="Arial"/>
              <a:cs typeface="Arial"/>
            </a:endParaRPr>
          </a:p>
        </p:txBody>
      </p:sp>
      <p:pic>
        <p:nvPicPr>
          <p:cNvPr id="8" name="Picture 7" descr="A four-sided shape with opposite sides equal, showing a horizontal side labelled 9 metres and a vertical side labelled 6 metres.">
            <a:extLst>
              <a:ext uri="{FF2B5EF4-FFF2-40B4-BE49-F238E27FC236}">
                <a16:creationId xmlns:a16="http://schemas.microsoft.com/office/drawing/2014/main" id="{3A041EF2-2C18-6B99-6E06-FDA553B50399}"/>
              </a:ext>
            </a:extLst>
          </p:cNvPr>
          <p:cNvPicPr>
            <a:picLocks noChangeAspect="1"/>
          </p:cNvPicPr>
          <p:nvPr/>
        </p:nvPicPr>
        <p:blipFill>
          <a:blip r:embed="rId4"/>
          <a:srcRect b="14144"/>
          <a:stretch>
            <a:fillRect/>
          </a:stretch>
        </p:blipFill>
        <p:spPr>
          <a:xfrm>
            <a:off x="1413808" y="2009098"/>
            <a:ext cx="9364382" cy="4163102"/>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D2F3D8C0-427C-DE2B-94E8-4EA8435174FC}"/>
              </a:ext>
            </a:extLst>
          </p:cNvPr>
          <p:cNvSpPr txBox="1">
            <a:spLocks/>
          </p:cNvSpPr>
          <p:nvPr/>
        </p:nvSpPr>
        <p:spPr>
          <a:xfrm>
            <a:off x="360000" y="970237"/>
            <a:ext cx="11177244" cy="2035575"/>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400" b="1" dirty="0">
                <a:solidFill>
                  <a:schemeClr val="accent2"/>
                </a:solidFill>
              </a:rPr>
              <a:t>1800 hours </a:t>
            </a:r>
            <a:r>
              <a:rPr lang="en-AU" sz="3400" dirty="0">
                <a:solidFill>
                  <a:schemeClr val="accent2"/>
                </a:solidFill>
              </a:rPr>
              <a:t>is read as </a:t>
            </a:r>
            <a:r>
              <a:rPr lang="en-AU" sz="3400" b="1" dirty="0">
                <a:solidFill>
                  <a:schemeClr val="accent2"/>
                </a:solidFill>
              </a:rPr>
              <a:t>eighteen-hundred hours</a:t>
            </a:r>
            <a:r>
              <a:rPr lang="en-AU" sz="3400" dirty="0">
                <a:solidFill>
                  <a:schemeClr val="accent2"/>
                </a:solidFill>
              </a:rPr>
              <a:t>. </a:t>
            </a:r>
          </a:p>
          <a:p>
            <a:pPr algn="ctr"/>
            <a:r>
              <a:rPr lang="en-AU" sz="3400" dirty="0"/>
              <a:t>Using 24-hour time language, write how we would read: </a:t>
            </a:r>
            <a:endParaRPr lang="en-US" sz="3400" dirty="0">
              <a:latin typeface="Arial"/>
              <a:cs typeface="Arial"/>
            </a:endParaRPr>
          </a:p>
        </p:txBody>
      </p:sp>
      <p:sp>
        <p:nvSpPr>
          <p:cNvPr id="7" name="TextBox 6">
            <a:extLst>
              <a:ext uri="{FF2B5EF4-FFF2-40B4-BE49-F238E27FC236}">
                <a16:creationId xmlns:a16="http://schemas.microsoft.com/office/drawing/2014/main" id="{29DCA0BA-706B-050F-830D-D60015BE1344}"/>
              </a:ext>
            </a:extLst>
          </p:cNvPr>
          <p:cNvSpPr txBox="1"/>
          <p:nvPr/>
        </p:nvSpPr>
        <p:spPr>
          <a:xfrm>
            <a:off x="1126449" y="3331316"/>
            <a:ext cx="5080813" cy="2811539"/>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3400" dirty="0">
                <a:effectLst/>
                <a:latin typeface="Arial" panose="020B0604020202020204" pitchFamily="34" charset="0"/>
                <a:ea typeface="Calibri" panose="020F0502020204030204" pitchFamily="34" charset="0"/>
                <a:cs typeface="Times New Roman" panose="02020603050405020304" pitchFamily="18" charset="0"/>
              </a:rPr>
              <a:t>1400 hours</a:t>
            </a:r>
          </a:p>
          <a:p>
            <a:pPr marL="742950" lvl="0" indent="-742950">
              <a:lnSpc>
                <a:spcPct val="150000"/>
              </a:lnSpc>
              <a:spcBef>
                <a:spcPts val="1200"/>
              </a:spcBef>
              <a:spcAft>
                <a:spcPts val="600"/>
              </a:spcAft>
              <a:buFont typeface="+mj-lt"/>
              <a:buAutoNum type="alphaLcParenR"/>
            </a:pPr>
            <a:r>
              <a:rPr lang="en-AU" sz="3400" dirty="0">
                <a:latin typeface="Arial" panose="020B0604020202020204" pitchFamily="34" charset="0"/>
                <a:ea typeface="Calibri" panose="020F0502020204030204" pitchFamily="34" charset="0"/>
                <a:cs typeface="Times New Roman" panose="02020603050405020304" pitchFamily="18" charset="0"/>
              </a:rPr>
              <a:t>1630 hours</a:t>
            </a:r>
          </a:p>
          <a:p>
            <a:pPr marL="742950" lvl="0" indent="-742950">
              <a:lnSpc>
                <a:spcPct val="150000"/>
              </a:lnSpc>
              <a:spcBef>
                <a:spcPts val="1200"/>
              </a:spcBef>
              <a:spcAft>
                <a:spcPts val="600"/>
              </a:spcAft>
              <a:buFont typeface="+mj-lt"/>
              <a:buAutoNum type="alphaLcParenR"/>
            </a:pPr>
            <a:r>
              <a:rPr lang="en-AU" sz="3400" dirty="0">
                <a:effectLst/>
                <a:latin typeface="Arial" panose="020B0604020202020204" pitchFamily="34" charset="0"/>
                <a:ea typeface="Calibri" panose="020F0502020204030204" pitchFamily="34" charset="0"/>
                <a:cs typeface="Times New Roman" panose="02020603050405020304" pitchFamily="18" charset="0"/>
              </a:rPr>
              <a:t>0630 hours.</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fractions on a number line</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cartoon of a school-aged girl with brown hair, wearing a headband, shirt and tie, stands smiling with her hands on her hips beside a whiteboard. A speech bubble above her reads, “I rolled a 4 so I need to place one quarter on the number line.”&#10;&#10;On the whiteboard is a horizontal number line with arrows at both ends. The left end is labelled 0 and the right end is labelled 1. Several evenly spaced marks appear between them, with one point labelled one quarter. Below the board is a multi-sided die showing the number 4.">
            <a:extLst>
              <a:ext uri="{FF2B5EF4-FFF2-40B4-BE49-F238E27FC236}">
                <a16:creationId xmlns:a16="http://schemas.microsoft.com/office/drawing/2014/main" id="{D9BBD165-90DA-27AC-1741-26F68CDE092D}"/>
              </a:ext>
            </a:extLst>
          </p:cNvPr>
          <p:cNvPicPr>
            <a:picLocks noChangeAspect="1"/>
          </p:cNvPicPr>
          <p:nvPr/>
        </p:nvPicPr>
        <p:blipFill>
          <a:blip r:embed="rId4"/>
          <a:stretch>
            <a:fillRect/>
          </a:stretch>
        </p:blipFill>
        <p:spPr>
          <a:xfrm>
            <a:off x="338742" y="1097258"/>
            <a:ext cx="11514516" cy="5393386"/>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0000" y="999373"/>
            <a:ext cx="11252463" cy="1900424"/>
          </a:xfrm>
        </p:spPr>
        <p:txBody>
          <a:bodyPr/>
          <a:lstStyle/>
          <a:p>
            <a:pPr algn="ctr"/>
            <a:r>
              <a:rPr lang="en-US" sz="4000" dirty="0"/>
              <a:t>This number line shows </a:t>
            </a:r>
            <a:r>
              <a:rPr lang="en-US" sz="4000" b="1" dirty="0"/>
              <a:t>0 to 60 minutes</a:t>
            </a:r>
            <a:r>
              <a:rPr lang="en-US" sz="4000" dirty="0"/>
              <a:t>.</a:t>
            </a:r>
          </a:p>
          <a:p>
            <a:pPr algn="ctr"/>
            <a:r>
              <a:rPr lang="en-US" sz="4000" dirty="0"/>
              <a:t>Which letter would represent </a:t>
            </a:r>
            <a:r>
              <a:rPr lang="en-US" sz="4000" b="1" dirty="0"/>
              <a:t>40 minutes</a:t>
            </a:r>
            <a:r>
              <a:rPr lang="en-US" sz="4000" dirty="0"/>
              <a:t>?</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6" name="Picture 5" descr="A horizontal number line represents time from 0 minutes on the left to 60 minutes on the right, with arrows at both ends. The left endpoint is labelled 0 and “0 minutes,” and the right endpoint is labelled 1 and “60 minutes.” A mark at the centre is marked one-half. Several coloured markers (red, purple, blue and orange) are placed at different positions between 0 and 1 along the line and are marked A, B, C and D.">
            <a:extLst>
              <a:ext uri="{FF2B5EF4-FFF2-40B4-BE49-F238E27FC236}">
                <a16:creationId xmlns:a16="http://schemas.microsoft.com/office/drawing/2014/main" id="{E18A9203-5EB3-2945-D573-0611DCD48F2A}"/>
              </a:ext>
            </a:extLst>
          </p:cNvPr>
          <p:cNvPicPr>
            <a:picLocks noChangeAspect="1"/>
          </p:cNvPicPr>
          <p:nvPr/>
        </p:nvPicPr>
        <p:blipFill>
          <a:blip r:embed="rId4"/>
          <a:stretch>
            <a:fillRect/>
          </a:stretch>
        </p:blipFill>
        <p:spPr>
          <a:xfrm>
            <a:off x="99081" y="2993569"/>
            <a:ext cx="11744919" cy="2955675"/>
          </a:xfrm>
          <a:prstGeom prst="rect">
            <a:avLst/>
          </a:prstGeom>
        </p:spPr>
      </p:pic>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Picture Placeholder 10">
            <a:extLst>
              <a:ext uri="{FF2B5EF4-FFF2-40B4-BE49-F238E27FC236}">
                <a16:creationId xmlns:a16="http://schemas.microsoft.com/office/drawing/2014/main" id="{24DE5066-F355-4148-F18A-2FB79D2E2291}"/>
              </a:ext>
            </a:extLst>
          </p:cNvPr>
          <p:cNvSpPr txBox="1">
            <a:spLocks/>
          </p:cNvSpPr>
          <p:nvPr/>
        </p:nvSpPr>
        <p:spPr>
          <a:xfrm>
            <a:off x="814171" y="815217"/>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Convert </a:t>
            </a:r>
            <a:r>
              <a:rPr lang="en-AU" sz="4400">
                <a:latin typeface="Arial"/>
                <a:cs typeface="Arial"/>
              </a:rPr>
              <a:t>these measurements from </a:t>
            </a:r>
            <a:r>
              <a:rPr lang="en-AU" sz="4400" b="1">
                <a:latin typeface="Arial"/>
                <a:cs typeface="Arial"/>
              </a:rPr>
              <a:t>grams</a:t>
            </a:r>
            <a:r>
              <a:rPr lang="en-AU" sz="4400">
                <a:latin typeface="Arial"/>
                <a:cs typeface="Arial"/>
              </a:rPr>
              <a:t> to </a:t>
            </a:r>
            <a:r>
              <a:rPr lang="en-AU" sz="4400" b="1">
                <a:latin typeface="Arial"/>
                <a:cs typeface="Arial"/>
              </a:rPr>
              <a:t>kilograms</a:t>
            </a:r>
            <a:r>
              <a:rPr lang="en-AU" sz="4400">
                <a:latin typeface="Arial"/>
                <a:cs typeface="Arial"/>
              </a:rPr>
              <a:t>: </a:t>
            </a:r>
            <a:endParaRPr lang="en-US" sz="4400">
              <a:latin typeface="Arial"/>
              <a:cs typeface="Arial"/>
            </a:endParaRPr>
          </a:p>
        </p:txBody>
      </p:sp>
      <p:sp>
        <p:nvSpPr>
          <p:cNvPr id="7" name="Picture Placeholder 10">
            <a:extLst>
              <a:ext uri="{FF2B5EF4-FFF2-40B4-BE49-F238E27FC236}">
                <a16:creationId xmlns:a16="http://schemas.microsoft.com/office/drawing/2014/main" id="{9D07B6EE-B44A-A518-7B26-0329B5B924E3}"/>
              </a:ext>
            </a:extLst>
          </p:cNvPr>
          <p:cNvSpPr txBox="1">
            <a:spLocks/>
          </p:cNvSpPr>
          <p:nvPr/>
        </p:nvSpPr>
        <p:spPr>
          <a:xfrm>
            <a:off x="1376814" y="3004974"/>
            <a:ext cx="4166820" cy="38530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306 g</a:t>
            </a:r>
          </a:p>
          <a:p>
            <a:pPr marL="742950" indent="-742950">
              <a:buFont typeface="+mj-lt"/>
              <a:buAutoNum type="alphaLcParenR"/>
            </a:pPr>
            <a:r>
              <a:rPr lang="en-US" sz="4400">
                <a:latin typeface="Arial"/>
                <a:cs typeface="Arial"/>
              </a:rPr>
              <a:t>2305 g</a:t>
            </a:r>
          </a:p>
          <a:p>
            <a:pPr marL="742950" indent="-742950">
              <a:buFont typeface="+mj-lt"/>
              <a:buAutoNum type="alphaLcParenR"/>
            </a:pPr>
            <a:r>
              <a:rPr lang="en-US" sz="4400">
                <a:latin typeface="Arial"/>
                <a:cs typeface="Arial"/>
              </a:rPr>
              <a:t>9338 g</a:t>
            </a:r>
            <a:endParaRPr lang="en-US" sz="4400"/>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C728A7D5-EB14-1CBA-8421-06608C344FF1}"/>
              </a:ext>
            </a:extLst>
          </p:cNvPr>
          <p:cNvSpPr txBox="1">
            <a:spLocks/>
          </p:cNvSpPr>
          <p:nvPr/>
        </p:nvSpPr>
        <p:spPr>
          <a:xfrm>
            <a:off x="814170" y="1679886"/>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Use your knowledge of </a:t>
            </a:r>
            <a:r>
              <a:rPr lang="en-AU" sz="4400" b="1">
                <a:latin typeface="Arial"/>
                <a:cs typeface="Arial"/>
              </a:rPr>
              <a:t>multiples</a:t>
            </a:r>
            <a:r>
              <a:rPr lang="en-AU" sz="4400">
                <a:latin typeface="Arial"/>
                <a:cs typeface="Arial"/>
              </a:rPr>
              <a:t> to </a:t>
            </a:r>
            <a:r>
              <a:rPr lang="en-AU" sz="4400" b="1">
                <a:latin typeface="Arial"/>
                <a:cs typeface="Arial"/>
              </a:rPr>
              <a:t>partition</a:t>
            </a:r>
            <a:r>
              <a:rPr lang="en-AU" sz="4400">
                <a:latin typeface="Arial"/>
                <a:cs typeface="Arial"/>
              </a:rPr>
              <a:t> and </a:t>
            </a:r>
            <a:r>
              <a:rPr lang="en-AU" sz="4400" b="1">
                <a:latin typeface="Arial"/>
                <a:cs typeface="Arial"/>
              </a:rPr>
              <a:t>divide:</a:t>
            </a:r>
            <a:r>
              <a:rPr lang="en-AU" sz="4400">
                <a:latin typeface="Arial"/>
                <a:cs typeface="Arial"/>
              </a:rPr>
              <a:t> </a:t>
            </a:r>
            <a:endParaRPr lang="en-US" sz="4400">
              <a:latin typeface="Arial"/>
              <a:cs typeface="Arial"/>
            </a:endParaRPr>
          </a:p>
        </p:txBody>
      </p:sp>
      <p:sp>
        <p:nvSpPr>
          <p:cNvPr id="7" name="Text Placeholder 5">
            <a:extLst>
              <a:ext uri="{FF2B5EF4-FFF2-40B4-BE49-F238E27FC236}">
                <a16:creationId xmlns:a16="http://schemas.microsoft.com/office/drawing/2014/main" id="{7B5CB5B5-6FA6-8640-F064-EFB4445E0261}"/>
              </a:ext>
            </a:extLst>
          </p:cNvPr>
          <p:cNvSpPr txBox="1">
            <a:spLocks/>
          </p:cNvSpPr>
          <p:nvPr/>
        </p:nvSpPr>
        <p:spPr>
          <a:xfrm>
            <a:off x="4091744" y="3842657"/>
            <a:ext cx="4008507" cy="151103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dirty="0">
                <a:solidFill>
                  <a:srgbClr val="146CFD"/>
                </a:solidFill>
              </a:rPr>
              <a:t>1628 </a:t>
            </a:r>
            <a:r>
              <a:rPr lang="en-AU" sz="5400" dirty="0">
                <a:solidFill>
                  <a:srgbClr val="146CFD"/>
                </a:solidFill>
                <a:ea typeface="Calibri" panose="020F0502020204030204" pitchFamily="34" charset="0"/>
                <a:cs typeface="Times New Roman" panose="02020603050405020304" pitchFamily="18" charset="0"/>
              </a:rPr>
              <a:t>÷</a:t>
            </a:r>
            <a:r>
              <a:rPr lang="en-AU" sz="5400" dirty="0">
                <a:solidFill>
                  <a:srgbClr val="146CFD"/>
                </a:solidFill>
              </a:rPr>
              <a:t> 4</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A71B728D-8BF2-C215-2CE8-B227D94B80E0}"/>
              </a:ext>
            </a:extLst>
          </p:cNvPr>
          <p:cNvSpPr txBox="1">
            <a:spLocks/>
          </p:cNvSpPr>
          <p:nvPr/>
        </p:nvSpPr>
        <p:spPr>
          <a:xfrm>
            <a:off x="814171" y="726473"/>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Which </a:t>
            </a:r>
            <a:r>
              <a:rPr lang="en-AU" sz="4400" b="1">
                <a:latin typeface="Arial"/>
                <a:cs typeface="Arial"/>
              </a:rPr>
              <a:t>area</a:t>
            </a:r>
            <a:r>
              <a:rPr lang="en-AU" sz="4400">
                <a:latin typeface="Arial"/>
                <a:cs typeface="Arial"/>
              </a:rPr>
              <a:t> would be </a:t>
            </a:r>
            <a:r>
              <a:rPr lang="en-AU" sz="4400" b="1">
                <a:latin typeface="Arial"/>
                <a:cs typeface="Arial"/>
              </a:rPr>
              <a:t>calculated</a:t>
            </a:r>
            <a:r>
              <a:rPr lang="en-AU" sz="4400">
                <a:latin typeface="Arial"/>
                <a:cs typeface="Arial"/>
              </a:rPr>
              <a:t> using </a:t>
            </a:r>
            <a:r>
              <a:rPr lang="en-AU" sz="4400" b="1">
                <a:latin typeface="Arial"/>
                <a:cs typeface="Arial"/>
              </a:rPr>
              <a:t>square kilometres</a:t>
            </a:r>
            <a:r>
              <a:rPr lang="en-AU" sz="4400">
                <a:latin typeface="Arial"/>
                <a:cs typeface="Arial"/>
              </a:rPr>
              <a:t>?</a:t>
            </a:r>
            <a:endParaRPr lang="en-US" sz="4400">
              <a:latin typeface="Arial"/>
              <a:cs typeface="Arial"/>
            </a:endParaRPr>
          </a:p>
        </p:txBody>
      </p:sp>
      <p:sp>
        <p:nvSpPr>
          <p:cNvPr id="8" name="Rectangle: Rounded Corners 7">
            <a:extLst>
              <a:ext uri="{FF2B5EF4-FFF2-40B4-BE49-F238E27FC236}">
                <a16:creationId xmlns:a16="http://schemas.microsoft.com/office/drawing/2014/main" id="{BD6D178B-3E18-BE7F-C08C-A6A49C5EEF16}"/>
              </a:ext>
              <a:ext uri="{C183D7F6-B498-43B3-948B-1728B52AA6E4}">
                <adec:decorative xmlns:adec="http://schemas.microsoft.com/office/drawing/2017/decorative" val="1"/>
              </a:ext>
            </a:extLst>
          </p:cNvPr>
          <p:cNvSpPr/>
          <p:nvPr/>
        </p:nvSpPr>
        <p:spPr>
          <a:xfrm>
            <a:off x="1690560" y="3120682"/>
            <a:ext cx="3123525" cy="2435702"/>
          </a:xfrm>
          <a:prstGeom prst="roundRect">
            <a:avLst>
              <a:gd name="adj" fmla="val 12016"/>
            </a:avLst>
          </a:prstGeom>
          <a:ln>
            <a:solidFill>
              <a:schemeClr val="accent4">
                <a:lumMod val="9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AU" sz="4400">
                <a:solidFill>
                  <a:schemeClr val="tx1"/>
                </a:solidFill>
              </a:rPr>
              <a:t>swimming pool</a:t>
            </a:r>
          </a:p>
        </p:txBody>
      </p:sp>
      <p:sp>
        <p:nvSpPr>
          <p:cNvPr id="9" name="Rectangle: Rounded Corners 8">
            <a:extLst>
              <a:ext uri="{FF2B5EF4-FFF2-40B4-BE49-F238E27FC236}">
                <a16:creationId xmlns:a16="http://schemas.microsoft.com/office/drawing/2014/main" id="{EC5CE68B-BB9F-6B6C-39CD-2CC32942DA07}"/>
              </a:ext>
              <a:ext uri="{C183D7F6-B498-43B3-948B-1728B52AA6E4}">
                <adec:decorative xmlns:adec="http://schemas.microsoft.com/office/drawing/2017/decorative" val="1"/>
              </a:ext>
            </a:extLst>
          </p:cNvPr>
          <p:cNvSpPr/>
          <p:nvPr/>
        </p:nvSpPr>
        <p:spPr>
          <a:xfrm>
            <a:off x="7377913" y="3120682"/>
            <a:ext cx="3123525" cy="2435702"/>
          </a:xfrm>
          <a:prstGeom prst="roundRect">
            <a:avLst>
              <a:gd name="adj" fmla="val 12016"/>
            </a:avLst>
          </a:prstGeom>
          <a:ln>
            <a:solidFill>
              <a:schemeClr val="accent6">
                <a:lumMod val="9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sz="4400">
                <a:solidFill>
                  <a:schemeClr val="tx1"/>
                </a:solidFill>
              </a:rPr>
              <a:t>local</a:t>
            </a:r>
            <a:r>
              <a:rPr lang="en-AU"/>
              <a:t> </a:t>
            </a:r>
            <a:r>
              <a:rPr lang="en-AU" sz="4400">
                <a:solidFill>
                  <a:schemeClr val="tx1"/>
                </a:solidFill>
              </a:rPr>
              <a:t>park</a:t>
            </a:r>
          </a:p>
        </p:txBody>
      </p:sp>
      <p:sp>
        <p:nvSpPr>
          <p:cNvPr id="7" name="Picture Placeholder 10">
            <a:extLst>
              <a:ext uri="{FF2B5EF4-FFF2-40B4-BE49-F238E27FC236}">
                <a16:creationId xmlns:a16="http://schemas.microsoft.com/office/drawing/2014/main" id="{D30BB5DD-1930-701F-458B-734A6059AD79}"/>
              </a:ext>
            </a:extLst>
          </p:cNvPr>
          <p:cNvSpPr txBox="1">
            <a:spLocks/>
          </p:cNvSpPr>
          <p:nvPr/>
        </p:nvSpPr>
        <p:spPr>
          <a:xfrm>
            <a:off x="814171" y="5697252"/>
            <a:ext cx="10563656" cy="99874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Communicate </a:t>
            </a:r>
            <a:r>
              <a:rPr lang="en-AU" sz="4400">
                <a:latin typeface="Arial"/>
                <a:cs typeface="Arial"/>
              </a:rPr>
              <a:t>your </a:t>
            </a:r>
            <a:r>
              <a:rPr lang="en-AU" sz="4400" b="1">
                <a:latin typeface="Arial"/>
                <a:cs typeface="Arial"/>
              </a:rPr>
              <a:t>reasoning</a:t>
            </a:r>
            <a:r>
              <a:rPr lang="en-AU" sz="4400">
                <a:latin typeface="Arial"/>
                <a:cs typeface="Arial"/>
              </a:rPr>
              <a:t>.</a:t>
            </a:r>
            <a:endParaRPr lang="en-US" sz="4400">
              <a:latin typeface="Arial"/>
              <a:cs typeface="Arial"/>
            </a:endParaRP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8AB7EDF5-5B82-F471-99DA-2A16B16F9CE7}"/>
              </a:ext>
            </a:extLst>
          </p:cNvPr>
          <p:cNvSpPr txBox="1">
            <a:spLocks/>
          </p:cNvSpPr>
          <p:nvPr/>
        </p:nvSpPr>
        <p:spPr>
          <a:xfrm>
            <a:off x="893639" y="905601"/>
            <a:ext cx="9985233" cy="2035575"/>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latin typeface="Arial"/>
                <a:cs typeface="Arial"/>
              </a:rPr>
              <a:t>Convert</a:t>
            </a:r>
            <a:r>
              <a:rPr lang="en-AU" sz="4400" dirty="0">
                <a:latin typeface="Arial"/>
                <a:cs typeface="Arial"/>
              </a:rPr>
              <a:t> to </a:t>
            </a:r>
            <a:r>
              <a:rPr lang="en-AU" sz="4400" b="1" dirty="0">
                <a:latin typeface="Arial"/>
                <a:cs typeface="Arial"/>
              </a:rPr>
              <a:t>12-hour time</a:t>
            </a:r>
            <a:r>
              <a:rPr lang="en-AU" sz="4400" dirty="0">
                <a:latin typeface="Arial"/>
                <a:cs typeface="Arial"/>
              </a:rPr>
              <a:t> using </a:t>
            </a:r>
            <a:r>
              <a:rPr lang="en-AU" sz="4400" b="1" dirty="0">
                <a:latin typeface="Arial"/>
                <a:cs typeface="Arial"/>
              </a:rPr>
              <a:t>am or pm notation:</a:t>
            </a:r>
            <a:endParaRPr lang="en-US" sz="4400" dirty="0">
              <a:latin typeface="Arial"/>
              <a:cs typeface="Arial"/>
            </a:endParaRPr>
          </a:p>
        </p:txBody>
      </p:sp>
      <p:sp>
        <p:nvSpPr>
          <p:cNvPr id="7" name="TextBox 6">
            <a:extLst>
              <a:ext uri="{FF2B5EF4-FFF2-40B4-BE49-F238E27FC236}">
                <a16:creationId xmlns:a16="http://schemas.microsoft.com/office/drawing/2014/main" id="{C5E972D9-2A66-2063-7691-4D36BAAFB16E}"/>
              </a:ext>
            </a:extLst>
          </p:cNvPr>
          <p:cNvSpPr txBox="1"/>
          <p:nvPr/>
        </p:nvSpPr>
        <p:spPr>
          <a:xfrm>
            <a:off x="4292277" y="3220497"/>
            <a:ext cx="5270823" cy="3475503"/>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4400">
                <a:effectLst/>
                <a:latin typeface="Arial" panose="020B0604020202020204" pitchFamily="34" charset="0"/>
                <a:ea typeface="Calibri" panose="020F0502020204030204" pitchFamily="34" charset="0"/>
                <a:cs typeface="Times New Roman" panose="02020603050405020304" pitchFamily="18" charset="0"/>
              </a:rPr>
              <a:t>2330 hours</a:t>
            </a:r>
          </a:p>
          <a:p>
            <a:pPr marL="742950" lvl="0" indent="-742950">
              <a:lnSpc>
                <a:spcPct val="150000"/>
              </a:lnSpc>
              <a:spcBef>
                <a:spcPts val="1200"/>
              </a:spcBef>
              <a:spcAft>
                <a:spcPts val="600"/>
              </a:spcAft>
              <a:buFont typeface="+mj-lt"/>
              <a:buAutoNum type="alphaLcParenR"/>
            </a:pPr>
            <a:r>
              <a:rPr lang="en-AU" sz="4400">
                <a:latin typeface="Arial" panose="020B0604020202020204" pitchFamily="34" charset="0"/>
                <a:ea typeface="Calibri" panose="020F0502020204030204" pitchFamily="34" charset="0"/>
                <a:cs typeface="Times New Roman" panose="02020603050405020304" pitchFamily="18" charset="0"/>
              </a:rPr>
              <a:t>1745 hours</a:t>
            </a:r>
            <a:r>
              <a:rPr lang="en-AU" sz="4400">
                <a:effectLst/>
                <a:latin typeface="Arial" panose="020B0604020202020204" pitchFamily="34" charset="0"/>
                <a:ea typeface="Calibri" panose="020F0502020204030204" pitchFamily="34" charset="0"/>
                <a:cs typeface="Times New Roman" panose="02020603050405020304" pitchFamily="18" charset="0"/>
              </a:rPr>
              <a:t> </a:t>
            </a:r>
          </a:p>
          <a:p>
            <a:pPr marL="742950" lvl="0" indent="-742950">
              <a:lnSpc>
                <a:spcPct val="150000"/>
              </a:lnSpc>
              <a:spcBef>
                <a:spcPts val="1200"/>
              </a:spcBef>
              <a:spcAft>
                <a:spcPts val="600"/>
              </a:spcAft>
              <a:buFont typeface="+mj-lt"/>
              <a:buAutoNum type="alphaLcParenR"/>
            </a:pPr>
            <a:r>
              <a:rPr lang="en-AU" sz="4400">
                <a:effectLst/>
                <a:latin typeface="Arial" panose="020B0604020202020204" pitchFamily="34" charset="0"/>
                <a:ea typeface="Calibri" panose="020F0502020204030204" pitchFamily="34" charset="0"/>
                <a:cs typeface="Times New Roman" panose="02020603050405020304" pitchFamily="18" charset="0"/>
              </a:rPr>
              <a:t>0815 hours.</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fraction of time</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number line of 0 to 1 hour. Fractions of the hour are provided, showing the number of minutes represented by each. Students need to place the fractions in the correct place on the number line and then record the equivalent minutes above the line. The  minutes representing fractions are 10, 45, 20, 6, 40 and 15. For example, 10 minutes is equivalent to one-sixth of an hour.">
            <a:extLst>
              <a:ext uri="{FF2B5EF4-FFF2-40B4-BE49-F238E27FC236}">
                <a16:creationId xmlns:a16="http://schemas.microsoft.com/office/drawing/2014/main" id="{EF435769-E975-4019-0666-61CF38D4A0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141" y="1737101"/>
            <a:ext cx="10207718" cy="4956041"/>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1" y="1703304"/>
                <a:ext cx="11243037" cy="1532033"/>
              </a:xfrm>
            </p:spPr>
            <p:txBody>
              <a:bodyPr/>
              <a:lstStyle/>
              <a:p>
                <a:pPr algn="ctr"/>
                <a:r>
                  <a:rPr lang="en-AU" sz="4400"/>
                  <a:t>On a number line, </a:t>
                </a:r>
                <a14:m>
                  <m:oMath xmlns:m="http://schemas.openxmlformats.org/officeDocument/2006/math">
                    <m:f>
                      <m:fPr>
                        <m:ctrlPr>
                          <a:rPr lang="en-AU" sz="4400" b="1" i="1" smtClean="0">
                            <a:latin typeface="Cambria Math" panose="02040503050406030204" pitchFamily="18" charset="0"/>
                          </a:rPr>
                        </m:ctrlPr>
                      </m:fPr>
                      <m:num>
                        <m:r>
                          <a:rPr lang="en-AU" sz="4400" b="1" i="1" smtClean="0">
                            <a:latin typeface="Cambria Math" panose="02040503050406030204" pitchFamily="18" charset="0"/>
                          </a:rPr>
                          <m:t>𝟑</m:t>
                        </m:r>
                      </m:num>
                      <m:den>
                        <m:r>
                          <a:rPr lang="en-AU" sz="4400" b="1" i="1" smtClean="0">
                            <a:latin typeface="Cambria Math" panose="02040503050406030204" pitchFamily="18" charset="0"/>
                          </a:rPr>
                          <m:t>𝟒</m:t>
                        </m:r>
                      </m:den>
                    </m:f>
                  </m:oMath>
                </a14:m>
                <a:r>
                  <a:rPr lang="en-AU" sz="4400" b="1"/>
                  <a:t> </a:t>
                </a:r>
                <a:r>
                  <a:rPr lang="en-AU" sz="4400"/>
                  <a:t>is </a:t>
                </a:r>
                <a:r>
                  <a:rPr lang="en-AU" sz="4400" b="1"/>
                  <a:t>closer to one </a:t>
                </a:r>
                <a:r>
                  <a:rPr lang="en-AU" sz="4400"/>
                  <a:t>than </a:t>
                </a:r>
                <a14:m>
                  <m:oMath xmlns:m="http://schemas.openxmlformats.org/officeDocument/2006/math">
                    <m:f>
                      <m:fPr>
                        <m:ctrlPr>
                          <a:rPr lang="en-AU" sz="4400" b="1" i="1" smtClean="0">
                            <a:latin typeface="Cambria Math" panose="02040503050406030204" pitchFamily="18" charset="0"/>
                          </a:rPr>
                        </m:ctrlPr>
                      </m:fPr>
                      <m:num>
                        <m:r>
                          <a:rPr lang="en-AU" sz="4400" b="1" i="1" smtClean="0">
                            <a:latin typeface="Cambria Math" panose="02040503050406030204" pitchFamily="18" charset="0"/>
                          </a:rPr>
                          <m:t>𝟓</m:t>
                        </m:r>
                      </m:num>
                      <m:den>
                        <m:r>
                          <a:rPr lang="en-AU" sz="4400" b="1" i="1" smtClean="0">
                            <a:latin typeface="Cambria Math" panose="02040503050406030204" pitchFamily="18" charset="0"/>
                          </a:rPr>
                          <m:t>𝟖</m:t>
                        </m:r>
                      </m:den>
                    </m:f>
                  </m:oMath>
                </a14:m>
                <a:r>
                  <a:rPr lang="en-AU" sz="4400"/>
                  <a:t>.</a:t>
                </a:r>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474481" y="1703304"/>
                <a:ext cx="11243037" cy="1532033"/>
              </a:xfrm>
              <a:blipFill>
                <a:blip r:embed="rId4"/>
                <a:stretch>
                  <a:fillRect l="-1247" r="-1193"/>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597538400"/>
              </p:ext>
            </p:extLst>
          </p:nvPr>
        </p:nvGraphicFramePr>
        <p:xfrm>
          <a:off x="2557461" y="466774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73207B3D-F0FB-E863-544B-11C569AD22E4}"/>
              </a:ext>
            </a:extLst>
          </p:cNvPr>
          <p:cNvSpPr txBox="1">
            <a:spLocks/>
          </p:cNvSpPr>
          <p:nvPr/>
        </p:nvSpPr>
        <p:spPr>
          <a:xfrm>
            <a:off x="814171" y="815217"/>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Convert </a:t>
            </a:r>
            <a:r>
              <a:rPr lang="en-AU" sz="4400">
                <a:latin typeface="Arial"/>
                <a:cs typeface="Arial"/>
              </a:rPr>
              <a:t>these measurements from </a:t>
            </a:r>
            <a:r>
              <a:rPr lang="en-AU" sz="4400" b="1">
                <a:latin typeface="Arial"/>
                <a:cs typeface="Arial"/>
              </a:rPr>
              <a:t>kilograms</a:t>
            </a:r>
            <a:r>
              <a:rPr lang="en-AU" sz="4400">
                <a:latin typeface="Arial"/>
                <a:cs typeface="Arial"/>
              </a:rPr>
              <a:t> to </a:t>
            </a:r>
            <a:r>
              <a:rPr lang="en-AU" sz="4400" b="1">
                <a:latin typeface="Arial"/>
                <a:cs typeface="Arial"/>
              </a:rPr>
              <a:t>tonnes</a:t>
            </a:r>
            <a:r>
              <a:rPr lang="en-AU" sz="4400">
                <a:latin typeface="Arial"/>
                <a:cs typeface="Arial"/>
              </a:rPr>
              <a:t>: </a:t>
            </a:r>
            <a:endParaRPr lang="en-US" sz="4400">
              <a:latin typeface="Arial"/>
              <a:cs typeface="Arial"/>
            </a:endParaRPr>
          </a:p>
        </p:txBody>
      </p:sp>
      <p:sp>
        <p:nvSpPr>
          <p:cNvPr id="7" name="Picture Placeholder 10">
            <a:extLst>
              <a:ext uri="{FF2B5EF4-FFF2-40B4-BE49-F238E27FC236}">
                <a16:creationId xmlns:a16="http://schemas.microsoft.com/office/drawing/2014/main" id="{DD06D864-4B5B-AAB1-7F12-5107B510C0E2}"/>
              </a:ext>
            </a:extLst>
          </p:cNvPr>
          <p:cNvSpPr txBox="1">
            <a:spLocks/>
          </p:cNvSpPr>
          <p:nvPr/>
        </p:nvSpPr>
        <p:spPr>
          <a:xfrm>
            <a:off x="1376814" y="3057102"/>
            <a:ext cx="4166820" cy="38530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3650 kg</a:t>
            </a:r>
          </a:p>
          <a:p>
            <a:pPr marL="742950" indent="-742950">
              <a:buFont typeface="+mj-lt"/>
              <a:buAutoNum type="alphaLcParenR"/>
            </a:pPr>
            <a:r>
              <a:rPr lang="en-US" sz="4400">
                <a:latin typeface="Arial"/>
                <a:cs typeface="Arial"/>
              </a:rPr>
              <a:t>6605 kg</a:t>
            </a:r>
          </a:p>
          <a:p>
            <a:pPr marL="742950" indent="-742950">
              <a:buFont typeface="+mj-lt"/>
              <a:buAutoNum type="alphaLcParenR"/>
            </a:pPr>
            <a:r>
              <a:rPr lang="en-US" sz="4400">
                <a:latin typeface="Arial"/>
                <a:cs typeface="Arial"/>
              </a:rPr>
              <a:t>8002 kg</a:t>
            </a:r>
            <a:endParaRPr lang="en-US" sz="4400"/>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Picture Placeholder 10">
            <a:extLst>
              <a:ext uri="{FF2B5EF4-FFF2-40B4-BE49-F238E27FC236}">
                <a16:creationId xmlns:a16="http://schemas.microsoft.com/office/drawing/2014/main" id="{E75D7161-B62B-B6DA-C867-F9BB517C63BB}"/>
              </a:ext>
            </a:extLst>
          </p:cNvPr>
          <p:cNvSpPr txBox="1">
            <a:spLocks/>
          </p:cNvSpPr>
          <p:nvPr/>
        </p:nvSpPr>
        <p:spPr>
          <a:xfrm>
            <a:off x="814172" y="1346321"/>
            <a:ext cx="10563656" cy="102509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t>
            </a:r>
            <a:r>
              <a:rPr lang="en-AU" sz="4400" b="1"/>
              <a:t>repeated halving </a:t>
            </a:r>
            <a:r>
              <a:rPr lang="en-AU" sz="4400"/>
              <a:t>to </a:t>
            </a:r>
            <a:r>
              <a:rPr lang="en-AU" sz="4400" b="1"/>
              <a:t>solve</a:t>
            </a:r>
            <a:r>
              <a:rPr lang="en-AU" sz="4400"/>
              <a:t>: </a:t>
            </a:r>
          </a:p>
        </p:txBody>
      </p:sp>
      <p:sp>
        <p:nvSpPr>
          <p:cNvPr id="9" name="Picture Placeholder 10">
            <a:extLst>
              <a:ext uri="{FF2B5EF4-FFF2-40B4-BE49-F238E27FC236}">
                <a16:creationId xmlns:a16="http://schemas.microsoft.com/office/drawing/2014/main" id="{6054640E-9B35-C2EA-355E-95E58A7A00D2}"/>
              </a:ext>
            </a:extLst>
          </p:cNvPr>
          <p:cNvSpPr txBox="1">
            <a:spLocks/>
          </p:cNvSpPr>
          <p:nvPr/>
        </p:nvSpPr>
        <p:spPr>
          <a:xfrm>
            <a:off x="814172" y="3169494"/>
            <a:ext cx="10563656" cy="215931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4 identical bicycles cost $5408, what is the cost of one bicycle?</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E6208139-810F-C90D-48A4-BC11337A1FC5}"/>
              </a:ext>
            </a:extLst>
          </p:cNvPr>
          <p:cNvSpPr txBox="1">
            <a:spLocks/>
          </p:cNvSpPr>
          <p:nvPr/>
        </p:nvSpPr>
        <p:spPr>
          <a:xfrm>
            <a:off x="360000" y="2122151"/>
            <a:ext cx="4980708" cy="40670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Calculate </a:t>
            </a:r>
            <a:r>
              <a:rPr lang="en-AU" sz="4400">
                <a:latin typeface="Arial"/>
                <a:cs typeface="Arial"/>
              </a:rPr>
              <a:t>the </a:t>
            </a:r>
            <a:r>
              <a:rPr lang="en-AU" sz="4400" b="1">
                <a:latin typeface="Arial"/>
                <a:cs typeface="Arial"/>
              </a:rPr>
              <a:t>area </a:t>
            </a:r>
            <a:r>
              <a:rPr lang="en-AU" sz="4400">
                <a:latin typeface="Arial"/>
                <a:cs typeface="Arial"/>
              </a:rPr>
              <a:t>of this </a:t>
            </a:r>
            <a:r>
              <a:rPr lang="en-AU" sz="4400" b="1">
                <a:latin typeface="Arial"/>
                <a:cs typeface="Arial"/>
              </a:rPr>
              <a:t>rectangle.</a:t>
            </a:r>
            <a:endParaRPr lang="en-US" sz="4400">
              <a:latin typeface="Arial"/>
              <a:cs typeface="Arial"/>
            </a:endParaRPr>
          </a:p>
        </p:txBody>
      </p:sp>
      <p:pic>
        <p:nvPicPr>
          <p:cNvPr id="8" name="Picture 7" descr="A four-sided shape with opposite sides equal, showing a horizontal side labelled 7 kilometres and a vertical side labelled 8 kilometres.">
            <a:extLst>
              <a:ext uri="{FF2B5EF4-FFF2-40B4-BE49-F238E27FC236}">
                <a16:creationId xmlns:a16="http://schemas.microsoft.com/office/drawing/2014/main" id="{3C4EF427-0113-AF44-D183-A5A11672FFE8}"/>
              </a:ext>
            </a:extLst>
          </p:cNvPr>
          <p:cNvPicPr>
            <a:picLocks noChangeAspect="1"/>
          </p:cNvPicPr>
          <p:nvPr/>
        </p:nvPicPr>
        <p:blipFill>
          <a:blip r:embed="rId4"/>
          <a:stretch>
            <a:fillRect/>
          </a:stretch>
        </p:blipFill>
        <p:spPr>
          <a:xfrm>
            <a:off x="5867754" y="668820"/>
            <a:ext cx="4786639" cy="5520357"/>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7645A7C5-CA53-7B22-715A-E4EF1654A7B6}"/>
              </a:ext>
            </a:extLst>
          </p:cNvPr>
          <p:cNvSpPr txBox="1">
            <a:spLocks/>
          </p:cNvSpPr>
          <p:nvPr/>
        </p:nvSpPr>
        <p:spPr>
          <a:xfrm>
            <a:off x="277971" y="1026162"/>
            <a:ext cx="11437894" cy="91550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000" dirty="0"/>
              <a:t>Seb needs to choose an </a:t>
            </a:r>
            <a:r>
              <a:rPr lang="en-AU" sz="3000" b="1" dirty="0"/>
              <a:t>appropriate vertical scale </a:t>
            </a:r>
            <a:r>
              <a:rPr lang="en-AU" sz="3000" dirty="0"/>
              <a:t>for this graph to represent the following </a:t>
            </a:r>
            <a:r>
              <a:rPr lang="en-AU" sz="3000" b="1" dirty="0"/>
              <a:t>number of books read each month</a:t>
            </a:r>
            <a:r>
              <a:rPr lang="en-AU" sz="3000" dirty="0"/>
              <a:t>.</a:t>
            </a:r>
            <a:endParaRPr lang="en-US" sz="3000" dirty="0">
              <a:latin typeface="Arial"/>
              <a:cs typeface="Arial"/>
            </a:endParaRPr>
          </a:p>
        </p:txBody>
      </p:sp>
      <p:sp>
        <p:nvSpPr>
          <p:cNvPr id="7" name="Picture Placeholder 10">
            <a:extLst>
              <a:ext uri="{FF2B5EF4-FFF2-40B4-BE49-F238E27FC236}">
                <a16:creationId xmlns:a16="http://schemas.microsoft.com/office/drawing/2014/main" id="{1043799F-6785-F11C-67E5-D8E250F3BB87}"/>
              </a:ext>
            </a:extLst>
          </p:cNvPr>
          <p:cNvSpPr txBox="1">
            <a:spLocks/>
          </p:cNvSpPr>
          <p:nvPr/>
        </p:nvSpPr>
        <p:spPr>
          <a:xfrm>
            <a:off x="1868057" y="2938945"/>
            <a:ext cx="2693443" cy="2259235"/>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gn="ctr">
              <a:spcAft>
                <a:spcPts val="0"/>
              </a:spcAft>
              <a:buFont typeface="Arial" panose="020B0604020202020204" pitchFamily="34" charset="0"/>
              <a:buChar char="•"/>
            </a:pPr>
            <a:r>
              <a:rPr lang="en-AU" sz="2400" dirty="0">
                <a:latin typeface="Arial"/>
                <a:cs typeface="Arial"/>
              </a:rPr>
              <a:t>Jan: 2</a:t>
            </a:r>
          </a:p>
          <a:p>
            <a:pPr marL="571500" indent="-571500" algn="ctr">
              <a:spcAft>
                <a:spcPts val="0"/>
              </a:spcAft>
              <a:buFont typeface="Arial" panose="020B0604020202020204" pitchFamily="34" charset="0"/>
              <a:buChar char="•"/>
            </a:pPr>
            <a:r>
              <a:rPr lang="en-AU" sz="2400" dirty="0">
                <a:latin typeface="Arial"/>
                <a:cs typeface="Arial"/>
              </a:rPr>
              <a:t>Feb: 5</a:t>
            </a:r>
          </a:p>
          <a:p>
            <a:pPr marL="571500" indent="-571500" algn="ctr">
              <a:spcAft>
                <a:spcPts val="0"/>
              </a:spcAft>
              <a:buFont typeface="Arial" panose="020B0604020202020204" pitchFamily="34" charset="0"/>
              <a:buChar char="•"/>
            </a:pPr>
            <a:r>
              <a:rPr lang="en-AU" sz="2400" dirty="0">
                <a:latin typeface="Arial"/>
                <a:cs typeface="Arial"/>
              </a:rPr>
              <a:t>Mar: 9</a:t>
            </a:r>
          </a:p>
          <a:p>
            <a:pPr marL="571500" indent="-571500" algn="ctr">
              <a:spcAft>
                <a:spcPts val="0"/>
              </a:spcAft>
              <a:buFont typeface="Arial" panose="020B0604020202020204" pitchFamily="34" charset="0"/>
              <a:buChar char="•"/>
            </a:pPr>
            <a:r>
              <a:rPr lang="en-AU" sz="2400" dirty="0">
                <a:latin typeface="Arial"/>
                <a:cs typeface="Arial"/>
              </a:rPr>
              <a:t>Apr: 12</a:t>
            </a:r>
            <a:endParaRPr lang="en-US" sz="2400" dirty="0">
              <a:latin typeface="Arial"/>
              <a:cs typeface="Arial"/>
            </a:endParaRPr>
          </a:p>
        </p:txBody>
      </p:sp>
      <p:pic>
        <p:nvPicPr>
          <p:cNvPr id="10" name="Picture 9" descr="A grid background shows a set of axes with a vertical line on the left and a horizontal line along the bottom. Along the horizontal axis, evenly spaced tick marks are labelled Jan, Feb, Mar and Apr.">
            <a:extLst>
              <a:ext uri="{FF2B5EF4-FFF2-40B4-BE49-F238E27FC236}">
                <a16:creationId xmlns:a16="http://schemas.microsoft.com/office/drawing/2014/main" id="{E977A3C9-4619-E4E2-ECD1-4D4A346266E8}"/>
              </a:ext>
            </a:extLst>
          </p:cNvPr>
          <p:cNvPicPr>
            <a:picLocks noChangeAspect="1"/>
          </p:cNvPicPr>
          <p:nvPr/>
        </p:nvPicPr>
        <p:blipFill>
          <a:blip r:embed="rId4"/>
          <a:stretch>
            <a:fillRect/>
          </a:stretch>
        </p:blipFill>
        <p:spPr>
          <a:xfrm>
            <a:off x="5170312" y="2485712"/>
            <a:ext cx="4281312" cy="3165700"/>
          </a:xfrm>
          <a:prstGeom prst="rect">
            <a:avLst/>
          </a:prstGeom>
          <a:solidFill>
            <a:schemeClr val="bg1"/>
          </a:solidFill>
          <a:ln>
            <a:noFill/>
          </a:ln>
          <a:effectLst>
            <a:outerShdw blurRad="292100" dist="139700" dir="2700000" algn="tl" rotWithShape="0">
              <a:srgbClr val="333333">
                <a:alpha val="65000"/>
              </a:srgbClr>
            </a:outerShdw>
          </a:effectLst>
        </p:spPr>
      </p:pic>
      <p:sp>
        <p:nvSpPr>
          <p:cNvPr id="8" name="Picture Placeholder 10">
            <a:extLst>
              <a:ext uri="{FF2B5EF4-FFF2-40B4-BE49-F238E27FC236}">
                <a16:creationId xmlns:a16="http://schemas.microsoft.com/office/drawing/2014/main" id="{1C0E6C14-2009-D680-0BE9-1FE32E81424E}"/>
              </a:ext>
            </a:extLst>
          </p:cNvPr>
          <p:cNvSpPr txBox="1">
            <a:spLocks/>
          </p:cNvSpPr>
          <p:nvPr/>
        </p:nvSpPr>
        <p:spPr>
          <a:xfrm>
            <a:off x="277971" y="5699564"/>
            <a:ext cx="11636058" cy="91550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000" dirty="0"/>
              <a:t>What would be an </a:t>
            </a:r>
            <a:r>
              <a:rPr lang="en-AU" sz="3000" b="1" dirty="0"/>
              <a:t>appropriate vertical scale</a:t>
            </a:r>
            <a:r>
              <a:rPr lang="en-AU" sz="3000" dirty="0"/>
              <a:t>?</a:t>
            </a:r>
            <a:endParaRPr lang="en-US" sz="3000" dirty="0">
              <a:latin typeface="Arial"/>
              <a:cs typeface="Arial"/>
            </a:endParaRP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compare and order fractions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9" name="Picture 8" descr="A cartoon scene shows a school-aged girl with brown hair and a headband standing on the left, smiling beside a whiteboard. On the whiteboard is a horizontal number line with arrows at both ends, labelled 0 on the left and 1 on the right. Two points are marked between them: one labelled three eighths and another closer to 1 labelled three quarters.&#10;&#10;Below the number line are several multi-sided dice showing the numbers 4 and 3 on the left, and 3 and 8 on the right. A school-aged boy with a backpack stands to the right of the board holding a marker, smiling.&#10;&#10;Next to him, an adult male teacher wearing glasses and holding a book gives a thumbs up. A speech bubble above the teacher reads, “Closest to 1 wins!”">
            <a:extLst>
              <a:ext uri="{FF2B5EF4-FFF2-40B4-BE49-F238E27FC236}">
                <a16:creationId xmlns:a16="http://schemas.microsoft.com/office/drawing/2014/main" id="{24657B8B-9EB3-9224-9199-5C010FCAD2B6}"/>
              </a:ext>
            </a:extLst>
          </p:cNvPr>
          <p:cNvPicPr>
            <a:picLocks noChangeAspect="1"/>
          </p:cNvPicPr>
          <p:nvPr/>
        </p:nvPicPr>
        <p:blipFill>
          <a:blip r:embed="rId4"/>
          <a:stretch>
            <a:fillRect/>
          </a:stretch>
        </p:blipFill>
        <p:spPr>
          <a:xfrm>
            <a:off x="182498" y="1252466"/>
            <a:ext cx="11827003" cy="526353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25 February 2026) and was not modified.</a:t>
            </a:r>
          </a:p>
          <a:p>
            <a:r>
              <a:rPr lang="en-AU"/>
              <a:t>Australian Academy of Science (2020) ‘</a:t>
            </a:r>
            <a:r>
              <a:rPr lang="en-AU" u="sng">
                <a:hlinkClick r:id="rId9"/>
              </a:rPr>
              <a:t>Measurement: Jump!</a:t>
            </a:r>
            <a:r>
              <a:rPr lang="en-AU"/>
              <a:t>’, </a:t>
            </a:r>
            <a:r>
              <a:rPr lang="en-AU" i="1"/>
              <a:t>Classic sequences for AC V8.4</a:t>
            </a:r>
            <a:r>
              <a:rPr lang="en-AU"/>
              <a:t>, </a:t>
            </a:r>
            <a:r>
              <a:rPr lang="en-AU" err="1"/>
              <a:t>reSolve</a:t>
            </a:r>
            <a:r>
              <a:rPr lang="en-AU"/>
              <a:t> website, accessed 25 February 2026.</a:t>
            </a:r>
          </a:p>
          <a:p>
            <a:r>
              <a:rPr lang="en-AU"/>
              <a:t>Grant J, Lewis E and Woods A (2007) </a:t>
            </a:r>
            <a:r>
              <a:rPr lang="en-AU" i="1"/>
              <a:t>Cambridge Maths in-a-Box 3</a:t>
            </a:r>
            <a:r>
              <a:rPr lang="en-AU"/>
              <a:t>, Cambridge University Press, Australia.</a:t>
            </a:r>
          </a:p>
          <a:p>
            <a:r>
              <a:rPr lang="en-AU"/>
              <a:t>Lenchner G (2022) </a:t>
            </a:r>
            <a:r>
              <a:rPr lang="en-AU" i="1"/>
              <a:t>Creative Problem Solving in School Mathematics</a:t>
            </a:r>
            <a:r>
              <a:rPr lang="en-AU"/>
              <a:t>, Australasian Problem Solving Mathematical Olympiad (APSMO), Australia.</a:t>
            </a:r>
          </a:p>
          <a:p>
            <a:r>
              <a:rPr lang="en-AU"/>
              <a:t>New Zealand Ministry of Education (n.d.) ‘</a:t>
            </a:r>
            <a:r>
              <a:rPr lang="en-AU" u="sng">
                <a:hlinkClick r:id="rId10"/>
              </a:rPr>
              <a:t>Weighty Problems’</a:t>
            </a:r>
            <a:r>
              <a:rPr lang="en-AU"/>
              <a:t>, </a:t>
            </a:r>
            <a:r>
              <a:rPr lang="en-AU" i="1"/>
              <a:t>Resource</a:t>
            </a:r>
            <a:r>
              <a:rPr lang="en-AU"/>
              <a:t>, NZ Maths website, accessed 25 February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D532F-E123-5A43-BF1B-4AADC0D3D7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17946C-78F4-8415-15D1-264814B419EF}"/>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9CDA5435-3B2C-D420-DBEB-9AB5CEC6E48D}"/>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EE0468CE-A7B7-36CE-654E-5DAA2CC3940B}"/>
              </a:ext>
            </a:extLst>
          </p:cNvPr>
          <p:cNvSpPr>
            <a:spLocks noGrp="1"/>
          </p:cNvSpPr>
          <p:nvPr>
            <p:ph idx="1"/>
          </p:nvPr>
        </p:nvSpPr>
        <p:spPr/>
        <p:txBody>
          <a:bodyPr/>
          <a:lstStyle/>
          <a:p>
            <a:r>
              <a:rPr lang="en-AU"/>
              <a:t>State of New South Wales (Department of Education) (2023) ‘</a:t>
            </a:r>
            <a:r>
              <a:rPr lang="en-AU" u="sng">
                <a:hlinkClick r:id="rId6"/>
              </a:rPr>
              <a:t>Stage 3 Mass</a:t>
            </a:r>
            <a:r>
              <a:rPr lang="en-AU"/>
              <a:t>’, </a:t>
            </a:r>
            <a:r>
              <a:rPr lang="en-AU" i="1"/>
              <a:t>Universal Resources Hub</a:t>
            </a:r>
            <a:r>
              <a:rPr lang="en-AU"/>
              <a:t>, NSW Department of Education website, accessed 25 February 2026.</a:t>
            </a:r>
          </a:p>
          <a:p>
            <a:r>
              <a:rPr lang="en-AU"/>
              <a:t>——(2024) ‘</a:t>
            </a:r>
            <a:r>
              <a:rPr lang="en-AU" u="sng">
                <a:hlinkClick r:id="rId7"/>
              </a:rPr>
              <a:t>2 truths 1 lie (whole numbers)’</a:t>
            </a:r>
            <a:r>
              <a:rPr lang="en-AU"/>
              <a:t>, </a:t>
            </a:r>
            <a:r>
              <a:rPr lang="en-AU" i="1"/>
              <a:t>Thinking mathematically resources</a:t>
            </a:r>
            <a:r>
              <a:rPr lang="en-AU"/>
              <a:t>, NSW Department of Education website, accessed 9 April 2026.</a:t>
            </a:r>
          </a:p>
          <a:p>
            <a:r>
              <a:rPr lang="en-AU"/>
              <a:t>Sullivan P (2017) </a:t>
            </a:r>
            <a:r>
              <a:rPr lang="en-AU" i="1"/>
              <a:t>Challenging Mathematical Tasks: Unlocking the Potential of All Students</a:t>
            </a:r>
            <a:r>
              <a:rPr lang="en-AU"/>
              <a:t>, Oxford University Press ANZ, Great Britain.</a:t>
            </a:r>
          </a:p>
          <a:p>
            <a:r>
              <a:rPr lang="en-AU"/>
              <a:t>Sullivan P and Lilburn P (2017) </a:t>
            </a:r>
            <a:r>
              <a:rPr lang="en-AU" i="1"/>
              <a:t>Open-ended Maths Activities: Using ‘Good’ Questions to Enhance Learning in Mathematics</a:t>
            </a:r>
            <a:r>
              <a:rPr lang="en-AU"/>
              <a:t>, Revised </a:t>
            </a:r>
            <a:r>
              <a:rPr lang="en-AU" err="1"/>
              <a:t>edn</a:t>
            </a:r>
            <a:r>
              <a:rPr lang="en-AU"/>
              <a:t>, Oxford University Press ANZ, Great Britain.</a:t>
            </a:r>
          </a:p>
        </p:txBody>
      </p:sp>
      <p:sp>
        <p:nvSpPr>
          <p:cNvPr id="2" name="Slide Number Placeholder 1">
            <a:extLst>
              <a:ext uri="{FF2B5EF4-FFF2-40B4-BE49-F238E27FC236}">
                <a16:creationId xmlns:a16="http://schemas.microsoft.com/office/drawing/2014/main" id="{1A480A37-34BB-BB70-46FB-3455B078394E}"/>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406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F6832822-D1B3-4219-ADE9-F3A2DD880C9A}"/>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CE555570-2BD4-426B-AA32-0A79CB6508A8}">
  <ds:schemaRefs>
    <ds:schemaRef ds:uri="7e763d47-3c66-4c58-9425-1477fd3ccd1e"/>
    <ds:schemaRef ds:uri="http://purl.org/dc/elements/1.1/"/>
    <ds:schemaRef ds:uri="http://schemas.microsoft.com/office/2006/metadata/properties"/>
    <ds:schemaRef ds:uri="http://www.w3.org/XML/1998/namespace"/>
    <ds:schemaRef ds:uri="http://schemas.microsoft.com/sharepoint/v3"/>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60129b06-f64b-40a8-96e2-c5b2f86112b1"/>
    <ds:schemaRef ds:uri="http://purl.org/dc/dcmitype/"/>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5655</Words>
  <Application>Microsoft Office PowerPoint</Application>
  <PresentationFormat>Widescreen</PresentationFormat>
  <Paragraphs>796</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Montserrat</vt:lpstr>
      <vt:lpstr>Times New Roman</vt:lpstr>
      <vt:lpstr>Calibri</vt:lpstr>
      <vt:lpstr>Arial</vt:lpstr>
      <vt:lpstr>Public Sans</vt:lpstr>
      <vt:lpstr>Public Sans Light</vt:lpstr>
      <vt:lpstr>Cambria Math</vt:lpstr>
      <vt:lpstr>Wingdings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decimal numbers</vt:lpstr>
      <vt:lpstr>Review of learning 2</vt:lpstr>
      <vt:lpstr>True or false (1)</vt:lpstr>
      <vt:lpstr>Short response (5)</vt:lpstr>
      <vt:lpstr>Short response (6)</vt:lpstr>
      <vt:lpstr>Short response (7)</vt:lpstr>
      <vt:lpstr>Short response (8)</vt:lpstr>
      <vt:lpstr>Activity 2 – before and after decimals numbers</vt:lpstr>
      <vt:lpstr>Review of learning 3</vt:lpstr>
      <vt:lpstr>Multiple choice (2)</vt:lpstr>
      <vt:lpstr>Short response (9)</vt:lpstr>
      <vt:lpstr>Short response (10)</vt:lpstr>
      <vt:lpstr>Short response (11)</vt:lpstr>
      <vt:lpstr>Short response (12)</vt:lpstr>
      <vt:lpstr>Activity 3 – making thousandths</vt:lpstr>
      <vt:lpstr>Review of learning 4</vt:lpstr>
      <vt:lpstr>True or false (2)</vt:lpstr>
      <vt:lpstr>Short response (13)</vt:lpstr>
      <vt:lpstr>Short response (14)</vt:lpstr>
      <vt:lpstr>Short response (15)</vt:lpstr>
      <vt:lpstr>Short response (16)</vt:lpstr>
      <vt:lpstr>Activity 4 – decimals in the place value system</vt:lpstr>
      <vt:lpstr>Review of learning 5</vt:lpstr>
      <vt:lpstr>Multiple choice (3)</vt:lpstr>
      <vt:lpstr>Short response (17)</vt:lpstr>
      <vt:lpstr>Short response (18)</vt:lpstr>
      <vt:lpstr>Short response (19)</vt:lpstr>
      <vt:lpstr>Short response (20)</vt:lpstr>
      <vt:lpstr>Activity 5 – order fractions</vt:lpstr>
      <vt:lpstr>Review of learning 6</vt:lpstr>
      <vt:lpstr>True or false (3)</vt:lpstr>
      <vt:lpstr>Short response (21)</vt:lpstr>
      <vt:lpstr>Short response (22)</vt:lpstr>
      <vt:lpstr>Short response (23)</vt:lpstr>
      <vt:lpstr>Short response (24)</vt:lpstr>
      <vt:lpstr>Activity 6 – fractions on a number line</vt:lpstr>
      <vt:lpstr>Review of learning 7</vt:lpstr>
      <vt:lpstr>Multiple choice (4)</vt:lpstr>
      <vt:lpstr>Short response (25)</vt:lpstr>
      <vt:lpstr>Short response (26)</vt:lpstr>
      <vt:lpstr>Short response (27)</vt:lpstr>
      <vt:lpstr>Short response (28)</vt:lpstr>
      <vt:lpstr>Activity 7 – fraction of time</vt:lpstr>
      <vt:lpstr>Review of learning 8</vt:lpstr>
      <vt:lpstr>True or false (4)</vt:lpstr>
      <vt:lpstr>Short response (29)</vt:lpstr>
      <vt:lpstr>Short response (30)</vt:lpstr>
      <vt:lpstr>Short response (31)</vt:lpstr>
      <vt:lpstr>Short response (32)</vt:lpstr>
      <vt:lpstr>Activity 8 – compare and order fractions</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2026-07-06T05:15:57Z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