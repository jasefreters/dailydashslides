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646" r:id="rId9"/>
    <p:sldId id="26650" r:id="rId10"/>
    <p:sldId id="26580" r:id="rId11"/>
    <p:sldId id="26581" r:id="rId12"/>
    <p:sldId id="26647" r:id="rId13"/>
    <p:sldId id="26576" r:id="rId14"/>
    <p:sldId id="26583" r:id="rId15"/>
    <p:sldId id="26586" r:id="rId16"/>
    <p:sldId id="26652" r:id="rId17"/>
    <p:sldId id="26588" r:id="rId18"/>
    <p:sldId id="26589" r:id="rId19"/>
    <p:sldId id="26582"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651" r:id="rId64"/>
    <p:sldId id="26393" r:id="rId65"/>
    <p:sldId id="26387" r:id="rId66"/>
    <p:sldId id="26395" r:id="rId67"/>
    <p:sldId id="26391" r:id="rId68"/>
    <p:sldId id="26402" r:id="rId69"/>
    <p:sldId id="26507" r:id="rId70"/>
    <p:sldId id="26649" r:id="rId71"/>
    <p:sldId id="360"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panose="020B0604020202020204" charset="0"/>
      <p:regular r:id="rId77"/>
      <p:bold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
      <p:font typeface="Roboto" panose="02000000000000000000" pitchFamily="2" charset="0"/>
      <p:regular r:id="rId89"/>
      <p:bold r:id="rId90"/>
      <p:italic r:id="rId91"/>
      <p:boldItalic r:id="rId92"/>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26650"/>
            <p14:sldId id="26580"/>
            <p14:sldId id="26581"/>
            <p14:sldId id="26647"/>
            <p14:sldId id="26576"/>
          </p14:sldIdLst>
        </p14:section>
        <p14:section name="Review of learning 2" id="{0AC6BBCB-7E49-46CE-B777-EFCDD4B60F91}">
          <p14:sldIdLst>
            <p14:sldId id="26583"/>
            <p14:sldId id="26586"/>
            <p14:sldId id="26652"/>
            <p14:sldId id="26588"/>
            <p14:sldId id="26589"/>
            <p14:sldId id="26582"/>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 id="26651"/>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D9FAB2E2-FCDC-C762-1ECD-0FBBF02124FD}" name="Annette Price" initials=""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a:srgbClr val="64BB47"/>
    <a:srgbClr val="9966FF"/>
    <a:srgbClr val="9900FF"/>
    <a:srgbClr val="FF6600"/>
    <a:srgbClr val="EA9B0C"/>
    <a:srgbClr val="007A8A"/>
    <a:srgbClr val="9B6808"/>
    <a:srgbClr val="427B2D"/>
    <a:srgbClr val="B514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CB3819-0FB5-49A2-BD1D-8F90B5BB1CD8}" v="189" dt="2026-06-17T04:35:19.331"/>
    <p1510:client id="{2E840354-C82C-5603-B117-A6D36AD88D3F}" v="1" dt="2026-06-17T06:04:14.189"/>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7.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34</a:t>
            </a:r>
          </a:p>
          <a:p>
            <a:pPr marL="285750" indent="-285750">
              <a:buFont typeface="Arial" panose="020B0604020202020204" pitchFamily="34" charset="0"/>
              <a:buChar char="•"/>
            </a:pPr>
            <a:r>
              <a:rPr lang="en-AU"/>
              <a:t>Stage 2 Year B Unit 33</a:t>
            </a:r>
          </a:p>
          <a:p>
            <a:pPr marL="285750" indent="-285750">
              <a:buFont typeface="Arial" panose="020B0604020202020204" pitchFamily="34" charset="0"/>
              <a:buChar char="•"/>
            </a:pPr>
            <a:r>
              <a:rPr lang="en-AU"/>
              <a:t>Stage 2 Year B Unit 32</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76EAD-1531-6BE7-254B-D8E0366C1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D6B99-8D3D-F143-296A-28C26B9AB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96A6D-7AD6-9947-88A4-E187E9EC4F2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 </a:t>
            </a: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3BBD6A94-61CC-CDF3-4756-B8C36D6F2708}"/>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129798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230FA-3FC1-AF0C-CB0D-8BB372A1E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1E190-AE72-B119-A883-170A2060B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2FA14-EEC6-C41D-EAF9-C7D58F9581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3394A7B5-DE88-0F88-A409-58CB7C57D7A4}"/>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2642455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Making decimal numbers</a:t>
            </a:r>
          </a:p>
          <a:p>
            <a:r>
              <a:rPr lang="en-AU" b="0"/>
              <a:t>This resource corresponds to Resource 11 – place the digits 1 in Stage 2 Year B Unit 34.</a:t>
            </a:r>
          </a:p>
          <a:p>
            <a:endParaRPr lang="en-AU" b="0"/>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‘Place the Digits’ from </a:t>
            </a:r>
            <a:r>
              <a:rPr lang="en-AU" sz="1600" kern="1200" err="1">
                <a:solidFill>
                  <a:schemeClr val="tx1"/>
                </a:solidFill>
                <a:effectLst/>
                <a:latin typeface="Arial" panose="020B0604020202020204" pitchFamily="34" charset="0"/>
                <a:ea typeface="+mn-ea"/>
                <a:cs typeface="Arial" panose="020B0604020202020204" pitchFamily="34" charset="0"/>
              </a:rPr>
              <a:t>Tāhūrangi</a:t>
            </a:r>
            <a:r>
              <a:rPr lang="en-AU" sz="1600" kern="1200">
                <a:solidFill>
                  <a:schemeClr val="tx1"/>
                </a:solidFill>
                <a:effectLst/>
                <a:latin typeface="Arial" panose="020B0604020202020204" pitchFamily="34" charset="0"/>
                <a:ea typeface="+mn-ea"/>
                <a:cs typeface="Arial" panose="020B0604020202020204" pitchFamily="34" charset="0"/>
              </a:rPr>
              <a:t> - New Zealand Curriculum by the New Zealand Ministry of Education.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 Provide pairs of students with </a:t>
            </a:r>
            <a:r>
              <a:rPr lang="en-AU" b="0"/>
              <a:t>Resource 11 – place the digits 1 </a:t>
            </a:r>
            <a:r>
              <a:rPr lang="en-AU" sz="1600" kern="1200">
                <a:solidFill>
                  <a:schemeClr val="tx1"/>
                </a:solidFill>
                <a:effectLst/>
                <a:latin typeface="Arial" panose="020B0604020202020204" pitchFamily="34" charset="0"/>
                <a:ea typeface="+mn-ea"/>
                <a:cs typeface="Arial" panose="020B0604020202020204" pitchFamily="34" charset="0"/>
              </a:rPr>
              <a:t>and a 6-sided dice.</a:t>
            </a:r>
          </a:p>
          <a:p>
            <a:pPr lvl="0"/>
            <a:r>
              <a:rPr lang="en-AU" sz="1600" kern="1200">
                <a:solidFill>
                  <a:schemeClr val="tx1"/>
                </a:solidFill>
                <a:effectLst/>
                <a:latin typeface="Arial" panose="020B0604020202020204" pitchFamily="34" charset="0"/>
                <a:ea typeface="+mn-ea"/>
                <a:cs typeface="Arial" panose="020B0604020202020204" pitchFamily="34" charset="0"/>
              </a:rPr>
              <a:t>- The objective of the game is to make the largest decimal number after 2 rolls. Players take turns to roll the dice, deciding in which column, ones or tenths, they will place the digit. After 2 rolls, players must have a number in each column. The player with the largest decimal number in each round is awarded one point.</a:t>
            </a:r>
          </a:p>
          <a:p>
            <a:pPr lvl="0"/>
            <a:r>
              <a:rPr lang="en-AU" sz="1600" kern="1200">
                <a:solidFill>
                  <a:schemeClr val="tx1"/>
                </a:solidFill>
                <a:effectLst/>
                <a:latin typeface="Arial" panose="020B0604020202020204" pitchFamily="34" charset="0"/>
                <a:ea typeface="+mn-ea"/>
                <a:cs typeface="Arial" panose="020B0604020202020204" pitchFamily="34" charset="0"/>
              </a:rPr>
              <a:t>- After each round, explain that each player must say their decimal number aloud. For example, 2.4 is read aloud as ‘two and four-tenths’.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to support place value conceptual understanding, 6.1 would be read as ‘six and one-tenth’. The word ‘and’ connects the decimal fraction with the whole number and makes a link with common fractions. The primary purpose of the decimal point is to show where the whole number ‘ones’ column is.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 After a few rounds, explain that there is an adjustment to the rules of the game. Once players have filled both columns, they can choose to trade one of the digits from either the ones or the tenths column and roll a third time, trying to make an even larger decimal number.</a:t>
            </a:r>
          </a:p>
          <a:p>
            <a:pPr lvl="0"/>
            <a:r>
              <a:rPr lang="en-AU" sz="1600" kern="1200">
                <a:solidFill>
                  <a:schemeClr val="tx1"/>
                </a:solidFill>
                <a:effectLst/>
                <a:latin typeface="Arial" panose="020B0604020202020204" pitchFamily="34" charset="0"/>
                <a:ea typeface="+mn-ea"/>
                <a:cs typeface="Arial" panose="020B0604020202020204" pitchFamily="34" charset="0"/>
              </a:rPr>
              <a:t>- After a few rounds, students play the game to make the smallest decimal number possible after 2 rolls.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to allow for </a:t>
            </a:r>
            <a:r>
              <a:rPr lang="en-AU" b="0"/>
              <a:t>Resource 11 – place the digits 1 </a:t>
            </a:r>
            <a:r>
              <a:rPr lang="en-AU" sz="1600" kern="1200">
                <a:solidFill>
                  <a:schemeClr val="tx1"/>
                </a:solidFill>
                <a:effectLst/>
                <a:latin typeface="Arial" panose="020B0604020202020204" pitchFamily="34" charset="0"/>
                <a:ea typeface="+mn-ea"/>
                <a:cs typeface="Arial" panose="020B0604020202020204" pitchFamily="34" charset="0"/>
              </a:rPr>
              <a:t>to be used multiple times, place the gameboard in a plastic sleeve and provide students with non-permanent markers and erasers.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7BDC-87E0-0245-1178-2B2824E85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44570-AC20-C14F-07B3-368931CE6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FFEFE-A087-ACC0-4973-DDF01B91343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 </a:t>
            </a: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F09505A-D603-4D55-9561-A308AFF8BD9C}"/>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688489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3616128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Making decimal numbers using tenths and hundredths</a:t>
            </a:r>
          </a:p>
          <a:p>
            <a:r>
              <a:rPr lang="en-AU" b="0"/>
              <a:t>This resource corresponds to Resource 12 – place the digits 2 and Resource 13 – number cards in Stage 2 Year B Unit 34. </a:t>
            </a:r>
          </a:p>
          <a:p>
            <a:endParaRPr lang="en-AU" b="0"/>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‘Place the Digits’ from </a:t>
            </a:r>
            <a:r>
              <a:rPr lang="en-AU" sz="1600" kern="1200" err="1">
                <a:solidFill>
                  <a:schemeClr val="tx1"/>
                </a:solidFill>
                <a:effectLst/>
                <a:latin typeface="Arial" panose="020B0604020202020204" pitchFamily="34" charset="0"/>
                <a:ea typeface="+mn-ea"/>
                <a:cs typeface="Arial" panose="020B0604020202020204" pitchFamily="34" charset="0"/>
              </a:rPr>
              <a:t>Tāhūrangi</a:t>
            </a:r>
            <a:r>
              <a:rPr lang="en-AU" sz="1600" kern="1200">
                <a:solidFill>
                  <a:schemeClr val="tx1"/>
                </a:solidFill>
                <a:effectLst/>
                <a:latin typeface="Arial" panose="020B0604020202020204" pitchFamily="34" charset="0"/>
                <a:ea typeface="+mn-ea"/>
                <a:cs typeface="Arial" panose="020B0604020202020204" pitchFamily="34" charset="0"/>
              </a:rPr>
              <a:t> - New Zealand Curriculum by the New Zealand Ministry of Education.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a:t>
            </a:r>
            <a:r>
              <a:rPr lang="en-AU" b="0"/>
              <a:t>Resource 12 – place the digits 2 </a:t>
            </a:r>
            <a:r>
              <a:rPr lang="en-AU" sz="1600" kern="1200">
                <a:solidFill>
                  <a:schemeClr val="tx1"/>
                </a:solidFill>
                <a:effectLst/>
                <a:latin typeface="Arial" panose="020B0604020202020204" pitchFamily="34" charset="0"/>
                <a:ea typeface="+mn-ea"/>
                <a:cs typeface="Arial" panose="020B0604020202020204" pitchFamily="34" charset="0"/>
              </a:rPr>
              <a:t>and </a:t>
            </a:r>
            <a:r>
              <a:rPr lang="en-AU" b="0"/>
              <a:t>Resource 13 – number cards</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rules to the game ‘Place the digits’: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objective of the game is to make the largest decimal number after drawing 3 cards.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Player 1 draws a card from the deck and records the digit in the ones, tenths or hundredths column on </a:t>
            </a:r>
            <a:r>
              <a:rPr lang="en-AU" b="0"/>
              <a:t>Resource 12 – place the digits 2</a:t>
            </a:r>
            <a:r>
              <a:rPr lang="en-AU" sz="1600" kern="1200">
                <a:solidFill>
                  <a:schemeClr val="tx1"/>
                </a:solidFill>
                <a:effectLst/>
                <a:latin typeface="Arial" panose="020B0604020202020204" pitchFamily="34" charset="0"/>
                <a:ea typeface="+mn-ea"/>
                <a:cs typeface="Arial" panose="020B0604020202020204" pitchFamily="34" charset="0"/>
              </a:rPr>
              <a: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player returns the drawn card to the bottom of the deck before the next player draws a card and records their digit.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Repeat until each player has drawn 3 cards.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revisit the impact zero has on a number when it is in different place value positions. The placement of the zero in these examples changes how we say, write and understand decimals. For example, 0.78, 7.08 or 7.80.</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each round, each player must say their decimal number aloud. For example, 2.45 is read aloud as ‘two and forty-five hundredths’. The winner gets one point for winning the round.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a few rounds, explain that there is an adjustment to the rules of the game. Once players have filled all 3 columns, players can choose to trade one of the digits from either the ones, tenths or hundredths column and can draw a new card, trying to make an even larger decimal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a few rounds, students play the game to make the smallest decimal number possible after drawing 3 cards.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to allow for </a:t>
            </a:r>
            <a:r>
              <a:rPr lang="en-AU" b="0"/>
              <a:t>Resource 12 – place the digits 2 </a:t>
            </a:r>
            <a:r>
              <a:rPr lang="en-AU" sz="1600" kern="1200">
                <a:solidFill>
                  <a:schemeClr val="tx1"/>
                </a:solidFill>
                <a:effectLst/>
                <a:latin typeface="Arial" panose="020B0604020202020204" pitchFamily="34" charset="0"/>
                <a:ea typeface="+mn-ea"/>
                <a:cs typeface="Arial" panose="020B0604020202020204" pitchFamily="34" charset="0"/>
              </a:rPr>
              <a:t>to be used multiple times, place the gameboard in a plastic sleeve and provide students with non-permanent markers and erasers.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a:t>
            </a: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Tenths and hundredths on a number line</a:t>
            </a:r>
          </a:p>
          <a:p>
            <a:r>
              <a:rPr lang="en-AU" b="0"/>
              <a:t>This resource corresponds to Resource 14 – mixed up decimals in Stage 2 Year B Unit 34.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decimal point is missing from the decimal numbers and that the decimals need to be placed in ascending order on a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b="0"/>
              <a:t>Resource 14 – mixed up decimals </a:t>
            </a:r>
            <a:r>
              <a:rPr lang="en-AU" sz="1600" kern="1200">
                <a:solidFill>
                  <a:schemeClr val="tx1"/>
                </a:solidFill>
                <a:effectLst/>
                <a:latin typeface="Arial" panose="020B0604020202020204" pitchFamily="34" charset="0"/>
                <a:ea typeface="+mn-ea"/>
                <a:cs typeface="Arial" panose="020B0604020202020204" pitchFamily="34" charset="0"/>
              </a:rPr>
              <a:t>and whiteboards, asking:</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many possibilities are there for where the decimal point can go in each of the numbers?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can you convince me?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do you think they are going to be arranged on a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discuss the possible strategies and solutions to arrange the decimals on a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justify their reasoning by explaining how the markers are equally spaced on the number line, the decimal point is consistently placed to show the place value for each digit and the decimals are recorded in ascending order.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name the decimal numbers in order along the number line and identify the place value of each digit. For example, 29.3 is 2 tens, 9 ones and 3 tenths or 29 and 3 tenths or 2.93 is 2 and 9 tenths and 3 hundredths or 2 and 93 hundredths (see Figure 4 – examples of solutions </a:t>
            </a:r>
            <a:r>
              <a:rPr lang="en-AU" b="0"/>
              <a:t>in Stage 2 Year B Unit 34).</a:t>
            </a:r>
            <a:r>
              <a:rPr lang="en-AU" sz="1600" kern="1200">
                <a:solidFill>
                  <a:schemeClr val="tx1"/>
                </a:solidFill>
                <a:effectLst/>
                <a:latin typeface="Arial" panose="020B0604020202020204" pitchFamily="34" charset="0"/>
                <a:ea typeface="+mn-ea"/>
                <a:cs typeface="Arial" panose="020B0604020202020204" pitchFamily="34" charset="0"/>
              </a:rPr>
              <a:t> </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 </a:t>
            </a: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a:t>
            </a:r>
          </a:p>
          <a:p>
            <a:br>
              <a:rPr lang="en-AU" sz="1600" b="0" i="0" kern="1200">
                <a:solidFill>
                  <a:schemeClr val="tx1"/>
                </a:solidFill>
                <a:effectLst/>
                <a:latin typeface="Arial" panose="020B0604020202020204" pitchFamily="34" charset="0"/>
                <a:ea typeface="+mn-ea"/>
                <a:cs typeface="Arial" panose="020B0604020202020204" pitchFamily="34" charset="0"/>
              </a:rPr>
            </a:br>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The role of zero in decimal notation</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image corresponds to Figure 5 – number cards in Stage 2 Year B Unit 34. </a:t>
            </a:r>
          </a:p>
          <a:p>
            <a:endParaRPr lang="en-AU" b="1"/>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‘Funny Numbers’ from Mathematics Developmental Continuum P-10 by the Department of Education and Training, Victoria State Government.</a:t>
            </a:r>
          </a:p>
          <a:p>
            <a:pPr mar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5 cards on the board, including 2 zero cards, 2 random number cards and a card labelled with a decimal point.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ask students to write down as many numbers as they can using all 4 digits and the decimal point.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their numbers in their workbook.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combine with another pair and compare their numbers.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Groups arrange their numbers from smallest to largest.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Is 1300. = 1300?</a:t>
            </a:r>
          </a:p>
          <a:p>
            <a:pPr lvl="0"/>
            <a:r>
              <a:rPr lang="en-AU" sz="1600" kern="1200">
                <a:solidFill>
                  <a:schemeClr val="tx1"/>
                </a:solidFill>
                <a:effectLst/>
                <a:latin typeface="Arial" panose="020B0604020202020204" pitchFamily="34" charset="0"/>
                <a:ea typeface="+mn-ea"/>
                <a:cs typeface="Arial" panose="020B0604020202020204" pitchFamily="34" charset="0"/>
              </a:rPr>
              <a:t>- Is 00.13 = 0.130?</a:t>
            </a:r>
          </a:p>
          <a:p>
            <a:pPr lvl="0"/>
            <a:r>
              <a:rPr lang="en-AU" sz="1600" kern="1200">
                <a:solidFill>
                  <a:schemeClr val="tx1"/>
                </a:solidFill>
                <a:effectLst/>
                <a:latin typeface="Arial" panose="020B0604020202020204" pitchFamily="34" charset="0"/>
                <a:ea typeface="+mn-ea"/>
                <a:cs typeface="Arial" panose="020B0604020202020204" pitchFamily="34" charset="0"/>
              </a:rPr>
              <a:t>- Is .3100 = 0.310?</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 families using arrays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Demonstrate how to link multiplication and division using arrays by rolling 2 10-sided dice and using the numbers rolled to form an array with counters.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From the array, record 2 multiplication and 2 division number sentences as a fact family on the board (see Figure 6 – array number sentence from Stage 2 Year B unit 34).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Highlight: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link between multiplication and division</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commutative property of multiplication.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two 10-sided dice and their workbooks. Students record the fact families in their workbook.</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provide counters to students that need to support their multiplicative thinking by making the array.</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and explain their arrays and number sentences.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a:t>
            </a:r>
          </a:p>
          <a:p>
            <a:endParaRPr lang="en-AU" b="1"/>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a:t>
            </a:r>
          </a:p>
          <a:p>
            <a:br>
              <a:rPr lang="en-AU" sz="1600" b="0" i="0" kern="1200">
                <a:solidFill>
                  <a:schemeClr val="tx1"/>
                </a:solidFill>
                <a:effectLst/>
                <a:latin typeface="Arial" panose="020B0604020202020204" pitchFamily="34" charset="0"/>
                <a:ea typeface="+mn-ea"/>
                <a:cs typeface="Arial" panose="020B0604020202020204" pitchFamily="34" charset="0"/>
              </a:rPr>
            </a:br>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Multiplication and division using fact families</a:t>
            </a:r>
          </a:p>
          <a:p>
            <a:r>
              <a:rPr lang="en-AU" b="0"/>
              <a:t>This resource corresponds to Resource 15 – making fact families in Stage 2 Year B Unit 34. </a:t>
            </a:r>
          </a:p>
          <a:p>
            <a:pPr marL="0" indent="0">
              <a:buFont typeface="+mj-lt"/>
              <a:buNone/>
            </a:pPr>
            <a:endParaRPr lang="en-AU" b="1"/>
          </a:p>
          <a:p>
            <a:pPr marL="285750" lvl="0" indent="-285750">
              <a:buFont typeface="Arial" panose="020B0604020202020204" pitchFamily="34" charset="0"/>
              <a:buChar char="•"/>
            </a:pPr>
            <a:r>
              <a:rPr lang="en-US" sz="1600" kern="1200">
                <a:solidFill>
                  <a:schemeClr val="tx1"/>
                </a:solidFill>
                <a:effectLst/>
                <a:latin typeface="Arial" panose="020B0604020202020204" pitchFamily="34" charset="0"/>
                <a:ea typeface="+mn-ea"/>
                <a:cs typeface="Arial" panose="020B0604020202020204" pitchFamily="34" charset="0"/>
              </a:rPr>
              <a:t>Explain that 8 is a multiple of 2 and of 4. Write the skip counting pattern of 2 and then of 4 to confirm that 8 is in both patterns. Explain that 2 and 4 are factors of 8.</a:t>
            </a: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US" sz="1600" kern="1200">
                <a:solidFill>
                  <a:schemeClr val="tx1"/>
                </a:solidFill>
                <a:effectLst/>
                <a:latin typeface="Arial" panose="020B0604020202020204" pitchFamily="34" charset="0"/>
                <a:ea typeface="+mn-ea"/>
                <a:cs typeface="Arial" panose="020B0604020202020204" pitchFamily="34" charset="0"/>
              </a:rPr>
              <a:t>Record the </a:t>
            </a:r>
            <a:r>
              <a:rPr lang="en-US" sz="1600" u="none" kern="1200">
                <a:solidFill>
                  <a:schemeClr val="tx1"/>
                </a:solidFill>
                <a:effectLst/>
                <a:latin typeface="Arial" panose="020B0604020202020204" pitchFamily="34" charset="0"/>
                <a:ea typeface="+mn-ea"/>
                <a:cs typeface="Arial" panose="020B0604020202020204" pitchFamily="34" charset="0"/>
              </a:rPr>
              <a:t>terms ‘</a:t>
            </a:r>
            <a:r>
              <a:rPr lang="en-AU" sz="1600" kern="1200">
                <a:solidFill>
                  <a:schemeClr val="tx1"/>
                </a:solidFill>
                <a:effectLst/>
                <a:latin typeface="Arial" panose="020B0604020202020204" pitchFamily="34" charset="0"/>
                <a:ea typeface="+mn-ea"/>
                <a:cs typeface="Arial" panose="020B0604020202020204" pitchFamily="34" charset="0"/>
              </a:rPr>
              <a:t>multiple’ </a:t>
            </a:r>
            <a:r>
              <a:rPr lang="en-US" sz="1600" kern="1200">
                <a:solidFill>
                  <a:schemeClr val="tx1"/>
                </a:solidFill>
                <a:effectLst/>
                <a:latin typeface="Arial" panose="020B0604020202020204" pitchFamily="34" charset="0"/>
                <a:ea typeface="+mn-ea"/>
                <a:cs typeface="Arial" panose="020B0604020202020204" pitchFamily="34" charset="0"/>
              </a:rPr>
              <a:t>and ‘</a:t>
            </a:r>
            <a:r>
              <a:rPr lang="en-AU" sz="1600" kern="1200">
                <a:solidFill>
                  <a:schemeClr val="tx1"/>
                </a:solidFill>
                <a:effectLst/>
                <a:latin typeface="Arial" panose="020B0604020202020204" pitchFamily="34" charset="0"/>
                <a:ea typeface="+mn-ea"/>
                <a:cs typeface="Arial" panose="020B0604020202020204" pitchFamily="34" charset="0"/>
              </a:rPr>
              <a:t>factor’</a:t>
            </a:r>
            <a:r>
              <a:rPr lang="en-US" sz="1600" kern="1200">
                <a:solidFill>
                  <a:schemeClr val="tx1"/>
                </a:solidFill>
                <a:effectLst/>
                <a:latin typeface="Arial" panose="020B0604020202020204" pitchFamily="34" charset="0"/>
                <a:ea typeface="+mn-ea"/>
                <a:cs typeface="Arial" panose="020B0604020202020204" pitchFamily="34" charset="0"/>
              </a:rPr>
              <a:t> on an anchor chart or word wall.</a:t>
            </a: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Multiple:</a:t>
            </a:r>
            <a:r>
              <a:rPr lang="en-AU" sz="1600" kern="1200">
                <a:solidFill>
                  <a:schemeClr val="tx1"/>
                </a:solidFill>
                <a:effectLst/>
                <a:latin typeface="Arial" panose="020B0604020202020204" pitchFamily="34" charset="0"/>
                <a:ea typeface="+mn-ea"/>
                <a:cs typeface="Arial" panose="020B0604020202020204" pitchFamily="34" charset="0"/>
              </a:rPr>
              <a:t> products formed using the same base number multiplied by different whole numbers, for example, 3, 6, 9, 12 …</a:t>
            </a:r>
          </a:p>
          <a:p>
            <a:r>
              <a:rPr lang="en-US" sz="1600" b="1" kern="1200">
                <a:solidFill>
                  <a:schemeClr val="tx1"/>
                </a:solidFill>
                <a:effectLst/>
                <a:latin typeface="Arial" panose="020B0604020202020204" pitchFamily="34" charset="0"/>
                <a:ea typeface="+mn-ea"/>
                <a:cs typeface="Arial" panose="020B0604020202020204" pitchFamily="34" charset="0"/>
              </a:rPr>
              <a:t>Factor:</a:t>
            </a:r>
            <a:r>
              <a:rPr lang="en-US" sz="1600" kern="1200">
                <a:solidFill>
                  <a:schemeClr val="tx1"/>
                </a:solidFill>
                <a:effectLst/>
                <a:latin typeface="Arial" panose="020B0604020202020204" pitchFamily="34" charset="0"/>
                <a:ea typeface="+mn-ea"/>
                <a:cs typeface="Arial" panose="020B0604020202020204" pitchFamily="34" charset="0"/>
              </a:rPr>
              <a:t> a number which divides another number without a remainder. For example, 1, 2, 3 and 6 are factors of 6, but 4 and 5 are not.</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one fact family from </a:t>
            </a:r>
            <a:r>
              <a:rPr lang="en-AU" b="0"/>
              <a:t>Resource 15 – making fact families </a:t>
            </a:r>
            <a:r>
              <a:rPr lang="en-AU" sz="1600" kern="1200">
                <a:solidFill>
                  <a:schemeClr val="tx1"/>
                </a:solidFill>
                <a:effectLst/>
                <a:latin typeface="Arial" panose="020B0604020202020204" pitchFamily="34" charset="0"/>
                <a:ea typeface="+mn-ea"/>
                <a:cs typeface="Arial" panose="020B0604020202020204" pitchFamily="34" charset="0"/>
              </a:rPr>
              <a:t>to model:</a:t>
            </a:r>
          </a:p>
          <a:p>
            <a:pPr lvl="0"/>
            <a:r>
              <a:rPr lang="en-AU" sz="1600" kern="1200">
                <a:solidFill>
                  <a:schemeClr val="tx1"/>
                </a:solidFill>
                <a:effectLst/>
                <a:latin typeface="Arial" panose="020B0604020202020204" pitchFamily="34" charset="0"/>
                <a:ea typeface="+mn-ea"/>
                <a:cs typeface="Arial" panose="020B0604020202020204" pitchFamily="34" charset="0"/>
              </a:rPr>
              <a:t>- how to write multiplication and division sentences using fact families</a:t>
            </a:r>
          </a:p>
          <a:p>
            <a:pPr lvl="0"/>
            <a:r>
              <a:rPr lang="en-AU" sz="1600" kern="1200">
                <a:solidFill>
                  <a:schemeClr val="tx1"/>
                </a:solidFill>
                <a:effectLst/>
                <a:latin typeface="Arial" panose="020B0604020202020204" pitchFamily="34" charset="0"/>
                <a:ea typeface="+mn-ea"/>
                <a:cs typeface="Arial" panose="020B0604020202020204" pitchFamily="34" charset="0"/>
              </a:rPr>
              <a:t>- using arrays to prove the commutative property of multiplication.</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highlight to students that the number at the top of the triangle is the product of the 2 factors at the bottom of the triangle. For division, ensure students understand that the product of the fact family must be at the start of the sentence. Division is not commutative, so 2 ÷ 4 = 8 is not correct.</a:t>
            </a:r>
          </a:p>
          <a:p>
            <a:pPr lvl="0"/>
            <a:r>
              <a:rPr lang="en-AU" sz="1600" kern="1200">
                <a:solidFill>
                  <a:schemeClr val="tx1"/>
                </a:solidFill>
                <a:effectLst/>
                <a:latin typeface="Arial" panose="020B0604020202020204" pitchFamily="34" charset="0"/>
                <a:ea typeface="+mn-ea"/>
                <a:cs typeface="Arial" panose="020B0604020202020204" pitchFamily="34" charset="0"/>
              </a:rPr>
              <a:t>Record the term ‘product’ on the anchor chart or word wall.</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Product:</a:t>
            </a:r>
            <a:r>
              <a:rPr lang="en-AU" sz="1600" kern="1200">
                <a:solidFill>
                  <a:schemeClr val="tx1"/>
                </a:solidFill>
                <a:effectLst/>
                <a:latin typeface="Arial" panose="020B0604020202020204" pitchFamily="34" charset="0"/>
                <a:ea typeface="+mn-ea"/>
                <a:cs typeface="Arial" panose="020B0604020202020204" pitchFamily="34" charset="0"/>
              </a:rPr>
              <a:t> the result of multiplying 2 or more numbers together, for example, 12 is the product of 4 × 3.</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b="0"/>
              <a:t>Resource 15 – making fact families</a:t>
            </a:r>
            <a:r>
              <a:rPr lang="en-AU" sz="1600" kern="1200">
                <a:solidFill>
                  <a:schemeClr val="tx1"/>
                </a:solidFill>
                <a:effectLst/>
                <a:latin typeface="Arial" panose="020B0604020202020204" pitchFamily="34" charset="0"/>
                <a:ea typeface="+mn-ea"/>
                <a:cs typeface="Arial" panose="020B0604020202020204" pitchFamily="34" charset="0"/>
              </a:rPr>
              <a:t>. Students identify the fact families for the remaining triangles and record the number sentences.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some students may need concrete materials, such as counters, to manipulate while completing the activity. This activity can be differentiated by having students find other factors of the product and writing out the fact families.</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and explain their work. Record student responses for the class to see.</a:t>
            </a:r>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p>
          <a:p>
            <a:pPr>
              <a:defRPr/>
            </a:pPr>
            <a:r>
              <a:rPr lang="en-AU" b="0">
                <a:solidFill>
                  <a:srgbClr val="444444"/>
                </a:solidFill>
                <a:latin typeface="Arial"/>
                <a:cs typeface="Arial"/>
              </a:rPr>
              <a:t>Multiplicative relations A</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br>
              <a:rPr lang="en-AU" sz="1600" b="0" i="0" kern="1200">
                <a:solidFill>
                  <a:schemeClr val="tx1"/>
                </a:solidFill>
                <a:effectLst/>
                <a:latin typeface="Arial" panose="020B0604020202020204" pitchFamily="34" charset="0"/>
                <a:ea typeface="+mn-ea"/>
                <a:cs typeface="Arial" panose="020B0604020202020204" pitchFamily="34" charset="0"/>
              </a:rPr>
            </a:br>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B</a:t>
            </a: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t>
            </a: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Chance B</a:t>
            </a: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Solving problems with fact families</a:t>
            </a:r>
          </a:p>
          <a:p>
            <a:r>
              <a:rPr lang="en-AU" b="0"/>
              <a:t>This resource corresponds to Resource 16 – solving word problems in Stage 2 Year B Unit 34.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will work in pairs to solve the problem. 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is the problem asking you to find out?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Where will you start to solve the problem?</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many different parts are there to the problem? Can you use the same strategy to solve each part?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Which strategy do you think will work best to find a solution for this problem? Why?</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can you record the solution?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students have had the opportunity to work on the solution, 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do you know the strategy you are using is working?</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can you check that the answer is correct?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B</a:t>
            </a: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Chance B</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Generating fact families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Can you place the correct symbols into the blank spaces to make these number sentences make sense?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discuss their solutions, explaining their mathematical reasoning.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that a fact family is a group of related number sentences using the same numbers, for example, 2, 4 and 8:</a:t>
            </a:r>
          </a:p>
          <a:p>
            <a:pPr lvl="0"/>
            <a:r>
              <a:rPr lang="en-AU" sz="1600" kern="1200">
                <a:solidFill>
                  <a:schemeClr val="tx1"/>
                </a:solidFill>
                <a:effectLst/>
                <a:latin typeface="Arial" panose="020B0604020202020204" pitchFamily="34" charset="0"/>
                <a:ea typeface="+mn-ea"/>
                <a:cs typeface="Arial" panose="020B0604020202020204" pitchFamily="34" charset="0"/>
              </a:rPr>
              <a:t>- 2 × 4 = 8</a:t>
            </a:r>
          </a:p>
          <a:p>
            <a:pPr lvl="0"/>
            <a:r>
              <a:rPr lang="en-AU" sz="1600" kern="1200">
                <a:solidFill>
                  <a:schemeClr val="tx1"/>
                </a:solidFill>
                <a:effectLst/>
                <a:latin typeface="Arial" panose="020B0604020202020204" pitchFamily="34" charset="0"/>
                <a:ea typeface="+mn-ea"/>
                <a:cs typeface="Arial" panose="020B0604020202020204" pitchFamily="34" charset="0"/>
              </a:rPr>
              <a:t>- 4 × 2 = 8</a:t>
            </a:r>
          </a:p>
          <a:p>
            <a:pPr lvl="0"/>
            <a:r>
              <a:rPr lang="en-AU" sz="1600" kern="1200">
                <a:solidFill>
                  <a:schemeClr val="tx1"/>
                </a:solidFill>
                <a:effectLst/>
                <a:latin typeface="Arial" panose="020B0604020202020204" pitchFamily="34" charset="0"/>
                <a:ea typeface="+mn-ea"/>
                <a:cs typeface="Arial" panose="020B0604020202020204" pitchFamily="34" charset="0"/>
              </a:rPr>
              <a:t>- 8 ÷ 2 = 4</a:t>
            </a:r>
          </a:p>
          <a:p>
            <a:pPr lvl="0"/>
            <a:r>
              <a:rPr lang="en-AU" sz="1600" kern="1200">
                <a:solidFill>
                  <a:schemeClr val="tx1"/>
                </a:solidFill>
                <a:effectLst/>
                <a:latin typeface="Arial" panose="020B0604020202020204" pitchFamily="34" charset="0"/>
                <a:ea typeface="+mn-ea"/>
                <a:cs typeface="Arial" panose="020B0604020202020204" pitchFamily="34" charset="0"/>
              </a:rPr>
              <a:t>- 8 ÷ 4 = 2.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(Next slide) Display a set of 3 numbers on the board, for example, 2, 10 and 20. In pairs, students record 4 related number sentences, creating the fact family.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733F-E519-D412-B097-E0051B74D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549D2-5EAA-55ED-4269-B2B4D6C2F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539A9-443A-6B83-D3E4-B6E8F15E234A}"/>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Generating fact families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4 related number sentences, creating the fact family.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CE38A76-A8C7-E8B7-34BD-B578A36C29B3}"/>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17954228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4.sv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7.png"/><Relationship Id="rId7"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 Id="rId9"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5" Type="http://schemas.openxmlformats.org/officeDocument/2006/relationships/image" Target="../media/image54.svg"/><Relationship Id="rId4" Type="http://schemas.openxmlformats.org/officeDocument/2006/relationships/slide" Target="slide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curriculum.nsw.edu.au/learning-areas/mathematics/mathematics-k-10-2022/content/stage-2/fae78c0853" TargetMode="External"/><Relationship Id="rId5" Type="http://schemas.openxmlformats.org/officeDocument/2006/relationships/hyperlink" Target="https://curriculum.nsw.edu.au/" TargetMode="External"/><Relationship Id="rId10" Type="http://schemas.openxmlformats.org/officeDocument/2006/relationships/hyperlink" Target="https://curriculum.nsw.edu.au/learning-areas/mathematics/mathematics-k-10-2022/content/stage-2/fa1dbb9271"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smartvic.com/teacher/mdc/number/funnyGROWTHPOINT.html"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aligns to the learning in </a:t>
            </a:r>
            <a:r>
              <a:rPr lang="en-AU" sz="1800">
                <a:ea typeface="+mn-lt"/>
                <a:cs typeface="+mn-lt"/>
              </a:rPr>
              <a:t>Stage 2 Year B Unit 34 </a:t>
            </a:r>
            <a:r>
              <a:rPr lang="en-AU" sz="1800">
                <a:latin typeface="+mn-lt"/>
                <a:ea typeface="+mn-lt"/>
                <a:cs typeface="+mn-lt"/>
              </a:rPr>
              <a:t>and revisits content from earlier sample units.</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34</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a:xfrm>
            <a:off x="7128000" y="11289"/>
            <a:ext cx="5064000" cy="6858000"/>
          </a:xfr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1354482"/>
            <a:ext cx="11243037" cy="754243"/>
          </a:xfrm>
        </p:spPr>
        <p:txBody>
          <a:bodyPr/>
          <a:lstStyle/>
          <a:p>
            <a:pPr algn="ctr"/>
            <a:r>
              <a:rPr lang="en-US" sz="4400"/>
              <a:t>0.64 can be expressed as:</a:t>
            </a:r>
          </a:p>
        </p:txBody>
      </p:sp>
      <p:sp>
        <p:nvSpPr>
          <p:cNvPr id="9" name="B">
            <a:extLst>
              <a:ext uri="{FF2B5EF4-FFF2-40B4-BE49-F238E27FC236}">
                <a16:creationId xmlns:a16="http://schemas.microsoft.com/office/drawing/2014/main" id="{2579E796-78E6-099B-1516-BE205CC4FACD}"/>
              </a:ext>
            </a:extLst>
          </p:cNvPr>
          <p:cNvSpPr txBox="1"/>
          <p:nvPr/>
        </p:nvSpPr>
        <p:spPr>
          <a:xfrm>
            <a:off x="670560" y="285164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536712" y="2811200"/>
            <a:ext cx="10175920" cy="641396"/>
          </a:xfrm>
        </p:spPr>
        <p:txBody>
          <a:bodyPr anchor="ctr"/>
          <a:lstStyle/>
          <a:p>
            <a:r>
              <a:rPr lang="en-US" sz="4400"/>
              <a:t>6 tenths and 4 hundredths</a:t>
            </a:r>
          </a:p>
        </p:txBody>
      </p:sp>
      <p:sp>
        <p:nvSpPr>
          <p:cNvPr id="10" name="B">
            <a:extLst>
              <a:ext uri="{FF2B5EF4-FFF2-40B4-BE49-F238E27FC236}">
                <a16:creationId xmlns:a16="http://schemas.microsoft.com/office/drawing/2014/main" id="{04CBC687-138E-8135-BF08-A76285D998BD}"/>
              </a:ext>
            </a:extLst>
          </p:cNvPr>
          <p:cNvSpPr txBox="1"/>
          <p:nvPr/>
        </p:nvSpPr>
        <p:spPr>
          <a:xfrm>
            <a:off x="670559" y="369956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536712" y="3659113"/>
            <a:ext cx="10175920" cy="641396"/>
          </a:xfrm>
        </p:spPr>
        <p:txBody>
          <a:bodyPr anchor="ctr"/>
          <a:lstStyle/>
          <a:p>
            <a:r>
              <a:rPr lang="en-US" sz="4400"/>
              <a:t>64 tenths</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496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536712" y="4509166"/>
            <a:ext cx="10175920" cy="641396"/>
          </a:xfrm>
        </p:spPr>
        <p:txBody>
          <a:bodyPr anchor="ctr"/>
          <a:lstStyle/>
          <a:p>
            <a:r>
              <a:rPr lang="en-US" sz="4400"/>
              <a:t>4 tenths and 6 hundredths</a:t>
            </a:r>
          </a:p>
        </p:txBody>
      </p:sp>
      <p:sp>
        <p:nvSpPr>
          <p:cNvPr id="11" name="D">
            <a:extLst>
              <a:ext uri="{FF2B5EF4-FFF2-40B4-BE49-F238E27FC236}">
                <a16:creationId xmlns:a16="http://schemas.microsoft.com/office/drawing/2014/main" id="{8EADE37E-99CA-3A50-524F-30E28DF3B7C4}"/>
              </a:ext>
            </a:extLst>
          </p:cNvPr>
          <p:cNvSpPr txBox="1"/>
          <p:nvPr/>
        </p:nvSpPr>
        <p:spPr>
          <a:xfrm>
            <a:off x="670557" y="539966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536712" y="5359219"/>
            <a:ext cx="10175920" cy="641396"/>
          </a:xfrm>
        </p:spPr>
        <p:txBody>
          <a:bodyPr anchor="ctr"/>
          <a:lstStyle/>
          <a:p>
            <a:r>
              <a:rPr lang="en-US" sz="4400"/>
              <a:t>6 hundredths and 4 tenths</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2413E-6804-C09E-0E45-D4D483DF67F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2F1897A-2218-E4A2-3BC4-9553DF215C0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1258B6BC-8A4D-B49A-2E9F-CA785F8C6C0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5" name="Text Placeholder 5">
            <a:extLst>
              <a:ext uri="{FF2B5EF4-FFF2-40B4-BE49-F238E27FC236}">
                <a16:creationId xmlns:a16="http://schemas.microsoft.com/office/drawing/2014/main" id="{3792E624-EDD8-EB91-321C-85E3BBF9CC00}"/>
              </a:ext>
            </a:extLst>
          </p:cNvPr>
          <p:cNvSpPr txBox="1">
            <a:spLocks/>
          </p:cNvSpPr>
          <p:nvPr/>
        </p:nvSpPr>
        <p:spPr>
          <a:xfrm>
            <a:off x="1356736" y="1959427"/>
            <a:ext cx="947852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Why is it important to use </a:t>
            </a:r>
            <a:r>
              <a:rPr lang="en-AU" sz="4400" b="1"/>
              <a:t>formal units </a:t>
            </a:r>
            <a:r>
              <a:rPr lang="en-AU" sz="4400"/>
              <a:t>like </a:t>
            </a:r>
            <a:r>
              <a:rPr lang="en-AU" sz="4400" b="1"/>
              <a:t>grams or kilograms </a:t>
            </a:r>
            <a:r>
              <a:rPr lang="en-AU" sz="4400"/>
              <a:t>to measure the mass of objects?</a:t>
            </a:r>
          </a:p>
        </p:txBody>
      </p:sp>
      <p:sp>
        <p:nvSpPr>
          <p:cNvPr id="2" name="Slide Number Placeholder 1">
            <a:extLst>
              <a:ext uri="{FF2B5EF4-FFF2-40B4-BE49-F238E27FC236}">
                <a16:creationId xmlns:a16="http://schemas.microsoft.com/office/drawing/2014/main" id="{04ABB214-64E0-0A25-0DF0-45B57E8E973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4156924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ABF88A3B-80C0-F520-8D03-0EBA1DC27D9C}"/>
              </a:ext>
            </a:extLst>
          </p:cNvPr>
          <p:cNvSpPr txBox="1">
            <a:spLocks/>
          </p:cNvSpPr>
          <p:nvPr/>
        </p:nvSpPr>
        <p:spPr>
          <a:xfrm>
            <a:off x="1232198" y="2136411"/>
            <a:ext cx="9346708"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Record the first </a:t>
            </a:r>
            <a:r>
              <a:rPr lang="en-US" sz="4400" b="1"/>
              <a:t>10</a:t>
            </a:r>
            <a:r>
              <a:rPr lang="en-US" sz="4400"/>
              <a:t> </a:t>
            </a:r>
            <a:r>
              <a:rPr lang="en-US" sz="4400" b="1"/>
              <a:t>multiples </a:t>
            </a:r>
            <a:r>
              <a:rPr lang="en-US" sz="4400"/>
              <a:t>formed by </a:t>
            </a:r>
            <a:r>
              <a:rPr lang="en-US" sz="4400" b="1"/>
              <a:t>counting by 4. </a:t>
            </a:r>
            <a:endParaRPr lang="en-US" sz="440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02BAE53-7C93-9DCE-B1CE-C78FF630249C}"/>
              </a:ext>
            </a:extLst>
          </p:cNvPr>
          <p:cNvSpPr txBox="1"/>
          <p:nvPr/>
        </p:nvSpPr>
        <p:spPr>
          <a:xfrm>
            <a:off x="246024" y="935512"/>
            <a:ext cx="8787828" cy="5760488"/>
          </a:xfrm>
          <a:prstGeom prst="rect">
            <a:avLst/>
          </a:prstGeom>
          <a:noFill/>
        </p:spPr>
        <p:txBody>
          <a:bodyPr wrap="square">
            <a:spAutoFit/>
          </a:bodyPr>
          <a:lstStyle/>
          <a:p>
            <a:pPr lvl="0">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rPr>
              <a:t>Describe</a:t>
            </a:r>
            <a:r>
              <a:rPr lang="en-AU" sz="4000">
                <a:effectLst/>
                <a:latin typeface="Arial" panose="020B0604020202020204" pitchFamily="34" charset="0"/>
                <a:ea typeface="Calibri" panose="020F0502020204030204" pitchFamily="34" charset="0"/>
              </a:rPr>
              <a:t> a rectangle by </a:t>
            </a:r>
            <a:r>
              <a:rPr lang="en-AU" sz="4000" b="1">
                <a:effectLst/>
                <a:latin typeface="Arial" panose="020B0604020202020204" pitchFamily="34" charset="0"/>
                <a:ea typeface="Calibri" panose="020F0502020204030204" pitchFamily="34" charset="0"/>
              </a:rPr>
              <a:t>recording</a:t>
            </a:r>
            <a:r>
              <a:rPr lang="en-AU" sz="4000">
                <a:effectLst/>
                <a:latin typeface="Arial" panose="020B0604020202020204" pitchFamily="34" charset="0"/>
                <a:ea typeface="Calibri" panose="020F0502020204030204" pitchFamily="34" charset="0"/>
              </a:rPr>
              <a:t>:</a:t>
            </a:r>
          </a:p>
          <a:p>
            <a:pPr marL="742950" lvl="0" indent="-742950">
              <a:lnSpc>
                <a:spcPct val="150000"/>
              </a:lnSpc>
              <a:spcBef>
                <a:spcPts val="1200"/>
              </a:spcBef>
              <a:spcAft>
                <a:spcPts val="600"/>
              </a:spcAft>
              <a:buFont typeface="+mj-lt"/>
              <a:buAutoNum type="alphaLcParenR"/>
            </a:pPr>
            <a:r>
              <a:rPr lang="en-AU" sz="3600">
                <a:effectLst/>
                <a:latin typeface="Arial" panose="020B0604020202020204" pitchFamily="34" charset="0"/>
                <a:ea typeface="Calibri" panose="020F0502020204030204" pitchFamily="34" charset="0"/>
                <a:cs typeface="Times New Roman" panose="02020603050405020304" pitchFamily="18" charset="0"/>
              </a:rPr>
              <a:t>How many </a:t>
            </a:r>
            <a:r>
              <a:rPr lang="en-AU" sz="3600" b="1">
                <a:effectLst/>
                <a:latin typeface="Arial" panose="020B0604020202020204" pitchFamily="34" charset="0"/>
                <a:ea typeface="Calibri" panose="020F0502020204030204" pitchFamily="34" charset="0"/>
                <a:cs typeface="Times New Roman" panose="02020603050405020304" pitchFamily="18" charset="0"/>
              </a:rPr>
              <a:t>parallel</a:t>
            </a:r>
            <a:r>
              <a:rPr lang="en-AU" sz="3600">
                <a:effectLst/>
                <a:latin typeface="Arial" panose="020B0604020202020204" pitchFamily="34" charset="0"/>
                <a:ea typeface="Calibri" panose="020F0502020204030204" pitchFamily="34" charset="0"/>
                <a:cs typeface="Times New Roman" panose="02020603050405020304" pitchFamily="18" charset="0"/>
              </a:rPr>
              <a:t> </a:t>
            </a:r>
            <a:r>
              <a:rPr lang="en-AU" sz="3600" b="1">
                <a:effectLst/>
                <a:latin typeface="Arial" panose="020B0604020202020204" pitchFamily="34" charset="0"/>
                <a:ea typeface="Calibri" panose="020F0502020204030204" pitchFamily="34" charset="0"/>
                <a:cs typeface="Times New Roman" panose="02020603050405020304" pitchFamily="18" charset="0"/>
              </a:rPr>
              <a:t>sides</a:t>
            </a:r>
            <a:r>
              <a:rPr lang="en-AU" sz="3600">
                <a:effectLst/>
                <a:latin typeface="Arial" panose="020B0604020202020204" pitchFamily="34" charset="0"/>
                <a:ea typeface="Calibri" panose="020F0502020204030204" pitchFamily="34" charset="0"/>
                <a:cs typeface="Times New Roman" panose="02020603050405020304" pitchFamily="18" charset="0"/>
              </a:rPr>
              <a:t> does a rectangle have? </a:t>
            </a:r>
          </a:p>
          <a:p>
            <a:pPr marL="742950" lvl="0" indent="-742950">
              <a:lnSpc>
                <a:spcPct val="150000"/>
              </a:lnSpc>
              <a:spcBef>
                <a:spcPts val="1200"/>
              </a:spcBef>
              <a:spcAft>
                <a:spcPts val="600"/>
              </a:spcAft>
              <a:buFont typeface="+mj-lt"/>
              <a:buAutoNum type="alphaLcParenR"/>
            </a:pPr>
            <a:r>
              <a:rPr lang="en-AU" sz="3600">
                <a:effectLst/>
                <a:latin typeface="Arial" panose="020B0604020202020204" pitchFamily="34" charset="0"/>
                <a:ea typeface="Calibri" panose="020F0502020204030204" pitchFamily="34" charset="0"/>
                <a:cs typeface="Times New Roman" panose="02020603050405020304" pitchFamily="18" charset="0"/>
              </a:rPr>
              <a:t>How many </a:t>
            </a:r>
            <a:r>
              <a:rPr lang="en-AU" sz="3600" b="1">
                <a:effectLst/>
                <a:latin typeface="Arial" panose="020B0604020202020204" pitchFamily="34" charset="0"/>
                <a:ea typeface="Calibri" panose="020F0502020204030204" pitchFamily="34" charset="0"/>
                <a:cs typeface="Times New Roman" panose="02020603050405020304" pitchFamily="18" charset="0"/>
              </a:rPr>
              <a:t>right angles </a:t>
            </a:r>
            <a:r>
              <a:rPr lang="en-AU" sz="3600">
                <a:effectLst/>
                <a:latin typeface="Arial" panose="020B0604020202020204" pitchFamily="34" charset="0"/>
                <a:ea typeface="Calibri" panose="020F0502020204030204" pitchFamily="34" charset="0"/>
                <a:cs typeface="Times New Roman" panose="02020603050405020304" pitchFamily="18" charset="0"/>
              </a:rPr>
              <a:t>does a rectangle have? </a:t>
            </a:r>
          </a:p>
          <a:p>
            <a:pPr marL="742950" lvl="0" indent="-742950">
              <a:lnSpc>
                <a:spcPct val="150000"/>
              </a:lnSpc>
              <a:spcBef>
                <a:spcPts val="1200"/>
              </a:spcBef>
              <a:spcAft>
                <a:spcPts val="600"/>
              </a:spcAft>
              <a:buFont typeface="+mj-lt"/>
              <a:buAutoNum type="alphaLcParenR"/>
            </a:pPr>
            <a:r>
              <a:rPr lang="en-AU" sz="3600">
                <a:effectLst/>
                <a:latin typeface="Arial" panose="020B0604020202020204" pitchFamily="34" charset="0"/>
                <a:ea typeface="Calibri" panose="020F0502020204030204" pitchFamily="34" charset="0"/>
                <a:cs typeface="Times New Roman" panose="02020603050405020304" pitchFamily="18" charset="0"/>
              </a:rPr>
              <a:t>Does a rectangle have </a:t>
            </a:r>
            <a:r>
              <a:rPr lang="en-AU" sz="3600" b="1">
                <a:effectLst/>
                <a:latin typeface="Arial" panose="020B0604020202020204" pitchFamily="34" charset="0"/>
                <a:ea typeface="Calibri" panose="020F0502020204030204" pitchFamily="34" charset="0"/>
                <a:cs typeface="Times New Roman" panose="02020603050405020304" pitchFamily="18" charset="0"/>
              </a:rPr>
              <a:t>equal</a:t>
            </a:r>
            <a:r>
              <a:rPr lang="en-AU" sz="3600">
                <a:effectLst/>
                <a:latin typeface="Arial" panose="020B0604020202020204" pitchFamily="34" charset="0"/>
                <a:ea typeface="Calibri" panose="020F0502020204030204" pitchFamily="34" charset="0"/>
                <a:cs typeface="Times New Roman" panose="02020603050405020304" pitchFamily="18" charset="0"/>
              </a:rPr>
              <a:t> </a:t>
            </a:r>
            <a:r>
              <a:rPr lang="en-AU" sz="3600" b="1">
                <a:effectLst/>
                <a:latin typeface="Arial" panose="020B0604020202020204" pitchFamily="34" charset="0"/>
                <a:ea typeface="Calibri" panose="020F0502020204030204" pitchFamily="34" charset="0"/>
                <a:cs typeface="Times New Roman" panose="02020603050405020304" pitchFamily="18" charset="0"/>
              </a:rPr>
              <a:t>sides</a:t>
            </a:r>
            <a:r>
              <a:rPr lang="en-AU" sz="3600">
                <a:effectLst/>
                <a:latin typeface="Arial" panose="020B0604020202020204" pitchFamily="34" charset="0"/>
                <a:ea typeface="Calibri" panose="020F0502020204030204" pitchFamily="34" charset="0"/>
                <a:cs typeface="Times New Roman" panose="02020603050405020304" pitchFamily="18" charset="0"/>
              </a:rPr>
              <a:t>? </a:t>
            </a:r>
          </a:p>
        </p:txBody>
      </p:sp>
      <p:sp>
        <p:nvSpPr>
          <p:cNvPr id="7" name="Rectangle 6" descr="An orange rectangle">
            <a:extLst>
              <a:ext uri="{FF2B5EF4-FFF2-40B4-BE49-F238E27FC236}">
                <a16:creationId xmlns:a16="http://schemas.microsoft.com/office/drawing/2014/main" id="{964069D5-1CCC-6CB9-4C3A-7B6A1C3A03E9}"/>
              </a:ext>
            </a:extLst>
          </p:cNvPr>
          <p:cNvSpPr/>
          <p:nvPr/>
        </p:nvSpPr>
        <p:spPr>
          <a:xfrm>
            <a:off x="9536053" y="2052484"/>
            <a:ext cx="2043764" cy="3595255"/>
          </a:xfrm>
          <a:prstGeom prst="rect">
            <a:avLst/>
          </a:prstGeom>
          <a:solidFill>
            <a:srgbClr val="EA9B0C"/>
          </a:solidFill>
          <a:ln w="38100">
            <a:solidFill>
              <a:srgbClr val="EA9B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F3332-A829-E30E-62F7-2CB67490603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F77AAF3-7B21-C5AC-173B-D53E1076A69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4B9AE573-F117-FB77-4612-B505DCA0A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4808C501-4C54-99EA-C8DB-0C880D3AE033}"/>
              </a:ext>
            </a:extLst>
          </p:cNvPr>
          <p:cNvSpPr txBox="1">
            <a:spLocks/>
          </p:cNvSpPr>
          <p:nvPr/>
        </p:nvSpPr>
        <p:spPr>
          <a:xfrm>
            <a:off x="360000" y="1007854"/>
            <a:ext cx="7296000"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The </a:t>
            </a:r>
            <a:r>
              <a:rPr lang="en-US" sz="4000" b="1"/>
              <a:t>lion</a:t>
            </a:r>
            <a:r>
              <a:rPr lang="en-US" sz="4000"/>
              <a:t>           is located in the </a:t>
            </a:r>
            <a:r>
              <a:rPr lang="en-US" sz="4000" b="1"/>
              <a:t>first column </a:t>
            </a:r>
            <a:r>
              <a:rPr lang="en-US" sz="4000"/>
              <a:t>and the </a:t>
            </a:r>
            <a:r>
              <a:rPr lang="en-US" sz="4000" b="1"/>
              <a:t>second row </a:t>
            </a:r>
            <a:r>
              <a:rPr lang="en-US" sz="4000"/>
              <a:t>from the bottom. </a:t>
            </a:r>
          </a:p>
        </p:txBody>
      </p:sp>
      <p:sp>
        <p:nvSpPr>
          <p:cNvPr id="12" name="Freeform 13" descr="An image of a lion">
            <a:extLst>
              <a:ext uri="{FF2B5EF4-FFF2-40B4-BE49-F238E27FC236}">
                <a16:creationId xmlns:a16="http://schemas.microsoft.com/office/drawing/2014/main" id="{37342427-83B6-5423-B033-D950237DAD7F}"/>
              </a:ext>
            </a:extLst>
          </p:cNvPr>
          <p:cNvSpPr/>
          <p:nvPr/>
        </p:nvSpPr>
        <p:spPr>
          <a:xfrm>
            <a:off x="2544705" y="940144"/>
            <a:ext cx="1157062" cy="1148647"/>
          </a:xfrm>
          <a:custGeom>
            <a:avLst/>
            <a:gdLst/>
            <a:ahLst/>
            <a:cxnLst/>
            <a:rect l="l" t="t" r="r" b="b"/>
            <a:pathLst>
              <a:path w="1157062" h="1148647">
                <a:moveTo>
                  <a:pt x="0" y="0"/>
                </a:moveTo>
                <a:lnTo>
                  <a:pt x="1157062" y="0"/>
                </a:lnTo>
                <a:lnTo>
                  <a:pt x="1157062" y="1148646"/>
                </a:lnTo>
                <a:lnTo>
                  <a:pt x="0" y="1148646"/>
                </a:lnTo>
                <a:lnTo>
                  <a:pt x="0" y="0"/>
                </a:lnTo>
                <a:close/>
              </a:path>
            </a:pathLst>
          </a:custGeom>
          <a:blipFill>
            <a:blip r:embed="rId4"/>
            <a:stretch>
              <a:fillRect/>
            </a:stretch>
          </a:blipFill>
        </p:spPr>
        <p:txBody>
          <a:bodyPr/>
          <a:lstStyle/>
          <a:p>
            <a:endParaRPr lang="en-AU"/>
          </a:p>
        </p:txBody>
      </p:sp>
      <p:sp>
        <p:nvSpPr>
          <p:cNvPr id="15" name="TextBox 14">
            <a:extLst>
              <a:ext uri="{FF2B5EF4-FFF2-40B4-BE49-F238E27FC236}">
                <a16:creationId xmlns:a16="http://schemas.microsoft.com/office/drawing/2014/main" id="{95EFAAEC-1343-566D-2151-2C729BE70966}"/>
              </a:ext>
            </a:extLst>
          </p:cNvPr>
          <p:cNvSpPr txBox="1"/>
          <p:nvPr/>
        </p:nvSpPr>
        <p:spPr>
          <a:xfrm>
            <a:off x="360000" y="4021974"/>
            <a:ext cx="7295999" cy="1824923"/>
          </a:xfrm>
          <a:prstGeom prst="rect">
            <a:avLst/>
          </a:prstGeom>
          <a:noFill/>
        </p:spPr>
        <p:txBody>
          <a:bodyPr wrap="square">
            <a:spAutoFit/>
          </a:bodyPr>
          <a:lstStyle/>
          <a:p>
            <a:pPr>
              <a:lnSpc>
                <a:spcPct val="150000"/>
              </a:lnSpc>
            </a:pPr>
            <a:r>
              <a:rPr lang="en-US" sz="4000" b="1"/>
              <a:t>Record</a:t>
            </a:r>
            <a:r>
              <a:rPr lang="en-US" sz="4000"/>
              <a:t> the position of the:</a:t>
            </a:r>
          </a:p>
          <a:p>
            <a:pPr marL="571500" indent="-571500">
              <a:lnSpc>
                <a:spcPct val="150000"/>
              </a:lnSpc>
              <a:buFont typeface="Arial" panose="020B0604020202020204" pitchFamily="34" charset="0"/>
              <a:buChar char="•"/>
            </a:pPr>
            <a:r>
              <a:rPr lang="en-US" sz="4000" b="1"/>
              <a:t>monkey</a:t>
            </a:r>
          </a:p>
        </p:txBody>
      </p:sp>
      <p:sp>
        <p:nvSpPr>
          <p:cNvPr id="13" name="Freeform 14" descr="An image of a monkey">
            <a:extLst>
              <a:ext uri="{FF2B5EF4-FFF2-40B4-BE49-F238E27FC236}">
                <a16:creationId xmlns:a16="http://schemas.microsoft.com/office/drawing/2014/main" id="{A41CB7B2-61AC-C4CD-5E9D-678DAF9AD556}"/>
              </a:ext>
            </a:extLst>
          </p:cNvPr>
          <p:cNvSpPr/>
          <p:nvPr/>
        </p:nvSpPr>
        <p:spPr>
          <a:xfrm>
            <a:off x="3123236" y="5205164"/>
            <a:ext cx="1074226" cy="1276078"/>
          </a:xfrm>
          <a:custGeom>
            <a:avLst/>
            <a:gdLst/>
            <a:ahLst/>
            <a:cxnLst/>
            <a:rect l="l" t="t" r="r" b="b"/>
            <a:pathLst>
              <a:path w="1074226" h="1276078">
                <a:moveTo>
                  <a:pt x="0" y="0"/>
                </a:moveTo>
                <a:lnTo>
                  <a:pt x="1074225" y="0"/>
                </a:lnTo>
                <a:lnTo>
                  <a:pt x="1074225" y="1276078"/>
                </a:lnTo>
                <a:lnTo>
                  <a:pt x="0" y="1276078"/>
                </a:lnTo>
                <a:lnTo>
                  <a:pt x="0" y="0"/>
                </a:lnTo>
                <a:close/>
              </a:path>
            </a:pathLst>
          </a:custGeom>
          <a:blipFill>
            <a:blip r:embed="rId5"/>
            <a:stretch>
              <a:fillRect/>
            </a:stretch>
          </a:blipFill>
        </p:spPr>
        <p:txBody>
          <a:bodyPr/>
          <a:lstStyle/>
          <a:p>
            <a:endParaRPr lang="en-AU"/>
          </a:p>
        </p:txBody>
      </p:sp>
      <p:pic>
        <p:nvPicPr>
          <p:cNvPr id="7" name="Picture 6" descr="An aerial view of a zoo map with a square centimetre grid overlay.">
            <a:extLst>
              <a:ext uri="{FF2B5EF4-FFF2-40B4-BE49-F238E27FC236}">
                <a16:creationId xmlns:a16="http://schemas.microsoft.com/office/drawing/2014/main" id="{C441ED78-DBF6-AD82-C6E2-277E31EE0C69}"/>
              </a:ext>
            </a:extLst>
          </p:cNvPr>
          <p:cNvPicPr>
            <a:picLocks noChangeAspect="1"/>
          </p:cNvPicPr>
          <p:nvPr/>
        </p:nvPicPr>
        <p:blipFill>
          <a:blip r:embed="rId6"/>
          <a:stretch>
            <a:fillRect/>
          </a:stretch>
        </p:blipFill>
        <p:spPr>
          <a:xfrm>
            <a:off x="7740737" y="1053239"/>
            <a:ext cx="3383263" cy="5428003"/>
          </a:xfrm>
          <a:prstGeom prst="rect">
            <a:avLst/>
          </a:prstGeom>
        </p:spPr>
      </p:pic>
      <p:sp>
        <p:nvSpPr>
          <p:cNvPr id="2" name="Slide Number Placeholder 1">
            <a:extLst>
              <a:ext uri="{FF2B5EF4-FFF2-40B4-BE49-F238E27FC236}">
                <a16:creationId xmlns:a16="http://schemas.microsoft.com/office/drawing/2014/main" id="{A92A7058-159B-6D6F-F083-F12A03E168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3714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making decimal numbers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Blank gameboard to play 'Place the digits 1' game. There are 3 columns labelled ones and tenths with a decimal point separating the two.">
            <a:extLst>
              <a:ext uri="{FF2B5EF4-FFF2-40B4-BE49-F238E27FC236}">
                <a16:creationId xmlns:a16="http://schemas.microsoft.com/office/drawing/2014/main" id="{1F9ED571-AC64-89E3-3501-550403B1F87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483" r="3919"/>
          <a:stretch>
            <a:fillRect/>
          </a:stretch>
        </p:blipFill>
        <p:spPr bwMode="auto">
          <a:xfrm>
            <a:off x="2138197" y="1071039"/>
            <a:ext cx="7030741" cy="5426961"/>
          </a:xfrm>
          <a:prstGeom prst="rect">
            <a:avLst/>
          </a:prstGeom>
          <a:noFill/>
          <a:ln>
            <a:noFill/>
          </a:ln>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12483" y="1157055"/>
            <a:ext cx="11243037" cy="893226"/>
          </a:xfrm>
        </p:spPr>
        <p:txBody>
          <a:bodyPr/>
          <a:lstStyle/>
          <a:p>
            <a:pPr algn="ctr"/>
            <a:r>
              <a:rPr lang="en-AU" sz="4400" b="1"/>
              <a:t>8.63</a:t>
            </a:r>
            <a:r>
              <a:rPr lang="en-AU" sz="4400"/>
              <a:t> is the </a:t>
            </a:r>
            <a:r>
              <a:rPr lang="en-AU" sz="4400" b="1"/>
              <a:t>largest decimal number </a:t>
            </a:r>
            <a:r>
              <a:rPr lang="en-AU" sz="4400"/>
              <a:t>that can be made from the cards.</a:t>
            </a:r>
          </a:p>
        </p:txBody>
      </p:sp>
      <p:sp>
        <p:nvSpPr>
          <p:cNvPr id="5" name="Rectangle: Rounded Corners 4">
            <a:extLst>
              <a:ext uri="{FF2B5EF4-FFF2-40B4-BE49-F238E27FC236}">
                <a16:creationId xmlns:a16="http://schemas.microsoft.com/office/drawing/2014/main" id="{A766E21F-C2BE-E319-7800-27FE6FA7115F}"/>
              </a:ext>
            </a:extLst>
          </p:cNvPr>
          <p:cNvSpPr>
            <a:spLocks noChangeAspect="1"/>
          </p:cNvSpPr>
          <p:nvPr/>
        </p:nvSpPr>
        <p:spPr>
          <a:xfrm>
            <a:off x="4334624" y="3429000"/>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6000">
                <a:solidFill>
                  <a:schemeClr val="accent1"/>
                </a:solidFill>
                <a:latin typeface="Edu NSW ACT Foundation" pitchFamily="2" charset="0"/>
              </a:rPr>
              <a:t>3</a:t>
            </a:r>
            <a:endParaRPr lang="en-AU" sz="5400">
              <a:solidFill>
                <a:schemeClr val="accent1"/>
              </a:solidFill>
              <a:latin typeface="Edu NSW ACT Foundation" pitchFamily="2" charset="0"/>
            </a:endParaRPr>
          </a:p>
        </p:txBody>
      </p:sp>
      <p:sp>
        <p:nvSpPr>
          <p:cNvPr id="7" name="Rectangle: Rounded Corners 6">
            <a:extLst>
              <a:ext uri="{FF2B5EF4-FFF2-40B4-BE49-F238E27FC236}">
                <a16:creationId xmlns:a16="http://schemas.microsoft.com/office/drawing/2014/main" id="{C6C18F9F-6485-BEA1-A13A-28B7D2F5E2B3}"/>
              </a:ext>
            </a:extLst>
          </p:cNvPr>
          <p:cNvSpPr>
            <a:spLocks noChangeAspect="1"/>
          </p:cNvSpPr>
          <p:nvPr/>
        </p:nvSpPr>
        <p:spPr>
          <a:xfrm>
            <a:off x="5426824" y="3429000"/>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6000">
                <a:solidFill>
                  <a:schemeClr val="accent1"/>
                </a:solidFill>
                <a:latin typeface="Edu NSW ACT Foundation" pitchFamily="2" charset="0"/>
              </a:rPr>
              <a:t>6</a:t>
            </a:r>
            <a:endParaRPr lang="en-AU" sz="5400">
              <a:solidFill>
                <a:schemeClr val="accent1"/>
              </a:solidFill>
              <a:latin typeface="Edu NSW ACT Foundation" pitchFamily="2" charset="0"/>
            </a:endParaRPr>
          </a:p>
        </p:txBody>
      </p:sp>
      <p:sp>
        <p:nvSpPr>
          <p:cNvPr id="9" name="Rectangle: Rounded Corners 8">
            <a:extLst>
              <a:ext uri="{FF2B5EF4-FFF2-40B4-BE49-F238E27FC236}">
                <a16:creationId xmlns:a16="http://schemas.microsoft.com/office/drawing/2014/main" id="{FF42F13C-5C6E-727B-6944-862164CFEAF2}"/>
              </a:ext>
            </a:extLst>
          </p:cNvPr>
          <p:cNvSpPr>
            <a:spLocks noChangeAspect="1"/>
          </p:cNvSpPr>
          <p:nvPr/>
        </p:nvSpPr>
        <p:spPr>
          <a:xfrm>
            <a:off x="6519028" y="3429000"/>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6000">
                <a:solidFill>
                  <a:schemeClr val="accent1"/>
                </a:solidFill>
                <a:latin typeface="Edu NSW ACT Foundation" pitchFamily="2" charset="0"/>
              </a:rPr>
              <a:t>8</a:t>
            </a:r>
            <a:endParaRPr lang="en-AU" sz="5400">
              <a:solidFill>
                <a:schemeClr val="accent1"/>
              </a:solidFill>
              <a:latin typeface="Edu NSW ACT Foundation" pitchFamily="2" charset="0"/>
            </a:endParaRP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149832137"/>
              </p:ext>
            </p:extLst>
          </p:nvPr>
        </p:nvGraphicFramePr>
        <p:xfrm>
          <a:off x="2495464" y="506221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11" name="TextBox 10">
            <a:extLst>
              <a:ext uri="{FF2B5EF4-FFF2-40B4-BE49-F238E27FC236}">
                <a16:creationId xmlns:a16="http://schemas.microsoft.com/office/drawing/2014/main" id="{1742563D-BAC9-B77A-D07C-1B5BDEE1FCDB}"/>
              </a:ext>
            </a:extLst>
          </p:cNvPr>
          <p:cNvSpPr txBox="1"/>
          <p:nvPr/>
        </p:nvSpPr>
        <p:spPr>
          <a:xfrm>
            <a:off x="468481" y="5914416"/>
            <a:ext cx="11255037" cy="769441"/>
          </a:xfrm>
          <a:prstGeom prst="rect">
            <a:avLst/>
          </a:prstGeom>
          <a:noFill/>
        </p:spPr>
        <p:txBody>
          <a:bodyPr wrap="square">
            <a:spAutoFit/>
          </a:bodyPr>
          <a:lstStyle/>
          <a:p>
            <a:pPr algn="ctr"/>
            <a:r>
              <a:rPr lang="en-AU" sz="4400" b="1" i="0" u="none" strike="noStrike">
                <a:solidFill>
                  <a:srgbClr val="22272B"/>
                </a:solidFill>
                <a:effectLst/>
                <a:latin typeface="Arial" panose="020B0604020202020204" pitchFamily="34" charset="0"/>
              </a:rPr>
              <a:t>Communicate </a:t>
            </a:r>
            <a:r>
              <a:rPr lang="en-AU" sz="4400" b="0" i="0" u="none" strike="noStrike">
                <a:solidFill>
                  <a:srgbClr val="22272B"/>
                </a:solidFill>
                <a:effectLst/>
                <a:latin typeface="Arial" panose="020B0604020202020204" pitchFamily="34" charset="0"/>
              </a:rPr>
              <a:t>your</a:t>
            </a:r>
            <a:r>
              <a:rPr lang="en-AU" sz="4400" b="1" i="0" u="none" strike="noStrike">
                <a:solidFill>
                  <a:srgbClr val="22272B"/>
                </a:solidFill>
                <a:effectLst/>
                <a:latin typeface="Arial" panose="020B0604020202020204" pitchFamily="34" charset="0"/>
              </a:rPr>
              <a:t> reasoning.</a:t>
            </a:r>
            <a:r>
              <a:rPr lang="en-AU" sz="4400" b="0" i="0">
                <a:solidFill>
                  <a:srgbClr val="000000"/>
                </a:solidFill>
                <a:effectLst/>
                <a:latin typeface="Arial" panose="020B0604020202020204" pitchFamily="34" charset="0"/>
              </a:rPr>
              <a:t>​</a:t>
            </a:r>
            <a:endParaRPr lang="en-AU" sz="4400"/>
          </a:p>
        </p:txBody>
      </p:sp>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847D-7E33-EA64-616F-6A70C9FE01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1162333-A510-1780-A93D-3DC8C72C865F}"/>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01769D6A-2823-7CF7-DDB3-5884D1719BB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5" name="Text Placeholder 5">
            <a:extLst>
              <a:ext uri="{FF2B5EF4-FFF2-40B4-BE49-F238E27FC236}">
                <a16:creationId xmlns:a16="http://schemas.microsoft.com/office/drawing/2014/main" id="{FAAF11A4-B661-4B18-5CA7-847B451181EF}"/>
              </a:ext>
            </a:extLst>
          </p:cNvPr>
          <p:cNvSpPr txBox="1">
            <a:spLocks/>
          </p:cNvSpPr>
          <p:nvPr/>
        </p:nvSpPr>
        <p:spPr>
          <a:xfrm>
            <a:off x="360000" y="822216"/>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objects that have a </a:t>
            </a:r>
            <a:r>
              <a:rPr lang="en-AU" sz="4400" b="1"/>
              <a:t>mass</a:t>
            </a:r>
            <a:r>
              <a:rPr lang="en-AU" sz="4400"/>
              <a:t> of about </a:t>
            </a:r>
            <a:r>
              <a:rPr lang="en-AU" sz="4400" b="1"/>
              <a:t>one kilogram</a:t>
            </a:r>
            <a:r>
              <a:rPr lang="en-AU" sz="4400"/>
              <a:t>.</a:t>
            </a:r>
          </a:p>
        </p:txBody>
      </p:sp>
      <p:sp>
        <p:nvSpPr>
          <p:cNvPr id="13" name="Freeform 4" descr="bottle of milk">
            <a:extLst>
              <a:ext uri="{FF2B5EF4-FFF2-40B4-BE49-F238E27FC236}">
                <a16:creationId xmlns:a16="http://schemas.microsoft.com/office/drawing/2014/main" id="{B0853F90-A6EE-30EE-410E-BE18CAFE58B1}"/>
              </a:ext>
            </a:extLst>
          </p:cNvPr>
          <p:cNvSpPr/>
          <p:nvPr/>
        </p:nvSpPr>
        <p:spPr>
          <a:xfrm>
            <a:off x="611256" y="4208619"/>
            <a:ext cx="1171586" cy="2382095"/>
          </a:xfrm>
          <a:custGeom>
            <a:avLst/>
            <a:gdLst/>
            <a:ahLst/>
            <a:cxnLst/>
            <a:rect l="l" t="t" r="r" b="b"/>
            <a:pathLst>
              <a:path w="1493100" h="3024000">
                <a:moveTo>
                  <a:pt x="0" y="0"/>
                </a:moveTo>
                <a:lnTo>
                  <a:pt x="1493100" y="0"/>
                </a:lnTo>
                <a:lnTo>
                  <a:pt x="1493100" y="3024000"/>
                </a:lnTo>
                <a:lnTo>
                  <a:pt x="0" y="3024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5" name="Freeform 6" descr="book">
            <a:extLst>
              <a:ext uri="{FF2B5EF4-FFF2-40B4-BE49-F238E27FC236}">
                <a16:creationId xmlns:a16="http://schemas.microsoft.com/office/drawing/2014/main" id="{C592498E-BF25-17B1-E422-53430D6206CB}"/>
              </a:ext>
            </a:extLst>
          </p:cNvPr>
          <p:cNvSpPr/>
          <p:nvPr/>
        </p:nvSpPr>
        <p:spPr>
          <a:xfrm>
            <a:off x="2365697" y="4678018"/>
            <a:ext cx="2042203" cy="2015170"/>
          </a:xfrm>
          <a:custGeom>
            <a:avLst/>
            <a:gdLst/>
            <a:ahLst/>
            <a:cxnLst/>
            <a:rect l="l" t="t" r="r" b="b"/>
            <a:pathLst>
              <a:path w="2665366" h="2548756">
                <a:moveTo>
                  <a:pt x="0" y="0"/>
                </a:moveTo>
                <a:lnTo>
                  <a:pt x="2665366" y="0"/>
                </a:lnTo>
                <a:lnTo>
                  <a:pt x="2665366" y="2548756"/>
                </a:lnTo>
                <a:lnTo>
                  <a:pt x="0" y="254875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7" name="Freeform 8" descr="sack of potatoes">
            <a:extLst>
              <a:ext uri="{FF2B5EF4-FFF2-40B4-BE49-F238E27FC236}">
                <a16:creationId xmlns:a16="http://schemas.microsoft.com/office/drawing/2014/main" id="{A5AECAEA-3951-C810-D82D-3E8815F3331A}"/>
              </a:ext>
            </a:extLst>
          </p:cNvPr>
          <p:cNvSpPr/>
          <p:nvPr/>
        </p:nvSpPr>
        <p:spPr>
          <a:xfrm>
            <a:off x="5030888" y="4060002"/>
            <a:ext cx="2130223" cy="2467272"/>
          </a:xfrm>
          <a:custGeom>
            <a:avLst/>
            <a:gdLst/>
            <a:ahLst/>
            <a:cxnLst/>
            <a:rect l="l" t="t" r="r" b="b"/>
            <a:pathLst>
              <a:path w="2283558" h="2237887">
                <a:moveTo>
                  <a:pt x="0" y="0"/>
                </a:moveTo>
                <a:lnTo>
                  <a:pt x="2283558" y="0"/>
                </a:lnTo>
                <a:lnTo>
                  <a:pt x="2283558" y="2237887"/>
                </a:lnTo>
                <a:lnTo>
                  <a:pt x="0" y="223788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9" name="Freeform 10" descr="balloon">
            <a:extLst>
              <a:ext uri="{FF2B5EF4-FFF2-40B4-BE49-F238E27FC236}">
                <a16:creationId xmlns:a16="http://schemas.microsoft.com/office/drawing/2014/main" id="{81A9FF78-12EE-99CF-4B9E-EDD5DB7DBA5B}"/>
              </a:ext>
            </a:extLst>
          </p:cNvPr>
          <p:cNvSpPr/>
          <p:nvPr/>
        </p:nvSpPr>
        <p:spPr>
          <a:xfrm rot="4080783">
            <a:off x="7811703" y="4435059"/>
            <a:ext cx="1853874" cy="1548784"/>
          </a:xfrm>
          <a:custGeom>
            <a:avLst/>
            <a:gdLst/>
            <a:ahLst/>
            <a:cxnLst/>
            <a:rect l="l" t="t" r="r" b="b"/>
            <a:pathLst>
              <a:path w="2274017" h="1833427">
                <a:moveTo>
                  <a:pt x="0" y="0"/>
                </a:moveTo>
                <a:lnTo>
                  <a:pt x="2274018" y="0"/>
                </a:lnTo>
                <a:lnTo>
                  <a:pt x="2274018" y="1833426"/>
                </a:lnTo>
                <a:lnTo>
                  <a:pt x="0" y="1833426"/>
                </a:lnTo>
                <a:lnTo>
                  <a:pt x="0" y="0"/>
                </a:lnTo>
                <a:close/>
              </a:path>
            </a:pathLst>
          </a:custGeom>
          <a:blipFill>
            <a:blip r:embed="rId7"/>
            <a:stretch>
              <a:fillRect/>
            </a:stretch>
          </a:blipFill>
        </p:spPr>
        <p:txBody>
          <a:bodyPr/>
          <a:lstStyle/>
          <a:p>
            <a:endParaRPr lang="en-AU"/>
          </a:p>
        </p:txBody>
      </p:sp>
      <p:sp>
        <p:nvSpPr>
          <p:cNvPr id="12" name="Freeform 3" descr="football">
            <a:extLst>
              <a:ext uri="{FF2B5EF4-FFF2-40B4-BE49-F238E27FC236}">
                <a16:creationId xmlns:a16="http://schemas.microsoft.com/office/drawing/2014/main" id="{45AB0D7F-9351-F6EA-8D7B-26041376225A}"/>
              </a:ext>
            </a:extLst>
          </p:cNvPr>
          <p:cNvSpPr/>
          <p:nvPr/>
        </p:nvSpPr>
        <p:spPr>
          <a:xfrm>
            <a:off x="10145394" y="4484880"/>
            <a:ext cx="1650284" cy="1702692"/>
          </a:xfrm>
          <a:custGeom>
            <a:avLst/>
            <a:gdLst/>
            <a:ahLst/>
            <a:cxnLst/>
            <a:rect l="l" t="t" r="r" b="b"/>
            <a:pathLst>
              <a:path w="2165164" h="2165164">
                <a:moveTo>
                  <a:pt x="0" y="0"/>
                </a:moveTo>
                <a:lnTo>
                  <a:pt x="2165164" y="0"/>
                </a:lnTo>
                <a:lnTo>
                  <a:pt x="2165164" y="2165164"/>
                </a:lnTo>
                <a:lnTo>
                  <a:pt x="0" y="216516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C356C4DE-B4C2-935C-DA88-EBD4CD363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4" name="B">
            <a:extLst>
              <a:ext uri="{FF2B5EF4-FFF2-40B4-BE49-F238E27FC236}">
                <a16:creationId xmlns:a16="http://schemas.microsoft.com/office/drawing/2014/main" id="{EFDCBB36-0256-A68B-2882-DE3B5978B7CF}"/>
              </a:ext>
            </a:extLst>
          </p:cNvPr>
          <p:cNvSpPr txBox="1"/>
          <p:nvPr/>
        </p:nvSpPr>
        <p:spPr>
          <a:xfrm>
            <a:off x="962151" y="33030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B">
            <a:extLst>
              <a:ext uri="{FF2B5EF4-FFF2-40B4-BE49-F238E27FC236}">
                <a16:creationId xmlns:a16="http://schemas.microsoft.com/office/drawing/2014/main" id="{371C92CD-F423-1722-5625-FF0DEF924C07}"/>
              </a:ext>
            </a:extLst>
          </p:cNvPr>
          <p:cNvSpPr txBox="1"/>
          <p:nvPr/>
        </p:nvSpPr>
        <p:spPr>
          <a:xfrm>
            <a:off x="3075363" y="33463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C">
            <a:extLst>
              <a:ext uri="{FF2B5EF4-FFF2-40B4-BE49-F238E27FC236}">
                <a16:creationId xmlns:a16="http://schemas.microsoft.com/office/drawing/2014/main" id="{2045C6F5-052E-D8B9-44E0-1C1C4EE3A991}"/>
              </a:ext>
            </a:extLst>
          </p:cNvPr>
          <p:cNvSpPr txBox="1"/>
          <p:nvPr/>
        </p:nvSpPr>
        <p:spPr>
          <a:xfrm>
            <a:off x="5831284" y="33030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D">
            <a:extLst>
              <a:ext uri="{FF2B5EF4-FFF2-40B4-BE49-F238E27FC236}">
                <a16:creationId xmlns:a16="http://schemas.microsoft.com/office/drawing/2014/main" id="{63C6DF62-D04C-B8A7-D780-CED62130AADB}"/>
              </a:ext>
            </a:extLst>
          </p:cNvPr>
          <p:cNvSpPr txBox="1"/>
          <p:nvPr/>
        </p:nvSpPr>
        <p:spPr>
          <a:xfrm>
            <a:off x="8473925" y="33463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9" name="D">
            <a:extLst>
              <a:ext uri="{FF2B5EF4-FFF2-40B4-BE49-F238E27FC236}">
                <a16:creationId xmlns:a16="http://schemas.microsoft.com/office/drawing/2014/main" id="{13FAA77C-322A-F308-E7D7-44E707466036}"/>
              </a:ext>
            </a:extLst>
          </p:cNvPr>
          <p:cNvSpPr txBox="1"/>
          <p:nvPr/>
        </p:nvSpPr>
        <p:spPr>
          <a:xfrm>
            <a:off x="10905365" y="33030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E</a:t>
            </a:r>
          </a:p>
        </p:txBody>
      </p:sp>
    </p:spTree>
    <p:extLst>
      <p:ext uri="{BB962C8B-B14F-4D97-AF65-F5344CB8AC3E}">
        <p14:creationId xmlns:p14="http://schemas.microsoft.com/office/powerpoint/2010/main" val="209950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B5EB7B43-4775-2D98-5997-5924528D5C29}"/>
              </a:ext>
            </a:extLst>
          </p:cNvPr>
          <p:cNvSpPr txBox="1">
            <a:spLocks/>
          </p:cNvSpPr>
          <p:nvPr/>
        </p:nvSpPr>
        <p:spPr>
          <a:xfrm>
            <a:off x="360000" y="133799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Identify </a:t>
            </a:r>
            <a:r>
              <a:rPr lang="en-AU" sz="4400"/>
              <a:t>and</a:t>
            </a:r>
            <a:r>
              <a:rPr lang="en-AU" sz="4400" b="1"/>
              <a:t> record </a:t>
            </a:r>
            <a:r>
              <a:rPr lang="en-AU" sz="4400"/>
              <a:t>the missing numbers to complete the multiplication fact family. </a:t>
            </a:r>
          </a:p>
        </p:txBody>
      </p:sp>
      <p:grpSp>
        <p:nvGrpSpPr>
          <p:cNvPr id="5" name="Group 4" descr="A fact family triangle with the numbers 6 and 4 and a ? in respective corners">
            <a:extLst>
              <a:ext uri="{FF2B5EF4-FFF2-40B4-BE49-F238E27FC236}">
                <a16:creationId xmlns:a16="http://schemas.microsoft.com/office/drawing/2014/main" id="{65A3D0A3-ED88-AC1C-2C61-83B4B479A15F}"/>
              </a:ext>
            </a:extLst>
          </p:cNvPr>
          <p:cNvGrpSpPr/>
          <p:nvPr/>
        </p:nvGrpSpPr>
        <p:grpSpPr>
          <a:xfrm>
            <a:off x="3060444" y="3994915"/>
            <a:ext cx="2556164" cy="2067790"/>
            <a:chOff x="2254827" y="2680855"/>
            <a:chExt cx="2556164" cy="2067790"/>
          </a:xfrm>
        </p:grpSpPr>
        <p:sp>
          <p:nvSpPr>
            <p:cNvPr id="7" name="Isosceles Triangle 6">
              <a:extLst>
                <a:ext uri="{FF2B5EF4-FFF2-40B4-BE49-F238E27FC236}">
                  <a16:creationId xmlns:a16="http://schemas.microsoft.com/office/drawing/2014/main" id="{C381157E-CB79-B8C7-513E-722D58FA428C}"/>
                </a:ext>
              </a:extLst>
            </p:cNvPr>
            <p:cNvSpPr/>
            <p:nvPr/>
          </p:nvSpPr>
          <p:spPr>
            <a:xfrm>
              <a:off x="2254827" y="2680855"/>
              <a:ext cx="2556164" cy="2067790"/>
            </a:xfrm>
            <a:prstGeom prst="triangle">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p:sp>
          <p:nvSpPr>
            <p:cNvPr id="8" name="TextBox 7">
              <a:extLst>
                <a:ext uri="{FF2B5EF4-FFF2-40B4-BE49-F238E27FC236}">
                  <a16:creationId xmlns:a16="http://schemas.microsoft.com/office/drawing/2014/main" id="{5E5788A8-47A0-4575-2EBB-D3B9C2314BA2}"/>
                </a:ext>
              </a:extLst>
            </p:cNvPr>
            <p:cNvSpPr txBox="1"/>
            <p:nvPr/>
          </p:nvSpPr>
          <p:spPr>
            <a:xfrm>
              <a:off x="3314700" y="2990168"/>
              <a:ext cx="436418" cy="426027"/>
            </a:xfrm>
            <a:prstGeom prst="rect">
              <a:avLst/>
            </a:prstGeom>
            <a:noFill/>
          </p:spPr>
          <p:txBody>
            <a:bodyPr wrap="square" lIns="0" tIns="0" rIns="0" bIns="0" rtlCol="0" anchor="ctr">
              <a:noAutofit/>
            </a:bodyPr>
            <a:lstStyle/>
            <a:p>
              <a:pPr algn="ctr"/>
              <a:r>
                <a:rPr lang="en-AU">
                  <a:latin typeface="Edu NSW ACT Foundation" pitchFamily="2" charset="0"/>
                </a:rPr>
                <a:t>?</a:t>
              </a:r>
            </a:p>
          </p:txBody>
        </p:sp>
        <p:sp>
          <p:nvSpPr>
            <p:cNvPr id="9" name="TextBox 8">
              <a:extLst>
                <a:ext uri="{FF2B5EF4-FFF2-40B4-BE49-F238E27FC236}">
                  <a16:creationId xmlns:a16="http://schemas.microsoft.com/office/drawing/2014/main" id="{E59049FE-3A90-39C4-AA87-E8AA754C0DE0}"/>
                </a:ext>
              </a:extLst>
            </p:cNvPr>
            <p:cNvSpPr txBox="1"/>
            <p:nvPr/>
          </p:nvSpPr>
          <p:spPr>
            <a:xfrm>
              <a:off x="2531918" y="4267975"/>
              <a:ext cx="436418" cy="426027"/>
            </a:xfrm>
            <a:prstGeom prst="rect">
              <a:avLst/>
            </a:prstGeom>
            <a:noFill/>
          </p:spPr>
          <p:txBody>
            <a:bodyPr wrap="square" lIns="0" tIns="0" rIns="0" bIns="0" rtlCol="0" anchor="ctr">
              <a:noAutofit/>
            </a:bodyPr>
            <a:lstStyle/>
            <a:p>
              <a:pPr algn="ctr"/>
              <a:r>
                <a:rPr lang="en-AU">
                  <a:latin typeface="Edu NSW ACT Foundation" pitchFamily="2" charset="0"/>
                </a:rPr>
                <a:t>6</a:t>
              </a:r>
            </a:p>
          </p:txBody>
        </p:sp>
        <p:sp>
          <p:nvSpPr>
            <p:cNvPr id="10" name="TextBox 9">
              <a:extLst>
                <a:ext uri="{FF2B5EF4-FFF2-40B4-BE49-F238E27FC236}">
                  <a16:creationId xmlns:a16="http://schemas.microsoft.com/office/drawing/2014/main" id="{D9CAD382-0FF3-F9FE-BD8B-0D8388ECD6FD}"/>
                </a:ext>
              </a:extLst>
            </p:cNvPr>
            <p:cNvSpPr txBox="1"/>
            <p:nvPr/>
          </p:nvSpPr>
          <p:spPr>
            <a:xfrm>
              <a:off x="4028209" y="4267975"/>
              <a:ext cx="436418" cy="426027"/>
            </a:xfrm>
            <a:prstGeom prst="rect">
              <a:avLst/>
            </a:prstGeom>
            <a:noFill/>
          </p:spPr>
          <p:txBody>
            <a:bodyPr wrap="square" lIns="0" tIns="0" rIns="0" bIns="0" rtlCol="0" anchor="ctr">
              <a:noAutofit/>
            </a:bodyPr>
            <a:lstStyle/>
            <a:p>
              <a:pPr algn="ctr"/>
              <a:r>
                <a:rPr lang="en-AU">
                  <a:latin typeface="Edu NSW ACT Foundation" pitchFamily="2" charset="0"/>
                </a:rPr>
                <a:t>4</a:t>
              </a:r>
            </a:p>
          </p:txBody>
        </p:sp>
      </p:grpSp>
      <p:sp>
        <p:nvSpPr>
          <p:cNvPr id="11" name="Rectangle: Rounded Corners 10">
            <a:extLst>
              <a:ext uri="{FF2B5EF4-FFF2-40B4-BE49-F238E27FC236}">
                <a16:creationId xmlns:a16="http://schemas.microsoft.com/office/drawing/2014/main" id="{7BEBD06A-1732-B082-106F-8225F6AC8FF1}"/>
              </a:ext>
            </a:extLst>
          </p:cNvPr>
          <p:cNvSpPr/>
          <p:nvPr/>
        </p:nvSpPr>
        <p:spPr>
          <a:xfrm>
            <a:off x="6370563" y="3775882"/>
            <a:ext cx="3121450" cy="2505856"/>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accent1"/>
                </a:solidFill>
                <a:latin typeface="Edu NSW ACT Foundation" pitchFamily="2" charset="0"/>
              </a:rPr>
              <a:t>6 × 4 = 24</a:t>
            </a:r>
          </a:p>
          <a:p>
            <a:pPr algn="ctr"/>
            <a:r>
              <a:rPr lang="en-AU" sz="4000">
                <a:solidFill>
                  <a:schemeClr val="accent1"/>
                </a:solidFill>
                <a:latin typeface="Edu NSW ACT Foundation" pitchFamily="2" charset="0"/>
              </a:rPr>
              <a:t>4 × 6 = </a:t>
            </a:r>
            <a:r>
              <a:rPr lang="en-AU" sz="4000" b="1">
                <a:solidFill>
                  <a:schemeClr val="accent1"/>
                </a:solidFill>
                <a:latin typeface="Edu NSW ACT Foundation" pitchFamily="2" charset="0"/>
              </a:rPr>
              <a:t>? </a:t>
            </a:r>
          </a:p>
          <a:p>
            <a:pPr algn="ctr"/>
            <a:r>
              <a:rPr lang="en-AU" sz="4000">
                <a:solidFill>
                  <a:schemeClr val="accent1"/>
                </a:solidFill>
                <a:latin typeface="Edu NSW ACT Foundation" pitchFamily="2" charset="0"/>
              </a:rPr>
              <a:t>24 </a:t>
            </a:r>
            <a:r>
              <a:rPr lang="en-AU" sz="4000">
                <a:solidFill>
                  <a:schemeClr val="accent1"/>
                </a:solidFill>
                <a:latin typeface="Edu NSW ACT Foundation" pitchFamily="2" charset="0"/>
                <a:ea typeface="Cambria Math" panose="02040503050406030204" pitchFamily="18" charset="0"/>
              </a:rPr>
              <a:t>÷ 4 = </a:t>
            </a:r>
            <a:r>
              <a:rPr lang="en-AU" sz="4000" b="1">
                <a:solidFill>
                  <a:schemeClr val="accent1"/>
                </a:solidFill>
                <a:latin typeface="Edu NSW ACT Foundation" pitchFamily="2" charset="0"/>
              </a:rPr>
              <a:t>?</a:t>
            </a:r>
            <a:endParaRPr lang="en-AU" sz="4000" b="1">
              <a:solidFill>
                <a:schemeClr val="accent1"/>
              </a:solidFill>
              <a:latin typeface="Edu NSW ACT Foundation" pitchFamily="2" charset="0"/>
              <a:ea typeface="Cambria Math" panose="02040503050406030204" pitchFamily="18" charset="0"/>
            </a:endParaRPr>
          </a:p>
          <a:p>
            <a:pPr algn="ctr"/>
            <a:r>
              <a:rPr lang="en-AU" sz="4000">
                <a:solidFill>
                  <a:schemeClr val="accent1"/>
                </a:solidFill>
                <a:latin typeface="Edu NSW ACT Foundation" pitchFamily="2" charset="0"/>
                <a:ea typeface="Cambria Math" panose="02040503050406030204" pitchFamily="18" charset="0"/>
              </a:rPr>
              <a:t>24 ÷ </a:t>
            </a:r>
            <a:r>
              <a:rPr lang="en-AU" sz="4000" b="1">
                <a:solidFill>
                  <a:schemeClr val="accent1"/>
                </a:solidFill>
                <a:latin typeface="Edu NSW ACT Foundation" pitchFamily="2" charset="0"/>
              </a:rPr>
              <a:t>?</a:t>
            </a:r>
            <a:r>
              <a:rPr lang="en-AU" sz="4000">
                <a:solidFill>
                  <a:schemeClr val="accent1"/>
                </a:solidFill>
                <a:latin typeface="Edu NSW ACT Foundation" pitchFamily="2" charset="0"/>
                <a:ea typeface="Cambria Math" panose="02040503050406030204" pitchFamily="18" charset="0"/>
              </a:rPr>
              <a:t> = 4</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195E364-9E1C-DE5F-A78D-C64AE41F1D8D}"/>
              </a:ext>
            </a:extLst>
          </p:cNvPr>
          <p:cNvSpPr txBox="1"/>
          <p:nvPr/>
        </p:nvSpPr>
        <p:spPr>
          <a:xfrm>
            <a:off x="523308" y="1316091"/>
            <a:ext cx="10960692" cy="1998176"/>
          </a:xfrm>
          <a:prstGeom prst="rect">
            <a:avLst/>
          </a:prstGeom>
          <a:noFill/>
        </p:spPr>
        <p:txBody>
          <a:bodyPr wrap="square">
            <a:spAutoFit/>
          </a:bodyPr>
          <a:lstStyle/>
          <a:p>
            <a:pPr algn="ctr">
              <a:lnSpc>
                <a:spcPct val="150000"/>
              </a:lnSpc>
            </a:pPr>
            <a:r>
              <a:rPr lang="en-AU" sz="4400" i="0">
                <a:solidFill>
                  <a:srgbClr val="000000"/>
                </a:solidFill>
                <a:effectLst/>
              </a:rPr>
              <a:t>Which</a:t>
            </a:r>
            <a:r>
              <a:rPr lang="en-AU" sz="4400" b="1" i="0">
                <a:solidFill>
                  <a:srgbClr val="000000"/>
                </a:solidFill>
                <a:effectLst/>
              </a:rPr>
              <a:t> two-dimensional shapes </a:t>
            </a:r>
            <a:r>
              <a:rPr lang="en-AU" sz="4400" b="0" i="0">
                <a:solidFill>
                  <a:srgbClr val="000000"/>
                </a:solidFill>
                <a:effectLst/>
              </a:rPr>
              <a:t>can be used to form a </a:t>
            </a:r>
            <a:r>
              <a:rPr lang="en-AU" sz="4400" b="1" i="0">
                <a:solidFill>
                  <a:srgbClr val="000000"/>
                </a:solidFill>
                <a:effectLst/>
              </a:rPr>
              <a:t>trapezium</a:t>
            </a:r>
            <a:r>
              <a:rPr lang="en-AU" sz="4400">
                <a:solidFill>
                  <a:srgbClr val="000000"/>
                </a:solidFill>
              </a:rPr>
              <a:t>?</a:t>
            </a:r>
            <a:endParaRPr lang="en-AU" sz="4400"/>
          </a:p>
        </p:txBody>
      </p:sp>
      <p:sp>
        <p:nvSpPr>
          <p:cNvPr id="4" name="Trapezium 3" descr="A purple trapezium">
            <a:extLst>
              <a:ext uri="{FF2B5EF4-FFF2-40B4-BE49-F238E27FC236}">
                <a16:creationId xmlns:a16="http://schemas.microsoft.com/office/drawing/2014/main" id="{1D79344D-58C4-5F20-2DFE-0EC9F476B081}"/>
              </a:ext>
            </a:extLst>
          </p:cNvPr>
          <p:cNvSpPr/>
          <p:nvPr/>
        </p:nvSpPr>
        <p:spPr>
          <a:xfrm>
            <a:off x="4530376" y="3991301"/>
            <a:ext cx="3572539" cy="1709897"/>
          </a:xfrm>
          <a:prstGeom prst="trapezoid">
            <a:avLst/>
          </a:prstGeom>
          <a:solidFill>
            <a:srgbClr val="CC99FF"/>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352E6504-9486-976C-575D-6AC1408A4785}"/>
              </a:ext>
            </a:extLst>
          </p:cNvPr>
          <p:cNvSpPr txBox="1">
            <a:spLocks/>
          </p:cNvSpPr>
          <p:nvPr/>
        </p:nvSpPr>
        <p:spPr>
          <a:xfrm>
            <a:off x="360000" y="905601"/>
            <a:ext cx="7302064"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Record</a:t>
            </a:r>
            <a:r>
              <a:rPr lang="en-US" sz="4400"/>
              <a:t> the letter-number grid reference of the:</a:t>
            </a:r>
          </a:p>
          <a:p>
            <a:pPr marL="571500" indent="-571500">
              <a:buFont typeface="Arial" panose="020B0604020202020204" pitchFamily="34" charset="0"/>
              <a:buChar char="•"/>
            </a:pPr>
            <a:r>
              <a:rPr lang="en-US" sz="4400"/>
              <a:t>elephant</a:t>
            </a:r>
          </a:p>
          <a:p>
            <a:pPr marL="571500" indent="-571500">
              <a:buFont typeface="Arial" panose="020B0604020202020204" pitchFamily="34" charset="0"/>
              <a:buChar char="•"/>
            </a:pPr>
            <a:r>
              <a:rPr lang="en-US" sz="4400"/>
              <a:t>zebra</a:t>
            </a:r>
          </a:p>
          <a:p>
            <a:pPr marL="571500" indent="-571500">
              <a:buFont typeface="Arial" panose="020B0604020202020204" pitchFamily="34" charset="0"/>
              <a:buChar char="•"/>
            </a:pPr>
            <a:r>
              <a:rPr lang="en-US" sz="4400"/>
              <a:t>monkey.</a:t>
            </a:r>
            <a:endParaRPr lang="en-US" sz="4000"/>
          </a:p>
        </p:txBody>
      </p:sp>
      <p:sp>
        <p:nvSpPr>
          <p:cNvPr id="8" name="Freeform 10" descr="An image of an elephant">
            <a:extLst>
              <a:ext uri="{FF2B5EF4-FFF2-40B4-BE49-F238E27FC236}">
                <a16:creationId xmlns:a16="http://schemas.microsoft.com/office/drawing/2014/main" id="{65C79936-3AB9-73D7-54D3-20316F17755E}"/>
              </a:ext>
            </a:extLst>
          </p:cNvPr>
          <p:cNvSpPr>
            <a:spLocks noChangeAspect="1"/>
          </p:cNvSpPr>
          <p:nvPr/>
        </p:nvSpPr>
        <p:spPr>
          <a:xfrm>
            <a:off x="4228012" y="3051016"/>
            <a:ext cx="964243" cy="980284"/>
          </a:xfrm>
          <a:custGeom>
            <a:avLst/>
            <a:gdLst/>
            <a:ahLst/>
            <a:cxnLst/>
            <a:rect l="l" t="t" r="r" b="b"/>
            <a:pathLst>
              <a:path w="1206074" h="1226138">
                <a:moveTo>
                  <a:pt x="0" y="0"/>
                </a:moveTo>
                <a:lnTo>
                  <a:pt x="1206074" y="0"/>
                </a:lnTo>
                <a:lnTo>
                  <a:pt x="1206074" y="1226139"/>
                </a:lnTo>
                <a:lnTo>
                  <a:pt x="0" y="1226139"/>
                </a:lnTo>
                <a:lnTo>
                  <a:pt x="0" y="0"/>
                </a:lnTo>
                <a:close/>
              </a:path>
            </a:pathLst>
          </a:custGeom>
          <a:blipFill>
            <a:blip r:embed="rId4"/>
            <a:stretch>
              <a:fillRect/>
            </a:stretch>
          </a:blipFill>
        </p:spPr>
        <p:txBody>
          <a:bodyPr/>
          <a:lstStyle/>
          <a:p>
            <a:endParaRPr lang="en-AU"/>
          </a:p>
        </p:txBody>
      </p:sp>
      <p:sp>
        <p:nvSpPr>
          <p:cNvPr id="9" name="Freeform 11" descr="An image of a zebra">
            <a:extLst>
              <a:ext uri="{FF2B5EF4-FFF2-40B4-BE49-F238E27FC236}">
                <a16:creationId xmlns:a16="http://schemas.microsoft.com/office/drawing/2014/main" id="{9AF4B3D3-B10B-44E4-1421-F7955153F603}"/>
              </a:ext>
            </a:extLst>
          </p:cNvPr>
          <p:cNvSpPr/>
          <p:nvPr/>
        </p:nvSpPr>
        <p:spPr>
          <a:xfrm>
            <a:off x="4027526" y="4306572"/>
            <a:ext cx="1316100" cy="882983"/>
          </a:xfrm>
          <a:custGeom>
            <a:avLst/>
            <a:gdLst/>
            <a:ahLst/>
            <a:cxnLst/>
            <a:rect l="l" t="t" r="r" b="b"/>
            <a:pathLst>
              <a:path w="1316100" h="882983">
                <a:moveTo>
                  <a:pt x="0" y="0"/>
                </a:moveTo>
                <a:lnTo>
                  <a:pt x="1316100" y="0"/>
                </a:lnTo>
                <a:lnTo>
                  <a:pt x="1316100" y="882983"/>
                </a:lnTo>
                <a:lnTo>
                  <a:pt x="0" y="88298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pic>
        <p:nvPicPr>
          <p:cNvPr id="7" name="Picture 6" descr="An areial view of a zoo map with a grid overlay. The horizontal axis is labelled A, B, C and the vertical axis is labelled 1, 2, 3, 4, 5.">
            <a:extLst>
              <a:ext uri="{FF2B5EF4-FFF2-40B4-BE49-F238E27FC236}">
                <a16:creationId xmlns:a16="http://schemas.microsoft.com/office/drawing/2014/main" id="{EC700D5B-4326-CE2A-26A4-E92BE8BE6A0F}"/>
              </a:ext>
            </a:extLst>
          </p:cNvPr>
          <p:cNvPicPr>
            <a:picLocks noChangeAspect="1"/>
          </p:cNvPicPr>
          <p:nvPr/>
        </p:nvPicPr>
        <p:blipFill>
          <a:blip r:embed="rId6">
            <a:extLst>
              <a:ext uri="{28A0092B-C50C-407E-A947-70E740481C1C}">
                <a14:useLocalDpi xmlns:a14="http://schemas.microsoft.com/office/drawing/2010/main" val="0"/>
              </a:ext>
            </a:extLst>
          </a:blip>
          <a:srcRect l="26359" r="27036" b="-1213"/>
          <a:stretch>
            <a:fillRect/>
          </a:stretch>
        </p:blipFill>
        <p:spPr>
          <a:xfrm>
            <a:off x="7662064" y="1216840"/>
            <a:ext cx="3568666" cy="5479160"/>
          </a:xfrm>
          <a:prstGeom prst="rect">
            <a:avLst/>
          </a:prstGeom>
          <a:effec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11" name="Picture 10" descr="An image of a monkey">
            <a:extLst>
              <a:ext uri="{FF2B5EF4-FFF2-40B4-BE49-F238E27FC236}">
                <a16:creationId xmlns:a16="http://schemas.microsoft.com/office/drawing/2014/main" id="{DEBD99FE-EB7D-779F-3C09-85E20043E01E}"/>
              </a:ext>
            </a:extLst>
          </p:cNvPr>
          <p:cNvPicPr>
            <a:picLocks noChangeAspect="1"/>
          </p:cNvPicPr>
          <p:nvPr/>
        </p:nvPicPr>
        <p:blipFill>
          <a:blip r:embed="rId7">
            <a:extLst>
              <a:ext uri="{28A0092B-C50C-407E-A947-70E740481C1C}">
                <a14:useLocalDpi xmlns:a14="http://schemas.microsoft.com/office/drawing/2010/main" val="0"/>
              </a:ext>
            </a:extLst>
          </a:blip>
          <a:srcRect l="82416" t="33684" r="4287" b="45263"/>
          <a:stretch>
            <a:fillRect/>
          </a:stretch>
        </p:blipFill>
        <p:spPr>
          <a:xfrm>
            <a:off x="4201697" y="5441154"/>
            <a:ext cx="1053152" cy="1178902"/>
          </a:xfrm>
          <a:prstGeom prst="rect">
            <a:avLst/>
          </a:prstGeom>
        </p:spPr>
      </p:pic>
    </p:spTree>
    <p:extLst>
      <p:ext uri="{BB962C8B-B14F-4D97-AF65-F5344CB8AC3E}">
        <p14:creationId xmlns:p14="http://schemas.microsoft.com/office/powerpoint/2010/main" val="168783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making decimal numbers using tenths and hundredths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Blank gameboard to play 'Place the digits 2' game. There are 4 columns labelled ones, decimal point, tenths and hundredths.">
            <a:extLst>
              <a:ext uri="{FF2B5EF4-FFF2-40B4-BE49-F238E27FC236}">
                <a16:creationId xmlns:a16="http://schemas.microsoft.com/office/drawing/2014/main" id="{D5D22043-DD7D-155E-2114-B711A124EDE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636" r="3067"/>
          <a:stretch>
            <a:fillRect/>
          </a:stretch>
        </p:blipFill>
        <p:spPr bwMode="auto">
          <a:xfrm>
            <a:off x="681733" y="1975982"/>
            <a:ext cx="5926794" cy="4540018"/>
          </a:xfrm>
          <a:prstGeom prst="rect">
            <a:avLst/>
          </a:prstGeom>
          <a:noFill/>
          <a:ln>
            <a:noFill/>
          </a:ln>
          <a:extLst>
            <a:ext uri="{53640926-AAD7-44D8-BBD7-CCE9431645EC}">
              <a14:shadowObscured xmlns:a14="http://schemas.microsoft.com/office/drawing/2010/main"/>
            </a:ext>
          </a:extLst>
        </p:spPr>
      </p:pic>
      <p:pic>
        <p:nvPicPr>
          <p:cNvPr id="7" name="Picture 6" descr="A grid displaying pairs of digits from 0 to 9 arranged">
            <a:extLst>
              <a:ext uri="{FF2B5EF4-FFF2-40B4-BE49-F238E27FC236}">
                <a16:creationId xmlns:a16="http://schemas.microsoft.com/office/drawing/2014/main" id="{F5C1E528-9C82-8B2F-ADF6-5BB5A8B17079}"/>
              </a:ext>
            </a:extLst>
          </p:cNvPr>
          <p:cNvPicPr>
            <a:picLocks noChangeAspect="1"/>
          </p:cNvPicPr>
          <p:nvPr/>
        </p:nvPicPr>
        <p:blipFill>
          <a:blip r:embed="rId5"/>
          <a:stretch>
            <a:fillRect/>
          </a:stretch>
        </p:blipFill>
        <p:spPr>
          <a:xfrm>
            <a:off x="7799374" y="2109567"/>
            <a:ext cx="3307629" cy="4236847"/>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218306" y="895053"/>
            <a:ext cx="11625694" cy="754243"/>
          </a:xfrm>
        </p:spPr>
        <p:txBody>
          <a:bodyPr/>
          <a:lstStyle/>
          <a:p>
            <a:pPr algn="ctr"/>
            <a:r>
              <a:rPr lang="en-US" sz="4000"/>
              <a:t>Which </a:t>
            </a:r>
            <a:r>
              <a:rPr lang="en-US" sz="4000" b="1"/>
              <a:t>decimal numbers </a:t>
            </a:r>
            <a:r>
              <a:rPr lang="en-US" sz="4000"/>
              <a:t>have been placed in </a:t>
            </a:r>
            <a:r>
              <a:rPr lang="en-US" sz="4000" b="1"/>
              <a:t>ascending order</a:t>
            </a:r>
            <a:r>
              <a:rPr lang="en-US" sz="4000"/>
              <a:t>?</a:t>
            </a:r>
          </a:p>
        </p:txBody>
      </p:sp>
      <p:sp>
        <p:nvSpPr>
          <p:cNvPr id="9" name="B">
            <a:extLst>
              <a:ext uri="{FF2B5EF4-FFF2-40B4-BE49-F238E27FC236}">
                <a16:creationId xmlns:a16="http://schemas.microsoft.com/office/drawing/2014/main" id="{F91A42F4-D8C9-20A3-82EB-86FAD4D776A8}"/>
              </a:ext>
            </a:extLst>
          </p:cNvPr>
          <p:cNvSpPr txBox="1"/>
          <p:nvPr/>
        </p:nvSpPr>
        <p:spPr>
          <a:xfrm>
            <a:off x="670560" y="30074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973586"/>
            <a:ext cx="10175920" cy="641396"/>
          </a:xfrm>
        </p:spPr>
        <p:txBody>
          <a:bodyPr anchor="ctr"/>
          <a:lstStyle/>
          <a:p>
            <a:r>
              <a:rPr lang="en-US" sz="4400"/>
              <a:t>3.92, 3.95, 3.99, 3.09</a:t>
            </a:r>
          </a:p>
        </p:txBody>
      </p:sp>
      <p:sp>
        <p:nvSpPr>
          <p:cNvPr id="10" name="B">
            <a:extLst>
              <a:ext uri="{FF2B5EF4-FFF2-40B4-BE49-F238E27FC236}">
                <a16:creationId xmlns:a16="http://schemas.microsoft.com/office/drawing/2014/main" id="{CA9D5B15-A13C-EE8B-176F-3B4E3454A1A2}"/>
              </a:ext>
            </a:extLst>
          </p:cNvPr>
          <p:cNvSpPr txBox="1"/>
          <p:nvPr/>
        </p:nvSpPr>
        <p:spPr>
          <a:xfrm>
            <a:off x="670559" y="3936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902169"/>
            <a:ext cx="10175920" cy="641396"/>
          </a:xfrm>
        </p:spPr>
        <p:txBody>
          <a:bodyPr anchor="ctr"/>
          <a:lstStyle/>
          <a:p>
            <a:r>
              <a:rPr lang="en-US" sz="4400"/>
              <a:t>2.39, 9.23, 3.92, 9.32</a:t>
            </a:r>
          </a:p>
        </p:txBody>
      </p:sp>
      <p:sp>
        <p:nvSpPr>
          <p:cNvPr id="12" name="C">
            <a:extLst>
              <a:ext uri="{FF2B5EF4-FFF2-40B4-BE49-F238E27FC236}">
                <a16:creationId xmlns:a16="http://schemas.microsoft.com/office/drawing/2014/main" id="{B4746450-E4E2-359C-DFCA-0532E811BD1E}"/>
              </a:ext>
            </a:extLst>
          </p:cNvPr>
          <p:cNvSpPr txBox="1"/>
          <p:nvPr/>
        </p:nvSpPr>
        <p:spPr>
          <a:xfrm>
            <a:off x="670558" y="48646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830752"/>
            <a:ext cx="10175920" cy="641396"/>
          </a:xfrm>
        </p:spPr>
        <p:txBody>
          <a:bodyPr anchor="ctr"/>
          <a:lstStyle/>
          <a:p>
            <a:r>
              <a:rPr lang="en-US" sz="4400"/>
              <a:t>4.03, 4.35, 4.4, 4.41</a:t>
            </a:r>
          </a:p>
        </p:txBody>
      </p:sp>
      <p:sp>
        <p:nvSpPr>
          <p:cNvPr id="11" name="D">
            <a:extLst>
              <a:ext uri="{FF2B5EF4-FFF2-40B4-BE49-F238E27FC236}">
                <a16:creationId xmlns:a16="http://schemas.microsoft.com/office/drawing/2014/main" id="{9B8955CE-78C1-2F30-7505-4CA44A86BDFF}"/>
              </a:ext>
            </a:extLst>
          </p:cNvPr>
          <p:cNvSpPr txBox="1"/>
          <p:nvPr/>
        </p:nvSpPr>
        <p:spPr>
          <a:xfrm>
            <a:off x="670557" y="57932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759336"/>
            <a:ext cx="10175920" cy="641396"/>
          </a:xfrm>
        </p:spPr>
        <p:txBody>
          <a:bodyPr anchor="ctr"/>
          <a:lstStyle/>
          <a:p>
            <a:r>
              <a:rPr lang="en-US" sz="4400"/>
              <a:t>1.11, 1.01, 1.12, 1.02</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7BAC147F-ECE5-FEF5-FBB2-D744861004A5}"/>
              </a:ext>
            </a:extLst>
          </p:cNvPr>
          <p:cNvSpPr txBox="1"/>
          <p:nvPr/>
        </p:nvSpPr>
        <p:spPr>
          <a:xfrm>
            <a:off x="483525" y="1437873"/>
            <a:ext cx="10546951" cy="914400"/>
          </a:xfrm>
          <a:prstGeom prst="rect">
            <a:avLst/>
          </a:prstGeom>
          <a:noFill/>
        </p:spPr>
        <p:txBody>
          <a:bodyPr wrap="none" lIns="0" tIns="0" rIns="0" bIns="0" rtlCol="0">
            <a:noAutofit/>
          </a:bodyPr>
          <a:lstStyle/>
          <a:p>
            <a:pPr algn="l"/>
            <a:r>
              <a:rPr lang="en-AU" sz="4400"/>
              <a:t>Complete these numbers sentences:</a:t>
            </a:r>
          </a:p>
        </p:txBody>
      </p:sp>
      <p:pic>
        <p:nvPicPr>
          <p:cNvPr id="11" name="Picture 10" descr="A fraction wall with 1 kg in the top row. It is further broken down into halves and quarters.">
            <a:extLst>
              <a:ext uri="{FF2B5EF4-FFF2-40B4-BE49-F238E27FC236}">
                <a16:creationId xmlns:a16="http://schemas.microsoft.com/office/drawing/2014/main" id="{8381E2B0-00C3-4A9B-3995-568AAA698E47}"/>
              </a:ext>
            </a:extLst>
          </p:cNvPr>
          <p:cNvPicPr>
            <a:picLocks noChangeAspect="1"/>
          </p:cNvPicPr>
          <p:nvPr/>
        </p:nvPicPr>
        <p:blipFill>
          <a:blip r:embed="rId4"/>
          <a:stretch>
            <a:fillRect/>
          </a:stretch>
        </p:blipFill>
        <p:spPr>
          <a:xfrm>
            <a:off x="5079091" y="3100462"/>
            <a:ext cx="6629384" cy="1861809"/>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A4A1ABC-469A-17A5-B92E-79218275F0E8}"/>
                  </a:ext>
                </a:extLst>
              </p:cNvPr>
              <p:cNvSpPr txBox="1"/>
              <p:nvPr/>
            </p:nvSpPr>
            <p:spPr>
              <a:xfrm>
                <a:off x="483525" y="2182506"/>
                <a:ext cx="5124868" cy="4333494"/>
              </a:xfrm>
              <a:prstGeom prst="rect">
                <a:avLst/>
              </a:prstGeom>
              <a:noFill/>
            </p:spPr>
            <p:txBody>
              <a:bodyPr wrap="square">
                <a:spAutoFit/>
              </a:bodyPr>
              <a:lstStyle/>
              <a:p>
                <a:pPr>
                  <a:lnSpc>
                    <a:spcPct val="150000"/>
                  </a:lnSpc>
                </a:pPr>
                <a14:m>
                  <m:oMath xmlns:m="http://schemas.openxmlformats.org/officeDocument/2006/math">
                    <m:r>
                      <m:rPr>
                        <m:nor/>
                      </m:rPr>
                      <a:rPr lang="en-AU" sz="4400" dirty="0"/>
                      <m:t>a</m:t>
                    </m:r>
                    <m:r>
                      <m:rPr>
                        <m:nor/>
                      </m:rPr>
                      <a:rPr lang="en-AU" sz="4400" dirty="0"/>
                      <m:t>)</m:t>
                    </m:r>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2</m:t>
                        </m:r>
                      </m:den>
                    </m:f>
                  </m:oMath>
                </a14:m>
                <a:r>
                  <a:rPr lang="en-AU" sz="4400">
                    <a:cs typeface="Arial" panose="020B0604020202020204" pitchFamily="34" charset="0"/>
                  </a:rPr>
                  <a:t> kg = ___ g</a:t>
                </a:r>
              </a:p>
              <a:p>
                <a:pPr>
                  <a:lnSpc>
                    <a:spcPct val="150000"/>
                  </a:lnSpc>
                </a:pPr>
                <a:r>
                  <a:rPr lang="en-AU" sz="4400"/>
                  <a:t>b) </a:t>
                </a: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a:latin typeface="Cambria Math" panose="02040503050406030204" pitchFamily="18" charset="0"/>
                            <a:cs typeface="Arial" panose="020B0604020202020204" pitchFamily="34" charset="0"/>
                          </a:rPr>
                          <m:t>1</m:t>
                        </m:r>
                      </m:num>
                      <m:den>
                        <m:r>
                          <a:rPr lang="en-AU" sz="4400">
                            <a:latin typeface="Cambria Math" panose="02040503050406030204" pitchFamily="18" charset="0"/>
                            <a:cs typeface="Arial" panose="020B0604020202020204" pitchFamily="34" charset="0"/>
                          </a:rPr>
                          <m:t>4</m:t>
                        </m:r>
                      </m:den>
                    </m:f>
                  </m:oMath>
                </a14:m>
                <a:r>
                  <a:rPr lang="en-AU" sz="4400">
                    <a:cs typeface="Arial" panose="020B0604020202020204" pitchFamily="34" charset="0"/>
                  </a:rPr>
                  <a:t> kg = ___ g</a:t>
                </a:r>
              </a:p>
              <a:p>
                <a:pPr>
                  <a:lnSpc>
                    <a:spcPct val="150000"/>
                  </a:lnSpc>
                </a:pPr>
                <a:r>
                  <a:rPr lang="en-AU" sz="4400"/>
                  <a:t>c)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3</m:t>
                        </m:r>
                      </m:num>
                      <m:den>
                        <m:r>
                          <a:rPr lang="en-AU" sz="4400" i="1">
                            <a:latin typeface="Cambria Math" panose="02040503050406030204" pitchFamily="18" charset="0"/>
                          </a:rPr>
                          <m:t>4</m:t>
                        </m:r>
                      </m:den>
                    </m:f>
                  </m:oMath>
                </a14:m>
                <a:r>
                  <a:rPr lang="en-AU" sz="4400">
                    <a:cs typeface="Arial" panose="020B0604020202020204" pitchFamily="34" charset="0"/>
                  </a:rPr>
                  <a:t> kg = ___ g</a:t>
                </a:r>
              </a:p>
            </p:txBody>
          </p:sp>
        </mc:Choice>
        <mc:Fallback xmlns="">
          <p:sp>
            <p:nvSpPr>
              <p:cNvPr id="12" name="TextBox 11">
                <a:extLst>
                  <a:ext uri="{FF2B5EF4-FFF2-40B4-BE49-F238E27FC236}">
                    <a16:creationId xmlns:a16="http://schemas.microsoft.com/office/drawing/2014/main" id="{4A4A1ABC-469A-17A5-B92E-79218275F0E8}"/>
                  </a:ext>
                </a:extLst>
              </p:cNvPr>
              <p:cNvSpPr txBox="1">
                <a:spLocks noRot="1" noChangeAspect="1" noMove="1" noResize="1" noEditPoints="1" noAdjustHandles="1" noChangeArrowheads="1" noChangeShapeType="1" noTextEdit="1"/>
              </p:cNvSpPr>
              <p:nvPr/>
            </p:nvSpPr>
            <p:spPr>
              <a:xfrm>
                <a:off x="483525" y="2182506"/>
                <a:ext cx="5124868" cy="4333494"/>
              </a:xfrm>
              <a:prstGeom prst="rect">
                <a:avLst/>
              </a:prstGeom>
              <a:blipFill>
                <a:blip r:embed="rId5"/>
                <a:stretch>
                  <a:fillRect l="-4756" b="-84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a:extLst>
              <a:ext uri="{FF2B5EF4-FFF2-40B4-BE49-F238E27FC236}">
                <a16:creationId xmlns:a16="http://schemas.microsoft.com/office/drawing/2014/main" id="{980CBDB8-3699-87AC-F88F-53495E2ED2A5}"/>
              </a:ext>
            </a:extLst>
          </p:cNvPr>
          <p:cNvSpPr txBox="1">
            <a:spLocks/>
          </p:cNvSpPr>
          <p:nvPr/>
        </p:nvSpPr>
        <p:spPr>
          <a:xfrm>
            <a:off x="360000" y="934807"/>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Record </a:t>
            </a:r>
            <a:r>
              <a:rPr lang="en-US" sz="4400"/>
              <a:t>the total number of squares in the array </a:t>
            </a:r>
            <a:r>
              <a:rPr lang="en-US" sz="4400" b="1"/>
              <a:t>without counting</a:t>
            </a:r>
            <a:r>
              <a:rPr lang="en-US" sz="4400"/>
              <a:t>.</a:t>
            </a:r>
          </a:p>
        </p:txBody>
      </p:sp>
      <p:sp>
        <p:nvSpPr>
          <p:cNvPr id="7" name="Text Placeholder">
            <a:extLst>
              <a:ext uri="{FF2B5EF4-FFF2-40B4-BE49-F238E27FC236}">
                <a16:creationId xmlns:a16="http://schemas.microsoft.com/office/drawing/2014/main" id="{6D1ED171-11A2-2411-B7A5-B572A930DEC9}"/>
              </a:ext>
            </a:extLst>
          </p:cNvPr>
          <p:cNvSpPr txBox="1">
            <a:spLocks/>
          </p:cNvSpPr>
          <p:nvPr/>
        </p:nvSpPr>
        <p:spPr>
          <a:xfrm>
            <a:off x="360000" y="3051878"/>
            <a:ext cx="709066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US" sz="4400"/>
              <a:t>__ rows of __</a:t>
            </a:r>
          </a:p>
          <a:p>
            <a:pPr marL="457200" indent="-457200">
              <a:buFont typeface="Arial" panose="020B0604020202020204" pitchFamily="34" charset="0"/>
              <a:buChar char="•"/>
            </a:pPr>
            <a:r>
              <a:rPr lang="en-US" sz="4400"/>
              <a:t>__ is repeated __ times</a:t>
            </a:r>
          </a:p>
          <a:p>
            <a:pPr marL="457200" indent="-457200">
              <a:buFont typeface="Arial" panose="020B0604020202020204" pitchFamily="34" charset="0"/>
              <a:buChar char="•"/>
            </a:pPr>
            <a:r>
              <a:rPr lang="en-US" sz="4400"/>
              <a:t>__ × __ = __</a:t>
            </a:r>
          </a:p>
        </p:txBody>
      </p:sp>
      <p:pic>
        <p:nvPicPr>
          <p:cNvPr id="12" name="Picture 11" descr="An area model that is partially covered by a purple shape.&#10;">
            <a:extLst>
              <a:ext uri="{FF2B5EF4-FFF2-40B4-BE49-F238E27FC236}">
                <a16:creationId xmlns:a16="http://schemas.microsoft.com/office/drawing/2014/main" id="{785D99A9-F5FC-DD95-1888-828C758FE1A5}"/>
              </a:ext>
            </a:extLst>
          </p:cNvPr>
          <p:cNvPicPr>
            <a:picLocks noChangeAspect="1"/>
          </p:cNvPicPr>
          <p:nvPr/>
        </p:nvPicPr>
        <p:blipFill>
          <a:blip r:embed="rId4"/>
          <a:stretch>
            <a:fillRect/>
          </a:stretch>
        </p:blipFill>
        <p:spPr>
          <a:xfrm>
            <a:off x="6884761" y="3339877"/>
            <a:ext cx="4947239" cy="2671296"/>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DB118AFC-09A6-222D-98F0-E9E8B5089515}"/>
              </a:ext>
            </a:extLst>
          </p:cNvPr>
          <p:cNvSpPr txBox="1">
            <a:spLocks/>
          </p:cNvSpPr>
          <p:nvPr/>
        </p:nvSpPr>
        <p:spPr>
          <a:xfrm>
            <a:off x="472234" y="950534"/>
            <a:ext cx="11644974"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t>Describe </a:t>
            </a:r>
            <a:r>
              <a:rPr lang="en-US" sz="4000"/>
              <a:t>this tessellating design. </a:t>
            </a:r>
          </a:p>
        </p:txBody>
      </p:sp>
      <p:pic>
        <p:nvPicPr>
          <p:cNvPr id="9" name="Picture 8" descr="Diagram showing a tessellation pattern composed of pink and blue equilateral triangles arranged in a hexagonal formation.">
            <a:extLst>
              <a:ext uri="{FF2B5EF4-FFF2-40B4-BE49-F238E27FC236}">
                <a16:creationId xmlns:a16="http://schemas.microsoft.com/office/drawing/2014/main" id="{C2C68439-DD35-8F17-08CF-B31944455507}"/>
              </a:ext>
            </a:extLst>
          </p:cNvPr>
          <p:cNvPicPr>
            <a:picLocks noChangeAspect="1"/>
          </p:cNvPicPr>
          <p:nvPr/>
        </p:nvPicPr>
        <p:blipFill>
          <a:blip r:embed="rId4">
            <a:extLst>
              <a:ext uri="{28A0092B-C50C-407E-A947-70E740481C1C}">
                <a14:useLocalDpi xmlns:a14="http://schemas.microsoft.com/office/drawing/2010/main" val="0"/>
              </a:ext>
            </a:extLst>
          </a:blip>
          <a:srcRect l="9716" t="3814" r="23167" b="53762"/>
          <a:stretch>
            <a:fillRect/>
          </a:stretch>
        </p:blipFill>
        <p:spPr>
          <a:xfrm>
            <a:off x="2722902" y="1974273"/>
            <a:ext cx="6510430" cy="2909454"/>
          </a:xfrm>
          <a:prstGeom prst="rect">
            <a:avLst/>
          </a:prstGeom>
        </p:spPr>
      </p:pic>
      <p:sp>
        <p:nvSpPr>
          <p:cNvPr id="7" name="TextBox 6">
            <a:extLst>
              <a:ext uri="{FF2B5EF4-FFF2-40B4-BE49-F238E27FC236}">
                <a16:creationId xmlns:a16="http://schemas.microsoft.com/office/drawing/2014/main" id="{83A9F382-DF80-62A9-B81C-795467EB9E53}"/>
              </a:ext>
            </a:extLst>
          </p:cNvPr>
          <p:cNvSpPr txBox="1"/>
          <p:nvPr/>
        </p:nvSpPr>
        <p:spPr>
          <a:xfrm>
            <a:off x="472234" y="4883727"/>
            <a:ext cx="11011766" cy="1824923"/>
          </a:xfrm>
          <a:prstGeom prst="rect">
            <a:avLst/>
          </a:prstGeom>
          <a:noFill/>
        </p:spPr>
        <p:txBody>
          <a:bodyPr wrap="square">
            <a:spAutoFit/>
          </a:bodyPr>
          <a:lstStyle/>
          <a:p>
            <a:pPr algn="ctr">
              <a:lnSpc>
                <a:spcPct val="150000"/>
              </a:lnSpc>
            </a:pPr>
            <a:r>
              <a:rPr lang="en-US" sz="4000"/>
              <a:t>Have the shapes have been </a:t>
            </a:r>
            <a:r>
              <a:rPr lang="en-US" sz="4000" b="1"/>
              <a:t>reflected</a:t>
            </a:r>
            <a:r>
              <a:rPr lang="en-US" sz="4000"/>
              <a:t>, </a:t>
            </a:r>
            <a:r>
              <a:rPr lang="en-US" sz="4000" b="1"/>
              <a:t>translated</a:t>
            </a:r>
            <a:r>
              <a:rPr lang="en-US" sz="4000"/>
              <a:t> or </a:t>
            </a:r>
            <a:r>
              <a:rPr lang="en-US" sz="4000" b="1"/>
              <a:t>rotated?</a:t>
            </a:r>
            <a:endParaRPr lang="en-US" sz="400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F7B813EC-F58A-596D-EE16-AC281CF1A551}"/>
              </a:ext>
            </a:extLst>
          </p:cNvPr>
          <p:cNvSpPr txBox="1">
            <a:spLocks/>
          </p:cNvSpPr>
          <p:nvPr/>
        </p:nvSpPr>
        <p:spPr>
          <a:xfrm>
            <a:off x="1764793" y="1461258"/>
            <a:ext cx="8134676"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Sketch a </a:t>
            </a:r>
            <a:r>
              <a:rPr lang="en-AU" sz="4400" b="1"/>
              <a:t>rectangular prism </a:t>
            </a:r>
            <a:r>
              <a:rPr lang="en-AU" sz="4400"/>
              <a:t>showing </a:t>
            </a:r>
            <a:r>
              <a:rPr lang="en-AU" sz="4400" b="1"/>
              <a:t>depth.</a:t>
            </a:r>
            <a:r>
              <a:rPr lang="en-AU" sz="4400"/>
              <a:t> Think about the </a:t>
            </a:r>
            <a:r>
              <a:rPr lang="en-AU" sz="4400" b="1"/>
              <a:t>2D shapes </a:t>
            </a:r>
            <a:r>
              <a:rPr lang="en-AU" sz="4400"/>
              <a:t>that can be seen. </a:t>
            </a:r>
            <a:endParaRPr lang="en-US" sz="4400"/>
          </a:p>
          <a:p>
            <a:pPr algn="ctr"/>
            <a:endParaRPr lang="en-US" sz="4400"/>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tenths and hundredths on a number line</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able displaying a 3 by 4 grid of numbers ranging from 290 to 300, with one empty cell in the last column of the third row. ">
            <a:extLst>
              <a:ext uri="{FF2B5EF4-FFF2-40B4-BE49-F238E27FC236}">
                <a16:creationId xmlns:a16="http://schemas.microsoft.com/office/drawing/2014/main" id="{7FF1E31E-193A-9A87-8016-376966936C0D}"/>
              </a:ext>
            </a:extLst>
          </p:cNvPr>
          <p:cNvPicPr>
            <a:picLocks noChangeAspect="1"/>
          </p:cNvPicPr>
          <p:nvPr/>
        </p:nvPicPr>
        <p:blipFill>
          <a:blip r:embed="rId4"/>
          <a:stretch>
            <a:fillRect/>
          </a:stretch>
        </p:blipFill>
        <p:spPr>
          <a:xfrm>
            <a:off x="3527367" y="1491712"/>
            <a:ext cx="5137265" cy="5006288"/>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480481" y="1745891"/>
            <a:ext cx="11243037" cy="893226"/>
          </a:xfrm>
        </p:spPr>
        <p:txBody>
          <a:bodyPr/>
          <a:lstStyle/>
          <a:p>
            <a:pPr algn="ctr"/>
            <a:r>
              <a:rPr lang="en-AU" sz="4400" b="1"/>
              <a:t>0.608</a:t>
            </a:r>
            <a:r>
              <a:rPr lang="en-AU" sz="4400"/>
              <a:t> is equal to </a:t>
            </a:r>
            <a:r>
              <a:rPr lang="en-AU" sz="4400" b="1"/>
              <a:t>0.6080</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4003734666"/>
              </p:ext>
            </p:extLst>
          </p:nvPr>
        </p:nvGraphicFramePr>
        <p:xfrm>
          <a:off x="2557461" y="381579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TextBox 6">
            <a:extLst>
              <a:ext uri="{FF2B5EF4-FFF2-40B4-BE49-F238E27FC236}">
                <a16:creationId xmlns:a16="http://schemas.microsoft.com/office/drawing/2014/main" id="{B3E01836-0728-AFAA-D473-FAAAC0EBFF39}"/>
              </a:ext>
            </a:extLst>
          </p:cNvPr>
          <p:cNvSpPr txBox="1"/>
          <p:nvPr/>
        </p:nvSpPr>
        <p:spPr>
          <a:xfrm>
            <a:off x="468481" y="5468141"/>
            <a:ext cx="11255037" cy="769441"/>
          </a:xfrm>
          <a:prstGeom prst="rect">
            <a:avLst/>
          </a:prstGeom>
          <a:noFill/>
        </p:spPr>
        <p:txBody>
          <a:bodyPr wrap="square">
            <a:spAutoFit/>
          </a:bodyPr>
          <a:lstStyle/>
          <a:p>
            <a:pPr algn="ctr"/>
            <a:r>
              <a:rPr lang="en-AU" sz="4400" b="1" i="0" u="none" strike="noStrike">
                <a:solidFill>
                  <a:srgbClr val="22272B"/>
                </a:solidFill>
                <a:effectLst/>
                <a:latin typeface="Arial" panose="020B0604020202020204" pitchFamily="34" charset="0"/>
              </a:rPr>
              <a:t>Communicate </a:t>
            </a:r>
            <a:r>
              <a:rPr lang="en-AU" sz="4400" b="0" i="0" u="none" strike="noStrike">
                <a:solidFill>
                  <a:srgbClr val="22272B"/>
                </a:solidFill>
                <a:effectLst/>
                <a:latin typeface="Arial" panose="020B0604020202020204" pitchFamily="34" charset="0"/>
              </a:rPr>
              <a:t>your</a:t>
            </a:r>
            <a:r>
              <a:rPr lang="en-AU" sz="4400" b="1" i="0" u="none" strike="noStrike">
                <a:solidFill>
                  <a:srgbClr val="22272B"/>
                </a:solidFill>
                <a:effectLst/>
                <a:latin typeface="Arial" panose="020B0604020202020204" pitchFamily="34" charset="0"/>
              </a:rPr>
              <a:t> reasoning.</a:t>
            </a:r>
            <a:r>
              <a:rPr lang="en-AU" sz="4400" b="0" i="0">
                <a:solidFill>
                  <a:srgbClr val="000000"/>
                </a:solidFill>
                <a:effectLst/>
                <a:latin typeface="Arial" panose="020B0604020202020204" pitchFamily="34" charset="0"/>
              </a:rPr>
              <a:t>​</a:t>
            </a:r>
            <a:endParaRPr lang="en-AU" sz="4400"/>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4C32B7F4-FA74-B759-10A3-472037791C36}"/>
              </a:ext>
            </a:extLst>
          </p:cNvPr>
          <p:cNvSpPr txBox="1">
            <a:spLocks/>
          </p:cNvSpPr>
          <p:nvPr/>
        </p:nvSpPr>
        <p:spPr>
          <a:xfrm>
            <a:off x="246024" y="90560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mass of the objects in </a:t>
            </a:r>
            <a:r>
              <a:rPr lang="en-AU" sz="4400" b="1"/>
              <a:t>grams</a:t>
            </a:r>
            <a:r>
              <a:rPr lang="en-AU" sz="4400"/>
              <a:t>.</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12" name="Picture 11" descr="Illustration showing weights of three objects: a chair weighing 2 kg 200 g, a backpack weighing 1 kg 750 g, and a computer with keyboard weighing 2 kg 35 g. Each object is depicted with its corresponding weight label below, on a digital scale&#10;">
            <a:extLst>
              <a:ext uri="{FF2B5EF4-FFF2-40B4-BE49-F238E27FC236}">
                <a16:creationId xmlns:a16="http://schemas.microsoft.com/office/drawing/2014/main" id="{6EB2C1DF-A330-E0B8-28D2-8C7FE161F70C}"/>
              </a:ext>
            </a:extLst>
          </p:cNvPr>
          <p:cNvPicPr>
            <a:picLocks noChangeAspect="1"/>
          </p:cNvPicPr>
          <p:nvPr/>
        </p:nvPicPr>
        <p:blipFill>
          <a:blip r:embed="rId4">
            <a:extLst>
              <a:ext uri="{28A0092B-C50C-407E-A947-70E740481C1C}">
                <a14:useLocalDpi xmlns:a14="http://schemas.microsoft.com/office/drawing/2010/main" val="0"/>
              </a:ext>
            </a:extLst>
          </a:blip>
          <a:srcRect t="6749" b="34303"/>
          <a:stretch>
            <a:fillRect/>
          </a:stretch>
        </p:blipFill>
        <p:spPr>
          <a:xfrm>
            <a:off x="1246203" y="2344428"/>
            <a:ext cx="9699593" cy="4042610"/>
          </a:xfrm>
          <a:prstGeom prst="rect">
            <a:avLst/>
          </a:prstGeom>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E686286B-B715-F347-90BF-7AFFAD700460}"/>
              </a:ext>
            </a:extLst>
          </p:cNvPr>
          <p:cNvSpPr txBox="1"/>
          <p:nvPr/>
        </p:nvSpPr>
        <p:spPr>
          <a:xfrm>
            <a:off x="574581" y="3637838"/>
            <a:ext cx="11371395" cy="1998176"/>
          </a:xfrm>
          <a:prstGeom prst="rect">
            <a:avLst/>
          </a:prstGeom>
          <a:noFill/>
        </p:spPr>
        <p:txBody>
          <a:bodyPr wrap="square">
            <a:spAutoFit/>
          </a:bodyPr>
          <a:lstStyle/>
          <a:p>
            <a:pPr marL="742950" marR="0" lvl="0" indent="-742950" defTabSz="914400" rtl="0" eaLnBrk="0" fontAlgn="base" latinLnBrk="0" hangingPunct="0">
              <a:lnSpc>
                <a:spcPct val="150000"/>
              </a:lnSpc>
              <a:spcBef>
                <a:spcPct val="0"/>
              </a:spcBef>
              <a:spcAft>
                <a:spcPct val="0"/>
              </a:spcAft>
              <a:buClrTx/>
              <a:buSzTx/>
              <a:buFont typeface="+mj-lt"/>
              <a:buAutoNum type="alphaLcParenR"/>
              <a:tabLst/>
            </a:pPr>
            <a:r>
              <a:rPr kumimoji="0" lang="en-AU" altLang="en-US" sz="4400" b="1" i="0" u="none" strike="noStrike" cap="none" normalizeH="0" baseline="0">
                <a:ln>
                  <a:noFill/>
                </a:ln>
                <a:solidFill>
                  <a:schemeClr val="tx1"/>
                </a:solidFill>
                <a:effectLst/>
                <a:ea typeface="Calibri" panose="020F0502020204030204" pitchFamily="34" charset="0"/>
                <a:cs typeface="Arial" panose="020B0604020202020204" pitchFamily="34" charset="0"/>
              </a:rPr>
              <a:t>determine</a:t>
            </a:r>
            <a:r>
              <a:rPr kumimoji="0" lang="en-AU" altLang="en-US" sz="4400" b="0" i="0" u="none" strike="noStrike" cap="none" normalizeH="0" baseline="0">
                <a:ln>
                  <a:noFill/>
                </a:ln>
                <a:solidFill>
                  <a:schemeClr val="tx1"/>
                </a:solidFill>
                <a:effectLst/>
                <a:ea typeface="Calibri" panose="020F0502020204030204" pitchFamily="34" charset="0"/>
                <a:cs typeface="Arial" panose="020B0604020202020204" pitchFamily="34" charset="0"/>
              </a:rPr>
              <a:t> the hidden rows and columns</a:t>
            </a:r>
            <a:endParaRPr kumimoji="0" lang="en-AU" altLang="en-US" sz="4400" b="0" i="0" u="none" strike="noStrike" cap="none" normalizeH="0" baseline="0">
              <a:ln>
                <a:noFill/>
              </a:ln>
              <a:solidFill>
                <a:schemeClr val="tx1"/>
              </a:solidFill>
              <a:effectLst/>
            </a:endParaRPr>
          </a:p>
          <a:p>
            <a:pPr marL="742950" marR="0" lvl="0" indent="-742950" defTabSz="914400" rtl="0" eaLnBrk="0" fontAlgn="base" latinLnBrk="0" hangingPunct="0">
              <a:lnSpc>
                <a:spcPct val="150000"/>
              </a:lnSpc>
              <a:spcBef>
                <a:spcPct val="0"/>
              </a:spcBef>
              <a:spcAft>
                <a:spcPct val="0"/>
              </a:spcAft>
              <a:buClrTx/>
              <a:buSzTx/>
              <a:buFont typeface="+mj-lt"/>
              <a:buAutoNum type="alphaLcParenR"/>
              <a:tabLst/>
            </a:pPr>
            <a:r>
              <a:rPr kumimoji="0" lang="en-AU" altLang="en-US" sz="4400" b="1" i="0" u="none" strike="noStrike" cap="none" normalizeH="0" baseline="0">
                <a:ln>
                  <a:noFill/>
                </a:ln>
                <a:solidFill>
                  <a:schemeClr val="tx1"/>
                </a:solidFill>
                <a:effectLst/>
                <a:ea typeface="Calibri" panose="020F0502020204030204" pitchFamily="34" charset="0"/>
                <a:cs typeface="Arial" panose="020B0604020202020204" pitchFamily="34" charset="0"/>
              </a:rPr>
              <a:t>record</a:t>
            </a:r>
            <a:r>
              <a:rPr kumimoji="0" lang="en-AU" altLang="en-US" sz="4400" b="0" i="0" u="none" strike="noStrike" cap="none" normalizeH="0" baseline="0">
                <a:ln>
                  <a:noFill/>
                </a:ln>
                <a:solidFill>
                  <a:schemeClr val="tx1"/>
                </a:solidFill>
                <a:effectLst/>
                <a:ea typeface="Calibri" panose="020F0502020204030204" pitchFamily="34" charset="0"/>
                <a:cs typeface="Arial" panose="020B0604020202020204" pitchFamily="34" charset="0"/>
              </a:rPr>
              <a:t> the multiplication sentence.</a:t>
            </a:r>
            <a:endParaRPr kumimoji="0" lang="en-AU" altLang="en-US" sz="3200" b="0" i="0" u="none" strike="noStrike" cap="none" normalizeH="0" baseline="0">
              <a:ln>
                <a:noFill/>
              </a:ln>
              <a:solidFill>
                <a:schemeClr val="tx1"/>
              </a:solidFill>
              <a:effectLst/>
            </a:endParaRPr>
          </a:p>
        </p:txBody>
      </p:sp>
      <p:sp>
        <p:nvSpPr>
          <p:cNvPr id="7" name="TextBox 6">
            <a:extLst>
              <a:ext uri="{FF2B5EF4-FFF2-40B4-BE49-F238E27FC236}">
                <a16:creationId xmlns:a16="http://schemas.microsoft.com/office/drawing/2014/main" id="{A3745FEF-1A26-586E-8B9C-3F0E4977CB29}"/>
              </a:ext>
            </a:extLst>
          </p:cNvPr>
          <p:cNvSpPr txBox="1"/>
          <p:nvPr/>
        </p:nvSpPr>
        <p:spPr>
          <a:xfrm>
            <a:off x="3016725" y="1496631"/>
            <a:ext cx="5557534" cy="1371600"/>
          </a:xfrm>
          <a:prstGeom prst="rect">
            <a:avLst/>
          </a:prstGeom>
          <a:noFill/>
        </p:spPr>
        <p:txBody>
          <a:bodyPr wrap="square" lIns="0" tIns="0" rIns="0" bIns="0" rtlCol="0">
            <a:noAutofit/>
          </a:bodyPr>
          <a:lstStyle/>
          <a:p>
            <a:pPr algn="ctr"/>
            <a:r>
              <a:rPr lang="en-AU" sz="4400" u="sng">
                <a:solidFill>
                  <a:schemeClr val="accent2"/>
                </a:solidFill>
                <a:latin typeface="Edu NSW ACT Foundation" pitchFamily="2" charset="0"/>
              </a:rPr>
              <a:t>Area model</a:t>
            </a:r>
          </a:p>
          <a:p>
            <a:pPr algn="ctr"/>
            <a:r>
              <a:rPr lang="en-AU" sz="4400">
                <a:solidFill>
                  <a:schemeClr val="accent2"/>
                </a:solidFill>
                <a:latin typeface="Edu NSW ACT Foundation" pitchFamily="2" charset="0"/>
              </a:rPr>
              <a:t>Total = 16, left column = 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3AA3568-F971-3AE9-99F8-D4AB5CFD2F67}"/>
              </a:ext>
            </a:extLst>
          </p:cNvPr>
          <p:cNvSpPr txBox="1"/>
          <p:nvPr/>
        </p:nvSpPr>
        <p:spPr>
          <a:xfrm>
            <a:off x="383626" y="1175164"/>
            <a:ext cx="11424747" cy="820674"/>
          </a:xfrm>
          <a:prstGeom prst="rect">
            <a:avLst/>
          </a:prstGeom>
          <a:noFill/>
        </p:spPr>
        <p:txBody>
          <a:bodyPr wrap="square">
            <a:spAutoFit/>
          </a:bodyPr>
          <a:lstStyle/>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Does this square have only these </a:t>
            </a:r>
            <a:r>
              <a:rPr lang="en-AU" sz="3600" b="1">
                <a:effectLst/>
                <a:latin typeface="Arial" panose="020B0604020202020204" pitchFamily="34" charset="0"/>
                <a:ea typeface="Calibri" panose="020F0502020204030204" pitchFamily="34" charset="0"/>
              </a:rPr>
              <a:t>2</a:t>
            </a:r>
            <a:r>
              <a:rPr lang="en-AU" sz="3600">
                <a:effectLst/>
                <a:latin typeface="Arial" panose="020B0604020202020204" pitchFamily="34" charset="0"/>
                <a:ea typeface="Calibri" panose="020F0502020204030204" pitchFamily="34" charset="0"/>
              </a:rPr>
              <a:t> lines of symmetry?</a:t>
            </a:r>
          </a:p>
        </p:txBody>
      </p:sp>
      <p:grpSp>
        <p:nvGrpSpPr>
          <p:cNvPr id="8" name="Group 7" descr="A graphic showing a square divided into five sections by black lines, with a smaller diamond shape in the centre. The central diamond is a lighter orange, while the four surrounding sections are a darker orange.">
            <a:extLst>
              <a:ext uri="{FF2B5EF4-FFF2-40B4-BE49-F238E27FC236}">
                <a16:creationId xmlns:a16="http://schemas.microsoft.com/office/drawing/2014/main" id="{DD4DED9C-C17E-F588-BD23-7D99088CBC08}"/>
              </a:ext>
            </a:extLst>
          </p:cNvPr>
          <p:cNvGrpSpPr/>
          <p:nvPr/>
        </p:nvGrpSpPr>
        <p:grpSpPr>
          <a:xfrm>
            <a:off x="4390526" y="2110947"/>
            <a:ext cx="3798131" cy="3683460"/>
            <a:chOff x="4114808" y="1659234"/>
            <a:chExt cx="4201064" cy="4054414"/>
          </a:xfrm>
        </p:grpSpPr>
        <p:pic>
          <p:nvPicPr>
            <p:cNvPr id="9" name="Picture 8" descr="A graphic showing a square divided into five sections by black lines, with a smaller diamond shape in the centre. The central diamond is a lighter orange, while the four surrounding sections are a darker orange.">
              <a:extLst>
                <a:ext uri="{FF2B5EF4-FFF2-40B4-BE49-F238E27FC236}">
                  <a16:creationId xmlns:a16="http://schemas.microsoft.com/office/drawing/2014/main" id="{E81CDCC8-251D-C296-8031-CE9A221A7990}"/>
                </a:ext>
              </a:extLst>
            </p:cNvPr>
            <p:cNvPicPr>
              <a:picLocks noChangeAspect="1"/>
            </p:cNvPicPr>
            <p:nvPr/>
          </p:nvPicPr>
          <p:blipFill>
            <a:blip r:embed="rId4">
              <a:extLst>
                <a:ext uri="{28A0092B-C50C-407E-A947-70E740481C1C}">
                  <a14:useLocalDpi xmlns:a14="http://schemas.microsoft.com/office/drawing/2010/main" val="0"/>
                </a:ext>
              </a:extLst>
            </a:blip>
            <a:srcRect l="32801" t="12345" r="35170" b="42817"/>
            <a:stretch>
              <a:fillRect/>
            </a:stretch>
          </p:blipFill>
          <p:spPr>
            <a:xfrm>
              <a:off x="4542559" y="2054036"/>
              <a:ext cx="3106882" cy="3075028"/>
            </a:xfrm>
            <a:prstGeom prst="rect">
              <a:avLst/>
            </a:prstGeom>
          </p:spPr>
        </p:pic>
        <p:cxnSp>
          <p:nvCxnSpPr>
            <p:cNvPr id="5" name="Straight Connector 4" descr="A graphic showing a square divided into five sections by black lines, with a smaller diamond shape in the centre. The central diamond is a lighter orange, while the four surrounding sections are a darker orange.">
              <a:extLst>
                <a:ext uri="{FF2B5EF4-FFF2-40B4-BE49-F238E27FC236}">
                  <a16:creationId xmlns:a16="http://schemas.microsoft.com/office/drawing/2014/main" id="{F1CB50C4-FBAD-3E83-A49D-5D0632FD3B27}"/>
                </a:ext>
              </a:extLst>
            </p:cNvPr>
            <p:cNvCxnSpPr>
              <a:cxnSpLocks/>
            </p:cNvCxnSpPr>
            <p:nvPr/>
          </p:nvCxnSpPr>
          <p:spPr>
            <a:xfrm>
              <a:off x="6104630" y="1659234"/>
              <a:ext cx="0" cy="4054414"/>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descr="A graphic showing a square divided into five sections by black lines, with a smaller diamond shape in the centre. The central diamond is a lighter orange, while the four surrounding sections are a darker orange.">
              <a:extLst>
                <a:ext uri="{FF2B5EF4-FFF2-40B4-BE49-F238E27FC236}">
                  <a16:creationId xmlns:a16="http://schemas.microsoft.com/office/drawing/2014/main" id="{4751D6F7-6D87-B318-6244-114BE2C77008}"/>
                </a:ext>
              </a:extLst>
            </p:cNvPr>
            <p:cNvCxnSpPr>
              <a:cxnSpLocks/>
            </p:cNvCxnSpPr>
            <p:nvPr/>
          </p:nvCxnSpPr>
          <p:spPr>
            <a:xfrm flipH="1">
              <a:off x="4114808" y="3591550"/>
              <a:ext cx="4201064"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E8336950-6A47-7B8C-A9A3-627777A22206}"/>
              </a:ext>
            </a:extLst>
          </p:cNvPr>
          <p:cNvSpPr txBox="1"/>
          <p:nvPr/>
        </p:nvSpPr>
        <p:spPr>
          <a:xfrm>
            <a:off x="419253" y="5794407"/>
            <a:ext cx="11064747" cy="861133"/>
          </a:xfrm>
          <a:prstGeom prst="rect">
            <a:avLst/>
          </a:prstGeom>
          <a:noFill/>
        </p:spPr>
        <p:txBody>
          <a:bodyPr wrap="square">
            <a:spAutoFit/>
          </a:bodyPr>
          <a:lstStyle/>
          <a:p>
            <a:pPr marR="0" lvl="0" algn="ctr" defTabSz="914400" rtl="0" eaLnBrk="0" fontAlgn="base" latinLnBrk="0" hangingPunct="0">
              <a:lnSpc>
                <a:spcPct val="150000"/>
              </a:lnSpc>
              <a:spcBef>
                <a:spcPct val="0"/>
              </a:spcBef>
              <a:spcAft>
                <a:spcPct val="0"/>
              </a:spcAft>
              <a:buClrTx/>
              <a:buSzTx/>
              <a:tabLst/>
            </a:pPr>
            <a:r>
              <a:rPr kumimoji="0" lang="en-AU" altLang="en-US" sz="3800" b="1" i="0" u="none" strike="noStrike" cap="none" normalizeH="0" baseline="0">
                <a:ln>
                  <a:noFill/>
                </a:ln>
                <a:solidFill>
                  <a:schemeClr val="tx1"/>
                </a:solidFill>
                <a:effectLst/>
                <a:ea typeface="Calibri" panose="020F0502020204030204" pitchFamily="34" charset="0"/>
                <a:cs typeface="Arial" panose="020B0604020202020204" pitchFamily="34" charset="0"/>
              </a:rPr>
              <a:t>Communicate </a:t>
            </a:r>
            <a:r>
              <a:rPr kumimoji="0" lang="en-AU" altLang="en-US" sz="3800" i="0" u="none" strike="noStrike" cap="none" normalizeH="0" baseline="0">
                <a:ln>
                  <a:noFill/>
                </a:ln>
                <a:solidFill>
                  <a:schemeClr val="tx1"/>
                </a:solidFill>
                <a:effectLst/>
                <a:ea typeface="Calibri" panose="020F0502020204030204" pitchFamily="34" charset="0"/>
                <a:cs typeface="Arial" panose="020B0604020202020204" pitchFamily="34" charset="0"/>
              </a:rPr>
              <a:t>your</a:t>
            </a:r>
            <a:r>
              <a:rPr kumimoji="0" lang="en-AU" altLang="en-US" sz="3800" b="1" i="0" u="none" strike="noStrike" cap="none" normalizeH="0" baseline="0">
                <a:ln>
                  <a:noFill/>
                </a:ln>
                <a:solidFill>
                  <a:schemeClr val="tx1"/>
                </a:solidFill>
                <a:effectLst/>
                <a:ea typeface="Calibri" panose="020F0502020204030204" pitchFamily="34" charset="0"/>
                <a:cs typeface="Arial" panose="020B0604020202020204" pitchFamily="34" charset="0"/>
              </a:rPr>
              <a:t> reasoning.</a:t>
            </a:r>
            <a:endParaRPr kumimoji="0" lang="en-AU" altLang="en-US" sz="3800" i="0" u="none" strike="noStrike" cap="none" normalizeH="0" baseline="0">
              <a:ln>
                <a:noFill/>
              </a:ln>
              <a:solidFill>
                <a:schemeClr val="tx1"/>
              </a:solidFill>
              <a:effectLst/>
            </a:endParaRP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4B2B1A8-D0C4-770B-BB95-4B1B64007801}"/>
              </a:ext>
            </a:extLst>
          </p:cNvPr>
          <p:cNvSpPr txBox="1"/>
          <p:nvPr/>
        </p:nvSpPr>
        <p:spPr>
          <a:xfrm>
            <a:off x="666967" y="1088524"/>
            <a:ext cx="10595867" cy="2229008"/>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Which jug is filled to show </a:t>
            </a:r>
            <a:r>
              <a:rPr lang="en-AU" sz="4400" b="1">
                <a:effectLst/>
                <a:latin typeface="Arial" panose="020B0604020202020204" pitchFamily="34" charset="0"/>
                <a:ea typeface="Calibri" panose="020F0502020204030204" pitchFamily="34" charset="0"/>
              </a:rPr>
              <a:t>one litre</a:t>
            </a:r>
            <a:r>
              <a:rPr lang="en-AU" sz="4400">
                <a:effectLst/>
                <a:latin typeface="Arial" panose="020B0604020202020204" pitchFamily="34" charset="0"/>
                <a:ea typeface="Calibri" panose="020F0502020204030204" pitchFamily="34" charset="0"/>
              </a:rPr>
              <a:t>?</a:t>
            </a:r>
          </a:p>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rPr>
              <a:t>Communicate</a:t>
            </a:r>
            <a:r>
              <a:rPr lang="en-AU" sz="4400">
                <a:latin typeface="Arial" panose="020B0604020202020204" pitchFamily="34" charset="0"/>
                <a:ea typeface="Calibri" panose="020F0502020204030204" pitchFamily="34" charset="0"/>
              </a:rPr>
              <a:t> your </a:t>
            </a:r>
            <a:r>
              <a:rPr lang="en-AU" sz="4400" b="1">
                <a:latin typeface="Arial" panose="020B0604020202020204" pitchFamily="34" charset="0"/>
                <a:ea typeface="Calibri" panose="020F0502020204030204" pitchFamily="34" charset="0"/>
              </a:rPr>
              <a:t>reasoning</a:t>
            </a:r>
            <a:r>
              <a:rPr lang="en-AU" sz="4400">
                <a:latin typeface="Arial" panose="020B0604020202020204" pitchFamily="34" charset="0"/>
                <a:ea typeface="Calibri" panose="020F0502020204030204" pitchFamily="34" charset="0"/>
              </a:rPr>
              <a:t>.</a:t>
            </a:r>
            <a:endParaRPr lang="en-AU" sz="4400">
              <a:effectLst/>
              <a:latin typeface="Arial" panose="020B060402020202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EFE0CF3C-C4C0-0A4C-C16D-02B1460FEF88}"/>
              </a:ext>
            </a:extLst>
          </p:cNvPr>
          <p:cNvSpPr txBox="1"/>
          <p:nvPr/>
        </p:nvSpPr>
        <p:spPr>
          <a:xfrm>
            <a:off x="1768696" y="3791529"/>
            <a:ext cx="526212" cy="353683"/>
          </a:xfrm>
          <a:prstGeom prst="rect">
            <a:avLst/>
          </a:prstGeom>
          <a:noFill/>
        </p:spPr>
        <p:txBody>
          <a:bodyPr wrap="square" lIns="0" tIns="0" rIns="0" bIns="0" rtlCol="0">
            <a:noAutofit/>
          </a:bodyPr>
          <a:lstStyle/>
          <a:p>
            <a:pPr algn="ctr"/>
            <a:r>
              <a:rPr lang="en-AU" sz="2800" b="1"/>
              <a:t>A</a:t>
            </a:r>
          </a:p>
        </p:txBody>
      </p:sp>
      <p:sp>
        <p:nvSpPr>
          <p:cNvPr id="9" name="Freeform 17" descr="A measuring jug, with 100 millilitre markings ranging from 100 mL to 1000 mL. The jug is filled with water between 200 mL and 300 mL.">
            <a:extLst>
              <a:ext uri="{FF2B5EF4-FFF2-40B4-BE49-F238E27FC236}">
                <a16:creationId xmlns:a16="http://schemas.microsoft.com/office/drawing/2014/main" id="{9A555858-5195-DA85-306C-F6DA9CE45AAF}"/>
              </a:ext>
            </a:extLst>
          </p:cNvPr>
          <p:cNvSpPr>
            <a:spLocks noChangeAspect="1"/>
          </p:cNvSpPr>
          <p:nvPr/>
        </p:nvSpPr>
        <p:spPr>
          <a:xfrm>
            <a:off x="874522" y="4249537"/>
            <a:ext cx="2291448" cy="1970650"/>
          </a:xfrm>
          <a:custGeom>
            <a:avLst/>
            <a:gdLst/>
            <a:ahLst/>
            <a:cxnLst/>
            <a:rect l="l" t="t" r="r" b="b"/>
            <a:pathLst>
              <a:path w="1432155" h="1231653">
                <a:moveTo>
                  <a:pt x="0" y="0"/>
                </a:moveTo>
                <a:lnTo>
                  <a:pt x="1432155" y="0"/>
                </a:lnTo>
                <a:lnTo>
                  <a:pt x="1432155" y="1231654"/>
                </a:lnTo>
                <a:lnTo>
                  <a:pt x="0" y="1231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 name="TextBox 7">
            <a:extLst>
              <a:ext uri="{FF2B5EF4-FFF2-40B4-BE49-F238E27FC236}">
                <a16:creationId xmlns:a16="http://schemas.microsoft.com/office/drawing/2014/main" id="{FE8A169F-E0AD-84EA-223D-2D5C7BBBED8E}"/>
              </a:ext>
            </a:extLst>
          </p:cNvPr>
          <p:cNvSpPr txBox="1"/>
          <p:nvPr/>
        </p:nvSpPr>
        <p:spPr>
          <a:xfrm>
            <a:off x="4691513" y="3791529"/>
            <a:ext cx="526212" cy="353683"/>
          </a:xfrm>
          <a:prstGeom prst="rect">
            <a:avLst/>
          </a:prstGeom>
          <a:noFill/>
        </p:spPr>
        <p:txBody>
          <a:bodyPr wrap="square" lIns="0" tIns="0" rIns="0" bIns="0" rtlCol="0">
            <a:noAutofit/>
          </a:bodyPr>
          <a:lstStyle/>
          <a:p>
            <a:pPr algn="ctr"/>
            <a:r>
              <a:rPr lang="en-AU" sz="2800" b="1"/>
              <a:t>B</a:t>
            </a:r>
          </a:p>
        </p:txBody>
      </p:sp>
      <p:sp>
        <p:nvSpPr>
          <p:cNvPr id="14" name="TextBox 13">
            <a:extLst>
              <a:ext uri="{FF2B5EF4-FFF2-40B4-BE49-F238E27FC236}">
                <a16:creationId xmlns:a16="http://schemas.microsoft.com/office/drawing/2014/main" id="{7025C37C-9269-C2CA-2845-06FE9746F9B8}"/>
              </a:ext>
            </a:extLst>
          </p:cNvPr>
          <p:cNvSpPr txBox="1"/>
          <p:nvPr/>
        </p:nvSpPr>
        <p:spPr>
          <a:xfrm>
            <a:off x="7614330" y="3791529"/>
            <a:ext cx="526212" cy="353683"/>
          </a:xfrm>
          <a:prstGeom prst="rect">
            <a:avLst/>
          </a:prstGeom>
          <a:noFill/>
        </p:spPr>
        <p:txBody>
          <a:bodyPr wrap="square" lIns="0" tIns="0" rIns="0" bIns="0" rtlCol="0">
            <a:noAutofit/>
          </a:bodyPr>
          <a:lstStyle/>
          <a:p>
            <a:pPr algn="ctr"/>
            <a:r>
              <a:rPr lang="en-AU" sz="2800" b="1"/>
              <a:t>C</a:t>
            </a:r>
          </a:p>
        </p:txBody>
      </p:sp>
      <p:sp>
        <p:nvSpPr>
          <p:cNvPr id="11" name="Freeform 19" descr="A measuring jug, with 100 millilitre markings ranging from 100 mL to 1000 mL. The jug is filled with water between 700 mL and 800 mL.">
            <a:extLst>
              <a:ext uri="{FF2B5EF4-FFF2-40B4-BE49-F238E27FC236}">
                <a16:creationId xmlns:a16="http://schemas.microsoft.com/office/drawing/2014/main" id="{B5AF480B-E2FE-6D5E-B701-2079F4699762}"/>
              </a:ext>
            </a:extLst>
          </p:cNvPr>
          <p:cNvSpPr>
            <a:spLocks noChangeAspect="1"/>
          </p:cNvSpPr>
          <p:nvPr/>
        </p:nvSpPr>
        <p:spPr>
          <a:xfrm>
            <a:off x="3801191" y="4249539"/>
            <a:ext cx="2291448" cy="1970650"/>
          </a:xfrm>
          <a:custGeom>
            <a:avLst/>
            <a:gdLst/>
            <a:ahLst/>
            <a:cxnLst/>
            <a:rect l="l" t="t" r="r" b="b"/>
            <a:pathLst>
              <a:path w="1432155" h="1231653">
                <a:moveTo>
                  <a:pt x="0" y="0"/>
                </a:moveTo>
                <a:lnTo>
                  <a:pt x="1432155" y="0"/>
                </a:lnTo>
                <a:lnTo>
                  <a:pt x="1432155" y="1231654"/>
                </a:lnTo>
                <a:lnTo>
                  <a:pt x="0" y="123165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TextBox 14">
            <a:extLst>
              <a:ext uri="{FF2B5EF4-FFF2-40B4-BE49-F238E27FC236}">
                <a16:creationId xmlns:a16="http://schemas.microsoft.com/office/drawing/2014/main" id="{56BEBD05-2F11-156D-BFED-2F9A465A584D}"/>
              </a:ext>
            </a:extLst>
          </p:cNvPr>
          <p:cNvSpPr txBox="1"/>
          <p:nvPr/>
        </p:nvSpPr>
        <p:spPr>
          <a:xfrm>
            <a:off x="10537146" y="3791529"/>
            <a:ext cx="526212" cy="353683"/>
          </a:xfrm>
          <a:prstGeom prst="rect">
            <a:avLst/>
          </a:prstGeom>
          <a:noFill/>
        </p:spPr>
        <p:txBody>
          <a:bodyPr wrap="square" lIns="0" tIns="0" rIns="0" bIns="0" rtlCol="0">
            <a:noAutofit/>
          </a:bodyPr>
          <a:lstStyle/>
          <a:p>
            <a:pPr algn="ctr"/>
            <a:r>
              <a:rPr lang="en-AU" sz="2800" b="1"/>
              <a:t>D</a:t>
            </a:r>
          </a:p>
        </p:txBody>
      </p:sp>
      <p:sp>
        <p:nvSpPr>
          <p:cNvPr id="12" name="Freeform 20" descr="A measuring jug, with 100 millilitre markings ranging from 100 mL to 1000 mL. The jug is filled with water to the top marking.">
            <a:extLst>
              <a:ext uri="{FF2B5EF4-FFF2-40B4-BE49-F238E27FC236}">
                <a16:creationId xmlns:a16="http://schemas.microsoft.com/office/drawing/2014/main" id="{B9D2D5B8-F34B-4159-1A45-655963CA7EBF}"/>
              </a:ext>
            </a:extLst>
          </p:cNvPr>
          <p:cNvSpPr>
            <a:spLocks noChangeAspect="1"/>
          </p:cNvSpPr>
          <p:nvPr/>
        </p:nvSpPr>
        <p:spPr>
          <a:xfrm>
            <a:off x="6727860" y="4280710"/>
            <a:ext cx="2291448" cy="1970650"/>
          </a:xfrm>
          <a:custGeom>
            <a:avLst/>
            <a:gdLst/>
            <a:ahLst/>
            <a:cxnLst/>
            <a:rect l="l" t="t" r="r" b="b"/>
            <a:pathLst>
              <a:path w="1432155" h="1231653">
                <a:moveTo>
                  <a:pt x="0" y="0"/>
                </a:moveTo>
                <a:lnTo>
                  <a:pt x="1432155" y="0"/>
                </a:lnTo>
                <a:lnTo>
                  <a:pt x="1432155" y="1231654"/>
                </a:lnTo>
                <a:lnTo>
                  <a:pt x="0" y="123165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0" name="Freeform 18" descr="A measuring jug, with 100 millilitre markings ranging from 100 mL to 1000 mL. The jug is filled with water to the marking between 400 mL and 600 mL.">
            <a:extLst>
              <a:ext uri="{FF2B5EF4-FFF2-40B4-BE49-F238E27FC236}">
                <a16:creationId xmlns:a16="http://schemas.microsoft.com/office/drawing/2014/main" id="{E0599F93-263B-C9ED-5CAA-8353D1EBDD8B}"/>
              </a:ext>
            </a:extLst>
          </p:cNvPr>
          <p:cNvSpPr>
            <a:spLocks noChangeAspect="1"/>
          </p:cNvSpPr>
          <p:nvPr/>
        </p:nvSpPr>
        <p:spPr>
          <a:xfrm>
            <a:off x="9654528" y="4249537"/>
            <a:ext cx="2291448" cy="1970650"/>
          </a:xfrm>
          <a:custGeom>
            <a:avLst/>
            <a:gdLst/>
            <a:ahLst/>
            <a:cxnLst/>
            <a:rect l="l" t="t" r="r" b="b"/>
            <a:pathLst>
              <a:path w="1432155" h="1231653">
                <a:moveTo>
                  <a:pt x="0" y="0"/>
                </a:moveTo>
                <a:lnTo>
                  <a:pt x="1432155" y="0"/>
                </a:lnTo>
                <a:lnTo>
                  <a:pt x="1432155" y="1231653"/>
                </a:lnTo>
                <a:lnTo>
                  <a:pt x="0" y="123165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the role of zero in decimal notation</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58CDB87A-993C-2702-3EE9-818599D7CC16}"/>
              </a:ext>
            </a:extLst>
          </p:cNvPr>
          <p:cNvSpPr txBox="1"/>
          <p:nvPr/>
        </p:nvSpPr>
        <p:spPr>
          <a:xfrm>
            <a:off x="528133" y="1315414"/>
            <a:ext cx="10595867" cy="1998176"/>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Record as many numbers as you can using all 4 digits and the decimal point?</a:t>
            </a:r>
          </a:p>
        </p:txBody>
      </p:sp>
      <p:pic>
        <p:nvPicPr>
          <p:cNvPr id="3" name="Picture 2" descr="5 number cards labelled 0, 0, 1, 3 and a decimal point.">
            <a:extLst>
              <a:ext uri="{FF2B5EF4-FFF2-40B4-BE49-F238E27FC236}">
                <a16:creationId xmlns:a16="http://schemas.microsoft.com/office/drawing/2014/main" id="{90DCB0DA-F131-8ACF-8CE0-A20C5DB5B06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63" t="30877" r="13218" b="37267"/>
          <a:stretch>
            <a:fillRect/>
          </a:stretch>
        </p:blipFill>
        <p:spPr bwMode="auto">
          <a:xfrm>
            <a:off x="1864047" y="3596214"/>
            <a:ext cx="8463906" cy="2290657"/>
          </a:xfrm>
          <a:prstGeom prst="rect">
            <a:avLst/>
          </a:prstGeom>
          <a:noFill/>
          <a:ln>
            <a:noFill/>
          </a:ln>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09585" y="994255"/>
            <a:ext cx="11243037" cy="893226"/>
          </a:xfrm>
        </p:spPr>
        <p:txBody>
          <a:bodyPr/>
          <a:lstStyle/>
          <a:p>
            <a:pPr algn="ctr"/>
            <a:r>
              <a:rPr lang="en-US" sz="4400"/>
              <a:t>Which </a:t>
            </a:r>
            <a:r>
              <a:rPr lang="en-US" sz="4400" b="1"/>
              <a:t>array</a:t>
            </a:r>
            <a:r>
              <a:rPr lang="en-US" sz="4400"/>
              <a:t> represents the fact family of:  </a:t>
            </a:r>
          </a:p>
        </p:txBody>
      </p:sp>
      <p:sp>
        <p:nvSpPr>
          <p:cNvPr id="5" name="Rectangle: Rounded Corners 4">
            <a:extLst>
              <a:ext uri="{FF2B5EF4-FFF2-40B4-BE49-F238E27FC236}">
                <a16:creationId xmlns:a16="http://schemas.microsoft.com/office/drawing/2014/main" id="{9134D1B3-BF53-6A66-DF0D-09D0FDA49A02}"/>
              </a:ext>
            </a:extLst>
          </p:cNvPr>
          <p:cNvSpPr/>
          <p:nvPr/>
        </p:nvSpPr>
        <p:spPr>
          <a:xfrm>
            <a:off x="539378" y="2186861"/>
            <a:ext cx="11113244" cy="1209968"/>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accent1"/>
                </a:solidFill>
                <a:latin typeface="Edu NSW ACT Foundation" pitchFamily="2" charset="0"/>
              </a:rPr>
              <a:t>2 × 4 = 8		  4 × 2 = 8      8 </a:t>
            </a:r>
            <a:r>
              <a:rPr lang="en-AU" sz="4000">
                <a:solidFill>
                  <a:schemeClr val="accent1"/>
                </a:solidFill>
                <a:latin typeface="Edu NSW ACT Foundation" pitchFamily="2" charset="0"/>
                <a:ea typeface="Cambria Math" panose="02040503050406030204" pitchFamily="18" charset="0"/>
              </a:rPr>
              <a:t>÷ 4 = 2	     8 ÷ 2 = 4</a:t>
            </a:r>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38331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grpSp>
        <p:nvGrpSpPr>
          <p:cNvPr id="83" name="Group 82" descr="An array of 2 rows of  4">
            <a:extLst>
              <a:ext uri="{FF2B5EF4-FFF2-40B4-BE49-F238E27FC236}">
                <a16:creationId xmlns:a16="http://schemas.microsoft.com/office/drawing/2014/main" id="{40CAF166-C3DD-BFD4-2C6B-7BE01909230F}"/>
              </a:ext>
            </a:extLst>
          </p:cNvPr>
          <p:cNvGrpSpPr/>
          <p:nvPr/>
        </p:nvGrpSpPr>
        <p:grpSpPr>
          <a:xfrm>
            <a:off x="557327" y="5585919"/>
            <a:ext cx="1792075" cy="873293"/>
            <a:chOff x="557327" y="4397199"/>
            <a:chExt cx="1792075" cy="873293"/>
          </a:xfrm>
        </p:grpSpPr>
        <p:sp>
          <p:nvSpPr>
            <p:cNvPr id="38" name="Oval 37">
              <a:extLst>
                <a:ext uri="{FF2B5EF4-FFF2-40B4-BE49-F238E27FC236}">
                  <a16:creationId xmlns:a16="http://schemas.microsoft.com/office/drawing/2014/main" id="{02477DFD-8A00-2197-7D92-9E08062F6107}"/>
                </a:ext>
              </a:extLst>
            </p:cNvPr>
            <p:cNvSpPr>
              <a:spLocks noChangeAspect="1"/>
            </p:cNvSpPr>
            <p:nvPr/>
          </p:nvSpPr>
          <p:spPr>
            <a:xfrm>
              <a:off x="557327" y="4397199"/>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4" name="Oval 43">
              <a:extLst>
                <a:ext uri="{FF2B5EF4-FFF2-40B4-BE49-F238E27FC236}">
                  <a16:creationId xmlns:a16="http://schemas.microsoft.com/office/drawing/2014/main" id="{2D57C2E3-B533-E1A9-D6DC-F0BD91E06699}"/>
                </a:ext>
              </a:extLst>
            </p:cNvPr>
            <p:cNvSpPr>
              <a:spLocks noChangeAspect="1"/>
            </p:cNvSpPr>
            <p:nvPr/>
          </p:nvSpPr>
          <p:spPr>
            <a:xfrm>
              <a:off x="557327" y="4863795"/>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5" name="Oval 44">
              <a:extLst>
                <a:ext uri="{FF2B5EF4-FFF2-40B4-BE49-F238E27FC236}">
                  <a16:creationId xmlns:a16="http://schemas.microsoft.com/office/drawing/2014/main" id="{C6566122-0219-98E4-7522-AED254BA79C6}"/>
                </a:ext>
              </a:extLst>
            </p:cNvPr>
            <p:cNvSpPr>
              <a:spLocks noChangeAspect="1"/>
            </p:cNvSpPr>
            <p:nvPr/>
          </p:nvSpPr>
          <p:spPr>
            <a:xfrm>
              <a:off x="1022949" y="4397199"/>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6" name="Oval 45">
              <a:extLst>
                <a:ext uri="{FF2B5EF4-FFF2-40B4-BE49-F238E27FC236}">
                  <a16:creationId xmlns:a16="http://schemas.microsoft.com/office/drawing/2014/main" id="{8EC8A2FD-4CD0-271D-88B0-A3458E79777F}"/>
                </a:ext>
              </a:extLst>
            </p:cNvPr>
            <p:cNvSpPr>
              <a:spLocks noChangeAspect="1"/>
            </p:cNvSpPr>
            <p:nvPr/>
          </p:nvSpPr>
          <p:spPr>
            <a:xfrm>
              <a:off x="1022949" y="4863795"/>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7" name="Oval 46">
              <a:extLst>
                <a:ext uri="{FF2B5EF4-FFF2-40B4-BE49-F238E27FC236}">
                  <a16:creationId xmlns:a16="http://schemas.microsoft.com/office/drawing/2014/main" id="{3A173259-2BF8-9E1B-7CD2-FAE83443D75C}"/>
                </a:ext>
              </a:extLst>
            </p:cNvPr>
            <p:cNvSpPr>
              <a:spLocks noChangeAspect="1"/>
            </p:cNvSpPr>
            <p:nvPr/>
          </p:nvSpPr>
          <p:spPr>
            <a:xfrm>
              <a:off x="1488571" y="4397199"/>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8" name="Oval 47">
              <a:extLst>
                <a:ext uri="{FF2B5EF4-FFF2-40B4-BE49-F238E27FC236}">
                  <a16:creationId xmlns:a16="http://schemas.microsoft.com/office/drawing/2014/main" id="{EB2B4F6C-DF57-265C-B75A-D3F81CF94013}"/>
                </a:ext>
              </a:extLst>
            </p:cNvPr>
            <p:cNvSpPr>
              <a:spLocks noChangeAspect="1"/>
            </p:cNvSpPr>
            <p:nvPr/>
          </p:nvSpPr>
          <p:spPr>
            <a:xfrm>
              <a:off x="1488571" y="4863795"/>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9" name="Oval 48">
              <a:extLst>
                <a:ext uri="{FF2B5EF4-FFF2-40B4-BE49-F238E27FC236}">
                  <a16:creationId xmlns:a16="http://schemas.microsoft.com/office/drawing/2014/main" id="{ABF89911-86A3-4054-20EA-6C156CD72716}"/>
                </a:ext>
              </a:extLst>
            </p:cNvPr>
            <p:cNvSpPr>
              <a:spLocks noChangeAspect="1"/>
            </p:cNvSpPr>
            <p:nvPr/>
          </p:nvSpPr>
          <p:spPr>
            <a:xfrm>
              <a:off x="1954193" y="4397199"/>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0" name="Oval 49">
              <a:extLst>
                <a:ext uri="{FF2B5EF4-FFF2-40B4-BE49-F238E27FC236}">
                  <a16:creationId xmlns:a16="http://schemas.microsoft.com/office/drawing/2014/main" id="{AE9FE89B-9D34-B3C9-6D2B-F41EBE138954}"/>
                </a:ext>
              </a:extLst>
            </p:cNvPr>
            <p:cNvSpPr>
              <a:spLocks noChangeAspect="1"/>
            </p:cNvSpPr>
            <p:nvPr/>
          </p:nvSpPr>
          <p:spPr>
            <a:xfrm>
              <a:off x="1954193" y="4863795"/>
              <a:ext cx="395209" cy="406697"/>
            </a:xfrm>
            <a:prstGeom prst="ellipse">
              <a:avLst/>
            </a:prstGeom>
            <a:solidFill>
              <a:schemeClr val="tx2">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grpSp>
      <p:sp>
        <p:nvSpPr>
          <p:cNvPr id="10" name="TextBox 9">
            <a:extLst>
              <a:ext uri="{FF2B5EF4-FFF2-40B4-BE49-F238E27FC236}">
                <a16:creationId xmlns:a16="http://schemas.microsoft.com/office/drawing/2014/main" id="{4AB24A3E-5574-D79C-6A0F-06D3F8A29BB1}"/>
              </a:ext>
            </a:extLst>
          </p:cNvPr>
          <p:cNvSpPr txBox="1"/>
          <p:nvPr/>
        </p:nvSpPr>
        <p:spPr>
          <a:xfrm>
            <a:off x="4219739" y="38331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grpSp>
        <p:nvGrpSpPr>
          <p:cNvPr id="84" name="Group 83" descr="An array of 4 rows of 4">
            <a:extLst>
              <a:ext uri="{FF2B5EF4-FFF2-40B4-BE49-F238E27FC236}">
                <a16:creationId xmlns:a16="http://schemas.microsoft.com/office/drawing/2014/main" id="{B4D3F31E-03A1-237E-9C36-FD21F0F04C1F}"/>
              </a:ext>
            </a:extLst>
          </p:cNvPr>
          <p:cNvGrpSpPr/>
          <p:nvPr/>
        </p:nvGrpSpPr>
        <p:grpSpPr>
          <a:xfrm>
            <a:off x="3588415" y="4587702"/>
            <a:ext cx="1792075" cy="1835240"/>
            <a:chOff x="3510074" y="3435252"/>
            <a:chExt cx="1792075" cy="1835240"/>
          </a:xfrm>
        </p:grpSpPr>
        <p:sp>
          <p:nvSpPr>
            <p:cNvPr id="51" name="Oval 50">
              <a:extLst>
                <a:ext uri="{FF2B5EF4-FFF2-40B4-BE49-F238E27FC236}">
                  <a16:creationId xmlns:a16="http://schemas.microsoft.com/office/drawing/2014/main" id="{F1923A12-E0F4-A707-38B4-44F2CCC05F5D}"/>
                </a:ext>
              </a:extLst>
            </p:cNvPr>
            <p:cNvSpPr>
              <a:spLocks noChangeAspect="1"/>
            </p:cNvSpPr>
            <p:nvPr/>
          </p:nvSpPr>
          <p:spPr>
            <a:xfrm>
              <a:off x="3510074" y="4397199"/>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2" name="Oval 51">
              <a:extLst>
                <a:ext uri="{FF2B5EF4-FFF2-40B4-BE49-F238E27FC236}">
                  <a16:creationId xmlns:a16="http://schemas.microsoft.com/office/drawing/2014/main" id="{E8C55C44-82CB-8D95-2BB0-95051C99A229}"/>
                </a:ext>
              </a:extLst>
            </p:cNvPr>
            <p:cNvSpPr>
              <a:spLocks noChangeAspect="1"/>
            </p:cNvSpPr>
            <p:nvPr/>
          </p:nvSpPr>
          <p:spPr>
            <a:xfrm>
              <a:off x="3510074" y="4863795"/>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3" name="Oval 52">
              <a:extLst>
                <a:ext uri="{FF2B5EF4-FFF2-40B4-BE49-F238E27FC236}">
                  <a16:creationId xmlns:a16="http://schemas.microsoft.com/office/drawing/2014/main" id="{B5736472-6B8F-E4D8-48AC-00C9D7F22A5B}"/>
                </a:ext>
              </a:extLst>
            </p:cNvPr>
            <p:cNvSpPr>
              <a:spLocks noChangeAspect="1"/>
            </p:cNvSpPr>
            <p:nvPr/>
          </p:nvSpPr>
          <p:spPr>
            <a:xfrm>
              <a:off x="3975696" y="4397199"/>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4" name="Oval 53">
              <a:extLst>
                <a:ext uri="{FF2B5EF4-FFF2-40B4-BE49-F238E27FC236}">
                  <a16:creationId xmlns:a16="http://schemas.microsoft.com/office/drawing/2014/main" id="{302D9A67-04FE-7DF2-FC8A-58B87EF2570A}"/>
                </a:ext>
              </a:extLst>
            </p:cNvPr>
            <p:cNvSpPr>
              <a:spLocks noChangeAspect="1"/>
            </p:cNvSpPr>
            <p:nvPr/>
          </p:nvSpPr>
          <p:spPr>
            <a:xfrm>
              <a:off x="3975696" y="4863795"/>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5" name="Oval 54">
              <a:extLst>
                <a:ext uri="{FF2B5EF4-FFF2-40B4-BE49-F238E27FC236}">
                  <a16:creationId xmlns:a16="http://schemas.microsoft.com/office/drawing/2014/main" id="{DB1DEFB5-FEE3-9401-66DE-57D6D71EA66B}"/>
                </a:ext>
              </a:extLst>
            </p:cNvPr>
            <p:cNvSpPr>
              <a:spLocks noChangeAspect="1"/>
            </p:cNvSpPr>
            <p:nvPr/>
          </p:nvSpPr>
          <p:spPr>
            <a:xfrm>
              <a:off x="4441318" y="4397199"/>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6" name="Oval 55">
              <a:extLst>
                <a:ext uri="{FF2B5EF4-FFF2-40B4-BE49-F238E27FC236}">
                  <a16:creationId xmlns:a16="http://schemas.microsoft.com/office/drawing/2014/main" id="{CAA1926C-FA0A-6175-1E9F-C339A91EA599}"/>
                </a:ext>
              </a:extLst>
            </p:cNvPr>
            <p:cNvSpPr>
              <a:spLocks noChangeAspect="1"/>
            </p:cNvSpPr>
            <p:nvPr/>
          </p:nvSpPr>
          <p:spPr>
            <a:xfrm>
              <a:off x="4441318" y="4863795"/>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7" name="Oval 56">
              <a:extLst>
                <a:ext uri="{FF2B5EF4-FFF2-40B4-BE49-F238E27FC236}">
                  <a16:creationId xmlns:a16="http://schemas.microsoft.com/office/drawing/2014/main" id="{4898E81A-72FC-ED3F-B584-EF9A28A9AF4D}"/>
                </a:ext>
              </a:extLst>
            </p:cNvPr>
            <p:cNvSpPr>
              <a:spLocks noChangeAspect="1"/>
            </p:cNvSpPr>
            <p:nvPr/>
          </p:nvSpPr>
          <p:spPr>
            <a:xfrm>
              <a:off x="4906940" y="4397199"/>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8" name="Oval 57">
              <a:extLst>
                <a:ext uri="{FF2B5EF4-FFF2-40B4-BE49-F238E27FC236}">
                  <a16:creationId xmlns:a16="http://schemas.microsoft.com/office/drawing/2014/main" id="{364CBD0B-C972-6C93-CC2C-53C7F8547F94}"/>
                </a:ext>
              </a:extLst>
            </p:cNvPr>
            <p:cNvSpPr>
              <a:spLocks noChangeAspect="1"/>
            </p:cNvSpPr>
            <p:nvPr/>
          </p:nvSpPr>
          <p:spPr>
            <a:xfrm>
              <a:off x="4906940" y="4863795"/>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9" name="Oval 58">
              <a:extLst>
                <a:ext uri="{FF2B5EF4-FFF2-40B4-BE49-F238E27FC236}">
                  <a16:creationId xmlns:a16="http://schemas.microsoft.com/office/drawing/2014/main" id="{814DB249-EA5D-541E-03AF-4A95EB40C92E}"/>
                </a:ext>
              </a:extLst>
            </p:cNvPr>
            <p:cNvSpPr>
              <a:spLocks noChangeAspect="1"/>
            </p:cNvSpPr>
            <p:nvPr/>
          </p:nvSpPr>
          <p:spPr>
            <a:xfrm>
              <a:off x="3510074" y="3435252"/>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0" name="Oval 59">
              <a:extLst>
                <a:ext uri="{FF2B5EF4-FFF2-40B4-BE49-F238E27FC236}">
                  <a16:creationId xmlns:a16="http://schemas.microsoft.com/office/drawing/2014/main" id="{7A9B888B-CE03-E2B7-A0CC-749A9655E8A9}"/>
                </a:ext>
              </a:extLst>
            </p:cNvPr>
            <p:cNvSpPr>
              <a:spLocks noChangeAspect="1"/>
            </p:cNvSpPr>
            <p:nvPr/>
          </p:nvSpPr>
          <p:spPr>
            <a:xfrm>
              <a:off x="3510074" y="3901848"/>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1" name="Oval 60">
              <a:extLst>
                <a:ext uri="{FF2B5EF4-FFF2-40B4-BE49-F238E27FC236}">
                  <a16:creationId xmlns:a16="http://schemas.microsoft.com/office/drawing/2014/main" id="{E278EE5B-DEF2-E320-54AF-3618AED30F1B}"/>
                </a:ext>
              </a:extLst>
            </p:cNvPr>
            <p:cNvSpPr>
              <a:spLocks noChangeAspect="1"/>
            </p:cNvSpPr>
            <p:nvPr/>
          </p:nvSpPr>
          <p:spPr>
            <a:xfrm>
              <a:off x="3975696" y="3435252"/>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2" name="Oval 61">
              <a:extLst>
                <a:ext uri="{FF2B5EF4-FFF2-40B4-BE49-F238E27FC236}">
                  <a16:creationId xmlns:a16="http://schemas.microsoft.com/office/drawing/2014/main" id="{32560F6E-4D8F-324F-0CC7-28CFD66B7102}"/>
                </a:ext>
              </a:extLst>
            </p:cNvPr>
            <p:cNvSpPr>
              <a:spLocks noChangeAspect="1"/>
            </p:cNvSpPr>
            <p:nvPr/>
          </p:nvSpPr>
          <p:spPr>
            <a:xfrm>
              <a:off x="3975696" y="3901848"/>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3" name="Oval 62">
              <a:extLst>
                <a:ext uri="{FF2B5EF4-FFF2-40B4-BE49-F238E27FC236}">
                  <a16:creationId xmlns:a16="http://schemas.microsoft.com/office/drawing/2014/main" id="{44A31758-B922-A9B8-48B6-2989617F773E}"/>
                </a:ext>
              </a:extLst>
            </p:cNvPr>
            <p:cNvSpPr>
              <a:spLocks noChangeAspect="1"/>
            </p:cNvSpPr>
            <p:nvPr/>
          </p:nvSpPr>
          <p:spPr>
            <a:xfrm>
              <a:off x="4441318" y="3435252"/>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4" name="Oval 63">
              <a:extLst>
                <a:ext uri="{FF2B5EF4-FFF2-40B4-BE49-F238E27FC236}">
                  <a16:creationId xmlns:a16="http://schemas.microsoft.com/office/drawing/2014/main" id="{9BC99DCF-23BB-6A0C-9C4B-99935441ED01}"/>
                </a:ext>
              </a:extLst>
            </p:cNvPr>
            <p:cNvSpPr>
              <a:spLocks noChangeAspect="1"/>
            </p:cNvSpPr>
            <p:nvPr/>
          </p:nvSpPr>
          <p:spPr>
            <a:xfrm>
              <a:off x="4441318" y="3901848"/>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5" name="Oval 64">
              <a:extLst>
                <a:ext uri="{FF2B5EF4-FFF2-40B4-BE49-F238E27FC236}">
                  <a16:creationId xmlns:a16="http://schemas.microsoft.com/office/drawing/2014/main" id="{0820F7C7-2B4B-0EBC-AB39-A4BB36B036DB}"/>
                </a:ext>
              </a:extLst>
            </p:cNvPr>
            <p:cNvSpPr>
              <a:spLocks noChangeAspect="1"/>
            </p:cNvSpPr>
            <p:nvPr/>
          </p:nvSpPr>
          <p:spPr>
            <a:xfrm>
              <a:off x="4906940" y="3435252"/>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6" name="Oval 65">
              <a:extLst>
                <a:ext uri="{FF2B5EF4-FFF2-40B4-BE49-F238E27FC236}">
                  <a16:creationId xmlns:a16="http://schemas.microsoft.com/office/drawing/2014/main" id="{A9615FAC-3E06-52A6-69BB-5D1A13A4A7A8}"/>
                </a:ext>
              </a:extLst>
            </p:cNvPr>
            <p:cNvSpPr>
              <a:spLocks noChangeAspect="1"/>
            </p:cNvSpPr>
            <p:nvPr/>
          </p:nvSpPr>
          <p:spPr>
            <a:xfrm>
              <a:off x="4906940" y="3901848"/>
              <a:ext cx="395209" cy="406697"/>
            </a:xfrm>
            <a:prstGeom prst="ellipse">
              <a:avLst/>
            </a:prstGeom>
            <a:solidFill>
              <a:schemeClr val="accent1">
                <a:lumMod val="25000"/>
                <a:lumOff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grpSp>
      <p:sp>
        <p:nvSpPr>
          <p:cNvPr id="12" name="TextBox 11">
            <a:extLst>
              <a:ext uri="{FF2B5EF4-FFF2-40B4-BE49-F238E27FC236}">
                <a16:creationId xmlns:a16="http://schemas.microsoft.com/office/drawing/2014/main" id="{D92289C6-858E-E449-16B6-10640E9A4385}"/>
              </a:ext>
            </a:extLst>
          </p:cNvPr>
          <p:cNvSpPr txBox="1"/>
          <p:nvPr/>
        </p:nvSpPr>
        <p:spPr>
          <a:xfrm>
            <a:off x="7555536" y="380247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grpSp>
        <p:nvGrpSpPr>
          <p:cNvPr id="85" name="Group 84" descr="An array of 2 rows of 5">
            <a:extLst>
              <a:ext uri="{FF2B5EF4-FFF2-40B4-BE49-F238E27FC236}">
                <a16:creationId xmlns:a16="http://schemas.microsoft.com/office/drawing/2014/main" id="{5B6DA6BE-81F8-E647-048B-A70A367710C4}"/>
              </a:ext>
            </a:extLst>
          </p:cNvPr>
          <p:cNvGrpSpPr/>
          <p:nvPr/>
        </p:nvGrpSpPr>
        <p:grpSpPr>
          <a:xfrm>
            <a:off x="6624292" y="5549126"/>
            <a:ext cx="2257697" cy="886980"/>
            <a:chOff x="6226626" y="4383512"/>
            <a:chExt cx="2257697" cy="886980"/>
          </a:xfrm>
        </p:grpSpPr>
        <p:sp>
          <p:nvSpPr>
            <p:cNvPr id="67" name="Oval 66">
              <a:extLst>
                <a:ext uri="{FF2B5EF4-FFF2-40B4-BE49-F238E27FC236}">
                  <a16:creationId xmlns:a16="http://schemas.microsoft.com/office/drawing/2014/main" id="{CB4B220E-D1B6-015C-2574-C16736EEE836}"/>
                </a:ext>
              </a:extLst>
            </p:cNvPr>
            <p:cNvSpPr>
              <a:spLocks noChangeAspect="1"/>
            </p:cNvSpPr>
            <p:nvPr/>
          </p:nvSpPr>
          <p:spPr>
            <a:xfrm>
              <a:off x="6226626" y="4397199"/>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8" name="Oval 67">
              <a:extLst>
                <a:ext uri="{FF2B5EF4-FFF2-40B4-BE49-F238E27FC236}">
                  <a16:creationId xmlns:a16="http://schemas.microsoft.com/office/drawing/2014/main" id="{E7CD2438-DC5C-54E8-2D29-C2DBEB9D3D2A}"/>
                </a:ext>
              </a:extLst>
            </p:cNvPr>
            <p:cNvSpPr>
              <a:spLocks noChangeAspect="1"/>
            </p:cNvSpPr>
            <p:nvPr/>
          </p:nvSpPr>
          <p:spPr>
            <a:xfrm>
              <a:off x="6226626" y="4863795"/>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9" name="Oval 68">
              <a:extLst>
                <a:ext uri="{FF2B5EF4-FFF2-40B4-BE49-F238E27FC236}">
                  <a16:creationId xmlns:a16="http://schemas.microsoft.com/office/drawing/2014/main" id="{6AB37A51-324C-D7DD-A5DE-EA9C0929E437}"/>
                </a:ext>
              </a:extLst>
            </p:cNvPr>
            <p:cNvSpPr>
              <a:spLocks noChangeAspect="1"/>
            </p:cNvSpPr>
            <p:nvPr/>
          </p:nvSpPr>
          <p:spPr>
            <a:xfrm>
              <a:off x="6692248" y="4397199"/>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0" name="Oval 69">
              <a:extLst>
                <a:ext uri="{FF2B5EF4-FFF2-40B4-BE49-F238E27FC236}">
                  <a16:creationId xmlns:a16="http://schemas.microsoft.com/office/drawing/2014/main" id="{0C7ACDEA-E89D-4987-B771-EC2276320BCA}"/>
                </a:ext>
              </a:extLst>
            </p:cNvPr>
            <p:cNvSpPr>
              <a:spLocks noChangeAspect="1"/>
            </p:cNvSpPr>
            <p:nvPr/>
          </p:nvSpPr>
          <p:spPr>
            <a:xfrm>
              <a:off x="6692248" y="4863795"/>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1" name="Oval 70">
              <a:extLst>
                <a:ext uri="{FF2B5EF4-FFF2-40B4-BE49-F238E27FC236}">
                  <a16:creationId xmlns:a16="http://schemas.microsoft.com/office/drawing/2014/main" id="{F0880E23-92BD-5859-D94E-BA0CA7C2CDD4}"/>
                </a:ext>
              </a:extLst>
            </p:cNvPr>
            <p:cNvSpPr>
              <a:spLocks noChangeAspect="1"/>
            </p:cNvSpPr>
            <p:nvPr/>
          </p:nvSpPr>
          <p:spPr>
            <a:xfrm>
              <a:off x="7157870" y="4397199"/>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2" name="Oval 71">
              <a:extLst>
                <a:ext uri="{FF2B5EF4-FFF2-40B4-BE49-F238E27FC236}">
                  <a16:creationId xmlns:a16="http://schemas.microsoft.com/office/drawing/2014/main" id="{5BF89AE3-7FD5-E488-7EB5-AC2CBF89C626}"/>
                </a:ext>
              </a:extLst>
            </p:cNvPr>
            <p:cNvSpPr>
              <a:spLocks noChangeAspect="1"/>
            </p:cNvSpPr>
            <p:nvPr/>
          </p:nvSpPr>
          <p:spPr>
            <a:xfrm>
              <a:off x="7157870" y="4863795"/>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3" name="Oval 72">
              <a:extLst>
                <a:ext uri="{FF2B5EF4-FFF2-40B4-BE49-F238E27FC236}">
                  <a16:creationId xmlns:a16="http://schemas.microsoft.com/office/drawing/2014/main" id="{29394B79-52FB-1FA3-88AD-6A3E2E002D25}"/>
                </a:ext>
              </a:extLst>
            </p:cNvPr>
            <p:cNvSpPr>
              <a:spLocks noChangeAspect="1"/>
            </p:cNvSpPr>
            <p:nvPr/>
          </p:nvSpPr>
          <p:spPr>
            <a:xfrm>
              <a:off x="7623492" y="4397199"/>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4" name="Oval 73">
              <a:extLst>
                <a:ext uri="{FF2B5EF4-FFF2-40B4-BE49-F238E27FC236}">
                  <a16:creationId xmlns:a16="http://schemas.microsoft.com/office/drawing/2014/main" id="{AA2074ED-965D-7C0C-21EE-A4C678B1E50A}"/>
                </a:ext>
              </a:extLst>
            </p:cNvPr>
            <p:cNvSpPr>
              <a:spLocks noChangeAspect="1"/>
            </p:cNvSpPr>
            <p:nvPr/>
          </p:nvSpPr>
          <p:spPr>
            <a:xfrm>
              <a:off x="7623492" y="4863795"/>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5" name="Oval 74">
              <a:extLst>
                <a:ext uri="{FF2B5EF4-FFF2-40B4-BE49-F238E27FC236}">
                  <a16:creationId xmlns:a16="http://schemas.microsoft.com/office/drawing/2014/main" id="{F3A0066A-E89F-7637-1F53-DB6E5CB6A274}"/>
                </a:ext>
              </a:extLst>
            </p:cNvPr>
            <p:cNvSpPr>
              <a:spLocks noChangeAspect="1"/>
            </p:cNvSpPr>
            <p:nvPr/>
          </p:nvSpPr>
          <p:spPr>
            <a:xfrm>
              <a:off x="8089114" y="4383512"/>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6" name="Oval 75">
              <a:extLst>
                <a:ext uri="{FF2B5EF4-FFF2-40B4-BE49-F238E27FC236}">
                  <a16:creationId xmlns:a16="http://schemas.microsoft.com/office/drawing/2014/main" id="{C4B9B522-144A-DE58-796C-E2396D9B2B22}"/>
                </a:ext>
              </a:extLst>
            </p:cNvPr>
            <p:cNvSpPr>
              <a:spLocks noChangeAspect="1"/>
            </p:cNvSpPr>
            <p:nvPr/>
          </p:nvSpPr>
          <p:spPr>
            <a:xfrm>
              <a:off x="8089114" y="4850108"/>
              <a:ext cx="395209" cy="406697"/>
            </a:xfrm>
            <a:prstGeom prst="ellipse">
              <a:avLst/>
            </a:prstGeom>
            <a:solidFill>
              <a:schemeClr val="accent3">
                <a:lumMod val="40000"/>
                <a:lumOff val="6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grpSp>
      <p:sp>
        <p:nvSpPr>
          <p:cNvPr id="11" name="TextBox 10">
            <a:extLst>
              <a:ext uri="{FF2B5EF4-FFF2-40B4-BE49-F238E27FC236}">
                <a16:creationId xmlns:a16="http://schemas.microsoft.com/office/drawing/2014/main" id="{C22AC239-77AC-A298-F7CD-0F89091EC017}"/>
              </a:ext>
            </a:extLst>
          </p:cNvPr>
          <p:cNvSpPr txBox="1"/>
          <p:nvPr/>
        </p:nvSpPr>
        <p:spPr>
          <a:xfrm>
            <a:off x="10227686" y="38331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grpSp>
        <p:nvGrpSpPr>
          <p:cNvPr id="86" name="Group 85" descr="An array of 3 rows of 2">
            <a:extLst>
              <a:ext uri="{FF2B5EF4-FFF2-40B4-BE49-F238E27FC236}">
                <a16:creationId xmlns:a16="http://schemas.microsoft.com/office/drawing/2014/main" id="{23639F22-00A3-E3F4-DC6F-ADDF9CB20E96}"/>
              </a:ext>
            </a:extLst>
          </p:cNvPr>
          <p:cNvGrpSpPr/>
          <p:nvPr/>
        </p:nvGrpSpPr>
        <p:grpSpPr>
          <a:xfrm>
            <a:off x="10005712" y="4875619"/>
            <a:ext cx="860831" cy="1420599"/>
            <a:chOff x="9944835" y="3789994"/>
            <a:chExt cx="860831" cy="1420599"/>
          </a:xfrm>
        </p:grpSpPr>
        <p:sp>
          <p:nvSpPr>
            <p:cNvPr id="77" name="Oval 76">
              <a:extLst>
                <a:ext uri="{FF2B5EF4-FFF2-40B4-BE49-F238E27FC236}">
                  <a16:creationId xmlns:a16="http://schemas.microsoft.com/office/drawing/2014/main" id="{17C1468C-1964-B70C-07C1-8C475BE119A8}"/>
                </a:ext>
              </a:extLst>
            </p:cNvPr>
            <p:cNvSpPr>
              <a:spLocks noChangeAspect="1"/>
            </p:cNvSpPr>
            <p:nvPr/>
          </p:nvSpPr>
          <p:spPr>
            <a:xfrm>
              <a:off x="9944835" y="4803896"/>
              <a:ext cx="395209" cy="406697"/>
            </a:xfrm>
            <a:prstGeom prst="ellipse">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8" name="Oval 77">
              <a:extLst>
                <a:ext uri="{FF2B5EF4-FFF2-40B4-BE49-F238E27FC236}">
                  <a16:creationId xmlns:a16="http://schemas.microsoft.com/office/drawing/2014/main" id="{674E854F-6CC5-7EB6-92EE-C4D4620928B4}"/>
                </a:ext>
              </a:extLst>
            </p:cNvPr>
            <p:cNvSpPr>
              <a:spLocks noChangeAspect="1"/>
            </p:cNvSpPr>
            <p:nvPr/>
          </p:nvSpPr>
          <p:spPr>
            <a:xfrm>
              <a:off x="10410457" y="4803896"/>
              <a:ext cx="395209" cy="406697"/>
            </a:xfrm>
            <a:prstGeom prst="ellipse">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9" name="Oval 78">
              <a:extLst>
                <a:ext uri="{FF2B5EF4-FFF2-40B4-BE49-F238E27FC236}">
                  <a16:creationId xmlns:a16="http://schemas.microsoft.com/office/drawing/2014/main" id="{00B84412-B619-E5AE-C8A4-91425BA4172D}"/>
                </a:ext>
              </a:extLst>
            </p:cNvPr>
            <p:cNvSpPr>
              <a:spLocks noChangeAspect="1"/>
            </p:cNvSpPr>
            <p:nvPr/>
          </p:nvSpPr>
          <p:spPr>
            <a:xfrm>
              <a:off x="9944835" y="3789994"/>
              <a:ext cx="395209" cy="406697"/>
            </a:xfrm>
            <a:prstGeom prst="ellipse">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80" name="Oval 79">
              <a:extLst>
                <a:ext uri="{FF2B5EF4-FFF2-40B4-BE49-F238E27FC236}">
                  <a16:creationId xmlns:a16="http://schemas.microsoft.com/office/drawing/2014/main" id="{31AE6587-8246-DC56-9090-99EF1149D72A}"/>
                </a:ext>
              </a:extLst>
            </p:cNvPr>
            <p:cNvSpPr>
              <a:spLocks noChangeAspect="1"/>
            </p:cNvSpPr>
            <p:nvPr/>
          </p:nvSpPr>
          <p:spPr>
            <a:xfrm>
              <a:off x="9944835" y="4307389"/>
              <a:ext cx="395209" cy="406697"/>
            </a:xfrm>
            <a:prstGeom prst="ellipse">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81" name="Oval 80">
              <a:extLst>
                <a:ext uri="{FF2B5EF4-FFF2-40B4-BE49-F238E27FC236}">
                  <a16:creationId xmlns:a16="http://schemas.microsoft.com/office/drawing/2014/main" id="{9577FC7D-ECB7-B242-8EF3-A8558ED507F8}"/>
                </a:ext>
              </a:extLst>
            </p:cNvPr>
            <p:cNvSpPr>
              <a:spLocks noChangeAspect="1"/>
            </p:cNvSpPr>
            <p:nvPr/>
          </p:nvSpPr>
          <p:spPr>
            <a:xfrm>
              <a:off x="10410457" y="3789994"/>
              <a:ext cx="395209" cy="406697"/>
            </a:xfrm>
            <a:prstGeom prst="ellipse">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82" name="Oval 81">
              <a:extLst>
                <a:ext uri="{FF2B5EF4-FFF2-40B4-BE49-F238E27FC236}">
                  <a16:creationId xmlns:a16="http://schemas.microsoft.com/office/drawing/2014/main" id="{E2968E1D-FBB9-6DE2-6EDE-A1DAD3F50F38}"/>
                </a:ext>
              </a:extLst>
            </p:cNvPr>
            <p:cNvSpPr>
              <a:spLocks noChangeAspect="1"/>
            </p:cNvSpPr>
            <p:nvPr/>
          </p:nvSpPr>
          <p:spPr>
            <a:xfrm>
              <a:off x="10410457" y="4307389"/>
              <a:ext cx="395209" cy="406697"/>
            </a:xfrm>
            <a:prstGeom prst="ellipse">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gr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20C87D17-8322-6C31-DB7A-9FD71712F50F}"/>
              </a:ext>
            </a:extLst>
          </p:cNvPr>
          <p:cNvSpPr txBox="1">
            <a:spLocks/>
          </p:cNvSpPr>
          <p:nvPr/>
        </p:nvSpPr>
        <p:spPr>
          <a:xfrm>
            <a:off x="246024" y="90560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mass of these objects using </a:t>
            </a:r>
            <a:r>
              <a:rPr lang="en-AU" sz="4400" b="1"/>
              <a:t>kilograms</a:t>
            </a:r>
            <a:r>
              <a:rPr lang="en-AU" sz="4400"/>
              <a:t> and </a:t>
            </a:r>
            <a:r>
              <a:rPr lang="en-AU" sz="4400" b="1"/>
              <a:t>grams</a:t>
            </a:r>
            <a:r>
              <a:rPr lang="en-AU" sz="4400"/>
              <a:t>.</a:t>
            </a:r>
          </a:p>
        </p:txBody>
      </p:sp>
      <p:pic>
        <p:nvPicPr>
          <p:cNvPr id="9" name="Picture 8" descr="Illustration comparing weights of three objects: a lunchbox with food weighing 1500 g, a net bag of volleyballs weighing 3250 g, and a stack of books weighing 5005 g. Each object is clearly labelled with its corresponding weight in grams beneath it, highlighting differences in mass.&#10;">
            <a:extLst>
              <a:ext uri="{FF2B5EF4-FFF2-40B4-BE49-F238E27FC236}">
                <a16:creationId xmlns:a16="http://schemas.microsoft.com/office/drawing/2014/main" id="{3B3EC032-BC8B-9DA0-12CB-E261CAB18E50}"/>
              </a:ext>
            </a:extLst>
          </p:cNvPr>
          <p:cNvPicPr>
            <a:picLocks noChangeAspect="1"/>
          </p:cNvPicPr>
          <p:nvPr/>
        </p:nvPicPr>
        <p:blipFill>
          <a:blip r:embed="rId4">
            <a:extLst>
              <a:ext uri="{28A0092B-C50C-407E-A947-70E740481C1C}">
                <a14:useLocalDpi xmlns:a14="http://schemas.microsoft.com/office/drawing/2010/main" val="0"/>
              </a:ext>
            </a:extLst>
          </a:blip>
          <a:srcRect t="25138" b="22223"/>
          <a:stretch>
            <a:fillRect/>
          </a:stretch>
        </p:blipFill>
        <p:spPr>
          <a:xfrm>
            <a:off x="1246203" y="3086025"/>
            <a:ext cx="9699593" cy="3609975"/>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Rectangle 1">
            <a:extLst>
              <a:ext uri="{FF2B5EF4-FFF2-40B4-BE49-F238E27FC236}">
                <a16:creationId xmlns:a16="http://schemas.microsoft.com/office/drawing/2014/main" id="{FFA5F673-954F-9047-FF87-E5119639FE92}"/>
              </a:ext>
            </a:extLst>
          </p:cNvPr>
          <p:cNvSpPr>
            <a:spLocks noChangeArrowheads="1"/>
          </p:cNvSpPr>
          <p:nvPr/>
        </p:nvSpPr>
        <p:spPr bwMode="auto">
          <a:xfrm>
            <a:off x="246024" y="1010108"/>
            <a:ext cx="10959152" cy="301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en-AU" altLang="en-US" sz="4400" i="0" u="none" strike="noStrike" cap="none" normalizeH="0" baseline="0">
                <a:ln>
                  <a:noFill/>
                </a:ln>
                <a:effectLst/>
                <a:latin typeface="Arial" panose="020B0604020202020204" pitchFamily="34" charset="0"/>
                <a:ea typeface="Calibri" panose="020F0502020204030204" pitchFamily="34" charset="0"/>
                <a:cs typeface="Arial" panose="020B0604020202020204" pitchFamily="34" charset="0"/>
              </a:rPr>
              <a:t>Amal</a:t>
            </a:r>
            <a:r>
              <a:rPr kumimoji="0" lang="en-AU" altLang="en-US" sz="4400" b="1" i="0" u="none" strike="noStrike" cap="none" normalizeH="0" baseline="0">
                <a:ln>
                  <a:noFill/>
                </a:ln>
                <a:effectLst/>
                <a:latin typeface="Arial" panose="020B0604020202020204" pitchFamily="34" charset="0"/>
                <a:ea typeface="Calibri" panose="020F0502020204030204" pitchFamily="34" charset="0"/>
                <a:cs typeface="Arial" panose="020B0604020202020204" pitchFamily="34" charset="0"/>
              </a:rPr>
              <a:t> multiplied</a:t>
            </a:r>
            <a:r>
              <a:rPr kumimoji="0" lang="en-AU" altLang="en-US" sz="4400" i="0" u="none" strike="noStrike" cap="none" normalizeH="0" baseline="0">
                <a:ln>
                  <a:noFill/>
                </a:ln>
                <a:effectLst/>
                <a:latin typeface="Arial" panose="020B0604020202020204" pitchFamily="34" charset="0"/>
                <a:ea typeface="Calibri" panose="020F0502020204030204" pitchFamily="34" charset="0"/>
                <a:cs typeface="Arial" panose="020B0604020202020204" pitchFamily="34" charset="0"/>
              </a:rPr>
              <a:t> a one-digit number by a </a:t>
            </a:r>
            <a:r>
              <a:rPr kumimoji="0" lang="en-AU" altLang="en-US" sz="4400" b="1" i="0" u="none" strike="noStrike" cap="none" normalizeH="0" baseline="0">
                <a:ln>
                  <a:noFill/>
                </a:ln>
                <a:effectLst/>
                <a:latin typeface="Arial" panose="020B0604020202020204" pitchFamily="34" charset="0"/>
                <a:ea typeface="Calibri" panose="020F0502020204030204" pitchFamily="34" charset="0"/>
                <a:cs typeface="Arial" panose="020B0604020202020204" pitchFamily="34" charset="0"/>
              </a:rPr>
              <a:t>multiple of 10</a:t>
            </a:r>
            <a:r>
              <a:rPr kumimoji="0" lang="en-AU" altLang="en-US" sz="4400" i="0" u="none" strike="noStrike" cap="none" normalizeH="0" baseline="0">
                <a:ln>
                  <a:noFill/>
                </a:ln>
                <a:effectLst/>
                <a:latin typeface="Arial" panose="020B0604020202020204" pitchFamily="34" charset="0"/>
                <a:ea typeface="Calibri" panose="020F0502020204030204" pitchFamily="34" charset="0"/>
                <a:cs typeface="Arial" panose="020B0604020202020204" pitchFamily="34" charset="0"/>
              </a:rPr>
              <a:t>.</a:t>
            </a:r>
          </a:p>
          <a:p>
            <a:pPr marL="0" marR="0" lvl="0" indent="0" algn="ctr" defTabSz="914400" rtl="0" eaLnBrk="0" fontAlgn="base" latinLnBrk="0" hangingPunct="0">
              <a:lnSpc>
                <a:spcPct val="150000"/>
              </a:lnSpc>
              <a:spcBef>
                <a:spcPct val="0"/>
              </a:spcBef>
              <a:spcAft>
                <a:spcPct val="0"/>
              </a:spcAft>
              <a:buClrTx/>
              <a:buSzTx/>
              <a:tabLst/>
            </a:pPr>
            <a:endParaRPr kumimoji="0" lang="en-AU" altLang="en-US" sz="4400" i="0" u="none" strike="noStrike" cap="none" normalizeH="0" baseline="0">
              <a:ln>
                <a:noFill/>
              </a:ln>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7" name="TextBox 6">
            <a:extLst>
              <a:ext uri="{FF2B5EF4-FFF2-40B4-BE49-F238E27FC236}">
                <a16:creationId xmlns:a16="http://schemas.microsoft.com/office/drawing/2014/main" id="{D4C4B770-FC50-F7F3-AA2A-74E61ECF48AA}"/>
              </a:ext>
            </a:extLst>
          </p:cNvPr>
          <p:cNvSpPr txBox="1"/>
          <p:nvPr/>
        </p:nvSpPr>
        <p:spPr>
          <a:xfrm>
            <a:off x="2599898" y="3220568"/>
            <a:ext cx="6100550" cy="1016758"/>
          </a:xfrm>
          <a:prstGeom prst="rect">
            <a:avLst/>
          </a:prstGeom>
          <a:noFill/>
          <a:ln w="19050">
            <a:solidFill>
              <a:schemeClr val="accent1"/>
            </a:solidFill>
          </a:ln>
        </p:spPr>
        <p:txBody>
          <a:bodyPr wrap="square" lIns="0" tIns="0" rIns="0" bIns="0" rtlCol="0">
            <a:noAutofit/>
          </a:bodyPr>
          <a:lstStyle/>
          <a:p>
            <a:pPr algn="ctr">
              <a:lnSpc>
                <a:spcPct val="150000"/>
              </a:lnSpc>
              <a:spcBef>
                <a:spcPts val="1200"/>
              </a:spcBef>
              <a:spcAft>
                <a:spcPts val="1200"/>
              </a:spcAft>
            </a:pPr>
            <a:r>
              <a:rPr lang="en-AU" altLang="en-US" sz="4400" b="1">
                <a:solidFill>
                  <a:schemeClr val="accent2"/>
                </a:solidFill>
                <a:latin typeface="Arial" panose="020B0604020202020204" pitchFamily="34" charset="0"/>
                <a:ea typeface="Calibri" panose="020F0502020204030204" pitchFamily="34" charset="0"/>
                <a:cs typeface="Arial" panose="020B0604020202020204" pitchFamily="34" charset="0"/>
              </a:rPr>
              <a:t>4 × 20 = 8 tens = 80</a:t>
            </a:r>
          </a:p>
          <a:p>
            <a:pPr algn="l"/>
            <a:endParaRPr lang="en-AU" sz="1800"/>
          </a:p>
        </p:txBody>
      </p:sp>
      <p:sp>
        <p:nvSpPr>
          <p:cNvPr id="9" name="TextBox 8">
            <a:extLst>
              <a:ext uri="{FF2B5EF4-FFF2-40B4-BE49-F238E27FC236}">
                <a16:creationId xmlns:a16="http://schemas.microsoft.com/office/drawing/2014/main" id="{F4A33D13-0C83-2087-20CA-D6A811CE2AAA}"/>
              </a:ext>
            </a:extLst>
          </p:cNvPr>
          <p:cNvSpPr txBox="1"/>
          <p:nvPr/>
        </p:nvSpPr>
        <p:spPr>
          <a:xfrm>
            <a:off x="790717" y="4425465"/>
            <a:ext cx="10004662" cy="1998176"/>
          </a:xfrm>
          <a:prstGeom prst="rect">
            <a:avLst/>
          </a:prstGeom>
          <a:noFill/>
        </p:spPr>
        <p:txBody>
          <a:bodyPr wrap="square">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en-AU" altLang="en-US" sz="440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Record</a:t>
            </a:r>
            <a:r>
              <a:rPr kumimoji="0" lang="en-AU" altLang="en-US" sz="4400" b="1"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AU" altLang="en-US" sz="440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 solution to </a:t>
            </a:r>
            <a:r>
              <a:rPr kumimoji="0" lang="en-AU" altLang="en-US" sz="4400" b="1"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6 × 40 </a:t>
            </a:r>
            <a:r>
              <a:rPr kumimoji="0" lang="en-AU" altLang="en-US" sz="440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using </a:t>
            </a:r>
            <a:r>
              <a:rPr kumimoji="0" lang="en-AU" altLang="en-US" sz="4400" b="1"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multiples of 10</a:t>
            </a:r>
            <a:r>
              <a:rPr kumimoji="0" lang="en-AU" altLang="en-US" sz="440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kumimoji="0" lang="en-AU" altLang="en-US" sz="44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567DDCCC-FEF4-26D1-9A65-41507988FBE3}"/>
              </a:ext>
            </a:extLst>
          </p:cNvPr>
          <p:cNvSpPr txBox="1"/>
          <p:nvPr/>
        </p:nvSpPr>
        <p:spPr>
          <a:xfrm>
            <a:off x="842844" y="905601"/>
            <a:ext cx="10764000" cy="1998176"/>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Record the </a:t>
            </a:r>
            <a:r>
              <a:rPr lang="en-AU" sz="4400" b="1">
                <a:effectLst/>
                <a:latin typeface="Arial" panose="020B0604020202020204" pitchFamily="34" charset="0"/>
                <a:ea typeface="Calibri" panose="020F0502020204030204" pitchFamily="34" charset="0"/>
              </a:rPr>
              <a:t>area</a:t>
            </a:r>
            <a:r>
              <a:rPr lang="en-AU" sz="4400">
                <a:effectLst/>
                <a:latin typeface="Arial" panose="020B0604020202020204" pitchFamily="34" charset="0"/>
                <a:ea typeface="Calibri" panose="020F0502020204030204" pitchFamily="34" charset="0"/>
              </a:rPr>
              <a:t> of the rectangle in </a:t>
            </a:r>
            <a:r>
              <a:rPr lang="en-AU" sz="4400" b="1">
                <a:effectLst/>
                <a:latin typeface="Arial" panose="020B0604020202020204" pitchFamily="34" charset="0"/>
                <a:ea typeface="Calibri" panose="020F0502020204030204" pitchFamily="34" charset="0"/>
              </a:rPr>
              <a:t>square centimetres</a:t>
            </a:r>
            <a:r>
              <a:rPr lang="en-AU" sz="4400">
                <a:effectLst/>
                <a:latin typeface="Arial" panose="020B0604020202020204" pitchFamily="34" charset="0"/>
                <a:ea typeface="Calibri" panose="020F0502020204030204" pitchFamily="34" charset="0"/>
              </a:rPr>
              <a:t>.</a:t>
            </a:r>
          </a:p>
        </p:txBody>
      </p:sp>
      <p:sp>
        <p:nvSpPr>
          <p:cNvPr id="9" name="Rectangle 8" descr="A square representing one square centimetre">
            <a:extLst>
              <a:ext uri="{FF2B5EF4-FFF2-40B4-BE49-F238E27FC236}">
                <a16:creationId xmlns:a16="http://schemas.microsoft.com/office/drawing/2014/main" id="{DF0B9E97-7742-92A8-7EA7-326493771E24}"/>
              </a:ext>
            </a:extLst>
          </p:cNvPr>
          <p:cNvSpPr>
            <a:spLocks/>
          </p:cNvSpPr>
          <p:nvPr/>
        </p:nvSpPr>
        <p:spPr>
          <a:xfrm>
            <a:off x="662844" y="3617267"/>
            <a:ext cx="360000" cy="360000"/>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0" name="TextBox 9">
            <a:extLst>
              <a:ext uri="{FF2B5EF4-FFF2-40B4-BE49-F238E27FC236}">
                <a16:creationId xmlns:a16="http://schemas.microsoft.com/office/drawing/2014/main" id="{93E62D96-C8FA-4249-3DCE-A32151308E28}"/>
              </a:ext>
            </a:extLst>
          </p:cNvPr>
          <p:cNvSpPr txBox="1"/>
          <p:nvPr/>
        </p:nvSpPr>
        <p:spPr>
          <a:xfrm>
            <a:off x="1149533" y="3689960"/>
            <a:ext cx="914400" cy="360000"/>
          </a:xfrm>
          <a:prstGeom prst="rect">
            <a:avLst/>
          </a:prstGeom>
          <a:noFill/>
        </p:spPr>
        <p:txBody>
          <a:bodyPr wrap="none" lIns="0" tIns="0" rIns="0" bIns="0" rtlCol="0">
            <a:noAutofit/>
          </a:bodyPr>
          <a:lstStyle/>
          <a:p>
            <a:pPr algn="l"/>
            <a:r>
              <a:rPr lang="en-AU" sz="1800"/>
              <a:t>= 1 square centimetre</a:t>
            </a:r>
          </a:p>
        </p:txBody>
      </p:sp>
      <p:pic>
        <p:nvPicPr>
          <p:cNvPr id="5" name="Picture 4" descr="A rectangle with a square centimetre grid overlay">
            <a:extLst>
              <a:ext uri="{FF2B5EF4-FFF2-40B4-BE49-F238E27FC236}">
                <a16:creationId xmlns:a16="http://schemas.microsoft.com/office/drawing/2014/main" id="{8BBBEAB4-2A07-D75D-5DAB-D1D04797758B}"/>
              </a:ext>
            </a:extLst>
          </p:cNvPr>
          <p:cNvPicPr>
            <a:picLocks noChangeAspect="1"/>
          </p:cNvPicPr>
          <p:nvPr/>
        </p:nvPicPr>
        <p:blipFill>
          <a:blip r:embed="rId4">
            <a:extLst>
              <a:ext uri="{28A0092B-C50C-407E-A947-70E740481C1C}">
                <a14:useLocalDpi xmlns:a14="http://schemas.microsoft.com/office/drawing/2010/main" val="0"/>
              </a:ext>
            </a:extLst>
          </a:blip>
          <a:srcRect l="22613" r="24361" b="45758"/>
          <a:stretch>
            <a:fillRect/>
          </a:stretch>
        </p:blipFill>
        <p:spPr>
          <a:xfrm>
            <a:off x="3648428" y="3019435"/>
            <a:ext cx="5143500" cy="3719945"/>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8B9B334-0D0D-9573-A7FB-6CDB1A218804}"/>
              </a:ext>
            </a:extLst>
          </p:cNvPr>
          <p:cNvSpPr txBox="1"/>
          <p:nvPr/>
        </p:nvSpPr>
        <p:spPr>
          <a:xfrm>
            <a:off x="360000" y="876390"/>
            <a:ext cx="11257035" cy="1824923"/>
          </a:xfrm>
          <a:prstGeom prst="rect">
            <a:avLst/>
          </a:prstGeom>
          <a:noFill/>
        </p:spPr>
        <p:txBody>
          <a:bodyPr wrap="square">
            <a:spAutoFit/>
          </a:bodyPr>
          <a:lstStyle/>
          <a:p>
            <a:pPr lvl="0" algn="ctr">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rPr>
              <a:t>Record</a:t>
            </a:r>
            <a:r>
              <a:rPr lang="en-AU" sz="4000">
                <a:effectLst/>
                <a:latin typeface="Arial" panose="020B0604020202020204" pitchFamily="34" charset="0"/>
                <a:ea typeface="Calibri" panose="020F0502020204030204" pitchFamily="34" charset="0"/>
              </a:rPr>
              <a:t> the mass of each weight using the abbreviation for kilogram. </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5" name="TextBox 4">
            <a:extLst>
              <a:ext uri="{FF2B5EF4-FFF2-40B4-BE49-F238E27FC236}">
                <a16:creationId xmlns:a16="http://schemas.microsoft.com/office/drawing/2014/main" id="{36E9A9FF-DF1C-473B-8493-9A1BAD41BFDA}"/>
              </a:ext>
            </a:extLst>
          </p:cNvPr>
          <p:cNvSpPr txBox="1"/>
          <p:nvPr/>
        </p:nvSpPr>
        <p:spPr>
          <a:xfrm>
            <a:off x="2975739" y="2996273"/>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t>A</a:t>
            </a:r>
          </a:p>
        </p:txBody>
      </p:sp>
      <p:sp>
        <p:nvSpPr>
          <p:cNvPr id="7" name="TextBox 6">
            <a:extLst>
              <a:ext uri="{FF2B5EF4-FFF2-40B4-BE49-F238E27FC236}">
                <a16:creationId xmlns:a16="http://schemas.microsoft.com/office/drawing/2014/main" id="{F1A268F0-CEF1-A478-C8E5-BB90D642362E}"/>
              </a:ext>
            </a:extLst>
          </p:cNvPr>
          <p:cNvSpPr txBox="1"/>
          <p:nvPr/>
        </p:nvSpPr>
        <p:spPr>
          <a:xfrm>
            <a:off x="4898167" y="2996273"/>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t>B</a:t>
            </a:r>
          </a:p>
        </p:txBody>
      </p:sp>
      <p:sp>
        <p:nvSpPr>
          <p:cNvPr id="8" name="TextBox 7">
            <a:extLst>
              <a:ext uri="{FF2B5EF4-FFF2-40B4-BE49-F238E27FC236}">
                <a16:creationId xmlns:a16="http://schemas.microsoft.com/office/drawing/2014/main" id="{1E8C8462-D33C-4010-EC91-AD26D785E92C}"/>
              </a:ext>
            </a:extLst>
          </p:cNvPr>
          <p:cNvSpPr txBox="1"/>
          <p:nvPr/>
        </p:nvSpPr>
        <p:spPr>
          <a:xfrm>
            <a:off x="6796012" y="3009545"/>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t>C</a:t>
            </a:r>
          </a:p>
        </p:txBody>
      </p:sp>
      <p:sp>
        <p:nvSpPr>
          <p:cNvPr id="10" name="TextBox 9">
            <a:extLst>
              <a:ext uri="{FF2B5EF4-FFF2-40B4-BE49-F238E27FC236}">
                <a16:creationId xmlns:a16="http://schemas.microsoft.com/office/drawing/2014/main" id="{E20B9487-BE57-7B8D-A397-BDBFBCB26A77}"/>
              </a:ext>
            </a:extLst>
          </p:cNvPr>
          <p:cNvSpPr txBox="1"/>
          <p:nvPr/>
        </p:nvSpPr>
        <p:spPr>
          <a:xfrm>
            <a:off x="8718124" y="3024293"/>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t>D</a:t>
            </a:r>
          </a:p>
        </p:txBody>
      </p:sp>
      <p:pic>
        <p:nvPicPr>
          <p:cNvPr id="12" name="Picture 11" descr="Illustration of four kitchen scales each weighing a different kettlebell, representing a variety of weights 2 to 8 kilograms in purple, green, orange, and pink respectively. Each scale dial shows corresponding weight measurements with black pointers on blue clock-like faces.">
            <a:extLst>
              <a:ext uri="{FF2B5EF4-FFF2-40B4-BE49-F238E27FC236}">
                <a16:creationId xmlns:a16="http://schemas.microsoft.com/office/drawing/2014/main" id="{CB095C31-A425-10DC-D61A-D3EA53113B26}"/>
              </a:ext>
            </a:extLst>
          </p:cNvPr>
          <p:cNvPicPr>
            <a:picLocks noChangeAspect="1"/>
          </p:cNvPicPr>
          <p:nvPr/>
        </p:nvPicPr>
        <p:blipFill>
          <a:blip r:embed="rId4">
            <a:extLst>
              <a:ext uri="{28A0092B-C50C-407E-A947-70E740481C1C}">
                <a14:useLocalDpi xmlns:a14="http://schemas.microsoft.com/office/drawing/2010/main" val="0"/>
              </a:ext>
            </a:extLst>
          </a:blip>
          <a:srcRect t="14597" b="29263"/>
          <a:stretch>
            <a:fillRect/>
          </a:stretch>
        </p:blipFill>
        <p:spPr>
          <a:xfrm>
            <a:off x="2033695" y="3611826"/>
            <a:ext cx="7936215" cy="3150160"/>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fact families using arrays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6B1F88D2-0109-0345-6DF7-9303ECFFD2E0}"/>
              </a:ext>
            </a:extLst>
          </p:cNvPr>
          <p:cNvSpPr txBox="1"/>
          <p:nvPr/>
        </p:nvSpPr>
        <p:spPr>
          <a:xfrm>
            <a:off x="586400" y="1221200"/>
            <a:ext cx="11019199" cy="820674"/>
          </a:xfrm>
          <a:prstGeom prst="rect">
            <a:avLst/>
          </a:prstGeom>
          <a:noFill/>
        </p:spPr>
        <p:txBody>
          <a:bodyPr wrap="square">
            <a:spAutoFit/>
          </a:bodyPr>
          <a:lstStyle/>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Can you link multiplication and division using </a:t>
            </a:r>
            <a:r>
              <a:rPr lang="en-AU" sz="3600" b="1">
                <a:effectLst/>
                <a:latin typeface="Arial" panose="020B0604020202020204" pitchFamily="34" charset="0"/>
                <a:ea typeface="Calibri" panose="020F0502020204030204" pitchFamily="34" charset="0"/>
              </a:rPr>
              <a:t>arrays</a:t>
            </a:r>
            <a:r>
              <a:rPr lang="en-AU" sz="3600">
                <a:effectLst/>
                <a:latin typeface="Arial" panose="020B0604020202020204" pitchFamily="34" charset="0"/>
                <a:ea typeface="Calibri" panose="020F0502020204030204" pitchFamily="34" charset="0"/>
              </a:rPr>
              <a:t>?</a:t>
            </a:r>
          </a:p>
        </p:txBody>
      </p:sp>
      <p:pic>
        <p:nvPicPr>
          <p:cNvPr id="3" name="Picture 2" descr="Two arrays, one with 3 rows of 8 dots and one with 8 rows of 3 dots. Beneath it are the 4 related number facts with a written explanation for each and a corresponding number sentence. The number facts are as follows:&#10;3 rows of 8 is 24.&#10;8 rows of 3 is 24.&#10;24 shared into 3 rows is 8.&#10;24 shared into 8 rows is 3.">
            <a:extLst>
              <a:ext uri="{FF2B5EF4-FFF2-40B4-BE49-F238E27FC236}">
                <a16:creationId xmlns:a16="http://schemas.microsoft.com/office/drawing/2014/main" id="{E1164E1F-F945-E98D-8672-13DA528B7EB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52134" y="2353001"/>
            <a:ext cx="7068502" cy="4144999"/>
          </a:xfrm>
          <a:prstGeom prst="rect">
            <a:avLst/>
          </a:prstGeom>
          <a:noFill/>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948756"/>
            <a:ext cx="11243037" cy="893226"/>
          </a:xfrm>
        </p:spPr>
        <p:txBody>
          <a:bodyPr/>
          <a:lstStyle/>
          <a:p>
            <a:pPr algn="ctr"/>
            <a:r>
              <a:rPr lang="en-AU" sz="4000"/>
              <a:t>The </a:t>
            </a:r>
            <a:r>
              <a:rPr lang="en-AU" sz="4000" b="1"/>
              <a:t>fact families </a:t>
            </a:r>
            <a:r>
              <a:rPr lang="en-AU" sz="4000"/>
              <a:t>for 20, 5 and 4 are:</a:t>
            </a:r>
          </a:p>
        </p:txBody>
      </p:sp>
      <p:grpSp>
        <p:nvGrpSpPr>
          <p:cNvPr id="13" name="Group 12" descr="A fact family triangle with the numbers 20, 5 and 4.">
            <a:extLst>
              <a:ext uri="{FF2B5EF4-FFF2-40B4-BE49-F238E27FC236}">
                <a16:creationId xmlns:a16="http://schemas.microsoft.com/office/drawing/2014/main" id="{66573E44-E61A-0D3E-391A-086A932AD83A}"/>
              </a:ext>
            </a:extLst>
          </p:cNvPr>
          <p:cNvGrpSpPr/>
          <p:nvPr/>
        </p:nvGrpSpPr>
        <p:grpSpPr>
          <a:xfrm>
            <a:off x="2843432" y="2549770"/>
            <a:ext cx="2806525" cy="2332131"/>
            <a:chOff x="2254827" y="2680855"/>
            <a:chExt cx="2556164" cy="2067790"/>
          </a:xfrm>
        </p:grpSpPr>
        <p:sp>
          <p:nvSpPr>
            <p:cNvPr id="7" name="Isosceles Triangle 6">
              <a:extLst>
                <a:ext uri="{FF2B5EF4-FFF2-40B4-BE49-F238E27FC236}">
                  <a16:creationId xmlns:a16="http://schemas.microsoft.com/office/drawing/2014/main" id="{C47E248B-9200-76E2-72D7-146246A76D36}"/>
                </a:ext>
              </a:extLst>
            </p:cNvPr>
            <p:cNvSpPr/>
            <p:nvPr/>
          </p:nvSpPr>
          <p:spPr>
            <a:xfrm>
              <a:off x="2254827" y="2680855"/>
              <a:ext cx="2556164" cy="2067790"/>
            </a:xfrm>
            <a:prstGeom prst="triangle">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p:sp>
          <p:nvSpPr>
            <p:cNvPr id="8" name="TextBox 7">
              <a:extLst>
                <a:ext uri="{FF2B5EF4-FFF2-40B4-BE49-F238E27FC236}">
                  <a16:creationId xmlns:a16="http://schemas.microsoft.com/office/drawing/2014/main" id="{1B97AFFF-EF20-3C2D-FBA6-B0BB1869B887}"/>
                </a:ext>
              </a:extLst>
            </p:cNvPr>
            <p:cNvSpPr txBox="1"/>
            <p:nvPr/>
          </p:nvSpPr>
          <p:spPr>
            <a:xfrm>
              <a:off x="3314700" y="2990168"/>
              <a:ext cx="436418" cy="426027"/>
            </a:xfrm>
            <a:prstGeom prst="rect">
              <a:avLst/>
            </a:prstGeom>
            <a:noFill/>
          </p:spPr>
          <p:txBody>
            <a:bodyPr wrap="square" lIns="0" tIns="0" rIns="0" bIns="0" rtlCol="0" anchor="ctr">
              <a:noAutofit/>
            </a:bodyPr>
            <a:lstStyle/>
            <a:p>
              <a:pPr algn="ctr"/>
              <a:r>
                <a:rPr lang="en-AU">
                  <a:latin typeface="Edu NSW ACT Foundation" pitchFamily="2" charset="0"/>
                </a:rPr>
                <a:t>20</a:t>
              </a:r>
            </a:p>
          </p:txBody>
        </p:sp>
        <p:sp>
          <p:nvSpPr>
            <p:cNvPr id="9" name="TextBox 8">
              <a:extLst>
                <a:ext uri="{FF2B5EF4-FFF2-40B4-BE49-F238E27FC236}">
                  <a16:creationId xmlns:a16="http://schemas.microsoft.com/office/drawing/2014/main" id="{66FBD457-D3BA-8D9E-2B16-0D2D1533ED61}"/>
                </a:ext>
              </a:extLst>
            </p:cNvPr>
            <p:cNvSpPr txBox="1"/>
            <p:nvPr/>
          </p:nvSpPr>
          <p:spPr>
            <a:xfrm>
              <a:off x="2531918" y="4267975"/>
              <a:ext cx="436418" cy="426027"/>
            </a:xfrm>
            <a:prstGeom prst="rect">
              <a:avLst/>
            </a:prstGeom>
            <a:noFill/>
          </p:spPr>
          <p:txBody>
            <a:bodyPr wrap="square" lIns="0" tIns="0" rIns="0" bIns="0" rtlCol="0" anchor="ctr">
              <a:noAutofit/>
            </a:bodyPr>
            <a:lstStyle/>
            <a:p>
              <a:pPr algn="ctr"/>
              <a:r>
                <a:rPr lang="en-AU">
                  <a:latin typeface="Edu NSW ACT Foundation" pitchFamily="2" charset="0"/>
                </a:rPr>
                <a:t>5</a:t>
              </a:r>
            </a:p>
          </p:txBody>
        </p:sp>
        <p:sp>
          <p:nvSpPr>
            <p:cNvPr id="10" name="TextBox 9">
              <a:extLst>
                <a:ext uri="{FF2B5EF4-FFF2-40B4-BE49-F238E27FC236}">
                  <a16:creationId xmlns:a16="http://schemas.microsoft.com/office/drawing/2014/main" id="{9F0872D8-17BB-2272-6499-1D2787DBF164}"/>
                </a:ext>
              </a:extLst>
            </p:cNvPr>
            <p:cNvSpPr txBox="1"/>
            <p:nvPr/>
          </p:nvSpPr>
          <p:spPr>
            <a:xfrm>
              <a:off x="4028209" y="4267975"/>
              <a:ext cx="436418" cy="426027"/>
            </a:xfrm>
            <a:prstGeom prst="rect">
              <a:avLst/>
            </a:prstGeom>
            <a:noFill/>
          </p:spPr>
          <p:txBody>
            <a:bodyPr wrap="square" lIns="0" tIns="0" rIns="0" bIns="0" rtlCol="0" anchor="ctr">
              <a:noAutofit/>
            </a:bodyPr>
            <a:lstStyle/>
            <a:p>
              <a:pPr algn="ctr"/>
              <a:r>
                <a:rPr lang="en-AU">
                  <a:latin typeface="Edu NSW ACT Foundation" pitchFamily="2" charset="0"/>
                </a:rPr>
                <a:t>4</a:t>
              </a:r>
            </a:p>
          </p:txBody>
        </p:sp>
      </p:grpSp>
      <p:sp>
        <p:nvSpPr>
          <p:cNvPr id="11" name="Rectangle: Rounded Corners 10">
            <a:extLst>
              <a:ext uri="{FF2B5EF4-FFF2-40B4-BE49-F238E27FC236}">
                <a16:creationId xmlns:a16="http://schemas.microsoft.com/office/drawing/2014/main" id="{8A3010E4-E89C-5EA9-6263-1658E7F1EA97}"/>
              </a:ext>
            </a:extLst>
          </p:cNvPr>
          <p:cNvSpPr/>
          <p:nvPr/>
        </p:nvSpPr>
        <p:spPr>
          <a:xfrm>
            <a:off x="6763449" y="2048608"/>
            <a:ext cx="3121450" cy="3381731"/>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lnSpc>
                <a:spcPct val="150000"/>
              </a:lnSpc>
            </a:pPr>
            <a:r>
              <a:rPr lang="en-AU" sz="3600">
                <a:solidFill>
                  <a:schemeClr val="accent1"/>
                </a:solidFill>
                <a:latin typeface="Edu NSW ACT Foundation" pitchFamily="2" charset="0"/>
              </a:rPr>
              <a:t>5 × 4 = 20</a:t>
            </a:r>
          </a:p>
          <a:p>
            <a:pPr algn="ctr">
              <a:lnSpc>
                <a:spcPct val="150000"/>
              </a:lnSpc>
            </a:pPr>
            <a:r>
              <a:rPr lang="en-AU" sz="3600">
                <a:solidFill>
                  <a:schemeClr val="accent1"/>
                </a:solidFill>
                <a:latin typeface="Edu NSW ACT Foundation" pitchFamily="2" charset="0"/>
              </a:rPr>
              <a:t>4 × 5 = 20</a:t>
            </a:r>
          </a:p>
          <a:p>
            <a:pPr algn="ctr">
              <a:lnSpc>
                <a:spcPct val="150000"/>
              </a:lnSpc>
            </a:pPr>
            <a:r>
              <a:rPr lang="en-AU" sz="3600">
                <a:solidFill>
                  <a:schemeClr val="accent1"/>
                </a:solidFill>
                <a:latin typeface="Edu NSW ACT Foundation" pitchFamily="2" charset="0"/>
              </a:rPr>
              <a:t>20 </a:t>
            </a:r>
            <a:r>
              <a:rPr lang="en-AU" sz="3600">
                <a:solidFill>
                  <a:schemeClr val="accent1"/>
                </a:solidFill>
                <a:latin typeface="Edu NSW ACT Foundation" pitchFamily="2" charset="0"/>
                <a:ea typeface="Cambria Math" panose="02040503050406030204" pitchFamily="18" charset="0"/>
              </a:rPr>
              <a:t>÷ 5 = 4</a:t>
            </a:r>
          </a:p>
          <a:p>
            <a:pPr algn="ctr">
              <a:lnSpc>
                <a:spcPct val="150000"/>
              </a:lnSpc>
            </a:pPr>
            <a:r>
              <a:rPr lang="en-AU" sz="3600">
                <a:solidFill>
                  <a:schemeClr val="accent1"/>
                </a:solidFill>
                <a:latin typeface="Edu NSW ACT Foundation" pitchFamily="2" charset="0"/>
                <a:ea typeface="Cambria Math" panose="02040503050406030204" pitchFamily="18" charset="0"/>
              </a:rPr>
              <a:t>20 ÷ 4 = 5</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792038408"/>
              </p:ext>
            </p:extLst>
          </p:nvPr>
        </p:nvGraphicFramePr>
        <p:xfrm>
          <a:off x="2557462" y="577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576C717-65F8-B43D-493E-62438FC34AB0}"/>
              </a:ext>
            </a:extLst>
          </p:cNvPr>
          <p:cNvSpPr txBox="1"/>
          <p:nvPr/>
        </p:nvSpPr>
        <p:spPr>
          <a:xfrm>
            <a:off x="304166" y="905601"/>
            <a:ext cx="11379834" cy="1998176"/>
          </a:xfrm>
          <a:prstGeom prst="rect">
            <a:avLst/>
          </a:prstGeom>
          <a:noFill/>
        </p:spPr>
        <p:txBody>
          <a:bodyPr wrap="square">
            <a:spAutoFit/>
          </a:bodyPr>
          <a:lstStyle/>
          <a:p>
            <a:pPr algn="ctr">
              <a:lnSpc>
                <a:spcPct val="150000"/>
              </a:lnSpc>
              <a:buNone/>
            </a:pPr>
            <a:r>
              <a:rPr lang="en-AU" sz="4400" b="1" i="0">
                <a:solidFill>
                  <a:srgbClr val="000000"/>
                </a:solidFill>
                <a:effectLst/>
              </a:rPr>
              <a:t>Estimate </a:t>
            </a:r>
            <a:r>
              <a:rPr lang="en-AU" sz="4400" i="0">
                <a:solidFill>
                  <a:srgbClr val="000000"/>
                </a:solidFill>
                <a:effectLst/>
              </a:rPr>
              <a:t>then</a:t>
            </a:r>
            <a:r>
              <a:rPr lang="en-AU" sz="4400" b="1" i="0">
                <a:solidFill>
                  <a:srgbClr val="000000"/>
                </a:solidFill>
                <a:effectLst/>
              </a:rPr>
              <a:t> calculate </a:t>
            </a:r>
            <a:r>
              <a:rPr lang="en-AU" sz="4400" i="0">
                <a:solidFill>
                  <a:srgbClr val="000000"/>
                </a:solidFill>
                <a:effectLst/>
              </a:rPr>
              <a:t>the </a:t>
            </a:r>
            <a:r>
              <a:rPr lang="en-AU" sz="4400" b="1" i="0">
                <a:solidFill>
                  <a:srgbClr val="000000"/>
                </a:solidFill>
                <a:effectLst/>
              </a:rPr>
              <a:t>perimeter</a:t>
            </a:r>
            <a:r>
              <a:rPr lang="en-AU" sz="4400" i="0">
                <a:solidFill>
                  <a:srgbClr val="000000"/>
                </a:solidFill>
                <a:effectLst/>
              </a:rPr>
              <a:t> of the basketball court.</a:t>
            </a:r>
          </a:p>
        </p:txBody>
      </p:sp>
      <p:grpSp>
        <p:nvGrpSpPr>
          <p:cNvPr id="10" name="Group 9" descr="A basketball court with green arrows indicating the side lengths of the rectangular shape. The length is marked with 28 m and the width is marked with 15 m.">
            <a:extLst>
              <a:ext uri="{FF2B5EF4-FFF2-40B4-BE49-F238E27FC236}">
                <a16:creationId xmlns:a16="http://schemas.microsoft.com/office/drawing/2014/main" id="{05BCE97B-F3E8-D586-DB8A-F5D7C600B4F1}"/>
              </a:ext>
            </a:extLst>
          </p:cNvPr>
          <p:cNvGrpSpPr/>
          <p:nvPr/>
        </p:nvGrpSpPr>
        <p:grpSpPr>
          <a:xfrm>
            <a:off x="3220070" y="3371717"/>
            <a:ext cx="6401205" cy="3476954"/>
            <a:chOff x="558448" y="2869650"/>
            <a:chExt cx="6824943" cy="3900443"/>
          </a:xfrm>
        </p:grpSpPr>
        <p:pic>
          <p:nvPicPr>
            <p:cNvPr id="5" name="Picture 4">
              <a:extLst>
                <a:ext uri="{FF2B5EF4-FFF2-40B4-BE49-F238E27FC236}">
                  <a16:creationId xmlns:a16="http://schemas.microsoft.com/office/drawing/2014/main" id="{D3DABA45-DA87-B7F3-9A0F-68991A72C08D}"/>
                </a:ext>
              </a:extLst>
            </p:cNvPr>
            <p:cNvPicPr>
              <a:picLocks noChangeAspect="1"/>
            </p:cNvPicPr>
            <p:nvPr/>
          </p:nvPicPr>
          <p:blipFill>
            <a:blip r:embed="rId4">
              <a:extLst>
                <a:ext uri="{28A0092B-C50C-407E-A947-70E740481C1C}">
                  <a14:useLocalDpi xmlns:a14="http://schemas.microsoft.com/office/drawing/2010/main" val="0"/>
                </a:ext>
              </a:extLst>
            </a:blip>
            <a:srcRect l="7562" t="5248" r="2734" b="19985"/>
            <a:stretch>
              <a:fillRect/>
            </a:stretch>
          </p:blipFill>
          <p:spPr>
            <a:xfrm>
              <a:off x="558448" y="2869650"/>
              <a:ext cx="6130568" cy="3612746"/>
            </a:xfrm>
            <a:prstGeom prst="rect">
              <a:avLst/>
            </a:prstGeom>
          </p:spPr>
        </p:pic>
        <p:sp>
          <p:nvSpPr>
            <p:cNvPr id="7" name="TextBox 6">
              <a:extLst>
                <a:ext uri="{FF2B5EF4-FFF2-40B4-BE49-F238E27FC236}">
                  <a16:creationId xmlns:a16="http://schemas.microsoft.com/office/drawing/2014/main" id="{2554B633-0562-D30E-B2F5-6D20478B7CB0}"/>
                </a:ext>
              </a:extLst>
            </p:cNvPr>
            <p:cNvSpPr txBox="1"/>
            <p:nvPr/>
          </p:nvSpPr>
          <p:spPr>
            <a:xfrm>
              <a:off x="6503208" y="4493140"/>
              <a:ext cx="880183" cy="524934"/>
            </a:xfrm>
            <a:prstGeom prst="rect">
              <a:avLst/>
            </a:prstGeom>
            <a:noFill/>
          </p:spPr>
          <p:txBody>
            <a:bodyPr wrap="square" lIns="0" tIns="0" rIns="0" bIns="0" rtlCol="0">
              <a:noAutofit/>
            </a:bodyPr>
            <a:lstStyle/>
            <a:p>
              <a:pPr algn="l"/>
              <a:r>
                <a:rPr lang="en-AU" sz="2800">
                  <a:latin typeface="Edu NSW ACT Foundation" pitchFamily="2" charset="0"/>
                </a:rPr>
                <a:t>15 m</a:t>
              </a:r>
            </a:p>
          </p:txBody>
        </p:sp>
        <p:sp>
          <p:nvSpPr>
            <p:cNvPr id="8" name="TextBox 7">
              <a:extLst>
                <a:ext uri="{FF2B5EF4-FFF2-40B4-BE49-F238E27FC236}">
                  <a16:creationId xmlns:a16="http://schemas.microsoft.com/office/drawing/2014/main" id="{0178BFFE-95BA-8929-3C91-B8D110DBF1CC}"/>
                </a:ext>
              </a:extLst>
            </p:cNvPr>
            <p:cNvSpPr txBox="1"/>
            <p:nvPr/>
          </p:nvSpPr>
          <p:spPr>
            <a:xfrm>
              <a:off x="3183641" y="6245159"/>
              <a:ext cx="880183" cy="524934"/>
            </a:xfrm>
            <a:prstGeom prst="rect">
              <a:avLst/>
            </a:prstGeom>
            <a:noFill/>
          </p:spPr>
          <p:txBody>
            <a:bodyPr wrap="square" lIns="0" tIns="0" rIns="0" bIns="0" rtlCol="0">
              <a:noAutofit/>
            </a:bodyPr>
            <a:lstStyle/>
            <a:p>
              <a:pPr algn="l"/>
              <a:r>
                <a:rPr lang="en-AU" sz="2800">
                  <a:latin typeface="Edu NSW ACT Foundation" pitchFamily="2" charset="0"/>
                </a:rPr>
                <a:t>28 m</a:t>
              </a:r>
            </a:p>
          </p:txBody>
        </p:sp>
      </p:gr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332A02A-E430-F8B5-C379-3C8CD45FD271}"/>
              </a:ext>
            </a:extLst>
          </p:cNvPr>
          <p:cNvSpPr txBox="1"/>
          <p:nvPr/>
        </p:nvSpPr>
        <p:spPr>
          <a:xfrm>
            <a:off x="246024" y="1184223"/>
            <a:ext cx="11179834" cy="2748253"/>
          </a:xfrm>
          <a:prstGeom prst="rect">
            <a:avLst/>
          </a:prstGeom>
          <a:noFill/>
        </p:spPr>
        <p:txBody>
          <a:bodyPr wrap="square">
            <a:spAutoFit/>
          </a:bodyPr>
          <a:lstStyle/>
          <a:p>
            <a:pPr algn="ctr">
              <a:lnSpc>
                <a:spcPct val="150000"/>
              </a:lnSpc>
              <a:buNone/>
            </a:pPr>
            <a:r>
              <a:rPr lang="en-AU" sz="4000" b="1" i="0">
                <a:solidFill>
                  <a:srgbClr val="000000"/>
                </a:solidFill>
                <a:effectLst/>
              </a:rPr>
              <a:t>Complete</a:t>
            </a:r>
            <a:r>
              <a:rPr lang="en-AU" sz="4000" b="0" i="0">
                <a:solidFill>
                  <a:srgbClr val="000000"/>
                </a:solidFill>
                <a:effectLst/>
              </a:rPr>
              <a:t> these multiplication (×) and division (</a:t>
            </a:r>
            <a:r>
              <a:rPr lang="en-AU" sz="4000">
                <a:latin typeface="Edu NSW ACT Foundation" pitchFamily="2" charset="0"/>
                <a:ea typeface="Cambria Math" panose="02040503050406030204" pitchFamily="18" charset="0"/>
              </a:rPr>
              <a:t>÷</a:t>
            </a:r>
            <a:r>
              <a:rPr lang="en-AU" sz="4000">
                <a:ea typeface="Cambria Math" panose="02040503050406030204" pitchFamily="18" charset="0"/>
              </a:rPr>
              <a:t>)</a:t>
            </a:r>
            <a:r>
              <a:rPr lang="en-AU" sz="4000" b="0" i="0">
                <a:solidFill>
                  <a:srgbClr val="000000"/>
                </a:solidFill>
                <a:effectLst/>
              </a:rPr>
              <a:t> sentences by </a:t>
            </a:r>
            <a:r>
              <a:rPr lang="en-AU" sz="4000" b="1" i="0">
                <a:solidFill>
                  <a:srgbClr val="000000"/>
                </a:solidFill>
                <a:effectLst/>
              </a:rPr>
              <a:t>recording</a:t>
            </a:r>
            <a:r>
              <a:rPr lang="en-AU" sz="4000" b="0" i="0">
                <a:solidFill>
                  <a:srgbClr val="000000"/>
                </a:solidFill>
                <a:effectLst/>
              </a:rPr>
              <a:t> the missing numbers. </a:t>
            </a:r>
          </a:p>
        </p:txBody>
      </p:sp>
      <p:sp>
        <p:nvSpPr>
          <p:cNvPr id="7" name="Rectangle: Rounded Corners 6">
            <a:extLst>
              <a:ext uri="{FF2B5EF4-FFF2-40B4-BE49-F238E27FC236}">
                <a16:creationId xmlns:a16="http://schemas.microsoft.com/office/drawing/2014/main" id="{BA4314AF-A860-B9F5-985B-147382FE87BE}"/>
              </a:ext>
            </a:extLst>
          </p:cNvPr>
          <p:cNvSpPr/>
          <p:nvPr/>
        </p:nvSpPr>
        <p:spPr>
          <a:xfrm>
            <a:off x="2174598" y="5257823"/>
            <a:ext cx="3121450" cy="1240177"/>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accent1"/>
                </a:solidFill>
                <a:latin typeface="Edu NSW ACT Foundation" pitchFamily="2" charset="0"/>
              </a:rPr>
              <a:t>? × 6 = 42</a:t>
            </a:r>
          </a:p>
        </p:txBody>
      </p:sp>
      <p:sp>
        <p:nvSpPr>
          <p:cNvPr id="8" name="Rectangle: Rounded Corners 7">
            <a:extLst>
              <a:ext uri="{FF2B5EF4-FFF2-40B4-BE49-F238E27FC236}">
                <a16:creationId xmlns:a16="http://schemas.microsoft.com/office/drawing/2014/main" id="{00227E7F-16BB-373A-3371-E2F582EB02E2}"/>
              </a:ext>
            </a:extLst>
          </p:cNvPr>
          <p:cNvSpPr/>
          <p:nvPr/>
        </p:nvSpPr>
        <p:spPr>
          <a:xfrm>
            <a:off x="7006704" y="5257822"/>
            <a:ext cx="3121450" cy="1240177"/>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accent1"/>
                </a:solidFill>
                <a:latin typeface="Edu NSW ACT Foundation" pitchFamily="2" charset="0"/>
                <a:ea typeface="Cambria Math" panose="02040503050406030204" pitchFamily="18" charset="0"/>
              </a:rPr>
              <a:t>42 ÷ ? = 6</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D9AF015B-6E8A-D231-0C36-E52A3BD25C60}"/>
              </a:ext>
            </a:extLst>
          </p:cNvPr>
          <p:cNvSpPr txBox="1"/>
          <p:nvPr/>
        </p:nvSpPr>
        <p:spPr>
          <a:xfrm>
            <a:off x="3470608" y="42489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9" name="TextBox 8">
            <a:extLst>
              <a:ext uri="{FF2B5EF4-FFF2-40B4-BE49-F238E27FC236}">
                <a16:creationId xmlns:a16="http://schemas.microsoft.com/office/drawing/2014/main" id="{9D0A89A9-B781-56B6-12D6-7CFFBF4A5D0B}"/>
              </a:ext>
            </a:extLst>
          </p:cNvPr>
          <p:cNvSpPr txBox="1"/>
          <p:nvPr/>
        </p:nvSpPr>
        <p:spPr>
          <a:xfrm>
            <a:off x="8302714" y="42258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D0626F2-BE2A-C416-6652-A8623A9AC232}"/>
              </a:ext>
            </a:extLst>
          </p:cNvPr>
          <p:cNvSpPr txBox="1"/>
          <p:nvPr/>
        </p:nvSpPr>
        <p:spPr>
          <a:xfrm>
            <a:off x="360000" y="946679"/>
            <a:ext cx="11484000" cy="820674"/>
          </a:xfrm>
          <a:prstGeom prst="rect">
            <a:avLst/>
          </a:prstGeom>
          <a:noFill/>
        </p:spPr>
        <p:txBody>
          <a:bodyPr wrap="square">
            <a:spAutoFit/>
          </a:bodyPr>
          <a:lstStyle/>
          <a:p>
            <a:pPr>
              <a:lnSpc>
                <a:spcPct val="150000"/>
              </a:lnSpc>
            </a:pPr>
            <a:r>
              <a:rPr lang="en-AU" sz="3600" i="0" kern="1200">
                <a:solidFill>
                  <a:schemeClr val="tx1"/>
                </a:solidFill>
                <a:effectLst/>
                <a:latin typeface="Arial" panose="020B0604020202020204" pitchFamily="34" charset="0"/>
                <a:ea typeface="+mn-ea"/>
                <a:cs typeface="Arial" panose="020B0604020202020204" pitchFamily="34" charset="0"/>
              </a:rPr>
              <a:t>Record</a:t>
            </a:r>
            <a:r>
              <a:rPr lang="en-AU" sz="3600" b="0" i="0" kern="1200">
                <a:solidFill>
                  <a:schemeClr val="tx1"/>
                </a:solidFill>
                <a:effectLst/>
                <a:latin typeface="Arial" panose="020B0604020202020204" pitchFamily="34" charset="0"/>
                <a:ea typeface="+mn-ea"/>
                <a:cs typeface="Arial" panose="020B0604020202020204" pitchFamily="34" charset="0"/>
              </a:rPr>
              <a:t> the </a:t>
            </a:r>
            <a:r>
              <a:rPr lang="en-AU" sz="3600" b="1" i="0" kern="1200">
                <a:solidFill>
                  <a:schemeClr val="tx1"/>
                </a:solidFill>
                <a:effectLst/>
                <a:latin typeface="Arial" panose="020B0604020202020204" pitchFamily="34" charset="0"/>
                <a:ea typeface="+mn-ea"/>
                <a:cs typeface="Arial" panose="020B0604020202020204" pitchFamily="34" charset="0"/>
              </a:rPr>
              <a:t>side lengths </a:t>
            </a:r>
            <a:r>
              <a:rPr lang="en-AU" sz="3600" b="0" i="0" kern="1200">
                <a:solidFill>
                  <a:schemeClr val="tx1"/>
                </a:solidFill>
                <a:effectLst/>
                <a:latin typeface="Arial" panose="020B0604020202020204" pitchFamily="34" charset="0"/>
                <a:ea typeface="+mn-ea"/>
                <a:cs typeface="Arial" panose="020B0604020202020204" pitchFamily="34" charset="0"/>
              </a:rPr>
              <a:t>and </a:t>
            </a:r>
            <a:r>
              <a:rPr lang="en-AU" sz="3600" b="1" i="0" kern="1200">
                <a:solidFill>
                  <a:schemeClr val="tx1"/>
                </a:solidFill>
                <a:effectLst/>
                <a:latin typeface="Arial" panose="020B0604020202020204" pitchFamily="34" charset="0"/>
                <a:ea typeface="+mn-ea"/>
                <a:cs typeface="Arial" panose="020B0604020202020204" pitchFamily="34" charset="0"/>
              </a:rPr>
              <a:t>area</a:t>
            </a:r>
            <a:r>
              <a:rPr lang="en-AU" sz="3600" b="0" i="0" kern="1200">
                <a:solidFill>
                  <a:schemeClr val="tx1"/>
                </a:solidFill>
                <a:effectLst/>
                <a:latin typeface="Arial" panose="020B0604020202020204" pitchFamily="34" charset="0"/>
                <a:ea typeface="+mn-ea"/>
                <a:cs typeface="Arial" panose="020B0604020202020204" pitchFamily="34" charset="0"/>
              </a:rPr>
              <a:t> of each rectangle.</a:t>
            </a:r>
          </a:p>
        </p:txBody>
      </p:sp>
      <p:graphicFrame>
        <p:nvGraphicFramePr>
          <p:cNvPr id="11" name="Table 10" descr="A blue square representing one square centimetre.">
            <a:extLst>
              <a:ext uri="{FF2B5EF4-FFF2-40B4-BE49-F238E27FC236}">
                <a16:creationId xmlns:a16="http://schemas.microsoft.com/office/drawing/2014/main" id="{9FF19B57-3458-1F52-85F2-0C2282D83AD8}"/>
              </a:ext>
            </a:extLst>
          </p:cNvPr>
          <p:cNvGraphicFramePr>
            <a:graphicFrameLocks noGrp="1"/>
          </p:cNvGraphicFramePr>
          <p:nvPr>
            <p:extLst>
              <p:ext uri="{D42A27DB-BD31-4B8C-83A1-F6EECF244321}">
                <p14:modId xmlns:p14="http://schemas.microsoft.com/office/powerpoint/2010/main" val="3672893379"/>
              </p:ext>
            </p:extLst>
          </p:nvPr>
        </p:nvGraphicFramePr>
        <p:xfrm>
          <a:off x="846307" y="2762718"/>
          <a:ext cx="630574" cy="664344"/>
        </p:xfrm>
        <a:graphic>
          <a:graphicData uri="http://schemas.openxmlformats.org/drawingml/2006/table">
            <a:tbl>
              <a:tblPr firstRow="1" bandRow="1">
                <a:tableStyleId>{5A111915-BE36-4E01-A7E5-04B1672EAD32}</a:tableStyleId>
              </a:tblPr>
              <a:tblGrid>
                <a:gridCol w="630574">
                  <a:extLst>
                    <a:ext uri="{9D8B030D-6E8A-4147-A177-3AD203B41FA5}">
                      <a16:colId xmlns:a16="http://schemas.microsoft.com/office/drawing/2014/main" val="2358198659"/>
                    </a:ext>
                  </a:extLst>
                </a:gridCol>
              </a:tblGrid>
              <a:tr h="664344">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844056816"/>
                  </a:ext>
                </a:extLst>
              </a:tr>
            </a:tbl>
          </a:graphicData>
        </a:graphic>
      </p:graphicFrame>
      <p:sp>
        <p:nvSpPr>
          <p:cNvPr id="9" name="TextBox 8">
            <a:extLst>
              <a:ext uri="{FF2B5EF4-FFF2-40B4-BE49-F238E27FC236}">
                <a16:creationId xmlns:a16="http://schemas.microsoft.com/office/drawing/2014/main" id="{2CC04D13-0E78-155D-1CD5-88BB3FFEF1FE}"/>
              </a:ext>
            </a:extLst>
          </p:cNvPr>
          <p:cNvSpPr txBox="1"/>
          <p:nvPr/>
        </p:nvSpPr>
        <p:spPr>
          <a:xfrm>
            <a:off x="1595472" y="2936984"/>
            <a:ext cx="914400" cy="360000"/>
          </a:xfrm>
          <a:prstGeom prst="rect">
            <a:avLst/>
          </a:prstGeom>
          <a:noFill/>
        </p:spPr>
        <p:txBody>
          <a:bodyPr wrap="none" lIns="0" tIns="0" rIns="0" bIns="0" rtlCol="0">
            <a:noAutofit/>
          </a:bodyPr>
          <a:lstStyle/>
          <a:p>
            <a:pPr algn="l"/>
            <a:r>
              <a:rPr lang="en-AU" sz="1800"/>
              <a:t>= 1 square centimetre</a:t>
            </a:r>
          </a:p>
        </p:txBody>
      </p:sp>
      <p:graphicFrame>
        <p:nvGraphicFramePr>
          <p:cNvPr id="8" name="Table 7" descr="A rectangular array of square centimetres.">
            <a:extLst>
              <a:ext uri="{FF2B5EF4-FFF2-40B4-BE49-F238E27FC236}">
                <a16:creationId xmlns:a16="http://schemas.microsoft.com/office/drawing/2014/main" id="{A1962775-D3E7-5DEC-437E-4FC355D57C40}"/>
              </a:ext>
            </a:extLst>
          </p:cNvPr>
          <p:cNvGraphicFramePr>
            <a:graphicFrameLocks noGrp="1"/>
          </p:cNvGraphicFramePr>
          <p:nvPr>
            <p:extLst>
              <p:ext uri="{D42A27DB-BD31-4B8C-83A1-F6EECF244321}">
                <p14:modId xmlns:p14="http://schemas.microsoft.com/office/powerpoint/2010/main" val="2328049961"/>
              </p:ext>
            </p:extLst>
          </p:nvPr>
        </p:nvGraphicFramePr>
        <p:xfrm>
          <a:off x="4425504" y="2893731"/>
          <a:ext cx="1922067" cy="2700000"/>
        </p:xfrm>
        <a:graphic>
          <a:graphicData uri="http://schemas.openxmlformats.org/drawingml/2006/table">
            <a:tbl>
              <a:tblPr firstRow="1" bandRow="1">
                <a:tableStyleId>{5A111915-BE36-4E01-A7E5-04B1672EAD32}</a:tableStyleId>
              </a:tblPr>
              <a:tblGrid>
                <a:gridCol w="640689">
                  <a:extLst>
                    <a:ext uri="{9D8B030D-6E8A-4147-A177-3AD203B41FA5}">
                      <a16:colId xmlns:a16="http://schemas.microsoft.com/office/drawing/2014/main" val="2358198659"/>
                    </a:ext>
                  </a:extLst>
                </a:gridCol>
                <a:gridCol w="640689">
                  <a:extLst>
                    <a:ext uri="{9D8B030D-6E8A-4147-A177-3AD203B41FA5}">
                      <a16:colId xmlns:a16="http://schemas.microsoft.com/office/drawing/2014/main" val="2749441025"/>
                    </a:ext>
                  </a:extLst>
                </a:gridCol>
                <a:gridCol w="640689">
                  <a:extLst>
                    <a:ext uri="{9D8B030D-6E8A-4147-A177-3AD203B41FA5}">
                      <a16:colId xmlns:a16="http://schemas.microsoft.com/office/drawing/2014/main" val="1364622161"/>
                    </a:ext>
                  </a:extLst>
                </a:gridCol>
              </a:tblGrid>
              <a:tr h="675000">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844056816"/>
                  </a:ext>
                </a:extLst>
              </a:tr>
              <a:tr h="675000">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593513441"/>
                  </a:ext>
                </a:extLst>
              </a:tr>
              <a:tr h="675000">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3296244"/>
                  </a:ext>
                </a:extLst>
              </a:tr>
              <a:tr h="675000">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sz="1800"/>
                    </a:p>
                  </a:txBody>
                  <a:tcPr marL="92907" marR="92907" marT="46453" marB="4645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711472519"/>
                  </a:ext>
                </a:extLst>
              </a:tr>
            </a:tbl>
          </a:graphicData>
        </a:graphic>
      </p:graphicFrame>
      <p:graphicFrame>
        <p:nvGraphicFramePr>
          <p:cNvPr id="12" name="Table 11" descr="A rectangular array of square centimetres.">
            <a:extLst>
              <a:ext uri="{FF2B5EF4-FFF2-40B4-BE49-F238E27FC236}">
                <a16:creationId xmlns:a16="http://schemas.microsoft.com/office/drawing/2014/main" id="{0D751500-5347-44DD-2EB3-2D5692AE4712}"/>
              </a:ext>
            </a:extLst>
          </p:cNvPr>
          <p:cNvGraphicFramePr>
            <a:graphicFrameLocks noGrp="1"/>
          </p:cNvGraphicFramePr>
          <p:nvPr>
            <p:extLst>
              <p:ext uri="{D42A27DB-BD31-4B8C-83A1-F6EECF244321}">
                <p14:modId xmlns:p14="http://schemas.microsoft.com/office/powerpoint/2010/main" val="2364502124"/>
              </p:ext>
            </p:extLst>
          </p:nvPr>
        </p:nvGraphicFramePr>
        <p:xfrm>
          <a:off x="7013982" y="2893731"/>
          <a:ext cx="3713286" cy="1323052"/>
        </p:xfrm>
        <a:graphic>
          <a:graphicData uri="http://schemas.openxmlformats.org/drawingml/2006/table">
            <a:tbl>
              <a:tblPr firstRow="1" bandRow="1">
                <a:tableStyleId>{5A111915-BE36-4E01-A7E5-04B1672EAD32}</a:tableStyleId>
              </a:tblPr>
              <a:tblGrid>
                <a:gridCol w="618881">
                  <a:extLst>
                    <a:ext uri="{9D8B030D-6E8A-4147-A177-3AD203B41FA5}">
                      <a16:colId xmlns:a16="http://schemas.microsoft.com/office/drawing/2014/main" val="2358198659"/>
                    </a:ext>
                  </a:extLst>
                </a:gridCol>
                <a:gridCol w="618881">
                  <a:extLst>
                    <a:ext uri="{9D8B030D-6E8A-4147-A177-3AD203B41FA5}">
                      <a16:colId xmlns:a16="http://schemas.microsoft.com/office/drawing/2014/main" val="2749441025"/>
                    </a:ext>
                  </a:extLst>
                </a:gridCol>
                <a:gridCol w="618881">
                  <a:extLst>
                    <a:ext uri="{9D8B030D-6E8A-4147-A177-3AD203B41FA5}">
                      <a16:colId xmlns:a16="http://schemas.microsoft.com/office/drawing/2014/main" val="1364622161"/>
                    </a:ext>
                  </a:extLst>
                </a:gridCol>
                <a:gridCol w="618881">
                  <a:extLst>
                    <a:ext uri="{9D8B030D-6E8A-4147-A177-3AD203B41FA5}">
                      <a16:colId xmlns:a16="http://schemas.microsoft.com/office/drawing/2014/main" val="2073959313"/>
                    </a:ext>
                  </a:extLst>
                </a:gridCol>
                <a:gridCol w="618881">
                  <a:extLst>
                    <a:ext uri="{9D8B030D-6E8A-4147-A177-3AD203B41FA5}">
                      <a16:colId xmlns:a16="http://schemas.microsoft.com/office/drawing/2014/main" val="1696930505"/>
                    </a:ext>
                  </a:extLst>
                </a:gridCol>
                <a:gridCol w="618881">
                  <a:extLst>
                    <a:ext uri="{9D8B030D-6E8A-4147-A177-3AD203B41FA5}">
                      <a16:colId xmlns:a16="http://schemas.microsoft.com/office/drawing/2014/main" val="1961015181"/>
                    </a:ext>
                  </a:extLst>
                </a:gridCol>
              </a:tblGrid>
              <a:tr h="661526">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844056816"/>
                  </a:ext>
                </a:extLst>
              </a:tr>
              <a:tr h="661526">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593513441"/>
                  </a:ext>
                </a:extLst>
              </a:tr>
            </a:tbl>
          </a:graphicData>
        </a:graphic>
      </p:graphicFrame>
      <p:sp>
        <p:nvSpPr>
          <p:cNvPr id="10" name="TextBox 9">
            <a:extLst>
              <a:ext uri="{FF2B5EF4-FFF2-40B4-BE49-F238E27FC236}">
                <a16:creationId xmlns:a16="http://schemas.microsoft.com/office/drawing/2014/main" id="{D9B00EB1-5A1A-2DB5-B7AD-8518E5ED9B61}"/>
              </a:ext>
            </a:extLst>
          </p:cNvPr>
          <p:cNvSpPr txBox="1"/>
          <p:nvPr/>
        </p:nvSpPr>
        <p:spPr>
          <a:xfrm>
            <a:off x="-44244" y="5795692"/>
            <a:ext cx="12379858" cy="739754"/>
          </a:xfrm>
          <a:prstGeom prst="rect">
            <a:avLst/>
          </a:prstGeom>
          <a:noFill/>
        </p:spPr>
        <p:txBody>
          <a:bodyPr wrap="square">
            <a:spAutoFit/>
          </a:bodyPr>
          <a:lstStyle/>
          <a:p>
            <a:pPr algn="ctr">
              <a:lnSpc>
                <a:spcPct val="150000"/>
              </a:lnSpc>
            </a:pPr>
            <a:r>
              <a:rPr lang="en-AU" sz="3200" i="0" kern="1200">
                <a:solidFill>
                  <a:schemeClr val="tx1"/>
                </a:solidFill>
                <a:effectLst/>
                <a:latin typeface="Arial" panose="020B0604020202020204" pitchFamily="34" charset="0"/>
                <a:ea typeface="+mn-ea"/>
                <a:cs typeface="Arial" panose="020B0604020202020204" pitchFamily="34" charset="0"/>
              </a:rPr>
              <a:t>Can</a:t>
            </a:r>
            <a:r>
              <a:rPr lang="en-AU" sz="3200" b="1" i="0" kern="1200">
                <a:solidFill>
                  <a:schemeClr val="tx1"/>
                </a:solidFill>
                <a:effectLst/>
                <a:latin typeface="Arial" panose="020B0604020202020204" pitchFamily="34" charset="0"/>
                <a:ea typeface="+mn-ea"/>
                <a:cs typeface="Arial" panose="020B0604020202020204" pitchFamily="34" charset="0"/>
              </a:rPr>
              <a:t> </a:t>
            </a:r>
            <a:r>
              <a:rPr lang="en-AU" sz="3200" i="0" kern="1200">
                <a:solidFill>
                  <a:schemeClr val="tx1"/>
                </a:solidFill>
                <a:effectLst/>
                <a:latin typeface="Arial" panose="020B0604020202020204" pitchFamily="34" charset="0"/>
                <a:ea typeface="+mn-ea"/>
                <a:cs typeface="Arial" panose="020B0604020202020204" pitchFamily="34" charset="0"/>
              </a:rPr>
              <a:t>rectangles with </a:t>
            </a:r>
            <a:r>
              <a:rPr lang="en-AU" sz="3200" b="1" i="0" kern="1200">
                <a:solidFill>
                  <a:schemeClr val="tx1"/>
                </a:solidFill>
                <a:effectLst/>
                <a:latin typeface="Arial" panose="020B0604020202020204" pitchFamily="34" charset="0"/>
                <a:ea typeface="+mn-ea"/>
                <a:cs typeface="Arial" panose="020B0604020202020204" pitchFamily="34" charset="0"/>
              </a:rPr>
              <a:t>different side lengths </a:t>
            </a:r>
            <a:r>
              <a:rPr lang="en-AU" sz="3200" i="0" kern="1200">
                <a:solidFill>
                  <a:schemeClr val="tx1"/>
                </a:solidFill>
                <a:effectLst/>
                <a:latin typeface="Arial" panose="020B0604020202020204" pitchFamily="34" charset="0"/>
                <a:ea typeface="+mn-ea"/>
                <a:cs typeface="Arial" panose="020B0604020202020204" pitchFamily="34" charset="0"/>
              </a:rPr>
              <a:t>have the </a:t>
            </a:r>
            <a:r>
              <a:rPr lang="en-AU" sz="3200" b="1" i="0" kern="1200">
                <a:solidFill>
                  <a:schemeClr val="tx1"/>
                </a:solidFill>
                <a:effectLst/>
                <a:latin typeface="Arial" panose="020B0604020202020204" pitchFamily="34" charset="0"/>
                <a:ea typeface="+mn-ea"/>
                <a:cs typeface="Arial" panose="020B0604020202020204" pitchFamily="34" charset="0"/>
              </a:rPr>
              <a:t>same area</a:t>
            </a:r>
            <a:r>
              <a:rPr lang="en-AU" sz="3200" i="0" kern="1200">
                <a:solidFill>
                  <a:schemeClr val="tx1"/>
                </a:solidFill>
                <a:effectLst/>
                <a:latin typeface="Arial" panose="020B0604020202020204" pitchFamily="34" charset="0"/>
                <a:ea typeface="+mn-ea"/>
                <a:cs typeface="Arial" panose="020B0604020202020204" pitchFamily="34" charset="0"/>
              </a:rPr>
              <a:t>?</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AE224052-1338-F63F-6023-1599F0F5ECA1}"/>
              </a:ext>
            </a:extLst>
          </p:cNvPr>
          <p:cNvSpPr txBox="1"/>
          <p:nvPr/>
        </p:nvSpPr>
        <p:spPr>
          <a:xfrm>
            <a:off x="5121822" y="20162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90E4AC97-FD27-29E7-7A9A-346B0ECFE2A0}"/>
              </a:ext>
            </a:extLst>
          </p:cNvPr>
          <p:cNvSpPr txBox="1"/>
          <p:nvPr/>
        </p:nvSpPr>
        <p:spPr>
          <a:xfrm>
            <a:off x="8605910" y="19531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58D2C93-0D61-02F7-AF7F-DF6DB7CCFED5}"/>
              </a:ext>
            </a:extLst>
          </p:cNvPr>
          <p:cNvSpPr txBox="1"/>
          <p:nvPr/>
        </p:nvSpPr>
        <p:spPr>
          <a:xfrm>
            <a:off x="453524" y="985606"/>
            <a:ext cx="10670476" cy="1478418"/>
          </a:xfrm>
          <a:prstGeom prst="rect">
            <a:avLst/>
          </a:prstGeom>
          <a:noFill/>
        </p:spPr>
        <p:txBody>
          <a:bodyPr wrap="square">
            <a:spAutoFit/>
          </a:bodyPr>
          <a:lstStyle/>
          <a:p>
            <a:pPr algn="ctr">
              <a:lnSpc>
                <a:spcPct val="150000"/>
              </a:lnSpc>
            </a:pPr>
            <a:r>
              <a:rPr lang="en-AU" sz="3200" i="0" kern="1200">
                <a:solidFill>
                  <a:schemeClr val="tx1"/>
                </a:solidFill>
                <a:effectLst/>
                <a:ea typeface="+mn-ea"/>
                <a:cs typeface="Arial" panose="020B0604020202020204" pitchFamily="34" charset="0"/>
              </a:rPr>
              <a:t>Which of these </a:t>
            </a:r>
            <a:r>
              <a:rPr lang="en-AU" sz="3200" b="0" i="0" kern="1200">
                <a:solidFill>
                  <a:schemeClr val="tx1"/>
                </a:solidFill>
                <a:effectLst/>
                <a:ea typeface="+mn-ea"/>
                <a:cs typeface="Arial" panose="020B0604020202020204" pitchFamily="34" charset="0"/>
              </a:rPr>
              <a:t>familiar objects has a </a:t>
            </a:r>
            <a:r>
              <a:rPr lang="en-AU" sz="3200" b="1" i="0" kern="1200">
                <a:solidFill>
                  <a:schemeClr val="tx1"/>
                </a:solidFill>
                <a:effectLst/>
                <a:ea typeface="+mn-ea"/>
                <a:cs typeface="Arial" panose="020B0604020202020204" pitchFamily="34" charset="0"/>
              </a:rPr>
              <a:t>mass</a:t>
            </a:r>
            <a:r>
              <a:rPr lang="en-AU" sz="3200" b="0" i="0" kern="1200">
                <a:solidFill>
                  <a:schemeClr val="tx1"/>
                </a:solidFill>
                <a:effectLst/>
                <a:ea typeface="+mn-ea"/>
                <a:cs typeface="Arial" panose="020B0604020202020204" pitchFamily="34" charset="0"/>
              </a:rPr>
              <a:t> of about </a:t>
            </a:r>
            <a:r>
              <a:rPr lang="en-AU" sz="3200" b="1" i="0" kern="1200">
                <a:solidFill>
                  <a:schemeClr val="tx1"/>
                </a:solidFill>
                <a:effectLst/>
                <a:ea typeface="+mn-ea"/>
                <a:cs typeface="Arial" panose="020B0604020202020204" pitchFamily="34" charset="0"/>
              </a:rPr>
              <a:t>one</a:t>
            </a:r>
            <a:r>
              <a:rPr lang="en-AU" sz="3200" b="0" i="0" kern="1200">
                <a:solidFill>
                  <a:schemeClr val="tx1"/>
                </a:solidFill>
                <a:effectLst/>
                <a:ea typeface="+mn-ea"/>
                <a:cs typeface="Arial" panose="020B0604020202020204" pitchFamily="34" charset="0"/>
              </a:rPr>
              <a:t> </a:t>
            </a:r>
            <a:r>
              <a:rPr lang="en-AU" sz="3200" b="1" i="0" kern="1200">
                <a:solidFill>
                  <a:schemeClr val="tx1"/>
                </a:solidFill>
                <a:effectLst/>
                <a:ea typeface="+mn-ea"/>
                <a:cs typeface="Arial" panose="020B0604020202020204" pitchFamily="34" charset="0"/>
              </a:rPr>
              <a:t>kilogram</a:t>
            </a:r>
            <a:r>
              <a:rPr lang="en-AU" sz="3200">
                <a:cs typeface="Arial" panose="020B0604020202020204" pitchFamily="34" charset="0"/>
              </a:rPr>
              <a:t>? You may select </a:t>
            </a:r>
            <a:r>
              <a:rPr lang="en-AU" sz="3200" b="1">
                <a:cs typeface="Arial" panose="020B0604020202020204" pitchFamily="34" charset="0"/>
              </a:rPr>
              <a:t>more than one </a:t>
            </a:r>
            <a:r>
              <a:rPr lang="en-AU" sz="3200">
                <a:cs typeface="Arial" panose="020B0604020202020204" pitchFamily="34" charset="0"/>
              </a:rPr>
              <a:t>answer. </a:t>
            </a:r>
            <a:endParaRPr lang="en-AU" sz="3200" b="0" i="0" kern="1200">
              <a:solidFill>
                <a:schemeClr val="tx1"/>
              </a:solidFill>
              <a:effectLst/>
              <a:ea typeface="+mn-ea"/>
              <a:cs typeface="Arial" panose="020B0604020202020204" pitchFamily="34" charset="0"/>
            </a:endParaRPr>
          </a:p>
        </p:txBody>
      </p:sp>
      <p:sp>
        <p:nvSpPr>
          <p:cNvPr id="8" name="Freeform 2">
            <a:extLst>
              <a:ext uri="{FF2B5EF4-FFF2-40B4-BE49-F238E27FC236}">
                <a16:creationId xmlns:a16="http://schemas.microsoft.com/office/drawing/2014/main" id="{9C853A72-0324-8E94-992B-1B25F9DFE46D}"/>
              </a:ext>
            </a:extLst>
          </p:cNvPr>
          <p:cNvSpPr>
            <a:spLocks noChangeAspect="1"/>
          </p:cNvSpPr>
          <p:nvPr/>
        </p:nvSpPr>
        <p:spPr>
          <a:xfrm>
            <a:off x="9197067" y="4717100"/>
            <a:ext cx="855327" cy="780678"/>
          </a:xfrm>
          <a:custGeom>
            <a:avLst/>
            <a:gdLst/>
            <a:ahLst/>
            <a:cxnLst/>
            <a:rect l="l" t="t" r="r" b="b"/>
            <a:pathLst>
              <a:path w="1221895" h="1115257">
                <a:moveTo>
                  <a:pt x="0" y="0"/>
                </a:moveTo>
                <a:lnTo>
                  <a:pt x="1221895" y="0"/>
                </a:lnTo>
                <a:lnTo>
                  <a:pt x="1221895" y="1115257"/>
                </a:lnTo>
                <a:lnTo>
                  <a:pt x="0" y="1115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0" name="Freeform 4">
            <a:extLst>
              <a:ext uri="{FF2B5EF4-FFF2-40B4-BE49-F238E27FC236}">
                <a16:creationId xmlns:a16="http://schemas.microsoft.com/office/drawing/2014/main" id="{91883CDA-43AE-280D-54E8-7E47F247EA61}"/>
              </a:ext>
            </a:extLst>
          </p:cNvPr>
          <p:cNvSpPr>
            <a:spLocks noChangeAspect="1"/>
          </p:cNvSpPr>
          <p:nvPr/>
        </p:nvSpPr>
        <p:spPr>
          <a:xfrm>
            <a:off x="2994933" y="4657926"/>
            <a:ext cx="718096" cy="899026"/>
          </a:xfrm>
          <a:custGeom>
            <a:avLst/>
            <a:gdLst/>
            <a:ahLst/>
            <a:cxnLst/>
            <a:rect l="l" t="t" r="r" b="b"/>
            <a:pathLst>
              <a:path w="1025852" h="1284322">
                <a:moveTo>
                  <a:pt x="0" y="0"/>
                </a:moveTo>
                <a:lnTo>
                  <a:pt x="1025852" y="0"/>
                </a:lnTo>
                <a:lnTo>
                  <a:pt x="1025852" y="1284322"/>
                </a:lnTo>
                <a:lnTo>
                  <a:pt x="0" y="12843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2" name="Freeform 6">
            <a:extLst>
              <a:ext uri="{FF2B5EF4-FFF2-40B4-BE49-F238E27FC236}">
                <a16:creationId xmlns:a16="http://schemas.microsoft.com/office/drawing/2014/main" id="{7415117B-ADEF-F72A-9262-3C64401D011A}"/>
              </a:ext>
            </a:extLst>
          </p:cNvPr>
          <p:cNvSpPr>
            <a:spLocks noChangeAspect="1"/>
          </p:cNvSpPr>
          <p:nvPr/>
        </p:nvSpPr>
        <p:spPr>
          <a:xfrm>
            <a:off x="10869034" y="3842885"/>
            <a:ext cx="614966" cy="1776077"/>
          </a:xfrm>
          <a:custGeom>
            <a:avLst/>
            <a:gdLst/>
            <a:ahLst/>
            <a:cxnLst/>
            <a:rect l="l" t="t" r="r" b="b"/>
            <a:pathLst>
              <a:path w="878524" h="2537253">
                <a:moveTo>
                  <a:pt x="0" y="0"/>
                </a:moveTo>
                <a:lnTo>
                  <a:pt x="878524" y="0"/>
                </a:lnTo>
                <a:lnTo>
                  <a:pt x="878524" y="2537253"/>
                </a:lnTo>
                <a:lnTo>
                  <a:pt x="0" y="25372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3" name="Freeform 7">
            <a:extLst>
              <a:ext uri="{FF2B5EF4-FFF2-40B4-BE49-F238E27FC236}">
                <a16:creationId xmlns:a16="http://schemas.microsoft.com/office/drawing/2014/main" id="{2BA7AA98-E4DB-7F00-CD55-BFF467092ED9}"/>
              </a:ext>
            </a:extLst>
          </p:cNvPr>
          <p:cNvSpPr>
            <a:spLocks noChangeAspect="1"/>
          </p:cNvSpPr>
          <p:nvPr/>
        </p:nvSpPr>
        <p:spPr>
          <a:xfrm>
            <a:off x="4573917" y="4393977"/>
            <a:ext cx="1384978" cy="1230898"/>
          </a:xfrm>
          <a:custGeom>
            <a:avLst/>
            <a:gdLst/>
            <a:ahLst/>
            <a:cxnLst/>
            <a:rect l="l" t="t" r="r" b="b"/>
            <a:pathLst>
              <a:path w="1978540" h="1758427">
                <a:moveTo>
                  <a:pt x="0" y="0"/>
                </a:moveTo>
                <a:lnTo>
                  <a:pt x="1978540" y="0"/>
                </a:lnTo>
                <a:lnTo>
                  <a:pt x="1978540" y="1758427"/>
                </a:lnTo>
                <a:lnTo>
                  <a:pt x="0" y="1758427"/>
                </a:lnTo>
                <a:lnTo>
                  <a:pt x="0" y="0"/>
                </a:lnTo>
                <a:close/>
              </a:path>
            </a:pathLst>
          </a:custGeom>
          <a:blipFill>
            <a:blip r:embed="rId7"/>
            <a:stretch>
              <a:fillRect/>
            </a:stretch>
          </a:blipFill>
        </p:spPr>
        <p:txBody>
          <a:bodyPr/>
          <a:lstStyle/>
          <a:p>
            <a:endParaRPr lang="en-AU"/>
          </a:p>
        </p:txBody>
      </p:sp>
      <p:sp>
        <p:nvSpPr>
          <p:cNvPr id="14" name="Freeform 8">
            <a:extLst>
              <a:ext uri="{FF2B5EF4-FFF2-40B4-BE49-F238E27FC236}">
                <a16:creationId xmlns:a16="http://schemas.microsoft.com/office/drawing/2014/main" id="{1AA8ED2B-2CA0-EBB0-08F5-04B67ABAA68C}"/>
              </a:ext>
            </a:extLst>
          </p:cNvPr>
          <p:cNvSpPr>
            <a:spLocks noChangeAspect="1"/>
          </p:cNvSpPr>
          <p:nvPr/>
        </p:nvSpPr>
        <p:spPr>
          <a:xfrm>
            <a:off x="6819783" y="3904114"/>
            <a:ext cx="1376647" cy="1770609"/>
          </a:xfrm>
          <a:custGeom>
            <a:avLst/>
            <a:gdLst/>
            <a:ahLst/>
            <a:cxnLst/>
            <a:rect l="l" t="t" r="r" b="b"/>
            <a:pathLst>
              <a:path w="1966640" h="2529440">
                <a:moveTo>
                  <a:pt x="0" y="0"/>
                </a:moveTo>
                <a:lnTo>
                  <a:pt x="1966640" y="0"/>
                </a:lnTo>
                <a:lnTo>
                  <a:pt x="1966640" y="2529441"/>
                </a:lnTo>
                <a:lnTo>
                  <a:pt x="0" y="2529441"/>
                </a:lnTo>
                <a:lnTo>
                  <a:pt x="0" y="0"/>
                </a:lnTo>
                <a:close/>
              </a:path>
            </a:pathLst>
          </a:custGeom>
          <a:blipFill>
            <a:blip r:embed="rId8"/>
            <a:stretch>
              <a:fillRect/>
            </a:stretch>
          </a:blipFill>
        </p:spPr>
        <p:txBody>
          <a:bodyPr/>
          <a:lstStyle/>
          <a:p>
            <a:endParaRPr lang="en-AU"/>
          </a:p>
        </p:txBody>
      </p:sp>
      <p:sp>
        <p:nvSpPr>
          <p:cNvPr id="17" name="Freeform 11">
            <a:extLst>
              <a:ext uri="{FF2B5EF4-FFF2-40B4-BE49-F238E27FC236}">
                <a16:creationId xmlns:a16="http://schemas.microsoft.com/office/drawing/2014/main" id="{888AE093-FF9D-14B5-734D-AA72DAF858D5}"/>
              </a:ext>
            </a:extLst>
          </p:cNvPr>
          <p:cNvSpPr>
            <a:spLocks noChangeAspect="1"/>
          </p:cNvSpPr>
          <p:nvPr/>
        </p:nvSpPr>
        <p:spPr>
          <a:xfrm>
            <a:off x="501766" y="4422191"/>
            <a:ext cx="1864241" cy="1295648"/>
          </a:xfrm>
          <a:custGeom>
            <a:avLst/>
            <a:gdLst/>
            <a:ahLst/>
            <a:cxnLst/>
            <a:rect l="l" t="t" r="r" b="b"/>
            <a:pathLst>
              <a:path w="2663202" h="1850926">
                <a:moveTo>
                  <a:pt x="0" y="0"/>
                </a:moveTo>
                <a:lnTo>
                  <a:pt x="2663203" y="0"/>
                </a:lnTo>
                <a:lnTo>
                  <a:pt x="2663203" y="1850926"/>
                </a:lnTo>
                <a:lnTo>
                  <a:pt x="0" y="1850926"/>
                </a:lnTo>
                <a:lnTo>
                  <a:pt x="0" y="0"/>
                </a:lnTo>
                <a:close/>
              </a:path>
            </a:pathLst>
          </a:custGeom>
          <a:blipFill>
            <a:blip r:embed="rId9"/>
            <a:stretch>
              <a:fillRect/>
            </a:stretch>
          </a:blipFill>
        </p:spPr>
        <p:txBody>
          <a:bodyPr/>
          <a:lstStyle/>
          <a:p>
            <a:endParaRPr lang="en-AU"/>
          </a:p>
        </p:txBody>
      </p:sp>
      <p:sp>
        <p:nvSpPr>
          <p:cNvPr id="7" name="TextBox 6">
            <a:extLst>
              <a:ext uri="{FF2B5EF4-FFF2-40B4-BE49-F238E27FC236}">
                <a16:creationId xmlns:a16="http://schemas.microsoft.com/office/drawing/2014/main" id="{7D264DA4-4EC7-B82A-B5BA-D4EC25F8E7B9}"/>
              </a:ext>
            </a:extLst>
          </p:cNvPr>
          <p:cNvSpPr txBox="1"/>
          <p:nvPr/>
        </p:nvSpPr>
        <p:spPr>
          <a:xfrm>
            <a:off x="588963" y="5851669"/>
            <a:ext cx="11255037" cy="646331"/>
          </a:xfrm>
          <a:prstGeom prst="rect">
            <a:avLst/>
          </a:prstGeom>
          <a:noFill/>
        </p:spPr>
        <p:txBody>
          <a:bodyPr wrap="square">
            <a:spAutoFit/>
          </a:bodyPr>
          <a:lstStyle/>
          <a:p>
            <a:pPr algn="ctr"/>
            <a:r>
              <a:rPr lang="en-AU" sz="3600" b="1" i="0" u="none" strike="noStrike">
                <a:solidFill>
                  <a:srgbClr val="22272B"/>
                </a:solidFill>
                <a:effectLst/>
                <a:latin typeface="Arial" panose="020B0604020202020204" pitchFamily="34" charset="0"/>
              </a:rPr>
              <a:t>Communicate </a:t>
            </a:r>
            <a:r>
              <a:rPr lang="en-AU" sz="3600" b="0" i="0" u="none" strike="noStrike">
                <a:solidFill>
                  <a:srgbClr val="22272B"/>
                </a:solidFill>
                <a:effectLst/>
                <a:latin typeface="Arial" panose="020B0604020202020204" pitchFamily="34" charset="0"/>
              </a:rPr>
              <a:t>your</a:t>
            </a:r>
            <a:r>
              <a:rPr lang="en-AU" sz="3600" b="1" i="0" u="none" strike="noStrike">
                <a:solidFill>
                  <a:srgbClr val="22272B"/>
                </a:solidFill>
                <a:effectLst/>
                <a:latin typeface="Arial" panose="020B0604020202020204" pitchFamily="34" charset="0"/>
              </a:rPr>
              <a:t> reasoning.</a:t>
            </a:r>
            <a:r>
              <a:rPr lang="en-AU" sz="3600" b="0" i="0">
                <a:solidFill>
                  <a:srgbClr val="000000"/>
                </a:solidFill>
                <a:effectLst/>
                <a:latin typeface="Arial" panose="020B0604020202020204" pitchFamily="34" charset="0"/>
              </a:rPr>
              <a:t>​</a:t>
            </a:r>
            <a:endParaRPr lang="en-AU" sz="3600"/>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9654E61B-EA53-9C9A-1A1F-6F219DA2450E}"/>
              </a:ext>
            </a:extLst>
          </p:cNvPr>
          <p:cNvSpPr txBox="1"/>
          <p:nvPr/>
        </p:nvSpPr>
        <p:spPr>
          <a:xfrm>
            <a:off x="1185919" y="30642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20" name="TextBox 19">
            <a:extLst>
              <a:ext uri="{FF2B5EF4-FFF2-40B4-BE49-F238E27FC236}">
                <a16:creationId xmlns:a16="http://schemas.microsoft.com/office/drawing/2014/main" id="{72B1418B-3052-8B6A-B7E9-428C3489A64B}"/>
              </a:ext>
            </a:extLst>
          </p:cNvPr>
          <p:cNvSpPr txBox="1"/>
          <p:nvPr/>
        </p:nvSpPr>
        <p:spPr>
          <a:xfrm>
            <a:off x="3183600" y="30642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1" name="TextBox 20">
            <a:extLst>
              <a:ext uri="{FF2B5EF4-FFF2-40B4-BE49-F238E27FC236}">
                <a16:creationId xmlns:a16="http://schemas.microsoft.com/office/drawing/2014/main" id="{66DC586C-847C-D15F-79B5-5546A5B97EE0}"/>
              </a:ext>
            </a:extLst>
          </p:cNvPr>
          <p:cNvSpPr txBox="1"/>
          <p:nvPr/>
        </p:nvSpPr>
        <p:spPr>
          <a:xfrm>
            <a:off x="5259333" y="30642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22" name="TextBox 21">
            <a:extLst>
              <a:ext uri="{FF2B5EF4-FFF2-40B4-BE49-F238E27FC236}">
                <a16:creationId xmlns:a16="http://schemas.microsoft.com/office/drawing/2014/main" id="{7789E4A4-99E9-184E-E169-548BF3834950}"/>
              </a:ext>
            </a:extLst>
          </p:cNvPr>
          <p:cNvSpPr txBox="1"/>
          <p:nvPr/>
        </p:nvSpPr>
        <p:spPr>
          <a:xfrm>
            <a:off x="11006081" y="30498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F</a:t>
            </a:r>
          </a:p>
        </p:txBody>
      </p:sp>
      <p:sp>
        <p:nvSpPr>
          <p:cNvPr id="23" name="TextBox 22">
            <a:extLst>
              <a:ext uri="{FF2B5EF4-FFF2-40B4-BE49-F238E27FC236}">
                <a16:creationId xmlns:a16="http://schemas.microsoft.com/office/drawing/2014/main" id="{68AF967E-A95F-C189-3F0E-BADDB0F19EF4}"/>
              </a:ext>
            </a:extLst>
          </p:cNvPr>
          <p:cNvSpPr txBox="1"/>
          <p:nvPr/>
        </p:nvSpPr>
        <p:spPr>
          <a:xfrm>
            <a:off x="7335066" y="30498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4" name="TextBox 23">
            <a:extLst>
              <a:ext uri="{FF2B5EF4-FFF2-40B4-BE49-F238E27FC236}">
                <a16:creationId xmlns:a16="http://schemas.microsoft.com/office/drawing/2014/main" id="{A27861A9-3CCC-9738-434C-D64C91FDC67F}"/>
              </a:ext>
            </a:extLst>
          </p:cNvPr>
          <p:cNvSpPr txBox="1"/>
          <p:nvPr/>
        </p:nvSpPr>
        <p:spPr>
          <a:xfrm>
            <a:off x="9360015" y="30498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E</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multiplication and division using fact families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Three triangles with numbers in each corner. The 2 numbers in the bottom corners of each triangle are factors of the number in the top corner.&#10;The first triangle has 4 and 2 in the bottom corners with an 8 in the top corner.&#10;The second triangle has 4 and 4 in the bottom corners with a 16 in the top corner.&#10;The third triangle has 4 and 6 in the bottom corners with 24 in the top corner. ">
            <a:extLst>
              <a:ext uri="{FF2B5EF4-FFF2-40B4-BE49-F238E27FC236}">
                <a16:creationId xmlns:a16="http://schemas.microsoft.com/office/drawing/2014/main" id="{641AE3EB-4C40-178F-5962-FA9130CB19B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61997" y="2063221"/>
            <a:ext cx="9668006" cy="3355445"/>
          </a:xfrm>
          <a:prstGeom prst="rect">
            <a:avLst/>
          </a:prstGeom>
          <a:noFill/>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4" name="Rectangle: Rounded Corners 13">
            <a:extLst>
              <a:ext uri="{FF2B5EF4-FFF2-40B4-BE49-F238E27FC236}">
                <a16:creationId xmlns:a16="http://schemas.microsoft.com/office/drawing/2014/main" id="{6CA2E365-5926-E18F-7EF8-40E9DB9B8A27}"/>
              </a:ext>
            </a:extLst>
          </p:cNvPr>
          <p:cNvSpPr/>
          <p:nvPr/>
        </p:nvSpPr>
        <p:spPr>
          <a:xfrm>
            <a:off x="360000" y="1038546"/>
            <a:ext cx="10945309" cy="2505856"/>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lnSpc>
                <a:spcPct val="150000"/>
              </a:lnSpc>
            </a:pPr>
            <a:r>
              <a:rPr lang="en-AU" sz="2800">
                <a:solidFill>
                  <a:schemeClr val="accent1"/>
                </a:solidFill>
              </a:rPr>
              <a:t>You have </a:t>
            </a:r>
            <a:r>
              <a:rPr lang="en-AU" sz="2800" b="1">
                <a:solidFill>
                  <a:schemeClr val="accent1"/>
                </a:solidFill>
              </a:rPr>
              <a:t>8 packs </a:t>
            </a:r>
            <a:r>
              <a:rPr lang="en-AU" sz="2800">
                <a:solidFill>
                  <a:schemeClr val="accent1"/>
                </a:solidFill>
              </a:rPr>
              <a:t>of stickers. </a:t>
            </a:r>
            <a:r>
              <a:rPr lang="en-AU" sz="2800" b="1">
                <a:solidFill>
                  <a:schemeClr val="accent1"/>
                </a:solidFill>
              </a:rPr>
              <a:t>Each pack </a:t>
            </a:r>
            <a:r>
              <a:rPr lang="en-AU" sz="2800">
                <a:solidFill>
                  <a:schemeClr val="accent1"/>
                </a:solidFill>
              </a:rPr>
              <a:t>has </a:t>
            </a:r>
            <a:r>
              <a:rPr lang="en-AU" sz="2800" b="1">
                <a:solidFill>
                  <a:schemeClr val="accent1"/>
                </a:solidFill>
              </a:rPr>
              <a:t>4 stickers</a:t>
            </a:r>
            <a:r>
              <a:rPr lang="en-AU" sz="2800">
                <a:solidFill>
                  <a:schemeClr val="accent1"/>
                </a:solidFill>
              </a:rPr>
              <a:t>.</a:t>
            </a:r>
          </a:p>
          <a:p>
            <a:pPr algn="ctr">
              <a:lnSpc>
                <a:spcPct val="150000"/>
              </a:lnSpc>
            </a:pPr>
            <a:r>
              <a:rPr lang="en-AU" sz="2800">
                <a:solidFill>
                  <a:schemeClr val="accent1"/>
                </a:solidFill>
              </a:rPr>
              <a:t>If you share all the stickers </a:t>
            </a:r>
            <a:r>
              <a:rPr lang="en-AU" sz="2800" b="1">
                <a:solidFill>
                  <a:schemeClr val="accent1"/>
                </a:solidFill>
              </a:rPr>
              <a:t>equally</a:t>
            </a:r>
            <a:r>
              <a:rPr lang="en-AU" sz="2800">
                <a:solidFill>
                  <a:schemeClr val="accent1"/>
                </a:solidFill>
              </a:rPr>
              <a:t> with </a:t>
            </a:r>
            <a:r>
              <a:rPr lang="en-AU" sz="2800" b="1">
                <a:solidFill>
                  <a:schemeClr val="accent1"/>
                </a:solidFill>
              </a:rPr>
              <a:t>4 friends</a:t>
            </a:r>
            <a:r>
              <a:rPr lang="en-AU" sz="2800">
                <a:solidFill>
                  <a:schemeClr val="accent1"/>
                </a:solidFill>
              </a:rPr>
              <a:t>, how many stickers does each friend get?</a:t>
            </a:r>
            <a:endParaRPr lang="en-US" sz="2800">
              <a:solidFill>
                <a:schemeClr val="accent1"/>
              </a:solidFill>
              <a:latin typeface="Edu NSW ACT Foundation" pitchFamily="2" charset="0"/>
            </a:endParaRPr>
          </a:p>
        </p:txBody>
      </p:sp>
      <p:sp>
        <p:nvSpPr>
          <p:cNvPr id="9" name="TextBox 8">
            <a:extLst>
              <a:ext uri="{FF2B5EF4-FFF2-40B4-BE49-F238E27FC236}">
                <a16:creationId xmlns:a16="http://schemas.microsoft.com/office/drawing/2014/main" id="{8B9CE09D-4912-352C-EDD3-2F5B22293E2B}"/>
              </a:ext>
            </a:extLst>
          </p:cNvPr>
          <p:cNvSpPr txBox="1"/>
          <p:nvPr/>
        </p:nvSpPr>
        <p:spPr>
          <a:xfrm>
            <a:off x="1393257" y="36772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 Placeholder 17">
            <a:extLst>
              <a:ext uri="{FF2B5EF4-FFF2-40B4-BE49-F238E27FC236}">
                <a16:creationId xmlns:a16="http://schemas.microsoft.com/office/drawing/2014/main" id="{0BE26437-F62A-D111-3121-84F6DE1AF755}"/>
              </a:ext>
            </a:extLst>
          </p:cNvPr>
          <p:cNvSpPr txBox="1">
            <a:spLocks/>
          </p:cNvSpPr>
          <p:nvPr/>
        </p:nvSpPr>
        <p:spPr>
          <a:xfrm>
            <a:off x="375529" y="4410837"/>
            <a:ext cx="2556163" cy="2055146"/>
          </a:xfrm>
          <a:prstGeom prst="rect">
            <a:avLst/>
          </a:prstGeom>
          <a:ln w="12700">
            <a:solidFill>
              <a:schemeClr val="accent1"/>
            </a:solidFill>
          </a:ln>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400">
                <a:latin typeface="+mn-lt"/>
              </a:rPr>
              <a:t> 8 + 4 = 12</a:t>
            </a:r>
          </a:p>
          <a:p>
            <a:pPr algn="ctr"/>
            <a:r>
              <a:rPr lang="en-AU" sz="2400">
                <a:latin typeface="+mn-lt"/>
              </a:rPr>
              <a:t> 12 </a:t>
            </a:r>
            <a:r>
              <a:rPr lang="en-AU" sz="2400">
                <a:latin typeface="+mn-lt"/>
                <a:ea typeface="Cambria Math" panose="02040503050406030204" pitchFamily="18" charset="0"/>
              </a:rPr>
              <a:t>÷ 4 = 3</a:t>
            </a:r>
          </a:p>
          <a:p>
            <a:pPr algn="ctr"/>
            <a:r>
              <a:rPr lang="en-AU" sz="2400">
                <a:latin typeface="+mn-lt"/>
                <a:ea typeface="Cambria Math" panose="02040503050406030204" pitchFamily="18" charset="0"/>
              </a:rPr>
              <a:t> </a:t>
            </a:r>
            <a:r>
              <a:rPr lang="en-AU" sz="2000">
                <a:solidFill>
                  <a:schemeClr val="accent2"/>
                </a:solidFill>
                <a:ea typeface="Cambria Math" panose="02040503050406030204" pitchFamily="18" charset="0"/>
              </a:rPr>
              <a:t>Answer</a:t>
            </a:r>
            <a:r>
              <a:rPr lang="en-AU" sz="2000">
                <a:ea typeface="Cambria Math" panose="02040503050406030204" pitchFamily="18" charset="0"/>
              </a:rPr>
              <a:t>: 3 stickers </a:t>
            </a:r>
          </a:p>
          <a:p>
            <a:endParaRPr lang="en-AU" sz="2400">
              <a:latin typeface="+mn-lt"/>
              <a:ea typeface="Cambria Math" panose="02040503050406030204" pitchFamily="18" charset="0"/>
            </a:endParaRPr>
          </a:p>
        </p:txBody>
      </p:sp>
      <p:sp>
        <p:nvSpPr>
          <p:cNvPr id="10" name="TextBox 9">
            <a:extLst>
              <a:ext uri="{FF2B5EF4-FFF2-40B4-BE49-F238E27FC236}">
                <a16:creationId xmlns:a16="http://schemas.microsoft.com/office/drawing/2014/main" id="{6720C9BD-206D-1246-CC58-B94DA2A9FDA7}"/>
              </a:ext>
            </a:extLst>
          </p:cNvPr>
          <p:cNvSpPr txBox="1"/>
          <p:nvPr/>
        </p:nvSpPr>
        <p:spPr>
          <a:xfrm>
            <a:off x="4369368" y="368849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5" name="Text Placeholder 17">
            <a:extLst>
              <a:ext uri="{FF2B5EF4-FFF2-40B4-BE49-F238E27FC236}">
                <a16:creationId xmlns:a16="http://schemas.microsoft.com/office/drawing/2014/main" id="{1CBADB79-57AC-263E-54F5-943429F90739}"/>
              </a:ext>
            </a:extLst>
          </p:cNvPr>
          <p:cNvSpPr txBox="1">
            <a:spLocks/>
          </p:cNvSpPr>
          <p:nvPr/>
        </p:nvSpPr>
        <p:spPr>
          <a:xfrm>
            <a:off x="3301369" y="4427163"/>
            <a:ext cx="2556163" cy="2038820"/>
          </a:xfrm>
          <a:prstGeom prst="rect">
            <a:avLst/>
          </a:prstGeom>
          <a:ln w="12700">
            <a:solidFill>
              <a:schemeClr val="tx1"/>
            </a:solidFill>
          </a:ln>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400">
                <a:latin typeface="+mn-lt"/>
              </a:rPr>
              <a:t> 8 × 4 = 32</a:t>
            </a:r>
          </a:p>
          <a:p>
            <a:pPr algn="ctr"/>
            <a:r>
              <a:rPr lang="en-AU" sz="2400">
                <a:latin typeface="+mn-lt"/>
              </a:rPr>
              <a:t> 32 </a:t>
            </a:r>
            <a:r>
              <a:rPr lang="en-AU" sz="2400">
                <a:latin typeface="+mn-lt"/>
                <a:ea typeface="Cambria Math" panose="02040503050406030204" pitchFamily="18" charset="0"/>
              </a:rPr>
              <a:t>÷ 4 = 8</a:t>
            </a:r>
          </a:p>
          <a:p>
            <a:pPr algn="ctr"/>
            <a:r>
              <a:rPr lang="en-AU" sz="2400">
                <a:solidFill>
                  <a:schemeClr val="accent2"/>
                </a:solidFill>
                <a:latin typeface="+mn-lt"/>
                <a:ea typeface="Cambria Math" panose="02040503050406030204" pitchFamily="18" charset="0"/>
              </a:rPr>
              <a:t> </a:t>
            </a:r>
            <a:r>
              <a:rPr lang="en-AU" sz="2000">
                <a:solidFill>
                  <a:schemeClr val="accent2"/>
                </a:solidFill>
                <a:ea typeface="Cambria Math" panose="02040503050406030204" pitchFamily="18" charset="0"/>
              </a:rPr>
              <a:t>Answer: </a:t>
            </a:r>
            <a:r>
              <a:rPr lang="en-AU" sz="2000">
                <a:ea typeface="Cambria Math" panose="02040503050406030204" pitchFamily="18" charset="0"/>
              </a:rPr>
              <a:t>8 stickers</a:t>
            </a:r>
          </a:p>
          <a:p>
            <a:r>
              <a:rPr lang="en-AU" sz="2400">
                <a:latin typeface="+mn-lt"/>
                <a:ea typeface="Cambria Math" panose="02040503050406030204" pitchFamily="18" charset="0"/>
              </a:rPr>
              <a:t> </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04948" y="36772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84948307-27D5-4EFD-4486-E6A06690170E}"/>
              </a:ext>
            </a:extLst>
          </p:cNvPr>
          <p:cNvSpPr txBox="1">
            <a:spLocks/>
          </p:cNvSpPr>
          <p:nvPr/>
        </p:nvSpPr>
        <p:spPr>
          <a:xfrm>
            <a:off x="6172230" y="4433134"/>
            <a:ext cx="2556163" cy="2038819"/>
          </a:xfrm>
          <a:prstGeom prst="rect">
            <a:avLst/>
          </a:prstGeom>
          <a:ln w="12700">
            <a:solidFill>
              <a:schemeClr val="tx1"/>
            </a:solidFill>
          </a:ln>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400">
                <a:latin typeface="+mn-lt"/>
              </a:rPr>
              <a:t> 4 </a:t>
            </a:r>
            <a:r>
              <a:rPr lang="en-AU" sz="2400"/>
              <a:t>×</a:t>
            </a:r>
            <a:r>
              <a:rPr lang="en-AU" sz="2400">
                <a:latin typeface="+mn-lt"/>
              </a:rPr>
              <a:t> 4 = 16</a:t>
            </a:r>
          </a:p>
          <a:p>
            <a:pPr algn="ctr"/>
            <a:r>
              <a:rPr lang="en-AU" sz="2400">
                <a:latin typeface="+mn-lt"/>
              </a:rPr>
              <a:t> 16 </a:t>
            </a:r>
            <a:r>
              <a:rPr lang="en-AU" sz="2400">
                <a:latin typeface="+mn-lt"/>
                <a:ea typeface="Cambria Math" panose="02040503050406030204" pitchFamily="18" charset="0"/>
              </a:rPr>
              <a:t>÷ 4 = 4</a:t>
            </a:r>
          </a:p>
          <a:p>
            <a:pPr algn="ctr"/>
            <a:r>
              <a:rPr lang="en-AU" sz="2400">
                <a:ea typeface="Cambria Math" panose="02040503050406030204" pitchFamily="18" charset="0"/>
              </a:rPr>
              <a:t> </a:t>
            </a:r>
            <a:r>
              <a:rPr lang="en-AU" sz="2000">
                <a:solidFill>
                  <a:schemeClr val="accent2"/>
                </a:solidFill>
                <a:ea typeface="Cambria Math" panose="02040503050406030204" pitchFamily="18" charset="0"/>
              </a:rPr>
              <a:t>Answer</a:t>
            </a:r>
            <a:r>
              <a:rPr lang="en-AU" sz="2000">
                <a:ea typeface="Cambria Math" panose="02040503050406030204" pitchFamily="18" charset="0"/>
              </a:rPr>
              <a:t>: 4 stickers</a:t>
            </a:r>
          </a:p>
          <a:p>
            <a:endParaRPr lang="en-AU" sz="2400">
              <a:latin typeface="+mn-lt"/>
              <a:ea typeface="Cambria Math" panose="02040503050406030204" pitchFamily="18" charset="0"/>
            </a:endParaRPr>
          </a:p>
          <a:p>
            <a:r>
              <a:rPr lang="en-AU" sz="2400">
                <a:latin typeface="+mn-lt"/>
                <a:ea typeface="Cambria Math" panose="02040503050406030204" pitchFamily="18" charset="0"/>
              </a:rPr>
              <a:t> </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172831" y="368849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17">
            <a:extLst>
              <a:ext uri="{FF2B5EF4-FFF2-40B4-BE49-F238E27FC236}">
                <a16:creationId xmlns:a16="http://schemas.microsoft.com/office/drawing/2014/main" id="{DE57E920-6259-81C0-8905-27D3C9E02566}"/>
              </a:ext>
            </a:extLst>
          </p:cNvPr>
          <p:cNvSpPr txBox="1">
            <a:spLocks/>
          </p:cNvSpPr>
          <p:nvPr/>
        </p:nvSpPr>
        <p:spPr>
          <a:xfrm>
            <a:off x="9043091" y="4415960"/>
            <a:ext cx="2788910" cy="2073169"/>
          </a:xfrm>
          <a:prstGeom prst="rect">
            <a:avLst/>
          </a:prstGeom>
          <a:ln w="12700">
            <a:solidFill>
              <a:schemeClr val="tx1"/>
            </a:solidFill>
          </a:ln>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400">
                <a:latin typeface="+mn-lt"/>
              </a:rPr>
              <a:t> 8 </a:t>
            </a:r>
            <a:r>
              <a:rPr lang="en-AU" sz="2400"/>
              <a:t>×</a:t>
            </a:r>
            <a:r>
              <a:rPr lang="en-AU" sz="2400">
                <a:latin typeface="+mn-lt"/>
              </a:rPr>
              <a:t> 4 = 32</a:t>
            </a:r>
          </a:p>
          <a:p>
            <a:pPr algn="ctr"/>
            <a:r>
              <a:rPr lang="en-AU" sz="2400">
                <a:latin typeface="+mn-lt"/>
              </a:rPr>
              <a:t> 32 </a:t>
            </a:r>
            <a:r>
              <a:rPr lang="en-AU" sz="2400">
                <a:latin typeface="+mn-lt"/>
                <a:ea typeface="Cambria Math" panose="02040503050406030204" pitchFamily="18" charset="0"/>
              </a:rPr>
              <a:t>÷ 2 = 16</a:t>
            </a:r>
          </a:p>
          <a:p>
            <a:pPr algn="ctr"/>
            <a:r>
              <a:rPr lang="en-AU" sz="2400">
                <a:ea typeface="Cambria Math" panose="02040503050406030204" pitchFamily="18" charset="0"/>
              </a:rPr>
              <a:t> </a:t>
            </a:r>
            <a:r>
              <a:rPr lang="en-AU" sz="2000">
                <a:solidFill>
                  <a:schemeClr val="accent2"/>
                </a:solidFill>
                <a:ea typeface="Cambria Math" panose="02040503050406030204" pitchFamily="18" charset="0"/>
              </a:rPr>
              <a:t>Answer</a:t>
            </a:r>
            <a:r>
              <a:rPr lang="en-AU" sz="2000">
                <a:ea typeface="Cambria Math" panose="02040503050406030204" pitchFamily="18" charset="0"/>
              </a:rPr>
              <a:t>: 16 stickers</a:t>
            </a:r>
            <a:endParaRPr lang="en-AU" sz="2400">
              <a:ea typeface="Cambria Math" panose="02040503050406030204" pitchFamily="18" charset="0"/>
            </a:endParaRPr>
          </a:p>
          <a:p>
            <a:endParaRPr lang="en-AU" sz="2400">
              <a:latin typeface="+mn-lt"/>
              <a:ea typeface="Cambria Math" panose="02040503050406030204" pitchFamily="18" charset="0"/>
            </a:endParaRPr>
          </a:p>
          <a:p>
            <a:r>
              <a:rPr lang="en-AU" sz="2400">
                <a:latin typeface="+mn-lt"/>
                <a:ea typeface="Cambria Math" panose="02040503050406030204" pitchFamily="18" charset="0"/>
              </a:rPr>
              <a:t> </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07396E0B-800E-939A-4949-FC51ADB94A79}"/>
              </a:ext>
            </a:extLst>
          </p:cNvPr>
          <p:cNvSpPr txBox="1"/>
          <p:nvPr/>
        </p:nvSpPr>
        <p:spPr>
          <a:xfrm>
            <a:off x="360000" y="1091575"/>
            <a:ext cx="11280095" cy="1998176"/>
          </a:xfrm>
          <a:prstGeom prst="rect">
            <a:avLst/>
          </a:prstGeom>
          <a:noFill/>
        </p:spPr>
        <p:txBody>
          <a:bodyPr wrap="square">
            <a:spAutoFit/>
          </a:bodyPr>
          <a:lstStyle/>
          <a:p>
            <a:pPr algn="ctr">
              <a:lnSpc>
                <a:spcPct val="150000"/>
              </a:lnSpc>
            </a:pPr>
            <a:r>
              <a:rPr lang="en-AU" sz="4400" b="1" i="0" kern="1200">
                <a:solidFill>
                  <a:schemeClr val="tx1"/>
                </a:solidFill>
                <a:effectLst/>
                <a:latin typeface="Arial" panose="020B0604020202020204" pitchFamily="34" charset="0"/>
                <a:ea typeface="+mn-ea"/>
                <a:cs typeface="Arial" panose="020B0604020202020204" pitchFamily="34" charset="0"/>
              </a:rPr>
              <a:t>Record</a:t>
            </a:r>
            <a:r>
              <a:rPr lang="en-AU" sz="4400" b="0" i="0" kern="1200">
                <a:solidFill>
                  <a:schemeClr val="tx1"/>
                </a:solidFill>
                <a:effectLst/>
                <a:latin typeface="Arial" panose="020B0604020202020204" pitchFamily="34" charset="0"/>
                <a:ea typeface="+mn-ea"/>
                <a:cs typeface="Arial" panose="020B0604020202020204" pitchFamily="34" charset="0"/>
              </a:rPr>
              <a:t> the length of the </a:t>
            </a:r>
            <a:r>
              <a:rPr lang="en-AU" sz="4400">
                <a:latin typeface="Arial" panose="020B0604020202020204" pitchFamily="34" charset="0"/>
                <a:cs typeface="Arial" panose="020B0604020202020204" pitchFamily="34" charset="0"/>
              </a:rPr>
              <a:t>pen </a:t>
            </a:r>
            <a:r>
              <a:rPr lang="en-AU" sz="4400" b="0" i="0" kern="1200">
                <a:solidFill>
                  <a:schemeClr val="tx1"/>
                </a:solidFill>
                <a:effectLst/>
                <a:latin typeface="Arial" panose="020B0604020202020204" pitchFamily="34" charset="0"/>
                <a:ea typeface="+mn-ea"/>
                <a:cs typeface="Arial" panose="020B0604020202020204" pitchFamily="34" charset="0"/>
              </a:rPr>
              <a:t>using decimal notation to 2 decimal places.</a:t>
            </a:r>
            <a:endParaRPr lang="en-AU" sz="440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7" name="Picture 6" descr="Photograph showing a red-capped ballpoint pen aligned with a ruler marked in centimetres. Pen length measures approximately 7.5 cm, indicated by a black arrow pointing at the tip.">
            <a:extLst>
              <a:ext uri="{FF2B5EF4-FFF2-40B4-BE49-F238E27FC236}">
                <a16:creationId xmlns:a16="http://schemas.microsoft.com/office/drawing/2014/main" id="{E309E440-7C7F-5212-6221-6DF3C9F9313E}"/>
              </a:ext>
            </a:extLst>
          </p:cNvPr>
          <p:cNvPicPr>
            <a:picLocks noChangeAspect="1"/>
          </p:cNvPicPr>
          <p:nvPr/>
        </p:nvPicPr>
        <p:blipFill>
          <a:blip r:embed="rId4">
            <a:extLst>
              <a:ext uri="{28A0092B-C50C-407E-A947-70E740481C1C}">
                <a14:useLocalDpi xmlns:a14="http://schemas.microsoft.com/office/drawing/2010/main" val="0"/>
              </a:ext>
            </a:extLst>
          </a:blip>
          <a:srcRect l="3598" t="16556" r="6494" b="47025"/>
          <a:stretch>
            <a:fillRect/>
          </a:stretch>
        </p:blipFill>
        <p:spPr>
          <a:xfrm>
            <a:off x="996629" y="3342375"/>
            <a:ext cx="10198742" cy="2921000"/>
          </a:xfrm>
          <a:prstGeom prst="rect">
            <a:avLst/>
          </a:prstGeom>
        </p:spPr>
      </p:pic>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41EC29F-ED7F-88F2-FFD5-8589D2EFEE70}"/>
              </a:ext>
            </a:extLst>
          </p:cNvPr>
          <p:cNvSpPr txBox="1"/>
          <p:nvPr/>
        </p:nvSpPr>
        <p:spPr>
          <a:xfrm>
            <a:off x="719999" y="1525117"/>
            <a:ext cx="10764001" cy="901593"/>
          </a:xfrm>
          <a:prstGeom prst="rect">
            <a:avLst/>
          </a:prstGeom>
          <a:noFill/>
        </p:spPr>
        <p:txBody>
          <a:bodyPr wrap="square">
            <a:spAutoFit/>
          </a:bodyPr>
          <a:lstStyle/>
          <a:p>
            <a:pPr algn="ctr">
              <a:lnSpc>
                <a:spcPct val="150000"/>
              </a:lnSpc>
            </a:pPr>
            <a:r>
              <a:rPr lang="en-AU" sz="4000" b="1" i="0" kern="1200">
                <a:solidFill>
                  <a:schemeClr val="tx1"/>
                </a:solidFill>
                <a:effectLst/>
                <a:latin typeface="Arial" panose="020B0604020202020204" pitchFamily="34" charset="0"/>
                <a:ea typeface="+mn-ea"/>
                <a:cs typeface="Arial" panose="020B0604020202020204" pitchFamily="34" charset="0"/>
              </a:rPr>
              <a:t>Record</a:t>
            </a:r>
            <a:r>
              <a:rPr lang="en-AU" sz="4000" b="0" i="0" kern="1200">
                <a:solidFill>
                  <a:schemeClr val="tx1"/>
                </a:solidFill>
                <a:effectLst/>
                <a:latin typeface="Arial" panose="020B0604020202020204" pitchFamily="34" charset="0"/>
                <a:ea typeface="+mn-ea"/>
                <a:cs typeface="Arial" panose="020B0604020202020204" pitchFamily="34" charset="0"/>
              </a:rPr>
              <a:t> the solution using a number sentence.</a:t>
            </a:r>
          </a:p>
        </p:txBody>
      </p:sp>
      <p:sp>
        <p:nvSpPr>
          <p:cNvPr id="8" name="Rectangle: Rounded Corners 7">
            <a:extLst>
              <a:ext uri="{FF2B5EF4-FFF2-40B4-BE49-F238E27FC236}">
                <a16:creationId xmlns:a16="http://schemas.microsoft.com/office/drawing/2014/main" id="{61535738-0D0A-4B9D-D5E6-942FDB2CC620}"/>
              </a:ext>
            </a:extLst>
          </p:cNvPr>
          <p:cNvSpPr/>
          <p:nvPr/>
        </p:nvSpPr>
        <p:spPr>
          <a:xfrm>
            <a:off x="593679" y="3046226"/>
            <a:ext cx="11150220" cy="2692658"/>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lnSpc>
                <a:spcPct val="150000"/>
              </a:lnSpc>
              <a:spcBef>
                <a:spcPts val="1200"/>
              </a:spcBef>
              <a:spcAft>
                <a:spcPts val="1200"/>
              </a:spcAft>
            </a:pPr>
            <a:r>
              <a:rPr lang="en-AU" sz="3800">
                <a:solidFill>
                  <a:schemeClr val="accent1"/>
                </a:solidFill>
              </a:rPr>
              <a:t>There are </a:t>
            </a:r>
            <a:r>
              <a:rPr lang="en-AU" sz="3800" b="1">
                <a:solidFill>
                  <a:schemeClr val="accent1"/>
                </a:solidFill>
              </a:rPr>
              <a:t>40</a:t>
            </a:r>
            <a:r>
              <a:rPr lang="en-AU" sz="3800">
                <a:solidFill>
                  <a:schemeClr val="accent1"/>
                </a:solidFill>
              </a:rPr>
              <a:t> basketballs packed into </a:t>
            </a:r>
            <a:r>
              <a:rPr lang="en-AU" sz="3800" b="1">
                <a:solidFill>
                  <a:schemeClr val="accent1"/>
                </a:solidFill>
              </a:rPr>
              <a:t>bags of 8</a:t>
            </a:r>
            <a:r>
              <a:rPr lang="en-AU" sz="3800">
                <a:solidFill>
                  <a:schemeClr val="accent1"/>
                </a:solidFill>
              </a:rPr>
              <a:t>. </a:t>
            </a:r>
          </a:p>
          <a:p>
            <a:pPr algn="ctr">
              <a:lnSpc>
                <a:spcPct val="150000"/>
              </a:lnSpc>
              <a:spcBef>
                <a:spcPts val="1200"/>
              </a:spcBef>
              <a:spcAft>
                <a:spcPts val="1200"/>
              </a:spcAft>
            </a:pPr>
            <a:r>
              <a:rPr lang="en-AU" sz="3800">
                <a:solidFill>
                  <a:schemeClr val="accent1"/>
                </a:solidFill>
              </a:rPr>
              <a:t>How many </a:t>
            </a:r>
            <a:r>
              <a:rPr lang="en-AU" sz="3800" b="1">
                <a:solidFill>
                  <a:schemeClr val="accent1"/>
                </a:solidFill>
              </a:rPr>
              <a:t>bags</a:t>
            </a:r>
            <a:r>
              <a:rPr lang="en-AU" sz="3800">
                <a:solidFill>
                  <a:schemeClr val="accent1"/>
                </a:solidFill>
              </a:rPr>
              <a:t> are needed?</a:t>
            </a:r>
          </a:p>
          <a:p>
            <a:pPr algn="ctr">
              <a:lnSpc>
                <a:spcPct val="150000"/>
              </a:lnSpc>
            </a:pPr>
            <a:endParaRPr lang="en-US">
              <a:solidFill>
                <a:schemeClr val="accent1"/>
              </a:solidFill>
              <a:latin typeface="Edu NSW ACT Foundation" pitchFamily="2" charset="0"/>
            </a:endParaRP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53CFDAA-FA7B-ADC7-2485-9BE49FED4B2F}"/>
              </a:ext>
            </a:extLst>
          </p:cNvPr>
          <p:cNvSpPr txBox="1"/>
          <p:nvPr/>
        </p:nvSpPr>
        <p:spPr>
          <a:xfrm>
            <a:off x="359999" y="905601"/>
            <a:ext cx="11484001" cy="1824923"/>
          </a:xfrm>
          <a:prstGeom prst="rect">
            <a:avLst/>
          </a:prstGeom>
          <a:noFill/>
        </p:spPr>
        <p:txBody>
          <a:bodyPr wrap="square">
            <a:spAutoFit/>
          </a:bodyPr>
          <a:lstStyle/>
          <a:p>
            <a:pPr algn="ctr">
              <a:lnSpc>
                <a:spcPct val="150000"/>
              </a:lnSpc>
            </a:pPr>
            <a:r>
              <a:rPr lang="en-AU" sz="4000" i="0" kern="1200">
                <a:solidFill>
                  <a:schemeClr val="tx1"/>
                </a:solidFill>
                <a:effectLst/>
                <a:latin typeface="Arial" panose="020B0604020202020204" pitchFamily="34" charset="0"/>
                <a:ea typeface="+mn-ea"/>
                <a:cs typeface="Arial" panose="020B0604020202020204" pitchFamily="34" charset="0"/>
              </a:rPr>
              <a:t>Record</a:t>
            </a:r>
            <a:r>
              <a:rPr lang="en-AU" sz="4000" b="0" i="0" kern="1200">
                <a:solidFill>
                  <a:schemeClr val="tx1"/>
                </a:solidFill>
                <a:effectLst/>
                <a:latin typeface="Arial" panose="020B0604020202020204" pitchFamily="34" charset="0"/>
                <a:ea typeface="+mn-ea"/>
                <a:cs typeface="Arial" panose="020B0604020202020204" pitchFamily="34" charset="0"/>
              </a:rPr>
              <a:t> the </a:t>
            </a:r>
            <a:r>
              <a:rPr lang="en-AU" sz="4000" b="0" i="1" kern="1200">
                <a:solidFill>
                  <a:schemeClr val="tx1"/>
                </a:solidFill>
                <a:effectLst/>
                <a:latin typeface="Arial" panose="020B0604020202020204" pitchFamily="34" charset="0"/>
                <a:ea typeface="+mn-ea"/>
                <a:cs typeface="Arial" panose="020B0604020202020204" pitchFamily="34" charset="0"/>
              </a:rPr>
              <a:t>approximate</a:t>
            </a:r>
            <a:r>
              <a:rPr lang="en-AU" sz="4000" b="0" i="0" kern="1200">
                <a:solidFill>
                  <a:schemeClr val="tx1"/>
                </a:solidFill>
                <a:effectLst/>
                <a:latin typeface="Arial" panose="020B0604020202020204" pitchFamily="34" charset="0"/>
                <a:ea typeface="+mn-ea"/>
                <a:cs typeface="Arial" panose="020B0604020202020204" pitchFamily="34" charset="0"/>
              </a:rPr>
              <a:t> </a:t>
            </a:r>
            <a:r>
              <a:rPr lang="en-AU" sz="4000" b="1" i="0" kern="1200">
                <a:solidFill>
                  <a:schemeClr val="tx1"/>
                </a:solidFill>
                <a:effectLst/>
                <a:latin typeface="Arial" panose="020B0604020202020204" pitchFamily="34" charset="0"/>
                <a:ea typeface="+mn-ea"/>
                <a:cs typeface="Arial" panose="020B0604020202020204" pitchFamily="34" charset="0"/>
              </a:rPr>
              <a:t>area</a:t>
            </a:r>
            <a:r>
              <a:rPr lang="en-AU" sz="4000" b="0" i="0" kern="1200">
                <a:solidFill>
                  <a:schemeClr val="tx1"/>
                </a:solidFill>
                <a:effectLst/>
                <a:latin typeface="Arial" panose="020B0604020202020204" pitchFamily="34" charset="0"/>
                <a:ea typeface="+mn-ea"/>
                <a:cs typeface="Arial" panose="020B0604020202020204" pitchFamily="34" charset="0"/>
              </a:rPr>
              <a:t> of this leaf in </a:t>
            </a:r>
            <a:r>
              <a:rPr lang="en-AU" sz="4000" b="1" i="0" kern="1200">
                <a:solidFill>
                  <a:schemeClr val="tx1"/>
                </a:solidFill>
                <a:effectLst/>
                <a:latin typeface="Arial" panose="020B0604020202020204" pitchFamily="34" charset="0"/>
                <a:ea typeface="+mn-ea"/>
                <a:cs typeface="Arial" panose="020B0604020202020204" pitchFamily="34" charset="0"/>
              </a:rPr>
              <a:t>square centimetres </a:t>
            </a:r>
            <a:r>
              <a:rPr lang="en-AU" sz="4000" b="0" i="0" kern="1200">
                <a:solidFill>
                  <a:schemeClr val="tx1"/>
                </a:solidFill>
                <a:effectLst/>
                <a:latin typeface="Arial" panose="020B0604020202020204" pitchFamily="34" charset="0"/>
                <a:ea typeface="+mn-ea"/>
                <a:cs typeface="Arial" panose="020B0604020202020204" pitchFamily="34" charset="0"/>
              </a:rPr>
              <a:t>using </a:t>
            </a:r>
            <a:r>
              <a:rPr lang="en-AU" sz="4000" b="1" i="0" kern="1200">
                <a:solidFill>
                  <a:schemeClr val="tx1"/>
                </a:solidFill>
                <a:effectLst/>
                <a:latin typeface="Arial" panose="020B0604020202020204" pitchFamily="34" charset="0"/>
                <a:ea typeface="+mn-ea"/>
                <a:cs typeface="Arial" panose="020B0604020202020204" pitchFamily="34" charset="0"/>
              </a:rPr>
              <a:t>numerals and words</a:t>
            </a:r>
            <a:r>
              <a:rPr lang="en-AU" sz="4000" b="0" i="0" kern="1200">
                <a:solidFill>
                  <a:schemeClr val="tx1"/>
                </a:solidFill>
                <a:effectLst/>
                <a:latin typeface="Arial" panose="020B0604020202020204" pitchFamily="34" charset="0"/>
                <a:ea typeface="+mn-ea"/>
                <a:cs typeface="Arial" panose="020B0604020202020204" pitchFamily="34" charset="0"/>
              </a:rPr>
              <a:t>.</a:t>
            </a:r>
          </a:p>
        </p:txBody>
      </p:sp>
      <p:pic>
        <p:nvPicPr>
          <p:cNvPr id="18" name="Picture 17" descr="A green leaf placed on a grid background with measurement annotations. Orange rectangle highlights leaf body measuring 3 cm by 5 cm, and purple rectangle highlights stem measuring 1 cm by 2 cm.">
            <a:extLst>
              <a:ext uri="{FF2B5EF4-FFF2-40B4-BE49-F238E27FC236}">
                <a16:creationId xmlns:a16="http://schemas.microsoft.com/office/drawing/2014/main" id="{18BC7DFC-B9A2-85C0-25E2-F275BDF633D3}"/>
              </a:ext>
            </a:extLst>
          </p:cNvPr>
          <p:cNvPicPr>
            <a:picLocks noChangeAspect="1"/>
          </p:cNvPicPr>
          <p:nvPr/>
        </p:nvPicPr>
        <p:blipFill>
          <a:blip r:embed="rId4"/>
          <a:stretch>
            <a:fillRect/>
          </a:stretch>
        </p:blipFill>
        <p:spPr>
          <a:xfrm>
            <a:off x="3951027" y="3183561"/>
            <a:ext cx="4465693" cy="3512439"/>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7D32A03-7D65-2FD8-211B-2DE63273A9B8}"/>
              </a:ext>
            </a:extLst>
          </p:cNvPr>
          <p:cNvSpPr txBox="1"/>
          <p:nvPr/>
        </p:nvSpPr>
        <p:spPr>
          <a:xfrm>
            <a:off x="360000" y="1166663"/>
            <a:ext cx="11215473" cy="5287409"/>
          </a:xfrm>
          <a:prstGeom prst="rect">
            <a:avLst/>
          </a:prstGeom>
          <a:noFill/>
        </p:spPr>
        <p:txBody>
          <a:bodyPr wrap="square">
            <a:spAutoFit/>
          </a:bodyPr>
          <a:lstStyle/>
          <a:p>
            <a:pPr algn="ctr" rtl="0">
              <a:lnSpc>
                <a:spcPct val="150000"/>
              </a:lnSpc>
              <a:spcBef>
                <a:spcPts val="1200"/>
              </a:spcBef>
              <a:spcAft>
                <a:spcPts val="600"/>
              </a:spcAft>
              <a:buNone/>
            </a:pPr>
            <a:r>
              <a:rPr lang="en-AU" sz="4000" i="0">
                <a:effectLst/>
              </a:rPr>
              <a:t>Thomas rolls a dice and it lands on </a:t>
            </a:r>
            <a:r>
              <a:rPr lang="en-AU" sz="4000" b="1" i="0">
                <a:effectLst/>
              </a:rPr>
              <a:t>6</a:t>
            </a:r>
            <a:r>
              <a:rPr lang="en-AU" sz="4000" i="0">
                <a:effectLst/>
              </a:rPr>
              <a:t>. </a:t>
            </a:r>
          </a:p>
          <a:p>
            <a:pPr algn="ctr" rtl="0">
              <a:lnSpc>
                <a:spcPct val="150000"/>
              </a:lnSpc>
              <a:spcBef>
                <a:spcPts val="1200"/>
              </a:spcBef>
              <a:spcAft>
                <a:spcPts val="600"/>
              </a:spcAft>
              <a:buNone/>
            </a:pPr>
            <a:r>
              <a:rPr lang="en-AU" sz="4000" i="0">
                <a:effectLst/>
              </a:rPr>
              <a:t>He believes that rolling a </a:t>
            </a:r>
            <a:r>
              <a:rPr lang="en-AU" sz="4000" b="1" i="0">
                <a:effectLst/>
              </a:rPr>
              <a:t>6 once </a:t>
            </a:r>
            <a:r>
              <a:rPr lang="en-AU" sz="4000" i="0">
                <a:effectLst/>
              </a:rPr>
              <a:t>will </a:t>
            </a:r>
            <a:r>
              <a:rPr lang="en-AU" sz="4000" b="1" i="0">
                <a:effectLst/>
              </a:rPr>
              <a:t>double his chances </a:t>
            </a:r>
            <a:r>
              <a:rPr lang="en-AU" sz="4000" i="0">
                <a:effectLst/>
              </a:rPr>
              <a:t>of rolling a </a:t>
            </a:r>
            <a:r>
              <a:rPr lang="en-AU" sz="4000" b="1" i="0">
                <a:effectLst/>
              </a:rPr>
              <a:t>6 again</a:t>
            </a:r>
            <a:r>
              <a:rPr lang="en-AU" sz="4000" i="0">
                <a:effectLst/>
              </a:rPr>
              <a:t>. </a:t>
            </a:r>
          </a:p>
          <a:p>
            <a:pPr algn="ctr" rtl="0">
              <a:lnSpc>
                <a:spcPct val="150000"/>
              </a:lnSpc>
              <a:spcBef>
                <a:spcPts val="1200"/>
              </a:spcBef>
              <a:spcAft>
                <a:spcPts val="600"/>
              </a:spcAft>
              <a:buNone/>
            </a:pPr>
            <a:r>
              <a:rPr lang="en-AU" sz="4000" i="0">
                <a:effectLst/>
              </a:rPr>
              <a:t>Is Thomas correct?</a:t>
            </a:r>
          </a:p>
          <a:p>
            <a:pPr algn="ctr" rtl="0">
              <a:lnSpc>
                <a:spcPct val="150000"/>
              </a:lnSpc>
              <a:spcBef>
                <a:spcPts val="1200"/>
              </a:spcBef>
              <a:spcAft>
                <a:spcPts val="600"/>
              </a:spcAft>
              <a:buNone/>
            </a:pPr>
            <a:r>
              <a:rPr lang="en-AU" sz="4000" b="1"/>
              <a:t>Communicate</a:t>
            </a:r>
            <a:r>
              <a:rPr lang="en-AU" sz="4000"/>
              <a:t> your </a:t>
            </a:r>
            <a:r>
              <a:rPr lang="en-AU" sz="4000" b="1"/>
              <a:t>reasoning</a:t>
            </a:r>
            <a:r>
              <a:rPr lang="en-AU" sz="4000"/>
              <a:t>.</a:t>
            </a:r>
            <a:r>
              <a:rPr lang="en-AU" sz="4000" i="0">
                <a:effectLst/>
              </a:rPr>
              <a:t> </a:t>
            </a:r>
          </a:p>
        </p:txBody>
      </p:sp>
      <p:pic>
        <p:nvPicPr>
          <p:cNvPr id="8" name="Picture 7" descr="Illustration showing a blue six-sided die with black dots on the left and a large pink question mark with a black shadow on the right. ">
            <a:extLst>
              <a:ext uri="{FF2B5EF4-FFF2-40B4-BE49-F238E27FC236}">
                <a16:creationId xmlns:a16="http://schemas.microsoft.com/office/drawing/2014/main" id="{2B851F1E-0038-6966-8E8E-B830D58B78B2}"/>
              </a:ext>
            </a:extLst>
          </p:cNvPr>
          <p:cNvPicPr>
            <a:picLocks noChangeAspect="1"/>
          </p:cNvPicPr>
          <p:nvPr/>
        </p:nvPicPr>
        <p:blipFill>
          <a:blip r:embed="rId4">
            <a:extLst>
              <a:ext uri="{28A0092B-C50C-407E-A947-70E740481C1C}">
                <a14:useLocalDpi xmlns:a14="http://schemas.microsoft.com/office/drawing/2010/main" val="0"/>
              </a:ext>
            </a:extLst>
          </a:blip>
          <a:srcRect l="11472" t="39697" r="13972" b="14849"/>
          <a:stretch>
            <a:fillRect/>
          </a:stretch>
        </p:blipFill>
        <p:spPr>
          <a:xfrm>
            <a:off x="8643224" y="4263871"/>
            <a:ext cx="2840776" cy="1224473"/>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solving problems with fact families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665FAB20-ADD3-7844-52EC-B331C4557DB1}"/>
              </a:ext>
            </a:extLst>
          </p:cNvPr>
          <p:cNvGraphicFramePr>
            <a:graphicFrameLocks noGrp="1"/>
          </p:cNvGraphicFramePr>
          <p:nvPr>
            <p:extLst>
              <p:ext uri="{D42A27DB-BD31-4B8C-83A1-F6EECF244321}">
                <p14:modId xmlns:p14="http://schemas.microsoft.com/office/powerpoint/2010/main" val="4223936119"/>
              </p:ext>
            </p:extLst>
          </p:nvPr>
        </p:nvGraphicFramePr>
        <p:xfrm>
          <a:off x="360000" y="1097258"/>
          <a:ext cx="10557136" cy="5324921"/>
        </p:xfrm>
        <a:graphic>
          <a:graphicData uri="http://schemas.openxmlformats.org/drawingml/2006/table">
            <a:tbl>
              <a:tblPr firstRow="1" firstCol="1" bandRow="1"/>
              <a:tblGrid>
                <a:gridCol w="10557136">
                  <a:extLst>
                    <a:ext uri="{9D8B030D-6E8A-4147-A177-3AD203B41FA5}">
                      <a16:colId xmlns:a16="http://schemas.microsoft.com/office/drawing/2014/main" val="1763367675"/>
                    </a:ext>
                  </a:extLst>
                </a:gridCol>
              </a:tblGrid>
              <a:tr h="649098">
                <a:tc>
                  <a:txBody>
                    <a:bodyPr/>
                    <a:lstStyle/>
                    <a:p>
                      <a:pPr>
                        <a:lnSpc>
                          <a:spcPct val="150000"/>
                        </a:lnSpc>
                        <a:spcBef>
                          <a:spcPts val="1200"/>
                        </a:spcBef>
                        <a:spcAft>
                          <a:spcPts val="600"/>
                        </a:spcAft>
                        <a:buNone/>
                      </a:pPr>
                      <a:r>
                        <a:rPr lang="en-AU" sz="3200">
                          <a:solidFill>
                            <a:srgbClr val="FFFFFF"/>
                          </a:solidFill>
                          <a:effectLst/>
                          <a:latin typeface="Arial" panose="020B0604020202020204" pitchFamily="34" charset="0"/>
                          <a:ea typeface="Calibri" panose="020F0502020204030204" pitchFamily="34" charset="0"/>
                          <a:cs typeface="Arial" panose="020B0604020202020204" pitchFamily="34" charset="0"/>
                        </a:rPr>
                        <a:t>Lots of buttons</a:t>
                      </a:r>
                      <a:endParaRPr lang="en-AU" sz="3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2664"/>
                    </a:solidFill>
                  </a:tcPr>
                </a:tc>
                <a:extLst>
                  <a:ext uri="{0D108BD9-81ED-4DB2-BD59-A6C34878D82A}">
                    <a16:rowId xmlns:a16="http://schemas.microsoft.com/office/drawing/2014/main" val="1223508682"/>
                  </a:ext>
                </a:extLst>
              </a:tr>
              <a:tr h="3585759">
                <a:tc>
                  <a:txBody>
                    <a:bodyPr/>
                    <a:lstStyle/>
                    <a:p>
                      <a:pPr>
                        <a:lnSpc>
                          <a:spcPct val="150000"/>
                        </a:lnSpc>
                        <a:spcBef>
                          <a:spcPts val="1200"/>
                        </a:spcBef>
                        <a:spcAft>
                          <a:spcPts val="600"/>
                        </a:spcAft>
                        <a:buNone/>
                      </a:pPr>
                      <a:r>
                        <a:rPr lang="en-AU" sz="2800">
                          <a:solidFill>
                            <a:srgbClr val="000000"/>
                          </a:solidFill>
                          <a:effectLst/>
                          <a:latin typeface="Arial" panose="020B0604020202020204" pitchFamily="34" charset="0"/>
                          <a:ea typeface="Calibri" panose="020F0502020204030204" pitchFamily="34" charset="0"/>
                          <a:cs typeface="Arial" panose="020B0604020202020204" pitchFamily="34" charset="0"/>
                        </a:rPr>
                        <a:t>The tailor received a delivery of buttons. </a:t>
                      </a:r>
                      <a:endParaRPr lang="en-AU" sz="2800">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Bef>
                          <a:spcPts val="1200"/>
                        </a:spcBef>
                        <a:spcAft>
                          <a:spcPts val="600"/>
                        </a:spcAft>
                        <a:buNone/>
                      </a:pPr>
                      <a:r>
                        <a:rPr lang="en-AU" sz="2800">
                          <a:solidFill>
                            <a:srgbClr val="000000"/>
                          </a:solidFill>
                          <a:effectLst/>
                          <a:latin typeface="Arial" panose="020B0604020202020204" pitchFamily="34" charset="0"/>
                          <a:ea typeface="Calibri" panose="020F0502020204030204" pitchFamily="34" charset="0"/>
                          <a:cs typeface="Arial" panose="020B0604020202020204" pitchFamily="34" charset="0"/>
                        </a:rPr>
                        <a:t>In the box there are 6 packets of buttons.</a:t>
                      </a:r>
                      <a:endParaRPr lang="en-AU" sz="2800">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Bef>
                          <a:spcPts val="1200"/>
                        </a:spcBef>
                        <a:spcAft>
                          <a:spcPts val="600"/>
                        </a:spcAft>
                        <a:buNone/>
                      </a:pPr>
                      <a:r>
                        <a:rPr lang="en-AU" sz="2800">
                          <a:solidFill>
                            <a:srgbClr val="000000"/>
                          </a:solidFill>
                          <a:effectLst/>
                          <a:latin typeface="Arial" panose="020B0604020202020204" pitchFamily="34" charset="0"/>
                          <a:ea typeface="Calibri" panose="020F0502020204030204" pitchFamily="34" charset="0"/>
                          <a:cs typeface="Arial" panose="020B0604020202020204" pitchFamily="34" charset="0"/>
                        </a:rPr>
                        <a:t>In each packet there are 10 buttons. </a:t>
                      </a:r>
                      <a:endParaRPr lang="en-AU" sz="2800">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Bef>
                          <a:spcPts val="1200"/>
                        </a:spcBef>
                        <a:spcAft>
                          <a:spcPts val="600"/>
                        </a:spcAft>
                        <a:buNone/>
                      </a:pPr>
                      <a:r>
                        <a:rPr lang="en-AU" sz="2800">
                          <a:solidFill>
                            <a:srgbClr val="000000"/>
                          </a:solidFill>
                          <a:effectLst/>
                          <a:latin typeface="Arial" panose="020B0604020202020204" pitchFamily="34" charset="0"/>
                          <a:ea typeface="Calibri" panose="020F0502020204030204" pitchFamily="34" charset="0"/>
                          <a:cs typeface="Arial" panose="020B0604020202020204" pitchFamily="34" charset="0"/>
                        </a:rPr>
                        <a:t>How many buttons are there altogether?</a:t>
                      </a:r>
                      <a:endParaRPr lang="en-AU" sz="2800">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Bef>
                          <a:spcPts val="1200"/>
                        </a:spcBef>
                        <a:spcAft>
                          <a:spcPts val="600"/>
                        </a:spcAft>
                        <a:buNone/>
                      </a:pPr>
                      <a:r>
                        <a:rPr lang="en-AU" sz="2800">
                          <a:solidFill>
                            <a:srgbClr val="000000"/>
                          </a:solidFill>
                          <a:effectLst/>
                          <a:latin typeface="Arial" panose="020B0604020202020204" pitchFamily="34" charset="0"/>
                          <a:ea typeface="Calibri" panose="020F0502020204030204" pitchFamily="34" charset="0"/>
                          <a:cs typeface="Arial" panose="020B0604020202020204" pitchFamily="34" charset="0"/>
                        </a:rPr>
                        <a:t>If the tailor is using the new buttons to sew onto 12 shirts, how many buttons will she use on each shirt?</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3561944"/>
                  </a:ext>
                </a:extLst>
              </a:tr>
            </a:tbl>
          </a:graphicData>
        </a:graphic>
      </p:graphicFrame>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1778057"/>
            <a:ext cx="11243037" cy="893226"/>
          </a:xfrm>
        </p:spPr>
        <p:txBody>
          <a:bodyPr/>
          <a:lstStyle/>
          <a:p>
            <a:pPr algn="ctr"/>
            <a:r>
              <a:rPr lang="en-AU" sz="4400">
                <a:latin typeface="+mn-lt"/>
              </a:rPr>
              <a:t>The </a:t>
            </a:r>
            <a:r>
              <a:rPr lang="en-AU" sz="4400" b="1">
                <a:latin typeface="+mn-lt"/>
              </a:rPr>
              <a:t>divided by </a:t>
            </a:r>
            <a:r>
              <a:rPr lang="en-AU" sz="4400">
                <a:latin typeface="+mn-lt"/>
                <a:ea typeface="Cambria Math" panose="02040503050406030204" pitchFamily="18" charset="0"/>
              </a:rPr>
              <a:t>symbol is </a:t>
            </a:r>
          </a:p>
          <a:p>
            <a:pPr algn="ctr"/>
            <a:r>
              <a:rPr lang="en-AU" sz="5400" b="1">
                <a:latin typeface="+mn-lt"/>
                <a:ea typeface="Cambria Math" panose="02040503050406030204" pitchFamily="18" charset="0"/>
              </a:rPr>
              <a:t>÷</a:t>
            </a:r>
            <a:endParaRPr lang="en-AU" sz="5400">
              <a:latin typeface="+mn-lt"/>
            </a:endParaRP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762689553"/>
              </p:ext>
            </p:extLst>
          </p:nvPr>
        </p:nvGraphicFramePr>
        <p:xfrm>
          <a:off x="2442980" y="443696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2D961FB-C30A-7D0A-83B5-9CF147224236}"/>
              </a:ext>
            </a:extLst>
          </p:cNvPr>
          <p:cNvSpPr txBox="1"/>
          <p:nvPr/>
        </p:nvSpPr>
        <p:spPr>
          <a:xfrm>
            <a:off x="360000" y="1410014"/>
            <a:ext cx="11280095" cy="982513"/>
          </a:xfrm>
          <a:prstGeom prst="rect">
            <a:avLst/>
          </a:prstGeom>
          <a:noFill/>
        </p:spPr>
        <p:txBody>
          <a:bodyPr wrap="square">
            <a:spAutoFit/>
          </a:bodyPr>
          <a:lstStyle/>
          <a:p>
            <a:pPr>
              <a:lnSpc>
                <a:spcPct val="150000"/>
              </a:lnSpc>
            </a:pPr>
            <a:r>
              <a:rPr lang="en-AU" sz="4400" b="1" i="0" kern="1200">
                <a:solidFill>
                  <a:schemeClr val="tx1"/>
                </a:solidFill>
                <a:effectLst/>
                <a:latin typeface="Arial" panose="020B0604020202020204" pitchFamily="34" charset="0"/>
                <a:ea typeface="+mn-ea"/>
                <a:cs typeface="Arial" panose="020B0604020202020204" pitchFamily="34" charset="0"/>
              </a:rPr>
              <a:t>Convert</a:t>
            </a:r>
            <a:r>
              <a:rPr lang="en-AU" sz="4400" b="0" i="0" kern="1200">
                <a:solidFill>
                  <a:schemeClr val="tx1"/>
                </a:solidFill>
                <a:effectLst/>
                <a:latin typeface="Arial" panose="020B0604020202020204" pitchFamily="34" charset="0"/>
                <a:ea typeface="+mn-ea"/>
                <a:cs typeface="Arial" panose="020B0604020202020204" pitchFamily="34" charset="0"/>
              </a:rPr>
              <a:t>:</a:t>
            </a:r>
            <a:endParaRPr lang="en-AU" sz="4400"/>
          </a:p>
        </p:txBody>
      </p:sp>
      <p:sp>
        <p:nvSpPr>
          <p:cNvPr id="7" name="TextBox 6">
            <a:extLst>
              <a:ext uri="{FF2B5EF4-FFF2-40B4-BE49-F238E27FC236}">
                <a16:creationId xmlns:a16="http://schemas.microsoft.com/office/drawing/2014/main" id="{AD259287-D9F3-ED2A-19FB-6D380AA614E9}"/>
              </a:ext>
            </a:extLst>
          </p:cNvPr>
          <p:cNvSpPr txBox="1"/>
          <p:nvPr/>
        </p:nvSpPr>
        <p:spPr>
          <a:xfrm>
            <a:off x="784089" y="2896940"/>
            <a:ext cx="8520741" cy="2229008"/>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4400">
                <a:latin typeface="Arial" panose="020B0604020202020204" pitchFamily="34" charset="0"/>
                <a:ea typeface="Calibri" panose="020F0502020204030204" pitchFamily="34" charset="0"/>
                <a:cs typeface="Times New Roman" panose="02020603050405020304" pitchFamily="18" charset="0"/>
              </a:rPr>
              <a:t>3</a:t>
            </a:r>
            <a:r>
              <a:rPr lang="en-AU" sz="4400" b="0">
                <a:effectLst/>
                <a:latin typeface="Arial" panose="020B0604020202020204" pitchFamily="34" charset="0"/>
                <a:ea typeface="Calibri" panose="020F0502020204030204" pitchFamily="34" charset="0"/>
                <a:cs typeface="Times New Roman" panose="02020603050405020304" pitchFamily="18" charset="0"/>
              </a:rPr>
              <a:t> </a:t>
            </a:r>
            <a:r>
              <a:rPr lang="en-AU" sz="4400">
                <a:effectLst/>
                <a:latin typeface="Arial" panose="020B0604020202020204" pitchFamily="34" charset="0"/>
                <a:ea typeface="Calibri" panose="020F0502020204030204" pitchFamily="34" charset="0"/>
                <a:cs typeface="Times New Roman" panose="02020603050405020304" pitchFamily="18" charset="0"/>
              </a:rPr>
              <a:t>metres 67 cm to metres</a:t>
            </a:r>
          </a:p>
          <a:p>
            <a:pPr marL="742950" lvl="0" indent="-742950">
              <a:lnSpc>
                <a:spcPct val="150000"/>
              </a:lnSpc>
              <a:spcBef>
                <a:spcPts val="1200"/>
              </a:spcBef>
              <a:spcAft>
                <a:spcPts val="600"/>
              </a:spcAft>
              <a:buFont typeface="+mj-lt"/>
              <a:buAutoNum type="alphaLcParenR"/>
            </a:pPr>
            <a:r>
              <a:rPr lang="en-AU" sz="4400">
                <a:latin typeface="Arial" panose="020B0604020202020204" pitchFamily="34" charset="0"/>
                <a:ea typeface="Calibri" panose="020F0502020204030204" pitchFamily="34" charset="0"/>
                <a:cs typeface="Times New Roman" panose="02020603050405020304" pitchFamily="18" charset="0"/>
              </a:rPr>
              <a:t>52</a:t>
            </a:r>
            <a:r>
              <a:rPr lang="en-AU" sz="4400">
                <a:effectLst/>
                <a:latin typeface="Arial" panose="020B0604020202020204" pitchFamily="34" charset="0"/>
                <a:ea typeface="Calibri" panose="020F0502020204030204" pitchFamily="34" charset="0"/>
                <a:cs typeface="Times New Roman" panose="02020603050405020304" pitchFamily="18" charset="0"/>
              </a:rPr>
              <a:t>.6</a:t>
            </a:r>
            <a:r>
              <a:rPr lang="en-AU" sz="4400" b="0">
                <a:effectLst/>
                <a:latin typeface="Arial" panose="020B0604020202020204" pitchFamily="34" charset="0"/>
                <a:ea typeface="Calibri" panose="020F0502020204030204" pitchFamily="34" charset="0"/>
                <a:cs typeface="Times New Roman" panose="02020603050405020304" pitchFamily="18" charset="0"/>
              </a:rPr>
              <a:t> m to cm</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F48F6613-E44D-5AC9-6A65-E7E26030C047}"/>
              </a:ext>
            </a:extLst>
          </p:cNvPr>
          <p:cNvSpPr txBox="1">
            <a:spLocks/>
          </p:cNvSpPr>
          <p:nvPr/>
        </p:nvSpPr>
        <p:spPr>
          <a:xfrm>
            <a:off x="1646534" y="1184223"/>
            <a:ext cx="8898932"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mn-lt"/>
              </a:rPr>
              <a:t>Record </a:t>
            </a:r>
            <a:r>
              <a:rPr lang="en-AU" sz="4400" b="1">
                <a:latin typeface="+mn-lt"/>
              </a:rPr>
              <a:t>one multiplication </a:t>
            </a:r>
            <a:r>
              <a:rPr lang="en-AU" sz="4400">
                <a:latin typeface="+mn-lt"/>
              </a:rPr>
              <a:t>(×) and </a:t>
            </a:r>
            <a:r>
              <a:rPr lang="en-AU" sz="4400" b="1">
                <a:latin typeface="+mn-lt"/>
              </a:rPr>
              <a:t>one division</a:t>
            </a:r>
            <a:r>
              <a:rPr lang="en-AU" sz="4400">
                <a:latin typeface="+mn-lt"/>
              </a:rPr>
              <a:t> (</a:t>
            </a:r>
            <a:r>
              <a:rPr lang="en-AU" sz="4400">
                <a:latin typeface="+mn-lt"/>
                <a:ea typeface="Cambria Math" panose="02040503050406030204" pitchFamily="18" charset="0"/>
              </a:rPr>
              <a:t>÷) number sentence to match:</a:t>
            </a:r>
            <a:endParaRPr lang="en-AU" sz="4400">
              <a:latin typeface="+mn-lt"/>
            </a:endParaRPr>
          </a:p>
        </p:txBody>
      </p:sp>
      <p:sp>
        <p:nvSpPr>
          <p:cNvPr id="8" name="Rectangle: Rounded Corners 7">
            <a:extLst>
              <a:ext uri="{FF2B5EF4-FFF2-40B4-BE49-F238E27FC236}">
                <a16:creationId xmlns:a16="http://schemas.microsoft.com/office/drawing/2014/main" id="{E1ACEC31-ECCE-A3E5-745C-905957FD9E9B}"/>
              </a:ext>
            </a:extLst>
          </p:cNvPr>
          <p:cNvSpPr/>
          <p:nvPr/>
        </p:nvSpPr>
        <p:spPr>
          <a:xfrm>
            <a:off x="516698" y="4596532"/>
            <a:ext cx="10929640" cy="699759"/>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lnSpc>
                <a:spcPct val="150000"/>
              </a:lnSpc>
            </a:pPr>
            <a:r>
              <a:rPr lang="en-AU" sz="3600">
                <a:solidFill>
                  <a:schemeClr val="accent1"/>
                </a:solidFill>
              </a:rPr>
              <a:t>There are </a:t>
            </a:r>
            <a:r>
              <a:rPr lang="en-AU" sz="3600" b="1">
                <a:solidFill>
                  <a:schemeClr val="accent1"/>
                </a:solidFill>
              </a:rPr>
              <a:t>32 desks </a:t>
            </a:r>
            <a:r>
              <a:rPr lang="en-AU" sz="3600">
                <a:solidFill>
                  <a:schemeClr val="accent1"/>
                </a:solidFill>
              </a:rPr>
              <a:t>arranged into </a:t>
            </a:r>
            <a:r>
              <a:rPr lang="en-AU" sz="3600" b="1">
                <a:solidFill>
                  <a:schemeClr val="accent1"/>
                </a:solidFill>
              </a:rPr>
              <a:t>4 equal rows</a:t>
            </a:r>
            <a:r>
              <a:rPr lang="en-AU" sz="3600">
                <a:solidFill>
                  <a:schemeClr val="accent1"/>
                </a:solidFill>
              </a:rPr>
              <a:t>.</a:t>
            </a:r>
            <a:endParaRPr lang="en-US" sz="3600">
              <a:solidFill>
                <a:schemeClr val="accent1"/>
              </a:solidFill>
            </a:endParaRP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DAB1286-ED9F-BAFD-2BF0-1F02D35D6BB9}"/>
              </a:ext>
            </a:extLst>
          </p:cNvPr>
          <p:cNvSpPr txBox="1"/>
          <p:nvPr/>
        </p:nvSpPr>
        <p:spPr>
          <a:xfrm>
            <a:off x="359999" y="905601"/>
            <a:ext cx="10764001" cy="1651671"/>
          </a:xfrm>
          <a:prstGeom prst="rect">
            <a:avLst/>
          </a:prstGeom>
          <a:noFill/>
        </p:spPr>
        <p:txBody>
          <a:bodyPr wrap="square">
            <a:spAutoFit/>
          </a:bodyPr>
          <a:lstStyle/>
          <a:p>
            <a:pPr algn="ctr">
              <a:lnSpc>
                <a:spcPct val="150000"/>
              </a:lnSpc>
            </a:pPr>
            <a:r>
              <a:rPr lang="en-AU" sz="3600" i="0" kern="1200">
                <a:solidFill>
                  <a:schemeClr val="tx1"/>
                </a:solidFill>
                <a:effectLst/>
                <a:latin typeface="Arial" panose="020B0604020202020204" pitchFamily="34" charset="0"/>
                <a:ea typeface="+mn-ea"/>
                <a:cs typeface="Arial" panose="020B0604020202020204" pitchFamily="34" charset="0"/>
              </a:rPr>
              <a:t>Record</a:t>
            </a:r>
            <a:r>
              <a:rPr lang="en-AU" sz="3600" b="0" i="0" kern="1200">
                <a:solidFill>
                  <a:schemeClr val="tx1"/>
                </a:solidFill>
                <a:effectLst/>
                <a:latin typeface="Arial" panose="020B0604020202020204" pitchFamily="34" charset="0"/>
                <a:ea typeface="+mn-ea"/>
                <a:cs typeface="Arial" panose="020B0604020202020204" pitchFamily="34" charset="0"/>
              </a:rPr>
              <a:t> the </a:t>
            </a:r>
            <a:r>
              <a:rPr lang="en-AU" sz="3600" b="1" i="0" kern="1200">
                <a:solidFill>
                  <a:schemeClr val="tx1"/>
                </a:solidFill>
                <a:effectLst/>
                <a:latin typeface="Arial" panose="020B0604020202020204" pitchFamily="34" charset="0"/>
                <a:ea typeface="+mn-ea"/>
                <a:cs typeface="Arial" panose="020B0604020202020204" pitchFamily="34" charset="0"/>
              </a:rPr>
              <a:t>area</a:t>
            </a:r>
            <a:r>
              <a:rPr lang="en-AU" sz="3600" b="0" i="0" kern="1200">
                <a:solidFill>
                  <a:schemeClr val="tx1"/>
                </a:solidFill>
                <a:effectLst/>
                <a:latin typeface="Arial" panose="020B0604020202020204" pitchFamily="34" charset="0"/>
                <a:ea typeface="+mn-ea"/>
                <a:cs typeface="Arial" panose="020B0604020202020204" pitchFamily="34" charset="0"/>
              </a:rPr>
              <a:t> of the house in </a:t>
            </a:r>
            <a:r>
              <a:rPr lang="en-AU" sz="3600" b="1" i="0" kern="1200">
                <a:solidFill>
                  <a:schemeClr val="tx1"/>
                </a:solidFill>
                <a:effectLst/>
                <a:latin typeface="Arial" panose="020B0604020202020204" pitchFamily="34" charset="0"/>
                <a:ea typeface="+mn-ea"/>
                <a:cs typeface="Arial" panose="020B0604020202020204" pitchFamily="34" charset="0"/>
              </a:rPr>
              <a:t>square metres </a:t>
            </a:r>
            <a:r>
              <a:rPr lang="en-AU" sz="3600" b="0" i="0" kern="1200">
                <a:solidFill>
                  <a:schemeClr val="tx1"/>
                </a:solidFill>
                <a:effectLst/>
                <a:latin typeface="Arial" panose="020B0604020202020204" pitchFamily="34" charset="0"/>
                <a:ea typeface="+mn-ea"/>
                <a:cs typeface="Arial" panose="020B0604020202020204" pitchFamily="34" charset="0"/>
              </a:rPr>
              <a:t>using </a:t>
            </a:r>
            <a:r>
              <a:rPr lang="en-AU" sz="3600" b="1" i="0" kern="1200">
                <a:solidFill>
                  <a:schemeClr val="tx1"/>
                </a:solidFill>
                <a:effectLst/>
                <a:latin typeface="Arial" panose="020B0604020202020204" pitchFamily="34" charset="0"/>
                <a:ea typeface="+mn-ea"/>
                <a:cs typeface="Arial" panose="020B0604020202020204" pitchFamily="34" charset="0"/>
              </a:rPr>
              <a:t>numerals and words</a:t>
            </a:r>
            <a:r>
              <a:rPr lang="en-AU" sz="3600" b="0" i="0" kern="1200">
                <a:solidFill>
                  <a:schemeClr val="tx1"/>
                </a:solidFill>
                <a:effectLst/>
                <a:latin typeface="Arial" panose="020B0604020202020204" pitchFamily="34" charset="0"/>
                <a:ea typeface="+mn-ea"/>
                <a:cs typeface="Arial" panose="020B0604020202020204" pitchFamily="34" charset="0"/>
              </a:rPr>
              <a:t>.</a:t>
            </a:r>
          </a:p>
        </p:txBody>
      </p:sp>
      <p:graphicFrame>
        <p:nvGraphicFramePr>
          <p:cNvPr id="14" name="Table 13" descr="A blue square representing one square metre.">
            <a:extLst>
              <a:ext uri="{FF2B5EF4-FFF2-40B4-BE49-F238E27FC236}">
                <a16:creationId xmlns:a16="http://schemas.microsoft.com/office/drawing/2014/main" id="{A92DBA65-62B4-684C-21EA-CEDF8C6E80B8}"/>
              </a:ext>
            </a:extLst>
          </p:cNvPr>
          <p:cNvGraphicFramePr>
            <a:graphicFrameLocks noGrp="1"/>
          </p:cNvGraphicFramePr>
          <p:nvPr>
            <p:extLst>
              <p:ext uri="{D42A27DB-BD31-4B8C-83A1-F6EECF244321}">
                <p14:modId xmlns:p14="http://schemas.microsoft.com/office/powerpoint/2010/main" val="248798758"/>
              </p:ext>
            </p:extLst>
          </p:nvPr>
        </p:nvGraphicFramePr>
        <p:xfrm>
          <a:off x="240800" y="4382219"/>
          <a:ext cx="526951" cy="545601"/>
        </p:xfrm>
        <a:graphic>
          <a:graphicData uri="http://schemas.openxmlformats.org/drawingml/2006/table">
            <a:tbl>
              <a:tblPr firstRow="1" bandRow="1">
                <a:tableStyleId>{5A111915-BE36-4E01-A7E5-04B1672EAD32}</a:tableStyleId>
              </a:tblPr>
              <a:tblGrid>
                <a:gridCol w="526951">
                  <a:extLst>
                    <a:ext uri="{9D8B030D-6E8A-4147-A177-3AD203B41FA5}">
                      <a16:colId xmlns:a16="http://schemas.microsoft.com/office/drawing/2014/main" val="2358198659"/>
                    </a:ext>
                  </a:extLst>
                </a:gridCol>
              </a:tblGrid>
              <a:tr h="545601">
                <a:tc>
                  <a:txBody>
                    <a:bodyPr/>
                    <a:lstStyle/>
                    <a:p>
                      <a:endParaRPr lang="en-AU"/>
                    </a:p>
                  </a:txBody>
                  <a:tcP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844056816"/>
                  </a:ext>
                </a:extLst>
              </a:tr>
            </a:tbl>
          </a:graphicData>
        </a:graphic>
      </p:graphicFrame>
      <p:sp>
        <p:nvSpPr>
          <p:cNvPr id="13" name="TextBox 12">
            <a:extLst>
              <a:ext uri="{FF2B5EF4-FFF2-40B4-BE49-F238E27FC236}">
                <a16:creationId xmlns:a16="http://schemas.microsoft.com/office/drawing/2014/main" id="{05B0393A-FD05-0458-FF28-5006BCA5AF63}"/>
              </a:ext>
            </a:extLst>
          </p:cNvPr>
          <p:cNvSpPr txBox="1"/>
          <p:nvPr/>
        </p:nvSpPr>
        <p:spPr>
          <a:xfrm>
            <a:off x="925830" y="4497702"/>
            <a:ext cx="914400" cy="360000"/>
          </a:xfrm>
          <a:prstGeom prst="rect">
            <a:avLst/>
          </a:prstGeom>
          <a:noFill/>
        </p:spPr>
        <p:txBody>
          <a:bodyPr wrap="none" lIns="0" tIns="0" rIns="0" bIns="0" rtlCol="0">
            <a:noAutofit/>
          </a:bodyPr>
          <a:lstStyle/>
          <a:p>
            <a:pPr algn="l"/>
            <a:r>
              <a:rPr lang="en-AU" sz="1800"/>
              <a:t>= 1 square metre</a:t>
            </a:r>
          </a:p>
        </p:txBody>
      </p:sp>
      <p:pic>
        <p:nvPicPr>
          <p:cNvPr id="7" name="Picture 6" descr="Floor plan of a rectangular living space measuring showing layout of kitchen, dining area, living room, bedroom, bathroom, and storage. Key elements include labelled dimension.">
            <a:extLst>
              <a:ext uri="{FF2B5EF4-FFF2-40B4-BE49-F238E27FC236}">
                <a16:creationId xmlns:a16="http://schemas.microsoft.com/office/drawing/2014/main" id="{2EDADC56-3B78-4390-9825-6C5C16A7C409}"/>
              </a:ext>
            </a:extLst>
          </p:cNvPr>
          <p:cNvPicPr>
            <a:picLocks noChangeAspect="1"/>
          </p:cNvPicPr>
          <p:nvPr/>
        </p:nvPicPr>
        <p:blipFill>
          <a:blip r:embed="rId4">
            <a:extLst>
              <a:ext uri="{28A0092B-C50C-407E-A947-70E740481C1C}">
                <a14:useLocalDpi xmlns:a14="http://schemas.microsoft.com/office/drawing/2010/main" val="0"/>
              </a:ext>
            </a:extLst>
          </a:blip>
          <a:srcRect l="12189" t="12886" r="17249" b="32073"/>
          <a:stretch>
            <a:fillRect/>
          </a:stretch>
        </p:blipFill>
        <p:spPr>
          <a:xfrm>
            <a:off x="2690169" y="2675934"/>
            <a:ext cx="7126692" cy="3930066"/>
          </a:xfrm>
          <a:prstGeom prst="rect">
            <a:avLst/>
          </a:prstGeom>
        </p:spPr>
      </p:pic>
      <p:graphicFrame>
        <p:nvGraphicFramePr>
          <p:cNvPr id="12" name="Table 11" descr="An overlay of a square metre grid.">
            <a:extLst>
              <a:ext uri="{FF2B5EF4-FFF2-40B4-BE49-F238E27FC236}">
                <a16:creationId xmlns:a16="http://schemas.microsoft.com/office/drawing/2014/main" id="{E7CBFE38-9D9E-9F47-32F1-7FE6D3A6914B}"/>
              </a:ext>
            </a:extLst>
          </p:cNvPr>
          <p:cNvGraphicFramePr>
            <a:graphicFrameLocks noGrp="1"/>
          </p:cNvGraphicFramePr>
          <p:nvPr>
            <p:extLst>
              <p:ext uri="{D42A27DB-BD31-4B8C-83A1-F6EECF244321}">
                <p14:modId xmlns:p14="http://schemas.microsoft.com/office/powerpoint/2010/main" val="3127144430"/>
              </p:ext>
            </p:extLst>
          </p:nvPr>
        </p:nvGraphicFramePr>
        <p:xfrm>
          <a:off x="3395804" y="2739982"/>
          <a:ext cx="6334788" cy="3758016"/>
        </p:xfrm>
        <a:graphic>
          <a:graphicData uri="http://schemas.openxmlformats.org/drawingml/2006/table">
            <a:tbl>
              <a:tblPr firstRow="1" bandRow="1">
                <a:tableStyleId>{5A111915-BE36-4E01-A7E5-04B1672EAD32}</a:tableStyleId>
              </a:tblPr>
              <a:tblGrid>
                <a:gridCol w="527899">
                  <a:extLst>
                    <a:ext uri="{9D8B030D-6E8A-4147-A177-3AD203B41FA5}">
                      <a16:colId xmlns:a16="http://schemas.microsoft.com/office/drawing/2014/main" val="2358198659"/>
                    </a:ext>
                  </a:extLst>
                </a:gridCol>
                <a:gridCol w="527899">
                  <a:extLst>
                    <a:ext uri="{9D8B030D-6E8A-4147-A177-3AD203B41FA5}">
                      <a16:colId xmlns:a16="http://schemas.microsoft.com/office/drawing/2014/main" val="2749441025"/>
                    </a:ext>
                  </a:extLst>
                </a:gridCol>
                <a:gridCol w="527899">
                  <a:extLst>
                    <a:ext uri="{9D8B030D-6E8A-4147-A177-3AD203B41FA5}">
                      <a16:colId xmlns:a16="http://schemas.microsoft.com/office/drawing/2014/main" val="1364622161"/>
                    </a:ext>
                  </a:extLst>
                </a:gridCol>
                <a:gridCol w="527899">
                  <a:extLst>
                    <a:ext uri="{9D8B030D-6E8A-4147-A177-3AD203B41FA5}">
                      <a16:colId xmlns:a16="http://schemas.microsoft.com/office/drawing/2014/main" val="1013777088"/>
                    </a:ext>
                  </a:extLst>
                </a:gridCol>
                <a:gridCol w="527899">
                  <a:extLst>
                    <a:ext uri="{9D8B030D-6E8A-4147-A177-3AD203B41FA5}">
                      <a16:colId xmlns:a16="http://schemas.microsoft.com/office/drawing/2014/main" val="3879272811"/>
                    </a:ext>
                  </a:extLst>
                </a:gridCol>
                <a:gridCol w="527899">
                  <a:extLst>
                    <a:ext uri="{9D8B030D-6E8A-4147-A177-3AD203B41FA5}">
                      <a16:colId xmlns:a16="http://schemas.microsoft.com/office/drawing/2014/main" val="4040356204"/>
                    </a:ext>
                  </a:extLst>
                </a:gridCol>
                <a:gridCol w="527899">
                  <a:extLst>
                    <a:ext uri="{9D8B030D-6E8A-4147-A177-3AD203B41FA5}">
                      <a16:colId xmlns:a16="http://schemas.microsoft.com/office/drawing/2014/main" val="2434428061"/>
                    </a:ext>
                  </a:extLst>
                </a:gridCol>
                <a:gridCol w="527899">
                  <a:extLst>
                    <a:ext uri="{9D8B030D-6E8A-4147-A177-3AD203B41FA5}">
                      <a16:colId xmlns:a16="http://schemas.microsoft.com/office/drawing/2014/main" val="2320538141"/>
                    </a:ext>
                  </a:extLst>
                </a:gridCol>
                <a:gridCol w="527899">
                  <a:extLst>
                    <a:ext uri="{9D8B030D-6E8A-4147-A177-3AD203B41FA5}">
                      <a16:colId xmlns:a16="http://schemas.microsoft.com/office/drawing/2014/main" val="4214467895"/>
                    </a:ext>
                  </a:extLst>
                </a:gridCol>
                <a:gridCol w="527899">
                  <a:extLst>
                    <a:ext uri="{9D8B030D-6E8A-4147-A177-3AD203B41FA5}">
                      <a16:colId xmlns:a16="http://schemas.microsoft.com/office/drawing/2014/main" val="3325757713"/>
                    </a:ext>
                  </a:extLst>
                </a:gridCol>
                <a:gridCol w="527899">
                  <a:extLst>
                    <a:ext uri="{9D8B030D-6E8A-4147-A177-3AD203B41FA5}">
                      <a16:colId xmlns:a16="http://schemas.microsoft.com/office/drawing/2014/main" val="75428516"/>
                    </a:ext>
                  </a:extLst>
                </a:gridCol>
                <a:gridCol w="527899">
                  <a:extLst>
                    <a:ext uri="{9D8B030D-6E8A-4147-A177-3AD203B41FA5}">
                      <a16:colId xmlns:a16="http://schemas.microsoft.com/office/drawing/2014/main" val="3540183536"/>
                    </a:ext>
                  </a:extLst>
                </a:gridCol>
              </a:tblGrid>
              <a:tr h="626336">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844056816"/>
                  </a:ext>
                </a:extLst>
              </a:tr>
              <a:tr h="626336">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593513441"/>
                  </a:ext>
                </a:extLst>
              </a:tr>
              <a:tr h="626336">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96244"/>
                  </a:ext>
                </a:extLst>
              </a:tr>
              <a:tr h="626336">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711472519"/>
                  </a:ext>
                </a:extLst>
              </a:tr>
              <a:tr h="626336">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754062266"/>
                  </a:ext>
                </a:extLst>
              </a:tr>
              <a:tr h="626336">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endParaRPr lang="en-AU" sz="1800"/>
                    </a:p>
                  </a:txBody>
                  <a:tcPr marL="92907" marR="92907" marT="46453" marB="46453">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141537294"/>
                  </a:ext>
                </a:extLst>
              </a:tr>
            </a:tbl>
          </a:graphicData>
        </a:graphic>
      </p:graphicFrame>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450D5E9-7949-2B58-BA3D-EA4B80FE928A}"/>
              </a:ext>
            </a:extLst>
          </p:cNvPr>
          <p:cNvSpPr txBox="1"/>
          <p:nvPr/>
        </p:nvSpPr>
        <p:spPr>
          <a:xfrm>
            <a:off x="360000" y="1079437"/>
            <a:ext cx="8557008" cy="5642570"/>
          </a:xfrm>
          <a:prstGeom prst="rect">
            <a:avLst/>
          </a:prstGeom>
          <a:noFill/>
        </p:spPr>
        <p:txBody>
          <a:bodyPr wrap="square">
            <a:spAutoFit/>
          </a:bodyPr>
          <a:lstStyle/>
          <a:p>
            <a:pPr algn="l" rtl="0">
              <a:lnSpc>
                <a:spcPct val="150000"/>
              </a:lnSpc>
              <a:spcBef>
                <a:spcPts val="1200"/>
              </a:spcBef>
              <a:spcAft>
                <a:spcPts val="600"/>
              </a:spcAft>
              <a:buNone/>
            </a:pPr>
            <a:r>
              <a:rPr lang="en-AU" sz="3200" b="0" i="0">
                <a:solidFill>
                  <a:srgbClr val="000000"/>
                </a:solidFill>
                <a:effectLst/>
                <a:latin typeface="Roboto" panose="02000000000000000000" pitchFamily="2" charset="0"/>
              </a:rPr>
              <a:t>Harry has a jar with 12 gummy bears. </a:t>
            </a:r>
          </a:p>
          <a:p>
            <a:pPr algn="l" rtl="0">
              <a:lnSpc>
                <a:spcPct val="150000"/>
              </a:lnSpc>
              <a:spcBef>
                <a:spcPts val="1200"/>
              </a:spcBef>
              <a:spcAft>
                <a:spcPts val="600"/>
              </a:spcAft>
              <a:buNone/>
            </a:pPr>
            <a:r>
              <a:rPr lang="en-AU" sz="3200">
                <a:solidFill>
                  <a:srgbClr val="000000"/>
                </a:solidFill>
                <a:latin typeface="Roboto" panose="02000000000000000000" pitchFamily="2" charset="0"/>
              </a:rPr>
              <a:t>He pulls out random gummy bears one at a time to eat them. Harry pulls out and eats one </a:t>
            </a:r>
            <a:r>
              <a:rPr lang="en-AU" sz="3200">
                <a:solidFill>
                  <a:srgbClr val="FF6600"/>
                </a:solidFill>
                <a:latin typeface="Roboto" panose="02000000000000000000" pitchFamily="2" charset="0"/>
              </a:rPr>
              <a:t>orange</a:t>
            </a:r>
            <a:r>
              <a:rPr lang="en-AU" sz="3200">
                <a:solidFill>
                  <a:srgbClr val="000000"/>
                </a:solidFill>
                <a:latin typeface="Roboto" panose="02000000000000000000" pitchFamily="2" charset="0"/>
              </a:rPr>
              <a:t> </a:t>
            </a:r>
            <a:r>
              <a:rPr lang="en-AU" sz="3200" b="0" i="0">
                <a:solidFill>
                  <a:srgbClr val="000000"/>
                </a:solidFill>
                <a:effectLst/>
                <a:latin typeface="Roboto" panose="02000000000000000000" pitchFamily="2" charset="0"/>
              </a:rPr>
              <a:t>gummy bear. </a:t>
            </a:r>
          </a:p>
          <a:p>
            <a:pPr algn="l" rtl="0">
              <a:lnSpc>
                <a:spcPct val="150000"/>
              </a:lnSpc>
              <a:spcBef>
                <a:spcPts val="1200"/>
              </a:spcBef>
              <a:spcAft>
                <a:spcPts val="600"/>
              </a:spcAft>
              <a:buNone/>
            </a:pPr>
            <a:r>
              <a:rPr lang="en-AU" sz="3200" b="0" i="0">
                <a:solidFill>
                  <a:srgbClr val="000000"/>
                </a:solidFill>
                <a:effectLst/>
                <a:latin typeface="Roboto" panose="02000000000000000000" pitchFamily="2" charset="0"/>
              </a:rPr>
              <a:t>How does taking out the </a:t>
            </a:r>
            <a:r>
              <a:rPr lang="en-AU" sz="3200" b="0" i="1">
                <a:solidFill>
                  <a:srgbClr val="000000"/>
                </a:solidFill>
                <a:effectLst/>
                <a:latin typeface="Roboto" panose="02000000000000000000" pitchFamily="2" charset="0"/>
              </a:rPr>
              <a:t>first</a:t>
            </a:r>
            <a:r>
              <a:rPr lang="en-AU" sz="3200" b="0" i="0">
                <a:solidFill>
                  <a:srgbClr val="000000"/>
                </a:solidFill>
                <a:effectLst/>
                <a:latin typeface="Roboto" panose="02000000000000000000" pitchFamily="2" charset="0"/>
              </a:rPr>
              <a:t> </a:t>
            </a:r>
            <a:r>
              <a:rPr lang="en-AU" sz="3200" b="0" i="0">
                <a:solidFill>
                  <a:srgbClr val="FF6600"/>
                </a:solidFill>
                <a:effectLst/>
                <a:latin typeface="Roboto" panose="02000000000000000000" pitchFamily="2" charset="0"/>
              </a:rPr>
              <a:t>orange</a:t>
            </a:r>
            <a:r>
              <a:rPr lang="en-AU" sz="3200" b="0" i="0">
                <a:solidFill>
                  <a:srgbClr val="000000"/>
                </a:solidFill>
                <a:effectLst/>
                <a:latin typeface="Roboto" panose="02000000000000000000" pitchFamily="2" charset="0"/>
              </a:rPr>
              <a:t> gummy bear </a:t>
            </a:r>
            <a:r>
              <a:rPr lang="en-AU" sz="3200" b="1" i="0">
                <a:solidFill>
                  <a:srgbClr val="000000"/>
                </a:solidFill>
                <a:effectLst/>
                <a:latin typeface="Roboto" panose="02000000000000000000" pitchFamily="2" charset="0"/>
              </a:rPr>
              <a:t>affect the chance </a:t>
            </a:r>
            <a:r>
              <a:rPr lang="en-AU" sz="3200" b="0" i="0">
                <a:solidFill>
                  <a:srgbClr val="000000"/>
                </a:solidFill>
                <a:effectLst/>
                <a:latin typeface="Roboto" panose="02000000000000000000" pitchFamily="2" charset="0"/>
              </a:rPr>
              <a:t>of picking </a:t>
            </a:r>
            <a:r>
              <a:rPr lang="en-AU" sz="3200" b="0" i="1">
                <a:solidFill>
                  <a:srgbClr val="000000"/>
                </a:solidFill>
                <a:effectLst/>
                <a:latin typeface="Roboto" panose="02000000000000000000" pitchFamily="2" charset="0"/>
              </a:rPr>
              <a:t>another</a:t>
            </a:r>
            <a:r>
              <a:rPr lang="en-AU" sz="3200" b="0" i="0">
                <a:solidFill>
                  <a:srgbClr val="000000"/>
                </a:solidFill>
                <a:effectLst/>
                <a:latin typeface="Roboto" panose="02000000000000000000" pitchFamily="2" charset="0"/>
              </a:rPr>
              <a:t> </a:t>
            </a:r>
            <a:r>
              <a:rPr lang="en-AU" sz="3200" b="0" i="0">
                <a:solidFill>
                  <a:srgbClr val="FF6600"/>
                </a:solidFill>
                <a:effectLst/>
                <a:latin typeface="Roboto" panose="02000000000000000000" pitchFamily="2" charset="0"/>
              </a:rPr>
              <a:t>orange</a:t>
            </a:r>
            <a:r>
              <a:rPr lang="en-AU" sz="3200" b="0" i="0">
                <a:solidFill>
                  <a:srgbClr val="000000"/>
                </a:solidFill>
                <a:effectLst/>
                <a:latin typeface="Roboto" panose="02000000000000000000" pitchFamily="2" charset="0"/>
              </a:rPr>
              <a:t> gummy bear? </a:t>
            </a:r>
          </a:p>
        </p:txBody>
      </p:sp>
      <p:pic>
        <p:nvPicPr>
          <p:cNvPr id="9" name="Picture 8" descr="Illustration showing a jar filled with 12 gummy bears arranged in a 3 by 4 grid, featuring three orange, three yellow, three pink, and three purple bears. ">
            <a:extLst>
              <a:ext uri="{FF2B5EF4-FFF2-40B4-BE49-F238E27FC236}">
                <a16:creationId xmlns:a16="http://schemas.microsoft.com/office/drawing/2014/main" id="{12084D32-C704-4798-91AE-667EB0518BBF}"/>
              </a:ext>
            </a:extLst>
          </p:cNvPr>
          <p:cNvPicPr>
            <a:picLocks noChangeAspect="1"/>
          </p:cNvPicPr>
          <p:nvPr/>
        </p:nvPicPr>
        <p:blipFill>
          <a:blip r:embed="rId4">
            <a:extLst>
              <a:ext uri="{28A0092B-C50C-407E-A947-70E740481C1C}">
                <a14:useLocalDpi xmlns:a14="http://schemas.microsoft.com/office/drawing/2010/main" val="0"/>
              </a:ext>
            </a:extLst>
          </a:blip>
          <a:srcRect l="30646" t="15152" r="25755" b="8788"/>
          <a:stretch>
            <a:fillRect/>
          </a:stretch>
        </p:blipFill>
        <p:spPr>
          <a:xfrm>
            <a:off x="8818784" y="1500548"/>
            <a:ext cx="3127192" cy="3856903"/>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generating fact families (1)</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Graphic illustration showing three mathematical symbols: a purple multiplication sign, a teal division sign, and two orange parallel lines representing equality. ">
            <a:extLst>
              <a:ext uri="{FF2B5EF4-FFF2-40B4-BE49-F238E27FC236}">
                <a16:creationId xmlns:a16="http://schemas.microsoft.com/office/drawing/2014/main" id="{2B9F5A0C-CF08-F052-0E16-1BEE09215F9E}"/>
              </a:ext>
            </a:extLst>
          </p:cNvPr>
          <p:cNvPicPr>
            <a:picLocks noChangeAspect="1"/>
          </p:cNvPicPr>
          <p:nvPr/>
        </p:nvPicPr>
        <p:blipFill>
          <a:blip r:embed="rId4">
            <a:extLst>
              <a:ext uri="{28A0092B-C50C-407E-A947-70E740481C1C}">
                <a14:useLocalDpi xmlns:a14="http://schemas.microsoft.com/office/drawing/2010/main" val="0"/>
              </a:ext>
            </a:extLst>
          </a:blip>
          <a:srcRect t="23210" b="33086"/>
          <a:stretch>
            <a:fillRect/>
          </a:stretch>
        </p:blipFill>
        <p:spPr>
          <a:xfrm>
            <a:off x="3628462" y="1097258"/>
            <a:ext cx="4935075" cy="1524864"/>
          </a:xfrm>
          <a:prstGeom prst="rect">
            <a:avLst/>
          </a:prstGeom>
        </p:spPr>
      </p:pic>
      <p:sp>
        <p:nvSpPr>
          <p:cNvPr id="10" name="TextBox 9">
            <a:extLst>
              <a:ext uri="{FF2B5EF4-FFF2-40B4-BE49-F238E27FC236}">
                <a16:creationId xmlns:a16="http://schemas.microsoft.com/office/drawing/2014/main" id="{5E9551E4-F09B-46F2-5BAE-694CAB63731F}"/>
              </a:ext>
            </a:extLst>
          </p:cNvPr>
          <p:cNvSpPr txBox="1"/>
          <p:nvPr/>
        </p:nvSpPr>
        <p:spPr>
          <a:xfrm>
            <a:off x="117699" y="3339628"/>
            <a:ext cx="5541696" cy="2229008"/>
          </a:xfrm>
          <a:prstGeom prst="rect">
            <a:avLst/>
          </a:prstGeom>
          <a:noFill/>
        </p:spPr>
        <p:txBody>
          <a:bodyPr wrap="square">
            <a:spAutoFit/>
          </a:bodyPr>
          <a:lstStyle/>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3 ____ 2 ____ 6 </a:t>
            </a:r>
          </a:p>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10 ____ 2 ____ 5 </a:t>
            </a:r>
          </a:p>
        </p:txBody>
      </p:sp>
      <p:sp>
        <p:nvSpPr>
          <p:cNvPr id="7" name="TextBox 6">
            <a:extLst>
              <a:ext uri="{FF2B5EF4-FFF2-40B4-BE49-F238E27FC236}">
                <a16:creationId xmlns:a16="http://schemas.microsoft.com/office/drawing/2014/main" id="{1A2E3E9D-47F8-2B68-FB04-7C115283A605}"/>
              </a:ext>
            </a:extLst>
          </p:cNvPr>
          <p:cNvSpPr txBox="1"/>
          <p:nvPr/>
        </p:nvSpPr>
        <p:spPr>
          <a:xfrm>
            <a:off x="5261446" y="3363097"/>
            <a:ext cx="7804840" cy="2229008"/>
          </a:xfrm>
          <a:prstGeom prst="rect">
            <a:avLst/>
          </a:prstGeom>
          <a:noFill/>
        </p:spPr>
        <p:txBody>
          <a:bodyPr wrap="square">
            <a:spAutoFit/>
          </a:bodyPr>
          <a:lstStyle/>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20 __</a:t>
            </a:r>
            <a:r>
              <a:rPr lang="en-AU" sz="4400">
                <a:ea typeface="Calibri" panose="020F0502020204030204" pitchFamily="34" charset="0"/>
                <a:cs typeface="Times New Roman" panose="02020603050405020304" pitchFamily="18" charset="0"/>
              </a:rPr>
              <a:t>_</a:t>
            </a:r>
            <a:r>
              <a:rPr lang="en-AU" sz="4400">
                <a:effectLst/>
                <a:ea typeface="Calibri" panose="020F0502020204030204" pitchFamily="34" charset="0"/>
                <a:cs typeface="Times New Roman" panose="02020603050405020304" pitchFamily="18" charset="0"/>
              </a:rPr>
              <a:t>_ 4 ____ 5 </a:t>
            </a:r>
          </a:p>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10 ____ 5 ____ 2 </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4B00-AE78-A712-FC5A-CD4D3ADF2E3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CD739F0-2B34-E4D9-61E1-BA3C76480B04}"/>
              </a:ext>
            </a:extLst>
          </p:cNvPr>
          <p:cNvSpPr>
            <a:spLocks noGrp="1"/>
          </p:cNvSpPr>
          <p:nvPr>
            <p:ph type="title"/>
          </p:nvPr>
        </p:nvSpPr>
        <p:spPr>
          <a:xfrm>
            <a:off x="360000" y="360000"/>
            <a:ext cx="10367268" cy="545601"/>
          </a:xfrm>
        </p:spPr>
        <p:txBody>
          <a:bodyPr/>
          <a:lstStyle/>
          <a:p>
            <a:r>
              <a:rPr lang="en-AU"/>
              <a:t>Activity 8 – generating fact families (2)</a:t>
            </a:r>
          </a:p>
        </p:txBody>
      </p:sp>
      <p:pic>
        <p:nvPicPr>
          <p:cNvPr id="4" name="Picture 3">
            <a:extLst>
              <a:ext uri="{FF2B5EF4-FFF2-40B4-BE49-F238E27FC236}">
                <a16:creationId xmlns:a16="http://schemas.microsoft.com/office/drawing/2014/main" id="{310AF75C-483A-FE6E-60DA-6C51A0E5C47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TextBox 9">
            <a:extLst>
              <a:ext uri="{FF2B5EF4-FFF2-40B4-BE49-F238E27FC236}">
                <a16:creationId xmlns:a16="http://schemas.microsoft.com/office/drawing/2014/main" id="{97836C19-014A-E346-339B-032FA207E181}"/>
              </a:ext>
            </a:extLst>
          </p:cNvPr>
          <p:cNvSpPr txBox="1"/>
          <p:nvPr/>
        </p:nvSpPr>
        <p:spPr>
          <a:xfrm>
            <a:off x="0" y="1386613"/>
            <a:ext cx="4328363" cy="982513"/>
          </a:xfrm>
          <a:prstGeom prst="rect">
            <a:avLst/>
          </a:prstGeom>
          <a:noFill/>
        </p:spPr>
        <p:txBody>
          <a:bodyPr wrap="square">
            <a:spAutoFit/>
          </a:bodyPr>
          <a:lstStyle/>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2</a:t>
            </a:r>
          </a:p>
        </p:txBody>
      </p:sp>
      <p:sp>
        <p:nvSpPr>
          <p:cNvPr id="3" name="TextBox 2">
            <a:extLst>
              <a:ext uri="{FF2B5EF4-FFF2-40B4-BE49-F238E27FC236}">
                <a16:creationId xmlns:a16="http://schemas.microsoft.com/office/drawing/2014/main" id="{08160297-19A3-CBC7-768E-517D5EC2AB4A}"/>
              </a:ext>
            </a:extLst>
          </p:cNvPr>
          <p:cNvSpPr txBox="1"/>
          <p:nvPr/>
        </p:nvSpPr>
        <p:spPr>
          <a:xfrm>
            <a:off x="3791479" y="1386613"/>
            <a:ext cx="4328363" cy="982513"/>
          </a:xfrm>
          <a:prstGeom prst="rect">
            <a:avLst/>
          </a:prstGeom>
          <a:noFill/>
        </p:spPr>
        <p:txBody>
          <a:bodyPr wrap="square">
            <a:spAutoFit/>
          </a:bodyPr>
          <a:lstStyle/>
          <a:p>
            <a:pPr lvl="0" algn="ctr">
              <a:lnSpc>
                <a:spcPct val="150000"/>
              </a:lnSpc>
              <a:spcBef>
                <a:spcPts val="1200"/>
              </a:spcBef>
              <a:spcAft>
                <a:spcPts val="600"/>
              </a:spcAft>
            </a:pPr>
            <a:r>
              <a:rPr lang="en-AU" sz="4400">
                <a:ea typeface="Calibri" panose="020F0502020204030204" pitchFamily="34" charset="0"/>
                <a:cs typeface="Times New Roman" panose="02020603050405020304" pitchFamily="18" charset="0"/>
              </a:rPr>
              <a:t>10</a:t>
            </a:r>
            <a:endParaRPr lang="en-AU" sz="4400">
              <a:effectLst/>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7E56CFA-4336-34ED-41DB-5FCD2734CFB4}"/>
              </a:ext>
            </a:extLst>
          </p:cNvPr>
          <p:cNvSpPr txBox="1"/>
          <p:nvPr/>
        </p:nvSpPr>
        <p:spPr>
          <a:xfrm>
            <a:off x="7582958" y="1381031"/>
            <a:ext cx="4328363" cy="982513"/>
          </a:xfrm>
          <a:prstGeom prst="rect">
            <a:avLst/>
          </a:prstGeom>
          <a:noFill/>
        </p:spPr>
        <p:txBody>
          <a:bodyPr wrap="square">
            <a:spAutoFit/>
          </a:bodyPr>
          <a:lstStyle/>
          <a:p>
            <a:pPr lvl="0" algn="ctr">
              <a:lnSpc>
                <a:spcPct val="150000"/>
              </a:lnSpc>
              <a:spcBef>
                <a:spcPts val="1200"/>
              </a:spcBef>
              <a:spcAft>
                <a:spcPts val="600"/>
              </a:spcAft>
            </a:pPr>
            <a:r>
              <a:rPr lang="en-AU" sz="4400">
                <a:effectLst/>
                <a:ea typeface="Calibri" panose="020F0502020204030204" pitchFamily="34" charset="0"/>
                <a:cs typeface="Times New Roman" panose="02020603050405020304" pitchFamily="18" charset="0"/>
              </a:rPr>
              <a:t>20</a:t>
            </a:r>
          </a:p>
        </p:txBody>
      </p:sp>
      <p:sp>
        <p:nvSpPr>
          <p:cNvPr id="2" name="Slide Number Placeholder 1">
            <a:extLst>
              <a:ext uri="{FF2B5EF4-FFF2-40B4-BE49-F238E27FC236}">
                <a16:creationId xmlns:a16="http://schemas.microsoft.com/office/drawing/2014/main" id="{C30C7151-08AF-4C55-EF81-7FA301A5FEA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3629752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20 February 2026) and was not modified.</a:t>
            </a:r>
          </a:p>
          <a:p>
            <a:r>
              <a:rPr lang="en-AU"/>
              <a:t>Department of Education and Training (2009) </a:t>
            </a:r>
            <a:r>
              <a:rPr lang="en-AU" u="sng">
                <a:hlinkClick r:id="rId9"/>
              </a:rPr>
              <a:t>‘Funny Numbers’</a:t>
            </a:r>
            <a:r>
              <a:rPr lang="en-AU"/>
              <a:t>, </a:t>
            </a:r>
            <a:r>
              <a:rPr lang="en-AU" i="1"/>
              <a:t>Mathematics Developmental Continuum P-10</a:t>
            </a:r>
            <a:r>
              <a:rPr lang="en-AU"/>
              <a:t>, Victoria State Government, accessed 20 February 2026. </a:t>
            </a:r>
          </a:p>
          <a:p>
            <a:r>
              <a:rPr lang="en-AU"/>
              <a:t>New Zealand Ministry of Education (n.d.) ‘</a:t>
            </a:r>
            <a:r>
              <a:rPr lang="en-AU" u="sng">
                <a:hlinkClick r:id="rId10"/>
              </a:rPr>
              <a:t>Place the Digits’</a:t>
            </a:r>
            <a:r>
              <a:rPr lang="en-AU"/>
              <a:t>, </a:t>
            </a:r>
            <a:r>
              <a:rPr lang="en-AU" i="1"/>
              <a:t>Mathematics and Statistics Resources</a:t>
            </a:r>
            <a:r>
              <a:rPr lang="en-AU"/>
              <a:t>, </a:t>
            </a:r>
            <a:r>
              <a:rPr lang="en-AU" err="1"/>
              <a:t>Tāhūrangi</a:t>
            </a:r>
            <a:r>
              <a:rPr lang="en-AU"/>
              <a:t> - New Zealand Curriculum website, accessed 20 February 2026.</a:t>
            </a:r>
          </a:p>
          <a:p>
            <a:r>
              <a:rPr lang="en-AU"/>
              <a:t>State of New South Wales (Department of Education) (2022) </a:t>
            </a:r>
            <a:r>
              <a:rPr lang="en-AU" i="1" u="sng">
                <a:hlinkClick r:id="rId7"/>
              </a:rPr>
              <a:t>Stage 2 – mass</a:t>
            </a:r>
            <a:r>
              <a:rPr lang="en-AU"/>
              <a:t>, NSW Department of Education website, accessed 20 February 2026. </a:t>
            </a:r>
          </a:p>
          <a:p>
            <a:r>
              <a:rPr lang="en-AU"/>
              <a:t>——(2022) ‘</a:t>
            </a:r>
            <a:r>
              <a:rPr lang="en-AU" u="sng">
                <a:hlinkClick r:id="rId11"/>
              </a:rPr>
              <a:t>Activity 4 – "Mass-</a:t>
            </a:r>
            <a:r>
              <a:rPr lang="en-AU" u="sng" err="1">
                <a:hlinkClick r:id="rId11"/>
              </a:rPr>
              <a:t>ive</a:t>
            </a:r>
            <a:r>
              <a:rPr lang="en-AU" u="sng">
                <a:hlinkClick r:id="rId11"/>
              </a:rPr>
              <a:t>" Model</a:t>
            </a:r>
            <a:r>
              <a:rPr lang="en-AU"/>
              <a:t>’, </a:t>
            </a:r>
            <a:r>
              <a:rPr lang="en-AU" i="1"/>
              <a:t>Stage 2 – mass</a:t>
            </a:r>
            <a:r>
              <a:rPr lang="en-AU"/>
              <a:t>, NSW Department of Education website, accessed 20 February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355C82-A371-4304-A874-A27EE666263C}"/>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6728</Words>
  <Application>Microsoft Office PowerPoint</Application>
  <PresentationFormat>Widescreen</PresentationFormat>
  <Paragraphs>877</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Wingdings</vt:lpstr>
      <vt:lpstr>Montserrat</vt:lpstr>
      <vt:lpstr>Public Sans Light</vt:lpstr>
      <vt:lpstr>Arial</vt:lpstr>
      <vt:lpstr>Times New Roman</vt:lpstr>
      <vt:lpstr>Edu NSW ACT Foundation</vt:lpstr>
      <vt:lpstr>Roboto</vt:lpstr>
      <vt:lpstr>Cambria Math</vt:lpstr>
      <vt:lpstr>Calibri</vt:lpstr>
      <vt:lpstr>Public Sans</vt:lpstr>
      <vt:lpstr>NSWG Corporate</vt:lpstr>
      <vt:lpstr>Instructions for use</vt:lpstr>
      <vt:lpstr>Review of Learning</vt:lpstr>
      <vt:lpstr>Lessons</vt:lpstr>
      <vt:lpstr>Review of learning 1</vt:lpstr>
      <vt:lpstr>Multiple choice (1)</vt:lpstr>
      <vt:lpstr>Short response (5)</vt:lpstr>
      <vt:lpstr>Short response (2)</vt:lpstr>
      <vt:lpstr>Short response (3)</vt:lpstr>
      <vt:lpstr>Short response (4)</vt:lpstr>
      <vt:lpstr>Activity 1 – making decimal numbers</vt:lpstr>
      <vt:lpstr>Review of learning 2</vt:lpstr>
      <vt:lpstr>True or false (1)</vt:lpstr>
      <vt:lpstr>Short response (5)</vt:lpstr>
      <vt:lpstr>Short response (6)</vt:lpstr>
      <vt:lpstr>Short response (7)</vt:lpstr>
      <vt:lpstr>Short response (8)</vt:lpstr>
      <vt:lpstr>Activity 2 – making decimal numbers using tenths and hundredths</vt:lpstr>
      <vt:lpstr>Review of learning 3</vt:lpstr>
      <vt:lpstr>Multiple choice (2)</vt:lpstr>
      <vt:lpstr>Short response (9)</vt:lpstr>
      <vt:lpstr>Short response (10)</vt:lpstr>
      <vt:lpstr>Short response (11)</vt:lpstr>
      <vt:lpstr>Short response (12)</vt:lpstr>
      <vt:lpstr>Activity 3 – tenths and hundredths on a number line</vt:lpstr>
      <vt:lpstr>Review of learning 4</vt:lpstr>
      <vt:lpstr>True or false (2)</vt:lpstr>
      <vt:lpstr>Short response (13)</vt:lpstr>
      <vt:lpstr>Short response (14)</vt:lpstr>
      <vt:lpstr>Short response (15)</vt:lpstr>
      <vt:lpstr>Short response (16)</vt:lpstr>
      <vt:lpstr>Activity 4 – the role of zero in decimal notation</vt:lpstr>
      <vt:lpstr>Review of learning 5</vt:lpstr>
      <vt:lpstr>Multiple choice (3)</vt:lpstr>
      <vt:lpstr>Short response (17)</vt:lpstr>
      <vt:lpstr>Short response (18)</vt:lpstr>
      <vt:lpstr>Short response (19)</vt:lpstr>
      <vt:lpstr>Short response (20)</vt:lpstr>
      <vt:lpstr>Activity 5 – fact families using arrays</vt:lpstr>
      <vt:lpstr>Review of learning 6</vt:lpstr>
      <vt:lpstr>True or false (3)</vt:lpstr>
      <vt:lpstr>Short response (21)</vt:lpstr>
      <vt:lpstr>Short response (22)</vt:lpstr>
      <vt:lpstr>Short response (23)</vt:lpstr>
      <vt:lpstr>Short response (24)</vt:lpstr>
      <vt:lpstr>Activity 6 – multiplication and division using fact families</vt:lpstr>
      <vt:lpstr>Review of learning 7</vt:lpstr>
      <vt:lpstr>Multiple choice (4)</vt:lpstr>
      <vt:lpstr>Short response (25)</vt:lpstr>
      <vt:lpstr>Short response (26)</vt:lpstr>
      <vt:lpstr>Short response (27)</vt:lpstr>
      <vt:lpstr>Short response (28)</vt:lpstr>
      <vt:lpstr>Activity 7 – solving problems with fact families</vt:lpstr>
      <vt:lpstr>Review of learning 8</vt:lpstr>
      <vt:lpstr>True or false (4)</vt:lpstr>
      <vt:lpstr>Short response (29)</vt:lpstr>
      <vt:lpstr>Short response (30)</vt:lpstr>
      <vt:lpstr>Short response (31)</vt:lpstr>
      <vt:lpstr>Short response (32)</vt:lpstr>
      <vt:lpstr>Activity 8 – generating fact families (1)</vt:lpstr>
      <vt:lpstr>Activity 8 – generating fact families (2)</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3</cp:revision>
  <dcterms:created xsi:type="dcterms:W3CDTF">2025-10-28T21:34:25Z</dcterms:created>
  <dcterms:modified xsi:type="dcterms:W3CDTF">2026-06-21T22:49:46Z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