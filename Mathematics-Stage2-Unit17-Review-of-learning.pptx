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82" r:id="rId9"/>
    <p:sldId id="26523" r:id="rId10"/>
    <p:sldId id="26524" r:id="rId11"/>
    <p:sldId id="26525" r:id="rId12"/>
    <p:sldId id="26583" r:id="rId13"/>
    <p:sldId id="26575" r:id="rId14"/>
    <p:sldId id="26512" r:id="rId15"/>
    <p:sldId id="26509" r:id="rId16"/>
    <p:sldId id="26508" r:id="rId17"/>
    <p:sldId id="26529" r:id="rId18"/>
    <p:sldId id="26530" r:id="rId19"/>
    <p:sldId id="26531" r:id="rId20"/>
    <p:sldId id="26576" r:id="rId21"/>
    <p:sldId id="26513" r:id="rId22"/>
    <p:sldId id="26534" r:id="rId23"/>
    <p:sldId id="26535" r:id="rId24"/>
    <p:sldId id="26528" r:id="rId25"/>
    <p:sldId id="26537" r:id="rId26"/>
    <p:sldId id="26536" r:id="rId27"/>
    <p:sldId id="26577" r:id="rId28"/>
    <p:sldId id="26514" r:id="rId29"/>
    <p:sldId id="26539" r:id="rId30"/>
    <p:sldId id="26540" r:id="rId31"/>
    <p:sldId id="26541" r:id="rId32"/>
    <p:sldId id="26542" r:id="rId33"/>
    <p:sldId id="26543" r:id="rId34"/>
    <p:sldId id="26410" r:id="rId35"/>
    <p:sldId id="26515" r:id="rId36"/>
    <p:sldId id="26507" r:id="rId37"/>
    <p:sldId id="26553" r:id="rId38"/>
    <p:sldId id="26547" r:id="rId39"/>
    <p:sldId id="26548" r:id="rId40"/>
    <p:sldId id="26549" r:id="rId41"/>
    <p:sldId id="26578" r:id="rId42"/>
    <p:sldId id="26516" r:id="rId43"/>
    <p:sldId id="26564" r:id="rId44"/>
    <p:sldId id="26560" r:id="rId45"/>
    <p:sldId id="26554" r:id="rId46"/>
    <p:sldId id="26555" r:id="rId47"/>
    <p:sldId id="26556" r:id="rId48"/>
    <p:sldId id="26584" r:id="rId49"/>
    <p:sldId id="26517" r:id="rId50"/>
    <p:sldId id="26574" r:id="rId51"/>
    <p:sldId id="26546" r:id="rId52"/>
    <p:sldId id="26561" r:id="rId53"/>
    <p:sldId id="26562" r:id="rId54"/>
    <p:sldId id="26563" r:id="rId55"/>
    <p:sldId id="26580" r:id="rId56"/>
    <p:sldId id="26518" r:id="rId57"/>
    <p:sldId id="26550" r:id="rId58"/>
    <p:sldId id="26565" r:id="rId59"/>
    <p:sldId id="26567" r:id="rId60"/>
    <p:sldId id="26566" r:id="rId61"/>
    <p:sldId id="26568" r:id="rId62"/>
    <p:sldId id="26585"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82"/>
            <p14:sldId id="26523"/>
            <p14:sldId id="26524"/>
            <p14:sldId id="26525"/>
            <p14:sldId id="26583"/>
            <p14:sldId id="26575"/>
            <p14:sldId id="26512"/>
            <p14:sldId id="26509"/>
            <p14:sldId id="26508"/>
            <p14:sldId id="26529"/>
            <p14:sldId id="26530"/>
            <p14:sldId id="26531"/>
            <p14:sldId id="26576"/>
            <p14:sldId id="26513"/>
            <p14:sldId id="26534"/>
            <p14:sldId id="26535"/>
            <p14:sldId id="26528"/>
            <p14:sldId id="26537"/>
            <p14:sldId id="26536"/>
            <p14:sldId id="26577"/>
            <p14:sldId id="26514"/>
            <p14:sldId id="26539"/>
            <p14:sldId id="26540"/>
            <p14:sldId id="26541"/>
            <p14:sldId id="26542"/>
            <p14:sldId id="26543"/>
            <p14:sldId id="26410"/>
            <p14:sldId id="26515"/>
            <p14:sldId id="26507"/>
            <p14:sldId id="26553"/>
            <p14:sldId id="26547"/>
            <p14:sldId id="26548"/>
            <p14:sldId id="26549"/>
            <p14:sldId id="26578"/>
            <p14:sldId id="26516"/>
            <p14:sldId id="26564"/>
            <p14:sldId id="26560"/>
            <p14:sldId id="26554"/>
            <p14:sldId id="26555"/>
            <p14:sldId id="26556"/>
            <p14:sldId id="26584"/>
            <p14:sldId id="26517"/>
            <p14:sldId id="26574"/>
            <p14:sldId id="26546"/>
            <p14:sldId id="26561"/>
            <p14:sldId id="26562"/>
            <p14:sldId id="26563"/>
            <p14:sldId id="26580"/>
            <p14:sldId id="26518"/>
            <p14:sldId id="26550"/>
            <p14:sldId id="26565"/>
            <p14:sldId id="26567"/>
            <p14:sldId id="26566"/>
            <p14:sldId id="26568"/>
            <p14:sldId id="26585"/>
          </p14:sldIdLst>
        </p14:section>
        <p14:section name="Assest for teacher to create own reviews" id="{757D0ADC-A5F6-4BCD-83F5-C1F873CD70C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 userId="S::Natalie.Hawkins7@det.nsw.edu.au::91d64da8-8826-47c8-b06a-208beda74d22" providerId="AD"/>
  <p188:author id="{76652228-BA2A-8E0F-B69D-752F252CA8C9}" name="Carolyn Matthews" initials="CM" userId="S::Carolyn.Matthews2@det.nsw.edu.au::7f53049a-bf0f-477a-aa49-60e3a8d71d98" providerId="AD"/>
  <p188:author id="{5C30132E-288C-53FD-93C9-9EB835F45213}" name="Nichole Wood" initials="NW" userId="S::NICHOLE.DEMPSEY@det.nsw.edu.au::f4dd199f-85d5-4f2b-8bc1-8ba23649a9c2"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ED6684A-C670-1F56-1E53-1B296B435328}" name="Evelyn Plunkett" initials="EP" userId="S::EVELYN.LORENZ@det.nsw.edu.au::563cb6cc-61b5-4fff-a76a-5068b5b827d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17</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16</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15</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CA46A-A4F1-8ED8-D059-21FEB59BA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956C0-EBF4-F466-E830-B7F1C7C83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C26BE-45D6-3DCA-B826-95CA77AE134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9B6EA51C-ABB7-24C7-E1E4-8C7BAEA016B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2466447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C1FE-6E4E-3603-C117-678716F69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8E13A-8271-17D5-71C2-A24847088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7BBAF-D981-E92B-1196-49054892820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EC590F-2776-8245-025F-CCDFF91A8AD4}"/>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588911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1B2E-7F96-0657-8B38-53C1F7ECB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E7624-DB32-A8E9-F475-33CF21E8F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8265D-177E-4F73-166E-D994B06DE0F9}"/>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Groups to arrays</a:t>
            </a:r>
          </a:p>
          <a:p>
            <a:pPr>
              <a:lnSpc>
                <a:spcPct val="150000"/>
              </a:lnSpc>
              <a:spcBef>
                <a:spcPts val="1200"/>
              </a:spcBef>
              <a:spcAft>
                <a:spcPts val="600"/>
              </a:spcAft>
              <a:buNone/>
            </a:pPr>
            <a:endParaRPr lang="en-AU" sz="1800" b="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0">
                <a:effectLst/>
                <a:latin typeface="Arial" panose="020B0604020202020204" pitchFamily="34" charset="0"/>
                <a:ea typeface="Calibri" panose="020F0502020204030204" pitchFamily="34" charset="0"/>
              </a:rPr>
              <a:t>This activity is an adaptation of Loops and Groups from Math Learning </a:t>
            </a:r>
            <a:r>
              <a:rPr lang="en-AU" sz="1800" b="0" err="1">
                <a:effectLst/>
                <a:latin typeface="Arial" panose="020B0604020202020204" pitchFamily="34" charset="0"/>
                <a:ea typeface="Calibri" panose="020F0502020204030204" pitchFamily="34" charset="0"/>
              </a:rPr>
              <a:t>Center</a:t>
            </a:r>
            <a:r>
              <a:rPr lang="en-AU" sz="1800" b="0">
                <a:effectLst/>
                <a:latin typeface="Arial" panose="020B0604020202020204" pitchFamily="34" charset="0"/>
                <a:ea typeface="Calibri" panose="020F0502020204030204" pitchFamily="34" charset="0"/>
              </a:rPr>
              <a:t>.</a:t>
            </a:r>
          </a:p>
          <a:p>
            <a:pPr>
              <a:lnSpc>
                <a:spcPct val="150000"/>
              </a:lnSpc>
              <a:spcBef>
                <a:spcPts val="1200"/>
              </a:spcBef>
              <a:spcAft>
                <a:spcPts val="600"/>
              </a:spcAft>
              <a:buNone/>
            </a:pP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Explain that students will work with a partner to create and label arrays.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Provide pairs of students with a 6-sided die, counters and individual whiteboards.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Player 1 rolls the die and draws the resulting number of loops on their whiteboard. Player 1 rolls again and places that number of counters in each loop.</a:t>
            </a:r>
          </a:p>
          <a:p>
            <a:pPr>
              <a:lnSpc>
                <a:spcPct val="150000"/>
              </a:lnSpc>
              <a:spcBef>
                <a:spcPts val="1200"/>
              </a:spcBef>
              <a:spcAft>
                <a:spcPts val="600"/>
              </a:spcAft>
              <a:buNone/>
            </a:pPr>
            <a:r>
              <a:rPr lang="en-AU" sz="1800" b="1">
                <a:effectLst/>
                <a:latin typeface="Arial" panose="020B0604020202020204" pitchFamily="34" charset="0"/>
                <a:ea typeface="Calibri" panose="020F0502020204030204" pitchFamily="34" charset="0"/>
              </a:rPr>
              <a:t>Note</a:t>
            </a:r>
            <a:r>
              <a:rPr lang="en-AU" sz="1800" b="0">
                <a:effectLst/>
                <a:latin typeface="Arial" panose="020B0604020202020204" pitchFamily="34" charset="0"/>
                <a:ea typeface="Calibri" panose="020F0502020204030204" pitchFamily="34" charset="0"/>
              </a:rPr>
              <a:t>: when students are describing an array, encourage them to read an array like a book from left to right to determine how many in each row. For example, 5 rows (groups) of 3 becomes 5 threes with the ‘rows of’ or ‘groups of’ implied. This then leads to one three is 3, 2 threes are 6, 3 threes are nine, and so on.</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Player 1 rearranges the counters into an array and labels the array, for example 4 fives are 20</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Player 2 repeats the process.</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At the end of the round, the player with the highest product wins and scores a point. The player who scores the most points by the end of the game is the winner.</a:t>
            </a:r>
          </a:p>
          <a:p>
            <a:endParaRPr lang="en-AU" b="0"/>
          </a:p>
        </p:txBody>
      </p:sp>
      <p:sp>
        <p:nvSpPr>
          <p:cNvPr id="4" name="Slide Number Placeholder 3">
            <a:extLst>
              <a:ext uri="{FF2B5EF4-FFF2-40B4-BE49-F238E27FC236}">
                <a16:creationId xmlns:a16="http://schemas.microsoft.com/office/drawing/2014/main" id="{7F8F0907-6579-E3E8-D68A-AD688B387685}"/>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782262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Multiplicative Relations A</a:t>
            </a:r>
            <a:endParaRPr lang="en-AU"/>
          </a:p>
          <a:p>
            <a:pPr>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Position</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E881-E307-6178-FAA4-EF6B21D47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42CA6-E53F-AB24-772E-F11067775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DB9E2-A9AE-50D7-10F5-0910E9993E8A}"/>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Groups to arrays 2</a:t>
            </a:r>
          </a:p>
          <a:p>
            <a:pPr>
              <a:lnSpc>
                <a:spcPct val="150000"/>
              </a:lnSpc>
              <a:spcBef>
                <a:spcPts val="1200"/>
              </a:spcBef>
              <a:spcAft>
                <a:spcPts val="600"/>
              </a:spcAft>
              <a:buNone/>
            </a:pPr>
            <a:endParaRPr lang="en-AU" sz="1800" b="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0">
                <a:effectLst/>
                <a:latin typeface="Arial" panose="020B0604020202020204" pitchFamily="34" charset="0"/>
                <a:ea typeface="Calibri" panose="020F0502020204030204" pitchFamily="34" charset="0"/>
              </a:rPr>
              <a:t>This activity is an adaptation of Loops and Groups from Math Learning </a:t>
            </a:r>
            <a:r>
              <a:rPr lang="en-AU" sz="1800" b="0" err="1">
                <a:effectLst/>
                <a:latin typeface="Arial" panose="020B0604020202020204" pitchFamily="34" charset="0"/>
                <a:ea typeface="Calibri" panose="020F0502020204030204" pitchFamily="34" charset="0"/>
              </a:rPr>
              <a:t>Center</a:t>
            </a:r>
            <a:r>
              <a:rPr lang="en-AU" sz="1800" b="0">
                <a:effectLst/>
                <a:latin typeface="Arial" panose="020B0604020202020204" pitchFamily="34" charset="0"/>
                <a:ea typeface="Calibri" panose="020F0502020204030204" pitchFamily="34" charset="0"/>
              </a:rPr>
              <a:t>.</a:t>
            </a:r>
          </a:p>
          <a:p>
            <a:pPr>
              <a:lnSpc>
                <a:spcPct val="150000"/>
              </a:lnSpc>
              <a:spcBef>
                <a:spcPts val="1200"/>
              </a:spcBef>
              <a:spcAft>
                <a:spcPts val="600"/>
              </a:spcAft>
              <a:buNone/>
            </a:pPr>
            <a:endParaRPr lang="en-AU" sz="1800" b="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Explain that students will work with a partner to create and label arrays.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Provide pairs of students with a 6-sided die, counters and individual whiteboards.</a:t>
            </a:r>
          </a:p>
          <a:p>
            <a:pPr marL="342900" lvl="0" indent="-342900">
              <a:lnSpc>
                <a:spcPct val="150000"/>
              </a:lnSpc>
              <a:spcBef>
                <a:spcPts val="1200"/>
              </a:spcBef>
              <a:spcAft>
                <a:spcPts val="600"/>
              </a:spcAft>
              <a:buFont typeface="+mj-lt"/>
              <a:buAutoNum type="arabicPeriod"/>
            </a:pPr>
            <a:r>
              <a:rPr lang="en-AU" sz="1800" b="0">
                <a:effectLst/>
                <a:latin typeface="Arial" panose="020B0604020202020204" pitchFamily="34" charset="0"/>
                <a:ea typeface="Calibri" panose="020F0502020204030204" pitchFamily="34" charset="0"/>
              </a:rPr>
              <a:t>Player 1 rolls the die and draws the resulting number of loops on their whiteboard. Player 1 rolls again and places that number of counters in each loop.</a:t>
            </a:r>
          </a:p>
          <a:p>
            <a:pPr>
              <a:lnSpc>
                <a:spcPct val="150000"/>
              </a:lnSpc>
              <a:spcBef>
                <a:spcPts val="1200"/>
              </a:spcBef>
              <a:spcAft>
                <a:spcPts val="600"/>
              </a:spcAft>
              <a:buNone/>
            </a:pPr>
            <a:r>
              <a:rPr lang="en-AU" sz="1800" b="1">
                <a:effectLst/>
                <a:latin typeface="Arial" panose="020B0604020202020204" pitchFamily="34" charset="0"/>
                <a:ea typeface="Calibri" panose="020F0502020204030204" pitchFamily="34" charset="0"/>
              </a:rPr>
              <a:t>Note</a:t>
            </a:r>
            <a:r>
              <a:rPr lang="en-AU" sz="1800" b="0">
                <a:effectLst/>
                <a:latin typeface="Arial" panose="020B0604020202020204" pitchFamily="34" charset="0"/>
                <a:ea typeface="Calibri" panose="020F0502020204030204" pitchFamily="34" charset="0"/>
              </a:rPr>
              <a:t>: when students are describing an array, encourage them to read an array like a book from left to right to determine how many in each row. For example, 5 rows (groups) of 3 becomes 5 threes with the ‘rows of’ or ‘groups of’ implied. This then leads to one three is 3, 2 threes are 6, 3 threes are nine, and so on.</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Player 1 rearranges the counters into an array and labels the array, for example 4 fives are 20.</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Player 2 repeats the process.</a:t>
            </a:r>
          </a:p>
          <a:p>
            <a:pPr marL="342900" lvl="0" indent="-342900">
              <a:lnSpc>
                <a:spcPct val="150000"/>
              </a:lnSpc>
              <a:spcBef>
                <a:spcPts val="1200"/>
              </a:spcBef>
              <a:spcAft>
                <a:spcPts val="600"/>
              </a:spcAft>
              <a:buFont typeface="+mj-lt"/>
              <a:buAutoNum type="arabicPeriod" startAt="4"/>
            </a:pPr>
            <a:r>
              <a:rPr lang="en-AU" sz="1800" b="0">
                <a:effectLst/>
                <a:latin typeface="Arial" panose="020B0604020202020204" pitchFamily="34" charset="0"/>
                <a:ea typeface="Calibri" panose="020F0502020204030204" pitchFamily="34" charset="0"/>
              </a:rPr>
              <a:t>At the end of the round, the player with the highest product wins and scores a point. The player who scores the most points by the end of the game is the winner.</a:t>
            </a:r>
          </a:p>
          <a:p>
            <a:endParaRPr lang="en-AU" b="0"/>
          </a:p>
        </p:txBody>
      </p:sp>
      <p:sp>
        <p:nvSpPr>
          <p:cNvPr id="4" name="Slide Number Placeholder 3">
            <a:extLst>
              <a:ext uri="{FF2B5EF4-FFF2-40B4-BE49-F238E27FC236}">
                <a16:creationId xmlns:a16="http://schemas.microsoft.com/office/drawing/2014/main" id="{8471FD4D-4893-0D6E-FEC4-23F8C3B907AF}"/>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71660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Two-dimensional spatial structure A: 2D Shapes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89E2-9D38-99F9-95CE-E5605216A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C489E-A72F-EEB1-DA60-8510EEDEF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3A292-58C7-9CFE-16DD-38B32DC962D1}"/>
              </a:ext>
            </a:extLst>
          </p:cNvPr>
          <p:cNvSpPr>
            <a:spLocks noGrp="1"/>
          </p:cNvSpPr>
          <p:nvPr>
            <p:ph type="body" idx="1"/>
          </p:nvPr>
        </p:nvSpPr>
        <p:spPr/>
        <p:txBody>
          <a:bodyPr/>
          <a:lstStyle/>
          <a:p>
            <a:pPr>
              <a:lnSpc>
                <a:spcPct val="150000"/>
              </a:lnSpc>
              <a:spcBef>
                <a:spcPts val="1200"/>
              </a:spcBef>
              <a:spcAft>
                <a:spcPts val="600"/>
              </a:spcAft>
              <a:defRPr/>
            </a:pPr>
            <a:r>
              <a:rPr lang="en-AU" sz="1800"/>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t>Syllabus focus area:</a:t>
            </a:r>
            <a:endParaRPr lang="en-US" sz="1800">
              <a:solidFill>
                <a:srgbClr val="444444"/>
              </a:solidFill>
            </a:endParaRPr>
          </a:p>
          <a:p>
            <a:r>
              <a:rPr lang="en-AU" sz="1800"/>
              <a:t>Multiplicative relations A</a:t>
            </a:r>
          </a:p>
          <a:p>
            <a:endParaRPr lang="en-AU" sz="1800"/>
          </a:p>
          <a:p>
            <a:r>
              <a:rPr lang="en-AU" sz="1800" b="1"/>
              <a:t>Array bingo</a:t>
            </a:r>
          </a:p>
          <a:p>
            <a:endParaRPr lang="en-AU" sz="1800"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t>This resource corresponds to </a:t>
            </a:r>
            <a:r>
              <a:rPr lang="en-AU" sz="1800" b="1"/>
              <a:t>Resource 28 – array bingo cards </a:t>
            </a:r>
            <a:r>
              <a:rPr lang="en-AU" sz="1800" b="0"/>
              <a:t>and</a:t>
            </a:r>
            <a:r>
              <a:rPr lang="en-AU" sz="1800" b="1"/>
              <a:t> Resource 29 – array descriptor cards </a:t>
            </a:r>
            <a:r>
              <a:rPr lang="en-AU" sz="1800"/>
              <a:t>in Stage 2 Year A Unit 17.</a:t>
            </a:r>
          </a:p>
          <a:p>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rPr>
              <a:t>This activity is an adaptation of Array bingo from Mathematics K–6 resources by State of New South Wales (Department of Education).</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Provide pairs of students with Resource 28 – array bingo cards and Resource 29 – array descriptor cards (these resources correspond to Resource 28 – array bingo cards and Resource 29 – array descriptor cards in Stage 2, Year A Unit 17).</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Each player creates a gameboard by selecting 6 dotted array cards, setting aside any remaining array cards.</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Students place the descriptor cards in a pile facing down.</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Players take turns to pick up a descriptor card and check if they have the matching array card. If they do, they can turn the array card face down. If both players have the matching array card, they can both turn their matching array card face down.</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Students can use the commutative property to rotate and rename the arrays. For example, 3 twos can be rotated to show 2 threes.</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If neither player has the matching array card, turn over the next descriptor card in the pile.</a:t>
            </a: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The winner is the first player to turn all their array cards face down and say ‘Bingo!’</a:t>
            </a:r>
          </a:p>
          <a:p>
            <a:endParaRPr lang="en-AU"/>
          </a:p>
        </p:txBody>
      </p:sp>
      <p:sp>
        <p:nvSpPr>
          <p:cNvPr id="4" name="Slide Number Placeholder 3">
            <a:extLst>
              <a:ext uri="{FF2B5EF4-FFF2-40B4-BE49-F238E27FC236}">
                <a16:creationId xmlns:a16="http://schemas.microsoft.com/office/drawing/2014/main" id="{8D932190-B445-E127-3096-B36E05E92B2A}"/>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165105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Two-dimensional spatial structure A: Area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 Additive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3DS Objects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p>
          <a:p>
            <a:pPr>
              <a:defRPr/>
            </a:pPr>
            <a:r>
              <a:rPr lang="en-AU" sz="1800" b="0">
                <a:solidFill>
                  <a:srgbClr val="000000"/>
                </a:solidFill>
              </a:rPr>
              <a:t>Multiplicative Relations A</a:t>
            </a:r>
          </a:p>
          <a:p>
            <a:pPr>
              <a:defRPr/>
            </a:pPr>
            <a:endParaRPr lang="en-AU" sz="1800" b="0">
              <a:solidFill>
                <a:srgbClr val="000000"/>
              </a:solidFill>
              <a:effectLst/>
              <a:latin typeface="Arial" panose="020B0604020202020204" pitchFamily="34" charset="0"/>
              <a:ea typeface="Calibri" panose="020F0502020204030204" pitchFamily="34" charset="0"/>
            </a:endParaRPr>
          </a:p>
          <a:p>
            <a:pPr>
              <a:defRPr/>
            </a:pPr>
            <a:r>
              <a:rPr lang="en-AU" sz="1800" b="1">
                <a:solidFill>
                  <a:srgbClr val="000000"/>
                </a:solidFill>
                <a:effectLst/>
                <a:latin typeface="Arial" panose="020B0604020202020204" pitchFamily="34" charset="0"/>
                <a:ea typeface="Calibri" panose="020F0502020204030204" pitchFamily="34" charset="0"/>
              </a:rPr>
              <a:t>What comes next?</a:t>
            </a:r>
          </a:p>
          <a:p>
            <a:pPr>
              <a:defRPr/>
            </a:pPr>
            <a:endParaRPr lang="en-AU" sz="1800" b="1">
              <a:solidFill>
                <a:srgbClr val="000000"/>
              </a:solidFill>
              <a:effectLst/>
              <a:latin typeface="Arial" panose="020B0604020202020204" pitchFamily="34" charset="0"/>
              <a:ea typeface="Calibri" panose="020F0502020204030204" pitchFamily="34" charset="0"/>
            </a:endParaRPr>
          </a:p>
          <a:p>
            <a:pPr>
              <a:defRPr/>
            </a:pPr>
            <a:r>
              <a:rPr lang="en-AU" sz="1800"/>
              <a:t>This resource corresponds to </a:t>
            </a:r>
            <a:r>
              <a:rPr lang="en-AU" sz="1800" b="1"/>
              <a:t>Resource 30 – What comes next? </a:t>
            </a:r>
            <a:r>
              <a:rPr lang="en-AU" sz="1800"/>
              <a:t>in Stage 2 Year A Unit 17</a:t>
            </a:r>
            <a:endParaRPr lang="en-AU" sz="1800" b="1">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rPr>
              <a:t>This activity is an adaptation of What comes next? Fruit Stand from Math Learning </a:t>
            </a:r>
            <a:r>
              <a:rPr lang="en-AU" sz="1800" err="1">
                <a:effectLst/>
                <a:latin typeface="Arial" panose="020B0604020202020204" pitchFamily="34" charset="0"/>
                <a:ea typeface="Calibri" panose="020F0502020204030204" pitchFamily="34" charset="0"/>
              </a:rPr>
              <a:t>Center</a:t>
            </a:r>
            <a:r>
              <a:rPr lang="en-AU" sz="1800">
                <a:effectLst/>
                <a:latin typeface="Arial" panose="020B0604020202020204" pitchFamily="34" charset="0"/>
                <a:ea typeface="Calibri" panose="020F0502020204030204" pitchFamily="34" charset="0"/>
              </a:rPr>
              <a:t>.</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u="none" strike="noStrike">
                <a:effectLst/>
                <a:latin typeface="Arial" panose="020B0604020202020204" pitchFamily="34" charset="0"/>
                <a:ea typeface="Calibri" panose="020F0502020204030204" pitchFamily="34" charset="0"/>
              </a:rPr>
              <a:t>Display Resource 30 – What comes next? (this resource corresponds to Resource 30 – What comes next? in Stage 2, Year A Unit 17). </a:t>
            </a:r>
            <a:r>
              <a:rPr lang="en-AU" sz="1800" b="0" u="none" strike="noStrike">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do you notice? What do you wonder?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would you describe this pattern? </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comes next? How do you know? </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Will there be a picture with 40 apples? How do you know?</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might earlier pictures look like? How do you know?</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show what the fruit pattern would look like if recording multiples of fives or tens, on an individual whiteboard. </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Provide pairs of students with a 6-sided die, counters and individual whiteboards.</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share their pattern with a partner and ask:</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comes next? How do you know?</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would you describe this pattern to someone?</a:t>
            </a:r>
          </a:p>
          <a:p>
            <a:pPr marL="0" lvl="0" indent="0">
              <a:lnSpc>
                <a:spcPct val="150000"/>
              </a:lnSpc>
              <a:spcBef>
                <a:spcPts val="1200"/>
              </a:spcBef>
              <a:spcAft>
                <a:spcPts val="600"/>
              </a:spcAft>
              <a:buFont typeface="+mj-lt"/>
              <a:buNone/>
            </a:pP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4168434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b="0" i="0">
              <a:solidFill>
                <a:schemeClr val="tx1"/>
              </a:solidFill>
              <a:latin typeface="Arial" panose="020B0604020202020204" pitchFamily="34" charset="0"/>
              <a:cs typeface="Arial" panose="020B0604020202020204" pitchFamily="34" charset="0"/>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 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DACF3-6930-FC4C-2B7C-2F5012254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3B6FF-87D2-375C-BE86-7C45B85F7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ACD95-00E9-2D46-783B-FBEF997C5500}"/>
              </a:ext>
            </a:extLst>
          </p:cNvPr>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a:t>
            </a:r>
            <a:endParaRPr lang="en-US" sz="1800" b="1">
              <a:solidFill>
                <a:srgbClr val="444444"/>
              </a:solidFill>
              <a:latin typeface="Arial"/>
              <a:cs typeface="Arial"/>
            </a:endParaRPr>
          </a:p>
          <a:p>
            <a:r>
              <a:rPr lang="en-AU" sz="1800" b="0">
                <a:solidFill>
                  <a:srgbClr val="444444"/>
                </a:solidFill>
                <a:latin typeface="Arial"/>
                <a:cs typeface="Arial"/>
              </a:rPr>
              <a:t>Representing numbers using place value B</a:t>
            </a:r>
          </a:p>
          <a:p>
            <a:endParaRPr lang="en-AU" sz="1800" b="0">
              <a:solidFill>
                <a:srgbClr val="444444"/>
              </a:solidFill>
              <a:latin typeface="Arial"/>
              <a:cs typeface="Arial"/>
            </a:endParaRPr>
          </a:p>
          <a:p>
            <a:r>
              <a:rPr lang="en-AU" sz="1800" b="1">
                <a:solidFill>
                  <a:srgbClr val="444444"/>
                </a:solidFill>
                <a:latin typeface="Arial"/>
                <a:cs typeface="Arial"/>
              </a:rPr>
              <a:t>Ascending and descending order</a:t>
            </a:r>
          </a:p>
          <a:p>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Display a set of 4-digit numbers.</a:t>
            </a:r>
          </a:p>
          <a:p>
            <a:pPr marL="342900" lvl="0" indent="-342900">
              <a:lnSpc>
                <a:spcPct val="150000"/>
              </a:lnSpc>
              <a:spcBef>
                <a:spcPts val="1200"/>
              </a:spcBef>
              <a:spcAft>
                <a:spcPts val="600"/>
              </a:spcAft>
              <a:buFont typeface="+mj-lt"/>
              <a:buAutoNum type="arabicPeriod"/>
              <a:tabLst>
                <a:tab pos="228600" algn="l"/>
              </a:tabLst>
            </a:pPr>
            <a:r>
              <a:rPr lang="en-AU" sz="1800" b="0">
                <a:effectLst/>
                <a:latin typeface="Arial" panose="020B0604020202020204" pitchFamily="34" charset="0"/>
                <a:ea typeface="Calibri" panose="020F0502020204030204" pitchFamily="34" charset="0"/>
              </a:rPr>
              <a:t>Model placing the set of 4-digit numbers into ascending and descending order.</a:t>
            </a:r>
          </a:p>
          <a:p>
            <a:pPr marL="342900" lvl="0" indent="-342900">
              <a:lnSpc>
                <a:spcPct val="150000"/>
              </a:lnSpc>
              <a:spcBef>
                <a:spcPts val="1200"/>
              </a:spcBef>
              <a:spcAft>
                <a:spcPts val="600"/>
              </a:spcAft>
              <a:buFont typeface="+mj-lt"/>
              <a:buAutoNum type="arabicPeriod"/>
              <a:tabLst>
                <a:tab pos="228600" algn="l"/>
              </a:tabLst>
            </a:pPr>
            <a:r>
              <a:rPr lang="en-AU" sz="1800" b="0">
                <a:effectLst/>
                <a:latin typeface="Arial" panose="020B0604020202020204" pitchFamily="34" charset="0"/>
                <a:ea typeface="Calibri" panose="020F0502020204030204" pitchFamily="34" charset="0"/>
              </a:rPr>
              <a:t>Ask: How did you determine which number to place first/last when organising in ascending/descending order?</a:t>
            </a:r>
          </a:p>
          <a:p>
            <a:pPr marL="342900" lvl="0" indent="-342900">
              <a:lnSpc>
                <a:spcPct val="150000"/>
              </a:lnSpc>
              <a:spcBef>
                <a:spcPts val="1200"/>
              </a:spcBef>
              <a:spcAft>
                <a:spcPts val="600"/>
              </a:spcAft>
              <a:buFont typeface="+mj-lt"/>
              <a:buAutoNum type="arabicPeriod"/>
              <a:tabLst>
                <a:tab pos="228600" algn="l"/>
              </a:tabLst>
            </a:pPr>
            <a:r>
              <a:rPr lang="en-AU" sz="1800" b="0">
                <a:effectLst/>
                <a:latin typeface="Arial" panose="020B0604020202020204" pitchFamily="34" charset="0"/>
                <a:ea typeface="Calibri" panose="020F0502020204030204" pitchFamily="34" charset="0"/>
              </a:rPr>
              <a:t>In small groups, students </a:t>
            </a:r>
            <a:r>
              <a:rPr lang="en-AU" sz="1800">
                <a:effectLst/>
                <a:latin typeface="Arial" panose="020B0604020202020204" pitchFamily="34" charset="0"/>
                <a:ea typeface="Calibri" panose="020F0502020204030204" pitchFamily="34" charset="0"/>
              </a:rPr>
              <a:t>take turns to roll a 9-sided dice 4 times to create a 4-digit number. Students read the number aloud and record on a sticky note.</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Roll the dice again and repeat the process. Arrange the 2 numbers made so far in ascending order.</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Repeat 3 or 4 more times, arranging the numbers in ascending order.</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read the list of numbers aloud starting from the smallest.</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Repeat the process with new numbers, this time arranging in descending order.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 a class, discuss how to order one set of pre-prepared numbers that include internal zeros. For example, 2030, 2300, 2506 and 2650.</a:t>
            </a:r>
          </a:p>
          <a:p>
            <a:endParaRPr lang="en-AU"/>
          </a:p>
        </p:txBody>
      </p:sp>
      <p:sp>
        <p:nvSpPr>
          <p:cNvPr id="4" name="Slide Number Placeholder 3">
            <a:extLst>
              <a:ext uri="{FF2B5EF4-FFF2-40B4-BE49-F238E27FC236}">
                <a16:creationId xmlns:a16="http://schemas.microsoft.com/office/drawing/2014/main" id="{A116C9F2-65EC-8966-E60F-E0CFD91CB938}"/>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91708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kern="1200">
                <a:solidFill>
                  <a:schemeClr val="tx1"/>
                </a:solidFill>
                <a:effectLst/>
                <a:latin typeface="Arial" panose="020B0604020202020204" pitchFamily="34" charset="0"/>
                <a:ea typeface="+mn-ea"/>
                <a:cs typeface="Arial" panose="020B0604020202020204" pitchFamily="34" charset="0"/>
              </a:rPr>
              <a:t>Partitioned fractions B: Model equivalent fractions as lengths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 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3C752-0C04-E78E-B911-D93A8EF7A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1102B-0D18-0377-C90A-5C1A5B5B1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C5F20-9978-53AD-57EF-B94C723AB483}"/>
              </a:ext>
            </a:extLst>
          </p:cNvPr>
          <p:cNvSpPr>
            <a:spLocks noGrp="1"/>
          </p:cNvSpPr>
          <p:nvPr>
            <p:ph type="body" idx="1"/>
          </p:nvPr>
        </p:nvSpPr>
        <p:spPr/>
        <p:txBody>
          <a:bodyPr/>
          <a:lstStyle/>
          <a:p>
            <a:pPr>
              <a:lnSpc>
                <a:spcPct val="150000"/>
              </a:lnSpc>
              <a:spcBef>
                <a:spcPts val="1200"/>
              </a:spcBef>
              <a:spcAft>
                <a:spcPts val="600"/>
              </a:spcAft>
            </a:pPr>
            <a:r>
              <a:rPr lang="en-AU" sz="1100">
                <a:solidFill>
                  <a:srgbClr val="000000"/>
                </a:solidFill>
                <a:latin typeface="Arial"/>
                <a:cs typeface="Arial"/>
              </a:rPr>
              <a:t>This is a developing number sense activity. </a:t>
            </a:r>
            <a:endParaRPr lang="en-US" sz="1100">
              <a:solidFill>
                <a:srgbClr val="444444"/>
              </a:solidFill>
              <a:latin typeface="Arial"/>
              <a:cs typeface="Arial"/>
            </a:endParaRPr>
          </a:p>
          <a:p>
            <a:pPr>
              <a:lnSpc>
                <a:spcPct val="150000"/>
              </a:lnSpc>
              <a:spcBef>
                <a:spcPts val="1200"/>
              </a:spcBef>
              <a:spcAft>
                <a:spcPts val="600"/>
              </a:spcAft>
            </a:pPr>
            <a:endParaRPr lang="en-AU" sz="1100">
              <a:solidFill>
                <a:srgbClr val="444444"/>
              </a:solidFill>
            </a:endParaRPr>
          </a:p>
          <a:p>
            <a:pPr>
              <a:lnSpc>
                <a:spcPct val="150000"/>
              </a:lnSpc>
              <a:spcBef>
                <a:spcPts val="1200"/>
              </a:spcBef>
              <a:spcAft>
                <a:spcPts val="600"/>
              </a:spcAft>
            </a:pPr>
            <a:r>
              <a:rPr lang="en-AU" sz="11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100">
              <a:solidFill>
                <a:srgbClr val="444444"/>
              </a:solidFill>
              <a:latin typeface="Arial"/>
              <a:cs typeface="Arial"/>
            </a:endParaRPr>
          </a:p>
          <a:p>
            <a:pPr>
              <a:lnSpc>
                <a:spcPts val="1913"/>
              </a:lnSpc>
            </a:pPr>
            <a:endParaRPr lang="en-AU" sz="1100">
              <a:solidFill>
                <a:srgbClr val="444444"/>
              </a:solidFill>
            </a:endParaRPr>
          </a:p>
          <a:p>
            <a:r>
              <a:rPr lang="en-AU" sz="1100" b="1">
                <a:solidFill>
                  <a:srgbClr val="000000"/>
                </a:solidFill>
                <a:latin typeface="Arial"/>
                <a:cs typeface="Arial"/>
              </a:rPr>
              <a:t>Syllabus focus area:</a:t>
            </a:r>
            <a:endParaRPr lang="en-US" sz="1100" b="1">
              <a:solidFill>
                <a:srgbClr val="444444"/>
              </a:solidFill>
              <a:latin typeface="Arial"/>
              <a:cs typeface="Arial"/>
            </a:endParaRPr>
          </a:p>
          <a:p>
            <a:r>
              <a:rPr lang="en-AU" sz="1100" b="0">
                <a:solidFill>
                  <a:srgbClr val="444444"/>
                </a:solidFill>
                <a:latin typeface="Arial"/>
                <a:cs typeface="Arial"/>
              </a:rPr>
              <a:t>Representing numbers using place value B</a:t>
            </a:r>
          </a:p>
          <a:p>
            <a:endParaRPr lang="en-AU" sz="1100" b="0">
              <a:solidFill>
                <a:srgbClr val="444444"/>
              </a:solidFill>
              <a:latin typeface="Arial"/>
              <a:cs typeface="Arial"/>
            </a:endParaRPr>
          </a:p>
          <a:p>
            <a:r>
              <a:rPr lang="en-AU" sz="1100" b="1">
                <a:solidFill>
                  <a:srgbClr val="444444"/>
                </a:solidFill>
                <a:latin typeface="Arial"/>
                <a:cs typeface="Arial"/>
              </a:rPr>
              <a:t>What’s the nearest?</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100">
              <a:effectLst/>
              <a:latin typeface="Arial" panose="020B0604020202020204" pitchFamily="34" charset="0"/>
              <a:ea typeface="Calibri" panose="020F0502020204030204" pitchFamily="34" charset="0"/>
            </a:endParaRPr>
          </a:p>
          <a:p>
            <a:pPr marL="228600" marR="0" lvl="0" indent="-228600" algn="l" defTabSz="1219170" rtl="0" eaLnBrk="1" fontAlgn="auto" latinLnBrk="0" hangingPunct="1">
              <a:lnSpc>
                <a:spcPct val="150000"/>
              </a:lnSpc>
              <a:spcBef>
                <a:spcPts val="1200"/>
              </a:spcBef>
              <a:spcAft>
                <a:spcPts val="600"/>
              </a:spcAft>
              <a:buClrTx/>
              <a:buSzTx/>
              <a:buFont typeface="+mj-lt"/>
              <a:buAutoNum type="arabicPeriod"/>
              <a:tabLst/>
              <a:defRPr/>
            </a:pPr>
            <a:r>
              <a:rPr lang="en-AU" sz="1100">
                <a:effectLst/>
                <a:latin typeface="Arial" panose="020B0604020202020204" pitchFamily="34" charset="0"/>
                <a:ea typeface="Calibri" panose="020F0502020204030204" pitchFamily="34" charset="0"/>
              </a:rPr>
              <a:t>Display a set of 4-digit numbers.</a:t>
            </a:r>
          </a:p>
          <a:p>
            <a:pPr marL="228600" lvl="0" indent="-228600">
              <a:lnSpc>
                <a:spcPct val="150000"/>
              </a:lnSpc>
              <a:spcBef>
                <a:spcPts val="1200"/>
              </a:spcBef>
              <a:spcAft>
                <a:spcPts val="600"/>
              </a:spcAft>
              <a:buFont typeface="+mj-lt"/>
              <a:buAutoNum type="arabicPeriod"/>
            </a:pPr>
            <a:r>
              <a:rPr lang="en-AU" sz="1100">
                <a:effectLst/>
                <a:latin typeface="Arial" panose="020B0604020202020204" pitchFamily="34" charset="0"/>
                <a:ea typeface="Calibri" panose="020F0502020204030204" pitchFamily="34" charset="0"/>
              </a:rPr>
              <a:t>Model identifying the nearest thousand in the displayed set of 4-digit numbers. Record the number rounded to the nearest thousand.</a:t>
            </a:r>
          </a:p>
          <a:p>
            <a:pPr marL="228600" lvl="0" indent="-228600">
              <a:lnSpc>
                <a:spcPct val="150000"/>
              </a:lnSpc>
              <a:spcBef>
                <a:spcPts val="1200"/>
              </a:spcBef>
              <a:spcAft>
                <a:spcPts val="600"/>
              </a:spcAft>
              <a:buFont typeface="+mj-lt"/>
              <a:buAutoNum type="arabicPeriod"/>
            </a:pPr>
            <a:r>
              <a:rPr lang="en-AU" sz="1100">
                <a:effectLst/>
                <a:latin typeface="Arial" panose="020B0604020202020204" pitchFamily="34" charset="0"/>
                <a:ea typeface="Calibri" panose="020F0502020204030204" pitchFamily="34" charset="0"/>
              </a:rPr>
              <a:t>Ask:</a:t>
            </a:r>
          </a:p>
          <a:p>
            <a:pPr marL="228600" lvl="0" indent="-228600">
              <a:lnSpc>
                <a:spcPct val="150000"/>
              </a:lnSpc>
              <a:spcBef>
                <a:spcPts val="1200"/>
              </a:spcBef>
              <a:spcAft>
                <a:spcPts val="600"/>
              </a:spcAft>
              <a:buFont typeface="Arial" panose="020B0604020202020204" pitchFamily="34" charset="0"/>
              <a:buChar char="•"/>
            </a:pPr>
            <a:r>
              <a:rPr lang="en-AU" sz="1100">
                <a:effectLst/>
                <a:latin typeface="Arial" panose="020B0604020202020204" pitchFamily="34" charset="0"/>
                <a:ea typeface="Calibri" panose="020F0502020204030204" pitchFamily="34" charset="0"/>
                <a:cs typeface="Times New Roman" panose="02020603050405020304" pitchFamily="18" charset="0"/>
              </a:rPr>
              <a:t>What do I think about first to find the nearest thousand for each number?</a:t>
            </a:r>
          </a:p>
          <a:p>
            <a:pPr marL="228600" lvl="0" indent="-228600">
              <a:lnSpc>
                <a:spcPct val="150000"/>
              </a:lnSpc>
              <a:spcBef>
                <a:spcPts val="1200"/>
              </a:spcBef>
              <a:spcAft>
                <a:spcPts val="600"/>
              </a:spcAft>
              <a:buFont typeface="Arial" panose="020B0604020202020204" pitchFamily="34" charset="0"/>
              <a:buChar char="•"/>
            </a:pPr>
            <a:r>
              <a:rPr lang="en-AU" sz="1100">
                <a:effectLst/>
                <a:latin typeface="Arial" panose="020B0604020202020204" pitchFamily="34" charset="0"/>
                <a:ea typeface="Calibri" panose="020F0502020204030204" pitchFamily="34" charset="0"/>
                <a:cs typeface="Times New Roman" panose="02020603050405020304" pitchFamily="18" charset="0"/>
              </a:rPr>
              <a:t>How do I decide whether to round up or down to the nearest thousand?</a:t>
            </a:r>
          </a:p>
          <a:p>
            <a:pPr marL="228600" lvl="0" indent="-228600">
              <a:lnSpc>
                <a:spcPct val="150000"/>
              </a:lnSpc>
              <a:spcBef>
                <a:spcPts val="1200"/>
              </a:spcBef>
              <a:spcAft>
                <a:spcPts val="600"/>
              </a:spcAft>
              <a:buFont typeface="+mj-lt"/>
              <a:buAutoNum type="arabicPeriod" startAt="4"/>
            </a:pPr>
            <a:r>
              <a:rPr lang="en-AU" sz="1100">
                <a:effectLst/>
                <a:latin typeface="Arial" panose="020B0604020202020204" pitchFamily="34" charset="0"/>
                <a:ea typeface="Calibri" panose="020F0502020204030204" pitchFamily="34" charset="0"/>
              </a:rPr>
              <a:t>In small groups, students roll four 9-sided dice to make a 4-digit number. Students read the number aloud and record it on a sticky note.</a:t>
            </a:r>
          </a:p>
          <a:p>
            <a:pPr marL="228600" lvl="0" indent="-228600">
              <a:lnSpc>
                <a:spcPct val="150000"/>
              </a:lnSpc>
              <a:spcBef>
                <a:spcPts val="1200"/>
              </a:spcBef>
              <a:spcAft>
                <a:spcPts val="600"/>
              </a:spcAft>
              <a:buFont typeface="+mj-lt"/>
              <a:buAutoNum type="arabicPeriod" startAt="4"/>
            </a:pPr>
            <a:r>
              <a:rPr lang="en-AU" sz="1100">
                <a:effectLst/>
                <a:latin typeface="Arial" panose="020B0604020202020204" pitchFamily="34" charset="0"/>
                <a:ea typeface="Calibri" panose="020F0502020204030204" pitchFamily="34" charset="0"/>
              </a:rPr>
              <a:t>Students repeat the process multiple times.</a:t>
            </a:r>
          </a:p>
          <a:p>
            <a:pPr marL="228600" lvl="0" indent="-228600">
              <a:lnSpc>
                <a:spcPct val="150000"/>
              </a:lnSpc>
              <a:spcBef>
                <a:spcPts val="1200"/>
              </a:spcBef>
              <a:spcAft>
                <a:spcPts val="600"/>
              </a:spcAft>
              <a:buFont typeface="+mj-lt"/>
              <a:buAutoNum type="arabicPeriod" startAt="4"/>
            </a:pPr>
            <a:r>
              <a:rPr lang="en-AU" sz="1100">
                <a:effectLst/>
                <a:latin typeface="Arial" panose="020B0604020202020204" pitchFamily="34" charset="0"/>
                <a:ea typeface="Calibri" panose="020F0502020204030204" pitchFamily="34" charset="0"/>
              </a:rPr>
              <a:t>Students order the collection of 4-digit numbers in ascending or descending order.</a:t>
            </a:r>
          </a:p>
          <a:p>
            <a:pPr marL="228600" lvl="0" indent="-228600">
              <a:lnSpc>
                <a:spcPct val="150000"/>
              </a:lnSpc>
              <a:spcBef>
                <a:spcPts val="1200"/>
              </a:spcBef>
              <a:spcAft>
                <a:spcPts val="600"/>
              </a:spcAft>
              <a:buFont typeface="+mj-lt"/>
              <a:buAutoNum type="arabicPeriod" startAt="4"/>
            </a:pPr>
            <a:r>
              <a:rPr lang="en-AU" sz="1100">
                <a:effectLst/>
                <a:latin typeface="Arial" panose="020B0604020202020204" pitchFamily="34" charset="0"/>
                <a:ea typeface="Calibri" panose="020F0502020204030204" pitchFamily="34" charset="0"/>
              </a:rPr>
              <a:t>Students identify the nearest thousand for each recorded number. For example, 7984 is closest to 8000 and 6021 is closest to 6000. Students record the rounded number on the sticky note.</a:t>
            </a:r>
          </a:p>
          <a:p>
            <a:pPr marL="228600" lvl="0" indent="-228600">
              <a:lnSpc>
                <a:spcPct val="150000"/>
              </a:lnSpc>
              <a:spcBef>
                <a:spcPts val="1200"/>
              </a:spcBef>
              <a:spcAft>
                <a:spcPts val="600"/>
              </a:spcAft>
              <a:buFont typeface="+mj-lt"/>
              <a:buAutoNum type="arabicPeriod" startAt="4"/>
            </a:pPr>
            <a:r>
              <a:rPr lang="en-AU" sz="1100">
                <a:effectLst/>
                <a:latin typeface="Arial" panose="020B0604020202020204" pitchFamily="34" charset="0"/>
                <a:ea typeface="Calibri" panose="020F0502020204030204" pitchFamily="34" charset="0"/>
              </a:rPr>
              <a:t>Display 9548 and discuss how the closest thousand is 10 000.</a:t>
            </a:r>
          </a:p>
          <a:p>
            <a:endParaRPr lang="en-AU"/>
          </a:p>
        </p:txBody>
      </p:sp>
      <p:sp>
        <p:nvSpPr>
          <p:cNvPr id="4" name="Slide Number Placeholder 3">
            <a:extLst>
              <a:ext uri="{FF2B5EF4-FFF2-40B4-BE49-F238E27FC236}">
                <a16:creationId xmlns:a16="http://schemas.microsoft.com/office/drawing/2014/main" id="{F09B8909-6BB1-CDBD-3DFE-F801F56844E8}"/>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26188794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numbers using place value B </a:t>
            </a:r>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br>
              <a:rPr lang="en-AU">
                <a:latin typeface="Public Sans"/>
              </a:rPr>
            </a:br>
            <a:r>
              <a:rPr lang="en-AU">
                <a:latin typeface="Public Sans"/>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 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DDAA5-69B7-6B9D-E186-5E8419C42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4F045-33E3-7B1C-6A34-60D8F713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B77D-DDFE-FD72-5EB1-9C107829A578}"/>
              </a:ext>
            </a:extLst>
          </p:cNvPr>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a:t>
            </a:r>
            <a:endParaRPr lang="en-US" sz="1800" b="1">
              <a:solidFill>
                <a:srgbClr val="444444"/>
              </a:solidFill>
              <a:latin typeface="Arial"/>
              <a:cs typeface="Arial"/>
            </a:endParaRPr>
          </a:p>
          <a:p>
            <a:r>
              <a:rPr lang="en-AU" sz="1800" b="0">
                <a:solidFill>
                  <a:srgbClr val="444444"/>
                </a:solidFill>
                <a:latin typeface="Arial"/>
                <a:cs typeface="Arial"/>
              </a:rPr>
              <a:t>Representing numbers using place value B</a:t>
            </a:r>
          </a:p>
          <a:p>
            <a:endParaRPr lang="en-AU" sz="1800" b="0">
              <a:solidFill>
                <a:srgbClr val="444444"/>
              </a:solidFill>
              <a:latin typeface="Arial"/>
              <a:cs typeface="Arial"/>
            </a:endParaRPr>
          </a:p>
          <a:p>
            <a:r>
              <a:rPr lang="en-AU" sz="1800" b="1">
                <a:solidFill>
                  <a:srgbClr val="444444"/>
                </a:solidFill>
                <a:latin typeface="Arial"/>
                <a:cs typeface="Arial"/>
              </a:rPr>
              <a:t>Largest 4-digit number</a:t>
            </a:r>
            <a:endParaRPr lang="en-AU" sz="1800">
              <a:effectLst/>
              <a:latin typeface="Arial" panose="020B0604020202020204" pitchFamily="34" charset="0"/>
              <a:ea typeface="Arial" panose="020B0604020202020204" pitchFamily="34" charset="0"/>
            </a:endParaRPr>
          </a:p>
          <a:p>
            <a:pPr>
              <a:lnSpc>
                <a:spcPct val="150000"/>
              </a:lnSpc>
              <a:spcBef>
                <a:spcPts val="1200"/>
              </a:spcBef>
              <a:spcAft>
                <a:spcPts val="600"/>
              </a:spcAft>
              <a:buNone/>
            </a:pPr>
            <a:endParaRPr lang="en-AU" sz="1800">
              <a:effectLst/>
              <a:latin typeface="Arial" panose="020B0604020202020204" pitchFamily="34" charset="0"/>
              <a:ea typeface="Arial" panose="020B0604020202020204" pitchFamily="34" charset="0"/>
            </a:endParaRPr>
          </a:p>
          <a:p>
            <a:pPr>
              <a:lnSpc>
                <a:spcPct val="150000"/>
              </a:lnSpc>
              <a:spcBef>
                <a:spcPts val="1200"/>
              </a:spcBef>
              <a:spcAft>
                <a:spcPts val="600"/>
              </a:spcAft>
              <a:buNone/>
            </a:pPr>
            <a:r>
              <a:rPr lang="en-AU" sz="1800">
                <a:effectLst/>
                <a:latin typeface="Arial" panose="020B0604020202020204" pitchFamily="34" charset="0"/>
                <a:ea typeface="Arial" panose="020B0604020202020204" pitchFamily="34" charset="0"/>
              </a:rPr>
              <a:t>This activity is an adaptation of Nice or nasty from NRICH by University of Cambridge.</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The aim of the game is to create the largest 4-digit number.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In pairs, provide students with a 9-sided die and an individual whiteboard each.</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Each student draws a set of 4 boxes, </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take turns to roll the dice and decide which of the 4 boxes to write the digit in, trying to create the largest 4-digit number.</a:t>
            </a:r>
          </a:p>
          <a:p>
            <a:pPr marL="342900" lvl="0" indent="-342900">
              <a:lnSpc>
                <a:spcPct val="150000"/>
              </a:lnSpc>
              <a:spcBef>
                <a:spcPts val="1200"/>
              </a:spcBef>
              <a:spcAft>
                <a:spcPts val="600"/>
              </a:spcAft>
              <a:buFont typeface="+mj-lt"/>
              <a:buAutoNum type="arabicPeriod" startAt="6"/>
            </a:pPr>
            <a:r>
              <a:rPr lang="en-AU" sz="1800" b="0">
                <a:effectLst/>
                <a:latin typeface="Arial" panose="020B0604020202020204" pitchFamily="34" charset="0"/>
                <a:ea typeface="Calibri" panose="020F0502020204030204" pitchFamily="34" charset="0"/>
              </a:rPr>
              <a:t>The player with the largest 4-digit number wins and scores a point. The first player to score 10 points wins the game. </a:t>
            </a:r>
          </a:p>
          <a:p>
            <a:pPr marL="342900" lvl="0" indent="-342900">
              <a:lnSpc>
                <a:spcPct val="150000"/>
              </a:lnSpc>
              <a:spcBef>
                <a:spcPts val="1200"/>
              </a:spcBef>
              <a:spcAft>
                <a:spcPts val="600"/>
              </a:spcAft>
              <a:buFont typeface="+mj-lt"/>
              <a:buAutoNum type="arabicPeriod" startAt="6"/>
            </a:pPr>
            <a:r>
              <a:rPr lang="en-AU" sz="1800" b="0">
                <a:effectLst/>
                <a:latin typeface="Arial" panose="020B0604020202020204" pitchFamily="34" charset="0"/>
                <a:ea typeface="Calibri" panose="020F0502020204030204" pitchFamily="34" charset="0"/>
              </a:rPr>
              <a:t>Discuss:</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was your strategy for creating the largest 4-digit number?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would your strategy change if you were making the smallest 4-digit number?</a:t>
            </a:r>
          </a:p>
          <a:p>
            <a:endParaRPr lang="en-AU"/>
          </a:p>
        </p:txBody>
      </p:sp>
      <p:sp>
        <p:nvSpPr>
          <p:cNvPr id="4" name="Slide Number Placeholder 3">
            <a:extLst>
              <a:ext uri="{FF2B5EF4-FFF2-40B4-BE49-F238E27FC236}">
                <a16:creationId xmlns:a16="http://schemas.microsoft.com/office/drawing/2014/main" id="{C04E1AC2-5864-056A-9860-6143E40F4B48}"/>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1757003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kern="1200">
                <a:solidFill>
                  <a:schemeClr val="tx1"/>
                </a:solidFill>
                <a:effectLst/>
                <a:latin typeface="Arial" panose="020B0604020202020204" pitchFamily="34" charset="0"/>
                <a:ea typeface="+mn-ea"/>
                <a:cs typeface="Arial" panose="020B0604020202020204" pitchFamily="34" charset="0"/>
              </a:rPr>
              <a:t>Three-dimensional spatial structure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 Additive relations A</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3605-F551-066A-5494-8B6D57368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AF4B1-4D76-7027-28C6-46A4A37FB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DD0D8-07C2-781B-EDAF-09A3ED160428}"/>
              </a:ext>
            </a:extLst>
          </p:cNvPr>
          <p:cNvSpPr>
            <a:spLocks noGrp="1"/>
          </p:cNvSpPr>
          <p:nvPr>
            <p:ph type="body" idx="1"/>
          </p:nvPr>
        </p:nvSpPr>
        <p:spPr/>
        <p:txBody>
          <a:bodyPr/>
          <a:lstStyle/>
          <a:p>
            <a:pPr>
              <a:lnSpc>
                <a:spcPct val="150000"/>
              </a:lnSpc>
              <a:spcBef>
                <a:spcPts val="1200"/>
              </a:spcBef>
              <a:spcAft>
                <a:spcPts val="600"/>
              </a:spcAft>
            </a:pPr>
            <a:r>
              <a:rPr lang="en-AU" sz="1800">
                <a:solidFill>
                  <a:srgbClr val="000000"/>
                </a:solidFill>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solidFill>
                  <a:srgbClr val="000000"/>
                </a:solidFill>
                <a:latin typeface="Arial"/>
                <a:cs typeface="Arial"/>
              </a:rPr>
              <a:t>Syllabus focus area:</a:t>
            </a:r>
            <a:endParaRPr lang="en-US" sz="1800" b="1">
              <a:solidFill>
                <a:srgbClr val="444444"/>
              </a:solidFill>
              <a:latin typeface="Arial"/>
              <a:cs typeface="Arial"/>
            </a:endParaRPr>
          </a:p>
          <a:p>
            <a:r>
              <a:rPr lang="en-AU" sz="1800" b="0">
                <a:solidFill>
                  <a:srgbClr val="444444"/>
                </a:solidFill>
                <a:latin typeface="Arial"/>
                <a:cs typeface="Arial"/>
              </a:rPr>
              <a:t>Representing numbers using place value B</a:t>
            </a:r>
          </a:p>
          <a:p>
            <a:endParaRPr lang="en-AU" sz="1800" b="0">
              <a:solidFill>
                <a:srgbClr val="444444"/>
              </a:solidFill>
              <a:latin typeface="Arial"/>
              <a:cs typeface="Arial"/>
            </a:endParaRPr>
          </a:p>
          <a:p>
            <a:r>
              <a:rPr lang="en-AU" sz="1800" b="1">
                <a:solidFill>
                  <a:srgbClr val="444444"/>
                </a:solidFill>
                <a:latin typeface="Arial"/>
                <a:cs typeface="Arial"/>
              </a:rPr>
              <a:t>What’s the nearest 2?</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Revise Activity 6 – What’s the nearest?</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In this version of the activity, students use 5-digit numbers and identify the nearest 10 thousand.</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Display a 5-digit number and have students discuss the nearest 10 thousand.</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In small groups, students write a collection of 5-digit numbers on sticky notes. Students order the collection of 5-digit numbers in ascending or descending order.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identify the nearest 10 thousand for each recorded number. For example, 17 984 is closest to 20 000 and 61 021 is closest to 60 000. Students record the rounded number on the sticky note.</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Display 97 548 and discuss how the closest 10 thousand is 100 000</a:t>
            </a:r>
            <a:endParaRPr lang="en-AU"/>
          </a:p>
        </p:txBody>
      </p:sp>
      <p:sp>
        <p:nvSpPr>
          <p:cNvPr id="4" name="Slide Number Placeholder 3">
            <a:extLst>
              <a:ext uri="{FF2B5EF4-FFF2-40B4-BE49-F238E27FC236}">
                <a16:creationId xmlns:a16="http://schemas.microsoft.com/office/drawing/2014/main" id="{695EAF9C-EF83-EA4C-D009-30B031F0AE15}"/>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4345661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4235503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39.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student-activities.mathlearningcenter.org/?902daf68"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s://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4" Type="http://schemas.openxmlformats.org/officeDocument/2006/relationships/hyperlink" Target="https://curriculum.nsw.edu.au/" TargetMode="External"/><Relationship Id="rId9" Type="http://schemas.openxmlformats.org/officeDocument/2006/relationships/hyperlink" Target="https://mathathome.mathlearningcenter.org/activity/1223"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toytheater.com/hundreds-chart/"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toytheater.com/color-counter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sites.google.com/education.nsw.gov.au/get-mathematical-stage-1/contexts-for-practise/array-bingo" TargetMode="External"/><Relationship Id="rId11" Type="http://schemas.openxmlformats.org/officeDocument/2006/relationships/hyperlink" Target="https://nrich.maths.org/problems/nice-or-nasty" TargetMode="External"/><Relationship Id="rId5" Type="http://schemas.openxmlformats.org/officeDocument/2006/relationships/hyperlink" Target="https://curriculum.nsw.edu.au/" TargetMode="External"/><Relationship Id="rId10" Type="http://schemas.openxmlformats.org/officeDocument/2006/relationships/hyperlink" Target="https://nrich.maths.org/problems/dozen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games/dicey-perimeter-dicey-area"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A Unit 17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17</a:t>
            </a:r>
          </a:p>
        </p:txBody>
      </p:sp>
      <p:pic>
        <p:nvPicPr>
          <p:cNvPr id="1026" name="Picture 2" descr="A group of dice on an orange surface">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Link for Review of learn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Link for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Link for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Link for 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Link for 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Link for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Link for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Link for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121B-5AB4-E104-FC96-5E68699135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FA653C-861E-2254-E0C0-18625974A77B}"/>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(2)</a:t>
            </a:r>
            <a:r>
              <a:rPr lang="en-US">
                <a:latin typeface="Arial"/>
                <a:cs typeface="Arial"/>
              </a:rPr>
              <a:t> </a:t>
            </a:r>
            <a:endParaRPr lang="en-US">
              <a:solidFill>
                <a:schemeClr val="bg1"/>
              </a:solidFill>
              <a:latin typeface="Arial"/>
              <a:cs typeface="Arial"/>
            </a:endParaRPr>
          </a:p>
        </p:txBody>
      </p:sp>
      <p:pic>
        <p:nvPicPr>
          <p:cNvPr id="17" name="Picture 16" descr="image of a finger selecting an option for a multiple choice or true and false">
            <a:extLst>
              <a:ext uri="{FF2B5EF4-FFF2-40B4-BE49-F238E27FC236}">
                <a16:creationId xmlns:a16="http://schemas.microsoft.com/office/drawing/2014/main" id="{55C5B63F-120F-617F-2C58-35F03D0AE1D1}"/>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8" name="Text Placeholder 17">
            <a:extLst>
              <a:ext uri="{FF2B5EF4-FFF2-40B4-BE49-F238E27FC236}">
                <a16:creationId xmlns:a16="http://schemas.microsoft.com/office/drawing/2014/main" id="{E02DF95D-8271-A9A9-1E3B-5E1988A0FB5F}"/>
              </a:ext>
            </a:extLst>
          </p:cNvPr>
          <p:cNvSpPr>
            <a:spLocks noGrp="1"/>
          </p:cNvSpPr>
          <p:nvPr>
            <p:ph type="body" sz="quarter" idx="24"/>
          </p:nvPr>
        </p:nvSpPr>
        <p:spPr>
          <a:xfrm>
            <a:off x="360000" y="1032209"/>
            <a:ext cx="10314417" cy="997928"/>
          </a:xfrm>
        </p:spPr>
        <p:txBody>
          <a:bodyPr vert="horz" lIns="0" tIns="0" rIns="0" bIns="0" rtlCol="0" anchor="t">
            <a:noAutofit/>
          </a:bodyPr>
          <a:lstStyle/>
          <a:p>
            <a:pPr algn="ctr"/>
            <a:r>
              <a:rPr lang="en-US" sz="4000" dirty="0">
                <a:latin typeface="Arial"/>
                <a:cs typeface="Arial"/>
              </a:rPr>
              <a:t>Which </a:t>
            </a:r>
            <a:r>
              <a:rPr lang="en-US" sz="4000" b="1" dirty="0">
                <a:latin typeface="Arial"/>
                <a:cs typeface="Arial"/>
              </a:rPr>
              <a:t>multiplication</a:t>
            </a:r>
            <a:r>
              <a:rPr lang="en-US" sz="4000" dirty="0">
                <a:latin typeface="Arial"/>
                <a:cs typeface="Arial"/>
              </a:rPr>
              <a:t> matches the </a:t>
            </a:r>
            <a:r>
              <a:rPr lang="en-US" sz="4000" b="1" dirty="0">
                <a:latin typeface="Arial"/>
                <a:cs typeface="Arial"/>
              </a:rPr>
              <a:t>array</a:t>
            </a:r>
            <a:r>
              <a:rPr lang="en-US" sz="4000" dirty="0">
                <a:latin typeface="Arial"/>
                <a:cs typeface="Arial"/>
              </a:rPr>
              <a:t>? </a:t>
            </a:r>
            <a:endParaRPr lang="en-US" dirty="0"/>
          </a:p>
        </p:txBody>
      </p:sp>
      <p:pic>
        <p:nvPicPr>
          <p:cNvPr id="22" name="Picture 21" descr="An array of purple circles 4 x 3.">
            <a:extLst>
              <a:ext uri="{FF2B5EF4-FFF2-40B4-BE49-F238E27FC236}">
                <a16:creationId xmlns:a16="http://schemas.microsoft.com/office/drawing/2014/main" id="{705047D7-D278-66CD-303E-8DBCE4DD916A}"/>
              </a:ext>
            </a:extLst>
          </p:cNvPr>
          <p:cNvPicPr>
            <a:picLocks noChangeAspect="1"/>
          </p:cNvPicPr>
          <p:nvPr/>
        </p:nvPicPr>
        <p:blipFill>
          <a:blip r:embed="rId4"/>
          <a:stretch>
            <a:fillRect/>
          </a:stretch>
        </p:blipFill>
        <p:spPr>
          <a:xfrm rot="16200000">
            <a:off x="4116688" y="2548135"/>
            <a:ext cx="2801041" cy="2013852"/>
          </a:xfrm>
          <a:prstGeom prst="rect">
            <a:avLst/>
          </a:prstGeom>
          <a:ln>
            <a:noFill/>
          </a:ln>
        </p:spPr>
      </p:pic>
      <p:graphicFrame>
        <p:nvGraphicFramePr>
          <p:cNvPr id="7" name="Table 6">
            <a:extLst>
              <a:ext uri="{FF2B5EF4-FFF2-40B4-BE49-F238E27FC236}">
                <a16:creationId xmlns:a16="http://schemas.microsoft.com/office/drawing/2014/main" id="{5D6C3364-C7C3-7F26-D383-03840A896BEA}"/>
              </a:ext>
            </a:extLst>
          </p:cNvPr>
          <p:cNvGraphicFramePr>
            <a:graphicFrameLocks noGrp="1"/>
          </p:cNvGraphicFramePr>
          <p:nvPr>
            <p:extLst>
              <p:ext uri="{D42A27DB-BD31-4B8C-83A1-F6EECF244321}">
                <p14:modId xmlns:p14="http://schemas.microsoft.com/office/powerpoint/2010/main" val="3294278082"/>
              </p:ext>
            </p:extLst>
          </p:nvPr>
        </p:nvGraphicFramePr>
        <p:xfrm>
          <a:off x="820354" y="5063791"/>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t>3 x 4</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 x 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 x 4</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 x 3</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6FCB22DB-2254-F458-CB63-6BC71B54D58D}"/>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398847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215038" y="2030849"/>
            <a:ext cx="9761925" cy="3056398"/>
          </a:xfrm>
        </p:spPr>
        <p:txBody>
          <a:bodyPr/>
          <a:lstStyle/>
          <a:p>
            <a:pPr algn="ctr"/>
            <a:r>
              <a:rPr lang="en-US" sz="4400" b="1">
                <a:latin typeface="Arial"/>
                <a:cs typeface="Arial"/>
              </a:rPr>
              <a:t>23      57     109     345</a:t>
            </a:r>
          </a:p>
          <a:p>
            <a:pPr algn="ctr"/>
            <a:r>
              <a:rPr lang="en-AU" sz="4400">
                <a:latin typeface="Arial"/>
                <a:cs typeface="Arial"/>
              </a:rPr>
              <a:t>Are these numbers </a:t>
            </a:r>
            <a:r>
              <a:rPr lang="en-AU" sz="4400" b="1">
                <a:latin typeface="Arial"/>
                <a:cs typeface="Arial"/>
              </a:rPr>
              <a:t>odd</a:t>
            </a:r>
            <a:r>
              <a:rPr lang="en-AU" sz="4400">
                <a:latin typeface="Arial"/>
                <a:cs typeface="Arial"/>
              </a:rPr>
              <a:t>? </a:t>
            </a:r>
          </a:p>
          <a:p>
            <a:pPr algn="ctr"/>
            <a:r>
              <a:rPr lang="en-AU" sz="4400">
                <a:latin typeface="Arial"/>
                <a:cs typeface="Arial"/>
              </a:rPr>
              <a:t>How do you know? </a:t>
            </a:r>
            <a:endParaRPr lang="en-US">
              <a:latin typeface="Arial"/>
              <a:cs typeface="Arial"/>
            </a:endParaRPr>
          </a:p>
        </p:txBody>
      </p:sp>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474481" y="1460282"/>
            <a:ext cx="11243037" cy="2146517"/>
          </a:xfrm>
        </p:spPr>
        <p:txBody>
          <a:bodyPr/>
          <a:lstStyle/>
          <a:p>
            <a:pPr algn="ctr"/>
            <a:r>
              <a:rPr lang="en-US" sz="4400">
                <a:latin typeface="Arial"/>
                <a:cs typeface="Arial"/>
              </a:rPr>
              <a:t>What </a:t>
            </a:r>
            <a:r>
              <a:rPr lang="en-US" sz="4400" b="1">
                <a:latin typeface="Arial"/>
                <a:cs typeface="Arial"/>
              </a:rPr>
              <a:t>fraction</a:t>
            </a:r>
            <a:r>
              <a:rPr lang="en-US" sz="4400">
                <a:latin typeface="Arial"/>
                <a:cs typeface="Arial"/>
              </a:rPr>
              <a:t> is shaded? </a:t>
            </a:r>
          </a:p>
          <a:p>
            <a:pPr algn="ctr"/>
            <a:endParaRPr lang="en-US" sz="4400">
              <a:latin typeface="Arial"/>
              <a:cs typeface="Arial"/>
            </a:endParaRPr>
          </a:p>
          <a:p>
            <a:pPr algn="ctr"/>
            <a:endParaRPr lang="en-US" sz="4400">
              <a:latin typeface="Arial"/>
              <a:cs typeface="Arial"/>
            </a:endParaRPr>
          </a:p>
          <a:p>
            <a:pPr algn="ctr"/>
            <a:r>
              <a:rPr lang="en-US" sz="4400">
                <a:latin typeface="Arial"/>
                <a:cs typeface="Arial"/>
              </a:rPr>
              <a:t>How do you know? </a:t>
            </a:r>
            <a:endParaRPr lang="en-US" sz="4400"/>
          </a:p>
          <a:p>
            <a:pPr algn="ctr"/>
            <a:endParaRPr lang="en-US" sz="4400">
              <a:solidFill>
                <a:srgbClr val="22272B"/>
              </a:solidFill>
            </a:endParaRPr>
          </a:p>
          <a:p>
            <a:endParaRPr lang="en-US">
              <a:latin typeface="Arial"/>
              <a:cs typeface="Arial"/>
            </a:endParaRPr>
          </a:p>
        </p:txBody>
      </p:sp>
      <p:pic>
        <p:nvPicPr>
          <p:cNvPr id="1028" name="Picture 4" descr="A fraction bar segmented into quarters with one quarter a dark orange and three quarters a pale orange with broken black lines showing the segments.&#10;&#10;">
            <a:extLst>
              <a:ext uri="{FF2B5EF4-FFF2-40B4-BE49-F238E27FC236}">
                <a16:creationId xmlns:a16="http://schemas.microsoft.com/office/drawing/2014/main" id="{A56CAB74-B48D-41BE-677C-EE5E7FDE14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6585" y="2533540"/>
            <a:ext cx="9798828" cy="232077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971550" y="1647796"/>
            <a:ext cx="10152450" cy="485020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What 2 numbers could go in the missing spaces to </a:t>
            </a:r>
            <a:r>
              <a:rPr lang="en-AU" sz="4400" b="1" dirty="0"/>
              <a:t>make the number sentence equal</a:t>
            </a:r>
            <a:r>
              <a:rPr lang="en-AU" sz="4400" dirty="0"/>
              <a:t>?</a:t>
            </a:r>
          </a:p>
          <a:p>
            <a:pPr algn="ctr"/>
            <a:r>
              <a:rPr lang="en-AU" sz="4400" dirty="0"/>
              <a:t>45 + 23 = ___ − ___</a:t>
            </a:r>
            <a:br>
              <a:rPr lang="en-US" sz="4400" dirty="0">
                <a:latin typeface="Arial"/>
                <a:cs typeface="Arial"/>
              </a:rPr>
            </a:br>
            <a:endParaRPr lang="en-US" sz="4400" dirty="0">
              <a:solidFill>
                <a:srgbClr val="22272B"/>
              </a:solidFill>
            </a:endParaRPr>
          </a:p>
          <a:p>
            <a:endParaRPr lang="en-US" dirty="0">
              <a:latin typeface="Arial"/>
              <a:cs typeface="Arial"/>
            </a:endParaRPr>
          </a:p>
        </p:txBody>
      </p:sp>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0D49-3B42-8C50-BE12-95AE172A68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E799467-9580-68AD-4255-361FD0B0B96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(41)</a:t>
            </a:r>
          </a:p>
        </p:txBody>
      </p:sp>
      <p:pic>
        <p:nvPicPr>
          <p:cNvPr id="5" name="Picture 4" descr="image of a clipboard with a pencil recording short answer responses">
            <a:extLst>
              <a:ext uri="{FF2B5EF4-FFF2-40B4-BE49-F238E27FC236}">
                <a16:creationId xmlns:a16="http://schemas.microsoft.com/office/drawing/2014/main" id="{2FB281D1-9E07-26AB-4324-F315BB3B8AA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DA1C5994-5D62-72EE-6CE0-5798B0CC8519}"/>
              </a:ext>
            </a:extLst>
          </p:cNvPr>
          <p:cNvSpPr txBox="1"/>
          <p:nvPr/>
        </p:nvSpPr>
        <p:spPr>
          <a:xfrm>
            <a:off x="669471" y="1035695"/>
            <a:ext cx="5943085" cy="779331"/>
          </a:xfrm>
          <a:prstGeom prst="rect">
            <a:avLst/>
          </a:prstGeom>
          <a:noFill/>
        </p:spPr>
        <p:txBody>
          <a:bodyPr wrap="square" lIns="0" tIns="0" rIns="0" bIns="0" rtlCol="0">
            <a:noAutofit/>
          </a:bodyPr>
          <a:lstStyle/>
          <a:p>
            <a:r>
              <a:rPr lang="en-AU" sz="4000"/>
              <a:t>Look at the </a:t>
            </a:r>
            <a:r>
              <a:rPr lang="en-AU" sz="4000" b="1"/>
              <a:t>tally chart</a:t>
            </a:r>
            <a:r>
              <a:rPr lang="en-AU" sz="4000"/>
              <a:t>:</a:t>
            </a:r>
          </a:p>
          <a:p>
            <a:endParaRPr lang="en-AU" sz="4000"/>
          </a:p>
          <a:p>
            <a:endParaRPr lang="en-AU" sz="4000"/>
          </a:p>
          <a:p>
            <a:endParaRPr lang="en-AU" sz="4000"/>
          </a:p>
          <a:p>
            <a:endParaRPr lang="en-AU" sz="4000"/>
          </a:p>
        </p:txBody>
      </p:sp>
      <p:pic>
        <p:nvPicPr>
          <p:cNvPr id="8" name="Picture 7" descr="A table showing fruits liked by students and tallies of how many. Apples = 4; Bananas = 5; Oranges = 3; Grapes = 4.">
            <a:extLst>
              <a:ext uri="{FF2B5EF4-FFF2-40B4-BE49-F238E27FC236}">
                <a16:creationId xmlns:a16="http://schemas.microsoft.com/office/drawing/2014/main" id="{7814C216-796B-C266-ABAA-5B44E5A9FD46}"/>
              </a:ext>
            </a:extLst>
          </p:cNvPr>
          <p:cNvPicPr>
            <a:picLocks noChangeAspect="1"/>
          </p:cNvPicPr>
          <p:nvPr/>
        </p:nvPicPr>
        <p:blipFill>
          <a:blip r:embed="rId4"/>
          <a:stretch>
            <a:fillRect/>
          </a:stretch>
        </p:blipFill>
        <p:spPr>
          <a:xfrm>
            <a:off x="669471" y="1945554"/>
            <a:ext cx="4061176" cy="4552446"/>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F4B6A141-5319-73FB-9006-C075C040548D}"/>
              </a:ext>
            </a:extLst>
          </p:cNvPr>
          <p:cNvSpPr txBox="1"/>
          <p:nvPr/>
        </p:nvSpPr>
        <p:spPr>
          <a:xfrm>
            <a:off x="5663492" y="2115400"/>
            <a:ext cx="6180508" cy="4031873"/>
          </a:xfrm>
          <a:prstGeom prst="rect">
            <a:avLst/>
          </a:prstGeom>
          <a:noFill/>
        </p:spPr>
        <p:txBody>
          <a:bodyPr wrap="square">
            <a:spAutoFit/>
          </a:bodyPr>
          <a:lstStyle/>
          <a:p>
            <a:pPr marL="571500" indent="-571500">
              <a:spcAft>
                <a:spcPts val="2400"/>
              </a:spcAft>
              <a:buFont typeface="Arial" panose="020B0604020202020204" pitchFamily="34" charset="0"/>
              <a:buChar char="•"/>
            </a:pPr>
            <a:r>
              <a:rPr lang="en-AU" sz="3600" dirty="0"/>
              <a:t>How many students like grapes? </a:t>
            </a:r>
          </a:p>
          <a:p>
            <a:pPr marL="571500" indent="-571500">
              <a:spcAft>
                <a:spcPts val="2400"/>
              </a:spcAft>
              <a:buFont typeface="Arial" panose="020B0604020202020204" pitchFamily="34" charset="0"/>
              <a:buChar char="•"/>
            </a:pPr>
            <a:r>
              <a:rPr lang="en-AU" sz="3600" dirty="0"/>
              <a:t>How many students like apples and bananas?</a:t>
            </a:r>
          </a:p>
          <a:p>
            <a:pPr marL="571500" indent="-571500">
              <a:spcAft>
                <a:spcPts val="2400"/>
              </a:spcAft>
              <a:buFont typeface="Arial" panose="020B0604020202020204" pitchFamily="34" charset="0"/>
              <a:buChar char="•"/>
            </a:pPr>
            <a:r>
              <a:rPr lang="en-AU" sz="3600" dirty="0"/>
              <a:t>Which fruit do the least number of students like?</a:t>
            </a:r>
          </a:p>
        </p:txBody>
      </p:sp>
      <p:sp>
        <p:nvSpPr>
          <p:cNvPr id="2" name="Slide Number Placeholder 1">
            <a:extLst>
              <a:ext uri="{FF2B5EF4-FFF2-40B4-BE49-F238E27FC236}">
                <a16:creationId xmlns:a16="http://schemas.microsoft.com/office/drawing/2014/main" id="{B23E1DEE-AC9B-ABD3-6A3C-CCA586B04156}"/>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13412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86D2-3F70-FA5F-7EFF-F6263A5135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A45169-6740-502A-7036-3FEB5DCC35E0}"/>
              </a:ext>
            </a:extLst>
          </p:cNvPr>
          <p:cNvSpPr>
            <a:spLocks noGrp="1"/>
          </p:cNvSpPr>
          <p:nvPr>
            <p:ph type="title"/>
          </p:nvPr>
        </p:nvSpPr>
        <p:spPr>
          <a:xfrm>
            <a:off x="360000" y="360000"/>
            <a:ext cx="11484000" cy="545601"/>
          </a:xfrm>
        </p:spPr>
        <p:txBody>
          <a:bodyPr/>
          <a:lstStyle/>
          <a:p>
            <a:r>
              <a:rPr lang="en-AU">
                <a:latin typeface="Arial"/>
                <a:cs typeface="Arial"/>
              </a:rPr>
              <a:t>Activity 1 – groups to arrays</a:t>
            </a:r>
            <a:endParaRPr lang="en-AU"/>
          </a:p>
        </p:txBody>
      </p:sp>
      <p:pic>
        <p:nvPicPr>
          <p:cNvPr id="4" name="Picture 3" descr="image of a head with cogs turning inside">
            <a:extLst>
              <a:ext uri="{FF2B5EF4-FFF2-40B4-BE49-F238E27FC236}">
                <a16:creationId xmlns:a16="http://schemas.microsoft.com/office/drawing/2014/main" id="{4FD9D841-157F-823D-FF80-E8CB1DAC853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5" name="Picture 14" descr="Two individual whiteboards side by side. The first whiteboard shows 4 groups. Each group has 5 coloured counters inside. The second whiteboard shows 4 empty groups and the coloured counters arranged into an array of 4 fives. It is labelled ‘4 fives are 20’.">
            <a:extLst>
              <a:ext uri="{FF2B5EF4-FFF2-40B4-BE49-F238E27FC236}">
                <a16:creationId xmlns:a16="http://schemas.microsoft.com/office/drawing/2014/main" id="{E8FFA682-7356-56C4-7F04-1B7EE8E74A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25039" y="1706889"/>
            <a:ext cx="6541923" cy="4674659"/>
          </a:xfrm>
          <a:prstGeom prst="rect">
            <a:avLst/>
          </a:prstGeom>
          <a:ln>
            <a:noFill/>
          </a:ln>
          <a:effectLst/>
        </p:spPr>
      </p:pic>
      <p:sp>
        <p:nvSpPr>
          <p:cNvPr id="2" name="Slide Number Placeholder 1">
            <a:extLst>
              <a:ext uri="{FF2B5EF4-FFF2-40B4-BE49-F238E27FC236}">
                <a16:creationId xmlns:a16="http://schemas.microsoft.com/office/drawing/2014/main" id="{0C52E651-738A-2832-9F20-C43470DAD0BA}"/>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4226059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a:t>
            </a:r>
            <a:r>
              <a:rPr lang="en-US">
                <a:solidFill>
                  <a:schemeClr val="bg1"/>
                </a:solidFill>
                <a:latin typeface="Arial"/>
                <a:cs typeface="Arial"/>
              </a:rPr>
              <a:t> (1)</a:t>
            </a:r>
          </a:p>
        </p:txBody>
      </p:sp>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4" y="990462"/>
            <a:ext cx="10161976" cy="960716"/>
          </a:xfrm>
        </p:spPr>
        <p:txBody>
          <a:bodyPr vert="horz" lIns="0" tIns="0" rIns="0" bIns="0" rtlCol="0" anchor="t">
            <a:noAutofit/>
          </a:bodyPr>
          <a:lstStyle/>
          <a:p>
            <a:pPr algn="ctr"/>
            <a:r>
              <a:rPr lang="en-AU" sz="4000">
                <a:latin typeface="Arial"/>
                <a:cs typeface="Arial"/>
              </a:rPr>
              <a:t>This </a:t>
            </a:r>
            <a:r>
              <a:rPr lang="en-AU" sz="4000" b="1">
                <a:latin typeface="Arial"/>
                <a:cs typeface="Arial"/>
              </a:rPr>
              <a:t>array</a:t>
            </a:r>
            <a:r>
              <a:rPr lang="en-AU" sz="4000">
                <a:latin typeface="Arial"/>
                <a:cs typeface="Arial"/>
              </a:rPr>
              <a:t> shows 4 rows of 5? </a:t>
            </a:r>
            <a:endParaRPr lang="en-US" sz="4000"/>
          </a:p>
        </p:txBody>
      </p:sp>
      <p:pic>
        <p:nvPicPr>
          <p:cNvPr id="6" name="Picture 5" descr="An array of purple circles 5 x 4.">
            <a:extLst>
              <a:ext uri="{FF2B5EF4-FFF2-40B4-BE49-F238E27FC236}">
                <a16:creationId xmlns:a16="http://schemas.microsoft.com/office/drawing/2014/main" id="{D35FDD0E-F718-D290-039A-4839CDCDE4A9}"/>
              </a:ext>
            </a:extLst>
          </p:cNvPr>
          <p:cNvPicPr>
            <a:picLocks noChangeAspect="1"/>
          </p:cNvPicPr>
          <p:nvPr/>
        </p:nvPicPr>
        <p:blipFill>
          <a:blip r:embed="rId4"/>
          <a:stretch>
            <a:fillRect/>
          </a:stretch>
        </p:blipFill>
        <p:spPr>
          <a:xfrm>
            <a:off x="4088163" y="1976656"/>
            <a:ext cx="4015675" cy="3166096"/>
          </a:xfrm>
          <a:prstGeom prst="rect">
            <a:avLst/>
          </a:prstGeom>
        </p:spPr>
      </p:pic>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4218655663"/>
              </p:ext>
            </p:extLst>
          </p:nvPr>
        </p:nvGraphicFramePr>
        <p:xfrm>
          <a:off x="2442981" y="549669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402673" y="1815886"/>
            <a:ext cx="11200365" cy="3170000"/>
          </a:xfrm>
        </p:spPr>
        <p:txBody>
          <a:bodyPr/>
          <a:lstStyle/>
          <a:p>
            <a:pPr algn="ctr"/>
            <a:r>
              <a:rPr lang="en-AU" sz="4000" dirty="0"/>
              <a:t>Farmer Cluck has 24 eggs. </a:t>
            </a:r>
          </a:p>
          <a:p>
            <a:pPr algn="ctr"/>
            <a:r>
              <a:rPr lang="en-AU" sz="4000" dirty="0"/>
              <a:t>Draw an </a:t>
            </a:r>
            <a:r>
              <a:rPr lang="en-AU" sz="4000" b="1" dirty="0"/>
              <a:t>array</a:t>
            </a:r>
            <a:r>
              <a:rPr lang="en-AU" sz="4000" dirty="0"/>
              <a:t> to represent the eggs.</a:t>
            </a:r>
          </a:p>
          <a:p>
            <a:pPr algn="ctr"/>
            <a:r>
              <a:rPr lang="en-US" sz="4000" dirty="0">
                <a:latin typeface="Arial"/>
                <a:cs typeface="Arial"/>
              </a:rPr>
              <a:t>Are there any other solutions?</a:t>
            </a:r>
            <a:br>
              <a:rPr lang="en-US" sz="4000" dirty="0">
                <a:latin typeface="Arial"/>
                <a:cs typeface="Arial"/>
              </a:rPr>
            </a:br>
            <a:endParaRPr lang="en-US" dirty="0">
              <a:latin typeface="Arial"/>
              <a:cs typeface="Arial"/>
            </a:endParaRPr>
          </a:p>
        </p:txBody>
      </p:sp>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474482" y="1275500"/>
            <a:ext cx="11243037" cy="2153500"/>
          </a:xfrm>
        </p:spPr>
        <p:txBody>
          <a:bodyPr/>
          <a:lstStyle/>
          <a:p>
            <a:pPr algn="ctr"/>
            <a:r>
              <a:rPr lang="en-US" sz="4400" dirty="0">
                <a:latin typeface="Arial"/>
                <a:cs typeface="Arial"/>
              </a:rPr>
              <a:t>Name the following </a:t>
            </a:r>
            <a:r>
              <a:rPr lang="en-US" sz="4400" b="1" dirty="0">
                <a:latin typeface="Arial"/>
                <a:cs typeface="Arial"/>
              </a:rPr>
              <a:t>fraction</a:t>
            </a:r>
            <a:r>
              <a:rPr lang="en-US" sz="4400" dirty="0">
                <a:latin typeface="Arial"/>
                <a:cs typeface="Arial"/>
              </a:rPr>
              <a:t>? </a:t>
            </a:r>
          </a:p>
          <a:p>
            <a:pPr algn="ctr"/>
            <a:r>
              <a:rPr lang="en-US" sz="4400" dirty="0">
                <a:latin typeface="Arial"/>
                <a:cs typeface="Arial"/>
              </a:rPr>
              <a:t>How many parts make </a:t>
            </a:r>
            <a:r>
              <a:rPr lang="en-US" sz="4400" b="1" dirty="0">
                <a:latin typeface="Arial"/>
                <a:cs typeface="Arial"/>
              </a:rPr>
              <a:t>1 whole</a:t>
            </a:r>
            <a:r>
              <a:rPr lang="en-US" sz="4400" dirty="0">
                <a:latin typeface="Arial"/>
                <a:cs typeface="Arial"/>
              </a:rPr>
              <a:t>? </a:t>
            </a:r>
            <a:endParaRPr lang="en-US" sz="4400" dirty="0"/>
          </a:p>
          <a:p>
            <a:endParaRPr lang="en-US" dirty="0">
              <a:latin typeface="Arial"/>
              <a:cs typeface="Arial"/>
            </a:endParaRPr>
          </a:p>
        </p:txBody>
      </p:sp>
      <p:pic>
        <p:nvPicPr>
          <p:cNvPr id="8" name="Picture 7" descr="A number line from zero to one segmented into eighths with three eighths shaded purple.">
            <a:extLst>
              <a:ext uri="{FF2B5EF4-FFF2-40B4-BE49-F238E27FC236}">
                <a16:creationId xmlns:a16="http://schemas.microsoft.com/office/drawing/2014/main" id="{011726F9-3BA3-EB87-5450-95C6C3AA8DEC}"/>
              </a:ext>
            </a:extLst>
          </p:cNvPr>
          <p:cNvPicPr>
            <a:picLocks noChangeAspect="1"/>
          </p:cNvPicPr>
          <p:nvPr/>
        </p:nvPicPr>
        <p:blipFill>
          <a:blip r:embed="rId4"/>
          <a:stretch>
            <a:fillRect/>
          </a:stretch>
        </p:blipFill>
        <p:spPr>
          <a:xfrm>
            <a:off x="1341499" y="3520277"/>
            <a:ext cx="9509003" cy="2471089"/>
          </a:xfrm>
          <a:prstGeom prst="rect">
            <a:avLst/>
          </a:prstGeom>
        </p:spPr>
      </p:pic>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291057" y="2182601"/>
            <a:ext cx="9609887" cy="1356466"/>
          </a:xfrm>
        </p:spPr>
        <p:txBody>
          <a:bodyPr/>
          <a:lstStyle/>
          <a:p>
            <a:pPr algn="ctr"/>
            <a:r>
              <a:rPr lang="en-US" sz="4400" dirty="0">
                <a:latin typeface="Arial"/>
                <a:cs typeface="Arial"/>
              </a:rPr>
              <a:t>Use a </a:t>
            </a:r>
            <a:r>
              <a:rPr lang="en-US" sz="4400" b="1" dirty="0">
                <a:latin typeface="Arial"/>
                <a:cs typeface="Arial"/>
              </a:rPr>
              <a:t>partitioning strategy </a:t>
            </a:r>
            <a:r>
              <a:rPr lang="en-US" sz="4400" dirty="0">
                <a:latin typeface="Arial"/>
                <a:cs typeface="Arial"/>
              </a:rPr>
              <a:t>to solve</a:t>
            </a:r>
          </a:p>
          <a:p>
            <a:pPr algn="ctr"/>
            <a:r>
              <a:rPr lang="en-US" sz="5400" dirty="0">
                <a:latin typeface="Arial"/>
                <a:cs typeface="Arial"/>
              </a:rPr>
              <a:t> 45 + 38</a:t>
            </a:r>
          </a:p>
          <a:p>
            <a:pPr algn="ctr"/>
            <a:endParaRPr lang="en-US" sz="4400" dirty="0">
              <a:latin typeface="Arial"/>
              <a:cs typeface="Arial"/>
            </a:endParaRPr>
          </a:p>
          <a:p>
            <a:endParaRPr lang="en-US" dirty="0">
              <a:latin typeface="Arial"/>
              <a:cs typeface="Arial"/>
            </a:endParaRPr>
          </a:p>
        </p:txBody>
      </p:sp>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 </a:t>
            </a:r>
            <a:r>
              <a:rPr lang="en-US">
                <a:solidFill>
                  <a:schemeClr val="bg1"/>
                </a:solidFill>
                <a:latin typeface="Arial"/>
                <a:cs typeface="Arial"/>
              </a:rPr>
              <a:t>15 (8)</a:t>
            </a:r>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26" name="Picture 25" descr="A map labelled north, east, south, west at the compass points. The images on the map from top left to right include a park and blue houses. West to East include a pond, a hospital in the centre and a red house. Bottom, left to right includes a tree, a river from south to east with a timber bridge and in the south-eastern corner, a green house.">
            <a:extLst>
              <a:ext uri="{FF2B5EF4-FFF2-40B4-BE49-F238E27FC236}">
                <a16:creationId xmlns:a16="http://schemas.microsoft.com/office/drawing/2014/main" id="{E1492FE3-A7AE-F805-A585-04AB388BC514}"/>
              </a:ext>
            </a:extLst>
          </p:cNvPr>
          <p:cNvPicPr>
            <a:picLocks noChangeAspect="1"/>
          </p:cNvPicPr>
          <p:nvPr/>
        </p:nvPicPr>
        <p:blipFill>
          <a:blip r:embed="rId4"/>
          <a:stretch>
            <a:fillRect/>
          </a:stretch>
        </p:blipFill>
        <p:spPr>
          <a:xfrm>
            <a:off x="178864" y="1386352"/>
            <a:ext cx="6282173" cy="4542809"/>
          </a:xfrm>
          <a:prstGeom prst="rect">
            <a:avLst/>
          </a:prstGeom>
          <a:ln>
            <a:noFill/>
          </a:ln>
          <a:effectLst/>
        </p:spPr>
      </p:pic>
      <p:sp>
        <p:nvSpPr>
          <p:cNvPr id="4" name="TextBox 3">
            <a:extLst>
              <a:ext uri="{FF2B5EF4-FFF2-40B4-BE49-F238E27FC236}">
                <a16:creationId xmlns:a16="http://schemas.microsoft.com/office/drawing/2014/main" id="{37743E66-387B-D4F6-72FE-0CCB9557C3B3}"/>
              </a:ext>
            </a:extLst>
          </p:cNvPr>
          <p:cNvSpPr txBox="1"/>
          <p:nvPr/>
        </p:nvSpPr>
        <p:spPr>
          <a:xfrm>
            <a:off x="6857203" y="1521962"/>
            <a:ext cx="5155933" cy="545601"/>
          </a:xfrm>
          <a:prstGeom prst="rect">
            <a:avLst/>
          </a:prstGeom>
          <a:noFill/>
        </p:spPr>
        <p:txBody>
          <a:bodyPr wrap="square" lIns="0" tIns="0" rIns="0" bIns="0" rtlCol="0">
            <a:noAutofit/>
          </a:bodyPr>
          <a:lstStyle/>
          <a:p>
            <a:pPr algn="l"/>
            <a:r>
              <a:rPr lang="en-AU" sz="3200"/>
              <a:t>Start at the pond. Travel east until you reach the river then turn north and travel until you pass the hospital. If you make a quarter turn to the left and move west, where will you arrive?</a:t>
            </a:r>
          </a:p>
          <a:p>
            <a:pPr algn="l"/>
            <a:br>
              <a:rPr lang="en-AU" sz="3600"/>
            </a:br>
            <a:br>
              <a:rPr lang="en-AU" sz="3600"/>
            </a:br>
            <a:endParaRPr lang="en-AU" sz="3600"/>
          </a:p>
          <a:p>
            <a:pPr algn="l"/>
            <a:endParaRPr lang="en-AU" sz="1800"/>
          </a:p>
        </p:txBody>
      </p:sp>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D7CF-D02E-3A2F-8337-92B12356A9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99922-5423-9B27-F9A6-1CEAD0DA7139}"/>
              </a:ext>
            </a:extLst>
          </p:cNvPr>
          <p:cNvSpPr>
            <a:spLocks noGrp="1"/>
          </p:cNvSpPr>
          <p:nvPr>
            <p:ph type="title"/>
          </p:nvPr>
        </p:nvSpPr>
        <p:spPr>
          <a:xfrm>
            <a:off x="360000" y="360000"/>
            <a:ext cx="7970184" cy="545601"/>
          </a:xfrm>
        </p:spPr>
        <p:txBody>
          <a:bodyPr/>
          <a:lstStyle/>
          <a:p>
            <a:r>
              <a:rPr lang="en-AU">
                <a:latin typeface="Arial"/>
                <a:cs typeface="Arial"/>
              </a:rPr>
              <a:t>Activity 2 – groups to arrays 2</a:t>
            </a:r>
          </a:p>
        </p:txBody>
      </p:sp>
      <p:pic>
        <p:nvPicPr>
          <p:cNvPr id="4" name="Picture 3" descr="image of a head with cogs turning inside">
            <a:extLst>
              <a:ext uri="{FF2B5EF4-FFF2-40B4-BE49-F238E27FC236}">
                <a16:creationId xmlns:a16="http://schemas.microsoft.com/office/drawing/2014/main" id="{C6B28BDB-8C13-6340-3048-1E5D6273435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5" name="Picture 14" descr="Two individual whiteboards side by side. The first whiteboard shows 4 groups. Each group has 5 coloured counters inside. The second whiteboard shows 4 empty groups and the coloured counters arranged into an array of 4 fives. It is labelled ‘4 fives are 20’.">
            <a:extLst>
              <a:ext uri="{FF2B5EF4-FFF2-40B4-BE49-F238E27FC236}">
                <a16:creationId xmlns:a16="http://schemas.microsoft.com/office/drawing/2014/main" id="{5BFBA307-A8A4-87EC-6C31-C05DAC6C57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92646" y="1515261"/>
            <a:ext cx="6806709" cy="4863867"/>
          </a:xfrm>
          <a:prstGeom prst="rect">
            <a:avLst/>
          </a:prstGeom>
          <a:ln>
            <a:noFill/>
          </a:ln>
          <a:effectLst/>
        </p:spPr>
      </p:pic>
      <p:sp>
        <p:nvSpPr>
          <p:cNvPr id="2" name="Slide Number Placeholder 1">
            <a:extLst>
              <a:ext uri="{FF2B5EF4-FFF2-40B4-BE49-F238E27FC236}">
                <a16:creationId xmlns:a16="http://schemas.microsoft.com/office/drawing/2014/main" id="{BAE2436C-7ECD-B015-282D-6C58EDC7729F}"/>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0523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(5) </a:t>
            </a:r>
          </a:p>
        </p:txBody>
      </p:sp>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688562"/>
            <a:ext cx="11249133" cy="897260"/>
          </a:xfrm>
        </p:spPr>
        <p:txBody>
          <a:bodyPr vert="horz" lIns="0" tIns="0" rIns="0" bIns="0" rtlCol="0" anchor="t">
            <a:noAutofit/>
          </a:bodyPr>
          <a:lstStyle/>
          <a:p>
            <a:pPr algn="ctr"/>
            <a:r>
              <a:rPr lang="en-AU" sz="4400" dirty="0">
                <a:latin typeface="Arial"/>
                <a:cs typeface="Arial"/>
              </a:rPr>
              <a:t>The first 5 </a:t>
            </a:r>
            <a:r>
              <a:rPr lang="en-AU" sz="4400" b="1" dirty="0">
                <a:latin typeface="Arial"/>
                <a:cs typeface="Arial"/>
              </a:rPr>
              <a:t>multiples </a:t>
            </a:r>
            <a:r>
              <a:rPr lang="en-AU" sz="4400" dirty="0">
                <a:latin typeface="Arial"/>
                <a:cs typeface="Arial"/>
              </a:rPr>
              <a:t>counting by fours are…</a:t>
            </a:r>
            <a:endParaRPr lang="en-US" sz="2000" dirty="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93725735"/>
              </p:ext>
            </p:extLst>
          </p:nvPr>
        </p:nvGraphicFramePr>
        <p:xfrm>
          <a:off x="360000" y="3987625"/>
          <a:ext cx="11484000" cy="18897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t>4, 8, 9,12,16</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dirty="0">
                          <a:latin typeface="+mn-lt"/>
                          <a:cs typeface="Arial"/>
                        </a:rPr>
                        <a:t>4, 8, 12, 16, 20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latin typeface="+mn-lt"/>
                          <a:cs typeface="Arial"/>
                        </a:rPr>
                        <a:t>12, 16, 20, 24, 28</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dirty="0">
                          <a:latin typeface="+mn-lt"/>
                          <a:cs typeface="Arial"/>
                        </a:rPr>
                        <a:t>5, 10, 15, 20, 25 </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474481" y="1186425"/>
            <a:ext cx="11243037" cy="1237994"/>
          </a:xfrm>
        </p:spPr>
        <p:txBody>
          <a:bodyPr/>
          <a:lstStyle/>
          <a:p>
            <a:pPr algn="ctr"/>
            <a:r>
              <a:rPr lang="en-AU" sz="4400" b="0" dirty="0">
                <a:latin typeface="Arial"/>
                <a:cs typeface="Arial"/>
              </a:rPr>
              <a:t>Record the </a:t>
            </a:r>
            <a:r>
              <a:rPr lang="en-AU" sz="4400" b="1" dirty="0">
                <a:latin typeface="Arial"/>
                <a:cs typeface="Arial"/>
              </a:rPr>
              <a:t>4 number sentences </a:t>
            </a:r>
            <a:r>
              <a:rPr lang="en-AU" sz="4400" b="0" dirty="0">
                <a:latin typeface="Arial"/>
                <a:cs typeface="Arial"/>
              </a:rPr>
              <a:t>for this fact family. </a:t>
            </a:r>
          </a:p>
          <a:p>
            <a:pPr marL="571500" indent="-571500" algn="ctr">
              <a:buFont typeface="Arial" panose="020B0604020202020204" pitchFamily="34" charset="0"/>
              <a:buChar char="•"/>
            </a:pPr>
            <a:endParaRPr lang="en-US" dirty="0">
              <a:latin typeface="Arial"/>
              <a:cs typeface="Arial"/>
            </a:endParaRPr>
          </a:p>
        </p:txBody>
      </p:sp>
      <p:pic>
        <p:nvPicPr>
          <p:cNvPr id="8" name="Picture 7" descr="Triangle fact families 1 with the numbers 28, 7 and 4. Triangle fact families 2 with the numbers 28, 14 and 2.">
            <a:extLst>
              <a:ext uri="{FF2B5EF4-FFF2-40B4-BE49-F238E27FC236}">
                <a16:creationId xmlns:a16="http://schemas.microsoft.com/office/drawing/2014/main" id="{4DCEA317-3A83-00D2-9D03-DAC99462DC54}"/>
              </a:ext>
            </a:extLst>
          </p:cNvPr>
          <p:cNvPicPr>
            <a:picLocks noChangeAspect="1"/>
          </p:cNvPicPr>
          <p:nvPr/>
        </p:nvPicPr>
        <p:blipFill>
          <a:blip r:embed="rId4"/>
          <a:srcRect r="49382"/>
          <a:stretch>
            <a:fillRect/>
          </a:stretch>
        </p:blipFill>
        <p:spPr>
          <a:xfrm>
            <a:off x="3694207" y="3057263"/>
            <a:ext cx="4207653" cy="3638737"/>
          </a:xfrm>
          <a:prstGeom prst="rect">
            <a:avLst/>
          </a:prstGeom>
        </p:spPr>
      </p:pic>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(10)</a:t>
            </a: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166835" y="1906436"/>
            <a:ext cx="11243037" cy="3887351"/>
          </a:xfrm>
        </p:spPr>
        <p:txBody>
          <a:bodyPr/>
          <a:lstStyle/>
          <a:p>
            <a:pPr algn="ctr"/>
            <a:r>
              <a:rPr lang="en-AU" sz="4400" dirty="0">
                <a:latin typeface="Arial"/>
                <a:cs typeface="Arial"/>
              </a:rPr>
              <a:t>Draw a fraction strip or diagram showing       </a:t>
            </a:r>
          </a:p>
          <a:p>
            <a:pPr algn="ctr"/>
            <a:endParaRPr lang="en-AU" sz="2400" dirty="0">
              <a:latin typeface="Arial"/>
              <a:cs typeface="Aria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0794EA-B0F2-10D0-BC10-D56CEF467298}"/>
                  </a:ext>
                </a:extLst>
              </p:cNvPr>
              <p:cNvSpPr txBox="1"/>
              <p:nvPr/>
            </p:nvSpPr>
            <p:spPr>
              <a:xfrm>
                <a:off x="5051077" y="3673642"/>
                <a:ext cx="1445976" cy="1565806"/>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𝟐</m:t>
                        </m:r>
                      </m:num>
                      <m:den>
                        <m:r>
                          <a:rPr lang="en-AU" sz="4400" b="1" i="1" smtClean="0">
                            <a:effectLst/>
                            <a:latin typeface="Cambria Math" panose="02040503050406030204" pitchFamily="18" charset="0"/>
                          </a:rPr>
                          <m:t>𝟑</m:t>
                        </m:r>
                      </m:den>
                    </m:f>
                  </m:oMath>
                </a14:m>
                <a:r>
                  <a:rPr lang="en-AU" sz="4400" b="1" dirty="0"/>
                  <a:t> </a:t>
                </a:r>
              </a:p>
            </p:txBody>
          </p:sp>
        </mc:Choice>
        <mc:Fallback xmlns="">
          <p:sp>
            <p:nvSpPr>
              <p:cNvPr id="6" name="TextBox 5">
                <a:extLst>
                  <a:ext uri="{FF2B5EF4-FFF2-40B4-BE49-F238E27FC236}">
                    <a16:creationId xmlns:a16="http://schemas.microsoft.com/office/drawing/2014/main" id="{1E0794EA-B0F2-10D0-BC10-D56CEF467298}"/>
                  </a:ext>
                </a:extLst>
              </p:cNvPr>
              <p:cNvSpPr txBox="1">
                <a:spLocks noRot="1" noChangeAspect="1" noMove="1" noResize="1" noEditPoints="1" noAdjustHandles="1" noChangeArrowheads="1" noChangeShapeType="1" noTextEdit="1"/>
              </p:cNvSpPr>
              <p:nvPr/>
            </p:nvSpPr>
            <p:spPr>
              <a:xfrm>
                <a:off x="5051077" y="3673642"/>
                <a:ext cx="1445976" cy="1565806"/>
              </a:xfrm>
              <a:prstGeom prst="rect">
                <a:avLst/>
              </a:prstGeom>
              <a:blipFill>
                <a:blip r:embed="rId4"/>
                <a:stretch>
                  <a:fillRect/>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466344" y="1454222"/>
            <a:ext cx="10657656" cy="801145"/>
          </a:xfrm>
        </p:spPr>
        <p:txBody>
          <a:bodyPr/>
          <a:lstStyle/>
          <a:p>
            <a:pPr algn="ctr"/>
            <a:r>
              <a:rPr lang="en-AU" sz="4400" dirty="0">
                <a:latin typeface="Arial"/>
                <a:cs typeface="Arial"/>
              </a:rPr>
              <a:t>Use the </a:t>
            </a:r>
            <a:r>
              <a:rPr lang="en-AU" sz="4400" b="1" dirty="0">
                <a:latin typeface="Arial"/>
                <a:cs typeface="Arial"/>
              </a:rPr>
              <a:t>compensation</a:t>
            </a:r>
            <a:r>
              <a:rPr lang="en-AU" sz="4400" dirty="0">
                <a:latin typeface="Arial"/>
                <a:cs typeface="Arial"/>
              </a:rPr>
              <a:t> strategy to solve</a:t>
            </a:r>
          </a:p>
          <a:p>
            <a:pPr algn="ctr"/>
            <a:r>
              <a:rPr lang="en-AU" sz="6000" dirty="0">
                <a:latin typeface="Arial"/>
                <a:cs typeface="Arial"/>
              </a:rPr>
              <a:t> 75 - 28</a:t>
            </a:r>
            <a:endParaRPr lang="en-US" sz="6000" dirty="0">
              <a:latin typeface="Arial"/>
              <a:cs typeface="Arial"/>
            </a:endParaRPr>
          </a:p>
        </p:txBody>
      </p:sp>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n image of a green rectangle and a blue trapezium.">
            <a:extLst>
              <a:ext uri="{FF2B5EF4-FFF2-40B4-BE49-F238E27FC236}">
                <a16:creationId xmlns:a16="http://schemas.microsoft.com/office/drawing/2014/main" id="{7B604038-3F91-907D-3805-9D3BD20234F4}"/>
              </a:ext>
            </a:extLst>
          </p:cNvPr>
          <p:cNvPicPr>
            <a:picLocks noChangeAspect="1"/>
          </p:cNvPicPr>
          <p:nvPr/>
        </p:nvPicPr>
        <p:blipFill>
          <a:blip r:embed="rId4"/>
          <a:stretch>
            <a:fillRect/>
          </a:stretch>
        </p:blipFill>
        <p:spPr>
          <a:xfrm>
            <a:off x="2720801" y="905601"/>
            <a:ext cx="6750397" cy="2190863"/>
          </a:xfrm>
          <a:prstGeom prst="rect">
            <a:avLst/>
          </a:prstGeom>
        </p:spPr>
      </p:pic>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600963" y="1275500"/>
            <a:ext cx="11243037" cy="5088724"/>
          </a:xfrm>
        </p:spPr>
        <p:txBody>
          <a:bodyPr/>
          <a:lstStyle/>
          <a:p>
            <a:pPr algn="ctr"/>
            <a:endParaRPr lang="en-AU" sz="3200" dirty="0">
              <a:latin typeface="Arial"/>
              <a:cs typeface="Arial"/>
            </a:endParaRPr>
          </a:p>
          <a:p>
            <a:pPr algn="ctr"/>
            <a:endParaRPr lang="en-AU" sz="3200" dirty="0">
              <a:latin typeface="Arial"/>
              <a:cs typeface="Arial"/>
            </a:endParaRPr>
          </a:p>
          <a:p>
            <a:pPr algn="ctr"/>
            <a:r>
              <a:rPr lang="en-AU" sz="4000" dirty="0">
                <a:latin typeface="Arial"/>
                <a:cs typeface="Arial"/>
              </a:rPr>
              <a:t>Name these </a:t>
            </a:r>
            <a:r>
              <a:rPr lang="en-AU" sz="4000" b="1" dirty="0">
                <a:latin typeface="Arial"/>
                <a:cs typeface="Arial"/>
              </a:rPr>
              <a:t>two-dimensional shapes</a:t>
            </a:r>
            <a:r>
              <a:rPr lang="en-AU" sz="4000" dirty="0">
                <a:latin typeface="Arial"/>
                <a:cs typeface="Arial"/>
              </a:rPr>
              <a:t>?</a:t>
            </a:r>
          </a:p>
          <a:p>
            <a:pPr algn="ctr"/>
            <a:r>
              <a:rPr lang="en-AU" sz="4000" dirty="0">
                <a:latin typeface="Arial"/>
                <a:cs typeface="Arial"/>
              </a:rPr>
              <a:t>What features are the same?</a:t>
            </a:r>
          </a:p>
          <a:p>
            <a:pPr algn="ctr"/>
            <a:r>
              <a:rPr lang="en-AU" sz="4000" dirty="0">
                <a:latin typeface="Arial"/>
                <a:cs typeface="Arial"/>
              </a:rPr>
              <a:t>How are they different?</a:t>
            </a:r>
          </a:p>
        </p:txBody>
      </p:sp>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3B89A-3A2A-1F2F-62FC-F1A7D3AE51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456218-D46F-2523-68BC-9FFA209FA48E}"/>
              </a:ext>
            </a:extLst>
          </p:cNvPr>
          <p:cNvSpPr>
            <a:spLocks noGrp="1"/>
          </p:cNvSpPr>
          <p:nvPr>
            <p:ph type="title"/>
          </p:nvPr>
        </p:nvSpPr>
        <p:spPr>
          <a:xfrm>
            <a:off x="360000" y="360000"/>
            <a:ext cx="11484000" cy="545601"/>
          </a:xfrm>
        </p:spPr>
        <p:txBody>
          <a:bodyPr/>
          <a:lstStyle/>
          <a:p>
            <a:r>
              <a:rPr lang="en-AU">
                <a:latin typeface="Arial"/>
                <a:cs typeface="Arial"/>
              </a:rPr>
              <a:t>Activity 3 – array bingo</a:t>
            </a:r>
          </a:p>
        </p:txBody>
      </p:sp>
      <p:pic>
        <p:nvPicPr>
          <p:cNvPr id="4" name="Picture 3" descr="image of a head with cogs turning inside">
            <a:extLst>
              <a:ext uri="{FF2B5EF4-FFF2-40B4-BE49-F238E27FC236}">
                <a16:creationId xmlns:a16="http://schemas.microsoft.com/office/drawing/2014/main" id="{3A63BCDA-E772-7629-7DB1-E0C39A32008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3" name="Picture 72" descr="A range of tiles with different black dot arrays. &#10;">
            <a:extLst>
              <a:ext uri="{FF2B5EF4-FFF2-40B4-BE49-F238E27FC236}">
                <a16:creationId xmlns:a16="http://schemas.microsoft.com/office/drawing/2014/main" id="{42E18AEA-70F2-9FBE-7C33-F6916562E974}"/>
              </a:ext>
            </a:extLst>
          </p:cNvPr>
          <p:cNvPicPr>
            <a:picLocks noChangeAspect="1"/>
          </p:cNvPicPr>
          <p:nvPr/>
        </p:nvPicPr>
        <p:blipFill>
          <a:blip r:embed="rId4"/>
          <a:stretch>
            <a:fillRect/>
          </a:stretch>
        </p:blipFill>
        <p:spPr>
          <a:xfrm>
            <a:off x="360000" y="1075489"/>
            <a:ext cx="5069186" cy="3617775"/>
          </a:xfrm>
          <a:prstGeom prst="rect">
            <a:avLst/>
          </a:prstGeom>
        </p:spPr>
      </p:pic>
      <p:pic>
        <p:nvPicPr>
          <p:cNvPr id="75" name="Picture 74" descr="A range of tiles with different words to describe the black dot arrays.">
            <a:extLst>
              <a:ext uri="{FF2B5EF4-FFF2-40B4-BE49-F238E27FC236}">
                <a16:creationId xmlns:a16="http://schemas.microsoft.com/office/drawing/2014/main" id="{A9BDEDF2-5852-96AD-010B-8D1FEB6497CD}"/>
              </a:ext>
            </a:extLst>
          </p:cNvPr>
          <p:cNvPicPr>
            <a:picLocks noChangeAspect="1"/>
          </p:cNvPicPr>
          <p:nvPr/>
        </p:nvPicPr>
        <p:blipFill>
          <a:blip r:embed="rId5"/>
          <a:stretch>
            <a:fillRect/>
          </a:stretch>
        </p:blipFill>
        <p:spPr>
          <a:xfrm>
            <a:off x="6503534" y="2521345"/>
            <a:ext cx="5444507" cy="3849413"/>
          </a:xfrm>
          <a:prstGeom prst="rect">
            <a:avLst/>
          </a:prstGeom>
        </p:spPr>
      </p:pic>
      <p:sp>
        <p:nvSpPr>
          <p:cNvPr id="2" name="Slide Number Placeholder 1">
            <a:extLst>
              <a:ext uri="{FF2B5EF4-FFF2-40B4-BE49-F238E27FC236}">
                <a16:creationId xmlns:a16="http://schemas.microsoft.com/office/drawing/2014/main" id="{A15F9D10-AC0D-668C-F937-48C95C9CABCF}"/>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134396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2" y="767019"/>
            <a:ext cx="11243037" cy="900720"/>
          </a:xfrm>
        </p:spPr>
        <p:txBody>
          <a:bodyPr vert="horz" lIns="0" tIns="0" rIns="0" bIns="0" rtlCol="0" anchor="t">
            <a:noAutofit/>
          </a:bodyPr>
          <a:lstStyle/>
          <a:p>
            <a:pPr algn="ctr"/>
            <a:r>
              <a:rPr lang="en-AU" sz="4400">
                <a:latin typeface="Arial"/>
                <a:cs typeface="Arial"/>
              </a:rPr>
              <a:t>This </a:t>
            </a:r>
            <a:r>
              <a:rPr lang="en-AU" sz="4400" b="1">
                <a:latin typeface="Arial"/>
                <a:cs typeface="Arial"/>
              </a:rPr>
              <a:t>array</a:t>
            </a:r>
            <a:r>
              <a:rPr lang="en-AU" sz="4400">
                <a:latin typeface="Arial"/>
                <a:cs typeface="Arial"/>
              </a:rPr>
              <a:t> show 5 fives? </a:t>
            </a:r>
            <a:endParaRPr lang="en-US" sz="4400"/>
          </a:p>
        </p:txBody>
      </p:sp>
      <p:pic>
        <p:nvPicPr>
          <p:cNvPr id="9" name="Picture 8" descr="An array of black circles 5 x 6.">
            <a:extLst>
              <a:ext uri="{FF2B5EF4-FFF2-40B4-BE49-F238E27FC236}">
                <a16:creationId xmlns:a16="http://schemas.microsoft.com/office/drawing/2014/main" id="{D4A72FD4-4055-C57C-134C-6D86F0B78732}"/>
              </a:ext>
            </a:extLst>
          </p:cNvPr>
          <p:cNvPicPr>
            <a:picLocks noChangeAspect="1"/>
          </p:cNvPicPr>
          <p:nvPr/>
        </p:nvPicPr>
        <p:blipFill>
          <a:blip r:embed="rId4"/>
          <a:srcRect r="3410"/>
          <a:stretch>
            <a:fillRect/>
          </a:stretch>
        </p:blipFill>
        <p:spPr>
          <a:xfrm>
            <a:off x="4660976" y="1911543"/>
            <a:ext cx="2870049" cy="3414616"/>
          </a:xfrm>
          <a:prstGeom prst="rect">
            <a:avLst/>
          </a:prstGeom>
        </p:spPr>
      </p:pic>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467466838"/>
              </p:ext>
            </p:extLst>
          </p:nvPr>
        </p:nvGraphicFramePr>
        <p:xfrm>
          <a:off x="2442981"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(13)</a:t>
            </a: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474481" y="1194675"/>
            <a:ext cx="11243037" cy="4430945"/>
          </a:xfrm>
        </p:spPr>
        <p:txBody>
          <a:bodyPr/>
          <a:lstStyle/>
          <a:p>
            <a:pPr algn="ctr"/>
            <a:r>
              <a:rPr lang="en-AU" sz="4000" dirty="0"/>
              <a:t>Liam used 1 cm × 1 cm squares to cover a rectangle. He made </a:t>
            </a:r>
            <a:r>
              <a:rPr lang="en-AU" sz="4000" b="1" dirty="0"/>
              <a:t>4 rows</a:t>
            </a:r>
            <a:r>
              <a:rPr lang="en-AU" sz="4000" dirty="0"/>
              <a:t> with </a:t>
            </a:r>
            <a:r>
              <a:rPr lang="en-AU" sz="4000" b="1" dirty="0"/>
              <a:t>6 squares</a:t>
            </a:r>
            <a:r>
              <a:rPr lang="en-AU" sz="4000" dirty="0"/>
              <a:t> in each row.</a:t>
            </a:r>
          </a:p>
          <a:p>
            <a:pPr algn="ctr"/>
            <a:endParaRPr lang="en-AU" sz="2400" dirty="0"/>
          </a:p>
          <a:p>
            <a:pPr algn="ctr"/>
            <a:r>
              <a:rPr lang="en-AU" sz="4000" dirty="0"/>
              <a:t>Draw and label your </a:t>
            </a:r>
            <a:r>
              <a:rPr lang="en-AU" sz="4000" b="1" dirty="0"/>
              <a:t>array</a:t>
            </a:r>
            <a:r>
              <a:rPr lang="en-AU" sz="4000" dirty="0"/>
              <a:t>.  </a:t>
            </a:r>
          </a:p>
          <a:p>
            <a:pPr algn="ctr"/>
            <a:r>
              <a:rPr lang="en-AU" sz="4000" dirty="0"/>
              <a:t>Record the </a:t>
            </a:r>
            <a:r>
              <a:rPr lang="en-AU" sz="4000" b="1" dirty="0"/>
              <a:t>area</a:t>
            </a:r>
            <a:r>
              <a:rPr lang="en-AU" sz="4000" dirty="0"/>
              <a:t> in square centimetres. </a:t>
            </a:r>
          </a:p>
          <a:p>
            <a:endParaRPr lang="en-US" dirty="0">
              <a:latin typeface="Arial"/>
              <a:cs typeface="Arial"/>
            </a:endParaRPr>
          </a:p>
        </p:txBody>
      </p:sp>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(14))</a:t>
            </a:r>
          </a:p>
        </p:txBody>
      </p:sp>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474481" y="1505957"/>
            <a:ext cx="11243037" cy="4596090"/>
          </a:xfrm>
        </p:spPr>
        <p:txBody>
          <a:bodyPr/>
          <a:lstStyle/>
          <a:p>
            <a:pPr algn="ctr"/>
            <a:r>
              <a:rPr lang="en-AU" sz="4400" dirty="0"/>
              <a:t>A paper strip is divided into </a:t>
            </a:r>
            <a:r>
              <a:rPr lang="en-AU" sz="4400" b="1" dirty="0"/>
              <a:t>5</a:t>
            </a:r>
            <a:r>
              <a:rPr lang="en-AU" sz="4400" dirty="0"/>
              <a:t> equal parts. </a:t>
            </a:r>
          </a:p>
          <a:p>
            <a:pPr algn="ctr"/>
            <a:endParaRPr lang="en-AU" sz="2400" dirty="0"/>
          </a:p>
          <a:p>
            <a:pPr algn="ctr"/>
            <a:r>
              <a:rPr lang="en-AU" sz="4400" dirty="0"/>
              <a:t>If you shade </a:t>
            </a:r>
            <a:r>
              <a:rPr lang="en-AU" sz="4400" b="1" dirty="0"/>
              <a:t>3</a:t>
            </a:r>
            <a:r>
              <a:rPr lang="en-AU" sz="4400" dirty="0"/>
              <a:t> of these parts, what </a:t>
            </a:r>
            <a:r>
              <a:rPr lang="en-AU" sz="4400" b="1" dirty="0"/>
              <a:t>fraction</a:t>
            </a:r>
            <a:r>
              <a:rPr lang="en-AU" sz="4400" dirty="0"/>
              <a:t> of the strip is shaded? How do you know?</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60001" y="1371295"/>
            <a:ext cx="11243037" cy="4859129"/>
          </a:xfrm>
        </p:spPr>
        <p:txBody>
          <a:bodyPr/>
          <a:lstStyle/>
          <a:p>
            <a:pPr algn="ctr"/>
            <a:r>
              <a:rPr lang="en-AU" sz="4400" b="1" dirty="0">
                <a:latin typeface="Arial"/>
                <a:cs typeface="Arial"/>
              </a:rPr>
              <a:t>Record </a:t>
            </a:r>
            <a:r>
              <a:rPr lang="en-AU" sz="4400" dirty="0">
                <a:latin typeface="Arial"/>
                <a:cs typeface="Arial"/>
              </a:rPr>
              <a:t>all the possible ways you could</a:t>
            </a:r>
            <a:r>
              <a:rPr lang="en-AU" sz="4400" b="1" dirty="0">
                <a:latin typeface="Arial"/>
                <a:cs typeface="Arial"/>
              </a:rPr>
              <a:t> make $1.60.</a:t>
            </a:r>
            <a:endParaRPr lang="en-US" b="1" dirty="0"/>
          </a:p>
          <a:p>
            <a:pPr algn="ctr"/>
            <a:endParaRPr lang="en-AU" sz="4400" dirty="0"/>
          </a:p>
          <a:p>
            <a:pPr algn="ctr"/>
            <a:r>
              <a:rPr lang="en-AU" sz="4400" dirty="0">
                <a:latin typeface="Arial"/>
                <a:cs typeface="Arial"/>
              </a:rPr>
              <a:t>How </a:t>
            </a:r>
            <a:r>
              <a:rPr lang="en-AU" sz="4400">
                <a:latin typeface="Arial"/>
                <a:cs typeface="Arial"/>
              </a:rPr>
              <a:t>many ways</a:t>
            </a:r>
            <a:r>
              <a:rPr lang="en-AU" sz="4400" dirty="0">
                <a:latin typeface="Arial"/>
                <a:cs typeface="Arial"/>
              </a:rPr>
              <a:t> did you find?</a:t>
            </a:r>
            <a:endParaRPr lang="en-AU" sz="4400" dirty="0"/>
          </a:p>
          <a:p>
            <a:pPr algn="ctr"/>
            <a:endParaRPr lang="en-AU" sz="2400" dirty="0">
              <a:latin typeface="Arial"/>
              <a:cs typeface="Arial"/>
            </a:endParaRP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An image of three-dimensional objects: a square pyramid and a cylinder.">
            <a:extLst>
              <a:ext uri="{FF2B5EF4-FFF2-40B4-BE49-F238E27FC236}">
                <a16:creationId xmlns:a16="http://schemas.microsoft.com/office/drawing/2014/main" id="{907D11E9-43CA-AC96-5749-14871A26CE00}"/>
              </a:ext>
            </a:extLst>
          </p:cNvPr>
          <p:cNvPicPr>
            <a:picLocks noChangeAspect="1"/>
          </p:cNvPicPr>
          <p:nvPr/>
        </p:nvPicPr>
        <p:blipFill>
          <a:blip r:embed="rId4"/>
          <a:stretch>
            <a:fillRect/>
          </a:stretch>
        </p:blipFill>
        <p:spPr>
          <a:xfrm>
            <a:off x="2885735" y="1184223"/>
            <a:ext cx="6191568" cy="2863997"/>
          </a:xfrm>
          <a:prstGeom prst="rect">
            <a:avLst/>
          </a:prstGeom>
        </p:spPr>
      </p:pic>
      <p:sp>
        <p:nvSpPr>
          <p:cNvPr id="8" name="TextBox 7">
            <a:extLst>
              <a:ext uri="{FF2B5EF4-FFF2-40B4-BE49-F238E27FC236}">
                <a16:creationId xmlns:a16="http://schemas.microsoft.com/office/drawing/2014/main" id="{DA8FFBF2-3D66-8E7F-6E9B-D0D1FA4191FC}"/>
              </a:ext>
            </a:extLst>
          </p:cNvPr>
          <p:cNvSpPr txBox="1"/>
          <p:nvPr/>
        </p:nvSpPr>
        <p:spPr>
          <a:xfrm>
            <a:off x="1164206" y="4687287"/>
            <a:ext cx="10781770" cy="769441"/>
          </a:xfrm>
          <a:prstGeom prst="rect">
            <a:avLst/>
          </a:prstGeom>
          <a:noFill/>
        </p:spPr>
        <p:txBody>
          <a:bodyPr wrap="square">
            <a:spAutoFit/>
          </a:bodyPr>
          <a:lstStyle/>
          <a:p>
            <a:r>
              <a:rPr lang="en-AU" sz="4400"/>
              <a:t>Name the </a:t>
            </a:r>
            <a:r>
              <a:rPr lang="en-AU" sz="4400" b="1"/>
              <a:t>three-dimensional objects.</a:t>
            </a:r>
            <a:endParaRPr lang="en-AU" sz="4400"/>
          </a:p>
        </p:txBody>
      </p:sp>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4 – What comes next? </a:t>
            </a:r>
          </a:p>
        </p:txBody>
      </p:sp>
      <p:pic>
        <p:nvPicPr>
          <p:cNvPr id="69" name="Picture 68" descr="image of a head with cogs turning inside">
            <a:extLst>
              <a:ext uri="{FF2B5EF4-FFF2-40B4-BE49-F238E27FC236}">
                <a16:creationId xmlns:a16="http://schemas.microsoft.com/office/drawing/2014/main" id="{0B800B56-0572-3E22-81FF-FEF6EBFE25AF}"/>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4" name="Group 3" descr="Tray 4 shows 5 rows of 4 apples.">
            <a:extLst>
              <a:ext uri="{FF2B5EF4-FFF2-40B4-BE49-F238E27FC236}">
                <a16:creationId xmlns:a16="http://schemas.microsoft.com/office/drawing/2014/main" id="{94DAA5B8-9C92-06FC-2667-4D29939BD6FB}"/>
              </a:ext>
            </a:extLst>
          </p:cNvPr>
          <p:cNvGrpSpPr/>
          <p:nvPr/>
        </p:nvGrpSpPr>
        <p:grpSpPr>
          <a:xfrm>
            <a:off x="639487" y="2197533"/>
            <a:ext cx="10913025" cy="3218191"/>
            <a:chOff x="162393" y="1428965"/>
            <a:chExt cx="10337714" cy="2842121"/>
          </a:xfrm>
        </p:grpSpPr>
        <p:sp>
          <p:nvSpPr>
            <p:cNvPr id="5" name="Freeform 2">
              <a:extLst>
                <a:ext uri="{FF2B5EF4-FFF2-40B4-BE49-F238E27FC236}">
                  <a16:creationId xmlns:a16="http://schemas.microsoft.com/office/drawing/2014/main" id="{89B529CB-7481-8DAF-2B76-F371638714E5}"/>
                </a:ext>
              </a:extLst>
            </p:cNvPr>
            <p:cNvSpPr/>
            <p:nvPr/>
          </p:nvSpPr>
          <p:spPr>
            <a:xfrm>
              <a:off x="162393" y="1428965"/>
              <a:ext cx="2423554" cy="2842121"/>
            </a:xfrm>
            <a:custGeom>
              <a:avLst/>
              <a:gdLst/>
              <a:ahLst/>
              <a:cxnLst/>
              <a:rect l="l" t="t" r="r" b="b"/>
              <a:pathLst>
                <a:path w="2423554" h="2842121">
                  <a:moveTo>
                    <a:pt x="0" y="0"/>
                  </a:moveTo>
                  <a:lnTo>
                    <a:pt x="2423554" y="0"/>
                  </a:lnTo>
                  <a:lnTo>
                    <a:pt x="2423554" y="2842121"/>
                  </a:lnTo>
                  <a:lnTo>
                    <a:pt x="0" y="284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nvGrpSpPr>
            <p:cNvPr id="6" name="Group 3">
              <a:extLst>
                <a:ext uri="{FF2B5EF4-FFF2-40B4-BE49-F238E27FC236}">
                  <a16:creationId xmlns:a16="http://schemas.microsoft.com/office/drawing/2014/main" id="{DEB2DCA5-2C83-BACB-6500-D23A7F4E751E}"/>
                </a:ext>
              </a:extLst>
            </p:cNvPr>
            <p:cNvGrpSpPr/>
            <p:nvPr/>
          </p:nvGrpSpPr>
          <p:grpSpPr>
            <a:xfrm>
              <a:off x="284067" y="2876892"/>
              <a:ext cx="2180207" cy="976175"/>
              <a:chOff x="0" y="0"/>
              <a:chExt cx="2906941" cy="1301567"/>
            </a:xfrm>
          </p:grpSpPr>
          <p:sp>
            <p:nvSpPr>
              <p:cNvPr id="61" name="Freeform 4">
                <a:extLst>
                  <a:ext uri="{FF2B5EF4-FFF2-40B4-BE49-F238E27FC236}">
                    <a16:creationId xmlns:a16="http://schemas.microsoft.com/office/drawing/2014/main" id="{3B009DB0-E1CE-AC7C-9561-F6CE6BE7DB7D}"/>
                  </a:ext>
                </a:extLst>
              </p:cNvPr>
              <p:cNvSpPr/>
              <p:nvPr/>
            </p:nvSpPr>
            <p:spPr>
              <a:xfrm>
                <a:off x="25400" y="667628"/>
                <a:ext cx="720385" cy="633939"/>
              </a:xfrm>
              <a:custGeom>
                <a:avLst/>
                <a:gdLst/>
                <a:ahLst/>
                <a:cxnLst/>
                <a:rect l="l" t="t" r="r" b="b"/>
                <a:pathLst>
                  <a:path w="720385" h="633939">
                    <a:moveTo>
                      <a:pt x="0" y="0"/>
                    </a:moveTo>
                    <a:lnTo>
                      <a:pt x="720385" y="0"/>
                    </a:lnTo>
                    <a:lnTo>
                      <a:pt x="720385" y="633940"/>
                    </a:lnTo>
                    <a:lnTo>
                      <a:pt x="0" y="633940"/>
                    </a:lnTo>
                    <a:lnTo>
                      <a:pt x="0" y="0"/>
                    </a:lnTo>
                    <a:close/>
                  </a:path>
                </a:pathLst>
              </a:custGeom>
              <a:blipFill>
                <a:blip r:embed="rId6"/>
                <a:stretch>
                  <a:fillRect/>
                </a:stretch>
              </a:blipFill>
            </p:spPr>
            <p:txBody>
              <a:bodyPr/>
              <a:lstStyle/>
              <a:p>
                <a:endParaRPr lang="en-AU"/>
              </a:p>
            </p:txBody>
          </p:sp>
          <p:sp>
            <p:nvSpPr>
              <p:cNvPr id="62" name="Freeform 5">
                <a:extLst>
                  <a:ext uri="{FF2B5EF4-FFF2-40B4-BE49-F238E27FC236}">
                    <a16:creationId xmlns:a16="http://schemas.microsoft.com/office/drawing/2014/main" id="{344E8965-72A2-DBA4-758C-D87B4FE75E29}"/>
                  </a:ext>
                </a:extLst>
              </p:cNvPr>
              <p:cNvSpPr/>
              <p:nvPr/>
            </p:nvSpPr>
            <p:spPr>
              <a:xfrm>
                <a:off x="745785" y="667628"/>
                <a:ext cx="720385" cy="633939"/>
              </a:xfrm>
              <a:custGeom>
                <a:avLst/>
                <a:gdLst/>
                <a:ahLst/>
                <a:cxnLst/>
                <a:rect l="l" t="t" r="r" b="b"/>
                <a:pathLst>
                  <a:path w="720385" h="633939">
                    <a:moveTo>
                      <a:pt x="0" y="0"/>
                    </a:moveTo>
                    <a:lnTo>
                      <a:pt x="720386" y="0"/>
                    </a:lnTo>
                    <a:lnTo>
                      <a:pt x="720386" y="633940"/>
                    </a:lnTo>
                    <a:lnTo>
                      <a:pt x="0" y="633940"/>
                    </a:lnTo>
                    <a:lnTo>
                      <a:pt x="0" y="0"/>
                    </a:lnTo>
                    <a:close/>
                  </a:path>
                </a:pathLst>
              </a:custGeom>
              <a:blipFill>
                <a:blip r:embed="rId6"/>
                <a:stretch>
                  <a:fillRect/>
                </a:stretch>
              </a:blipFill>
            </p:spPr>
            <p:txBody>
              <a:bodyPr/>
              <a:lstStyle/>
              <a:p>
                <a:endParaRPr lang="en-AU"/>
              </a:p>
            </p:txBody>
          </p:sp>
          <p:sp>
            <p:nvSpPr>
              <p:cNvPr id="63" name="Freeform 6">
                <a:extLst>
                  <a:ext uri="{FF2B5EF4-FFF2-40B4-BE49-F238E27FC236}">
                    <a16:creationId xmlns:a16="http://schemas.microsoft.com/office/drawing/2014/main" id="{611AE249-0F0F-FE71-75C7-750B728EB88A}"/>
                  </a:ext>
                </a:extLst>
              </p:cNvPr>
              <p:cNvSpPr/>
              <p:nvPr/>
            </p:nvSpPr>
            <p:spPr>
              <a:xfrm>
                <a:off x="1466171" y="667628"/>
                <a:ext cx="720385" cy="633939"/>
              </a:xfrm>
              <a:custGeom>
                <a:avLst/>
                <a:gdLst/>
                <a:ahLst/>
                <a:cxnLst/>
                <a:rect l="l" t="t" r="r" b="b"/>
                <a:pathLst>
                  <a:path w="720385" h="633939">
                    <a:moveTo>
                      <a:pt x="0" y="0"/>
                    </a:moveTo>
                    <a:lnTo>
                      <a:pt x="720385" y="0"/>
                    </a:lnTo>
                    <a:lnTo>
                      <a:pt x="720385" y="633940"/>
                    </a:lnTo>
                    <a:lnTo>
                      <a:pt x="0" y="633940"/>
                    </a:lnTo>
                    <a:lnTo>
                      <a:pt x="0" y="0"/>
                    </a:lnTo>
                    <a:close/>
                  </a:path>
                </a:pathLst>
              </a:custGeom>
              <a:blipFill>
                <a:blip r:embed="rId6"/>
                <a:stretch>
                  <a:fillRect/>
                </a:stretch>
              </a:blipFill>
            </p:spPr>
            <p:txBody>
              <a:bodyPr/>
              <a:lstStyle/>
              <a:p>
                <a:endParaRPr lang="en-AU"/>
              </a:p>
            </p:txBody>
          </p:sp>
          <p:sp>
            <p:nvSpPr>
              <p:cNvPr id="64" name="Freeform 7">
                <a:extLst>
                  <a:ext uri="{FF2B5EF4-FFF2-40B4-BE49-F238E27FC236}">
                    <a16:creationId xmlns:a16="http://schemas.microsoft.com/office/drawing/2014/main" id="{A41E53A0-1582-084E-95D3-40BF46C549E9}"/>
                  </a:ext>
                </a:extLst>
              </p:cNvPr>
              <p:cNvSpPr/>
              <p:nvPr/>
            </p:nvSpPr>
            <p:spPr>
              <a:xfrm>
                <a:off x="2186556" y="667628"/>
                <a:ext cx="720385" cy="633939"/>
              </a:xfrm>
              <a:custGeom>
                <a:avLst/>
                <a:gdLst/>
                <a:ahLst/>
                <a:cxnLst/>
                <a:rect l="l" t="t" r="r" b="b"/>
                <a:pathLst>
                  <a:path w="720385" h="633939">
                    <a:moveTo>
                      <a:pt x="0" y="0"/>
                    </a:moveTo>
                    <a:lnTo>
                      <a:pt x="720385" y="0"/>
                    </a:lnTo>
                    <a:lnTo>
                      <a:pt x="720385" y="633940"/>
                    </a:lnTo>
                    <a:lnTo>
                      <a:pt x="0" y="633940"/>
                    </a:lnTo>
                    <a:lnTo>
                      <a:pt x="0" y="0"/>
                    </a:lnTo>
                    <a:close/>
                  </a:path>
                </a:pathLst>
              </a:custGeom>
              <a:blipFill>
                <a:blip r:embed="rId6"/>
                <a:stretch>
                  <a:fillRect/>
                </a:stretch>
              </a:blipFill>
            </p:spPr>
            <p:txBody>
              <a:bodyPr/>
              <a:lstStyle/>
              <a:p>
                <a:endParaRPr lang="en-AU"/>
              </a:p>
            </p:txBody>
          </p:sp>
          <p:sp>
            <p:nvSpPr>
              <p:cNvPr id="65" name="Freeform 8">
                <a:extLst>
                  <a:ext uri="{FF2B5EF4-FFF2-40B4-BE49-F238E27FC236}">
                    <a16:creationId xmlns:a16="http://schemas.microsoft.com/office/drawing/2014/main" id="{AA02EF31-BC73-C4D5-48AC-A2064F0FFB40}"/>
                  </a:ext>
                </a:extLst>
              </p:cNvPr>
              <p:cNvSpPr/>
              <p:nvPr/>
            </p:nvSpPr>
            <p:spPr>
              <a:xfrm>
                <a:off x="0"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66" name="Freeform 9">
                <a:extLst>
                  <a:ext uri="{FF2B5EF4-FFF2-40B4-BE49-F238E27FC236}">
                    <a16:creationId xmlns:a16="http://schemas.microsoft.com/office/drawing/2014/main" id="{D46897BA-1458-2CE4-1753-19D576B10693}"/>
                  </a:ext>
                </a:extLst>
              </p:cNvPr>
              <p:cNvSpPr/>
              <p:nvPr/>
            </p:nvSpPr>
            <p:spPr>
              <a:xfrm>
                <a:off x="720385" y="0"/>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67" name="Freeform 10">
                <a:extLst>
                  <a:ext uri="{FF2B5EF4-FFF2-40B4-BE49-F238E27FC236}">
                    <a16:creationId xmlns:a16="http://schemas.microsoft.com/office/drawing/2014/main" id="{1283F6C3-51C5-BADC-018B-166FA0F0F02E}"/>
                  </a:ext>
                </a:extLst>
              </p:cNvPr>
              <p:cNvSpPr/>
              <p:nvPr/>
            </p:nvSpPr>
            <p:spPr>
              <a:xfrm>
                <a:off x="1440771"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68" name="Freeform 11">
                <a:extLst>
                  <a:ext uri="{FF2B5EF4-FFF2-40B4-BE49-F238E27FC236}">
                    <a16:creationId xmlns:a16="http://schemas.microsoft.com/office/drawing/2014/main" id="{2C10AE69-23EB-21C2-648B-E58900923284}"/>
                  </a:ext>
                </a:extLst>
              </p:cNvPr>
              <p:cNvSpPr/>
              <p:nvPr/>
            </p:nvSpPr>
            <p:spPr>
              <a:xfrm>
                <a:off x="2161156"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grpSp>
        <p:sp>
          <p:nvSpPr>
            <p:cNvPr id="7" name="Freeform 12">
              <a:extLst>
                <a:ext uri="{FF2B5EF4-FFF2-40B4-BE49-F238E27FC236}">
                  <a16:creationId xmlns:a16="http://schemas.microsoft.com/office/drawing/2014/main" id="{B17D4656-39BF-E51F-4AB3-EAF026791B37}"/>
                </a:ext>
              </a:extLst>
            </p:cNvPr>
            <p:cNvSpPr/>
            <p:nvPr/>
          </p:nvSpPr>
          <p:spPr>
            <a:xfrm>
              <a:off x="2800447" y="1428965"/>
              <a:ext cx="2423554" cy="2842121"/>
            </a:xfrm>
            <a:custGeom>
              <a:avLst/>
              <a:gdLst/>
              <a:ahLst/>
              <a:cxnLst/>
              <a:rect l="l" t="t" r="r" b="b"/>
              <a:pathLst>
                <a:path w="2423554" h="2842121">
                  <a:moveTo>
                    <a:pt x="0" y="0"/>
                  </a:moveTo>
                  <a:lnTo>
                    <a:pt x="2423554" y="0"/>
                  </a:lnTo>
                  <a:lnTo>
                    <a:pt x="2423554" y="2842121"/>
                  </a:lnTo>
                  <a:lnTo>
                    <a:pt x="0" y="284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13">
              <a:extLst>
                <a:ext uri="{FF2B5EF4-FFF2-40B4-BE49-F238E27FC236}">
                  <a16:creationId xmlns:a16="http://schemas.microsoft.com/office/drawing/2014/main" id="{37F09BBF-132E-3D08-E16F-C01760609647}"/>
                </a:ext>
              </a:extLst>
            </p:cNvPr>
            <p:cNvSpPr/>
            <p:nvPr/>
          </p:nvSpPr>
          <p:spPr>
            <a:xfrm>
              <a:off x="5438500" y="1428965"/>
              <a:ext cx="2423554" cy="2842121"/>
            </a:xfrm>
            <a:custGeom>
              <a:avLst/>
              <a:gdLst/>
              <a:ahLst/>
              <a:cxnLst/>
              <a:rect l="l" t="t" r="r" b="b"/>
              <a:pathLst>
                <a:path w="2423554" h="2842121">
                  <a:moveTo>
                    <a:pt x="0" y="0"/>
                  </a:moveTo>
                  <a:lnTo>
                    <a:pt x="2423554" y="0"/>
                  </a:lnTo>
                  <a:lnTo>
                    <a:pt x="2423554" y="2842121"/>
                  </a:lnTo>
                  <a:lnTo>
                    <a:pt x="0" y="284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nvGrpSpPr>
            <p:cNvPr id="9" name="Group 14">
              <a:extLst>
                <a:ext uri="{FF2B5EF4-FFF2-40B4-BE49-F238E27FC236}">
                  <a16:creationId xmlns:a16="http://schemas.microsoft.com/office/drawing/2014/main" id="{D87BA071-66BB-A530-7898-BF03E6E4E1EB}"/>
                </a:ext>
              </a:extLst>
            </p:cNvPr>
            <p:cNvGrpSpPr/>
            <p:nvPr/>
          </p:nvGrpSpPr>
          <p:grpSpPr>
            <a:xfrm>
              <a:off x="5560673" y="2167069"/>
              <a:ext cx="2179208" cy="1865608"/>
              <a:chOff x="0" y="0"/>
              <a:chExt cx="2905609" cy="2487479"/>
            </a:xfrm>
          </p:grpSpPr>
          <p:sp>
            <p:nvSpPr>
              <p:cNvPr id="45" name="Freeform 15">
                <a:extLst>
                  <a:ext uri="{FF2B5EF4-FFF2-40B4-BE49-F238E27FC236}">
                    <a16:creationId xmlns:a16="http://schemas.microsoft.com/office/drawing/2014/main" id="{DA0B819F-3E32-6E54-BEEF-821C104C5A8A}"/>
                  </a:ext>
                </a:extLst>
              </p:cNvPr>
              <p:cNvSpPr/>
              <p:nvPr/>
            </p:nvSpPr>
            <p:spPr>
              <a:xfrm>
                <a:off x="24068" y="1853540"/>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46" name="Freeform 16">
                <a:extLst>
                  <a:ext uri="{FF2B5EF4-FFF2-40B4-BE49-F238E27FC236}">
                    <a16:creationId xmlns:a16="http://schemas.microsoft.com/office/drawing/2014/main" id="{81986527-4993-DAF6-F3F7-5C236AF2DEB6}"/>
                  </a:ext>
                </a:extLst>
              </p:cNvPr>
              <p:cNvSpPr/>
              <p:nvPr/>
            </p:nvSpPr>
            <p:spPr>
              <a:xfrm>
                <a:off x="744454" y="185354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47" name="Freeform 17">
                <a:extLst>
                  <a:ext uri="{FF2B5EF4-FFF2-40B4-BE49-F238E27FC236}">
                    <a16:creationId xmlns:a16="http://schemas.microsoft.com/office/drawing/2014/main" id="{C3A50DE7-2C63-E633-EEDE-90D771251BC6}"/>
                  </a:ext>
                </a:extLst>
              </p:cNvPr>
              <p:cNvSpPr/>
              <p:nvPr/>
            </p:nvSpPr>
            <p:spPr>
              <a:xfrm>
                <a:off x="1464839" y="185354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48" name="Freeform 18">
                <a:extLst>
                  <a:ext uri="{FF2B5EF4-FFF2-40B4-BE49-F238E27FC236}">
                    <a16:creationId xmlns:a16="http://schemas.microsoft.com/office/drawing/2014/main" id="{3FDCEBD0-E73C-529A-9BFE-9127FD5571EC}"/>
                  </a:ext>
                </a:extLst>
              </p:cNvPr>
              <p:cNvSpPr/>
              <p:nvPr/>
            </p:nvSpPr>
            <p:spPr>
              <a:xfrm>
                <a:off x="2185224" y="1853540"/>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49" name="Freeform 19">
                <a:extLst>
                  <a:ext uri="{FF2B5EF4-FFF2-40B4-BE49-F238E27FC236}">
                    <a16:creationId xmlns:a16="http://schemas.microsoft.com/office/drawing/2014/main" id="{693E70B5-E843-DC69-A7DF-EE134BC1A5AB}"/>
                  </a:ext>
                </a:extLst>
              </p:cNvPr>
              <p:cNvSpPr/>
              <p:nvPr/>
            </p:nvSpPr>
            <p:spPr>
              <a:xfrm>
                <a:off x="24068" y="1219601"/>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50" name="Freeform 20">
                <a:extLst>
                  <a:ext uri="{FF2B5EF4-FFF2-40B4-BE49-F238E27FC236}">
                    <a16:creationId xmlns:a16="http://schemas.microsoft.com/office/drawing/2014/main" id="{38A62936-1D13-F84E-4BC1-3CEDAC458809}"/>
                  </a:ext>
                </a:extLst>
              </p:cNvPr>
              <p:cNvSpPr/>
              <p:nvPr/>
            </p:nvSpPr>
            <p:spPr>
              <a:xfrm>
                <a:off x="744454" y="1219601"/>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1" name="Freeform 21">
                <a:extLst>
                  <a:ext uri="{FF2B5EF4-FFF2-40B4-BE49-F238E27FC236}">
                    <a16:creationId xmlns:a16="http://schemas.microsoft.com/office/drawing/2014/main" id="{06DD6B83-2CF5-4A11-520C-99F058F07E1E}"/>
                  </a:ext>
                </a:extLst>
              </p:cNvPr>
              <p:cNvSpPr/>
              <p:nvPr/>
            </p:nvSpPr>
            <p:spPr>
              <a:xfrm>
                <a:off x="1464839" y="1219601"/>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2" name="Freeform 22">
                <a:extLst>
                  <a:ext uri="{FF2B5EF4-FFF2-40B4-BE49-F238E27FC236}">
                    <a16:creationId xmlns:a16="http://schemas.microsoft.com/office/drawing/2014/main" id="{1C5A969D-367B-25EC-BC8D-92C314F4F760}"/>
                  </a:ext>
                </a:extLst>
              </p:cNvPr>
              <p:cNvSpPr/>
              <p:nvPr/>
            </p:nvSpPr>
            <p:spPr>
              <a:xfrm>
                <a:off x="2185224" y="1219601"/>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53" name="Freeform 23">
                <a:extLst>
                  <a:ext uri="{FF2B5EF4-FFF2-40B4-BE49-F238E27FC236}">
                    <a16:creationId xmlns:a16="http://schemas.microsoft.com/office/drawing/2014/main" id="{87A58B79-6D23-282C-16B5-84634922B410}"/>
                  </a:ext>
                </a:extLst>
              </p:cNvPr>
              <p:cNvSpPr/>
              <p:nvPr/>
            </p:nvSpPr>
            <p:spPr>
              <a:xfrm>
                <a:off x="0"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4" name="Freeform 24">
                <a:extLst>
                  <a:ext uri="{FF2B5EF4-FFF2-40B4-BE49-F238E27FC236}">
                    <a16:creationId xmlns:a16="http://schemas.microsoft.com/office/drawing/2014/main" id="{903EFA17-4F4C-E357-42DB-A324BED26431}"/>
                  </a:ext>
                </a:extLst>
              </p:cNvPr>
              <p:cNvSpPr/>
              <p:nvPr/>
            </p:nvSpPr>
            <p:spPr>
              <a:xfrm>
                <a:off x="720385" y="0"/>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55" name="Freeform 25">
                <a:extLst>
                  <a:ext uri="{FF2B5EF4-FFF2-40B4-BE49-F238E27FC236}">
                    <a16:creationId xmlns:a16="http://schemas.microsoft.com/office/drawing/2014/main" id="{41B4A902-A436-66D2-78D1-E1DE1B1C9DF5}"/>
                  </a:ext>
                </a:extLst>
              </p:cNvPr>
              <p:cNvSpPr/>
              <p:nvPr/>
            </p:nvSpPr>
            <p:spPr>
              <a:xfrm>
                <a:off x="1440771"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6" name="Freeform 26">
                <a:extLst>
                  <a:ext uri="{FF2B5EF4-FFF2-40B4-BE49-F238E27FC236}">
                    <a16:creationId xmlns:a16="http://schemas.microsoft.com/office/drawing/2014/main" id="{ABFB1F87-C317-C547-DDAB-F1F974F28C1E}"/>
                  </a:ext>
                </a:extLst>
              </p:cNvPr>
              <p:cNvSpPr/>
              <p:nvPr/>
            </p:nvSpPr>
            <p:spPr>
              <a:xfrm>
                <a:off x="2161156" y="0"/>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7" name="Freeform 27">
                <a:extLst>
                  <a:ext uri="{FF2B5EF4-FFF2-40B4-BE49-F238E27FC236}">
                    <a16:creationId xmlns:a16="http://schemas.microsoft.com/office/drawing/2014/main" id="{332D69D7-A750-09B7-04AB-82914A7D78BC}"/>
                  </a:ext>
                </a:extLst>
              </p:cNvPr>
              <p:cNvSpPr/>
              <p:nvPr/>
            </p:nvSpPr>
            <p:spPr>
              <a:xfrm>
                <a:off x="0" y="633939"/>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58" name="Freeform 28">
                <a:extLst>
                  <a:ext uri="{FF2B5EF4-FFF2-40B4-BE49-F238E27FC236}">
                    <a16:creationId xmlns:a16="http://schemas.microsoft.com/office/drawing/2014/main" id="{F9A96805-BBCE-F5E7-1B37-8264E4B7AD1F}"/>
                  </a:ext>
                </a:extLst>
              </p:cNvPr>
              <p:cNvSpPr/>
              <p:nvPr/>
            </p:nvSpPr>
            <p:spPr>
              <a:xfrm>
                <a:off x="720385" y="633939"/>
                <a:ext cx="720385" cy="633939"/>
              </a:xfrm>
              <a:custGeom>
                <a:avLst/>
                <a:gdLst/>
                <a:ahLst/>
                <a:cxnLst/>
                <a:rect l="l" t="t" r="r" b="b"/>
                <a:pathLst>
                  <a:path w="720385" h="633939">
                    <a:moveTo>
                      <a:pt x="0" y="0"/>
                    </a:moveTo>
                    <a:lnTo>
                      <a:pt x="720386" y="0"/>
                    </a:lnTo>
                    <a:lnTo>
                      <a:pt x="720386" y="633939"/>
                    </a:lnTo>
                    <a:lnTo>
                      <a:pt x="0" y="633939"/>
                    </a:lnTo>
                    <a:lnTo>
                      <a:pt x="0" y="0"/>
                    </a:lnTo>
                    <a:close/>
                  </a:path>
                </a:pathLst>
              </a:custGeom>
              <a:blipFill>
                <a:blip r:embed="rId6"/>
                <a:stretch>
                  <a:fillRect/>
                </a:stretch>
              </a:blipFill>
            </p:spPr>
            <p:txBody>
              <a:bodyPr/>
              <a:lstStyle/>
              <a:p>
                <a:endParaRPr lang="en-AU"/>
              </a:p>
            </p:txBody>
          </p:sp>
          <p:sp>
            <p:nvSpPr>
              <p:cNvPr id="59" name="Freeform 29">
                <a:extLst>
                  <a:ext uri="{FF2B5EF4-FFF2-40B4-BE49-F238E27FC236}">
                    <a16:creationId xmlns:a16="http://schemas.microsoft.com/office/drawing/2014/main" id="{8F614B4E-B8BB-88C4-97B5-CD0F941D8FE9}"/>
                  </a:ext>
                </a:extLst>
              </p:cNvPr>
              <p:cNvSpPr/>
              <p:nvPr/>
            </p:nvSpPr>
            <p:spPr>
              <a:xfrm>
                <a:off x="1440771" y="633939"/>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sp>
            <p:nvSpPr>
              <p:cNvPr id="60" name="Freeform 30">
                <a:extLst>
                  <a:ext uri="{FF2B5EF4-FFF2-40B4-BE49-F238E27FC236}">
                    <a16:creationId xmlns:a16="http://schemas.microsoft.com/office/drawing/2014/main" id="{BFC888C3-750C-059A-B29D-4551C3419D5F}"/>
                  </a:ext>
                </a:extLst>
              </p:cNvPr>
              <p:cNvSpPr/>
              <p:nvPr/>
            </p:nvSpPr>
            <p:spPr>
              <a:xfrm>
                <a:off x="2161156" y="633939"/>
                <a:ext cx="720385" cy="633939"/>
              </a:xfrm>
              <a:custGeom>
                <a:avLst/>
                <a:gdLst/>
                <a:ahLst/>
                <a:cxnLst/>
                <a:rect l="l" t="t" r="r" b="b"/>
                <a:pathLst>
                  <a:path w="720385" h="633939">
                    <a:moveTo>
                      <a:pt x="0" y="0"/>
                    </a:moveTo>
                    <a:lnTo>
                      <a:pt x="720385" y="0"/>
                    </a:lnTo>
                    <a:lnTo>
                      <a:pt x="720385" y="633939"/>
                    </a:lnTo>
                    <a:lnTo>
                      <a:pt x="0" y="633939"/>
                    </a:lnTo>
                    <a:lnTo>
                      <a:pt x="0" y="0"/>
                    </a:lnTo>
                    <a:close/>
                  </a:path>
                </a:pathLst>
              </a:custGeom>
              <a:blipFill>
                <a:blip r:embed="rId6"/>
                <a:stretch>
                  <a:fillRect/>
                </a:stretch>
              </a:blipFill>
            </p:spPr>
            <p:txBody>
              <a:bodyPr/>
              <a:lstStyle/>
              <a:p>
                <a:endParaRPr lang="en-AU"/>
              </a:p>
            </p:txBody>
          </p:sp>
        </p:grpSp>
        <p:sp>
          <p:nvSpPr>
            <p:cNvPr id="10" name="Freeform 31">
              <a:extLst>
                <a:ext uri="{FF2B5EF4-FFF2-40B4-BE49-F238E27FC236}">
                  <a16:creationId xmlns:a16="http://schemas.microsoft.com/office/drawing/2014/main" id="{EC1552E5-E040-F286-A55B-C1E479C6BB26}"/>
                </a:ext>
              </a:extLst>
            </p:cNvPr>
            <p:cNvSpPr/>
            <p:nvPr/>
          </p:nvSpPr>
          <p:spPr>
            <a:xfrm>
              <a:off x="8076553" y="1428965"/>
              <a:ext cx="2423554" cy="2842121"/>
            </a:xfrm>
            <a:custGeom>
              <a:avLst/>
              <a:gdLst/>
              <a:ahLst/>
              <a:cxnLst/>
              <a:rect l="l" t="t" r="r" b="b"/>
              <a:pathLst>
                <a:path w="2423554" h="2842121">
                  <a:moveTo>
                    <a:pt x="0" y="0"/>
                  </a:moveTo>
                  <a:lnTo>
                    <a:pt x="2423554" y="0"/>
                  </a:lnTo>
                  <a:lnTo>
                    <a:pt x="2423554" y="2842121"/>
                  </a:lnTo>
                  <a:lnTo>
                    <a:pt x="0" y="284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nvGrpSpPr>
            <p:cNvPr id="11" name="Group 32">
              <a:extLst>
                <a:ext uri="{FF2B5EF4-FFF2-40B4-BE49-F238E27FC236}">
                  <a16:creationId xmlns:a16="http://schemas.microsoft.com/office/drawing/2014/main" id="{A35078AF-3A64-55A1-7400-44D758D82668}"/>
                </a:ext>
              </a:extLst>
            </p:cNvPr>
            <p:cNvGrpSpPr/>
            <p:nvPr/>
          </p:nvGrpSpPr>
          <p:grpSpPr>
            <a:xfrm>
              <a:off x="8414843" y="1694239"/>
              <a:ext cx="1746975" cy="2365306"/>
              <a:chOff x="0" y="0"/>
              <a:chExt cx="2329299" cy="3153742"/>
            </a:xfrm>
          </p:grpSpPr>
          <p:sp>
            <p:nvSpPr>
              <p:cNvPr id="25" name="Freeform 33">
                <a:extLst>
                  <a:ext uri="{FF2B5EF4-FFF2-40B4-BE49-F238E27FC236}">
                    <a16:creationId xmlns:a16="http://schemas.microsoft.com/office/drawing/2014/main" id="{8787A50D-6B98-444D-B24D-CD66C5E73255}"/>
                  </a:ext>
                </a:extLst>
              </p:cNvPr>
              <p:cNvSpPr/>
              <p:nvPr/>
            </p:nvSpPr>
            <p:spPr>
              <a:xfrm>
                <a:off x="0" y="693244"/>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26" name="Freeform 34">
                <a:extLst>
                  <a:ext uri="{FF2B5EF4-FFF2-40B4-BE49-F238E27FC236}">
                    <a16:creationId xmlns:a16="http://schemas.microsoft.com/office/drawing/2014/main" id="{DE583344-9A06-9417-25F8-5DC7146D077D}"/>
                  </a:ext>
                </a:extLst>
              </p:cNvPr>
              <p:cNvSpPr/>
              <p:nvPr/>
            </p:nvSpPr>
            <p:spPr>
              <a:xfrm>
                <a:off x="582325" y="693244"/>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27" name="Freeform 35">
                <a:extLst>
                  <a:ext uri="{FF2B5EF4-FFF2-40B4-BE49-F238E27FC236}">
                    <a16:creationId xmlns:a16="http://schemas.microsoft.com/office/drawing/2014/main" id="{1F79749B-91EB-9C9A-A7D6-AB7A67409125}"/>
                  </a:ext>
                </a:extLst>
              </p:cNvPr>
              <p:cNvSpPr/>
              <p:nvPr/>
            </p:nvSpPr>
            <p:spPr>
              <a:xfrm>
                <a:off x="1164650" y="693244"/>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28" name="Freeform 36">
                <a:extLst>
                  <a:ext uri="{FF2B5EF4-FFF2-40B4-BE49-F238E27FC236}">
                    <a16:creationId xmlns:a16="http://schemas.microsoft.com/office/drawing/2014/main" id="{A9DBC9C2-381E-9CEE-83CD-D1BBCF88998B}"/>
                  </a:ext>
                </a:extLst>
              </p:cNvPr>
              <p:cNvSpPr/>
              <p:nvPr/>
            </p:nvSpPr>
            <p:spPr>
              <a:xfrm>
                <a:off x="1746974" y="693244"/>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29" name="Freeform 37">
                <a:extLst>
                  <a:ext uri="{FF2B5EF4-FFF2-40B4-BE49-F238E27FC236}">
                    <a16:creationId xmlns:a16="http://schemas.microsoft.com/office/drawing/2014/main" id="{434C37E5-0BE9-C553-3C99-88BEFD882895}"/>
                  </a:ext>
                </a:extLst>
              </p:cNvPr>
              <p:cNvSpPr/>
              <p:nvPr/>
            </p:nvSpPr>
            <p:spPr>
              <a:xfrm>
                <a:off x="0" y="127648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30" name="Freeform 38">
                <a:extLst>
                  <a:ext uri="{FF2B5EF4-FFF2-40B4-BE49-F238E27FC236}">
                    <a16:creationId xmlns:a16="http://schemas.microsoft.com/office/drawing/2014/main" id="{3A438593-EF7A-59D0-E923-497549E4ED45}"/>
                  </a:ext>
                </a:extLst>
              </p:cNvPr>
              <p:cNvSpPr/>
              <p:nvPr/>
            </p:nvSpPr>
            <p:spPr>
              <a:xfrm>
                <a:off x="582325" y="127648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31" name="Freeform 39">
                <a:extLst>
                  <a:ext uri="{FF2B5EF4-FFF2-40B4-BE49-F238E27FC236}">
                    <a16:creationId xmlns:a16="http://schemas.microsoft.com/office/drawing/2014/main" id="{C329C7D7-A90B-85D5-7B2D-31C0156F4995}"/>
                  </a:ext>
                </a:extLst>
              </p:cNvPr>
              <p:cNvSpPr/>
              <p:nvPr/>
            </p:nvSpPr>
            <p:spPr>
              <a:xfrm>
                <a:off x="1164650" y="1276483"/>
                <a:ext cx="582325" cy="693244"/>
              </a:xfrm>
              <a:custGeom>
                <a:avLst/>
                <a:gdLst/>
                <a:ahLst/>
                <a:cxnLst/>
                <a:rect l="l" t="t" r="r" b="b"/>
                <a:pathLst>
                  <a:path w="582325" h="693244">
                    <a:moveTo>
                      <a:pt x="0" y="0"/>
                    </a:moveTo>
                    <a:lnTo>
                      <a:pt x="582324" y="0"/>
                    </a:lnTo>
                    <a:lnTo>
                      <a:pt x="582324" y="693243"/>
                    </a:lnTo>
                    <a:lnTo>
                      <a:pt x="0" y="693243"/>
                    </a:lnTo>
                    <a:lnTo>
                      <a:pt x="0" y="0"/>
                    </a:lnTo>
                    <a:close/>
                  </a:path>
                </a:pathLst>
              </a:custGeom>
              <a:blipFill>
                <a:blip r:embed="rId7"/>
                <a:stretch>
                  <a:fillRect/>
                </a:stretch>
              </a:blipFill>
            </p:spPr>
            <p:txBody>
              <a:bodyPr/>
              <a:lstStyle/>
              <a:p>
                <a:endParaRPr lang="en-AU"/>
              </a:p>
            </p:txBody>
          </p:sp>
          <p:sp>
            <p:nvSpPr>
              <p:cNvPr id="32" name="Freeform 40">
                <a:extLst>
                  <a:ext uri="{FF2B5EF4-FFF2-40B4-BE49-F238E27FC236}">
                    <a16:creationId xmlns:a16="http://schemas.microsoft.com/office/drawing/2014/main" id="{C7BB9213-1849-A00C-F012-7890B79C50B3}"/>
                  </a:ext>
                </a:extLst>
              </p:cNvPr>
              <p:cNvSpPr/>
              <p:nvPr/>
            </p:nvSpPr>
            <p:spPr>
              <a:xfrm>
                <a:off x="1746974" y="127648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33" name="Freeform 41">
                <a:extLst>
                  <a:ext uri="{FF2B5EF4-FFF2-40B4-BE49-F238E27FC236}">
                    <a16:creationId xmlns:a16="http://schemas.microsoft.com/office/drawing/2014/main" id="{AF97351A-10AA-E104-9C59-D6B22C49B71C}"/>
                  </a:ext>
                </a:extLst>
              </p:cNvPr>
              <p:cNvSpPr/>
              <p:nvPr/>
            </p:nvSpPr>
            <p:spPr>
              <a:xfrm>
                <a:off x="0"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34" name="Freeform 42">
                <a:extLst>
                  <a:ext uri="{FF2B5EF4-FFF2-40B4-BE49-F238E27FC236}">
                    <a16:creationId xmlns:a16="http://schemas.microsoft.com/office/drawing/2014/main" id="{B61E41E3-0803-B13F-7F59-D0A5B149B0F2}"/>
                  </a:ext>
                </a:extLst>
              </p:cNvPr>
              <p:cNvSpPr/>
              <p:nvPr/>
            </p:nvSpPr>
            <p:spPr>
              <a:xfrm>
                <a:off x="582325"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35" name="Freeform 43">
                <a:extLst>
                  <a:ext uri="{FF2B5EF4-FFF2-40B4-BE49-F238E27FC236}">
                    <a16:creationId xmlns:a16="http://schemas.microsoft.com/office/drawing/2014/main" id="{FFDEF97B-B8F5-1087-125B-A7774DD07F35}"/>
                  </a:ext>
                </a:extLst>
              </p:cNvPr>
              <p:cNvSpPr/>
              <p:nvPr/>
            </p:nvSpPr>
            <p:spPr>
              <a:xfrm>
                <a:off x="1164650" y="0"/>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36" name="Freeform 44">
                <a:extLst>
                  <a:ext uri="{FF2B5EF4-FFF2-40B4-BE49-F238E27FC236}">
                    <a16:creationId xmlns:a16="http://schemas.microsoft.com/office/drawing/2014/main" id="{AE83E507-8D98-D15B-3AB6-F7B295A58BCF}"/>
                  </a:ext>
                </a:extLst>
              </p:cNvPr>
              <p:cNvSpPr/>
              <p:nvPr/>
            </p:nvSpPr>
            <p:spPr>
              <a:xfrm>
                <a:off x="1746974"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37" name="Freeform 45">
                <a:extLst>
                  <a:ext uri="{FF2B5EF4-FFF2-40B4-BE49-F238E27FC236}">
                    <a16:creationId xmlns:a16="http://schemas.microsoft.com/office/drawing/2014/main" id="{F8FCF3D3-F6E8-FC78-E6EF-AEDCA685D430}"/>
                  </a:ext>
                </a:extLst>
              </p:cNvPr>
              <p:cNvSpPr/>
              <p:nvPr/>
            </p:nvSpPr>
            <p:spPr>
              <a:xfrm>
                <a:off x="0" y="1834745"/>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38" name="Freeform 46">
                <a:extLst>
                  <a:ext uri="{FF2B5EF4-FFF2-40B4-BE49-F238E27FC236}">
                    <a16:creationId xmlns:a16="http://schemas.microsoft.com/office/drawing/2014/main" id="{9192E77B-C726-88ED-E0C4-369AC0D3CBBB}"/>
                  </a:ext>
                </a:extLst>
              </p:cNvPr>
              <p:cNvSpPr/>
              <p:nvPr/>
            </p:nvSpPr>
            <p:spPr>
              <a:xfrm>
                <a:off x="582325" y="1834745"/>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39" name="Freeform 47">
                <a:extLst>
                  <a:ext uri="{FF2B5EF4-FFF2-40B4-BE49-F238E27FC236}">
                    <a16:creationId xmlns:a16="http://schemas.microsoft.com/office/drawing/2014/main" id="{3F4F9E5A-DB24-3CB1-A38A-8EAABCA0F9CF}"/>
                  </a:ext>
                </a:extLst>
              </p:cNvPr>
              <p:cNvSpPr/>
              <p:nvPr/>
            </p:nvSpPr>
            <p:spPr>
              <a:xfrm>
                <a:off x="1164650" y="1834745"/>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40" name="Freeform 48">
                <a:extLst>
                  <a:ext uri="{FF2B5EF4-FFF2-40B4-BE49-F238E27FC236}">
                    <a16:creationId xmlns:a16="http://schemas.microsoft.com/office/drawing/2014/main" id="{FDB5E254-F831-FB33-2AD5-EDDA05B17632}"/>
                  </a:ext>
                </a:extLst>
              </p:cNvPr>
              <p:cNvSpPr/>
              <p:nvPr/>
            </p:nvSpPr>
            <p:spPr>
              <a:xfrm>
                <a:off x="1746974" y="1834745"/>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41" name="Freeform 49">
                <a:extLst>
                  <a:ext uri="{FF2B5EF4-FFF2-40B4-BE49-F238E27FC236}">
                    <a16:creationId xmlns:a16="http://schemas.microsoft.com/office/drawing/2014/main" id="{612A8070-A179-2B53-05AD-AEC24BFC4634}"/>
                  </a:ext>
                </a:extLst>
              </p:cNvPr>
              <p:cNvSpPr/>
              <p:nvPr/>
            </p:nvSpPr>
            <p:spPr>
              <a:xfrm>
                <a:off x="0" y="2460498"/>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42" name="Freeform 50">
                <a:extLst>
                  <a:ext uri="{FF2B5EF4-FFF2-40B4-BE49-F238E27FC236}">
                    <a16:creationId xmlns:a16="http://schemas.microsoft.com/office/drawing/2014/main" id="{EF9FDE5B-6B58-94AF-8191-BEF754C06962}"/>
                  </a:ext>
                </a:extLst>
              </p:cNvPr>
              <p:cNvSpPr/>
              <p:nvPr/>
            </p:nvSpPr>
            <p:spPr>
              <a:xfrm>
                <a:off x="582325" y="2460498"/>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43" name="Freeform 51">
                <a:extLst>
                  <a:ext uri="{FF2B5EF4-FFF2-40B4-BE49-F238E27FC236}">
                    <a16:creationId xmlns:a16="http://schemas.microsoft.com/office/drawing/2014/main" id="{9609D5CE-4243-2BFF-9FC5-2DBC3E4120C4}"/>
                  </a:ext>
                </a:extLst>
              </p:cNvPr>
              <p:cNvSpPr/>
              <p:nvPr/>
            </p:nvSpPr>
            <p:spPr>
              <a:xfrm>
                <a:off x="1164650" y="2460498"/>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44" name="Freeform 52">
                <a:extLst>
                  <a:ext uri="{FF2B5EF4-FFF2-40B4-BE49-F238E27FC236}">
                    <a16:creationId xmlns:a16="http://schemas.microsoft.com/office/drawing/2014/main" id="{62C8F849-4E9C-DEAF-EC5E-72FA9BB7454D}"/>
                  </a:ext>
                </a:extLst>
              </p:cNvPr>
              <p:cNvSpPr/>
              <p:nvPr/>
            </p:nvSpPr>
            <p:spPr>
              <a:xfrm>
                <a:off x="1746974" y="2460498"/>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grpSp>
        <p:grpSp>
          <p:nvGrpSpPr>
            <p:cNvPr id="12" name="Group 53">
              <a:extLst>
                <a:ext uri="{FF2B5EF4-FFF2-40B4-BE49-F238E27FC236}">
                  <a16:creationId xmlns:a16="http://schemas.microsoft.com/office/drawing/2014/main" id="{01CDF00B-3F35-EC28-2DC0-78E39EBDA246}"/>
                </a:ext>
              </a:extLst>
            </p:cNvPr>
            <p:cNvGrpSpPr/>
            <p:nvPr/>
          </p:nvGrpSpPr>
          <p:grpSpPr>
            <a:xfrm>
              <a:off x="3138736" y="2624734"/>
              <a:ext cx="1746975" cy="1407945"/>
              <a:chOff x="0" y="0"/>
              <a:chExt cx="2329299" cy="1877260"/>
            </a:xfrm>
          </p:grpSpPr>
          <p:sp>
            <p:nvSpPr>
              <p:cNvPr id="13" name="Freeform 54">
                <a:extLst>
                  <a:ext uri="{FF2B5EF4-FFF2-40B4-BE49-F238E27FC236}">
                    <a16:creationId xmlns:a16="http://schemas.microsoft.com/office/drawing/2014/main" id="{6CCE2884-B480-CE86-B3FE-D97C82446059}"/>
                  </a:ext>
                </a:extLst>
              </p:cNvPr>
              <p:cNvSpPr/>
              <p:nvPr/>
            </p:nvSpPr>
            <p:spPr>
              <a:xfrm>
                <a:off x="0"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14" name="Freeform 55">
                <a:extLst>
                  <a:ext uri="{FF2B5EF4-FFF2-40B4-BE49-F238E27FC236}">
                    <a16:creationId xmlns:a16="http://schemas.microsoft.com/office/drawing/2014/main" id="{1B0988AE-4472-EAE4-4816-5EDBD6DA22FD}"/>
                  </a:ext>
                </a:extLst>
              </p:cNvPr>
              <p:cNvSpPr/>
              <p:nvPr/>
            </p:nvSpPr>
            <p:spPr>
              <a:xfrm>
                <a:off x="582325"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15" name="Freeform 56">
                <a:extLst>
                  <a:ext uri="{FF2B5EF4-FFF2-40B4-BE49-F238E27FC236}">
                    <a16:creationId xmlns:a16="http://schemas.microsoft.com/office/drawing/2014/main" id="{CF29AB85-80A3-BDA4-4BC0-505DB72D33D0}"/>
                  </a:ext>
                </a:extLst>
              </p:cNvPr>
              <p:cNvSpPr/>
              <p:nvPr/>
            </p:nvSpPr>
            <p:spPr>
              <a:xfrm>
                <a:off x="1164650" y="0"/>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16" name="Freeform 57">
                <a:extLst>
                  <a:ext uri="{FF2B5EF4-FFF2-40B4-BE49-F238E27FC236}">
                    <a16:creationId xmlns:a16="http://schemas.microsoft.com/office/drawing/2014/main" id="{A7DA7171-C8FC-7544-6D93-4D506DDFB9DC}"/>
                  </a:ext>
                </a:extLst>
              </p:cNvPr>
              <p:cNvSpPr/>
              <p:nvPr/>
            </p:nvSpPr>
            <p:spPr>
              <a:xfrm>
                <a:off x="1746974" y="0"/>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17" name="Freeform 58">
                <a:extLst>
                  <a:ext uri="{FF2B5EF4-FFF2-40B4-BE49-F238E27FC236}">
                    <a16:creationId xmlns:a16="http://schemas.microsoft.com/office/drawing/2014/main" id="{AE1556F5-C5B6-89C0-FF20-359B429E9B48}"/>
                  </a:ext>
                </a:extLst>
              </p:cNvPr>
              <p:cNvSpPr/>
              <p:nvPr/>
            </p:nvSpPr>
            <p:spPr>
              <a:xfrm>
                <a:off x="0" y="55826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18" name="Freeform 59">
                <a:extLst>
                  <a:ext uri="{FF2B5EF4-FFF2-40B4-BE49-F238E27FC236}">
                    <a16:creationId xmlns:a16="http://schemas.microsoft.com/office/drawing/2014/main" id="{27BBA849-DB30-D4EF-BF14-BE5769790364}"/>
                  </a:ext>
                </a:extLst>
              </p:cNvPr>
              <p:cNvSpPr/>
              <p:nvPr/>
            </p:nvSpPr>
            <p:spPr>
              <a:xfrm>
                <a:off x="582325" y="55826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19" name="Freeform 60">
                <a:extLst>
                  <a:ext uri="{FF2B5EF4-FFF2-40B4-BE49-F238E27FC236}">
                    <a16:creationId xmlns:a16="http://schemas.microsoft.com/office/drawing/2014/main" id="{F509CCA8-E8BB-9D58-816A-1E6273929AE0}"/>
                  </a:ext>
                </a:extLst>
              </p:cNvPr>
              <p:cNvSpPr/>
              <p:nvPr/>
            </p:nvSpPr>
            <p:spPr>
              <a:xfrm>
                <a:off x="1164650" y="558263"/>
                <a:ext cx="582325" cy="693244"/>
              </a:xfrm>
              <a:custGeom>
                <a:avLst/>
                <a:gdLst/>
                <a:ahLst/>
                <a:cxnLst/>
                <a:rect l="l" t="t" r="r" b="b"/>
                <a:pathLst>
                  <a:path w="582325" h="693244">
                    <a:moveTo>
                      <a:pt x="0" y="0"/>
                    </a:moveTo>
                    <a:lnTo>
                      <a:pt x="582324" y="0"/>
                    </a:lnTo>
                    <a:lnTo>
                      <a:pt x="582324" y="693243"/>
                    </a:lnTo>
                    <a:lnTo>
                      <a:pt x="0" y="693243"/>
                    </a:lnTo>
                    <a:lnTo>
                      <a:pt x="0" y="0"/>
                    </a:lnTo>
                    <a:close/>
                  </a:path>
                </a:pathLst>
              </a:custGeom>
              <a:blipFill>
                <a:blip r:embed="rId7"/>
                <a:stretch>
                  <a:fillRect/>
                </a:stretch>
              </a:blipFill>
            </p:spPr>
            <p:txBody>
              <a:bodyPr/>
              <a:lstStyle/>
              <a:p>
                <a:endParaRPr lang="en-AU"/>
              </a:p>
            </p:txBody>
          </p:sp>
          <p:sp>
            <p:nvSpPr>
              <p:cNvPr id="20" name="Freeform 61">
                <a:extLst>
                  <a:ext uri="{FF2B5EF4-FFF2-40B4-BE49-F238E27FC236}">
                    <a16:creationId xmlns:a16="http://schemas.microsoft.com/office/drawing/2014/main" id="{B3655201-4737-2FD2-4DCD-5723C96715B1}"/>
                  </a:ext>
                </a:extLst>
              </p:cNvPr>
              <p:cNvSpPr/>
              <p:nvPr/>
            </p:nvSpPr>
            <p:spPr>
              <a:xfrm>
                <a:off x="1746974" y="558263"/>
                <a:ext cx="582325" cy="693244"/>
              </a:xfrm>
              <a:custGeom>
                <a:avLst/>
                <a:gdLst/>
                <a:ahLst/>
                <a:cxnLst/>
                <a:rect l="l" t="t" r="r" b="b"/>
                <a:pathLst>
                  <a:path w="582325" h="693244">
                    <a:moveTo>
                      <a:pt x="0" y="0"/>
                    </a:moveTo>
                    <a:lnTo>
                      <a:pt x="582325" y="0"/>
                    </a:lnTo>
                    <a:lnTo>
                      <a:pt x="582325" y="693243"/>
                    </a:lnTo>
                    <a:lnTo>
                      <a:pt x="0" y="693243"/>
                    </a:lnTo>
                    <a:lnTo>
                      <a:pt x="0" y="0"/>
                    </a:lnTo>
                    <a:close/>
                  </a:path>
                </a:pathLst>
              </a:custGeom>
              <a:blipFill>
                <a:blip r:embed="rId7"/>
                <a:stretch>
                  <a:fillRect/>
                </a:stretch>
              </a:blipFill>
            </p:spPr>
            <p:txBody>
              <a:bodyPr/>
              <a:lstStyle/>
              <a:p>
                <a:endParaRPr lang="en-AU"/>
              </a:p>
            </p:txBody>
          </p:sp>
          <p:sp>
            <p:nvSpPr>
              <p:cNvPr id="21" name="Freeform 62">
                <a:extLst>
                  <a:ext uri="{FF2B5EF4-FFF2-40B4-BE49-F238E27FC236}">
                    <a16:creationId xmlns:a16="http://schemas.microsoft.com/office/drawing/2014/main" id="{BD8A1F05-56B0-50CC-45A7-CCB527A8DDC0}"/>
                  </a:ext>
                </a:extLst>
              </p:cNvPr>
              <p:cNvSpPr/>
              <p:nvPr/>
            </p:nvSpPr>
            <p:spPr>
              <a:xfrm>
                <a:off x="0" y="1184016"/>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22" name="Freeform 63">
                <a:extLst>
                  <a:ext uri="{FF2B5EF4-FFF2-40B4-BE49-F238E27FC236}">
                    <a16:creationId xmlns:a16="http://schemas.microsoft.com/office/drawing/2014/main" id="{C05F331C-9834-6837-88C1-1C32C940E6C7}"/>
                  </a:ext>
                </a:extLst>
              </p:cNvPr>
              <p:cNvSpPr/>
              <p:nvPr/>
            </p:nvSpPr>
            <p:spPr>
              <a:xfrm>
                <a:off x="582325" y="1184016"/>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sp>
            <p:nvSpPr>
              <p:cNvPr id="23" name="Freeform 64">
                <a:extLst>
                  <a:ext uri="{FF2B5EF4-FFF2-40B4-BE49-F238E27FC236}">
                    <a16:creationId xmlns:a16="http://schemas.microsoft.com/office/drawing/2014/main" id="{72B32AA6-12F2-2AD9-192A-093532D9407D}"/>
                  </a:ext>
                </a:extLst>
              </p:cNvPr>
              <p:cNvSpPr/>
              <p:nvPr/>
            </p:nvSpPr>
            <p:spPr>
              <a:xfrm>
                <a:off x="1164650" y="1184016"/>
                <a:ext cx="582325" cy="693244"/>
              </a:xfrm>
              <a:custGeom>
                <a:avLst/>
                <a:gdLst/>
                <a:ahLst/>
                <a:cxnLst/>
                <a:rect l="l" t="t" r="r" b="b"/>
                <a:pathLst>
                  <a:path w="582325" h="693244">
                    <a:moveTo>
                      <a:pt x="0" y="0"/>
                    </a:moveTo>
                    <a:lnTo>
                      <a:pt x="582324" y="0"/>
                    </a:lnTo>
                    <a:lnTo>
                      <a:pt x="582324" y="693244"/>
                    </a:lnTo>
                    <a:lnTo>
                      <a:pt x="0" y="693244"/>
                    </a:lnTo>
                    <a:lnTo>
                      <a:pt x="0" y="0"/>
                    </a:lnTo>
                    <a:close/>
                  </a:path>
                </a:pathLst>
              </a:custGeom>
              <a:blipFill>
                <a:blip r:embed="rId7"/>
                <a:stretch>
                  <a:fillRect/>
                </a:stretch>
              </a:blipFill>
            </p:spPr>
            <p:txBody>
              <a:bodyPr/>
              <a:lstStyle/>
              <a:p>
                <a:endParaRPr lang="en-AU"/>
              </a:p>
            </p:txBody>
          </p:sp>
          <p:sp>
            <p:nvSpPr>
              <p:cNvPr id="24" name="Freeform 65">
                <a:extLst>
                  <a:ext uri="{FF2B5EF4-FFF2-40B4-BE49-F238E27FC236}">
                    <a16:creationId xmlns:a16="http://schemas.microsoft.com/office/drawing/2014/main" id="{A169A954-C758-EE4E-BD94-6F85DF8306A8}"/>
                  </a:ext>
                </a:extLst>
              </p:cNvPr>
              <p:cNvSpPr/>
              <p:nvPr/>
            </p:nvSpPr>
            <p:spPr>
              <a:xfrm>
                <a:off x="1746974" y="1184016"/>
                <a:ext cx="582325" cy="693244"/>
              </a:xfrm>
              <a:custGeom>
                <a:avLst/>
                <a:gdLst/>
                <a:ahLst/>
                <a:cxnLst/>
                <a:rect l="l" t="t" r="r" b="b"/>
                <a:pathLst>
                  <a:path w="582325" h="693244">
                    <a:moveTo>
                      <a:pt x="0" y="0"/>
                    </a:moveTo>
                    <a:lnTo>
                      <a:pt x="582325" y="0"/>
                    </a:lnTo>
                    <a:lnTo>
                      <a:pt x="582325" y="693244"/>
                    </a:lnTo>
                    <a:lnTo>
                      <a:pt x="0" y="693244"/>
                    </a:lnTo>
                    <a:lnTo>
                      <a:pt x="0" y="0"/>
                    </a:lnTo>
                    <a:close/>
                  </a:path>
                </a:pathLst>
              </a:custGeom>
              <a:blipFill>
                <a:blip r:embed="rId7"/>
                <a:stretch>
                  <a:fillRect/>
                </a:stretch>
              </a:blipFill>
            </p:spPr>
            <p:txBody>
              <a:bodyPr/>
              <a:lstStyle/>
              <a:p>
                <a:endParaRPr lang="en-AU"/>
              </a:p>
            </p:txBody>
          </p:sp>
        </p:grpSp>
      </p:grpSp>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4482" y="905601"/>
            <a:ext cx="11243037" cy="893226"/>
          </a:xfrm>
        </p:spPr>
        <p:txBody>
          <a:bodyPr vert="horz" lIns="0" tIns="0" rIns="0" bIns="0" rtlCol="0" anchor="t">
            <a:noAutofit/>
          </a:bodyPr>
          <a:lstStyle/>
          <a:p>
            <a:pPr algn="ctr"/>
            <a:r>
              <a:rPr lang="en-AU" sz="4800"/>
              <a:t>6715     2908     4144     8156</a:t>
            </a:r>
          </a:p>
          <a:p>
            <a:r>
              <a:rPr lang="en-AU" sz="2800"/>
              <a:t>Read the numbers. Which one correctly shows the numbers in ascending order?</a:t>
            </a:r>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84362347"/>
              </p:ext>
            </p:extLst>
          </p:nvPr>
        </p:nvGraphicFramePr>
        <p:xfrm>
          <a:off x="354000" y="3429000"/>
          <a:ext cx="11484000" cy="335280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6715</a:t>
                      </a:r>
                    </a:p>
                    <a:p>
                      <a:pPr algn="ctr"/>
                      <a:r>
                        <a:rPr lang="en-AU" sz="3200">
                          <a:latin typeface="+mn-lt"/>
                          <a:cs typeface="Arial"/>
                        </a:rPr>
                        <a:t>4144</a:t>
                      </a:r>
                    </a:p>
                    <a:p>
                      <a:pPr algn="ctr"/>
                      <a:r>
                        <a:rPr lang="en-AU" sz="3200">
                          <a:latin typeface="+mn-lt"/>
                          <a:cs typeface="Arial"/>
                        </a:rPr>
                        <a:t>2908</a:t>
                      </a:r>
                    </a:p>
                    <a:p>
                      <a:pPr algn="ctr"/>
                      <a:r>
                        <a:rPr lang="en-AU" sz="3200">
                          <a:latin typeface="+mn-lt"/>
                          <a:cs typeface="Arial"/>
                        </a:rPr>
                        <a:t>8156</a:t>
                      </a:r>
                    </a:p>
                    <a:p>
                      <a:pPr algn="ctr"/>
                      <a:endParaRPr lang="en-AU" sz="32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2908</a:t>
                      </a:r>
                    </a:p>
                    <a:p>
                      <a:pPr algn="ctr"/>
                      <a:r>
                        <a:rPr lang="en-AU" sz="3200">
                          <a:latin typeface="+mn-lt"/>
                          <a:cs typeface="Arial"/>
                        </a:rPr>
                        <a:t>4144</a:t>
                      </a:r>
                    </a:p>
                    <a:p>
                      <a:pPr algn="ctr"/>
                      <a:r>
                        <a:rPr lang="en-AU" sz="3200">
                          <a:latin typeface="+mn-lt"/>
                          <a:cs typeface="Arial"/>
                        </a:rPr>
                        <a:t>6715</a:t>
                      </a:r>
                    </a:p>
                    <a:p>
                      <a:pPr algn="ctr"/>
                      <a:r>
                        <a:rPr lang="en-AU" sz="3200">
                          <a:latin typeface="+mn-lt"/>
                          <a:cs typeface="Arial"/>
                        </a:rPr>
                        <a:t>8156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2908</a:t>
                      </a:r>
                    </a:p>
                    <a:p>
                      <a:pPr algn="ctr"/>
                      <a:r>
                        <a:rPr lang="en-AU" sz="3200">
                          <a:latin typeface="+mn-lt"/>
                          <a:cs typeface="Arial"/>
                        </a:rPr>
                        <a:t>6715</a:t>
                      </a:r>
                    </a:p>
                    <a:p>
                      <a:pPr algn="ctr"/>
                      <a:r>
                        <a:rPr lang="en-AU" sz="3200">
                          <a:latin typeface="+mn-lt"/>
                          <a:cs typeface="Arial"/>
                        </a:rPr>
                        <a:t>4144</a:t>
                      </a:r>
                    </a:p>
                    <a:p>
                      <a:pPr algn="ctr"/>
                      <a:r>
                        <a:rPr lang="en-AU" sz="3200">
                          <a:latin typeface="+mn-lt"/>
                          <a:cs typeface="Arial"/>
                        </a:rPr>
                        <a:t>8156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8156</a:t>
                      </a:r>
                    </a:p>
                    <a:p>
                      <a:pPr algn="ctr"/>
                      <a:r>
                        <a:rPr lang="en-AU" sz="3200">
                          <a:latin typeface="+mn-lt"/>
                          <a:cs typeface="Arial"/>
                        </a:rPr>
                        <a:t>6715</a:t>
                      </a:r>
                    </a:p>
                    <a:p>
                      <a:pPr algn="ctr"/>
                      <a:r>
                        <a:rPr lang="en-AU" sz="3200">
                          <a:latin typeface="+mn-lt"/>
                          <a:cs typeface="Arial"/>
                        </a:rPr>
                        <a:t>4144</a:t>
                      </a:r>
                    </a:p>
                    <a:p>
                      <a:pPr algn="ctr"/>
                      <a:r>
                        <a:rPr lang="en-AU" sz="3200">
                          <a:latin typeface="+mn-lt"/>
                          <a:cs typeface="Arial"/>
                        </a:rPr>
                        <a:t>2908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(21)</a:t>
            </a: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10 x 10 grid with an image of a leaf overlayed to determine the area of the  leaf.">
            <a:extLst>
              <a:ext uri="{FF2B5EF4-FFF2-40B4-BE49-F238E27FC236}">
                <a16:creationId xmlns:a16="http://schemas.microsoft.com/office/drawing/2014/main" id="{323A4DE3-FE06-E313-F8BB-856226A0D914}"/>
              </a:ext>
            </a:extLst>
          </p:cNvPr>
          <p:cNvPicPr>
            <a:picLocks noChangeAspect="1"/>
          </p:cNvPicPr>
          <p:nvPr/>
        </p:nvPicPr>
        <p:blipFill>
          <a:blip r:embed="rId4"/>
          <a:stretch>
            <a:fillRect/>
          </a:stretch>
        </p:blipFill>
        <p:spPr>
          <a:xfrm>
            <a:off x="476032" y="1279270"/>
            <a:ext cx="4801438" cy="4854493"/>
          </a:xfrm>
          <a:prstGeom prst="rect">
            <a:avLst/>
          </a:prstGeom>
        </p:spPr>
      </p:pic>
      <p:sp>
        <p:nvSpPr>
          <p:cNvPr id="5" name="TextBox 4">
            <a:extLst>
              <a:ext uri="{FF2B5EF4-FFF2-40B4-BE49-F238E27FC236}">
                <a16:creationId xmlns:a16="http://schemas.microsoft.com/office/drawing/2014/main" id="{DC93A6F7-F038-1103-81A8-DEC79B934407}"/>
              </a:ext>
            </a:extLst>
          </p:cNvPr>
          <p:cNvSpPr txBox="1"/>
          <p:nvPr/>
        </p:nvSpPr>
        <p:spPr>
          <a:xfrm>
            <a:off x="6030624" y="2591264"/>
            <a:ext cx="5453376" cy="1675471"/>
          </a:xfrm>
          <a:prstGeom prst="rect">
            <a:avLst/>
          </a:prstGeom>
          <a:noFill/>
        </p:spPr>
        <p:txBody>
          <a:bodyPr wrap="square" lIns="0" tIns="0" rIns="0" bIns="0" rtlCol="0">
            <a:noAutofit/>
          </a:bodyPr>
          <a:lstStyle/>
          <a:p>
            <a:pPr algn="l"/>
            <a:r>
              <a:rPr lang="en-AU" sz="4400"/>
              <a:t>Estimate the area of this leaf. </a:t>
            </a:r>
            <a:endParaRPr lang="en-AU" sz="4400" b="0"/>
          </a:p>
          <a:p>
            <a:pPr algn="l"/>
            <a:endParaRPr lang="en-AU" sz="2800"/>
          </a:p>
        </p:txBody>
      </p:sp>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 </a:t>
            </a: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782625" y="1494789"/>
                <a:ext cx="10626750" cy="3632255"/>
              </a:xfrm>
            </p:spPr>
            <p:txBody>
              <a:bodyPr/>
              <a:lstStyle/>
              <a:p>
                <a:pPr algn="ctr"/>
                <a:r>
                  <a:rPr lang="en-AU" sz="4400" dirty="0"/>
                  <a:t>Are the fractions </a:t>
                </a: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3</m:t>
                        </m:r>
                      </m:den>
                    </m:f>
                  </m:oMath>
                </a14:m>
                <a:r>
                  <a:rPr lang="en-AU" sz="4400" dirty="0"/>
                  <a:t>​  and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6</m:t>
                        </m:r>
                      </m:den>
                    </m:f>
                    <m:r>
                      <a:rPr lang="en-AU" sz="4400" i="1">
                        <a:latin typeface="Cambria Math" panose="02040503050406030204" pitchFamily="18" charset="0"/>
                      </a:rPr>
                      <m:t> </m:t>
                    </m:r>
                  </m:oMath>
                </a14:m>
                <a:r>
                  <a:rPr lang="en-AU" sz="4400" dirty="0"/>
                  <a:t>equivalent? </a:t>
                </a:r>
              </a:p>
              <a:p>
                <a:pPr algn="ctr"/>
                <a:r>
                  <a:rPr lang="en-AU" sz="4400" dirty="0"/>
                  <a:t>Draw a partitioned length to explain your thinking.</a:t>
                </a:r>
              </a:p>
              <a:p>
                <a:pPr algn="ctr"/>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50CE3FA9-E73E-0225-40D3-D27739FD5AAA}"/>
                  </a:ext>
                </a:extLst>
              </p:cNvPr>
              <p:cNvSpPr>
                <a:spLocks noGrp="1" noRot="1" noChangeAspect="1" noMove="1" noResize="1" noEditPoints="1" noAdjustHandles="1" noChangeArrowheads="1" noChangeShapeType="1" noTextEdit="1"/>
              </p:cNvSpPr>
              <p:nvPr>
                <p:ph type="pic" sz="quarter" idx="21"/>
              </p:nvPr>
            </p:nvSpPr>
            <p:spPr>
              <a:xfrm>
                <a:off x="782625" y="1494789"/>
                <a:ext cx="10626750" cy="3632255"/>
              </a:xfrm>
              <a:blipFill>
                <a:blip r:embed="rId4"/>
                <a:stretch>
                  <a:fillRect l="-287" r="-1663" b="-4698"/>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 </a:t>
            </a:r>
          </a:p>
        </p:txBody>
      </p:sp>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13" name="TextBox 12">
            <a:extLst>
              <a:ext uri="{FF2B5EF4-FFF2-40B4-BE49-F238E27FC236}">
                <a16:creationId xmlns:a16="http://schemas.microsoft.com/office/drawing/2014/main" id="{51E0C1DB-5841-D74F-1A5B-6AEA3A4901D3}"/>
              </a:ext>
            </a:extLst>
          </p:cNvPr>
          <p:cNvSpPr txBox="1"/>
          <p:nvPr/>
        </p:nvSpPr>
        <p:spPr>
          <a:xfrm>
            <a:off x="501448" y="1490134"/>
            <a:ext cx="10982552" cy="4080933"/>
          </a:xfrm>
          <a:prstGeom prst="rect">
            <a:avLst/>
          </a:prstGeom>
          <a:noFill/>
        </p:spPr>
        <p:txBody>
          <a:bodyPr wrap="square" lIns="0" tIns="0" rIns="0" bIns="0" rtlCol="0">
            <a:noAutofit/>
          </a:bodyPr>
          <a:lstStyle/>
          <a:p>
            <a:pPr algn="ctr"/>
            <a:r>
              <a:rPr lang="en-AU" sz="4400"/>
              <a:t>Lily buys an ice cream that costs </a:t>
            </a:r>
            <a:r>
              <a:rPr lang="en-AU" sz="4400" b="1"/>
              <a:t>$2.40 </a:t>
            </a:r>
            <a:r>
              <a:rPr lang="en-AU" sz="4400"/>
              <a:t>and pays with a </a:t>
            </a:r>
            <a:r>
              <a:rPr lang="en-AU" sz="4400" b="1"/>
              <a:t>$5 </a:t>
            </a:r>
            <a:r>
              <a:rPr lang="en-AU" sz="4400"/>
              <a:t>note. </a:t>
            </a:r>
          </a:p>
          <a:p>
            <a:pPr algn="ctr"/>
            <a:endParaRPr lang="en-AU" sz="4400"/>
          </a:p>
          <a:p>
            <a:pPr algn="ctr"/>
            <a:r>
              <a:rPr lang="en-AU" sz="4400"/>
              <a:t>How much change will she receive?</a:t>
            </a:r>
          </a:p>
          <a:p>
            <a:pPr algn="ctr"/>
            <a:endParaRPr lang="en-AU" sz="4400"/>
          </a:p>
          <a:p>
            <a:pPr algn="ctr"/>
            <a:r>
              <a:rPr lang="en-AU" sz="4400"/>
              <a:t>What combinations of coins could she be given? </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1943101"/>
            <a:ext cx="11210840" cy="4114276"/>
          </a:xfrm>
        </p:spPr>
        <p:txBody>
          <a:bodyPr/>
          <a:lstStyle/>
          <a:p>
            <a:pPr algn="ctr"/>
            <a:r>
              <a:rPr lang="en-AU" sz="4400" dirty="0">
                <a:latin typeface="Arial"/>
                <a:cs typeface="Arial"/>
              </a:rPr>
              <a:t>The time is </a:t>
            </a:r>
            <a:r>
              <a:rPr lang="en-AU" sz="4400" b="1" dirty="0">
                <a:latin typeface="Arial"/>
                <a:cs typeface="Arial"/>
              </a:rPr>
              <a:t>quarter past 2</a:t>
            </a:r>
            <a:r>
              <a:rPr lang="en-AU" sz="4400" dirty="0">
                <a:latin typeface="Arial"/>
                <a:cs typeface="Arial"/>
              </a:rPr>
              <a:t>. </a:t>
            </a:r>
          </a:p>
          <a:p>
            <a:pPr algn="ctr"/>
            <a:endParaRPr lang="en-AU" sz="4400" dirty="0">
              <a:latin typeface="Arial"/>
              <a:cs typeface="Arial"/>
            </a:endParaRPr>
          </a:p>
          <a:p>
            <a:pPr algn="ctr"/>
            <a:r>
              <a:rPr lang="en-AU" sz="4400" dirty="0">
                <a:latin typeface="Arial"/>
                <a:cs typeface="Arial"/>
              </a:rPr>
              <a:t>How many </a:t>
            </a:r>
            <a:r>
              <a:rPr lang="en-AU" sz="4400" b="1" dirty="0">
                <a:latin typeface="Arial"/>
                <a:cs typeface="Arial"/>
              </a:rPr>
              <a:t>minutes</a:t>
            </a:r>
            <a:r>
              <a:rPr lang="en-AU" sz="4400" dirty="0">
                <a:latin typeface="Arial"/>
                <a:cs typeface="Arial"/>
              </a:rPr>
              <a:t> is this past 2 o’clock?</a:t>
            </a:r>
            <a:endParaRPr lang="en-US" dirty="0">
              <a:latin typeface="Arial"/>
              <a:cs typeface="Arial"/>
            </a:endParaRPr>
          </a:p>
        </p:txBody>
      </p:sp>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7FE7-FE6A-BAF7-C12F-E1627D6A86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2370E3-9252-F325-8539-0ADD46FE9672}"/>
              </a:ext>
            </a:extLst>
          </p:cNvPr>
          <p:cNvSpPr>
            <a:spLocks noGrp="1"/>
          </p:cNvSpPr>
          <p:nvPr>
            <p:ph type="title"/>
          </p:nvPr>
        </p:nvSpPr>
        <p:spPr>
          <a:xfrm>
            <a:off x="360000" y="360000"/>
            <a:ext cx="9405792" cy="545601"/>
          </a:xfrm>
        </p:spPr>
        <p:txBody>
          <a:bodyPr/>
          <a:lstStyle/>
          <a:p>
            <a:r>
              <a:rPr lang="en-AU"/>
              <a:t>Activity 5 – ascending and descending order</a:t>
            </a:r>
          </a:p>
        </p:txBody>
      </p:sp>
      <p:pic>
        <p:nvPicPr>
          <p:cNvPr id="29" name="Picture 28" descr="image of a head with cogs turning inside">
            <a:extLst>
              <a:ext uri="{FF2B5EF4-FFF2-40B4-BE49-F238E27FC236}">
                <a16:creationId xmlns:a16="http://schemas.microsoft.com/office/drawing/2014/main" id="{D497BC66-2450-9D91-A36E-F86CCE9E4B03}"/>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8" name="Picture 27" descr="Four 9-sided dice with the numbers 7, 1, 6 and 8 face up.">
            <a:extLst>
              <a:ext uri="{FF2B5EF4-FFF2-40B4-BE49-F238E27FC236}">
                <a16:creationId xmlns:a16="http://schemas.microsoft.com/office/drawing/2014/main" id="{9F46D996-6688-56D3-A5D0-DCB37CF55A7D}"/>
              </a:ext>
            </a:extLst>
          </p:cNvPr>
          <p:cNvPicPr>
            <a:picLocks noChangeAspect="1"/>
          </p:cNvPicPr>
          <p:nvPr/>
        </p:nvPicPr>
        <p:blipFill>
          <a:blip r:embed="rId4"/>
          <a:stretch>
            <a:fillRect/>
          </a:stretch>
        </p:blipFill>
        <p:spPr>
          <a:xfrm>
            <a:off x="1528804" y="2029443"/>
            <a:ext cx="9134392" cy="2584286"/>
          </a:xfrm>
          <a:prstGeom prst="rect">
            <a:avLst/>
          </a:prstGeom>
        </p:spPr>
      </p:pic>
      <p:sp>
        <p:nvSpPr>
          <p:cNvPr id="2" name="Slide Number Placeholder 1">
            <a:extLst>
              <a:ext uri="{FF2B5EF4-FFF2-40B4-BE49-F238E27FC236}">
                <a16:creationId xmlns:a16="http://schemas.microsoft.com/office/drawing/2014/main" id="{F892A3D9-3D3B-4FCC-723D-CD8274A36B27}"/>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408385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 </a:t>
            </a:r>
          </a:p>
        </p:txBody>
      </p:sp>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487138" y="2163447"/>
            <a:ext cx="11217725" cy="2044350"/>
          </a:xfrm>
        </p:spPr>
        <p:txBody>
          <a:bodyPr vert="horz" lIns="0" tIns="0" rIns="0" bIns="0" rtlCol="0" anchor="t">
            <a:noAutofit/>
          </a:bodyPr>
          <a:lstStyle/>
          <a:p>
            <a:pPr algn="ctr"/>
            <a:r>
              <a:rPr lang="en-AU" sz="4400" dirty="0">
                <a:latin typeface="Arial"/>
                <a:cs typeface="Arial"/>
              </a:rPr>
              <a:t>The </a:t>
            </a:r>
            <a:r>
              <a:rPr lang="en-AU" sz="4400" b="1" dirty="0">
                <a:latin typeface="Arial"/>
                <a:cs typeface="Arial"/>
              </a:rPr>
              <a:t>nearest</a:t>
            </a:r>
            <a:r>
              <a:rPr lang="en-AU" sz="4400" dirty="0">
                <a:latin typeface="Arial"/>
                <a:cs typeface="Arial"/>
              </a:rPr>
              <a:t> thousand to 6789 is 7000.</a:t>
            </a:r>
            <a:br>
              <a:rPr lang="en-US" sz="3600" dirty="0">
                <a:latin typeface="Arial"/>
                <a:cs typeface="Arial"/>
              </a:rPr>
            </a:br>
            <a:endParaRPr lang="en-US" sz="3600" b="1" dirty="0"/>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1091655022"/>
              </p:ext>
            </p:extLst>
          </p:nvPr>
        </p:nvGraphicFramePr>
        <p:xfrm>
          <a:off x="2442980" y="515079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413662" y="2375870"/>
            <a:ext cx="11189376" cy="2721684"/>
          </a:xfrm>
        </p:spPr>
        <p:txBody>
          <a:bodyPr/>
          <a:lstStyle/>
          <a:p>
            <a:pPr algn="ctr"/>
            <a:r>
              <a:rPr lang="en-US" sz="4400" dirty="0">
                <a:latin typeface="Arial"/>
                <a:cs typeface="Arial"/>
              </a:rPr>
              <a:t>Identify the </a:t>
            </a:r>
            <a:r>
              <a:rPr lang="en-US" sz="4400" b="1" dirty="0">
                <a:latin typeface="Arial"/>
                <a:cs typeface="Arial"/>
              </a:rPr>
              <a:t>differences</a:t>
            </a:r>
            <a:r>
              <a:rPr lang="en-US" sz="4400" dirty="0">
                <a:latin typeface="Arial"/>
                <a:cs typeface="Arial"/>
              </a:rPr>
              <a:t> between a cube and a pyramid.</a:t>
            </a:r>
            <a:br>
              <a:rPr lang="en-US" sz="4400" dirty="0">
                <a:latin typeface="Arial"/>
                <a:cs typeface="Arial"/>
              </a:rPr>
            </a:br>
            <a:br>
              <a:rPr lang="en-US" sz="4400" dirty="0">
                <a:latin typeface="Arial"/>
                <a:cs typeface="Arial"/>
              </a:rPr>
            </a:br>
            <a:endParaRPr lang="en-US" sz="4400" dirty="0"/>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AB27B61-3BD7-8FED-8071-7C04985AA52D}"/>
                  </a:ext>
                </a:extLst>
              </p:cNvPr>
              <p:cNvSpPr txBox="1"/>
              <p:nvPr/>
            </p:nvSpPr>
            <p:spPr>
              <a:xfrm>
                <a:off x="1555731" y="3113244"/>
                <a:ext cx="10047307" cy="3124134"/>
              </a:xfrm>
              <a:prstGeom prst="rect">
                <a:avLst/>
              </a:prstGeom>
              <a:noFill/>
            </p:spPr>
            <p:txBody>
              <a:bodyPr wrap="square" lIns="0" tIns="0" rIns="0" bIns="0" rtlCol="0">
                <a:noAutofit/>
              </a:bodyPr>
              <a:lstStyle/>
              <a:p>
                <a:pPr algn="l"/>
                <a:r>
                  <a:rPr lang="en-AU" sz="4000" dirty="0"/>
                  <a:t>Name a fraction that is </a:t>
                </a:r>
                <a:r>
                  <a:rPr lang="en-AU" sz="4000" b="1" dirty="0"/>
                  <a:t>equivalent</a:t>
                </a:r>
                <a:r>
                  <a:rPr lang="en-AU" sz="4000" dirty="0"/>
                  <a:t> to </a:t>
                </a:r>
                <a14:m>
                  <m:oMath xmlns:m="http://schemas.openxmlformats.org/officeDocument/2006/math">
                    <m:f>
                      <m:fPr>
                        <m:ctrlPr>
                          <a:rPr lang="en-AU" sz="4800" b="1" i="1" smtClean="0">
                            <a:latin typeface="Cambria Math" panose="02040503050406030204" pitchFamily="18" charset="0"/>
                          </a:rPr>
                        </m:ctrlPr>
                      </m:fPr>
                      <m:num>
                        <m:r>
                          <a:rPr lang="en-AU" sz="4800" b="1" i="1" smtClean="0">
                            <a:latin typeface="Cambria Math" panose="02040503050406030204" pitchFamily="18" charset="0"/>
                          </a:rPr>
                          <m:t>𝟏</m:t>
                        </m:r>
                      </m:num>
                      <m:den>
                        <m:r>
                          <a:rPr lang="en-AU" sz="4800" b="1" i="1" smtClean="0">
                            <a:latin typeface="Cambria Math" panose="02040503050406030204" pitchFamily="18" charset="0"/>
                          </a:rPr>
                          <m:t>𝟑</m:t>
                        </m:r>
                      </m:den>
                    </m:f>
                  </m:oMath>
                </a14:m>
                <a:r>
                  <a:rPr lang="en-AU" sz="4800" b="1" dirty="0"/>
                  <a:t> </a:t>
                </a:r>
                <a:r>
                  <a:rPr lang="en-AU" sz="4000" dirty="0"/>
                  <a:t>? </a:t>
                </a:r>
              </a:p>
            </p:txBody>
          </p:sp>
        </mc:Choice>
        <mc:Fallback xmlns="">
          <p:sp>
            <p:nvSpPr>
              <p:cNvPr id="9" name="TextBox 8">
                <a:extLst>
                  <a:ext uri="{FF2B5EF4-FFF2-40B4-BE49-F238E27FC236}">
                    <a16:creationId xmlns:a16="http://schemas.microsoft.com/office/drawing/2014/main" id="{8AB27B61-3BD7-8FED-8071-7C04985AA52D}"/>
                  </a:ext>
                </a:extLst>
              </p:cNvPr>
              <p:cNvSpPr txBox="1">
                <a:spLocks noRot="1" noChangeAspect="1" noMove="1" noResize="1" noEditPoints="1" noAdjustHandles="1" noChangeArrowheads="1" noChangeShapeType="1" noTextEdit="1"/>
              </p:cNvSpPr>
              <p:nvPr/>
            </p:nvSpPr>
            <p:spPr>
              <a:xfrm>
                <a:off x="1555731" y="3113244"/>
                <a:ext cx="10047307" cy="3124134"/>
              </a:xfrm>
              <a:prstGeom prst="rect">
                <a:avLst/>
              </a:prstGeom>
              <a:blipFill>
                <a:blip r:embed="rId4"/>
                <a:stretch>
                  <a:fillRect l="-3034"/>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 </a:t>
            </a:r>
          </a:p>
        </p:txBody>
      </p:sp>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AU" sz="4400"/>
              <a:t>If a drink and a packet of chips cost $6.75 and you pay with a $20 note, </a:t>
            </a:r>
            <a:r>
              <a:rPr lang="en-AU" sz="4400" b="1"/>
              <a:t>how much change</a:t>
            </a:r>
            <a:r>
              <a:rPr lang="en-AU" sz="4400"/>
              <a:t> will you get back? </a:t>
            </a:r>
          </a:p>
          <a:p>
            <a:pPr algn="ctr"/>
            <a:endParaRPr lang="en-AU"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2" y="1058333"/>
            <a:ext cx="11243037" cy="5337708"/>
          </a:xfrm>
        </p:spPr>
        <p:txBody>
          <a:bodyPr/>
          <a:lstStyle/>
          <a:p>
            <a:pPr>
              <a:lnSpc>
                <a:spcPct val="100000"/>
              </a:lnSpc>
            </a:pPr>
            <a:r>
              <a:rPr lang="en-AU" sz="4000" dirty="0"/>
              <a:t>Record the order of these </a:t>
            </a:r>
            <a:r>
              <a:rPr lang="en-AU" sz="4000" b="1" dirty="0"/>
              <a:t>measurements</a:t>
            </a:r>
            <a:r>
              <a:rPr lang="en-AU" sz="4000" dirty="0"/>
              <a:t> from longest to shortest. </a:t>
            </a:r>
          </a:p>
          <a:p>
            <a:pPr algn="ctr">
              <a:lnSpc>
                <a:spcPct val="100000"/>
              </a:lnSpc>
            </a:pPr>
            <a:r>
              <a:rPr lang="en-US" sz="4400" dirty="0"/>
              <a:t>1m 75cm</a:t>
            </a:r>
          </a:p>
          <a:p>
            <a:pPr algn="ctr"/>
            <a:r>
              <a:rPr lang="en-US" sz="4400" dirty="0"/>
              <a:t>250cm</a:t>
            </a:r>
          </a:p>
          <a:p>
            <a:pPr algn="ctr"/>
            <a:r>
              <a:rPr lang="en-US" sz="4400" dirty="0"/>
              <a:t>2m 10cm</a:t>
            </a:r>
          </a:p>
          <a:p>
            <a:pPr algn="ctr"/>
            <a:r>
              <a:rPr lang="en-US" sz="4400" dirty="0"/>
              <a:t>190cm</a:t>
            </a:r>
            <a:endParaRPr lang="en-US" sz="4400" dirty="0">
              <a:latin typeface="Arial"/>
              <a:cs typeface="Arial"/>
            </a:endParaRPr>
          </a:p>
        </p:txBody>
      </p:sp>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45AF-E326-318D-C1E6-B7A299CDB3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50A9ED-4A22-FCEF-8D3D-C86F02C8563B}"/>
              </a:ext>
            </a:extLst>
          </p:cNvPr>
          <p:cNvSpPr>
            <a:spLocks noGrp="1"/>
          </p:cNvSpPr>
          <p:nvPr>
            <p:ph type="title"/>
          </p:nvPr>
        </p:nvSpPr>
        <p:spPr>
          <a:xfrm>
            <a:off x="360000" y="360000"/>
            <a:ext cx="7083216" cy="545601"/>
          </a:xfrm>
        </p:spPr>
        <p:txBody>
          <a:bodyPr/>
          <a:lstStyle/>
          <a:p>
            <a:r>
              <a:rPr lang="en-AU"/>
              <a:t>Activity 6 – What’s the nearest?</a:t>
            </a:r>
          </a:p>
        </p:txBody>
      </p:sp>
      <p:pic>
        <p:nvPicPr>
          <p:cNvPr id="25" name="Picture 24" descr="image of a head with cogs turning inside">
            <a:extLst>
              <a:ext uri="{FF2B5EF4-FFF2-40B4-BE49-F238E27FC236}">
                <a16:creationId xmlns:a16="http://schemas.microsoft.com/office/drawing/2014/main" id="{73F0A54B-C80E-7068-33D2-41865FA357D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4" name="Picture 23" descr="Four 9-sided dice displaying 4, 9, 3 and 8 face up.">
            <a:extLst>
              <a:ext uri="{FF2B5EF4-FFF2-40B4-BE49-F238E27FC236}">
                <a16:creationId xmlns:a16="http://schemas.microsoft.com/office/drawing/2014/main" id="{01C4A1C3-9ECE-2DBD-B1EA-2B87652D004C}"/>
              </a:ext>
            </a:extLst>
          </p:cNvPr>
          <p:cNvPicPr>
            <a:picLocks noChangeAspect="1"/>
          </p:cNvPicPr>
          <p:nvPr/>
        </p:nvPicPr>
        <p:blipFill>
          <a:blip r:embed="rId4"/>
          <a:stretch>
            <a:fillRect/>
          </a:stretch>
        </p:blipFill>
        <p:spPr>
          <a:xfrm>
            <a:off x="1524884" y="1958807"/>
            <a:ext cx="9142231" cy="2940385"/>
          </a:xfrm>
          <a:prstGeom prst="rect">
            <a:avLst/>
          </a:prstGeom>
        </p:spPr>
      </p:pic>
      <p:sp>
        <p:nvSpPr>
          <p:cNvPr id="2" name="Slide Number Placeholder 1">
            <a:extLst>
              <a:ext uri="{FF2B5EF4-FFF2-40B4-BE49-F238E27FC236}">
                <a16:creationId xmlns:a16="http://schemas.microsoft.com/office/drawing/2014/main" id="{815BE0D5-E051-FA49-5199-0230BF5A098F}"/>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135953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(4)(1)</a:t>
            </a:r>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474482" y="1345727"/>
            <a:ext cx="11243037" cy="893226"/>
          </a:xfrm>
        </p:spPr>
        <p:txBody>
          <a:bodyPr vert="horz" lIns="0" tIns="0" rIns="0" bIns="0" rtlCol="0" anchor="t">
            <a:noAutofit/>
          </a:bodyPr>
          <a:lstStyle/>
          <a:p>
            <a:pPr algn="ctr"/>
            <a:r>
              <a:rPr lang="en-AU" sz="4400" dirty="0">
                <a:latin typeface="Arial"/>
                <a:cs typeface="Arial"/>
              </a:rPr>
              <a:t>What is the smallest number you can make with the digits 4, 5, 8, 0, 9?</a:t>
            </a:r>
            <a:endParaRPr lang="en-US" sz="4400" dirty="0"/>
          </a:p>
        </p:txBody>
      </p:sp>
      <p:graphicFrame>
        <p:nvGraphicFramePr>
          <p:cNvPr id="4" name="Table 3">
            <a:extLst>
              <a:ext uri="{FF2B5EF4-FFF2-40B4-BE49-F238E27FC236}">
                <a16:creationId xmlns:a16="http://schemas.microsoft.com/office/drawing/2014/main" id="{B58E21A6-1D40-3A2E-B8B8-AA64DD6E26FC}"/>
              </a:ext>
            </a:extLst>
          </p:cNvPr>
          <p:cNvGraphicFramePr>
            <a:graphicFrameLocks noGrp="1"/>
          </p:cNvGraphicFramePr>
          <p:nvPr>
            <p:extLst>
              <p:ext uri="{D42A27DB-BD31-4B8C-83A1-F6EECF244321}">
                <p14:modId xmlns:p14="http://schemas.microsoft.com/office/powerpoint/2010/main" val="176952554"/>
              </p:ext>
            </p:extLst>
          </p:nvPr>
        </p:nvGraphicFramePr>
        <p:xfrm>
          <a:off x="360000" y="4430394"/>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98 054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kern="1200">
                          <a:solidFill>
                            <a:schemeClr val="tx1"/>
                          </a:solidFill>
                          <a:latin typeface="+mn-lt"/>
                          <a:ea typeface="+mn-ea"/>
                          <a:cs typeface="Arial"/>
                        </a:rPr>
                        <a:t>45 908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kern="1200">
                          <a:solidFill>
                            <a:schemeClr val="tx1"/>
                          </a:solidFill>
                          <a:latin typeface="+mn-lt"/>
                          <a:ea typeface="+mn-ea"/>
                          <a:cs typeface="Arial"/>
                        </a:rPr>
                        <a:t>98 540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kern="1200">
                          <a:solidFill>
                            <a:schemeClr val="tx1"/>
                          </a:solidFill>
                          <a:latin typeface="+mn-lt"/>
                          <a:ea typeface="+mn-ea"/>
                          <a:cs typeface="Arial"/>
                        </a:rPr>
                        <a:t>90 584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021557" y="996878"/>
            <a:ext cx="10148887" cy="1112127"/>
          </a:xfrm>
        </p:spPr>
        <p:txBody>
          <a:bodyPr/>
          <a:lstStyle/>
          <a:p>
            <a:r>
              <a:rPr lang="en-US" sz="4000">
                <a:latin typeface="Arial"/>
                <a:cs typeface="Arial"/>
              </a:rPr>
              <a:t>What is the volume of this rectangular prism using cubic centimetres? </a:t>
            </a:r>
            <a:br>
              <a:rPr lang="en-US">
                <a:latin typeface="Arial"/>
                <a:cs typeface="Arial"/>
              </a:rPr>
            </a:br>
            <a:endParaRPr lang="en-US">
              <a:latin typeface="Arial"/>
              <a:cs typeface="Arial"/>
            </a:endParaRPr>
          </a:p>
          <a:p>
            <a:endParaRPr lang="en-US">
              <a:latin typeface="Arial"/>
              <a:cs typeface="Arial"/>
            </a:endParaRPr>
          </a:p>
        </p:txBody>
      </p:sp>
      <p:pic>
        <p:nvPicPr>
          <p:cNvPr id="6" name="Picture 5" descr="A rectangular prism with volume 2 x 3 x 4 in cubes.">
            <a:extLst>
              <a:ext uri="{FF2B5EF4-FFF2-40B4-BE49-F238E27FC236}">
                <a16:creationId xmlns:a16="http://schemas.microsoft.com/office/drawing/2014/main" id="{1512ED92-4174-7711-C2E7-CB345FBA3EDC}"/>
              </a:ext>
            </a:extLst>
          </p:cNvPr>
          <p:cNvPicPr>
            <a:picLocks noChangeAspect="1"/>
          </p:cNvPicPr>
          <p:nvPr/>
        </p:nvPicPr>
        <p:blipFill>
          <a:blip r:embed="rId4"/>
          <a:stretch>
            <a:fillRect/>
          </a:stretch>
        </p:blipFill>
        <p:spPr>
          <a:xfrm>
            <a:off x="4558746" y="2792491"/>
            <a:ext cx="3074508" cy="3913009"/>
          </a:xfrm>
          <a:prstGeom prst="rect">
            <a:avLst/>
          </a:prstGeom>
        </p:spPr>
      </p:pic>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(26) </a:t>
            </a:r>
          </a:p>
        </p:txBody>
      </p:sp>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9ACD7A-BA3A-DC99-6BBC-53AD31BFEA1B}"/>
                  </a:ext>
                </a:extLst>
              </p:cNvPr>
              <p:cNvSpPr txBox="1"/>
              <p:nvPr/>
            </p:nvSpPr>
            <p:spPr>
              <a:xfrm>
                <a:off x="867185" y="1398021"/>
                <a:ext cx="10735853" cy="4694076"/>
              </a:xfrm>
              <a:prstGeom prst="rect">
                <a:avLst/>
              </a:prstGeom>
              <a:noFill/>
            </p:spPr>
            <p:txBody>
              <a:bodyPr wrap="square" lIns="0" tIns="0" rIns="0" bIns="0" rtlCol="0">
                <a:noAutofit/>
              </a:bodyPr>
              <a:lstStyle/>
              <a:p>
                <a:pPr algn="l"/>
                <a:r>
                  <a:rPr lang="en-AU" sz="3600" dirty="0"/>
                  <a:t>Look at these pairs of fractions:</a:t>
                </a:r>
              </a:p>
              <a:p>
                <a:pPr algn="ctr">
                  <a:lnSpc>
                    <a:spcPct val="150000"/>
                  </a:lnSpc>
                </a:pPr>
                <a14:m>
                  <m:oMath xmlns:m="http://schemas.openxmlformats.org/officeDocument/2006/math">
                    <m:f>
                      <m:fPr>
                        <m:ctrlPr>
                          <a:rPr lang="en-AU" sz="360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2</m:t>
                        </m:r>
                      </m:den>
                    </m:f>
                  </m:oMath>
                </a14:m>
                <a:r>
                  <a:rPr lang="en-AU" sz="3600" dirty="0"/>
                  <a:t>  and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4</m:t>
                        </m:r>
                      </m:den>
                    </m:f>
                  </m:oMath>
                </a14:m>
                <a:r>
                  <a:rPr lang="en-AU" sz="3600" dirty="0"/>
                  <a:t> </a:t>
                </a:r>
              </a:p>
              <a:p>
                <a:pPr algn="ctr">
                  <a:lnSpc>
                    <a:spcPct val="150000"/>
                  </a:lnSpc>
                </a:pPr>
                <a:r>
                  <a:rPr lang="en-AU" sz="36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3</m:t>
                        </m:r>
                      </m:den>
                    </m:f>
                    <m:r>
                      <a:rPr lang="en-AU" sz="3600" i="1">
                        <a:latin typeface="Cambria Math" panose="02040503050406030204" pitchFamily="18" charset="0"/>
                      </a:rPr>
                      <m:t> </m:t>
                    </m:r>
                    <m:r>
                      <a:rPr lang="en-AU" sz="3600" b="0" i="1" smtClean="0">
                        <a:latin typeface="Cambria Math" panose="02040503050406030204" pitchFamily="18" charset="0"/>
                      </a:rPr>
                      <m:t> </m:t>
                    </m:r>
                  </m:oMath>
                </a14:m>
                <a:r>
                  <a:rPr lang="en-AU" sz="3600" dirty="0"/>
                  <a:t>and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6</m:t>
                        </m:r>
                      </m:den>
                    </m:f>
                    <m:r>
                      <a:rPr lang="en-AU" sz="3600" i="1">
                        <a:latin typeface="Cambria Math" panose="02040503050406030204" pitchFamily="18" charset="0"/>
                      </a:rPr>
                      <m:t> </m:t>
                    </m:r>
                  </m:oMath>
                </a14:m>
                <a:endParaRPr lang="en-AU" sz="3600" i="1" dirty="0">
                  <a:latin typeface="Cambria Math" panose="02040503050406030204" pitchFamily="18" charset="0"/>
                </a:endParaRPr>
              </a:p>
              <a:p>
                <a:pPr algn="ctr">
                  <a:lnSpc>
                    <a:spcPct val="150000"/>
                  </a:lnSpc>
                </a:pPr>
                <a:r>
                  <a:rPr lang="en-AU" sz="36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5</m:t>
                        </m:r>
                      </m:den>
                    </m:f>
                    <m:r>
                      <a:rPr lang="en-AU" sz="3600" i="1">
                        <a:latin typeface="Cambria Math" panose="02040503050406030204" pitchFamily="18" charset="0"/>
                      </a:rPr>
                      <m:t> </m:t>
                    </m:r>
                  </m:oMath>
                </a14:m>
                <a:r>
                  <a:rPr lang="en-AU" sz="3600" dirty="0"/>
                  <a:t> and </a:t>
                </a:r>
                <a14:m>
                  <m:oMath xmlns:m="http://schemas.openxmlformats.org/officeDocument/2006/math">
                    <m:f>
                      <m:fPr>
                        <m:ctrlPr>
                          <a:rPr lang="en-AU" sz="3600" i="1">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10</m:t>
                        </m:r>
                      </m:den>
                    </m:f>
                  </m:oMath>
                </a14:m>
                <a:endParaRPr lang="en-AU" sz="3600" dirty="0"/>
              </a:p>
              <a:p>
                <a:pPr algn="l"/>
                <a:endParaRPr lang="en-AU" sz="3600" dirty="0"/>
              </a:p>
              <a:p>
                <a:pPr algn="l"/>
                <a:r>
                  <a:rPr lang="en-AU" sz="3600" dirty="0"/>
                  <a:t>How are the pairs related? Explain the pattern</a:t>
                </a:r>
                <a:r>
                  <a:rPr lang="en-AU" sz="2800" dirty="0"/>
                  <a:t>.</a:t>
                </a:r>
              </a:p>
            </p:txBody>
          </p:sp>
        </mc:Choice>
        <mc:Fallback xmlns="">
          <p:sp>
            <p:nvSpPr>
              <p:cNvPr id="5" name="TextBox 4">
                <a:extLst>
                  <a:ext uri="{FF2B5EF4-FFF2-40B4-BE49-F238E27FC236}">
                    <a16:creationId xmlns:a16="http://schemas.microsoft.com/office/drawing/2014/main" id="{5E9ACD7A-BA3A-DC99-6BBC-53AD31BFEA1B}"/>
                  </a:ext>
                </a:extLst>
              </p:cNvPr>
              <p:cNvSpPr txBox="1">
                <a:spLocks noRot="1" noChangeAspect="1" noMove="1" noResize="1" noEditPoints="1" noAdjustHandles="1" noChangeArrowheads="1" noChangeShapeType="1" noTextEdit="1"/>
              </p:cNvSpPr>
              <p:nvPr/>
            </p:nvSpPr>
            <p:spPr>
              <a:xfrm>
                <a:off x="867185" y="1398021"/>
                <a:ext cx="10735853" cy="4694076"/>
              </a:xfrm>
              <a:prstGeom prst="rect">
                <a:avLst/>
              </a:prstGeom>
              <a:blipFill>
                <a:blip r:embed="rId3"/>
                <a:stretch>
                  <a:fillRect l="-2555" t="-2987" b="-15584"/>
                </a:stretch>
              </a:blipFill>
            </p:spPr>
            <p:txBody>
              <a:bodyPr/>
              <a:lstStyle/>
              <a:p>
                <a:r>
                  <a:rPr lang="en-AU">
                    <a:noFill/>
                  </a:rPr>
                  <a:t> </a:t>
                </a:r>
              </a:p>
            </p:txBody>
          </p:sp>
        </mc:Fallback>
      </mc:AlternateContent>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48000" y="1810911"/>
            <a:ext cx="11235949" cy="3303256"/>
          </a:xfrm>
        </p:spPr>
        <p:txBody>
          <a:bodyPr/>
          <a:lstStyle/>
          <a:p>
            <a:pPr algn="ctr"/>
            <a:r>
              <a:rPr lang="en-US" sz="4400" dirty="0">
                <a:latin typeface="Arial"/>
                <a:cs typeface="Arial"/>
              </a:rPr>
              <a:t>At the canteen you buy a juice for $2.50, </a:t>
            </a:r>
            <a:r>
              <a:rPr lang="en-AU" sz="4400" dirty="0">
                <a:latin typeface="Arial"/>
                <a:cs typeface="Arial"/>
              </a:rPr>
              <a:t>a chicken burger for $6.00, and popcorn for $0.45. How much do you spend in total?</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485214" y="1388461"/>
            <a:ext cx="11221572" cy="2730735"/>
          </a:xfrm>
        </p:spPr>
        <p:txBody>
          <a:bodyPr/>
          <a:lstStyle/>
          <a:p>
            <a:pPr algn="ctr"/>
            <a:r>
              <a:rPr lang="en-AU" sz="3600" dirty="0">
                <a:latin typeface="Arial"/>
                <a:cs typeface="Arial"/>
              </a:rPr>
              <a:t>Sophie is planning a picnic and has 3 different types of sandwiches: ham, cheese, and vegemite. She also has apple juice and water.</a:t>
            </a:r>
          </a:p>
          <a:p>
            <a:pPr algn="ctr"/>
            <a:endParaRPr lang="en-AU" sz="2000" dirty="0">
              <a:latin typeface="Arial"/>
              <a:cs typeface="Arial"/>
            </a:endParaRPr>
          </a:p>
          <a:p>
            <a:pPr algn="ctr"/>
            <a:r>
              <a:rPr lang="en-AU" sz="3600" dirty="0">
                <a:latin typeface="Arial"/>
                <a:cs typeface="Arial"/>
              </a:rPr>
              <a:t>Record </a:t>
            </a:r>
            <a:r>
              <a:rPr lang="en-AU" sz="3600" b="1" dirty="0">
                <a:latin typeface="Arial"/>
                <a:cs typeface="Arial"/>
              </a:rPr>
              <a:t>all possible combinations </a:t>
            </a:r>
            <a:r>
              <a:rPr lang="en-AU" sz="3600" dirty="0">
                <a:latin typeface="Arial"/>
                <a:cs typeface="Arial"/>
              </a:rPr>
              <a:t>of one sandwich and one drink that Sophie can choose for her picnic.</a:t>
            </a:r>
            <a:endParaRPr lang="en-US" sz="3600" dirty="0">
              <a:latin typeface="Arial"/>
              <a:cs typeface="Arial"/>
            </a:endParaRPr>
          </a:p>
        </p:txBody>
      </p:sp>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D3A7-17FF-65A0-44C6-6E942484B4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3D7C1F-789B-7D73-F121-35B630853D46}"/>
              </a:ext>
            </a:extLst>
          </p:cNvPr>
          <p:cNvSpPr>
            <a:spLocks noGrp="1"/>
          </p:cNvSpPr>
          <p:nvPr>
            <p:ph type="title"/>
          </p:nvPr>
        </p:nvSpPr>
        <p:spPr>
          <a:xfrm>
            <a:off x="360000" y="360000"/>
            <a:ext cx="7320960" cy="545601"/>
          </a:xfrm>
        </p:spPr>
        <p:txBody>
          <a:bodyPr/>
          <a:lstStyle/>
          <a:p>
            <a:r>
              <a:rPr lang="en-AU"/>
              <a:t>Activity 7 – largest 4-digit number</a:t>
            </a:r>
          </a:p>
        </p:txBody>
      </p:sp>
      <p:pic>
        <p:nvPicPr>
          <p:cNvPr id="5" name="Picture 4" descr="image of a head with cogs turning inside">
            <a:extLst>
              <a:ext uri="{FF2B5EF4-FFF2-40B4-BE49-F238E27FC236}">
                <a16:creationId xmlns:a16="http://schemas.microsoft.com/office/drawing/2014/main" id="{6C1C62EB-322D-D264-75EF-DE53ECCAA7E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descr="Nice or Nasty gameboard set up. Player 1 shows 4 empty squares next to one another set up for a 4-digit number. Player 2 also has 4 empty squares drawn next to one another so that it can be filled with a 4-digit number.">
            <a:extLst>
              <a:ext uri="{FF2B5EF4-FFF2-40B4-BE49-F238E27FC236}">
                <a16:creationId xmlns:a16="http://schemas.microsoft.com/office/drawing/2014/main" id="{5F7F6576-293E-799D-3CEC-A579F77A7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350" y="2006924"/>
            <a:ext cx="10343301" cy="2844152"/>
          </a:xfrm>
          <a:prstGeom prst="rect">
            <a:avLst/>
          </a:prstGeom>
        </p:spPr>
      </p:pic>
      <p:sp>
        <p:nvSpPr>
          <p:cNvPr id="2" name="Slide Number Placeholder 1">
            <a:extLst>
              <a:ext uri="{FF2B5EF4-FFF2-40B4-BE49-F238E27FC236}">
                <a16:creationId xmlns:a16="http://schemas.microsoft.com/office/drawing/2014/main" id="{F5165E59-9081-D946-89B4-58D974837E87}"/>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85443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88755" y="1892016"/>
            <a:ext cx="11185528" cy="2551648"/>
          </a:xfrm>
        </p:spPr>
        <p:txBody>
          <a:bodyPr vert="horz" lIns="0" tIns="0" rIns="0" bIns="0" rtlCol="0" anchor="t">
            <a:noAutofit/>
          </a:bodyPr>
          <a:lstStyle/>
          <a:p>
            <a:pPr algn="ctr"/>
            <a:r>
              <a:rPr lang="en-AU" sz="4400" dirty="0">
                <a:latin typeface="Arial"/>
                <a:cs typeface="Arial"/>
              </a:rPr>
              <a:t> The </a:t>
            </a:r>
            <a:r>
              <a:rPr lang="en-AU" sz="4400" b="1" dirty="0">
                <a:latin typeface="Arial"/>
                <a:cs typeface="Arial"/>
              </a:rPr>
              <a:t>nearest thousand </a:t>
            </a:r>
            <a:r>
              <a:rPr lang="en-AU" sz="4400" dirty="0">
                <a:latin typeface="Arial"/>
                <a:cs typeface="Arial"/>
              </a:rPr>
              <a:t>to the number 7897 is 8000. </a:t>
            </a:r>
            <a:endParaRPr lang="en-US"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168148674"/>
              </p:ext>
            </p:extLst>
          </p:nvPr>
        </p:nvGraphicFramePr>
        <p:xfrm>
          <a:off x="2442981"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360001" y="1333372"/>
            <a:ext cx="10764000" cy="1887543"/>
          </a:xfrm>
        </p:spPr>
        <p:txBody>
          <a:bodyPr/>
          <a:lstStyle/>
          <a:p>
            <a:pPr algn="ctr"/>
            <a:r>
              <a:rPr lang="en-US" sz="3600" dirty="0">
                <a:latin typeface="Arial"/>
                <a:cs typeface="Arial"/>
              </a:rPr>
              <a:t>Describe the </a:t>
            </a:r>
            <a:r>
              <a:rPr lang="en-US" sz="3600" b="1" dirty="0">
                <a:latin typeface="Arial"/>
                <a:cs typeface="Arial"/>
              </a:rPr>
              <a:t>volume</a:t>
            </a:r>
            <a:r>
              <a:rPr lang="en-US" sz="3600" dirty="0">
                <a:latin typeface="Arial"/>
                <a:cs typeface="Arial"/>
              </a:rPr>
              <a:t> of this prism in terms of layers.</a:t>
            </a:r>
            <a:endParaRPr lang="en-US" sz="3600" dirty="0"/>
          </a:p>
          <a:p>
            <a:pPr algn="ctr"/>
            <a:endParaRPr lang="en-US" sz="4400" dirty="0"/>
          </a:p>
          <a:p>
            <a:endParaRPr lang="en-US" dirty="0">
              <a:latin typeface="Arial"/>
              <a:cs typeface="Arial"/>
            </a:endParaRPr>
          </a:p>
        </p:txBody>
      </p:sp>
      <p:pic>
        <p:nvPicPr>
          <p:cNvPr id="6" name="Picture 5" descr="A table with the heading top view, side view and front view. Below the headings are images of how a rectangular prism would look from this view. Top view has 4 x 3 cubes; Side view has 2 x 4 cubes; and Front view has 2 x 3 cubes.">
            <a:extLst>
              <a:ext uri="{FF2B5EF4-FFF2-40B4-BE49-F238E27FC236}">
                <a16:creationId xmlns:a16="http://schemas.microsoft.com/office/drawing/2014/main" id="{6A92A989-4071-9D6A-D929-50CB094833A1}"/>
              </a:ext>
            </a:extLst>
          </p:cNvPr>
          <p:cNvPicPr>
            <a:picLocks noChangeAspect="1"/>
          </p:cNvPicPr>
          <p:nvPr/>
        </p:nvPicPr>
        <p:blipFill>
          <a:blip r:embed="rId4"/>
          <a:srcRect r="1340"/>
          <a:stretch>
            <a:fillRect/>
          </a:stretch>
        </p:blipFill>
        <p:spPr>
          <a:xfrm>
            <a:off x="930581" y="2087795"/>
            <a:ext cx="10330837" cy="4279056"/>
          </a:xfrm>
          <a:prstGeom prst="rect">
            <a:avLst/>
          </a:prstGeom>
        </p:spPr>
      </p:pic>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A4C3E82-5860-73DE-6E1E-F245CCFFF597}"/>
                  </a:ext>
                </a:extLst>
              </p:cNvPr>
              <p:cNvSpPr txBox="1"/>
              <p:nvPr/>
            </p:nvSpPr>
            <p:spPr>
              <a:xfrm>
                <a:off x="474482" y="1490133"/>
                <a:ext cx="11243037" cy="4876799"/>
              </a:xfrm>
              <a:prstGeom prst="rect">
                <a:avLst/>
              </a:prstGeom>
              <a:noFill/>
            </p:spPr>
            <p:txBody>
              <a:bodyPr wrap="square" lIns="0" tIns="0" rIns="0" bIns="0" rtlCol="0">
                <a:noAutofit/>
              </a:bodyPr>
              <a:lstStyle/>
              <a:p>
                <a:pPr algn="ctr"/>
                <a:r>
                  <a:rPr lang="en-AU" sz="4400" dirty="0"/>
                  <a:t>What </a:t>
                </a:r>
                <a:r>
                  <a:rPr lang="en-AU" sz="4400" b="1" dirty="0"/>
                  <a:t>complementary fraction </a:t>
                </a:r>
                <a:r>
                  <a:rPr lang="en-AU" sz="4400" dirty="0"/>
                  <a:t>part is needed to make one whole from  </a:t>
                </a:r>
                <a14:m>
                  <m:oMath xmlns:m="http://schemas.openxmlformats.org/officeDocument/2006/math">
                    <m:f>
                      <m:fPr>
                        <m:ctrlPr>
                          <a:rPr lang="en-AU" sz="5400" b="1" i="1" smtClean="0">
                            <a:latin typeface="Cambria Math" panose="02040503050406030204" pitchFamily="18" charset="0"/>
                          </a:rPr>
                        </m:ctrlPr>
                      </m:fPr>
                      <m:num>
                        <m:r>
                          <a:rPr lang="en-AU" sz="5400" b="1" i="1" smtClean="0">
                            <a:latin typeface="Cambria Math" panose="02040503050406030204" pitchFamily="18" charset="0"/>
                          </a:rPr>
                          <m:t>𝟐</m:t>
                        </m:r>
                      </m:num>
                      <m:den>
                        <m:r>
                          <a:rPr lang="en-AU" sz="5400" b="1" i="1" smtClean="0">
                            <a:latin typeface="Cambria Math" panose="02040503050406030204" pitchFamily="18" charset="0"/>
                          </a:rPr>
                          <m:t>𝟖</m:t>
                        </m:r>
                      </m:den>
                    </m:f>
                  </m:oMath>
                </a14:m>
                <a:r>
                  <a:rPr lang="en-AU" sz="5400" b="1" dirty="0"/>
                  <a:t> </a:t>
                </a:r>
                <a:r>
                  <a:rPr lang="en-AU" sz="4400" dirty="0"/>
                  <a:t>?</a:t>
                </a:r>
              </a:p>
              <a:p>
                <a:endParaRPr lang="en-AU" sz="4400" dirty="0"/>
              </a:p>
              <a:p>
                <a:endParaRPr lang="en-AU" sz="4400" dirty="0"/>
              </a:p>
              <a:p>
                <a:pPr algn="ctr"/>
                <a:r>
                  <a:rPr lang="en-AU" sz="4400" dirty="0"/>
                  <a:t>Draw a model to justify your thinking</a:t>
                </a:r>
              </a:p>
            </p:txBody>
          </p:sp>
        </mc:Choice>
        <mc:Fallback xmlns="">
          <p:sp>
            <p:nvSpPr>
              <p:cNvPr id="6" name="TextBox 5">
                <a:extLst>
                  <a:ext uri="{FF2B5EF4-FFF2-40B4-BE49-F238E27FC236}">
                    <a16:creationId xmlns:a16="http://schemas.microsoft.com/office/drawing/2014/main" id="{5A4C3E82-5860-73DE-6E1E-F245CCFFF597}"/>
                  </a:ext>
                </a:extLst>
              </p:cNvPr>
              <p:cNvSpPr txBox="1">
                <a:spLocks noRot="1" noChangeAspect="1" noMove="1" noResize="1" noEditPoints="1" noAdjustHandles="1" noChangeArrowheads="1" noChangeShapeType="1" noTextEdit="1"/>
              </p:cNvSpPr>
              <p:nvPr/>
            </p:nvSpPr>
            <p:spPr>
              <a:xfrm>
                <a:off x="474482" y="1490133"/>
                <a:ext cx="11243037" cy="4876799"/>
              </a:xfrm>
              <a:prstGeom prst="rect">
                <a:avLst/>
              </a:prstGeom>
              <a:blipFill>
                <a:blip r:embed="rId4"/>
                <a:stretch>
                  <a:fillRect t="-3625"/>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392197" y="1383043"/>
            <a:ext cx="11178643" cy="4234417"/>
          </a:xfrm>
        </p:spPr>
        <p:txBody>
          <a:bodyPr/>
          <a:lstStyle/>
          <a:p>
            <a:pPr algn="ctr"/>
            <a:r>
              <a:rPr lang="en-AU" sz="4000" dirty="0">
                <a:latin typeface="Arial"/>
                <a:cs typeface="Arial"/>
              </a:rPr>
              <a:t>Liam has $15. He wants to buy a toy that costs $8.50 and a book that costs $4.25.</a:t>
            </a:r>
          </a:p>
          <a:p>
            <a:pPr algn="ctr"/>
            <a:r>
              <a:rPr lang="en-AU" sz="4000" dirty="0">
                <a:latin typeface="Arial"/>
                <a:cs typeface="Arial"/>
              </a:rPr>
              <a:t>How much money will Liam spend in total?</a:t>
            </a:r>
          </a:p>
          <a:p>
            <a:pPr algn="ctr"/>
            <a:r>
              <a:rPr lang="en-AU" sz="4000" dirty="0">
                <a:latin typeface="Arial"/>
                <a:cs typeface="Arial"/>
              </a:rPr>
              <a:t>How much money will he have left after buying the toy and the book?</a:t>
            </a:r>
            <a:endParaRPr lang="en-US" sz="4000" dirty="0">
              <a:latin typeface="Arial"/>
              <a:cs typeface="Arial"/>
            </a:endParaRPr>
          </a:p>
        </p:txBody>
      </p:sp>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(34)</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6F141943-82E3-9EF3-4E0A-961E3AE7383C}"/>
              </a:ext>
            </a:extLst>
          </p:cNvPr>
          <p:cNvSpPr txBox="1"/>
          <p:nvPr/>
        </p:nvSpPr>
        <p:spPr>
          <a:xfrm>
            <a:off x="759846" y="2450933"/>
            <a:ext cx="10672309" cy="1446550"/>
          </a:xfrm>
          <a:prstGeom prst="rect">
            <a:avLst/>
          </a:prstGeom>
          <a:noFill/>
        </p:spPr>
        <p:txBody>
          <a:bodyPr wrap="square">
            <a:spAutoFit/>
          </a:bodyPr>
          <a:lstStyle/>
          <a:p>
            <a:pPr algn="ctr"/>
            <a:r>
              <a:rPr lang="en-AU" sz="4400" dirty="0"/>
              <a:t>Record 3 </a:t>
            </a:r>
            <a:r>
              <a:rPr lang="en-AU" sz="4400" b="1" dirty="0"/>
              <a:t>polygons</a:t>
            </a:r>
            <a:r>
              <a:rPr lang="en-AU" sz="4400" dirty="0"/>
              <a:t> that have at least one pair of parallel sides.</a:t>
            </a:r>
          </a:p>
        </p:txBody>
      </p:sp>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D8FF0-2A05-ED4A-25C8-EB69250B2C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48E3B6-637A-5AB2-B716-EEB407EC9993}"/>
              </a:ext>
            </a:extLst>
          </p:cNvPr>
          <p:cNvSpPr>
            <a:spLocks noGrp="1"/>
          </p:cNvSpPr>
          <p:nvPr>
            <p:ph type="title"/>
          </p:nvPr>
        </p:nvSpPr>
        <p:spPr/>
        <p:txBody>
          <a:bodyPr/>
          <a:lstStyle/>
          <a:p>
            <a:r>
              <a:rPr lang="en-AU"/>
              <a:t>Activity 8 – What’s the nearest 2?</a:t>
            </a:r>
          </a:p>
        </p:txBody>
      </p:sp>
      <p:pic>
        <p:nvPicPr>
          <p:cNvPr id="27" name="Picture 26" descr="image of a head with cogs turning inside">
            <a:extLst>
              <a:ext uri="{FF2B5EF4-FFF2-40B4-BE49-F238E27FC236}">
                <a16:creationId xmlns:a16="http://schemas.microsoft.com/office/drawing/2014/main" id="{1465A85A-A6C5-B41A-7CE2-BFBC66A0574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6" name="Picture 25" descr="Five 9-sided dice with 1, 7, 9, 8 and 3 facing up.">
            <a:extLst>
              <a:ext uri="{FF2B5EF4-FFF2-40B4-BE49-F238E27FC236}">
                <a16:creationId xmlns:a16="http://schemas.microsoft.com/office/drawing/2014/main" id="{BE230575-EC8D-B847-7B1D-C5E55138BDCE}"/>
              </a:ext>
            </a:extLst>
          </p:cNvPr>
          <p:cNvPicPr>
            <a:picLocks noChangeAspect="1"/>
          </p:cNvPicPr>
          <p:nvPr/>
        </p:nvPicPr>
        <p:blipFill>
          <a:blip r:embed="rId4"/>
          <a:stretch>
            <a:fillRect/>
          </a:stretch>
        </p:blipFill>
        <p:spPr>
          <a:xfrm>
            <a:off x="717752" y="2081354"/>
            <a:ext cx="10756496" cy="2968638"/>
          </a:xfrm>
          <a:prstGeom prst="rect">
            <a:avLst/>
          </a:prstGeom>
        </p:spPr>
      </p:pic>
      <p:sp>
        <p:nvSpPr>
          <p:cNvPr id="2" name="Slide Number Placeholder 1">
            <a:extLst>
              <a:ext uri="{FF2B5EF4-FFF2-40B4-BE49-F238E27FC236}">
                <a16:creationId xmlns:a16="http://schemas.microsoft.com/office/drawing/2014/main" id="{379B87AB-FA10-B2CE-1776-EB986568FEF6}"/>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2444859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 action="ppaction://noaction"/>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8" name="Content Placeholder 3">
            <a:extLst>
              <a:ext uri="{FF2B5EF4-FFF2-40B4-BE49-F238E27FC236}">
                <a16:creationId xmlns:a16="http://schemas.microsoft.com/office/drawing/2014/main" id="{33DF6848-2F97-50FD-3F8D-A495AE0BCBED}"/>
              </a:ext>
            </a:extLst>
          </p:cNvPr>
          <p:cNvSpPr>
            <a:spLocks noGrp="1"/>
          </p:cNvSpPr>
          <p:nvPr>
            <p:ph idx="1"/>
          </p:nvPr>
        </p:nvSpPr>
        <p:spPr>
          <a:xfrm>
            <a:off x="360000" y="3428999"/>
            <a:ext cx="11484000" cy="2927351"/>
          </a:xfrm>
        </p:spPr>
        <p:txBody>
          <a:bodyPr vert="horz" lIns="0" tIns="0" rIns="0" bIns="0" rtlCol="0" anchor="t">
            <a:noAutofit/>
          </a:bodyPr>
          <a:lstStyle/>
          <a:p>
            <a:r>
              <a:rPr lang="en-AU">
                <a:latin typeface="Arial"/>
                <a:cs typeface="Arial"/>
                <a:hlinkClick r:id="rId5"/>
              </a:rPr>
              <a:t>Mathematics K–10 Syllabus </a:t>
            </a:r>
            <a:r>
              <a:rPr lang="en-AU">
                <a:latin typeface="Arial"/>
                <a:cs typeface="Arial"/>
              </a:rPr>
              <a:t>© Syllabus NSW Education Standards Authority (NESA) for and on behalf of the Crown in right of the State of New South Wales, 2022.</a:t>
            </a:r>
          </a:p>
          <a:p>
            <a:r>
              <a:rPr lang="en-AU">
                <a:latin typeface="Arial"/>
                <a:cs typeface="Arial"/>
                <a:hlinkClick r:id="rId6"/>
              </a:rPr>
              <a:t>National Numeracy Learning Progression </a:t>
            </a:r>
            <a:r>
              <a:rPr lang="en-AU">
                <a:latin typeface="Arial"/>
                <a:cs typeface="Arial"/>
              </a:rPr>
              <a:t> © Australian Curriculum, Assessment and Reporting Authority (ACARA) 2010 to present, unless otherwise indicated. This material was downloaded from the </a:t>
            </a:r>
            <a:r>
              <a:rPr lang="en-AU">
                <a:latin typeface="Arial"/>
                <a:cs typeface="Arial"/>
                <a:hlinkClick r:id="rId7"/>
              </a:rPr>
              <a:t>Australian Curriculum </a:t>
            </a:r>
            <a:r>
              <a:rPr lang="en-AU">
                <a:latin typeface="Arial"/>
                <a:cs typeface="Arial"/>
              </a:rPr>
              <a:t>website (National Literacy Learning Progression) (accessed 10 May 2024) and was not modified.</a:t>
            </a:r>
          </a:p>
          <a:p>
            <a:r>
              <a:rPr lang="en-AU">
                <a:latin typeface="Arial"/>
                <a:cs typeface="Arial"/>
              </a:rPr>
              <a:t>Lilburn P and </a:t>
            </a:r>
            <a:r>
              <a:rPr lang="en-AU" err="1">
                <a:latin typeface="Arial"/>
                <a:cs typeface="Arial"/>
              </a:rPr>
              <a:t>Sawczak</a:t>
            </a:r>
            <a:r>
              <a:rPr lang="en-AU">
                <a:latin typeface="Arial"/>
                <a:cs typeface="Arial"/>
              </a:rPr>
              <a:t> I (2011) Teaching and Assessing Maths Through Open-ended Activities, 1st Australian </a:t>
            </a:r>
            <a:r>
              <a:rPr lang="en-AU" err="1">
                <a:latin typeface="Arial"/>
                <a:cs typeface="Arial"/>
              </a:rPr>
              <a:t>edn</a:t>
            </a:r>
            <a:r>
              <a:rPr lang="en-AU">
                <a:latin typeface="Arial"/>
                <a:cs typeface="Arial"/>
              </a:rPr>
              <a:t>, Pearson Education Australia, Melbourne.</a:t>
            </a:r>
          </a:p>
          <a:p>
            <a:r>
              <a:rPr lang="en-AU">
                <a:latin typeface="Arial"/>
                <a:cs typeface="Arial"/>
              </a:rPr>
              <a:t>The Math Learning Center (MLC) (n.d.) </a:t>
            </a:r>
            <a:r>
              <a:rPr lang="en-AU">
                <a:latin typeface="Arial"/>
                <a:cs typeface="Arial"/>
                <a:hlinkClick r:id="rId8"/>
              </a:rPr>
              <a:t>Work Place Instructions 2A Loops &amp; Groups</a:t>
            </a:r>
            <a:r>
              <a:rPr lang="en-AU">
                <a:latin typeface="Arial"/>
                <a:cs typeface="Arial"/>
              </a:rPr>
              <a:t>, MLC website, accessed 28 May 2024.</a:t>
            </a:r>
          </a:p>
          <a:p>
            <a:r>
              <a:rPr lang="en-AU">
                <a:latin typeface="Arial"/>
                <a:cs typeface="Arial"/>
              </a:rPr>
              <a:t>The Math Learning Center (MLC) (2024) </a:t>
            </a:r>
            <a:r>
              <a:rPr lang="en-AU">
                <a:latin typeface="Arial"/>
                <a:cs typeface="Arial"/>
                <a:hlinkClick r:id="rId9"/>
              </a:rPr>
              <a:t>What Comes Next? Fruit Stand</a:t>
            </a:r>
            <a:r>
              <a:rPr lang="en-AU">
                <a:latin typeface="Arial"/>
                <a:cs typeface="Arial"/>
              </a:rPr>
              <a:t>, Math at Home website, accessed 28 May 2024.</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8" name="Content Placeholder 3">
            <a:extLst>
              <a:ext uri="{FF2B5EF4-FFF2-40B4-BE49-F238E27FC236}">
                <a16:creationId xmlns:a16="http://schemas.microsoft.com/office/drawing/2014/main" id="{2B709D67-1AFE-F480-884D-21F45888B5E5}"/>
              </a:ext>
            </a:extLst>
          </p:cNvPr>
          <p:cNvSpPr txBox="1">
            <a:spLocks/>
          </p:cNvSpPr>
          <p:nvPr/>
        </p:nvSpPr>
        <p:spPr>
          <a:xfrm>
            <a:off x="496357" y="3429000"/>
            <a:ext cx="11484000" cy="292735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a:latin typeface="Arial" panose="020B0604020202020204" pitchFamily="34" charset="0"/>
              </a:rPr>
              <a:t>NSW Department of Education (2023) ‘</a:t>
            </a:r>
            <a:r>
              <a:rPr lang="en-AU">
                <a:latin typeface="Arial" panose="020B0604020202020204" pitchFamily="34" charset="0"/>
                <a:hlinkClick r:id="rId6"/>
              </a:rPr>
              <a:t>Array bingo</a:t>
            </a:r>
            <a:r>
              <a:rPr lang="en-AU">
                <a:latin typeface="Arial" panose="020B0604020202020204" pitchFamily="34" charset="0"/>
              </a:rPr>
              <a:t>’, Mathematics K–6 Resources, NSW Department of Education website, accessed 28 May 2024.</a:t>
            </a:r>
          </a:p>
          <a:p>
            <a:r>
              <a:rPr lang="en-AU">
                <a:latin typeface="Arial" panose="020B0604020202020204" pitchFamily="34" charset="0"/>
              </a:rPr>
              <a:t>Toy </a:t>
            </a:r>
            <a:r>
              <a:rPr lang="en-AU" err="1">
                <a:latin typeface="Arial" panose="020B0604020202020204" pitchFamily="34" charset="0"/>
              </a:rPr>
              <a:t>Theater</a:t>
            </a:r>
            <a:r>
              <a:rPr lang="en-AU">
                <a:latin typeface="Arial" panose="020B0604020202020204" pitchFamily="34" charset="0"/>
              </a:rPr>
              <a:t> (2001–2024a) </a:t>
            </a:r>
            <a:r>
              <a:rPr lang="en-AU">
                <a:latin typeface="Arial" panose="020B0604020202020204" pitchFamily="34" charset="0"/>
                <a:hlinkClick r:id="rId7"/>
              </a:rPr>
              <a:t>Colour Counters</a:t>
            </a:r>
            <a:r>
              <a:rPr lang="en-AU">
                <a:latin typeface="Arial" panose="020B0604020202020204" pitchFamily="34" charset="0"/>
              </a:rPr>
              <a:t>, Toy </a:t>
            </a:r>
            <a:r>
              <a:rPr lang="en-AU" err="1">
                <a:latin typeface="Arial" panose="020B0604020202020204" pitchFamily="34" charset="0"/>
              </a:rPr>
              <a:t>Theater</a:t>
            </a:r>
            <a:r>
              <a:rPr lang="en-AU">
                <a:latin typeface="Arial" panose="020B0604020202020204" pitchFamily="34" charset="0"/>
              </a:rPr>
              <a:t> website, accessed 28 May 2024.</a:t>
            </a:r>
          </a:p>
          <a:p>
            <a:r>
              <a:rPr lang="en-AU">
                <a:latin typeface="Arial" panose="020B0604020202020204" pitchFamily="34" charset="0"/>
              </a:rPr>
              <a:t>Toy </a:t>
            </a:r>
            <a:r>
              <a:rPr lang="en-AU" err="1">
                <a:latin typeface="Arial" panose="020B0604020202020204" pitchFamily="34" charset="0"/>
              </a:rPr>
              <a:t>Theater</a:t>
            </a:r>
            <a:r>
              <a:rPr lang="en-AU">
                <a:latin typeface="Arial" panose="020B0604020202020204" pitchFamily="34" charset="0"/>
              </a:rPr>
              <a:t> (2001–2024b) </a:t>
            </a:r>
            <a:r>
              <a:rPr lang="en-AU">
                <a:latin typeface="Arial" panose="020B0604020202020204" pitchFamily="34" charset="0"/>
                <a:hlinkClick r:id="rId8"/>
              </a:rPr>
              <a:t>Hundreds Chart</a:t>
            </a:r>
            <a:r>
              <a:rPr lang="en-AU">
                <a:latin typeface="Arial" panose="020B0604020202020204" pitchFamily="34" charset="0"/>
              </a:rPr>
              <a:t>, Toy </a:t>
            </a:r>
            <a:r>
              <a:rPr lang="en-AU" err="1">
                <a:latin typeface="Arial" panose="020B0604020202020204" pitchFamily="34" charset="0"/>
              </a:rPr>
              <a:t>Theater</a:t>
            </a:r>
            <a:r>
              <a:rPr lang="en-AU">
                <a:latin typeface="Arial" panose="020B0604020202020204" pitchFamily="34" charset="0"/>
              </a:rPr>
              <a:t> website, accessed 28 May 2024.</a:t>
            </a:r>
          </a:p>
          <a:p>
            <a:r>
              <a:rPr lang="en-AU">
                <a:latin typeface="Arial" panose="020B0604020202020204" pitchFamily="34" charset="0"/>
              </a:rPr>
              <a:t>University of Cambridge (</a:t>
            </a:r>
            <a:r>
              <a:rPr lang="en-AU" err="1">
                <a:latin typeface="Arial" panose="020B0604020202020204" pitchFamily="34" charset="0"/>
              </a:rPr>
              <a:t>n.d.a</a:t>
            </a:r>
            <a:r>
              <a:rPr lang="en-AU">
                <a:latin typeface="Arial" panose="020B0604020202020204" pitchFamily="34" charset="0"/>
              </a:rPr>
              <a:t>) </a:t>
            </a:r>
            <a:r>
              <a:rPr lang="en-AU">
                <a:latin typeface="Arial" panose="020B0604020202020204" pitchFamily="34" charset="0"/>
                <a:hlinkClick r:id="rId9"/>
              </a:rPr>
              <a:t>Dicey Perimeter, Dicey Area</a:t>
            </a:r>
            <a:r>
              <a:rPr lang="en-AU">
                <a:latin typeface="Arial" panose="020B0604020202020204" pitchFamily="34" charset="0"/>
              </a:rPr>
              <a:t>, NRICH website, accessed 28 May 2024.</a:t>
            </a:r>
          </a:p>
          <a:p>
            <a:r>
              <a:rPr lang="en-AU">
                <a:latin typeface="Arial" panose="020B0604020202020204" pitchFamily="34" charset="0"/>
              </a:rPr>
              <a:t>——(</a:t>
            </a:r>
            <a:r>
              <a:rPr lang="en-AU" err="1">
                <a:latin typeface="Arial" panose="020B0604020202020204" pitchFamily="34" charset="0"/>
              </a:rPr>
              <a:t>n.d.b</a:t>
            </a:r>
            <a:r>
              <a:rPr lang="en-AU">
                <a:latin typeface="Arial" panose="020B0604020202020204" pitchFamily="34" charset="0"/>
              </a:rPr>
              <a:t>)</a:t>
            </a:r>
            <a:r>
              <a:rPr lang="en-AU">
                <a:latin typeface="Arial" panose="020B0604020202020204" pitchFamily="34" charset="0"/>
                <a:hlinkClick r:id="rId10"/>
              </a:rPr>
              <a:t> Dozens</a:t>
            </a:r>
            <a:r>
              <a:rPr lang="en-AU">
                <a:latin typeface="Arial" panose="020B0604020202020204" pitchFamily="34" charset="0"/>
              </a:rPr>
              <a:t>, NRICH website, accessed 28 May 2024.</a:t>
            </a:r>
          </a:p>
          <a:p>
            <a:r>
              <a:rPr lang="en-AU">
                <a:latin typeface="Arial" panose="020B0604020202020204" pitchFamily="34" charset="0"/>
              </a:rPr>
              <a:t>——(</a:t>
            </a:r>
            <a:r>
              <a:rPr lang="en-AU" err="1">
                <a:latin typeface="Arial" panose="020B0604020202020204" pitchFamily="34" charset="0"/>
              </a:rPr>
              <a:t>n.d.c</a:t>
            </a:r>
            <a:r>
              <a:rPr lang="en-AU">
                <a:latin typeface="Arial" panose="020B0604020202020204" pitchFamily="34" charset="0"/>
              </a:rPr>
              <a:t>) </a:t>
            </a:r>
            <a:r>
              <a:rPr lang="en-AU">
                <a:latin typeface="Arial" panose="020B0604020202020204" pitchFamily="34" charset="0"/>
                <a:hlinkClick r:id="rId11"/>
              </a:rPr>
              <a:t>Nice or Nasty</a:t>
            </a:r>
            <a:r>
              <a:rPr lang="en-AU">
                <a:latin typeface="Arial" panose="020B0604020202020204" pitchFamily="34" charset="0"/>
              </a:rPr>
              <a:t>, NRICH website, accessed 28 May 2024. </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A524F4DA-5415-43D4-8474-C9BE68919175}">
  <ds:schemaRefs>
    <ds:schemaRef ds:uri="http://www.w3.org/XML/1998/namespace"/>
    <ds:schemaRef ds:uri="http://purl.org/dc/elements/1.1/"/>
    <ds:schemaRef ds:uri="http://purl.org/dc/term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60129b06-f64b-40a8-96e2-c5b2f86112b1"/>
    <ds:schemaRef ds:uri="7e763d47-3c66-4c58-9425-1477fd3ccd1e"/>
    <ds:schemaRef ds:uri="http://schemas.microsoft.com/office/2006/metadata/properties"/>
  </ds:schemaRefs>
</ds:datastoreItem>
</file>

<file path=customXml/itemProps3.xml><?xml version="1.0" encoding="utf-8"?>
<ds:datastoreItem xmlns:ds="http://schemas.openxmlformats.org/officeDocument/2006/customXml" ds:itemID="{AEB6D831-2798-4E75-A15B-E8037F9C8CE5}">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2</TotalTime>
  <Words>6335</Words>
  <Application>Microsoft Office PowerPoint</Application>
  <PresentationFormat>Widescreen</PresentationFormat>
  <Paragraphs>803</Paragraphs>
  <Slides>69</Slides>
  <Notes>68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Arial</vt:lpstr>
      <vt:lpstr>Times New Roman</vt:lpstr>
      <vt:lpstr>Montserrat</vt:lpstr>
      <vt:lpstr>Arial,Sans-Serif</vt:lpstr>
      <vt:lpstr>Calibri</vt:lpstr>
      <vt:lpstr>Public Sans</vt:lpstr>
      <vt:lpstr>Cambria Math</vt:lpstr>
      <vt:lpstr>Wingdings</vt:lpstr>
      <vt:lpstr>Public Sans Light</vt:lpstr>
      <vt:lpstr>NSWG Corporate</vt:lpstr>
      <vt:lpstr>Instructions for use</vt:lpstr>
      <vt:lpstr>Review of Learning </vt:lpstr>
      <vt:lpstr>Lessons</vt:lpstr>
      <vt:lpstr>Review of learning 1</vt:lpstr>
      <vt:lpstr>Multiple choice (2) </vt:lpstr>
      <vt:lpstr>Short response (5)</vt:lpstr>
      <vt:lpstr>Short response (2)</vt:lpstr>
      <vt:lpstr>Short response (3)</vt:lpstr>
      <vt:lpstr>Short response (41)</vt:lpstr>
      <vt:lpstr>Activity 1 – groups to arrays</vt:lpstr>
      <vt:lpstr>Review of learning  2</vt:lpstr>
      <vt:lpstr>True or false (1)</vt:lpstr>
      <vt:lpstr>Short response (1)</vt:lpstr>
      <vt:lpstr>Short response (6)</vt:lpstr>
      <vt:lpstr>Short response  (7)</vt:lpstr>
      <vt:lpstr>Short response 15 (8)</vt:lpstr>
      <vt:lpstr>Activity 2 – groups to arrays 2</vt:lpstr>
      <vt:lpstr>Review of learning 3</vt:lpstr>
      <vt:lpstr>Multiple choice (5) </vt:lpstr>
      <vt:lpstr>Short response (9)</vt:lpstr>
      <vt:lpstr>Short response (10)</vt:lpstr>
      <vt:lpstr>Short response(11)</vt:lpstr>
      <vt:lpstr>Short response (12)</vt:lpstr>
      <vt:lpstr>Activity 3 – array bingo</vt:lpstr>
      <vt:lpstr>Review of learning 4</vt:lpstr>
      <vt:lpstr>True or false (2)</vt:lpstr>
      <vt:lpstr>Short response (13)</vt:lpstr>
      <vt:lpstr>Short response (14))</vt:lpstr>
      <vt:lpstr>Short response (15) </vt:lpstr>
      <vt:lpstr>Short response (16)</vt:lpstr>
      <vt:lpstr>Activity 4 – What comes next? </vt:lpstr>
      <vt:lpstr>Review of learning 5</vt:lpstr>
      <vt:lpstr>Multiple choice (3)</vt:lpstr>
      <vt:lpstr>Short response (21)</vt:lpstr>
      <vt:lpstr>Short response (18) </vt:lpstr>
      <vt:lpstr>Short response (19) </vt:lpstr>
      <vt:lpstr>Short response (20)</vt:lpstr>
      <vt:lpstr>Activity 5 – ascending and descending order</vt:lpstr>
      <vt:lpstr>Review of learning 6</vt:lpstr>
      <vt:lpstr>True or false (4) </vt:lpstr>
      <vt:lpstr>Short response (25)</vt:lpstr>
      <vt:lpstr>Short response (22)</vt:lpstr>
      <vt:lpstr>Short response  (23) </vt:lpstr>
      <vt:lpstr>Short response (24)</vt:lpstr>
      <vt:lpstr>Activity 6 – What’s the nearest?</vt:lpstr>
      <vt:lpstr>Review of learning  7</vt:lpstr>
      <vt:lpstr>Multiple choice (4)(1)</vt:lpstr>
      <vt:lpstr>Short response (17)</vt:lpstr>
      <vt:lpstr>Short response  (26) </vt:lpstr>
      <vt:lpstr>Short response  (29)</vt:lpstr>
      <vt:lpstr>Short response (30)</vt:lpstr>
      <vt:lpstr>Activity 7 – largest 4-digit number</vt:lpstr>
      <vt:lpstr>Review of learning 8</vt:lpstr>
      <vt:lpstr>True or false (3)</vt:lpstr>
      <vt:lpstr>Short response (31)</vt:lpstr>
      <vt:lpstr>Short response  (32)</vt:lpstr>
      <vt:lpstr>Short response  (33)</vt:lpstr>
      <vt:lpstr>Short response (34)</vt:lpstr>
      <vt:lpstr>Activity 8 – What’s the nearest 2?</vt:lpstr>
      <vt:lpstr>Double Venn diagram</vt:lpstr>
      <vt:lpstr>Frayer</vt:lpstr>
      <vt:lpstr>Spider map</vt:lpstr>
      <vt:lpstr>Cline</vt:lpstr>
      <vt:lpstr>Compare and contrast</vt:lpstr>
      <vt:lpstr>Multiple choice (1)</vt:lpstr>
      <vt:lpstr>Multiple choice (2)</vt:lpstr>
      <vt:lpstr>References</vt:lpstr>
      <vt:lpstr>References (1)</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11</cp:revision>
  <dcterms:created xsi:type="dcterms:W3CDTF">2025-07-07T07:05:15Z</dcterms:created>
  <dcterms:modified xsi:type="dcterms:W3CDTF">2025-08-03T22:39:19Z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