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4"/>
  </p:notesMasterIdLst>
  <p:handoutMasterIdLst>
    <p:handoutMasterId r:id="rId75"/>
  </p:handoutMasterIdLst>
  <p:sldIdLst>
    <p:sldId id="365" r:id="rId5"/>
    <p:sldId id="26505" r:id="rId6"/>
    <p:sldId id="26359" r:id="rId7"/>
    <p:sldId id="271" r:id="rId8"/>
    <p:sldId id="26650" r:id="rId9"/>
    <p:sldId id="358" r:id="rId10"/>
    <p:sldId id="26580" r:id="rId11"/>
    <p:sldId id="26581" r:id="rId12"/>
    <p:sldId id="26582" r:id="rId13"/>
    <p:sldId id="26576" r:id="rId14"/>
    <p:sldId id="26583" r:id="rId15"/>
    <p:sldId id="26586" r:id="rId16"/>
    <p:sldId id="26587" r:id="rId17"/>
    <p:sldId id="26588" r:id="rId18"/>
    <p:sldId id="26589" r:id="rId19"/>
    <p:sldId id="26590" r:id="rId20"/>
    <p:sldId id="26591" r:id="rId21"/>
    <p:sldId id="26592" r:id="rId22"/>
    <p:sldId id="26594" r:id="rId23"/>
    <p:sldId id="26596" r:id="rId24"/>
    <p:sldId id="26597" r:id="rId25"/>
    <p:sldId id="26598" r:id="rId26"/>
    <p:sldId id="26599" r:id="rId27"/>
    <p:sldId id="26600" r:id="rId28"/>
    <p:sldId id="26601" r:id="rId29"/>
    <p:sldId id="26604" r:id="rId30"/>
    <p:sldId id="26605" r:id="rId31"/>
    <p:sldId id="26606" r:id="rId32"/>
    <p:sldId id="26607" r:id="rId33"/>
    <p:sldId id="26608" r:id="rId34"/>
    <p:sldId id="26609" r:id="rId35"/>
    <p:sldId id="26610" r:id="rId36"/>
    <p:sldId id="26647" r:id="rId37"/>
    <p:sldId id="26614" r:id="rId38"/>
    <p:sldId id="26615" r:id="rId39"/>
    <p:sldId id="26616" r:id="rId40"/>
    <p:sldId id="26617" r:id="rId41"/>
    <p:sldId id="26618" r:id="rId42"/>
    <p:sldId id="26619" r:id="rId43"/>
    <p:sldId id="26622" r:id="rId44"/>
    <p:sldId id="26623" r:id="rId45"/>
    <p:sldId id="26624" r:id="rId46"/>
    <p:sldId id="26625" r:id="rId47"/>
    <p:sldId id="26626" r:id="rId48"/>
    <p:sldId id="26627" r:id="rId49"/>
    <p:sldId id="26628" r:id="rId50"/>
    <p:sldId id="26648" r:id="rId51"/>
    <p:sldId id="26632" r:id="rId52"/>
    <p:sldId id="26633" r:id="rId53"/>
    <p:sldId id="26634" r:id="rId54"/>
    <p:sldId id="26635" r:id="rId55"/>
    <p:sldId id="26636" r:id="rId56"/>
    <p:sldId id="26637" r:id="rId57"/>
    <p:sldId id="26640" r:id="rId58"/>
    <p:sldId id="26651" r:id="rId59"/>
    <p:sldId id="26642" r:id="rId60"/>
    <p:sldId id="26643" r:id="rId61"/>
    <p:sldId id="26644" r:id="rId62"/>
    <p:sldId id="26645" r:id="rId63"/>
    <p:sldId id="26393" r:id="rId64"/>
    <p:sldId id="26387" r:id="rId65"/>
    <p:sldId id="26395" r:id="rId66"/>
    <p:sldId id="26391" r:id="rId67"/>
    <p:sldId id="26402" r:id="rId68"/>
    <p:sldId id="26507" r:id="rId69"/>
    <p:sldId id="26649" r:id="rId70"/>
    <p:sldId id="360" r:id="rId71"/>
    <p:sldId id="26652" r:id="rId72"/>
    <p:sldId id="361" r:id="rId73"/>
  </p:sldIdLst>
  <p:sldSz cx="12192000" cy="6858000"/>
  <p:notesSz cx="6858000" cy="9144000"/>
  <p:embeddedFontLst>
    <p:embeddedFont>
      <p:font typeface="Aptos Narrow" panose="020B0004020202020204" pitchFamily="34" charset="0"/>
      <p:regular r:id="rId76"/>
      <p:bold r:id="rId77"/>
      <p:italic r:id="rId78"/>
      <p:boldItalic r:id="rId79"/>
    </p:embeddedFont>
    <p:embeddedFont>
      <p:font typeface="Montserrat" panose="00000500000000000000" pitchFamily="2" charset="0"/>
      <p:regular r:id="rId80"/>
      <p:bold r:id="rId81"/>
      <p:italic r:id="rId82"/>
      <p:boldItalic r:id="rId83"/>
    </p:embeddedFont>
    <p:embeddedFont>
      <p:font typeface="Public Sans" pitchFamily="2" charset="0"/>
      <p:regular r:id="rId84"/>
      <p:bold r:id="rId85"/>
      <p:italic r:id="rId86"/>
      <p:boldItalic r:id="rId87"/>
    </p:embeddedFont>
    <p:embeddedFont>
      <p:font typeface="Public Sans Light" pitchFamily="2" charset="0"/>
      <p:regular r:id="rId88"/>
      <p:italic r:id="rId89"/>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650"/>
            <p14:sldId id="358"/>
            <p14:sldId id="26580"/>
            <p14:sldId id="26581"/>
            <p14:sldId id="26582"/>
            <p14:sldId id="26576"/>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47"/>
            <p14:sldId id="26614"/>
            <p14:sldId id="26615"/>
            <p14:sldId id="26616"/>
            <p14:sldId id="26617"/>
            <p14:sldId id="26618"/>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48"/>
            <p14:sldId id="26632"/>
            <p14:sldId id="26633"/>
            <p14:sldId id="26634"/>
            <p14:sldId id="26635"/>
            <p14:sldId id="26636"/>
          </p14:sldIdLst>
        </p14:section>
        <p14:section name="Review of learning 8" id="{6FF8F7EC-803E-4F84-BA41-6B3ED673D597}">
          <p14:sldIdLst>
            <p14:sldId id="26637"/>
            <p14:sldId id="26640"/>
            <p14:sldId id="2665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26652"/>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B36B902F-6F14-FDC8-5F7B-570CA3145C15}" name="Melinda Ojeda" initials="MO" userId="S::melinda.ojeda@det.nsw.edu.au::d90aca96-824c-4874-b48e-bcce1db91155"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36CA"/>
    <a:srgbClr val="EA9B0C"/>
    <a:srgbClr val="F8CF2C"/>
    <a:srgbClr val="8A3CC4"/>
    <a:srgbClr val="007A8A"/>
    <a:srgbClr val="9B6808"/>
    <a:srgbClr val="427B2D"/>
    <a:srgbClr val="B51458"/>
    <a:srgbClr val="00ACC2"/>
    <a:srgbClr val="64BB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2DB974-58E6-35BB-CFF6-1C110CE3A14C}" v="28" dt="2026-06-18T07:03:34.296"/>
    <p1510:client id="{5DBD2167-C0CF-399E-B930-83EE1A214F2D}" v="22" dt="2026-06-18T05:30:41.680"/>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0" d="100"/>
          <a:sy n="30" d="100"/>
        </p:scale>
        <p:origin x="764" y="36"/>
      </p:cViewPr>
      <p:guideLst>
        <p:guide orient="horz" pos="2160"/>
        <p:guide pos="386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presProps" Target="presProps.xml"/><Relationship Id="rId95" Type="http://schemas.microsoft.com/office/2018/10/relationships/authors" Target="author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5.fntdata"/><Relationship Id="rId85" Type="http://schemas.openxmlformats.org/officeDocument/2006/relationships/font" Target="fonts/font10.fntdata"/><Relationship Id="rId93"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22/06/2026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22/06/2026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A Unit 15</a:t>
            </a:r>
          </a:p>
          <a:p>
            <a:pPr marL="285750" indent="-285750">
              <a:buFont typeface="Arial" panose="020B0604020202020204" pitchFamily="34" charset="0"/>
              <a:buChar char="•"/>
            </a:pPr>
            <a:r>
              <a:rPr lang="en-AU"/>
              <a:t>Stage 2 Year A Unit 14</a:t>
            </a:r>
          </a:p>
          <a:p>
            <a:pPr marL="285750" indent="-285750">
              <a:buFont typeface="Arial" panose="020B0604020202020204" pitchFamily="34" charset="0"/>
              <a:buChar char="•"/>
            </a:pPr>
            <a:r>
              <a:rPr lang="en-AU"/>
              <a:t>Stage 2 Year A Unit 13</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titles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F3BC-EF7C-33DC-C5F8-0E0018792E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838B1-101C-E30B-825A-E17EFE7450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3DF555-209C-EAE0-A26F-9158BD5EEC4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A</a:t>
            </a:r>
          </a:p>
        </p:txBody>
      </p:sp>
      <p:sp>
        <p:nvSpPr>
          <p:cNvPr id="4" name="Slide Number Placeholder 3">
            <a:extLst>
              <a:ext uri="{FF2B5EF4-FFF2-40B4-BE49-F238E27FC236}">
                <a16:creationId xmlns:a16="http://schemas.microsoft.com/office/drawing/2014/main" id="{D86C8D5F-5550-01CC-44AD-AEC6AA387B1E}"/>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321013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r>
              <a:rPr lang="en-AU"/>
              <a:t>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The equals sign means ‘the same as’</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‘Equivalent number’ sentences by the State of New South Wales (Department of Education) and ‘Make it equal’ by Rawding from the Open Middle website. This activity supports students to gain a deeper understanding of the structure of related, equivalent number sentences.</a:t>
            </a:r>
          </a:p>
          <a:p>
            <a:endParaRPr lang="en-AU" b="0"/>
          </a:p>
          <a:p>
            <a:r>
              <a:rPr lang="en-AU" b="0"/>
              <a:t>This image corresponds to Figure 10 – make it equal in Stage 2 Year A Unit 15. </a:t>
            </a:r>
          </a:p>
          <a:p>
            <a:endParaRPr lang="en-AU" b="0"/>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in pairs to record equivalent number sentences.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the rules:</a:t>
            </a:r>
          </a:p>
          <a:p>
            <a:pPr lvl="0"/>
            <a:r>
              <a:rPr lang="en-AU" sz="1600" kern="1200">
                <a:solidFill>
                  <a:schemeClr val="tx1"/>
                </a:solidFill>
                <a:effectLst/>
                <a:latin typeface="Arial" panose="020B0604020202020204" pitchFamily="34" charset="0"/>
                <a:ea typeface="+mn-ea"/>
                <a:cs typeface="Arial" panose="020B0604020202020204" pitchFamily="34" charset="0"/>
              </a:rPr>
              <a:t>- You can only use the digits 1–9.</a:t>
            </a:r>
          </a:p>
          <a:p>
            <a:pPr lvl="0"/>
            <a:r>
              <a:rPr lang="en-AU" sz="1600" kern="1200">
                <a:solidFill>
                  <a:schemeClr val="tx1"/>
                </a:solidFill>
                <a:effectLst/>
                <a:latin typeface="Arial" panose="020B0604020202020204" pitchFamily="34" charset="0"/>
                <a:ea typeface="+mn-ea"/>
                <a:cs typeface="Arial" panose="020B0604020202020204" pitchFamily="34" charset="0"/>
              </a:rPr>
              <a:t>- You can only use a digit once in each number sentence.</a:t>
            </a:r>
          </a:p>
          <a:p>
            <a:pPr lvl="0"/>
            <a:r>
              <a:rPr lang="en-AU" sz="1600" kern="1200">
                <a:solidFill>
                  <a:schemeClr val="tx1"/>
                </a:solidFill>
                <a:effectLst/>
                <a:latin typeface="Arial" panose="020B0604020202020204" pitchFamily="34" charset="0"/>
                <a:ea typeface="+mn-ea"/>
                <a:cs typeface="Arial" panose="020B0604020202020204" pitchFamily="34" charset="0"/>
              </a:rPr>
              <a:t>- You can only put one digit in each box.</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Allow students time to find as many different equivalent number sentences as possible.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responses in small groups.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Record a collection of class solution (see Figure 11 – example solutions in Stage 2 Year A Unit 15).</a:t>
            </a:r>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Additive relations A</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b="1"/>
              <a:t>Note:</a:t>
            </a:r>
            <a:r>
              <a:rPr lang="en-AU" b="0"/>
              <a:t> 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Equal differences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Revise the term difference with students.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25 − 7 = 18 on the 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find another subtraction number sentence with a difference of 18. For example, 32 − 14.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Click to display these number sentences on the board to highlight equal differences, for example 25 − 7 = 32 − 14.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work in pairs to create number sentences which show equal differences.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Partner one records a subtraction number sentence and partner 2 records a different subtraction number sentence with an equal difference.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swap roles until 6 number sentences have been created.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to share examples of number sentences with equal differences.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highlight>
                  <a:srgbClr val="FFFF00"/>
                </a:highlight>
                <a:latin typeface="Aptos Narrow" panose="020B0004020202020204" pitchFamily="34" charset="0"/>
              </a:rPr>
              <a:t>Additive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a:p>
          <a:p>
            <a:r>
              <a:rPr lang="en-AU" b="1"/>
              <a:t>Make it equal</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‘Make it equal’ by Rawding from the Open Middle website.</a:t>
            </a:r>
          </a:p>
          <a:p>
            <a:endParaRPr lang="en-AU" b="1"/>
          </a:p>
          <a:p>
            <a:r>
              <a:rPr lang="en-AU" b="0"/>
              <a:t>This image corresponds to Figure 12 – make it equal subtraction in Stage 2 Year A Unit 15.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place a digit in each box to make subtraction number sentences. They can only use the digits 1–9 once.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record all the possible solutions on an individual whiteboard.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all possible solutions. Ask:</a:t>
            </a:r>
          </a:p>
          <a:p>
            <a:pPr lvl="0"/>
            <a:r>
              <a:rPr lang="en-AU" sz="1600" kern="1200">
                <a:solidFill>
                  <a:schemeClr val="tx1"/>
                </a:solidFill>
                <a:effectLst/>
                <a:latin typeface="Arial" panose="020B0604020202020204" pitchFamily="34" charset="0"/>
                <a:ea typeface="+mn-ea"/>
                <a:cs typeface="Arial" panose="020B0604020202020204" pitchFamily="34" charset="0"/>
              </a:rPr>
              <a:t>- Which strategy helped you solve the subtraction problem efficiently?</a:t>
            </a:r>
          </a:p>
          <a:p>
            <a:pPr lvl="0"/>
            <a:r>
              <a:rPr lang="en-AU" sz="1600" kern="1200">
                <a:solidFill>
                  <a:schemeClr val="tx1"/>
                </a:solidFill>
                <a:effectLst/>
                <a:latin typeface="Arial" panose="020B0604020202020204" pitchFamily="34" charset="0"/>
                <a:ea typeface="+mn-ea"/>
                <a:cs typeface="Arial" panose="020B0604020202020204" pitchFamily="34" charset="0"/>
              </a:rPr>
              <a:t>- Which digits were used most often? Which were harder to place? Why?</a:t>
            </a:r>
          </a:p>
          <a:p>
            <a:pPr lvl="0"/>
            <a:r>
              <a:rPr lang="en-AU" sz="1600" kern="1200">
                <a:solidFill>
                  <a:schemeClr val="tx1"/>
                </a:solidFill>
                <a:effectLst/>
                <a:latin typeface="Arial" panose="020B0604020202020204" pitchFamily="34" charset="0"/>
                <a:ea typeface="+mn-ea"/>
                <a:cs typeface="Arial" panose="020B0604020202020204" pitchFamily="34" charset="0"/>
              </a:rPr>
              <a:t>- How did changing one digit affect the rest of the number sentence?</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adjust numbers while keeping the subtraction equivalent?</a:t>
            </a:r>
          </a:p>
          <a:p>
            <a:pPr lvl="0"/>
            <a:r>
              <a:rPr lang="en-AU" sz="1600" kern="1200">
                <a:solidFill>
                  <a:schemeClr val="tx1"/>
                </a:solidFill>
                <a:effectLst/>
                <a:latin typeface="Arial" panose="020B0604020202020204" pitchFamily="34" charset="0"/>
                <a:ea typeface="+mn-ea"/>
                <a:cs typeface="Arial" panose="020B0604020202020204" pitchFamily="34" charset="0"/>
              </a:rPr>
              <a:t>- What patterns helped you to find new solutions quickly?</a:t>
            </a:r>
          </a:p>
          <a:p>
            <a:pPr lvl="0"/>
            <a:r>
              <a:rPr lang="en-AU" sz="1600" kern="1200">
                <a:solidFill>
                  <a:schemeClr val="tx1"/>
                </a:solidFill>
                <a:effectLst/>
                <a:latin typeface="Arial" panose="020B0604020202020204" pitchFamily="34" charset="0"/>
                <a:ea typeface="+mn-ea"/>
                <a:cs typeface="Arial" panose="020B0604020202020204" pitchFamily="34" charset="0"/>
              </a:rPr>
              <a:t>- When solving the problem, how did you make sure your answers were accurate? How did you check your work?</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Non-spatial measure B</a:t>
            </a:r>
            <a:r>
              <a:rPr lang="en-AU"/>
              <a:t>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br>
              <a:rPr lang="en-AU" sz="1600" b="0" i="0" u="none" strike="noStrike">
                <a:solidFill>
                  <a:srgbClr val="000000"/>
                </a:solidFill>
                <a:effectLst/>
                <a:latin typeface="Aptos Narrow" panose="020B00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Two-dimensional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A</a:t>
            </a:r>
          </a:p>
          <a:p>
            <a:endParaRPr lang="en-AU" b="1"/>
          </a:p>
          <a:p>
            <a:r>
              <a:rPr lang="en-AU" b="1"/>
              <a:t>Dice roll – applying the associative property</a:t>
            </a:r>
          </a:p>
          <a:p>
            <a:r>
              <a:rPr lang="en-AU" b="0"/>
              <a:t>This resource corresponds to Resource 17 – dice roll in Stage 2 Year A Unit 15.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Samantha is playing a dice game with her friends. The winner is the player who rolls the highest total. Here are the numbers Samantha rolled. Can you help her calculate her total score?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use an efficient strategy to find the total of all 10 dice. Prompt them to rearrange the dice values to help with the calculation.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Instruct students to record their thinking using numbers or diagrams to show how they combined the dice.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select students to share different methods for finding the total.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group the dice to make the calculation easier?</a:t>
            </a:r>
          </a:p>
          <a:p>
            <a:pPr lvl="0"/>
            <a:r>
              <a:rPr lang="en-AU" sz="1600" kern="1200">
                <a:solidFill>
                  <a:schemeClr val="tx1"/>
                </a:solidFill>
                <a:effectLst/>
                <a:latin typeface="Arial" panose="020B0604020202020204" pitchFamily="34" charset="0"/>
                <a:ea typeface="+mn-ea"/>
                <a:cs typeface="Arial" panose="020B0604020202020204" pitchFamily="34" charset="0"/>
              </a:rPr>
              <a:t>- Which dice did you combine to make multiples of 10? </a:t>
            </a:r>
          </a:p>
          <a:p>
            <a:pPr lvl="0"/>
            <a:r>
              <a:rPr lang="en-AU" sz="1600" kern="1200">
                <a:solidFill>
                  <a:schemeClr val="tx1"/>
                </a:solidFill>
                <a:effectLst/>
                <a:latin typeface="Arial" panose="020B0604020202020204" pitchFamily="34" charset="0"/>
                <a:ea typeface="+mn-ea"/>
                <a:cs typeface="Arial" panose="020B0604020202020204" pitchFamily="34" charset="0"/>
              </a:rPr>
              <a:t>- What do you notice about the order of the numbers?</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62720-0BC8-FA7F-BC47-1C78ADEAB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48631-F898-32A6-78A2-76AA2975DE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E66D4-BAB0-850A-44DB-0959EA3E6EA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highlight>
                  <a:srgbClr val="FFFF00"/>
                </a:highlight>
                <a:latin typeface="Aptos Narrow" panose="020B0004020202020204" pitchFamily="34" charset="0"/>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25E3C821-F7BD-A5FD-0747-F0B52FC6EDC5}"/>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8533541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Three </a:t>
            </a:r>
            <a:r>
              <a:rPr lang="en-AU" b="1" i="1"/>
              <a:t>times as many </a:t>
            </a:r>
            <a:r>
              <a:rPr lang="en-AU" b="1"/>
              <a:t>chores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to students: Sam is saving up to buy a smartphone and plans to earn the money by doing household chores. On Saturday, he completes 3 chores. On Sunday, he does 3 times as many chores as he did on Saturday. If each chore pays $5, how much money does Sam earn in total for these 2 days?</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vary the challenge by adjusting the amount per chore.</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Independently or in pairs, students work on whiteboards to solve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diagrams, words or symbols to record their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select students to share their solutions and representations. Ask:</a:t>
            </a:r>
          </a:p>
          <a:p>
            <a:pPr lvl="0"/>
            <a:r>
              <a:rPr lang="en-AU" sz="1600" kern="1200">
                <a:solidFill>
                  <a:schemeClr val="tx1"/>
                </a:solidFill>
                <a:effectLst/>
                <a:latin typeface="Arial" panose="020B0604020202020204" pitchFamily="34" charset="0"/>
                <a:ea typeface="+mn-ea"/>
                <a:cs typeface="Arial" panose="020B0604020202020204" pitchFamily="34" charset="0"/>
              </a:rPr>
              <a:t>-How did you record your thinking?</a:t>
            </a:r>
          </a:p>
          <a:p>
            <a:pPr lvl="0"/>
            <a:r>
              <a:rPr lang="en-AU" sz="1600" kern="1200">
                <a:solidFill>
                  <a:schemeClr val="tx1"/>
                </a:solidFill>
                <a:effectLst/>
                <a:latin typeface="Arial" panose="020B0604020202020204" pitchFamily="34" charset="0"/>
                <a:ea typeface="+mn-ea"/>
                <a:cs typeface="Arial" panose="020B0604020202020204" pitchFamily="34" charset="0"/>
              </a:rPr>
              <a:t>- Is there another way of working it out?</a:t>
            </a:r>
          </a:p>
          <a:p>
            <a:pPr lvl="0"/>
            <a:r>
              <a:rPr lang="en-AU" sz="1600" kern="1200">
                <a:solidFill>
                  <a:schemeClr val="tx1"/>
                </a:solidFill>
                <a:effectLst/>
                <a:latin typeface="Arial" panose="020B0604020202020204" pitchFamily="34" charset="0"/>
                <a:ea typeface="+mn-ea"/>
                <a:cs typeface="Arial" panose="020B0604020202020204" pitchFamily="34" charset="0"/>
              </a:rPr>
              <a:t>- How could you check that your calculations are accurate?</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Four times as many cupcakes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Read the scenario to students: A baker sells cupcakes for $4 each. In the morning, she sold 6 cupcakes. In the afternoon, she sold 4 times as many cupcakes as she did in the morning. How much money did the baker make from selling cupcakes that day?</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Independently or in pairs, students work on whiteboards to solve the problem.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use diagrams, words or symbols to record their answer.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and select students to share their solutions and representations. Ask:</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work out the number of cupcakes sold in the afternoon?</a:t>
            </a:r>
          </a:p>
          <a:p>
            <a:pPr lvl="0"/>
            <a:r>
              <a:rPr lang="en-AU" sz="1600" kern="1200">
                <a:solidFill>
                  <a:schemeClr val="tx1"/>
                </a:solidFill>
                <a:effectLst/>
                <a:latin typeface="Arial" panose="020B0604020202020204" pitchFamily="34" charset="0"/>
                <a:ea typeface="+mn-ea"/>
                <a:cs typeface="Arial" panose="020B0604020202020204" pitchFamily="34" charset="0"/>
              </a:rPr>
              <a:t>- How did you find the total number of cupcakes sold?</a:t>
            </a:r>
          </a:p>
          <a:p>
            <a:pPr lvl="0"/>
            <a:r>
              <a:rPr lang="en-AU" sz="1600" kern="1200">
                <a:solidFill>
                  <a:schemeClr val="tx1"/>
                </a:solidFill>
                <a:effectLst/>
                <a:latin typeface="Arial" panose="020B0604020202020204" pitchFamily="34" charset="0"/>
                <a:ea typeface="+mn-ea"/>
                <a:cs typeface="Arial" panose="020B0604020202020204" pitchFamily="34" charset="0"/>
              </a:rPr>
              <a:t>- What operation did you use first? Why?</a:t>
            </a:r>
          </a:p>
          <a:p>
            <a:pPr lvl="0"/>
            <a:r>
              <a:rPr lang="en-AU" sz="1600" kern="1200">
                <a:solidFill>
                  <a:schemeClr val="tx1"/>
                </a:solidFill>
                <a:effectLst/>
                <a:latin typeface="Arial" panose="020B0604020202020204" pitchFamily="34" charset="0"/>
                <a:ea typeface="+mn-ea"/>
                <a:cs typeface="Arial" panose="020B0604020202020204" pitchFamily="34" charset="0"/>
              </a:rPr>
              <a:t>- How does your diagram/model show the relationship between morning and afternoon sales?</a:t>
            </a:r>
          </a:p>
          <a:p>
            <a:pPr lvl="0"/>
            <a:r>
              <a:rPr lang="en-AU" sz="1600" kern="1200">
                <a:solidFill>
                  <a:schemeClr val="tx1"/>
                </a:solidFill>
                <a:effectLst/>
                <a:latin typeface="Arial" panose="020B0604020202020204" pitchFamily="34" charset="0"/>
                <a:ea typeface="+mn-ea"/>
                <a:cs typeface="Arial" panose="020B0604020202020204" pitchFamily="34" charset="0"/>
              </a:rPr>
              <a:t>- Can you write a number sentence to match each step of your thinking?</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0B2C2-56ED-F4C7-04D9-00C4FB5F65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1568A8-C088-49AE-3548-341C78A6B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B8EBC4-5740-59C4-17D3-662AAFE4516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highlight>
                  <a:srgbClr val="FFFF00"/>
                </a:highlight>
                <a:latin typeface="Aptos Narrow" panose="020B0004020202020204" pitchFamily="34" charset="0"/>
              </a:rPr>
              <a:t>Multiplicative relations A</a:t>
            </a:r>
            <a:endParaRPr lang="en-AU">
              <a:highlight>
                <a:srgbClr val="FFFF00"/>
              </a:highlight>
              <a:latin typeface="Arial"/>
              <a:cs typeface="Arial"/>
            </a:endParaRPr>
          </a:p>
        </p:txBody>
      </p:sp>
      <p:sp>
        <p:nvSpPr>
          <p:cNvPr id="4" name="Slide Number Placeholder 3">
            <a:extLst>
              <a:ext uri="{FF2B5EF4-FFF2-40B4-BE49-F238E27FC236}">
                <a16:creationId xmlns:a16="http://schemas.microsoft.com/office/drawing/2014/main" id="{F1CC597E-188F-1091-E0DB-50B50F81B5D5}"/>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4318185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Three-dimensional spatial structure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b="1"/>
              <a:t>Note: </a:t>
            </a:r>
            <a:r>
              <a:rPr lang="en-AU" b="0"/>
              <a:t>this slide is designed to be viewed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Inverse relationships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provide students with a two 10-sided dice.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Partner one rolls the 2 dice and multiplies the numbers together. They record the total with a number sentence on a whiteboard. For example, if 5 and 6 are rolled, 5 × 6 = 30 is recorded.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Partner 2 records a matching division sentence to demonstrate the inverse relationship. For example, 30 ÷ 6 = 5.</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swap roles to record 6 different sets of multiplication and division number sentences.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Regroup as a class and ask:</a:t>
            </a:r>
          </a:p>
          <a:p>
            <a:pPr lvl="0"/>
            <a:r>
              <a:rPr lang="en-AU" sz="1600" kern="1200">
                <a:solidFill>
                  <a:schemeClr val="tx1"/>
                </a:solidFill>
                <a:effectLst/>
                <a:latin typeface="Arial" panose="020B0604020202020204" pitchFamily="34" charset="0"/>
                <a:ea typeface="+mn-ea"/>
                <a:cs typeface="Arial" panose="020B0604020202020204" pitchFamily="34" charset="0"/>
              </a:rPr>
              <a:t>- How did knowing the multiplication facts help you determine the division number sentence?</a:t>
            </a:r>
          </a:p>
          <a:p>
            <a:pPr lvl="0"/>
            <a:r>
              <a:rPr lang="en-AU" sz="1600" kern="1200">
                <a:solidFill>
                  <a:schemeClr val="tx1"/>
                </a:solidFill>
                <a:effectLst/>
                <a:latin typeface="Arial" panose="020B0604020202020204" pitchFamily="34" charset="0"/>
                <a:ea typeface="+mn-ea"/>
                <a:cs typeface="Arial" panose="020B0604020202020204" pitchFamily="34" charset="0"/>
              </a:rPr>
              <a:t>- How are multiplication and division related?</a:t>
            </a:r>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b="0" i="0" u="none" strike="noStrike">
                <a:solidFill>
                  <a:srgbClr val="000000"/>
                </a:solidFill>
                <a:effectLst/>
                <a:latin typeface="Aptos Narrow" panose="020B0004020202020204" pitchFamily="34" charset="0"/>
              </a:rPr>
              <a:t>Multiplicative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ABC34-9A1C-1D70-0AC0-BB9E7BB66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E084B-1475-CF43-6E90-8187F70BC1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66BED2-188C-07C9-FCDA-FDDDDBDAA2D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79B21C8-4629-25F3-4550-52D9D36957AF}"/>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174227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b="0" i="0" u="none" strike="noStrike">
                <a:solidFill>
                  <a:srgbClr val="000000"/>
                </a:solidFill>
                <a:effectLst/>
                <a:latin typeface="Aptos Narrow" panose="020B0004020202020204" pitchFamily="34" charset="0"/>
              </a:rPr>
              <a:t>Non- spatial measure A</a:t>
            </a:r>
            <a:r>
              <a:rPr lang="en-AU"/>
              <a:t> </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Multiplicative relations A</a:t>
            </a:r>
          </a:p>
          <a:p>
            <a:endParaRPr lang="en-AU"/>
          </a:p>
          <a:p>
            <a:r>
              <a:rPr lang="en-AU" b="1"/>
              <a:t>Partially covered arrays</a:t>
            </a:r>
          </a:p>
          <a:p>
            <a:r>
              <a:rPr lang="en-AU" b="0"/>
              <a:t>This image corresponds to Figure 13 – partially covered array in Stage 2 Year A Unit 15. </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pairs of students with 30 counters and a piece of cardboard.</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alternatively, use plastic Australian coins to strengthen links to money and its value. If doing so, ensure that students understand they must use coins of the same denomination.</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To set up the task, Student A arranges some counters in an array form, before partially covering the array with the cardboard so that only the top of one row and one column can be seen. Student A does this without Student B seeing.</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A shows the partially covered array to Student B.</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B uses the information that can be seen to record the total number of counters on an individual whiteboard as a sentence, for example, 4 rows of 6 is 24.</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 A uncovers the array and Student B checks the accuracy of their answer.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Repeat the activity with students swapping roles.</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0" indent="0">
              <a:buFont typeface="+mj-lt"/>
              <a:buNone/>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4813-BE39-8B90-3E4D-9441170516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A7164A-CB98-3A0D-E8A9-F2F427E42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65FA2-34F0-74E9-4AC7-3AFDEF95E3B2}"/>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9B4181B-A7E4-F8B6-89CA-BA112A332381}"/>
              </a:ext>
            </a:extLst>
          </p:cNvPr>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107240393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39.xml"/><Relationship Id="rId3" Type="http://schemas.openxmlformats.org/officeDocument/2006/relationships/slide" Target="slide4.xml"/><Relationship Id="rId7" Type="http://schemas.openxmlformats.org/officeDocument/2006/relationships/slide" Target="slide32.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53.xml"/><Relationship Id="rId4" Type="http://schemas.openxmlformats.org/officeDocument/2006/relationships/slide" Target="slide11.xml"/><Relationship Id="rId9" Type="http://schemas.openxmlformats.org/officeDocument/2006/relationships/slide" Target="slide4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4.xml"/><Relationship Id="rId5" Type="http://schemas.openxmlformats.org/officeDocument/2006/relationships/image" Target="../media/image28.png"/><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5" Type="http://schemas.openxmlformats.org/officeDocument/2006/relationships/image" Target="../media/image38.svg"/><Relationship Id="rId4" Type="http://schemas.openxmlformats.org/officeDocument/2006/relationships/slide" Target="slide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12" Type="http://schemas.openxmlformats.org/officeDocument/2006/relationships/hyperlink" Target="https://education.nsw.gov.au/teaching-and-learning/curriculum/mathematics/mathematics-curriculum-resources-k-12/thinking-mathematically-resources/mathematics-s2-lets-talk-230-minus-190" TargetMode="External"/><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www.openmiddle.com/equivalent-statements/" TargetMode="External"/><Relationship Id="rId5" Type="http://schemas.openxmlformats.org/officeDocument/2006/relationships/hyperlink" Target="https://curriculum.nsw.edu.au/" TargetMode="External"/><Relationship Id="rId10" Type="http://schemas.openxmlformats.org/officeDocument/2006/relationships/hyperlink" Target="https://www.didax.com/apps/math-balance/"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www.abc.net.au/education/digibooks/money-maths/103405702?vcOpensOnLoad=true&amp;vcPageId=103405888"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resources.education.nsw.gov.au/detail/A-59"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resources.education.nsw.gov.au/detail/A-39" TargetMode="External"/><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mathematics/mathematics-curriculum-resources-k-12/thinking-mathematically-resources/mathematics-s2-math-mobiles" TargetMode="External"/><Relationship Id="rId11" Type="http://schemas.openxmlformats.org/officeDocument/2006/relationships/hyperlink" Target="https://nrich.maths.org/problems/how-much" TargetMode="External"/><Relationship Id="rId5" Type="http://schemas.openxmlformats.org/officeDocument/2006/relationships/hyperlink" Target="https://curriculum.nsw.edu.au/" TargetMode="External"/><Relationship Id="rId10" Type="http://schemas.openxmlformats.org/officeDocument/2006/relationships/hyperlink" Target="https://nrich.maths.org/problems/fruity-pairs"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problems/buying-balloon"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mn-lt"/>
                <a:ea typeface="+mn-lt"/>
                <a:cs typeface="+mn-lt"/>
              </a:rPr>
              <a:t>This resource aligns to the learning in Stage 2 Year A Unit 15 and revisits content from earlier sample units.</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15</a:t>
            </a:r>
          </a:p>
        </p:txBody>
      </p:sp>
      <p:pic>
        <p:nvPicPr>
          <p:cNvPr id="5" name="Picture Placeholder 4">
            <a:extLst>
              <a:ext uri="{FF2B5EF4-FFF2-40B4-BE49-F238E27FC236}">
                <a16:creationId xmlns:a16="http://schemas.microsoft.com/office/drawing/2014/main" id="{80978C62-0887-B1BD-5142-01CF7146B8A8}"/>
              </a:ext>
              <a:ext uri="{C183D7F6-B498-43B3-948B-1728B52AA6E4}">
                <adec:decorative xmlns:adec="http://schemas.microsoft.com/office/drawing/2017/decorative" val="1"/>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3" action="ppaction://hlinksldjump"/>
                </a:rPr>
                <a:t>Review of learning </a:t>
              </a:r>
              <a:r>
                <a:rPr lang="en-AU">
                  <a:solidFill>
                    <a:schemeClr val="accent1"/>
                  </a:solidFill>
                  <a:latin typeface="+mj-lt"/>
                  <a:hlinkClick r:id="rId3" action="ppaction://hlinksldjump"/>
                </a:rPr>
                <a:t>1</a:t>
              </a:r>
              <a:endParaRPr lang="en-AU">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4" action="ppaction://hlinksldjump"/>
                </a:rPr>
                <a:t>Review of learning </a:t>
              </a:r>
              <a:r>
                <a:rPr lang="en-AU">
                  <a:solidFill>
                    <a:schemeClr val="accent1"/>
                  </a:solidFill>
                  <a:latin typeface="+mj-lt"/>
                  <a:hlinkClick r:id="rId4" action="ppaction://hlinksldjump"/>
                </a:rPr>
                <a:t>2</a:t>
              </a:r>
              <a:endParaRPr lang="en-AU">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5" action="ppaction://hlinksldjump"/>
                </a:rPr>
                <a:t>Review of learning </a:t>
              </a:r>
              <a:r>
                <a:rPr lang="en-AU">
                  <a:solidFill>
                    <a:schemeClr val="accent1"/>
                  </a:solidFill>
                  <a:latin typeface="+mj-lt"/>
                  <a:hlinkClick r:id="rId5" action="ppaction://hlinksldjump"/>
                </a:rPr>
                <a:t>3</a:t>
              </a:r>
              <a:endParaRPr lang="en-AU">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6" action="ppaction://hlinksldjump"/>
                </a:rPr>
                <a:t>Review of learning </a:t>
              </a:r>
              <a:r>
                <a:rPr lang="en-AU">
                  <a:solidFill>
                    <a:schemeClr val="accent1"/>
                  </a:solidFill>
                  <a:latin typeface="+mj-lt"/>
                  <a:hlinkClick r:id="rId6" action="ppaction://hlinksldjump"/>
                </a:rPr>
                <a:t>4</a:t>
              </a:r>
              <a:endParaRPr lang="en-AU">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7" action="ppaction://hlinksldjump"/>
                </a:rPr>
                <a:t>Review of learning </a:t>
              </a:r>
              <a:r>
                <a:rPr lang="en-AU">
                  <a:solidFill>
                    <a:schemeClr val="accent1"/>
                  </a:solidFill>
                  <a:latin typeface="+mj-lt"/>
                  <a:hlinkClick r:id="rId7" action="ppaction://hlinksldjump"/>
                </a:rPr>
                <a:t>5</a:t>
              </a:r>
              <a:endParaRPr lang="en-AU">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8" action="ppaction://hlinksldjump"/>
                </a:rPr>
                <a:t>Review of learning </a:t>
              </a:r>
              <a:r>
                <a:rPr lang="en-AU">
                  <a:solidFill>
                    <a:schemeClr val="accent1"/>
                  </a:solidFill>
                  <a:latin typeface="+mj-lt"/>
                  <a:hlinkClick r:id="rId8" action="ppaction://hlinksldjump"/>
                </a:rPr>
                <a:t>6</a:t>
              </a:r>
              <a:endParaRPr lang="en-AU">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9" action="ppaction://hlinksldjump"/>
                </a:rPr>
                <a:t>Review of learning </a:t>
              </a:r>
              <a:r>
                <a:rPr lang="en-AU">
                  <a:solidFill>
                    <a:schemeClr val="accent1"/>
                  </a:solidFill>
                  <a:latin typeface="+mj-lt"/>
                  <a:hlinkClick r:id="rId9" action="ppaction://hlinksldjump"/>
                </a:rPr>
                <a:t>7</a:t>
              </a:r>
              <a:endParaRPr lang="en-AU">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a:solidFill>
                    <a:schemeClr val="accent1"/>
                  </a:solidFill>
                  <a:hlinkClick r:id="rId10" action="ppaction://hlinksldjump"/>
                </a:rPr>
                <a:t>Review of learning </a:t>
              </a:r>
              <a:r>
                <a:rPr lang="en-AU">
                  <a:solidFill>
                    <a:schemeClr val="accent1"/>
                  </a:solidFill>
                  <a:latin typeface="+mj-lt"/>
                  <a:hlinkClick r:id="rId10" action="ppaction://hlinksldjump"/>
                </a:rPr>
                <a:t>8</a:t>
              </a:r>
              <a:endParaRPr lang="en-AU">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1D845-8BE7-D772-65B0-AF7D270B0E1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F2BEF06-B731-9D0E-9FDA-F2046B4159B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(1)</a:t>
            </a:r>
          </a:p>
        </p:txBody>
      </p:sp>
      <p:sp>
        <p:nvSpPr>
          <p:cNvPr id="15" name="Text Placeholder">
            <a:extLst>
              <a:ext uri="{FF2B5EF4-FFF2-40B4-BE49-F238E27FC236}">
                <a16:creationId xmlns:a16="http://schemas.microsoft.com/office/drawing/2014/main" id="{1B1794F3-48EE-BD74-2E6F-59E2099E66CC}"/>
              </a:ext>
            </a:extLst>
          </p:cNvPr>
          <p:cNvSpPr>
            <a:spLocks noGrp="1"/>
          </p:cNvSpPr>
          <p:nvPr>
            <p:ph type="body" sz="quarter" idx="28"/>
          </p:nvPr>
        </p:nvSpPr>
        <p:spPr>
          <a:xfrm>
            <a:off x="474481" y="914492"/>
            <a:ext cx="11243037" cy="754243"/>
          </a:xfrm>
        </p:spPr>
        <p:txBody>
          <a:bodyPr/>
          <a:lstStyle/>
          <a:p>
            <a:pPr algn="ctr"/>
            <a:r>
              <a:rPr lang="en-US" sz="5400" b="1"/>
              <a:t>23 + 15 =</a:t>
            </a:r>
          </a:p>
          <a:p>
            <a:pPr algn="ctr"/>
            <a:endParaRPr lang="en-US" sz="4400"/>
          </a:p>
        </p:txBody>
      </p:sp>
      <p:sp>
        <p:nvSpPr>
          <p:cNvPr id="9" name="B">
            <a:extLst>
              <a:ext uri="{FF2B5EF4-FFF2-40B4-BE49-F238E27FC236}">
                <a16:creationId xmlns:a16="http://schemas.microsoft.com/office/drawing/2014/main" id="{A0A8D97D-D44F-47DF-6A36-0262F235054B}"/>
              </a:ext>
            </a:extLst>
          </p:cNvPr>
          <p:cNvSpPr txBox="1"/>
          <p:nvPr/>
        </p:nvSpPr>
        <p:spPr>
          <a:xfrm>
            <a:off x="670557" y="2324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8B228AAD-23AA-8668-4E11-329556ABF701}"/>
              </a:ext>
            </a:extLst>
          </p:cNvPr>
          <p:cNvSpPr>
            <a:spLocks noGrp="1"/>
          </p:cNvSpPr>
          <p:nvPr>
            <p:ph type="body" sz="quarter" idx="31"/>
          </p:nvPr>
        </p:nvSpPr>
        <p:spPr>
          <a:xfrm>
            <a:off x="1345521" y="2320576"/>
            <a:ext cx="10175920" cy="641396"/>
          </a:xfrm>
        </p:spPr>
        <p:txBody>
          <a:bodyPr anchor="ctr"/>
          <a:lstStyle/>
          <a:p>
            <a:r>
              <a:rPr lang="en-US" sz="4400"/>
              <a:t>33 + 25</a:t>
            </a:r>
          </a:p>
        </p:txBody>
      </p:sp>
      <p:sp>
        <p:nvSpPr>
          <p:cNvPr id="10" name="B">
            <a:extLst>
              <a:ext uri="{FF2B5EF4-FFF2-40B4-BE49-F238E27FC236}">
                <a16:creationId xmlns:a16="http://schemas.microsoft.com/office/drawing/2014/main" id="{107EF750-A579-8796-AF8A-C3A59C53E15D}"/>
              </a:ext>
            </a:extLst>
          </p:cNvPr>
          <p:cNvSpPr txBox="1"/>
          <p:nvPr/>
        </p:nvSpPr>
        <p:spPr>
          <a:xfrm>
            <a:off x="670559" y="343200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05F31063-2B16-0004-3FCD-1CEE57D257C1}"/>
              </a:ext>
            </a:extLst>
          </p:cNvPr>
          <p:cNvSpPr>
            <a:spLocks noGrp="1"/>
          </p:cNvSpPr>
          <p:nvPr>
            <p:ph type="body" sz="quarter" idx="30"/>
          </p:nvPr>
        </p:nvSpPr>
        <p:spPr>
          <a:xfrm>
            <a:off x="1345521" y="3407948"/>
            <a:ext cx="10175920" cy="641396"/>
          </a:xfrm>
        </p:spPr>
        <p:txBody>
          <a:bodyPr anchor="ctr"/>
          <a:lstStyle/>
          <a:p>
            <a:r>
              <a:rPr lang="en-US" sz="4400"/>
              <a:t>40 - 2</a:t>
            </a:r>
          </a:p>
        </p:txBody>
      </p:sp>
      <p:sp>
        <p:nvSpPr>
          <p:cNvPr id="12" name="C">
            <a:extLst>
              <a:ext uri="{FF2B5EF4-FFF2-40B4-BE49-F238E27FC236}">
                <a16:creationId xmlns:a16="http://schemas.microsoft.com/office/drawing/2014/main" id="{B67B851E-8DCF-3382-DAA6-E36EA461BEB3}"/>
              </a:ext>
            </a:extLst>
          </p:cNvPr>
          <p:cNvSpPr txBox="1"/>
          <p:nvPr/>
        </p:nvSpPr>
        <p:spPr>
          <a:xfrm>
            <a:off x="670558" y="453994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1F5F84F2-A513-B73B-FD91-BFB41E85CFC1}"/>
              </a:ext>
            </a:extLst>
          </p:cNvPr>
          <p:cNvSpPr>
            <a:spLocks noGrp="1"/>
          </p:cNvSpPr>
          <p:nvPr>
            <p:ph type="body" sz="quarter" idx="29"/>
          </p:nvPr>
        </p:nvSpPr>
        <p:spPr>
          <a:xfrm>
            <a:off x="1345521" y="4495320"/>
            <a:ext cx="10175920" cy="641396"/>
          </a:xfrm>
        </p:spPr>
        <p:txBody>
          <a:bodyPr anchor="ctr"/>
          <a:lstStyle/>
          <a:p>
            <a:r>
              <a:rPr lang="en-US" sz="4400"/>
              <a:t>30 + 7</a:t>
            </a:r>
          </a:p>
        </p:txBody>
      </p:sp>
      <p:sp>
        <p:nvSpPr>
          <p:cNvPr id="11" name="D">
            <a:extLst>
              <a:ext uri="{FF2B5EF4-FFF2-40B4-BE49-F238E27FC236}">
                <a16:creationId xmlns:a16="http://schemas.microsoft.com/office/drawing/2014/main" id="{668D675B-0E66-BE11-CE10-5435861FDA3F}"/>
              </a:ext>
            </a:extLst>
          </p:cNvPr>
          <p:cNvSpPr txBox="1"/>
          <p:nvPr/>
        </p:nvSpPr>
        <p:spPr>
          <a:xfrm>
            <a:off x="670557" y="56478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F15659CF-D80D-D764-2BCD-6AE3A33ED3C1}"/>
              </a:ext>
            </a:extLst>
          </p:cNvPr>
          <p:cNvSpPr>
            <a:spLocks noGrp="1"/>
          </p:cNvSpPr>
          <p:nvPr>
            <p:ph type="body" sz="quarter" idx="27"/>
          </p:nvPr>
        </p:nvSpPr>
        <p:spPr>
          <a:xfrm>
            <a:off x="1345521" y="5582691"/>
            <a:ext cx="10175920" cy="641396"/>
          </a:xfrm>
        </p:spPr>
        <p:txBody>
          <a:bodyPr anchor="ctr"/>
          <a:lstStyle/>
          <a:p>
            <a:r>
              <a:rPr lang="en-US" sz="4400"/>
              <a:t>23 - 15</a:t>
            </a:r>
          </a:p>
        </p:txBody>
      </p:sp>
      <p:sp>
        <p:nvSpPr>
          <p:cNvPr id="2" name="Slide Number Placeholder 1">
            <a:extLst>
              <a:ext uri="{FF2B5EF4-FFF2-40B4-BE49-F238E27FC236}">
                <a16:creationId xmlns:a16="http://schemas.microsoft.com/office/drawing/2014/main" id="{771802A0-C3B8-706A-2E04-0342EAB0FDF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Tree>
    <p:extLst>
      <p:ext uri="{BB962C8B-B14F-4D97-AF65-F5344CB8AC3E}">
        <p14:creationId xmlns:p14="http://schemas.microsoft.com/office/powerpoint/2010/main" val="3602685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0DF669D8-73D9-E462-B933-35CC0FF469C2}"/>
              </a:ext>
            </a:extLst>
          </p:cNvPr>
          <p:cNvSpPr txBox="1"/>
          <p:nvPr/>
        </p:nvSpPr>
        <p:spPr>
          <a:xfrm>
            <a:off x="360000" y="1554888"/>
            <a:ext cx="5514171" cy="840059"/>
          </a:xfrm>
          <a:prstGeom prst="rect">
            <a:avLst/>
          </a:prstGeom>
          <a:noFill/>
        </p:spPr>
        <p:txBody>
          <a:bodyPr wrap="square" lIns="0" tIns="0" rIns="0" bIns="0" rtlCol="0">
            <a:noAutofit/>
          </a:bodyPr>
          <a:lstStyle/>
          <a:p>
            <a:pPr algn="ctr">
              <a:lnSpc>
                <a:spcPct val="150000"/>
              </a:lnSpc>
            </a:pPr>
            <a:r>
              <a:rPr lang="en-AU" sz="4400"/>
              <a:t>Record</a:t>
            </a:r>
            <a:r>
              <a:rPr lang="en-AU" sz="4400" b="1"/>
              <a:t> addition </a:t>
            </a:r>
            <a:r>
              <a:rPr lang="en-AU" sz="4400"/>
              <a:t>and</a:t>
            </a:r>
            <a:r>
              <a:rPr lang="en-AU" sz="4400" b="1"/>
              <a:t> subtraction number sentences </a:t>
            </a:r>
            <a:r>
              <a:rPr lang="en-AU" sz="4400"/>
              <a:t>for this bar model.</a:t>
            </a:r>
          </a:p>
        </p:txBody>
      </p:sp>
      <p:pic>
        <p:nvPicPr>
          <p:cNvPr id="7" name="Picture 6" descr="A bar model - Total 35, partial 23 and 12.">
            <a:extLst>
              <a:ext uri="{FF2B5EF4-FFF2-40B4-BE49-F238E27FC236}">
                <a16:creationId xmlns:a16="http://schemas.microsoft.com/office/drawing/2014/main" id="{DCB951F1-A1F7-8D67-E9F2-828132D7A0AA}"/>
              </a:ext>
            </a:extLst>
          </p:cNvPr>
          <p:cNvPicPr>
            <a:picLocks noChangeAspect="1"/>
          </p:cNvPicPr>
          <p:nvPr/>
        </p:nvPicPr>
        <p:blipFill>
          <a:blip r:embed="rId4"/>
          <a:stretch>
            <a:fillRect/>
          </a:stretch>
        </p:blipFill>
        <p:spPr>
          <a:xfrm>
            <a:off x="6322306" y="2648265"/>
            <a:ext cx="5271796" cy="156147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463E9B2D-45EE-D1C7-801B-0A243F79490B}"/>
              </a:ext>
            </a:extLst>
          </p:cNvPr>
          <p:cNvSpPr txBox="1"/>
          <p:nvPr/>
        </p:nvSpPr>
        <p:spPr>
          <a:xfrm>
            <a:off x="1319530" y="1184223"/>
            <a:ext cx="9231413" cy="840059"/>
          </a:xfrm>
          <a:prstGeom prst="rect">
            <a:avLst/>
          </a:prstGeom>
          <a:noFill/>
        </p:spPr>
        <p:txBody>
          <a:bodyPr wrap="square" lIns="0" tIns="0" rIns="0" bIns="0" rtlCol="0">
            <a:noAutofit/>
          </a:bodyPr>
          <a:lstStyle/>
          <a:p>
            <a:pPr algn="ctr">
              <a:lnSpc>
                <a:spcPct val="150000"/>
              </a:lnSpc>
            </a:pPr>
            <a:r>
              <a:rPr lang="en-AU" sz="4400" b="1"/>
              <a:t>Record</a:t>
            </a:r>
            <a:r>
              <a:rPr lang="en-AU" sz="4400"/>
              <a:t> an </a:t>
            </a:r>
            <a:r>
              <a:rPr lang="en-AU" sz="4400" b="1"/>
              <a:t>object</a:t>
            </a:r>
            <a:r>
              <a:rPr lang="en-AU" sz="4400"/>
              <a:t> in the classroom that </a:t>
            </a:r>
            <a:r>
              <a:rPr lang="en-AU" sz="4400" b="1"/>
              <a:t>weighs</a:t>
            </a:r>
            <a:r>
              <a:rPr lang="en-AU" sz="4400"/>
              <a:t>:</a:t>
            </a:r>
          </a:p>
          <a:p>
            <a:pPr marL="742950" indent="-742950" algn="l">
              <a:lnSpc>
                <a:spcPct val="150000"/>
              </a:lnSpc>
              <a:buFont typeface="+mj-lt"/>
              <a:buAutoNum type="alphaLcParenR"/>
            </a:pPr>
            <a:r>
              <a:rPr lang="en-AU" sz="4400" b="1"/>
              <a:t>less</a:t>
            </a:r>
            <a:r>
              <a:rPr lang="en-AU" sz="4400"/>
              <a:t> than one kilogram</a:t>
            </a:r>
          </a:p>
          <a:p>
            <a:pPr marL="742950" indent="-742950" algn="l">
              <a:lnSpc>
                <a:spcPct val="150000"/>
              </a:lnSpc>
              <a:buFont typeface="+mj-lt"/>
              <a:buAutoNum type="alphaLcParenR"/>
            </a:pPr>
            <a:r>
              <a:rPr lang="en-AU" sz="4400" b="1"/>
              <a:t>about the same </a:t>
            </a:r>
            <a:r>
              <a:rPr lang="en-AU" sz="4400"/>
              <a:t>as one kilogram</a:t>
            </a:r>
          </a:p>
          <a:p>
            <a:pPr marL="742950" indent="-742950" algn="l">
              <a:lnSpc>
                <a:spcPct val="150000"/>
              </a:lnSpc>
              <a:buFont typeface="+mj-lt"/>
              <a:buAutoNum type="alphaLcParenR"/>
            </a:pPr>
            <a:r>
              <a:rPr lang="en-AU" sz="4400" b="1"/>
              <a:t>more</a:t>
            </a:r>
            <a:r>
              <a:rPr lang="en-AU" sz="4400"/>
              <a:t> than one kilogram.</a:t>
            </a:r>
          </a:p>
        </p:txBody>
      </p:sp>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a:extLst>
              <a:ext uri="{FF2B5EF4-FFF2-40B4-BE49-F238E27FC236}">
                <a16:creationId xmlns:a16="http://schemas.microsoft.com/office/drawing/2014/main" id="{AE7CD0B4-5C73-21ED-199C-D91A99981CD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A9349F4-DA55-A823-4A72-73BDAAD962D9}"/>
              </a:ext>
            </a:extLst>
          </p:cNvPr>
          <p:cNvSpPr txBox="1"/>
          <p:nvPr/>
        </p:nvSpPr>
        <p:spPr>
          <a:xfrm>
            <a:off x="933745" y="764193"/>
            <a:ext cx="10324510" cy="840059"/>
          </a:xfrm>
          <a:prstGeom prst="rect">
            <a:avLst/>
          </a:prstGeom>
          <a:noFill/>
        </p:spPr>
        <p:txBody>
          <a:bodyPr wrap="square" lIns="0" tIns="0" rIns="0" bIns="0" rtlCol="0">
            <a:noAutofit/>
          </a:bodyPr>
          <a:lstStyle/>
          <a:p>
            <a:pPr algn="ctr">
              <a:lnSpc>
                <a:spcPct val="150000"/>
              </a:lnSpc>
            </a:pPr>
            <a:r>
              <a:rPr lang="en-AU" sz="4400" b="1"/>
              <a:t>Record</a:t>
            </a:r>
            <a:r>
              <a:rPr lang="en-AU" sz="4400"/>
              <a:t> whether the following numbers are </a:t>
            </a:r>
            <a:r>
              <a:rPr lang="en-AU" sz="4400" b="1"/>
              <a:t>odd </a:t>
            </a:r>
            <a:r>
              <a:rPr lang="en-AU" sz="4400"/>
              <a:t>or </a:t>
            </a:r>
            <a:r>
              <a:rPr lang="en-AU" sz="4400" b="1"/>
              <a:t>even</a:t>
            </a:r>
            <a:r>
              <a:rPr lang="en-AU" sz="4400"/>
              <a:t>.</a:t>
            </a:r>
          </a:p>
          <a:p>
            <a:pPr marL="742950" indent="-742950" algn="l">
              <a:lnSpc>
                <a:spcPct val="150000"/>
              </a:lnSpc>
              <a:buFont typeface="+mj-lt"/>
              <a:buAutoNum type="alphaLcParenR"/>
            </a:pPr>
            <a:r>
              <a:rPr lang="en-AU" sz="4400"/>
              <a:t>35</a:t>
            </a:r>
          </a:p>
          <a:p>
            <a:pPr marL="742950" indent="-742950" algn="l">
              <a:lnSpc>
                <a:spcPct val="150000"/>
              </a:lnSpc>
              <a:buFont typeface="+mj-lt"/>
              <a:buAutoNum type="alphaLcParenR"/>
            </a:pPr>
            <a:r>
              <a:rPr lang="en-AU" sz="4400"/>
              <a:t>26</a:t>
            </a:r>
          </a:p>
          <a:p>
            <a:pPr marL="742950" indent="-742950" algn="l">
              <a:lnSpc>
                <a:spcPct val="150000"/>
              </a:lnSpc>
              <a:buFont typeface="+mj-lt"/>
              <a:buAutoNum type="alphaLcParenR"/>
            </a:pPr>
            <a:r>
              <a:rPr lang="en-AU" sz="4400"/>
              <a:t>51</a:t>
            </a:r>
          </a:p>
          <a:p>
            <a:pPr algn="ctr">
              <a:lnSpc>
                <a:spcPct val="150000"/>
              </a:lnSpc>
            </a:pPr>
            <a:r>
              <a:rPr lang="en-AU" sz="4400" b="1"/>
              <a:t>Communicate</a:t>
            </a:r>
            <a:r>
              <a:rPr lang="en-AU" sz="4400"/>
              <a:t> your </a:t>
            </a:r>
            <a:r>
              <a:rPr lang="en-AU" sz="4400" b="1"/>
              <a:t>reasoning</a:t>
            </a:r>
            <a:r>
              <a:rPr lang="en-AU" sz="4400"/>
              <a:t>.</a:t>
            </a:r>
          </a:p>
        </p:txBody>
      </p:sp>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a:extLst>
              <a:ext uri="{FF2B5EF4-FFF2-40B4-BE49-F238E27FC236}">
                <a16:creationId xmlns:a16="http://schemas.microsoft.com/office/drawing/2014/main" id="{FC9A4B87-D950-48CA-7AF9-006C90DB933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7">
            <a:extLst>
              <a:ext uri="{FF2B5EF4-FFF2-40B4-BE49-F238E27FC236}">
                <a16:creationId xmlns:a16="http://schemas.microsoft.com/office/drawing/2014/main" id="{7317E027-423E-2341-3DE5-F25C6DA0B24C}"/>
              </a:ext>
            </a:extLst>
          </p:cNvPr>
          <p:cNvSpPr txBox="1"/>
          <p:nvPr/>
        </p:nvSpPr>
        <p:spPr>
          <a:xfrm>
            <a:off x="468582" y="1184223"/>
            <a:ext cx="5854369" cy="5206490"/>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lvl="0" indent="-742950">
              <a:lnSpc>
                <a:spcPct val="150000"/>
              </a:lnSpc>
              <a:spcBef>
                <a:spcPts val="1200"/>
              </a:spcBef>
              <a:spcAft>
                <a:spcPts val="600"/>
              </a:spcAft>
              <a:buFont typeface="+mj-lt"/>
              <a:buAutoNum type="alphaLcParenR"/>
            </a:pPr>
            <a:r>
              <a:rPr lang="en-AU" sz="3600" dirty="0">
                <a:latin typeface="Arial" panose="020B0604020202020204" pitchFamily="34" charset="0"/>
                <a:ea typeface="Calibri" panose="020F0502020204030204" pitchFamily="34" charset="0"/>
              </a:rPr>
              <a:t>Record the </a:t>
            </a:r>
            <a:r>
              <a:rPr lang="en-AU" sz="3600" b="1" dirty="0">
                <a:latin typeface="Arial" panose="020B0604020202020204" pitchFamily="34" charset="0"/>
                <a:ea typeface="Calibri" panose="020F0502020204030204" pitchFamily="34" charset="0"/>
              </a:rPr>
              <a:t>sporting equipment </a:t>
            </a:r>
            <a:r>
              <a:rPr lang="en-AU" sz="3600" dirty="0">
                <a:latin typeface="Arial" panose="020B0604020202020204" pitchFamily="34" charset="0"/>
                <a:ea typeface="Calibri" panose="020F0502020204030204" pitchFamily="34" charset="0"/>
              </a:rPr>
              <a:t>found</a:t>
            </a:r>
            <a:r>
              <a:rPr lang="en-AU" sz="3600" b="1" dirty="0">
                <a:latin typeface="Arial" panose="020B0604020202020204" pitchFamily="34" charset="0"/>
                <a:ea typeface="Calibri" panose="020F0502020204030204" pitchFamily="34" charset="0"/>
              </a:rPr>
              <a:t> </a:t>
            </a:r>
            <a:r>
              <a:rPr lang="en-AU" sz="3600" dirty="0">
                <a:latin typeface="Arial" panose="020B0604020202020204" pitchFamily="34" charset="0"/>
                <a:ea typeface="Calibri" panose="020F0502020204030204" pitchFamily="34" charset="0"/>
              </a:rPr>
              <a:t>in </a:t>
            </a:r>
            <a:r>
              <a:rPr lang="en-AU" sz="3600" b="1" dirty="0">
                <a:latin typeface="Arial" panose="020B0604020202020204" pitchFamily="34" charset="0"/>
                <a:ea typeface="Calibri" panose="020F0502020204030204" pitchFamily="34" charset="0"/>
              </a:rPr>
              <a:t>D4</a:t>
            </a:r>
            <a:r>
              <a:rPr lang="en-AU" sz="3600" dirty="0">
                <a:latin typeface="Arial" panose="020B0604020202020204" pitchFamily="34" charset="0"/>
                <a:ea typeface="Calibri" panose="020F0502020204030204" pitchFamily="34" charset="0"/>
              </a:rPr>
              <a:t>.</a:t>
            </a:r>
          </a:p>
          <a:p>
            <a:pPr marL="742950" lvl="0" indent="-742950">
              <a:lnSpc>
                <a:spcPct val="150000"/>
              </a:lnSpc>
              <a:spcBef>
                <a:spcPts val="1200"/>
              </a:spcBef>
              <a:spcAft>
                <a:spcPts val="600"/>
              </a:spcAft>
              <a:buFont typeface="+mj-lt"/>
              <a:buAutoNum type="alphaLcParenR"/>
            </a:pPr>
            <a:r>
              <a:rPr lang="en-AU" sz="3600" dirty="0">
                <a:effectLst/>
                <a:latin typeface="Arial" panose="020B0604020202020204" pitchFamily="34" charset="0"/>
                <a:ea typeface="Calibri" panose="020F0502020204030204" pitchFamily="34" charset="0"/>
              </a:rPr>
              <a:t>Record the </a:t>
            </a:r>
            <a:r>
              <a:rPr lang="en-AU" sz="3600" b="1" dirty="0">
                <a:effectLst/>
                <a:latin typeface="Arial" panose="020B0604020202020204" pitchFamily="34" charset="0"/>
                <a:ea typeface="Calibri" panose="020F0502020204030204" pitchFamily="34" charset="0"/>
              </a:rPr>
              <a:t>grid reference </a:t>
            </a:r>
            <a:r>
              <a:rPr lang="en-AU" sz="3600" dirty="0">
                <a:latin typeface="Arial" panose="020B0604020202020204" pitchFamily="34" charset="0"/>
                <a:ea typeface="Calibri" panose="020F0502020204030204" pitchFamily="34" charset="0"/>
              </a:rPr>
              <a:t>for the position of the </a:t>
            </a:r>
            <a:r>
              <a:rPr lang="en-AU" sz="3600" b="1" dirty="0">
                <a:latin typeface="Arial" panose="020B0604020202020204" pitchFamily="34" charset="0"/>
                <a:ea typeface="Calibri" panose="020F0502020204030204" pitchFamily="34" charset="0"/>
              </a:rPr>
              <a:t>baseball bat and</a:t>
            </a:r>
            <a:r>
              <a:rPr lang="en-AU" sz="3600" dirty="0">
                <a:latin typeface="Arial" panose="020B0604020202020204" pitchFamily="34" charset="0"/>
                <a:ea typeface="Calibri" panose="020F0502020204030204" pitchFamily="34" charset="0"/>
              </a:rPr>
              <a:t> </a:t>
            </a:r>
            <a:r>
              <a:rPr lang="en-AU" sz="3600" b="1" dirty="0">
                <a:latin typeface="Arial" panose="020B0604020202020204" pitchFamily="34" charset="0"/>
                <a:ea typeface="Calibri" panose="020F0502020204030204" pitchFamily="34" charset="0"/>
              </a:rPr>
              <a:t>glove. </a:t>
            </a:r>
            <a:endParaRPr lang="en-AU" sz="3600" b="1" dirty="0">
              <a:effectLst/>
              <a:latin typeface="Arial" panose="020B0604020202020204" pitchFamily="34" charset="0"/>
              <a:ea typeface="Calibri" panose="020F0502020204030204" pitchFamily="34" charset="0"/>
            </a:endParaRPr>
          </a:p>
        </p:txBody>
      </p:sp>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pic>
        <p:nvPicPr>
          <p:cNvPr id="11" name="Picture 10">
            <a:extLst>
              <a:ext uri="{FF2B5EF4-FFF2-40B4-BE49-F238E27FC236}">
                <a16:creationId xmlns:a16="http://schemas.microsoft.com/office/drawing/2014/main" id="{E42CFD6B-04D5-6D0B-0B11-3D29691D1F12}"/>
              </a:ext>
            </a:extLst>
          </p:cNvPr>
          <p:cNvPicPr>
            <a:picLocks noChangeAspect="1"/>
          </p:cNvPicPr>
          <p:nvPr/>
        </p:nvPicPr>
        <p:blipFill>
          <a:blip r:embed="rId4">
            <a:extLst>
              <a:ext uri="{28A0092B-C50C-407E-A947-70E740481C1C}">
                <a14:useLocalDpi xmlns:a14="http://schemas.microsoft.com/office/drawing/2010/main" val="0"/>
              </a:ext>
            </a:extLst>
          </a:blip>
          <a:srcRect l="5998" t="12190" r="7974" b="27224"/>
          <a:stretch>
            <a:fillRect/>
          </a:stretch>
        </p:blipFill>
        <p:spPr>
          <a:xfrm>
            <a:off x="6813968" y="1500591"/>
            <a:ext cx="4909450" cy="489012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the equals sign means ‘the same as’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9" name="Picture 8" descr="Spaces for writing equivalent horizontal equations using a single number, two numbers added together and then 3 numbers added together.">
            <a:extLst>
              <a:ext uri="{FF2B5EF4-FFF2-40B4-BE49-F238E27FC236}">
                <a16:creationId xmlns:a16="http://schemas.microsoft.com/office/drawing/2014/main" id="{E01C65D1-79D0-6186-5887-9083A2810265}"/>
              </a:ext>
            </a:extLst>
          </p:cNvPr>
          <p:cNvPicPr>
            <a:picLocks noChangeAspect="1"/>
          </p:cNvPicPr>
          <p:nvPr/>
        </p:nvPicPr>
        <p:blipFill>
          <a:blip r:embed="rId4"/>
          <a:stretch>
            <a:fillRect/>
          </a:stretch>
        </p:blipFill>
        <p:spPr>
          <a:xfrm>
            <a:off x="1196445" y="2487240"/>
            <a:ext cx="9799109" cy="1160421"/>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a:xfrm>
            <a:off x="474481" y="2220554"/>
            <a:ext cx="11243037" cy="893226"/>
          </a:xfrm>
        </p:spPr>
        <p:txBody>
          <a:bodyPr/>
          <a:lstStyle/>
          <a:p>
            <a:pPr algn="ctr"/>
            <a:r>
              <a:rPr lang="en-AU" sz="6000"/>
              <a:t>45 - 23 = 30 - 8</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extLst>
              <p:ext uri="{D42A27DB-BD31-4B8C-83A1-F6EECF244321}">
                <p14:modId xmlns:p14="http://schemas.microsoft.com/office/powerpoint/2010/main" val="1260898258"/>
              </p:ext>
            </p:extLst>
          </p:nvPr>
        </p:nvGraphicFramePr>
        <p:xfrm>
          <a:off x="2557462" y="476512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12</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DEB21D7-BE33-5881-168E-F574A94A7B33}"/>
              </a:ext>
            </a:extLst>
          </p:cNvPr>
          <p:cNvSpPr txBox="1"/>
          <p:nvPr/>
        </p:nvSpPr>
        <p:spPr>
          <a:xfrm>
            <a:off x="1495855" y="971593"/>
            <a:ext cx="9231413" cy="840059"/>
          </a:xfrm>
          <a:prstGeom prst="rect">
            <a:avLst/>
          </a:prstGeom>
          <a:noFill/>
        </p:spPr>
        <p:txBody>
          <a:bodyPr wrap="square" lIns="0" tIns="0" rIns="0" bIns="0" rtlCol="0">
            <a:noAutofit/>
          </a:bodyPr>
          <a:lstStyle/>
          <a:p>
            <a:pPr algn="ctr">
              <a:lnSpc>
                <a:spcPct val="150000"/>
              </a:lnSpc>
            </a:pPr>
            <a:r>
              <a:rPr lang="en-AU" sz="4400" b="1"/>
              <a:t>Apply </a:t>
            </a:r>
            <a:r>
              <a:rPr lang="en-AU" sz="4400"/>
              <a:t>the</a:t>
            </a:r>
            <a:r>
              <a:rPr lang="en-AU" sz="4400" b="1"/>
              <a:t> associative property </a:t>
            </a:r>
            <a:r>
              <a:rPr lang="en-AU" sz="4400"/>
              <a:t>to</a:t>
            </a:r>
            <a:r>
              <a:rPr lang="en-AU" sz="4400" b="1"/>
              <a:t> balance </a:t>
            </a:r>
            <a:r>
              <a:rPr lang="en-AU" sz="4400"/>
              <a:t>these scales.</a:t>
            </a:r>
            <a:r>
              <a:rPr lang="en-AU" sz="4400" b="1"/>
              <a:t> </a:t>
            </a:r>
            <a:endParaRPr lang="en-AU" sz="4400"/>
          </a:p>
        </p:txBody>
      </p:sp>
      <p:pic>
        <p:nvPicPr>
          <p:cNvPr id="8" name="Picture 7" descr="Equal arm balance with the equation 57 + 32 + 8 on the left.">
            <a:extLst>
              <a:ext uri="{FF2B5EF4-FFF2-40B4-BE49-F238E27FC236}">
                <a16:creationId xmlns:a16="http://schemas.microsoft.com/office/drawing/2014/main" id="{77001459-CF4C-CAF6-A2BF-352E73059A50}"/>
              </a:ext>
            </a:extLst>
          </p:cNvPr>
          <p:cNvPicPr>
            <a:picLocks noChangeAspect="1"/>
          </p:cNvPicPr>
          <p:nvPr/>
        </p:nvPicPr>
        <p:blipFill>
          <a:blip r:embed="rId4"/>
          <a:srcRect b="7426"/>
          <a:stretch>
            <a:fillRect/>
          </a:stretch>
        </p:blipFill>
        <p:spPr>
          <a:xfrm>
            <a:off x="2112805" y="3429000"/>
            <a:ext cx="7966389" cy="3177000"/>
          </a:xfrm>
          <a:prstGeom prst="rect">
            <a:avLst/>
          </a:prstGeom>
          <a:ln>
            <a:noFill/>
          </a:ln>
          <a:effectLst/>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C6AF36C5-6355-D7F4-77D4-0682EFCB687F}"/>
              </a:ext>
            </a:extLst>
          </p:cNvPr>
          <p:cNvSpPr txBox="1"/>
          <p:nvPr/>
        </p:nvSpPr>
        <p:spPr>
          <a:xfrm>
            <a:off x="1364762" y="1091295"/>
            <a:ext cx="9231413" cy="840059"/>
          </a:xfrm>
          <a:prstGeom prst="rect">
            <a:avLst/>
          </a:prstGeom>
          <a:noFill/>
        </p:spPr>
        <p:txBody>
          <a:bodyPr wrap="square" lIns="0" tIns="0" rIns="0" bIns="0" rtlCol="0">
            <a:noAutofit/>
          </a:bodyPr>
          <a:lstStyle/>
          <a:p>
            <a:pPr algn="ctr">
              <a:lnSpc>
                <a:spcPct val="150000"/>
              </a:lnSpc>
            </a:pPr>
            <a:r>
              <a:rPr lang="en-AU" sz="4400" b="1"/>
              <a:t>Record</a:t>
            </a:r>
            <a:r>
              <a:rPr lang="en-AU" sz="4400"/>
              <a:t> the following </a:t>
            </a:r>
            <a:r>
              <a:rPr lang="en-AU" sz="4400" b="1"/>
              <a:t>masses</a:t>
            </a:r>
            <a:r>
              <a:rPr lang="en-AU" sz="4400"/>
              <a:t> using the </a:t>
            </a:r>
            <a:r>
              <a:rPr lang="en-AU" sz="4400" b="1"/>
              <a:t>abbreviation</a:t>
            </a:r>
            <a:r>
              <a:rPr lang="en-AU" sz="4400"/>
              <a:t> for kilograms:</a:t>
            </a:r>
          </a:p>
          <a:p>
            <a:pPr marL="742950" indent="-742950" algn="l">
              <a:lnSpc>
                <a:spcPct val="150000"/>
              </a:lnSpc>
              <a:buFont typeface="+mj-lt"/>
              <a:buAutoNum type="alphaLcParenR"/>
            </a:pPr>
            <a:r>
              <a:rPr lang="en-AU" sz="4400" b="1"/>
              <a:t>five</a:t>
            </a:r>
            <a:r>
              <a:rPr lang="en-AU" sz="4400"/>
              <a:t> kilograms</a:t>
            </a:r>
          </a:p>
          <a:p>
            <a:pPr marL="742950" indent="-742950">
              <a:lnSpc>
                <a:spcPct val="150000"/>
              </a:lnSpc>
              <a:buFont typeface="+mj-lt"/>
              <a:buAutoNum type="alphaLcParenR"/>
            </a:pPr>
            <a:r>
              <a:rPr lang="en-AU" sz="4400" b="1"/>
              <a:t>twelve</a:t>
            </a:r>
            <a:r>
              <a:rPr lang="en-AU" sz="4400"/>
              <a:t> kilograms</a:t>
            </a:r>
          </a:p>
          <a:p>
            <a:pPr marL="742950" indent="-742950">
              <a:lnSpc>
                <a:spcPct val="150000"/>
              </a:lnSpc>
              <a:buFont typeface="+mj-lt"/>
              <a:buAutoNum type="alphaLcParenR"/>
            </a:pPr>
            <a:r>
              <a:rPr lang="en-AU" sz="4400" b="1"/>
              <a:t>seventy-five</a:t>
            </a:r>
            <a:r>
              <a:rPr lang="en-AU" sz="4400"/>
              <a:t> kilograms.</a:t>
            </a:r>
          </a:p>
        </p:txBody>
      </p:sp>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D10C8AEE-B7AF-F3A8-36F7-298663094703}"/>
              </a:ext>
            </a:extLst>
          </p:cNvPr>
          <p:cNvSpPr txBox="1"/>
          <p:nvPr/>
        </p:nvSpPr>
        <p:spPr>
          <a:xfrm>
            <a:off x="1797805" y="1558455"/>
            <a:ext cx="8596389" cy="3741089"/>
          </a:xfrm>
          <a:prstGeom prst="rect">
            <a:avLst/>
          </a:prstGeom>
          <a:noFill/>
        </p:spPr>
        <p:txBody>
          <a:bodyPr wrap="square">
            <a:spAutoFit/>
          </a:bodyPr>
          <a:lstStyle/>
          <a:p>
            <a:pPr lvl="0" algn="ctr">
              <a:lnSpc>
                <a:spcPct val="150000"/>
              </a:lnSpc>
              <a:spcBef>
                <a:spcPts val="1200"/>
              </a:spcBef>
              <a:spcAft>
                <a:spcPts val="600"/>
              </a:spcAft>
            </a:pPr>
            <a:r>
              <a:rPr lang="en-AU" sz="4800" b="1">
                <a:effectLst/>
                <a:latin typeface="Arial" panose="020B0604020202020204" pitchFamily="34" charset="0"/>
                <a:ea typeface="Calibri" panose="020F0502020204030204" pitchFamily="34" charset="0"/>
              </a:rPr>
              <a:t>Draw arrays </a:t>
            </a:r>
            <a:r>
              <a:rPr lang="en-AU" sz="4800">
                <a:effectLst/>
                <a:latin typeface="Arial" panose="020B0604020202020204" pitchFamily="34" charset="0"/>
                <a:ea typeface="Calibri" panose="020F0502020204030204" pitchFamily="34" charset="0"/>
              </a:rPr>
              <a:t>to model that </a:t>
            </a:r>
          </a:p>
          <a:p>
            <a:pPr lvl="0" algn="ctr">
              <a:lnSpc>
                <a:spcPct val="150000"/>
              </a:lnSpc>
              <a:spcBef>
                <a:spcPts val="1200"/>
              </a:spcBef>
              <a:spcAft>
                <a:spcPts val="600"/>
              </a:spcAft>
            </a:pPr>
            <a:r>
              <a:rPr lang="en-AU" sz="4800" b="1">
                <a:effectLst/>
                <a:latin typeface="Arial" panose="020B0604020202020204" pitchFamily="34" charset="0"/>
                <a:ea typeface="Calibri" panose="020F0502020204030204" pitchFamily="34" charset="0"/>
              </a:rPr>
              <a:t>9</a:t>
            </a:r>
            <a:r>
              <a:rPr lang="en-AU" sz="4800">
                <a:effectLst/>
                <a:latin typeface="Arial" panose="020B0604020202020204" pitchFamily="34" charset="0"/>
                <a:ea typeface="Calibri" panose="020F0502020204030204" pitchFamily="34" charset="0"/>
              </a:rPr>
              <a:t> and </a:t>
            </a:r>
            <a:r>
              <a:rPr lang="en-AU" sz="4800" b="1">
                <a:effectLst/>
                <a:latin typeface="Arial" panose="020B0604020202020204" pitchFamily="34" charset="0"/>
                <a:ea typeface="Calibri" panose="020F0502020204030204" pitchFamily="34" charset="0"/>
              </a:rPr>
              <a:t>16</a:t>
            </a:r>
            <a:endParaRPr lang="en-AU" sz="4800">
              <a:effectLst/>
              <a:latin typeface="Arial" panose="020B0604020202020204" pitchFamily="34" charset="0"/>
              <a:ea typeface="Calibri" panose="020F0502020204030204" pitchFamily="34" charset="0"/>
            </a:endParaRPr>
          </a:p>
          <a:p>
            <a:pPr lvl="0" algn="ctr">
              <a:lnSpc>
                <a:spcPct val="150000"/>
              </a:lnSpc>
              <a:spcBef>
                <a:spcPts val="1200"/>
              </a:spcBef>
              <a:spcAft>
                <a:spcPts val="600"/>
              </a:spcAft>
            </a:pPr>
            <a:r>
              <a:rPr lang="en-AU" sz="4800">
                <a:effectLst/>
                <a:latin typeface="Arial" panose="020B0604020202020204" pitchFamily="34" charset="0"/>
                <a:ea typeface="Calibri" panose="020F0502020204030204" pitchFamily="34" charset="0"/>
              </a:rPr>
              <a:t>are </a:t>
            </a:r>
            <a:r>
              <a:rPr lang="en-AU" sz="4800" b="1">
                <a:effectLst/>
                <a:latin typeface="Arial" panose="020B0604020202020204" pitchFamily="34" charset="0"/>
                <a:ea typeface="Calibri" panose="020F0502020204030204" pitchFamily="34" charset="0"/>
              </a:rPr>
              <a:t>square numbers.</a:t>
            </a:r>
          </a:p>
        </p:txBody>
      </p:sp>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6F5AAA5-793C-0C80-BE8A-83CDB9E3DADE}"/>
              </a:ext>
            </a:extLst>
          </p:cNvPr>
          <p:cNvSpPr txBox="1"/>
          <p:nvPr/>
        </p:nvSpPr>
        <p:spPr>
          <a:xfrm>
            <a:off x="1583286" y="899141"/>
            <a:ext cx="8764178" cy="5616859"/>
          </a:xfrm>
          <a:prstGeom prst="rect">
            <a:avLst/>
          </a:prstGeom>
          <a:noFill/>
        </p:spPr>
        <p:txBody>
          <a:bodyPr wrap="square">
            <a:spAutoFit/>
          </a:bodyPr>
          <a:lstStyle/>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rPr>
              <a:t>Record the </a:t>
            </a:r>
            <a:r>
              <a:rPr lang="en-AU" sz="5400" b="1">
                <a:effectLst/>
                <a:latin typeface="Arial" panose="020B0604020202020204" pitchFamily="34" charset="0"/>
                <a:ea typeface="Calibri" panose="020F0502020204030204" pitchFamily="34" charset="0"/>
              </a:rPr>
              <a:t>missing words</a:t>
            </a:r>
            <a:r>
              <a:rPr lang="en-AU" sz="5400">
                <a:effectLst/>
                <a:latin typeface="Arial" panose="020B0604020202020204" pitchFamily="34" charset="0"/>
                <a:ea typeface="Calibri" panose="020F0502020204030204" pitchFamily="34" charset="0"/>
              </a:rPr>
              <a:t>:</a:t>
            </a:r>
          </a:p>
          <a:p>
            <a:pPr lvl="0" algn="ctr">
              <a:lnSpc>
                <a:spcPct val="150000"/>
              </a:lnSpc>
              <a:spcBef>
                <a:spcPts val="1200"/>
              </a:spcBef>
              <a:spcAft>
                <a:spcPts val="600"/>
              </a:spcAft>
            </a:pPr>
            <a:r>
              <a:rPr lang="en-AU" sz="5400">
                <a:effectLst/>
                <a:latin typeface="Arial" panose="020B0604020202020204" pitchFamily="34" charset="0"/>
                <a:ea typeface="Calibri" panose="020F0502020204030204" pitchFamily="34" charset="0"/>
              </a:rPr>
              <a:t>An</a:t>
            </a:r>
            <a:r>
              <a:rPr lang="en-AU" sz="5400" b="1">
                <a:effectLst/>
                <a:latin typeface="Arial" panose="020B0604020202020204" pitchFamily="34" charset="0"/>
                <a:ea typeface="Calibri" panose="020F0502020204030204" pitchFamily="34" charset="0"/>
              </a:rPr>
              <a:t> angle </a:t>
            </a:r>
            <a:r>
              <a:rPr lang="en-AU" sz="5400">
                <a:effectLst/>
                <a:latin typeface="Arial" panose="020B0604020202020204" pitchFamily="34" charset="0"/>
                <a:ea typeface="Calibri" panose="020F0502020204030204" pitchFamily="34" charset="0"/>
              </a:rPr>
              <a:t>is the </a:t>
            </a:r>
            <a:r>
              <a:rPr lang="en-AU" sz="5400" b="1">
                <a:effectLst/>
                <a:latin typeface="Arial" panose="020B0604020202020204" pitchFamily="34" charset="0"/>
                <a:ea typeface="Calibri" panose="020F0502020204030204" pitchFamily="34" charset="0"/>
              </a:rPr>
              <a:t>amount </a:t>
            </a:r>
            <a:r>
              <a:rPr lang="en-AU" sz="5400">
                <a:effectLst/>
                <a:latin typeface="Arial" panose="020B0604020202020204" pitchFamily="34" charset="0"/>
                <a:ea typeface="Calibri" panose="020F0502020204030204" pitchFamily="34" charset="0"/>
              </a:rPr>
              <a:t>of</a:t>
            </a:r>
            <a:r>
              <a:rPr lang="en-AU" sz="5400" b="1">
                <a:effectLst/>
                <a:latin typeface="Arial" panose="020B0604020202020204" pitchFamily="34" charset="0"/>
                <a:ea typeface="Calibri" panose="020F0502020204030204" pitchFamily="34" charset="0"/>
              </a:rPr>
              <a:t> </a:t>
            </a:r>
          </a:p>
          <a:p>
            <a:pPr lvl="0" algn="ctr">
              <a:lnSpc>
                <a:spcPct val="150000"/>
              </a:lnSpc>
              <a:spcBef>
                <a:spcPts val="1200"/>
              </a:spcBef>
              <a:spcAft>
                <a:spcPts val="600"/>
              </a:spcAft>
            </a:pPr>
            <a:r>
              <a:rPr lang="en-AU" sz="5400" b="1">
                <a:solidFill>
                  <a:schemeClr val="accent2"/>
                </a:solidFill>
                <a:effectLst/>
                <a:latin typeface="Arial" panose="020B0604020202020204" pitchFamily="34" charset="0"/>
                <a:ea typeface="Calibri" panose="020F0502020204030204" pitchFamily="34" charset="0"/>
              </a:rPr>
              <a:t>t _ _ _   </a:t>
            </a:r>
            <a:r>
              <a:rPr lang="en-AU" sz="5400">
                <a:effectLst/>
                <a:latin typeface="Arial" panose="020B0604020202020204" pitchFamily="34" charset="0"/>
                <a:ea typeface="Calibri" panose="020F0502020204030204" pitchFamily="34" charset="0"/>
              </a:rPr>
              <a:t>between two</a:t>
            </a:r>
            <a:r>
              <a:rPr lang="en-AU" sz="5400" b="1">
                <a:effectLst/>
                <a:latin typeface="Arial" panose="020B0604020202020204" pitchFamily="34" charset="0"/>
                <a:ea typeface="Calibri" panose="020F0502020204030204" pitchFamily="34" charset="0"/>
              </a:rPr>
              <a:t> </a:t>
            </a:r>
          </a:p>
          <a:p>
            <a:pPr lvl="0" algn="ctr">
              <a:lnSpc>
                <a:spcPct val="150000"/>
              </a:lnSpc>
              <a:spcBef>
                <a:spcPts val="1200"/>
              </a:spcBef>
              <a:spcAft>
                <a:spcPts val="600"/>
              </a:spcAft>
            </a:pPr>
            <a:r>
              <a:rPr lang="en-AU" sz="5400" b="1">
                <a:solidFill>
                  <a:schemeClr val="accent2"/>
                </a:solidFill>
                <a:effectLst/>
                <a:latin typeface="Arial" panose="020B0604020202020204" pitchFamily="34" charset="0"/>
                <a:ea typeface="Calibri" panose="020F0502020204030204" pitchFamily="34" charset="0"/>
              </a:rPr>
              <a:t>a _ _ _</a:t>
            </a:r>
            <a:r>
              <a:rPr lang="en-AU" sz="5400">
                <a:effectLst/>
                <a:latin typeface="Arial" panose="020B0604020202020204" pitchFamily="34" charset="0"/>
                <a:ea typeface="Calibri" panose="020F0502020204030204" pitchFamily="34" charset="0"/>
              </a:rPr>
              <a:t>.</a:t>
            </a:r>
          </a:p>
        </p:txBody>
      </p:sp>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equal differences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3972FDA4-542C-F3FF-7436-60B2672FFD97}"/>
              </a:ext>
            </a:extLst>
          </p:cNvPr>
          <p:cNvSpPr txBox="1"/>
          <p:nvPr/>
        </p:nvSpPr>
        <p:spPr>
          <a:xfrm>
            <a:off x="1572055" y="1411366"/>
            <a:ext cx="9231413" cy="840059"/>
          </a:xfrm>
          <a:prstGeom prst="rect">
            <a:avLst/>
          </a:prstGeom>
          <a:noFill/>
        </p:spPr>
        <p:txBody>
          <a:bodyPr wrap="square" lIns="0" tIns="0" rIns="0" bIns="0" rtlCol="0">
            <a:noAutofit/>
          </a:bodyPr>
          <a:lstStyle/>
          <a:p>
            <a:pPr algn="ctr">
              <a:lnSpc>
                <a:spcPct val="150000"/>
              </a:lnSpc>
            </a:pPr>
            <a:r>
              <a:rPr lang="en-AU" sz="6600" b="1">
                <a:solidFill>
                  <a:schemeClr val="accent2"/>
                </a:solidFill>
              </a:rPr>
              <a:t>25 - 7 </a:t>
            </a:r>
            <a:r>
              <a:rPr lang="en-AU" sz="6600" b="1"/>
              <a:t>= 18</a:t>
            </a:r>
            <a:endParaRPr lang="en-AU" sz="6600"/>
          </a:p>
        </p:txBody>
      </p:sp>
      <p:sp>
        <p:nvSpPr>
          <p:cNvPr id="5" name="TextBox 4">
            <a:extLst>
              <a:ext uri="{FF2B5EF4-FFF2-40B4-BE49-F238E27FC236}">
                <a16:creationId xmlns:a16="http://schemas.microsoft.com/office/drawing/2014/main" id="{D43D6375-F59D-FB3F-9152-CB252A232C53}"/>
              </a:ext>
            </a:extLst>
          </p:cNvPr>
          <p:cNvSpPr txBox="1"/>
          <p:nvPr/>
        </p:nvSpPr>
        <p:spPr>
          <a:xfrm>
            <a:off x="1336829" y="2757191"/>
            <a:ext cx="9231413" cy="840059"/>
          </a:xfrm>
          <a:prstGeom prst="rect">
            <a:avLst/>
          </a:prstGeom>
          <a:noFill/>
        </p:spPr>
        <p:txBody>
          <a:bodyPr wrap="square" lIns="0" tIns="0" rIns="0" bIns="0" rtlCol="0">
            <a:noAutofit/>
          </a:bodyPr>
          <a:lstStyle/>
          <a:p>
            <a:pPr algn="ctr">
              <a:lnSpc>
                <a:spcPct val="150000"/>
              </a:lnSpc>
            </a:pPr>
            <a:r>
              <a:rPr lang="en-AU" sz="6600" b="1">
                <a:solidFill>
                  <a:srgbClr val="00B050"/>
                </a:solidFill>
              </a:rPr>
              <a:t>32 - 14 </a:t>
            </a:r>
            <a:r>
              <a:rPr lang="en-AU" sz="6600" b="1"/>
              <a:t>= 18</a:t>
            </a:r>
            <a:endParaRPr lang="en-AU" sz="6600"/>
          </a:p>
        </p:txBody>
      </p:sp>
      <p:sp>
        <p:nvSpPr>
          <p:cNvPr id="7" name="TextBox 6">
            <a:extLst>
              <a:ext uri="{FF2B5EF4-FFF2-40B4-BE49-F238E27FC236}">
                <a16:creationId xmlns:a16="http://schemas.microsoft.com/office/drawing/2014/main" id="{116B9A7E-850C-3BE3-BD24-8AF4D056E409}"/>
              </a:ext>
            </a:extLst>
          </p:cNvPr>
          <p:cNvSpPr txBox="1"/>
          <p:nvPr/>
        </p:nvSpPr>
        <p:spPr>
          <a:xfrm>
            <a:off x="1674760" y="4042088"/>
            <a:ext cx="9231413" cy="840059"/>
          </a:xfrm>
          <a:prstGeom prst="rect">
            <a:avLst/>
          </a:prstGeom>
          <a:noFill/>
        </p:spPr>
        <p:txBody>
          <a:bodyPr wrap="square" lIns="0" tIns="0" rIns="0" bIns="0" rtlCol="0">
            <a:noAutofit/>
          </a:bodyPr>
          <a:lstStyle/>
          <a:p>
            <a:pPr algn="ctr">
              <a:lnSpc>
                <a:spcPct val="150000"/>
              </a:lnSpc>
            </a:pPr>
            <a:r>
              <a:rPr lang="en-AU" sz="6600" b="1">
                <a:solidFill>
                  <a:schemeClr val="accent2"/>
                </a:solidFill>
              </a:rPr>
              <a:t>25 - 7</a:t>
            </a:r>
            <a:r>
              <a:rPr lang="en-AU" sz="6600" b="1"/>
              <a:t> = </a:t>
            </a:r>
            <a:r>
              <a:rPr lang="en-AU" sz="6600" b="1">
                <a:solidFill>
                  <a:srgbClr val="00B050"/>
                </a:solidFill>
              </a:rPr>
              <a:t>32 - 14</a:t>
            </a:r>
            <a:endParaRPr lang="en-AU" sz="6600">
              <a:solidFill>
                <a:srgbClr val="00B050"/>
              </a:solidFill>
            </a:endParaRPr>
          </a:p>
        </p:txBody>
      </p:sp>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600963" y="1389792"/>
            <a:ext cx="11243037" cy="754243"/>
          </a:xfrm>
        </p:spPr>
        <p:txBody>
          <a:bodyPr/>
          <a:lstStyle/>
          <a:p>
            <a:pPr algn="ctr"/>
            <a:r>
              <a:rPr lang="en-US" sz="5400" b="1"/>
              <a:t>54 - 31=</a:t>
            </a:r>
          </a:p>
          <a:p>
            <a:pPr algn="ctr"/>
            <a:endParaRPr lang="en-US" sz="4400"/>
          </a:p>
        </p:txBody>
      </p:sp>
      <p:sp>
        <p:nvSpPr>
          <p:cNvPr id="9" name="B">
            <a:extLst>
              <a:ext uri="{FF2B5EF4-FFF2-40B4-BE49-F238E27FC236}">
                <a16:creationId xmlns:a16="http://schemas.microsoft.com/office/drawing/2014/main" id="{F91A42F4-D8C9-20A3-82EB-86FAD4D776A8}"/>
              </a:ext>
            </a:extLst>
          </p:cNvPr>
          <p:cNvSpPr txBox="1"/>
          <p:nvPr/>
        </p:nvSpPr>
        <p:spPr>
          <a:xfrm>
            <a:off x="670558" y="293831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D2386B91-F85A-17DD-80EB-F20033E4EC06}"/>
              </a:ext>
            </a:extLst>
          </p:cNvPr>
          <p:cNvSpPr>
            <a:spLocks noGrp="1"/>
          </p:cNvSpPr>
          <p:nvPr>
            <p:ph type="body" sz="quarter" idx="31"/>
          </p:nvPr>
        </p:nvSpPr>
        <p:spPr>
          <a:xfrm>
            <a:off x="1345520" y="2877704"/>
            <a:ext cx="10175920" cy="641396"/>
          </a:xfrm>
        </p:spPr>
        <p:txBody>
          <a:bodyPr anchor="ctr"/>
          <a:lstStyle/>
          <a:p>
            <a:r>
              <a:rPr lang="en-US" sz="4400"/>
              <a:t>19 + 3</a:t>
            </a:r>
          </a:p>
        </p:txBody>
      </p:sp>
      <p:sp>
        <p:nvSpPr>
          <p:cNvPr id="10" name="B">
            <a:extLst>
              <a:ext uri="{FF2B5EF4-FFF2-40B4-BE49-F238E27FC236}">
                <a16:creationId xmlns:a16="http://schemas.microsoft.com/office/drawing/2014/main" id="{CA9D5B15-A13C-EE8B-176F-3B4E3454A1A2}"/>
              </a:ext>
            </a:extLst>
          </p:cNvPr>
          <p:cNvSpPr txBox="1"/>
          <p:nvPr/>
        </p:nvSpPr>
        <p:spPr>
          <a:xfrm>
            <a:off x="670559" y="378765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2D36800D-CC3E-E3B5-7DCD-70D138BF62F0}"/>
              </a:ext>
            </a:extLst>
          </p:cNvPr>
          <p:cNvSpPr>
            <a:spLocks noGrp="1"/>
          </p:cNvSpPr>
          <p:nvPr>
            <p:ph type="body" sz="quarter" idx="30"/>
          </p:nvPr>
        </p:nvSpPr>
        <p:spPr>
          <a:xfrm>
            <a:off x="1345520" y="3725617"/>
            <a:ext cx="10175920" cy="641396"/>
          </a:xfrm>
        </p:spPr>
        <p:txBody>
          <a:bodyPr anchor="ctr"/>
          <a:lstStyle/>
          <a:p>
            <a:r>
              <a:rPr lang="en-US" sz="4400"/>
              <a:t>31 + 54</a:t>
            </a:r>
          </a:p>
        </p:txBody>
      </p:sp>
      <p:sp>
        <p:nvSpPr>
          <p:cNvPr id="12" name="C">
            <a:extLst>
              <a:ext uri="{FF2B5EF4-FFF2-40B4-BE49-F238E27FC236}">
                <a16:creationId xmlns:a16="http://schemas.microsoft.com/office/drawing/2014/main" id="{B4746450-E4E2-359C-DFCA-0532E811BD1E}"/>
              </a:ext>
            </a:extLst>
          </p:cNvPr>
          <p:cNvSpPr txBox="1"/>
          <p:nvPr/>
        </p:nvSpPr>
        <p:spPr>
          <a:xfrm>
            <a:off x="670558" y="463699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8E51689C-1248-B7EC-3B77-B066AB5C6C0D}"/>
              </a:ext>
            </a:extLst>
          </p:cNvPr>
          <p:cNvSpPr>
            <a:spLocks noGrp="1"/>
          </p:cNvSpPr>
          <p:nvPr>
            <p:ph type="body" sz="quarter" idx="29"/>
          </p:nvPr>
        </p:nvSpPr>
        <p:spPr>
          <a:xfrm>
            <a:off x="1345520" y="4575670"/>
            <a:ext cx="10175920" cy="641396"/>
          </a:xfrm>
        </p:spPr>
        <p:txBody>
          <a:bodyPr anchor="ctr"/>
          <a:lstStyle/>
          <a:p>
            <a:r>
              <a:rPr lang="en-US" sz="4400"/>
              <a:t>55 - 30</a:t>
            </a:r>
          </a:p>
        </p:txBody>
      </p:sp>
      <p:sp>
        <p:nvSpPr>
          <p:cNvPr id="11" name="D">
            <a:extLst>
              <a:ext uri="{FF2B5EF4-FFF2-40B4-BE49-F238E27FC236}">
                <a16:creationId xmlns:a16="http://schemas.microsoft.com/office/drawing/2014/main" id="{9B8955CE-78C1-2F30-7505-4CA44A86BDFF}"/>
              </a:ext>
            </a:extLst>
          </p:cNvPr>
          <p:cNvSpPr txBox="1"/>
          <p:nvPr/>
        </p:nvSpPr>
        <p:spPr>
          <a:xfrm>
            <a:off x="670558" y="548633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D3F4C1E5-AFB7-4898-29F3-EB98C6384093}"/>
              </a:ext>
            </a:extLst>
          </p:cNvPr>
          <p:cNvSpPr>
            <a:spLocks noGrp="1"/>
          </p:cNvSpPr>
          <p:nvPr>
            <p:ph type="body" sz="quarter" idx="27"/>
          </p:nvPr>
        </p:nvSpPr>
        <p:spPr>
          <a:xfrm>
            <a:off x="1345520" y="5425723"/>
            <a:ext cx="10175920" cy="641396"/>
          </a:xfrm>
        </p:spPr>
        <p:txBody>
          <a:bodyPr anchor="ctr"/>
          <a:lstStyle/>
          <a:p>
            <a:r>
              <a:rPr lang="en-US" sz="4400"/>
              <a:t>44 - 41</a:t>
            </a:r>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19</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08E308C6-0A43-B127-5BF6-DCBC88B81701}"/>
              </a:ext>
            </a:extLst>
          </p:cNvPr>
          <p:cNvSpPr txBox="1"/>
          <p:nvPr/>
        </p:nvSpPr>
        <p:spPr>
          <a:xfrm>
            <a:off x="1333015" y="942668"/>
            <a:ext cx="9231413" cy="840059"/>
          </a:xfrm>
          <a:prstGeom prst="rect">
            <a:avLst/>
          </a:prstGeom>
          <a:noFill/>
        </p:spPr>
        <p:txBody>
          <a:bodyPr wrap="square" lIns="0" tIns="0" rIns="0" bIns="0" rtlCol="0">
            <a:noAutofit/>
          </a:bodyPr>
          <a:lstStyle/>
          <a:p>
            <a:pPr algn="ctr">
              <a:lnSpc>
                <a:spcPct val="150000"/>
              </a:lnSpc>
            </a:pPr>
            <a:r>
              <a:rPr lang="en-AU" sz="4400"/>
              <a:t>Record</a:t>
            </a:r>
            <a:r>
              <a:rPr lang="en-AU" sz="4400" b="1"/>
              <a:t> </a:t>
            </a:r>
            <a:r>
              <a:rPr lang="en-AU" sz="4400"/>
              <a:t>the </a:t>
            </a:r>
            <a:r>
              <a:rPr lang="en-AU" sz="4400" b="1"/>
              <a:t>missing number </a:t>
            </a:r>
            <a:r>
              <a:rPr lang="en-AU" sz="4400"/>
              <a:t>to</a:t>
            </a:r>
            <a:r>
              <a:rPr lang="en-AU" sz="4400" b="1"/>
              <a:t> balance </a:t>
            </a:r>
            <a:r>
              <a:rPr lang="en-AU" sz="4400"/>
              <a:t>the scales.</a:t>
            </a:r>
            <a:r>
              <a:rPr lang="en-AU" sz="4400" b="1"/>
              <a:t> </a:t>
            </a:r>
            <a:endParaRPr lang="en-AU" sz="4400"/>
          </a:p>
        </p:txBody>
      </p:sp>
      <p:pic>
        <p:nvPicPr>
          <p:cNvPr id="7" name="Picture 6" descr="An equal arm balance with the equations:&#10;Left: 58 + 13&#10;Right: blank + 40.">
            <a:extLst>
              <a:ext uri="{FF2B5EF4-FFF2-40B4-BE49-F238E27FC236}">
                <a16:creationId xmlns:a16="http://schemas.microsoft.com/office/drawing/2014/main" id="{226B833A-DA30-A628-5F92-362B34C795F7}"/>
              </a:ext>
            </a:extLst>
          </p:cNvPr>
          <p:cNvPicPr>
            <a:picLocks noChangeAspect="1"/>
          </p:cNvPicPr>
          <p:nvPr/>
        </p:nvPicPr>
        <p:blipFill>
          <a:blip r:embed="rId4"/>
          <a:stretch>
            <a:fillRect/>
          </a:stretch>
        </p:blipFill>
        <p:spPr>
          <a:xfrm>
            <a:off x="2540892" y="2959331"/>
            <a:ext cx="7110215" cy="3736669"/>
          </a:xfrm>
          <a:prstGeom prst="rect">
            <a:avLst/>
          </a:prstGeom>
          <a:ln>
            <a:noFill/>
          </a:ln>
          <a:effectLst/>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D1F3F239-BD85-F757-CB55-912143A96762}"/>
              </a:ext>
            </a:extLst>
          </p:cNvPr>
          <p:cNvSpPr txBox="1"/>
          <p:nvPr/>
        </p:nvSpPr>
        <p:spPr>
          <a:xfrm>
            <a:off x="577102" y="1460599"/>
            <a:ext cx="11037796" cy="840059"/>
          </a:xfrm>
          <a:prstGeom prst="rect">
            <a:avLst/>
          </a:prstGeom>
          <a:noFill/>
        </p:spPr>
        <p:txBody>
          <a:bodyPr wrap="square" lIns="0" tIns="0" rIns="0" bIns="0" rtlCol="0">
            <a:noAutofit/>
          </a:bodyPr>
          <a:lstStyle/>
          <a:p>
            <a:pPr>
              <a:lnSpc>
                <a:spcPct val="150000"/>
              </a:lnSpc>
            </a:pPr>
            <a:r>
              <a:rPr lang="en-AU" sz="4400"/>
              <a:t>How many clay balls measuring</a:t>
            </a:r>
          </a:p>
          <a:p>
            <a:pPr marL="742950" indent="-742950">
              <a:lnSpc>
                <a:spcPct val="150000"/>
              </a:lnSpc>
              <a:buFont typeface="+mj-lt"/>
              <a:buAutoNum type="alphaLcParenR"/>
            </a:pPr>
            <a:r>
              <a:rPr lang="en-AU" sz="4400" b="1"/>
              <a:t>one </a:t>
            </a:r>
            <a:r>
              <a:rPr lang="en-AU" sz="4400"/>
              <a:t>gram </a:t>
            </a:r>
          </a:p>
          <a:p>
            <a:pPr marL="742950" indent="-742950">
              <a:lnSpc>
                <a:spcPct val="150000"/>
              </a:lnSpc>
              <a:buFont typeface="+mj-lt"/>
              <a:buAutoNum type="alphaLcParenR"/>
            </a:pPr>
            <a:r>
              <a:rPr lang="en-AU" sz="4400" b="1"/>
              <a:t>100 </a:t>
            </a:r>
            <a:r>
              <a:rPr lang="en-AU" sz="4400"/>
              <a:t>grams</a:t>
            </a:r>
          </a:p>
          <a:p>
            <a:pPr>
              <a:lnSpc>
                <a:spcPct val="150000"/>
              </a:lnSpc>
            </a:pPr>
            <a:r>
              <a:rPr lang="en-AU" sz="4400"/>
              <a:t>make </a:t>
            </a:r>
            <a:r>
              <a:rPr lang="en-AU" sz="4400" b="1"/>
              <a:t>one kilogram</a:t>
            </a:r>
            <a:r>
              <a:rPr lang="en-AU" sz="4400"/>
              <a:t>?</a:t>
            </a:r>
          </a:p>
        </p:txBody>
      </p:sp>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grpSp>
        <p:nvGrpSpPr>
          <p:cNvPr id="8" name="Group 7" descr="A digital scale with a clay ball on top measuring 1 gram and 100 grams">
            <a:extLst>
              <a:ext uri="{FF2B5EF4-FFF2-40B4-BE49-F238E27FC236}">
                <a16:creationId xmlns:a16="http://schemas.microsoft.com/office/drawing/2014/main" id="{DFD6E2ED-916C-91BA-D66B-CE6A42EF7696}"/>
              </a:ext>
            </a:extLst>
          </p:cNvPr>
          <p:cNvGrpSpPr/>
          <p:nvPr/>
        </p:nvGrpSpPr>
        <p:grpSpPr>
          <a:xfrm>
            <a:off x="6096000" y="2675656"/>
            <a:ext cx="5345151" cy="2649794"/>
            <a:chOff x="8334808" y="2659639"/>
            <a:chExt cx="3252353" cy="1545649"/>
          </a:xfrm>
        </p:grpSpPr>
        <p:pic>
          <p:nvPicPr>
            <p:cNvPr id="4" name="Picture 3" descr="A digital scale with a clay ball on top measuring 1 gram">
              <a:extLst>
                <a:ext uri="{FF2B5EF4-FFF2-40B4-BE49-F238E27FC236}">
                  <a16:creationId xmlns:a16="http://schemas.microsoft.com/office/drawing/2014/main" id="{BF75EE2F-7F24-6E35-CB03-E62F9172C8C9}"/>
                </a:ext>
              </a:extLst>
            </p:cNvPr>
            <p:cNvPicPr>
              <a:picLocks noChangeAspect="1"/>
            </p:cNvPicPr>
            <p:nvPr/>
          </p:nvPicPr>
          <p:blipFill>
            <a:blip r:embed="rId4"/>
            <a:stretch>
              <a:fillRect/>
            </a:stretch>
          </p:blipFill>
          <p:spPr>
            <a:xfrm>
              <a:off x="8334808" y="2915949"/>
              <a:ext cx="1569893" cy="1289339"/>
            </a:xfrm>
            <a:prstGeom prst="rect">
              <a:avLst/>
            </a:prstGeom>
          </p:spPr>
        </p:pic>
        <p:pic>
          <p:nvPicPr>
            <p:cNvPr id="7" name="Picture 6" descr="A digital scale with a clay ball on top measuring 100 grams">
              <a:extLst>
                <a:ext uri="{FF2B5EF4-FFF2-40B4-BE49-F238E27FC236}">
                  <a16:creationId xmlns:a16="http://schemas.microsoft.com/office/drawing/2014/main" id="{4AC48623-3982-21E3-E65A-26C7F2702035}"/>
                </a:ext>
              </a:extLst>
            </p:cNvPr>
            <p:cNvPicPr>
              <a:picLocks noChangeAspect="1"/>
            </p:cNvPicPr>
            <p:nvPr/>
          </p:nvPicPr>
          <p:blipFill>
            <a:blip r:embed="rId5"/>
            <a:stretch>
              <a:fillRect/>
            </a:stretch>
          </p:blipFill>
          <p:spPr>
            <a:xfrm>
              <a:off x="10143689" y="2659639"/>
              <a:ext cx="1443472" cy="1545648"/>
            </a:xfrm>
            <a:prstGeom prst="rect">
              <a:avLst/>
            </a:prstGeom>
          </p:spPr>
        </p:pic>
      </p:gr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5C798206-1A26-87F9-F638-22B41DD5AA54}"/>
              </a:ext>
            </a:extLst>
          </p:cNvPr>
          <p:cNvSpPr txBox="1">
            <a:spLocks/>
          </p:cNvSpPr>
          <p:nvPr/>
        </p:nvSpPr>
        <p:spPr>
          <a:xfrm>
            <a:off x="518905" y="2049969"/>
            <a:ext cx="583427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Record the </a:t>
            </a:r>
            <a:r>
              <a:rPr lang="en-AU" sz="4400" b="1"/>
              <a:t>total</a:t>
            </a:r>
            <a:r>
              <a:rPr lang="en-AU" sz="4400"/>
              <a:t> of this </a:t>
            </a:r>
            <a:r>
              <a:rPr lang="en-AU" sz="4400" b="1"/>
              <a:t>partially covered array.</a:t>
            </a:r>
          </a:p>
        </p:txBody>
      </p:sp>
      <p:pic>
        <p:nvPicPr>
          <p:cNvPr id="9" name="Picture 8" descr="A partially covered array with the top row visible (5 counters) and the first column (7 counters).">
            <a:extLst>
              <a:ext uri="{FF2B5EF4-FFF2-40B4-BE49-F238E27FC236}">
                <a16:creationId xmlns:a16="http://schemas.microsoft.com/office/drawing/2014/main" id="{E7FE38A3-911B-C208-B11B-EB9FB806D98A}"/>
              </a:ext>
            </a:extLst>
          </p:cNvPr>
          <p:cNvPicPr>
            <a:picLocks noChangeAspect="1"/>
          </p:cNvPicPr>
          <p:nvPr/>
        </p:nvPicPr>
        <p:blipFill>
          <a:blip r:embed="rId4"/>
          <a:stretch>
            <a:fillRect/>
          </a:stretch>
        </p:blipFill>
        <p:spPr>
          <a:xfrm>
            <a:off x="6695160" y="1233053"/>
            <a:ext cx="4218005" cy="5282947"/>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 Placeholder 5">
            <a:extLst>
              <a:ext uri="{FF2B5EF4-FFF2-40B4-BE49-F238E27FC236}">
                <a16:creationId xmlns:a16="http://schemas.microsoft.com/office/drawing/2014/main" id="{D13CBA2D-F3C6-BF5A-D2BE-481CB8DC9683}"/>
              </a:ext>
            </a:extLst>
          </p:cNvPr>
          <p:cNvSpPr txBox="1">
            <a:spLocks/>
          </p:cNvSpPr>
          <p:nvPr/>
        </p:nvSpPr>
        <p:spPr>
          <a:xfrm>
            <a:off x="756733" y="763716"/>
            <a:ext cx="10367267"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Record the </a:t>
            </a:r>
            <a:r>
              <a:rPr lang="en-AU" sz="4400" b="1"/>
              <a:t>two-dimensional shapes </a:t>
            </a:r>
            <a:r>
              <a:rPr lang="en-AU" sz="4400"/>
              <a:t>that have </a:t>
            </a:r>
            <a:r>
              <a:rPr lang="en-AU" sz="4400" b="1"/>
              <a:t>right angles.</a:t>
            </a:r>
          </a:p>
        </p:txBody>
      </p:sp>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grpSp>
        <p:nvGrpSpPr>
          <p:cNvPr id="17" name="Group 16" descr="2D shapes&#10;A: triangle&#10;B: square - not centred&#10;C: rectangle&#10;D: rhombus">
            <a:extLst>
              <a:ext uri="{FF2B5EF4-FFF2-40B4-BE49-F238E27FC236}">
                <a16:creationId xmlns:a16="http://schemas.microsoft.com/office/drawing/2014/main" id="{43B2A419-3825-7F64-5E00-FCB40064A4F5}"/>
              </a:ext>
            </a:extLst>
          </p:cNvPr>
          <p:cNvGrpSpPr/>
          <p:nvPr/>
        </p:nvGrpSpPr>
        <p:grpSpPr>
          <a:xfrm>
            <a:off x="1767016" y="2743200"/>
            <a:ext cx="8612659" cy="3772801"/>
            <a:chOff x="2029547" y="2690466"/>
            <a:chExt cx="8131753" cy="3399737"/>
          </a:xfrm>
        </p:grpSpPr>
        <p:pic>
          <p:nvPicPr>
            <p:cNvPr id="4" name="Picture 3" descr="2D shapes&#10;A: triangle&#10;B: square - not centred&#10;C: rectangle&#10;D: rhombus">
              <a:extLst>
                <a:ext uri="{FF2B5EF4-FFF2-40B4-BE49-F238E27FC236}">
                  <a16:creationId xmlns:a16="http://schemas.microsoft.com/office/drawing/2014/main" id="{26CB520A-6AEB-1BCA-5DD3-8F7304AF988A}"/>
                </a:ext>
              </a:extLst>
            </p:cNvPr>
            <p:cNvPicPr>
              <a:picLocks noChangeAspect="1"/>
            </p:cNvPicPr>
            <p:nvPr/>
          </p:nvPicPr>
          <p:blipFill>
            <a:blip r:embed="rId4"/>
            <a:stretch>
              <a:fillRect/>
            </a:stretch>
          </p:blipFill>
          <p:spPr>
            <a:xfrm>
              <a:off x="2029547" y="2690466"/>
              <a:ext cx="8131753" cy="3027219"/>
            </a:xfrm>
            <a:prstGeom prst="rect">
              <a:avLst/>
            </a:prstGeom>
          </p:spPr>
        </p:pic>
        <p:sp>
          <p:nvSpPr>
            <p:cNvPr id="5" name="B">
              <a:extLst>
                <a:ext uri="{FF2B5EF4-FFF2-40B4-BE49-F238E27FC236}">
                  <a16:creationId xmlns:a16="http://schemas.microsoft.com/office/drawing/2014/main" id="{7B43872C-0C65-8585-D352-D4956E547959}"/>
                </a:ext>
              </a:extLst>
            </p:cNvPr>
            <p:cNvSpPr txBox="1"/>
            <p:nvPr/>
          </p:nvSpPr>
          <p:spPr>
            <a:xfrm>
              <a:off x="2779426" y="5351539"/>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A</a:t>
              </a:r>
            </a:p>
          </p:txBody>
        </p:sp>
        <p:sp>
          <p:nvSpPr>
            <p:cNvPr id="7" name="B">
              <a:extLst>
                <a:ext uri="{FF2B5EF4-FFF2-40B4-BE49-F238E27FC236}">
                  <a16:creationId xmlns:a16="http://schemas.microsoft.com/office/drawing/2014/main" id="{C137FF66-4AE2-1D8B-CE54-7354B4EBBEA4}"/>
                </a:ext>
              </a:extLst>
            </p:cNvPr>
            <p:cNvSpPr txBox="1"/>
            <p:nvPr/>
          </p:nvSpPr>
          <p:spPr>
            <a:xfrm>
              <a:off x="4864343" y="5351539"/>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B</a:t>
              </a:r>
            </a:p>
          </p:txBody>
        </p:sp>
        <p:sp>
          <p:nvSpPr>
            <p:cNvPr id="13" name="C">
              <a:extLst>
                <a:ext uri="{FF2B5EF4-FFF2-40B4-BE49-F238E27FC236}">
                  <a16:creationId xmlns:a16="http://schemas.microsoft.com/office/drawing/2014/main" id="{160542F4-A9B0-885F-DE17-ADD3B294E68C}"/>
                </a:ext>
              </a:extLst>
            </p:cNvPr>
            <p:cNvSpPr txBox="1"/>
            <p:nvPr/>
          </p:nvSpPr>
          <p:spPr>
            <a:xfrm>
              <a:off x="6949259" y="5351539"/>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C</a:t>
              </a:r>
            </a:p>
          </p:txBody>
        </p:sp>
        <p:sp>
          <p:nvSpPr>
            <p:cNvPr id="16" name="D">
              <a:extLst>
                <a:ext uri="{FF2B5EF4-FFF2-40B4-BE49-F238E27FC236}">
                  <a16:creationId xmlns:a16="http://schemas.microsoft.com/office/drawing/2014/main" id="{E820935B-C03F-B386-ACFA-8AAC0AFB3748}"/>
                </a:ext>
              </a:extLst>
            </p:cNvPr>
            <p:cNvSpPr txBox="1"/>
            <p:nvPr/>
          </p:nvSpPr>
          <p:spPr>
            <a:xfrm>
              <a:off x="9034176" y="5351539"/>
              <a:ext cx="529429" cy="738664"/>
            </a:xfrm>
            <a:prstGeom prst="rect">
              <a:avLst/>
            </a:prstGeom>
            <a:noFill/>
          </p:spPr>
          <p:txBody>
            <a:bodyPr rot="0" spcFirstLastPara="0" vert="horz" wrap="square" lIns="0" tIns="0" rIns="0" bIns="0" numCol="1" spcCol="0" rtlCol="0" fromWordArt="0" anchor="t" anchorCtr="0" forceAA="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US" sz="4800" b="1"/>
                <a:t>D</a:t>
              </a:r>
            </a:p>
          </p:txBody>
        </p:sp>
      </p:gr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make it equal</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7" name="Picture 6" descr="A subtraction number sentence, represented by pairs of blank boxes to prompt thinking: A two-digit number minus a two-digit number equals a two-digit number.&#10;">
            <a:extLst>
              <a:ext uri="{FF2B5EF4-FFF2-40B4-BE49-F238E27FC236}">
                <a16:creationId xmlns:a16="http://schemas.microsoft.com/office/drawing/2014/main" id="{81A41012-C09E-298A-02EC-A52CD21C1DED}"/>
              </a:ext>
            </a:extLst>
          </p:cNvPr>
          <p:cNvPicPr>
            <a:picLocks noChangeAspect="1"/>
          </p:cNvPicPr>
          <p:nvPr/>
        </p:nvPicPr>
        <p:blipFill>
          <a:blip r:embed="rId4"/>
          <a:stretch>
            <a:fillRect/>
          </a:stretch>
        </p:blipFill>
        <p:spPr>
          <a:xfrm>
            <a:off x="1990514" y="2136843"/>
            <a:ext cx="8210972" cy="1371670"/>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474481" y="2535774"/>
            <a:ext cx="11243037" cy="893226"/>
          </a:xfrm>
        </p:spPr>
        <p:txBody>
          <a:bodyPr/>
          <a:lstStyle/>
          <a:p>
            <a:pPr algn="ctr"/>
            <a:r>
              <a:rPr lang="en-AU" sz="4400" b="1">
                <a:solidFill>
                  <a:schemeClr val="accent2"/>
                </a:solidFill>
              </a:rPr>
              <a:t>24</a:t>
            </a:r>
            <a:r>
              <a:rPr lang="en-AU" sz="4400" b="1"/>
              <a:t> + 13 + </a:t>
            </a:r>
            <a:r>
              <a:rPr lang="en-AU" sz="4400" b="1">
                <a:solidFill>
                  <a:schemeClr val="tx2"/>
                </a:solidFill>
              </a:rPr>
              <a:t>6</a:t>
            </a:r>
            <a:r>
              <a:rPr lang="en-AU" sz="4400" b="1"/>
              <a:t> = </a:t>
            </a:r>
            <a:r>
              <a:rPr lang="en-AU" sz="4400" b="1">
                <a:solidFill>
                  <a:schemeClr val="accent2"/>
                </a:solidFill>
              </a:rPr>
              <a:t>24</a:t>
            </a:r>
            <a:r>
              <a:rPr lang="en-AU" sz="4400" b="1"/>
              <a:t> + </a:t>
            </a:r>
            <a:r>
              <a:rPr lang="en-AU" sz="4400" b="1">
                <a:solidFill>
                  <a:schemeClr val="tx2"/>
                </a:solidFill>
              </a:rPr>
              <a:t>6</a:t>
            </a:r>
            <a:r>
              <a:rPr lang="en-AU" sz="4400" b="1"/>
              <a:t> + 13 = </a:t>
            </a:r>
            <a:r>
              <a:rPr lang="en-AU" sz="4400" b="1">
                <a:solidFill>
                  <a:srgbClr val="9236CA"/>
                </a:solidFill>
              </a:rPr>
              <a:t>30</a:t>
            </a:r>
            <a:r>
              <a:rPr lang="en-AU" sz="4400" b="1"/>
              <a:t> + 13 = 43</a:t>
            </a:r>
          </a:p>
        </p:txBody>
      </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3263037992"/>
              </p:ext>
            </p:extLst>
          </p:nvPr>
        </p:nvGraphicFramePr>
        <p:xfrm>
          <a:off x="2442981" y="4812748"/>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88359C95-0164-F7D2-B293-DCC9BDF47D23}"/>
              </a:ext>
            </a:extLst>
          </p:cNvPr>
          <p:cNvSpPr txBox="1"/>
          <p:nvPr/>
        </p:nvSpPr>
        <p:spPr>
          <a:xfrm>
            <a:off x="246024" y="905601"/>
            <a:ext cx="11408524" cy="14627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a:t>Use </a:t>
            </a:r>
            <a:r>
              <a:rPr lang="en-AU" sz="3600" b="1"/>
              <a:t>standard</a:t>
            </a:r>
            <a:r>
              <a:rPr lang="en-AU" sz="3600"/>
              <a:t> and </a:t>
            </a:r>
            <a:r>
              <a:rPr lang="en-AU" sz="3600" b="1"/>
              <a:t>non-standard partitioning</a:t>
            </a:r>
            <a:r>
              <a:rPr lang="en-AU" sz="3600"/>
              <a:t> to solve:</a:t>
            </a:r>
          </a:p>
        </p:txBody>
      </p:sp>
      <p:pic>
        <p:nvPicPr>
          <p:cNvPr id="9" name="Picture 8" descr="439 + 59 with 2 diagrams encouraging partitioning. The first standard partitioning and the second non-standard partitioning.">
            <a:extLst>
              <a:ext uri="{FF2B5EF4-FFF2-40B4-BE49-F238E27FC236}">
                <a16:creationId xmlns:a16="http://schemas.microsoft.com/office/drawing/2014/main" id="{5CB59462-8D07-57D2-38BE-9B1FC9641D07}"/>
              </a:ext>
            </a:extLst>
          </p:cNvPr>
          <p:cNvPicPr>
            <a:picLocks noChangeAspect="1"/>
          </p:cNvPicPr>
          <p:nvPr/>
        </p:nvPicPr>
        <p:blipFill>
          <a:blip r:embed="rId4"/>
          <a:stretch>
            <a:fillRect/>
          </a:stretch>
        </p:blipFill>
        <p:spPr>
          <a:xfrm>
            <a:off x="1486224" y="2086192"/>
            <a:ext cx="9219551" cy="2941825"/>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22545644-ECE0-3ED8-CADB-07C3639535D3}"/>
              </a:ext>
            </a:extLst>
          </p:cNvPr>
          <p:cNvSpPr txBox="1"/>
          <p:nvPr/>
        </p:nvSpPr>
        <p:spPr>
          <a:xfrm>
            <a:off x="545902" y="5126553"/>
            <a:ext cx="10808766" cy="14627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a:t>Which </a:t>
            </a:r>
            <a:r>
              <a:rPr lang="en-AU" sz="3600" b="1"/>
              <a:t>strategy</a:t>
            </a:r>
            <a:r>
              <a:rPr lang="en-AU" sz="3600"/>
              <a:t> made the calculation </a:t>
            </a:r>
            <a:r>
              <a:rPr lang="en-AU" sz="3600" b="1"/>
              <a:t>easier</a:t>
            </a:r>
            <a:r>
              <a:rPr lang="en-AU" sz="3600"/>
              <a:t>? </a:t>
            </a:r>
            <a:r>
              <a:rPr lang="en-AU" sz="3600" b="1"/>
              <a:t>Communicate </a:t>
            </a:r>
            <a:r>
              <a:rPr lang="en-AU" sz="3600"/>
              <a:t>your </a:t>
            </a:r>
            <a:r>
              <a:rPr lang="en-AU" sz="3600" b="1"/>
              <a:t>reasoning.</a:t>
            </a:r>
          </a:p>
        </p:txBody>
      </p:sp>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27</a:t>
            </a:fld>
            <a:endParaRPr lang="en-AU"/>
          </a:p>
        </p:txBody>
      </p:sp>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4">
            <a:extLst>
              <a:ext uri="{FF2B5EF4-FFF2-40B4-BE49-F238E27FC236}">
                <a16:creationId xmlns:a16="http://schemas.microsoft.com/office/drawing/2014/main" id="{87FF2555-A5D6-C018-7AE1-A5C22CC7853E}"/>
              </a:ext>
            </a:extLst>
          </p:cNvPr>
          <p:cNvSpPr txBox="1"/>
          <p:nvPr/>
        </p:nvSpPr>
        <p:spPr>
          <a:xfrm>
            <a:off x="360000" y="963906"/>
            <a:ext cx="10808766" cy="14627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a:t>Record the </a:t>
            </a:r>
            <a:r>
              <a:rPr lang="en-AU" sz="4400" b="1"/>
              <a:t>masses</a:t>
            </a:r>
            <a:r>
              <a:rPr lang="en-AU" sz="4400"/>
              <a:t> of the objects using the </a:t>
            </a:r>
            <a:r>
              <a:rPr lang="en-AU" sz="4400" b="1"/>
              <a:t>abbreviation</a:t>
            </a:r>
            <a:r>
              <a:rPr lang="en-AU" sz="4400"/>
              <a:t> for </a:t>
            </a:r>
            <a:r>
              <a:rPr lang="en-AU" sz="4400" b="1"/>
              <a:t>kilograms:</a:t>
            </a:r>
            <a:endParaRPr lang="en-AU" sz="4400"/>
          </a:p>
        </p:txBody>
      </p:sp>
      <p:grpSp>
        <p:nvGrpSpPr>
          <p:cNvPr id="17" name="Group 16" descr="An equal arm scale with &#10;a) bag of flour&#10;&#10;on the right and &#10;&#10;5, 1 kilogram weights on the left.">
            <a:extLst>
              <a:ext uri="{FF2B5EF4-FFF2-40B4-BE49-F238E27FC236}">
                <a16:creationId xmlns:a16="http://schemas.microsoft.com/office/drawing/2014/main" id="{62B44D94-F10A-F140-F260-88D043D2B460}"/>
              </a:ext>
            </a:extLst>
          </p:cNvPr>
          <p:cNvGrpSpPr/>
          <p:nvPr/>
        </p:nvGrpSpPr>
        <p:grpSpPr>
          <a:xfrm>
            <a:off x="703739" y="3445451"/>
            <a:ext cx="4522466" cy="3412549"/>
            <a:chOff x="703739" y="3193451"/>
            <a:chExt cx="4522466" cy="3412549"/>
          </a:xfrm>
        </p:grpSpPr>
        <p:sp>
          <p:nvSpPr>
            <p:cNvPr id="14" name="TextBox 14">
              <a:extLst>
                <a:ext uri="{FF2B5EF4-FFF2-40B4-BE49-F238E27FC236}">
                  <a16:creationId xmlns:a16="http://schemas.microsoft.com/office/drawing/2014/main" id="{955E99F0-5734-691C-70E6-42D6FFFC1BCE}"/>
                </a:ext>
              </a:extLst>
            </p:cNvPr>
            <p:cNvSpPr txBox="1"/>
            <p:nvPr/>
          </p:nvSpPr>
          <p:spPr>
            <a:xfrm>
              <a:off x="703739" y="3193451"/>
              <a:ext cx="3102544" cy="599328"/>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342900" indent="-342900" algn="l">
                <a:buFont typeface="+mj-lt"/>
                <a:buAutoNum type="alphaLcParenR"/>
              </a:pPr>
              <a:r>
                <a:rPr lang="en-AU" sz="3600"/>
                <a:t> bag of flour</a:t>
              </a:r>
            </a:p>
          </p:txBody>
        </p:sp>
        <p:pic>
          <p:nvPicPr>
            <p:cNvPr id="16" name="Picture 15">
              <a:extLst>
                <a:ext uri="{FF2B5EF4-FFF2-40B4-BE49-F238E27FC236}">
                  <a16:creationId xmlns:a16="http://schemas.microsoft.com/office/drawing/2014/main" id="{5FAA19FD-0820-D8AB-C04F-ABC012A0BF5B}"/>
                </a:ext>
              </a:extLst>
            </p:cNvPr>
            <p:cNvPicPr>
              <a:picLocks noChangeAspect="1"/>
            </p:cNvPicPr>
            <p:nvPr/>
          </p:nvPicPr>
          <p:blipFill>
            <a:blip r:embed="rId4"/>
            <a:stretch>
              <a:fillRect/>
            </a:stretch>
          </p:blipFill>
          <p:spPr>
            <a:xfrm>
              <a:off x="833491" y="3813891"/>
              <a:ext cx="4392714" cy="2792109"/>
            </a:xfrm>
            <a:prstGeom prst="rect">
              <a:avLst/>
            </a:prstGeom>
          </p:spPr>
        </p:pic>
      </p:grpSp>
      <p:grpSp>
        <p:nvGrpSpPr>
          <p:cNvPr id="20" name="Group 19" descr="An equal arm scale with &#10;b) pumpkin&#10;&#10;on the right and &#10;&#10;3, 1 kilogram weights on the left.">
            <a:extLst>
              <a:ext uri="{FF2B5EF4-FFF2-40B4-BE49-F238E27FC236}">
                <a16:creationId xmlns:a16="http://schemas.microsoft.com/office/drawing/2014/main" id="{95BD9D13-886A-FAD4-4F1B-AD6E40D667E6}"/>
              </a:ext>
            </a:extLst>
          </p:cNvPr>
          <p:cNvGrpSpPr/>
          <p:nvPr/>
        </p:nvGrpSpPr>
        <p:grpSpPr>
          <a:xfrm>
            <a:off x="6690714" y="3338576"/>
            <a:ext cx="4950482" cy="3519424"/>
            <a:chOff x="6690714" y="3193451"/>
            <a:chExt cx="4950482" cy="3519424"/>
          </a:xfrm>
        </p:grpSpPr>
        <p:sp>
          <p:nvSpPr>
            <p:cNvPr id="12" name="TextBox 17">
              <a:extLst>
                <a:ext uri="{FF2B5EF4-FFF2-40B4-BE49-F238E27FC236}">
                  <a16:creationId xmlns:a16="http://schemas.microsoft.com/office/drawing/2014/main" id="{42963BED-D126-1A67-7401-9F1504B68DF3}"/>
                </a:ext>
              </a:extLst>
            </p:cNvPr>
            <p:cNvSpPr txBox="1"/>
            <p:nvPr/>
          </p:nvSpPr>
          <p:spPr>
            <a:xfrm>
              <a:off x="6690714" y="3193451"/>
              <a:ext cx="3032096" cy="599328"/>
            </a:xfrm>
            <a:prstGeom prst="rect">
              <a:avLst/>
            </a:prstGeom>
            <a:noFill/>
            <a:effectLst/>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l"/>
              <a:r>
                <a:rPr lang="en-AU" sz="3600"/>
                <a:t>b) pumpkin</a:t>
              </a:r>
            </a:p>
          </p:txBody>
        </p:sp>
        <p:pic>
          <p:nvPicPr>
            <p:cNvPr id="19" name="Picture 18">
              <a:extLst>
                <a:ext uri="{FF2B5EF4-FFF2-40B4-BE49-F238E27FC236}">
                  <a16:creationId xmlns:a16="http://schemas.microsoft.com/office/drawing/2014/main" id="{94DB25FE-E650-4FE9-B052-9847A8372718}"/>
                </a:ext>
              </a:extLst>
            </p:cNvPr>
            <p:cNvPicPr>
              <a:picLocks noChangeAspect="1"/>
            </p:cNvPicPr>
            <p:nvPr/>
          </p:nvPicPr>
          <p:blipFill>
            <a:blip r:embed="rId5"/>
            <a:stretch>
              <a:fillRect/>
            </a:stretch>
          </p:blipFill>
          <p:spPr>
            <a:xfrm>
              <a:off x="6690714" y="3707014"/>
              <a:ext cx="4950482" cy="3005861"/>
            </a:xfrm>
            <a:prstGeom prst="rect">
              <a:avLst/>
            </a:prstGeom>
          </p:spPr>
        </p:pic>
      </p:grpSp>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3">
            <a:extLst>
              <a:ext uri="{FF2B5EF4-FFF2-40B4-BE49-F238E27FC236}">
                <a16:creationId xmlns:a16="http://schemas.microsoft.com/office/drawing/2014/main" id="{32E64CD0-BB72-7BC7-1108-B4408F4A7BC9}"/>
              </a:ext>
            </a:extLst>
          </p:cNvPr>
          <p:cNvSpPr txBox="1"/>
          <p:nvPr/>
        </p:nvSpPr>
        <p:spPr>
          <a:xfrm>
            <a:off x="611127" y="905601"/>
            <a:ext cx="5792988" cy="3258207"/>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pPr>
            <a:endParaRPr lang="en-AU" sz="4000"/>
          </a:p>
          <a:p>
            <a:pPr>
              <a:lnSpc>
                <a:spcPct val="150000"/>
              </a:lnSpc>
            </a:pPr>
            <a:r>
              <a:rPr lang="en-AU" sz="4000"/>
              <a:t>What is the </a:t>
            </a:r>
            <a:r>
              <a:rPr lang="en-AU" sz="4000" b="1"/>
              <a:t>relationship</a:t>
            </a:r>
            <a:r>
              <a:rPr lang="en-AU" sz="4000"/>
              <a:t> between the </a:t>
            </a:r>
            <a:r>
              <a:rPr lang="en-AU" sz="4000" b="1"/>
              <a:t>patterns:</a:t>
            </a:r>
            <a:endParaRPr lang="en-AU" sz="4000"/>
          </a:p>
          <a:p>
            <a:pPr marL="742950" indent="-742950" algn="ctr">
              <a:lnSpc>
                <a:spcPct val="150000"/>
              </a:lnSpc>
              <a:buFont typeface="+mj-lt"/>
              <a:buAutoNum type="alphaLcParenR"/>
            </a:pPr>
            <a:r>
              <a:rPr lang="en-AU" sz="4000" b="1"/>
              <a:t>across </a:t>
            </a:r>
            <a:r>
              <a:rPr lang="en-AU" sz="4000"/>
              <a:t>the</a:t>
            </a:r>
            <a:r>
              <a:rPr lang="en-AU" sz="4000" b="1"/>
              <a:t> rows?</a:t>
            </a:r>
          </a:p>
          <a:p>
            <a:pPr marL="742950" indent="-742950" algn="ctr">
              <a:lnSpc>
                <a:spcPct val="150000"/>
              </a:lnSpc>
              <a:buFont typeface="+mj-lt"/>
              <a:buAutoNum type="alphaLcParenR"/>
            </a:pPr>
            <a:r>
              <a:rPr lang="en-AU" sz="4000" b="1"/>
              <a:t>down </a:t>
            </a:r>
            <a:r>
              <a:rPr lang="en-AU" sz="4000"/>
              <a:t>each</a:t>
            </a:r>
            <a:r>
              <a:rPr lang="en-AU" sz="4000" b="1"/>
              <a:t> column?</a:t>
            </a:r>
            <a:endParaRPr lang="en-AU" sz="4000"/>
          </a:p>
        </p:txBody>
      </p:sp>
      <p:pic>
        <p:nvPicPr>
          <p:cNvPr id="8" name="Picture 7" descr="A table with the columns&#10;Pattern A: 3, 6, 9, 12, 15&#10;Pattern B: 6, 12, 18, 24, 30">
            <a:extLst>
              <a:ext uri="{FF2B5EF4-FFF2-40B4-BE49-F238E27FC236}">
                <a16:creationId xmlns:a16="http://schemas.microsoft.com/office/drawing/2014/main" id="{1E975358-DC02-56AB-3573-590C0FF869FC}"/>
              </a:ext>
            </a:extLst>
          </p:cNvPr>
          <p:cNvPicPr>
            <a:picLocks noChangeAspect="1"/>
          </p:cNvPicPr>
          <p:nvPr/>
        </p:nvPicPr>
        <p:blipFill>
          <a:blip r:embed="rId4"/>
          <a:stretch>
            <a:fillRect/>
          </a:stretch>
        </p:blipFill>
        <p:spPr>
          <a:xfrm>
            <a:off x="6899475" y="1395365"/>
            <a:ext cx="4584525" cy="4991284"/>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a:extLst>
              <a:ext uri="{FF2B5EF4-FFF2-40B4-BE49-F238E27FC236}">
                <a16:creationId xmlns:a16="http://schemas.microsoft.com/office/drawing/2014/main" id="{602A5C36-777A-4A3B-4BB2-D0CC6ABD673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3">
            <a:extLst>
              <a:ext uri="{FF2B5EF4-FFF2-40B4-BE49-F238E27FC236}">
                <a16:creationId xmlns:a16="http://schemas.microsoft.com/office/drawing/2014/main" id="{F662C6C0-1B6F-FAB6-B1C5-CA1FBCD6831C}"/>
              </a:ext>
            </a:extLst>
          </p:cNvPr>
          <p:cNvSpPr txBox="1"/>
          <p:nvPr/>
        </p:nvSpPr>
        <p:spPr>
          <a:xfrm>
            <a:off x="246024" y="905601"/>
            <a:ext cx="8214976" cy="4825745"/>
          </a:xfrm>
          <a:prstGeom prst="rect">
            <a:avLst/>
          </a:prstGeom>
          <a:noFill/>
        </p:spPr>
        <p:txBody>
          <a:bodyPr wrap="square" lIns="91440" tIns="45720" rIns="91440" bIns="45720" anchor="t">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nSpc>
                <a:spcPct val="150000"/>
              </a:lnSpc>
              <a:spcBef>
                <a:spcPts val="1200"/>
              </a:spcBef>
              <a:spcAft>
                <a:spcPts val="600"/>
              </a:spcAft>
              <a:buFont typeface="+mj-lt"/>
              <a:buAutoNum type="alphaLcParenR"/>
            </a:pPr>
            <a:r>
              <a:rPr lang="en-AU" sz="4000">
                <a:latin typeface="Arial"/>
                <a:ea typeface="Calibri"/>
                <a:cs typeface="Times New Roman"/>
              </a:rPr>
              <a:t>Record the </a:t>
            </a:r>
            <a:r>
              <a:rPr lang="en-AU" sz="4000" b="1">
                <a:latin typeface="Arial"/>
                <a:ea typeface="Calibri"/>
                <a:cs typeface="Times New Roman"/>
              </a:rPr>
              <a:t>length</a:t>
            </a:r>
            <a:r>
              <a:rPr lang="en-AU" sz="4000">
                <a:latin typeface="Arial"/>
                <a:ea typeface="Calibri"/>
                <a:cs typeface="Times New Roman"/>
              </a:rPr>
              <a:t> and </a:t>
            </a:r>
            <a:r>
              <a:rPr lang="en-AU" sz="4000" b="1">
                <a:latin typeface="Arial"/>
                <a:ea typeface="Calibri"/>
                <a:cs typeface="Times New Roman"/>
              </a:rPr>
              <a:t>width </a:t>
            </a:r>
            <a:r>
              <a:rPr lang="en-AU" sz="4000">
                <a:latin typeface="Arial"/>
                <a:ea typeface="Calibri"/>
                <a:cs typeface="Times New Roman"/>
              </a:rPr>
              <a:t>of the rectangle in </a:t>
            </a:r>
            <a:r>
              <a:rPr lang="en-AU" sz="4000" b="1">
                <a:latin typeface="Arial"/>
                <a:ea typeface="Calibri"/>
                <a:cs typeface="Times New Roman"/>
              </a:rPr>
              <a:t>centimetres</a:t>
            </a:r>
            <a:r>
              <a:rPr lang="en-AU" sz="4000">
                <a:latin typeface="Arial"/>
                <a:ea typeface="Calibri"/>
                <a:cs typeface="Times New Roman"/>
              </a:rPr>
              <a:t>.</a:t>
            </a:r>
            <a:endParaRPr lang="en-US"/>
          </a:p>
          <a:p>
            <a:pPr marL="742950" lvl="0" indent="-742950">
              <a:lnSpc>
                <a:spcPct val="150000"/>
              </a:lnSpc>
              <a:spcBef>
                <a:spcPts val="1200"/>
              </a:spcBef>
              <a:spcAft>
                <a:spcPts val="600"/>
              </a:spcAft>
              <a:buAutoNum type="alphaLcParenR"/>
            </a:pPr>
            <a:r>
              <a:rPr lang="en-AU" sz="4000">
                <a:latin typeface="Arial"/>
                <a:ea typeface="Calibri"/>
                <a:cs typeface="Times New Roman"/>
              </a:rPr>
              <a:t>Record the </a:t>
            </a:r>
            <a:r>
              <a:rPr lang="en-AU" sz="4000" b="1">
                <a:latin typeface="Arial"/>
                <a:ea typeface="Calibri"/>
                <a:cs typeface="Times New Roman"/>
              </a:rPr>
              <a:t>area</a:t>
            </a:r>
            <a:r>
              <a:rPr lang="en-AU" sz="4000">
                <a:latin typeface="Arial"/>
                <a:ea typeface="Calibri"/>
                <a:cs typeface="Times New Roman"/>
              </a:rPr>
              <a:t> of the rectangle in </a:t>
            </a:r>
            <a:r>
              <a:rPr lang="en-AU" sz="4000" b="1">
                <a:latin typeface="Arial"/>
                <a:ea typeface="Calibri"/>
                <a:cs typeface="Times New Roman"/>
              </a:rPr>
              <a:t>square centimetres.</a:t>
            </a:r>
            <a:endParaRPr lang="en-AU" sz="4000" b="1">
              <a:effectLst/>
              <a:latin typeface="Arial"/>
              <a:ea typeface="Calibri"/>
              <a:cs typeface="Times New Roman"/>
            </a:endParaRPr>
          </a:p>
        </p:txBody>
      </p:sp>
      <p:pic>
        <p:nvPicPr>
          <p:cNvPr id="8" name="Picture 7" descr="A rectangle overlayed a 1 cm grid (one square is labelled 1 cm by 1 cm).">
            <a:extLst>
              <a:ext uri="{FF2B5EF4-FFF2-40B4-BE49-F238E27FC236}">
                <a16:creationId xmlns:a16="http://schemas.microsoft.com/office/drawing/2014/main" id="{270D5417-2773-8B16-53E8-5BB08F8AEC58}"/>
              </a:ext>
            </a:extLst>
          </p:cNvPr>
          <p:cNvPicPr>
            <a:picLocks noChangeAspect="1"/>
          </p:cNvPicPr>
          <p:nvPr/>
        </p:nvPicPr>
        <p:blipFill>
          <a:blip r:embed="rId4"/>
          <a:stretch>
            <a:fillRect/>
          </a:stretch>
        </p:blipFill>
        <p:spPr>
          <a:xfrm>
            <a:off x="7884164" y="1838325"/>
            <a:ext cx="3515222" cy="4767675"/>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dice roll – applying the associative property</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10 dice with the following numbers rolled:&#10;8, 13, 12, 1, 17, 3, 7, 9, 5, 5">
            <a:extLst>
              <a:ext uri="{FF2B5EF4-FFF2-40B4-BE49-F238E27FC236}">
                <a16:creationId xmlns:a16="http://schemas.microsoft.com/office/drawing/2014/main" id="{79C76C42-78B3-59BE-E7D0-967A12F8630D}"/>
              </a:ext>
            </a:extLst>
          </p:cNvPr>
          <p:cNvPicPr>
            <a:picLocks noChangeAspect="1"/>
          </p:cNvPicPr>
          <p:nvPr/>
        </p:nvPicPr>
        <p:blipFill>
          <a:blip r:embed="rId4"/>
          <a:stretch>
            <a:fillRect/>
          </a:stretch>
        </p:blipFill>
        <p:spPr>
          <a:xfrm>
            <a:off x="3715916" y="1097258"/>
            <a:ext cx="4601142" cy="5486400"/>
          </a:xfrm>
          <a:prstGeom prst="rect">
            <a:avLst/>
          </a:prstGeom>
          <a:ln>
            <a:noFill/>
          </a:ln>
          <a:effectLst>
            <a:outerShdw blurRad="292100" dist="139700" dir="2700000" algn="tl" rotWithShape="0">
              <a:srgbClr val="333333">
                <a:alpha val="65000"/>
              </a:srgbClr>
            </a:outerShdw>
          </a:effectLst>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39682-B13B-E2E6-A499-AE7CFEE8DF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AD856DE-9E15-F340-6484-81955C31DCF4}"/>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66E99097-B223-76CB-98A1-2D5773AF8E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C96A552F-AC6B-6B29-144E-B61A631E97CE}"/>
              </a:ext>
            </a:extLst>
          </p:cNvPr>
          <p:cNvSpPr>
            <a:spLocks noGrp="1"/>
          </p:cNvSpPr>
          <p:nvPr>
            <p:ph type="body" sz="quarter" idx="28"/>
          </p:nvPr>
        </p:nvSpPr>
        <p:spPr>
          <a:xfrm>
            <a:off x="600963" y="1426089"/>
            <a:ext cx="11243037" cy="754243"/>
          </a:xfrm>
        </p:spPr>
        <p:txBody>
          <a:bodyPr/>
          <a:lstStyle/>
          <a:p>
            <a:r>
              <a:rPr lang="en-US" sz="3600"/>
              <a:t>The number sentence </a:t>
            </a:r>
            <a:r>
              <a:rPr lang="en-US" sz="3600" b="1"/>
              <a:t>3 × 5 = </a:t>
            </a:r>
            <a:r>
              <a:rPr lang="en-US" sz="3600"/>
              <a:t>can be used to solve: </a:t>
            </a:r>
          </a:p>
        </p:txBody>
      </p:sp>
      <p:sp>
        <p:nvSpPr>
          <p:cNvPr id="9" name="B">
            <a:extLst>
              <a:ext uri="{FF2B5EF4-FFF2-40B4-BE49-F238E27FC236}">
                <a16:creationId xmlns:a16="http://schemas.microsoft.com/office/drawing/2014/main" id="{8B0BBB3C-FC71-5899-8378-058EBBB23E5C}"/>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617CAF57-D7E5-901C-098A-364EC0461F45}"/>
              </a:ext>
            </a:extLst>
          </p:cNvPr>
          <p:cNvSpPr>
            <a:spLocks noGrp="1"/>
          </p:cNvSpPr>
          <p:nvPr>
            <p:ph type="body" sz="quarter" idx="31"/>
          </p:nvPr>
        </p:nvSpPr>
        <p:spPr>
          <a:xfrm>
            <a:off x="1345520" y="2877704"/>
            <a:ext cx="10175920" cy="641396"/>
          </a:xfrm>
        </p:spPr>
        <p:txBody>
          <a:bodyPr anchor="ctr"/>
          <a:lstStyle/>
          <a:p>
            <a:r>
              <a:rPr lang="en-AU" sz="3600"/>
              <a:t>Michelle baked </a:t>
            </a:r>
            <a:r>
              <a:rPr lang="en-AU" sz="3600" b="1"/>
              <a:t>3 cakes </a:t>
            </a:r>
            <a:r>
              <a:rPr lang="en-AU" sz="3600"/>
              <a:t>for each of her </a:t>
            </a:r>
            <a:r>
              <a:rPr lang="en-AU" sz="3600" b="1"/>
              <a:t>5 friends</a:t>
            </a:r>
            <a:r>
              <a:rPr lang="en-AU" sz="3600"/>
              <a:t>.</a:t>
            </a:r>
            <a:endParaRPr lang="en-US" sz="3600"/>
          </a:p>
        </p:txBody>
      </p:sp>
      <p:sp>
        <p:nvSpPr>
          <p:cNvPr id="10" name="B">
            <a:extLst>
              <a:ext uri="{FF2B5EF4-FFF2-40B4-BE49-F238E27FC236}">
                <a16:creationId xmlns:a16="http://schemas.microsoft.com/office/drawing/2014/main" id="{1BD38033-43C3-A0A1-88CB-3ABF45A80763}"/>
              </a:ext>
            </a:extLst>
          </p:cNvPr>
          <p:cNvSpPr txBox="1"/>
          <p:nvPr/>
        </p:nvSpPr>
        <p:spPr>
          <a:xfrm>
            <a:off x="670559" y="372594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70250DA3-3DC6-9EA8-7604-90B40861762F}"/>
              </a:ext>
            </a:extLst>
          </p:cNvPr>
          <p:cNvSpPr>
            <a:spLocks noGrp="1"/>
          </p:cNvSpPr>
          <p:nvPr>
            <p:ph type="body" sz="quarter" idx="30"/>
          </p:nvPr>
        </p:nvSpPr>
        <p:spPr>
          <a:xfrm>
            <a:off x="1345520" y="3725617"/>
            <a:ext cx="10175920" cy="641396"/>
          </a:xfrm>
        </p:spPr>
        <p:txBody>
          <a:bodyPr anchor="ctr"/>
          <a:lstStyle/>
          <a:p>
            <a:r>
              <a:rPr lang="en-AU" sz="3600"/>
              <a:t>Michelle baked </a:t>
            </a:r>
            <a:r>
              <a:rPr lang="en-AU" sz="3600" b="1"/>
              <a:t>3 cakes </a:t>
            </a:r>
            <a:r>
              <a:rPr lang="en-AU" sz="3600"/>
              <a:t>and</a:t>
            </a:r>
            <a:r>
              <a:rPr lang="en-AU" sz="3600" b="1"/>
              <a:t> 5 cookies</a:t>
            </a:r>
            <a:r>
              <a:rPr lang="en-AU" sz="3600"/>
              <a:t>.</a:t>
            </a:r>
            <a:endParaRPr lang="en-US" sz="3600"/>
          </a:p>
        </p:txBody>
      </p:sp>
      <p:sp>
        <p:nvSpPr>
          <p:cNvPr id="12" name="C">
            <a:extLst>
              <a:ext uri="{FF2B5EF4-FFF2-40B4-BE49-F238E27FC236}">
                <a16:creationId xmlns:a16="http://schemas.microsoft.com/office/drawing/2014/main" id="{8CBBF2BA-64EE-4290-7852-A8F6CCA03E54}"/>
              </a:ext>
            </a:extLst>
          </p:cNvPr>
          <p:cNvSpPr txBox="1"/>
          <p:nvPr/>
        </p:nvSpPr>
        <p:spPr>
          <a:xfrm>
            <a:off x="670558" y="4622814"/>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6A85EAC1-9E3A-72A5-46CB-2C4D277F778E}"/>
              </a:ext>
            </a:extLst>
          </p:cNvPr>
          <p:cNvSpPr>
            <a:spLocks noGrp="1"/>
          </p:cNvSpPr>
          <p:nvPr>
            <p:ph type="body" sz="quarter" idx="29"/>
          </p:nvPr>
        </p:nvSpPr>
        <p:spPr>
          <a:xfrm>
            <a:off x="1345520" y="4575670"/>
            <a:ext cx="10175920" cy="641396"/>
          </a:xfrm>
        </p:spPr>
        <p:txBody>
          <a:bodyPr anchor="ctr"/>
          <a:lstStyle/>
          <a:p>
            <a:r>
              <a:rPr lang="en-AU" sz="3600"/>
              <a:t>Michelle baked </a:t>
            </a:r>
            <a:r>
              <a:rPr lang="en-AU" sz="3600" b="1"/>
              <a:t>5 cakes </a:t>
            </a:r>
            <a:r>
              <a:rPr lang="en-AU" sz="3600"/>
              <a:t>and</a:t>
            </a:r>
            <a:r>
              <a:rPr lang="en-AU" sz="3600" b="1"/>
              <a:t> </a:t>
            </a:r>
            <a:r>
              <a:rPr lang="en-AU" sz="3600"/>
              <a:t>ate </a:t>
            </a:r>
            <a:r>
              <a:rPr lang="en-AU" sz="3600" b="1"/>
              <a:t>3</a:t>
            </a:r>
            <a:r>
              <a:rPr lang="en-AU" sz="3600"/>
              <a:t>.</a:t>
            </a:r>
            <a:endParaRPr lang="en-US" sz="3600"/>
          </a:p>
        </p:txBody>
      </p:sp>
      <p:sp>
        <p:nvSpPr>
          <p:cNvPr id="11" name="D">
            <a:extLst>
              <a:ext uri="{FF2B5EF4-FFF2-40B4-BE49-F238E27FC236}">
                <a16:creationId xmlns:a16="http://schemas.microsoft.com/office/drawing/2014/main" id="{388F2FE9-EF5E-B818-71B7-04503183ED79}"/>
              </a:ext>
            </a:extLst>
          </p:cNvPr>
          <p:cNvSpPr txBox="1"/>
          <p:nvPr/>
        </p:nvSpPr>
        <p:spPr>
          <a:xfrm>
            <a:off x="670557" y="5519687"/>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ECE21105-74CC-BDAC-6C3E-529F6564C0C4}"/>
              </a:ext>
            </a:extLst>
          </p:cNvPr>
          <p:cNvSpPr>
            <a:spLocks noGrp="1"/>
          </p:cNvSpPr>
          <p:nvPr>
            <p:ph type="body" sz="quarter" idx="27"/>
          </p:nvPr>
        </p:nvSpPr>
        <p:spPr>
          <a:xfrm>
            <a:off x="1345520" y="5519687"/>
            <a:ext cx="10175920" cy="547432"/>
          </a:xfrm>
        </p:spPr>
        <p:txBody>
          <a:bodyPr anchor="ctr"/>
          <a:lstStyle/>
          <a:p>
            <a:r>
              <a:rPr lang="en-AU" sz="3600"/>
              <a:t>Michelle baked </a:t>
            </a:r>
            <a:r>
              <a:rPr lang="en-AU" sz="3600" b="1"/>
              <a:t>5 cakes </a:t>
            </a:r>
            <a:r>
              <a:rPr lang="en-AU" sz="3600"/>
              <a:t>and cut </a:t>
            </a:r>
            <a:r>
              <a:rPr lang="en-AU" sz="3600" b="1"/>
              <a:t>each </a:t>
            </a:r>
            <a:r>
              <a:rPr lang="en-AU" sz="3600"/>
              <a:t>into</a:t>
            </a:r>
            <a:r>
              <a:rPr lang="en-AU" sz="3600" b="1"/>
              <a:t> thirds</a:t>
            </a:r>
            <a:r>
              <a:rPr lang="en-AU" sz="3600"/>
              <a:t>.</a:t>
            </a:r>
            <a:endParaRPr lang="en-US" sz="3600"/>
          </a:p>
        </p:txBody>
      </p:sp>
      <p:sp>
        <p:nvSpPr>
          <p:cNvPr id="2" name="Slide Number Placeholder 1">
            <a:extLst>
              <a:ext uri="{FF2B5EF4-FFF2-40B4-BE49-F238E27FC236}">
                <a16:creationId xmlns:a16="http://schemas.microsoft.com/office/drawing/2014/main" id="{8DFF93A7-A994-839D-06D7-96E09B120AB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spTree>
    <p:extLst>
      <p:ext uri="{BB962C8B-B14F-4D97-AF65-F5344CB8AC3E}">
        <p14:creationId xmlns:p14="http://schemas.microsoft.com/office/powerpoint/2010/main" val="17231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10" name="TextBox 9">
            <a:extLst>
              <a:ext uri="{FF2B5EF4-FFF2-40B4-BE49-F238E27FC236}">
                <a16:creationId xmlns:a16="http://schemas.microsoft.com/office/drawing/2014/main" id="{9F1E7796-BEE1-FFD4-1636-D17DEC53ACCC}"/>
              </a:ext>
            </a:extLst>
          </p:cNvPr>
          <p:cNvSpPr txBox="1"/>
          <p:nvPr/>
        </p:nvSpPr>
        <p:spPr>
          <a:xfrm>
            <a:off x="401378" y="926042"/>
            <a:ext cx="11408524" cy="14627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a:t>Choose an </a:t>
            </a:r>
            <a:r>
              <a:rPr lang="en-AU" sz="3600" b="1"/>
              <a:t>efficient strategy </a:t>
            </a:r>
            <a:r>
              <a:rPr lang="en-AU" sz="3600"/>
              <a:t>to find the </a:t>
            </a:r>
            <a:r>
              <a:rPr lang="en-AU" sz="3600" b="1"/>
              <a:t>difference</a:t>
            </a:r>
            <a:r>
              <a:rPr lang="en-AU" sz="3600"/>
              <a:t> between the teams’</a:t>
            </a:r>
            <a:r>
              <a:rPr lang="en-AU" sz="3600" b="1"/>
              <a:t> scores</a:t>
            </a:r>
            <a:r>
              <a:rPr lang="en-AU" sz="3600"/>
              <a:t>.</a:t>
            </a:r>
          </a:p>
        </p:txBody>
      </p:sp>
      <p:pic>
        <p:nvPicPr>
          <p:cNvPr id="8" name="Picture 7" descr="Scoreboard:&#10;Home team 97 points&#10;Guest team 49 points">
            <a:extLst>
              <a:ext uri="{FF2B5EF4-FFF2-40B4-BE49-F238E27FC236}">
                <a16:creationId xmlns:a16="http://schemas.microsoft.com/office/drawing/2014/main" id="{F6FCDA98-0F2D-0B34-B1F8-D4FC662AB02F}"/>
              </a:ext>
            </a:extLst>
          </p:cNvPr>
          <p:cNvPicPr>
            <a:picLocks noChangeAspect="1"/>
          </p:cNvPicPr>
          <p:nvPr/>
        </p:nvPicPr>
        <p:blipFill>
          <a:blip r:embed="rId4"/>
          <a:srcRect l="6842" t="10197" r="6265" b="8374"/>
          <a:stretch>
            <a:fillRect/>
          </a:stretch>
        </p:blipFill>
        <p:spPr>
          <a:xfrm>
            <a:off x="3528006" y="2696896"/>
            <a:ext cx="5135987" cy="2926081"/>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5E8D1C1C-358F-164E-A6D7-ED4C81697A19}"/>
              </a:ext>
            </a:extLst>
          </p:cNvPr>
          <p:cNvSpPr txBox="1"/>
          <p:nvPr/>
        </p:nvSpPr>
        <p:spPr>
          <a:xfrm>
            <a:off x="265304" y="5622977"/>
            <a:ext cx="11680672" cy="146272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b="1"/>
              <a:t>Communicate</a:t>
            </a:r>
            <a:r>
              <a:rPr lang="en-AU" sz="3600"/>
              <a:t> your </a:t>
            </a:r>
            <a:r>
              <a:rPr lang="en-AU" sz="3600" b="1"/>
              <a:t>reasoning</a:t>
            </a:r>
            <a:r>
              <a:rPr lang="en-AU" sz="3600"/>
              <a:t> for the choice of strategy.</a:t>
            </a:r>
          </a:p>
        </p:txBody>
      </p:sp>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34</a:t>
            </a:fld>
            <a:endParaRPr lang="en-AU"/>
          </a:p>
        </p:txBody>
      </p:sp>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8">
            <a:extLst>
              <a:ext uri="{FF2B5EF4-FFF2-40B4-BE49-F238E27FC236}">
                <a16:creationId xmlns:a16="http://schemas.microsoft.com/office/drawing/2014/main" id="{F29666BB-7ECB-CEED-F69B-411B827AF5F1}"/>
              </a:ext>
            </a:extLst>
          </p:cNvPr>
          <p:cNvSpPr txBox="1"/>
          <p:nvPr/>
        </p:nvSpPr>
        <p:spPr>
          <a:xfrm>
            <a:off x="2132490" y="1260020"/>
            <a:ext cx="8009738" cy="1998176"/>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t>Order</a:t>
            </a:r>
            <a:r>
              <a:rPr lang="en-AU" sz="4400"/>
              <a:t> the lengths from </a:t>
            </a:r>
            <a:r>
              <a:rPr lang="en-AU" sz="4400" b="1"/>
              <a:t>shortest </a:t>
            </a:r>
            <a:r>
              <a:rPr lang="en-AU" sz="4400"/>
              <a:t> to </a:t>
            </a:r>
            <a:r>
              <a:rPr lang="en-AU" sz="4400" b="1"/>
              <a:t>longest:</a:t>
            </a:r>
          </a:p>
        </p:txBody>
      </p:sp>
      <p:sp>
        <p:nvSpPr>
          <p:cNvPr id="7" name="TextBox 9">
            <a:extLst>
              <a:ext uri="{FF2B5EF4-FFF2-40B4-BE49-F238E27FC236}">
                <a16:creationId xmlns:a16="http://schemas.microsoft.com/office/drawing/2014/main" id="{3A3901B7-3E72-3B65-9EC4-F1CC0BE75D32}"/>
              </a:ext>
            </a:extLst>
          </p:cNvPr>
          <p:cNvSpPr txBox="1"/>
          <p:nvPr/>
        </p:nvSpPr>
        <p:spPr>
          <a:xfrm>
            <a:off x="461704" y="4356315"/>
            <a:ext cx="3341572" cy="927340"/>
          </a:xfrm>
          <a:prstGeom prst="rect">
            <a:avLst/>
          </a:prstGeom>
          <a:noFill/>
          <a:ln w="38100">
            <a:solidFill>
              <a:schemeClr val="accent2"/>
            </a:solidFill>
          </a:ln>
        </p:spPr>
        <p:txBody>
          <a:bodyPr wrap="square" lIns="0" tIns="0" rIns="0" bIns="0" rtlCol="0" anchor="ctr">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t>15 m 5 cm</a:t>
            </a:r>
          </a:p>
        </p:txBody>
      </p:sp>
      <p:sp>
        <p:nvSpPr>
          <p:cNvPr id="8" name="TextBox 10">
            <a:extLst>
              <a:ext uri="{FF2B5EF4-FFF2-40B4-BE49-F238E27FC236}">
                <a16:creationId xmlns:a16="http://schemas.microsoft.com/office/drawing/2014/main" id="{F26D8BD5-3034-CFD2-867B-B33E2F6E6128}"/>
              </a:ext>
            </a:extLst>
          </p:cNvPr>
          <p:cNvSpPr txBox="1"/>
          <p:nvPr/>
        </p:nvSpPr>
        <p:spPr>
          <a:xfrm>
            <a:off x="4425214" y="4356315"/>
            <a:ext cx="3341572" cy="927340"/>
          </a:xfrm>
          <a:prstGeom prst="rect">
            <a:avLst/>
          </a:prstGeom>
          <a:noFill/>
          <a:ln w="38100">
            <a:solidFill>
              <a:schemeClr val="accent2"/>
            </a:solidFill>
          </a:ln>
        </p:spPr>
        <p:txBody>
          <a:bodyPr wrap="square" lIns="0" tIns="0" rIns="0" bIns="0" rtlCol="0" anchor="ctr">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t>1 m 95 cm</a:t>
            </a:r>
          </a:p>
        </p:txBody>
      </p:sp>
      <p:sp>
        <p:nvSpPr>
          <p:cNvPr id="9" name="TextBox 11">
            <a:extLst>
              <a:ext uri="{FF2B5EF4-FFF2-40B4-BE49-F238E27FC236}">
                <a16:creationId xmlns:a16="http://schemas.microsoft.com/office/drawing/2014/main" id="{5BEA5EC3-11E3-1B24-3C6E-0123FFCE571C}"/>
              </a:ext>
            </a:extLst>
          </p:cNvPr>
          <p:cNvSpPr txBox="1"/>
          <p:nvPr/>
        </p:nvSpPr>
        <p:spPr>
          <a:xfrm>
            <a:off x="8388725" y="4356315"/>
            <a:ext cx="3341572" cy="927340"/>
          </a:xfrm>
          <a:prstGeom prst="rect">
            <a:avLst/>
          </a:prstGeom>
          <a:noFill/>
          <a:ln w="38100">
            <a:solidFill>
              <a:schemeClr val="accent2"/>
            </a:solidFill>
          </a:ln>
        </p:spPr>
        <p:txBody>
          <a:bodyPr wrap="square" lIns="0" tIns="0" rIns="0" bIns="0" rtlCol="0" anchor="ctr">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4400" b="1"/>
              <a:t>5 m 51 cm</a:t>
            </a:r>
          </a:p>
        </p:txBody>
      </p:sp>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6105A66-3C38-D759-5465-5DB7F8962CF4}"/>
              </a:ext>
            </a:extLst>
          </p:cNvPr>
          <p:cNvSpPr txBox="1"/>
          <p:nvPr/>
        </p:nvSpPr>
        <p:spPr>
          <a:xfrm>
            <a:off x="2628647" y="1624339"/>
            <a:ext cx="7614688" cy="3609321"/>
          </a:xfrm>
          <a:prstGeom prst="rect">
            <a:avLst/>
          </a:prstGeom>
          <a:noFill/>
        </p:spPr>
        <p:txBody>
          <a:bodyPr wrap="square" lIns="91440" tIns="45720" rIns="91440" bIns="45720" anchor="t">
            <a:spAutoFit/>
          </a:bodyPr>
          <a:lstStyle/>
          <a:p>
            <a:pPr marL="742950" lvl="0" indent="-742950">
              <a:lnSpc>
                <a:spcPct val="200000"/>
              </a:lnSpc>
              <a:buFont typeface="+mj-lt"/>
              <a:buAutoNum type="alphaLcParenR"/>
            </a:pPr>
            <a:r>
              <a:rPr lang="en-AU" sz="4000" dirty="0">
                <a:effectLst/>
                <a:ea typeface="Calibri"/>
                <a:cs typeface="Times New Roman"/>
              </a:rPr>
              <a:t>If </a:t>
            </a:r>
            <a:r>
              <a:rPr lang="en-AU" sz="4000" b="1" dirty="0">
                <a:solidFill>
                  <a:schemeClr val="accent2"/>
                </a:solidFill>
                <a:effectLst/>
                <a:ea typeface="Calibri"/>
                <a:cs typeface="Times New Roman"/>
              </a:rPr>
              <a:t>10</a:t>
            </a:r>
            <a:r>
              <a:rPr lang="en-AU" sz="4000" b="1" dirty="0">
                <a:effectLst/>
                <a:ea typeface="Calibri"/>
                <a:cs typeface="Times New Roman"/>
              </a:rPr>
              <a:t> </a:t>
            </a:r>
            <a:r>
              <a:rPr lang="en-AU" sz="4000" dirty="0">
                <a:effectLst/>
                <a:ea typeface="Calibri"/>
                <a:cs typeface="Times New Roman"/>
              </a:rPr>
              <a:t>× 7 = </a:t>
            </a:r>
            <a:r>
              <a:rPr lang="en-AU" sz="4000" b="1" dirty="0">
                <a:effectLst/>
                <a:ea typeface="Calibri"/>
                <a:cs typeface="Times New Roman"/>
              </a:rPr>
              <a:t>70</a:t>
            </a:r>
            <a:r>
              <a:rPr lang="en-AU" sz="4000" dirty="0">
                <a:effectLst/>
                <a:ea typeface="Calibri"/>
                <a:cs typeface="Times New Roman"/>
              </a:rPr>
              <a:t>, what is </a:t>
            </a:r>
            <a:r>
              <a:rPr lang="en-AU" sz="4000" b="1" dirty="0">
                <a:solidFill>
                  <a:schemeClr val="accent2"/>
                </a:solidFill>
                <a:effectLst/>
                <a:ea typeface="Calibri"/>
                <a:cs typeface="Times New Roman"/>
              </a:rPr>
              <a:t>9</a:t>
            </a:r>
            <a:r>
              <a:rPr lang="en-AU" sz="4000" b="1" dirty="0">
                <a:effectLst/>
                <a:ea typeface="Calibri"/>
                <a:cs typeface="Times New Roman"/>
              </a:rPr>
              <a:t> </a:t>
            </a:r>
            <a:r>
              <a:rPr lang="en-AU" sz="4000" dirty="0">
                <a:effectLst/>
                <a:ea typeface="Calibri"/>
                <a:cs typeface="Times New Roman"/>
              </a:rPr>
              <a:t>× 7?</a:t>
            </a:r>
            <a:endParaRPr lang="en-US" dirty="0">
              <a:ea typeface="Calibri"/>
              <a:cs typeface="Times New Roman"/>
            </a:endParaRPr>
          </a:p>
          <a:p>
            <a:pPr marL="742950" indent="-742950">
              <a:lnSpc>
                <a:spcPct val="200000"/>
              </a:lnSpc>
              <a:buFont typeface="+mj-lt"/>
              <a:buAutoNum type="alphaLcParenR"/>
            </a:pPr>
            <a:r>
              <a:rPr lang="en-AU" sz="4000" dirty="0">
                <a:ea typeface="Calibri"/>
                <a:cs typeface="Times New Roman"/>
              </a:rPr>
              <a:t>If </a:t>
            </a:r>
            <a:r>
              <a:rPr lang="en-AU" sz="4000" b="1" dirty="0">
                <a:solidFill>
                  <a:schemeClr val="accent2"/>
                </a:solidFill>
              </a:rPr>
              <a:t>3</a:t>
            </a:r>
            <a:r>
              <a:rPr lang="en-AU" sz="4000" dirty="0"/>
              <a:t> × 7 = </a:t>
            </a:r>
            <a:r>
              <a:rPr lang="en-AU" sz="4000" b="1" dirty="0"/>
              <a:t>21</a:t>
            </a:r>
            <a:r>
              <a:rPr lang="en-AU" sz="4000" dirty="0">
                <a:ea typeface="Calibri"/>
                <a:cs typeface="Times New Roman"/>
              </a:rPr>
              <a:t>, what is </a:t>
            </a:r>
            <a:r>
              <a:rPr lang="en-AU" sz="4000" b="1" dirty="0">
                <a:solidFill>
                  <a:schemeClr val="accent2"/>
                </a:solidFill>
                <a:ea typeface="Calibri"/>
                <a:cs typeface="Times New Roman"/>
              </a:rPr>
              <a:t>6</a:t>
            </a:r>
            <a:r>
              <a:rPr lang="en-AU" sz="4000" dirty="0">
                <a:ea typeface="Calibri"/>
                <a:cs typeface="Times New Roman"/>
              </a:rPr>
              <a:t> × 7?</a:t>
            </a:r>
          </a:p>
          <a:p>
            <a:pPr marL="742950" indent="-742950">
              <a:lnSpc>
                <a:spcPct val="200000"/>
              </a:lnSpc>
              <a:buFont typeface="+mj-lt"/>
              <a:buAutoNum type="alphaLcParenR"/>
            </a:pPr>
            <a:r>
              <a:rPr lang="en-AU" sz="4000" dirty="0">
                <a:ea typeface="Calibri"/>
                <a:cs typeface="Times New Roman"/>
              </a:rPr>
              <a:t>If </a:t>
            </a:r>
            <a:r>
              <a:rPr lang="en-AU" sz="4000" b="1" dirty="0">
                <a:solidFill>
                  <a:schemeClr val="accent2"/>
                </a:solidFill>
                <a:ea typeface="Calibri"/>
                <a:cs typeface="Times New Roman"/>
              </a:rPr>
              <a:t>4</a:t>
            </a:r>
            <a:r>
              <a:rPr lang="en-AU" sz="4000" dirty="0"/>
              <a:t> × 6 = </a:t>
            </a:r>
            <a:r>
              <a:rPr lang="en-AU" sz="4000" b="1" dirty="0"/>
              <a:t>24</a:t>
            </a:r>
            <a:r>
              <a:rPr lang="en-AU" sz="4000" dirty="0">
                <a:ea typeface="Calibri"/>
                <a:cs typeface="Times New Roman"/>
              </a:rPr>
              <a:t>, what is </a:t>
            </a:r>
            <a:r>
              <a:rPr lang="en-AU" sz="4000" b="1" dirty="0">
                <a:solidFill>
                  <a:schemeClr val="accent2"/>
                </a:solidFill>
                <a:ea typeface="Calibri"/>
                <a:cs typeface="Times New Roman"/>
              </a:rPr>
              <a:t>8</a:t>
            </a:r>
            <a:r>
              <a:rPr lang="en-AU" sz="4000" dirty="0">
                <a:ea typeface="Calibri"/>
                <a:cs typeface="Times New Roman"/>
              </a:rPr>
              <a:t> × 6?</a:t>
            </a:r>
            <a:endParaRPr lang="en-AU" dirty="0">
              <a:cs typeface="Arial" panose="020B0604020202020204"/>
            </a:endParaRPr>
          </a:p>
        </p:txBody>
      </p:sp>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3">
            <a:extLst>
              <a:ext uri="{FF2B5EF4-FFF2-40B4-BE49-F238E27FC236}">
                <a16:creationId xmlns:a16="http://schemas.microsoft.com/office/drawing/2014/main" id="{F6157B29-1212-EE64-A8BA-1B79B6C89AEB}"/>
              </a:ext>
            </a:extLst>
          </p:cNvPr>
          <p:cNvSpPr txBox="1"/>
          <p:nvPr/>
        </p:nvSpPr>
        <p:spPr>
          <a:xfrm>
            <a:off x="1450004" y="946824"/>
            <a:ext cx="9291991" cy="1998176"/>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a:lnSpc>
                <a:spcPct val="150000"/>
              </a:lnSpc>
              <a:spcBef>
                <a:spcPts val="1200"/>
              </a:spcBef>
              <a:spcAft>
                <a:spcPts val="600"/>
              </a:spcAft>
            </a:pPr>
            <a:r>
              <a:rPr lang="en-AU" sz="4400">
                <a:latin typeface="Arial" panose="020B0604020202020204" pitchFamily="34" charset="0"/>
                <a:ea typeface="Calibri" panose="020F0502020204030204" pitchFamily="34" charset="0"/>
                <a:cs typeface="Times New Roman" panose="02020603050405020304" pitchFamily="18" charset="0"/>
              </a:rPr>
              <a:t>List</a:t>
            </a:r>
            <a:r>
              <a:rPr lang="en-AU" sz="4400" b="1">
                <a:latin typeface="Arial" panose="020B0604020202020204" pitchFamily="34" charset="0"/>
                <a:ea typeface="Calibri" panose="020F0502020204030204" pitchFamily="34" charset="0"/>
                <a:cs typeface="Times New Roman" panose="02020603050405020304" pitchFamily="18" charset="0"/>
              </a:rPr>
              <a:t> 3 differences </a:t>
            </a:r>
            <a:r>
              <a:rPr lang="en-AU" sz="4400">
                <a:latin typeface="Arial" panose="020B0604020202020204" pitchFamily="34" charset="0"/>
                <a:ea typeface="Calibri" panose="020F0502020204030204" pitchFamily="34" charset="0"/>
                <a:cs typeface="Times New Roman" panose="02020603050405020304" pitchFamily="18" charset="0"/>
              </a:rPr>
              <a:t>between a </a:t>
            </a:r>
            <a:r>
              <a:rPr lang="en-AU" sz="4400" b="1">
                <a:latin typeface="Arial" panose="020B0604020202020204" pitchFamily="34" charset="0"/>
                <a:ea typeface="Calibri" panose="020F0502020204030204" pitchFamily="34" charset="0"/>
                <a:cs typeface="Times New Roman" panose="02020603050405020304" pitchFamily="18" charset="0"/>
              </a:rPr>
              <a:t>cube</a:t>
            </a:r>
            <a:r>
              <a:rPr lang="en-AU" sz="4400">
                <a:latin typeface="Arial" panose="020B0604020202020204" pitchFamily="34" charset="0"/>
                <a:ea typeface="Calibri" panose="020F0502020204030204" pitchFamily="34" charset="0"/>
                <a:cs typeface="Times New Roman" panose="02020603050405020304" pitchFamily="18" charset="0"/>
              </a:rPr>
              <a:t> and a </a:t>
            </a:r>
            <a:r>
              <a:rPr lang="en-AU" sz="4400" b="1">
                <a:latin typeface="Arial" panose="020B0604020202020204" pitchFamily="34" charset="0"/>
                <a:ea typeface="Calibri" panose="020F0502020204030204" pitchFamily="34" charset="0"/>
                <a:cs typeface="Times New Roman" panose="02020603050405020304" pitchFamily="18" charset="0"/>
              </a:rPr>
              <a:t>square</a:t>
            </a:r>
            <a:r>
              <a:rPr lang="en-AU" sz="4400">
                <a:latin typeface="Arial" panose="020B0604020202020204" pitchFamily="34" charset="0"/>
                <a:ea typeface="Calibri" panose="020F0502020204030204" pitchFamily="34" charset="0"/>
                <a:cs typeface="Times New Roman" panose="02020603050405020304" pitchFamily="18" charset="0"/>
              </a:rPr>
              <a:t> </a:t>
            </a:r>
            <a:r>
              <a:rPr lang="en-AU" sz="4400" b="1">
                <a:latin typeface="Arial" panose="020B0604020202020204" pitchFamily="34" charset="0"/>
                <a:ea typeface="Calibri" panose="020F0502020204030204" pitchFamily="34" charset="0"/>
                <a:cs typeface="Times New Roman" panose="02020603050405020304" pitchFamily="18" charset="0"/>
              </a:rPr>
              <a:t>pyramid</a:t>
            </a:r>
            <a:r>
              <a:rPr lang="en-AU" sz="4400">
                <a:latin typeface="Arial" panose="020B0604020202020204" pitchFamily="34" charset="0"/>
                <a:ea typeface="Calibri" panose="020F0502020204030204" pitchFamily="34" charset="0"/>
                <a:cs typeface="Times New Roman" panose="02020603050405020304" pitchFamily="18" charset="0"/>
              </a:rPr>
              <a:t>.</a:t>
            </a:r>
            <a:endParaRPr lang="en-AU" sz="4400">
              <a:effectLst/>
              <a:latin typeface="Arial" panose="020B0604020202020204" pitchFamily="34" charset="0"/>
              <a:ea typeface="Calibri" panose="020F0502020204030204" pitchFamily="34" charset="0"/>
              <a:cs typeface="Times New Roman" panose="02020603050405020304" pitchFamily="18" charset="0"/>
            </a:endParaRPr>
          </a:p>
        </p:txBody>
      </p:sp>
      <p:pic>
        <p:nvPicPr>
          <p:cNvPr id="8" name="Picture 7" descr="A cube and square pyramid">
            <a:extLst>
              <a:ext uri="{FF2B5EF4-FFF2-40B4-BE49-F238E27FC236}">
                <a16:creationId xmlns:a16="http://schemas.microsoft.com/office/drawing/2014/main" id="{783707E4-7084-203B-D816-DC13612B6CB1}"/>
              </a:ext>
            </a:extLst>
          </p:cNvPr>
          <p:cNvPicPr>
            <a:picLocks noChangeAspect="1"/>
          </p:cNvPicPr>
          <p:nvPr/>
        </p:nvPicPr>
        <p:blipFill>
          <a:blip r:embed="rId4"/>
          <a:stretch>
            <a:fillRect/>
          </a:stretch>
        </p:blipFill>
        <p:spPr>
          <a:xfrm>
            <a:off x="3002437" y="3238501"/>
            <a:ext cx="6680762" cy="3156548"/>
          </a:xfrm>
          <a:prstGeom prst="rect">
            <a:avLst/>
          </a:prstGeom>
          <a:ln>
            <a:noFill/>
          </a:ln>
          <a:effectLst/>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three </a:t>
            </a:r>
            <a:r>
              <a:rPr lang="en-AU" i="1"/>
              <a:t>times as many </a:t>
            </a:r>
            <a:r>
              <a:rPr lang="en-AU"/>
              <a:t>chores</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5" name="TextBox 4">
            <a:extLst>
              <a:ext uri="{FF2B5EF4-FFF2-40B4-BE49-F238E27FC236}">
                <a16:creationId xmlns:a16="http://schemas.microsoft.com/office/drawing/2014/main" id="{9D9DB4FD-6B78-1C83-23B2-AAC9780CBB12}"/>
              </a:ext>
            </a:extLst>
          </p:cNvPr>
          <p:cNvSpPr txBox="1"/>
          <p:nvPr/>
        </p:nvSpPr>
        <p:spPr>
          <a:xfrm>
            <a:off x="621963" y="905601"/>
            <a:ext cx="9722192" cy="5864234"/>
          </a:xfrm>
          <a:prstGeom prst="rect">
            <a:avLst/>
          </a:prstGeom>
          <a:noFill/>
        </p:spPr>
        <p:txBody>
          <a:bodyPr wrap="square">
            <a:spAutoFit/>
          </a:bodyPr>
          <a:lstStyle/>
          <a:p>
            <a:pPr lvl="0">
              <a:lnSpc>
                <a:spcPct val="150000"/>
              </a:lnSpc>
              <a:spcBef>
                <a:spcPts val="1200"/>
              </a:spcBef>
              <a:spcAft>
                <a:spcPts val="600"/>
              </a:spcAft>
            </a:pPr>
            <a:r>
              <a:rPr lang="en-AU" sz="3200">
                <a:effectLst/>
                <a:latin typeface="+mj-lt"/>
                <a:ea typeface="Calibri" panose="020F0502020204030204" pitchFamily="34" charset="0"/>
              </a:rPr>
              <a:t>Sam is saving up to buy a smartphone and plans to earn the money by doing household chores. </a:t>
            </a:r>
          </a:p>
          <a:p>
            <a:pPr marL="457200" lvl="0" indent="-457200">
              <a:lnSpc>
                <a:spcPct val="150000"/>
              </a:lnSpc>
              <a:spcBef>
                <a:spcPts val="1200"/>
              </a:spcBef>
              <a:spcAft>
                <a:spcPts val="600"/>
              </a:spcAft>
              <a:buFont typeface="Arial" panose="020B0604020202020204" pitchFamily="34" charset="0"/>
              <a:buChar char="•"/>
            </a:pPr>
            <a:r>
              <a:rPr lang="en-AU" sz="3200">
                <a:effectLst/>
                <a:latin typeface="+mj-lt"/>
                <a:ea typeface="Calibri" panose="020F0502020204030204" pitchFamily="34" charset="0"/>
              </a:rPr>
              <a:t>On Saturday, he completes </a:t>
            </a:r>
            <a:r>
              <a:rPr lang="en-AU" sz="3200" b="1">
                <a:effectLst/>
                <a:latin typeface="+mj-lt"/>
                <a:ea typeface="Calibri" panose="020F0502020204030204" pitchFamily="34" charset="0"/>
              </a:rPr>
              <a:t>3 chores</a:t>
            </a:r>
            <a:r>
              <a:rPr lang="en-AU" sz="3200">
                <a:effectLst/>
                <a:latin typeface="+mj-lt"/>
                <a:ea typeface="Calibri" panose="020F0502020204030204" pitchFamily="34" charset="0"/>
              </a:rPr>
              <a:t>. </a:t>
            </a:r>
          </a:p>
          <a:p>
            <a:pPr marL="457200" lvl="0" indent="-457200">
              <a:lnSpc>
                <a:spcPct val="150000"/>
              </a:lnSpc>
              <a:spcBef>
                <a:spcPts val="1200"/>
              </a:spcBef>
              <a:spcAft>
                <a:spcPts val="600"/>
              </a:spcAft>
              <a:buFont typeface="Arial" panose="020B0604020202020204" pitchFamily="34" charset="0"/>
              <a:buChar char="•"/>
            </a:pPr>
            <a:r>
              <a:rPr lang="en-AU" sz="3200">
                <a:effectLst/>
                <a:latin typeface="+mj-lt"/>
                <a:ea typeface="Calibri" panose="020F0502020204030204" pitchFamily="34" charset="0"/>
              </a:rPr>
              <a:t>On Sunday, he does </a:t>
            </a:r>
            <a:r>
              <a:rPr lang="en-AU" sz="3200" b="1">
                <a:effectLst/>
                <a:latin typeface="+mj-lt"/>
                <a:ea typeface="Calibri" panose="020F0502020204030204" pitchFamily="34" charset="0"/>
              </a:rPr>
              <a:t>3 times as many chores </a:t>
            </a:r>
            <a:r>
              <a:rPr lang="en-AU" sz="3200">
                <a:effectLst/>
                <a:latin typeface="+mj-lt"/>
                <a:ea typeface="Calibri" panose="020F0502020204030204" pitchFamily="34" charset="0"/>
              </a:rPr>
              <a:t>as he did on Saturday. </a:t>
            </a:r>
          </a:p>
          <a:p>
            <a:pPr lvl="0">
              <a:lnSpc>
                <a:spcPct val="150000"/>
              </a:lnSpc>
              <a:spcBef>
                <a:spcPts val="1200"/>
              </a:spcBef>
              <a:spcAft>
                <a:spcPts val="600"/>
              </a:spcAft>
            </a:pPr>
            <a:r>
              <a:rPr lang="en-AU" sz="3200">
                <a:effectLst/>
                <a:latin typeface="+mj-lt"/>
                <a:ea typeface="Calibri" panose="020F0502020204030204" pitchFamily="34" charset="0"/>
              </a:rPr>
              <a:t>If each chore </a:t>
            </a:r>
            <a:r>
              <a:rPr lang="en-AU" sz="3200" b="1">
                <a:effectLst/>
                <a:latin typeface="+mj-lt"/>
                <a:ea typeface="Calibri" panose="020F0502020204030204" pitchFamily="34" charset="0"/>
              </a:rPr>
              <a:t>pays $5</a:t>
            </a:r>
            <a:r>
              <a:rPr lang="en-AU" sz="3200">
                <a:effectLst/>
                <a:latin typeface="+mj-lt"/>
                <a:ea typeface="Calibri" panose="020F0502020204030204" pitchFamily="34" charset="0"/>
              </a:rPr>
              <a:t>, </a:t>
            </a:r>
            <a:r>
              <a:rPr lang="en-AU" sz="3200" b="1">
                <a:effectLst/>
                <a:latin typeface="+mj-lt"/>
                <a:ea typeface="Calibri" panose="020F0502020204030204" pitchFamily="34" charset="0"/>
              </a:rPr>
              <a:t>how much money </a:t>
            </a:r>
            <a:r>
              <a:rPr lang="en-AU" sz="3200">
                <a:effectLst/>
                <a:latin typeface="+mj-lt"/>
                <a:ea typeface="Calibri" panose="020F0502020204030204" pitchFamily="34" charset="0"/>
              </a:rPr>
              <a:t>does Sam earn in </a:t>
            </a:r>
            <a:r>
              <a:rPr lang="en-AU" sz="3200" b="1">
                <a:effectLst/>
                <a:latin typeface="+mj-lt"/>
                <a:ea typeface="Calibri" panose="020F0502020204030204" pitchFamily="34" charset="0"/>
              </a:rPr>
              <a:t>total</a:t>
            </a:r>
            <a:r>
              <a:rPr lang="en-AU" sz="3200">
                <a:effectLst/>
                <a:latin typeface="+mj-lt"/>
                <a:ea typeface="Calibri" panose="020F0502020204030204" pitchFamily="34" charset="0"/>
              </a:rPr>
              <a:t> for these </a:t>
            </a:r>
            <a:r>
              <a:rPr lang="en-AU" sz="3200" b="1">
                <a:effectLst/>
                <a:latin typeface="+mj-lt"/>
                <a:ea typeface="Calibri" panose="020F0502020204030204" pitchFamily="34" charset="0"/>
              </a:rPr>
              <a:t>2 days</a:t>
            </a:r>
            <a:r>
              <a:rPr lang="en-AU" sz="3200">
                <a:effectLst/>
                <a:latin typeface="+mj-lt"/>
                <a:ea typeface="Calibri" panose="020F0502020204030204" pitchFamily="34" charset="0"/>
              </a:rPr>
              <a:t>?</a:t>
            </a:r>
          </a:p>
        </p:txBody>
      </p:sp>
      <p:sp>
        <p:nvSpPr>
          <p:cNvPr id="3" name="Freeform 9" descr="$5 note.">
            <a:extLst>
              <a:ext uri="{FF2B5EF4-FFF2-40B4-BE49-F238E27FC236}">
                <a16:creationId xmlns:a16="http://schemas.microsoft.com/office/drawing/2014/main" id="{434F1D68-B859-06DD-E59F-E723C321A9B5}"/>
              </a:ext>
            </a:extLst>
          </p:cNvPr>
          <p:cNvSpPr/>
          <p:nvPr/>
        </p:nvSpPr>
        <p:spPr>
          <a:xfrm>
            <a:off x="8091543" y="2522072"/>
            <a:ext cx="1872603" cy="1027777"/>
          </a:xfrm>
          <a:custGeom>
            <a:avLst/>
            <a:gdLst/>
            <a:ahLst/>
            <a:cxnLst/>
            <a:rect l="l" t="t" r="r" b="b"/>
            <a:pathLst>
              <a:path w="3043222" h="1511117">
                <a:moveTo>
                  <a:pt x="0" y="0"/>
                </a:moveTo>
                <a:lnTo>
                  <a:pt x="3043222" y="0"/>
                </a:lnTo>
                <a:lnTo>
                  <a:pt x="3043222" y="1511117"/>
                </a:lnTo>
                <a:lnTo>
                  <a:pt x="0" y="1511117"/>
                </a:lnTo>
                <a:lnTo>
                  <a:pt x="0" y="0"/>
                </a:lnTo>
                <a:close/>
              </a:path>
            </a:pathLst>
          </a:custGeom>
          <a:blipFill>
            <a:blip r:embed="rId4"/>
            <a:stretch>
              <a:fillRect/>
            </a:stretch>
          </a:blipFill>
        </p:spPr>
        <p:txBody>
          <a:bodyPr/>
          <a:lstStyle/>
          <a:p>
            <a:endParaRPr lang="en-AU"/>
          </a:p>
        </p:txBody>
      </p:sp>
      <p:pic>
        <p:nvPicPr>
          <p:cNvPr id="8" name="Picture 7" descr="mobile phone.">
            <a:extLst>
              <a:ext uri="{FF2B5EF4-FFF2-40B4-BE49-F238E27FC236}">
                <a16:creationId xmlns:a16="http://schemas.microsoft.com/office/drawing/2014/main" id="{776E9F24-7E25-29C0-AC89-C362430371CD}"/>
              </a:ext>
            </a:extLst>
          </p:cNvPr>
          <p:cNvPicPr>
            <a:picLocks noChangeAspect="1"/>
          </p:cNvPicPr>
          <p:nvPr/>
        </p:nvPicPr>
        <p:blipFill rotWithShape="1">
          <a:blip r:embed="rId5">
            <a:extLst>
              <a:ext uri="{28A0092B-C50C-407E-A947-70E740481C1C}">
                <a14:useLocalDpi xmlns:a14="http://schemas.microsoft.com/office/drawing/2010/main" val="0"/>
              </a:ext>
            </a:extLst>
          </a:blip>
          <a:srcRect l="22005" t="1828" r="53726" b="35278"/>
          <a:stretch/>
        </p:blipFill>
        <p:spPr>
          <a:xfrm>
            <a:off x="10344155" y="1944506"/>
            <a:ext cx="1925189" cy="2806399"/>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757944" y="1222298"/>
            <a:ext cx="10676111" cy="893226"/>
          </a:xfrm>
        </p:spPr>
        <p:txBody>
          <a:bodyPr/>
          <a:lstStyle/>
          <a:p>
            <a:pPr algn="ctr"/>
            <a:r>
              <a:rPr lang="en-AU" sz="4400"/>
              <a:t>Mia has </a:t>
            </a:r>
            <a:r>
              <a:rPr lang="en-AU" sz="4400" b="1"/>
              <a:t>5 stickers </a:t>
            </a:r>
            <a:r>
              <a:rPr lang="en-AU" sz="4400"/>
              <a:t>and Sam has </a:t>
            </a:r>
            <a:r>
              <a:rPr lang="en-AU" sz="4400" b="1"/>
              <a:t>3 times as many. </a:t>
            </a:r>
            <a:r>
              <a:rPr lang="en-AU" sz="4400"/>
              <a:t>Sam has </a:t>
            </a:r>
            <a:r>
              <a:rPr lang="en-AU" sz="4400" b="1"/>
              <a:t>8 stickers</a:t>
            </a:r>
            <a:r>
              <a:rPr lang="en-AU" sz="4400"/>
              <a:t> because     </a:t>
            </a:r>
            <a:r>
              <a:rPr lang="en-AU" sz="4400" b="1"/>
              <a:t>5 + 3 = 8.</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3833467555"/>
              </p:ext>
            </p:extLst>
          </p:nvPr>
        </p:nvGraphicFramePr>
        <p:xfrm>
          <a:off x="2557461" y="4894022"/>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 Placeholder 5">
            <a:extLst>
              <a:ext uri="{FF2B5EF4-FFF2-40B4-BE49-F238E27FC236}">
                <a16:creationId xmlns:a16="http://schemas.microsoft.com/office/drawing/2014/main" id="{9375EDBD-2669-2CD2-D6F3-6B2DB1C79247}"/>
              </a:ext>
            </a:extLst>
          </p:cNvPr>
          <p:cNvSpPr txBox="1">
            <a:spLocks/>
          </p:cNvSpPr>
          <p:nvPr/>
        </p:nvSpPr>
        <p:spPr>
          <a:xfrm>
            <a:off x="1944570" y="1204664"/>
            <a:ext cx="830286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4400"/>
              <a:t>Record </a:t>
            </a:r>
            <a:r>
              <a:rPr lang="en-AU" sz="4400" b="1"/>
              <a:t>2 different ways </a:t>
            </a:r>
            <a:r>
              <a:rPr lang="en-AU" sz="4400"/>
              <a:t>to make </a:t>
            </a:r>
            <a:r>
              <a:rPr lang="en-AU" sz="4400" b="1"/>
              <a:t>$1.65</a:t>
            </a:r>
            <a:r>
              <a:rPr lang="en-AU" sz="4400"/>
              <a:t> with </a:t>
            </a:r>
            <a:r>
              <a:rPr lang="en-AU" sz="4400" b="1"/>
              <a:t>coins</a:t>
            </a:r>
            <a:r>
              <a:rPr lang="en-AU" sz="4400"/>
              <a:t>.</a:t>
            </a:r>
            <a:endParaRPr lang="en-AU" sz="4400" b="1"/>
          </a:p>
        </p:txBody>
      </p:sp>
      <p:pic>
        <p:nvPicPr>
          <p:cNvPr id="10" name="Picture 9" descr="A price tag displaying $1.65.">
            <a:extLst>
              <a:ext uri="{FF2B5EF4-FFF2-40B4-BE49-F238E27FC236}">
                <a16:creationId xmlns:a16="http://schemas.microsoft.com/office/drawing/2014/main" id="{B79252C9-26F3-EF5E-2FC3-845F7EB9DA07}"/>
              </a:ext>
            </a:extLst>
          </p:cNvPr>
          <p:cNvPicPr>
            <a:picLocks noChangeAspect="1"/>
          </p:cNvPicPr>
          <p:nvPr/>
        </p:nvPicPr>
        <p:blipFill>
          <a:blip r:embed="rId4"/>
          <a:stretch>
            <a:fillRect/>
          </a:stretch>
        </p:blipFill>
        <p:spPr>
          <a:xfrm>
            <a:off x="3690211" y="3709479"/>
            <a:ext cx="5420538" cy="2806521"/>
          </a:xfrm>
          <a:prstGeom prst="rect">
            <a:avLst/>
          </a:prstGeom>
          <a:ln>
            <a:noFill/>
          </a:ln>
          <a:effectLst/>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a:extLst>
              <a:ext uri="{FF2B5EF4-FFF2-40B4-BE49-F238E27FC236}">
                <a16:creationId xmlns:a16="http://schemas.microsoft.com/office/drawing/2014/main" id="{4B3A2BE0-B930-2216-835B-AE9E6856E5F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B1789D57-5A35-F53A-18E8-95671A19E1BE}"/>
              </a:ext>
            </a:extLst>
          </p:cNvPr>
          <p:cNvSpPr txBox="1"/>
          <p:nvPr/>
        </p:nvSpPr>
        <p:spPr>
          <a:xfrm>
            <a:off x="1495855" y="1032519"/>
            <a:ext cx="9231413" cy="840059"/>
          </a:xfrm>
          <a:prstGeom prst="rect">
            <a:avLst/>
          </a:prstGeom>
          <a:noFill/>
        </p:spPr>
        <p:txBody>
          <a:bodyPr wrap="square" lIns="0" tIns="0" rIns="0" bIns="0" rtlCol="0">
            <a:noAutofit/>
          </a:bodyPr>
          <a:lstStyle/>
          <a:p>
            <a:pPr algn="ctr">
              <a:lnSpc>
                <a:spcPct val="150000"/>
              </a:lnSpc>
            </a:pPr>
            <a:r>
              <a:rPr lang="en-AU" sz="4400" b="1"/>
              <a:t>Record</a:t>
            </a:r>
            <a:r>
              <a:rPr lang="en-AU" sz="4400"/>
              <a:t> an </a:t>
            </a:r>
            <a:r>
              <a:rPr lang="en-AU" sz="4400" b="1"/>
              <a:t>appropriate scaled instrument</a:t>
            </a:r>
            <a:r>
              <a:rPr lang="en-AU" sz="4400"/>
              <a:t> to measure:</a:t>
            </a:r>
          </a:p>
          <a:p>
            <a:pPr marL="742950" indent="-742950" algn="l">
              <a:lnSpc>
                <a:spcPct val="150000"/>
              </a:lnSpc>
              <a:buFont typeface="+mj-lt"/>
              <a:buAutoNum type="alphaLcParenR"/>
            </a:pPr>
            <a:r>
              <a:rPr lang="en-AU" sz="4400"/>
              <a:t>the </a:t>
            </a:r>
            <a:r>
              <a:rPr lang="en-AU" sz="4400" b="1"/>
              <a:t>length</a:t>
            </a:r>
            <a:r>
              <a:rPr lang="en-AU" sz="4400"/>
              <a:t> of a </a:t>
            </a:r>
            <a:r>
              <a:rPr lang="en-AU" sz="4400" b="1"/>
              <a:t>highlighter</a:t>
            </a:r>
          </a:p>
          <a:p>
            <a:pPr marL="742950" indent="-742950" algn="l">
              <a:lnSpc>
                <a:spcPct val="150000"/>
              </a:lnSpc>
              <a:buFont typeface="+mj-lt"/>
              <a:buAutoNum type="alphaLcParenR"/>
            </a:pPr>
            <a:r>
              <a:rPr lang="en-AU" sz="4400"/>
              <a:t>the </a:t>
            </a:r>
            <a:r>
              <a:rPr lang="en-AU" sz="4400" b="1"/>
              <a:t>width</a:t>
            </a:r>
            <a:r>
              <a:rPr lang="en-AU" sz="4400"/>
              <a:t> of the </a:t>
            </a:r>
            <a:r>
              <a:rPr lang="en-AU" sz="4400" b="1"/>
              <a:t>whiteboard</a:t>
            </a:r>
          </a:p>
          <a:p>
            <a:pPr marL="742950" indent="-742950" algn="l">
              <a:lnSpc>
                <a:spcPct val="150000"/>
              </a:lnSpc>
              <a:buFont typeface="+mj-lt"/>
              <a:buAutoNum type="alphaLcParenR"/>
            </a:pPr>
            <a:r>
              <a:rPr lang="en-AU" sz="4400"/>
              <a:t>the </a:t>
            </a:r>
            <a:r>
              <a:rPr lang="en-AU" sz="4400" b="1"/>
              <a:t>length</a:t>
            </a:r>
            <a:r>
              <a:rPr lang="en-AU" sz="4400"/>
              <a:t> of a </a:t>
            </a:r>
            <a:r>
              <a:rPr lang="en-AU" sz="4400" b="1"/>
              <a:t>basketball court.</a:t>
            </a:r>
          </a:p>
        </p:txBody>
      </p:sp>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42</a:t>
            </a:fld>
            <a:endParaRPr lang="en-AU"/>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3">
            <a:extLst>
              <a:ext uri="{FF2B5EF4-FFF2-40B4-BE49-F238E27FC236}">
                <a16:creationId xmlns:a16="http://schemas.microsoft.com/office/drawing/2014/main" id="{220CD349-BEF7-BDA6-ABCE-4495E699887A}"/>
              </a:ext>
            </a:extLst>
          </p:cNvPr>
          <p:cNvSpPr txBox="1"/>
          <p:nvPr/>
        </p:nvSpPr>
        <p:spPr>
          <a:xfrm>
            <a:off x="218294" y="964516"/>
            <a:ext cx="12053579" cy="833883"/>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a:lnSpc>
                <a:spcPct val="150000"/>
              </a:lnSpc>
              <a:spcBef>
                <a:spcPts val="1200"/>
              </a:spcBef>
              <a:spcAft>
                <a:spcPts val="600"/>
              </a:spcAft>
            </a:pPr>
            <a:r>
              <a:rPr lang="en-AU" sz="3600">
                <a:latin typeface="Arial" panose="020B0604020202020204" pitchFamily="34" charset="0"/>
                <a:ea typeface="Calibri" panose="020F0502020204030204" pitchFamily="34" charset="0"/>
                <a:cs typeface="Times New Roman" panose="02020603050405020304" pitchFamily="18" charset="0"/>
              </a:rPr>
              <a:t>How can you </a:t>
            </a:r>
            <a:r>
              <a:rPr lang="en-AU" sz="3600" b="1">
                <a:latin typeface="Arial" panose="020B0604020202020204" pitchFamily="34" charset="0"/>
                <a:ea typeface="Calibri" panose="020F0502020204030204" pitchFamily="34" charset="0"/>
                <a:cs typeface="Times New Roman" panose="02020603050405020304" pitchFamily="18" charset="0"/>
              </a:rPr>
              <a:t>split</a:t>
            </a:r>
            <a:r>
              <a:rPr lang="en-AU" sz="3600">
                <a:latin typeface="Arial" panose="020B0604020202020204" pitchFamily="34" charset="0"/>
                <a:ea typeface="Calibri" panose="020F0502020204030204" pitchFamily="34" charset="0"/>
                <a:cs typeface="Times New Roman" panose="02020603050405020304" pitchFamily="18" charset="0"/>
              </a:rPr>
              <a:t> this </a:t>
            </a:r>
            <a:r>
              <a:rPr lang="en-AU" sz="3600" b="1">
                <a:latin typeface="Arial" panose="020B0604020202020204" pitchFamily="34" charset="0"/>
                <a:ea typeface="Calibri" panose="020F0502020204030204" pitchFamily="34" charset="0"/>
                <a:cs typeface="Times New Roman" panose="02020603050405020304" pitchFamily="18" charset="0"/>
              </a:rPr>
              <a:t>array</a:t>
            </a:r>
            <a:r>
              <a:rPr lang="en-AU" sz="3600">
                <a:latin typeface="Arial" panose="020B0604020202020204" pitchFamily="34" charset="0"/>
                <a:ea typeface="Calibri" panose="020F0502020204030204" pitchFamily="34" charset="0"/>
                <a:cs typeface="Times New Roman" panose="02020603050405020304" pitchFamily="18" charset="0"/>
              </a:rPr>
              <a:t> to help you answer </a:t>
            </a:r>
            <a:r>
              <a:rPr lang="en-AU" sz="3600" b="1">
                <a:latin typeface="Arial" panose="020B0604020202020204" pitchFamily="34" charset="0"/>
                <a:ea typeface="Calibri" panose="020F0502020204030204" pitchFamily="34" charset="0"/>
                <a:cs typeface="Times New Roman" panose="02020603050405020304" pitchFamily="18" charset="0"/>
              </a:rPr>
              <a:t>8 × 6</a:t>
            </a:r>
            <a:r>
              <a:rPr lang="en-AU" sz="3600">
                <a:latin typeface="Arial" panose="020B0604020202020204" pitchFamily="34" charset="0"/>
                <a:ea typeface="Calibri" panose="020F0502020204030204" pitchFamily="34" charset="0"/>
                <a:cs typeface="Times New Roman" panose="02020603050405020304" pitchFamily="18" charset="0"/>
              </a:rPr>
              <a:t>?</a:t>
            </a:r>
            <a:endParaRPr lang="en-AU" sz="3600" b="1">
              <a:latin typeface="Arial" panose="020B0604020202020204" pitchFamily="34" charset="0"/>
              <a:ea typeface="Calibri" panose="020F0502020204030204" pitchFamily="34" charset="0"/>
              <a:cs typeface="Times New Roman" panose="02020603050405020304" pitchFamily="18" charset="0"/>
            </a:endParaRPr>
          </a:p>
        </p:txBody>
      </p:sp>
      <p:pic>
        <p:nvPicPr>
          <p:cNvPr id="9" name="Picture 8" descr="An array - 8 rows of 6.">
            <a:extLst>
              <a:ext uri="{FF2B5EF4-FFF2-40B4-BE49-F238E27FC236}">
                <a16:creationId xmlns:a16="http://schemas.microsoft.com/office/drawing/2014/main" id="{6F6AF4BF-5606-08B0-262B-16AC13DDCE3E}"/>
              </a:ext>
            </a:extLst>
          </p:cNvPr>
          <p:cNvPicPr>
            <a:picLocks noChangeAspect="1"/>
          </p:cNvPicPr>
          <p:nvPr/>
        </p:nvPicPr>
        <p:blipFill>
          <a:blip r:embed="rId4"/>
          <a:stretch>
            <a:fillRect/>
          </a:stretch>
        </p:blipFill>
        <p:spPr>
          <a:xfrm>
            <a:off x="4964267" y="2032264"/>
            <a:ext cx="2561629" cy="3590938"/>
          </a:xfrm>
          <a:prstGeom prst="rect">
            <a:avLst/>
          </a:prstGeom>
          <a:ln>
            <a:noFill/>
          </a:ln>
          <a:effectLst>
            <a:outerShdw blurRad="292100" dist="139700" dir="2700000" algn="tl" rotWithShape="0">
              <a:srgbClr val="333333">
                <a:alpha val="65000"/>
              </a:srgbClr>
            </a:outerShdw>
          </a:effectLst>
        </p:spPr>
      </p:pic>
      <p:sp>
        <p:nvSpPr>
          <p:cNvPr id="7" name="TextBox 7">
            <a:extLst>
              <a:ext uri="{FF2B5EF4-FFF2-40B4-BE49-F238E27FC236}">
                <a16:creationId xmlns:a16="http://schemas.microsoft.com/office/drawing/2014/main" id="{F1A82613-5194-BD53-EC8C-E29BA799E735}"/>
              </a:ext>
            </a:extLst>
          </p:cNvPr>
          <p:cNvSpPr txBox="1"/>
          <p:nvPr/>
        </p:nvSpPr>
        <p:spPr>
          <a:xfrm>
            <a:off x="443149" y="5689253"/>
            <a:ext cx="11603863" cy="820674"/>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lvl="0" algn="ctr">
              <a:lnSpc>
                <a:spcPct val="150000"/>
              </a:lnSpc>
              <a:spcBef>
                <a:spcPts val="1200"/>
              </a:spcBef>
              <a:spcAft>
                <a:spcPts val="600"/>
              </a:spcAft>
            </a:pPr>
            <a:r>
              <a:rPr lang="en-AU" sz="3600" b="1">
                <a:effectLst/>
                <a:latin typeface="Arial" panose="020B0604020202020204" pitchFamily="34" charset="0"/>
                <a:ea typeface="Calibri" panose="020F0502020204030204" pitchFamily="34" charset="0"/>
                <a:cs typeface="Times New Roman" panose="02020603050405020304" pitchFamily="18" charset="0"/>
              </a:rPr>
              <a:t>Rec</a:t>
            </a:r>
            <a:r>
              <a:rPr lang="en-AU" sz="3600" b="1">
                <a:latin typeface="Arial" panose="020B0604020202020204" pitchFamily="34" charset="0"/>
                <a:ea typeface="Calibri" panose="020F0502020204030204" pitchFamily="34" charset="0"/>
                <a:cs typeface="Times New Roman" panose="02020603050405020304" pitchFamily="18" charset="0"/>
              </a:rPr>
              <a:t>ord</a:t>
            </a:r>
            <a:r>
              <a:rPr lang="en-AU" sz="3600">
                <a:latin typeface="Arial" panose="020B0604020202020204" pitchFamily="34" charset="0"/>
                <a:ea typeface="Calibri" panose="020F0502020204030204" pitchFamily="34" charset="0"/>
                <a:cs typeface="Times New Roman" panose="02020603050405020304" pitchFamily="18" charset="0"/>
              </a:rPr>
              <a:t> the </a:t>
            </a:r>
            <a:r>
              <a:rPr lang="en-AU" sz="3600" b="1">
                <a:latin typeface="Arial" panose="020B0604020202020204" pitchFamily="34" charset="0"/>
                <a:ea typeface="Calibri" panose="020F0502020204030204" pitchFamily="34" charset="0"/>
                <a:cs typeface="Times New Roman" panose="02020603050405020304" pitchFamily="18" charset="0"/>
              </a:rPr>
              <a:t>number sentence </a:t>
            </a:r>
            <a:r>
              <a:rPr lang="en-AU" sz="3600">
                <a:latin typeface="Arial" panose="020B0604020202020204" pitchFamily="34" charset="0"/>
                <a:ea typeface="Calibri" panose="020F0502020204030204" pitchFamily="34" charset="0"/>
                <a:cs typeface="Times New Roman" panose="02020603050405020304" pitchFamily="18" charset="0"/>
              </a:rPr>
              <a:t>to match the </a:t>
            </a:r>
            <a:r>
              <a:rPr lang="en-AU" sz="3600" b="1">
                <a:latin typeface="Arial" panose="020B0604020202020204" pitchFamily="34" charset="0"/>
                <a:ea typeface="Calibri" panose="020F0502020204030204" pitchFamily="34" charset="0"/>
                <a:cs typeface="Times New Roman" panose="02020603050405020304" pitchFamily="18" charset="0"/>
              </a:rPr>
              <a:t>split</a:t>
            </a:r>
            <a:r>
              <a:rPr lang="en-AU" sz="3600">
                <a:latin typeface="Arial" panose="020B0604020202020204" pitchFamily="34" charset="0"/>
                <a:ea typeface="Calibri" panose="020F0502020204030204" pitchFamily="34" charset="0"/>
                <a:cs typeface="Times New Roman" panose="02020603050405020304" pitchFamily="18" charset="0"/>
              </a:rPr>
              <a:t> array.</a:t>
            </a:r>
            <a:endParaRPr lang="en-AU" sz="3600" b="1">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A6A64625-D8DB-189A-9F1B-A20A703E6730}"/>
              </a:ext>
            </a:extLst>
          </p:cNvPr>
          <p:cNvSpPr txBox="1"/>
          <p:nvPr/>
        </p:nvSpPr>
        <p:spPr>
          <a:xfrm>
            <a:off x="745573" y="1577515"/>
            <a:ext cx="10700854" cy="840059"/>
          </a:xfrm>
          <a:prstGeom prst="rect">
            <a:avLst/>
          </a:prstGeom>
          <a:noFill/>
        </p:spPr>
        <p:txBody>
          <a:bodyPr wrap="square" lIns="0" tIns="0" rIns="0" bIns="0" rtlCol="0">
            <a:noAutofit/>
          </a:bodyPr>
          <a:lstStyle/>
          <a:p>
            <a:pPr algn="ctr">
              <a:lnSpc>
                <a:spcPct val="150000"/>
              </a:lnSpc>
            </a:pPr>
            <a:r>
              <a:rPr lang="en-AU" sz="4400"/>
              <a:t>Can </a:t>
            </a:r>
            <a:r>
              <a:rPr lang="en-AU" sz="4400" b="1"/>
              <a:t>2 containers with</a:t>
            </a:r>
            <a:r>
              <a:rPr lang="en-AU" sz="4400"/>
              <a:t> different shapes</a:t>
            </a:r>
            <a:r>
              <a:rPr lang="en-AU" sz="4400" b="1"/>
              <a:t> </a:t>
            </a:r>
            <a:r>
              <a:rPr lang="en-AU" sz="4400"/>
              <a:t>both have a </a:t>
            </a:r>
            <a:r>
              <a:rPr lang="en-AU" sz="4400" b="1"/>
              <a:t>1 litre capacity?</a:t>
            </a:r>
          </a:p>
          <a:p>
            <a:pPr algn="ctr">
              <a:lnSpc>
                <a:spcPct val="150000"/>
              </a:lnSpc>
            </a:pPr>
            <a:endParaRPr lang="en-AU" sz="4400" b="1"/>
          </a:p>
          <a:p>
            <a:pPr algn="ctr">
              <a:lnSpc>
                <a:spcPct val="150000"/>
              </a:lnSpc>
            </a:pPr>
            <a:r>
              <a:rPr lang="en-AU" sz="4400" b="1"/>
              <a:t>Communicate </a:t>
            </a:r>
            <a:r>
              <a:rPr lang="en-AU" sz="4400"/>
              <a:t>your </a:t>
            </a:r>
            <a:r>
              <a:rPr lang="en-AU" sz="4400" b="1"/>
              <a:t>reasoning.</a:t>
            </a:r>
          </a:p>
        </p:txBody>
      </p:sp>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four </a:t>
            </a:r>
            <a:r>
              <a:rPr lang="en-AU" i="1"/>
              <a:t>times as many </a:t>
            </a:r>
            <a:r>
              <a:rPr lang="en-AU"/>
              <a:t>cupcakes</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3" name="TextBox 2">
            <a:extLst>
              <a:ext uri="{FF2B5EF4-FFF2-40B4-BE49-F238E27FC236}">
                <a16:creationId xmlns:a16="http://schemas.microsoft.com/office/drawing/2014/main" id="{3944C0B7-ECB3-0375-DCE3-6F9223F06069}"/>
              </a:ext>
            </a:extLst>
          </p:cNvPr>
          <p:cNvSpPr txBox="1"/>
          <p:nvPr/>
        </p:nvSpPr>
        <p:spPr>
          <a:xfrm>
            <a:off x="446957" y="1236644"/>
            <a:ext cx="9532188" cy="5125570"/>
          </a:xfrm>
          <a:prstGeom prst="rect">
            <a:avLst/>
          </a:prstGeom>
          <a:noFill/>
        </p:spPr>
        <p:txBody>
          <a:bodyPr wrap="square">
            <a:spAutoFit/>
          </a:bodyPr>
          <a:lstStyle/>
          <a:p>
            <a:pPr lvl="0">
              <a:lnSpc>
                <a:spcPct val="150000"/>
              </a:lnSpc>
              <a:spcBef>
                <a:spcPts val="1200"/>
              </a:spcBef>
              <a:spcAft>
                <a:spcPts val="600"/>
              </a:spcAft>
            </a:pPr>
            <a:r>
              <a:rPr lang="en-AU" sz="3200">
                <a:effectLst/>
                <a:latin typeface="+mj-lt"/>
                <a:ea typeface="Calibri" panose="020F0502020204030204" pitchFamily="34" charset="0"/>
              </a:rPr>
              <a:t>A baker sells cupcakes for </a:t>
            </a:r>
            <a:r>
              <a:rPr lang="en-AU" sz="3200" b="1">
                <a:effectLst/>
                <a:latin typeface="+mj-lt"/>
                <a:ea typeface="Calibri" panose="020F0502020204030204" pitchFamily="34" charset="0"/>
              </a:rPr>
              <a:t>$4 each</a:t>
            </a:r>
            <a:r>
              <a:rPr lang="en-AU" sz="3200">
                <a:effectLst/>
                <a:latin typeface="+mj-lt"/>
                <a:ea typeface="Calibri" panose="020F0502020204030204" pitchFamily="34" charset="0"/>
              </a:rPr>
              <a:t>. </a:t>
            </a:r>
          </a:p>
          <a:p>
            <a:pPr marL="457200" lvl="0" indent="-457200">
              <a:lnSpc>
                <a:spcPct val="150000"/>
              </a:lnSpc>
              <a:spcBef>
                <a:spcPts val="1200"/>
              </a:spcBef>
              <a:spcAft>
                <a:spcPts val="600"/>
              </a:spcAft>
              <a:buFont typeface="Arial" panose="020B0604020202020204" pitchFamily="34" charset="0"/>
              <a:buChar char="•"/>
            </a:pPr>
            <a:r>
              <a:rPr lang="en-AU" sz="3200">
                <a:effectLst/>
                <a:latin typeface="+mj-lt"/>
                <a:ea typeface="Calibri" panose="020F0502020204030204" pitchFamily="34" charset="0"/>
              </a:rPr>
              <a:t>In the morning, she sold </a:t>
            </a:r>
            <a:r>
              <a:rPr lang="en-AU" sz="3200" b="1">
                <a:effectLst/>
                <a:latin typeface="+mj-lt"/>
                <a:ea typeface="Calibri" panose="020F0502020204030204" pitchFamily="34" charset="0"/>
              </a:rPr>
              <a:t>6 cupcakes</a:t>
            </a:r>
            <a:r>
              <a:rPr lang="en-AU" sz="3200">
                <a:effectLst/>
                <a:latin typeface="+mj-lt"/>
                <a:ea typeface="Calibri" panose="020F0502020204030204" pitchFamily="34" charset="0"/>
              </a:rPr>
              <a:t>. </a:t>
            </a:r>
          </a:p>
          <a:p>
            <a:pPr marL="457200" lvl="0" indent="-457200">
              <a:lnSpc>
                <a:spcPct val="150000"/>
              </a:lnSpc>
              <a:spcBef>
                <a:spcPts val="1200"/>
              </a:spcBef>
              <a:spcAft>
                <a:spcPts val="600"/>
              </a:spcAft>
              <a:buFont typeface="Arial" panose="020B0604020202020204" pitchFamily="34" charset="0"/>
              <a:buChar char="•"/>
            </a:pPr>
            <a:r>
              <a:rPr lang="en-AU" sz="3200">
                <a:effectLst/>
                <a:latin typeface="+mj-lt"/>
                <a:ea typeface="Calibri" panose="020F0502020204030204" pitchFamily="34" charset="0"/>
              </a:rPr>
              <a:t>In the afternoon, she sold </a:t>
            </a:r>
            <a:r>
              <a:rPr lang="en-AU" sz="3200" b="1">
                <a:effectLst/>
                <a:latin typeface="+mj-lt"/>
                <a:ea typeface="Calibri" panose="020F0502020204030204" pitchFamily="34" charset="0"/>
              </a:rPr>
              <a:t>4 times as many </a:t>
            </a:r>
            <a:r>
              <a:rPr lang="en-AU" sz="3200">
                <a:effectLst/>
                <a:latin typeface="+mj-lt"/>
                <a:ea typeface="Calibri" panose="020F0502020204030204" pitchFamily="34" charset="0"/>
              </a:rPr>
              <a:t>cupcakes as she did in the morning. </a:t>
            </a:r>
          </a:p>
          <a:p>
            <a:pPr lvl="0">
              <a:lnSpc>
                <a:spcPct val="150000"/>
              </a:lnSpc>
              <a:spcBef>
                <a:spcPts val="1200"/>
              </a:spcBef>
              <a:spcAft>
                <a:spcPts val="600"/>
              </a:spcAft>
            </a:pPr>
            <a:r>
              <a:rPr lang="en-AU" sz="3200" b="1">
                <a:effectLst/>
                <a:latin typeface="+mj-lt"/>
                <a:ea typeface="Calibri" panose="020F0502020204030204" pitchFamily="34" charset="0"/>
              </a:rPr>
              <a:t>How much money </a:t>
            </a:r>
            <a:r>
              <a:rPr lang="en-AU" sz="3200">
                <a:effectLst/>
                <a:latin typeface="+mj-lt"/>
                <a:ea typeface="Calibri" panose="020F0502020204030204" pitchFamily="34" charset="0"/>
              </a:rPr>
              <a:t>did the baker make from selling cupcakes that day?</a:t>
            </a:r>
          </a:p>
        </p:txBody>
      </p:sp>
      <p:pic>
        <p:nvPicPr>
          <p:cNvPr id="5" name="Picture 4" descr="3 cupcakes.">
            <a:extLst>
              <a:ext uri="{FF2B5EF4-FFF2-40B4-BE49-F238E27FC236}">
                <a16:creationId xmlns:a16="http://schemas.microsoft.com/office/drawing/2014/main" id="{51B9F7D0-C838-5BE6-4E0B-67B528882646}"/>
              </a:ext>
            </a:extLst>
          </p:cNvPr>
          <p:cNvPicPr>
            <a:picLocks noChangeAspect="1"/>
          </p:cNvPicPr>
          <p:nvPr/>
        </p:nvPicPr>
        <p:blipFill rotWithShape="1">
          <a:blip r:embed="rId4">
            <a:extLst>
              <a:ext uri="{28A0092B-C50C-407E-A947-70E740481C1C}">
                <a14:useLocalDpi xmlns:a14="http://schemas.microsoft.com/office/drawing/2010/main" val="0"/>
              </a:ext>
            </a:extLst>
          </a:blip>
          <a:srcRect t="64906" r="52807"/>
          <a:stretch/>
        </p:blipFill>
        <p:spPr>
          <a:xfrm>
            <a:off x="8459822" y="1562458"/>
            <a:ext cx="3576731" cy="149611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BDB0F-EDB3-D42C-B9F0-90D9CE8D95C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806A67-4A8B-CFA0-2639-260EFA3DE028}"/>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9E6DEC87-1992-0ACF-8BBC-408DC4F8B51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F4BCB582-8EFA-EA48-C6B2-3E84380A7733}"/>
              </a:ext>
            </a:extLst>
          </p:cNvPr>
          <p:cNvSpPr>
            <a:spLocks noGrp="1"/>
          </p:cNvSpPr>
          <p:nvPr>
            <p:ph type="body" sz="quarter" idx="28"/>
          </p:nvPr>
        </p:nvSpPr>
        <p:spPr>
          <a:xfrm>
            <a:off x="360000" y="1075250"/>
            <a:ext cx="11243037" cy="754243"/>
          </a:xfrm>
        </p:spPr>
        <p:txBody>
          <a:bodyPr/>
          <a:lstStyle/>
          <a:p>
            <a:r>
              <a:rPr lang="en-AU" sz="4000"/>
              <a:t>The </a:t>
            </a:r>
            <a:r>
              <a:rPr lang="en-AU" sz="4000" b="1"/>
              <a:t>division sentence </a:t>
            </a:r>
            <a:r>
              <a:rPr lang="en-AU" sz="4000"/>
              <a:t>that demonstrates the </a:t>
            </a:r>
            <a:r>
              <a:rPr lang="en-AU" sz="4000" b="1"/>
              <a:t>inverse relationship </a:t>
            </a:r>
            <a:r>
              <a:rPr lang="en-AU" sz="4000"/>
              <a:t>of </a:t>
            </a:r>
            <a:r>
              <a:rPr lang="en-AU" sz="4000" b="1"/>
              <a:t>7 × 8 = 56 </a:t>
            </a:r>
            <a:r>
              <a:rPr lang="en-AU" sz="4000"/>
              <a:t>is:</a:t>
            </a:r>
            <a:endParaRPr lang="en-US" sz="4000"/>
          </a:p>
        </p:txBody>
      </p:sp>
      <p:sp>
        <p:nvSpPr>
          <p:cNvPr id="9" name="B">
            <a:extLst>
              <a:ext uri="{FF2B5EF4-FFF2-40B4-BE49-F238E27FC236}">
                <a16:creationId xmlns:a16="http://schemas.microsoft.com/office/drawing/2014/main" id="{C9B406B5-1B1B-BC84-2596-01F05852F38E}"/>
              </a:ext>
            </a:extLst>
          </p:cNvPr>
          <p:cNvSpPr txBox="1"/>
          <p:nvPr/>
        </p:nvSpPr>
        <p:spPr>
          <a:xfrm>
            <a:off x="613410" y="310830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31DF2179-CC68-4EE0-97E0-A4308D927550}"/>
              </a:ext>
            </a:extLst>
          </p:cNvPr>
          <p:cNvSpPr>
            <a:spLocks noGrp="1"/>
          </p:cNvSpPr>
          <p:nvPr>
            <p:ph type="body" sz="quarter" idx="31"/>
          </p:nvPr>
        </p:nvSpPr>
        <p:spPr>
          <a:xfrm>
            <a:off x="1288370" y="3108302"/>
            <a:ext cx="10175920" cy="641396"/>
          </a:xfrm>
        </p:spPr>
        <p:txBody>
          <a:bodyPr anchor="ctr"/>
          <a:lstStyle/>
          <a:p>
            <a:r>
              <a:rPr lang="en-US" sz="4000"/>
              <a:t>8 × 7 = 56</a:t>
            </a:r>
          </a:p>
        </p:txBody>
      </p:sp>
      <p:sp>
        <p:nvSpPr>
          <p:cNvPr id="10" name="B">
            <a:extLst>
              <a:ext uri="{FF2B5EF4-FFF2-40B4-BE49-F238E27FC236}">
                <a16:creationId xmlns:a16="http://schemas.microsoft.com/office/drawing/2014/main" id="{E50622FB-E2C3-695B-EB8A-A6DCC20CB21A}"/>
              </a:ext>
            </a:extLst>
          </p:cNvPr>
          <p:cNvSpPr txBox="1"/>
          <p:nvPr/>
        </p:nvSpPr>
        <p:spPr>
          <a:xfrm>
            <a:off x="613409" y="3983145"/>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C73A00ED-7DB5-30D2-B4A9-C92DE2E894C8}"/>
              </a:ext>
            </a:extLst>
          </p:cNvPr>
          <p:cNvSpPr>
            <a:spLocks noGrp="1"/>
          </p:cNvSpPr>
          <p:nvPr>
            <p:ph type="body" sz="quarter" idx="30"/>
          </p:nvPr>
        </p:nvSpPr>
        <p:spPr>
          <a:xfrm>
            <a:off x="1288370" y="3973853"/>
            <a:ext cx="10175920" cy="641396"/>
          </a:xfrm>
        </p:spPr>
        <p:txBody>
          <a:bodyPr anchor="ctr"/>
          <a:lstStyle/>
          <a:p>
            <a:r>
              <a:rPr lang="en-US" sz="4000"/>
              <a:t>56 ÷ 7 = 7</a:t>
            </a:r>
          </a:p>
        </p:txBody>
      </p:sp>
      <p:sp>
        <p:nvSpPr>
          <p:cNvPr id="12" name="C">
            <a:extLst>
              <a:ext uri="{FF2B5EF4-FFF2-40B4-BE49-F238E27FC236}">
                <a16:creationId xmlns:a16="http://schemas.microsoft.com/office/drawing/2014/main" id="{0C258EAC-2959-18FA-F510-CFBA4E15CEE5}"/>
              </a:ext>
            </a:extLst>
          </p:cNvPr>
          <p:cNvSpPr txBox="1"/>
          <p:nvPr/>
        </p:nvSpPr>
        <p:spPr>
          <a:xfrm>
            <a:off x="613408" y="4857988"/>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4F46D482-F339-0F56-69AD-E717BD10B08B}"/>
              </a:ext>
            </a:extLst>
          </p:cNvPr>
          <p:cNvSpPr>
            <a:spLocks noGrp="1"/>
          </p:cNvSpPr>
          <p:nvPr>
            <p:ph type="body" sz="quarter" idx="29"/>
          </p:nvPr>
        </p:nvSpPr>
        <p:spPr>
          <a:xfrm>
            <a:off x="1288370" y="4839404"/>
            <a:ext cx="10175920" cy="641396"/>
          </a:xfrm>
        </p:spPr>
        <p:txBody>
          <a:bodyPr anchor="ctr"/>
          <a:lstStyle/>
          <a:p>
            <a:r>
              <a:rPr lang="en-US" sz="4000"/>
              <a:t>8 ÷ 56 = 7</a:t>
            </a:r>
          </a:p>
        </p:txBody>
      </p:sp>
      <p:sp>
        <p:nvSpPr>
          <p:cNvPr id="11" name="D">
            <a:extLst>
              <a:ext uri="{FF2B5EF4-FFF2-40B4-BE49-F238E27FC236}">
                <a16:creationId xmlns:a16="http://schemas.microsoft.com/office/drawing/2014/main" id="{14776889-F079-73F7-28AB-FA54A997A57B}"/>
              </a:ext>
            </a:extLst>
          </p:cNvPr>
          <p:cNvSpPr txBox="1"/>
          <p:nvPr/>
        </p:nvSpPr>
        <p:spPr>
          <a:xfrm>
            <a:off x="613407" y="5732831"/>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6A6EC998-9E5D-373F-B144-268EE2D0342A}"/>
              </a:ext>
            </a:extLst>
          </p:cNvPr>
          <p:cNvSpPr>
            <a:spLocks noGrp="1"/>
          </p:cNvSpPr>
          <p:nvPr>
            <p:ph type="body" sz="quarter" idx="27"/>
          </p:nvPr>
        </p:nvSpPr>
        <p:spPr>
          <a:xfrm>
            <a:off x="1288370" y="5704955"/>
            <a:ext cx="10175920" cy="641396"/>
          </a:xfrm>
        </p:spPr>
        <p:txBody>
          <a:bodyPr anchor="ctr"/>
          <a:lstStyle/>
          <a:p>
            <a:r>
              <a:rPr lang="en-US" sz="4000"/>
              <a:t>56 ÷ 7 = 8</a:t>
            </a:r>
          </a:p>
        </p:txBody>
      </p:sp>
      <p:sp>
        <p:nvSpPr>
          <p:cNvPr id="2" name="Slide Number Placeholder 1">
            <a:extLst>
              <a:ext uri="{FF2B5EF4-FFF2-40B4-BE49-F238E27FC236}">
                <a16:creationId xmlns:a16="http://schemas.microsoft.com/office/drawing/2014/main" id="{EA003EA6-BD98-8C0D-720D-A89B6A010C6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Tree>
    <p:extLst>
      <p:ext uri="{BB962C8B-B14F-4D97-AF65-F5344CB8AC3E}">
        <p14:creationId xmlns:p14="http://schemas.microsoft.com/office/powerpoint/2010/main" val="2836781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F0560907-3DA4-BB81-61CC-898ABCAA64AF}"/>
              </a:ext>
            </a:extLst>
          </p:cNvPr>
          <p:cNvSpPr txBox="1"/>
          <p:nvPr/>
        </p:nvSpPr>
        <p:spPr>
          <a:xfrm>
            <a:off x="360000" y="1168233"/>
            <a:ext cx="11585976" cy="840059"/>
          </a:xfrm>
          <a:prstGeom prst="rect">
            <a:avLst/>
          </a:prstGeom>
          <a:noFill/>
        </p:spPr>
        <p:txBody>
          <a:bodyPr wrap="square" lIns="0" tIns="0" rIns="0" bIns="0" rtlCol="0">
            <a:noAutofit/>
          </a:bodyPr>
          <a:lstStyle/>
          <a:p>
            <a:pPr algn="l">
              <a:lnSpc>
                <a:spcPct val="150000"/>
              </a:lnSpc>
            </a:pPr>
            <a:r>
              <a:rPr lang="en-AU" sz="4400"/>
              <a:t>a) What is the </a:t>
            </a:r>
            <a:r>
              <a:rPr lang="en-AU" sz="4400" b="1"/>
              <a:t>total cost </a:t>
            </a:r>
            <a:r>
              <a:rPr lang="en-AU" sz="4400"/>
              <a:t>to </a:t>
            </a:r>
            <a:r>
              <a:rPr lang="en-AU" sz="4400" b="1"/>
              <a:t>buy </a:t>
            </a:r>
            <a:r>
              <a:rPr lang="en-AU" sz="4400"/>
              <a:t>these items?</a:t>
            </a:r>
          </a:p>
          <a:p>
            <a:pPr algn="l">
              <a:lnSpc>
                <a:spcPct val="150000"/>
              </a:lnSpc>
            </a:pPr>
            <a:endParaRPr lang="en-AU" sz="4400" b="1"/>
          </a:p>
          <a:p>
            <a:pPr algn="l">
              <a:lnSpc>
                <a:spcPct val="150000"/>
              </a:lnSpc>
            </a:pPr>
            <a:endParaRPr lang="en-AU" sz="4400" b="1"/>
          </a:p>
          <a:p>
            <a:pPr algn="l">
              <a:lnSpc>
                <a:spcPct val="150000"/>
              </a:lnSpc>
            </a:pPr>
            <a:endParaRPr lang="en-AU" sz="4400" b="1"/>
          </a:p>
        </p:txBody>
      </p:sp>
      <p:pic>
        <p:nvPicPr>
          <p:cNvPr id="9" name="Picture 8" descr="A jar of peanut butter $2.50&#10;Yoghurt $3.50&#10;Chocolate 50c">
            <a:extLst>
              <a:ext uri="{FF2B5EF4-FFF2-40B4-BE49-F238E27FC236}">
                <a16:creationId xmlns:a16="http://schemas.microsoft.com/office/drawing/2014/main" id="{F4C53F0E-8D45-D164-8392-242A2AE1391E}"/>
              </a:ext>
            </a:extLst>
          </p:cNvPr>
          <p:cNvPicPr>
            <a:picLocks noChangeAspect="1"/>
          </p:cNvPicPr>
          <p:nvPr/>
        </p:nvPicPr>
        <p:blipFill>
          <a:blip r:embed="rId4"/>
          <a:stretch>
            <a:fillRect/>
          </a:stretch>
        </p:blipFill>
        <p:spPr>
          <a:xfrm>
            <a:off x="1489514" y="2344309"/>
            <a:ext cx="9212971" cy="3069000"/>
          </a:xfrm>
          <a:prstGeom prst="rect">
            <a:avLst/>
          </a:prstGeom>
          <a:ln>
            <a:noFill/>
          </a:ln>
          <a:effectLst>
            <a:outerShdw blurRad="292100" dist="139700" dir="2700000" algn="tl" rotWithShape="0">
              <a:srgbClr val="333333">
                <a:alpha val="65000"/>
              </a:srgbClr>
            </a:outerShdw>
          </a:effectLst>
        </p:spPr>
      </p:pic>
      <p:sp>
        <p:nvSpPr>
          <p:cNvPr id="7" name="TextBox 6">
            <a:extLst>
              <a:ext uri="{FF2B5EF4-FFF2-40B4-BE49-F238E27FC236}">
                <a16:creationId xmlns:a16="http://schemas.microsoft.com/office/drawing/2014/main" id="{95DDE773-C0C0-2537-CCC4-B353CC64222E}"/>
              </a:ext>
            </a:extLst>
          </p:cNvPr>
          <p:cNvSpPr txBox="1"/>
          <p:nvPr/>
        </p:nvSpPr>
        <p:spPr>
          <a:xfrm>
            <a:off x="524504" y="5657941"/>
            <a:ext cx="11667496" cy="840059"/>
          </a:xfrm>
          <a:prstGeom prst="rect">
            <a:avLst/>
          </a:prstGeom>
          <a:noFill/>
        </p:spPr>
        <p:txBody>
          <a:bodyPr wrap="square" lIns="0" tIns="0" rIns="0" bIns="0" rtlCol="0">
            <a:noAutofit/>
          </a:bodyPr>
          <a:lstStyle/>
          <a:p>
            <a:pPr algn="l">
              <a:lnSpc>
                <a:spcPct val="150000"/>
              </a:lnSpc>
            </a:pPr>
            <a:r>
              <a:rPr lang="en-AU" sz="4400"/>
              <a:t>b) What would the </a:t>
            </a:r>
            <a:r>
              <a:rPr lang="en-AU" sz="4400" b="1"/>
              <a:t>change </a:t>
            </a:r>
            <a:r>
              <a:rPr lang="en-AU" sz="4400"/>
              <a:t>from </a:t>
            </a:r>
            <a:r>
              <a:rPr lang="en-AU" sz="4400" b="1"/>
              <a:t>$10 </a:t>
            </a:r>
            <a:r>
              <a:rPr lang="en-AU" sz="4400"/>
              <a:t>be?</a:t>
            </a:r>
          </a:p>
        </p:txBody>
      </p:sp>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8" name="TextBox 7">
            <a:extLst>
              <a:ext uri="{FF2B5EF4-FFF2-40B4-BE49-F238E27FC236}">
                <a16:creationId xmlns:a16="http://schemas.microsoft.com/office/drawing/2014/main" id="{D261BE49-CCA5-80C4-4841-291ECE3ED929}"/>
              </a:ext>
            </a:extLst>
          </p:cNvPr>
          <p:cNvSpPr txBox="1"/>
          <p:nvPr/>
        </p:nvSpPr>
        <p:spPr>
          <a:xfrm>
            <a:off x="545400" y="1019994"/>
            <a:ext cx="11298600" cy="840059"/>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length</a:t>
            </a:r>
            <a:r>
              <a:rPr lang="en-AU" sz="4400"/>
              <a:t> of the caterpillar in </a:t>
            </a:r>
            <a:r>
              <a:rPr lang="en-AU" sz="4400" b="1"/>
              <a:t>millimetres</a:t>
            </a:r>
            <a:r>
              <a:rPr lang="en-AU" sz="4400"/>
              <a:t>.</a:t>
            </a:r>
            <a:endParaRPr lang="en-AU" sz="4400" b="1"/>
          </a:p>
        </p:txBody>
      </p:sp>
      <p:pic>
        <p:nvPicPr>
          <p:cNvPr id="7" name="Picture 6" descr="A caterpillar on a centimetre ruler. The length is halfway between the 4 and 5 on the ruler.">
            <a:extLst>
              <a:ext uri="{FF2B5EF4-FFF2-40B4-BE49-F238E27FC236}">
                <a16:creationId xmlns:a16="http://schemas.microsoft.com/office/drawing/2014/main" id="{071BF775-599F-7D5D-E181-9A9AE2B87177}"/>
              </a:ext>
            </a:extLst>
          </p:cNvPr>
          <p:cNvPicPr>
            <a:picLocks noChangeAspect="1"/>
          </p:cNvPicPr>
          <p:nvPr/>
        </p:nvPicPr>
        <p:blipFill>
          <a:blip r:embed="rId4"/>
          <a:stretch>
            <a:fillRect/>
          </a:stretch>
        </p:blipFill>
        <p:spPr>
          <a:xfrm>
            <a:off x="2083437" y="2957702"/>
            <a:ext cx="8025126" cy="2957811"/>
          </a:xfrm>
          <a:prstGeom prst="rect">
            <a:avLst/>
          </a:prstGeom>
          <a:ln>
            <a:noFill/>
          </a:ln>
          <a:effectLst/>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49</a:t>
            </a:fld>
            <a:endParaRPr lang="en-AU"/>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B41436A4-1A61-50AF-3DF3-02A867090346}"/>
              </a:ext>
            </a:extLst>
          </p:cNvPr>
          <p:cNvSpPr txBox="1"/>
          <p:nvPr/>
        </p:nvSpPr>
        <p:spPr>
          <a:xfrm>
            <a:off x="1887277" y="905601"/>
            <a:ext cx="8714048" cy="4537332"/>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spcBef>
                <a:spcPts val="1200"/>
              </a:spcBef>
              <a:spcAft>
                <a:spcPts val="600"/>
              </a:spcAft>
            </a:pPr>
            <a:r>
              <a:rPr lang="en-AU" sz="4000" b="1">
                <a:latin typeface="Arial" panose="020B0604020202020204" pitchFamily="34" charset="0"/>
                <a:ea typeface="Calibri" panose="020F0502020204030204" pitchFamily="34" charset="0"/>
              </a:rPr>
              <a:t>Record </a:t>
            </a:r>
            <a:r>
              <a:rPr lang="en-AU" sz="4000">
                <a:latin typeface="Arial" panose="020B0604020202020204" pitchFamily="34" charset="0"/>
                <a:ea typeface="Calibri" panose="020F0502020204030204" pitchFamily="34" charset="0"/>
              </a:rPr>
              <a:t>the </a:t>
            </a:r>
            <a:r>
              <a:rPr lang="en-AU" sz="4000" b="1">
                <a:latin typeface="Arial" panose="020B0604020202020204" pitchFamily="34" charset="0"/>
                <a:ea typeface="Calibri" panose="020F0502020204030204" pitchFamily="34" charset="0"/>
              </a:rPr>
              <a:t>missing number </a:t>
            </a:r>
            <a:r>
              <a:rPr lang="en-AU" sz="4000">
                <a:latin typeface="Arial" panose="020B0604020202020204" pitchFamily="34" charset="0"/>
                <a:ea typeface="Calibri" panose="020F0502020204030204" pitchFamily="34" charset="0"/>
              </a:rPr>
              <a:t>to</a:t>
            </a:r>
            <a:r>
              <a:rPr lang="en-AU" sz="4000" b="1">
                <a:latin typeface="Arial" panose="020B0604020202020204" pitchFamily="34" charset="0"/>
                <a:ea typeface="Calibri" panose="020F0502020204030204" pitchFamily="34" charset="0"/>
              </a:rPr>
              <a:t> complete</a:t>
            </a:r>
            <a:r>
              <a:rPr lang="en-AU" sz="4000">
                <a:latin typeface="Arial" panose="020B0604020202020204" pitchFamily="34" charset="0"/>
                <a:ea typeface="Calibri" panose="020F0502020204030204" pitchFamily="34" charset="0"/>
              </a:rPr>
              <a:t> the number sentence:</a:t>
            </a:r>
          </a:p>
          <a:p>
            <a:pPr algn="ctr">
              <a:lnSpc>
                <a:spcPct val="150000"/>
              </a:lnSpc>
              <a:spcBef>
                <a:spcPts val="1200"/>
              </a:spcBef>
              <a:spcAft>
                <a:spcPts val="600"/>
              </a:spcAft>
            </a:pPr>
            <a:r>
              <a:rPr lang="en-AU" sz="5400" b="1">
                <a:solidFill>
                  <a:schemeClr val="accent2"/>
                </a:solidFill>
              </a:rPr>
              <a:t>___ × 8 = 64</a:t>
            </a:r>
          </a:p>
          <a:p>
            <a:pPr algn="ctr">
              <a:lnSpc>
                <a:spcPct val="150000"/>
              </a:lnSpc>
              <a:spcBef>
                <a:spcPts val="1200"/>
              </a:spcBef>
              <a:spcAft>
                <a:spcPts val="600"/>
              </a:spcAft>
            </a:pPr>
            <a:r>
              <a:rPr lang="en-AU" sz="4400" b="1">
                <a:latin typeface="Arial" panose="020B0604020202020204" pitchFamily="34" charset="0"/>
                <a:ea typeface="Calibri" panose="020F0502020204030204" pitchFamily="34" charset="0"/>
              </a:rPr>
              <a:t>Communicate </a:t>
            </a:r>
            <a:r>
              <a:rPr lang="en-AU" sz="4400">
                <a:latin typeface="Arial" panose="020B0604020202020204" pitchFamily="34" charset="0"/>
                <a:ea typeface="Calibri" panose="020F0502020204030204" pitchFamily="34" charset="0"/>
              </a:rPr>
              <a:t>your</a:t>
            </a:r>
            <a:r>
              <a:rPr lang="en-AU" sz="4400" b="1">
                <a:latin typeface="Arial" panose="020B0604020202020204" pitchFamily="34" charset="0"/>
                <a:ea typeface="Calibri" panose="020F0502020204030204" pitchFamily="34" charset="0"/>
              </a:rPr>
              <a:t> strategy.</a:t>
            </a:r>
            <a:endParaRPr lang="en-AU" sz="4400">
              <a:solidFill>
                <a:schemeClr val="accent2"/>
              </a:solidFill>
            </a:endParaRPr>
          </a:p>
        </p:txBody>
      </p:sp>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a:extLst>
              <a:ext uri="{FF2B5EF4-FFF2-40B4-BE49-F238E27FC236}">
                <a16:creationId xmlns:a16="http://schemas.microsoft.com/office/drawing/2014/main" id="{981E4643-C0C9-5325-74DA-A071DDDC65A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C1E62CB9-6EA0-D311-7A68-CDC463425B61}"/>
              </a:ext>
            </a:extLst>
          </p:cNvPr>
          <p:cNvSpPr txBox="1"/>
          <p:nvPr/>
        </p:nvSpPr>
        <p:spPr>
          <a:xfrm>
            <a:off x="1178560" y="1058001"/>
            <a:ext cx="10089515" cy="4756495"/>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nSpc>
                <a:spcPct val="150000"/>
              </a:lnSpc>
              <a:spcBef>
                <a:spcPts val="1200"/>
              </a:spcBef>
              <a:spcAft>
                <a:spcPts val="600"/>
              </a:spcAft>
            </a:pPr>
            <a:r>
              <a:rPr lang="en-AU" sz="4000" b="1">
                <a:latin typeface="Arial" panose="020B0604020202020204" pitchFamily="34" charset="0"/>
                <a:ea typeface="Calibri" panose="020F0502020204030204" pitchFamily="34" charset="0"/>
              </a:rPr>
              <a:t>Match</a:t>
            </a:r>
            <a:r>
              <a:rPr lang="en-AU" sz="4000">
                <a:latin typeface="Arial" panose="020B0604020202020204" pitchFamily="34" charset="0"/>
                <a:ea typeface="Calibri" panose="020F0502020204030204" pitchFamily="34" charset="0"/>
              </a:rPr>
              <a:t> these objects to their capacities:</a:t>
            </a:r>
          </a:p>
          <a:p>
            <a:pPr>
              <a:lnSpc>
                <a:spcPct val="150000"/>
              </a:lnSpc>
              <a:spcBef>
                <a:spcPts val="1200"/>
              </a:spcBef>
              <a:spcAft>
                <a:spcPts val="600"/>
              </a:spcAft>
            </a:pPr>
            <a:endParaRPr lang="en-AU" sz="700">
              <a:latin typeface="Arial" panose="020B0604020202020204" pitchFamily="34" charset="0"/>
              <a:ea typeface="Calibri" panose="020F0502020204030204" pitchFamily="34" charset="0"/>
            </a:endParaRPr>
          </a:p>
          <a:p>
            <a:pPr marL="742950" indent="-742950">
              <a:lnSpc>
                <a:spcPct val="150000"/>
              </a:lnSpc>
              <a:spcBef>
                <a:spcPts val="1200"/>
              </a:spcBef>
              <a:spcAft>
                <a:spcPts val="600"/>
              </a:spcAft>
              <a:buFont typeface="+mj-lt"/>
              <a:buAutoNum type="arabicPeriod"/>
            </a:pPr>
            <a:r>
              <a:rPr lang="en-AU" sz="4000"/>
              <a:t>milk carton</a:t>
            </a:r>
          </a:p>
          <a:p>
            <a:pPr marL="742950" indent="-742950">
              <a:lnSpc>
                <a:spcPct val="150000"/>
              </a:lnSpc>
              <a:spcBef>
                <a:spcPts val="1200"/>
              </a:spcBef>
              <a:spcAft>
                <a:spcPts val="600"/>
              </a:spcAft>
              <a:buFont typeface="+mj-lt"/>
              <a:buAutoNum type="arabicPeriod"/>
            </a:pPr>
            <a:r>
              <a:rPr lang="en-AU" sz="4000"/>
              <a:t>juice box </a:t>
            </a:r>
          </a:p>
          <a:p>
            <a:pPr marL="742950" indent="-742950">
              <a:lnSpc>
                <a:spcPct val="150000"/>
              </a:lnSpc>
              <a:spcBef>
                <a:spcPts val="1200"/>
              </a:spcBef>
              <a:spcAft>
                <a:spcPts val="600"/>
              </a:spcAft>
              <a:buFont typeface="+mj-lt"/>
              <a:buAutoNum type="arabicPeriod"/>
            </a:pPr>
            <a:r>
              <a:rPr lang="en-AU" sz="4000"/>
              <a:t>teaspoon</a:t>
            </a:r>
            <a:endParaRPr lang="en-AU" sz="3600"/>
          </a:p>
        </p:txBody>
      </p:sp>
      <p:sp>
        <p:nvSpPr>
          <p:cNvPr id="7" name="TextBox 6">
            <a:extLst>
              <a:ext uri="{FF2B5EF4-FFF2-40B4-BE49-F238E27FC236}">
                <a16:creationId xmlns:a16="http://schemas.microsoft.com/office/drawing/2014/main" id="{580C16E6-C13F-1A18-59F6-F2CB8DCBAE8E}"/>
              </a:ext>
            </a:extLst>
          </p:cNvPr>
          <p:cNvSpPr txBox="1"/>
          <p:nvPr/>
        </p:nvSpPr>
        <p:spPr>
          <a:xfrm>
            <a:off x="6484718" y="2663281"/>
            <a:ext cx="9278563" cy="3209918"/>
          </a:xfrm>
          <a:prstGeom prst="rect">
            <a:avLst/>
          </a:prstGeom>
          <a:noFill/>
        </p:spPr>
        <p:txBody>
          <a:bodyPr wrap="square">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nSpc>
                <a:spcPct val="150000"/>
              </a:lnSpc>
              <a:spcBef>
                <a:spcPts val="1200"/>
              </a:spcBef>
              <a:spcAft>
                <a:spcPts val="600"/>
              </a:spcAft>
              <a:buFont typeface="+mj-lt"/>
              <a:buAutoNum type="alphaLcParenR"/>
            </a:pPr>
            <a:r>
              <a:rPr lang="en-AU" sz="4000"/>
              <a:t>250 mL</a:t>
            </a:r>
          </a:p>
          <a:p>
            <a:pPr marL="742950" indent="-742950">
              <a:lnSpc>
                <a:spcPct val="150000"/>
              </a:lnSpc>
              <a:spcBef>
                <a:spcPts val="1200"/>
              </a:spcBef>
              <a:spcAft>
                <a:spcPts val="600"/>
              </a:spcAft>
              <a:buFont typeface="+mj-lt"/>
              <a:buAutoNum type="alphaLcParenR"/>
            </a:pPr>
            <a:r>
              <a:rPr lang="en-AU" sz="4000"/>
              <a:t>5 mL</a:t>
            </a:r>
          </a:p>
          <a:p>
            <a:pPr marL="742950" indent="-742950">
              <a:lnSpc>
                <a:spcPct val="150000"/>
              </a:lnSpc>
              <a:spcBef>
                <a:spcPts val="1200"/>
              </a:spcBef>
              <a:spcAft>
                <a:spcPts val="600"/>
              </a:spcAft>
              <a:buFont typeface="+mj-lt"/>
              <a:buAutoNum type="alphaLcParenR"/>
            </a:pPr>
            <a:r>
              <a:rPr lang="en-AU" sz="4000"/>
              <a:t>1 L</a:t>
            </a:r>
            <a:endParaRPr lang="en-AU" sz="3600"/>
          </a:p>
        </p:txBody>
      </p:sp>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inverse relationships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5" name="Picture 4" descr="5 and 6 rolled on a dice.&#10;">
            <a:extLst>
              <a:ext uri="{FF2B5EF4-FFF2-40B4-BE49-F238E27FC236}">
                <a16:creationId xmlns:a16="http://schemas.microsoft.com/office/drawing/2014/main" id="{BDDCF730-7F51-7AC7-FEBA-3790396725B1}"/>
              </a:ext>
            </a:extLst>
          </p:cNvPr>
          <p:cNvPicPr>
            <a:picLocks noChangeAspect="1"/>
          </p:cNvPicPr>
          <p:nvPr/>
        </p:nvPicPr>
        <p:blipFill>
          <a:blip r:embed="rId4"/>
          <a:stretch>
            <a:fillRect/>
          </a:stretch>
        </p:blipFill>
        <p:spPr>
          <a:xfrm>
            <a:off x="542882" y="1282533"/>
            <a:ext cx="2965090" cy="1456984"/>
          </a:xfrm>
          <a:prstGeom prst="rect">
            <a:avLst/>
          </a:prstGeom>
        </p:spPr>
      </p:pic>
      <p:sp>
        <p:nvSpPr>
          <p:cNvPr id="7" name="TextBox 6">
            <a:extLst>
              <a:ext uri="{FF2B5EF4-FFF2-40B4-BE49-F238E27FC236}">
                <a16:creationId xmlns:a16="http://schemas.microsoft.com/office/drawing/2014/main" id="{6010C5CE-C01F-A5E8-B313-BA7FD66B1228}"/>
              </a:ext>
            </a:extLst>
          </p:cNvPr>
          <p:cNvSpPr txBox="1"/>
          <p:nvPr/>
        </p:nvSpPr>
        <p:spPr>
          <a:xfrm>
            <a:off x="4841211" y="1899458"/>
            <a:ext cx="5466917" cy="840059"/>
          </a:xfrm>
          <a:prstGeom prst="rect">
            <a:avLst/>
          </a:prstGeom>
          <a:noFill/>
        </p:spPr>
        <p:txBody>
          <a:bodyPr wrap="square" lIns="0" tIns="0" rIns="0" bIns="0" rtlCol="0">
            <a:noAutofit/>
          </a:bodyPr>
          <a:lstStyle/>
          <a:p>
            <a:pPr algn="l">
              <a:lnSpc>
                <a:spcPct val="150000"/>
              </a:lnSpc>
            </a:pPr>
            <a:r>
              <a:rPr lang="en-AU" sz="6000"/>
              <a:t>5 × 6 = 30</a:t>
            </a:r>
          </a:p>
        </p:txBody>
      </p:sp>
      <p:sp>
        <p:nvSpPr>
          <p:cNvPr id="8" name="TextBox 7">
            <a:extLst>
              <a:ext uri="{FF2B5EF4-FFF2-40B4-BE49-F238E27FC236}">
                <a16:creationId xmlns:a16="http://schemas.microsoft.com/office/drawing/2014/main" id="{5B52CEB8-8E6E-D6F9-0CD4-5C9BC9AFE907}"/>
              </a:ext>
            </a:extLst>
          </p:cNvPr>
          <p:cNvSpPr txBox="1"/>
          <p:nvPr/>
        </p:nvSpPr>
        <p:spPr>
          <a:xfrm>
            <a:off x="4841210" y="3453073"/>
            <a:ext cx="5466917" cy="840059"/>
          </a:xfrm>
          <a:prstGeom prst="rect">
            <a:avLst/>
          </a:prstGeom>
          <a:noFill/>
        </p:spPr>
        <p:txBody>
          <a:bodyPr wrap="square" lIns="0" tIns="0" rIns="0" bIns="0" rtlCol="0">
            <a:noAutofit/>
          </a:bodyPr>
          <a:lstStyle/>
          <a:p>
            <a:pPr algn="l">
              <a:lnSpc>
                <a:spcPct val="150000"/>
              </a:lnSpc>
            </a:pPr>
            <a:r>
              <a:rPr lang="en-AU" sz="6000"/>
              <a:t>30 ÷ 6 = 5</a:t>
            </a:r>
          </a:p>
        </p:txBody>
      </p:sp>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C7D683F9-6194-51C3-10DE-058E032E33CF}"/>
              </a:ext>
            </a:extLst>
          </p:cNvPr>
          <p:cNvSpPr>
            <a:spLocks noGrp="1"/>
          </p:cNvSpPr>
          <p:nvPr>
            <p:ph type="body" sz="quarter" idx="22"/>
          </p:nvPr>
        </p:nvSpPr>
        <p:spPr>
          <a:xfrm>
            <a:off x="474478" y="1184019"/>
            <a:ext cx="11243037" cy="893226"/>
          </a:xfrm>
        </p:spPr>
        <p:txBody>
          <a:bodyPr/>
          <a:lstStyle/>
          <a:p>
            <a:pPr algn="ctr"/>
            <a:r>
              <a:rPr lang="en-AU" sz="4400"/>
              <a:t>The </a:t>
            </a:r>
            <a:r>
              <a:rPr lang="en-AU" sz="4400" b="1"/>
              <a:t>total</a:t>
            </a:r>
            <a:r>
              <a:rPr lang="en-AU" sz="4400"/>
              <a:t> of this partially covered array is </a:t>
            </a:r>
            <a:r>
              <a:rPr lang="en-AU" sz="4400" b="1"/>
              <a:t>24.</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extLst>
              <p:ext uri="{D42A27DB-BD31-4B8C-83A1-F6EECF244321}">
                <p14:modId xmlns:p14="http://schemas.microsoft.com/office/powerpoint/2010/main" val="1602185294"/>
              </p:ext>
            </p:extLst>
          </p:nvPr>
        </p:nvGraphicFramePr>
        <p:xfrm>
          <a:off x="2557459" y="5737430"/>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pic>
        <p:nvPicPr>
          <p:cNvPr id="5" name="Picture 4" descr="A partially covered array with the top row visible (5 counters) and the last column (4 counters).">
            <a:extLst>
              <a:ext uri="{FF2B5EF4-FFF2-40B4-BE49-F238E27FC236}">
                <a16:creationId xmlns:a16="http://schemas.microsoft.com/office/drawing/2014/main" id="{F5C150D8-8E4F-62A4-922E-CC362B79AF93}"/>
              </a:ext>
            </a:extLst>
          </p:cNvPr>
          <p:cNvPicPr>
            <a:picLocks noChangeAspect="1"/>
          </p:cNvPicPr>
          <p:nvPr/>
        </p:nvPicPr>
        <p:blipFill>
          <a:blip r:embed="rId4"/>
          <a:stretch>
            <a:fillRect/>
          </a:stretch>
        </p:blipFill>
        <p:spPr>
          <a:xfrm>
            <a:off x="4057662" y="2416452"/>
            <a:ext cx="3860800" cy="3319145"/>
          </a:xfrm>
          <a:prstGeom prst="rect">
            <a:avLst/>
          </a:prstGeom>
        </p:spPr>
      </p:pic>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ECC5-BF98-C7BE-7E41-9EC6A5FB0BA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99E6B7C-23BA-3332-9FAB-E369A87A7F7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8B5BFD29-F53E-8281-48F8-4030F433376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7" name="TextBox 6">
            <a:extLst>
              <a:ext uri="{FF2B5EF4-FFF2-40B4-BE49-F238E27FC236}">
                <a16:creationId xmlns:a16="http://schemas.microsoft.com/office/drawing/2014/main" id="{A3575A4F-E8E0-85ED-F4C7-9FA7F13281DE}"/>
              </a:ext>
            </a:extLst>
          </p:cNvPr>
          <p:cNvSpPr txBox="1"/>
          <p:nvPr/>
        </p:nvSpPr>
        <p:spPr>
          <a:xfrm>
            <a:off x="533621" y="983597"/>
            <a:ext cx="6283867" cy="840059"/>
          </a:xfrm>
          <a:prstGeom prst="rect">
            <a:avLst/>
          </a:prstGeom>
          <a:noFill/>
        </p:spPr>
        <p:txBody>
          <a:bodyPr wrap="square" lIns="0" tIns="0" rIns="0" bIns="0" rtlCol="0">
            <a:noAutofit/>
          </a:bodyPr>
          <a:lstStyle/>
          <a:p>
            <a:pPr algn="ctr">
              <a:lnSpc>
                <a:spcPct val="150000"/>
              </a:lnSpc>
            </a:pPr>
            <a:r>
              <a:rPr lang="en-AU" sz="4000" b="1"/>
              <a:t>Calculate</a:t>
            </a:r>
            <a:r>
              <a:rPr lang="en-AU" sz="4000"/>
              <a:t> the </a:t>
            </a:r>
            <a:r>
              <a:rPr lang="en-AU" sz="4000" b="1"/>
              <a:t>total cost </a:t>
            </a:r>
            <a:r>
              <a:rPr lang="en-AU" sz="4000"/>
              <a:t>of:</a:t>
            </a:r>
          </a:p>
          <a:p>
            <a:pPr marL="571500" indent="-571500" algn="l">
              <a:lnSpc>
                <a:spcPct val="150000"/>
              </a:lnSpc>
              <a:buFont typeface="Arial" panose="020B0604020202020204" pitchFamily="34" charset="0"/>
              <a:buChar char="•"/>
            </a:pPr>
            <a:r>
              <a:rPr lang="en-AU" sz="4000" b="1"/>
              <a:t>popcorn</a:t>
            </a:r>
          </a:p>
          <a:p>
            <a:pPr marL="571500" indent="-571500" algn="l">
              <a:lnSpc>
                <a:spcPct val="150000"/>
              </a:lnSpc>
              <a:buFont typeface="Arial" panose="020B0604020202020204" pitchFamily="34" charset="0"/>
              <a:buChar char="•"/>
            </a:pPr>
            <a:r>
              <a:rPr lang="en-AU" sz="4000" b="1"/>
              <a:t>egg sandwich</a:t>
            </a:r>
          </a:p>
          <a:p>
            <a:pPr marL="571500" indent="-571500" algn="l">
              <a:lnSpc>
                <a:spcPct val="150000"/>
              </a:lnSpc>
              <a:buFont typeface="Arial" panose="020B0604020202020204" pitchFamily="34" charset="0"/>
              <a:buChar char="•"/>
            </a:pPr>
            <a:r>
              <a:rPr lang="en-AU" sz="4000" b="1"/>
              <a:t>juice tub.</a:t>
            </a:r>
          </a:p>
          <a:p>
            <a:pPr algn="l">
              <a:lnSpc>
                <a:spcPct val="150000"/>
              </a:lnSpc>
            </a:pPr>
            <a:r>
              <a:rPr lang="en-AU" sz="4000"/>
              <a:t>How much </a:t>
            </a:r>
            <a:r>
              <a:rPr lang="en-AU" sz="4000" b="1"/>
              <a:t>change</a:t>
            </a:r>
            <a:r>
              <a:rPr lang="en-AU" sz="4000"/>
              <a:t> would you receive from </a:t>
            </a:r>
            <a:r>
              <a:rPr lang="en-AU" sz="4000" b="1"/>
              <a:t>$5</a:t>
            </a:r>
            <a:r>
              <a:rPr lang="en-AU" sz="4000"/>
              <a:t>?</a:t>
            </a:r>
            <a:endParaRPr lang="en-AU" sz="4400" b="1"/>
          </a:p>
        </p:txBody>
      </p:sp>
      <p:sp>
        <p:nvSpPr>
          <p:cNvPr id="2" name="Slide Number Placeholder 1">
            <a:extLst>
              <a:ext uri="{FF2B5EF4-FFF2-40B4-BE49-F238E27FC236}">
                <a16:creationId xmlns:a16="http://schemas.microsoft.com/office/drawing/2014/main" id="{06BBC04C-36C4-9CED-F7A2-41CE9D21B2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pic>
        <p:nvPicPr>
          <p:cNvPr id="4" name="Picture 3" descr="Canteen menu with snacks, sandwiches and frozen treats. The popcorn costs 45c, Egg sandwich $2.00 and juice tubs $1.50">
            <a:extLst>
              <a:ext uri="{FF2B5EF4-FFF2-40B4-BE49-F238E27FC236}">
                <a16:creationId xmlns:a16="http://schemas.microsoft.com/office/drawing/2014/main" id="{96D61E3B-4E64-8D1D-91B0-DD2E00F17BB0}"/>
              </a:ext>
            </a:extLst>
          </p:cNvPr>
          <p:cNvPicPr>
            <a:picLocks noChangeAspect="1"/>
          </p:cNvPicPr>
          <p:nvPr/>
        </p:nvPicPr>
        <p:blipFill>
          <a:blip r:embed="rId4"/>
          <a:stretch>
            <a:fillRect/>
          </a:stretch>
        </p:blipFill>
        <p:spPr>
          <a:xfrm>
            <a:off x="7000807" y="1819756"/>
            <a:ext cx="4680086" cy="43709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88754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8">
            <a:extLst>
              <a:ext uri="{FF2B5EF4-FFF2-40B4-BE49-F238E27FC236}">
                <a16:creationId xmlns:a16="http://schemas.microsoft.com/office/drawing/2014/main" id="{850A7F35-1775-3A7D-EA33-994083816D0E}"/>
              </a:ext>
            </a:extLst>
          </p:cNvPr>
          <p:cNvSpPr txBox="1"/>
          <p:nvPr/>
        </p:nvSpPr>
        <p:spPr>
          <a:xfrm>
            <a:off x="563355" y="3429000"/>
            <a:ext cx="10163913" cy="840059"/>
          </a:xfrm>
          <a:prstGeom prst="rect">
            <a:avLst/>
          </a:prstGeom>
          <a:noFill/>
        </p:spPr>
        <p:txBody>
          <a:bodyPr wrap="square" lIns="0" tIns="0" rIns="0" bIns="0" rtlCol="0">
            <a:noAutofit/>
          </a:bodyPr>
          <a:lstStyle/>
          <a:p>
            <a:pPr algn="ctr">
              <a:lnSpc>
                <a:spcPct val="150000"/>
              </a:lnSpc>
            </a:pPr>
            <a:r>
              <a:rPr lang="en-AU" sz="4400" b="1"/>
              <a:t>Record</a:t>
            </a:r>
            <a:r>
              <a:rPr lang="en-AU" sz="4400"/>
              <a:t> the </a:t>
            </a:r>
            <a:r>
              <a:rPr lang="en-AU" sz="4400" b="1"/>
              <a:t>length</a:t>
            </a:r>
            <a:r>
              <a:rPr lang="en-AU" sz="4400"/>
              <a:t> of the clay snake in:</a:t>
            </a:r>
          </a:p>
          <a:p>
            <a:pPr marL="742950" indent="-742950" algn="l">
              <a:lnSpc>
                <a:spcPct val="150000"/>
              </a:lnSpc>
              <a:buFont typeface="+mj-lt"/>
              <a:buAutoNum type="alphaLcParenR"/>
            </a:pPr>
            <a:r>
              <a:rPr lang="en-AU" sz="4400" b="1"/>
              <a:t>millimetres</a:t>
            </a:r>
          </a:p>
          <a:p>
            <a:pPr marL="742950" indent="-742950" algn="l">
              <a:lnSpc>
                <a:spcPct val="150000"/>
              </a:lnSpc>
              <a:buFont typeface="+mj-lt"/>
              <a:buAutoNum type="alphaLcParenR"/>
            </a:pPr>
            <a:r>
              <a:rPr lang="en-AU" sz="4400" b="1"/>
              <a:t>centimetres</a:t>
            </a:r>
            <a:r>
              <a:rPr lang="en-AU" sz="4400"/>
              <a:t> and </a:t>
            </a:r>
            <a:r>
              <a:rPr lang="en-AU" sz="4400" b="1"/>
              <a:t>millimetres</a:t>
            </a:r>
            <a:r>
              <a:rPr lang="en-AU" sz="4400"/>
              <a:t>.</a:t>
            </a:r>
            <a:endParaRPr lang="en-AU" sz="4400" b="1"/>
          </a:p>
        </p:txBody>
      </p:sp>
      <p:pic>
        <p:nvPicPr>
          <p:cNvPr id="7" name="Picture 6" descr="A centimetre ruler with a clay snake measuring between the 7 and 8 (3 markings past the 7.)">
            <a:extLst>
              <a:ext uri="{FF2B5EF4-FFF2-40B4-BE49-F238E27FC236}">
                <a16:creationId xmlns:a16="http://schemas.microsoft.com/office/drawing/2014/main" id="{FE7E9087-6036-3B6B-8F46-B6C54C4434FA}"/>
              </a:ext>
            </a:extLst>
          </p:cNvPr>
          <p:cNvPicPr>
            <a:picLocks noChangeAspect="1"/>
          </p:cNvPicPr>
          <p:nvPr/>
        </p:nvPicPr>
        <p:blipFill>
          <a:blip r:embed="rId4"/>
          <a:srcRect b="12359"/>
          <a:stretch>
            <a:fillRect/>
          </a:stretch>
        </p:blipFill>
        <p:spPr>
          <a:xfrm>
            <a:off x="2474977" y="905601"/>
            <a:ext cx="7242045" cy="2336225"/>
          </a:xfrm>
          <a:prstGeom prst="rect">
            <a:avLst/>
          </a:prstGeom>
          <a:ln>
            <a:noFill/>
          </a:ln>
          <a:effectLst/>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56</a:t>
            </a:fld>
            <a:endParaRPr lang="en-AU"/>
          </a:p>
        </p:txBody>
      </p:sp>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5" name="TextBox 4">
            <a:extLst>
              <a:ext uri="{FF2B5EF4-FFF2-40B4-BE49-F238E27FC236}">
                <a16:creationId xmlns:a16="http://schemas.microsoft.com/office/drawing/2014/main" id="{EA27619F-6A10-DD82-D723-F9691089172B}"/>
              </a:ext>
            </a:extLst>
          </p:cNvPr>
          <p:cNvSpPr txBox="1"/>
          <p:nvPr/>
        </p:nvSpPr>
        <p:spPr>
          <a:xfrm>
            <a:off x="666751" y="1184223"/>
            <a:ext cx="10620374" cy="840059"/>
          </a:xfrm>
          <a:prstGeom prst="rect">
            <a:avLst/>
          </a:prstGeom>
          <a:noFill/>
        </p:spPr>
        <p:txBody>
          <a:bodyPr wrap="square" lIns="0" tIns="0" rIns="0" bIns="0" rtlCol="0">
            <a:noAutofit/>
          </a:bodyPr>
          <a:lstStyle/>
          <a:p>
            <a:pPr algn="ctr">
              <a:lnSpc>
                <a:spcPct val="150000"/>
              </a:lnSpc>
              <a:spcAft>
                <a:spcPts val="3000"/>
              </a:spcAft>
            </a:pPr>
            <a:r>
              <a:rPr lang="en-AU" sz="4400" b="1"/>
              <a:t>Record </a:t>
            </a:r>
            <a:r>
              <a:rPr lang="en-AU" sz="4400"/>
              <a:t>the</a:t>
            </a:r>
            <a:r>
              <a:rPr lang="en-AU" sz="4400" b="1"/>
              <a:t> number sentence </a:t>
            </a:r>
            <a:r>
              <a:rPr lang="en-AU" sz="4400"/>
              <a:t>and</a:t>
            </a:r>
            <a:r>
              <a:rPr lang="en-AU" sz="4400" b="1"/>
              <a:t> solve</a:t>
            </a:r>
            <a:r>
              <a:rPr lang="en-AU" sz="4400"/>
              <a:t>:</a:t>
            </a:r>
          </a:p>
          <a:p>
            <a:pPr algn="ctr">
              <a:lnSpc>
                <a:spcPct val="150000"/>
              </a:lnSpc>
            </a:pPr>
            <a:r>
              <a:rPr lang="en-AU" sz="4400"/>
              <a:t>A tree has </a:t>
            </a:r>
            <a:r>
              <a:rPr lang="en-AU" sz="4400" b="1"/>
              <a:t>9 branches.</a:t>
            </a:r>
          </a:p>
          <a:p>
            <a:pPr algn="ctr">
              <a:lnSpc>
                <a:spcPct val="150000"/>
              </a:lnSpc>
            </a:pPr>
            <a:r>
              <a:rPr lang="en-AU" sz="4400"/>
              <a:t>Each branch has </a:t>
            </a:r>
            <a:r>
              <a:rPr lang="en-AU" sz="4400" b="1"/>
              <a:t>6 leaves. </a:t>
            </a:r>
          </a:p>
          <a:p>
            <a:pPr algn="ctr">
              <a:lnSpc>
                <a:spcPct val="150000"/>
              </a:lnSpc>
            </a:pPr>
            <a:r>
              <a:rPr lang="en-AU" sz="4400"/>
              <a:t>How many leaves altogether?</a:t>
            </a:r>
          </a:p>
        </p:txBody>
      </p:sp>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9" name="TextBox 6">
            <a:extLst>
              <a:ext uri="{FF2B5EF4-FFF2-40B4-BE49-F238E27FC236}">
                <a16:creationId xmlns:a16="http://schemas.microsoft.com/office/drawing/2014/main" id="{8F20C517-0282-EC31-265A-57B452DD1357}"/>
              </a:ext>
            </a:extLst>
          </p:cNvPr>
          <p:cNvSpPr txBox="1"/>
          <p:nvPr/>
        </p:nvSpPr>
        <p:spPr>
          <a:xfrm>
            <a:off x="360000" y="1009230"/>
            <a:ext cx="10612262" cy="1076968"/>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lnSpc>
                <a:spcPct val="150000"/>
              </a:lnSpc>
            </a:pPr>
            <a:r>
              <a:rPr lang="en-AU" sz="3600" b="1"/>
              <a:t>Match</a:t>
            </a:r>
            <a:r>
              <a:rPr lang="en-AU" sz="3600"/>
              <a:t> the time to the </a:t>
            </a:r>
            <a:r>
              <a:rPr lang="en-AU" sz="3600" b="1"/>
              <a:t>nearest 5-minute mark</a:t>
            </a:r>
            <a:r>
              <a:rPr lang="en-AU" sz="3600"/>
              <a:t> on an </a:t>
            </a:r>
            <a:r>
              <a:rPr lang="en-AU" sz="3600" err="1"/>
              <a:t>analog</a:t>
            </a:r>
            <a:r>
              <a:rPr lang="en-AU" sz="3600"/>
              <a:t> clock:</a:t>
            </a:r>
          </a:p>
        </p:txBody>
      </p:sp>
      <p:sp>
        <p:nvSpPr>
          <p:cNvPr id="10" name="TextBox 8">
            <a:extLst>
              <a:ext uri="{FF2B5EF4-FFF2-40B4-BE49-F238E27FC236}">
                <a16:creationId xmlns:a16="http://schemas.microsoft.com/office/drawing/2014/main" id="{1D48FB15-FFAB-3B39-70DA-91DF15419233}"/>
              </a:ext>
            </a:extLst>
          </p:cNvPr>
          <p:cNvSpPr txBox="1"/>
          <p:nvPr/>
        </p:nvSpPr>
        <p:spPr>
          <a:xfrm>
            <a:off x="830918" y="2782186"/>
            <a:ext cx="5149703" cy="407581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gn="l">
              <a:lnSpc>
                <a:spcPct val="150000"/>
              </a:lnSpc>
              <a:buFont typeface="+mj-lt"/>
              <a:buAutoNum type="arabicPeriod"/>
            </a:pPr>
            <a:r>
              <a:rPr lang="en-AU" sz="3600"/>
              <a:t> 5:48 is about…</a:t>
            </a:r>
          </a:p>
          <a:p>
            <a:pPr marL="742950" indent="-742950" algn="l">
              <a:lnSpc>
                <a:spcPct val="150000"/>
              </a:lnSpc>
              <a:buFont typeface="+mj-lt"/>
              <a:buAutoNum type="arabicPeriod"/>
            </a:pPr>
            <a:r>
              <a:rPr lang="en-AU" sz="3600"/>
              <a:t> 5:44 is about…</a:t>
            </a:r>
          </a:p>
          <a:p>
            <a:pPr marL="742950" indent="-742950" algn="l">
              <a:lnSpc>
                <a:spcPct val="150000"/>
              </a:lnSpc>
              <a:buFont typeface="+mj-lt"/>
              <a:buAutoNum type="arabicPeriod"/>
            </a:pPr>
            <a:r>
              <a:rPr lang="en-AU" sz="3600"/>
              <a:t> 11:18 is about…</a:t>
            </a:r>
          </a:p>
          <a:p>
            <a:pPr marL="742950" indent="-742950" algn="l">
              <a:lnSpc>
                <a:spcPct val="150000"/>
              </a:lnSpc>
              <a:buFont typeface="+mj-lt"/>
              <a:buAutoNum type="arabicPeriod"/>
            </a:pPr>
            <a:r>
              <a:rPr lang="en-AU" sz="3600"/>
              <a:t> 11:28 is about…</a:t>
            </a:r>
          </a:p>
        </p:txBody>
      </p:sp>
      <p:sp>
        <p:nvSpPr>
          <p:cNvPr id="11" name="TextBox 9">
            <a:extLst>
              <a:ext uri="{FF2B5EF4-FFF2-40B4-BE49-F238E27FC236}">
                <a16:creationId xmlns:a16="http://schemas.microsoft.com/office/drawing/2014/main" id="{AF72AF7E-55E2-B0C0-0CF1-7B66619B7068}"/>
              </a:ext>
            </a:extLst>
          </p:cNvPr>
          <p:cNvSpPr txBox="1"/>
          <p:nvPr/>
        </p:nvSpPr>
        <p:spPr>
          <a:xfrm>
            <a:off x="7042297" y="2782186"/>
            <a:ext cx="5149703" cy="407581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742950" indent="-742950" algn="l">
              <a:lnSpc>
                <a:spcPct val="150000"/>
              </a:lnSpc>
              <a:buFont typeface="+mj-lt"/>
              <a:buAutoNum type="alphaLcParenR"/>
            </a:pPr>
            <a:r>
              <a:rPr lang="en-AU" sz="3600"/>
              <a:t> 20 past 11</a:t>
            </a:r>
          </a:p>
          <a:p>
            <a:pPr marL="742950" indent="-742950" algn="l">
              <a:lnSpc>
                <a:spcPct val="150000"/>
              </a:lnSpc>
              <a:buFont typeface="+mj-lt"/>
              <a:buAutoNum type="alphaLcParenR"/>
            </a:pPr>
            <a:r>
              <a:rPr lang="en-AU" sz="3600"/>
              <a:t> 10 to 6</a:t>
            </a:r>
          </a:p>
          <a:p>
            <a:pPr marL="742950" indent="-742950" algn="l">
              <a:lnSpc>
                <a:spcPct val="150000"/>
              </a:lnSpc>
              <a:buFont typeface="+mj-lt"/>
              <a:buAutoNum type="alphaLcParenR"/>
            </a:pPr>
            <a:r>
              <a:rPr lang="en-AU" sz="3600"/>
              <a:t> half-past 11</a:t>
            </a:r>
          </a:p>
          <a:p>
            <a:pPr marL="742950" indent="-742950" algn="l">
              <a:lnSpc>
                <a:spcPct val="150000"/>
              </a:lnSpc>
              <a:buFont typeface="+mj-lt"/>
              <a:buAutoNum type="alphaLcParenR"/>
            </a:pPr>
            <a:r>
              <a:rPr lang="en-AU" sz="3600"/>
              <a:t> quarter-to 6 </a:t>
            </a:r>
          </a:p>
        </p:txBody>
      </p:sp>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partially covered arrays</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pic>
        <p:nvPicPr>
          <p:cNvPr id="3" name="Picture 2" descr="An array of 4 by 6 red counters. The array is covered with a blue card such that only part of the left column and the top row are visible.">
            <a:extLst>
              <a:ext uri="{FF2B5EF4-FFF2-40B4-BE49-F238E27FC236}">
                <a16:creationId xmlns:a16="http://schemas.microsoft.com/office/drawing/2014/main" id="{C4A17065-FF60-61EF-D119-654CF29057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8211" y="2001384"/>
            <a:ext cx="4669444" cy="3200522"/>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 </a:t>
            </a:r>
            <a:r>
              <a:rPr lang="en-AU">
                <a:solidFill>
                  <a:schemeClr val="accent4"/>
                </a:solidFill>
                <a:latin typeface="+mj-lt"/>
              </a:rPr>
              <a:t>(1)</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13 February 2026) and was not modified.</a:t>
            </a:r>
          </a:p>
          <a:p>
            <a:r>
              <a:rPr lang="en-AU"/>
              <a:t>Australian Broadcasting Corporation (ABC) (2020) </a:t>
            </a:r>
            <a:r>
              <a:rPr lang="en-AU" i="1" u="sng">
                <a:hlinkClick r:id="rId9"/>
              </a:rPr>
              <a:t>Money Maths with the Royal Australian Mint</a:t>
            </a:r>
            <a:r>
              <a:rPr lang="en-AU"/>
              <a:t> ABC website, accessed 13 February 2026.</a:t>
            </a:r>
          </a:p>
          <a:p>
            <a:r>
              <a:rPr lang="en-AU" err="1"/>
              <a:t>Didax</a:t>
            </a:r>
            <a:r>
              <a:rPr lang="en-AU"/>
              <a:t> (n.d.) </a:t>
            </a:r>
            <a:r>
              <a:rPr lang="en-AU" i="1" u="sng">
                <a:hlinkClick r:id="rId10"/>
              </a:rPr>
              <a:t>Math Balance</a:t>
            </a:r>
            <a:r>
              <a:rPr lang="en-AU"/>
              <a:t>, </a:t>
            </a:r>
            <a:r>
              <a:rPr lang="en-AU" err="1"/>
              <a:t>Didax</a:t>
            </a:r>
            <a:r>
              <a:rPr lang="en-AU"/>
              <a:t> website, accessed 13 February 2026.</a:t>
            </a:r>
          </a:p>
          <a:p>
            <a:r>
              <a:rPr lang="en-AU"/>
              <a:t>Rawding M (n.d.) </a:t>
            </a:r>
            <a:r>
              <a:rPr lang="en-AU" i="1" u="sng">
                <a:hlinkClick r:id="rId11"/>
              </a:rPr>
              <a:t>Make it Equal</a:t>
            </a:r>
            <a:r>
              <a:rPr lang="en-AU"/>
              <a:t>, Open Middle website, accessed 13 February 2026.</a:t>
            </a:r>
          </a:p>
          <a:p>
            <a:r>
              <a:rPr lang="en-AU"/>
              <a:t>State of New South Wales (Department of Education) (2023) </a:t>
            </a:r>
            <a:r>
              <a:rPr lang="en-AU" i="1" u="sng">
                <a:hlinkClick r:id="rId12"/>
              </a:rPr>
              <a:t>Let’s talk – number talk (230 minus 190</a:t>
            </a:r>
            <a:r>
              <a:rPr lang="en-AU" u="sng">
                <a:hlinkClick r:id="rId12"/>
              </a:rPr>
              <a:t>)</a:t>
            </a:r>
            <a:r>
              <a:rPr lang="en-AU"/>
              <a:t>, NSW Department of Education website, accessed 13 February 2026.</a:t>
            </a:r>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67</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6869F-836D-2F98-6637-710F8BA18D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27373F1-86B1-2823-93CA-E688E7D34055}"/>
              </a:ext>
            </a:extLst>
          </p:cNvPr>
          <p:cNvSpPr>
            <a:spLocks noGrp="1"/>
          </p:cNvSpPr>
          <p:nvPr>
            <p:ph type="title"/>
          </p:nvPr>
        </p:nvSpPr>
        <p:spPr/>
        <p:txBody>
          <a:bodyPr/>
          <a:lstStyle/>
          <a:p>
            <a:r>
              <a:rPr lang="en-AU">
                <a:latin typeface="+mj-lt"/>
              </a:rPr>
              <a:t>References </a:t>
            </a:r>
            <a:r>
              <a:rPr lang="en-AU">
                <a:solidFill>
                  <a:schemeClr val="accent4"/>
                </a:solidFill>
                <a:latin typeface="+mj-lt"/>
              </a:rPr>
              <a:t>(2)</a:t>
            </a:r>
          </a:p>
        </p:txBody>
      </p:sp>
      <p:sp>
        <p:nvSpPr>
          <p:cNvPr id="6" name="TextBox 5">
            <a:extLst>
              <a:ext uri="{FF2B5EF4-FFF2-40B4-BE49-F238E27FC236}">
                <a16:creationId xmlns:a16="http://schemas.microsoft.com/office/drawing/2014/main" id="{72090A5F-39B6-C81B-B5C6-C12EE6CF46AA}"/>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3AD5739D-F3D7-32B1-36E7-75A3ED2BB11C}"/>
              </a:ext>
            </a:extLst>
          </p:cNvPr>
          <p:cNvSpPr>
            <a:spLocks noGrp="1"/>
          </p:cNvSpPr>
          <p:nvPr>
            <p:ph idx="1"/>
          </p:nvPr>
        </p:nvSpPr>
        <p:spPr/>
        <p:txBody>
          <a:bodyPr/>
          <a:lstStyle/>
          <a:p>
            <a:r>
              <a:rPr lang="en-AU"/>
              <a:t>——(2023) </a:t>
            </a:r>
            <a:r>
              <a:rPr lang="en-AU" i="1" u="sng">
                <a:hlinkClick r:id="rId6"/>
              </a:rPr>
              <a:t>Math mobiles – Stage 2</a:t>
            </a:r>
            <a:r>
              <a:rPr lang="en-AU" i="1"/>
              <a:t>, </a:t>
            </a:r>
            <a:r>
              <a:rPr lang="en-AU"/>
              <a:t>NSW Department of Education website, accessed 13 February 2026.</a:t>
            </a:r>
          </a:p>
          <a:p>
            <a:r>
              <a:rPr lang="en-AU"/>
              <a:t>——(2024) </a:t>
            </a:r>
            <a:r>
              <a:rPr lang="en-AU" i="1" u="sng">
                <a:hlinkClick r:id="rId7"/>
              </a:rPr>
              <a:t>Equivalent number sentences</a:t>
            </a:r>
            <a:r>
              <a:rPr lang="en-AU" i="1"/>
              <a:t>,</a:t>
            </a:r>
            <a:r>
              <a:rPr lang="en-AU"/>
              <a:t> Universal Resources Hub, accessed 13 February 2026.</a:t>
            </a:r>
          </a:p>
          <a:p>
            <a:r>
              <a:rPr lang="en-AU"/>
              <a:t>——(2024) </a:t>
            </a:r>
            <a:r>
              <a:rPr lang="en-AU" i="1" u="sng">
                <a:hlinkClick r:id="rId8"/>
              </a:rPr>
              <a:t>Stage 2 Addition and subtraction with money</a:t>
            </a:r>
            <a:r>
              <a:rPr lang="en-AU"/>
              <a:t>, Universal Resources Hub, accessed 13 February 2026.</a:t>
            </a:r>
          </a:p>
          <a:p>
            <a:r>
              <a:rPr lang="en-AU"/>
              <a:t>Sullivan P and Lilburn P (2017) </a:t>
            </a:r>
            <a:r>
              <a:rPr lang="en-AU" i="1"/>
              <a:t>Open-ended maths activities:</a:t>
            </a:r>
            <a:r>
              <a:rPr lang="en-AU"/>
              <a:t> </a:t>
            </a:r>
            <a:r>
              <a:rPr lang="en-AU" i="1"/>
              <a:t>using ‘good’ questions to enhance learning in mathematics</a:t>
            </a:r>
            <a:r>
              <a:rPr lang="en-AU"/>
              <a:t>, Oxford University Press, Australia.</a:t>
            </a:r>
          </a:p>
          <a:p>
            <a:r>
              <a:rPr lang="en-AU"/>
              <a:t>University of Cambridge (</a:t>
            </a:r>
            <a:r>
              <a:rPr lang="en-AU" err="1"/>
              <a:t>n.d</a:t>
            </a:r>
            <a:r>
              <a:rPr lang="en-AU"/>
              <a:t>) </a:t>
            </a:r>
            <a:r>
              <a:rPr lang="en-AU" i="1" u="sng">
                <a:hlinkClick r:id="rId9"/>
              </a:rPr>
              <a:t>Buying a Balloon</a:t>
            </a:r>
            <a:r>
              <a:rPr lang="en-AU"/>
              <a:t>, NRICH website, accessed 13 February 2026.</a:t>
            </a:r>
          </a:p>
          <a:p>
            <a:r>
              <a:rPr lang="en-AU"/>
              <a:t>——(</a:t>
            </a:r>
            <a:r>
              <a:rPr lang="en-AU" err="1"/>
              <a:t>n.d</a:t>
            </a:r>
            <a:r>
              <a:rPr lang="en-AU"/>
              <a:t>) </a:t>
            </a:r>
            <a:r>
              <a:rPr lang="en-AU" i="1" u="sng">
                <a:hlinkClick r:id="rId10"/>
              </a:rPr>
              <a:t>Fruity Pairs</a:t>
            </a:r>
            <a:r>
              <a:rPr lang="en-AU"/>
              <a:t>, NRICH website, accessed 13 February 2026.</a:t>
            </a:r>
          </a:p>
          <a:p>
            <a:r>
              <a:rPr lang="en-AU"/>
              <a:t>——(n.d.) </a:t>
            </a:r>
            <a:r>
              <a:rPr lang="en-AU" u="sng">
                <a:hlinkClick r:id="rId11"/>
              </a:rPr>
              <a:t>H</a:t>
            </a:r>
            <a:r>
              <a:rPr lang="en-AU" i="1" u="sng">
                <a:hlinkClick r:id="rId11"/>
              </a:rPr>
              <a:t>ow Much?</a:t>
            </a:r>
            <a:r>
              <a:rPr lang="en-AU"/>
              <a:t> , NRICH website, accessed 13 February 2026.</a:t>
            </a:r>
          </a:p>
        </p:txBody>
      </p:sp>
      <p:sp>
        <p:nvSpPr>
          <p:cNvPr id="2" name="Slide Number Placeholder 1">
            <a:extLst>
              <a:ext uri="{FF2B5EF4-FFF2-40B4-BE49-F238E27FC236}">
                <a16:creationId xmlns:a16="http://schemas.microsoft.com/office/drawing/2014/main" id="{151949B2-1B00-8878-E138-B7E2FB816C5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68</a:t>
            </a:fld>
            <a:endParaRPr lang="en-AU"/>
          </a:p>
        </p:txBody>
      </p:sp>
    </p:spTree>
    <p:extLst>
      <p:ext uri="{BB962C8B-B14F-4D97-AF65-F5344CB8AC3E}">
        <p14:creationId xmlns:p14="http://schemas.microsoft.com/office/powerpoint/2010/main" val="1129875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A443D04E-45B7-4289-B4D4-17824FF92FAB}"/>
</file>

<file path=customXml/itemProps2.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3.xml><?xml version="1.0" encoding="utf-8"?>
<ds:datastoreItem xmlns:ds="http://schemas.openxmlformats.org/officeDocument/2006/customXml" ds:itemID="{CE555570-2BD4-426B-AA32-0A79CB6508A8}">
  <ds:schemaRefs>
    <ds:schemaRef ds:uri="http://schemas.microsoft.com/office/2006/metadata/properties"/>
    <ds:schemaRef ds:uri="http://purl.org/dc/dcmitype/"/>
    <ds:schemaRef ds:uri="http://schemas.microsoft.com/office/infopath/2007/PartnerControls"/>
    <ds:schemaRef ds:uri="http://schemas.microsoft.com/office/2006/documentManagement/types"/>
    <ds:schemaRef ds:uri="http://purl.org/dc/elements/1.1/"/>
    <ds:schemaRef ds:uri="7e763d47-3c66-4c58-9425-1477fd3ccd1e"/>
    <ds:schemaRef ds:uri="http://schemas.microsoft.com/sharepoint/v3"/>
    <ds:schemaRef ds:uri="http://purl.org/dc/terms/"/>
    <ds:schemaRef ds:uri="http://www.w3.org/XML/1998/namespace"/>
    <ds:schemaRef ds:uri="http://schemas.openxmlformats.org/package/2006/metadata/core-properties"/>
    <ds:schemaRef ds:uri="60129b06-f64b-40a8-96e2-c5b2f86112b1"/>
  </ds:schemaRefs>
</ds:datastoreItem>
</file>

<file path=docMetadata/LabelInfo.xml><?xml version="1.0" encoding="utf-8"?>
<clbl:labelList xmlns:clbl="http://schemas.microsoft.com/office/2020/mipLabelMetadata">
  <clbl:label id="{b603dfd7-d93a-4381-a340-2995d8282205}" enabled="1" method="Standard" siteId="{05a0e69a-418a-47c1-9c25-9387261bf991}" contentBits="0" removed="0"/>
</clbl:labelList>
</file>

<file path=docProps/app.xml><?xml version="1.0" encoding="utf-8"?>
<Properties xmlns="http://schemas.openxmlformats.org/officeDocument/2006/extended-properties" xmlns:vt="http://schemas.openxmlformats.org/officeDocument/2006/docPropsVTypes">
  <Template>Review of learning template (1)</Template>
  <TotalTime>6</TotalTime>
  <Words>6134</Words>
  <Application>Microsoft Office PowerPoint</Application>
  <PresentationFormat>Widescreen</PresentationFormat>
  <Paragraphs>824</Paragraphs>
  <Slides>69</Slides>
  <Notes>69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Wingdings</vt:lpstr>
      <vt:lpstr>Montserrat</vt:lpstr>
      <vt:lpstr>Public Sans Light</vt:lpstr>
      <vt:lpstr>Aptos Narrow</vt:lpstr>
      <vt:lpstr>Arial</vt:lpstr>
      <vt:lpstr>Times New Roman</vt:lpstr>
      <vt:lpstr>Calibri</vt:lpstr>
      <vt:lpstr>Public Sans</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the equals sign means ‘the same as’</vt:lpstr>
      <vt:lpstr>Review of learning 2</vt:lpstr>
      <vt:lpstr>True or false (1)</vt:lpstr>
      <vt:lpstr>Short response (5)</vt:lpstr>
      <vt:lpstr>Short response (6)</vt:lpstr>
      <vt:lpstr>Short response (7)</vt:lpstr>
      <vt:lpstr>Short response (8)</vt:lpstr>
      <vt:lpstr>Activity 2 – equal differences</vt:lpstr>
      <vt:lpstr>Review of learning 3</vt:lpstr>
      <vt:lpstr>Multiple choice (2)</vt:lpstr>
      <vt:lpstr>Short response (9)</vt:lpstr>
      <vt:lpstr>Short response (10)</vt:lpstr>
      <vt:lpstr>Short response (11)</vt:lpstr>
      <vt:lpstr>Short response (12)</vt:lpstr>
      <vt:lpstr>Activity 3 – make it equal</vt:lpstr>
      <vt:lpstr>Review of learning 4</vt:lpstr>
      <vt:lpstr>True or false (2)</vt:lpstr>
      <vt:lpstr>Short response (13)</vt:lpstr>
      <vt:lpstr>Short response (14)</vt:lpstr>
      <vt:lpstr>Short response (15)</vt:lpstr>
      <vt:lpstr>Short response (16)</vt:lpstr>
      <vt:lpstr>Activity 4 – dice roll – applying the associative property</vt:lpstr>
      <vt:lpstr>Review of learning 5</vt:lpstr>
      <vt:lpstr>Multiple choice (3)</vt:lpstr>
      <vt:lpstr>Short response (17)</vt:lpstr>
      <vt:lpstr>Short response (18)</vt:lpstr>
      <vt:lpstr>Short response (19)</vt:lpstr>
      <vt:lpstr>Short response (20)</vt:lpstr>
      <vt:lpstr>Activity 5 – three times as many chores</vt:lpstr>
      <vt:lpstr>Review of learning 6</vt:lpstr>
      <vt:lpstr>True or false (3)</vt:lpstr>
      <vt:lpstr>Short response (21)</vt:lpstr>
      <vt:lpstr>Short response (22)</vt:lpstr>
      <vt:lpstr>Short response (23)</vt:lpstr>
      <vt:lpstr>Short response (24)</vt:lpstr>
      <vt:lpstr>Activity 6 – four times as many cupcakes</vt:lpstr>
      <vt:lpstr>Review of learning 7</vt:lpstr>
      <vt:lpstr>Multiple choice (4)</vt:lpstr>
      <vt:lpstr>Short response (25)</vt:lpstr>
      <vt:lpstr>Short response (26)</vt:lpstr>
      <vt:lpstr>Short response (27)</vt:lpstr>
      <vt:lpstr>Short response (28)</vt:lpstr>
      <vt:lpstr>Activity 7 – inverse relationships</vt:lpstr>
      <vt:lpstr>Review of learning 8</vt:lpstr>
      <vt:lpstr>True or false (4)</vt:lpstr>
      <vt:lpstr>Short response (29)</vt:lpstr>
      <vt:lpstr>Short response (30)</vt:lpstr>
      <vt:lpstr>Short response (31)</vt:lpstr>
      <vt:lpstr>Short response (32)</vt:lpstr>
      <vt:lpstr>Activity 8 – partially covered arrays</vt:lpstr>
      <vt:lpstr>Double Venn diagram</vt:lpstr>
      <vt:lpstr>Frayer</vt:lpstr>
      <vt:lpstr>Spider map</vt:lpstr>
      <vt:lpstr>Cline</vt:lpstr>
      <vt:lpstr>Compare and contrast</vt:lpstr>
      <vt:lpstr>Multiple choice (5)</vt:lpstr>
      <vt:lpstr>Multiple choice</vt:lpstr>
      <vt:lpstr>References (1)</vt:lpstr>
      <vt:lpstr>References (2)</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2026-06-21T22:48:30Z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