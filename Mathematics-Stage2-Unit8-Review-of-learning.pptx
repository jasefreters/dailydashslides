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2"/>
  </p:notesMasterIdLst>
  <p:handoutMasterIdLst>
    <p:handoutMasterId r:id="rId73"/>
  </p:handoutMasterIdLst>
  <p:sldIdLst>
    <p:sldId id="365" r:id="rId5"/>
    <p:sldId id="26505" r:id="rId6"/>
    <p:sldId id="26359" r:id="rId7"/>
    <p:sldId id="271" r:id="rId8"/>
    <p:sldId id="26577" r:id="rId9"/>
    <p:sldId id="358" r:id="rId10"/>
    <p:sldId id="26580" r:id="rId11"/>
    <p:sldId id="26651" r:id="rId12"/>
    <p:sldId id="26582" r:id="rId13"/>
    <p:sldId id="26576" r:id="rId14"/>
    <p:sldId id="26583" r:id="rId15"/>
    <p:sldId id="26586" r:id="rId16"/>
    <p:sldId id="26587" r:id="rId17"/>
    <p:sldId id="26588" r:id="rId18"/>
    <p:sldId id="26652" r:id="rId19"/>
    <p:sldId id="26590" r:id="rId20"/>
    <p:sldId id="26591" r:id="rId21"/>
    <p:sldId id="26592" r:id="rId22"/>
    <p:sldId id="26593" r:id="rId23"/>
    <p:sldId id="26596" r:id="rId24"/>
    <p:sldId id="26653" r:id="rId25"/>
    <p:sldId id="26654" r:id="rId26"/>
    <p:sldId id="26599" r:id="rId27"/>
    <p:sldId id="26600" r:id="rId28"/>
    <p:sldId id="26601" r:id="rId29"/>
    <p:sldId id="26604" r:id="rId30"/>
    <p:sldId id="26605" r:id="rId31"/>
    <p:sldId id="26606" r:id="rId32"/>
    <p:sldId id="26655" r:id="rId33"/>
    <p:sldId id="26608" r:id="rId34"/>
    <p:sldId id="26609" r:id="rId35"/>
    <p:sldId id="26610" r:id="rId36"/>
    <p:sldId id="26647" r:id="rId37"/>
    <p:sldId id="26614" r:id="rId38"/>
    <p:sldId id="26656" r:id="rId39"/>
    <p:sldId id="26657" r:id="rId40"/>
    <p:sldId id="26617" r:id="rId41"/>
    <p:sldId id="26618" r:id="rId42"/>
    <p:sldId id="26619" r:id="rId43"/>
    <p:sldId id="26622" r:id="rId44"/>
    <p:sldId id="26623" r:id="rId45"/>
    <p:sldId id="26658" r:id="rId46"/>
    <p:sldId id="26659" r:id="rId47"/>
    <p:sldId id="26626" r:id="rId48"/>
    <p:sldId id="26627" r:id="rId49"/>
    <p:sldId id="26628" r:id="rId50"/>
    <p:sldId id="26648" r:id="rId51"/>
    <p:sldId id="26632" r:id="rId52"/>
    <p:sldId id="26660" r:id="rId53"/>
    <p:sldId id="26661" r:id="rId54"/>
    <p:sldId id="26635" r:id="rId55"/>
    <p:sldId id="26636" r:id="rId56"/>
    <p:sldId id="26637" r:id="rId57"/>
    <p:sldId id="26640" r:id="rId58"/>
    <p:sldId id="26641" r:id="rId59"/>
    <p:sldId id="26662" r:id="rId60"/>
    <p:sldId id="26663" r:id="rId61"/>
    <p:sldId id="26644" r:id="rId62"/>
    <p:sldId id="26645" r:id="rId63"/>
    <p:sldId id="26664" r:id="rId64"/>
    <p:sldId id="26393" r:id="rId65"/>
    <p:sldId id="26387" r:id="rId66"/>
    <p:sldId id="26395" r:id="rId67"/>
    <p:sldId id="26391" r:id="rId68"/>
    <p:sldId id="26402" r:id="rId69"/>
    <p:sldId id="360" r:id="rId70"/>
    <p:sldId id="361" r:id="rId71"/>
  </p:sldIdLst>
  <p:sldSz cx="12192000" cy="6858000"/>
  <p:notesSz cx="6858000" cy="9144000"/>
  <p:embeddedFontLst>
    <p:embeddedFont>
      <p:font typeface="Aptos Narrow" panose="020B0004020202020204" pitchFamily="34" charset="0"/>
      <p:regular r:id="rId74"/>
      <p:bold r:id="rId75"/>
      <p:italic r:id="rId76"/>
      <p:boldItalic r:id="rId77"/>
    </p:embeddedFont>
    <p:embeddedFont>
      <p:font typeface="Cambria Math" panose="02040503050406030204" pitchFamily="18" charset="0"/>
      <p:regular r:id="rId78"/>
    </p:embeddedFont>
    <p:embeddedFont>
      <p:font typeface="Edu NSW ACT Foundation" panose="020B0604020202020204" charset="0"/>
      <p:regular r:id="rId79"/>
      <p:bold r:id="rId80"/>
    </p:embeddedFont>
    <p:embeddedFont>
      <p:font typeface="Montserrat" panose="00000500000000000000" pitchFamily="2" charset="0"/>
      <p:regular r:id="rId81"/>
      <p:bold r:id="rId82"/>
      <p:italic r:id="rId83"/>
      <p:boldItalic r:id="rId84"/>
    </p:embeddedFont>
    <p:embeddedFont>
      <p:font typeface="Public Sans" pitchFamily="2" charset="0"/>
      <p:regular r:id="rId85"/>
      <p:bold r:id="rId86"/>
      <p:italic r:id="rId87"/>
      <p:boldItalic r:id="rId88"/>
    </p:embeddedFont>
    <p:embeddedFont>
      <p:font typeface="Public Sans Light" pitchFamily="2" charset="0"/>
      <p:regular r:id="rId89"/>
      <p:italic r:id="rId90"/>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651"/>
            <p14:sldId id="26582"/>
            <p14:sldId id="26576"/>
          </p14:sldIdLst>
        </p14:section>
        <p14:section name="Review of learning 2" id="{0AC6BBCB-7E49-46CE-B777-EFCDD4B60F91}">
          <p14:sldIdLst>
            <p14:sldId id="26583"/>
            <p14:sldId id="26586"/>
            <p14:sldId id="26587"/>
            <p14:sldId id="26588"/>
            <p14:sldId id="26652"/>
            <p14:sldId id="26590"/>
            <p14:sldId id="26591"/>
          </p14:sldIdLst>
        </p14:section>
        <p14:section name="Review of learning 3" id="{6F5E1C19-5255-4FF7-A3CD-4549F7EF69B2}">
          <p14:sldIdLst>
            <p14:sldId id="26592"/>
            <p14:sldId id="26593"/>
            <p14:sldId id="26596"/>
            <p14:sldId id="26653"/>
            <p14:sldId id="26654"/>
            <p14:sldId id="26599"/>
            <p14:sldId id="26600"/>
          </p14:sldIdLst>
        </p14:section>
        <p14:section name="Review of learning 4" id="{6EB8E1CE-ED7B-4635-88AB-9D1D052BB011}">
          <p14:sldIdLst>
            <p14:sldId id="26601"/>
            <p14:sldId id="26604"/>
            <p14:sldId id="26605"/>
            <p14:sldId id="26606"/>
            <p14:sldId id="26655"/>
            <p14:sldId id="26608"/>
            <p14:sldId id="26609"/>
          </p14:sldIdLst>
        </p14:section>
        <p14:section name="Review of learning 5" id="{E365C8CF-14E0-4F5A-BCE8-2E930DEEA864}">
          <p14:sldIdLst>
            <p14:sldId id="26610"/>
            <p14:sldId id="26647"/>
            <p14:sldId id="26614"/>
            <p14:sldId id="26656"/>
            <p14:sldId id="26657"/>
            <p14:sldId id="26617"/>
            <p14:sldId id="26618"/>
          </p14:sldIdLst>
        </p14:section>
        <p14:section name="Review of learning 6" id="{6721D3DC-F7BB-49CA-9E61-8454C104591D}">
          <p14:sldIdLst>
            <p14:sldId id="26619"/>
            <p14:sldId id="26622"/>
            <p14:sldId id="26623"/>
            <p14:sldId id="26658"/>
            <p14:sldId id="26659"/>
            <p14:sldId id="26626"/>
            <p14:sldId id="26627"/>
          </p14:sldIdLst>
        </p14:section>
        <p14:section name="Review of learning 7" id="{CF63834E-0BE9-495B-9761-037C836F185E}">
          <p14:sldIdLst>
            <p14:sldId id="26628"/>
            <p14:sldId id="26648"/>
            <p14:sldId id="26632"/>
            <p14:sldId id="26660"/>
            <p14:sldId id="26661"/>
            <p14:sldId id="26635"/>
            <p14:sldId id="26636"/>
          </p14:sldIdLst>
        </p14:section>
        <p14:section name="Review of learning 8" id="{6FF8F7EC-803E-4F84-BA41-6B3ED673D597}">
          <p14:sldIdLst>
            <p14:sldId id="26637"/>
            <p14:sldId id="26640"/>
            <p14:sldId id="26641"/>
            <p14:sldId id="26662"/>
            <p14:sldId id="26663"/>
            <p14:sldId id="26644"/>
            <p14:sldId id="26645"/>
            <p14:sldId id="26664"/>
          </p14:sldIdLst>
        </p14:section>
        <p14:section name="Assets" id="{ACCADEBA-79DB-4F18-8F19-E4DF86159DFB}">
          <p14:sldIdLst>
            <p14:sldId id="26393"/>
            <p14:sldId id="26387"/>
            <p14:sldId id="26395"/>
            <p14:sldId id="26391"/>
            <p14:sldId id="26402"/>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 userId="S::CARRIE-ANN.WEBECK@det.nsw.edu.au::e5c4b697-ca15-4f3a-a906-1289ddc2fc07" providerId="AD"/>
  <p188:author id="{D9FAB2E2-FCDC-C762-1ECD-0FBBF02124FD}" name="Annette Price" initials=""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5B8"/>
    <a:srgbClr val="006C86"/>
    <a:srgbClr val="FF6405"/>
    <a:srgbClr val="2CA5AE"/>
    <a:srgbClr val="FF914D"/>
    <a:srgbClr val="00A0C6"/>
    <a:srgbClr val="E5EF61"/>
    <a:srgbClr val="F7FB55"/>
    <a:srgbClr val="70BF67"/>
    <a:srgbClr val="99E0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9499C3-3950-4F6C-AF27-2D708E6ECD4E}" v="19" dt="2026-03-23T00:51:13.73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33" autoAdjust="0"/>
    <p:restoredTop sz="79581" autoAdjust="0"/>
  </p:normalViewPr>
  <p:slideViewPr>
    <p:cSldViewPr snapToGrid="0">
      <p:cViewPr varScale="1">
        <p:scale>
          <a:sx n="47" d="100"/>
          <a:sy n="47" d="100"/>
        </p:scale>
        <p:origin x="456" y="36"/>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1.fntdata"/><Relationship Id="rId89" Type="http://schemas.openxmlformats.org/officeDocument/2006/relationships/font" Target="fonts/font16.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1.xml"/><Relationship Id="rId90" Type="http://schemas.openxmlformats.org/officeDocument/2006/relationships/font" Target="fonts/font17.fntdata"/><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80" Type="http://schemas.openxmlformats.org/officeDocument/2006/relationships/font" Target="fonts/font7.fntdata"/><Relationship Id="rId85" Type="http://schemas.openxmlformats.org/officeDocument/2006/relationships/font" Target="fonts/font12.fntdata"/><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3.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4.fntdata"/><Relationship Id="rId61" Type="http://schemas.openxmlformats.org/officeDocument/2006/relationships/slide" Target="slides/slide57.xml"/><Relationship Id="rId82" Type="http://schemas.openxmlformats.org/officeDocument/2006/relationships/font" Target="fonts/font9.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24/03/2026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24/03/2026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A Unit 8</a:t>
            </a:r>
          </a:p>
          <a:p>
            <a:pPr marL="285750" indent="-285750">
              <a:buFont typeface="Arial" panose="020B0604020202020204" pitchFamily="34" charset="0"/>
              <a:buChar char="•"/>
            </a:pPr>
            <a:r>
              <a:rPr lang="en-AU" dirty="0"/>
              <a:t>Stage 2 Year A Unit 7</a:t>
            </a:r>
          </a:p>
          <a:p>
            <a:pPr marL="285750" indent="-285750">
              <a:buFont typeface="Arial" panose="020B0604020202020204" pitchFamily="34" charset="0"/>
              <a:buChar char="•"/>
            </a:pPr>
            <a:r>
              <a:rPr lang="en-AU" dirty="0"/>
              <a:t>Stage 2 Year A Unit 6</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br>
              <a:rPr lang="en-AU" sz="1600" b="0" i="0" u="none" strike="noStrike" dirty="0">
                <a:solidFill>
                  <a:srgbClr val="000000"/>
                </a:solidFill>
                <a:effectLst/>
                <a:latin typeface="Aptos Narrow" panose="020B00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A</a:t>
            </a:r>
            <a:br>
              <a:rPr lang="en-AU" sz="1600" b="0" i="0" u="none" strike="noStrike" dirty="0">
                <a:solidFill>
                  <a:srgbClr val="000000"/>
                </a:solidFill>
                <a:effectLst/>
                <a:latin typeface="Aptos Narrow" panose="020B00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Fractions on a number line</a:t>
                </a:r>
              </a:p>
              <a:p>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dirty="0">
                    <a:solidFill>
                      <a:schemeClr val="tx1"/>
                    </a:solidFill>
                    <a:effectLst/>
                    <a:latin typeface="Arial" panose="020B0604020202020204" pitchFamily="34" charset="0"/>
                    <a:ea typeface="+mn-ea"/>
                    <a:cs typeface="Arial" panose="020B0604020202020204" pitchFamily="34" charset="0"/>
                  </a:rPr>
                  <a:t>This resource corresponds to Figure 4 </a:t>
                </a:r>
                <a:r>
                  <a:rPr lang="en-AU" sz="1600" kern="1200" dirty="0">
                    <a:solidFill>
                      <a:schemeClr val="tx1"/>
                    </a:solidFill>
                    <a:effectLst/>
                    <a:latin typeface="Arial" panose="020B0604020202020204" pitchFamily="34" charset="0"/>
                    <a:ea typeface="+mn-ea"/>
                    <a:cs typeface="Arial" panose="020B0604020202020204" pitchFamily="34" charset="0"/>
                  </a:rPr>
                  <a:t>– fraction strips on a number line </a:t>
                </a:r>
                <a:r>
                  <a:rPr lang="en-AU" sz="1600" b="0" kern="1200" dirty="0">
                    <a:solidFill>
                      <a:schemeClr val="tx1"/>
                    </a:solidFill>
                    <a:effectLst/>
                    <a:latin typeface="Arial" panose="020B0604020202020204" pitchFamily="34" charset="0"/>
                    <a:ea typeface="+mn-ea"/>
                    <a:cs typeface="Arial" panose="020B0604020202020204" pitchFamily="34" charset="0"/>
                  </a:rPr>
                  <a:t>in Stage 2 unit 4. </a:t>
                </a:r>
              </a:p>
              <a:p>
                <a:endParaRPr lang="en-AU" sz="1600" b="1"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Note: </a:t>
                </a:r>
                <a:r>
                  <a:rPr lang="en-AU" sz="1600" b="0" kern="1200" dirty="0">
                    <a:solidFill>
                      <a:schemeClr val="tx1"/>
                    </a:solidFill>
                    <a:effectLst/>
                    <a:latin typeface="Arial" panose="020B0604020202020204" pitchFamily="34" charset="0"/>
                    <a:ea typeface="+mn-ea"/>
                    <a:cs typeface="Arial" panose="020B0604020202020204" pitchFamily="34" charset="0"/>
                  </a:rPr>
                  <a:t>t</a:t>
                </a:r>
                <a:r>
                  <a:rPr lang="en-AU" sz="1600" kern="1200" dirty="0">
                    <a:solidFill>
                      <a:schemeClr val="tx1"/>
                    </a:solidFill>
                    <a:effectLst/>
                    <a:latin typeface="Arial" panose="020B0604020202020204" pitchFamily="34" charset="0"/>
                    <a:ea typeface="+mn-ea"/>
                    <a:cs typeface="Arial" panose="020B0604020202020204" pitchFamily="34" charset="0"/>
                  </a:rPr>
                  <a:t>hese fraction activities build on concepts taught in Stage 2 Unit 4. It is important that students can describe the relationship between the size of the denominator and the size of the fractional part – the larger the denominator, the smaller the fractional part..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many parts make up the whole in each fraction?</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many parts of the whole are there in each fraction?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strips of paper. In small groups, students fold and mark paper strips to show halves, quarters and eighths. Encourage students to draw clear lines to divide the strips into equal parts.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can each fractional part be labelled?</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these fraction strips be placed on a number line?</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small groups, students use their fraction strips to build a number line from 0 to 1, matching their strips to the positions on the number line (see figure 4 in Stage 2 Unit 4)</a:t>
                </a:r>
                <a:endParaRPr lang="en-AU" dirty="0"/>
              </a:p>
            </p:txBody>
          </p:sp>
        </mc:Choice>
        <mc:Fallback xmlns="">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B</a:t>
                </a:r>
              </a:p>
              <a:p>
                <a:endParaRPr lang="en-AU" dirty="0"/>
              </a:p>
              <a:p>
                <a:r>
                  <a:rPr lang="en-AU" b="1" dirty="0"/>
                  <a:t>Fractions on a number line</a:t>
                </a:r>
              </a:p>
              <a:p>
                <a:r>
                  <a:rPr lang="en-AU" sz="1600" b="1" kern="1200" dirty="0">
                    <a:solidFill>
                      <a:schemeClr val="tx1"/>
                    </a:solidFill>
                    <a:effectLst/>
                    <a:latin typeface="Arial" panose="020B0604020202020204" pitchFamily="34" charset="0"/>
                    <a:ea typeface="+mn-ea"/>
                    <a:cs typeface="Arial" panose="020B0604020202020204" pitchFamily="34" charset="0"/>
                  </a:rPr>
                  <a:t>Note: </a:t>
                </a:r>
                <a:r>
                  <a:rPr lang="en-AU" sz="1600" b="0" kern="1200" dirty="0">
                    <a:solidFill>
                      <a:schemeClr val="tx1"/>
                    </a:solidFill>
                    <a:effectLst/>
                    <a:latin typeface="Arial" panose="020B0604020202020204" pitchFamily="34" charset="0"/>
                    <a:ea typeface="+mn-ea"/>
                    <a:cs typeface="Arial" panose="020B0604020202020204" pitchFamily="34" charset="0"/>
                  </a:rPr>
                  <a:t>t</a:t>
                </a:r>
                <a:r>
                  <a:rPr lang="en-AU" sz="1600" kern="1200" dirty="0">
                    <a:solidFill>
                      <a:schemeClr val="tx1"/>
                    </a:solidFill>
                    <a:effectLst/>
                    <a:latin typeface="Arial" panose="020B0604020202020204" pitchFamily="34" charset="0"/>
                    <a:ea typeface="+mn-ea"/>
                    <a:cs typeface="Arial" panose="020B0604020202020204" pitchFamily="34" charset="0"/>
                  </a:rPr>
                  <a:t>hese fraction activities build on concepts taught in Stage 2 Unit 4. It is important that students can describe the relationship between the size of the denominator and the size of the fractional part – the larger the denominator, the smaller the fractional part.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Display a number line marked with a </a:t>
                </a:r>
                <a:r>
                  <a:rPr lang="en-AU" sz="1600" b="1" i="0" kern="1200">
                    <a:solidFill>
                      <a:schemeClr val="tx1"/>
                    </a:solidFill>
                    <a:effectLst/>
                    <a:latin typeface="Arial" panose="020B0604020202020204" pitchFamily="34" charset="0"/>
                    <a:ea typeface="+mn-ea"/>
                    <a:cs typeface="Arial" panose="020B0604020202020204" pitchFamily="34" charset="0"/>
                  </a:rPr>
                  <a:t>𝟏/𝟐</a:t>
                </a:r>
                <a:r>
                  <a:rPr lang="en-AU" sz="1600" kern="1200" dirty="0">
                    <a:solidFill>
                      <a:schemeClr val="tx1"/>
                    </a:solidFill>
                    <a:effectLst/>
                    <a:latin typeface="Arial" panose="020B0604020202020204" pitchFamily="34" charset="0"/>
                    <a:ea typeface="+mn-ea"/>
                    <a:cs typeface="Arial" panose="020B0604020202020204" pitchFamily="34" charset="0"/>
                  </a:rPr>
                  <a:t>,  </a:t>
                </a:r>
                <a:r>
                  <a:rPr lang="en-AU" sz="1600" b="1" i="0" kern="1200">
                    <a:solidFill>
                      <a:schemeClr val="tx1"/>
                    </a:solidFill>
                    <a:effectLst/>
                    <a:latin typeface="Arial" panose="020B0604020202020204" pitchFamily="34" charset="0"/>
                    <a:ea typeface="+mn-ea"/>
                    <a:cs typeface="Arial" panose="020B0604020202020204" pitchFamily="34" charset="0"/>
                  </a:rPr>
                  <a:t>𝟏/𝟒 </a:t>
                </a:r>
                <a:r>
                  <a:rPr lang="en-AU" sz="1600" i="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 and </a:t>
                </a:r>
                <a:r>
                  <a:rPr lang="en-AU" sz="1600" b="1" i="0" kern="1200">
                    <a:solidFill>
                      <a:schemeClr val="tx1"/>
                    </a:solidFill>
                    <a:effectLst/>
                    <a:latin typeface="Arial" panose="020B0604020202020204" pitchFamily="34" charset="0"/>
                    <a:ea typeface="+mn-ea"/>
                    <a:cs typeface="Arial" panose="020B0604020202020204" pitchFamily="34" charset="0"/>
                  </a:rPr>
                  <a:t>𝟏/𝟖</a:t>
                </a:r>
                <a:r>
                  <a:rPr lang="en-AU" sz="1600" kern="1200" dirty="0">
                    <a:solidFill>
                      <a:schemeClr val="tx1"/>
                    </a:solidFill>
                    <a:effectLst/>
                    <a:latin typeface="Arial" panose="020B0604020202020204" pitchFamily="34" charset="0"/>
                    <a:ea typeface="+mn-ea"/>
                    <a:cs typeface="Arial" panose="020B0604020202020204" pitchFamily="34" charset="0"/>
                  </a:rPr>
                  <a: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what students notice about where these fractions are placed.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the features of halves, quarters and eighths.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many parts make up each fraction?</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Which parts are bigger and smaller?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strips of paper. In small groups, students mark and divide paper strips to show halves, quarters, eighths, and thirds. Encourage students to draw clear lines to divide the strips into equal parts.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Can you colour or shade one part for each fraction and label it </a:t>
                </a:r>
                <a:r>
                  <a:rPr lang="en-AU" sz="1600" b="1" i="0" kern="1200">
                    <a:solidFill>
                      <a:schemeClr val="tx1"/>
                    </a:solidFill>
                    <a:effectLst/>
                    <a:latin typeface="Arial" panose="020B0604020202020204" pitchFamily="34" charset="0"/>
                    <a:ea typeface="+mn-ea"/>
                    <a:cs typeface="Arial" panose="020B0604020202020204" pitchFamily="34" charset="0"/>
                  </a:rPr>
                  <a:t>𝟏/𝟐</a:t>
                </a:r>
                <a:r>
                  <a:rPr lang="en-AU" sz="1600" kern="1200" dirty="0">
                    <a:solidFill>
                      <a:schemeClr val="tx1"/>
                    </a:solidFill>
                    <a:effectLst/>
                    <a:latin typeface="Arial" panose="020B0604020202020204" pitchFamily="34" charset="0"/>
                    <a:ea typeface="+mn-ea"/>
                    <a:cs typeface="Arial" panose="020B0604020202020204" pitchFamily="34" charset="0"/>
                  </a:rPr>
                  <a:t>, </a:t>
                </a:r>
                <a:r>
                  <a:rPr lang="en-AU" sz="1600" b="1" i="0" kern="1200">
                    <a:solidFill>
                      <a:schemeClr val="tx1"/>
                    </a:solidFill>
                    <a:effectLst/>
                    <a:latin typeface="Arial" panose="020B0604020202020204" pitchFamily="34" charset="0"/>
                    <a:ea typeface="+mn-ea"/>
                    <a:cs typeface="Arial" panose="020B0604020202020204" pitchFamily="34" charset="0"/>
                  </a:rPr>
                  <a:t>𝟏/𝟒</a:t>
                </a:r>
                <a:r>
                  <a:rPr lang="en-AU" sz="1600" kern="1200" dirty="0">
                    <a:solidFill>
                      <a:schemeClr val="tx1"/>
                    </a:solidFill>
                    <a:effectLst/>
                    <a:latin typeface="Arial" panose="020B0604020202020204" pitchFamily="34" charset="0"/>
                    <a:ea typeface="+mn-ea"/>
                    <a:cs typeface="Arial" panose="020B0604020202020204" pitchFamily="34" charset="0"/>
                  </a:rPr>
                  <a:t>, </a:t>
                </a:r>
                <a:r>
                  <a:rPr lang="en-AU" sz="1600" b="1" i="0" kern="1200">
                    <a:solidFill>
                      <a:schemeClr val="tx1"/>
                    </a:solidFill>
                    <a:effectLst/>
                    <a:latin typeface="Arial" panose="020B0604020202020204" pitchFamily="34" charset="0"/>
                    <a:ea typeface="+mn-ea"/>
                    <a:cs typeface="Arial" panose="020B0604020202020204" pitchFamily="34" charset="0"/>
                  </a:rPr>
                  <a:t>𝟏/𝟖 </a:t>
                </a:r>
                <a:r>
                  <a:rPr lang="en-AU" sz="1600" i="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 and </a:t>
                </a:r>
                <a:r>
                  <a:rPr lang="en-AU" sz="1600" b="1" i="0" kern="1200">
                    <a:solidFill>
                      <a:schemeClr val="tx1"/>
                    </a:solidFill>
                    <a:effectLst/>
                    <a:latin typeface="Arial" panose="020B0604020202020204" pitchFamily="34" charset="0"/>
                    <a:ea typeface="+mn-ea"/>
                    <a:cs typeface="Arial" panose="020B0604020202020204" pitchFamily="34" charset="0"/>
                  </a:rPr>
                  <a:t>𝟏/𝟑</a:t>
                </a:r>
                <a:r>
                  <a:rPr lang="en-AU" sz="1600" kern="1200" dirty="0">
                    <a:solidFill>
                      <a:schemeClr val="tx1"/>
                    </a:solidFill>
                    <a:effectLst/>
                    <a:latin typeface="Arial" panose="020B0604020202020204" pitchFamily="34" charset="0"/>
                    <a:ea typeface="+mn-ea"/>
                    <a:cs typeface="Arial" panose="020B0604020202020204" pitchFamily="34" charset="0"/>
                  </a:rPr>
                  <a: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small groups, students use their fraction strips to build a number line from 0 to 1, matching their strips to the positions on the number line.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draw the number line, placing and labelling each fraction.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Which fraction parts are bigger or smaller?</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many parts make the whole strip for each fraction?</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What do you notice about the pieces as the denominator changes?</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Fallback>
      </mc:AlternateContent>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Complementary fractions</a:t>
            </a:r>
          </a:p>
          <a:p>
            <a:r>
              <a:rPr lang="en-AU" b="0" dirty="0"/>
              <a:t>This Figure corresponds to Figure 5 – complementary fractions in Stage 2 Year A Unit 8. </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Revise the term ‘complementary’ in relation to fractions. For example, two fractions that add together to make one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identify the complementary fractional part needed to complete one whole and explain their reasoning.</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create their own diagram and have a partner identify the complementary fraction.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share their mathematical thinking with the class.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What does ‘complementary’ mean when we talk about fractions?</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If part of a shape is shaded, how can we find the fraction that is missing to make the whole shape?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can making your own diagram with fractions help you understand fractions better?</a:t>
            </a:r>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b="0" dirty="0"/>
                  <a:t>Partitioned fractions A</a:t>
                </a:r>
              </a:p>
              <a:p>
                <a:endParaRPr lang="en-AU" b="0" dirty="0"/>
              </a:p>
              <a:p>
                <a:r>
                  <a:rPr lang="en-AU" b="1" dirty="0"/>
                  <a:t>Recreate the whole</a:t>
                </a:r>
              </a:p>
              <a:p>
                <a:r>
                  <a:rPr lang="en-AU" b="0" dirty="0"/>
                  <a:t>This figure corresponds to Figure 6 – recreating wholes in Stage 2 Year A Unit 8. </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If this is a quarter of the strip, how big is the whole strip?</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do you know?</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make or draw a model or diagram to show the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working out using diagrams, numbers and words on individual whiteboards.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models and explain their reasoning.</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Repeat the activity with one third and one eighth.</a:t>
                </a:r>
              </a:p>
              <a:p>
                <a:pPr marL="342900" indent="-342900">
                  <a:buFont typeface="Arial" panose="020B0604020202020204" pitchFamily="34" charset="0"/>
                  <a:buChar char="•"/>
                </a:pPr>
                <a:endParaRPr lang="en-AU" dirty="0"/>
              </a:p>
              <a:p>
                <a:endParaRPr lang="en-AU" dirty="0"/>
              </a:p>
            </p:txBody>
          </p:sp>
        </mc:Choice>
        <mc:Fallback xmlns="">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b="0" dirty="0"/>
                  <a:t>Partitioned fractions A</a:t>
                </a:r>
              </a:p>
              <a:p>
                <a:endParaRPr lang="en-AU" b="0" dirty="0"/>
              </a:p>
              <a:p>
                <a:r>
                  <a:rPr lang="en-AU" b="1" dirty="0"/>
                  <a:t>Recreate the whole</a:t>
                </a:r>
              </a:p>
              <a:p>
                <a:r>
                  <a:rPr lang="en-AU" b="0" dirty="0"/>
                  <a:t>This figure corresponds to Figure 6 – recreating wholes in Stage 2 Year A Unit 8. </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Draw a fraction strip divided into 4 pieces, with 0, </a:t>
                </a:r>
                <a:r>
                  <a:rPr lang="en-AU" sz="1600" b="1" i="0" kern="1200">
                    <a:solidFill>
                      <a:schemeClr val="tx1"/>
                    </a:solidFill>
                    <a:effectLst/>
                    <a:latin typeface="Arial" panose="020B0604020202020204" pitchFamily="34" charset="0"/>
                    <a:ea typeface="+mn-ea"/>
                    <a:cs typeface="Arial" panose="020B0604020202020204" pitchFamily="34" charset="0"/>
                  </a:rPr>
                  <a:t>𝟏/</a:t>
                </a:r>
                <a:r>
                  <a:rPr lang="en-AU" sz="1600" i="0" kern="1200">
                    <a:solidFill>
                      <a:schemeClr val="tx1"/>
                    </a:solidFill>
                    <a:effectLst/>
                    <a:latin typeface="Arial" panose="020B0604020202020204" pitchFamily="34" charset="0"/>
                    <a:ea typeface="+mn-ea"/>
                    <a:cs typeface="Arial" panose="020B0604020202020204" pitchFamily="34" charset="0"/>
                  </a:rPr>
                  <a:t>4</a:t>
                </a:r>
                <a:r>
                  <a:rPr lang="en-AU" sz="1600" kern="1200" dirty="0">
                    <a:solidFill>
                      <a:schemeClr val="tx1"/>
                    </a:solidFill>
                    <a:effectLst/>
                    <a:latin typeface="Arial" panose="020B0604020202020204" pitchFamily="34" charset="0"/>
                    <a:ea typeface="+mn-ea"/>
                    <a:cs typeface="Arial" panose="020B0604020202020204" pitchFamily="34" charset="0"/>
                  </a:rPr>
                  <a:t> , </a:t>
                </a:r>
                <a:r>
                  <a:rPr lang="en-AU" sz="1600" b="1" i="0" kern="1200">
                    <a:solidFill>
                      <a:schemeClr val="tx1"/>
                    </a:solidFill>
                    <a:effectLst/>
                    <a:latin typeface="Arial" panose="020B0604020202020204" pitchFamily="34" charset="0"/>
                    <a:ea typeface="+mn-ea"/>
                    <a:cs typeface="Arial" panose="020B0604020202020204" pitchFamily="34" charset="0"/>
                  </a:rPr>
                  <a:t>𝟏/𝟐</a:t>
                </a:r>
                <a:r>
                  <a:rPr lang="en-AU" sz="1600" i="0" kern="1200">
                    <a:solidFill>
                      <a:schemeClr val="tx1"/>
                    </a:solidFill>
                    <a:effectLst/>
                    <a:latin typeface="Arial" panose="020B0604020202020204" pitchFamily="34" charset="0"/>
                    <a:ea typeface="+mn-ea"/>
                    <a:cs typeface="Arial" panose="020B0604020202020204" pitchFamily="34" charset="0"/>
                  </a:rPr>
                  <a:t>,  </a:t>
                </a:r>
                <a:r>
                  <a:rPr lang="en-AU" sz="1600" b="1" i="0" kern="1200">
                    <a:solidFill>
                      <a:schemeClr val="tx1"/>
                    </a:solidFill>
                    <a:effectLst/>
                    <a:latin typeface="Arial" panose="020B0604020202020204" pitchFamily="34" charset="0"/>
                    <a:ea typeface="+mn-ea"/>
                    <a:cs typeface="Arial" panose="020B0604020202020204" pitchFamily="34" charset="0"/>
                  </a:rPr>
                  <a:t> 𝟑/𝟒</a:t>
                </a:r>
                <a:r>
                  <a:rPr lang="en-AU" sz="1600" kern="1200" dirty="0">
                    <a:solidFill>
                      <a:schemeClr val="tx1"/>
                    </a:solidFill>
                    <a:effectLst/>
                    <a:latin typeface="Arial" panose="020B0604020202020204" pitchFamily="34" charset="0"/>
                    <a:ea typeface="+mn-ea"/>
                    <a:cs typeface="Arial" panose="020B0604020202020204" pitchFamily="34" charset="0"/>
                  </a:rPr>
                  <a:t> and 1 marked at points below the strip.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Using individual whiteboards, students draw and label the fraction strip.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Model determining the complementary fractional part needed to complete one whole. For example, ‘I have half, so I require half to create the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Can you shade </a:t>
                </a:r>
                <a:r>
                  <a:rPr lang="en-AU" sz="1600" b="1" i="0" kern="1200">
                    <a:solidFill>
                      <a:schemeClr val="tx1"/>
                    </a:solidFill>
                    <a:effectLst/>
                    <a:latin typeface="Arial" panose="020B0604020202020204" pitchFamily="34" charset="0"/>
                    <a:ea typeface="+mn-ea"/>
                    <a:cs typeface="Arial" panose="020B0604020202020204" pitchFamily="34" charset="0"/>
                  </a:rPr>
                  <a:t>𝟑/𝟒 </a:t>
                </a:r>
                <a:r>
                  <a:rPr lang="en-AU" sz="1600" i="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of the fraction strip and determine the complementary fraction required to create the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think-pair-share their mathematical thinking discussing how they determined the complementary fractional part.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Draw a diagram of a fractional part, (see Figure 6).</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If this is a quarter of the strip, how big is the whole strip?</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do you know?</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make or draw a model or diagram to show the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working out using diagrams, numbers and words on individual whiteboards.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models and explain their reasoning.</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indent="-285750">
                  <a:buFont typeface="Arial" panose="020B0604020202020204" pitchFamily="34" charset="0"/>
                  <a:buChar char="•"/>
                </a:pPr>
                <a:endParaRPr lang="en-AU" b="0" dirty="0"/>
              </a:p>
              <a:p>
                <a:pPr marL="285750" indent="-285750">
                  <a:buFont typeface="Arial" panose="020B0604020202020204" pitchFamily="34" charset="0"/>
                  <a:buChar char="•"/>
                </a:pPr>
                <a:endParaRPr lang="en-AU" b="1" dirty="0"/>
              </a:p>
              <a:p>
                <a:pPr marL="342900" indent="-342900">
                  <a:buFont typeface="Arial" panose="020B0604020202020204" pitchFamily="34" charset="0"/>
                  <a:buChar char="•"/>
                </a:pPr>
                <a:endParaRPr lang="en-AU" b="0" dirty="0"/>
              </a:p>
              <a:p>
                <a:pPr marL="285750" indent="-285750">
                  <a:buFont typeface="Arial" panose="020B0604020202020204" pitchFamily="34" charset="0"/>
                  <a:buChar char="•"/>
                </a:pPr>
                <a:endParaRPr lang="en-AU" b="1" dirty="0"/>
              </a:p>
              <a:p>
                <a:pPr marL="342900" indent="-342900">
                  <a:buFont typeface="Arial" panose="020B0604020202020204" pitchFamily="34" charset="0"/>
                  <a:buChar char="•"/>
                </a:pPr>
                <a:endParaRPr lang="en-AU" dirty="0"/>
              </a:p>
              <a:p>
                <a:endParaRPr lang="en-AU" dirty="0"/>
              </a:p>
            </p:txBody>
          </p:sp>
        </mc:Fallback>
      </mc:AlternateContent>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Counting fractional parts</a:t>
                </a:r>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‘More, less or equal to one whole’ from </a:t>
                </a:r>
                <a:r>
                  <a:rPr lang="en-AU" sz="1600" i="1" kern="1200" dirty="0">
                    <a:solidFill>
                      <a:schemeClr val="tx1"/>
                    </a:solidFill>
                    <a:effectLst/>
                    <a:latin typeface="Arial" panose="020B0604020202020204" pitchFamily="34" charset="0"/>
                    <a:ea typeface="+mn-ea"/>
                    <a:cs typeface="Arial" panose="020B0604020202020204" pitchFamily="34" charset="0"/>
                  </a:rPr>
                  <a:t>Primary and Middle Years Mathematics</a:t>
                </a:r>
                <a:r>
                  <a:rPr lang="en-AU" sz="1600" kern="1200" dirty="0">
                    <a:solidFill>
                      <a:schemeClr val="tx1"/>
                    </a:solidFill>
                    <a:effectLst/>
                    <a:latin typeface="Arial" panose="020B0604020202020204" pitchFamily="34" charset="0"/>
                    <a:ea typeface="+mn-ea"/>
                    <a:cs typeface="Arial" panose="020B0604020202020204" pitchFamily="34" charset="0"/>
                  </a:rPr>
                  <a:t>, by Van de Walle et al. </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Grandpa Benjamin has started to knit a blanket for his grandchild. He has only had time to create a fraction of the blanket and will finish the rest on the weekend.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Facilitate a discussion by asking: How much more of the whole will Grandpa Benjamin need to knit to finish the blanket?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different fractional parts the scarf could represent and how to create the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use whiteboards to determine two possible outcomes by: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Drawing the part of the blanket.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Drawing the rest of the blanket to create a whole made of equal parts.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Recording the fractional part, the complementary fraction and the whole fraction. </a:t>
                </a:r>
              </a:p>
              <a:p>
                <a:pPr marL="342900" indent="-342900">
                  <a:buFont typeface="Arial" panose="020B0604020202020204" pitchFamily="34" charset="0"/>
                  <a:buChar char="•"/>
                </a:pPr>
                <a:endParaRPr lang="en-AU" dirty="0"/>
              </a:p>
              <a:p>
                <a:endParaRPr lang="en-AU" dirty="0"/>
              </a:p>
            </p:txBody>
          </p:sp>
        </mc:Choice>
        <mc:Fallback xmlns="">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Counting fractional parts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‘More, less or equal to one whole’ from </a:t>
                </a:r>
                <a:r>
                  <a:rPr lang="en-AU" sz="1600" i="1" kern="1200" dirty="0">
                    <a:solidFill>
                      <a:schemeClr val="tx1"/>
                    </a:solidFill>
                    <a:effectLst/>
                    <a:latin typeface="Arial" panose="020B0604020202020204" pitchFamily="34" charset="0"/>
                    <a:ea typeface="+mn-ea"/>
                    <a:cs typeface="Arial" panose="020B0604020202020204" pitchFamily="34" charset="0"/>
                  </a:rPr>
                  <a:t>Primary and Middle Years Mathematics</a:t>
                </a:r>
                <a:r>
                  <a:rPr lang="en-AU" sz="1600" kern="1200" dirty="0">
                    <a:solidFill>
                      <a:schemeClr val="tx1"/>
                    </a:solidFill>
                    <a:effectLst/>
                    <a:latin typeface="Arial" panose="020B0604020202020204" pitchFamily="34" charset="0"/>
                    <a:ea typeface="+mn-ea"/>
                    <a:cs typeface="Arial" panose="020B0604020202020204" pitchFamily="34" charset="0"/>
                  </a:rPr>
                  <a:t>, by Van de Walle et al. </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how to count fractional parts to help understand the relationship between the parts (the numerator) and the whole (the denominator).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Display the fraction one half using (</a:t>
                </a:r>
                <a:r>
                  <a:rPr lang="en-AU" sz="1600" i="0" kern="1200">
                    <a:solidFill>
                      <a:schemeClr val="tx1"/>
                    </a:solidFill>
                    <a:effectLst/>
                    <a:latin typeface="Arial" panose="020B0604020202020204" pitchFamily="34" charset="0"/>
                    <a:ea typeface="+mn-ea"/>
                    <a:cs typeface="Arial" panose="020B0604020202020204" pitchFamily="34" charset="0"/>
                  </a:rPr>
                  <a:t>1/2</a:t>
                </a:r>
                <a:r>
                  <a:rPr lang="en-AU" sz="1600" kern="1200" dirty="0">
                    <a:solidFill>
                      <a:schemeClr val="tx1"/>
                    </a:solidFill>
                    <a:effectLst/>
                    <a:latin typeface="Arial" panose="020B0604020202020204" pitchFamily="34" charset="0"/>
                    <a:ea typeface="+mn-ea"/>
                    <a:cs typeface="Arial" panose="020B0604020202020204" pitchFamily="34" charset="0"/>
                  </a:rPr>
                  <a:t>) numbers. Explain that the top number (numerator) counts and that the bottom number (denominator) tells what is being counted.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Can</a:t>
                </a:r>
                <a:r>
                  <a:rPr lang="en-AU" sz="1600" i="1" kern="1200" dirty="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Arial" panose="020B0604020202020204" pitchFamily="34" charset="0"/>
                    <a:ea typeface="+mn-ea"/>
                    <a:cs typeface="Arial" panose="020B0604020202020204" pitchFamily="34" charset="0"/>
                  </a:rPr>
                  <a:t>3/4  </a:t>
                </a:r>
                <a:r>
                  <a:rPr lang="en-AU" sz="1600" kern="1200" dirty="0">
                    <a:solidFill>
                      <a:schemeClr val="tx1"/>
                    </a:solidFill>
                    <a:effectLst/>
                    <a:latin typeface="Arial" panose="020B0604020202020204" pitchFamily="34" charset="0"/>
                    <a:ea typeface="+mn-ea"/>
                    <a:cs typeface="Arial" panose="020B0604020202020204" pitchFamily="34" charset="0"/>
                  </a:rPr>
                  <a:t>be thought of as a count of three parts called quarters?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their mathematical ideas.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share their thinking with the class.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small groups, provide students with a collection of fractional parts that are all the same size pieces and indicate the kind of fractional part they have. For example, 7 equal sized pieces where each piece is one-eighth.</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Can you decide if the collection is less than one whole, equal to one whole or more than one whole?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draw pictures or diagrams to explain their solutions.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count each collection of parts and discuss the relationship to one whole.</a:t>
                </a:r>
              </a:p>
              <a:p>
                <a:r>
                  <a:rPr lang="en-AU" b="0" dirty="0"/>
                  <a:t> </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Fallback>
      </mc:AlternateContent>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Relating addition and subtraction</a:t>
            </a:r>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Target Number from Math for Love</a:t>
            </a:r>
          </a:p>
          <a:p>
            <a:endParaRPr lang="en-AU" sz="1600" b="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Write a 2-digit ‘target’ number on the board. For example, 56.</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What could be the addition number sentence to obtain this target number as the answer?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Using individual whiteboards, students write down as many different number sentences that have the target number as the answer.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and share one of their number sentences, describing the strategies they used to create it.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Regroup as a class and 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What was an addition number sentence you wrote?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this be represented using a bar model?</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use this addition number sentence to write related subtraction number sentences?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Demonstrate writing related number sentences. For example, if students have written 56 = 30 + 26 related subtraction number sentences could be 56 – 30 = 26 or 56 – 26 = 30.</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the activity can be adapted by using 3-digit numbers.</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i="0" dirty="0">
                <a:solidFill>
                  <a:schemeClr val="tx1"/>
                </a:solidFill>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Complement principle of addition and subtraction</a:t>
            </a:r>
          </a:p>
          <a:p>
            <a:endParaRPr lang="en-AU" b="1"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Closest to 100 (additive strategies) from Mathematics K–12</a:t>
            </a:r>
            <a:r>
              <a:rPr lang="en-AU" sz="1600" u="sng" kern="1200" dirty="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by State of New South Wales (Department of Education).</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the problem: If 30 – 12 = 18, what is 30 – 18?</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Revise that the complement is the amount needed to reach the total in addition and subtraction. For example, if the total is 30 and I have 18, the complement is 12.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the rules of the game where the aim of the game is to use addition or subtraction to get close to a total of 100. The rules include: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winner of the game is the player with the lowest points.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Pairs of students need a whiteboard and a pack of cards, Ace–10.</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 one shuffles the cards and puts them in a central pile. Player 2 takes 6 cards and places them face up for everyone to see.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Each card can only be used once, and it can be used to form a one- or 2-digit number. Not all cards need to be used.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score zero points if they can get exactly 100. Players score points based on the difference between their total and 100. For example, a total of 94 would score 6 points.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number sentence and score on their whiteboard.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play the game.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represent your number sentence using a bar model?</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can you use the word complement to describe your numbers?</a:t>
            </a:r>
          </a:p>
          <a:p>
            <a:pPr marL="342900" indent="-342900">
              <a:buFont typeface="Arial" panose="020B0604020202020204" pitchFamily="34" charset="0"/>
              <a:buChar char="•"/>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Addition and subtraction as inverse operations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1"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Figure 8 – inverse operations example in Stage 2 Unit 8</a:t>
            </a:r>
          </a:p>
          <a:p>
            <a:endParaRPr lang="en-AU" b="1"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Closest to 100  (additive strategies) from Mathematics K–12 by State of New South Wales (Department of Education).</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the problem: If there are 20 pencils in a box. If 7 are red, how many are not red?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mathematical thinking and solutions. Students share their solutions and reasoning with the class.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Revise how addition and subtraction are inverse operations. For example, ‘if you add the 7 pencils back to the 13 pencils left (13 + 7), you get 20 pencils again. When you add back what you took away, you return to the starting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how this shows that subtraction and addition are inverse operations, for example,</a:t>
            </a:r>
            <a:br>
              <a:rPr lang="en-AU" sz="1600" kern="1200" dirty="0">
                <a:solidFill>
                  <a:schemeClr val="tx1"/>
                </a:solidFill>
                <a:effectLst/>
                <a:latin typeface="Arial" panose="020B0604020202020204" pitchFamily="34" charset="0"/>
                <a:ea typeface="+mn-ea"/>
                <a:cs typeface="Arial" panose="020B0604020202020204" pitchFamily="34" charset="0"/>
              </a:rPr>
            </a:br>
            <a:r>
              <a:rPr lang="en-AU" sz="1600" kern="1200" dirty="0">
                <a:solidFill>
                  <a:schemeClr val="tx1"/>
                </a:solidFill>
                <a:effectLst/>
                <a:latin typeface="Arial" panose="020B0604020202020204" pitchFamily="34" charset="0"/>
                <a:ea typeface="+mn-ea"/>
                <a:cs typeface="Arial" panose="020B0604020202020204" pitchFamily="34" charset="0"/>
              </a:rPr>
              <a:t>20 - 7 = 13 and 13 + 7 = 20.</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Repeat Activity 6 – complement principle of addition and subtraction with a different target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Revise the rules of the game where the aim of the game is to use addition or subtraction to get close to the target number. The rules include: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winner of the game is the player with the lowest points.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Pairs of students need a whiteboard and a pack of cards, Ace–10.</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 one shuffles the cards and puts them in a central pile. Player 2 takes 6 cards and places them face up for everyone to see.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Each card can only be used once, and it can be used to form a one- or 2-digit number. Not all cards need to be used.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score zero points if they can get to the target number. Otherwise, players score points based on the difference between their total and the selected target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number sentence and score on their whiteboard.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play the game.</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represent their equation using a bar model and record the inverse operations for their number sentence, see Figure 8.</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Repeat the task for a new target number. </a:t>
            </a:r>
          </a:p>
          <a:p>
            <a:pPr marL="285750" indent="-285750">
              <a:buFont typeface="Arial" panose="020B0604020202020204" pitchFamily="34" charset="0"/>
              <a:buChar char="•"/>
            </a:pPr>
            <a:endParaRPr lang="en-AU" b="1" dirty="0"/>
          </a:p>
          <a:p>
            <a:pPr marL="285750" indent="-285750">
              <a:buFont typeface="Arial" panose="020B0604020202020204" pitchFamily="34" charset="0"/>
              <a:buChar char="•"/>
            </a:pPr>
            <a:endParaRPr lang="en-AU" b="1" dirty="0"/>
          </a:p>
          <a:p>
            <a:pPr marL="342900" indent="-342900">
              <a:buFont typeface="Arial" panose="020B0604020202020204" pitchFamily="34" charset="0"/>
              <a:buChar char="•"/>
            </a:pPr>
            <a:endParaRPr lang="en-AU" b="0" dirty="0"/>
          </a:p>
          <a:p>
            <a:pPr marL="285750" indent="-285750">
              <a:buFont typeface="Arial" panose="020B0604020202020204" pitchFamily="34" charset="0"/>
              <a:buChar char="•"/>
            </a:pPr>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i="0" dirty="0">
                <a:solidFill>
                  <a:schemeClr val="tx1"/>
                </a:solidFill>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Using inverse operations to solve problems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the problem: Ella had 15 marbles. She was given 24 new ones for her birthday. How many marbles does Ella have 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Individually or in pairs, students solve and record solutions on a whiteboard. 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you represent the problem using a number sentence?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explain the steps you took to solve the problem? What did you do first?</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Students share their solutions and reasoning with the class.</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(NEXT SLIDE)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a new problem: Ella had 39 marbles and lost 15 in the playground. How many does marbles does she have 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Individually or in pairs, students solve and record solutions on a whiteboard. 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you represent the problem using a number sentence?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explain the steps you took to solve the problem? What did you do first?</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Do you notice any similarities between the two problems?</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you use the first problem to help you solve the second problem?</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Revise that addition and subtraction are inverse operations.</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Pose a range of similar problems for students to solve.</a:t>
            </a:r>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C5A1-543A-A9BC-4743-BA19129DF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BD641-B944-129C-2EAA-7727940FA4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4FF6D-3122-5F2E-C19C-39FF8A6C238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Using inverse operations to solve problems</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a new problem: Ella had 39 marbles and lost 15 in the playground. How many does marbles does she have 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Individually or in pairs, students solve and record solutions on a whiteboard. Ask:</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you represent the problem using a number sentence?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Can you explain the steps you took to solve the problem? What did you do first?</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Do you notice any similarities between the two problems?</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How could you use the first problem to help you solve the second problem?</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Revise that addition and subtraction are inverse operations.</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Pose a range of similar problems for students to solve.</a:t>
            </a:r>
          </a:p>
          <a:p>
            <a:endParaRPr lang="en-AU" dirty="0"/>
          </a:p>
        </p:txBody>
      </p:sp>
      <p:sp>
        <p:nvSpPr>
          <p:cNvPr id="4" name="Slide Number Placeholder 3">
            <a:extLst>
              <a:ext uri="{FF2B5EF4-FFF2-40B4-BE49-F238E27FC236}">
                <a16:creationId xmlns:a16="http://schemas.microsoft.com/office/drawing/2014/main" id="{D5A6972D-8A8F-76CE-6C95-2B2051179A92}"/>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9249684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6.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2 Year A Unit 8.</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latin typeface="+mj-lt"/>
              </a:rPr>
              <a:t>Mathematics Stage 2 – Unit 8</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3" action="ppaction://hlinksldjump"/>
                </a:rPr>
                <a:t>Review of learning </a:t>
              </a:r>
              <a:r>
                <a:rPr lang="en-AU" dirty="0">
                  <a:solidFill>
                    <a:schemeClr val="accent1"/>
                  </a:solidFill>
                  <a:latin typeface="+mj-lt"/>
                  <a:hlinkClick r:id="rId3" action="ppaction://hlinksldjump"/>
                </a:rPr>
                <a:t>1</a:t>
              </a:r>
              <a:endParaRPr lang="en-AU" dirty="0">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4" action="ppaction://hlinksldjump"/>
                </a:rPr>
                <a:t>Review of learning </a:t>
              </a:r>
              <a:r>
                <a:rPr lang="en-AU" dirty="0">
                  <a:solidFill>
                    <a:schemeClr val="accent1"/>
                  </a:solidFill>
                  <a:latin typeface="+mj-lt"/>
                  <a:hlinkClick r:id="rId4" action="ppaction://hlinksldjump"/>
                </a:rPr>
                <a:t>2</a:t>
              </a:r>
              <a:endParaRPr lang="en-AU" dirty="0">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5" action="ppaction://hlinksldjump"/>
                </a:rPr>
                <a:t>Review of learning </a:t>
              </a:r>
              <a:r>
                <a:rPr lang="en-AU" dirty="0">
                  <a:solidFill>
                    <a:schemeClr val="accent1"/>
                  </a:solidFill>
                  <a:latin typeface="+mj-lt"/>
                  <a:hlinkClick r:id="rId5" action="ppaction://hlinksldjump"/>
                </a:rPr>
                <a:t>3</a:t>
              </a:r>
              <a:endParaRPr lang="en-AU" dirty="0">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6" action="ppaction://hlinksldjump"/>
                </a:rPr>
                <a:t>Review of learning </a:t>
              </a:r>
              <a:r>
                <a:rPr lang="en-AU" dirty="0">
                  <a:solidFill>
                    <a:schemeClr val="accent1"/>
                  </a:solidFill>
                  <a:latin typeface="+mj-lt"/>
                  <a:hlinkClick r:id="rId6" action="ppaction://hlinksldjump"/>
                </a:rPr>
                <a:t>4</a:t>
              </a:r>
              <a:endParaRPr lang="en-AU" dirty="0">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7" action="ppaction://hlinksldjump"/>
                </a:rPr>
                <a:t>Review of learning </a:t>
              </a:r>
              <a:r>
                <a:rPr lang="en-AU" dirty="0">
                  <a:solidFill>
                    <a:schemeClr val="accent1"/>
                  </a:solidFill>
                  <a:latin typeface="+mj-lt"/>
                  <a:hlinkClick r:id="rId7" action="ppaction://hlinksldjump"/>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8" action="ppaction://hlinksldjump"/>
                </a:rPr>
                <a:t>Review of learning </a:t>
              </a:r>
              <a:r>
                <a:rPr lang="en-AU" dirty="0">
                  <a:solidFill>
                    <a:schemeClr val="accent1"/>
                  </a:solidFill>
                  <a:latin typeface="+mj-lt"/>
                  <a:hlinkClick r:id="rId8" action="ppaction://hlinksldjump"/>
                </a:rPr>
                <a:t>6</a:t>
              </a:r>
              <a:endParaRPr lang="en-AU" dirty="0">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9" action="ppaction://hlinksldjump"/>
                </a:rPr>
                <a:t>Review of learning </a:t>
              </a:r>
              <a:r>
                <a:rPr lang="en-AU" dirty="0">
                  <a:solidFill>
                    <a:schemeClr val="accent1"/>
                  </a:solidFill>
                  <a:latin typeface="+mj-lt"/>
                  <a:hlinkClick r:id="rId9" action="ppaction://hlinksldjump"/>
                </a:rPr>
                <a:t>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10" action="ppaction://hlinksldjump"/>
                </a:rPr>
                <a:t>Review of learning </a:t>
              </a:r>
              <a:r>
                <a:rPr lang="en-AU" dirty="0">
                  <a:solidFill>
                    <a:schemeClr val="accent1"/>
                  </a:solidFill>
                  <a:latin typeface="+mj-lt"/>
                  <a:hlinkClick r:id="rId10" action="ppaction://hlinksldjump"/>
                </a:rPr>
                <a:t>8</a:t>
              </a:r>
              <a:endParaRPr lang="en-AU" dirty="0">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a:t>
            </a:r>
            <a:r>
              <a:rPr lang="en-US" dirty="0">
                <a:solidFill>
                  <a:schemeClr val="bg1"/>
                </a:solidFill>
              </a:rPr>
              <a:t> (1)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076713"/>
            <a:ext cx="11243037" cy="893226"/>
          </a:xfrm>
        </p:spPr>
        <p:txBody>
          <a:bodyPr/>
          <a:lstStyle/>
          <a:p>
            <a:pPr algn="ctr"/>
            <a:r>
              <a:rPr lang="en-US" sz="3600" dirty="0"/>
              <a:t>Which </a:t>
            </a:r>
            <a:r>
              <a:rPr lang="en-US" sz="3600" b="1" dirty="0"/>
              <a:t>fraction</a:t>
            </a:r>
            <a:r>
              <a:rPr lang="en-US" sz="3600" dirty="0"/>
              <a:t> is placed </a:t>
            </a:r>
            <a:r>
              <a:rPr lang="en-US" sz="3600" b="1" dirty="0"/>
              <a:t>here</a:t>
            </a:r>
            <a:r>
              <a:rPr lang="en-US" sz="3600" dirty="0"/>
              <a:t> on the number line?</a:t>
            </a:r>
          </a:p>
        </p:txBody>
      </p:sp>
      <p:pic>
        <p:nvPicPr>
          <p:cNvPr id="8" name="Picture 7" descr="A number line 0-1. A fraction strip sits above it with eight equal parts (eighths). An arrow is pointing to a line marked on the number line at the one-eighths place.">
            <a:extLst>
              <a:ext uri="{FF2B5EF4-FFF2-40B4-BE49-F238E27FC236}">
                <a16:creationId xmlns:a16="http://schemas.microsoft.com/office/drawing/2014/main" id="{2FF4BC20-5BE5-FA82-B24C-6ED6F2FCDD89}"/>
              </a:ext>
            </a:extLst>
          </p:cNvPr>
          <p:cNvPicPr>
            <a:picLocks noChangeAspect="1"/>
          </p:cNvPicPr>
          <p:nvPr/>
        </p:nvPicPr>
        <p:blipFill>
          <a:blip r:embed="rId4"/>
          <a:stretch>
            <a:fillRect/>
          </a:stretch>
        </p:blipFill>
        <p:spPr>
          <a:xfrm>
            <a:off x="2051567" y="1969939"/>
            <a:ext cx="8088866" cy="2336225"/>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55D882C-AF43-C390-844D-CF785253532C}"/>
              </a:ext>
            </a:extLst>
          </p:cNvPr>
          <p:cNvSpPr txBox="1"/>
          <p:nvPr/>
        </p:nvSpPr>
        <p:spPr>
          <a:xfrm>
            <a:off x="1215766" y="47188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8975780-9921-4C7D-96FF-E18178403E88}"/>
                  </a:ext>
                </a:extLst>
              </p:cNvPr>
              <p:cNvSpPr txBox="1"/>
              <p:nvPr/>
            </p:nvSpPr>
            <p:spPr>
              <a:xfrm>
                <a:off x="951102" y="5601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10</m:t>
                          </m:r>
                        </m:den>
                      </m:f>
                    </m:oMath>
                  </m:oMathPara>
                </a14:m>
                <a:endParaRPr lang="en-AU" sz="2800" dirty="0"/>
              </a:p>
            </p:txBody>
          </p:sp>
        </mc:Choice>
        <mc:Fallback xmlns="">
          <p:sp>
            <p:nvSpPr>
              <p:cNvPr id="20" name="TextBox 19">
                <a:extLst>
                  <a:ext uri="{FF2B5EF4-FFF2-40B4-BE49-F238E27FC236}">
                    <a16:creationId xmlns:a16="http://schemas.microsoft.com/office/drawing/2014/main" id="{A8975780-9921-4C7D-96FF-E18178403E88}"/>
                  </a:ext>
                </a:extLst>
              </p:cNvPr>
              <p:cNvSpPr txBox="1">
                <a:spLocks noRot="1" noChangeAspect="1" noMove="1" noResize="1" noEditPoints="1" noAdjustHandles="1" noChangeArrowheads="1" noChangeShapeType="1" noTextEdit="1"/>
              </p:cNvSpPr>
              <p:nvPr/>
            </p:nvSpPr>
            <p:spPr>
              <a:xfrm>
                <a:off x="951102" y="5601600"/>
                <a:ext cx="914400" cy="914400"/>
              </a:xfrm>
              <a:prstGeom prst="rect">
                <a:avLst/>
              </a:prstGeom>
              <a:blipFill>
                <a:blip r:embed="rId5"/>
                <a:stretch>
                  <a:fillRect/>
                </a:stretch>
              </a:blipFill>
            </p:spPr>
            <p:txBody>
              <a:bodyPr/>
              <a:lstStyle/>
              <a:p>
                <a:r>
                  <a:rPr lang="en-AU">
                    <a:noFill/>
                  </a:rPr>
                  <a:t> </a:t>
                </a:r>
              </a:p>
            </p:txBody>
          </p:sp>
        </mc:Fallback>
      </mc:AlternateContent>
      <p:sp>
        <p:nvSpPr>
          <p:cNvPr id="10" name="TextBox 9">
            <a:extLst>
              <a:ext uri="{FF2B5EF4-FFF2-40B4-BE49-F238E27FC236}">
                <a16:creationId xmlns:a16="http://schemas.microsoft.com/office/drawing/2014/main" id="{3A7CB9AE-0F31-FA92-BCB3-C4AD3EF18B05}"/>
              </a:ext>
            </a:extLst>
          </p:cNvPr>
          <p:cNvSpPr txBox="1"/>
          <p:nvPr/>
        </p:nvSpPr>
        <p:spPr>
          <a:xfrm>
            <a:off x="4219739" y="47188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0380DC9-BC76-E8CA-2073-204ED7665FF5}"/>
                  </a:ext>
                </a:extLst>
              </p:cNvPr>
              <p:cNvSpPr txBox="1"/>
              <p:nvPr/>
            </p:nvSpPr>
            <p:spPr>
              <a:xfrm>
                <a:off x="4027253" y="5601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8</m:t>
                          </m:r>
                        </m:den>
                      </m:f>
                    </m:oMath>
                  </m:oMathPara>
                </a14:m>
                <a:endParaRPr lang="en-AU" sz="2800" dirty="0"/>
              </a:p>
            </p:txBody>
          </p:sp>
        </mc:Choice>
        <mc:Fallback xmlns="">
          <p:sp>
            <p:nvSpPr>
              <p:cNvPr id="21" name="TextBox 20">
                <a:extLst>
                  <a:ext uri="{FF2B5EF4-FFF2-40B4-BE49-F238E27FC236}">
                    <a16:creationId xmlns:a16="http://schemas.microsoft.com/office/drawing/2014/main" id="{90380DC9-BC76-E8CA-2073-204ED7665FF5}"/>
                  </a:ext>
                </a:extLst>
              </p:cNvPr>
              <p:cNvSpPr txBox="1">
                <a:spLocks noRot="1" noChangeAspect="1" noMove="1" noResize="1" noEditPoints="1" noAdjustHandles="1" noChangeArrowheads="1" noChangeShapeType="1" noTextEdit="1"/>
              </p:cNvSpPr>
              <p:nvPr/>
            </p:nvSpPr>
            <p:spPr>
              <a:xfrm>
                <a:off x="4027253" y="5601600"/>
                <a:ext cx="914400" cy="914400"/>
              </a:xfrm>
              <a:prstGeom prst="rect">
                <a:avLst/>
              </a:prstGeom>
              <a:blipFill>
                <a:blip r:embed="rId6"/>
                <a:stretch>
                  <a:fillRect/>
                </a:stretch>
              </a:blipFill>
            </p:spPr>
            <p:txBody>
              <a:bodyPr/>
              <a:lstStyle/>
              <a:p>
                <a:r>
                  <a:rPr lang="en-AU">
                    <a:noFill/>
                  </a:rPr>
                  <a:t> </a:t>
                </a:r>
              </a:p>
            </p:txBody>
          </p:sp>
        </mc:Fallback>
      </mc:AlternateContent>
      <p:sp>
        <p:nvSpPr>
          <p:cNvPr id="12" name="TextBox 11">
            <a:extLst>
              <a:ext uri="{FF2B5EF4-FFF2-40B4-BE49-F238E27FC236}">
                <a16:creationId xmlns:a16="http://schemas.microsoft.com/office/drawing/2014/main" id="{92ADCA88-1230-AEE8-EFD6-D8F0DF7EEE5C}"/>
              </a:ext>
            </a:extLst>
          </p:cNvPr>
          <p:cNvSpPr txBox="1"/>
          <p:nvPr/>
        </p:nvSpPr>
        <p:spPr>
          <a:xfrm>
            <a:off x="7223712" y="47188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57A8413-ADAC-FDE2-9F0D-FE8EA1E49AEF}"/>
                  </a:ext>
                </a:extLst>
              </p:cNvPr>
              <p:cNvSpPr txBox="1"/>
              <p:nvPr/>
            </p:nvSpPr>
            <p:spPr>
              <a:xfrm>
                <a:off x="7031226" y="5601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6</m:t>
                          </m:r>
                        </m:den>
                      </m:f>
                    </m:oMath>
                  </m:oMathPara>
                </a14:m>
                <a:endParaRPr lang="en-AU" sz="2800" dirty="0"/>
              </a:p>
            </p:txBody>
          </p:sp>
        </mc:Choice>
        <mc:Fallback xmlns="">
          <p:sp>
            <p:nvSpPr>
              <p:cNvPr id="22" name="TextBox 21">
                <a:extLst>
                  <a:ext uri="{FF2B5EF4-FFF2-40B4-BE49-F238E27FC236}">
                    <a16:creationId xmlns:a16="http://schemas.microsoft.com/office/drawing/2014/main" id="{857A8413-ADAC-FDE2-9F0D-FE8EA1E49AEF}"/>
                  </a:ext>
                </a:extLst>
              </p:cNvPr>
              <p:cNvSpPr txBox="1">
                <a:spLocks noRot="1" noChangeAspect="1" noMove="1" noResize="1" noEditPoints="1" noAdjustHandles="1" noChangeArrowheads="1" noChangeShapeType="1" noTextEdit="1"/>
              </p:cNvSpPr>
              <p:nvPr/>
            </p:nvSpPr>
            <p:spPr>
              <a:xfrm>
                <a:off x="7031226" y="5601600"/>
                <a:ext cx="914400" cy="914400"/>
              </a:xfrm>
              <a:prstGeom prst="rect">
                <a:avLst/>
              </a:prstGeom>
              <a:blipFill>
                <a:blip r:embed="rId7"/>
                <a:stretch>
                  <a:fillRect/>
                </a:stretch>
              </a:blipFill>
            </p:spPr>
            <p:txBody>
              <a:bodyPr/>
              <a:lstStyle/>
              <a:p>
                <a:r>
                  <a:rPr lang="en-AU">
                    <a:noFill/>
                  </a:rPr>
                  <a:t> </a:t>
                </a:r>
              </a:p>
            </p:txBody>
          </p:sp>
        </mc:Fallback>
      </mc:AlternateContent>
      <p:sp>
        <p:nvSpPr>
          <p:cNvPr id="11" name="TextBox 10">
            <a:extLst>
              <a:ext uri="{FF2B5EF4-FFF2-40B4-BE49-F238E27FC236}">
                <a16:creationId xmlns:a16="http://schemas.microsoft.com/office/drawing/2014/main" id="{F2C63D4C-D53C-5250-A986-AB949B67DEB8}"/>
              </a:ext>
            </a:extLst>
          </p:cNvPr>
          <p:cNvSpPr txBox="1"/>
          <p:nvPr/>
        </p:nvSpPr>
        <p:spPr>
          <a:xfrm>
            <a:off x="10227686" y="47188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2DBE8B1-FDA8-152A-E458-7BE92C6C213E}"/>
                  </a:ext>
                </a:extLst>
              </p:cNvPr>
              <p:cNvSpPr txBox="1"/>
              <p:nvPr/>
            </p:nvSpPr>
            <p:spPr>
              <a:xfrm>
                <a:off x="9971797" y="5631344"/>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4</m:t>
                          </m:r>
                        </m:den>
                      </m:f>
                    </m:oMath>
                  </m:oMathPara>
                </a14:m>
                <a:endParaRPr lang="en-AU" sz="2800" dirty="0"/>
              </a:p>
            </p:txBody>
          </p:sp>
        </mc:Choice>
        <mc:Fallback xmlns="">
          <p:sp>
            <p:nvSpPr>
              <p:cNvPr id="23" name="TextBox 22">
                <a:extLst>
                  <a:ext uri="{FF2B5EF4-FFF2-40B4-BE49-F238E27FC236}">
                    <a16:creationId xmlns:a16="http://schemas.microsoft.com/office/drawing/2014/main" id="{C2DBE8B1-FDA8-152A-E458-7BE92C6C213E}"/>
                  </a:ext>
                </a:extLst>
              </p:cNvPr>
              <p:cNvSpPr txBox="1">
                <a:spLocks noRot="1" noChangeAspect="1" noMove="1" noResize="1" noEditPoints="1" noAdjustHandles="1" noChangeArrowheads="1" noChangeShapeType="1" noTextEdit="1"/>
              </p:cNvSpPr>
              <p:nvPr/>
            </p:nvSpPr>
            <p:spPr>
              <a:xfrm>
                <a:off x="9971797" y="5631344"/>
                <a:ext cx="914400" cy="914400"/>
              </a:xfrm>
              <a:prstGeom prst="rect">
                <a:avLst/>
              </a:prstGeom>
              <a:blipFill>
                <a:blip r:embed="rId8"/>
                <a:stretch>
                  <a:fillRect/>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dirty="0"/>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AB723B61-4124-74FC-CF09-ADC107C3F005}"/>
              </a:ext>
            </a:extLst>
          </p:cNvPr>
          <p:cNvSpPr txBox="1">
            <a:spLocks/>
          </p:cNvSpPr>
          <p:nvPr/>
        </p:nvSpPr>
        <p:spPr>
          <a:xfrm>
            <a:off x="1465324" y="2084683"/>
            <a:ext cx="965867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dirty="0"/>
              <a:t>Describe how to get from your </a:t>
            </a:r>
            <a:r>
              <a:rPr lang="en-US" sz="3600" b="1" dirty="0"/>
              <a:t>classroom</a:t>
            </a:r>
            <a:r>
              <a:rPr lang="en-US" sz="3600" dirty="0"/>
              <a:t> to the </a:t>
            </a:r>
            <a:r>
              <a:rPr lang="en-US" sz="3600" b="1" dirty="0"/>
              <a:t>school office</a:t>
            </a:r>
            <a:r>
              <a:rPr lang="en-US" sz="3600" dirty="0"/>
              <a:t>. </a:t>
            </a:r>
            <a:endParaRPr lang="en-US" sz="3600" b="1" dirty="0">
              <a:solidFill>
                <a:schemeClr val="tx2"/>
              </a:solidFill>
            </a:endParaRP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9" name="Text Placeholder 17">
            <a:extLst>
              <a:ext uri="{FF2B5EF4-FFF2-40B4-BE49-F238E27FC236}">
                <a16:creationId xmlns:a16="http://schemas.microsoft.com/office/drawing/2014/main" id="{BDD058D0-C975-A543-5013-0EA437F65F70}"/>
              </a:ext>
            </a:extLst>
          </p:cNvPr>
          <p:cNvSpPr txBox="1">
            <a:spLocks/>
          </p:cNvSpPr>
          <p:nvPr/>
        </p:nvSpPr>
        <p:spPr>
          <a:xfrm>
            <a:off x="474481" y="76995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dirty="0"/>
              <a:t>Record</a:t>
            </a:r>
            <a:r>
              <a:rPr lang="en-US" sz="3600" dirty="0"/>
              <a:t> the pattern</a:t>
            </a:r>
            <a:r>
              <a:rPr lang="en-US" sz="3200" dirty="0"/>
              <a:t>.</a:t>
            </a:r>
          </a:p>
        </p:txBody>
      </p:sp>
      <p:pic>
        <p:nvPicPr>
          <p:cNvPr id="7" name="Picture 6" descr="An increasing dice pattern, 4, 8, 12, 16">
            <a:extLst>
              <a:ext uri="{FF2B5EF4-FFF2-40B4-BE49-F238E27FC236}">
                <a16:creationId xmlns:a16="http://schemas.microsoft.com/office/drawing/2014/main" id="{EA3B9730-72AD-9E28-0D1F-95F9C9A083B1}"/>
              </a:ext>
            </a:extLst>
          </p:cNvPr>
          <p:cNvPicPr>
            <a:picLocks noChangeAspect="1"/>
          </p:cNvPicPr>
          <p:nvPr/>
        </p:nvPicPr>
        <p:blipFill>
          <a:blip r:embed="rId4"/>
          <a:stretch>
            <a:fillRect/>
          </a:stretch>
        </p:blipFill>
        <p:spPr>
          <a:xfrm>
            <a:off x="4599087" y="1873998"/>
            <a:ext cx="2993824" cy="3035550"/>
          </a:xfrm>
          <a:prstGeom prst="rect">
            <a:avLst/>
          </a:prstGeom>
          <a:ln>
            <a:noFill/>
          </a:ln>
          <a:effectLst/>
        </p:spPr>
      </p:pic>
      <p:sp>
        <p:nvSpPr>
          <p:cNvPr id="8" name="Text Placeholder 17">
            <a:extLst>
              <a:ext uri="{FF2B5EF4-FFF2-40B4-BE49-F238E27FC236}">
                <a16:creationId xmlns:a16="http://schemas.microsoft.com/office/drawing/2014/main" id="{85828BDD-424D-325B-5D0A-00810A02AF11}"/>
              </a:ext>
            </a:extLst>
          </p:cNvPr>
          <p:cNvSpPr txBox="1">
            <a:spLocks/>
          </p:cNvSpPr>
          <p:nvPr/>
        </p:nvSpPr>
        <p:spPr>
          <a:xfrm>
            <a:off x="600963" y="490954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dirty="0"/>
              <a:t>Describe</a:t>
            </a:r>
            <a:r>
              <a:rPr lang="en-US" sz="3600" dirty="0"/>
              <a:t> the </a:t>
            </a:r>
            <a:r>
              <a:rPr lang="en-US" sz="3600" b="1" dirty="0"/>
              <a:t>rule</a:t>
            </a:r>
            <a:r>
              <a:rPr lang="en-US" sz="3600" dirty="0"/>
              <a:t> for the pattern.</a:t>
            </a:r>
          </a:p>
        </p:txBody>
      </p:sp>
      <p:sp>
        <p:nvSpPr>
          <p:cNvPr id="10" name="Text Placeholder 17">
            <a:extLst>
              <a:ext uri="{FF2B5EF4-FFF2-40B4-BE49-F238E27FC236}">
                <a16:creationId xmlns:a16="http://schemas.microsoft.com/office/drawing/2014/main" id="{C6391D01-F701-015D-8B5E-D6EC41A0D214}"/>
              </a:ext>
            </a:extLst>
          </p:cNvPr>
          <p:cNvSpPr txBox="1">
            <a:spLocks/>
          </p:cNvSpPr>
          <p:nvPr/>
        </p:nvSpPr>
        <p:spPr>
          <a:xfrm>
            <a:off x="702939" y="586746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dirty="0"/>
              <a:t>Record</a:t>
            </a:r>
            <a:r>
              <a:rPr lang="en-US" sz="3600" dirty="0"/>
              <a:t> the next </a:t>
            </a:r>
            <a:r>
              <a:rPr lang="en-US" sz="3600" b="1" dirty="0"/>
              <a:t>3</a:t>
            </a:r>
            <a:r>
              <a:rPr lang="en-US" sz="3600" dirty="0"/>
              <a:t> numbers in the pattern.</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5" name="Text Placeholder 17">
            <a:extLst>
              <a:ext uri="{FF2B5EF4-FFF2-40B4-BE49-F238E27FC236}">
                <a16:creationId xmlns:a16="http://schemas.microsoft.com/office/drawing/2014/main" id="{00421ED5-D4C2-91BC-533A-3025314B436D}"/>
              </a:ext>
            </a:extLst>
          </p:cNvPr>
          <p:cNvSpPr txBox="1">
            <a:spLocks/>
          </p:cNvSpPr>
          <p:nvPr/>
        </p:nvSpPr>
        <p:spPr>
          <a:xfrm>
            <a:off x="360000" y="1058202"/>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t>Starting at </a:t>
            </a:r>
            <a:r>
              <a:rPr lang="en-US" sz="4400" b="1" dirty="0">
                <a:solidFill>
                  <a:schemeClr val="accent2"/>
                </a:solidFill>
              </a:rPr>
              <a:t>2631</a:t>
            </a:r>
          </a:p>
        </p:txBody>
      </p:sp>
      <p:sp>
        <p:nvSpPr>
          <p:cNvPr id="7" name="Text Placeholder 17">
            <a:extLst>
              <a:ext uri="{FF2B5EF4-FFF2-40B4-BE49-F238E27FC236}">
                <a16:creationId xmlns:a16="http://schemas.microsoft.com/office/drawing/2014/main" id="{9D018637-ED1D-18BD-B54F-0BAB220031E0}"/>
              </a:ext>
            </a:extLst>
          </p:cNvPr>
          <p:cNvSpPr txBox="1">
            <a:spLocks/>
          </p:cNvSpPr>
          <p:nvPr/>
        </p:nvSpPr>
        <p:spPr>
          <a:xfrm>
            <a:off x="166618" y="2282943"/>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ctr">
              <a:buFont typeface="Arial" panose="020B0604020202020204" pitchFamily="34" charset="0"/>
              <a:buChar char="•"/>
            </a:pPr>
            <a:r>
              <a:rPr lang="en-US" sz="3600" dirty="0"/>
              <a:t>Count </a:t>
            </a:r>
            <a:r>
              <a:rPr lang="en-US" sz="3600" b="1" dirty="0"/>
              <a:t>forwards</a:t>
            </a:r>
            <a:r>
              <a:rPr lang="en-US" sz="3600" dirty="0"/>
              <a:t> by </a:t>
            </a:r>
            <a:r>
              <a:rPr lang="en-US" sz="3600" b="1" dirty="0"/>
              <a:t>hundreds</a:t>
            </a:r>
            <a:r>
              <a:rPr lang="en-US" sz="3600" dirty="0"/>
              <a:t> to </a:t>
            </a:r>
            <a:r>
              <a:rPr lang="en-US" sz="3600" b="1" dirty="0">
                <a:solidFill>
                  <a:schemeClr val="tx2"/>
                </a:solidFill>
              </a:rPr>
              <a:t>3231</a:t>
            </a:r>
          </a:p>
        </p:txBody>
      </p:sp>
      <p:sp>
        <p:nvSpPr>
          <p:cNvPr id="8" name="Text Placeholder 17">
            <a:extLst>
              <a:ext uri="{FF2B5EF4-FFF2-40B4-BE49-F238E27FC236}">
                <a16:creationId xmlns:a16="http://schemas.microsoft.com/office/drawing/2014/main" id="{86609063-2D14-4785-E9D1-053E853DA514}"/>
              </a:ext>
            </a:extLst>
          </p:cNvPr>
          <p:cNvSpPr txBox="1">
            <a:spLocks/>
          </p:cNvSpPr>
          <p:nvPr/>
        </p:nvSpPr>
        <p:spPr>
          <a:xfrm>
            <a:off x="166618" y="3115815"/>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ctr">
              <a:buFont typeface="Arial" panose="020B0604020202020204" pitchFamily="34" charset="0"/>
              <a:buChar char="•"/>
            </a:pPr>
            <a:r>
              <a:rPr lang="en-US" sz="3600" dirty="0"/>
              <a:t>Count </a:t>
            </a:r>
            <a:r>
              <a:rPr lang="en-US" sz="3600" b="1" dirty="0"/>
              <a:t>backwards</a:t>
            </a:r>
            <a:r>
              <a:rPr lang="en-US" sz="3600" dirty="0"/>
              <a:t> by </a:t>
            </a:r>
            <a:r>
              <a:rPr lang="en-US" sz="3600" b="1" dirty="0"/>
              <a:t>hundreds</a:t>
            </a:r>
            <a:r>
              <a:rPr lang="en-US" sz="3600" dirty="0"/>
              <a:t> to </a:t>
            </a:r>
            <a:r>
              <a:rPr lang="en-US" sz="3600" b="1" dirty="0">
                <a:solidFill>
                  <a:schemeClr val="tx2"/>
                </a:solidFill>
              </a:rPr>
              <a:t>2131</a:t>
            </a:r>
          </a:p>
        </p:txBody>
      </p:sp>
      <p:sp>
        <p:nvSpPr>
          <p:cNvPr id="9" name="Text Placeholder 17">
            <a:extLst>
              <a:ext uri="{FF2B5EF4-FFF2-40B4-BE49-F238E27FC236}">
                <a16:creationId xmlns:a16="http://schemas.microsoft.com/office/drawing/2014/main" id="{23E3F8ED-91F2-F15F-0D80-6A7F35F228FB}"/>
              </a:ext>
            </a:extLst>
          </p:cNvPr>
          <p:cNvSpPr txBox="1">
            <a:spLocks/>
          </p:cNvSpPr>
          <p:nvPr/>
        </p:nvSpPr>
        <p:spPr>
          <a:xfrm>
            <a:off x="240963" y="400343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ctr">
              <a:buFont typeface="Arial" panose="020B0604020202020204" pitchFamily="34" charset="0"/>
              <a:buChar char="•"/>
            </a:pPr>
            <a:r>
              <a:rPr lang="en-US" sz="3600" dirty="0"/>
              <a:t>Count </a:t>
            </a:r>
            <a:r>
              <a:rPr lang="en-US" sz="3600" b="1" dirty="0"/>
              <a:t>forwards</a:t>
            </a:r>
            <a:r>
              <a:rPr lang="en-US" sz="3600" dirty="0"/>
              <a:t> by </a:t>
            </a:r>
            <a:r>
              <a:rPr lang="en-US" sz="3600" b="1" dirty="0"/>
              <a:t>tens</a:t>
            </a:r>
            <a:r>
              <a:rPr lang="en-US" sz="3600" dirty="0"/>
              <a:t> to </a:t>
            </a:r>
            <a:r>
              <a:rPr lang="en-US" sz="3600" b="1" dirty="0">
                <a:solidFill>
                  <a:schemeClr val="tx2"/>
                </a:solidFill>
              </a:rPr>
              <a:t>2721</a:t>
            </a:r>
          </a:p>
        </p:txBody>
      </p:sp>
      <p:sp>
        <p:nvSpPr>
          <p:cNvPr id="10" name="Text Placeholder 17">
            <a:extLst>
              <a:ext uri="{FF2B5EF4-FFF2-40B4-BE49-F238E27FC236}">
                <a16:creationId xmlns:a16="http://schemas.microsoft.com/office/drawing/2014/main" id="{0B1A7006-947C-1D1C-2A51-F9DA88D2CAE6}"/>
              </a:ext>
            </a:extLst>
          </p:cNvPr>
          <p:cNvSpPr txBox="1">
            <a:spLocks/>
          </p:cNvSpPr>
          <p:nvPr/>
        </p:nvSpPr>
        <p:spPr>
          <a:xfrm>
            <a:off x="240963" y="478155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ctr">
              <a:buFont typeface="Arial" panose="020B0604020202020204" pitchFamily="34" charset="0"/>
              <a:buChar char="•"/>
            </a:pPr>
            <a:r>
              <a:rPr lang="en-US" sz="3600" dirty="0"/>
              <a:t>Count </a:t>
            </a:r>
            <a:r>
              <a:rPr lang="en-US" sz="3600" b="1" dirty="0"/>
              <a:t>backwards</a:t>
            </a:r>
            <a:r>
              <a:rPr lang="en-US" sz="3600" dirty="0"/>
              <a:t> by </a:t>
            </a:r>
            <a:r>
              <a:rPr lang="en-US" sz="3600" b="1" dirty="0"/>
              <a:t>tens</a:t>
            </a:r>
            <a:r>
              <a:rPr lang="en-US" sz="3600" dirty="0"/>
              <a:t> to </a:t>
            </a:r>
            <a:r>
              <a:rPr lang="en-US" sz="3600" b="1" dirty="0">
                <a:solidFill>
                  <a:schemeClr val="tx2"/>
                </a:solidFill>
              </a:rPr>
              <a:t>2581</a:t>
            </a:r>
          </a:p>
        </p:txBody>
      </p:sp>
    </p:spTree>
    <p:extLst>
      <p:ext uri="{BB962C8B-B14F-4D97-AF65-F5344CB8AC3E}">
        <p14:creationId xmlns:p14="http://schemas.microsoft.com/office/powerpoint/2010/main" val="63897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47821"/>
            <a:ext cx="10367268" cy="545601"/>
          </a:xfrm>
        </p:spPr>
        <p:txBody>
          <a:bodyPr/>
          <a:lstStyle/>
          <a:p>
            <a:r>
              <a:rPr lang="en-AU" dirty="0"/>
              <a:t>Short response </a:t>
            </a:r>
            <a:r>
              <a:rPr lang="en-AU" dirty="0">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8" name="Text Placeholder 17">
            <a:extLst>
              <a:ext uri="{FF2B5EF4-FFF2-40B4-BE49-F238E27FC236}">
                <a16:creationId xmlns:a16="http://schemas.microsoft.com/office/drawing/2014/main" id="{10616A29-D108-CC39-D159-355B2518A978}"/>
              </a:ext>
            </a:extLst>
          </p:cNvPr>
          <p:cNvSpPr txBox="1">
            <a:spLocks/>
          </p:cNvSpPr>
          <p:nvPr/>
        </p:nvSpPr>
        <p:spPr>
          <a:xfrm>
            <a:off x="535757" y="1184223"/>
            <a:ext cx="521012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If you are standing on the </a:t>
            </a:r>
            <a:r>
              <a:rPr lang="en-US" sz="3200" b="1" dirty="0"/>
              <a:t>basketball court, facing the canteen, </a:t>
            </a:r>
            <a:r>
              <a:rPr lang="en-US" sz="3200" dirty="0"/>
              <a:t>what is</a:t>
            </a:r>
          </a:p>
          <a:p>
            <a:pPr marL="571500" indent="-571500">
              <a:buFont typeface="Arial" panose="020B0604020202020204" pitchFamily="34" charset="0"/>
              <a:buChar char="•"/>
            </a:pPr>
            <a:r>
              <a:rPr lang="en-US" sz="3200" dirty="0"/>
              <a:t>on your </a:t>
            </a:r>
            <a:r>
              <a:rPr lang="en-US" sz="3200" b="1" dirty="0"/>
              <a:t>right</a:t>
            </a:r>
            <a:r>
              <a:rPr lang="en-US" sz="3200" dirty="0"/>
              <a:t>?</a:t>
            </a:r>
          </a:p>
          <a:p>
            <a:pPr marL="571500" indent="-571500">
              <a:buFont typeface="Arial" panose="020B0604020202020204" pitchFamily="34" charset="0"/>
              <a:buChar char="•"/>
            </a:pPr>
            <a:r>
              <a:rPr lang="en-US" sz="3200" dirty="0"/>
              <a:t>on your </a:t>
            </a:r>
            <a:r>
              <a:rPr lang="en-US" sz="3200" b="1" dirty="0"/>
              <a:t>left</a:t>
            </a:r>
            <a:r>
              <a:rPr lang="en-US" sz="3200" dirty="0"/>
              <a:t>?</a:t>
            </a:r>
          </a:p>
          <a:p>
            <a:pPr marL="571500" indent="-571500">
              <a:buFont typeface="Arial" panose="020B0604020202020204" pitchFamily="34" charset="0"/>
              <a:buChar char="•"/>
            </a:pPr>
            <a:r>
              <a:rPr lang="en-US" sz="3200" b="1" dirty="0"/>
              <a:t>behind </a:t>
            </a:r>
            <a:r>
              <a:rPr lang="en-US" sz="3200" dirty="0"/>
              <a:t>you?</a:t>
            </a:r>
          </a:p>
          <a:p>
            <a:endParaRPr lang="en-US" sz="3200" dirty="0"/>
          </a:p>
          <a:p>
            <a:pPr marL="571500" indent="-571500">
              <a:buFont typeface="Arial" panose="020B0604020202020204" pitchFamily="34" charset="0"/>
              <a:buChar char="•"/>
            </a:pPr>
            <a:endParaRPr lang="en-US" sz="2800" dirty="0"/>
          </a:p>
          <a:p>
            <a:pPr marL="571500" indent="-571500">
              <a:buFont typeface="Arial" panose="020B0604020202020204" pitchFamily="34" charset="0"/>
              <a:buChar char="•"/>
            </a:pPr>
            <a:endParaRPr lang="en-US" sz="3600" dirty="0"/>
          </a:p>
        </p:txBody>
      </p:sp>
      <p:pic>
        <p:nvPicPr>
          <p:cNvPr id="9" name="Picture 8" descr="A map of a school.&#10;Landmarks are as follows (top left and moving clockwise:&#10;Hall, kindergarten class, playground, seating area, Year 2 and 3 classrooms, Handball courts, Year 6 classrooms and the office. The centre of the map has canteen, year 2 classrooms, basketball court, library, Year 4 and 5 classrooms.From left to right, the seating area is between the year 2 and 3 classrooms and the soccer field. From top to bottom, the canteen is between the hall and the basketball court. From left to right the basketball court is between the office and the library.&#10;">
            <a:extLst>
              <a:ext uri="{FF2B5EF4-FFF2-40B4-BE49-F238E27FC236}">
                <a16:creationId xmlns:a16="http://schemas.microsoft.com/office/drawing/2014/main" id="{1E7BA075-D10C-9AAC-2874-1041E08305B1}"/>
              </a:ext>
            </a:extLst>
          </p:cNvPr>
          <p:cNvPicPr>
            <a:picLocks noChangeAspect="1"/>
          </p:cNvPicPr>
          <p:nvPr/>
        </p:nvPicPr>
        <p:blipFill>
          <a:blip r:embed="rId4"/>
          <a:stretch>
            <a:fillRect/>
          </a:stretch>
        </p:blipFill>
        <p:spPr>
          <a:xfrm>
            <a:off x="5286866" y="1327030"/>
            <a:ext cx="6369377" cy="4940554"/>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dirty="0"/>
              <a:t>Activity 1 – fractions on a number line</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9140EEA-7937-655B-6937-7A24C8F97F67}"/>
                  </a:ext>
                </a:extLst>
              </p:cNvPr>
              <p:cNvSpPr txBox="1"/>
              <p:nvPr/>
            </p:nvSpPr>
            <p:spPr>
              <a:xfrm>
                <a:off x="2375210" y="2620886"/>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2</m:t>
                          </m:r>
                        </m:den>
                      </m:f>
                    </m:oMath>
                  </m:oMathPara>
                </a14:m>
                <a:endParaRPr lang="en-AU" sz="4400" dirty="0"/>
              </a:p>
            </p:txBody>
          </p:sp>
        </mc:Choice>
        <mc:Fallback xmlns="">
          <p:sp>
            <p:nvSpPr>
              <p:cNvPr id="8" name="TextBox 7">
                <a:extLst>
                  <a:ext uri="{FF2B5EF4-FFF2-40B4-BE49-F238E27FC236}">
                    <a16:creationId xmlns:a16="http://schemas.microsoft.com/office/drawing/2014/main" id="{29140EEA-7937-655B-6937-7A24C8F97F67}"/>
                  </a:ext>
                </a:extLst>
              </p:cNvPr>
              <p:cNvSpPr txBox="1">
                <a:spLocks noRot="1" noChangeAspect="1" noMove="1" noResize="1" noEditPoints="1" noAdjustHandles="1" noChangeArrowheads="1" noChangeShapeType="1" noTextEdit="1"/>
              </p:cNvSpPr>
              <p:nvPr/>
            </p:nvSpPr>
            <p:spPr>
              <a:xfrm>
                <a:off x="2375210" y="2620886"/>
                <a:ext cx="914400" cy="914400"/>
              </a:xfrm>
              <a:prstGeom prst="rect">
                <a:avLst/>
              </a:prstGeom>
              <a:blipFill>
                <a:blip r:embed="rId6"/>
                <a:stretch>
                  <a:fillRect b="-38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AA9B56A-CBCB-3459-00E6-C52065ABECF7}"/>
                  </a:ext>
                </a:extLst>
              </p:cNvPr>
              <p:cNvSpPr txBox="1"/>
              <p:nvPr/>
            </p:nvSpPr>
            <p:spPr>
              <a:xfrm>
                <a:off x="5285206" y="2620886"/>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4</m:t>
                          </m:r>
                        </m:den>
                      </m:f>
                    </m:oMath>
                  </m:oMathPara>
                </a14:m>
                <a:endParaRPr lang="en-AU" sz="4400" dirty="0"/>
              </a:p>
            </p:txBody>
          </p:sp>
        </mc:Choice>
        <mc:Fallback xmlns="">
          <p:sp>
            <p:nvSpPr>
              <p:cNvPr id="7" name="TextBox 6">
                <a:extLst>
                  <a:ext uri="{FF2B5EF4-FFF2-40B4-BE49-F238E27FC236}">
                    <a16:creationId xmlns:a16="http://schemas.microsoft.com/office/drawing/2014/main" id="{3AA9B56A-CBCB-3459-00E6-C52065ABECF7}"/>
                  </a:ext>
                </a:extLst>
              </p:cNvPr>
              <p:cNvSpPr txBox="1">
                <a:spLocks noRot="1" noChangeAspect="1" noMove="1" noResize="1" noEditPoints="1" noAdjustHandles="1" noChangeArrowheads="1" noChangeShapeType="1" noTextEdit="1"/>
              </p:cNvSpPr>
              <p:nvPr/>
            </p:nvSpPr>
            <p:spPr>
              <a:xfrm>
                <a:off x="5285206" y="2620886"/>
                <a:ext cx="914400" cy="914400"/>
              </a:xfrm>
              <a:prstGeom prst="rect">
                <a:avLst/>
              </a:prstGeom>
              <a:blipFill>
                <a:blip r:embed="rId5"/>
                <a:stretch>
                  <a:fillRect b="-38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4203AE-B1A8-2654-0B31-AD9C3345BEEF}"/>
                  </a:ext>
                </a:extLst>
              </p:cNvPr>
              <p:cNvSpPr txBox="1"/>
              <p:nvPr/>
            </p:nvSpPr>
            <p:spPr>
              <a:xfrm>
                <a:off x="8195203" y="2620886"/>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8</m:t>
                          </m:r>
                        </m:den>
                      </m:f>
                    </m:oMath>
                  </m:oMathPara>
                </a14:m>
                <a:endParaRPr lang="en-AU" sz="4400" dirty="0"/>
              </a:p>
            </p:txBody>
          </p:sp>
        </mc:Choice>
        <mc:Fallback xmlns="">
          <p:sp>
            <p:nvSpPr>
              <p:cNvPr id="3" name="TextBox 2">
                <a:extLst>
                  <a:ext uri="{FF2B5EF4-FFF2-40B4-BE49-F238E27FC236}">
                    <a16:creationId xmlns:a16="http://schemas.microsoft.com/office/drawing/2014/main" id="{B24203AE-B1A8-2654-0B31-AD9C3345BEEF}"/>
                  </a:ext>
                </a:extLst>
              </p:cNvPr>
              <p:cNvSpPr txBox="1">
                <a:spLocks noRot="1" noChangeAspect="1" noMove="1" noResize="1" noEditPoints="1" noAdjustHandles="1" noChangeArrowheads="1" noChangeShapeType="1" noTextEdit="1"/>
              </p:cNvSpPr>
              <p:nvPr/>
            </p:nvSpPr>
            <p:spPr>
              <a:xfrm>
                <a:off x="8195203" y="2620886"/>
                <a:ext cx="914400" cy="914400"/>
              </a:xfrm>
              <a:prstGeom prst="rect">
                <a:avLst/>
              </a:prstGeom>
              <a:blipFill>
                <a:blip r:embed="rId4"/>
                <a:stretch>
                  <a:fillRect b="-38667"/>
                </a:stretch>
              </a:blipFill>
            </p:spPr>
            <p:txBody>
              <a:bodyPr/>
              <a:lstStyle/>
              <a:p>
                <a:r>
                  <a:rPr lang="en-AU">
                    <a:noFill/>
                  </a:rPr>
                  <a:t> </a:t>
                </a:r>
              </a:p>
            </p:txBody>
          </p:sp>
        </mc:Fallback>
      </mc:AlternateContent>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2192102" y="731225"/>
                <a:ext cx="8615806" cy="893226"/>
              </a:xfrm>
            </p:spPr>
            <p:txBody>
              <a:bodyPr/>
              <a:lstStyle/>
              <a:p>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𝟏</m:t>
                        </m:r>
                      </m:num>
                      <m:den>
                        <m:r>
                          <a:rPr lang="en-AU" sz="4400" b="1" i="1" smtClean="0">
                            <a:latin typeface="Cambria Math" panose="02040503050406030204" pitchFamily="18" charset="0"/>
                          </a:rPr>
                          <m:t>𝟖</m:t>
                        </m:r>
                      </m:den>
                    </m:f>
                  </m:oMath>
                </a14:m>
                <a:r>
                  <a:rPr lang="en-AU" sz="4400" b="1" dirty="0"/>
                  <a:t> </a:t>
                </a:r>
                <a:r>
                  <a:rPr lang="en-AU" sz="4400" dirty="0"/>
                  <a:t>is the </a:t>
                </a:r>
                <a:r>
                  <a:rPr lang="en-AU" sz="4400" b="1" dirty="0"/>
                  <a:t>complementary</a:t>
                </a:r>
                <a:r>
                  <a:rPr lang="en-AU" sz="4400" dirty="0"/>
                  <a:t> fraction.</a:t>
                </a:r>
              </a:p>
            </p:txBody>
          </p:sp>
        </mc:Choice>
        <mc:Fallback xmlns="">
          <p:sp>
            <p:nvSpPr>
              <p:cNvPr id="6" name="Text Placeholder 5">
                <a:extLst>
                  <a:ext uri="{FF2B5EF4-FFF2-40B4-BE49-F238E27FC236}">
                    <a16:creationId xmlns:a16="http://schemas.microsoft.com/office/drawing/2014/main" id="{8CC0313E-620B-44F6-1CF2-E78C8F63E324}"/>
                  </a:ext>
                </a:extLst>
              </p:cNvPr>
              <p:cNvSpPr>
                <a:spLocks noGrp="1" noRot="1" noChangeAspect="1" noMove="1" noResize="1" noEditPoints="1" noAdjustHandles="1" noChangeArrowheads="1" noChangeShapeType="1" noTextEdit="1"/>
              </p:cNvSpPr>
              <p:nvPr>
                <p:ph type="body" sz="quarter" idx="22"/>
              </p:nvPr>
            </p:nvSpPr>
            <p:spPr>
              <a:xfrm>
                <a:off x="2192102" y="731225"/>
                <a:ext cx="8615806" cy="893226"/>
              </a:xfrm>
              <a:blipFill>
                <a:blip r:embed="rId4"/>
                <a:stretch>
                  <a:fillRect l="-71" b="-69178"/>
                </a:stretch>
              </a:blipFill>
            </p:spPr>
            <p:txBody>
              <a:bodyPr/>
              <a:lstStyle/>
              <a:p>
                <a:r>
                  <a:rPr lang="en-AU">
                    <a:noFill/>
                  </a:rPr>
                  <a:t> </a:t>
                </a:r>
              </a:p>
            </p:txBody>
          </p:sp>
        </mc:Fallback>
      </mc:AlternateContent>
      <p:pic>
        <p:nvPicPr>
          <p:cNvPr id="7" name="Picture 6" descr="A number line 0-1 with eighths marked. a fraction bar indicated seven-eighths.">
            <a:extLst>
              <a:ext uri="{FF2B5EF4-FFF2-40B4-BE49-F238E27FC236}">
                <a16:creationId xmlns:a16="http://schemas.microsoft.com/office/drawing/2014/main" id="{7BD9C7A4-2954-CA83-3B91-014A24459670}"/>
              </a:ext>
            </a:extLst>
          </p:cNvPr>
          <p:cNvPicPr>
            <a:picLocks noChangeAspect="1"/>
          </p:cNvPicPr>
          <p:nvPr/>
        </p:nvPicPr>
        <p:blipFill>
          <a:blip r:embed="rId5"/>
          <a:stretch>
            <a:fillRect/>
          </a:stretch>
        </p:blipFill>
        <p:spPr>
          <a:xfrm>
            <a:off x="1436251" y="2287278"/>
            <a:ext cx="9090536" cy="2722872"/>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638333730"/>
              </p:ext>
            </p:extLst>
          </p:nvPr>
        </p:nvGraphicFramePr>
        <p:xfrm>
          <a:off x="2342549" y="521071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BE464974-7748-FE12-689A-D5067A37BECA}"/>
              </a:ext>
            </a:extLst>
          </p:cNvPr>
          <p:cNvSpPr txBox="1"/>
          <p:nvPr/>
        </p:nvSpPr>
        <p:spPr>
          <a:xfrm>
            <a:off x="1320341" y="5956246"/>
            <a:ext cx="9121492" cy="739754"/>
          </a:xfrm>
          <a:prstGeom prst="rect">
            <a:avLst/>
          </a:prstGeom>
          <a:noFill/>
        </p:spPr>
        <p:txBody>
          <a:bodyPr wrap="square">
            <a:spAutoFit/>
          </a:bodyPr>
          <a:lstStyle/>
          <a:p>
            <a:pPr algn="ctr">
              <a:lnSpc>
                <a:spcPct val="150000"/>
              </a:lnSpc>
            </a:pPr>
            <a:r>
              <a:rPr lang="en-AU" sz="3200" b="1" dirty="0">
                <a:solidFill>
                  <a:srgbClr val="000000"/>
                </a:solidFill>
                <a:latin typeface="Arial" panose="020B0604020202020204" pitchFamily="34" charset="0"/>
                <a:ea typeface="Calibri" panose="020F0502020204030204" pitchFamily="34" charset="0"/>
              </a:rPr>
              <a:t>Communicate</a:t>
            </a:r>
            <a:r>
              <a:rPr lang="en-AU" sz="3200" dirty="0">
                <a:solidFill>
                  <a:srgbClr val="000000"/>
                </a:solidFill>
                <a:latin typeface="Arial" panose="020B0604020202020204" pitchFamily="34" charset="0"/>
                <a:ea typeface="Calibri" panose="020F0502020204030204" pitchFamily="34" charset="0"/>
              </a:rPr>
              <a:t> your </a:t>
            </a:r>
            <a:r>
              <a:rPr lang="en-AU" sz="3200" b="1" dirty="0">
                <a:solidFill>
                  <a:srgbClr val="000000"/>
                </a:solidFill>
                <a:latin typeface="Arial" panose="020B0604020202020204" pitchFamily="34" charset="0"/>
                <a:ea typeface="Calibri" panose="020F0502020204030204" pitchFamily="34" charset="0"/>
              </a:rPr>
              <a:t>thinking</a:t>
            </a:r>
          </a:p>
        </p:txBody>
      </p:sp>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9" name="TextBox 8">
            <a:extLst>
              <a:ext uri="{FF2B5EF4-FFF2-40B4-BE49-F238E27FC236}">
                <a16:creationId xmlns:a16="http://schemas.microsoft.com/office/drawing/2014/main" id="{203EF62B-6B34-7890-8B69-BAF3516BC025}"/>
              </a:ext>
            </a:extLst>
          </p:cNvPr>
          <p:cNvSpPr txBox="1"/>
          <p:nvPr/>
        </p:nvSpPr>
        <p:spPr>
          <a:xfrm>
            <a:off x="293512" y="905601"/>
            <a:ext cx="6531617" cy="2955746"/>
          </a:xfrm>
          <a:prstGeom prst="rect">
            <a:avLst/>
          </a:prstGeom>
          <a:noFill/>
        </p:spPr>
        <p:txBody>
          <a:bodyPr wrap="square">
            <a:spAutoFit/>
          </a:bodyPr>
          <a:lstStyle/>
          <a:p>
            <a:pPr>
              <a:lnSpc>
                <a:spcPct val="150000"/>
              </a:lnSpc>
            </a:pPr>
            <a:r>
              <a:rPr lang="en-AU" sz="3200" dirty="0"/>
              <a:t>When orienting a map, we may t_____ the map so that it faces the same way as the ground it represents.</a:t>
            </a:r>
            <a:endParaRPr lang="en-AU" sz="3200" dirty="0">
              <a:latin typeface="Arial" panose="020B0604020202020204" pitchFamily="34" charset="0"/>
              <a:ea typeface="Calibri" panose="020F0502020204030204" pitchFamily="34" charset="0"/>
            </a:endParaRPr>
          </a:p>
        </p:txBody>
      </p:sp>
      <p:pic>
        <p:nvPicPr>
          <p:cNvPr id="10" name="Picture 9" descr="A half basketball playground markings with the following symbols placed on the lines: 2 river symbols, 3 home symbols, 3 gum leaf symbols, 2 grinding groove symbols and 2 mountain symbols">
            <a:extLst>
              <a:ext uri="{FF2B5EF4-FFF2-40B4-BE49-F238E27FC236}">
                <a16:creationId xmlns:a16="http://schemas.microsoft.com/office/drawing/2014/main" id="{A3B3C3F0-F1BC-57A3-9260-A730B87ED2F6}"/>
              </a:ext>
            </a:extLst>
          </p:cNvPr>
          <p:cNvPicPr>
            <a:picLocks noChangeAspect="1"/>
          </p:cNvPicPr>
          <p:nvPr/>
        </p:nvPicPr>
        <p:blipFill>
          <a:blip r:embed="rId4"/>
          <a:stretch>
            <a:fillRect/>
          </a:stretch>
        </p:blipFill>
        <p:spPr>
          <a:xfrm>
            <a:off x="7331113" y="350468"/>
            <a:ext cx="3193379" cy="3078532"/>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EA30BACB-8754-FE6F-E539-E89B72DF4D6F}"/>
              </a:ext>
            </a:extLst>
          </p:cNvPr>
          <p:cNvSpPr txBox="1"/>
          <p:nvPr/>
        </p:nvSpPr>
        <p:spPr>
          <a:xfrm>
            <a:off x="360000" y="4181361"/>
            <a:ext cx="6096000" cy="2217082"/>
          </a:xfrm>
          <a:prstGeom prst="rect">
            <a:avLst/>
          </a:prstGeom>
          <a:noFill/>
        </p:spPr>
        <p:txBody>
          <a:bodyPr wrap="square">
            <a:spAutoFit/>
          </a:bodyPr>
          <a:lstStyle/>
          <a:p>
            <a:pPr>
              <a:lnSpc>
                <a:spcPct val="150000"/>
              </a:lnSpc>
            </a:pPr>
            <a:r>
              <a:rPr lang="en-AU" sz="3200" dirty="0"/>
              <a:t>I am standing at the cone. To </a:t>
            </a:r>
            <a:r>
              <a:rPr lang="en-AU" sz="3200" b="1" dirty="0">
                <a:latin typeface="Arial" panose="020B0604020202020204" pitchFamily="34" charset="0"/>
                <a:ea typeface="Calibri" panose="020F0502020204030204" pitchFamily="34" charset="0"/>
              </a:rPr>
              <a:t>orientate</a:t>
            </a:r>
            <a:r>
              <a:rPr lang="en-AU" sz="3200" dirty="0">
                <a:latin typeface="Arial" panose="020B0604020202020204" pitchFamily="34" charset="0"/>
                <a:ea typeface="Calibri" panose="020F0502020204030204" pitchFamily="34" charset="0"/>
              </a:rPr>
              <a:t> this map, I could turn it to the ________________.</a:t>
            </a:r>
            <a:r>
              <a:rPr lang="en-AU" sz="3200" dirty="0"/>
              <a:t> </a:t>
            </a:r>
          </a:p>
        </p:txBody>
      </p:sp>
      <p:pic>
        <p:nvPicPr>
          <p:cNvPr id="14" name="Picture 13" descr="Hand holding a map (A half basketball playground markings with the following symbols placed on the lines: 2 river symbols, 3 home symbols, 3 gum leaf symbols, 2 grinding groove symbols and 2 mountain symbols). It has been rotated to the left .&#10;">
            <a:extLst>
              <a:ext uri="{FF2B5EF4-FFF2-40B4-BE49-F238E27FC236}">
                <a16:creationId xmlns:a16="http://schemas.microsoft.com/office/drawing/2014/main" id="{00956792-635C-5081-4681-AE70D80ACC71}"/>
              </a:ext>
            </a:extLst>
          </p:cNvPr>
          <p:cNvPicPr>
            <a:picLocks noChangeAspect="1"/>
          </p:cNvPicPr>
          <p:nvPr/>
        </p:nvPicPr>
        <p:blipFill>
          <a:blip r:embed="rId5">
            <a:extLst>
              <a:ext uri="{28A0092B-C50C-407E-A947-70E740481C1C}">
                <a14:useLocalDpi xmlns:a14="http://schemas.microsoft.com/office/drawing/2010/main" val="0"/>
              </a:ext>
            </a:extLst>
          </a:blip>
          <a:srcRect l="6064" t="17268" b="13205"/>
          <a:stretch>
            <a:fillRect/>
          </a:stretch>
        </p:blipFill>
        <p:spPr>
          <a:xfrm>
            <a:off x="7636651" y="3902601"/>
            <a:ext cx="2582302" cy="2703399"/>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7" name="Text Placeholder 5">
            <a:extLst>
              <a:ext uri="{FF2B5EF4-FFF2-40B4-BE49-F238E27FC236}">
                <a16:creationId xmlns:a16="http://schemas.microsoft.com/office/drawing/2014/main" id="{371D9351-1FE3-2EDC-8956-0342423BC842}"/>
              </a:ext>
            </a:extLst>
          </p:cNvPr>
          <p:cNvSpPr txBox="1">
            <a:spLocks/>
          </p:cNvSpPr>
          <p:nvPr/>
        </p:nvSpPr>
        <p:spPr>
          <a:xfrm>
            <a:off x="2377315" y="985714"/>
            <a:ext cx="743737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dirty="0"/>
              <a:t>Rearrange </a:t>
            </a:r>
            <a:r>
              <a:rPr lang="en-AU" sz="3600" b="1" dirty="0"/>
              <a:t>5 groups of 4 eggs </a:t>
            </a:r>
            <a:r>
              <a:rPr lang="en-AU" sz="3600" dirty="0"/>
              <a:t>into </a:t>
            </a:r>
            <a:r>
              <a:rPr lang="en-AU" sz="3600" b="1" dirty="0"/>
              <a:t>equal rows </a:t>
            </a:r>
            <a:r>
              <a:rPr lang="en-AU" sz="3600" dirty="0"/>
              <a:t>to form an </a:t>
            </a:r>
            <a:r>
              <a:rPr lang="en-AU" sz="3600" b="1" dirty="0"/>
              <a:t>array.</a:t>
            </a:r>
          </a:p>
        </p:txBody>
      </p:sp>
      <p:pic>
        <p:nvPicPr>
          <p:cNvPr id="5" name="Picture 4" descr="Five nests with 4 eggs in each. There is a box for these eggs to be rearranged as an array.">
            <a:extLst>
              <a:ext uri="{FF2B5EF4-FFF2-40B4-BE49-F238E27FC236}">
                <a16:creationId xmlns:a16="http://schemas.microsoft.com/office/drawing/2014/main" id="{9AC25775-7128-703A-9E90-64B9B392756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bwMode="auto">
          <a:xfrm>
            <a:off x="3760565" y="2713915"/>
            <a:ext cx="4670870" cy="3041298"/>
          </a:xfrm>
          <a:prstGeom prst="rect">
            <a:avLst/>
          </a:prstGeom>
          <a:ln>
            <a:noFill/>
          </a:ln>
          <a:effectLst/>
          <a:extLst>
            <a:ext uri="{53640926-AAD7-44D8-BBD7-CCE9431645EC}">
              <a14:shadowObscured xmlns:a14="http://schemas.microsoft.com/office/drawing/2010/main"/>
            </a:ext>
          </a:extLst>
        </p:spPr>
      </p:pic>
      <p:sp>
        <p:nvSpPr>
          <p:cNvPr id="8" name="Text Placeholder 5">
            <a:extLst>
              <a:ext uri="{FF2B5EF4-FFF2-40B4-BE49-F238E27FC236}">
                <a16:creationId xmlns:a16="http://schemas.microsoft.com/office/drawing/2014/main" id="{86A97E5E-10D4-485C-FC40-7D5058B07EFE}"/>
              </a:ext>
            </a:extLst>
          </p:cNvPr>
          <p:cNvSpPr txBox="1">
            <a:spLocks/>
          </p:cNvSpPr>
          <p:nvPr/>
        </p:nvSpPr>
        <p:spPr>
          <a:xfrm>
            <a:off x="3531713" y="5755213"/>
            <a:ext cx="4512033"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dirty="0"/>
              <a:t>Describe</a:t>
            </a:r>
            <a:r>
              <a:rPr lang="en-AU" sz="3600" dirty="0"/>
              <a:t> your array.</a:t>
            </a:r>
            <a:endParaRPr lang="en-AU" sz="3600" b="1" dirty="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8" name="Text Placeholder 5">
            <a:extLst>
              <a:ext uri="{FF2B5EF4-FFF2-40B4-BE49-F238E27FC236}">
                <a16:creationId xmlns:a16="http://schemas.microsoft.com/office/drawing/2014/main" id="{2B595CF7-4D3D-BC04-4949-7689AF816E4D}"/>
              </a:ext>
            </a:extLst>
          </p:cNvPr>
          <p:cNvSpPr txBox="1">
            <a:spLocks/>
          </p:cNvSpPr>
          <p:nvPr/>
        </p:nvSpPr>
        <p:spPr>
          <a:xfrm>
            <a:off x="3129835" y="1404494"/>
            <a:ext cx="383906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dirty="0"/>
              <a:t>Fill</a:t>
            </a:r>
            <a:r>
              <a:rPr lang="en-AU" sz="3600" dirty="0"/>
              <a:t> in the </a:t>
            </a:r>
            <a:r>
              <a:rPr lang="en-AU" sz="3600" b="1" dirty="0"/>
              <a:t>blanks.</a:t>
            </a:r>
          </a:p>
        </p:txBody>
      </p:sp>
      <p:sp>
        <p:nvSpPr>
          <p:cNvPr id="7" name="TextBox 6">
            <a:extLst>
              <a:ext uri="{FF2B5EF4-FFF2-40B4-BE49-F238E27FC236}">
                <a16:creationId xmlns:a16="http://schemas.microsoft.com/office/drawing/2014/main" id="{CEE16B80-74CB-97FF-5291-43B53A72C5B8}"/>
              </a:ext>
            </a:extLst>
          </p:cNvPr>
          <p:cNvSpPr txBox="1"/>
          <p:nvPr/>
        </p:nvSpPr>
        <p:spPr>
          <a:xfrm>
            <a:off x="854368" y="2796613"/>
            <a:ext cx="7132703" cy="3005631"/>
          </a:xfrm>
          <a:prstGeom prst="rect">
            <a:avLst/>
          </a:prstGeom>
          <a:noFill/>
        </p:spPr>
        <p:txBody>
          <a:bodyPr wrap="square">
            <a:spAutoFit/>
          </a:bodyPr>
          <a:lstStyle/>
          <a:p>
            <a:pPr marL="457200" lvl="0" indent="-457200">
              <a:lnSpc>
                <a:spcPct val="200000"/>
              </a:lnSpc>
              <a:spcBef>
                <a:spcPts val="1200"/>
              </a:spcBef>
              <a:spcAft>
                <a:spcPts val="600"/>
              </a:spcAft>
              <a:buFont typeface="Arial" panose="020B0604020202020204" pitchFamily="34" charset="0"/>
              <a:buChar char="•"/>
            </a:pPr>
            <a:r>
              <a:rPr lang="en-AU" sz="2800" dirty="0">
                <a:latin typeface="Arial" panose="020B0604020202020204" pitchFamily="34" charset="0"/>
                <a:ea typeface="Calibri" panose="020F0502020204030204" pitchFamily="34" charset="0"/>
                <a:cs typeface="Times New Roman" panose="02020603050405020304" pitchFamily="18" charset="0"/>
              </a:rPr>
              <a:t>___</a:t>
            </a:r>
            <a:r>
              <a:rPr lang="en-AU" sz="2800" dirty="0">
                <a:effectLst/>
                <a:latin typeface="Arial" panose="020B0604020202020204" pitchFamily="34" charset="0"/>
                <a:ea typeface="Calibri" panose="020F0502020204030204" pitchFamily="34" charset="0"/>
                <a:cs typeface="Times New Roman" panose="02020603050405020304" pitchFamily="18" charset="0"/>
              </a:rPr>
              <a:t> </a:t>
            </a:r>
            <a:r>
              <a:rPr lang="en-AU" sz="2800" b="1" dirty="0">
                <a:effectLst/>
                <a:latin typeface="Arial" panose="020B0604020202020204" pitchFamily="34" charset="0"/>
                <a:ea typeface="Calibri" panose="020F0502020204030204" pitchFamily="34" charset="0"/>
                <a:cs typeface="Times New Roman" panose="02020603050405020304" pitchFamily="18" charset="0"/>
              </a:rPr>
              <a:t>hundreds</a:t>
            </a:r>
            <a:r>
              <a:rPr lang="en-AU" sz="2800" dirty="0">
                <a:effectLst/>
                <a:latin typeface="Arial" panose="020B0604020202020204" pitchFamily="34" charset="0"/>
                <a:ea typeface="Calibri" panose="020F0502020204030204" pitchFamily="34" charset="0"/>
                <a:cs typeface="Times New Roman" panose="02020603050405020304" pitchFamily="18" charset="0"/>
              </a:rPr>
              <a:t> is equal to </a:t>
            </a:r>
            <a:r>
              <a:rPr lang="en-AU" sz="2800" b="1" dirty="0">
                <a:effectLst/>
                <a:latin typeface="Arial" panose="020B0604020202020204" pitchFamily="34" charset="0"/>
                <a:ea typeface="Calibri" panose="020F0502020204030204" pitchFamily="34" charset="0"/>
                <a:cs typeface="Times New Roman" panose="02020603050405020304" pitchFamily="18" charset="0"/>
              </a:rPr>
              <a:t>one</a:t>
            </a:r>
            <a:r>
              <a:rPr lang="en-AU" sz="2800" dirty="0">
                <a:effectLst/>
                <a:latin typeface="Arial" panose="020B0604020202020204" pitchFamily="34" charset="0"/>
                <a:ea typeface="Calibri" panose="020F0502020204030204" pitchFamily="34" charset="0"/>
                <a:cs typeface="Times New Roman" panose="02020603050405020304" pitchFamily="18" charset="0"/>
              </a:rPr>
              <a:t> </a:t>
            </a:r>
            <a:r>
              <a:rPr lang="en-AU" sz="2800" b="1" dirty="0">
                <a:effectLst/>
                <a:latin typeface="Arial" panose="020B0604020202020204" pitchFamily="34" charset="0"/>
                <a:ea typeface="Calibri" panose="020F0502020204030204" pitchFamily="34" charset="0"/>
                <a:cs typeface="Times New Roman" panose="02020603050405020304" pitchFamily="18" charset="0"/>
              </a:rPr>
              <a:t>thousand</a:t>
            </a:r>
          </a:p>
          <a:p>
            <a:pPr marL="457200" lvl="0" indent="-457200">
              <a:lnSpc>
                <a:spcPct val="200000"/>
              </a:lnSpc>
              <a:spcBef>
                <a:spcPts val="1200"/>
              </a:spcBef>
              <a:spcAft>
                <a:spcPts val="600"/>
              </a:spcAft>
              <a:buFont typeface="Arial" panose="020B0604020202020204" pitchFamily="34" charset="0"/>
              <a:buChar char="•"/>
            </a:pPr>
            <a:r>
              <a:rPr lang="en-AU" sz="2800" dirty="0">
                <a:latin typeface="Arial" panose="020B0604020202020204" pitchFamily="34" charset="0"/>
                <a:ea typeface="Calibri" panose="020F0502020204030204" pitchFamily="34" charset="0"/>
                <a:cs typeface="Times New Roman" panose="02020603050405020304" pitchFamily="18" charset="0"/>
              </a:rPr>
              <a:t>___</a:t>
            </a:r>
            <a:r>
              <a:rPr lang="en-AU" sz="2800" dirty="0">
                <a:effectLst/>
                <a:latin typeface="Arial" panose="020B0604020202020204" pitchFamily="34" charset="0"/>
                <a:ea typeface="Calibri" panose="020F0502020204030204" pitchFamily="34" charset="0"/>
                <a:cs typeface="Times New Roman" panose="02020603050405020304" pitchFamily="18" charset="0"/>
              </a:rPr>
              <a:t> </a:t>
            </a:r>
            <a:r>
              <a:rPr lang="en-AU" sz="2800" b="1" dirty="0">
                <a:effectLst/>
                <a:latin typeface="Arial" panose="020B0604020202020204" pitchFamily="34" charset="0"/>
                <a:ea typeface="Calibri" panose="020F0502020204030204" pitchFamily="34" charset="0"/>
                <a:cs typeface="Times New Roman" panose="02020603050405020304" pitchFamily="18" charset="0"/>
              </a:rPr>
              <a:t>tens</a:t>
            </a:r>
            <a:r>
              <a:rPr lang="en-AU" sz="2800" dirty="0">
                <a:effectLst/>
                <a:latin typeface="Arial" panose="020B0604020202020204" pitchFamily="34" charset="0"/>
                <a:ea typeface="Calibri" panose="020F0502020204030204" pitchFamily="34" charset="0"/>
                <a:cs typeface="Times New Roman" panose="02020603050405020304" pitchFamily="18" charset="0"/>
              </a:rPr>
              <a:t> is equal to </a:t>
            </a:r>
            <a:r>
              <a:rPr lang="en-AU" sz="2800" b="1" dirty="0">
                <a:effectLst/>
                <a:latin typeface="Arial" panose="020B0604020202020204" pitchFamily="34" charset="0"/>
                <a:ea typeface="Calibri" panose="020F0502020204030204" pitchFamily="34" charset="0"/>
                <a:cs typeface="Times New Roman" panose="02020603050405020304" pitchFamily="18" charset="0"/>
              </a:rPr>
              <a:t>one</a:t>
            </a:r>
            <a:r>
              <a:rPr lang="en-AU" sz="2800" dirty="0">
                <a:effectLst/>
                <a:latin typeface="Arial" panose="020B0604020202020204" pitchFamily="34" charset="0"/>
                <a:ea typeface="Calibri" panose="020F0502020204030204" pitchFamily="34" charset="0"/>
                <a:cs typeface="Times New Roman" panose="02020603050405020304" pitchFamily="18" charset="0"/>
              </a:rPr>
              <a:t> </a:t>
            </a:r>
            <a:r>
              <a:rPr lang="en-AU" sz="2800" b="1" dirty="0">
                <a:effectLst/>
                <a:latin typeface="Arial" panose="020B0604020202020204" pitchFamily="34" charset="0"/>
                <a:ea typeface="Calibri" panose="020F0502020204030204" pitchFamily="34" charset="0"/>
                <a:cs typeface="Times New Roman" panose="02020603050405020304" pitchFamily="18" charset="0"/>
              </a:rPr>
              <a:t>hundred</a:t>
            </a:r>
          </a:p>
          <a:p>
            <a:pPr marL="457200" lvl="0" indent="-457200">
              <a:lnSpc>
                <a:spcPct val="200000"/>
              </a:lnSpc>
              <a:spcBef>
                <a:spcPts val="1200"/>
              </a:spcBef>
              <a:spcAft>
                <a:spcPts val="600"/>
              </a:spcAft>
              <a:buFont typeface="Arial" panose="020B0604020202020204" pitchFamily="34" charset="0"/>
              <a:buChar char="•"/>
            </a:pPr>
            <a:r>
              <a:rPr lang="en-AU" sz="2800" dirty="0">
                <a:latin typeface="Arial" panose="020B0604020202020204" pitchFamily="34" charset="0"/>
                <a:ea typeface="Calibri" panose="020F0502020204030204" pitchFamily="34" charset="0"/>
              </a:rPr>
              <a:t>___</a:t>
            </a:r>
            <a:r>
              <a:rPr lang="en-AU" sz="2800" dirty="0">
                <a:effectLst/>
                <a:latin typeface="Arial" panose="020B0604020202020204" pitchFamily="34" charset="0"/>
                <a:ea typeface="Calibri" panose="020F0502020204030204" pitchFamily="34" charset="0"/>
              </a:rPr>
              <a:t> </a:t>
            </a:r>
            <a:r>
              <a:rPr lang="en-AU" sz="2800" b="1" dirty="0">
                <a:effectLst/>
                <a:latin typeface="Arial" panose="020B0604020202020204" pitchFamily="34" charset="0"/>
                <a:ea typeface="Calibri" panose="020F0502020204030204" pitchFamily="34" charset="0"/>
              </a:rPr>
              <a:t>ones</a:t>
            </a:r>
            <a:r>
              <a:rPr lang="en-AU" sz="2800" dirty="0">
                <a:effectLst/>
                <a:latin typeface="Arial" panose="020B0604020202020204" pitchFamily="34" charset="0"/>
                <a:ea typeface="Calibri" panose="020F0502020204030204" pitchFamily="34" charset="0"/>
              </a:rPr>
              <a:t> is equal to </a:t>
            </a:r>
            <a:r>
              <a:rPr lang="en-AU" sz="2800" b="1" dirty="0">
                <a:effectLst/>
                <a:latin typeface="Arial" panose="020B0604020202020204" pitchFamily="34" charset="0"/>
                <a:ea typeface="Calibri" panose="020F0502020204030204" pitchFamily="34" charset="0"/>
              </a:rPr>
              <a:t>one hundred.</a:t>
            </a:r>
            <a:endParaRPr lang="en-AU" sz="2800" b="1" dirty="0"/>
          </a:p>
        </p:txBody>
      </p:sp>
      <p:pic>
        <p:nvPicPr>
          <p:cNvPr id="12" name="Picture 11" descr="MAB blocks:&#10;1 thousand, 1hundred, 1 ten and 1 one.">
            <a:extLst>
              <a:ext uri="{FF2B5EF4-FFF2-40B4-BE49-F238E27FC236}">
                <a16:creationId xmlns:a16="http://schemas.microsoft.com/office/drawing/2014/main" id="{9C751F78-0004-3D4E-D142-2A5E1B46AB67}"/>
              </a:ext>
            </a:extLst>
          </p:cNvPr>
          <p:cNvPicPr>
            <a:picLocks noChangeAspect="1"/>
          </p:cNvPicPr>
          <p:nvPr/>
        </p:nvPicPr>
        <p:blipFill>
          <a:blip r:embed="rId4"/>
          <a:stretch>
            <a:fillRect/>
          </a:stretch>
        </p:blipFill>
        <p:spPr>
          <a:xfrm>
            <a:off x="8290279" y="1184223"/>
            <a:ext cx="3193721" cy="5677726"/>
          </a:xfrm>
          <a:prstGeom prst="rect">
            <a:avLst/>
          </a:prstGeom>
          <a:ln>
            <a:noFill/>
          </a:ln>
          <a:effectLst/>
        </p:spPr>
      </p:pic>
    </p:spTree>
    <p:extLst>
      <p:ext uri="{BB962C8B-B14F-4D97-AF65-F5344CB8AC3E}">
        <p14:creationId xmlns:p14="http://schemas.microsoft.com/office/powerpoint/2010/main" val="1661528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8" name="Text Placeholder 17">
            <a:extLst>
              <a:ext uri="{FF2B5EF4-FFF2-40B4-BE49-F238E27FC236}">
                <a16:creationId xmlns:a16="http://schemas.microsoft.com/office/drawing/2014/main" id="{B1750457-FACD-B3FE-C22A-B781B8438621}"/>
              </a:ext>
            </a:extLst>
          </p:cNvPr>
          <p:cNvSpPr txBox="1">
            <a:spLocks/>
          </p:cNvSpPr>
          <p:nvPr/>
        </p:nvSpPr>
        <p:spPr>
          <a:xfrm>
            <a:off x="535757" y="1184223"/>
            <a:ext cx="521012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If you are standing in the </a:t>
            </a:r>
            <a:r>
              <a:rPr lang="en-US" sz="3200" b="1" dirty="0"/>
              <a:t>Year 1 block, facing Kindergarten, </a:t>
            </a:r>
            <a:r>
              <a:rPr lang="en-US" sz="3200" dirty="0"/>
              <a:t>what is</a:t>
            </a:r>
          </a:p>
          <a:p>
            <a:pPr marL="571500" indent="-571500">
              <a:buFont typeface="Arial" panose="020B0604020202020204" pitchFamily="34" charset="0"/>
              <a:buChar char="•"/>
            </a:pPr>
            <a:r>
              <a:rPr lang="en-US" sz="3200" dirty="0"/>
              <a:t>on your </a:t>
            </a:r>
            <a:r>
              <a:rPr lang="en-US" sz="3200" b="1" dirty="0"/>
              <a:t>right</a:t>
            </a:r>
            <a:r>
              <a:rPr lang="en-US" sz="3200" dirty="0"/>
              <a:t>?</a:t>
            </a:r>
          </a:p>
          <a:p>
            <a:pPr marL="571500" indent="-571500">
              <a:buFont typeface="Arial" panose="020B0604020202020204" pitchFamily="34" charset="0"/>
              <a:buChar char="•"/>
            </a:pPr>
            <a:r>
              <a:rPr lang="en-US" sz="3200" dirty="0"/>
              <a:t>on your </a:t>
            </a:r>
            <a:r>
              <a:rPr lang="en-US" sz="3200" b="1" dirty="0"/>
              <a:t>left</a:t>
            </a:r>
            <a:r>
              <a:rPr lang="en-US" sz="3200" dirty="0"/>
              <a:t>?</a:t>
            </a:r>
          </a:p>
          <a:p>
            <a:pPr marL="571500" indent="-571500">
              <a:buFont typeface="Arial" panose="020B0604020202020204" pitchFamily="34" charset="0"/>
              <a:buChar char="•"/>
            </a:pPr>
            <a:r>
              <a:rPr lang="en-US" sz="3200" b="1" dirty="0"/>
              <a:t>behind </a:t>
            </a:r>
            <a:r>
              <a:rPr lang="en-US" sz="3200" dirty="0"/>
              <a:t>you?</a:t>
            </a:r>
          </a:p>
          <a:p>
            <a:pPr marL="571500" indent="-571500">
              <a:buFont typeface="Arial" panose="020B0604020202020204" pitchFamily="34" charset="0"/>
              <a:buChar char="•"/>
            </a:pPr>
            <a:endParaRPr lang="en-US" sz="3200" dirty="0"/>
          </a:p>
          <a:p>
            <a:pPr marL="571500" indent="-571500">
              <a:buFont typeface="Arial" panose="020B0604020202020204" pitchFamily="34" charset="0"/>
              <a:buChar char="•"/>
            </a:pPr>
            <a:endParaRPr lang="en-US" sz="2800" dirty="0"/>
          </a:p>
          <a:p>
            <a:pPr marL="571500" indent="-571500">
              <a:buFont typeface="Arial" panose="020B0604020202020204" pitchFamily="34" charset="0"/>
              <a:buChar char="•"/>
            </a:pPr>
            <a:endParaRPr lang="en-US" sz="3600" dirty="0"/>
          </a:p>
        </p:txBody>
      </p:sp>
      <p:pic>
        <p:nvPicPr>
          <p:cNvPr id="4" name="Picture 3" descr="A map of a school.&#10;Landmarks are as follows (top left and moving clockwise:&#10;Hall, kindergarten class, playground, seating area, Year 2 and 3 classrooms, Handball courts, Year 6 classrooms and the office. The centre of the map has canteen, year 2 classrooms, basketball court, library, Year 4 and 5 classrooms.From left to right, the seating area is between the year 2 and 3 classrooms and the soccer field. From top to bottom, the canteen is between the hall and the basketball court. From left to right the basketball court is between the office and the library.&#10;">
            <a:extLst>
              <a:ext uri="{FF2B5EF4-FFF2-40B4-BE49-F238E27FC236}">
                <a16:creationId xmlns:a16="http://schemas.microsoft.com/office/drawing/2014/main" id="{60115F98-C0C3-7A2F-3B3C-508E93167F68}"/>
              </a:ext>
            </a:extLst>
          </p:cNvPr>
          <p:cNvPicPr>
            <a:picLocks noChangeAspect="1"/>
          </p:cNvPicPr>
          <p:nvPr/>
        </p:nvPicPr>
        <p:blipFill>
          <a:blip r:embed="rId4"/>
          <a:stretch>
            <a:fillRect/>
          </a:stretch>
        </p:blipFill>
        <p:spPr>
          <a:xfrm>
            <a:off x="5371707" y="1296824"/>
            <a:ext cx="6369377" cy="4940554"/>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complementary fractions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5" name="Picture 4" descr="An image of a number line with quarters marked. A bar covers 3 quarters.">
            <a:extLst>
              <a:ext uri="{FF2B5EF4-FFF2-40B4-BE49-F238E27FC236}">
                <a16:creationId xmlns:a16="http://schemas.microsoft.com/office/drawing/2014/main" id="{F769B0FE-5D4A-3848-2316-FFFFCCB45608}"/>
              </a:ext>
            </a:extLst>
          </p:cNvPr>
          <p:cNvPicPr>
            <a:picLocks noChangeAspect="1"/>
          </p:cNvPicPr>
          <p:nvPr/>
        </p:nvPicPr>
        <p:blipFill>
          <a:blip r:embed="rId4"/>
          <a:stretch>
            <a:fillRect/>
          </a:stretch>
        </p:blipFill>
        <p:spPr>
          <a:xfrm>
            <a:off x="1829008" y="2130160"/>
            <a:ext cx="8344329" cy="20829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7557" y="1361594"/>
            <a:ext cx="11116443" cy="893226"/>
          </a:xfrm>
        </p:spPr>
        <p:txBody>
          <a:bodyPr/>
          <a:lstStyle/>
          <a:p>
            <a:pPr algn="ctr"/>
            <a:r>
              <a:rPr lang="en-US" sz="3600" dirty="0"/>
              <a:t>The </a:t>
            </a:r>
            <a:r>
              <a:rPr lang="en-US" sz="3600" b="1" dirty="0"/>
              <a:t>whole</a:t>
            </a:r>
            <a:r>
              <a:rPr lang="en-US" sz="3600" dirty="0"/>
              <a:t> </a:t>
            </a:r>
            <a:r>
              <a:rPr lang="en-US" sz="3600" b="1" dirty="0"/>
              <a:t>(1)</a:t>
            </a:r>
            <a:r>
              <a:rPr lang="en-US" sz="3600" dirty="0"/>
              <a:t> would be marked on the number line at:</a:t>
            </a:r>
          </a:p>
        </p:txBody>
      </p:sp>
      <p:pic>
        <p:nvPicPr>
          <p:cNvPr id="15" name="Picture 14" descr="A number line with a shaded rectangle filling up to a line marked one half. A is marked at the 1 mark, B at the 1 and a quarter mark, C at the 1 and a half mark, D at the 2 mark.">
            <a:extLst>
              <a:ext uri="{FF2B5EF4-FFF2-40B4-BE49-F238E27FC236}">
                <a16:creationId xmlns:a16="http://schemas.microsoft.com/office/drawing/2014/main" id="{05A26B3A-0551-5F6A-0B21-B5912FEAD0D8}"/>
              </a:ext>
            </a:extLst>
          </p:cNvPr>
          <p:cNvPicPr>
            <a:picLocks noChangeAspect="1"/>
          </p:cNvPicPr>
          <p:nvPr/>
        </p:nvPicPr>
        <p:blipFill>
          <a:blip r:embed="rId3"/>
          <a:stretch>
            <a:fillRect/>
          </a:stretch>
        </p:blipFill>
        <p:spPr>
          <a:xfrm>
            <a:off x="875199" y="2432395"/>
            <a:ext cx="10101157" cy="2505215"/>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AF13415D-5ABE-8CE1-9EF6-D83C6FF3BAC9}"/>
              </a:ext>
            </a:extLst>
          </p:cNvPr>
          <p:cNvSpPr txBox="1"/>
          <p:nvPr/>
        </p:nvSpPr>
        <p:spPr>
          <a:xfrm>
            <a:off x="1303635" y="54503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307608" y="54503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311581" y="54503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315555" y="54503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8" name="TextBox 7">
            <a:extLst>
              <a:ext uri="{FF2B5EF4-FFF2-40B4-BE49-F238E27FC236}">
                <a16:creationId xmlns:a16="http://schemas.microsoft.com/office/drawing/2014/main" id="{7317E027-423E-2341-3DE5-F25C6DA0B24C}"/>
              </a:ext>
            </a:extLst>
          </p:cNvPr>
          <p:cNvSpPr txBox="1"/>
          <p:nvPr/>
        </p:nvSpPr>
        <p:spPr>
          <a:xfrm>
            <a:off x="460998" y="906003"/>
            <a:ext cx="5854369" cy="5206490"/>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3600" dirty="0">
                <a:latin typeface="Arial" panose="020B0604020202020204" pitchFamily="34" charset="0"/>
                <a:ea typeface="Calibri" panose="020F0502020204030204" pitchFamily="34" charset="0"/>
              </a:rPr>
              <a:t>Record which </a:t>
            </a:r>
            <a:r>
              <a:rPr lang="en-AU" sz="3600" b="1" dirty="0">
                <a:latin typeface="Arial" panose="020B0604020202020204" pitchFamily="34" charset="0"/>
                <a:ea typeface="Calibri" panose="020F0502020204030204" pitchFamily="34" charset="0"/>
              </a:rPr>
              <a:t>playground equipment </a:t>
            </a:r>
            <a:r>
              <a:rPr lang="en-AU" sz="3600" dirty="0">
                <a:latin typeface="Arial" panose="020B0604020202020204" pitchFamily="34" charset="0"/>
                <a:ea typeface="Calibri" panose="020F0502020204030204" pitchFamily="34" charset="0"/>
              </a:rPr>
              <a:t>is</a:t>
            </a:r>
            <a:r>
              <a:rPr lang="en-AU" sz="3600" b="1" dirty="0">
                <a:latin typeface="Arial" panose="020B0604020202020204" pitchFamily="34" charset="0"/>
                <a:ea typeface="Calibri" panose="020F0502020204030204" pitchFamily="34" charset="0"/>
              </a:rPr>
              <a:t> </a:t>
            </a:r>
            <a:r>
              <a:rPr lang="en-AU" sz="3600" dirty="0">
                <a:latin typeface="Arial" panose="020B0604020202020204" pitchFamily="34" charset="0"/>
                <a:ea typeface="Calibri" panose="020F0502020204030204" pitchFamily="34" charset="0"/>
              </a:rPr>
              <a:t>in </a:t>
            </a:r>
            <a:r>
              <a:rPr lang="en-AU" sz="3600" b="1" dirty="0">
                <a:latin typeface="Arial" panose="020B0604020202020204" pitchFamily="34" charset="0"/>
                <a:ea typeface="Calibri" panose="020F0502020204030204" pitchFamily="34" charset="0"/>
              </a:rPr>
              <a:t>C1</a:t>
            </a:r>
            <a:r>
              <a:rPr lang="en-AU" sz="3600" dirty="0">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Arial" panose="020B0604020202020204" pitchFamily="34" charset="0"/>
              <a:buChar char="•"/>
            </a:pPr>
            <a:r>
              <a:rPr lang="en-AU" sz="3600" dirty="0">
                <a:effectLst/>
                <a:latin typeface="Arial" panose="020B0604020202020204" pitchFamily="34" charset="0"/>
                <a:ea typeface="Calibri" panose="020F0502020204030204" pitchFamily="34" charset="0"/>
              </a:rPr>
              <a:t>Record the </a:t>
            </a:r>
            <a:r>
              <a:rPr lang="en-AU" sz="3600" b="1" dirty="0">
                <a:effectLst/>
                <a:latin typeface="Arial" panose="020B0604020202020204" pitchFamily="34" charset="0"/>
                <a:ea typeface="Calibri" panose="020F0502020204030204" pitchFamily="34" charset="0"/>
              </a:rPr>
              <a:t>grid reference </a:t>
            </a:r>
            <a:r>
              <a:rPr lang="en-AU" sz="3600" dirty="0">
                <a:latin typeface="Arial" panose="020B0604020202020204" pitchFamily="34" charset="0"/>
                <a:ea typeface="Calibri" panose="020F0502020204030204" pitchFamily="34" charset="0"/>
              </a:rPr>
              <a:t>for the position of the </a:t>
            </a:r>
            <a:r>
              <a:rPr lang="en-AU" sz="3600" b="1" dirty="0">
                <a:latin typeface="Arial" panose="020B0604020202020204" pitchFamily="34" charset="0"/>
                <a:ea typeface="Calibri" panose="020F0502020204030204" pitchFamily="34" charset="0"/>
              </a:rPr>
              <a:t>swing. </a:t>
            </a:r>
            <a:endParaRPr lang="en-AU" sz="3600" b="1" dirty="0">
              <a:effectLst/>
              <a:latin typeface="Arial" panose="020B0604020202020204" pitchFamily="34" charset="0"/>
              <a:ea typeface="Calibri" panose="020F0502020204030204" pitchFamily="34" charset="0"/>
            </a:endParaRPr>
          </a:p>
        </p:txBody>
      </p:sp>
      <p:pic>
        <p:nvPicPr>
          <p:cNvPr id="5" name="Picture 4" descr="A map of the a playground with grid and reference:&#10;A3 sandpit, B3 monkey bars, C3 slide, A2 swings, B2 merry-go-round, C2 picnic table,  A1climbing frame, B1 wobble horse, C1 see-saw.">
            <a:extLst>
              <a:ext uri="{FF2B5EF4-FFF2-40B4-BE49-F238E27FC236}">
                <a16:creationId xmlns:a16="http://schemas.microsoft.com/office/drawing/2014/main" id="{0C9530F6-B92C-0113-3CF7-371820F82CA8}"/>
              </a:ext>
            </a:extLst>
          </p:cNvPr>
          <p:cNvPicPr>
            <a:picLocks noChangeAspect="1"/>
          </p:cNvPicPr>
          <p:nvPr/>
        </p:nvPicPr>
        <p:blipFill>
          <a:blip r:embed="rId4"/>
          <a:stretch>
            <a:fillRect/>
          </a:stretch>
        </p:blipFill>
        <p:spPr>
          <a:xfrm>
            <a:off x="6618575" y="1458160"/>
            <a:ext cx="4966784" cy="47869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D51AB177-059A-5E96-1E7D-C3656DF5A0D4}"/>
              </a:ext>
            </a:extLst>
          </p:cNvPr>
          <p:cNvSpPr txBox="1"/>
          <p:nvPr/>
        </p:nvSpPr>
        <p:spPr>
          <a:xfrm>
            <a:off x="2240536" y="454804"/>
            <a:ext cx="7710927" cy="901593"/>
          </a:xfrm>
          <a:prstGeom prst="rect">
            <a:avLst/>
          </a:prstGeom>
          <a:noFill/>
        </p:spPr>
        <p:txBody>
          <a:bodyPr wrap="square">
            <a:spAutoFit/>
          </a:bodyPr>
          <a:lstStyle/>
          <a:p>
            <a:pPr algn="ctr">
              <a:lnSpc>
                <a:spcPct val="150000"/>
              </a:lnSpc>
            </a:pPr>
            <a:r>
              <a:rPr lang="en-AU" sz="4000" b="1" dirty="0">
                <a:solidFill>
                  <a:srgbClr val="000000"/>
                </a:solidFill>
                <a:latin typeface="Arial" panose="020B0604020202020204" pitchFamily="34" charset="0"/>
                <a:ea typeface="Calibri" panose="020F0502020204030204" pitchFamily="34" charset="0"/>
              </a:rPr>
              <a:t>Draw</a:t>
            </a:r>
            <a:r>
              <a:rPr lang="en-AU" sz="4000" dirty="0">
                <a:solidFill>
                  <a:srgbClr val="000000"/>
                </a:solidFill>
                <a:latin typeface="Arial" panose="020B0604020202020204" pitchFamily="34" charset="0"/>
                <a:ea typeface="Calibri" panose="020F0502020204030204" pitchFamily="34" charset="0"/>
              </a:rPr>
              <a:t> the array. </a:t>
            </a:r>
          </a:p>
        </p:txBody>
      </p:sp>
      <p:pic>
        <p:nvPicPr>
          <p:cNvPr id="7" name="Picture 6" descr="an array: 2 rows of 6.">
            <a:extLst>
              <a:ext uri="{FF2B5EF4-FFF2-40B4-BE49-F238E27FC236}">
                <a16:creationId xmlns:a16="http://schemas.microsoft.com/office/drawing/2014/main" id="{06DBF2BF-876A-CD5B-3CDB-745A991683AE}"/>
              </a:ext>
            </a:extLst>
          </p:cNvPr>
          <p:cNvPicPr>
            <a:picLocks noChangeAspect="1"/>
          </p:cNvPicPr>
          <p:nvPr/>
        </p:nvPicPr>
        <p:blipFill>
          <a:blip r:embed="rId4"/>
          <a:stretch>
            <a:fillRect/>
          </a:stretch>
        </p:blipFill>
        <p:spPr>
          <a:xfrm>
            <a:off x="3685379" y="1602083"/>
            <a:ext cx="4496031" cy="1581231"/>
          </a:xfrm>
          <a:prstGeom prst="rect">
            <a:avLst/>
          </a:prstGeom>
        </p:spPr>
      </p:pic>
      <p:sp>
        <p:nvSpPr>
          <p:cNvPr id="11" name="TextBox 10">
            <a:extLst>
              <a:ext uri="{FF2B5EF4-FFF2-40B4-BE49-F238E27FC236}">
                <a16:creationId xmlns:a16="http://schemas.microsoft.com/office/drawing/2014/main" id="{E6A97654-B26B-E4B2-B0B3-DD62E61D2370}"/>
              </a:ext>
            </a:extLst>
          </p:cNvPr>
          <p:cNvSpPr txBox="1"/>
          <p:nvPr/>
        </p:nvSpPr>
        <p:spPr>
          <a:xfrm>
            <a:off x="1176056" y="3429000"/>
            <a:ext cx="9069453" cy="2748253"/>
          </a:xfrm>
          <a:prstGeom prst="rect">
            <a:avLst/>
          </a:prstGeom>
          <a:noFill/>
        </p:spPr>
        <p:txBody>
          <a:bodyPr wrap="square">
            <a:spAutoFit/>
          </a:bodyPr>
          <a:lstStyle/>
          <a:p>
            <a:pPr algn="ctr"/>
            <a:r>
              <a:rPr lang="en-AU" sz="4000" b="1" dirty="0">
                <a:solidFill>
                  <a:srgbClr val="000000"/>
                </a:solidFill>
                <a:latin typeface="Arial" panose="020B0604020202020204" pitchFamily="34" charset="0"/>
                <a:ea typeface="Calibri" panose="020F0502020204030204" pitchFamily="34" charset="0"/>
              </a:rPr>
              <a:t>Record</a:t>
            </a:r>
            <a:r>
              <a:rPr lang="en-AU" sz="4000" dirty="0">
                <a:solidFill>
                  <a:srgbClr val="000000"/>
                </a:solidFill>
                <a:latin typeface="Arial" panose="020B0604020202020204" pitchFamily="34" charset="0"/>
                <a:ea typeface="Calibri" panose="020F0502020204030204" pitchFamily="34" charset="0"/>
              </a:rPr>
              <a:t> the number sentence</a:t>
            </a:r>
            <a:r>
              <a:rPr lang="en-AU" sz="3200" dirty="0">
                <a:solidFill>
                  <a:srgbClr val="000000"/>
                </a:solidFill>
                <a:latin typeface="Arial" panose="020B0604020202020204" pitchFamily="34" charset="0"/>
                <a:ea typeface="Calibri" panose="020F0502020204030204" pitchFamily="34" charset="0"/>
              </a:rPr>
              <a:t>.</a:t>
            </a:r>
            <a:endParaRPr lang="en-AU" sz="4000" dirty="0"/>
          </a:p>
          <a:p>
            <a:pPr algn="ctr"/>
            <a:endParaRPr lang="en-AU" sz="4000" b="1" dirty="0">
              <a:solidFill>
                <a:srgbClr val="000000"/>
              </a:solidFill>
              <a:latin typeface="Arial" panose="020B0604020202020204" pitchFamily="34" charset="0"/>
              <a:ea typeface="Calibri" panose="020F0502020204030204" pitchFamily="34" charset="0"/>
            </a:endParaRPr>
          </a:p>
          <a:p>
            <a:pPr algn="ctr"/>
            <a:r>
              <a:rPr lang="en-AU" sz="4000" b="1" dirty="0">
                <a:solidFill>
                  <a:srgbClr val="000000"/>
                </a:solidFill>
                <a:latin typeface="Arial" panose="020B0604020202020204" pitchFamily="34" charset="0"/>
                <a:ea typeface="Calibri" panose="020F0502020204030204" pitchFamily="34" charset="0"/>
              </a:rPr>
              <a:t>Double</a:t>
            </a:r>
            <a:r>
              <a:rPr lang="en-AU" sz="4000" dirty="0">
                <a:solidFill>
                  <a:srgbClr val="000000"/>
                </a:solidFill>
                <a:latin typeface="Arial" panose="020B0604020202020204" pitchFamily="34" charset="0"/>
                <a:ea typeface="Calibri" panose="020F0502020204030204" pitchFamily="34" charset="0"/>
              </a:rPr>
              <a:t> the array. </a:t>
            </a:r>
          </a:p>
          <a:p>
            <a:pPr algn="ctr">
              <a:lnSpc>
                <a:spcPct val="150000"/>
              </a:lnSpc>
            </a:pPr>
            <a:r>
              <a:rPr lang="en-AU" sz="4000" b="1" dirty="0">
                <a:solidFill>
                  <a:srgbClr val="000000"/>
                </a:solidFill>
                <a:latin typeface="Arial" panose="020B0604020202020204" pitchFamily="34" charset="0"/>
                <a:ea typeface="Calibri" panose="020F0502020204030204" pitchFamily="34" charset="0"/>
              </a:rPr>
              <a:t>Record</a:t>
            </a:r>
            <a:r>
              <a:rPr lang="en-AU" sz="4000" dirty="0">
                <a:solidFill>
                  <a:srgbClr val="000000"/>
                </a:solidFill>
                <a:latin typeface="Arial" panose="020B0604020202020204" pitchFamily="34" charset="0"/>
                <a:ea typeface="Calibri" panose="020F0502020204030204" pitchFamily="34" charset="0"/>
              </a:rPr>
              <a:t> the new number sentence</a:t>
            </a:r>
            <a:r>
              <a:rPr lang="en-AU" sz="3200" dirty="0">
                <a:solidFill>
                  <a:srgbClr val="000000"/>
                </a:solidFill>
                <a:latin typeface="Arial" panose="020B0604020202020204" pitchFamily="34" charset="0"/>
                <a:ea typeface="Calibri" panose="020F0502020204030204" pitchFamily="34" charset="0"/>
              </a:rPr>
              <a:t>.</a:t>
            </a:r>
            <a:endParaRPr lang="en-AU" dirty="0"/>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351911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10" name="TextBox 9">
            <a:extLst>
              <a:ext uri="{FF2B5EF4-FFF2-40B4-BE49-F238E27FC236}">
                <a16:creationId xmlns:a16="http://schemas.microsoft.com/office/drawing/2014/main" id="{D626C04C-4A49-87AF-931D-3E6F8D9FAB65}"/>
              </a:ext>
            </a:extLst>
          </p:cNvPr>
          <p:cNvSpPr txBox="1"/>
          <p:nvPr/>
        </p:nvSpPr>
        <p:spPr>
          <a:xfrm>
            <a:off x="904712" y="1203422"/>
            <a:ext cx="9493321" cy="820674"/>
          </a:xfrm>
          <a:prstGeom prst="rect">
            <a:avLst/>
          </a:prstGeom>
          <a:noFill/>
        </p:spPr>
        <p:txBody>
          <a:bodyPr wrap="square">
            <a:spAutoFit/>
          </a:bodyPr>
          <a:lstStyle/>
          <a:p>
            <a:pPr algn="ctr">
              <a:lnSpc>
                <a:spcPct val="150000"/>
              </a:lnSpc>
            </a:pPr>
            <a:r>
              <a:rPr lang="en-AU" sz="3600" dirty="0">
                <a:solidFill>
                  <a:srgbClr val="000000"/>
                </a:solidFill>
                <a:latin typeface="Arial" panose="020B0604020202020204" pitchFamily="34" charset="0"/>
                <a:ea typeface="Calibri" panose="020F0502020204030204" pitchFamily="34" charset="0"/>
              </a:rPr>
              <a:t>Rearrange the cards to </a:t>
            </a:r>
            <a:r>
              <a:rPr lang="en-AU" sz="3600" b="1" dirty="0">
                <a:solidFill>
                  <a:srgbClr val="000000"/>
                </a:solidFill>
                <a:latin typeface="Arial" panose="020B0604020202020204" pitchFamily="34" charset="0"/>
                <a:ea typeface="Calibri" panose="020F0502020204030204" pitchFamily="34" charset="0"/>
              </a:rPr>
              <a:t>record:</a:t>
            </a:r>
          </a:p>
        </p:txBody>
      </p:sp>
      <p:sp>
        <p:nvSpPr>
          <p:cNvPr id="32" name="Rectangle: Rounded Corners 31">
            <a:extLst>
              <a:ext uri="{FF2B5EF4-FFF2-40B4-BE49-F238E27FC236}">
                <a16:creationId xmlns:a16="http://schemas.microsoft.com/office/drawing/2014/main" id="{1DA91F8B-7466-051D-86FD-9DD573641C06}"/>
              </a:ext>
            </a:extLst>
          </p:cNvPr>
          <p:cNvSpPr/>
          <p:nvPr/>
        </p:nvSpPr>
        <p:spPr>
          <a:xfrm>
            <a:off x="2869610" y="2525415"/>
            <a:ext cx="1116000" cy="1116000"/>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dirty="0">
                <a:solidFill>
                  <a:schemeClr val="accent1"/>
                </a:solidFill>
                <a:latin typeface="Edu NSW ACT Foundation" pitchFamily="2" charset="0"/>
              </a:rPr>
              <a:t>4</a:t>
            </a:r>
            <a:endParaRPr lang="en-AU" sz="3200" dirty="0">
              <a:solidFill>
                <a:schemeClr val="accent1"/>
              </a:solidFill>
              <a:latin typeface="Edu NSW ACT Foundation" pitchFamily="2" charset="0"/>
            </a:endParaRPr>
          </a:p>
        </p:txBody>
      </p:sp>
      <p:sp>
        <p:nvSpPr>
          <p:cNvPr id="33" name="Rectangle: Rounded Corners 32">
            <a:extLst>
              <a:ext uri="{FF2B5EF4-FFF2-40B4-BE49-F238E27FC236}">
                <a16:creationId xmlns:a16="http://schemas.microsoft.com/office/drawing/2014/main" id="{14A2AF19-FEA8-E43E-2AE3-2FA60F952B1F}"/>
              </a:ext>
            </a:extLst>
          </p:cNvPr>
          <p:cNvSpPr/>
          <p:nvPr/>
        </p:nvSpPr>
        <p:spPr>
          <a:xfrm>
            <a:off x="4437794" y="2525415"/>
            <a:ext cx="1116000" cy="1116000"/>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dirty="0">
                <a:solidFill>
                  <a:schemeClr val="accent1"/>
                </a:solidFill>
                <a:latin typeface="Edu NSW ACT Foundation" pitchFamily="2" charset="0"/>
              </a:rPr>
              <a:t>3</a:t>
            </a:r>
            <a:endParaRPr lang="en-AU" sz="3200" dirty="0">
              <a:solidFill>
                <a:schemeClr val="accent1"/>
              </a:solidFill>
              <a:latin typeface="Edu NSW ACT Foundation" pitchFamily="2" charset="0"/>
            </a:endParaRPr>
          </a:p>
        </p:txBody>
      </p:sp>
      <p:sp>
        <p:nvSpPr>
          <p:cNvPr id="34" name="Rectangle: Rounded Corners 33">
            <a:extLst>
              <a:ext uri="{FF2B5EF4-FFF2-40B4-BE49-F238E27FC236}">
                <a16:creationId xmlns:a16="http://schemas.microsoft.com/office/drawing/2014/main" id="{1DED7B18-B5C3-F3C8-3DFB-E5C1355044D5}"/>
              </a:ext>
            </a:extLst>
          </p:cNvPr>
          <p:cNvSpPr/>
          <p:nvPr/>
        </p:nvSpPr>
        <p:spPr>
          <a:xfrm>
            <a:off x="6005978" y="2525415"/>
            <a:ext cx="1116000" cy="1116000"/>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dirty="0">
                <a:solidFill>
                  <a:schemeClr val="accent1"/>
                </a:solidFill>
                <a:latin typeface="Edu NSW ACT Foundation" pitchFamily="2" charset="0"/>
              </a:rPr>
              <a:t>1</a:t>
            </a:r>
            <a:endParaRPr lang="en-AU" sz="3200" dirty="0">
              <a:solidFill>
                <a:schemeClr val="accent1"/>
              </a:solidFill>
              <a:latin typeface="Edu NSW ACT Foundation" pitchFamily="2" charset="0"/>
            </a:endParaRPr>
          </a:p>
        </p:txBody>
      </p:sp>
      <p:sp>
        <p:nvSpPr>
          <p:cNvPr id="35" name="Rectangle: Rounded Corners 34">
            <a:extLst>
              <a:ext uri="{FF2B5EF4-FFF2-40B4-BE49-F238E27FC236}">
                <a16:creationId xmlns:a16="http://schemas.microsoft.com/office/drawing/2014/main" id="{3F3B0870-D678-B1AF-2290-E4A6649460A7}"/>
              </a:ext>
            </a:extLst>
          </p:cNvPr>
          <p:cNvSpPr/>
          <p:nvPr/>
        </p:nvSpPr>
        <p:spPr>
          <a:xfrm>
            <a:off x="7574162" y="2525415"/>
            <a:ext cx="1116000" cy="1116000"/>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dirty="0">
                <a:solidFill>
                  <a:schemeClr val="accent1"/>
                </a:solidFill>
                <a:latin typeface="Edu NSW ACT Foundation" pitchFamily="2" charset="0"/>
              </a:rPr>
              <a:t>5</a:t>
            </a:r>
            <a:endParaRPr lang="en-AU" sz="3200" dirty="0">
              <a:solidFill>
                <a:schemeClr val="accent1"/>
              </a:solidFill>
              <a:latin typeface="Edu NSW ACT Foundation" pitchFamily="2" charset="0"/>
            </a:endParaRPr>
          </a:p>
        </p:txBody>
      </p:sp>
      <p:sp>
        <p:nvSpPr>
          <p:cNvPr id="12" name="TextBox 11">
            <a:extLst>
              <a:ext uri="{FF2B5EF4-FFF2-40B4-BE49-F238E27FC236}">
                <a16:creationId xmlns:a16="http://schemas.microsoft.com/office/drawing/2014/main" id="{8E520C0A-FD62-22EE-99D1-AB3EAEB049A7}"/>
              </a:ext>
            </a:extLst>
          </p:cNvPr>
          <p:cNvSpPr txBox="1"/>
          <p:nvPr/>
        </p:nvSpPr>
        <p:spPr>
          <a:xfrm>
            <a:off x="1421039" y="3878574"/>
            <a:ext cx="8729062" cy="1651671"/>
          </a:xfrm>
          <a:prstGeom prst="rect">
            <a:avLst/>
          </a:prstGeom>
          <a:noFill/>
        </p:spPr>
        <p:txBody>
          <a:bodyPr wrap="square">
            <a:spAutoFit/>
          </a:bodyPr>
          <a:lstStyle/>
          <a:p>
            <a:pPr marL="342900" indent="-342900" algn="ctr">
              <a:lnSpc>
                <a:spcPct val="150000"/>
              </a:lnSpc>
              <a:buFont typeface="Arial" panose="020B0604020202020204" pitchFamily="34" charset="0"/>
              <a:buChar char="•"/>
            </a:pPr>
            <a:r>
              <a:rPr lang="en-AU" sz="3600" dirty="0">
                <a:solidFill>
                  <a:srgbClr val="000000"/>
                </a:solidFill>
                <a:latin typeface="Arial" panose="020B0604020202020204" pitchFamily="34" charset="0"/>
                <a:ea typeface="Calibri" panose="020F0502020204030204" pitchFamily="34" charset="0"/>
              </a:rPr>
              <a:t>the</a:t>
            </a:r>
            <a:r>
              <a:rPr lang="en-AU" sz="3600" b="1" dirty="0">
                <a:solidFill>
                  <a:srgbClr val="000000"/>
                </a:solidFill>
                <a:latin typeface="Arial" panose="020B0604020202020204" pitchFamily="34" charset="0"/>
                <a:ea typeface="Calibri" panose="020F0502020204030204" pitchFamily="34" charset="0"/>
              </a:rPr>
              <a:t> largest </a:t>
            </a:r>
            <a:r>
              <a:rPr lang="en-AU" sz="3600" dirty="0">
                <a:solidFill>
                  <a:srgbClr val="000000"/>
                </a:solidFill>
                <a:latin typeface="Arial" panose="020B0604020202020204" pitchFamily="34" charset="0"/>
                <a:ea typeface="Calibri" panose="020F0502020204030204" pitchFamily="34" charset="0"/>
              </a:rPr>
              <a:t>possible number</a:t>
            </a:r>
          </a:p>
          <a:p>
            <a:pPr marL="342900" indent="-342900" algn="ctr">
              <a:lnSpc>
                <a:spcPct val="150000"/>
              </a:lnSpc>
              <a:buFont typeface="Arial" panose="020B0604020202020204" pitchFamily="34" charset="0"/>
              <a:buChar char="•"/>
            </a:pPr>
            <a:r>
              <a:rPr lang="en-AU" sz="3600" dirty="0">
                <a:solidFill>
                  <a:srgbClr val="000000"/>
                </a:solidFill>
                <a:latin typeface="Arial" panose="020B0604020202020204" pitchFamily="34" charset="0"/>
                <a:ea typeface="Calibri" panose="020F0502020204030204" pitchFamily="34" charset="0"/>
              </a:rPr>
              <a:t>the</a:t>
            </a:r>
            <a:r>
              <a:rPr lang="en-AU" sz="3600" b="1" dirty="0">
                <a:solidFill>
                  <a:srgbClr val="000000"/>
                </a:solidFill>
                <a:latin typeface="Arial" panose="020B0604020202020204" pitchFamily="34" charset="0"/>
                <a:ea typeface="Calibri" panose="020F0502020204030204" pitchFamily="34" charset="0"/>
              </a:rPr>
              <a:t> smallest </a:t>
            </a:r>
            <a:r>
              <a:rPr lang="en-AU" sz="3600" dirty="0">
                <a:solidFill>
                  <a:srgbClr val="000000"/>
                </a:solidFill>
                <a:latin typeface="Arial" panose="020B0604020202020204" pitchFamily="34" charset="0"/>
                <a:ea typeface="Calibri" panose="020F0502020204030204" pitchFamily="34" charset="0"/>
              </a:rPr>
              <a:t>possible number.</a:t>
            </a:r>
            <a:endParaRPr lang="en-AU" sz="3600" dirty="0"/>
          </a:p>
        </p:txBody>
      </p:sp>
    </p:spTree>
    <p:extLst>
      <p:ext uri="{BB962C8B-B14F-4D97-AF65-F5344CB8AC3E}">
        <p14:creationId xmlns:p14="http://schemas.microsoft.com/office/powerpoint/2010/main" val="233328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7" name="TextBox 6">
            <a:extLst>
              <a:ext uri="{FF2B5EF4-FFF2-40B4-BE49-F238E27FC236}">
                <a16:creationId xmlns:a16="http://schemas.microsoft.com/office/drawing/2014/main" id="{ABBF0D18-B499-4776-B43E-3A3B34D204AE}"/>
              </a:ext>
            </a:extLst>
          </p:cNvPr>
          <p:cNvSpPr txBox="1"/>
          <p:nvPr/>
        </p:nvSpPr>
        <p:spPr>
          <a:xfrm>
            <a:off x="984069" y="1184223"/>
            <a:ext cx="10046407" cy="820674"/>
          </a:xfrm>
          <a:prstGeom prst="rect">
            <a:avLst/>
          </a:prstGeom>
          <a:noFill/>
        </p:spPr>
        <p:txBody>
          <a:bodyPr wrap="square">
            <a:spAutoFit/>
          </a:bodyPr>
          <a:lstStyle/>
          <a:p>
            <a:pPr algn="ctr">
              <a:lnSpc>
                <a:spcPct val="150000"/>
              </a:lnSpc>
            </a:pPr>
            <a:r>
              <a:rPr lang="en-AU" sz="3600" dirty="0">
                <a:solidFill>
                  <a:srgbClr val="000000"/>
                </a:solidFill>
                <a:latin typeface="Arial" panose="020B0604020202020204" pitchFamily="34" charset="0"/>
                <a:ea typeface="Calibri" panose="020F0502020204030204" pitchFamily="34" charset="0"/>
              </a:rPr>
              <a:t>Which of these is </a:t>
            </a:r>
            <a:r>
              <a:rPr lang="en-AU" sz="3600" b="1" dirty="0">
                <a:solidFill>
                  <a:srgbClr val="000000"/>
                </a:solidFill>
                <a:latin typeface="Arial" panose="020B0604020202020204" pitchFamily="34" charset="0"/>
                <a:ea typeface="Calibri" panose="020F0502020204030204" pitchFamily="34" charset="0"/>
              </a:rPr>
              <a:t>more likely</a:t>
            </a:r>
            <a:r>
              <a:rPr lang="en-AU" sz="3600" dirty="0">
                <a:solidFill>
                  <a:srgbClr val="000000"/>
                </a:solidFill>
                <a:latin typeface="Arial" panose="020B0604020202020204" pitchFamily="34" charset="0"/>
                <a:ea typeface="Calibri" panose="020F0502020204030204" pitchFamily="34" charset="0"/>
              </a:rPr>
              <a:t> to happen today?</a:t>
            </a:r>
          </a:p>
        </p:txBody>
      </p:sp>
      <p:sp>
        <p:nvSpPr>
          <p:cNvPr id="10" name="TextBox 9">
            <a:extLst>
              <a:ext uri="{FF2B5EF4-FFF2-40B4-BE49-F238E27FC236}">
                <a16:creationId xmlns:a16="http://schemas.microsoft.com/office/drawing/2014/main" id="{3B20AC28-AD32-3CEC-69BD-36A003D92B86}"/>
              </a:ext>
            </a:extLst>
          </p:cNvPr>
          <p:cNvSpPr txBox="1"/>
          <p:nvPr/>
        </p:nvSpPr>
        <p:spPr>
          <a:xfrm>
            <a:off x="3447339" y="210592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pic>
        <p:nvPicPr>
          <p:cNvPr id="9" name="Picture 8" descr="A: 2 children eating their lunch&#10;">
            <a:extLst>
              <a:ext uri="{FF2B5EF4-FFF2-40B4-BE49-F238E27FC236}">
                <a16:creationId xmlns:a16="http://schemas.microsoft.com/office/drawing/2014/main" id="{B31EC028-0273-60F5-C850-D2808B693295}"/>
              </a:ext>
            </a:extLst>
          </p:cNvPr>
          <p:cNvPicPr>
            <a:picLocks noChangeAspect="1"/>
          </p:cNvPicPr>
          <p:nvPr/>
        </p:nvPicPr>
        <p:blipFill>
          <a:blip r:embed="rId4"/>
          <a:srcRect t="20744" r="63613" b="10498"/>
          <a:stretch>
            <a:fillRect/>
          </a:stretch>
        </p:blipFill>
        <p:spPr>
          <a:xfrm>
            <a:off x="1797695" y="2945623"/>
            <a:ext cx="2769936" cy="2648944"/>
          </a:xfrm>
          <a:prstGeom prst="rect">
            <a:avLst/>
          </a:prstGeom>
          <a:ln>
            <a:noFill/>
          </a:ln>
          <a:effectLst/>
        </p:spPr>
      </p:pic>
      <p:sp>
        <p:nvSpPr>
          <p:cNvPr id="11" name="TextBox 10">
            <a:extLst>
              <a:ext uri="{FF2B5EF4-FFF2-40B4-BE49-F238E27FC236}">
                <a16:creationId xmlns:a16="http://schemas.microsoft.com/office/drawing/2014/main" id="{E4E4B5CD-EB4D-6063-F32F-37F43CE9E47F}"/>
              </a:ext>
            </a:extLst>
          </p:cNvPr>
          <p:cNvSpPr txBox="1"/>
          <p:nvPr/>
        </p:nvSpPr>
        <p:spPr>
          <a:xfrm>
            <a:off x="7519500" y="20914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pic>
        <p:nvPicPr>
          <p:cNvPr id="5" name="Picture 4" descr="B: 2 children skiing down the mountain.">
            <a:extLst>
              <a:ext uri="{FF2B5EF4-FFF2-40B4-BE49-F238E27FC236}">
                <a16:creationId xmlns:a16="http://schemas.microsoft.com/office/drawing/2014/main" id="{1E438446-3350-34B7-5E27-8E38C8EC3C77}"/>
              </a:ext>
            </a:extLst>
          </p:cNvPr>
          <p:cNvPicPr>
            <a:picLocks noChangeAspect="1"/>
          </p:cNvPicPr>
          <p:nvPr/>
        </p:nvPicPr>
        <p:blipFill>
          <a:blip r:embed="rId4"/>
          <a:srcRect l="35494" t="10247" r="1265" b="9116"/>
          <a:stretch>
            <a:fillRect/>
          </a:stretch>
        </p:blipFill>
        <p:spPr>
          <a:xfrm>
            <a:off x="6096000" y="2777971"/>
            <a:ext cx="4487632" cy="2895806"/>
          </a:xfrm>
          <a:prstGeom prst="rect">
            <a:avLst/>
          </a:prstGeom>
          <a:ln>
            <a:noFill/>
          </a:ln>
          <a:effectLst/>
        </p:spPr>
      </p:pic>
      <p:sp>
        <p:nvSpPr>
          <p:cNvPr id="4" name="TextBox 3">
            <a:extLst>
              <a:ext uri="{FF2B5EF4-FFF2-40B4-BE49-F238E27FC236}">
                <a16:creationId xmlns:a16="http://schemas.microsoft.com/office/drawing/2014/main" id="{40E5EA1F-D53E-7DDD-00EC-4DB6228F6EEB}"/>
              </a:ext>
            </a:extLst>
          </p:cNvPr>
          <p:cNvSpPr txBox="1"/>
          <p:nvPr/>
        </p:nvSpPr>
        <p:spPr>
          <a:xfrm>
            <a:off x="1446526" y="5854018"/>
            <a:ext cx="9121492" cy="739754"/>
          </a:xfrm>
          <a:prstGeom prst="rect">
            <a:avLst/>
          </a:prstGeom>
          <a:noFill/>
        </p:spPr>
        <p:txBody>
          <a:bodyPr wrap="square">
            <a:spAutoFit/>
          </a:bodyPr>
          <a:lstStyle/>
          <a:p>
            <a:pPr algn="ctr">
              <a:lnSpc>
                <a:spcPct val="150000"/>
              </a:lnSpc>
            </a:pPr>
            <a:r>
              <a:rPr lang="en-AU" sz="3200" b="1" dirty="0">
                <a:solidFill>
                  <a:srgbClr val="000000"/>
                </a:solidFill>
                <a:latin typeface="Arial" panose="020B0604020202020204" pitchFamily="34" charset="0"/>
                <a:ea typeface="Calibri" panose="020F0502020204030204" pitchFamily="34" charset="0"/>
              </a:rPr>
              <a:t>Communicate</a:t>
            </a:r>
            <a:r>
              <a:rPr lang="en-AU" sz="3200" dirty="0">
                <a:solidFill>
                  <a:srgbClr val="000000"/>
                </a:solidFill>
                <a:latin typeface="Arial" panose="020B0604020202020204" pitchFamily="34" charset="0"/>
                <a:ea typeface="Calibri" panose="020F0502020204030204" pitchFamily="34" charset="0"/>
              </a:rPr>
              <a:t> your </a:t>
            </a:r>
            <a:r>
              <a:rPr lang="en-AU" sz="3200" b="1" dirty="0">
                <a:solidFill>
                  <a:srgbClr val="000000"/>
                </a:solidFill>
                <a:latin typeface="Arial" panose="020B0604020202020204" pitchFamily="34" charset="0"/>
                <a:ea typeface="Calibri" panose="020F0502020204030204" pitchFamily="34" charset="0"/>
              </a:rPr>
              <a:t>reasoning</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dirty="0"/>
              <a:t>Activity 3 – recreate the whole</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7" name="Picture 6" descr="A fraction strip with 0 and one-quarter&#10;marked, and the space between these numbers is shaded. There is empty space on the strip representing the whole.">
            <a:extLst>
              <a:ext uri="{FF2B5EF4-FFF2-40B4-BE49-F238E27FC236}">
                <a16:creationId xmlns:a16="http://schemas.microsoft.com/office/drawing/2014/main" id="{8427E307-5BC9-A866-2BE3-584BCFCFED34}"/>
              </a:ext>
            </a:extLst>
          </p:cNvPr>
          <p:cNvPicPr>
            <a:picLocks noChangeAspect="1"/>
          </p:cNvPicPr>
          <p:nvPr/>
        </p:nvPicPr>
        <p:blipFill>
          <a:blip r:embed="rId4"/>
          <a:stretch>
            <a:fillRect/>
          </a:stretch>
        </p:blipFill>
        <p:spPr>
          <a:xfrm>
            <a:off x="2152447" y="1817919"/>
            <a:ext cx="7887105" cy="20829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551986"/>
                <a:ext cx="11243037" cy="893226"/>
              </a:xfrm>
            </p:spPr>
            <p:txBody>
              <a:bodyPr/>
              <a:lstStyle/>
              <a:p>
                <a:pPr algn="ctr"/>
                <a:r>
                  <a:rPr lang="en-US" sz="4400" dirty="0"/>
                  <a:t>The </a:t>
                </a:r>
                <a:r>
                  <a:rPr lang="en-US" sz="4400" b="1" dirty="0"/>
                  <a:t>complementary</a:t>
                </a:r>
                <a:r>
                  <a:rPr lang="en-US" sz="4400" dirty="0"/>
                  <a:t> fraction is </a:t>
                </a:r>
                <a14:m>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8</m:t>
                        </m:r>
                      </m:den>
                    </m:f>
                    <m:r>
                      <a:rPr lang="en-AU" sz="4400" b="0" i="0" smtClean="0">
                        <a:latin typeface="Cambria Math" panose="02040503050406030204" pitchFamily="18" charset="0"/>
                      </a:rPr>
                      <m:t>.</m:t>
                    </m:r>
                  </m:oMath>
                </a14:m>
                <a:endParaRPr lang="en-US" sz="4400" dirty="0"/>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360000" y="551986"/>
                <a:ext cx="11243037" cy="893226"/>
              </a:xfrm>
              <a:blipFill>
                <a:blip r:embed="rId3"/>
                <a:stretch>
                  <a:fillRect b="-66438"/>
                </a:stretch>
              </a:blipFill>
            </p:spPr>
            <p:txBody>
              <a:bodyPr/>
              <a:lstStyle/>
              <a:p>
                <a:r>
                  <a:rPr lang="en-AU">
                    <a:noFill/>
                  </a:rPr>
                  <a:t> </a:t>
                </a:r>
              </a:p>
            </p:txBody>
          </p:sp>
        </mc:Fallback>
      </mc:AlternateContent>
      <p:pic>
        <p:nvPicPr>
          <p:cNvPr id="5" name="Picture 4" descr="A number line 0-1 with eighths marked. a fraction bar indicated five-eighths.">
            <a:extLst>
              <a:ext uri="{FF2B5EF4-FFF2-40B4-BE49-F238E27FC236}">
                <a16:creationId xmlns:a16="http://schemas.microsoft.com/office/drawing/2014/main" id="{E279E5E0-A289-9969-84C7-2CDFF435FDF8}"/>
              </a:ext>
            </a:extLst>
          </p:cNvPr>
          <p:cNvPicPr>
            <a:picLocks noChangeAspect="1"/>
          </p:cNvPicPr>
          <p:nvPr/>
        </p:nvPicPr>
        <p:blipFill>
          <a:blip r:embed="rId4"/>
          <a:stretch>
            <a:fillRect/>
          </a:stretch>
        </p:blipFill>
        <p:spPr>
          <a:xfrm>
            <a:off x="1374338" y="2162922"/>
            <a:ext cx="9452438" cy="2429780"/>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001868299"/>
              </p:ext>
            </p:extLst>
          </p:nvPr>
        </p:nvGraphicFramePr>
        <p:xfrm>
          <a:off x="2557462" y="485389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Text Placeholder 5">
            <a:extLst>
              <a:ext uri="{FF2B5EF4-FFF2-40B4-BE49-F238E27FC236}">
                <a16:creationId xmlns:a16="http://schemas.microsoft.com/office/drawing/2014/main" id="{3760B353-F064-5296-9142-6EF7AED4E3C5}"/>
              </a:ext>
            </a:extLst>
          </p:cNvPr>
          <p:cNvSpPr txBox="1">
            <a:spLocks/>
          </p:cNvSpPr>
          <p:nvPr/>
        </p:nvSpPr>
        <p:spPr>
          <a:xfrm>
            <a:off x="240963" y="571277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thinking</a:t>
            </a:r>
            <a:r>
              <a:rPr lang="en-AU" sz="4400" dirty="0"/>
              <a:t>.</a:t>
            </a:r>
            <a:endParaRPr lang="en-US" sz="4400" dirty="0"/>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8" name="Text Placeholder 5">
            <a:extLst>
              <a:ext uri="{FF2B5EF4-FFF2-40B4-BE49-F238E27FC236}">
                <a16:creationId xmlns:a16="http://schemas.microsoft.com/office/drawing/2014/main" id="{4F9423A2-9969-8182-D872-06A33905D71B}"/>
              </a:ext>
            </a:extLst>
          </p:cNvPr>
          <p:cNvSpPr txBox="1">
            <a:spLocks/>
          </p:cNvSpPr>
          <p:nvPr/>
        </p:nvSpPr>
        <p:spPr>
          <a:xfrm>
            <a:off x="246024" y="1052202"/>
            <a:ext cx="708746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dirty="0"/>
              <a:t>Follow the </a:t>
            </a:r>
            <a:r>
              <a:rPr lang="en-AU" sz="2800" b="1" dirty="0">
                <a:solidFill>
                  <a:srgbClr val="C00000"/>
                </a:solidFill>
              </a:rPr>
              <a:t>red path </a:t>
            </a:r>
            <a:r>
              <a:rPr lang="en-AU" sz="2800" dirty="0"/>
              <a:t>and complete the </a:t>
            </a:r>
            <a:r>
              <a:rPr lang="en-AU" sz="2800" b="1" dirty="0"/>
              <a:t>directions by using the compass.</a:t>
            </a:r>
          </a:p>
        </p:txBody>
      </p:sp>
      <p:pic>
        <p:nvPicPr>
          <p:cNvPr id="10" name="Picture 9"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10;&#10;The directions for a route are as follows:&#10;Landmarks:&#10;Blue house, bridge, park, bus stop&#10;&#10;Path shows:&#10;Start at H4 (blue house).&#10;Move north to H7.&#10;Quarter turn to the west and move to D7 (over bridge).&#10;Quarter turn to the south and move to D6 (park).&#10;Quarter turn to the west and move to A6 (bus stop).">
            <a:extLst>
              <a:ext uri="{FF2B5EF4-FFF2-40B4-BE49-F238E27FC236}">
                <a16:creationId xmlns:a16="http://schemas.microsoft.com/office/drawing/2014/main" id="{EDB6C005-0498-1F8D-E540-99FBA0E6E120}"/>
              </a:ext>
            </a:extLst>
          </p:cNvPr>
          <p:cNvPicPr>
            <a:picLocks noChangeAspect="1"/>
          </p:cNvPicPr>
          <p:nvPr/>
        </p:nvPicPr>
        <p:blipFill>
          <a:blip r:embed="rId4"/>
          <a:stretch>
            <a:fillRect/>
          </a:stretch>
        </p:blipFill>
        <p:spPr>
          <a:xfrm>
            <a:off x="7423427" y="1308845"/>
            <a:ext cx="4522549" cy="4240309"/>
          </a:xfrm>
          <a:prstGeom prst="rect">
            <a:avLst/>
          </a:prstGeom>
          <a:ln>
            <a:noFill/>
          </a:ln>
          <a:effectLst>
            <a:outerShdw blurRad="292100" dist="139700" dir="2700000" algn="tl" rotWithShape="0">
              <a:srgbClr val="333333">
                <a:alpha val="65000"/>
              </a:srgbClr>
            </a:outerShdw>
          </a:effectLst>
        </p:spPr>
      </p:pic>
      <p:sp>
        <p:nvSpPr>
          <p:cNvPr id="7" name="Text Placeholder 5">
            <a:extLst>
              <a:ext uri="{FF2B5EF4-FFF2-40B4-BE49-F238E27FC236}">
                <a16:creationId xmlns:a16="http://schemas.microsoft.com/office/drawing/2014/main" id="{74FEE9CE-34D1-DC37-5E2F-D7E4CA087197}"/>
              </a:ext>
            </a:extLst>
          </p:cNvPr>
          <p:cNvSpPr txBox="1">
            <a:spLocks/>
          </p:cNvSpPr>
          <p:nvPr/>
        </p:nvSpPr>
        <p:spPr>
          <a:xfrm>
            <a:off x="246024" y="2445469"/>
            <a:ext cx="7262464" cy="424030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2800" dirty="0"/>
              <a:t>Start at </a:t>
            </a:r>
            <a:r>
              <a:rPr lang="en-AU" sz="2800" b="1" dirty="0"/>
              <a:t>H4</a:t>
            </a:r>
            <a:r>
              <a:rPr lang="en-AU" sz="2800" dirty="0"/>
              <a:t>.</a:t>
            </a:r>
          </a:p>
          <a:p>
            <a:pPr marL="457200" indent="-457200">
              <a:buFont typeface="Arial" panose="020B0604020202020204" pitchFamily="34" charset="0"/>
              <a:buChar char="•"/>
            </a:pPr>
            <a:r>
              <a:rPr lang="en-AU" sz="2800" dirty="0"/>
              <a:t>Move _________ to </a:t>
            </a:r>
            <a:r>
              <a:rPr lang="en-AU" sz="2800" b="1" dirty="0"/>
              <a:t>H7</a:t>
            </a:r>
            <a:r>
              <a:rPr lang="en-AU" sz="2800" dirty="0"/>
              <a:t>.</a:t>
            </a:r>
          </a:p>
          <a:p>
            <a:pPr marL="457200" indent="-457200">
              <a:buFont typeface="Arial" panose="020B0604020202020204" pitchFamily="34" charset="0"/>
              <a:buChar char="•"/>
            </a:pPr>
            <a:r>
              <a:rPr lang="en-AU" sz="2800" dirty="0"/>
              <a:t>Turn to the _________ and move to </a:t>
            </a:r>
            <a:r>
              <a:rPr lang="en-AU" sz="2800" b="1" dirty="0"/>
              <a:t>D7</a:t>
            </a:r>
            <a:r>
              <a:rPr lang="en-AU" sz="2800" dirty="0"/>
              <a:t>.</a:t>
            </a:r>
          </a:p>
          <a:p>
            <a:pPr marL="457200" indent="-457200">
              <a:buFont typeface="Arial" panose="020B0604020202020204" pitchFamily="34" charset="0"/>
              <a:buChar char="•"/>
            </a:pPr>
            <a:r>
              <a:rPr lang="en-AU" sz="2800" dirty="0"/>
              <a:t>Turn to the _________ and move to </a:t>
            </a:r>
            <a:r>
              <a:rPr lang="en-AU" sz="2800" b="1" dirty="0"/>
              <a:t>D6</a:t>
            </a:r>
            <a:r>
              <a:rPr lang="en-AU" sz="2800" dirty="0"/>
              <a:t>.</a:t>
            </a:r>
          </a:p>
          <a:p>
            <a:pPr marL="457200" indent="-457200">
              <a:buFont typeface="Arial" panose="020B0604020202020204" pitchFamily="34" charset="0"/>
              <a:buChar char="•"/>
            </a:pPr>
            <a:r>
              <a:rPr lang="en-AU" sz="2800" dirty="0"/>
              <a:t>Turn to the _________ and move to </a:t>
            </a:r>
            <a:r>
              <a:rPr lang="en-AU" sz="2800" b="1" dirty="0"/>
              <a:t>A6</a:t>
            </a:r>
            <a:r>
              <a:rPr lang="en-AU" sz="2800" dirty="0"/>
              <a:t>.</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5" name="Text Placeholder 5">
            <a:extLst>
              <a:ext uri="{FF2B5EF4-FFF2-40B4-BE49-F238E27FC236}">
                <a16:creationId xmlns:a16="http://schemas.microsoft.com/office/drawing/2014/main" id="{E8A0D53C-837F-1EEF-EC5B-D1CCB76AF82E}"/>
              </a:ext>
            </a:extLst>
          </p:cNvPr>
          <p:cNvSpPr txBox="1">
            <a:spLocks/>
          </p:cNvSpPr>
          <p:nvPr/>
        </p:nvSpPr>
        <p:spPr>
          <a:xfrm>
            <a:off x="3265780" y="1218933"/>
            <a:ext cx="4911783"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What is </a:t>
            </a:r>
            <a:r>
              <a:rPr lang="en-AU" sz="4000" b="1" dirty="0"/>
              <a:t>half</a:t>
            </a:r>
            <a:r>
              <a:rPr lang="en-AU" sz="4000" dirty="0"/>
              <a:t> of </a:t>
            </a:r>
            <a:r>
              <a:rPr lang="en-AU" sz="4000" b="1" dirty="0"/>
              <a:t>24</a:t>
            </a:r>
            <a:r>
              <a:rPr lang="en-AU" sz="4000" dirty="0"/>
              <a:t>?</a:t>
            </a:r>
          </a:p>
        </p:txBody>
      </p:sp>
      <p:sp>
        <p:nvSpPr>
          <p:cNvPr id="7" name="Text Placeholder 5">
            <a:extLst>
              <a:ext uri="{FF2B5EF4-FFF2-40B4-BE49-F238E27FC236}">
                <a16:creationId xmlns:a16="http://schemas.microsoft.com/office/drawing/2014/main" id="{3B08D208-2F61-6582-03BF-6FF3D8BC810E}"/>
              </a:ext>
            </a:extLst>
          </p:cNvPr>
          <p:cNvSpPr txBox="1">
            <a:spLocks/>
          </p:cNvSpPr>
          <p:nvPr/>
        </p:nvSpPr>
        <p:spPr>
          <a:xfrm>
            <a:off x="1948658" y="2425491"/>
            <a:ext cx="803412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Draw</a:t>
            </a:r>
            <a:r>
              <a:rPr lang="en-AU" sz="4400" dirty="0"/>
              <a:t> an </a:t>
            </a:r>
            <a:r>
              <a:rPr lang="en-AU" sz="4400" b="1" dirty="0"/>
              <a:t>array</a:t>
            </a:r>
            <a:r>
              <a:rPr lang="en-AU" sz="4400" dirty="0"/>
              <a:t> to </a:t>
            </a:r>
            <a:r>
              <a:rPr lang="en-AU" sz="4000" b="1" dirty="0"/>
              <a:t>communicate</a:t>
            </a:r>
            <a:r>
              <a:rPr lang="en-AU" sz="4400" dirty="0"/>
              <a:t> your thinking.</a:t>
            </a:r>
          </a:p>
        </p:txBody>
      </p:sp>
      <p:sp>
        <p:nvSpPr>
          <p:cNvPr id="8" name="Text Placeholder 5">
            <a:extLst>
              <a:ext uri="{FF2B5EF4-FFF2-40B4-BE49-F238E27FC236}">
                <a16:creationId xmlns:a16="http://schemas.microsoft.com/office/drawing/2014/main" id="{D5826520-8899-ED1C-6896-7C2BB558BB80}"/>
              </a:ext>
            </a:extLst>
          </p:cNvPr>
          <p:cNvSpPr txBox="1">
            <a:spLocks/>
          </p:cNvSpPr>
          <p:nvPr/>
        </p:nvSpPr>
        <p:spPr>
          <a:xfrm>
            <a:off x="1062794" y="4914055"/>
            <a:ext cx="9805851"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Record </a:t>
            </a:r>
            <a:r>
              <a:rPr lang="en-AU" sz="4400" dirty="0"/>
              <a:t>the </a:t>
            </a:r>
            <a:r>
              <a:rPr lang="en-AU" sz="4400" b="1" dirty="0"/>
              <a:t>division</a:t>
            </a:r>
            <a:r>
              <a:rPr lang="en-AU" sz="4400" dirty="0"/>
              <a:t> </a:t>
            </a:r>
            <a:r>
              <a:rPr lang="en-AU" sz="4000" dirty="0"/>
              <a:t>number</a:t>
            </a:r>
            <a:r>
              <a:rPr lang="en-AU" sz="4400" dirty="0"/>
              <a:t> sentence.</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7" name="TextBox 6">
            <a:extLst>
              <a:ext uri="{FF2B5EF4-FFF2-40B4-BE49-F238E27FC236}">
                <a16:creationId xmlns:a16="http://schemas.microsoft.com/office/drawing/2014/main" id="{09622A6B-8F1F-7BB3-AE94-DC90144F02D0}"/>
              </a:ext>
            </a:extLst>
          </p:cNvPr>
          <p:cNvSpPr txBox="1"/>
          <p:nvPr/>
        </p:nvSpPr>
        <p:spPr>
          <a:xfrm>
            <a:off x="956787" y="1172455"/>
            <a:ext cx="10073689" cy="2677656"/>
          </a:xfrm>
          <a:prstGeom prst="rect">
            <a:avLst/>
          </a:prstGeom>
          <a:noFill/>
        </p:spPr>
        <p:txBody>
          <a:bodyPr wrap="square">
            <a:spAutoFit/>
          </a:bodyPr>
          <a:lstStyle/>
          <a:p>
            <a:pPr algn="ctr">
              <a:lnSpc>
                <a:spcPct val="150000"/>
              </a:lnSpc>
            </a:pPr>
            <a:r>
              <a:rPr lang="en-AU" sz="4400" dirty="0">
                <a:latin typeface="Arial" panose="020B0604020202020204" pitchFamily="34" charset="0"/>
                <a:ea typeface="Calibri" panose="020F0502020204030204" pitchFamily="34" charset="0"/>
              </a:rPr>
              <a:t>Record</a:t>
            </a:r>
            <a:r>
              <a:rPr lang="en-AU" sz="4400" b="1" dirty="0">
                <a:latin typeface="Arial" panose="020B0604020202020204" pitchFamily="34" charset="0"/>
                <a:ea typeface="Calibri" panose="020F0502020204030204" pitchFamily="34" charset="0"/>
              </a:rPr>
              <a:t> 2 </a:t>
            </a:r>
            <a:r>
              <a:rPr lang="en-AU" sz="4400" dirty="0">
                <a:latin typeface="Arial" panose="020B0604020202020204" pitchFamily="34" charset="0"/>
                <a:ea typeface="Calibri" panose="020F0502020204030204" pitchFamily="34" charset="0"/>
              </a:rPr>
              <a:t>different ways to</a:t>
            </a:r>
            <a:r>
              <a:rPr lang="en-AU" sz="4400" b="1" dirty="0">
                <a:latin typeface="Arial" panose="020B0604020202020204" pitchFamily="34" charset="0"/>
                <a:ea typeface="Calibri" panose="020F0502020204030204" pitchFamily="34" charset="0"/>
              </a:rPr>
              <a:t> partition</a:t>
            </a:r>
            <a:r>
              <a:rPr lang="en-AU" sz="4400" dirty="0">
                <a:latin typeface="Arial" panose="020B0604020202020204" pitchFamily="34" charset="0"/>
                <a:ea typeface="Calibri" panose="020F0502020204030204" pitchFamily="34" charset="0"/>
              </a:rPr>
              <a:t> this number in </a:t>
            </a:r>
            <a:r>
              <a:rPr lang="en-AU" sz="4400" b="1" dirty="0">
                <a:latin typeface="Arial" panose="020B0604020202020204" pitchFamily="34" charset="0"/>
                <a:ea typeface="Calibri" panose="020F0502020204030204" pitchFamily="34" charset="0"/>
              </a:rPr>
              <a:t>non-standard form.</a:t>
            </a:r>
          </a:p>
          <a:p>
            <a:endParaRPr lang="en-AU" sz="3600" b="1" dirty="0"/>
          </a:p>
        </p:txBody>
      </p:sp>
      <p:pic>
        <p:nvPicPr>
          <p:cNvPr id="11" name="Picture 10" descr="A numeral expander containing the number: 1458. All place value names are visible.">
            <a:extLst>
              <a:ext uri="{FF2B5EF4-FFF2-40B4-BE49-F238E27FC236}">
                <a16:creationId xmlns:a16="http://schemas.microsoft.com/office/drawing/2014/main" id="{74FA4424-45B2-CC50-903B-7D635A39A8D1}"/>
              </a:ext>
            </a:extLst>
          </p:cNvPr>
          <p:cNvPicPr>
            <a:picLocks noChangeAspect="1"/>
          </p:cNvPicPr>
          <p:nvPr/>
        </p:nvPicPr>
        <p:blipFill>
          <a:blip r:embed="rId4"/>
          <a:stretch>
            <a:fillRect/>
          </a:stretch>
        </p:blipFill>
        <p:spPr>
          <a:xfrm>
            <a:off x="360000" y="3586795"/>
            <a:ext cx="11425375" cy="1940750"/>
          </a:xfrm>
          <a:prstGeom prst="rect">
            <a:avLst/>
          </a:prstGeom>
          <a:ln>
            <a:noFill/>
          </a:ln>
          <a:effectLst/>
        </p:spPr>
      </p:pic>
    </p:spTree>
    <p:extLst>
      <p:ext uri="{BB962C8B-B14F-4D97-AF65-F5344CB8AC3E}">
        <p14:creationId xmlns:p14="http://schemas.microsoft.com/office/powerpoint/2010/main" val="1534693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7" name="TextBox 6">
            <a:extLst>
              <a:ext uri="{FF2B5EF4-FFF2-40B4-BE49-F238E27FC236}">
                <a16:creationId xmlns:a16="http://schemas.microsoft.com/office/drawing/2014/main" id="{177BDD48-E427-EBF8-4596-4FF936394FB8}"/>
              </a:ext>
            </a:extLst>
          </p:cNvPr>
          <p:cNvSpPr txBox="1"/>
          <p:nvPr/>
        </p:nvSpPr>
        <p:spPr>
          <a:xfrm>
            <a:off x="790470" y="863844"/>
            <a:ext cx="10611059" cy="1998176"/>
          </a:xfrm>
          <a:prstGeom prst="rect">
            <a:avLst/>
          </a:prstGeom>
          <a:noFill/>
        </p:spPr>
        <p:txBody>
          <a:bodyPr wrap="square">
            <a:spAutoFit/>
          </a:bodyPr>
          <a:lstStyle/>
          <a:p>
            <a:pPr algn="ctr">
              <a:lnSpc>
                <a:spcPct val="150000"/>
              </a:lnSpc>
            </a:pPr>
            <a:r>
              <a:rPr lang="en-AU" sz="4400" dirty="0">
                <a:solidFill>
                  <a:srgbClr val="000000"/>
                </a:solidFill>
                <a:latin typeface="Arial" panose="020B0604020202020204" pitchFamily="34" charset="0"/>
                <a:ea typeface="Calibri" panose="020F0502020204030204" pitchFamily="34" charset="0"/>
              </a:rPr>
              <a:t>Which of these is </a:t>
            </a:r>
            <a:r>
              <a:rPr lang="en-AU" sz="4400" b="1" dirty="0">
                <a:solidFill>
                  <a:srgbClr val="000000"/>
                </a:solidFill>
                <a:latin typeface="Arial" panose="020B0604020202020204" pitchFamily="34" charset="0"/>
                <a:ea typeface="Calibri" panose="020F0502020204030204" pitchFamily="34" charset="0"/>
              </a:rPr>
              <a:t>more likely</a:t>
            </a:r>
            <a:r>
              <a:rPr lang="en-AU" sz="4400" dirty="0">
                <a:solidFill>
                  <a:srgbClr val="000000"/>
                </a:solidFill>
                <a:latin typeface="Arial" panose="020B0604020202020204" pitchFamily="34" charset="0"/>
                <a:ea typeface="Calibri" panose="020F0502020204030204" pitchFamily="34" charset="0"/>
              </a:rPr>
              <a:t> to happen at school today?</a:t>
            </a:r>
          </a:p>
        </p:txBody>
      </p:sp>
      <p:sp>
        <p:nvSpPr>
          <p:cNvPr id="10" name="TextBox 9">
            <a:extLst>
              <a:ext uri="{FF2B5EF4-FFF2-40B4-BE49-F238E27FC236}">
                <a16:creationId xmlns:a16="http://schemas.microsoft.com/office/drawing/2014/main" id="{478E28A7-B0E6-D1FD-0FE5-624D1E8A409E}"/>
              </a:ext>
            </a:extLst>
          </p:cNvPr>
          <p:cNvSpPr txBox="1"/>
          <p:nvPr/>
        </p:nvSpPr>
        <p:spPr>
          <a:xfrm>
            <a:off x="3446037" y="31530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9" name="Freeform 3" descr="A: 2 children on a roller coaster&#10;&#10; ">
            <a:extLst>
              <a:ext uri="{FF2B5EF4-FFF2-40B4-BE49-F238E27FC236}">
                <a16:creationId xmlns:a16="http://schemas.microsoft.com/office/drawing/2014/main" id="{86770ED8-FE4C-9E60-FD13-6FF6E7D78436}"/>
              </a:ext>
            </a:extLst>
          </p:cNvPr>
          <p:cNvSpPr/>
          <p:nvPr/>
        </p:nvSpPr>
        <p:spPr>
          <a:xfrm>
            <a:off x="2066587" y="3891720"/>
            <a:ext cx="2758901" cy="1770028"/>
          </a:xfrm>
          <a:custGeom>
            <a:avLst/>
            <a:gdLst/>
            <a:ahLst/>
            <a:cxnLst/>
            <a:rect l="l" t="t" r="r" b="b"/>
            <a:pathLst>
              <a:path w="4131414" h="2819690">
                <a:moveTo>
                  <a:pt x="0" y="0"/>
                </a:moveTo>
                <a:lnTo>
                  <a:pt x="4131414" y="0"/>
                </a:lnTo>
                <a:lnTo>
                  <a:pt x="4131414" y="2819690"/>
                </a:lnTo>
                <a:lnTo>
                  <a:pt x="0" y="2819690"/>
                </a:lnTo>
                <a:lnTo>
                  <a:pt x="0" y="0"/>
                </a:lnTo>
                <a:close/>
              </a:path>
            </a:pathLst>
          </a:custGeom>
          <a:blipFill>
            <a:blip r:embed="rId4"/>
            <a:stretch>
              <a:fillRect/>
            </a:stretch>
          </a:blipFill>
          <a:effectLst/>
        </p:spPr>
        <p:txBody>
          <a:bodyPr/>
          <a:lstStyle/>
          <a:p>
            <a:endParaRPr lang="en-AU" dirty="0"/>
          </a:p>
        </p:txBody>
      </p:sp>
      <p:sp>
        <p:nvSpPr>
          <p:cNvPr id="12" name="TextBox 11">
            <a:extLst>
              <a:ext uri="{FF2B5EF4-FFF2-40B4-BE49-F238E27FC236}">
                <a16:creationId xmlns:a16="http://schemas.microsoft.com/office/drawing/2014/main" id="{DC9B5018-4E77-3888-5FFA-39B46519D1E5}"/>
              </a:ext>
            </a:extLst>
          </p:cNvPr>
          <p:cNvSpPr txBox="1"/>
          <p:nvPr/>
        </p:nvSpPr>
        <p:spPr>
          <a:xfrm>
            <a:off x="7951821" y="309632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8" name="Freeform 2" descr="B: 2 children sitting at desks writing.">
            <a:extLst>
              <a:ext uri="{FF2B5EF4-FFF2-40B4-BE49-F238E27FC236}">
                <a16:creationId xmlns:a16="http://schemas.microsoft.com/office/drawing/2014/main" id="{019398FB-2CF4-6946-A802-D0F6B87DC8D3}"/>
              </a:ext>
            </a:extLst>
          </p:cNvPr>
          <p:cNvSpPr/>
          <p:nvPr/>
        </p:nvSpPr>
        <p:spPr>
          <a:xfrm>
            <a:off x="7283489" y="3957750"/>
            <a:ext cx="1866092" cy="1637967"/>
          </a:xfrm>
          <a:custGeom>
            <a:avLst/>
            <a:gdLst/>
            <a:ahLst/>
            <a:cxnLst/>
            <a:rect l="l" t="t" r="r" b="b"/>
            <a:pathLst>
              <a:path w="2794446" h="2609314">
                <a:moveTo>
                  <a:pt x="0" y="0"/>
                </a:moveTo>
                <a:lnTo>
                  <a:pt x="2794447" y="0"/>
                </a:lnTo>
                <a:lnTo>
                  <a:pt x="2794447" y="2609314"/>
                </a:lnTo>
                <a:lnTo>
                  <a:pt x="0" y="2609314"/>
                </a:lnTo>
                <a:lnTo>
                  <a:pt x="0" y="0"/>
                </a:lnTo>
                <a:close/>
              </a:path>
            </a:pathLst>
          </a:custGeom>
          <a:blipFill>
            <a:blip r:embed="rId5"/>
            <a:stretch>
              <a:fillRect/>
            </a:stretch>
          </a:blipFill>
          <a:effectLst/>
        </p:spPr>
        <p:txBody>
          <a:bodyPr/>
          <a:lstStyle/>
          <a:p>
            <a:endParaRPr lang="en-AU" dirty="0"/>
          </a:p>
        </p:txBody>
      </p:sp>
      <p:sp>
        <p:nvSpPr>
          <p:cNvPr id="4" name="TextBox 3">
            <a:extLst>
              <a:ext uri="{FF2B5EF4-FFF2-40B4-BE49-F238E27FC236}">
                <a16:creationId xmlns:a16="http://schemas.microsoft.com/office/drawing/2014/main" id="{F9F1FCF7-E849-B335-678E-62CEB6FE6265}"/>
              </a:ext>
            </a:extLst>
          </p:cNvPr>
          <p:cNvSpPr txBox="1"/>
          <p:nvPr/>
        </p:nvSpPr>
        <p:spPr>
          <a:xfrm>
            <a:off x="1116518" y="5718476"/>
            <a:ext cx="9121492" cy="739754"/>
          </a:xfrm>
          <a:prstGeom prst="rect">
            <a:avLst/>
          </a:prstGeom>
          <a:noFill/>
        </p:spPr>
        <p:txBody>
          <a:bodyPr wrap="square">
            <a:spAutoFit/>
          </a:bodyPr>
          <a:lstStyle/>
          <a:p>
            <a:pPr algn="ctr">
              <a:lnSpc>
                <a:spcPct val="150000"/>
              </a:lnSpc>
            </a:pPr>
            <a:r>
              <a:rPr lang="en-AU" sz="3200" b="1" dirty="0">
                <a:solidFill>
                  <a:srgbClr val="000000"/>
                </a:solidFill>
                <a:latin typeface="Arial" panose="020B0604020202020204" pitchFamily="34" charset="0"/>
                <a:ea typeface="Calibri" panose="020F0502020204030204" pitchFamily="34" charset="0"/>
              </a:rPr>
              <a:t>Communicate</a:t>
            </a:r>
            <a:r>
              <a:rPr lang="en-AU" sz="3200" dirty="0">
                <a:solidFill>
                  <a:srgbClr val="000000"/>
                </a:solidFill>
                <a:latin typeface="Arial" panose="020B0604020202020204" pitchFamily="34" charset="0"/>
                <a:ea typeface="Calibri" panose="020F0502020204030204" pitchFamily="34" charset="0"/>
              </a:rPr>
              <a:t> your </a:t>
            </a:r>
            <a:r>
              <a:rPr lang="en-AU" sz="3200" b="1" dirty="0">
                <a:solidFill>
                  <a:srgbClr val="000000"/>
                </a:solidFill>
                <a:latin typeface="Arial" panose="020B0604020202020204" pitchFamily="34" charset="0"/>
                <a:ea typeface="Calibri" panose="020F0502020204030204" pitchFamily="34" charset="0"/>
              </a:rPr>
              <a:t>reasoning</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recreate the whole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grpSp>
        <p:nvGrpSpPr>
          <p:cNvPr id="7" name="Group 6" descr="A grandfather knitting with his grandson on his knee plus a partially completed knitted blanket">
            <a:extLst>
              <a:ext uri="{FF2B5EF4-FFF2-40B4-BE49-F238E27FC236}">
                <a16:creationId xmlns:a16="http://schemas.microsoft.com/office/drawing/2014/main" id="{F26DCA7E-8A48-D03B-7FED-D38BB8F83186}"/>
              </a:ext>
            </a:extLst>
          </p:cNvPr>
          <p:cNvGrpSpPr/>
          <p:nvPr/>
        </p:nvGrpSpPr>
        <p:grpSpPr>
          <a:xfrm>
            <a:off x="3083619" y="1499117"/>
            <a:ext cx="5641282" cy="4380462"/>
            <a:chOff x="1331020" y="1797049"/>
            <a:chExt cx="5641282" cy="4380462"/>
          </a:xfrm>
        </p:grpSpPr>
        <p:sp>
          <p:nvSpPr>
            <p:cNvPr id="8" name="Freeform 2">
              <a:extLst>
                <a:ext uri="{FF2B5EF4-FFF2-40B4-BE49-F238E27FC236}">
                  <a16:creationId xmlns:a16="http://schemas.microsoft.com/office/drawing/2014/main" id="{16092166-1E3D-3D3A-82A8-AA8C77DF248F}"/>
                </a:ext>
              </a:extLst>
            </p:cNvPr>
            <p:cNvSpPr/>
            <p:nvPr/>
          </p:nvSpPr>
          <p:spPr>
            <a:xfrm rot="-5400000">
              <a:off x="3602833" y="2763028"/>
              <a:ext cx="4335447" cy="2403490"/>
            </a:xfrm>
            <a:custGeom>
              <a:avLst/>
              <a:gdLst/>
              <a:ahLst/>
              <a:cxnLst/>
              <a:rect l="l" t="t" r="r" b="b"/>
              <a:pathLst>
                <a:path w="4336325" h="3237790">
                  <a:moveTo>
                    <a:pt x="0" y="0"/>
                  </a:moveTo>
                  <a:lnTo>
                    <a:pt x="4336325" y="0"/>
                  </a:lnTo>
                  <a:lnTo>
                    <a:pt x="4336325" y="3237790"/>
                  </a:lnTo>
                  <a:lnTo>
                    <a:pt x="0" y="3237790"/>
                  </a:lnTo>
                  <a:lnTo>
                    <a:pt x="0" y="0"/>
                  </a:lnTo>
                  <a:close/>
                </a:path>
              </a:pathLst>
            </a:custGeom>
            <a:blipFill>
              <a:blip r:embed="rId4"/>
              <a:stretch>
                <a:fillRect r="-20" b="-82009"/>
              </a:stretch>
            </a:blipFill>
          </p:spPr>
          <p:txBody>
            <a:bodyPr/>
            <a:lstStyle/>
            <a:p>
              <a:endParaRPr lang="en-AU"/>
            </a:p>
          </p:txBody>
        </p:sp>
        <p:sp>
          <p:nvSpPr>
            <p:cNvPr id="9" name="Freeform 3">
              <a:extLst>
                <a:ext uri="{FF2B5EF4-FFF2-40B4-BE49-F238E27FC236}">
                  <a16:creationId xmlns:a16="http://schemas.microsoft.com/office/drawing/2014/main" id="{189FDD30-1068-29CE-F7AE-9479A9C93C3B}"/>
                </a:ext>
              </a:extLst>
            </p:cNvPr>
            <p:cNvSpPr/>
            <p:nvPr/>
          </p:nvSpPr>
          <p:spPr>
            <a:xfrm>
              <a:off x="1331020" y="2711450"/>
              <a:ext cx="3237791" cy="3466061"/>
            </a:xfrm>
            <a:custGeom>
              <a:avLst/>
              <a:gdLst/>
              <a:ahLst/>
              <a:cxnLst/>
              <a:rect l="l" t="t" r="r" b="b"/>
              <a:pathLst>
                <a:path w="4419593" h="4550418">
                  <a:moveTo>
                    <a:pt x="0" y="0"/>
                  </a:moveTo>
                  <a:lnTo>
                    <a:pt x="4419593" y="0"/>
                  </a:lnTo>
                  <a:lnTo>
                    <a:pt x="4419593" y="4550418"/>
                  </a:lnTo>
                  <a:lnTo>
                    <a:pt x="0" y="4550418"/>
                  </a:lnTo>
                  <a:lnTo>
                    <a:pt x="0" y="0"/>
                  </a:lnTo>
                  <a:close/>
                </a:path>
              </a:pathLst>
            </a:custGeom>
            <a:blipFill>
              <a:blip r:embed="rId5"/>
              <a:stretch>
                <a:fillRect/>
              </a:stretch>
            </a:blipFill>
          </p:spPr>
          <p:txBody>
            <a:bodyPr/>
            <a:lstStyle/>
            <a:p>
              <a:endParaRPr lang="en-AU"/>
            </a:p>
          </p:txBody>
        </p:sp>
      </p:gr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42583"/>
            <a:ext cx="9901600" cy="545601"/>
          </a:xfrm>
        </p:spPr>
        <p:txBody>
          <a:bodyPr/>
          <a:lstStyle/>
          <a:p>
            <a:r>
              <a:rPr lang="en-US" dirty="0"/>
              <a:t>Multiple choice </a:t>
            </a:r>
            <a:r>
              <a:rPr lang="en-US" dirty="0">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17">
            <a:extLst>
              <a:ext uri="{FF2B5EF4-FFF2-40B4-BE49-F238E27FC236}">
                <a16:creationId xmlns:a16="http://schemas.microsoft.com/office/drawing/2014/main" id="{E070D78A-3E90-4E0E-1542-D6AB99458348}"/>
              </a:ext>
            </a:extLst>
          </p:cNvPr>
          <p:cNvSpPr txBox="1">
            <a:spLocks noGrp="1"/>
          </p:cNvSpPr>
          <p:nvPr>
            <p:ph type="body" sz="quarter" idx="28"/>
          </p:nvPr>
        </p:nvSpPr>
        <p:spPr>
          <a:xfrm>
            <a:off x="360000" y="1093423"/>
            <a:ext cx="11242675" cy="7540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5400" b="1" dirty="0"/>
              <a:t>56 = ___ + ____</a:t>
            </a:r>
          </a:p>
        </p:txBody>
      </p:sp>
      <p:sp>
        <p:nvSpPr>
          <p:cNvPr id="9" name="B">
            <a:extLst>
              <a:ext uri="{FF2B5EF4-FFF2-40B4-BE49-F238E27FC236}">
                <a16:creationId xmlns:a16="http://schemas.microsoft.com/office/drawing/2014/main" id="{8B0BBB3C-FC71-5899-8378-058EBBB23E5C}"/>
              </a:ext>
            </a:extLst>
          </p:cNvPr>
          <p:cNvSpPr txBox="1"/>
          <p:nvPr/>
        </p:nvSpPr>
        <p:spPr>
          <a:xfrm>
            <a:off x="670556" y="270795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703586"/>
            <a:ext cx="10175920" cy="641396"/>
          </a:xfrm>
        </p:spPr>
        <p:txBody>
          <a:bodyPr anchor="ctr"/>
          <a:lstStyle/>
          <a:p>
            <a:r>
              <a:rPr lang="en-US" sz="3600" dirty="0"/>
              <a:t>23 + 23</a:t>
            </a:r>
          </a:p>
        </p:txBody>
      </p:sp>
      <p:sp>
        <p:nvSpPr>
          <p:cNvPr id="10" name="B">
            <a:extLst>
              <a:ext uri="{FF2B5EF4-FFF2-40B4-BE49-F238E27FC236}">
                <a16:creationId xmlns:a16="http://schemas.microsoft.com/office/drawing/2014/main" id="{1BD38033-43C3-A0A1-88CB-3ABF45A80763}"/>
              </a:ext>
            </a:extLst>
          </p:cNvPr>
          <p:cNvSpPr txBox="1"/>
          <p:nvPr/>
        </p:nvSpPr>
        <p:spPr>
          <a:xfrm>
            <a:off x="670559" y="36754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672509"/>
            <a:ext cx="10175920" cy="641396"/>
          </a:xfrm>
        </p:spPr>
        <p:txBody>
          <a:bodyPr anchor="ctr"/>
          <a:lstStyle/>
          <a:p>
            <a:r>
              <a:rPr lang="en-US" sz="3600" dirty="0"/>
              <a:t>70 - 4</a:t>
            </a:r>
          </a:p>
        </p:txBody>
      </p:sp>
      <p:sp>
        <p:nvSpPr>
          <p:cNvPr id="12" name="C">
            <a:extLst>
              <a:ext uri="{FF2B5EF4-FFF2-40B4-BE49-F238E27FC236}">
                <a16:creationId xmlns:a16="http://schemas.microsoft.com/office/drawing/2014/main" id="{8CBBF2BA-64EE-4290-7852-A8F6CCA03E54}"/>
              </a:ext>
            </a:extLst>
          </p:cNvPr>
          <p:cNvSpPr txBox="1"/>
          <p:nvPr/>
        </p:nvSpPr>
        <p:spPr>
          <a:xfrm>
            <a:off x="670558" y="46428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08080" y="4641432"/>
            <a:ext cx="10175920" cy="641396"/>
          </a:xfrm>
        </p:spPr>
        <p:txBody>
          <a:bodyPr anchor="ctr"/>
          <a:lstStyle/>
          <a:p>
            <a:r>
              <a:rPr lang="en-US" sz="3600" dirty="0"/>
              <a:t>28 + 18</a:t>
            </a:r>
          </a:p>
        </p:txBody>
      </p:sp>
      <p:sp>
        <p:nvSpPr>
          <p:cNvPr id="11" name="D">
            <a:extLst>
              <a:ext uri="{FF2B5EF4-FFF2-40B4-BE49-F238E27FC236}">
                <a16:creationId xmlns:a16="http://schemas.microsoft.com/office/drawing/2014/main" id="{388F2FE9-EF5E-B818-71B7-04503183ED79}"/>
              </a:ext>
            </a:extLst>
          </p:cNvPr>
          <p:cNvSpPr txBox="1"/>
          <p:nvPr/>
        </p:nvSpPr>
        <p:spPr>
          <a:xfrm>
            <a:off x="670557" y="56103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08080" y="5610356"/>
            <a:ext cx="10175920" cy="641396"/>
          </a:xfrm>
        </p:spPr>
        <p:txBody>
          <a:bodyPr anchor="ctr"/>
          <a:lstStyle/>
          <a:p>
            <a:r>
              <a:rPr lang="en-US" sz="3600" dirty="0"/>
              <a:t>48 + 7 </a:t>
            </a:r>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7" name="Text Placeholder 5">
            <a:extLst>
              <a:ext uri="{FF2B5EF4-FFF2-40B4-BE49-F238E27FC236}">
                <a16:creationId xmlns:a16="http://schemas.microsoft.com/office/drawing/2014/main" id="{17DC300C-8C35-2540-22BF-CCB9B3E803E3}"/>
              </a:ext>
            </a:extLst>
          </p:cNvPr>
          <p:cNvSpPr txBox="1">
            <a:spLocks/>
          </p:cNvSpPr>
          <p:nvPr/>
        </p:nvSpPr>
        <p:spPr>
          <a:xfrm>
            <a:off x="428107" y="1267350"/>
            <a:ext cx="511552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Use </a:t>
            </a:r>
            <a:r>
              <a:rPr lang="en-AU" sz="4000" b="1" dirty="0"/>
              <a:t>compass directions </a:t>
            </a:r>
            <a:r>
              <a:rPr lang="en-AU" sz="4000" dirty="0"/>
              <a:t>to </a:t>
            </a:r>
            <a:r>
              <a:rPr lang="en-AU" sz="4000" b="1" dirty="0"/>
              <a:t>plan</a:t>
            </a:r>
            <a:r>
              <a:rPr lang="en-AU" sz="4000" dirty="0"/>
              <a:t> and </a:t>
            </a:r>
            <a:r>
              <a:rPr lang="en-AU" sz="4000" b="1" dirty="0"/>
              <a:t>describe</a:t>
            </a:r>
          </a:p>
          <a:p>
            <a:r>
              <a:rPr lang="en-AU" sz="4000" dirty="0"/>
              <a:t>a </a:t>
            </a:r>
            <a:r>
              <a:rPr lang="en-AU" sz="4000" b="1" dirty="0"/>
              <a:t>path</a:t>
            </a:r>
            <a:r>
              <a:rPr lang="en-AU" sz="4000" dirty="0"/>
              <a:t> from the </a:t>
            </a:r>
            <a:r>
              <a:rPr lang="en-AU" sz="4000" b="1" dirty="0">
                <a:solidFill>
                  <a:srgbClr val="2CA5AE"/>
                </a:solidFill>
              </a:rPr>
              <a:t>eggs</a:t>
            </a:r>
            <a:r>
              <a:rPr lang="en-AU" sz="4000" dirty="0"/>
              <a:t> to the </a:t>
            </a:r>
            <a:r>
              <a:rPr lang="en-AU" sz="4000" b="1" dirty="0">
                <a:solidFill>
                  <a:srgbClr val="00B050"/>
                </a:solidFill>
              </a:rPr>
              <a:t>check out</a:t>
            </a:r>
            <a:r>
              <a:rPr lang="en-AU" sz="4000" dirty="0"/>
              <a:t>.</a:t>
            </a:r>
          </a:p>
        </p:txBody>
      </p:sp>
      <p:pic>
        <p:nvPicPr>
          <p:cNvPr id="5" name="Picture 4" descr="A colourful grid 10 by 10 with text. The x-axis is marked with the letters A to J and the y-axis is marked with the numbers 1 to 10. Text around the grid: Baking, Frozen food, Dairy, Deli, Meat, Vegetable and Fruit.&#10;&#10;In the middle of the map are sections for pasta, chips, lollies, eggs, rice, snack, pet, clean, check out. &#10;&#10;There is a compass labelled north, east, south, west in the corner">
            <a:extLst>
              <a:ext uri="{FF2B5EF4-FFF2-40B4-BE49-F238E27FC236}">
                <a16:creationId xmlns:a16="http://schemas.microsoft.com/office/drawing/2014/main" id="{3C798ADE-0E6C-0ECF-6A9A-0ED784435437}"/>
              </a:ext>
            </a:extLst>
          </p:cNvPr>
          <p:cNvPicPr>
            <a:picLocks noChangeAspect="1"/>
          </p:cNvPicPr>
          <p:nvPr/>
        </p:nvPicPr>
        <p:blipFill>
          <a:blip r:embed="rId4"/>
          <a:stretch>
            <a:fillRect/>
          </a:stretch>
        </p:blipFill>
        <p:spPr>
          <a:xfrm>
            <a:off x="5543634" y="1267350"/>
            <a:ext cx="6483639" cy="49700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9" name="Text Placeholder 5">
            <a:extLst>
              <a:ext uri="{FF2B5EF4-FFF2-40B4-BE49-F238E27FC236}">
                <a16:creationId xmlns:a16="http://schemas.microsoft.com/office/drawing/2014/main" id="{44A943BB-8352-81B2-BC59-4C6DB4460F3B}"/>
              </a:ext>
            </a:extLst>
          </p:cNvPr>
          <p:cNvSpPr txBox="1">
            <a:spLocks/>
          </p:cNvSpPr>
          <p:nvPr/>
        </p:nvSpPr>
        <p:spPr>
          <a:xfrm>
            <a:off x="2293184" y="1976189"/>
            <a:ext cx="721374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ctr">
              <a:buFont typeface="Arial" panose="020B0604020202020204" pitchFamily="34" charset="0"/>
              <a:buChar char="•"/>
            </a:pPr>
            <a:r>
              <a:rPr lang="en-AU" sz="4000" b="1" dirty="0"/>
              <a:t>Draw</a:t>
            </a:r>
            <a:r>
              <a:rPr lang="en-AU" sz="4000" dirty="0"/>
              <a:t> an </a:t>
            </a:r>
            <a:r>
              <a:rPr lang="en-AU" sz="4000" b="1" dirty="0"/>
              <a:t>array</a:t>
            </a:r>
            <a:r>
              <a:rPr lang="en-AU" sz="4000" dirty="0"/>
              <a:t> of 5 fours</a:t>
            </a:r>
          </a:p>
        </p:txBody>
      </p:sp>
      <p:sp>
        <p:nvSpPr>
          <p:cNvPr id="5" name="TextBox 4">
            <a:extLst>
              <a:ext uri="{FF2B5EF4-FFF2-40B4-BE49-F238E27FC236}">
                <a16:creationId xmlns:a16="http://schemas.microsoft.com/office/drawing/2014/main" id="{14A9BCCA-E461-AD5A-A06C-4ED6D39D083D}"/>
              </a:ext>
            </a:extLst>
          </p:cNvPr>
          <p:cNvSpPr txBox="1"/>
          <p:nvPr/>
        </p:nvSpPr>
        <p:spPr>
          <a:xfrm>
            <a:off x="522171" y="3634643"/>
            <a:ext cx="11669829" cy="707886"/>
          </a:xfrm>
          <a:prstGeom prst="rect">
            <a:avLst/>
          </a:prstGeom>
          <a:noFill/>
        </p:spPr>
        <p:txBody>
          <a:bodyPr wrap="square">
            <a:spAutoFit/>
          </a:bodyPr>
          <a:lstStyle/>
          <a:p>
            <a:pPr marL="571500" indent="-571500" algn="ctr">
              <a:buFont typeface="Arial" panose="020B0604020202020204" pitchFamily="34" charset="0"/>
              <a:buChar char="•"/>
            </a:pPr>
            <a:r>
              <a:rPr lang="en-AU" sz="4000" b="1" dirty="0"/>
              <a:t>Record </a:t>
            </a:r>
            <a:r>
              <a:rPr lang="en-AU" sz="4000" dirty="0"/>
              <a:t>the </a:t>
            </a:r>
            <a:r>
              <a:rPr lang="en-AU" sz="4000" b="1" dirty="0"/>
              <a:t>multiplication </a:t>
            </a:r>
            <a:r>
              <a:rPr lang="en-AU" sz="4000" dirty="0"/>
              <a:t>number sentence.</a:t>
            </a:r>
          </a:p>
        </p:txBody>
      </p:sp>
    </p:spTree>
    <p:extLst>
      <p:ext uri="{BB962C8B-B14F-4D97-AF65-F5344CB8AC3E}">
        <p14:creationId xmlns:p14="http://schemas.microsoft.com/office/powerpoint/2010/main" val="7830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8" name="TextBox 7">
            <a:extLst>
              <a:ext uri="{FF2B5EF4-FFF2-40B4-BE49-F238E27FC236}">
                <a16:creationId xmlns:a16="http://schemas.microsoft.com/office/drawing/2014/main" id="{C56F3401-AD65-BE42-1EBE-811B06ECA670}"/>
              </a:ext>
            </a:extLst>
          </p:cNvPr>
          <p:cNvSpPr txBox="1"/>
          <p:nvPr/>
        </p:nvSpPr>
        <p:spPr>
          <a:xfrm>
            <a:off x="108635" y="959032"/>
            <a:ext cx="4364336" cy="4617739"/>
          </a:xfrm>
          <a:prstGeom prst="rect">
            <a:avLst/>
          </a:prstGeom>
          <a:noFill/>
        </p:spPr>
        <p:txBody>
          <a:bodyPr wrap="square">
            <a:spAutoFit/>
          </a:bodyPr>
          <a:lstStyle/>
          <a:p>
            <a:pPr lvl="0" algn="ctr">
              <a:lnSpc>
                <a:spcPct val="150000"/>
              </a:lnSpc>
              <a:spcBef>
                <a:spcPts val="1200"/>
              </a:spcBef>
              <a:spcAft>
                <a:spcPts val="600"/>
              </a:spcAft>
            </a:pPr>
            <a:r>
              <a:rPr lang="en-AU" sz="3200" b="1" dirty="0">
                <a:latin typeface="Arial" panose="020B0604020202020204" pitchFamily="34" charset="0"/>
                <a:ea typeface="Calibri" panose="020F0502020204030204" pitchFamily="34" charset="0"/>
              </a:rPr>
              <a:t>Record</a:t>
            </a:r>
            <a:r>
              <a:rPr lang="en-AU" sz="3200" dirty="0">
                <a:latin typeface="Arial" panose="020B0604020202020204" pitchFamily="34" charset="0"/>
                <a:ea typeface="Calibri" panose="020F0502020204030204" pitchFamily="34" charset="0"/>
              </a:rPr>
              <a:t> the</a:t>
            </a:r>
            <a:r>
              <a:rPr lang="en-AU" sz="3200" dirty="0"/>
              <a:t> number of:</a:t>
            </a:r>
          </a:p>
          <a:p>
            <a:pPr marL="342900" lvl="0" indent="-342900" algn="ctr">
              <a:lnSpc>
                <a:spcPct val="150000"/>
              </a:lnSpc>
              <a:spcBef>
                <a:spcPts val="1200"/>
              </a:spcBef>
              <a:spcAft>
                <a:spcPts val="600"/>
              </a:spcAft>
              <a:buFont typeface="Arial" panose="020B0604020202020204" pitchFamily="34" charset="0"/>
              <a:buChar char="•"/>
            </a:pPr>
            <a:r>
              <a:rPr lang="en-AU" sz="3200" dirty="0"/>
              <a:t> thousands</a:t>
            </a:r>
          </a:p>
          <a:p>
            <a:pPr marL="342900" lvl="0" indent="-342900" algn="ctr">
              <a:lnSpc>
                <a:spcPct val="150000"/>
              </a:lnSpc>
              <a:spcBef>
                <a:spcPts val="1200"/>
              </a:spcBef>
              <a:spcAft>
                <a:spcPts val="600"/>
              </a:spcAft>
              <a:buFont typeface="Arial" panose="020B0604020202020204" pitchFamily="34" charset="0"/>
              <a:buChar char="•"/>
            </a:pPr>
            <a:r>
              <a:rPr lang="en-AU" sz="3200" dirty="0"/>
              <a:t>hundreds</a:t>
            </a:r>
          </a:p>
          <a:p>
            <a:pPr marL="342900" lvl="0" indent="-342900" algn="ctr">
              <a:lnSpc>
                <a:spcPct val="150000"/>
              </a:lnSpc>
              <a:spcBef>
                <a:spcPts val="1200"/>
              </a:spcBef>
              <a:spcAft>
                <a:spcPts val="600"/>
              </a:spcAft>
              <a:buFont typeface="Arial" panose="020B0604020202020204" pitchFamily="34" charset="0"/>
              <a:buChar char="•"/>
            </a:pPr>
            <a:r>
              <a:rPr lang="en-AU" sz="3200" dirty="0"/>
              <a:t>tens </a:t>
            </a:r>
          </a:p>
          <a:p>
            <a:pPr marL="342900" lvl="0" indent="-342900" algn="ctr">
              <a:lnSpc>
                <a:spcPct val="150000"/>
              </a:lnSpc>
              <a:spcBef>
                <a:spcPts val="1200"/>
              </a:spcBef>
              <a:spcAft>
                <a:spcPts val="600"/>
              </a:spcAft>
              <a:buFont typeface="Arial" panose="020B0604020202020204" pitchFamily="34" charset="0"/>
              <a:buChar char="•"/>
            </a:pPr>
            <a:r>
              <a:rPr lang="en-AU" sz="3200" dirty="0"/>
              <a:t>ones</a:t>
            </a:r>
          </a:p>
        </p:txBody>
      </p:sp>
      <p:pic>
        <p:nvPicPr>
          <p:cNvPr id="10" name="Picture 9" descr="MAB representation:&#10;1 thousand&#10;12 hundreds&#10;11 tens&#10;3 ones">
            <a:extLst>
              <a:ext uri="{FF2B5EF4-FFF2-40B4-BE49-F238E27FC236}">
                <a16:creationId xmlns:a16="http://schemas.microsoft.com/office/drawing/2014/main" id="{E4998369-B7DD-536D-1B93-8D0AE5AC923C}"/>
              </a:ext>
            </a:extLst>
          </p:cNvPr>
          <p:cNvPicPr>
            <a:picLocks noChangeAspect="1"/>
          </p:cNvPicPr>
          <p:nvPr/>
        </p:nvPicPr>
        <p:blipFill>
          <a:blip r:embed="rId4"/>
          <a:stretch>
            <a:fillRect/>
          </a:stretch>
        </p:blipFill>
        <p:spPr>
          <a:xfrm>
            <a:off x="4472971" y="1805940"/>
            <a:ext cx="7471640" cy="3856711"/>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9CC59FD6-FECE-33DC-99F2-93F26FF67795}"/>
              </a:ext>
            </a:extLst>
          </p:cNvPr>
          <p:cNvSpPr txBox="1"/>
          <p:nvPr/>
        </p:nvSpPr>
        <p:spPr>
          <a:xfrm>
            <a:off x="0" y="5956246"/>
            <a:ext cx="6358852" cy="739754"/>
          </a:xfrm>
          <a:prstGeom prst="rect">
            <a:avLst/>
          </a:prstGeom>
          <a:noFill/>
        </p:spPr>
        <p:txBody>
          <a:bodyPr wrap="square">
            <a:spAutoFit/>
          </a:bodyPr>
          <a:lstStyle/>
          <a:p>
            <a:pPr lvl="0" algn="ctr">
              <a:lnSpc>
                <a:spcPct val="150000"/>
              </a:lnSpc>
              <a:spcBef>
                <a:spcPts val="1200"/>
              </a:spcBef>
              <a:spcAft>
                <a:spcPts val="600"/>
              </a:spcAft>
            </a:pPr>
            <a:r>
              <a:rPr lang="en-AU" sz="3200" b="1" dirty="0">
                <a:effectLst/>
                <a:latin typeface="Arial" panose="020B0604020202020204" pitchFamily="34" charset="0"/>
                <a:ea typeface="Calibri" panose="020F0502020204030204" pitchFamily="34" charset="0"/>
              </a:rPr>
              <a:t>Record</a:t>
            </a:r>
            <a:r>
              <a:rPr lang="en-AU" sz="3200" dirty="0">
                <a:effectLst/>
                <a:latin typeface="Arial" panose="020B0604020202020204" pitchFamily="34" charset="0"/>
                <a:ea typeface="Calibri" panose="020F0502020204030204" pitchFamily="34" charset="0"/>
              </a:rPr>
              <a:t> the number represented</a:t>
            </a:r>
            <a:r>
              <a:rPr lang="en-AU" sz="3200" dirty="0">
                <a:latin typeface="Arial" panose="020B0604020202020204" pitchFamily="34" charset="0"/>
                <a:ea typeface="Calibri" panose="020F0502020204030204" pitchFamily="34" charset="0"/>
              </a:rPr>
              <a:t>.</a:t>
            </a:r>
            <a:endParaRPr lang="en-AU" sz="32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74721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8" name="Text Placeholder 5">
            <a:extLst>
              <a:ext uri="{FF2B5EF4-FFF2-40B4-BE49-F238E27FC236}">
                <a16:creationId xmlns:a16="http://schemas.microsoft.com/office/drawing/2014/main" id="{B681F2DD-C165-3C95-59A2-CD7D5C0DD99D}"/>
              </a:ext>
            </a:extLst>
          </p:cNvPr>
          <p:cNvSpPr txBox="1">
            <a:spLocks/>
          </p:cNvSpPr>
          <p:nvPr/>
        </p:nvSpPr>
        <p:spPr>
          <a:xfrm>
            <a:off x="1585237" y="1445116"/>
            <a:ext cx="902152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Record </a:t>
            </a:r>
            <a:r>
              <a:rPr lang="en-AU" sz="4400" dirty="0"/>
              <a:t>the </a:t>
            </a:r>
            <a:r>
              <a:rPr lang="en-AU" sz="4400" b="1" dirty="0"/>
              <a:t>length</a:t>
            </a:r>
            <a:r>
              <a:rPr lang="en-AU" sz="4400" dirty="0"/>
              <a:t> of the line.</a:t>
            </a:r>
          </a:p>
        </p:txBody>
      </p:sp>
      <p:pic>
        <p:nvPicPr>
          <p:cNvPr id="10" name="Picture 9" descr="A 15cm ruler with a line above measuring 73mm ">
            <a:extLst>
              <a:ext uri="{FF2B5EF4-FFF2-40B4-BE49-F238E27FC236}">
                <a16:creationId xmlns:a16="http://schemas.microsoft.com/office/drawing/2014/main" id="{455A2ED5-BBB0-FF75-89DA-BD9562B94D0C}"/>
              </a:ext>
            </a:extLst>
          </p:cNvPr>
          <p:cNvPicPr>
            <a:picLocks noChangeAspect="1"/>
          </p:cNvPicPr>
          <p:nvPr/>
        </p:nvPicPr>
        <p:blipFill>
          <a:blip r:embed="rId4"/>
          <a:stretch>
            <a:fillRect/>
          </a:stretch>
        </p:blipFill>
        <p:spPr>
          <a:xfrm>
            <a:off x="1000617" y="4006555"/>
            <a:ext cx="10029859" cy="1784645"/>
          </a:xfrm>
          <a:prstGeom prst="rect">
            <a:avLst/>
          </a:prstGeom>
          <a:ln>
            <a:noFill/>
          </a:ln>
          <a:effectLst/>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relating addition and subtraction</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extBox 2">
            <a:extLst>
              <a:ext uri="{FF2B5EF4-FFF2-40B4-BE49-F238E27FC236}">
                <a16:creationId xmlns:a16="http://schemas.microsoft.com/office/drawing/2014/main" id="{6DCF6E0F-5B90-B8AE-F57B-EEF39B2E6E41}"/>
              </a:ext>
            </a:extLst>
          </p:cNvPr>
          <p:cNvSpPr txBox="1"/>
          <p:nvPr/>
        </p:nvSpPr>
        <p:spPr>
          <a:xfrm>
            <a:off x="3498427" y="2128520"/>
            <a:ext cx="5195146" cy="785707"/>
          </a:xfrm>
          <a:prstGeom prst="rect">
            <a:avLst/>
          </a:prstGeom>
          <a:noFill/>
        </p:spPr>
        <p:txBody>
          <a:bodyPr wrap="square" lIns="0" tIns="0" rIns="0" bIns="0" rtlCol="0">
            <a:noAutofit/>
          </a:bodyPr>
          <a:lstStyle/>
          <a:p>
            <a:pPr algn="ctr"/>
            <a:r>
              <a:rPr lang="en-AU" sz="4800" dirty="0"/>
              <a:t>Target number</a:t>
            </a:r>
          </a:p>
          <a:p>
            <a:pPr algn="ctr"/>
            <a:r>
              <a:rPr lang="en-AU" sz="4800" dirty="0">
                <a:solidFill>
                  <a:schemeClr val="accent2"/>
                </a:solidFill>
              </a:rPr>
              <a:t>56</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960120" y="2300802"/>
            <a:ext cx="10296144" cy="893226"/>
          </a:xfrm>
        </p:spPr>
        <p:txBody>
          <a:bodyPr/>
          <a:lstStyle/>
          <a:p>
            <a:pPr algn="ctr"/>
            <a:r>
              <a:rPr lang="en-AU" sz="4400" dirty="0"/>
              <a:t>If </a:t>
            </a:r>
            <a:r>
              <a:rPr lang="en-AU" sz="4400" b="1" dirty="0"/>
              <a:t>54 - 37 = 17</a:t>
            </a:r>
            <a:r>
              <a:rPr lang="en-AU" sz="4400" dirty="0"/>
              <a:t>, then </a:t>
            </a:r>
            <a:r>
              <a:rPr lang="en-AU" sz="4400" b="1" dirty="0"/>
              <a:t>54 + 17 = 34.</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sz="3200" dirty="0"/>
              <a:t>Short response </a:t>
            </a:r>
            <a:r>
              <a:rPr lang="en-AU" sz="3200" dirty="0">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z="3200" smtClean="0"/>
              <a:t>41</a:t>
            </a:fld>
            <a:endParaRPr lang="en-AU" sz="3200"/>
          </a:p>
        </p:txBody>
      </p:sp>
      <p:sp>
        <p:nvSpPr>
          <p:cNvPr id="7" name="Text Placeholder 5">
            <a:extLst>
              <a:ext uri="{FF2B5EF4-FFF2-40B4-BE49-F238E27FC236}">
                <a16:creationId xmlns:a16="http://schemas.microsoft.com/office/drawing/2014/main" id="{1D9026FB-D901-823B-39F1-B47B4693127F}"/>
              </a:ext>
            </a:extLst>
          </p:cNvPr>
          <p:cNvSpPr txBox="1">
            <a:spLocks/>
          </p:cNvSpPr>
          <p:nvPr/>
        </p:nvSpPr>
        <p:spPr>
          <a:xfrm>
            <a:off x="1330508" y="737610"/>
            <a:ext cx="939676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Record</a:t>
            </a:r>
            <a:r>
              <a:rPr lang="en-AU" sz="4400" dirty="0"/>
              <a:t> an everyday event that is </a:t>
            </a:r>
          </a:p>
          <a:p>
            <a:pPr marL="571500" indent="-571500" algn="ctr">
              <a:buFont typeface="Arial" panose="020B0604020202020204" pitchFamily="34" charset="0"/>
              <a:buChar char="•"/>
            </a:pPr>
            <a:r>
              <a:rPr lang="en-AU" sz="4400" b="1" dirty="0"/>
              <a:t>impossible</a:t>
            </a:r>
          </a:p>
          <a:p>
            <a:pPr marL="571500" indent="-571500" algn="ctr">
              <a:buFont typeface="Arial" panose="020B0604020202020204" pitchFamily="34" charset="0"/>
              <a:buChar char="•"/>
            </a:pPr>
            <a:r>
              <a:rPr lang="en-AU" sz="4400" b="1" dirty="0"/>
              <a:t>equally likely</a:t>
            </a:r>
          </a:p>
          <a:p>
            <a:pPr marL="571500" indent="-571500" algn="ctr">
              <a:buFont typeface="Arial" panose="020B0604020202020204" pitchFamily="34" charset="0"/>
              <a:buChar char="•"/>
            </a:pPr>
            <a:r>
              <a:rPr lang="en-AU" sz="4400" b="1" dirty="0"/>
              <a:t>certain</a:t>
            </a:r>
            <a:r>
              <a:rPr lang="en-AU" sz="4400" dirty="0"/>
              <a:t> </a:t>
            </a:r>
          </a:p>
          <a:p>
            <a:pPr algn="ctr"/>
            <a:r>
              <a:rPr lang="en-AU" sz="4400" dirty="0"/>
              <a:t>to occur </a:t>
            </a:r>
            <a:r>
              <a:rPr lang="en-AU" sz="4400" b="1" dirty="0"/>
              <a:t>today.</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5" name="Text Placeholder 5">
            <a:extLst>
              <a:ext uri="{FF2B5EF4-FFF2-40B4-BE49-F238E27FC236}">
                <a16:creationId xmlns:a16="http://schemas.microsoft.com/office/drawing/2014/main" id="{6D842BD4-0D51-534B-3D3A-5B8E8B7FA243}"/>
              </a:ext>
            </a:extLst>
          </p:cNvPr>
          <p:cNvSpPr txBox="1">
            <a:spLocks/>
          </p:cNvSpPr>
          <p:nvPr/>
        </p:nvSpPr>
        <p:spPr>
          <a:xfrm>
            <a:off x="1900416" y="792710"/>
            <a:ext cx="939676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1" dirty="0"/>
              <a:t>Record</a:t>
            </a:r>
            <a:r>
              <a:rPr lang="en-AU" sz="4400" dirty="0"/>
              <a:t> the </a:t>
            </a:r>
            <a:r>
              <a:rPr lang="en-AU" sz="4400" b="1" dirty="0"/>
              <a:t>4 related </a:t>
            </a:r>
            <a:r>
              <a:rPr lang="en-AU" sz="4400" dirty="0"/>
              <a:t>multiplication and division facts</a:t>
            </a:r>
            <a:r>
              <a:rPr lang="en-AU" sz="4400" b="1" dirty="0"/>
              <a:t> </a:t>
            </a:r>
            <a:r>
              <a:rPr lang="en-AU" sz="4400" dirty="0"/>
              <a:t>for the array.</a:t>
            </a:r>
            <a:endParaRPr lang="en-AU" sz="4400" b="1" dirty="0"/>
          </a:p>
        </p:txBody>
      </p:sp>
      <p:pic>
        <p:nvPicPr>
          <p:cNvPr id="12" name="Picture 11" descr="An array 5 x 3 = 15">
            <a:extLst>
              <a:ext uri="{FF2B5EF4-FFF2-40B4-BE49-F238E27FC236}">
                <a16:creationId xmlns:a16="http://schemas.microsoft.com/office/drawing/2014/main" id="{1C95FB27-25EB-5D9E-D6D6-01EC54998397}"/>
              </a:ext>
            </a:extLst>
          </p:cNvPr>
          <p:cNvPicPr>
            <a:picLocks noChangeAspect="1"/>
          </p:cNvPicPr>
          <p:nvPr/>
        </p:nvPicPr>
        <p:blipFill>
          <a:blip r:embed="rId4"/>
          <a:stretch>
            <a:fillRect/>
          </a:stretch>
        </p:blipFill>
        <p:spPr>
          <a:xfrm>
            <a:off x="5030766" y="2969192"/>
            <a:ext cx="2459693" cy="3726808"/>
          </a:xfrm>
          <a:prstGeom prst="rect">
            <a:avLst/>
          </a:prstGeom>
          <a:ln>
            <a:noFill/>
          </a:ln>
          <a:effectLst/>
        </p:spPr>
      </p:pic>
    </p:spTree>
    <p:extLst>
      <p:ext uri="{BB962C8B-B14F-4D97-AF65-F5344CB8AC3E}">
        <p14:creationId xmlns:p14="http://schemas.microsoft.com/office/powerpoint/2010/main" val="3201970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Text Placeholder 5">
            <a:extLst>
              <a:ext uri="{FF2B5EF4-FFF2-40B4-BE49-F238E27FC236}">
                <a16:creationId xmlns:a16="http://schemas.microsoft.com/office/drawing/2014/main" id="{A6EA6C69-EB23-491B-71D1-84585DA32876}"/>
              </a:ext>
            </a:extLst>
          </p:cNvPr>
          <p:cNvSpPr txBox="1">
            <a:spLocks/>
          </p:cNvSpPr>
          <p:nvPr/>
        </p:nvSpPr>
        <p:spPr>
          <a:xfrm>
            <a:off x="4735287" y="4118806"/>
            <a:ext cx="312936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5400" b="1" dirty="0">
                <a:solidFill>
                  <a:schemeClr val="accent2"/>
                </a:solidFill>
              </a:rPr>
              <a:t>36 + 18 =</a:t>
            </a:r>
            <a:endParaRPr lang="en-AU" sz="9600" b="1" dirty="0">
              <a:solidFill>
                <a:schemeClr val="accent2"/>
              </a:solidFill>
            </a:endParaRPr>
          </a:p>
        </p:txBody>
      </p:sp>
      <p:sp>
        <p:nvSpPr>
          <p:cNvPr id="7" name="Text Placeholder 5">
            <a:extLst>
              <a:ext uri="{FF2B5EF4-FFF2-40B4-BE49-F238E27FC236}">
                <a16:creationId xmlns:a16="http://schemas.microsoft.com/office/drawing/2014/main" id="{906689E8-7156-E33F-15FA-37BE7A57E8C9}"/>
              </a:ext>
            </a:extLst>
          </p:cNvPr>
          <p:cNvSpPr txBox="1">
            <a:spLocks/>
          </p:cNvSpPr>
          <p:nvPr/>
        </p:nvSpPr>
        <p:spPr>
          <a:xfrm>
            <a:off x="360001" y="1845969"/>
            <a:ext cx="1135302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Use the </a:t>
            </a:r>
            <a:r>
              <a:rPr lang="en-AU" sz="4400" b="1" dirty="0"/>
              <a:t>bridging the decades (nearest 10) strategy </a:t>
            </a:r>
            <a:r>
              <a:rPr lang="en-AU" sz="4400" dirty="0"/>
              <a:t>to solve the problem</a:t>
            </a:r>
            <a:r>
              <a:rPr lang="en-AU" sz="4400" b="1" dirty="0"/>
              <a:t>.</a:t>
            </a:r>
            <a:endParaRPr lang="en-AU" sz="8000" b="1" dirty="0"/>
          </a:p>
        </p:txBody>
      </p:sp>
    </p:spTree>
    <p:extLst>
      <p:ext uri="{BB962C8B-B14F-4D97-AF65-F5344CB8AC3E}">
        <p14:creationId xmlns:p14="http://schemas.microsoft.com/office/powerpoint/2010/main" val="347519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12" name="Text Placeholder 5">
            <a:extLst>
              <a:ext uri="{FF2B5EF4-FFF2-40B4-BE49-F238E27FC236}">
                <a16:creationId xmlns:a16="http://schemas.microsoft.com/office/drawing/2014/main" id="{B51E6EAD-F016-FF46-EE3A-2BAA9709C5E0}"/>
              </a:ext>
            </a:extLst>
          </p:cNvPr>
          <p:cNvSpPr txBox="1">
            <a:spLocks/>
          </p:cNvSpPr>
          <p:nvPr/>
        </p:nvSpPr>
        <p:spPr>
          <a:xfrm>
            <a:off x="258024" y="1084596"/>
            <a:ext cx="1158597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dirty="0"/>
              <a:t>Which would be the </a:t>
            </a:r>
            <a:r>
              <a:rPr lang="en-AU" sz="3200" b="1" dirty="0"/>
              <a:t>most appropriate </a:t>
            </a:r>
            <a:r>
              <a:rPr lang="en-AU" sz="3200" dirty="0"/>
              <a:t>instrument to measure the </a:t>
            </a:r>
            <a:r>
              <a:rPr lang="en-AU" sz="3200" b="1" dirty="0"/>
              <a:t>length</a:t>
            </a:r>
            <a:r>
              <a:rPr lang="en-AU" sz="3200" dirty="0"/>
              <a:t> from </a:t>
            </a:r>
            <a:r>
              <a:rPr lang="en-AU" sz="3200" b="1" dirty="0"/>
              <a:t>one side of the playground to the other</a:t>
            </a:r>
            <a:r>
              <a:rPr lang="en-AU" sz="3200" dirty="0"/>
              <a:t>?</a:t>
            </a:r>
            <a:endParaRPr lang="en-AU" sz="6000" b="1" dirty="0"/>
          </a:p>
        </p:txBody>
      </p:sp>
      <p:pic>
        <p:nvPicPr>
          <p:cNvPr id="7" name="Picture 6" descr="A 15cm ruler, tape measure and trundle wheel.">
            <a:extLst>
              <a:ext uri="{FF2B5EF4-FFF2-40B4-BE49-F238E27FC236}">
                <a16:creationId xmlns:a16="http://schemas.microsoft.com/office/drawing/2014/main" id="{C368BA0D-66B2-EC04-784F-88D801E24919}"/>
              </a:ext>
            </a:extLst>
          </p:cNvPr>
          <p:cNvPicPr>
            <a:picLocks noChangeAspect="1"/>
          </p:cNvPicPr>
          <p:nvPr/>
        </p:nvPicPr>
        <p:blipFill>
          <a:blip r:embed="rId4"/>
          <a:stretch>
            <a:fillRect/>
          </a:stretch>
        </p:blipFill>
        <p:spPr>
          <a:xfrm>
            <a:off x="2548032" y="3089428"/>
            <a:ext cx="7429027" cy="3100544"/>
          </a:xfrm>
          <a:prstGeom prst="rect">
            <a:avLst/>
          </a:prstGeom>
          <a:ln>
            <a:noFill/>
          </a:ln>
          <a:effectLst/>
        </p:spPr>
      </p:pic>
      <p:grpSp>
        <p:nvGrpSpPr>
          <p:cNvPr id="11" name="Group 10">
            <a:extLst>
              <a:ext uri="{FF2B5EF4-FFF2-40B4-BE49-F238E27FC236}">
                <a16:creationId xmlns:a16="http://schemas.microsoft.com/office/drawing/2014/main" id="{03DEB64D-8166-D698-2C2B-1CC70A344615}"/>
              </a:ext>
              <a:ext uri="{C183D7F6-B498-43B3-948B-1728B52AA6E4}">
                <adec:decorative xmlns:adec="http://schemas.microsoft.com/office/drawing/2017/decorative" val="1"/>
              </a:ext>
            </a:extLst>
          </p:cNvPr>
          <p:cNvGrpSpPr/>
          <p:nvPr/>
        </p:nvGrpSpPr>
        <p:grpSpPr>
          <a:xfrm>
            <a:off x="2646891" y="2783012"/>
            <a:ext cx="6506572" cy="783356"/>
            <a:chOff x="2349847" y="2852656"/>
            <a:chExt cx="6506572" cy="783356"/>
          </a:xfrm>
        </p:grpSpPr>
        <p:sp>
          <p:nvSpPr>
            <p:cNvPr id="8" name="TextBox 7">
              <a:extLst>
                <a:ext uri="{FF2B5EF4-FFF2-40B4-BE49-F238E27FC236}">
                  <a16:creationId xmlns:a16="http://schemas.microsoft.com/office/drawing/2014/main" id="{A9086F6C-0DF0-0EF2-BBE9-A32C7C8BB7DB}"/>
                </a:ext>
              </a:extLst>
            </p:cNvPr>
            <p:cNvSpPr txBox="1"/>
            <p:nvPr/>
          </p:nvSpPr>
          <p:spPr>
            <a:xfrm>
              <a:off x="5338418" y="289734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9" name="TextBox 8">
              <a:extLst>
                <a:ext uri="{FF2B5EF4-FFF2-40B4-BE49-F238E27FC236}">
                  <a16:creationId xmlns:a16="http://schemas.microsoft.com/office/drawing/2014/main" id="{53C3BD28-52D9-C716-EA20-953F868B61C5}"/>
                </a:ext>
              </a:extLst>
            </p:cNvPr>
            <p:cNvSpPr txBox="1"/>
            <p:nvPr/>
          </p:nvSpPr>
          <p:spPr>
            <a:xfrm>
              <a:off x="8326990" y="28526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0" name="TextBox 9">
              <a:extLst>
                <a:ext uri="{FF2B5EF4-FFF2-40B4-BE49-F238E27FC236}">
                  <a16:creationId xmlns:a16="http://schemas.microsoft.com/office/drawing/2014/main" id="{D7A7FA1C-F588-CDD8-C866-7DC2FD54F992}"/>
                </a:ext>
              </a:extLst>
            </p:cNvPr>
            <p:cNvSpPr txBox="1"/>
            <p:nvPr/>
          </p:nvSpPr>
          <p:spPr>
            <a:xfrm>
              <a:off x="2349847" y="28526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grpSp>
      <p:sp>
        <p:nvSpPr>
          <p:cNvPr id="4" name="TextBox 3">
            <a:extLst>
              <a:ext uri="{FF2B5EF4-FFF2-40B4-BE49-F238E27FC236}">
                <a16:creationId xmlns:a16="http://schemas.microsoft.com/office/drawing/2014/main" id="{C2351DF3-30FF-C7A3-E9CD-C22C3C2A19CC}"/>
              </a:ext>
            </a:extLst>
          </p:cNvPr>
          <p:cNvSpPr txBox="1"/>
          <p:nvPr/>
        </p:nvSpPr>
        <p:spPr>
          <a:xfrm>
            <a:off x="3116267" y="5956246"/>
            <a:ext cx="6097248" cy="739754"/>
          </a:xfrm>
          <a:prstGeom prst="rect">
            <a:avLst/>
          </a:prstGeom>
          <a:noFill/>
        </p:spPr>
        <p:txBody>
          <a:bodyPr wrap="square">
            <a:spAutoFit/>
          </a:bodyPr>
          <a:lstStyle/>
          <a:p>
            <a:pPr lvl="0">
              <a:lnSpc>
                <a:spcPct val="150000"/>
              </a:lnSpc>
              <a:spcBef>
                <a:spcPts val="1200"/>
              </a:spcBef>
              <a:spcAft>
                <a:spcPts val="600"/>
              </a:spcAft>
            </a:pPr>
            <a:r>
              <a:rPr lang="en-AU" sz="3200" b="1" dirty="0">
                <a:latin typeface="Arial" panose="020B0604020202020204" pitchFamily="34" charset="0"/>
                <a:ea typeface="Calibri" panose="020F0502020204030204" pitchFamily="34" charset="0"/>
                <a:cs typeface="Times New Roman" panose="02020603050405020304" pitchFamily="18" charset="0"/>
              </a:rPr>
              <a:t>Communicate</a:t>
            </a:r>
            <a:r>
              <a:rPr lang="en-AU" sz="3200" dirty="0">
                <a:latin typeface="Arial" panose="020B0604020202020204" pitchFamily="34" charset="0"/>
                <a:ea typeface="Calibri" panose="020F0502020204030204" pitchFamily="34" charset="0"/>
                <a:cs typeface="Times New Roman" panose="02020603050405020304" pitchFamily="18" charset="0"/>
              </a:rPr>
              <a:t> your </a:t>
            </a:r>
            <a:r>
              <a:rPr lang="en-AU" sz="3200" b="1" dirty="0">
                <a:latin typeface="Arial" panose="020B0604020202020204" pitchFamily="34" charset="0"/>
                <a:ea typeface="Calibri" panose="020F0502020204030204" pitchFamily="34" charset="0"/>
                <a:cs typeface="Times New Roman" panose="02020603050405020304" pitchFamily="18" charset="0"/>
              </a:rPr>
              <a:t>reasoning</a:t>
            </a:r>
            <a:r>
              <a:rPr lang="en-AU" sz="2400" b="1" dirty="0">
                <a:latin typeface="Arial" panose="020B0604020202020204" pitchFamily="34" charset="0"/>
                <a:ea typeface="Calibri" panose="020F0502020204030204" pitchFamily="34" charset="0"/>
                <a:cs typeface="Times New Roman" panose="02020603050405020304" pitchFamily="18" charset="0"/>
              </a:rPr>
              <a:t>.</a:t>
            </a:r>
            <a:endParaRPr lang="en-AU" sz="2400" b="1"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t>Activity 6 – complement principle of addition and subtraction </a:t>
            </a:r>
            <a:r>
              <a:rPr lang="en-AU" dirty="0">
                <a:solidFill>
                  <a:schemeClr val="bg1"/>
                </a:solidFill>
              </a:rPr>
              <a:t>(1)</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5" name="TextBox 4">
            <a:extLst>
              <a:ext uri="{FF2B5EF4-FFF2-40B4-BE49-F238E27FC236}">
                <a16:creationId xmlns:a16="http://schemas.microsoft.com/office/drawing/2014/main" id="{EC3D8DD7-57FC-D8AA-4498-2D051CA55A3C}"/>
              </a:ext>
            </a:extLst>
          </p:cNvPr>
          <p:cNvSpPr txBox="1"/>
          <p:nvPr/>
        </p:nvSpPr>
        <p:spPr>
          <a:xfrm>
            <a:off x="1536192" y="2685039"/>
            <a:ext cx="8925704" cy="1998176"/>
          </a:xfrm>
          <a:prstGeom prst="rect">
            <a:avLst/>
          </a:prstGeom>
          <a:noFill/>
        </p:spPr>
        <p:txBody>
          <a:bodyPr wrap="square">
            <a:spAutoFit/>
          </a:bodyPr>
          <a:lstStyle/>
          <a:p>
            <a:pPr algn="ctr">
              <a:lnSpc>
                <a:spcPct val="150000"/>
              </a:lnSpc>
            </a:pPr>
            <a:r>
              <a:rPr lang="en-AU" sz="4400" dirty="0">
                <a:effectLst/>
                <a:latin typeface="Arial" panose="020B0604020202020204" pitchFamily="34" charset="0"/>
                <a:ea typeface="Calibri" panose="020F0502020204030204" pitchFamily="34" charset="0"/>
              </a:rPr>
              <a:t>If </a:t>
            </a:r>
            <a:r>
              <a:rPr lang="en-AU" sz="4400" b="1" dirty="0">
                <a:solidFill>
                  <a:schemeClr val="accent2"/>
                </a:solidFill>
                <a:effectLst/>
                <a:latin typeface="Arial" panose="020B0604020202020204" pitchFamily="34" charset="0"/>
                <a:ea typeface="Calibri" panose="020F0502020204030204" pitchFamily="34" charset="0"/>
              </a:rPr>
              <a:t>30 – 12 = 18</a:t>
            </a:r>
            <a:r>
              <a:rPr lang="en-AU" sz="4400" dirty="0">
                <a:effectLst/>
                <a:latin typeface="Arial" panose="020B0604020202020204" pitchFamily="34" charset="0"/>
                <a:ea typeface="Calibri" panose="020F0502020204030204" pitchFamily="34" charset="0"/>
              </a:rPr>
              <a:t>, </a:t>
            </a:r>
          </a:p>
          <a:p>
            <a:pPr algn="ctr">
              <a:lnSpc>
                <a:spcPct val="150000"/>
              </a:lnSpc>
            </a:pPr>
            <a:r>
              <a:rPr lang="en-AU" sz="4400" dirty="0">
                <a:effectLst/>
                <a:latin typeface="Arial" panose="020B0604020202020204" pitchFamily="34" charset="0"/>
                <a:ea typeface="Calibri" panose="020F0502020204030204" pitchFamily="34" charset="0"/>
              </a:rPr>
              <a:t>what is </a:t>
            </a:r>
            <a:r>
              <a:rPr lang="en-AU" sz="4400" b="1" dirty="0">
                <a:solidFill>
                  <a:schemeClr val="accent2"/>
                </a:solidFill>
                <a:effectLst/>
                <a:latin typeface="Arial" panose="020B0604020202020204" pitchFamily="34" charset="0"/>
                <a:ea typeface="Calibri" panose="020F0502020204030204" pitchFamily="34" charset="0"/>
              </a:rPr>
              <a:t>30 </a:t>
            </a:r>
            <a:r>
              <a:rPr lang="en-AU" sz="4400" b="1" dirty="0">
                <a:solidFill>
                  <a:schemeClr val="accent2"/>
                </a:solidFill>
                <a:latin typeface="Arial" panose="020B0604020202020204" pitchFamily="34" charset="0"/>
                <a:ea typeface="Calibri" panose="020F0502020204030204" pitchFamily="34" charset="0"/>
              </a:rPr>
              <a:t>– </a:t>
            </a:r>
            <a:r>
              <a:rPr lang="en-AU" sz="4400" b="1" dirty="0">
                <a:solidFill>
                  <a:schemeClr val="accent2"/>
                </a:solidFill>
                <a:effectLst/>
                <a:latin typeface="Arial" panose="020B0604020202020204" pitchFamily="34" charset="0"/>
                <a:ea typeface="Calibri" panose="020F0502020204030204" pitchFamily="34" charset="0"/>
              </a:rPr>
              <a:t>18 ?</a:t>
            </a:r>
            <a:endParaRPr lang="en-AU" sz="4400" b="1" dirty="0">
              <a:solidFill>
                <a:schemeClr val="accent2"/>
              </a:solidFill>
            </a:endParaRP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878450"/>
            <a:ext cx="11243037" cy="754243"/>
          </a:xfrm>
        </p:spPr>
        <p:txBody>
          <a:bodyPr/>
          <a:lstStyle/>
          <a:p>
            <a:pPr algn="ctr"/>
            <a:r>
              <a:rPr lang="en-US" sz="3200" dirty="0"/>
              <a:t>Which number sentences show the </a:t>
            </a:r>
            <a:r>
              <a:rPr lang="en-US" sz="3200" b="1" dirty="0"/>
              <a:t>relationship </a:t>
            </a:r>
            <a:r>
              <a:rPr lang="en-US" sz="3200" dirty="0"/>
              <a:t>of the numbers in the </a:t>
            </a:r>
            <a:r>
              <a:rPr lang="en-US" sz="3200" b="1" dirty="0"/>
              <a:t>bar model</a:t>
            </a:r>
            <a:r>
              <a:rPr lang="en-US" sz="3200" dirty="0"/>
              <a:t>? </a:t>
            </a:r>
          </a:p>
          <a:p>
            <a:pPr algn="ctr"/>
            <a:r>
              <a:rPr lang="en-US" sz="3200" dirty="0"/>
              <a:t>You may select </a:t>
            </a:r>
            <a:r>
              <a:rPr lang="en-US" sz="3200" b="1" dirty="0"/>
              <a:t>more than one answer</a:t>
            </a:r>
            <a:r>
              <a:rPr lang="en-US" sz="3200" dirty="0"/>
              <a:t>.</a:t>
            </a:r>
          </a:p>
        </p:txBody>
      </p:sp>
      <p:pic>
        <p:nvPicPr>
          <p:cNvPr id="6" name="Picture 5" descr="Bar model containing the numbers: The bar at the top shows 100. The bottom bar is divided into two parts. One shows 68 and the other 32.">
            <a:extLst>
              <a:ext uri="{FF2B5EF4-FFF2-40B4-BE49-F238E27FC236}">
                <a16:creationId xmlns:a16="http://schemas.microsoft.com/office/drawing/2014/main" id="{89ADA284-617C-CC72-A138-E31C6006C441}"/>
              </a:ext>
            </a:extLst>
          </p:cNvPr>
          <p:cNvPicPr>
            <a:picLocks noChangeAspect="1"/>
          </p:cNvPicPr>
          <p:nvPr/>
        </p:nvPicPr>
        <p:blipFill>
          <a:blip r:embed="rId4"/>
          <a:stretch>
            <a:fillRect/>
          </a:stretch>
        </p:blipFill>
        <p:spPr>
          <a:xfrm>
            <a:off x="5195961" y="3814325"/>
            <a:ext cx="6194840" cy="1990630"/>
          </a:xfrm>
          <a:prstGeom prst="rect">
            <a:avLst/>
          </a:prstGeom>
          <a:ln>
            <a:noFill/>
          </a:ln>
          <a:effectLst/>
        </p:spPr>
      </p:pic>
      <p:sp>
        <p:nvSpPr>
          <p:cNvPr id="9" name="B">
            <a:extLst>
              <a:ext uri="{FF2B5EF4-FFF2-40B4-BE49-F238E27FC236}">
                <a16:creationId xmlns:a16="http://schemas.microsoft.com/office/drawing/2014/main" id="{C9B406B5-1B1B-BC84-2596-01F05852F38E}"/>
              </a:ext>
            </a:extLst>
          </p:cNvPr>
          <p:cNvSpPr txBox="1"/>
          <p:nvPr/>
        </p:nvSpPr>
        <p:spPr>
          <a:xfrm>
            <a:off x="670560" y="32293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89910" y="3235857"/>
            <a:ext cx="10175920" cy="641396"/>
          </a:xfrm>
        </p:spPr>
        <p:txBody>
          <a:bodyPr anchor="ctr"/>
          <a:lstStyle/>
          <a:p>
            <a:r>
              <a:rPr lang="en-US" sz="3600" dirty="0"/>
              <a:t>100 - 32 = 68</a:t>
            </a:r>
          </a:p>
        </p:txBody>
      </p:sp>
      <p:sp>
        <p:nvSpPr>
          <p:cNvPr id="10" name="B">
            <a:extLst>
              <a:ext uri="{FF2B5EF4-FFF2-40B4-BE49-F238E27FC236}">
                <a16:creationId xmlns:a16="http://schemas.microsoft.com/office/drawing/2014/main" id="{E50622FB-E2C3-695B-EB8A-A6DCC20CB21A}"/>
              </a:ext>
            </a:extLst>
          </p:cNvPr>
          <p:cNvSpPr txBox="1"/>
          <p:nvPr/>
        </p:nvSpPr>
        <p:spPr>
          <a:xfrm>
            <a:off x="670559" y="40772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89910" y="4076560"/>
            <a:ext cx="10175920" cy="641396"/>
          </a:xfrm>
        </p:spPr>
        <p:txBody>
          <a:bodyPr anchor="ctr"/>
          <a:lstStyle/>
          <a:p>
            <a:r>
              <a:rPr lang="en-US" sz="3600" dirty="0"/>
              <a:t>100 - 68 = 32</a:t>
            </a:r>
          </a:p>
        </p:txBody>
      </p:sp>
      <p:sp>
        <p:nvSpPr>
          <p:cNvPr id="12" name="C">
            <a:extLst>
              <a:ext uri="{FF2B5EF4-FFF2-40B4-BE49-F238E27FC236}">
                <a16:creationId xmlns:a16="http://schemas.microsoft.com/office/drawing/2014/main" id="{0C258EAC-2959-18FA-F510-CFBA4E15CEE5}"/>
              </a:ext>
            </a:extLst>
          </p:cNvPr>
          <p:cNvSpPr txBox="1"/>
          <p:nvPr/>
        </p:nvSpPr>
        <p:spPr>
          <a:xfrm>
            <a:off x="670558" y="49272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89910" y="4867959"/>
            <a:ext cx="10175920" cy="641396"/>
          </a:xfrm>
        </p:spPr>
        <p:txBody>
          <a:bodyPr anchor="ctr"/>
          <a:lstStyle/>
          <a:p>
            <a:r>
              <a:rPr lang="en-US" sz="3600" dirty="0"/>
              <a:t>32 + 100 = 68</a:t>
            </a:r>
          </a:p>
        </p:txBody>
      </p:sp>
      <p:sp>
        <p:nvSpPr>
          <p:cNvPr id="11" name="D">
            <a:extLst>
              <a:ext uri="{FF2B5EF4-FFF2-40B4-BE49-F238E27FC236}">
                <a16:creationId xmlns:a16="http://schemas.microsoft.com/office/drawing/2014/main" id="{14776889-F079-73F7-28AB-FA54A997A57B}"/>
              </a:ext>
            </a:extLst>
          </p:cNvPr>
          <p:cNvSpPr txBox="1"/>
          <p:nvPr/>
        </p:nvSpPr>
        <p:spPr>
          <a:xfrm>
            <a:off x="670557" y="577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89910" y="5708662"/>
            <a:ext cx="10175920" cy="641396"/>
          </a:xfrm>
        </p:spPr>
        <p:txBody>
          <a:bodyPr anchor="ctr"/>
          <a:lstStyle/>
          <a:p>
            <a:r>
              <a:rPr lang="en-US" sz="3600" dirty="0"/>
              <a:t>32 + 68 = 100</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a:extLst>
              <a:ext uri="{FF2B5EF4-FFF2-40B4-BE49-F238E27FC236}">
                <a16:creationId xmlns:a16="http://schemas.microsoft.com/office/drawing/2014/main" id="{1F67B0A1-FE41-07F6-FD6C-14E9F2D918B6}"/>
              </a:ext>
            </a:extLst>
          </p:cNvPr>
          <p:cNvSpPr txBox="1">
            <a:spLocks/>
          </p:cNvSpPr>
          <p:nvPr/>
        </p:nvSpPr>
        <p:spPr>
          <a:xfrm>
            <a:off x="524892" y="977861"/>
            <a:ext cx="6857764"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4000" b="1" dirty="0"/>
              <a:t>Record</a:t>
            </a:r>
            <a:r>
              <a:rPr lang="en-AU" sz="4000" dirty="0"/>
              <a:t> all the </a:t>
            </a:r>
            <a:r>
              <a:rPr lang="en-AU" sz="4000" b="1" dirty="0"/>
              <a:t>possible outcomes </a:t>
            </a:r>
            <a:r>
              <a:rPr lang="en-AU" sz="4000" dirty="0"/>
              <a:t>of this spinner?</a:t>
            </a:r>
          </a:p>
        </p:txBody>
      </p:sp>
      <p:pic>
        <p:nvPicPr>
          <p:cNvPr id="7" name="Picture 6" descr="A spinner with 4 equal parts (red, blue, yellow and orange)">
            <a:extLst>
              <a:ext uri="{FF2B5EF4-FFF2-40B4-BE49-F238E27FC236}">
                <a16:creationId xmlns:a16="http://schemas.microsoft.com/office/drawing/2014/main" id="{E1F66464-DAD8-25D1-1968-578487CF49CA}"/>
              </a:ext>
            </a:extLst>
          </p:cNvPr>
          <p:cNvPicPr>
            <a:picLocks noChangeAspect="1"/>
          </p:cNvPicPr>
          <p:nvPr/>
        </p:nvPicPr>
        <p:blipFill>
          <a:blip r:embed="rId4"/>
          <a:stretch>
            <a:fillRect/>
          </a:stretch>
        </p:blipFill>
        <p:spPr>
          <a:xfrm>
            <a:off x="8130793" y="1732104"/>
            <a:ext cx="3353207" cy="3275527"/>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16E3B45E-0412-DFAA-2E84-BAF833066C3A}"/>
              </a:ext>
            </a:extLst>
          </p:cNvPr>
          <p:cNvSpPr txBox="1"/>
          <p:nvPr/>
        </p:nvSpPr>
        <p:spPr>
          <a:xfrm>
            <a:off x="524892" y="3369867"/>
            <a:ext cx="7075121" cy="2748253"/>
          </a:xfrm>
          <a:prstGeom prst="rect">
            <a:avLst/>
          </a:prstGeom>
          <a:noFill/>
        </p:spPr>
        <p:txBody>
          <a:bodyPr wrap="square">
            <a:spAutoFit/>
          </a:bodyPr>
          <a:lstStyle/>
          <a:p>
            <a:pPr lvl="0">
              <a:lnSpc>
                <a:spcPct val="150000"/>
              </a:lnSpc>
              <a:spcBef>
                <a:spcPts val="1200"/>
              </a:spcBef>
              <a:spcAft>
                <a:spcPts val="600"/>
              </a:spcAft>
            </a:pPr>
            <a:r>
              <a:rPr lang="en-AU" sz="4000" dirty="0">
                <a:effectLst/>
                <a:latin typeface="Arial" panose="020B0604020202020204" pitchFamily="34" charset="0"/>
                <a:ea typeface="Calibri" panose="020F0502020204030204" pitchFamily="34" charset="0"/>
                <a:cs typeface="Times New Roman" panose="02020603050405020304" pitchFamily="18" charset="0"/>
              </a:rPr>
              <a:t>How would you </a:t>
            </a:r>
            <a:r>
              <a:rPr lang="en-AU" sz="4000" b="1" dirty="0">
                <a:effectLst/>
                <a:latin typeface="Arial" panose="020B0604020202020204" pitchFamily="34" charset="0"/>
                <a:ea typeface="Calibri" panose="020F0502020204030204" pitchFamily="34" charset="0"/>
                <a:cs typeface="Times New Roman" panose="02020603050405020304" pitchFamily="18" charset="0"/>
              </a:rPr>
              <a:t>describe</a:t>
            </a:r>
            <a:r>
              <a:rPr lang="en-AU" sz="4000" dirty="0">
                <a:effectLst/>
                <a:latin typeface="Arial" panose="020B0604020202020204" pitchFamily="34" charset="0"/>
                <a:ea typeface="Calibri" panose="020F0502020204030204" pitchFamily="34" charset="0"/>
                <a:cs typeface="Times New Roman" panose="02020603050405020304" pitchFamily="18" charset="0"/>
              </a:rPr>
              <a:t> the </a:t>
            </a:r>
            <a:r>
              <a:rPr lang="en-AU" sz="4000" b="1" dirty="0">
                <a:effectLst/>
                <a:latin typeface="Arial" panose="020B0604020202020204" pitchFamily="34" charset="0"/>
                <a:ea typeface="Calibri" panose="020F0502020204030204" pitchFamily="34" charset="0"/>
                <a:cs typeface="Times New Roman" panose="02020603050405020304" pitchFamily="18" charset="0"/>
              </a:rPr>
              <a:t>chance</a:t>
            </a:r>
            <a:r>
              <a:rPr lang="en-AU" sz="4000" dirty="0">
                <a:effectLst/>
                <a:latin typeface="Arial" panose="020B0604020202020204" pitchFamily="34" charset="0"/>
                <a:ea typeface="Calibri" panose="020F0502020204030204" pitchFamily="34" charset="0"/>
                <a:cs typeface="Times New Roman" panose="02020603050405020304" pitchFamily="18" charset="0"/>
              </a:rPr>
              <a:t> of landing on </a:t>
            </a:r>
            <a:r>
              <a:rPr lang="en-AU" sz="4000" b="1" dirty="0">
                <a:solidFill>
                  <a:srgbClr val="FF6405"/>
                </a:solidFill>
                <a:effectLst/>
                <a:latin typeface="Arial" panose="020B0604020202020204" pitchFamily="34" charset="0"/>
                <a:ea typeface="Calibri" panose="020F0502020204030204" pitchFamily="34" charset="0"/>
                <a:cs typeface="Times New Roman" panose="02020603050405020304" pitchFamily="18" charset="0"/>
              </a:rPr>
              <a:t>orange</a:t>
            </a:r>
            <a:r>
              <a:rPr lang="en-AU" sz="4000" dirty="0">
                <a:effectLst/>
                <a:latin typeface="Arial" panose="020B0604020202020204" pitchFamily="34" charset="0"/>
                <a:ea typeface="Calibri" panose="020F0502020204030204" pitchFamily="34" charset="0"/>
                <a:cs typeface="Times New Roman" panose="02020603050405020304" pitchFamily="18" charset="0"/>
              </a:rPr>
              <a:t> </a:t>
            </a:r>
            <a:r>
              <a:rPr lang="en-AU" sz="4000" b="1" dirty="0">
                <a:effectLst/>
                <a:latin typeface="Arial" panose="020B0604020202020204" pitchFamily="34" charset="0"/>
                <a:ea typeface="Calibri" panose="020F0502020204030204" pitchFamily="34" charset="0"/>
                <a:cs typeface="Times New Roman" panose="02020603050405020304" pitchFamily="18" charset="0"/>
              </a:rPr>
              <a:t>compared</a:t>
            </a:r>
            <a:r>
              <a:rPr lang="en-AU" sz="4000" dirty="0">
                <a:effectLst/>
                <a:latin typeface="Arial" panose="020B0604020202020204" pitchFamily="34" charset="0"/>
                <a:ea typeface="Calibri" panose="020F0502020204030204" pitchFamily="34" charset="0"/>
                <a:cs typeface="Times New Roman" panose="02020603050405020304" pitchFamily="18" charset="0"/>
              </a:rPr>
              <a:t> to </a:t>
            </a:r>
            <a:r>
              <a:rPr lang="en-AU" sz="4000" b="1" dirty="0">
                <a:solidFill>
                  <a:srgbClr val="0095B8"/>
                </a:solidFill>
                <a:effectLst/>
                <a:latin typeface="Arial" panose="020B0604020202020204" pitchFamily="34" charset="0"/>
                <a:ea typeface="Calibri" panose="020F0502020204030204" pitchFamily="34" charset="0"/>
                <a:cs typeface="Times New Roman" panose="02020603050405020304" pitchFamily="18" charset="0"/>
              </a:rPr>
              <a:t>blue</a:t>
            </a:r>
            <a:r>
              <a:rPr lang="en-AU" sz="4000" dirty="0">
                <a:effectLst/>
                <a:latin typeface="Arial" panose="020B0604020202020204" pitchFamily="34" charset="0"/>
                <a:ea typeface="Calibri" panose="020F0502020204030204" pitchFamily="34" charset="0"/>
                <a:cs typeface="Times New Roman" panose="02020603050405020304" pitchFamily="18" charset="0"/>
              </a:rPr>
              <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5" name="TextBox 4">
            <a:extLst>
              <a:ext uri="{FF2B5EF4-FFF2-40B4-BE49-F238E27FC236}">
                <a16:creationId xmlns:a16="http://schemas.microsoft.com/office/drawing/2014/main" id="{B8777A74-2ACE-DCA6-1A61-290E0ADCD35E}"/>
              </a:ext>
            </a:extLst>
          </p:cNvPr>
          <p:cNvSpPr txBox="1"/>
          <p:nvPr/>
        </p:nvSpPr>
        <p:spPr>
          <a:xfrm>
            <a:off x="1589919" y="2711466"/>
            <a:ext cx="3282760" cy="1204625"/>
          </a:xfrm>
          <a:prstGeom prst="rect">
            <a:avLst/>
          </a:prstGeom>
          <a:noFill/>
        </p:spPr>
        <p:txBody>
          <a:bodyPr wrap="square">
            <a:spAutoFit/>
          </a:bodyPr>
          <a:lstStyle/>
          <a:p>
            <a:pPr lvl="0">
              <a:lnSpc>
                <a:spcPct val="150000"/>
              </a:lnSpc>
              <a:spcBef>
                <a:spcPts val="1200"/>
              </a:spcBef>
              <a:spcAft>
                <a:spcPts val="600"/>
              </a:spcAft>
            </a:pPr>
            <a:r>
              <a:rPr lang="en-AU" sz="5400" b="1" dirty="0">
                <a:latin typeface="Arial" panose="020B0604020202020204" pitchFamily="34" charset="0"/>
                <a:ea typeface="Calibri" panose="020F0502020204030204" pitchFamily="34" charset="0"/>
              </a:rPr>
              <a:t>24 ÷ ? = 6</a:t>
            </a:r>
            <a:endParaRPr lang="en-AU" sz="5400" b="1" dirty="0">
              <a:effectLst/>
              <a:latin typeface="Arial" panose="020B0604020202020204" pitchFamily="34" charset="0"/>
              <a:ea typeface="Calibri" panose="020F0502020204030204" pitchFamily="34" charset="0"/>
            </a:endParaRPr>
          </a:p>
        </p:txBody>
      </p:sp>
      <p:pic>
        <p:nvPicPr>
          <p:cNvPr id="8" name="Picture 7" descr="Fact family triangle: 24, ?, 6">
            <a:extLst>
              <a:ext uri="{FF2B5EF4-FFF2-40B4-BE49-F238E27FC236}">
                <a16:creationId xmlns:a16="http://schemas.microsoft.com/office/drawing/2014/main" id="{15AC1D5E-8E3A-B65A-D52A-DF2E8E26D62D}"/>
              </a:ext>
            </a:extLst>
          </p:cNvPr>
          <p:cNvPicPr>
            <a:picLocks noChangeAspect="1"/>
          </p:cNvPicPr>
          <p:nvPr/>
        </p:nvPicPr>
        <p:blipFill>
          <a:blip r:embed="rId4"/>
          <a:stretch>
            <a:fillRect/>
          </a:stretch>
        </p:blipFill>
        <p:spPr>
          <a:xfrm>
            <a:off x="6572608" y="1526964"/>
            <a:ext cx="3936024" cy="3573628"/>
          </a:xfrm>
          <a:prstGeom prst="rect">
            <a:avLst/>
          </a:prstGeom>
          <a:ln>
            <a:noFill/>
          </a:ln>
          <a:effectLst/>
        </p:spPr>
      </p:pic>
    </p:spTree>
    <p:extLst>
      <p:ext uri="{BB962C8B-B14F-4D97-AF65-F5344CB8AC3E}">
        <p14:creationId xmlns:p14="http://schemas.microsoft.com/office/powerpoint/2010/main" val="266035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5" name="Text Placeholder 5">
            <a:extLst>
              <a:ext uri="{FF2B5EF4-FFF2-40B4-BE49-F238E27FC236}">
                <a16:creationId xmlns:a16="http://schemas.microsoft.com/office/drawing/2014/main" id="{A7726816-1BA8-2577-59E7-AA1ACB88D0C5}"/>
              </a:ext>
            </a:extLst>
          </p:cNvPr>
          <p:cNvSpPr txBox="1">
            <a:spLocks/>
          </p:cNvSpPr>
          <p:nvPr/>
        </p:nvSpPr>
        <p:spPr>
          <a:xfrm>
            <a:off x="4191000" y="3962350"/>
            <a:ext cx="321512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5400" b="1" dirty="0">
                <a:solidFill>
                  <a:schemeClr val="accent2"/>
                </a:solidFill>
              </a:rPr>
              <a:t>47 + 26 =</a:t>
            </a:r>
          </a:p>
        </p:txBody>
      </p:sp>
      <p:sp>
        <p:nvSpPr>
          <p:cNvPr id="7" name="Text Placeholder 5">
            <a:extLst>
              <a:ext uri="{FF2B5EF4-FFF2-40B4-BE49-F238E27FC236}">
                <a16:creationId xmlns:a16="http://schemas.microsoft.com/office/drawing/2014/main" id="{4E7F0958-ECA3-D3BB-02DD-49200ED1D6CB}"/>
              </a:ext>
            </a:extLst>
          </p:cNvPr>
          <p:cNvSpPr txBox="1">
            <a:spLocks/>
          </p:cNvSpPr>
          <p:nvPr/>
        </p:nvSpPr>
        <p:spPr>
          <a:xfrm>
            <a:off x="464831" y="1555812"/>
            <a:ext cx="1121553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Use the </a:t>
            </a:r>
            <a:r>
              <a:rPr lang="en-AU" sz="4400" b="1" dirty="0"/>
              <a:t>levelling strategy </a:t>
            </a:r>
            <a:r>
              <a:rPr lang="en-AU" sz="4400" dirty="0"/>
              <a:t>to solve the problem</a:t>
            </a:r>
            <a:r>
              <a:rPr lang="en-AU" sz="4400" b="1" dirty="0"/>
              <a:t>.</a:t>
            </a:r>
            <a:endParaRPr lang="en-AU" sz="8000" b="1" dirty="0"/>
          </a:p>
        </p:txBody>
      </p:sp>
    </p:spTree>
    <p:extLst>
      <p:ext uri="{BB962C8B-B14F-4D97-AF65-F5344CB8AC3E}">
        <p14:creationId xmlns:p14="http://schemas.microsoft.com/office/powerpoint/2010/main" val="2240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5" name="TextBox 4">
            <a:extLst>
              <a:ext uri="{FF2B5EF4-FFF2-40B4-BE49-F238E27FC236}">
                <a16:creationId xmlns:a16="http://schemas.microsoft.com/office/drawing/2014/main" id="{E151D543-CC52-798D-C4B9-8FAF57FC32A9}"/>
              </a:ext>
            </a:extLst>
          </p:cNvPr>
          <p:cNvSpPr txBox="1"/>
          <p:nvPr/>
        </p:nvSpPr>
        <p:spPr>
          <a:xfrm>
            <a:off x="1774479" y="1593208"/>
            <a:ext cx="7987830" cy="3671583"/>
          </a:xfrm>
          <a:prstGeom prst="rect">
            <a:avLst/>
          </a:prstGeom>
          <a:noFill/>
        </p:spPr>
        <p:txBody>
          <a:bodyPr wrap="square">
            <a:spAutoFit/>
          </a:bodyPr>
          <a:lstStyle/>
          <a:p>
            <a:pPr lvl="0" algn="ctr">
              <a:lnSpc>
                <a:spcPct val="150000"/>
              </a:lnSpc>
              <a:spcBef>
                <a:spcPts val="1200"/>
              </a:spcBef>
              <a:spcAft>
                <a:spcPts val="600"/>
              </a:spcAft>
            </a:pPr>
            <a:r>
              <a:rPr lang="en-AU" sz="4000" dirty="0"/>
              <a:t>Flynn caught the bus to the beach. He </a:t>
            </a:r>
            <a:r>
              <a:rPr lang="en-AU" sz="4000" b="1" dirty="0"/>
              <a:t>left </a:t>
            </a:r>
            <a:r>
              <a:rPr lang="en-AU" sz="4000" dirty="0"/>
              <a:t>at </a:t>
            </a:r>
            <a:r>
              <a:rPr lang="en-AU" sz="4000" b="1" dirty="0"/>
              <a:t>10.30 am.</a:t>
            </a:r>
            <a:r>
              <a:rPr lang="en-AU" sz="4000" dirty="0"/>
              <a:t> If the journey took </a:t>
            </a:r>
            <a:r>
              <a:rPr lang="en-AU" sz="4000" b="1" dirty="0"/>
              <a:t>half an hour, </a:t>
            </a:r>
            <a:r>
              <a:rPr lang="en-AU" sz="4000" dirty="0"/>
              <a:t>what </a:t>
            </a:r>
            <a:r>
              <a:rPr lang="en-AU" sz="4000" b="1" dirty="0"/>
              <a:t>time</a:t>
            </a:r>
            <a:r>
              <a:rPr lang="en-AU" sz="4000" dirty="0"/>
              <a:t> did he </a:t>
            </a:r>
            <a:r>
              <a:rPr lang="en-AU" sz="4000" b="1" dirty="0"/>
              <a:t>arrive</a:t>
            </a:r>
            <a:r>
              <a:rPr lang="en-AU" sz="4000" dirty="0"/>
              <a:t> at the beach? </a:t>
            </a:r>
            <a:endParaRPr lang="en-AU" sz="66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pPr>
              <a:lnSpc>
                <a:spcPct val="150000"/>
              </a:lnSpc>
            </a:pPr>
            <a:r>
              <a:rPr lang="en-AU" dirty="0"/>
              <a:t>Activity 7 – addition and subtraction as inverse operations </a:t>
            </a:r>
            <a:r>
              <a:rPr lang="en-AU" dirty="0">
                <a:solidFill>
                  <a:schemeClr val="bg1"/>
                </a:solidFill>
              </a:rPr>
              <a:t>(1)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5" name="TextBox 4">
            <a:extLst>
              <a:ext uri="{FF2B5EF4-FFF2-40B4-BE49-F238E27FC236}">
                <a16:creationId xmlns:a16="http://schemas.microsoft.com/office/drawing/2014/main" id="{02C17ECF-58E2-3E50-85D6-331CE0FB10D9}"/>
              </a:ext>
            </a:extLst>
          </p:cNvPr>
          <p:cNvSpPr txBox="1"/>
          <p:nvPr/>
        </p:nvSpPr>
        <p:spPr>
          <a:xfrm>
            <a:off x="1626433" y="1986151"/>
            <a:ext cx="7959777" cy="3013838"/>
          </a:xfrm>
          <a:prstGeom prst="rect">
            <a:avLst/>
          </a:prstGeom>
          <a:noFill/>
        </p:spPr>
        <p:txBody>
          <a:bodyPr wrap="square">
            <a:spAutoFit/>
          </a:bodyPr>
          <a:lstStyle/>
          <a:p>
            <a:pPr lvl="0">
              <a:lnSpc>
                <a:spcPct val="150000"/>
              </a:lnSpc>
              <a:spcBef>
                <a:spcPts val="1200"/>
              </a:spcBef>
              <a:spcAft>
                <a:spcPts val="600"/>
              </a:spcAft>
            </a:pPr>
            <a:r>
              <a:rPr lang="en-AU" sz="4400" dirty="0">
                <a:latin typeface="Arial" panose="020B0604020202020204" pitchFamily="34" charset="0"/>
                <a:ea typeface="Calibri" panose="020F0502020204030204" pitchFamily="34" charset="0"/>
              </a:rPr>
              <a:t>T</a:t>
            </a:r>
            <a:r>
              <a:rPr lang="en-AU" sz="4400" dirty="0">
                <a:effectLst/>
                <a:latin typeface="Arial" panose="020B0604020202020204" pitchFamily="34" charset="0"/>
                <a:ea typeface="Calibri" panose="020F0502020204030204" pitchFamily="34" charset="0"/>
              </a:rPr>
              <a:t>here are </a:t>
            </a:r>
            <a:r>
              <a:rPr lang="en-AU" sz="4400" b="1" dirty="0">
                <a:effectLst/>
                <a:latin typeface="Arial" panose="020B0604020202020204" pitchFamily="34" charset="0"/>
                <a:ea typeface="Calibri" panose="020F0502020204030204" pitchFamily="34" charset="0"/>
              </a:rPr>
              <a:t>20 pencils </a:t>
            </a:r>
            <a:r>
              <a:rPr lang="en-AU" sz="4400" dirty="0">
                <a:effectLst/>
                <a:latin typeface="Arial" panose="020B0604020202020204" pitchFamily="34" charset="0"/>
                <a:ea typeface="Calibri" panose="020F0502020204030204" pitchFamily="34" charset="0"/>
              </a:rPr>
              <a:t>in a box. If </a:t>
            </a:r>
            <a:r>
              <a:rPr lang="en-AU" sz="4400" b="1" dirty="0">
                <a:effectLst/>
                <a:latin typeface="Arial" panose="020B0604020202020204" pitchFamily="34" charset="0"/>
                <a:ea typeface="Calibri" panose="020F0502020204030204" pitchFamily="34" charset="0"/>
              </a:rPr>
              <a:t>7 are red</a:t>
            </a:r>
            <a:r>
              <a:rPr lang="en-AU" sz="4400" dirty="0">
                <a:effectLst/>
                <a:latin typeface="Arial" panose="020B0604020202020204" pitchFamily="34" charset="0"/>
                <a:ea typeface="Calibri" panose="020F0502020204030204" pitchFamily="34" charset="0"/>
              </a:rPr>
              <a:t>, how many are </a:t>
            </a:r>
            <a:r>
              <a:rPr lang="en-AU" sz="4400" b="1" dirty="0">
                <a:effectLst/>
                <a:latin typeface="Arial" panose="020B0604020202020204" pitchFamily="34" charset="0"/>
                <a:ea typeface="Calibri" panose="020F0502020204030204" pitchFamily="34" charset="0"/>
              </a:rPr>
              <a:t>not red</a:t>
            </a:r>
            <a:r>
              <a:rPr lang="en-AU" sz="4400" dirty="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743168" y="2046911"/>
            <a:ext cx="8476702" cy="893226"/>
          </a:xfrm>
        </p:spPr>
        <p:txBody>
          <a:bodyPr/>
          <a:lstStyle/>
          <a:p>
            <a:r>
              <a:rPr lang="en-AU" sz="4400" dirty="0"/>
              <a:t>If </a:t>
            </a:r>
            <a:r>
              <a:rPr lang="en-AU" sz="4400" b="1" dirty="0"/>
              <a:t>68 - 39 = 29</a:t>
            </a:r>
            <a:r>
              <a:rPr lang="en-AU" sz="4400" dirty="0"/>
              <a:t>, then </a:t>
            </a:r>
            <a:r>
              <a:rPr lang="en-AU" sz="4400" b="1" dirty="0"/>
              <a:t>68 - 29 = 39.</a:t>
            </a:r>
          </a:p>
          <a:p>
            <a:endParaRPr lang="en-AU" sz="4400" dirty="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 Placeholder">
            <a:extLst>
              <a:ext uri="{FF2B5EF4-FFF2-40B4-BE49-F238E27FC236}">
                <a16:creationId xmlns:a16="http://schemas.microsoft.com/office/drawing/2014/main" id="{658E4F93-64B7-BE19-CEB7-0B89B1A36168}"/>
              </a:ext>
            </a:extLst>
          </p:cNvPr>
          <p:cNvSpPr txBox="1">
            <a:spLocks/>
          </p:cNvSpPr>
          <p:nvPr/>
        </p:nvSpPr>
        <p:spPr>
          <a:xfrm>
            <a:off x="255068" y="1304144"/>
            <a:ext cx="7442381"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3200" b="1" dirty="0"/>
              <a:t>Record</a:t>
            </a:r>
            <a:r>
              <a:rPr lang="en-AU" sz="3200" dirty="0"/>
              <a:t> all the </a:t>
            </a:r>
            <a:r>
              <a:rPr lang="en-AU" sz="3200" b="1" dirty="0"/>
              <a:t>possible outcomes </a:t>
            </a:r>
            <a:r>
              <a:rPr lang="en-AU" sz="3200" dirty="0"/>
              <a:t>of drawing out </a:t>
            </a:r>
            <a:r>
              <a:rPr lang="en-AU" sz="3200" b="1" dirty="0"/>
              <a:t>one</a:t>
            </a:r>
            <a:r>
              <a:rPr lang="en-AU" sz="3200" dirty="0"/>
              <a:t> counter from the bag.</a:t>
            </a:r>
          </a:p>
        </p:txBody>
      </p:sp>
      <p:pic>
        <p:nvPicPr>
          <p:cNvPr id="5" name="Picture 4" descr="A bag of marbles containing 3 blue marbles, 7 red marbles and 10 yellow marbles">
            <a:extLst>
              <a:ext uri="{FF2B5EF4-FFF2-40B4-BE49-F238E27FC236}">
                <a16:creationId xmlns:a16="http://schemas.microsoft.com/office/drawing/2014/main" id="{CFE8C20F-6147-67E3-B8CD-5716929B2CD9}"/>
              </a:ext>
            </a:extLst>
          </p:cNvPr>
          <p:cNvPicPr>
            <a:picLocks noChangeAspect="1"/>
          </p:cNvPicPr>
          <p:nvPr/>
        </p:nvPicPr>
        <p:blipFill>
          <a:blip r:embed="rId4"/>
          <a:stretch>
            <a:fillRect/>
          </a:stretch>
        </p:blipFill>
        <p:spPr>
          <a:xfrm>
            <a:off x="7372213" y="1145150"/>
            <a:ext cx="4691236" cy="5352850"/>
          </a:xfrm>
          <a:prstGeom prst="rect">
            <a:avLst/>
          </a:prstGeom>
          <a:ln>
            <a:noFill/>
          </a:ln>
          <a:effectLst/>
        </p:spPr>
      </p:pic>
      <p:sp>
        <p:nvSpPr>
          <p:cNvPr id="8" name="TextBox 7">
            <a:extLst>
              <a:ext uri="{FF2B5EF4-FFF2-40B4-BE49-F238E27FC236}">
                <a16:creationId xmlns:a16="http://schemas.microsoft.com/office/drawing/2014/main" id="{469181BF-E367-34C6-513C-88C19E1C77C6}"/>
              </a:ext>
            </a:extLst>
          </p:cNvPr>
          <p:cNvSpPr txBox="1"/>
          <p:nvPr/>
        </p:nvSpPr>
        <p:spPr>
          <a:xfrm>
            <a:off x="303812" y="3090364"/>
            <a:ext cx="7539817" cy="1709250"/>
          </a:xfrm>
          <a:prstGeom prst="rect">
            <a:avLst/>
          </a:prstGeom>
          <a:noFill/>
        </p:spPr>
        <p:txBody>
          <a:bodyPr wrap="square">
            <a:spAutoFit/>
          </a:bodyPr>
          <a:lstStyle/>
          <a:p>
            <a:pPr lvl="0">
              <a:lnSpc>
                <a:spcPct val="150000"/>
              </a:lnSpc>
              <a:spcBef>
                <a:spcPts val="1200"/>
              </a:spcBef>
              <a:spcAft>
                <a:spcPts val="600"/>
              </a:spcAft>
            </a:pPr>
            <a:r>
              <a:rPr lang="en-AU" sz="3200" dirty="0">
                <a:effectLst/>
                <a:latin typeface="Arial" panose="020B0604020202020204" pitchFamily="34" charset="0"/>
                <a:ea typeface="Calibri" panose="020F0502020204030204" pitchFamily="34" charset="0"/>
                <a:cs typeface="Times New Roman" panose="02020603050405020304" pitchFamily="18" charset="0"/>
              </a:rPr>
              <a:t>Which colour is </a:t>
            </a:r>
            <a:r>
              <a:rPr lang="en-AU" sz="3200" b="1" dirty="0">
                <a:effectLst/>
                <a:latin typeface="Arial" panose="020B0604020202020204" pitchFamily="34" charset="0"/>
                <a:ea typeface="Calibri" panose="020F0502020204030204" pitchFamily="34" charset="0"/>
                <a:cs typeface="Times New Roman" panose="02020603050405020304" pitchFamily="18" charset="0"/>
              </a:rPr>
              <a:t>likely</a:t>
            </a:r>
            <a:r>
              <a:rPr lang="en-AU" sz="3200" dirty="0">
                <a:effectLst/>
                <a:latin typeface="Arial" panose="020B0604020202020204" pitchFamily="34" charset="0"/>
                <a:ea typeface="Calibri" panose="020F0502020204030204" pitchFamily="34" charset="0"/>
                <a:cs typeface="Times New Roman" panose="02020603050405020304" pitchFamily="18" charset="0"/>
              </a:rPr>
              <a:t> to be drawn? </a:t>
            </a:r>
          </a:p>
          <a:p>
            <a:pPr lvl="0">
              <a:lnSpc>
                <a:spcPct val="150000"/>
              </a:lnSpc>
              <a:spcBef>
                <a:spcPts val="1200"/>
              </a:spcBef>
              <a:spcAft>
                <a:spcPts val="600"/>
              </a:spcAft>
            </a:pPr>
            <a:r>
              <a:rPr lang="en-AU" sz="3200" dirty="0">
                <a:effectLst/>
                <a:latin typeface="Arial" panose="020B0604020202020204" pitchFamily="34" charset="0"/>
                <a:ea typeface="Calibri" panose="020F0502020204030204" pitchFamily="34" charset="0"/>
                <a:cs typeface="Times New Roman" panose="02020603050405020304" pitchFamily="18" charset="0"/>
              </a:rPr>
              <a:t>Which colour is </a:t>
            </a:r>
            <a:r>
              <a:rPr lang="en-AU" sz="3200" b="1" dirty="0">
                <a:effectLst/>
                <a:latin typeface="Arial" panose="020B0604020202020204" pitchFamily="34" charset="0"/>
                <a:ea typeface="Calibri" panose="020F0502020204030204" pitchFamily="34" charset="0"/>
                <a:cs typeface="Times New Roman" panose="02020603050405020304" pitchFamily="18" charset="0"/>
              </a:rPr>
              <a:t>unlikely</a:t>
            </a:r>
            <a:r>
              <a:rPr lang="en-AU" sz="3200" dirty="0">
                <a:effectLst/>
                <a:latin typeface="Arial" panose="020B0604020202020204" pitchFamily="34" charset="0"/>
                <a:ea typeface="Calibri" panose="020F0502020204030204" pitchFamily="34" charset="0"/>
                <a:cs typeface="Times New Roman" panose="02020603050405020304" pitchFamily="18" charset="0"/>
              </a:rPr>
              <a:t> to be drawn? </a:t>
            </a:r>
          </a:p>
        </p:txBody>
      </p:sp>
      <p:sp>
        <p:nvSpPr>
          <p:cNvPr id="17" name="TextBox 16">
            <a:extLst>
              <a:ext uri="{FF2B5EF4-FFF2-40B4-BE49-F238E27FC236}">
                <a16:creationId xmlns:a16="http://schemas.microsoft.com/office/drawing/2014/main" id="{CDED2666-5411-C59E-C495-812F0CAB5C39}"/>
              </a:ext>
            </a:extLst>
          </p:cNvPr>
          <p:cNvSpPr txBox="1"/>
          <p:nvPr/>
        </p:nvSpPr>
        <p:spPr>
          <a:xfrm>
            <a:off x="796496" y="5553856"/>
            <a:ext cx="6097248" cy="739754"/>
          </a:xfrm>
          <a:prstGeom prst="rect">
            <a:avLst/>
          </a:prstGeom>
          <a:noFill/>
        </p:spPr>
        <p:txBody>
          <a:bodyPr wrap="square">
            <a:spAutoFit/>
          </a:bodyPr>
          <a:lstStyle/>
          <a:p>
            <a:pPr lvl="0">
              <a:lnSpc>
                <a:spcPct val="150000"/>
              </a:lnSpc>
              <a:spcBef>
                <a:spcPts val="1200"/>
              </a:spcBef>
              <a:spcAft>
                <a:spcPts val="600"/>
              </a:spcAft>
            </a:pPr>
            <a:r>
              <a:rPr lang="en-AU" sz="3200" b="1" dirty="0">
                <a:latin typeface="Arial" panose="020B0604020202020204" pitchFamily="34" charset="0"/>
                <a:ea typeface="Calibri" panose="020F0502020204030204" pitchFamily="34" charset="0"/>
                <a:cs typeface="Times New Roman" panose="02020603050405020304" pitchFamily="18" charset="0"/>
              </a:rPr>
              <a:t>Communicate</a:t>
            </a:r>
            <a:r>
              <a:rPr lang="en-AU" sz="3200" dirty="0">
                <a:latin typeface="Arial" panose="020B0604020202020204" pitchFamily="34" charset="0"/>
                <a:ea typeface="Calibri" panose="020F0502020204030204" pitchFamily="34" charset="0"/>
                <a:cs typeface="Times New Roman" panose="02020603050405020304" pitchFamily="18" charset="0"/>
              </a:rPr>
              <a:t> your </a:t>
            </a:r>
            <a:r>
              <a:rPr lang="en-AU" sz="3200" b="1" dirty="0">
                <a:latin typeface="Arial" panose="020B0604020202020204" pitchFamily="34" charset="0"/>
                <a:ea typeface="Calibri" panose="020F0502020204030204" pitchFamily="34" charset="0"/>
                <a:cs typeface="Times New Roman" panose="02020603050405020304" pitchFamily="18" charset="0"/>
              </a:rPr>
              <a:t>thinking</a:t>
            </a:r>
            <a:r>
              <a:rPr lang="en-AU" sz="2400" b="1" dirty="0">
                <a:latin typeface="Arial" panose="020B0604020202020204" pitchFamily="34" charset="0"/>
                <a:ea typeface="Calibri" panose="020F0502020204030204" pitchFamily="34" charset="0"/>
                <a:cs typeface="Times New Roman" panose="02020603050405020304" pitchFamily="18" charset="0"/>
              </a:rPr>
              <a:t>.</a:t>
            </a:r>
            <a:endParaRPr lang="en-AU" sz="2400" b="1"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7" name="TextBox 6">
            <a:extLst>
              <a:ext uri="{FF2B5EF4-FFF2-40B4-BE49-F238E27FC236}">
                <a16:creationId xmlns:a16="http://schemas.microsoft.com/office/drawing/2014/main" id="{21270B04-5CA4-4865-8438-07C1964F7FDD}"/>
              </a:ext>
            </a:extLst>
          </p:cNvPr>
          <p:cNvSpPr txBox="1"/>
          <p:nvPr/>
        </p:nvSpPr>
        <p:spPr>
          <a:xfrm>
            <a:off x="1129554" y="1356669"/>
            <a:ext cx="10132758" cy="4144661"/>
          </a:xfrm>
          <a:prstGeom prst="rect">
            <a:avLst/>
          </a:prstGeom>
          <a:noFill/>
        </p:spPr>
        <p:txBody>
          <a:bodyPr wrap="square">
            <a:spAutoFit/>
          </a:bodyPr>
          <a:lstStyle/>
          <a:p>
            <a:pPr>
              <a:lnSpc>
                <a:spcPct val="150000"/>
              </a:lnSpc>
            </a:pPr>
            <a:r>
              <a:rPr lang="en-AU" sz="3600" dirty="0">
                <a:effectLst/>
                <a:latin typeface="Arial" panose="020B0604020202020204" pitchFamily="34" charset="0"/>
                <a:ea typeface="Calibri" panose="020F0502020204030204" pitchFamily="34" charset="0"/>
              </a:rPr>
              <a:t>A farmer collected </a:t>
            </a:r>
            <a:r>
              <a:rPr lang="en-AU" sz="3600" b="1" dirty="0">
                <a:effectLst/>
                <a:latin typeface="Arial" panose="020B0604020202020204" pitchFamily="34" charset="0"/>
                <a:ea typeface="Calibri" panose="020F0502020204030204" pitchFamily="34" charset="0"/>
              </a:rPr>
              <a:t>4 eggs for each </a:t>
            </a:r>
            <a:r>
              <a:rPr lang="en-AU" sz="3600" dirty="0">
                <a:effectLst/>
                <a:latin typeface="Arial" panose="020B0604020202020204" pitchFamily="34" charset="0"/>
                <a:ea typeface="Calibri" panose="020F0502020204030204" pitchFamily="34" charset="0"/>
              </a:rPr>
              <a:t>of her </a:t>
            </a:r>
            <a:r>
              <a:rPr lang="en-AU" sz="3600" b="1" dirty="0">
                <a:effectLst/>
                <a:latin typeface="Arial" panose="020B0604020202020204" pitchFamily="34" charset="0"/>
                <a:ea typeface="Calibri" panose="020F0502020204030204" pitchFamily="34" charset="0"/>
              </a:rPr>
              <a:t>4 friends</a:t>
            </a:r>
            <a:r>
              <a:rPr lang="en-AU" sz="3600" dirty="0">
                <a:effectLst/>
                <a:latin typeface="Arial" panose="020B0604020202020204" pitchFamily="34" charset="0"/>
                <a:ea typeface="Calibri" panose="020F0502020204030204" pitchFamily="34" charset="0"/>
              </a:rPr>
              <a:t>. </a:t>
            </a:r>
            <a:r>
              <a:rPr lang="en-AU" sz="3600" b="1" dirty="0">
                <a:effectLst/>
                <a:latin typeface="Arial" panose="020B0604020202020204" pitchFamily="34" charset="0"/>
                <a:ea typeface="Calibri" panose="020F0502020204030204" pitchFamily="34" charset="0"/>
              </a:rPr>
              <a:t>How many </a:t>
            </a:r>
            <a:r>
              <a:rPr lang="en-AU" sz="3600" dirty="0">
                <a:effectLst/>
                <a:latin typeface="Arial" panose="020B0604020202020204" pitchFamily="34" charset="0"/>
                <a:ea typeface="Calibri" panose="020F0502020204030204" pitchFamily="34" charset="0"/>
              </a:rPr>
              <a:t>eggs did the farmer collect? </a:t>
            </a:r>
          </a:p>
          <a:p>
            <a:pPr>
              <a:lnSpc>
                <a:spcPct val="150000"/>
              </a:lnSpc>
            </a:pPr>
            <a:endParaRPr lang="en-AU" sz="3600" dirty="0">
              <a:effectLst/>
              <a:latin typeface="Arial" panose="020B0604020202020204" pitchFamily="34" charset="0"/>
              <a:ea typeface="Calibri" panose="020F0502020204030204" pitchFamily="34" charset="0"/>
            </a:endParaRPr>
          </a:p>
          <a:p>
            <a:pPr>
              <a:lnSpc>
                <a:spcPct val="150000"/>
              </a:lnSpc>
            </a:pPr>
            <a:r>
              <a:rPr lang="en-AU" sz="3600" dirty="0">
                <a:effectLst/>
                <a:latin typeface="Arial" panose="020B0604020202020204" pitchFamily="34" charset="0"/>
                <a:ea typeface="Calibri" panose="020F0502020204030204" pitchFamily="34" charset="0"/>
              </a:rPr>
              <a:t>The farmer accidently </a:t>
            </a:r>
            <a:r>
              <a:rPr lang="en-AU" sz="3600" b="1" dirty="0">
                <a:effectLst/>
                <a:latin typeface="Arial" panose="020B0604020202020204" pitchFamily="34" charset="0"/>
                <a:ea typeface="Calibri" panose="020F0502020204030204" pitchFamily="34" charset="0"/>
              </a:rPr>
              <a:t>broke half </a:t>
            </a:r>
            <a:r>
              <a:rPr lang="en-AU" sz="3600" dirty="0">
                <a:effectLst/>
                <a:latin typeface="Arial" panose="020B0604020202020204" pitchFamily="34" charset="0"/>
                <a:ea typeface="Calibri" panose="020F0502020204030204" pitchFamily="34" charset="0"/>
              </a:rPr>
              <a:t>of the eggs. </a:t>
            </a:r>
            <a:r>
              <a:rPr lang="en-AU" sz="3600" b="1" dirty="0">
                <a:effectLst/>
                <a:latin typeface="Arial" panose="020B0604020202020204" pitchFamily="34" charset="0"/>
                <a:ea typeface="Calibri" panose="020F0502020204030204" pitchFamily="34" charset="0"/>
              </a:rPr>
              <a:t>How many </a:t>
            </a:r>
            <a:r>
              <a:rPr lang="en-AU" sz="3600" dirty="0">
                <a:effectLst/>
                <a:latin typeface="Arial" panose="020B0604020202020204" pitchFamily="34" charset="0"/>
                <a:ea typeface="Calibri" panose="020F0502020204030204" pitchFamily="34" charset="0"/>
              </a:rPr>
              <a:t>were left?</a:t>
            </a:r>
            <a:endParaRPr lang="en-AU" sz="3600" dirty="0"/>
          </a:p>
        </p:txBody>
      </p:sp>
    </p:spTree>
    <p:extLst>
      <p:ext uri="{BB962C8B-B14F-4D97-AF65-F5344CB8AC3E}">
        <p14:creationId xmlns:p14="http://schemas.microsoft.com/office/powerpoint/2010/main" val="2273480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7" name="Picture 6" descr="3 numbers on cards: 58,35,23.">
            <a:extLst>
              <a:ext uri="{FF2B5EF4-FFF2-40B4-BE49-F238E27FC236}">
                <a16:creationId xmlns:a16="http://schemas.microsoft.com/office/drawing/2014/main" id="{DD748EF9-0454-9339-4A42-2678E1DB12FE}"/>
              </a:ext>
            </a:extLst>
          </p:cNvPr>
          <p:cNvPicPr>
            <a:picLocks noChangeAspect="1"/>
          </p:cNvPicPr>
          <p:nvPr/>
        </p:nvPicPr>
        <p:blipFill>
          <a:blip r:embed="rId4"/>
          <a:srcRect l="4259" t="8724" r="7098" b="9668"/>
          <a:stretch>
            <a:fillRect/>
          </a:stretch>
        </p:blipFill>
        <p:spPr>
          <a:xfrm>
            <a:off x="3618646" y="2113109"/>
            <a:ext cx="4126860" cy="175196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AC57B3F-ED3B-D055-7222-B4F97AED1D22}"/>
              </a:ext>
            </a:extLst>
          </p:cNvPr>
          <p:cNvSpPr txBox="1"/>
          <p:nvPr/>
        </p:nvSpPr>
        <p:spPr>
          <a:xfrm>
            <a:off x="587383" y="1184223"/>
            <a:ext cx="10189386" cy="5171737"/>
          </a:xfrm>
          <a:prstGeom prst="rect">
            <a:avLst/>
          </a:prstGeom>
          <a:noFill/>
        </p:spPr>
        <p:txBody>
          <a:bodyPr wrap="square">
            <a:spAutoFit/>
          </a:bodyPr>
          <a:lstStyle/>
          <a:p>
            <a:pPr algn="ctr"/>
            <a:r>
              <a:rPr lang="en-AU" sz="3200" dirty="0"/>
              <a:t>Use these numbers to </a:t>
            </a:r>
            <a:r>
              <a:rPr lang="en-AU" sz="3200" b="1" dirty="0"/>
              <a:t>draw</a:t>
            </a:r>
            <a:r>
              <a:rPr lang="en-AU" sz="3200" dirty="0"/>
              <a:t> a </a:t>
            </a:r>
            <a:r>
              <a:rPr lang="en-AU" sz="3200" b="1" dirty="0"/>
              <a:t>bar model</a:t>
            </a:r>
            <a:r>
              <a:rPr lang="en-AU" sz="3200" dirty="0"/>
              <a:t>.</a:t>
            </a:r>
          </a:p>
          <a:p>
            <a:pPr algn="ctr"/>
            <a:endParaRPr lang="en-AU" sz="3200" dirty="0"/>
          </a:p>
          <a:p>
            <a:pPr algn="ctr"/>
            <a:endParaRPr lang="en-AU" sz="3200" dirty="0"/>
          </a:p>
          <a:p>
            <a:pPr algn="ctr"/>
            <a:endParaRPr lang="en-AU" sz="3200" dirty="0"/>
          </a:p>
          <a:p>
            <a:pPr algn="ctr"/>
            <a:endParaRPr lang="en-AU" sz="3200" dirty="0"/>
          </a:p>
          <a:p>
            <a:pPr algn="ctr"/>
            <a:endParaRPr lang="en-AU" sz="3200" dirty="0"/>
          </a:p>
          <a:p>
            <a:pPr algn="ctr">
              <a:lnSpc>
                <a:spcPct val="150000"/>
              </a:lnSpc>
            </a:pPr>
            <a:r>
              <a:rPr lang="en-AU" sz="3200" b="1" dirty="0"/>
              <a:t>Record</a:t>
            </a:r>
            <a:r>
              <a:rPr lang="en-AU" sz="3200" dirty="0"/>
              <a:t> the </a:t>
            </a:r>
            <a:r>
              <a:rPr lang="en-AU" sz="3200" b="1" dirty="0"/>
              <a:t>complement number sentences</a:t>
            </a:r>
            <a:r>
              <a:rPr lang="en-AU" sz="3200" dirty="0"/>
              <a:t> to demonstrate your understanding of </a:t>
            </a:r>
            <a:r>
              <a:rPr lang="en-AU" sz="3200" b="1" dirty="0"/>
              <a:t>inverse operations </a:t>
            </a:r>
            <a:r>
              <a:rPr lang="en-AU" sz="3200" dirty="0"/>
              <a:t>and the </a:t>
            </a:r>
            <a:r>
              <a:rPr lang="en-AU" sz="3200" b="1" dirty="0"/>
              <a:t>complement principle</a:t>
            </a:r>
            <a:r>
              <a:rPr lang="en-AU" sz="3200" dirty="0"/>
              <a:t>.</a:t>
            </a:r>
          </a:p>
        </p:txBody>
      </p:sp>
    </p:spTree>
    <p:extLst>
      <p:ext uri="{BB962C8B-B14F-4D97-AF65-F5344CB8AC3E}">
        <p14:creationId xmlns:p14="http://schemas.microsoft.com/office/powerpoint/2010/main" val="269642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8" name="TextBox 7">
            <a:extLst>
              <a:ext uri="{FF2B5EF4-FFF2-40B4-BE49-F238E27FC236}">
                <a16:creationId xmlns:a16="http://schemas.microsoft.com/office/drawing/2014/main" id="{C4572E08-D335-0979-B604-FFEB42E51C3D}"/>
              </a:ext>
            </a:extLst>
          </p:cNvPr>
          <p:cNvSpPr txBox="1"/>
          <p:nvPr/>
        </p:nvSpPr>
        <p:spPr>
          <a:xfrm>
            <a:off x="413340" y="1212203"/>
            <a:ext cx="4964229" cy="4894738"/>
          </a:xfrm>
          <a:prstGeom prst="rect">
            <a:avLst/>
          </a:prstGeom>
          <a:noFill/>
        </p:spPr>
        <p:txBody>
          <a:bodyPr wrap="square">
            <a:spAutoFit/>
          </a:bodyPr>
          <a:lstStyle/>
          <a:p>
            <a:pPr lvl="0">
              <a:lnSpc>
                <a:spcPct val="150000"/>
              </a:lnSpc>
              <a:spcBef>
                <a:spcPts val="1200"/>
              </a:spcBef>
              <a:spcAft>
                <a:spcPts val="600"/>
              </a:spcAft>
            </a:pPr>
            <a:r>
              <a:rPr lang="en-AU" sz="3200" b="1" dirty="0">
                <a:effectLst/>
                <a:latin typeface="Arial" panose="020B0604020202020204" pitchFamily="34" charset="0"/>
                <a:ea typeface="Calibri" panose="020F0502020204030204" pitchFamily="34" charset="0"/>
              </a:rPr>
              <a:t>Record</a:t>
            </a:r>
            <a:r>
              <a:rPr lang="en-AU" sz="3200" dirty="0">
                <a:effectLst/>
                <a:latin typeface="Arial" panose="020B0604020202020204" pitchFamily="34" charset="0"/>
                <a:ea typeface="Calibri" panose="020F0502020204030204" pitchFamily="34" charset="0"/>
              </a:rPr>
              <a:t> the </a:t>
            </a:r>
            <a:r>
              <a:rPr lang="en-AU" sz="3200" b="1" dirty="0">
                <a:effectLst/>
                <a:latin typeface="Arial" panose="020B0604020202020204" pitchFamily="34" charset="0"/>
                <a:ea typeface="Calibri" panose="020F0502020204030204" pitchFamily="34" charset="0"/>
              </a:rPr>
              <a:t>frequency</a:t>
            </a:r>
            <a:r>
              <a:rPr lang="en-AU" sz="3200" dirty="0">
                <a:effectLst/>
                <a:latin typeface="Arial" panose="020B0604020202020204" pitchFamily="34" charset="0"/>
                <a:ea typeface="Calibri" panose="020F0502020204030204" pitchFamily="34" charset="0"/>
              </a:rPr>
              <a:t> of each colour.</a:t>
            </a:r>
          </a:p>
          <a:p>
            <a:pPr marL="457200" lvl="0" indent="-457200">
              <a:lnSpc>
                <a:spcPct val="150000"/>
              </a:lnSpc>
              <a:spcBef>
                <a:spcPts val="1200"/>
              </a:spcBef>
              <a:spcAft>
                <a:spcPts val="600"/>
              </a:spcAft>
              <a:buFont typeface="Arial" panose="020B0604020202020204" pitchFamily="34" charset="0"/>
              <a:buChar char="•"/>
            </a:pPr>
            <a:r>
              <a:rPr lang="en-AU" sz="3200" dirty="0">
                <a:latin typeface="Arial" panose="020B0604020202020204" pitchFamily="34" charset="0"/>
                <a:ea typeface="Calibri" panose="020F0502020204030204" pitchFamily="34" charset="0"/>
              </a:rPr>
              <a:t>What is the </a:t>
            </a:r>
            <a:r>
              <a:rPr lang="en-AU" sz="3200" b="1" dirty="0">
                <a:latin typeface="Arial" panose="020B0604020202020204" pitchFamily="34" charset="0"/>
                <a:ea typeface="Calibri" panose="020F0502020204030204" pitchFamily="34" charset="0"/>
              </a:rPr>
              <a:t>most</a:t>
            </a:r>
            <a:r>
              <a:rPr lang="en-AU" sz="3200" dirty="0">
                <a:latin typeface="Arial" panose="020B0604020202020204" pitchFamily="34" charset="0"/>
                <a:ea typeface="Calibri" panose="020F0502020204030204" pitchFamily="34" charset="0"/>
              </a:rPr>
              <a:t> popular car colour?</a:t>
            </a:r>
          </a:p>
          <a:p>
            <a:pPr marL="457200" lvl="0" indent="-457200">
              <a:lnSpc>
                <a:spcPct val="150000"/>
              </a:lnSpc>
              <a:spcBef>
                <a:spcPts val="1200"/>
              </a:spcBef>
              <a:spcAft>
                <a:spcPts val="600"/>
              </a:spcAft>
              <a:buFont typeface="Arial" panose="020B0604020202020204" pitchFamily="34" charset="0"/>
              <a:buChar char="•"/>
            </a:pPr>
            <a:r>
              <a:rPr lang="en-AU" sz="3200" dirty="0">
                <a:effectLst/>
                <a:latin typeface="Arial" panose="020B0604020202020204" pitchFamily="34" charset="0"/>
                <a:ea typeface="Calibri" panose="020F0502020204030204" pitchFamily="34" charset="0"/>
              </a:rPr>
              <a:t>What is the </a:t>
            </a:r>
            <a:r>
              <a:rPr lang="en-AU" sz="3200" b="1" dirty="0">
                <a:effectLst/>
                <a:latin typeface="Arial" panose="020B0604020202020204" pitchFamily="34" charset="0"/>
                <a:ea typeface="Calibri" panose="020F0502020204030204" pitchFamily="34" charset="0"/>
              </a:rPr>
              <a:t>l</a:t>
            </a:r>
            <a:r>
              <a:rPr lang="en-AU" sz="3200" b="1" dirty="0">
                <a:latin typeface="Arial" panose="020B0604020202020204" pitchFamily="34" charset="0"/>
                <a:ea typeface="Calibri" panose="020F0502020204030204" pitchFamily="34" charset="0"/>
              </a:rPr>
              <a:t>east</a:t>
            </a:r>
            <a:r>
              <a:rPr lang="en-AU" sz="3200" dirty="0">
                <a:latin typeface="Arial" panose="020B0604020202020204" pitchFamily="34" charset="0"/>
                <a:ea typeface="Calibri" panose="020F0502020204030204" pitchFamily="34" charset="0"/>
              </a:rPr>
              <a:t> popular car colour?</a:t>
            </a:r>
            <a:endParaRPr lang="en-AU" sz="3200" dirty="0">
              <a:effectLst/>
              <a:latin typeface="Arial" panose="020B0604020202020204" pitchFamily="34" charset="0"/>
              <a:ea typeface="Calibri" panose="020F0502020204030204" pitchFamily="34" charset="0"/>
            </a:endParaRPr>
          </a:p>
        </p:txBody>
      </p:sp>
      <p:pic>
        <p:nvPicPr>
          <p:cNvPr id="7" name="Picture 6" descr="A tally table for the car colour of students in 3G&#10;Blue: 7&#10;Green: 2&#10;White:10&#10;Silver: 9">
            <a:extLst>
              <a:ext uri="{FF2B5EF4-FFF2-40B4-BE49-F238E27FC236}">
                <a16:creationId xmlns:a16="http://schemas.microsoft.com/office/drawing/2014/main" id="{E9BB198E-0E28-EA6E-EB74-0D6D6F549C21}"/>
              </a:ext>
            </a:extLst>
          </p:cNvPr>
          <p:cNvPicPr>
            <a:picLocks noChangeAspect="1"/>
          </p:cNvPicPr>
          <p:nvPr/>
        </p:nvPicPr>
        <p:blipFill>
          <a:blip r:embed="rId4"/>
          <a:srcRect l="-1299"/>
          <a:stretch>
            <a:fillRect/>
          </a:stretch>
        </p:blipFill>
        <p:spPr>
          <a:xfrm>
            <a:off x="5543634" y="1605257"/>
            <a:ext cx="6121380" cy="42963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using inverse operations to solve problems (1)</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5" name="TextBox 4">
            <a:extLst>
              <a:ext uri="{FF2B5EF4-FFF2-40B4-BE49-F238E27FC236}">
                <a16:creationId xmlns:a16="http://schemas.microsoft.com/office/drawing/2014/main" id="{F60D2BB3-84A8-2184-4E5E-4EBE700ACD64}"/>
              </a:ext>
            </a:extLst>
          </p:cNvPr>
          <p:cNvSpPr txBox="1"/>
          <p:nvPr/>
        </p:nvSpPr>
        <p:spPr>
          <a:xfrm>
            <a:off x="1632537" y="2107235"/>
            <a:ext cx="9094731" cy="2678747"/>
          </a:xfrm>
          <a:prstGeom prst="rect">
            <a:avLst/>
          </a:prstGeom>
          <a:noFill/>
        </p:spPr>
        <p:txBody>
          <a:bodyPr wrap="square">
            <a:spAutoFit/>
          </a:bodyPr>
          <a:lstStyle/>
          <a:p>
            <a:pPr lvl="0" algn="ctr">
              <a:lnSpc>
                <a:spcPct val="150000"/>
              </a:lnSpc>
              <a:spcBef>
                <a:spcPts val="600"/>
              </a:spcBef>
              <a:spcAft>
                <a:spcPts val="1200"/>
              </a:spcAft>
            </a:pPr>
            <a:r>
              <a:rPr lang="en-AU" sz="3200" dirty="0">
                <a:latin typeface="Arial" panose="020B0604020202020204" pitchFamily="34" charset="0"/>
                <a:cs typeface="Arial" panose="020B0604020202020204" pitchFamily="34" charset="0"/>
              </a:rPr>
              <a:t>Ella had </a:t>
            </a:r>
            <a:r>
              <a:rPr lang="en-AU" sz="3200" b="1" dirty="0">
                <a:latin typeface="Arial" panose="020B0604020202020204" pitchFamily="34" charset="0"/>
                <a:cs typeface="Arial" panose="020B0604020202020204" pitchFamily="34" charset="0"/>
              </a:rPr>
              <a:t>15 </a:t>
            </a:r>
            <a:r>
              <a:rPr lang="en-AU" sz="3200" dirty="0">
                <a:latin typeface="Arial" panose="020B0604020202020204" pitchFamily="34" charset="0"/>
                <a:cs typeface="Arial" panose="020B0604020202020204" pitchFamily="34" charset="0"/>
              </a:rPr>
              <a:t>marbles. </a:t>
            </a:r>
          </a:p>
          <a:p>
            <a:pPr lvl="0" algn="ctr">
              <a:lnSpc>
                <a:spcPct val="150000"/>
              </a:lnSpc>
              <a:spcBef>
                <a:spcPts val="600"/>
              </a:spcBef>
              <a:spcAft>
                <a:spcPts val="1200"/>
              </a:spcAft>
            </a:pPr>
            <a:r>
              <a:rPr lang="en-AU" sz="3200" dirty="0">
                <a:latin typeface="Arial" panose="020B0604020202020204" pitchFamily="34" charset="0"/>
                <a:cs typeface="Arial" panose="020B0604020202020204" pitchFamily="34" charset="0"/>
              </a:rPr>
              <a:t>She was given </a:t>
            </a:r>
            <a:r>
              <a:rPr lang="en-AU" sz="3200" b="1" dirty="0">
                <a:latin typeface="Arial" panose="020B0604020202020204" pitchFamily="34" charset="0"/>
                <a:cs typeface="Arial" panose="020B0604020202020204" pitchFamily="34" charset="0"/>
              </a:rPr>
              <a:t>24 new ones</a:t>
            </a:r>
            <a:r>
              <a:rPr lang="en-AU" sz="3200" dirty="0">
                <a:latin typeface="Arial" panose="020B0604020202020204" pitchFamily="34" charset="0"/>
                <a:cs typeface="Arial" panose="020B0604020202020204" pitchFamily="34" charset="0"/>
              </a:rPr>
              <a:t> for her birthday.</a:t>
            </a:r>
          </a:p>
          <a:p>
            <a:pPr lvl="0" algn="ctr">
              <a:lnSpc>
                <a:spcPct val="150000"/>
              </a:lnSpc>
              <a:spcBef>
                <a:spcPts val="600"/>
              </a:spcBef>
              <a:spcAft>
                <a:spcPts val="1200"/>
              </a:spcAft>
            </a:pPr>
            <a:r>
              <a:rPr lang="en-AU" sz="3200" dirty="0">
                <a:latin typeface="Arial" panose="020B0604020202020204" pitchFamily="34" charset="0"/>
                <a:cs typeface="Arial" panose="020B0604020202020204" pitchFamily="34" charset="0"/>
              </a:rPr>
              <a:t> </a:t>
            </a:r>
            <a:r>
              <a:rPr lang="en-AU" sz="3200" b="1" dirty="0">
                <a:latin typeface="Arial" panose="020B0604020202020204" pitchFamily="34" charset="0"/>
                <a:cs typeface="Arial" panose="020B0604020202020204" pitchFamily="34" charset="0"/>
              </a:rPr>
              <a:t>How many </a:t>
            </a:r>
            <a:r>
              <a:rPr lang="en-AU" sz="3200" dirty="0">
                <a:latin typeface="Arial" panose="020B0604020202020204" pitchFamily="34" charset="0"/>
                <a:cs typeface="Arial" panose="020B0604020202020204" pitchFamily="34" charset="0"/>
              </a:rPr>
              <a:t>marbles does Ella have now?</a:t>
            </a: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83B07-3152-A6E4-C76D-725FB058E35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A7C3D86-FC1D-6727-9AD1-D7A957EC7B12}"/>
              </a:ext>
            </a:extLst>
          </p:cNvPr>
          <p:cNvSpPr>
            <a:spLocks noGrp="1"/>
          </p:cNvSpPr>
          <p:nvPr>
            <p:ph type="title"/>
          </p:nvPr>
        </p:nvSpPr>
        <p:spPr>
          <a:xfrm>
            <a:off x="360000" y="360000"/>
            <a:ext cx="10367268" cy="545601"/>
          </a:xfrm>
        </p:spPr>
        <p:txBody>
          <a:bodyPr/>
          <a:lstStyle/>
          <a:p>
            <a:r>
              <a:rPr lang="en-AU" dirty="0"/>
              <a:t>Activity 8 – using inverse operations to solve problems (2)</a:t>
            </a:r>
            <a:endParaRPr lang="en-AU" dirty="0">
              <a:solidFill>
                <a:schemeClr val="bg1"/>
              </a:solidFill>
            </a:endParaRPr>
          </a:p>
        </p:txBody>
      </p:sp>
      <p:pic>
        <p:nvPicPr>
          <p:cNvPr id="4" name="Picture 3">
            <a:extLst>
              <a:ext uri="{FF2B5EF4-FFF2-40B4-BE49-F238E27FC236}">
                <a16:creationId xmlns:a16="http://schemas.microsoft.com/office/drawing/2014/main" id="{20B13A8D-FFF3-6955-C261-200514C366E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4C9573A-200B-9E8F-6731-68C21D42AED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5" name="TextBox 4">
            <a:extLst>
              <a:ext uri="{FF2B5EF4-FFF2-40B4-BE49-F238E27FC236}">
                <a16:creationId xmlns:a16="http://schemas.microsoft.com/office/drawing/2014/main" id="{55DD5C6E-5D19-8A2B-4B94-B59BB1262432}"/>
              </a:ext>
            </a:extLst>
          </p:cNvPr>
          <p:cNvSpPr txBox="1"/>
          <p:nvPr/>
        </p:nvSpPr>
        <p:spPr>
          <a:xfrm>
            <a:off x="1674870" y="2174968"/>
            <a:ext cx="9094731" cy="2447914"/>
          </a:xfrm>
          <a:prstGeom prst="rect">
            <a:avLst/>
          </a:prstGeom>
          <a:noFill/>
        </p:spPr>
        <p:txBody>
          <a:bodyPr wrap="square">
            <a:spAutoFit/>
          </a:bodyPr>
          <a:lstStyle/>
          <a:p>
            <a:pPr algn="ctr">
              <a:lnSpc>
                <a:spcPct val="150000"/>
              </a:lnSpc>
              <a:spcBef>
                <a:spcPts val="600"/>
              </a:spcBef>
              <a:spcAft>
                <a:spcPts val="1200"/>
              </a:spcAft>
            </a:pPr>
            <a:r>
              <a:rPr lang="en-AU" sz="3200" dirty="0">
                <a:latin typeface="Arial" panose="020B0604020202020204" pitchFamily="34" charset="0"/>
                <a:cs typeface="Arial" panose="020B0604020202020204" pitchFamily="34" charset="0"/>
              </a:rPr>
              <a:t>Ella had</a:t>
            </a:r>
            <a:r>
              <a:rPr lang="en-AU" sz="3200" b="1" dirty="0">
                <a:latin typeface="Arial" panose="020B0604020202020204" pitchFamily="34" charset="0"/>
                <a:cs typeface="Arial" panose="020B0604020202020204" pitchFamily="34" charset="0"/>
              </a:rPr>
              <a:t> 39 </a:t>
            </a:r>
            <a:r>
              <a:rPr lang="en-AU" sz="3200" dirty="0">
                <a:latin typeface="Arial" panose="020B0604020202020204" pitchFamily="34" charset="0"/>
                <a:cs typeface="Arial" panose="020B0604020202020204" pitchFamily="34" charset="0"/>
              </a:rPr>
              <a:t>marbles and </a:t>
            </a:r>
            <a:r>
              <a:rPr lang="en-AU" sz="3200" b="1" dirty="0">
                <a:latin typeface="Arial" panose="020B0604020202020204" pitchFamily="34" charset="0"/>
                <a:cs typeface="Arial" panose="020B0604020202020204" pitchFamily="34" charset="0"/>
              </a:rPr>
              <a:t>lost</a:t>
            </a:r>
            <a:r>
              <a:rPr lang="en-AU" sz="3200" dirty="0">
                <a:latin typeface="Arial" panose="020B0604020202020204" pitchFamily="34" charset="0"/>
                <a:cs typeface="Arial" panose="020B0604020202020204" pitchFamily="34" charset="0"/>
              </a:rPr>
              <a:t> </a:t>
            </a:r>
            <a:r>
              <a:rPr lang="en-AU" sz="3200" b="1" dirty="0">
                <a:latin typeface="Arial" panose="020B0604020202020204" pitchFamily="34" charset="0"/>
                <a:cs typeface="Arial" panose="020B0604020202020204" pitchFamily="34" charset="0"/>
              </a:rPr>
              <a:t>15</a:t>
            </a:r>
            <a:r>
              <a:rPr lang="en-AU" sz="3200" dirty="0">
                <a:latin typeface="Arial" panose="020B0604020202020204" pitchFamily="34" charset="0"/>
                <a:cs typeface="Arial" panose="020B0604020202020204" pitchFamily="34" charset="0"/>
              </a:rPr>
              <a:t> in the playground. </a:t>
            </a:r>
          </a:p>
          <a:p>
            <a:pPr algn="ctr">
              <a:lnSpc>
                <a:spcPct val="150000"/>
              </a:lnSpc>
              <a:spcBef>
                <a:spcPts val="600"/>
              </a:spcBef>
              <a:spcAft>
                <a:spcPts val="1200"/>
              </a:spcAft>
            </a:pPr>
            <a:r>
              <a:rPr lang="en-AU" sz="3200" b="1" dirty="0">
                <a:latin typeface="Arial" panose="020B0604020202020204" pitchFamily="34" charset="0"/>
                <a:cs typeface="Arial" panose="020B0604020202020204" pitchFamily="34" charset="0"/>
              </a:rPr>
              <a:t>How many </a:t>
            </a:r>
            <a:r>
              <a:rPr lang="en-AU" sz="3200" dirty="0">
                <a:latin typeface="Arial" panose="020B0604020202020204" pitchFamily="34" charset="0"/>
                <a:cs typeface="Arial" panose="020B0604020202020204" pitchFamily="34" charset="0"/>
              </a:rPr>
              <a:t>marbles does Ella have now?</a:t>
            </a:r>
          </a:p>
        </p:txBody>
      </p:sp>
    </p:spTree>
    <p:extLst>
      <p:ext uri="{BB962C8B-B14F-4D97-AF65-F5344CB8AC3E}">
        <p14:creationId xmlns:p14="http://schemas.microsoft.com/office/powerpoint/2010/main" val="3821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dirty="0">
                <a:cs typeface="Arial"/>
              </a:rPr>
              <a:t>Mathematics K–10 Syllabus © NSW Education Standards Authority (NESA) for and on behalf of the Crown in right of the State of New South Wales, 2022.</a:t>
            </a:r>
          </a:p>
          <a:p>
            <a:r>
              <a:rPr lang="en-AU" dirty="0">
                <a:cs typeface="Arial"/>
              </a:rPr>
              <a:t>Math for Love (2015) ‘Target number’, Lesson, Math for Love website, accessed 10 August 2023.</a:t>
            </a:r>
          </a:p>
          <a:p>
            <a:r>
              <a:rPr lang="en-AU" dirty="0">
                <a:cs typeface="Arial"/>
              </a:rPr>
              <a:t>State of New South Wales (Department of Education) (2023) Closest to 100, Department of Education website, accessed 10 August 2023.</a:t>
            </a:r>
          </a:p>
          <a:p>
            <a:r>
              <a:rPr lang="en-AU" dirty="0">
                <a:cs typeface="Arial"/>
              </a:rPr>
              <a:t>Van de Walle J, Karp K, Bay-Williams JM, Brass A, Bentley B, Ferguson S, Goff W, Livy S, Marshman M, Martin D, Pearn C, </a:t>
            </a:r>
            <a:r>
              <a:rPr lang="en-AU" dirty="0" err="1">
                <a:cs typeface="Arial"/>
              </a:rPr>
              <a:t>Prodromou</a:t>
            </a:r>
            <a:r>
              <a:rPr lang="en-AU" dirty="0">
                <a:cs typeface="Arial"/>
              </a:rPr>
              <a:t> T, Symons D and Wilkie K (2024) Primary and Middle Years Mathematics: Teaching Developmentally, 2nd Australian </a:t>
            </a:r>
            <a:r>
              <a:rPr lang="en-AU" dirty="0" err="1">
                <a:cs typeface="Arial"/>
              </a:rPr>
              <a:t>edn</a:t>
            </a:r>
            <a:r>
              <a:rPr lang="en-AU" dirty="0">
                <a:cs typeface="Arial"/>
              </a:rPr>
              <a:t>, Pearson Education Australia, Melbourne.</a:t>
            </a:r>
            <a:endParaRPr lang="en-AU"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66</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555570-2BD4-426B-AA32-0A79CB6508A8}">
  <ds:schemaRefs>
    <ds:schemaRef ds:uri="http://purl.org/dc/dcmitype/"/>
    <ds:schemaRef ds:uri="http://schemas.microsoft.com/office/2006/metadata/properties"/>
    <ds:schemaRef ds:uri="http://purl.org/dc/elements/1.1/"/>
    <ds:schemaRef ds:uri="http://purl.org/dc/terms/"/>
    <ds:schemaRef ds:uri="http://schemas.microsoft.com/office/infopath/2007/PartnerControls"/>
    <ds:schemaRef ds:uri="http://schemas.microsoft.com/office/2006/documentManagement/types"/>
    <ds:schemaRef ds:uri="7e763d47-3c66-4c58-9425-1477fd3ccd1e"/>
    <ds:schemaRef ds:uri="http://schemas.openxmlformats.org/package/2006/metadata/core-properties"/>
    <ds:schemaRef ds:uri="60129b06-f64b-40a8-96e2-c5b2f86112b1"/>
    <ds:schemaRef ds:uri="http://www.w3.org/XML/1998/namespace"/>
  </ds:schemaRefs>
</ds:datastoreItem>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A119566C-BCD4-419C-97C2-7156E814E5F5}"/>
</file>

<file path=docProps/app.xml><?xml version="1.0" encoding="utf-8"?>
<Properties xmlns="http://schemas.openxmlformats.org/officeDocument/2006/extended-properties" xmlns:vt="http://schemas.openxmlformats.org/officeDocument/2006/docPropsVTypes">
  <Template>Review of learning template (1)</Template>
  <TotalTime>3919</TotalTime>
  <Words>6343</Words>
  <Application>Microsoft Office PowerPoint</Application>
  <PresentationFormat>Widescreen</PresentationFormat>
  <Paragraphs>810</Paragraphs>
  <Slides>67</Slides>
  <Notes>67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67</vt:i4>
      </vt:variant>
    </vt:vector>
  </HeadingPairs>
  <TitlesOfParts>
    <vt:vector size="79" baseType="lpstr">
      <vt:lpstr>Public Sans Light</vt:lpstr>
      <vt:lpstr>Arial</vt:lpstr>
      <vt:lpstr>Times New Roman</vt:lpstr>
      <vt:lpstr>Calibri</vt:lpstr>
      <vt:lpstr>Edu NSW ACT Foundation</vt:lpstr>
      <vt:lpstr>Cambria Math</vt:lpstr>
      <vt:lpstr>Public Sans</vt:lpstr>
      <vt:lpstr>Wingdings</vt:lpstr>
      <vt:lpstr>Montserrat</vt:lpstr>
      <vt:lpstr>Courier New</vt:lpstr>
      <vt:lpstr>Aptos Narrow</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fractions on a number line</vt:lpstr>
      <vt:lpstr>Review of learning 2</vt:lpstr>
      <vt:lpstr>True or false (1)</vt:lpstr>
      <vt:lpstr>Short response (5)</vt:lpstr>
      <vt:lpstr>Short response (6)</vt:lpstr>
      <vt:lpstr>Short response (7)</vt:lpstr>
      <vt:lpstr>Short response (8)</vt:lpstr>
      <vt:lpstr>Activity 2 – complementary fractions</vt:lpstr>
      <vt:lpstr>Review of learning 3</vt:lpstr>
      <vt:lpstr>Multiple choice (2)</vt:lpstr>
      <vt:lpstr>Short response (9)</vt:lpstr>
      <vt:lpstr>Short response (10)</vt:lpstr>
      <vt:lpstr>Short response (11)</vt:lpstr>
      <vt:lpstr>Short response (12)</vt:lpstr>
      <vt:lpstr>Activity 3 – recreate the whole</vt:lpstr>
      <vt:lpstr>Review of learning 4</vt:lpstr>
      <vt:lpstr>True or false (2)</vt:lpstr>
      <vt:lpstr>Short response (13)</vt:lpstr>
      <vt:lpstr>Short response (14)</vt:lpstr>
      <vt:lpstr>Short response (15)</vt:lpstr>
      <vt:lpstr>Short response (16)</vt:lpstr>
      <vt:lpstr>Activity 4 – recreate the whole 2</vt:lpstr>
      <vt:lpstr>Review of learning 5</vt:lpstr>
      <vt:lpstr>Multiple choice (3)</vt:lpstr>
      <vt:lpstr>Short response (17)</vt:lpstr>
      <vt:lpstr>Short response (18)</vt:lpstr>
      <vt:lpstr>Short response (19)</vt:lpstr>
      <vt:lpstr>Short response (20)</vt:lpstr>
      <vt:lpstr>Activity 5 – relating addition and subtraction</vt:lpstr>
      <vt:lpstr>Review of learning 6</vt:lpstr>
      <vt:lpstr>True or false (3)</vt:lpstr>
      <vt:lpstr>Short response (21)</vt:lpstr>
      <vt:lpstr>Short response (22)</vt:lpstr>
      <vt:lpstr>Short response (23)</vt:lpstr>
      <vt:lpstr>Short response (24)</vt:lpstr>
      <vt:lpstr>Activity 6 – complement principle of addition and subtraction (1)</vt:lpstr>
      <vt:lpstr>Review of learning 7</vt:lpstr>
      <vt:lpstr>Multiple choice (4)</vt:lpstr>
      <vt:lpstr>Short response (25)</vt:lpstr>
      <vt:lpstr>Short response (26)</vt:lpstr>
      <vt:lpstr>Short response (27)</vt:lpstr>
      <vt:lpstr>Short response (28)</vt:lpstr>
      <vt:lpstr>Activity 7 – addition and subtraction as inverse operations (1)</vt:lpstr>
      <vt:lpstr>Review of learning 8</vt:lpstr>
      <vt:lpstr>True or false (4)</vt:lpstr>
      <vt:lpstr>Short response (29)</vt:lpstr>
      <vt:lpstr>Short response (30)</vt:lpstr>
      <vt:lpstr>Short response (31)</vt:lpstr>
      <vt:lpstr>Short response (32)</vt:lpstr>
      <vt:lpstr>Activity 8 – using inverse operations to solve problems (1)</vt:lpstr>
      <vt:lpstr>Activity 8 – using inverse operations to solve problems (2)</vt:lpstr>
      <vt:lpstr>Double Venn diagram</vt:lpstr>
      <vt:lpstr>Frayer</vt:lpstr>
      <vt:lpstr>Spider map</vt:lpstr>
      <vt:lpstr>Cline</vt:lpstr>
      <vt:lpstr>Compare and contrast</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7</cp:revision>
  <dcterms:created xsi:type="dcterms:W3CDTF">2025-10-28T21:34:25Z</dcterms:created>
  <dcterms:modified xsi:type="dcterms:W3CDTF">2026-03-23T20:33:14Z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