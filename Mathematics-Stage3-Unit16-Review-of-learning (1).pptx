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3"/>
  </p:notesMasterIdLst>
  <p:handoutMasterIdLst>
    <p:handoutMasterId r:id="rId74"/>
  </p:handoutMasterIdLst>
  <p:sldIdLst>
    <p:sldId id="26511" r:id="rId5"/>
    <p:sldId id="26505" r:id="rId6"/>
    <p:sldId id="26359" r:id="rId7"/>
    <p:sldId id="271" r:id="rId8"/>
    <p:sldId id="26510" r:id="rId9"/>
    <p:sldId id="26508" r:id="rId10"/>
    <p:sldId id="26524" r:id="rId11"/>
    <p:sldId id="26525" r:id="rId12"/>
    <p:sldId id="26519" r:id="rId13"/>
    <p:sldId id="26522" r:id="rId14"/>
    <p:sldId id="26512" r:id="rId15"/>
    <p:sldId id="26509" r:id="rId16"/>
    <p:sldId id="26523" r:id="rId17"/>
    <p:sldId id="26529" r:id="rId18"/>
    <p:sldId id="26530" r:id="rId19"/>
    <p:sldId id="26531" r:id="rId20"/>
    <p:sldId id="26532" r:id="rId21"/>
    <p:sldId id="26513" r:id="rId22"/>
    <p:sldId id="26534" r:id="rId23"/>
    <p:sldId id="26535" r:id="rId24"/>
    <p:sldId id="26528" r:id="rId25"/>
    <p:sldId id="26537" r:id="rId26"/>
    <p:sldId id="26536" r:id="rId27"/>
    <p:sldId id="26571" r:id="rId28"/>
    <p:sldId id="26514" r:id="rId29"/>
    <p:sldId id="26539" r:id="rId30"/>
    <p:sldId id="26540" r:id="rId31"/>
    <p:sldId id="26577" r:id="rId32"/>
    <p:sldId id="26542" r:id="rId33"/>
    <p:sldId id="26543" r:id="rId34"/>
    <p:sldId id="26572" r:id="rId35"/>
    <p:sldId id="26515" r:id="rId36"/>
    <p:sldId id="26507" r:id="rId37"/>
    <p:sldId id="26546" r:id="rId38"/>
    <p:sldId id="26547" r:id="rId39"/>
    <p:sldId id="26548" r:id="rId40"/>
    <p:sldId id="26549" r:id="rId41"/>
    <p:sldId id="26573" r:id="rId42"/>
    <p:sldId id="26516" r:id="rId43"/>
    <p:sldId id="26550" r:id="rId44"/>
    <p:sldId id="26553" r:id="rId45"/>
    <p:sldId id="26554" r:id="rId46"/>
    <p:sldId id="26555" r:id="rId47"/>
    <p:sldId id="26556" r:id="rId48"/>
    <p:sldId id="26574" r:id="rId49"/>
    <p:sldId id="26517" r:id="rId50"/>
    <p:sldId id="26559" r:id="rId51"/>
    <p:sldId id="26560" r:id="rId52"/>
    <p:sldId id="26561" r:id="rId53"/>
    <p:sldId id="26562" r:id="rId54"/>
    <p:sldId id="26563" r:id="rId55"/>
    <p:sldId id="26578" r:id="rId56"/>
    <p:sldId id="26518" r:id="rId57"/>
    <p:sldId id="26564" r:id="rId58"/>
    <p:sldId id="26565" r:id="rId59"/>
    <p:sldId id="26567" r:id="rId60"/>
    <p:sldId id="26566" r:id="rId61"/>
    <p:sldId id="26580" r:id="rId62"/>
    <p:sldId id="26576" r:id="rId63"/>
    <p:sldId id="26393" r:id="rId64"/>
    <p:sldId id="26387" r:id="rId65"/>
    <p:sldId id="26395" r:id="rId66"/>
    <p:sldId id="26391" r:id="rId67"/>
    <p:sldId id="26402" r:id="rId68"/>
    <p:sldId id="26527" r:id="rId69"/>
    <p:sldId id="26545" r:id="rId70"/>
    <p:sldId id="26569" r:id="rId71"/>
    <p:sldId id="361" r:id="rId72"/>
  </p:sldIdLst>
  <p:sldSz cx="12192000" cy="6858000"/>
  <p:notesSz cx="6858000" cy="9144000"/>
  <p:embeddedFontLst>
    <p:embeddedFont>
      <p:font typeface="Cambria Math" panose="02040503050406030204" pitchFamily="18" charset="0"/>
      <p:regular r:id="rId75"/>
    </p:embeddedFont>
    <p:embeddedFont>
      <p:font typeface="DengXian" panose="02010600030101010101" pitchFamily="2" charset="-122"/>
      <p:regular r:id="rId76"/>
      <p:bold r:id="rId77"/>
    </p:embeddedFont>
    <p:embeddedFont>
      <p:font typeface="Foundation Handwriting" panose="020B0604020202020204" charset="0"/>
      <p:regular r:id="rId78"/>
    </p:embeddedFont>
    <p:embeddedFont>
      <p:font typeface="Montserrat" panose="00000500000000000000" pitchFamily="2" charset="0"/>
      <p:regular r:id="rId79"/>
      <p:bold r:id="rId80"/>
      <p:italic r:id="rId81"/>
      <p:boldItalic r:id="rId82"/>
    </p:embeddedFont>
    <p:embeddedFont>
      <p:font typeface="Public Sans" pitchFamily="2" charset="0"/>
      <p:regular r:id="rId83"/>
      <p:bold r:id="rId84"/>
      <p:italic r:id="rId85"/>
      <p:boldItalic r:id="rId86"/>
    </p:embeddedFont>
    <p:embeddedFont>
      <p:font typeface="Public Sans Light" pitchFamily="2" charset="0"/>
      <p:regular r:id="rId87"/>
      <p:italic r:id="rId88"/>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26511"/>
          </p14:sldIdLst>
        </p14:section>
        <p14:section name="Slide templates" id="{D5A8010D-981F-43AA-A0D6-182EC53CAA84}">
          <p14:sldIdLst>
            <p14:sldId id="26505"/>
            <p14:sldId id="26359"/>
            <p14:sldId id="271"/>
            <p14:sldId id="26510"/>
            <p14:sldId id="26508"/>
            <p14:sldId id="26524"/>
            <p14:sldId id="26525"/>
            <p14:sldId id="26519"/>
            <p14:sldId id="26522"/>
            <p14:sldId id="26512"/>
            <p14:sldId id="26509"/>
            <p14:sldId id="26523"/>
            <p14:sldId id="26529"/>
            <p14:sldId id="26530"/>
            <p14:sldId id="26531"/>
            <p14:sldId id="26532"/>
            <p14:sldId id="26513"/>
            <p14:sldId id="26534"/>
            <p14:sldId id="26535"/>
            <p14:sldId id="26528"/>
            <p14:sldId id="26537"/>
            <p14:sldId id="26536"/>
            <p14:sldId id="26571"/>
            <p14:sldId id="26514"/>
            <p14:sldId id="26539"/>
            <p14:sldId id="26540"/>
            <p14:sldId id="26577"/>
            <p14:sldId id="26542"/>
            <p14:sldId id="26543"/>
            <p14:sldId id="26572"/>
            <p14:sldId id="26515"/>
            <p14:sldId id="26507"/>
            <p14:sldId id="26546"/>
            <p14:sldId id="26547"/>
            <p14:sldId id="26548"/>
            <p14:sldId id="26549"/>
            <p14:sldId id="26573"/>
            <p14:sldId id="26516"/>
            <p14:sldId id="26550"/>
            <p14:sldId id="26553"/>
            <p14:sldId id="26554"/>
            <p14:sldId id="26555"/>
            <p14:sldId id="26556"/>
            <p14:sldId id="26574"/>
            <p14:sldId id="26517"/>
            <p14:sldId id="26559"/>
            <p14:sldId id="26560"/>
            <p14:sldId id="26561"/>
            <p14:sldId id="26562"/>
            <p14:sldId id="26563"/>
            <p14:sldId id="26578"/>
            <p14:sldId id="26518"/>
            <p14:sldId id="26564"/>
            <p14:sldId id="26565"/>
            <p14:sldId id="26567"/>
            <p14:sldId id="26566"/>
            <p14:sldId id="26580"/>
            <p14:sldId id="26576"/>
          </p14:sldIdLst>
        </p14:section>
        <p14:section name="Assests for teacher to create own reviews" id="{46FBAD15-4788-4371-AF95-4B1834E0ACDE}">
          <p14:sldIdLst>
            <p14:sldId id="26393"/>
            <p14:sldId id="26387"/>
            <p14:sldId id="26395"/>
            <p14:sldId id="26391"/>
            <p14:sldId id="26402"/>
            <p14:sldId id="26527"/>
            <p14:sldId id="26545"/>
          </p14:sldIdLst>
        </p14:section>
        <p14:section name="References &amp; copyright" id="{DBC31484-F5F8-4CB1-8DB4-A562A9780899}">
          <p14:sldIdLst>
            <p14:sldId id="26569"/>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76652228-BA2A-8E0F-B69D-752F252CA8C9}" name="Carolyn Matthews" initials="CM" userId="S::Carolyn.Matthews2@det.nsw.edu.au::7f53049a-bf0f-477a-aa49-60e3a8d71d98" providerId="AD"/>
  <p188:author id="{5C30132E-288C-53FD-93C9-9EB835F45213}" name="Nichole Wood" initials="" userId="S::NICHOLE.DEMPSEY@det.nsw.edu.au::f4dd199f-85d5-4f2b-8bc1-8ba23649a9c2" providerId="AD"/>
  <p188:author id="{38A50444-57C2-0ED5-4EF0-B001B3687B58}" name="Nadia Walker" initials="NW" userId="S::Nadia.Walker2@det.nsw.edu.au::1d1c495c-8f87-451e-994f-64d576866b6d" providerId="AD"/>
  <p188:author id="{1ED6684A-C670-1F56-1E53-1B296B435328}" name="Evelyn Plunkett" initials="EP" userId="S::EVELYN.LORENZ@det.nsw.edu.au::563cb6cc-61b5-4fff-a76a-5068b5b827dd" providerId="AD"/>
  <p188:author id="{117A025F-CECB-7403-D4EE-15F295013070}" name="Carolyn Matthews" initials="CM" userId="S::carolyn.matthews2@det.nsw.edu.au::7f53049a-bf0f-477a-aa49-60e3a8d71d98" providerId="AD"/>
  <p188:author id="{95D16B7D-CADB-F2BF-AC29-D680545C75EE}" name="Carrie Webeck" initials="CW" userId="S::CARRIE-ANN.WEBECK@det.nsw.edu.au::e5c4b697-ca15-4f3a-a906-1289ddc2fc07" providerId="AD"/>
  <p188:author id="{3FDA68B6-B52B-FE76-39D1-E268A1C28951}" name="Phil HOLLINS (Phil Hollins)" initials="PH" userId="S::philip.hollins@det.nsw.edu.au::2b9063ba-35fe-4c7f-aa4d-5bf1098ac266" providerId="AD"/>
  <p188:author id="{D9FAB2E2-FCDC-C762-1ECD-0FBBF02124FD}" name="Annette Price" initials="AP" userId="S::Annette.Price4@det.nsw.edu.au::c1f433aa-1df1-446c-8140-9fd9ba3c3a08"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6CFD"/>
    <a:srgbClr val="000000"/>
    <a:srgbClr val="FFFFFF"/>
    <a:srgbClr val="002664"/>
    <a:srgbClr val="EA9B0C"/>
    <a:srgbClr val="007A8A"/>
    <a:srgbClr val="9B6808"/>
    <a:srgbClr val="427B2D"/>
    <a:srgbClr val="B51458"/>
    <a:srgbClr val="00AC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FD2E98-8E8D-D51D-47D0-62D3C1B98261}" v="57" dt="2025-08-02T23:40:12.552"/>
    <p1510:client id="{50A71609-B13F-47CF-BEB6-4D1DA63FDD15}" v="4" dt="2025-08-02T03:45:18.875"/>
    <p1510:client id="{A37CBD79-6EF0-0F21-277F-C724EA29165E}" v="28" dt="2025-08-02T03:39:52.200"/>
    <p1510:client id="{D508E1AA-39CF-4BCF-B2FD-6D6CB77A7CAD}" v="35" dt="2025-08-02T09:27:01.466"/>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4052" autoAdjust="0"/>
  </p:normalViewPr>
  <p:slideViewPr>
    <p:cSldViewPr snapToGrid="0">
      <p:cViewPr varScale="1">
        <p:scale>
          <a:sx n="62" d="100"/>
          <a:sy n="62" d="100"/>
        </p:scale>
        <p:origin x="1372" y="48"/>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10.fntdata"/><Relationship Id="rId89" Type="http://schemas.openxmlformats.org/officeDocument/2006/relationships/presProps" Target="pres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handoutMaster" Target="handoutMasters/handoutMaster1.xml"/><Relationship Id="rId79" Type="http://schemas.openxmlformats.org/officeDocument/2006/relationships/font" Target="fonts/font5.fntdata"/><Relationship Id="rId5" Type="http://schemas.openxmlformats.org/officeDocument/2006/relationships/slide" Target="slides/slide1.xml"/><Relationship Id="rId90" Type="http://schemas.openxmlformats.org/officeDocument/2006/relationships/viewProps" Target="view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6.fntdata"/><Relationship Id="rId85" Type="http://schemas.openxmlformats.org/officeDocument/2006/relationships/font" Target="fonts/font11.fntdata"/><Relationship Id="rId93"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font" Target="fonts/font1.fntdata"/><Relationship Id="rId83" Type="http://schemas.openxmlformats.org/officeDocument/2006/relationships/font" Target="fonts/font9.fntdata"/><Relationship Id="rId88" Type="http://schemas.openxmlformats.org/officeDocument/2006/relationships/font" Target="fonts/font14.fntdata"/><Relationship Id="rId9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notesMaster" Target="notesMasters/notesMaster1.xml"/><Relationship Id="rId78" Type="http://schemas.openxmlformats.org/officeDocument/2006/relationships/font" Target="fonts/font4.fntdata"/><Relationship Id="rId81" Type="http://schemas.openxmlformats.org/officeDocument/2006/relationships/font" Target="fonts/font7.fntdata"/><Relationship Id="rId86" Type="http://schemas.openxmlformats.org/officeDocument/2006/relationships/font" Target="fonts/font12.fntdata"/><Relationship Id="rId9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2.fntdata"/><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ableStyles" Target="tableStyle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3.fntdata"/><Relationship Id="rId61" Type="http://schemas.openxmlformats.org/officeDocument/2006/relationships/slide" Target="slides/slide57.xml"/><Relationship Id="rId82" Type="http://schemas.openxmlformats.org/officeDocument/2006/relationships/font" Target="fonts/font8.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3.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4/08/2025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4/08/2025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0F47E-49F3-DD1B-1A0A-38A6D0812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B8ADF-60E4-27C7-0C36-E3204D3FCC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808E0A-EAFF-A0D8-E1DD-8375ACF6E114}"/>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C7E6993-B6BD-36B1-495F-27B66DCA6C6C}"/>
              </a:ext>
            </a:extLst>
          </p:cNvPr>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2053636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latin typeface="Arial"/>
                <a:cs typeface="Arial"/>
              </a:rPr>
              <a:t>Reviews may include a combination of question types, requiring students to recall facts and key ideas, as well as apply their knowledge to solve problems and answer questions. To support active engagement, a mix of techniques should be employed.” (AERO, 2024).</a:t>
            </a:r>
            <a:endParaRPr lang="en-US">
              <a:solidFill>
                <a:srgbClr val="444444"/>
              </a:solidFill>
              <a:latin typeface="Arial"/>
              <a:cs typeface="Arial"/>
            </a:endParaRPr>
          </a:p>
          <a:p>
            <a:endParaRPr lang="en-AU">
              <a:solidFill>
                <a:srgbClr val="000000"/>
              </a:solidFill>
            </a:endParaRPr>
          </a:p>
          <a:p>
            <a:r>
              <a:rPr lang="en-AU">
                <a:solidFill>
                  <a:srgbClr val="000000"/>
                </a:solidFill>
                <a:latin typeface="Arial"/>
                <a:cs typeface="Arial"/>
              </a:rPr>
              <a:t>This Review of Learning slide deck revisits key concepts from the following units:</a:t>
            </a:r>
            <a:endParaRPr lang="en-US">
              <a:solidFill>
                <a:srgbClr val="444444"/>
              </a:solidFill>
              <a:latin typeface="Arial"/>
              <a:cs typeface="Arial"/>
            </a:endParaRPr>
          </a:p>
          <a:p>
            <a:pPr marL="285750" indent="-285750">
              <a:buFont typeface="Arial,Sans-Serif"/>
              <a:buChar char="•"/>
            </a:pPr>
            <a:r>
              <a:rPr lang="en-AU">
                <a:solidFill>
                  <a:srgbClr val="000000"/>
                </a:solidFill>
                <a:latin typeface="Arial"/>
                <a:cs typeface="Arial"/>
              </a:rPr>
              <a:t>Stage 3 Year A Unit 16</a:t>
            </a:r>
            <a:endParaRPr lang="en-US">
              <a:solidFill>
                <a:srgbClr val="444444"/>
              </a:solidFill>
              <a:latin typeface="Arial"/>
              <a:cs typeface="Arial"/>
            </a:endParaRPr>
          </a:p>
          <a:p>
            <a:pPr marL="285750" indent="-285750">
              <a:buFont typeface="Arial,Sans-Serif"/>
              <a:buChar char="•"/>
            </a:pPr>
            <a:r>
              <a:rPr lang="en-AU">
                <a:solidFill>
                  <a:srgbClr val="000000"/>
                </a:solidFill>
                <a:latin typeface="Arial"/>
                <a:cs typeface="Arial"/>
              </a:rPr>
              <a:t>Stage 3 Year A Unit 15</a:t>
            </a:r>
            <a:endParaRPr lang="en-US">
              <a:solidFill>
                <a:srgbClr val="444444"/>
              </a:solidFill>
              <a:latin typeface="Arial"/>
              <a:cs typeface="Arial"/>
            </a:endParaRPr>
          </a:p>
          <a:p>
            <a:pPr marL="285750" indent="-285750">
              <a:buFont typeface="Arial,Sans-Serif"/>
              <a:buChar char="•"/>
            </a:pPr>
            <a:r>
              <a:rPr lang="en-AU">
                <a:solidFill>
                  <a:srgbClr val="000000"/>
                </a:solidFill>
                <a:latin typeface="Arial"/>
                <a:cs typeface="Arial"/>
              </a:rPr>
              <a:t>Stage 3 Year A Unit 14</a:t>
            </a:r>
            <a:endParaRPr lang="en-US">
              <a:solidFill>
                <a:srgbClr val="444444"/>
              </a:solidFill>
              <a:latin typeface="Arial"/>
              <a:cs typeface="Arial"/>
            </a:endParaRPr>
          </a:p>
          <a:p>
            <a:r>
              <a:rPr lang="en-AU">
                <a:solidFill>
                  <a:srgbClr val="000000"/>
                </a:solidFill>
                <a:latin typeface="Arial"/>
                <a:cs typeface="Arial"/>
              </a:rPr>
              <a:t>It also includes opportunities to review prior learning in non-number content, supporting consolidation across focus areas.</a:t>
            </a:r>
            <a:endParaRPr lang="en-US">
              <a:solidFill>
                <a:srgbClr val="444444"/>
              </a:solidFill>
              <a:latin typeface="Arial"/>
              <a:cs typeface="Arial"/>
            </a:endParaRPr>
          </a:p>
          <a:p>
            <a:endParaRPr lang="en-AU">
              <a:solidFill>
                <a:srgbClr val="444444"/>
              </a:solidFill>
            </a:endParaRPr>
          </a:p>
          <a:p>
            <a:r>
              <a:rPr lang="en-AU">
                <a:latin typeface="Arial"/>
                <a:cs typeface="Arial"/>
              </a:rPr>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endParaRPr lang="en-US">
              <a:solidFill>
                <a:srgbClr val="444444"/>
              </a:solidFill>
              <a:latin typeface="Arial"/>
              <a:cs typeface="Arial"/>
            </a:endParaRPr>
          </a:p>
          <a:p>
            <a:endParaRPr lang="en-AU">
              <a:solidFill>
                <a:srgbClr val="444444"/>
              </a:solidFill>
            </a:endParaRPr>
          </a:p>
          <a:p>
            <a:pPr>
              <a:defRPr/>
            </a:pPr>
            <a:r>
              <a:rPr lang="en-AU">
                <a:solidFill>
                  <a:srgbClr val="444444"/>
                </a:solidFill>
                <a:latin typeface="Arial"/>
                <a:cs typeface="Arial"/>
              </a:rPr>
              <a:t>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b="1">
                <a:latin typeface="Arial"/>
                <a:cs typeface="Arial"/>
              </a:rPr>
              <a:t>Multiple-choice questions/True or false:</a:t>
            </a:r>
            <a:r>
              <a:rPr lang="en-AU">
                <a:latin typeface="Arial"/>
                <a:cs typeface="Arial"/>
              </a:rPr>
              <a:t> Designed to promote active retrieval of key concepts and identify common misconceptions in number, supporting consolidation, understanding and fluency.</a:t>
            </a:r>
            <a:br>
              <a:rPr lang="en-AU">
                <a:latin typeface="Arial"/>
                <a:cs typeface="Arial"/>
              </a:rPr>
            </a:br>
            <a:r>
              <a:rPr lang="en-AU" sz="1600" b="0" i="0">
                <a:solidFill>
                  <a:schemeClr val="tx1"/>
                </a:solidFill>
                <a:latin typeface="Arial"/>
                <a:cs typeface="Arial"/>
              </a:rPr>
              <a:t>These questions:</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a:buChar char="ü"/>
            </a:pPr>
            <a:r>
              <a:rPr lang="en-AU" sz="1600" b="0" i="0">
                <a:solidFill>
                  <a:schemeClr val="tx1"/>
                </a:solidFill>
                <a:latin typeface="Arial"/>
                <a:cs typeface="Arial"/>
              </a:rPr>
              <a:t>support spaced and interleaved practice</a:t>
            </a:r>
          </a:p>
          <a:p>
            <a:pPr marL="285750" indent="-285750" algn="l">
              <a:buFont typeface="Wingdings"/>
              <a:buChar char="ü"/>
            </a:pPr>
            <a:r>
              <a:rPr lang="en-AU" sz="1600" b="0" i="0">
                <a:solidFill>
                  <a:schemeClr val="tx1"/>
                </a:solidFill>
                <a:latin typeface="Arial"/>
                <a:cs typeface="Arial"/>
              </a:rPr>
              <a:t>help identify and address common misconceptions </a:t>
            </a:r>
          </a:p>
          <a:p>
            <a:pPr marL="285750" indent="-285750" algn="l">
              <a:buFont typeface="Wingdings"/>
              <a:buChar char="ü"/>
            </a:pPr>
            <a:r>
              <a:rPr lang="en-AU" sz="1600" b="0" i="0">
                <a:solidFill>
                  <a:schemeClr val="tx1"/>
                </a:solidFill>
                <a:latin typeface="Arial"/>
                <a:cs typeface="Arial"/>
              </a:rPr>
              <a:t>support active recall and immediate feedback</a:t>
            </a:r>
          </a:p>
          <a:p>
            <a:pPr marL="285750" indent="-285750" algn="l">
              <a:buFont typeface="Wingdings"/>
              <a:buChar char="ü"/>
            </a:pPr>
            <a:r>
              <a:rPr lang="en-AU" sz="1600" b="0" i="0">
                <a:solidFill>
                  <a:schemeClr val="tx1"/>
                </a:solidFill>
                <a:latin typeface="Arial"/>
                <a:cs typeface="Arial"/>
              </a:rPr>
              <a:t>support whole class participation</a:t>
            </a:r>
          </a:p>
          <a:p>
            <a:pPr marL="285750" indent="-285750">
              <a:buFont typeface="Wingdings"/>
              <a:buChar char="ü"/>
            </a:pPr>
            <a:r>
              <a:rPr lang="en-AU" sz="1600" b="0" i="0">
                <a:solidFill>
                  <a:schemeClr val="tx1"/>
                </a:solidFill>
                <a:latin typeface="Arial"/>
                <a:cs typeface="Arial"/>
              </a:rPr>
              <a:t>identify areas requiring reteach</a:t>
            </a:r>
            <a:endParaRPr lang="en-US">
              <a:solidFill>
                <a:srgbClr val="444444"/>
              </a:solidFill>
              <a:latin typeface="Arial"/>
              <a:cs typeface="Arial"/>
            </a:endParaRPr>
          </a:p>
          <a:p>
            <a:endParaRPr lang="en-AU">
              <a:latin typeface="Arial"/>
              <a:cs typeface="Arial"/>
            </a:endParaRPr>
          </a:p>
          <a:p>
            <a:pPr algn="l"/>
            <a:r>
              <a:rPr lang="en-AU">
                <a:latin typeface="Arial"/>
                <a:cs typeface="Arial"/>
              </a:rPr>
              <a:t>2.</a:t>
            </a:r>
            <a:br>
              <a:rPr lang="en-AU">
                <a:latin typeface="Arial"/>
                <a:cs typeface="Arial"/>
              </a:rPr>
            </a:br>
            <a:r>
              <a:rPr lang="en-AU" b="1">
                <a:latin typeface="Arial"/>
                <a:cs typeface="Arial"/>
              </a:rPr>
              <a:t>Short-response question sets:</a:t>
            </a:r>
            <a:r>
              <a:rPr lang="en-AU">
                <a:latin typeface="Arial"/>
                <a:cs typeface="Arial"/>
              </a:rPr>
              <a:t> Carefully grouped questions that encourage spaced and interleaved practice across multiple focus areas, helping students revisit and apply knowledge from different points in time.</a:t>
            </a:r>
            <a:br>
              <a:rPr lang="en-AU">
                <a:latin typeface="Arial"/>
                <a:cs typeface="Arial"/>
              </a:rPr>
            </a:br>
            <a:r>
              <a:rPr lang="en-AU" sz="1600" b="0" i="0">
                <a:solidFill>
                  <a:schemeClr val="tx1"/>
                </a:solidFill>
                <a:latin typeface="Arial"/>
                <a:cs typeface="Arial"/>
              </a:rPr>
              <a:t>These questions:</a:t>
            </a:r>
            <a:endParaRPr lang="en-US" sz="1600" b="0" i="0">
              <a:solidFill>
                <a:srgbClr val="444444"/>
              </a:solidFill>
              <a:latin typeface="Arial"/>
              <a:cs typeface="Arial"/>
            </a:endParaRPr>
          </a:p>
          <a:p>
            <a:pPr marL="0" indent="0" algn="l">
              <a:buFont typeface="Wingdings" panose="05000000000000000000" pitchFamily="2" charset="2"/>
              <a:buNone/>
            </a:pPr>
            <a:endParaRPr lang="en-AU" sz="1600" i="0"/>
          </a:p>
          <a:p>
            <a:pPr marL="285750" indent="-285750" algn="l">
              <a:buFont typeface="Wingdings"/>
              <a:buChar char="ü"/>
            </a:pPr>
            <a:r>
              <a:rPr lang="en-AU" sz="1600" i="0">
                <a:latin typeface="Arial"/>
                <a:cs typeface="Arial"/>
              </a:rPr>
              <a:t>have a combination of question types </a:t>
            </a:r>
          </a:p>
          <a:p>
            <a:pPr marL="285750" indent="-285750" algn="l">
              <a:buFont typeface="Wingdings"/>
              <a:buChar char="ü"/>
            </a:pPr>
            <a:r>
              <a:rPr lang="en-AU" sz="1600" i="0">
                <a:latin typeface="Arial"/>
                <a:cs typeface="Arial"/>
              </a:rPr>
              <a:t>address a range of focus areas</a:t>
            </a:r>
          </a:p>
          <a:p>
            <a:pPr marL="285750" indent="-285750">
              <a:buFont typeface="Wingdings"/>
              <a:buChar char="ü"/>
            </a:pPr>
            <a:r>
              <a:rPr lang="en-AU" sz="1600" i="0">
                <a:latin typeface="Arial"/>
                <a:cs typeface="Arial"/>
              </a:rPr>
              <a:t>build automaticity and fluency</a:t>
            </a:r>
          </a:p>
          <a:p>
            <a:pPr marL="285750" indent="-285750">
              <a:buFont typeface="Wingdings"/>
              <a:buChar char="ü"/>
            </a:pPr>
            <a:r>
              <a:rPr lang="en-AU" sz="1600" i="0">
                <a:latin typeface="Arial"/>
                <a:cs typeface="Arial"/>
              </a:rPr>
              <a:t>support active recall </a:t>
            </a:r>
          </a:p>
          <a:p>
            <a:pPr marL="285750" indent="-285750">
              <a:buFont typeface="Wingdings"/>
              <a:buChar char="ü"/>
            </a:pPr>
            <a:r>
              <a:rPr lang="en-AU" sz="1600" i="0">
                <a:latin typeface="Arial"/>
                <a:cs typeface="Arial"/>
              </a:rPr>
              <a:t>allow for immediate feedback</a:t>
            </a:r>
          </a:p>
          <a:p>
            <a:pPr marL="285750" indent="-285750" algn="l">
              <a:buFont typeface="Wingdings"/>
              <a:buChar char="ü"/>
            </a:pPr>
            <a:r>
              <a:rPr lang="en-AU" sz="1600" i="0">
                <a:latin typeface="Arial"/>
                <a:cs typeface="Arial"/>
              </a:rPr>
              <a:t>identify content requiring reteach</a:t>
            </a:r>
            <a:endParaRPr lang="en-AU">
              <a:latin typeface="Arial"/>
              <a:cs typeface="Arial"/>
            </a:endParaRPr>
          </a:p>
          <a:p>
            <a:pPr marL="285750" indent="-285750">
              <a:buFont typeface="Wingdings"/>
              <a:buChar char="ü"/>
            </a:pPr>
            <a:endParaRPr lang="en-AU">
              <a:latin typeface="Arial"/>
              <a:cs typeface="Arial"/>
            </a:endParaRPr>
          </a:p>
          <a:p>
            <a:r>
              <a:rPr lang="en-AU">
                <a:latin typeface="Arial"/>
                <a:cs typeface="Arial"/>
              </a:rPr>
              <a:t>3.</a:t>
            </a:r>
          </a:p>
          <a:p>
            <a:r>
              <a:rPr lang="en-AU" b="1">
                <a:latin typeface="Arial"/>
                <a:cs typeface="Arial"/>
              </a:rPr>
              <a:t>Developing number sense activities</a:t>
            </a:r>
            <a:r>
              <a:rPr lang="en-AU">
                <a:latin typeface="Arial"/>
                <a:cs typeface="Arial"/>
              </a:rPr>
              <a:t>: A variety of practical, purposeful tasks that reinforce current learning and build on prior knowledge. These activities promote reasoning, problem-solving and conceptual understanding.</a:t>
            </a:r>
            <a:br>
              <a:rPr lang="en-AU">
                <a:latin typeface="Arial"/>
                <a:cs typeface="Arial"/>
              </a:rPr>
            </a:br>
            <a:br>
              <a:rPr lang="en-AU">
                <a:latin typeface="Arial"/>
                <a:cs typeface="Arial"/>
              </a:rPr>
            </a:br>
            <a:endParaRPr lang="en-US">
              <a:solidFill>
                <a:srgbClr val="444444"/>
              </a:solidFill>
              <a:latin typeface="Arial"/>
              <a:cs typeface="Arial"/>
            </a:endParaRPr>
          </a:p>
          <a:p>
            <a:r>
              <a:rPr lang="en-AU">
                <a:latin typeface="Arial"/>
                <a:cs typeface="Arial"/>
              </a:rPr>
              <a:t>The review of learning resources are designed to work support teaching and learning in mathematics. For the most effective implementation, use the resources flexibly, adapting to meet student learning needs and individual classroom contexts.</a:t>
            </a:r>
            <a:br>
              <a:rPr lang="en-AU">
                <a:latin typeface="Arial"/>
                <a:cs typeface="Arial"/>
              </a:rPr>
            </a:br>
            <a:br>
              <a:rPr lang="en-AU"/>
            </a:br>
            <a:endParaRPr lang="en-AU">
              <a:highlight>
                <a:srgbClr val="FFFF00"/>
              </a:highlight>
            </a:endParaRPr>
          </a:p>
          <a:p>
            <a:endParaRPr lang="en-AU"/>
          </a:p>
          <a:p>
            <a:endParaRPr lang="en-AU"/>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Multiplication relations A</a:t>
            </a:r>
            <a:endParaRPr lang="en-AU" sz="1600" b="1" i="0"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Representing quantity fractions A</a:t>
            </a:r>
            <a:endParaRPr lang="en-AU" sz="1600" b="1"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19878973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FCC54-B770-C8F7-8C65-C091BB239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59B01-AF53-BB9A-E269-C9590389A0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6BA3FF-2E60-3C07-3004-48A94DF0F49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a:cs typeface="Arial"/>
              </a:rPr>
              <a:t>Additive relations A</a:t>
            </a: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FF21F44-6664-5C72-F922-0CAEB37C6F34}"/>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1943914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07BD-4DAB-F9EA-E8E8-947017181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780FB-6A9F-3106-F7BA-13CB4B4DB8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CF551D-9E5D-3133-97EF-743BDEAFDCB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a:cs typeface="Arial"/>
              </a:rPr>
              <a:t>Geometric measure A</a:t>
            </a: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E3111F-78D3-2FC9-2E24-14FE0EAF8035}"/>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6536902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401C1-20DD-2F12-7BF9-F7A45F2408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9F27A2-CD90-5E10-45A2-1D868D9E5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050F6-FF47-0341-3566-EF6428F1CF3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a:cs typeface="Arial"/>
              </a:rPr>
              <a:t>Non-spatial measure A: Time</a:t>
            </a: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68BDCB6-F91C-70A2-2397-14040D7F3E2A}"/>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36982677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pPr>
            <a:endParaRPr lang="en-AU">
              <a:solidFill>
                <a:srgbClr val="444444"/>
              </a:solidFill>
            </a:endParaRPr>
          </a:p>
          <a:p>
            <a:pPr>
              <a:lnSpc>
                <a:spcPct val="150000"/>
              </a:lnSpc>
              <a:spcBef>
                <a:spcPts val="1200"/>
              </a:spcBef>
              <a:spcAft>
                <a:spcPts val="600"/>
              </a:spcAft>
            </a:pPr>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pPr>
            <a:endParaRPr lang="en-AU">
              <a:solidFill>
                <a:srgbClr val="444444"/>
              </a:solidFill>
            </a:endParaRPr>
          </a:p>
          <a:p>
            <a:r>
              <a:rPr lang="en-AU" b="1">
                <a:latin typeface="Arial"/>
                <a:cs typeface="Arial"/>
              </a:rPr>
              <a:t>Syllabus focus area:</a:t>
            </a:r>
            <a:endParaRPr lang="en-US">
              <a:solidFill>
                <a:srgbClr val="444444"/>
              </a:solidFill>
              <a:latin typeface="Arial"/>
              <a:cs typeface="Arial"/>
            </a:endParaRPr>
          </a:p>
          <a:p>
            <a:r>
              <a:rPr lang="en-AU">
                <a:solidFill>
                  <a:srgbClr val="000000"/>
                </a:solidFill>
                <a:latin typeface="Arial"/>
                <a:cs typeface="Arial"/>
              </a:rPr>
              <a:t>Multiplicative relations A</a:t>
            </a:r>
          </a:p>
          <a:p>
            <a:endParaRPr lang="en-AU" b="1">
              <a:solidFill>
                <a:srgbClr val="000000"/>
              </a:solidFill>
              <a:latin typeface="Arial"/>
              <a:cs typeface="Arial"/>
            </a:endParaRPr>
          </a:p>
          <a:p>
            <a:r>
              <a:rPr lang="en-AU" b="1">
                <a:solidFill>
                  <a:srgbClr val="000000"/>
                </a:solidFill>
                <a:latin typeface="Arial"/>
                <a:cs typeface="Arial"/>
              </a:rPr>
              <a:t>Determining products and factors</a:t>
            </a:r>
            <a:endParaRPr lang="en-AU" b="1">
              <a:latin typeface="Arial"/>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br>
              <a:rPr lang="en-US" b="1">
                <a:latin typeface="Arial"/>
                <a:ea typeface="Arial" panose="020B0604020202020204" pitchFamily="34" charset="0"/>
                <a:cs typeface="Arial"/>
              </a:rPr>
            </a:br>
            <a:r>
              <a:rPr lang="en-AU" sz="2800">
                <a:effectLst/>
                <a:latin typeface="Arial"/>
                <a:ea typeface="Calibri"/>
                <a:cs typeface="Arial"/>
              </a:rPr>
              <a:t>This lesson is an adaptation of Liquorice Factory from Arc Learning Sequences by State of Victoria (Department of Education) and was introduced in Stage 3 Year A Unit 13.</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2800">
              <a:effectLst/>
              <a:latin typeface="Arial" panose="020B0604020202020204" pitchFamily="34" charset="0"/>
              <a:ea typeface="Calibri" panose="020F0502020204030204" pitchFamily="34" charset="0"/>
            </a:endParaRPr>
          </a:p>
          <a:p>
            <a:pPr marL="228600" marR="0" lvl="0" indent="-228600" algn="l" defTabSz="1219170" rtl="0" eaLnBrk="1" fontAlgn="auto" latinLnBrk="0" hangingPunct="1">
              <a:lnSpc>
                <a:spcPct val="100000"/>
              </a:lnSpc>
              <a:spcBef>
                <a:spcPts val="0"/>
              </a:spcBef>
              <a:spcAft>
                <a:spcPts val="0"/>
              </a:spcAft>
              <a:buClrTx/>
              <a:buSzTx/>
              <a:buFontTx/>
              <a:buAutoNum type="arabicPeriod"/>
              <a:tabLst/>
              <a:defRPr/>
            </a:pPr>
            <a:r>
              <a:rPr lang="en-AU" sz="1600" b="0">
                <a:effectLst/>
                <a:latin typeface="Arial"/>
                <a:ea typeface="Calibri"/>
                <a:cs typeface="Arial"/>
              </a:rPr>
              <a:t>Revise students’ understanding of products and factors.</a:t>
            </a:r>
          </a:p>
          <a:p>
            <a:pPr marL="228600" marR="0" lvl="0" indent="-228600" algn="l" defTabSz="1219170" rtl="0" eaLnBrk="1" fontAlgn="auto" latinLnBrk="0" hangingPunct="1">
              <a:lnSpc>
                <a:spcPct val="100000"/>
              </a:lnSpc>
              <a:spcBef>
                <a:spcPts val="0"/>
              </a:spcBef>
              <a:spcAft>
                <a:spcPts val="0"/>
              </a:spcAft>
              <a:buClrTx/>
              <a:buSzTx/>
              <a:buFontTx/>
              <a:buAutoNum type="arabicPeriod"/>
              <a:tabLst/>
              <a:defRPr/>
            </a:pPr>
            <a:endParaRPr lang="en-AU" sz="1600" b="0">
              <a:effectLst/>
              <a:latin typeface="Arial" panose="020B0604020202020204" pitchFamily="34" charset="0"/>
              <a:ea typeface="Calibri" panose="020F0502020204030204" pitchFamily="34" charset="0"/>
            </a:endParaRPr>
          </a:p>
          <a:p>
            <a:pPr>
              <a:lnSpc>
                <a:spcPct val="150000"/>
              </a:lnSpc>
              <a:spcBef>
                <a:spcPts val="1200"/>
              </a:spcBef>
              <a:spcAft>
                <a:spcPts val="600"/>
              </a:spcAft>
              <a:buNone/>
            </a:pPr>
            <a:r>
              <a:rPr lang="en-AU" sz="1600" b="1">
                <a:solidFill>
                  <a:srgbClr val="000000"/>
                </a:solidFill>
                <a:effectLst/>
                <a:latin typeface="Arial"/>
                <a:ea typeface="Calibri"/>
                <a:cs typeface="Arial"/>
              </a:rPr>
              <a:t>Product: </a:t>
            </a:r>
            <a:r>
              <a:rPr lang="en-AU" sz="1600" b="0">
                <a:solidFill>
                  <a:srgbClr val="000000"/>
                </a:solidFill>
                <a:effectLst/>
                <a:latin typeface="Arial"/>
                <a:ea typeface="Calibri"/>
                <a:cs typeface="Arial"/>
              </a:rPr>
              <a:t>the result of multiplying 2 or more numbers together. For example, 12 is the product of 4 × 3.</a:t>
            </a:r>
            <a:endParaRPr lang="en-AU" sz="1600" b="0">
              <a:effectLst/>
              <a:latin typeface="Arial"/>
              <a:ea typeface="Calibri"/>
              <a:cs typeface="Arial"/>
            </a:endParaRPr>
          </a:p>
          <a:p>
            <a:pPr>
              <a:lnSpc>
                <a:spcPct val="150000"/>
              </a:lnSpc>
              <a:spcBef>
                <a:spcPts val="1200"/>
              </a:spcBef>
              <a:spcAft>
                <a:spcPts val="600"/>
              </a:spcAft>
              <a:buNone/>
            </a:pPr>
            <a:r>
              <a:rPr lang="en-AU" sz="1600" b="1">
                <a:solidFill>
                  <a:srgbClr val="000000"/>
                </a:solidFill>
                <a:effectLst/>
                <a:latin typeface="Arial"/>
                <a:ea typeface="Calibri"/>
                <a:cs typeface="Arial"/>
              </a:rPr>
              <a:t>Factors: </a:t>
            </a:r>
            <a:r>
              <a:rPr lang="en-AU" sz="1600" b="0">
                <a:solidFill>
                  <a:srgbClr val="000000"/>
                </a:solidFill>
                <a:effectLst/>
                <a:latin typeface="Arial"/>
                <a:ea typeface="Calibri"/>
                <a:cs typeface="Arial"/>
              </a:rPr>
              <a:t>a number which divides another number without a remainder. For example, 1, 2, 3 and 6 are factors of 6 but 4 and 5 are not.</a:t>
            </a:r>
          </a:p>
          <a:p>
            <a:pPr>
              <a:lnSpc>
                <a:spcPct val="150000"/>
              </a:lnSpc>
              <a:spcBef>
                <a:spcPts val="1200"/>
              </a:spcBef>
              <a:spcAft>
                <a:spcPts val="600"/>
              </a:spcAft>
              <a:buNone/>
            </a:pPr>
            <a:endParaRPr lang="en-AU" sz="1600" b="0">
              <a:effectLst/>
              <a:latin typeface="Arial" panose="020B0604020202020204" pitchFamily="34" charset="0"/>
              <a:ea typeface="Calibri" panose="020F0502020204030204" pitchFamily="34" charset="0"/>
            </a:endParaRPr>
          </a:p>
          <a:p>
            <a:pPr>
              <a:lnSpc>
                <a:spcPct val="150000"/>
              </a:lnSpc>
              <a:spcBef>
                <a:spcPts val="1200"/>
              </a:spcBef>
              <a:spcAft>
                <a:spcPts val="600"/>
              </a:spcAft>
              <a:buNone/>
            </a:pPr>
            <a:r>
              <a:rPr lang="en-AU" sz="1600" b="0">
                <a:effectLst/>
                <a:latin typeface="Arial"/>
                <a:ea typeface="Calibri"/>
                <a:cs typeface="Arial"/>
              </a:rPr>
              <a:t>2. Display Resource 16 – lolly machines (this resource corresponds to Resource 16 – lolly machines in Stage 3, Year A Unit 16).</a:t>
            </a:r>
            <a:endParaRPr lang="en-AU" sz="1600" b="0" u="sng">
              <a:solidFill>
                <a:schemeClr val="tx1"/>
              </a:solidFill>
              <a:effectLst/>
              <a:latin typeface="Arial"/>
              <a:ea typeface="Calibri"/>
              <a:cs typeface="Arial"/>
            </a:endParaRPr>
          </a:p>
          <a:p>
            <a:pPr>
              <a:lnSpc>
                <a:spcPct val="150000"/>
              </a:lnSpc>
              <a:spcBef>
                <a:spcPts val="1200"/>
              </a:spcBef>
              <a:spcAft>
                <a:spcPts val="600"/>
              </a:spcAft>
              <a:buNone/>
            </a:pPr>
            <a:r>
              <a:rPr lang="en-AU" sz="1600" b="0">
                <a:effectLst/>
                <a:latin typeface="Arial"/>
                <a:ea typeface="Calibri"/>
                <a:cs typeface="Arial"/>
              </a:rPr>
              <a:t>3. Explain that lollies at a factory are produced by passing through different machines to extend their lengths. For example, a one-unit length of lolly is put through a × 2 machine twice to result in a lolly 4 units in length. Similarly, the lolly can be passed through both the × 2 and × 3 machines to double and then triple the lolly. This will produce a stretched lolly equal to 6 units, or 6 times as long as the original piece.</a:t>
            </a:r>
          </a:p>
          <a:p>
            <a:pPr>
              <a:lnSpc>
                <a:spcPct val="150000"/>
              </a:lnSpc>
              <a:spcBef>
                <a:spcPts val="1200"/>
              </a:spcBef>
              <a:spcAft>
                <a:spcPts val="600"/>
              </a:spcAft>
              <a:buNone/>
            </a:pPr>
            <a:r>
              <a:rPr lang="en-AU" sz="1600" b="0">
                <a:effectLst/>
                <a:latin typeface="Arial"/>
                <a:ea typeface="Calibri"/>
                <a:cs typeface="Arial"/>
              </a:rPr>
              <a:t>4. Provide students with Resource 17 – lolly recipes (this resource corresponds to Resource 16 – lolly machines in Stage 3, Year A Unit 16).</a:t>
            </a:r>
            <a:endParaRPr lang="en-AU" sz="1600" b="0" u="sng">
              <a:solidFill>
                <a:schemeClr val="tx1"/>
              </a:solidFill>
              <a:effectLst/>
              <a:latin typeface="Arial"/>
              <a:ea typeface="Calibri"/>
              <a:cs typeface="Arial"/>
            </a:endParaRPr>
          </a:p>
          <a:p>
            <a:pPr marL="0" lvl="0" indent="0">
              <a:lnSpc>
                <a:spcPct val="150000"/>
              </a:lnSpc>
              <a:spcBef>
                <a:spcPts val="1200"/>
              </a:spcBef>
              <a:spcAft>
                <a:spcPts val="600"/>
              </a:spcAft>
              <a:buFont typeface="+mj-lt"/>
              <a:buNone/>
            </a:pPr>
            <a:r>
              <a:rPr lang="en-AU" sz="1600" b="0">
                <a:effectLst/>
                <a:latin typeface="Arial"/>
                <a:ea typeface="Calibri"/>
                <a:cs typeface="Arial"/>
              </a:rPr>
              <a:t>5. Demonstrate how a 21-unit length lolly is made using a × 3 and × 7 machine.</a:t>
            </a:r>
          </a:p>
          <a:p>
            <a:pPr marL="0" lvl="0" indent="0">
              <a:lnSpc>
                <a:spcPct val="150000"/>
              </a:lnSpc>
              <a:spcBef>
                <a:spcPts val="1200"/>
              </a:spcBef>
              <a:spcAft>
                <a:spcPts val="600"/>
              </a:spcAft>
              <a:buFont typeface="+mj-lt"/>
              <a:buNone/>
            </a:pPr>
            <a:r>
              <a:rPr lang="en-AU" sz="1600" b="0">
                <a:effectLst/>
                <a:latin typeface="Arial"/>
                <a:ea typeface="Calibri"/>
                <a:cs typeface="Arial"/>
              </a:rPr>
              <a:t>6. Display 3 × 7 = 21 on the board.</a:t>
            </a:r>
          </a:p>
          <a:p>
            <a:pPr marL="0" lvl="0" indent="0">
              <a:lnSpc>
                <a:spcPct val="150000"/>
              </a:lnSpc>
              <a:spcBef>
                <a:spcPts val="1200"/>
              </a:spcBef>
              <a:spcAft>
                <a:spcPts val="600"/>
              </a:spcAft>
              <a:buFont typeface="+mj-lt"/>
              <a:buNone/>
            </a:pPr>
            <a:r>
              <a:rPr lang="en-AU" sz="1600" b="0">
                <a:effectLst/>
                <a:latin typeface="Arial"/>
                <a:ea typeface="Calibri"/>
                <a:cs typeface="Arial"/>
              </a:rPr>
              <a:t>7. Explain that 3 and 7 are factors of 21.</a:t>
            </a:r>
          </a:p>
          <a:p>
            <a:pPr marL="0" lvl="0" indent="0">
              <a:lnSpc>
                <a:spcPct val="150000"/>
              </a:lnSpc>
              <a:spcBef>
                <a:spcPts val="1200"/>
              </a:spcBef>
              <a:spcAft>
                <a:spcPts val="600"/>
              </a:spcAft>
              <a:buFont typeface="+mj-lt"/>
              <a:buNone/>
            </a:pPr>
            <a:r>
              <a:rPr lang="en-AU" sz="1600" b="0">
                <a:effectLst/>
                <a:latin typeface="Arial"/>
                <a:ea typeface="Calibri"/>
                <a:cs typeface="Arial"/>
              </a:rPr>
              <a:t>8. Ask students to record as many combinations of machines as possible.</a:t>
            </a:r>
          </a:p>
          <a:p>
            <a:pPr marL="0" lvl="0" indent="0">
              <a:lnSpc>
                <a:spcPct val="150000"/>
              </a:lnSpc>
              <a:spcBef>
                <a:spcPts val="1200"/>
              </a:spcBef>
              <a:spcAft>
                <a:spcPts val="600"/>
              </a:spcAft>
              <a:buFont typeface="+mj-lt"/>
              <a:buNone/>
            </a:pPr>
            <a:r>
              <a:rPr lang="en-AU" sz="1600" b="0">
                <a:effectLst/>
                <a:latin typeface="Arial"/>
                <a:ea typeface="Calibri"/>
                <a:cs typeface="Arial"/>
              </a:rPr>
              <a:t>9. Check for understanding by reviewing student recordings.</a:t>
            </a:r>
          </a:p>
          <a:p>
            <a:pPr marL="0" lvl="0" indent="0">
              <a:lnSpc>
                <a:spcPct val="150000"/>
              </a:lnSpc>
              <a:spcBef>
                <a:spcPts val="1200"/>
              </a:spcBef>
              <a:spcAft>
                <a:spcPts val="600"/>
              </a:spcAft>
              <a:buFont typeface="+mj-lt"/>
              <a:buNone/>
            </a:pPr>
            <a:endParaRPr lang="en-AU" sz="1600" b="0">
              <a:effectLst/>
              <a:latin typeface="Arial" panose="020B0604020202020204" pitchFamily="34" charset="0"/>
              <a:ea typeface="Calibri" panose="020F0502020204030204" pitchFamily="34" charset="0"/>
              <a:cs typeface="Arial" panose="020B0604020202020204" pitchFamily="34" charset="0"/>
            </a:endParaRP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19191262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A4CC2-DEEC-5F77-9C86-890FAF7AB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C0BF67-37C8-1541-1492-8D448DE7D8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68DAB1-9986-1F2E-81A2-30EAE958276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B47B81-E22E-B2CC-AE7B-31B102431E3E}"/>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41090008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Multiplication relations A</a:t>
            </a:r>
            <a:br>
              <a:rPr lang="en-AU" sz="1600" b="0" i="0">
                <a:latin typeface="Arial" panose="020B0604020202020204" pitchFamily="34" charset="0"/>
                <a:cs typeface="Arial" panose="020B06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33405796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9B41E-DB56-33E1-8F8C-97C551FE00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0EBCA-DA6C-B002-8C5C-EAC6E3AE4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170D96-FCE9-F3CF-05FF-82718BEBCDE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Representing quantity fractions A</a:t>
            </a:r>
            <a:endParaRPr lang="en-AU" sz="1600" b="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BCE111E-7D61-2D72-81D8-B1B199F66A7E}"/>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8715119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1D6AC-F967-0167-AD3E-DCFB37248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FD765-8C68-3ADC-FECB-08095D8D1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86BABE-2AFB-941B-2068-934F2FE07A8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A</a:t>
            </a:r>
            <a:endParaRPr lang="en-AU" sz="1600" b="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D3028C6-C95F-0CB5-E366-B331D00932F7}"/>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7310167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891C9-DF43-E901-EAD2-C7F87E64E6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18C6F5-1426-8B6C-2BFD-911C78A9A2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DFA739-98AA-F0FF-4945-C056943A814C}"/>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627EA6F-685B-7CDD-F781-2EE5BD18F03D}"/>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3076088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FA91D-52C3-9186-2C90-D82B023AB5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8A8E39-7439-AC38-0AC6-B1EDC23527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834AA2-88D5-6FA1-EDA7-40D0FD41289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A: 2D Shapes</a:t>
            </a:r>
            <a:endParaRPr lang="en-AU" b="1">
              <a:latin typeface="Public Sans"/>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2223C7-EC2A-C21B-507C-5AF679EAA1A9}"/>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403748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defRPr/>
            </a:pPr>
            <a:r>
              <a:rPr lang="en-AU">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defRPr/>
            </a:pPr>
            <a:endParaRPr lang="en-AU">
              <a:solidFill>
                <a:srgbClr val="444444"/>
              </a:solidFill>
            </a:endParaRPr>
          </a:p>
          <a:p>
            <a:pPr>
              <a:lnSpc>
                <a:spcPct val="150000"/>
              </a:lnSpc>
              <a:spcBef>
                <a:spcPts val="1200"/>
              </a:spcBef>
              <a:spcAft>
                <a:spcPts val="600"/>
              </a:spcAft>
              <a:defRPr/>
            </a:pPr>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defRPr/>
            </a:pPr>
            <a:endParaRPr lang="en-AU">
              <a:solidFill>
                <a:srgbClr val="444444"/>
              </a:solidFil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p>
          <a:p>
            <a:pPr>
              <a:defRPr/>
            </a:pPr>
            <a:endParaRPr lang="en-AU">
              <a:latin typeface="Arial"/>
              <a:cs typeface="Arial"/>
            </a:endParaRPr>
          </a:p>
          <a:p>
            <a:pPr>
              <a:defRPr/>
            </a:pPr>
            <a:r>
              <a:rPr lang="en-AU" b="1">
                <a:latin typeface="Arial"/>
                <a:cs typeface="Arial"/>
              </a:rPr>
              <a:t>Prime and composite numbers</a:t>
            </a:r>
          </a:p>
          <a:p>
            <a:pPr>
              <a:defRPr/>
            </a:pPr>
            <a:br>
              <a:rPr lang="en-AU" sz="1800">
                <a:latin typeface="Arial"/>
                <a:ea typeface="Calibri"/>
                <a:cs typeface="Arial"/>
              </a:rPr>
            </a:br>
            <a:r>
              <a:rPr lang="en-AU" sz="1800" b="0">
                <a:effectLst/>
                <a:latin typeface="Arial"/>
                <a:ea typeface="Calibri"/>
                <a:cs typeface="Arial"/>
              </a:rPr>
              <a:t>1. Display </a:t>
            </a:r>
            <a:r>
              <a:rPr lang="en-AU" sz="1800" b="0">
                <a:effectLst/>
                <a:latin typeface="Arial" panose="020B0604020202020204" pitchFamily="34" charset="0"/>
                <a:ea typeface="Calibri" panose="020F0502020204030204" pitchFamily="34" charset="0"/>
              </a:rPr>
              <a:t>Resource 16 – lolly machines </a:t>
            </a:r>
            <a:r>
              <a:rPr lang="en-AU" sz="1800" b="0">
                <a:effectLst/>
                <a:latin typeface="Arial"/>
                <a:ea typeface="Calibri"/>
                <a:cs typeface="Arial"/>
              </a:rPr>
              <a:t>from Lesson 1 and a student example </a:t>
            </a:r>
            <a:r>
              <a:rPr lang="en-AU" sz="1800" b="0" u="none">
                <a:solidFill>
                  <a:schemeClr val="tx1"/>
                </a:solidFill>
                <a:effectLst/>
                <a:latin typeface="Arial"/>
                <a:ea typeface="Calibri"/>
                <a:cs typeface="Arial"/>
              </a:rPr>
              <a:t>of </a:t>
            </a:r>
            <a:r>
              <a:rPr lang="en-AU" sz="1800" b="0">
                <a:effectLst/>
                <a:latin typeface="Arial" panose="020B0604020202020204" pitchFamily="34" charset="0"/>
                <a:ea typeface="Calibri" panose="020F0502020204030204" pitchFamily="34" charset="0"/>
              </a:rPr>
              <a:t>Resource 17 – lolly recipes (these resources correspond to Resource 16 – lolly machines and Resource 17 – lolly recipes in Stage 3, Year A Unit 16).</a:t>
            </a:r>
            <a:endParaRPr lang="en-AU" sz="1800" b="0" u="none">
              <a:solidFill>
                <a:schemeClr val="tx1"/>
              </a:solidFill>
              <a:effectLst/>
              <a:latin typeface="Arial"/>
              <a:ea typeface="Calibri"/>
              <a:cs typeface="Arial"/>
            </a:endParaRPr>
          </a:p>
          <a:p>
            <a:pPr marL="0" indent="0">
              <a:lnSpc>
                <a:spcPct val="150000"/>
              </a:lnSpc>
              <a:spcBef>
                <a:spcPts val="1200"/>
              </a:spcBef>
              <a:spcAft>
                <a:spcPts val="600"/>
              </a:spcAft>
              <a:buNone/>
            </a:pPr>
            <a:r>
              <a:rPr lang="en-AU" sz="1800" b="0">
                <a:effectLst/>
                <a:latin typeface="Arial" panose="020B0604020202020204" pitchFamily="34" charset="0"/>
                <a:ea typeface="Calibri" panose="020F0502020204030204" pitchFamily="34" charset="0"/>
              </a:rPr>
              <a:t>2. Ask students to explain what machine would be needed to produce a lolly that is 11 units in length.</a:t>
            </a:r>
            <a:endParaRPr lang="en-AU" sz="1800" b="0">
              <a:effectLst/>
              <a:latin typeface="Arial" panose="020B0604020202020204" pitchFamily="34" charset="0"/>
              <a:ea typeface="Calibri" panose="020F0502020204030204" pitchFamily="34" charset="0"/>
              <a:cs typeface="Arial"/>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800" b="0">
                <a:effectLst/>
                <a:latin typeface="Arial" panose="020B0604020202020204" pitchFamily="34" charset="0"/>
                <a:ea typeface="Calibri" panose="020F0502020204030204" pitchFamily="34" charset="0"/>
              </a:rPr>
              <a:t>3. Prompt students to explain their thinking. </a:t>
            </a:r>
            <a:endParaRPr lang="en-AU" sz="1800" b="0">
              <a:effectLst/>
              <a:latin typeface="Arial" panose="020B0604020202020204" pitchFamily="34" charset="0"/>
              <a:ea typeface="Calibri" panose="020F0502020204030204" pitchFamily="34" charset="0"/>
              <a:cs typeface="Arial"/>
            </a:endParaRPr>
          </a:p>
          <a:p>
            <a:pPr marL="0" indent="0">
              <a:lnSpc>
                <a:spcPct val="150000"/>
              </a:lnSpc>
              <a:spcBef>
                <a:spcPts val="1200"/>
              </a:spcBef>
              <a:spcAft>
                <a:spcPts val="600"/>
              </a:spcAft>
              <a:buNone/>
            </a:pPr>
            <a:r>
              <a:rPr lang="en-AU" sz="1800" b="0">
                <a:effectLst/>
                <a:latin typeface="Arial" panose="020B0604020202020204" pitchFamily="34" charset="0"/>
                <a:ea typeface="Calibri" panose="020F0502020204030204" pitchFamily="34" charset="0"/>
              </a:rPr>
              <a:t>4. Explain that 11 is a prime number which means it only has 2 factors, one and itself. It is, therefore, not a length that can be produced using a combination of other machines. Emphasise that one is not a prime number as it does not have 2 distinct factors.</a:t>
            </a:r>
            <a:endParaRPr lang="en-AU" sz="1800" b="0">
              <a:effectLst/>
              <a:latin typeface="Arial" panose="020B0604020202020204" pitchFamily="34" charset="0"/>
              <a:ea typeface="Calibri" panose="020F0502020204030204" pitchFamily="34" charset="0"/>
              <a:cs typeface="Arial"/>
            </a:endParaRPr>
          </a:p>
          <a:p>
            <a:pPr>
              <a:lnSpc>
                <a:spcPct val="150000"/>
              </a:lnSpc>
              <a:spcBef>
                <a:spcPts val="1200"/>
              </a:spcBef>
              <a:spcAft>
                <a:spcPts val="600"/>
              </a:spcAft>
              <a:buNone/>
            </a:pPr>
            <a:endParaRPr lang="en-AU" sz="1800" b="0">
              <a:solidFill>
                <a:srgbClr val="000000"/>
              </a:solidFill>
              <a:effectLst/>
              <a:latin typeface="Arial" panose="020B0604020202020204" pitchFamily="34" charset="0"/>
              <a:ea typeface="Calibri" panose="020F0502020204030204" pitchFamily="34" charset="0"/>
            </a:endParaRPr>
          </a:p>
          <a:p>
            <a:pPr>
              <a:lnSpc>
                <a:spcPct val="150000"/>
              </a:lnSpc>
              <a:spcBef>
                <a:spcPts val="1200"/>
              </a:spcBef>
              <a:spcAft>
                <a:spcPts val="600"/>
              </a:spcAft>
              <a:buNone/>
            </a:pPr>
            <a:r>
              <a:rPr lang="en-AU" sz="1800" b="1">
                <a:solidFill>
                  <a:srgbClr val="000000"/>
                </a:solidFill>
                <a:effectLst/>
                <a:latin typeface="Arial"/>
                <a:ea typeface="Calibri"/>
                <a:cs typeface="Arial"/>
              </a:rPr>
              <a:t>Prime number: </a:t>
            </a:r>
            <a:r>
              <a:rPr lang="en-AU" sz="1800" b="0">
                <a:solidFill>
                  <a:srgbClr val="000000"/>
                </a:solidFill>
                <a:effectLst/>
                <a:latin typeface="Arial"/>
                <a:ea typeface="Calibri"/>
                <a:cs typeface="Arial"/>
              </a:rPr>
              <a:t>a prime number is a positive integer which has exactly 2 distinct factors, itself and one. Modelled as an array, it has only one row. Zero is not an integer and therefore is neither prime nor composite.</a:t>
            </a:r>
            <a:endParaRPr lang="en-AU" sz="1800" b="0">
              <a:effectLst/>
              <a:latin typeface="Arial"/>
              <a:ea typeface="Calibri"/>
              <a:cs typeface="Arial"/>
            </a:endParaRPr>
          </a:p>
          <a:p>
            <a:pPr>
              <a:lnSpc>
                <a:spcPct val="150000"/>
              </a:lnSpc>
              <a:spcBef>
                <a:spcPts val="1200"/>
              </a:spcBef>
              <a:spcAft>
                <a:spcPts val="600"/>
              </a:spcAft>
              <a:buNone/>
            </a:pPr>
            <a:r>
              <a:rPr lang="en-AU" sz="1800" b="1">
                <a:solidFill>
                  <a:srgbClr val="000000"/>
                </a:solidFill>
                <a:effectLst/>
                <a:latin typeface="Arial"/>
                <a:ea typeface="Calibri"/>
                <a:cs typeface="Arial"/>
              </a:rPr>
              <a:t>Composite number:</a:t>
            </a:r>
            <a:r>
              <a:rPr lang="en-AU" sz="1800" b="0">
                <a:solidFill>
                  <a:srgbClr val="000000"/>
                </a:solidFill>
                <a:effectLst/>
                <a:latin typeface="Arial"/>
                <a:ea typeface="Calibri"/>
                <a:cs typeface="Arial"/>
              </a:rPr>
              <a:t> a non-zero natural number that has a factor other than one and itself. For example, all even numbers besides 2 are composite numbers. Some odd numbers are composite (for example, 21).</a:t>
            </a:r>
          </a:p>
          <a:p>
            <a:pPr>
              <a:lnSpc>
                <a:spcPct val="150000"/>
              </a:lnSpc>
              <a:spcBef>
                <a:spcPts val="1200"/>
              </a:spcBef>
              <a:spcAft>
                <a:spcPts val="600"/>
              </a:spcAft>
              <a:buNone/>
            </a:pPr>
            <a:endParaRPr lang="en-AU" sz="1800" b="0">
              <a:solidFill>
                <a:srgbClr val="000000"/>
              </a:solidFill>
              <a:effectLst/>
              <a:latin typeface="Arial" panose="020B0604020202020204" pitchFamily="34" charset="0"/>
              <a:ea typeface="Calibri" panose="020F0502020204030204" pitchFamily="34" charset="0"/>
            </a:endParaRPr>
          </a:p>
          <a:p>
            <a:pPr>
              <a:lnSpc>
                <a:spcPct val="150000"/>
              </a:lnSpc>
              <a:spcBef>
                <a:spcPts val="1200"/>
              </a:spcBef>
              <a:spcAft>
                <a:spcPts val="600"/>
              </a:spcAft>
              <a:buNone/>
            </a:pPr>
            <a:r>
              <a:rPr lang="en-AU" sz="1800" b="0">
                <a:solidFill>
                  <a:srgbClr val="000000"/>
                </a:solidFill>
                <a:effectLst/>
                <a:latin typeface="Arial" panose="020B0604020202020204" pitchFamily="34" charset="0"/>
                <a:ea typeface="Calibri" panose="020F0502020204030204" pitchFamily="34" charset="0"/>
              </a:rPr>
              <a:t>5. </a:t>
            </a:r>
            <a:r>
              <a:rPr lang="en-AU" sz="1800" b="0">
                <a:effectLst/>
                <a:latin typeface="Arial" panose="020B0604020202020204" pitchFamily="34" charset="0"/>
                <a:ea typeface="Calibri" panose="020F0502020204030204" pitchFamily="34" charset="0"/>
              </a:rPr>
              <a:t>Provide students with Resource 18 – lolly malfunctions.</a:t>
            </a:r>
          </a:p>
          <a:p>
            <a:pPr marL="0" lvl="0" indent="0">
              <a:lnSpc>
                <a:spcPct val="150000"/>
              </a:lnSpc>
              <a:spcBef>
                <a:spcPts val="1200"/>
              </a:spcBef>
              <a:spcAft>
                <a:spcPts val="600"/>
              </a:spcAft>
              <a:buFont typeface="+mj-lt"/>
              <a:buNone/>
            </a:pPr>
            <a:r>
              <a:rPr lang="en-AU" sz="1800" b="0">
                <a:effectLst/>
                <a:latin typeface="Arial" panose="020B0604020202020204" pitchFamily="34" charset="0"/>
                <a:ea typeface="Calibri" panose="020F0502020204030204" pitchFamily="34" charset="0"/>
              </a:rPr>
              <a:t>6. Demonstrate writing a multiplicative statement with factors for 12. For example, 2 × 2 × 3 = 12.</a:t>
            </a:r>
          </a:p>
          <a:p>
            <a:pPr marL="0" lvl="0" indent="0">
              <a:lnSpc>
                <a:spcPct val="150000"/>
              </a:lnSpc>
              <a:spcBef>
                <a:spcPts val="1200"/>
              </a:spcBef>
              <a:spcAft>
                <a:spcPts val="600"/>
              </a:spcAft>
              <a:buFont typeface="+mj-lt"/>
              <a:buNone/>
            </a:pPr>
            <a:r>
              <a:rPr lang="en-AU" sz="1800" b="0">
                <a:effectLst/>
                <a:latin typeface="Arial" panose="020B0604020202020204" pitchFamily="34" charset="0"/>
                <a:ea typeface="Calibri" panose="020F0502020204030204" pitchFamily="34" charset="0"/>
              </a:rPr>
              <a:t>7. Ask: will it make a difference if the lolly is first passed through the × 2 or × 3 machine. Demonstrate by writing a second multiplicative statement 3 × 2 × 2 = 12.</a:t>
            </a:r>
          </a:p>
          <a:p>
            <a:pPr marL="0" lvl="0" indent="0">
              <a:lnSpc>
                <a:spcPct val="150000"/>
              </a:lnSpc>
              <a:spcBef>
                <a:spcPts val="1200"/>
              </a:spcBef>
              <a:spcAft>
                <a:spcPts val="600"/>
              </a:spcAft>
              <a:buFont typeface="+mj-lt"/>
              <a:buNone/>
            </a:pPr>
            <a:r>
              <a:rPr lang="en-AU" sz="1800" b="0">
                <a:effectLst/>
                <a:latin typeface="Arial" panose="020B0604020202020204" pitchFamily="34" charset="0"/>
                <a:ea typeface="Calibri" panose="020F0502020204030204" pitchFamily="34" charset="0"/>
              </a:rPr>
              <a:t>8. Explain that the associative property applies in multiplication statements as the order in which quantities are multiplied does not change the result.</a:t>
            </a:r>
          </a:p>
          <a:p>
            <a:pPr marL="0" lvl="0" indent="0">
              <a:lnSpc>
                <a:spcPct val="150000"/>
              </a:lnSpc>
              <a:spcBef>
                <a:spcPts val="1200"/>
              </a:spcBef>
              <a:spcAft>
                <a:spcPts val="600"/>
              </a:spcAft>
              <a:buFont typeface="+mj-lt"/>
              <a:buNone/>
            </a:pPr>
            <a:r>
              <a:rPr lang="en-AU" sz="1800" b="0">
                <a:effectLst/>
                <a:latin typeface="Arial" panose="020B0604020202020204" pitchFamily="34" charset="0"/>
                <a:ea typeface="Calibri" panose="020F0502020204030204" pitchFamily="34" charset="0"/>
              </a:rPr>
              <a:t>9. Ask students to fill in the missing values by:</a:t>
            </a:r>
          </a:p>
          <a:p>
            <a:pPr marL="342900" lvl="0" indent="-342900">
              <a:lnSpc>
                <a:spcPct val="150000"/>
              </a:lnSpc>
              <a:spcBef>
                <a:spcPts val="1200"/>
              </a:spcBef>
              <a:spcAft>
                <a:spcPts val="600"/>
              </a:spcAft>
              <a:buFont typeface="Courier New" panose="02070309020205020404" pitchFamily="49" charset="0"/>
              <a:buChar char="o"/>
            </a:pPr>
            <a:r>
              <a:rPr lang="en-AU" sz="1800" b="0">
                <a:effectLst/>
                <a:latin typeface="Arial" panose="020B0604020202020204" pitchFamily="34" charset="0"/>
                <a:ea typeface="Calibri" panose="020F0502020204030204" pitchFamily="34" charset="0"/>
                <a:cs typeface="Times New Roman" panose="02020603050405020304" pitchFamily="18" charset="0"/>
              </a:rPr>
              <a:t>identifying the provided numbers as prime, composite or neither</a:t>
            </a:r>
          </a:p>
          <a:p>
            <a:pPr marL="342900" lvl="0" indent="-342900">
              <a:lnSpc>
                <a:spcPct val="150000"/>
              </a:lnSpc>
              <a:spcBef>
                <a:spcPts val="1200"/>
              </a:spcBef>
              <a:spcAft>
                <a:spcPts val="600"/>
              </a:spcAft>
              <a:buFont typeface="Courier New" panose="02070309020205020404" pitchFamily="49" charset="0"/>
              <a:buChar char="o"/>
            </a:pPr>
            <a:r>
              <a:rPr lang="en-AU" sz="1800" b="0">
                <a:effectLst/>
                <a:latin typeface="Arial" panose="020B0604020202020204" pitchFamily="34" charset="0"/>
                <a:ea typeface="Calibri" panose="020F0502020204030204" pitchFamily="34" charset="0"/>
                <a:cs typeface="Times New Roman" panose="02020603050405020304" pitchFamily="18" charset="0"/>
              </a:rPr>
              <a:t>writing the multiplicative statement to reflect the use of factors to result in a product</a:t>
            </a:r>
          </a:p>
          <a:p>
            <a:pPr marL="342900" lvl="0" indent="-342900">
              <a:lnSpc>
                <a:spcPct val="150000"/>
              </a:lnSpc>
              <a:spcBef>
                <a:spcPts val="1200"/>
              </a:spcBef>
              <a:spcAft>
                <a:spcPts val="600"/>
              </a:spcAft>
              <a:buFont typeface="Courier New" panose="02070309020205020404" pitchFamily="49" charset="0"/>
              <a:buChar char="o"/>
            </a:pPr>
            <a:r>
              <a:rPr lang="en-AU" sz="1800" b="0">
                <a:effectLst/>
                <a:latin typeface="Arial" panose="020B0604020202020204" pitchFamily="34" charset="0"/>
                <a:ea typeface="Calibri" panose="020F0502020204030204" pitchFamily="34" charset="0"/>
                <a:cs typeface="Times New Roman" panose="02020603050405020304" pitchFamily="18" charset="0"/>
              </a:rPr>
              <a:t>using the provided multiplicative statements to determine the product.</a:t>
            </a:r>
          </a:p>
          <a:p>
            <a:pPr marL="0" lvl="0" indent="0">
              <a:lnSpc>
                <a:spcPct val="150000"/>
              </a:lnSpc>
              <a:spcBef>
                <a:spcPts val="1200"/>
              </a:spcBef>
              <a:spcAft>
                <a:spcPts val="600"/>
              </a:spcAft>
              <a:buFont typeface="Courier New" panose="02070309020205020404" pitchFamily="49" charset="0"/>
              <a:buNone/>
            </a:pPr>
            <a:r>
              <a:rPr lang="en-AU" sz="1800" b="0">
                <a:effectLst/>
                <a:latin typeface="Arial" panose="020B0604020202020204" pitchFamily="34" charset="0"/>
                <a:ea typeface="Calibri" panose="020F0502020204030204" pitchFamily="34" charset="0"/>
                <a:cs typeface="Times New Roman" panose="02020603050405020304" pitchFamily="18" charset="0"/>
              </a:rPr>
              <a:t>10. </a:t>
            </a:r>
            <a:r>
              <a:rPr lang="en-AU" sz="1800" b="0">
                <a:effectLst/>
                <a:latin typeface="Arial" panose="020B0604020202020204" pitchFamily="34" charset="0"/>
                <a:ea typeface="Calibri" panose="020F0502020204030204" pitchFamily="34" charset="0"/>
              </a:rPr>
              <a:t>Check for understanding by reviewing student recordings.</a:t>
            </a:r>
          </a:p>
          <a:p>
            <a:pPr marL="1600200" lvl="3" indent="-228600">
              <a:lnSpc>
                <a:spcPct val="150000"/>
              </a:lnSpc>
              <a:spcBef>
                <a:spcPts val="1200"/>
              </a:spcBef>
              <a:spcAft>
                <a:spcPts val="600"/>
              </a:spcAft>
              <a:buFont typeface="+mj-lt"/>
              <a:buAutoNum type="arabicPeriod"/>
            </a:pPr>
            <a:endParaRPr lang="en-AU" sz="1800">
              <a:effectLst/>
              <a:latin typeface="Arial" panose="020B0604020202020204" pitchFamily="34" charset="0"/>
              <a:ea typeface="Calibri" panose="020F0502020204030204" pitchFamily="34" charset="0"/>
            </a:endParaRPr>
          </a:p>
          <a:p>
            <a:pPr>
              <a:defRPr/>
            </a:pPr>
            <a:endParaRPr lang="en-AU" sz="1800">
              <a:effectLst/>
              <a:latin typeface="Arial" panose="020B060402020202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17</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15371567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6EE3E-15ED-C876-BD6F-EE43E8170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1EB1A0-9E83-4BB4-FF92-BA6ACF7070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FD46BE-61D8-4DE9-D84A-A90083FA1A19}"/>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EE24D34-45EC-CE1B-A795-AF8194E586E1}"/>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3010102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2E296-D174-FB8B-35EA-66D72170D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C1EB-654B-1945-6DC6-4F75C008A0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EA8029-49D7-F860-D388-7DB8DFAC341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a:t>
            </a:r>
            <a:r>
              <a:rPr lang="en-AU">
                <a:latin typeface="Arial"/>
                <a:cs typeface="Arial"/>
              </a:rPr>
              <a:t>3</a:t>
            </a:r>
            <a:r>
              <a:rPr lang="en-AU" sz="1600" b="0" i="0">
                <a:solidFill>
                  <a:schemeClr val="tx1"/>
                </a:solidFill>
                <a:latin typeface="Arial"/>
                <a:cs typeface="Arial"/>
              </a:rPr>
              <a:t>)</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r>
              <a:rPr lang="en-AU">
                <a:latin typeface="Arial"/>
                <a:cs typeface="Arial"/>
              </a:rPr>
              <a:t>Multiplicative relations A</a:t>
            </a: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891F9216-63F2-70E7-9AA0-9B87A3C3F854}"/>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34421956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DD6FB-E969-73B1-8CC4-E9091BE4E5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6797C-8441-B4B8-05B8-02934460E4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26EB87-A7B9-1FF2-2370-3649A84C163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78FEF3-20AE-E997-3B20-C08F3E0F0BC8}"/>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512409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9025A-464A-1964-87D2-D2B0F402C4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E00734-83E4-D4FD-7416-6158F127FC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409325-BA4F-C414-3806-6356D5B1F81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7C977BC-3AE4-8ABC-BA1C-6BCC2480FD2E}"/>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861682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DD892-37C1-7E8B-D57D-13BF6E21EC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D4BA3-81C1-0652-24A7-E708D088E4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77C95F-17AF-78D0-6712-4C5F6FD6B3DF}"/>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1D82EEE-5CCA-87F3-1525-8A772D6341B6}"/>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25048434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AD204-A227-B30B-2145-47BFD44D56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8488E1-2F7F-3385-11D4-705B70E6F8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4E577-C09A-2075-3C63-4918A4E25CB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Three-dimensional spatial structure A: 3DS Objects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0B924AD-6469-BDE4-0792-EA5A41E39712}"/>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3532213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E9F83-320F-8277-339B-5241A9A10A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247AEC-DD82-9A2F-F22E-E176AEAB11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CD764A-EE4E-114E-50F1-FEFB32AD047B}"/>
              </a:ext>
            </a:extLst>
          </p:cNvPr>
          <p:cNvSpPr>
            <a:spLocks noGrp="1"/>
          </p:cNvSpPr>
          <p:nvPr>
            <p:ph type="body" idx="1"/>
          </p:nvPr>
        </p:nvSpPr>
        <p:spPr/>
        <p:txBody>
          <a:bodyPr/>
          <a:lstStyle/>
          <a:p>
            <a:pPr>
              <a:lnSpc>
                <a:spcPct val="150000"/>
              </a:lnSpc>
              <a:spcBef>
                <a:spcPts val="1200"/>
              </a:spcBef>
              <a:spcAft>
                <a:spcPts val="600"/>
              </a:spcAft>
              <a:defRPr/>
            </a:pPr>
            <a:r>
              <a:rPr lang="en-AU" sz="1800">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defRPr/>
            </a:pPr>
            <a:endParaRPr lang="en-AU" sz="1800">
              <a:solidFill>
                <a:srgbClr val="444444"/>
              </a:solidFill>
            </a:endParaRPr>
          </a:p>
          <a:p>
            <a:pPr>
              <a:lnSpc>
                <a:spcPct val="150000"/>
              </a:lnSpc>
              <a:spcBef>
                <a:spcPts val="1200"/>
              </a:spcBef>
              <a:spcAft>
                <a:spcPts val="600"/>
              </a:spcAft>
              <a:defRPr/>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defRPr/>
            </a:pPr>
            <a:endParaRPr lang="en-AU" sz="1800">
              <a:solidFill>
                <a:srgbClr val="444444"/>
              </a:solidFill>
            </a:endParaRPr>
          </a:p>
          <a:p>
            <a:pPr>
              <a:defRPr/>
            </a:pPr>
            <a:r>
              <a:rPr lang="en-AU" sz="1800" b="1">
                <a:latin typeface="Arial"/>
                <a:cs typeface="Arial"/>
              </a:rPr>
              <a:t>Syllabus focus area:</a:t>
            </a:r>
            <a:endParaRPr lang="en-US" sz="1800">
              <a:solidFill>
                <a:srgbClr val="444444"/>
              </a:solidFill>
              <a:latin typeface="Arial"/>
              <a:cs typeface="Arial"/>
            </a:endParaRPr>
          </a:p>
          <a:p>
            <a:pPr>
              <a:defRPr/>
            </a:pPr>
            <a:r>
              <a:rPr lang="en-AU" sz="1800">
                <a:latin typeface="Arial"/>
                <a:cs typeface="Arial"/>
              </a:rPr>
              <a:t>Multiplicative relations A</a:t>
            </a:r>
          </a:p>
          <a:p>
            <a:pPr>
              <a:defRPr/>
            </a:pPr>
            <a:endParaRPr lang="en-AU" sz="1800">
              <a:latin typeface="Arial"/>
              <a:cs typeface="Arial"/>
            </a:endParaRPr>
          </a:p>
          <a:p>
            <a:pPr>
              <a:defRPr/>
            </a:pPr>
            <a:r>
              <a:rPr lang="en-AU" sz="1800" b="1">
                <a:latin typeface="Arial"/>
                <a:cs typeface="Arial"/>
              </a:rPr>
              <a:t>Factors of a number</a:t>
            </a:r>
          </a:p>
          <a:p>
            <a:pPr>
              <a:defRPr/>
            </a:pPr>
            <a:endParaRPr lang="en-AU" sz="1800">
              <a:latin typeface="Arial"/>
              <a:cs typeface="Arial"/>
            </a:endParaRPr>
          </a:p>
          <a:p>
            <a:pPr marL="342900" marR="0" lvl="0" indent="-342900" algn="l" defTabSz="1219170" rtl="0" eaLnBrk="1" fontAlgn="auto" latinLnBrk="0" hangingPunct="1">
              <a:lnSpc>
                <a:spcPct val="100000"/>
              </a:lnSpc>
              <a:spcBef>
                <a:spcPts val="0"/>
              </a:spcBef>
              <a:spcAft>
                <a:spcPts val="0"/>
              </a:spcAft>
              <a:buClrTx/>
              <a:buSzTx/>
              <a:buFontTx/>
              <a:buAutoNum type="arabicPeriod"/>
              <a:tabLst/>
              <a:defRPr/>
            </a:pPr>
            <a:r>
              <a:rPr lang="en-AU" sz="1800" b="0">
                <a:effectLst/>
                <a:latin typeface="Arial" panose="020B0604020202020204" pitchFamily="34" charset="0"/>
                <a:ea typeface="Calibri" panose="020F0502020204030204" pitchFamily="34" charset="0"/>
              </a:rPr>
              <a:t>Display Resource 19 – student responses (this resource correspond to Resource 19 – student responses in Stage 3, Year A Unit 16).</a:t>
            </a:r>
          </a:p>
          <a:p>
            <a:pPr marL="342900" marR="0" lvl="0" indent="-342900" algn="l" defTabSz="1219170" rtl="0" eaLnBrk="1" fontAlgn="auto" latinLnBrk="0" hangingPunct="1">
              <a:lnSpc>
                <a:spcPct val="100000"/>
              </a:lnSpc>
              <a:spcBef>
                <a:spcPts val="0"/>
              </a:spcBef>
              <a:spcAft>
                <a:spcPts val="0"/>
              </a:spcAft>
              <a:buClrTx/>
              <a:buSzTx/>
              <a:buFontTx/>
              <a:buAutoNum type="arabicPeriod"/>
              <a:tabLst/>
              <a:defRPr/>
            </a:pPr>
            <a:r>
              <a:rPr lang="en-AU" sz="1800" b="0">
                <a:effectLst/>
                <a:latin typeface="Arial" panose="020B0604020202020204" pitchFamily="34" charset="0"/>
                <a:ea typeface="Calibri" panose="020F0502020204030204" pitchFamily="34" charset="0"/>
              </a:rPr>
              <a:t>Explain: I am thinking of a number. Its factors include 1, 2, 3 and 4. </a:t>
            </a:r>
          </a:p>
          <a:p>
            <a:pPr marL="342900" marR="0" lvl="0" indent="-342900" algn="l" defTabSz="1219170" rtl="0" eaLnBrk="1" fontAlgn="auto" latinLnBrk="0" hangingPunct="1">
              <a:lnSpc>
                <a:spcPct val="100000"/>
              </a:lnSpc>
              <a:spcBef>
                <a:spcPts val="0"/>
              </a:spcBef>
              <a:spcAft>
                <a:spcPts val="0"/>
              </a:spcAft>
              <a:buClrTx/>
              <a:buSzTx/>
              <a:buFontTx/>
              <a:buAutoNum type="arabicPeriod"/>
              <a:tabLst/>
              <a:defRPr/>
            </a:pPr>
            <a:r>
              <a:rPr lang="en-AU" sz="1800" b="0">
                <a:effectLst/>
                <a:latin typeface="Arial" panose="020B0604020202020204" pitchFamily="34" charset="0"/>
                <a:ea typeface="Calibri" panose="020F0502020204030204" pitchFamily="34" charset="0"/>
              </a:rPr>
              <a:t>Ask, and partners turn and talk to answer: </a:t>
            </a:r>
          </a:p>
          <a:p>
            <a:pPr marL="285750" lvl="0" indent="-285750">
              <a:lnSpc>
                <a:spcPct val="150000"/>
              </a:lnSpc>
              <a:spcBef>
                <a:spcPts val="1200"/>
              </a:spcBef>
              <a:spcAft>
                <a:spcPts val="600"/>
              </a:spcAft>
              <a:buFont typeface="Arial" panose="020B0604020202020204" pitchFamily="34" charset="0"/>
              <a:buChar char="•"/>
            </a:pPr>
            <a:r>
              <a:rPr lang="en-AU" sz="1800" b="0">
                <a:effectLst/>
                <a:latin typeface="Arial" panose="020B0604020202020204" pitchFamily="34" charset="0"/>
                <a:ea typeface="Calibri" panose="020F0502020204030204" pitchFamily="34" charset="0"/>
                <a:cs typeface="Times New Roman" panose="02020603050405020304" pitchFamily="18" charset="0"/>
              </a:rPr>
              <a:t>What are the factors of 48, 24 and 71?​</a:t>
            </a:r>
          </a:p>
          <a:p>
            <a:pPr marL="285750" lvl="0" indent="-285750">
              <a:lnSpc>
                <a:spcPct val="150000"/>
              </a:lnSpc>
              <a:spcBef>
                <a:spcPts val="1200"/>
              </a:spcBef>
              <a:spcAft>
                <a:spcPts val="600"/>
              </a:spcAft>
              <a:buFont typeface="Arial" panose="020B0604020202020204" pitchFamily="34" charset="0"/>
              <a:buChar char="•"/>
            </a:pPr>
            <a:r>
              <a:rPr lang="en-AU" sz="1800" b="0">
                <a:effectLst/>
                <a:latin typeface="Arial" panose="020B0604020202020204" pitchFamily="34" charset="0"/>
                <a:ea typeface="Calibri" panose="020F0502020204030204" pitchFamily="34" charset="0"/>
                <a:cs typeface="Times New Roman" panose="02020603050405020304" pitchFamily="18" charset="0"/>
              </a:rPr>
              <a:t>Which answer is correct? 24, 48 or 71? </a:t>
            </a:r>
          </a:p>
          <a:p>
            <a:pPr marL="285750" lvl="0" indent="-285750">
              <a:lnSpc>
                <a:spcPct val="150000"/>
              </a:lnSpc>
              <a:spcBef>
                <a:spcPts val="1200"/>
              </a:spcBef>
              <a:spcAft>
                <a:spcPts val="600"/>
              </a:spcAft>
              <a:buFont typeface="Arial" panose="020B0604020202020204" pitchFamily="34" charset="0"/>
              <a:buChar char="•"/>
            </a:pPr>
            <a:r>
              <a:rPr lang="en-AU" sz="1800" b="0">
                <a:effectLst/>
                <a:latin typeface="Arial" panose="020B0604020202020204" pitchFamily="34" charset="0"/>
                <a:ea typeface="Calibri" panose="020F0502020204030204" pitchFamily="34" charset="0"/>
                <a:cs typeface="Times New Roman" panose="02020603050405020304" pitchFamily="18" charset="0"/>
              </a:rPr>
              <a:t>Why is 71 not a possible answer?</a:t>
            </a:r>
          </a:p>
          <a:p>
            <a:pPr marL="285750" lvl="0" indent="-285750">
              <a:lnSpc>
                <a:spcPct val="150000"/>
              </a:lnSpc>
              <a:spcBef>
                <a:spcPts val="1200"/>
              </a:spcBef>
              <a:spcAft>
                <a:spcPts val="600"/>
              </a:spcAft>
              <a:buFont typeface="Arial" panose="020B0604020202020204" pitchFamily="34" charset="0"/>
              <a:buChar char="•"/>
            </a:pPr>
            <a:r>
              <a:rPr lang="en-AU" sz="1800" b="0">
                <a:effectLst/>
                <a:latin typeface="Arial" panose="020B0604020202020204" pitchFamily="34" charset="0"/>
                <a:ea typeface="Calibri" panose="020F0502020204030204" pitchFamily="34" charset="0"/>
                <a:cs typeface="Times New Roman" panose="02020603050405020304" pitchFamily="18" charset="0"/>
              </a:rPr>
              <a:t>Why are 24 and 48 both correct?</a:t>
            </a:r>
          </a:p>
          <a:p>
            <a:pPr marL="0" lvl="0" indent="0">
              <a:lnSpc>
                <a:spcPct val="150000"/>
              </a:lnSpc>
              <a:spcBef>
                <a:spcPts val="1200"/>
              </a:spcBef>
              <a:spcAft>
                <a:spcPts val="600"/>
              </a:spcAft>
              <a:buFont typeface="Courier New" panose="02070309020205020404" pitchFamily="49" charset="0"/>
              <a:buNone/>
            </a:pPr>
            <a:r>
              <a:rPr lang="en-AU" sz="1800" b="0">
                <a:effectLst/>
                <a:latin typeface="Arial" panose="020B0604020202020204" pitchFamily="34" charset="0"/>
                <a:ea typeface="Calibri" panose="020F0502020204030204" pitchFamily="34" charset="0"/>
                <a:cs typeface="Times New Roman" panose="02020603050405020304" pitchFamily="18" charset="0"/>
              </a:rPr>
              <a:t>4. </a:t>
            </a:r>
            <a:r>
              <a:rPr lang="en-AU" sz="1800" b="0">
                <a:effectLst/>
                <a:latin typeface="Arial" panose="020B0604020202020204" pitchFamily="34" charset="0"/>
                <a:ea typeface="Calibri" panose="020F0502020204030204" pitchFamily="34" charset="0"/>
              </a:rPr>
              <a:t>Check for understanding by selecting students to share their understanding of factors.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800">
              <a:effectLst/>
              <a:latin typeface="Arial" panose="020B0604020202020204" pitchFamily="34" charset="0"/>
              <a:ea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800" b="0">
                <a:effectLst/>
                <a:latin typeface="Arial" panose="020B0604020202020204" pitchFamily="34" charset="0"/>
                <a:ea typeface="Calibri" panose="020F0502020204030204" pitchFamily="34" charset="0"/>
              </a:rPr>
              <a:t>The teacher can pose the following questions after students demonstrate accuracy in solving the first two questions.</a:t>
            </a:r>
          </a:p>
          <a:p>
            <a:pPr marL="285750" lvl="0" indent="-28575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cs typeface="Times New Roman" panose="02020603050405020304" pitchFamily="18" charset="0"/>
              </a:rPr>
              <a:t>Why is 71 not a possible answer?</a:t>
            </a:r>
          </a:p>
          <a:p>
            <a:pPr marL="285750" lvl="0" indent="-28575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cs typeface="Times New Roman" panose="02020603050405020304" pitchFamily="18" charset="0"/>
              </a:rPr>
              <a:t>Why are 24 and 48 both correct?</a:t>
            </a:r>
          </a:p>
          <a:p>
            <a:pPr marL="285750" lvl="0" indent="-285750">
              <a:lnSpc>
                <a:spcPct val="150000"/>
              </a:lnSpc>
              <a:spcBef>
                <a:spcPts val="1200"/>
              </a:spcBef>
              <a:spcAft>
                <a:spcPts val="600"/>
              </a:spcAft>
              <a:buFont typeface="Arial" panose="020B0604020202020204" pitchFamily="34" charset="0"/>
              <a:buChar char="•"/>
            </a:pPr>
            <a:endParaRPr lang="en-AU" sz="1800">
              <a:effectLst/>
              <a:latin typeface="Arial" panose="020B0604020202020204" pitchFamily="34" charset="0"/>
              <a:ea typeface="Calibri" panose="020F0502020204030204" pitchFamily="34" charset="0"/>
              <a:cs typeface="Times New Roman" panose="02020603050405020304" pitchFamily="18"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800" b="0">
              <a:effectLst/>
              <a:latin typeface="Arial" panose="020B060402020202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9C81AA2A-5FF5-7CA7-3AE2-8E3E2BFF8454}"/>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9075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C35B2-3BE5-0C7B-8CC0-327C56CC35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427FE-E01D-4F4A-5A28-F8619B48DA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E2085B-B28F-BC38-03CF-B43254C7799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8ED36F5-A8A9-0858-1AFE-47876950D19A}"/>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3565338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F732A-3965-A9F8-148C-46F030796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8E9F88-151B-E2AD-A9CB-95AB92231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FB8B86-2CA6-9346-88FD-0B5094FCDE8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4</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latin typeface="Arial" panose="020B0604020202020204" pitchFamily="34" charset="0"/>
                <a:ea typeface="+mn-ea"/>
                <a:cs typeface="Arial" panose="020B0604020202020204" pitchFamily="34" charset="0"/>
              </a:rPr>
              <a:t>Multiplicative relations A</a:t>
            </a:r>
            <a:br>
              <a:rPr lang="en-AU" sz="1600" b="0" i="0">
                <a:latin typeface="Arial" panose="020B0604020202020204" pitchFamily="34" charset="0"/>
                <a:cs typeface="Arial" panose="020B06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96CD2AA-96FE-F80B-6423-9E54C403B441}"/>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29975999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27CA5-2D7B-1310-B578-68B553A0C9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249B6-7558-D1B6-6AEA-31B0E23167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FBEB6-C94C-82A7-FAA9-FF20D034732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Represents numbers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E5E3C74-BC9E-DA14-B609-0B9E629AE558}"/>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25292910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5F21C-4616-6476-7144-51A9361332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FCED24-28A8-F376-E732-907919E589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536E64-8430-3576-9DCA-69B4CBFA2D8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0A30C71-B2BC-6CCF-AAF9-3C7D5826FAC9}"/>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7831586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7A0BB-AA34-0B65-41E4-EF814B84E4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1BEDCB-C7EC-29FC-CD6C-FBF8F9D517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BD923A-BE46-08B3-A42D-B88657583BA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91AD530-CC72-1CD3-DC22-84CCE8934B30}"/>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11965645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1A993-7F4F-C93E-0AD2-A9CFA55E8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D4581-477B-5E09-01F6-928C1DFA6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0ADE64-75C4-CB72-FCCF-8818C0A6023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A: Area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88F882-215A-11D1-B667-F9E4F3218AA0}"/>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847601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D1C6E-06DD-4829-0B33-1EB2E8B8F8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86200F-1EDA-2D55-8C65-5CE28EAD92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A04669-C7D0-38B3-8E65-0AC08F76561E}"/>
              </a:ext>
            </a:extLst>
          </p:cNvPr>
          <p:cNvSpPr>
            <a:spLocks noGrp="1"/>
          </p:cNvSpPr>
          <p:nvPr>
            <p:ph type="body" idx="1"/>
          </p:nvPr>
        </p:nvSpPr>
        <p:spPr/>
        <p:txBody>
          <a:bodyPr/>
          <a:lstStyle/>
          <a:p>
            <a:pPr>
              <a:lnSpc>
                <a:spcPct val="150000"/>
              </a:lnSpc>
              <a:spcBef>
                <a:spcPts val="1200"/>
              </a:spcBef>
              <a:spcAft>
                <a:spcPts val="600"/>
              </a:spcAft>
              <a:defRPr/>
            </a:pPr>
            <a:r>
              <a:rPr lang="en-AU" sz="1800">
                <a:solidFill>
                  <a:srgbClr val="000000"/>
                </a:solidFill>
              </a:rPr>
              <a:t>This is a developing number sense activity. </a:t>
            </a:r>
            <a:endParaRPr lang="en-US" sz="1800">
              <a:solidFill>
                <a:srgbClr val="444444"/>
              </a:solidFill>
            </a:endParaRPr>
          </a:p>
          <a:p>
            <a:pPr>
              <a:lnSpc>
                <a:spcPct val="150000"/>
              </a:lnSpc>
              <a:spcBef>
                <a:spcPts val="1200"/>
              </a:spcBef>
              <a:spcAft>
                <a:spcPts val="600"/>
              </a:spcAft>
              <a:defRPr/>
            </a:pPr>
            <a:endParaRPr lang="en-AU" sz="1800">
              <a:solidFill>
                <a:srgbClr val="444444"/>
              </a:solidFill>
            </a:endParaRPr>
          </a:p>
          <a:p>
            <a:pPr>
              <a:lnSpc>
                <a:spcPct val="150000"/>
              </a:lnSpc>
              <a:spcBef>
                <a:spcPts val="1200"/>
              </a:spcBef>
              <a:spcAft>
                <a:spcPts val="600"/>
              </a:spcAft>
              <a:defRPr/>
            </a:pPr>
            <a:r>
              <a:rPr lang="en-AU" sz="1800">
                <a:solidFill>
                  <a:srgbClr val="000000"/>
                </a:solidFil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endParaRPr>
          </a:p>
          <a:p>
            <a:pPr>
              <a:lnSpc>
                <a:spcPts val="1913"/>
              </a:lnSpc>
              <a:defRPr/>
            </a:pPr>
            <a:endParaRPr lang="en-AU" sz="1800">
              <a:solidFill>
                <a:srgbClr val="444444"/>
              </a:solidFill>
            </a:endParaRPr>
          </a:p>
          <a:p>
            <a:pPr>
              <a:defRPr/>
            </a:pPr>
            <a:r>
              <a:rPr lang="en-AU" sz="1800" b="1">
                <a:solidFill>
                  <a:srgbClr val="000000"/>
                </a:solidFill>
              </a:rPr>
              <a:t>Syllabus focus area:</a:t>
            </a:r>
            <a:endParaRPr lang="en-US" sz="1800">
              <a:solidFill>
                <a:srgbClr val="444444"/>
              </a:solidFill>
            </a:endParaRPr>
          </a:p>
          <a:p>
            <a:pPr>
              <a:defRPr/>
            </a:pPr>
            <a:r>
              <a:rPr lang="en-AU" sz="1800">
                <a:solidFill>
                  <a:srgbClr val="000000"/>
                </a:solidFill>
              </a:rPr>
              <a:t>Multiplicative relations A</a:t>
            </a:r>
          </a:p>
          <a:p>
            <a:pPr>
              <a:defRPr/>
            </a:pPr>
            <a:endParaRPr lang="en-AU" sz="1800">
              <a:effectLst/>
              <a:latin typeface="Arial" panose="020B0604020202020204" pitchFamily="34" charset="0"/>
              <a:ea typeface="Calibri" panose="020F0502020204030204" pitchFamily="34" charset="0"/>
            </a:endParaRPr>
          </a:p>
          <a:p>
            <a:pPr marL="0" lvl="0" indent="0">
              <a:lnSpc>
                <a:spcPct val="150000"/>
              </a:lnSpc>
              <a:buFont typeface="Symbol" panose="05050102010706020507" pitchFamily="18" charset="2"/>
              <a:buNone/>
            </a:pPr>
            <a:r>
              <a:rPr lang="en-AU" sz="1800">
                <a:effectLst/>
                <a:latin typeface="Arial" panose="020B0604020202020204" pitchFamily="34" charset="0"/>
                <a:ea typeface="Calibri" panose="020F0502020204030204" pitchFamily="34" charset="0"/>
              </a:rPr>
              <a:t>This activity can be completed as a Number Talk.</a:t>
            </a:r>
          </a:p>
          <a:p>
            <a:pPr marL="0" lvl="0" indent="0">
              <a:lnSpc>
                <a:spcPct val="150000"/>
              </a:lnSpc>
              <a:buFont typeface="Symbol" panose="05050102010706020507" pitchFamily="18" charset="2"/>
              <a:buNone/>
            </a:pPr>
            <a:endParaRPr lang="en-AU" sz="1800" b="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800" b="0">
                <a:effectLst/>
                <a:highlight>
                  <a:srgbClr val="FFFF00"/>
                </a:highlight>
                <a:latin typeface="Arial" panose="020B0604020202020204" pitchFamily="34" charset="0"/>
                <a:ea typeface="Calibri" panose="020F0502020204030204" pitchFamily="34" charset="0"/>
              </a:rPr>
              <a:t>Display the number 64 on the board or large paper.</a:t>
            </a:r>
            <a:endParaRPr lang="en-AU" sz="1800" b="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800" b="0">
                <a:effectLst/>
                <a:highlight>
                  <a:srgbClr val="FFFF00"/>
                </a:highlight>
                <a:latin typeface="Arial" panose="020B0604020202020204" pitchFamily="34" charset="0"/>
                <a:ea typeface="Calibri" panose="020F0502020204030204" pitchFamily="34" charset="0"/>
              </a:rPr>
              <a:t>Ask students to identify the factors of 64. </a:t>
            </a:r>
            <a:endParaRPr lang="en-AU" sz="1800" b="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800" b="0">
                <a:effectLst/>
                <a:highlight>
                  <a:srgbClr val="FFFF00"/>
                </a:highlight>
                <a:latin typeface="Arial" panose="020B0604020202020204" pitchFamily="34" charset="0"/>
                <a:ea typeface="Calibri" panose="020F0502020204030204" pitchFamily="34" charset="0"/>
              </a:rPr>
              <a:t>Record the numbers students choose around the number 64.</a:t>
            </a:r>
            <a:endParaRPr lang="en-AU" sz="1800" b="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800" b="0">
                <a:effectLst/>
                <a:highlight>
                  <a:srgbClr val="FFFF00"/>
                </a:highlight>
                <a:latin typeface="Arial" panose="020B0604020202020204" pitchFamily="34" charset="0"/>
                <a:ea typeface="Calibri" panose="020F0502020204030204" pitchFamily="34" charset="0"/>
              </a:rPr>
              <a:t>Check for student understanding by asking students to explain why they chose that number, recording their strategy and addressing any misconceptions.</a:t>
            </a:r>
          </a:p>
          <a:p>
            <a:pPr marL="342900" marR="0" lvl="0" indent="-342900" algn="l" defTabSz="1219170" rtl="0" eaLnBrk="1" fontAlgn="auto" latinLnBrk="0" hangingPunct="1">
              <a:lnSpc>
                <a:spcPct val="150000"/>
              </a:lnSpc>
              <a:spcBef>
                <a:spcPts val="1200"/>
              </a:spcBef>
              <a:spcAft>
                <a:spcPts val="600"/>
              </a:spcAft>
              <a:buClrTx/>
              <a:buSzTx/>
              <a:buFont typeface="+mj-lt"/>
              <a:buAutoNum type="arabicPeriod"/>
              <a:tabLst/>
              <a:defRPr/>
            </a:pPr>
            <a:r>
              <a:rPr lang="en-AU" sz="1600" kern="1200">
                <a:solidFill>
                  <a:schemeClr val="tx1"/>
                </a:solidFill>
                <a:effectLst/>
                <a:latin typeface="Arial" panose="020B0604020202020204" pitchFamily="34" charset="0"/>
                <a:ea typeface="+mn-ea"/>
                <a:cs typeface="Arial" panose="020B0604020202020204" pitchFamily="34" charset="0"/>
              </a:rPr>
              <a:t>Repeat with other numbers. For example, 48 or 77.</a:t>
            </a:r>
          </a:p>
          <a:p>
            <a:pPr marL="0" lvl="0" indent="0">
              <a:lnSpc>
                <a:spcPct val="150000"/>
              </a:lnSpc>
              <a:spcBef>
                <a:spcPts val="1200"/>
              </a:spcBef>
              <a:spcAft>
                <a:spcPts val="600"/>
              </a:spcAft>
              <a:buFont typeface="+mj-lt"/>
              <a:buNone/>
            </a:pPr>
            <a:endParaRPr lang="en-AU" sz="1800" b="0">
              <a:effectLst/>
              <a:latin typeface="Arial" panose="020B0604020202020204" pitchFamily="34" charset="0"/>
              <a:ea typeface="Calibri" panose="020F0502020204030204" pitchFamily="34" charset="0"/>
            </a:endParaRPr>
          </a:p>
          <a:p>
            <a:pPr marL="0" lvl="0" indent="0">
              <a:lnSpc>
                <a:spcPct val="150000"/>
              </a:lnSpc>
              <a:buFont typeface="Symbol" panose="05050102010706020507" pitchFamily="18" charset="2"/>
              <a:buNone/>
            </a:pPr>
            <a:endParaRPr lang="en-AU" sz="1800" b="0">
              <a:effectLst/>
              <a:latin typeface="Arial" panose="020B0604020202020204" pitchFamily="34" charset="0"/>
              <a:ea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800" b="1">
              <a:effectLst/>
              <a:latin typeface="Arial" panose="020B060402020202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B696ECCC-4C82-260F-09A3-A2F351F68C20}"/>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16783626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818AF-DDC4-010C-0C3E-226873281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03B7B5-593F-4E30-4201-691EFD621B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4148B8-A5EE-066C-084C-26B252FC0EF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CAEACBF-48FC-503B-3932-30BDA4DEBD8C}"/>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8637027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a:t>
            </a:r>
            <a:r>
              <a:rPr lang="en-AU">
                <a:latin typeface="Arial"/>
                <a:cs typeface="Arial"/>
              </a:rPr>
              <a:t>5</a:t>
            </a:r>
            <a:r>
              <a:rPr lang="en-AU" sz="1600" b="0" i="0">
                <a:solidFill>
                  <a:schemeClr val="tx1"/>
                </a:solidFill>
                <a:latin typeface="Arial"/>
                <a:cs typeface="Arial"/>
              </a:rPr>
              <a:t>)</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r>
              <a:rPr lang="en-AU" sz="1600" b="0" i="0" kern="1200">
                <a:solidFill>
                  <a:schemeClr val="tx1"/>
                </a:solidFill>
                <a:effectLst/>
                <a:latin typeface="Arial" panose="020B0604020202020204" pitchFamily="34" charset="0"/>
                <a:ea typeface="+mn-ea"/>
                <a:cs typeface="Arial" panose="020B0604020202020204" pitchFamily="34" charset="0"/>
              </a:rPr>
              <a:t>Representing quantity fractions A</a:t>
            </a:r>
            <a:endParaRPr lang="en-AU">
              <a:effectLst/>
              <a:ea typeface="Calibri" panose="020F0502020204030204" pitchFamily="34" charset="0"/>
              <a:cs typeface="Arial"/>
            </a:endParaRPr>
          </a:p>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B86A9-99E2-4149-56C2-0FAD4CDFC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F2718-A36C-7497-2EE5-81A240248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EB09EE-3E10-C8AF-9F92-5B1BBAB1078C}"/>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Represents numbers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BBA043-81EA-77EE-E881-404311353372}"/>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361160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04360-B294-6875-A777-8E65DF276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95FFA0-8D58-064B-822F-AFE07735A2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7C0922-ADB2-6D09-377E-996CEEE43E3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157227-2E00-F70A-D00B-E66E351F3B92}"/>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31593475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B75FC-45C2-0D96-62F4-2547ACD877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6E951-171E-CEBE-98D0-EAA8C416AD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4A9FBF-0199-90F9-6207-B8212D2695D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B</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6675A1E-9728-DFA8-DCB5-8F3400B0B32B}"/>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0375124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94D49-0FEF-E22C-ADC0-C37054818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F9EBDE-6325-50D3-1D8C-46C2A07207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CFC79-89C8-8091-6BD4-E413B8EB8F6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Chance A</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3DCD472-CD43-2531-1524-996ECEDB5DEC}"/>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17101332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CFA73-EA4F-0DC8-7C08-6EB49B815B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EF7E49-6E9B-0620-795E-0B284892CB80}"/>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78E6D5DF-DAB1-16E0-FDBB-717B1CAF619C}"/>
                  </a:ext>
                </a:extLst>
              </p:cNvPr>
              <p:cNvSpPr>
                <a:spLocks noGrp="1"/>
              </p:cNvSpPr>
              <p:nvPr>
                <p:ph type="body" idx="1"/>
              </p:nvPr>
            </p:nvSpPr>
            <p:spPr/>
            <p:txBody>
              <a:bodyPr/>
              <a:lstStyle/>
              <a:p>
                <a:pPr defTabSz="914400">
                  <a:lnSpc>
                    <a:spcPct val="150000"/>
                  </a:lnSpc>
                  <a:spcBef>
                    <a:spcPts val="1200"/>
                  </a:spcBef>
                  <a:spcAft>
                    <a:spcPts val="600"/>
                  </a:spcAft>
                </a:pPr>
                <a:r>
                  <a:rPr lang="en-AU" sz="1100">
                    <a:latin typeface="Arial"/>
                    <a:cs typeface="Arial"/>
                  </a:rPr>
                  <a:t>This is a developing number sense activity. </a:t>
                </a:r>
                <a:endParaRPr lang="en-US" sz="1100">
                  <a:solidFill>
                    <a:srgbClr val="444444"/>
                  </a:solidFill>
                  <a:latin typeface="Arial"/>
                  <a:cs typeface="Arial"/>
                </a:endParaRPr>
              </a:p>
              <a:p>
                <a:pPr defTabSz="914400">
                  <a:lnSpc>
                    <a:spcPct val="150000"/>
                  </a:lnSpc>
                  <a:spcBef>
                    <a:spcPts val="1200"/>
                  </a:spcBef>
                  <a:spcAft>
                    <a:spcPts val="600"/>
                  </a:spcAft>
                </a:pPr>
                <a:endParaRPr lang="en-AU" sz="1100">
                  <a:solidFill>
                    <a:srgbClr val="444444"/>
                  </a:solidFill>
                </a:endParaRPr>
              </a:p>
              <a:p>
                <a:pPr defTabSz="914400">
                  <a:lnSpc>
                    <a:spcPct val="150000"/>
                  </a:lnSpc>
                  <a:spcBef>
                    <a:spcPts val="1200"/>
                  </a:spcBef>
                  <a:spcAft>
                    <a:spcPts val="600"/>
                  </a:spcAft>
                </a:pPr>
                <a:r>
                  <a:rPr lang="en-AU" sz="11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100">
                  <a:solidFill>
                    <a:srgbClr val="444444"/>
                  </a:solidFill>
                  <a:latin typeface="Arial"/>
                  <a:cs typeface="Arial"/>
                </a:endParaRPr>
              </a:p>
              <a:p>
                <a:pPr marL="0" lvl="0" indent="0">
                  <a:lnSpc>
                    <a:spcPct val="150000"/>
                  </a:lnSpc>
                  <a:spcBef>
                    <a:spcPts val="1200"/>
                  </a:spcBef>
                  <a:spcAft>
                    <a:spcPts val="600"/>
                  </a:spcAft>
                  <a:buFont typeface="Courier New" panose="02070309020205020404" pitchFamily="49" charset="0"/>
                  <a:buNone/>
                </a:pPr>
                <a:endParaRPr lang="en-AU" sz="1100" b="0">
                  <a:effectLst/>
                  <a:latin typeface="Arial" panose="020B0604020202020204" pitchFamily="34" charset="0"/>
                  <a:ea typeface="DengXian" panose="02010600030101010101" pitchFamily="2" charset="-122"/>
                  <a:cs typeface="Times New Roman" panose="02020603050405020304" pitchFamily="18" charset="0"/>
                </a:endParaRPr>
              </a:p>
              <a:p>
                <a:pPr defTabSz="914400"/>
                <a:r>
                  <a:rPr lang="en-AU" sz="1100" b="1">
                    <a:latin typeface="Arial"/>
                    <a:cs typeface="Arial"/>
                  </a:rPr>
                  <a:t>Syllabus focus area:</a:t>
                </a:r>
                <a:endParaRPr lang="en-US" sz="1100">
                  <a:solidFill>
                    <a:srgbClr val="444444"/>
                  </a:solidFill>
                  <a:latin typeface="Arial"/>
                  <a:cs typeface="Arial"/>
                </a:endParaRPr>
              </a:p>
              <a:p>
                <a:pPr defTabSz="914400"/>
                <a:r>
                  <a:rPr lang="en-AU" sz="1100">
                    <a:solidFill>
                      <a:srgbClr val="000000"/>
                    </a:solidFill>
                    <a:latin typeface="Arial"/>
                    <a:cs typeface="Arial"/>
                  </a:rPr>
                  <a:t>Representing quantity fractions A</a:t>
                </a:r>
              </a:p>
              <a:p>
                <a:pPr defTabSz="914400"/>
                <a:endParaRPr lang="en-AU" sz="1100">
                  <a:solidFill>
                    <a:srgbClr val="000000"/>
                  </a:solidFill>
                  <a:latin typeface="Arial"/>
                  <a:cs typeface="Arial"/>
                </a:endParaRPr>
              </a:p>
              <a:p>
                <a:pPr defTabSz="914400"/>
                <a:r>
                  <a:rPr lang="en-AU" sz="1100" b="1">
                    <a:solidFill>
                      <a:srgbClr val="000000"/>
                    </a:solidFill>
                    <a:latin typeface="Arial"/>
                    <a:cs typeface="Arial"/>
                  </a:rPr>
                  <a:t>Adding and subtracting fractions in area models</a:t>
                </a:r>
              </a:p>
              <a:p>
                <a:pPr marL="0" lvl="0" indent="0">
                  <a:lnSpc>
                    <a:spcPct val="150000"/>
                  </a:lnSpc>
                  <a:spcBef>
                    <a:spcPts val="1200"/>
                  </a:spcBef>
                  <a:spcAft>
                    <a:spcPts val="600"/>
                  </a:spcAft>
                  <a:buFont typeface="Courier New" panose="02070309020205020404" pitchFamily="49" charset="0"/>
                  <a:buNone/>
                </a:pPr>
                <a:endParaRPr lang="en-AU" sz="1100" b="0">
                  <a:effectLst/>
                  <a:latin typeface="Arial" panose="020B0604020202020204" pitchFamily="34" charset="0"/>
                  <a:ea typeface="DengXian" panose="02010600030101010101" pitchFamily="2" charset="-122"/>
                  <a:cs typeface="Times New Roman" panose="02020603050405020304" pitchFamily="18" charset="0"/>
                </a:endParaRPr>
              </a:p>
              <a:p>
                <a:pPr marL="0" marR="0" lvl="0" indent="0" algn="l" defTabSz="1219170" rtl="0" eaLnBrk="1" fontAlgn="auto" latinLnBrk="0" hangingPunct="1">
                  <a:lnSpc>
                    <a:spcPct val="150000"/>
                  </a:lnSpc>
                  <a:spcBef>
                    <a:spcPts val="1200"/>
                  </a:spcBef>
                  <a:spcAft>
                    <a:spcPts val="600"/>
                  </a:spcAft>
                  <a:buClrTx/>
                  <a:buSzTx/>
                  <a:buFont typeface="Courier New" panose="02070309020205020404" pitchFamily="49" charset="0"/>
                  <a:buNone/>
                  <a:tabLst/>
                  <a:defRPr/>
                </a:pPr>
                <a:r>
                  <a:rPr lang="en-AU" sz="1100" b="0">
                    <a:effectLst/>
                    <a:latin typeface="Arial" panose="020B0604020202020204" pitchFamily="34" charset="0"/>
                    <a:ea typeface="DengXian" panose="02010600030101010101" pitchFamily="2" charset="-122"/>
                    <a:cs typeface="Times New Roman" panose="02020603050405020304" pitchFamily="18" charset="0"/>
                  </a:rPr>
                  <a:t>1. </a:t>
                </a:r>
                <a:r>
                  <a:rPr lang="en-AU" sz="1100" b="0">
                    <a:effectLst/>
                    <a:latin typeface="Arial" panose="020B0604020202020204" pitchFamily="34" charset="0"/>
                    <a:ea typeface="Calibri" panose="020F0502020204030204" pitchFamily="34" charset="0"/>
                  </a:rPr>
                  <a:t>Display Resource 20 – fraction area models (this resource correspond to Resource 20 – fraction area models in Stage 3, Year A Unit 16).</a:t>
                </a:r>
                <a:endParaRPr lang="en-AU" sz="1100" b="0">
                  <a:effectLst/>
                  <a:latin typeface="Arial" panose="020B0604020202020204" pitchFamily="34" charset="0"/>
                  <a:ea typeface="DengXian" panose="02010600030101010101" pitchFamily="2" charset="-122"/>
                  <a:cs typeface="Times New Roman" panose="02020603050405020304" pitchFamily="18" charset="0"/>
                </a:endParaRPr>
              </a:p>
              <a:p>
                <a:pPr marL="0" marR="0" lvl="0" indent="0" algn="l" defTabSz="1219170" rtl="0" eaLnBrk="1" fontAlgn="auto" latinLnBrk="0" hangingPunct="1">
                  <a:lnSpc>
                    <a:spcPct val="150000"/>
                  </a:lnSpc>
                  <a:spcBef>
                    <a:spcPts val="1200"/>
                  </a:spcBef>
                  <a:spcAft>
                    <a:spcPts val="600"/>
                  </a:spcAft>
                  <a:buClrTx/>
                  <a:buSzTx/>
                  <a:buFont typeface="Courier New" panose="02070309020205020404" pitchFamily="49" charset="0"/>
                  <a:buNone/>
                  <a:tabLst/>
                  <a:defRPr/>
                </a:pPr>
                <a:r>
                  <a:rPr lang="en-AU" sz="1100" b="0">
                    <a:effectLst/>
                    <a:latin typeface="Arial" panose="020B0604020202020204" pitchFamily="34" charset="0"/>
                    <a:ea typeface="DengXian" panose="02010600030101010101" pitchFamily="2" charset="-122"/>
                    <a:cs typeface="Times New Roman" panose="02020603050405020304" pitchFamily="18" charset="0"/>
                  </a:rPr>
                  <a:t>2. </a:t>
                </a:r>
                <a:r>
                  <a:rPr lang="en-AU" sz="1100" b="0">
                    <a:effectLst/>
                    <a:latin typeface="Arial" panose="020B0604020202020204" pitchFamily="34" charset="0"/>
                    <a:ea typeface="Calibri" panose="020F0502020204030204" pitchFamily="34" charset="0"/>
                  </a:rPr>
                  <a:t>Explain that for image A:</a:t>
                </a:r>
              </a:p>
              <a:p>
                <a:pPr marL="171450" lvl="0" indent="-171450">
                  <a:lnSpc>
                    <a:spcPct val="150000"/>
                  </a:lnSpc>
                  <a:spcBef>
                    <a:spcPts val="1200"/>
                  </a:spcBef>
                  <a:spcAft>
                    <a:spcPts val="600"/>
                  </a:spcAft>
                  <a:buFont typeface="Arial" panose="020B0604020202020204" pitchFamily="34" charset="0"/>
                  <a:buChar char="•"/>
                </a:pPr>
                <a:r>
                  <a:rPr lang="en-AU" sz="1100" b="0">
                    <a:effectLst/>
                    <a:latin typeface="Arial" panose="020B0604020202020204" pitchFamily="34" charset="0"/>
                    <a:ea typeface="Calibri" panose="020F0502020204030204" pitchFamily="34" charset="0"/>
                    <a:cs typeface="Times New Roman" panose="02020603050405020304" pitchFamily="18" charset="0"/>
                  </a:rPr>
                  <a:t>the large rectangle represents a whole or 1</a:t>
                </a:r>
              </a:p>
              <a:p>
                <a:pPr marL="171450" lvl="0" indent="-171450">
                  <a:lnSpc>
                    <a:spcPct val="150000"/>
                  </a:lnSpc>
                  <a:spcBef>
                    <a:spcPts val="1200"/>
                  </a:spcBef>
                  <a:spcAft>
                    <a:spcPts val="600"/>
                  </a:spcAft>
                  <a:buFont typeface="Arial" panose="020B0604020202020204" pitchFamily="34" charset="0"/>
                  <a:buChar char="•"/>
                </a:pPr>
                <a:r>
                  <a:rPr lang="en-AU" sz="1100" b="0">
                    <a:effectLst/>
                    <a:latin typeface="Arial" panose="020B0604020202020204" pitchFamily="34" charset="0"/>
                    <a:ea typeface="Calibri" panose="020F0502020204030204" pitchFamily="34" charset="0"/>
                    <a:cs typeface="Times New Roman" panose="02020603050405020304" pitchFamily="18" charset="0"/>
                  </a:rPr>
                  <a:t>each section represents one-sixth ( </a:t>
                </a:r>
                <a14:m>
                  <m:oMath xmlns:m="http://schemas.openxmlformats.org/officeDocument/2006/math">
                    <m:f>
                      <m:fPr>
                        <m:ctrlPr>
                          <a:rPr lang="en-AU" sz="1100" b="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1</m:t>
                        </m:r>
                      </m:num>
                      <m:den>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6</m:t>
                        </m:r>
                      </m:den>
                    </m:f>
                  </m:oMath>
                </a14:m>
                <a:r>
                  <a:rPr lang="en-AU" sz="1100" b="0">
                    <a:effectLst/>
                    <a:latin typeface="Arial" panose="020B0604020202020204" pitchFamily="34" charset="0"/>
                    <a:ea typeface="DengXian" panose="02010600030101010101" pitchFamily="2" charset="-122"/>
                    <a:cs typeface="Times New Roman" panose="02020603050405020304" pitchFamily="18" charset="0"/>
                  </a:rPr>
                  <a:t> )</a:t>
                </a:r>
                <a:endParaRPr lang="en-AU" sz="1100" b="0">
                  <a:effectLst/>
                  <a:latin typeface="Arial" panose="020B0604020202020204" pitchFamily="34" charset="0"/>
                  <a:ea typeface="Calibri" panose="020F0502020204030204" pitchFamily="34" charset="0"/>
                  <a:cs typeface="Times New Roman" panose="02020603050405020304" pitchFamily="18" charset="0"/>
                </a:endParaRPr>
              </a:p>
              <a:p>
                <a:pPr marL="171450" lvl="0" indent="-171450">
                  <a:lnSpc>
                    <a:spcPct val="150000"/>
                  </a:lnSpc>
                  <a:spcBef>
                    <a:spcPts val="1200"/>
                  </a:spcBef>
                  <a:spcAft>
                    <a:spcPts val="600"/>
                  </a:spcAft>
                  <a:buFont typeface="Arial" panose="020B0604020202020204" pitchFamily="34" charset="0"/>
                  <a:buChar char="•"/>
                </a:pPr>
                <a:r>
                  <a:rPr lang="en-AU" sz="1100" b="0">
                    <a:effectLst/>
                    <a:latin typeface="Arial" panose="020B0604020202020204" pitchFamily="34" charset="0"/>
                    <a:ea typeface="Calibri" panose="020F0502020204030204" pitchFamily="34" charset="0"/>
                    <a:cs typeface="Times New Roman" panose="02020603050405020304" pitchFamily="18" charset="0"/>
                  </a:rPr>
                  <a:t>the dotted area can be named two-sixths ( </a:t>
                </a:r>
                <a14:m>
                  <m:oMath xmlns:m="http://schemas.openxmlformats.org/officeDocument/2006/math">
                    <m:f>
                      <m:fPr>
                        <m:ctrlPr>
                          <a:rPr lang="en-AU" sz="1100" b="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2</m:t>
                        </m:r>
                      </m:num>
                      <m:den>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6</m:t>
                        </m:r>
                      </m:den>
                    </m:f>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AU" sz="1100" b="0">
                    <a:effectLst/>
                    <a:latin typeface="Arial" panose="020B0604020202020204" pitchFamily="34" charset="0"/>
                    <a:ea typeface="DengXian" panose="02010600030101010101" pitchFamily="2" charset="-122"/>
                    <a:cs typeface="Times New Roman" panose="02020603050405020304" pitchFamily="18" charset="0"/>
                  </a:rPr>
                  <a:t>) </a:t>
                </a:r>
                <a:r>
                  <a:rPr lang="en-AU" sz="1100" b="0">
                    <a:effectLst/>
                    <a:latin typeface="Arial" panose="020B0604020202020204" pitchFamily="34" charset="0"/>
                    <a:ea typeface="Calibri" panose="020F0502020204030204" pitchFamily="34" charset="0"/>
                    <a:cs typeface="Times New Roman" panose="02020603050405020304" pitchFamily="18" charset="0"/>
                  </a:rPr>
                  <a:t>or one-third ( </a:t>
                </a:r>
                <a14:m>
                  <m:oMath xmlns:m="http://schemas.openxmlformats.org/officeDocument/2006/math">
                    <m:f>
                      <m:fPr>
                        <m:ctrlPr>
                          <a:rPr lang="en-AU" sz="1100" b="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1</m:t>
                        </m:r>
                      </m:num>
                      <m:den>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3</m:t>
                        </m:r>
                      </m:den>
                    </m:f>
                  </m:oMath>
                </a14:m>
                <a:r>
                  <a:rPr lang="en-AU" sz="1100" b="0">
                    <a:effectLst/>
                    <a:latin typeface="Arial" panose="020B0604020202020204" pitchFamily="34" charset="0"/>
                    <a:ea typeface="DengXian" panose="02010600030101010101" pitchFamily="2" charset="-122"/>
                    <a:cs typeface="Times New Roman" panose="02020603050405020304" pitchFamily="18" charset="0"/>
                  </a:rPr>
                  <a:t> )</a:t>
                </a:r>
                <a:endParaRPr lang="en-AU" sz="1100" b="0">
                  <a:effectLst/>
                  <a:latin typeface="Arial" panose="020B0604020202020204" pitchFamily="34" charset="0"/>
                  <a:ea typeface="Calibri" panose="020F0502020204030204" pitchFamily="34" charset="0"/>
                  <a:cs typeface="Times New Roman" panose="02020603050405020304" pitchFamily="18" charset="0"/>
                </a:endParaRPr>
              </a:p>
              <a:p>
                <a:pPr marL="171450" lvl="0" indent="-171450">
                  <a:lnSpc>
                    <a:spcPct val="150000"/>
                  </a:lnSpc>
                  <a:spcBef>
                    <a:spcPts val="1200"/>
                  </a:spcBef>
                  <a:spcAft>
                    <a:spcPts val="600"/>
                  </a:spcAft>
                  <a:buFont typeface="Arial" panose="020B0604020202020204" pitchFamily="34" charset="0"/>
                  <a:buChar char="•"/>
                </a:pPr>
                <a:r>
                  <a:rPr lang="en-AU" sz="1100" b="0">
                    <a:effectLst/>
                    <a:latin typeface="Arial" panose="020B0604020202020204" pitchFamily="34" charset="0"/>
                    <a:ea typeface="Calibri" panose="020F0502020204030204" pitchFamily="34" charset="0"/>
                    <a:cs typeface="Times New Roman" panose="02020603050405020304" pitchFamily="18" charset="0"/>
                  </a:rPr>
                  <a:t>the hatched area can be named three-sixths ( </a:t>
                </a:r>
                <a14:m>
                  <m:oMath xmlns:m="http://schemas.openxmlformats.org/officeDocument/2006/math">
                    <m:f>
                      <m:fPr>
                        <m:ctrlPr>
                          <a:rPr lang="en-AU" sz="1100" b="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3</m:t>
                        </m:r>
                      </m:num>
                      <m:den>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6</m:t>
                        </m:r>
                      </m:den>
                    </m:f>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AU" sz="1100" b="0">
                    <a:effectLst/>
                    <a:latin typeface="Arial" panose="020B0604020202020204" pitchFamily="34" charset="0"/>
                    <a:ea typeface="DengXian" panose="02010600030101010101" pitchFamily="2" charset="-122"/>
                    <a:cs typeface="Times New Roman" panose="02020603050405020304" pitchFamily="18" charset="0"/>
                  </a:rPr>
                  <a:t>) </a:t>
                </a:r>
                <a:r>
                  <a:rPr lang="en-AU" sz="1100" b="0">
                    <a:effectLst/>
                    <a:latin typeface="Arial" panose="020B0604020202020204" pitchFamily="34" charset="0"/>
                    <a:ea typeface="Calibri" panose="020F0502020204030204" pitchFamily="34" charset="0"/>
                    <a:cs typeface="Times New Roman" panose="02020603050405020304" pitchFamily="18" charset="0"/>
                  </a:rPr>
                  <a:t>or one-half </a:t>
                </a:r>
                <a:r>
                  <a:rPr lang="en-AU" sz="1100" b="0" u="none">
                    <a:solidFill>
                      <a:srgbClr val="2F5496"/>
                    </a:solidFill>
                    <a:effectLst/>
                    <a:latin typeface="Arial" panose="020B0604020202020204" pitchFamily="34" charset="0"/>
                    <a:ea typeface="Calibri" panose="020F0502020204030204" pitchFamily="34" charset="0"/>
                    <a:cs typeface="Times New Roman" panose="02020603050405020304" pitchFamily="18" charset="0"/>
                  </a:rPr>
                  <a:t>( </a:t>
                </a:r>
                <a14:m>
                  <m:oMath xmlns:m="http://schemas.openxmlformats.org/officeDocument/2006/math">
                    <m:f>
                      <m:fPr>
                        <m:ctrlPr>
                          <a:rPr lang="en-AU" sz="1100" b="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1</m:t>
                        </m:r>
                      </m:num>
                      <m:den>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2</m:t>
                        </m:r>
                      </m:den>
                    </m:f>
                  </m:oMath>
                </a14:m>
                <a:r>
                  <a:rPr lang="en-AU" sz="1100" b="0">
                    <a:effectLst/>
                    <a:latin typeface="Arial" panose="020B0604020202020204" pitchFamily="34" charset="0"/>
                    <a:ea typeface="DengXian" panose="02010600030101010101" pitchFamily="2" charset="-122"/>
                    <a:cs typeface="Times New Roman" panose="02020603050405020304" pitchFamily="18" charset="0"/>
                  </a:rPr>
                  <a:t> ).</a:t>
                </a:r>
              </a:p>
              <a:p>
                <a:pPr marL="0" lvl="0" indent="0">
                  <a:lnSpc>
                    <a:spcPct val="150000"/>
                  </a:lnSpc>
                  <a:spcBef>
                    <a:spcPts val="1200"/>
                  </a:spcBef>
                  <a:spcAft>
                    <a:spcPts val="600"/>
                  </a:spcAft>
                  <a:buFont typeface="Courier New" panose="02070309020205020404" pitchFamily="49" charset="0"/>
                  <a:buNone/>
                </a:pPr>
                <a:r>
                  <a:rPr lang="en-AU" sz="1100" b="0">
                    <a:effectLst/>
                    <a:latin typeface="Arial" panose="020B0604020202020204" pitchFamily="34" charset="0"/>
                    <a:ea typeface="DengXian" panose="02010600030101010101" pitchFamily="2" charset="-122"/>
                    <a:cs typeface="Times New Roman" panose="02020603050405020304" pitchFamily="18" charset="0"/>
                  </a:rPr>
                  <a:t>3. </a:t>
                </a:r>
                <a:r>
                  <a:rPr lang="en-AU" sz="1100" b="0">
                    <a:effectLst/>
                    <a:latin typeface="Arial" panose="020B0604020202020204" pitchFamily="34" charset="0"/>
                    <a:ea typeface="Calibri" panose="020F0502020204030204" pitchFamily="34" charset="0"/>
                  </a:rPr>
                  <a:t>Students record at least 4 addition or subtraction sentences that match image A. Examples may include:</a:t>
                </a:r>
              </a:p>
              <a:p>
                <a:pPr marL="171450" lvl="0" indent="-171450">
                  <a:lnSpc>
                    <a:spcPct val="150000"/>
                  </a:lnSpc>
                  <a:spcBef>
                    <a:spcPts val="1200"/>
                  </a:spcBef>
                  <a:spcAft>
                    <a:spcPts val="600"/>
                  </a:spcAft>
                  <a:buFont typeface="Arial" panose="020B0604020202020204" pitchFamily="34" charset="0"/>
                  <a:buChar char="•"/>
                </a:pPr>
                <a14:m>
                  <m:oMath xmlns:m="http://schemas.openxmlformats.org/officeDocument/2006/math">
                    <m:f>
                      <m:fPr>
                        <m:ctrlPr>
                          <a:rPr lang="en-AU" sz="1100" b="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1</m:t>
                        </m:r>
                      </m:num>
                      <m:den>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6</m:t>
                        </m:r>
                      </m:den>
                    </m:f>
                  </m:oMath>
                </a14:m>
                <a:r>
                  <a:rPr lang="en-AU" sz="1100" b="0">
                    <a:effectLst/>
                    <a:latin typeface="Arial" panose="020B0604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AU" sz="1100" b="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2</m:t>
                        </m:r>
                      </m:num>
                      <m:den>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6</m:t>
                        </m:r>
                      </m:den>
                    </m:f>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AU" sz="1100" b="0">
                    <a:effectLst/>
                    <a:latin typeface="Arial" panose="020B0604020202020204" pitchFamily="34" charset="0"/>
                    <a:ea typeface="Calibri" panose="020F0502020204030204" pitchFamily="34" charset="0"/>
                    <a:cs typeface="Times New Roman" panose="02020603050405020304" pitchFamily="18" charset="0"/>
                  </a:rPr>
                  <a:t>+ </a:t>
                </a:r>
                <a14:m>
                  <m:oMath xmlns:m="http://schemas.openxmlformats.org/officeDocument/2006/math">
                    <m:f>
                      <m:fPr>
                        <m:ctrlPr>
                          <a:rPr lang="en-AU" sz="1100" b="0"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100" b="0" i="1" dirty="0" smtClean="0">
                            <a:effectLst/>
                            <a:latin typeface="Cambria Math" panose="02040503050406030204" pitchFamily="18" charset="0"/>
                            <a:ea typeface="Calibri" panose="020F0502020204030204" pitchFamily="34" charset="0"/>
                            <a:cs typeface="Times New Roman" panose="02020603050405020304" pitchFamily="18" charset="0"/>
                          </a:rPr>
                          <m:t>3</m:t>
                        </m:r>
                      </m:num>
                      <m:den>
                        <m:r>
                          <a:rPr lang="en-AU" sz="1100" b="0" i="1" dirty="0" smtClean="0">
                            <a:effectLst/>
                            <a:latin typeface="Cambria Math" panose="02040503050406030204" pitchFamily="18" charset="0"/>
                            <a:ea typeface="Calibri" panose="020F0502020204030204" pitchFamily="34" charset="0"/>
                            <a:cs typeface="Times New Roman" panose="02020603050405020304" pitchFamily="18" charset="0"/>
                          </a:rPr>
                          <m:t>6</m:t>
                        </m:r>
                      </m:den>
                    </m:f>
                    <m:r>
                      <a:rPr lang="en-AU" sz="1100" b="0" i="1" dirty="0"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AU" sz="1100" b="0">
                    <a:effectLst/>
                    <a:latin typeface="Arial" panose="020B0604020202020204" pitchFamily="34" charset="0"/>
                    <a:ea typeface="Calibri" panose="020F0502020204030204" pitchFamily="34" charset="0"/>
                    <a:cs typeface="Times New Roman" panose="02020603050405020304" pitchFamily="18" charset="0"/>
                  </a:rPr>
                  <a:t>= 1</a:t>
                </a:r>
              </a:p>
              <a:p>
                <a:pPr marL="171450" lvl="0" indent="-171450">
                  <a:lnSpc>
                    <a:spcPct val="150000"/>
                  </a:lnSpc>
                  <a:spcBef>
                    <a:spcPts val="1200"/>
                  </a:spcBef>
                  <a:spcAft>
                    <a:spcPts val="600"/>
                  </a:spcAft>
                  <a:buFont typeface="Arial" panose="020B0604020202020204" pitchFamily="34" charset="0"/>
                  <a:buChar char="•"/>
                </a:pPr>
                <a14:m>
                  <m:oMath xmlns:m="http://schemas.openxmlformats.org/officeDocument/2006/math">
                    <m:f>
                      <m:fPr>
                        <m:ctrlPr>
                          <a:rPr lang="en-AU" sz="1100" b="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3</m:t>
                        </m:r>
                      </m:num>
                      <m:den>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6</m:t>
                        </m:r>
                      </m:den>
                    </m:f>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AU" sz="1100" b="0">
                    <a:effectLst/>
                    <a:latin typeface="Arial" panose="020B0604020202020204" pitchFamily="34" charset="0"/>
                    <a:ea typeface="Calibri" panose="020F0502020204030204" pitchFamily="34" charset="0"/>
                    <a:cs typeface="Times New Roman" panose="02020603050405020304" pitchFamily="18" charset="0"/>
                  </a:rPr>
                  <a:t>+ </a:t>
                </a:r>
                <a14:m>
                  <m:oMath xmlns:m="http://schemas.openxmlformats.org/officeDocument/2006/math">
                    <m:f>
                      <m:fPr>
                        <m:ctrlPr>
                          <a:rPr lang="en-AU" sz="1100" b="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2</m:t>
                        </m:r>
                      </m:num>
                      <m:den>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6</m:t>
                        </m:r>
                      </m:den>
                    </m:f>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AU" sz="1100" b="0">
                    <a:effectLst/>
                    <a:latin typeface="Arial" panose="020B0604020202020204" pitchFamily="34" charset="0"/>
                    <a:ea typeface="Calibri" panose="020F0502020204030204" pitchFamily="34" charset="0"/>
                    <a:cs typeface="Times New Roman" panose="02020603050405020304" pitchFamily="18" charset="0"/>
                  </a:rPr>
                  <a:t>= </a:t>
                </a:r>
                <a14:m>
                  <m:oMath xmlns:m="http://schemas.openxmlformats.org/officeDocument/2006/math">
                    <m:f>
                      <m:fPr>
                        <m:ctrlPr>
                          <a:rPr lang="en-AU" sz="1100" b="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5</m:t>
                        </m:r>
                      </m:num>
                      <m:den>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6</m:t>
                        </m:r>
                      </m:den>
                    </m:f>
                  </m:oMath>
                </a14:m>
                <a:endParaRPr lang="en-AU" sz="1100" b="0">
                  <a:effectLst/>
                  <a:latin typeface="Arial" panose="020B0604020202020204" pitchFamily="34" charset="0"/>
                  <a:ea typeface="Calibri" panose="020F0502020204030204" pitchFamily="34" charset="0"/>
                  <a:cs typeface="Times New Roman" panose="02020603050405020304" pitchFamily="18" charset="0"/>
                </a:endParaRPr>
              </a:p>
              <a:p>
                <a:pPr marL="171450" lvl="0" indent="-171450">
                  <a:lnSpc>
                    <a:spcPct val="150000"/>
                  </a:lnSpc>
                  <a:spcBef>
                    <a:spcPts val="1200"/>
                  </a:spcBef>
                  <a:spcAft>
                    <a:spcPts val="600"/>
                  </a:spcAft>
                  <a:buFont typeface="Arial" panose="020B0604020202020204" pitchFamily="34" charset="0"/>
                  <a:buChar char="•"/>
                </a:pPr>
                <a14:m>
                  <m:oMath xmlns:m="http://schemas.openxmlformats.org/officeDocument/2006/math">
                    <m:f>
                      <m:fPr>
                        <m:ctrlPr>
                          <a:rPr lang="en-AU" sz="1100" b="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3</m:t>
                        </m:r>
                      </m:num>
                      <m:den>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6</m:t>
                        </m:r>
                      </m:den>
                    </m:f>
                  </m:oMath>
                </a14:m>
                <a:r>
                  <a:rPr lang="en-AU" sz="1100" b="0">
                    <a:effectLst/>
                    <a:latin typeface="Arial" panose="020B0604020202020204" pitchFamily="34" charset="0"/>
                    <a:ea typeface="DengXian" panose="02010600030101010101" pitchFamily="2" charset="-122"/>
                    <a:cs typeface="Times New Roman" panose="02020603050405020304" pitchFamily="18" charset="0"/>
                  </a:rPr>
                  <a:t> – </a:t>
                </a:r>
                <a14:m>
                  <m:oMath xmlns:m="http://schemas.openxmlformats.org/officeDocument/2006/math">
                    <m:f>
                      <m:fPr>
                        <m:ctrlPr>
                          <a:rPr lang="en-AU" sz="1100" b="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AU" sz="1100" b="0" i="1" smtClean="0">
                            <a:effectLst/>
                            <a:latin typeface="Cambria Math" panose="02040503050406030204" pitchFamily="18" charset="0"/>
                            <a:ea typeface="DengXian" panose="02010600030101010101" pitchFamily="2" charset="-122"/>
                            <a:cs typeface="Times New Roman" panose="02020603050405020304" pitchFamily="18" charset="0"/>
                          </a:rPr>
                          <m:t>2</m:t>
                        </m:r>
                      </m:num>
                      <m:den>
                        <m:r>
                          <a:rPr lang="en-AU" sz="1100" b="0" i="1" smtClean="0">
                            <a:effectLst/>
                            <a:latin typeface="Cambria Math" panose="02040503050406030204" pitchFamily="18" charset="0"/>
                            <a:ea typeface="DengXian" panose="02010600030101010101" pitchFamily="2" charset="-122"/>
                            <a:cs typeface="Times New Roman" panose="02020603050405020304" pitchFamily="18" charset="0"/>
                          </a:rPr>
                          <m:t>6</m:t>
                        </m:r>
                      </m:den>
                    </m:f>
                    <m:r>
                      <a:rPr lang="en-AU" sz="1100" b="0" i="1" smtClean="0">
                        <a:effectLst/>
                        <a:latin typeface="Cambria Math" panose="02040503050406030204" pitchFamily="18" charset="0"/>
                        <a:ea typeface="DengXian" panose="02010600030101010101" pitchFamily="2" charset="-122"/>
                        <a:cs typeface="Times New Roman" panose="02020603050405020304" pitchFamily="18" charset="0"/>
                      </a:rPr>
                      <m:t> </m:t>
                    </m:r>
                  </m:oMath>
                </a14:m>
                <a:r>
                  <a:rPr lang="en-AU" sz="1100" b="0">
                    <a:effectLst/>
                    <a:latin typeface="Arial" panose="020B0604020202020204" pitchFamily="34" charset="0"/>
                    <a:ea typeface="DengXian" panose="02010600030101010101" pitchFamily="2" charset="-122"/>
                    <a:cs typeface="Times New Roman" panose="02020603050405020304" pitchFamily="18" charset="0"/>
                  </a:rPr>
                  <a:t>= </a:t>
                </a:r>
                <a14:m>
                  <m:oMath xmlns:m="http://schemas.openxmlformats.org/officeDocument/2006/math">
                    <m:f>
                      <m:fPr>
                        <m:ctrlPr>
                          <a:rPr lang="en-AU" sz="1100" b="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AU" sz="1100" b="0" i="1" smtClean="0">
                            <a:effectLst/>
                            <a:latin typeface="Cambria Math" panose="02040503050406030204" pitchFamily="18" charset="0"/>
                            <a:ea typeface="DengXian" panose="02010600030101010101" pitchFamily="2" charset="-122"/>
                            <a:cs typeface="Times New Roman" panose="02020603050405020304" pitchFamily="18" charset="0"/>
                          </a:rPr>
                          <m:t>1</m:t>
                        </m:r>
                      </m:num>
                      <m:den>
                        <m:r>
                          <a:rPr lang="en-AU" sz="1100" b="0" i="1" smtClean="0">
                            <a:effectLst/>
                            <a:latin typeface="Cambria Math" panose="02040503050406030204" pitchFamily="18" charset="0"/>
                            <a:ea typeface="DengXian" panose="02010600030101010101" pitchFamily="2" charset="-122"/>
                            <a:cs typeface="Times New Roman" panose="02020603050405020304" pitchFamily="18" charset="0"/>
                          </a:rPr>
                          <m:t>6</m:t>
                        </m:r>
                      </m:den>
                    </m:f>
                  </m:oMath>
                </a14:m>
                <a:endParaRPr lang="en-AU" sz="1100" b="0">
                  <a:effectLst/>
                  <a:latin typeface="Arial" panose="020B0604020202020204" pitchFamily="34" charset="0"/>
                  <a:ea typeface="Calibri" panose="020F0502020204030204" pitchFamily="34" charset="0"/>
                  <a:cs typeface="Times New Roman" panose="02020603050405020304" pitchFamily="18" charset="0"/>
                </a:endParaRPr>
              </a:p>
              <a:p>
                <a:pPr marL="171450" lvl="0" indent="-171450">
                  <a:lnSpc>
                    <a:spcPct val="150000"/>
                  </a:lnSpc>
                  <a:spcBef>
                    <a:spcPts val="1200"/>
                  </a:spcBef>
                  <a:spcAft>
                    <a:spcPts val="600"/>
                  </a:spcAft>
                  <a:buFont typeface="Arial" panose="020B0604020202020204" pitchFamily="34" charset="0"/>
                  <a:buChar char="•"/>
                </a:pPr>
                <a:r>
                  <a:rPr lang="en-AU" sz="1100" b="0">
                    <a:effectLst/>
                    <a:latin typeface="Arial" panose="020B0604020202020204" pitchFamily="34" charset="0"/>
                    <a:ea typeface="Calibri" panose="020F0502020204030204" pitchFamily="34" charset="0"/>
                    <a:cs typeface="Times New Roman" panose="02020603050405020304" pitchFamily="18" charset="0"/>
                  </a:rPr>
                  <a:t>1 </a:t>
                </a:r>
                <a:r>
                  <a:rPr lang="en-AU" sz="1100" b="0">
                    <a:effectLst/>
                    <a:latin typeface="Arial" panose="020B0604020202020204" pitchFamily="34" charset="0"/>
                    <a:ea typeface="DengXian" panose="02010600030101010101" pitchFamily="2" charset="-122"/>
                    <a:cs typeface="Times New Roman" panose="02020603050405020304" pitchFamily="18" charset="0"/>
                  </a:rPr>
                  <a:t>– </a:t>
                </a:r>
                <a14:m>
                  <m:oMath xmlns:m="http://schemas.openxmlformats.org/officeDocument/2006/math">
                    <m:f>
                      <m:fPr>
                        <m:ctrlPr>
                          <a:rPr lang="en-AU" sz="1100" b="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1</m:t>
                        </m:r>
                      </m:num>
                      <m:den>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6</m:t>
                        </m:r>
                      </m:den>
                    </m:f>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AU" sz="1100" b="0">
                    <a:effectLst/>
                    <a:latin typeface="Arial" panose="020B0604020202020204" pitchFamily="34" charset="0"/>
                    <a:ea typeface="DengXian" panose="02010600030101010101" pitchFamily="2" charset="-122"/>
                    <a:cs typeface="Times New Roman" panose="02020603050405020304" pitchFamily="18" charset="0"/>
                  </a:rPr>
                  <a:t>= </a:t>
                </a:r>
                <a14:m>
                  <m:oMath xmlns:m="http://schemas.openxmlformats.org/officeDocument/2006/math">
                    <m:f>
                      <m:fPr>
                        <m:ctrlPr>
                          <a:rPr lang="en-AU" sz="1100" b="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AU" sz="1100" b="0" i="1" smtClean="0">
                            <a:effectLst/>
                            <a:latin typeface="Cambria Math" panose="02040503050406030204" pitchFamily="18" charset="0"/>
                            <a:ea typeface="DengXian" panose="02010600030101010101" pitchFamily="2" charset="-122"/>
                            <a:cs typeface="Times New Roman" panose="02020603050405020304" pitchFamily="18" charset="0"/>
                          </a:rPr>
                          <m:t>5</m:t>
                        </m:r>
                      </m:num>
                      <m:den>
                        <m:r>
                          <a:rPr lang="en-AU" sz="1100" b="0" i="1" smtClean="0">
                            <a:effectLst/>
                            <a:latin typeface="Cambria Math" panose="02040503050406030204" pitchFamily="18" charset="0"/>
                            <a:ea typeface="DengXian" panose="02010600030101010101" pitchFamily="2" charset="-122"/>
                            <a:cs typeface="Times New Roman" panose="02020603050405020304" pitchFamily="18" charset="0"/>
                          </a:rPr>
                          <m:t>6</m:t>
                        </m:r>
                      </m:den>
                    </m:f>
                  </m:oMath>
                </a14:m>
                <a:r>
                  <a:rPr lang="en-AU" sz="1100" b="0">
                    <a:effectLst/>
                    <a:latin typeface="Arial" panose="020B0604020202020204" pitchFamily="34" charset="0"/>
                    <a:ea typeface="DengXian" panose="02010600030101010101" pitchFamily="2" charset="-122"/>
                    <a:cs typeface="Times New Roman" panose="02020603050405020304" pitchFamily="18" charset="0"/>
                  </a:rPr>
                  <a:t>.</a:t>
                </a:r>
                <a:endParaRPr lang="en-AU" sz="1100" b="0">
                  <a:effectLst/>
                  <a:latin typeface="Arial" panose="020B0604020202020204" pitchFamily="34" charset="0"/>
                  <a:ea typeface="Calibri" panose="020F0502020204030204" pitchFamily="34" charset="0"/>
                  <a:cs typeface="Times New Roman" panose="02020603050405020304" pitchFamily="18" charset="0"/>
                </a:endParaRPr>
              </a:p>
              <a:p>
                <a:pPr marL="0" lvl="0" indent="0">
                  <a:lnSpc>
                    <a:spcPct val="150000"/>
                  </a:lnSpc>
                  <a:spcBef>
                    <a:spcPts val="1200"/>
                  </a:spcBef>
                  <a:spcAft>
                    <a:spcPts val="600"/>
                  </a:spcAft>
                  <a:buFont typeface="Courier New" panose="02070309020205020404" pitchFamily="49" charset="0"/>
                  <a:buNone/>
                </a:pPr>
                <a:r>
                  <a:rPr lang="en-AU" sz="1100" b="0">
                    <a:effectLst/>
                    <a:latin typeface="Arial" panose="020B0604020202020204" pitchFamily="34" charset="0"/>
                    <a:ea typeface="Calibri" panose="020F0502020204030204" pitchFamily="34" charset="0"/>
                    <a:cs typeface="Times New Roman" panose="02020603050405020304" pitchFamily="18" charset="0"/>
                  </a:rPr>
                  <a:t>4. </a:t>
                </a:r>
                <a:r>
                  <a:rPr lang="en-AU" sz="1100" b="0">
                    <a:effectLst/>
                    <a:latin typeface="Arial" panose="020B0604020202020204" pitchFamily="34" charset="0"/>
                    <a:ea typeface="Calibri" panose="020F0502020204030204" pitchFamily="34" charset="0"/>
                  </a:rPr>
                  <a:t>Check for understanding by selecting students to share their responses.</a:t>
                </a:r>
              </a:p>
              <a:p>
                <a:pPr marL="0" lvl="0" indent="0">
                  <a:lnSpc>
                    <a:spcPct val="150000"/>
                  </a:lnSpc>
                  <a:spcBef>
                    <a:spcPts val="1200"/>
                  </a:spcBef>
                  <a:spcAft>
                    <a:spcPts val="600"/>
                  </a:spcAft>
                  <a:buFont typeface="+mj-lt"/>
                  <a:buNone/>
                </a:pPr>
                <a:r>
                  <a:rPr lang="en-AU" sz="1100" b="0">
                    <a:effectLst/>
                    <a:latin typeface="Arial" panose="020B0604020202020204" pitchFamily="34" charset="0"/>
                    <a:ea typeface="Calibri" panose="020F0502020204030204" pitchFamily="34" charset="0"/>
                  </a:rPr>
                  <a:t>5. Explain to students they will now record at least 4 addition or subtraction sentences that match image B. Examples may include:</a:t>
                </a:r>
              </a:p>
              <a:p>
                <a:pPr marL="171450" lvl="0" indent="-171450">
                  <a:lnSpc>
                    <a:spcPct val="150000"/>
                  </a:lnSpc>
                  <a:spcBef>
                    <a:spcPts val="1200"/>
                  </a:spcBef>
                  <a:spcAft>
                    <a:spcPts val="600"/>
                  </a:spcAft>
                  <a:buFont typeface="Arial" panose="020B0604020202020204" pitchFamily="34" charset="0"/>
                  <a:buChar char="•"/>
                </a:pPr>
                <a14:m>
                  <m:oMath xmlns:m="http://schemas.openxmlformats.org/officeDocument/2006/math">
                    <m:f>
                      <m:fPr>
                        <m:ctrlPr>
                          <a:rPr lang="en-AU" sz="1100" b="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4</m:t>
                        </m:r>
                      </m:num>
                      <m:den>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6</m:t>
                        </m:r>
                      </m:den>
                    </m:f>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AU" sz="1100" b="0">
                    <a:effectLst/>
                    <a:latin typeface="Arial" panose="020B0604020202020204" pitchFamily="34" charset="0"/>
                    <a:ea typeface="Calibri" panose="020F0502020204030204" pitchFamily="34" charset="0"/>
                    <a:cs typeface="Times New Roman" panose="02020603050405020304" pitchFamily="18" charset="0"/>
                  </a:rPr>
                  <a:t>+ </a:t>
                </a:r>
                <a14:m>
                  <m:oMath xmlns:m="http://schemas.openxmlformats.org/officeDocument/2006/math">
                    <m:f>
                      <m:fPr>
                        <m:ctrlPr>
                          <a:rPr lang="en-AU" sz="1100" b="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3</m:t>
                        </m:r>
                      </m:num>
                      <m:den>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6</m:t>
                        </m:r>
                      </m:den>
                    </m:f>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AU" sz="1100" b="0">
                    <a:effectLst/>
                    <a:latin typeface="Arial" panose="020B0604020202020204" pitchFamily="34" charset="0"/>
                    <a:ea typeface="Calibri" panose="020F0502020204030204" pitchFamily="34" charset="0"/>
                    <a:cs typeface="Times New Roman" panose="02020603050405020304" pitchFamily="18" charset="0"/>
                  </a:rPr>
                  <a:t>+ </a:t>
                </a:r>
                <a14:m>
                  <m:oMath xmlns:m="http://schemas.openxmlformats.org/officeDocument/2006/math">
                    <m:f>
                      <m:fPr>
                        <m:ctrlPr>
                          <a:rPr lang="en-AU" sz="1100" b="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2</m:t>
                        </m:r>
                      </m:num>
                      <m:den>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6</m:t>
                        </m:r>
                      </m:den>
                    </m:f>
                  </m:oMath>
                </a14:m>
                <a:r>
                  <a:rPr lang="en-AU" sz="1100" b="0">
                    <a:effectLst/>
                    <a:latin typeface="Arial" panose="020B0604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AU" sz="1100" b="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9</m:t>
                        </m:r>
                      </m:num>
                      <m:den>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6</m:t>
                        </m:r>
                      </m:den>
                    </m:f>
                  </m:oMath>
                </a14:m>
                <a:r>
                  <a:rPr lang="en-AU" sz="1100" b="0">
                    <a:effectLst/>
                    <a:latin typeface="Arial" panose="020B0604020202020204" pitchFamily="34" charset="0"/>
                    <a:ea typeface="Calibri" panose="020F0502020204030204" pitchFamily="34" charset="0"/>
                    <a:cs typeface="Times New Roman" panose="02020603050405020304" pitchFamily="18" charset="0"/>
                  </a:rPr>
                  <a:t> = </a:t>
                </a:r>
                <a14:m>
                  <m:oMath xmlns:m="http://schemas.openxmlformats.org/officeDocument/2006/math">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1</m:t>
                    </m:r>
                    <m:f>
                      <m:fPr>
                        <m:ctrlPr>
                          <a:rPr lang="en-AU" sz="1100" b="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1</m:t>
                        </m:r>
                      </m:num>
                      <m:den>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2</m:t>
                        </m:r>
                      </m:den>
                    </m:f>
                  </m:oMath>
                </a14:m>
                <a:endParaRPr lang="en-AU" sz="1100" b="0">
                  <a:effectLst/>
                  <a:latin typeface="Arial" panose="020B0604020202020204" pitchFamily="34" charset="0"/>
                  <a:ea typeface="Calibri" panose="020F0502020204030204" pitchFamily="34" charset="0"/>
                  <a:cs typeface="Times New Roman" panose="02020603050405020304" pitchFamily="18" charset="0"/>
                </a:endParaRPr>
              </a:p>
              <a:p>
                <a:pPr marL="171450" lvl="0" indent="-171450">
                  <a:lnSpc>
                    <a:spcPct val="150000"/>
                  </a:lnSpc>
                  <a:spcBef>
                    <a:spcPts val="1200"/>
                  </a:spcBef>
                  <a:spcAft>
                    <a:spcPts val="600"/>
                  </a:spcAft>
                  <a:buFont typeface="Arial" panose="020B0604020202020204" pitchFamily="34" charset="0"/>
                  <a:buChar char="•"/>
                </a:pPr>
                <a14:m>
                  <m:oMath xmlns:m="http://schemas.openxmlformats.org/officeDocument/2006/math">
                    <m:f>
                      <m:fPr>
                        <m:ctrlPr>
                          <a:rPr lang="en-AU" sz="1100" b="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4</m:t>
                        </m:r>
                      </m:num>
                      <m:den>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6</m:t>
                        </m:r>
                      </m:den>
                    </m:f>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AU" sz="1100" b="0">
                    <a:effectLst/>
                    <a:latin typeface="Arial" panose="020B0604020202020204" pitchFamily="34" charset="0"/>
                    <a:ea typeface="Calibri" panose="020F0502020204030204" pitchFamily="34" charset="0"/>
                    <a:cs typeface="Times New Roman" panose="02020603050405020304" pitchFamily="18" charset="0"/>
                  </a:rPr>
                  <a:t>+ </a:t>
                </a:r>
                <a14:m>
                  <m:oMath xmlns:m="http://schemas.openxmlformats.org/officeDocument/2006/math">
                    <m:f>
                      <m:fPr>
                        <m:ctrlPr>
                          <a:rPr lang="en-AU" sz="1100" b="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3</m:t>
                        </m:r>
                      </m:num>
                      <m:den>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6</m:t>
                        </m:r>
                      </m:den>
                    </m:f>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AU" sz="1100" b="0">
                    <a:effectLst/>
                    <a:latin typeface="Arial" panose="020B0604020202020204" pitchFamily="34" charset="0"/>
                    <a:ea typeface="Calibri" panose="020F0502020204030204" pitchFamily="34" charset="0"/>
                    <a:cs typeface="Times New Roman" panose="02020603050405020304" pitchFamily="18" charset="0"/>
                  </a:rPr>
                  <a:t>= </a:t>
                </a:r>
                <a14:m>
                  <m:oMath xmlns:m="http://schemas.openxmlformats.org/officeDocument/2006/math">
                    <m:f>
                      <m:fPr>
                        <m:ctrlPr>
                          <a:rPr lang="en-AU" sz="1100" b="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7</m:t>
                        </m:r>
                      </m:num>
                      <m:den>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6</m:t>
                        </m:r>
                      </m:den>
                    </m:f>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AU" sz="1100" b="0">
                    <a:effectLst/>
                    <a:latin typeface="Arial" panose="020B0604020202020204" pitchFamily="34" charset="0"/>
                    <a:ea typeface="Calibri" panose="020F0502020204030204" pitchFamily="34" charset="0"/>
                    <a:cs typeface="Times New Roman" panose="02020603050405020304" pitchFamily="18" charset="0"/>
                  </a:rPr>
                  <a:t>= </a:t>
                </a:r>
                <a14:m>
                  <m:oMath xmlns:m="http://schemas.openxmlformats.org/officeDocument/2006/math">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1</m:t>
                    </m:r>
                    <m:f>
                      <m:fPr>
                        <m:ctrlPr>
                          <a:rPr lang="en-AU" sz="1100" b="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1</m:t>
                        </m:r>
                      </m:num>
                      <m:den>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6</m:t>
                        </m:r>
                      </m:den>
                    </m:f>
                  </m:oMath>
                </a14:m>
                <a:endParaRPr lang="en-AU" sz="1100" b="0">
                  <a:effectLst/>
                  <a:latin typeface="Arial" panose="020B0604020202020204" pitchFamily="34" charset="0"/>
                  <a:ea typeface="Calibri" panose="020F0502020204030204" pitchFamily="34" charset="0"/>
                  <a:cs typeface="Times New Roman" panose="02020603050405020304" pitchFamily="18" charset="0"/>
                </a:endParaRPr>
              </a:p>
              <a:p>
                <a:pPr marL="171450" lvl="0" indent="-171450">
                  <a:lnSpc>
                    <a:spcPct val="150000"/>
                  </a:lnSpc>
                  <a:spcBef>
                    <a:spcPts val="1200"/>
                  </a:spcBef>
                  <a:spcAft>
                    <a:spcPts val="600"/>
                  </a:spcAft>
                  <a:buFont typeface="Arial" panose="020B0604020202020204" pitchFamily="34" charset="0"/>
                  <a:buChar char="•"/>
                </a:pPr>
                <a14:m>
                  <m:oMath xmlns:m="http://schemas.openxmlformats.org/officeDocument/2006/math">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1</m:t>
                    </m:r>
                    <m:f>
                      <m:fPr>
                        <m:ctrlPr>
                          <a:rPr lang="en-AU" sz="1100" b="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3</m:t>
                        </m:r>
                      </m:num>
                      <m:den>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6</m:t>
                        </m:r>
                      </m:den>
                    </m:f>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AU" sz="1100" b="0">
                    <a:effectLst/>
                    <a:latin typeface="Arial" panose="020B0604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AU" sz="1100" b="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2</m:t>
                        </m:r>
                      </m:num>
                      <m:den>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6</m:t>
                        </m:r>
                      </m:den>
                    </m:f>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AU" sz="1100" b="0">
                    <a:effectLst/>
                    <a:latin typeface="Arial" panose="020B0604020202020204" pitchFamily="34" charset="0"/>
                    <a:ea typeface="Calibri" panose="020F0502020204030204" pitchFamily="34" charset="0"/>
                    <a:cs typeface="Times New Roman" panose="02020603050405020304" pitchFamily="18" charset="0"/>
                  </a:rPr>
                  <a:t>= </a:t>
                </a:r>
                <a14:m>
                  <m:oMath xmlns:m="http://schemas.openxmlformats.org/officeDocument/2006/math">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1</m:t>
                    </m:r>
                    <m:f>
                      <m:fPr>
                        <m:ctrlPr>
                          <a:rPr lang="en-AU" sz="1100" b="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1</m:t>
                        </m:r>
                      </m:num>
                      <m:den>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6</m:t>
                        </m:r>
                      </m:den>
                    </m:f>
                  </m:oMath>
                </a14:m>
                <a:r>
                  <a:rPr lang="en-AU" sz="1100" b="0">
                    <a:effectLst/>
                    <a:latin typeface="Arial" panose="020B0604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AU" sz="1100" b="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7</m:t>
                        </m:r>
                      </m:num>
                      <m:den>
                        <m:r>
                          <a:rPr lang="en-AU" sz="1100" b="0" i="1" smtClean="0">
                            <a:effectLst/>
                            <a:latin typeface="Cambria Math" panose="02040503050406030204" pitchFamily="18" charset="0"/>
                            <a:ea typeface="Calibri" panose="020F0502020204030204" pitchFamily="34" charset="0"/>
                            <a:cs typeface="Times New Roman" panose="02020603050405020304" pitchFamily="18" charset="0"/>
                          </a:rPr>
                          <m:t>6</m:t>
                        </m:r>
                      </m:den>
                    </m:f>
                  </m:oMath>
                </a14:m>
                <a:r>
                  <a:rPr lang="en-AU" sz="1100" b="0">
                    <a:effectLst/>
                    <a:latin typeface="Arial" panose="020B0604020202020204" pitchFamily="34" charset="0"/>
                    <a:ea typeface="Calibri" panose="020F0502020204030204" pitchFamily="34" charset="0"/>
                    <a:cs typeface="Times New Roman" panose="02020603050405020304" pitchFamily="18" charset="0"/>
                  </a:rPr>
                  <a:t>.</a:t>
                </a:r>
              </a:p>
              <a:p>
                <a:pPr marL="0" lvl="0" indent="0">
                  <a:lnSpc>
                    <a:spcPct val="150000"/>
                  </a:lnSpc>
                  <a:spcBef>
                    <a:spcPts val="1200"/>
                  </a:spcBef>
                  <a:spcAft>
                    <a:spcPts val="600"/>
                  </a:spcAft>
                  <a:buFont typeface="+mj-lt"/>
                  <a:buNone/>
                </a:pPr>
                <a:r>
                  <a:rPr lang="en-AU" sz="1100" b="0">
                    <a:effectLst/>
                    <a:latin typeface="Arial" panose="020B0604020202020204" pitchFamily="34" charset="0"/>
                    <a:ea typeface="Calibri" panose="020F0502020204030204" pitchFamily="34" charset="0"/>
                    <a:cs typeface="Times New Roman" panose="02020603050405020304" pitchFamily="18" charset="0"/>
                  </a:rPr>
                  <a:t>6. </a:t>
                </a:r>
                <a:r>
                  <a:rPr lang="en-AU" sz="1800" b="0">
                    <a:effectLst/>
                    <a:latin typeface="Arial" panose="020B0604020202020204" pitchFamily="34" charset="0"/>
                    <a:ea typeface="Calibri" panose="020F0502020204030204" pitchFamily="34" charset="0"/>
                  </a:rPr>
                  <a:t>Check for understanding by selecting students to share their responses.</a:t>
                </a:r>
              </a:p>
              <a:p>
                <a:pPr marL="0" lvl="0" indent="0">
                  <a:lnSpc>
                    <a:spcPct val="150000"/>
                  </a:lnSpc>
                  <a:spcBef>
                    <a:spcPts val="1200"/>
                  </a:spcBef>
                  <a:spcAft>
                    <a:spcPts val="600"/>
                  </a:spcAft>
                  <a:buFont typeface="+mj-lt"/>
                  <a:buNone/>
                </a:pPr>
                <a:endParaRPr lang="en-AU" sz="1800" b="0">
                  <a:effectLst/>
                  <a:latin typeface="Arial" panose="020B0604020202020204" pitchFamily="34" charset="0"/>
                  <a:ea typeface="Calibri" panose="020F0502020204030204" pitchFamily="34" charset="0"/>
                </a:endParaRPr>
              </a:p>
              <a:p>
                <a:pPr>
                  <a:lnSpc>
                    <a:spcPct val="150000"/>
                  </a:lnSpc>
                  <a:spcBef>
                    <a:spcPts val="1200"/>
                  </a:spcBef>
                  <a:spcAft>
                    <a:spcPts val="600"/>
                  </a:spcAft>
                </a:pPr>
                <a:r>
                  <a:rPr lang="en-AU" sz="1800" b="1">
                    <a:effectLst/>
                    <a:latin typeface="Arial" panose="020B0604020202020204" pitchFamily="34" charset="0"/>
                    <a:ea typeface="Calibri" panose="020F0502020204030204" pitchFamily="34" charset="0"/>
                  </a:rPr>
                  <a:t>Note</a:t>
                </a:r>
                <a:r>
                  <a:rPr lang="en-AU" sz="1800" b="0">
                    <a:effectLst/>
                    <a:latin typeface="Arial" panose="020B0604020202020204" pitchFamily="34" charset="0"/>
                    <a:ea typeface="Calibri" panose="020F0502020204030204" pitchFamily="34" charset="0"/>
                  </a:rPr>
                  <a:t>: in the syllabus, the expression ‘fraction greater than one’ is used instead of the term ‘improper fraction’ or ‘mixed numeral.’</a:t>
                </a:r>
              </a:p>
              <a:p>
                <a:pPr marL="0" lvl="0" indent="0">
                  <a:lnSpc>
                    <a:spcPct val="150000"/>
                  </a:lnSpc>
                  <a:spcBef>
                    <a:spcPts val="1200"/>
                  </a:spcBef>
                  <a:spcAft>
                    <a:spcPts val="600"/>
                  </a:spcAft>
                  <a:buFont typeface="Courier New" panose="02070309020205020404" pitchFamily="49" charset="0"/>
                  <a:buNone/>
                </a:pPr>
                <a:endParaRPr lang="en-AU" sz="1100">
                  <a:effectLst/>
                  <a:latin typeface="Arial" panose="020B0604020202020204" pitchFamily="34" charset="0"/>
                  <a:ea typeface="Calibri" panose="020F0502020204030204" pitchFamily="34" charset="0"/>
                  <a:cs typeface="Times New Roman" panose="02020603050405020304" pitchFamily="18" charset="0"/>
                </a:endParaRPr>
              </a:p>
              <a:p>
                <a:pPr marL="342900" lvl="0" indent="-342900">
                  <a:lnSpc>
                    <a:spcPct val="150000"/>
                  </a:lnSpc>
                  <a:spcBef>
                    <a:spcPts val="1200"/>
                  </a:spcBef>
                  <a:spcAft>
                    <a:spcPts val="600"/>
                  </a:spcAft>
                  <a:buFont typeface="Courier New" panose="02070309020205020404" pitchFamily="49" charset="0"/>
                  <a:buChar char="o"/>
                </a:pPr>
                <a:endParaRPr lang="en-AU" sz="1100">
                  <a:effectLst/>
                  <a:latin typeface="Arial" panose="020B0604020202020204" pitchFamily="34" charset="0"/>
                  <a:ea typeface="Calibri" panose="020F0502020204030204" pitchFamily="34" charset="0"/>
                  <a:cs typeface="Times New Roman" panose="02020603050405020304" pitchFamily="18" charset="0"/>
                </a:endParaRPr>
              </a:p>
              <a:p>
                <a:pPr marL="0" lvl="0" indent="0">
                  <a:lnSpc>
                    <a:spcPct val="150000"/>
                  </a:lnSpc>
                  <a:buFont typeface="Symbol" panose="05050102010706020507" pitchFamily="18" charset="2"/>
                  <a:buNone/>
                </a:pPr>
                <a:endParaRPr lang="en-AU" sz="1800">
                  <a:effectLst/>
                  <a:latin typeface="Arial" panose="020B0604020202020204" pitchFamily="34" charset="0"/>
                  <a:ea typeface="Calibri" panose="020F0502020204030204" pitchFamily="34" charset="0"/>
                </a:endParaRPr>
              </a:p>
              <a:p>
                <a:pPr marL="0" lvl="0" indent="0">
                  <a:lnSpc>
                    <a:spcPct val="150000"/>
                  </a:lnSpc>
                  <a:buFont typeface="Symbol" panose="05050102010706020507" pitchFamily="18" charset="2"/>
                  <a:buNone/>
                </a:pPr>
                <a:endParaRPr lang="en-AU" sz="1800">
                  <a:effectLst/>
                  <a:latin typeface="Arial" panose="020B0604020202020204" pitchFamily="34" charset="0"/>
                  <a:ea typeface="Calibri" panose="020F0502020204030204" pitchFamily="34" charset="0"/>
                </a:endParaRPr>
              </a:p>
              <a:p>
                <a:pPr marL="0" lvl="0" indent="0">
                  <a:lnSpc>
                    <a:spcPct val="150000"/>
                  </a:lnSpc>
                  <a:buFont typeface="Symbol" panose="05050102010706020507" pitchFamily="18" charset="2"/>
                  <a:buNone/>
                </a:pPr>
                <a:endParaRPr lang="en-AU" sz="180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Courier New" panose="02070309020205020404" pitchFamily="49" charset="0"/>
                  <a:buNone/>
                </a:pPr>
                <a:endParaRPr lang="en-AU" sz="1800">
                  <a:effectLst/>
                  <a:latin typeface="Arial" panose="020B0604020202020204" pitchFamily="34" charset="0"/>
                  <a:ea typeface="Calibri" panose="020F0502020204030204" pitchFamily="34" charset="0"/>
                  <a:cs typeface="Times New Roman" panose="02020603050405020304" pitchFamily="18" charset="0"/>
                </a:endParaRPr>
              </a:p>
              <a:p>
                <a:pPr marL="0" lvl="0" indent="0">
                  <a:lnSpc>
                    <a:spcPct val="150000"/>
                  </a:lnSpc>
                  <a:buFont typeface="Symbol" panose="05050102010706020507" pitchFamily="18" charset="2"/>
                  <a:buNone/>
                </a:pPr>
                <a:endParaRPr lang="en-AU" sz="1800">
                  <a:effectLst/>
                  <a:latin typeface="Arial" panose="020B0604020202020204" pitchFamily="34" charset="0"/>
                  <a:ea typeface="Calibri" panose="020F0502020204030204" pitchFamily="34" charset="0"/>
                </a:endParaRPr>
              </a:p>
              <a:p>
                <a:pPr marL="0" lvl="0" indent="0">
                  <a:lnSpc>
                    <a:spcPct val="150000"/>
                  </a:lnSpc>
                  <a:buFont typeface="Symbol" panose="05050102010706020507" pitchFamily="18" charset="2"/>
                  <a:buNone/>
                </a:pPr>
                <a:endParaRPr lang="en-AU" sz="1800">
                  <a:effectLst/>
                  <a:latin typeface="Arial" panose="020B0604020202020204" pitchFamily="34" charset="0"/>
                  <a:ea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800" b="1">
                  <a:effectLst/>
                  <a:latin typeface="Arial" panose="020B0604020202020204" pitchFamily="34" charset="0"/>
                  <a:ea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78E6D5DF-DAB1-16E0-FDBB-717B1CAF619C}"/>
                  </a:ext>
                </a:extLst>
              </p:cNvPr>
              <p:cNvSpPr>
                <a:spLocks noGrp="1"/>
              </p:cNvSpPr>
              <p:nvPr>
                <p:ph type="body" idx="1"/>
              </p:nvPr>
            </p:nvSpPr>
            <p:spPr/>
            <p:txBody>
              <a:bodyPr/>
              <a:lstStyle/>
              <a:p>
                <a:pPr defTabSz="914400">
                  <a:lnSpc>
                    <a:spcPct val="150000"/>
                  </a:lnSpc>
                  <a:spcBef>
                    <a:spcPts val="1200"/>
                  </a:spcBef>
                  <a:spcAft>
                    <a:spcPts val="600"/>
                  </a:spcAft>
                </a:pPr>
                <a:r>
                  <a:rPr lang="en-AU" sz="1100">
                    <a:latin typeface="Arial"/>
                    <a:cs typeface="Arial"/>
                  </a:rPr>
                  <a:t>This is a developing number sense activity. </a:t>
                </a:r>
                <a:endParaRPr lang="en-US" sz="1100">
                  <a:solidFill>
                    <a:srgbClr val="444444"/>
                  </a:solidFill>
                  <a:latin typeface="Arial"/>
                  <a:cs typeface="Arial"/>
                </a:endParaRPr>
              </a:p>
              <a:p>
                <a:pPr defTabSz="914400">
                  <a:lnSpc>
                    <a:spcPct val="150000"/>
                  </a:lnSpc>
                  <a:spcBef>
                    <a:spcPts val="1200"/>
                  </a:spcBef>
                  <a:spcAft>
                    <a:spcPts val="600"/>
                  </a:spcAft>
                </a:pPr>
                <a:endParaRPr lang="en-AU" sz="1100">
                  <a:solidFill>
                    <a:srgbClr val="444444"/>
                  </a:solidFill>
                </a:endParaRPr>
              </a:p>
              <a:p>
                <a:pPr defTabSz="914400">
                  <a:lnSpc>
                    <a:spcPct val="150000"/>
                  </a:lnSpc>
                  <a:spcBef>
                    <a:spcPts val="1200"/>
                  </a:spcBef>
                  <a:spcAft>
                    <a:spcPts val="600"/>
                  </a:spcAft>
                </a:pPr>
                <a:r>
                  <a:rPr lang="en-AU" sz="11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100">
                  <a:solidFill>
                    <a:srgbClr val="444444"/>
                  </a:solidFill>
                  <a:latin typeface="Arial"/>
                  <a:cs typeface="Arial"/>
                </a:endParaRPr>
              </a:p>
              <a:p>
                <a:pPr marL="0" lvl="0" indent="0">
                  <a:lnSpc>
                    <a:spcPct val="150000"/>
                  </a:lnSpc>
                  <a:spcBef>
                    <a:spcPts val="1200"/>
                  </a:spcBef>
                  <a:spcAft>
                    <a:spcPts val="600"/>
                  </a:spcAft>
                  <a:buFont typeface="Courier New" panose="02070309020205020404" pitchFamily="49" charset="0"/>
                  <a:buNone/>
                </a:pPr>
                <a:endParaRPr lang="en-AU" sz="1100" b="0">
                  <a:effectLst/>
                  <a:latin typeface="Arial" panose="020B0604020202020204" pitchFamily="34" charset="0"/>
                  <a:ea typeface="DengXian" panose="02010600030101010101" pitchFamily="2" charset="-122"/>
                  <a:cs typeface="Times New Roman" panose="02020603050405020304" pitchFamily="18" charset="0"/>
                </a:endParaRPr>
              </a:p>
              <a:p>
                <a:pPr defTabSz="914400"/>
                <a:r>
                  <a:rPr lang="en-AU" sz="1100" b="1">
                    <a:latin typeface="Arial"/>
                    <a:cs typeface="Arial"/>
                  </a:rPr>
                  <a:t>Syllabus focus area:</a:t>
                </a:r>
                <a:endParaRPr lang="en-US" sz="1100">
                  <a:solidFill>
                    <a:srgbClr val="444444"/>
                  </a:solidFill>
                  <a:latin typeface="Arial"/>
                  <a:cs typeface="Arial"/>
                </a:endParaRPr>
              </a:p>
              <a:p>
                <a:pPr defTabSz="914400"/>
                <a:r>
                  <a:rPr lang="en-AU" sz="1100">
                    <a:solidFill>
                      <a:srgbClr val="000000"/>
                    </a:solidFill>
                    <a:latin typeface="Arial"/>
                    <a:cs typeface="Arial"/>
                  </a:rPr>
                  <a:t>Representing quantity fractions A</a:t>
                </a:r>
              </a:p>
              <a:p>
                <a:pPr defTabSz="914400"/>
                <a:endParaRPr lang="en-AU" sz="1100">
                  <a:solidFill>
                    <a:srgbClr val="000000"/>
                  </a:solidFill>
                  <a:latin typeface="Arial"/>
                  <a:cs typeface="Arial"/>
                </a:endParaRPr>
              </a:p>
              <a:p>
                <a:pPr defTabSz="914400"/>
                <a:r>
                  <a:rPr lang="en-AU" sz="1100" b="1">
                    <a:solidFill>
                      <a:srgbClr val="000000"/>
                    </a:solidFill>
                    <a:latin typeface="Arial"/>
                    <a:cs typeface="Arial"/>
                  </a:rPr>
                  <a:t>Adding and subtracting fractions in area models</a:t>
                </a:r>
              </a:p>
              <a:p>
                <a:pPr marL="0" lvl="0" indent="0">
                  <a:lnSpc>
                    <a:spcPct val="150000"/>
                  </a:lnSpc>
                  <a:spcBef>
                    <a:spcPts val="1200"/>
                  </a:spcBef>
                  <a:spcAft>
                    <a:spcPts val="600"/>
                  </a:spcAft>
                  <a:buFont typeface="Courier New" panose="02070309020205020404" pitchFamily="49" charset="0"/>
                  <a:buNone/>
                </a:pPr>
                <a:endParaRPr lang="en-AU" sz="1100" b="0">
                  <a:effectLst/>
                  <a:latin typeface="Arial" panose="020B0604020202020204" pitchFamily="34" charset="0"/>
                  <a:ea typeface="DengXian" panose="02010600030101010101" pitchFamily="2" charset="-122"/>
                  <a:cs typeface="Times New Roman" panose="02020603050405020304" pitchFamily="18" charset="0"/>
                </a:endParaRPr>
              </a:p>
              <a:p>
                <a:pPr marL="0" marR="0" lvl="0" indent="0" algn="l" defTabSz="1219170" rtl="0" eaLnBrk="1" fontAlgn="auto" latinLnBrk="0" hangingPunct="1">
                  <a:lnSpc>
                    <a:spcPct val="150000"/>
                  </a:lnSpc>
                  <a:spcBef>
                    <a:spcPts val="1200"/>
                  </a:spcBef>
                  <a:spcAft>
                    <a:spcPts val="600"/>
                  </a:spcAft>
                  <a:buClrTx/>
                  <a:buSzTx/>
                  <a:buFont typeface="Courier New" panose="02070309020205020404" pitchFamily="49" charset="0"/>
                  <a:buNone/>
                  <a:tabLst/>
                  <a:defRPr/>
                </a:pPr>
                <a:r>
                  <a:rPr lang="en-AU" sz="1100" b="0">
                    <a:effectLst/>
                    <a:latin typeface="Arial" panose="020B0604020202020204" pitchFamily="34" charset="0"/>
                    <a:ea typeface="DengXian" panose="02010600030101010101" pitchFamily="2" charset="-122"/>
                    <a:cs typeface="Times New Roman" panose="02020603050405020304" pitchFamily="18" charset="0"/>
                  </a:rPr>
                  <a:t>1. </a:t>
                </a:r>
                <a:r>
                  <a:rPr lang="en-AU" sz="1100" b="0">
                    <a:effectLst/>
                    <a:latin typeface="Arial" panose="020B0604020202020204" pitchFamily="34" charset="0"/>
                    <a:ea typeface="Calibri" panose="020F0502020204030204" pitchFamily="34" charset="0"/>
                  </a:rPr>
                  <a:t>Display Resource 20 – fraction area models (this resource correspond to Resource 20 – fraction area models in Stage 3, Year A Unit 16).</a:t>
                </a:r>
                <a:endParaRPr lang="en-AU" sz="1100" b="0">
                  <a:effectLst/>
                  <a:latin typeface="Arial" panose="020B0604020202020204" pitchFamily="34" charset="0"/>
                  <a:ea typeface="DengXian" panose="02010600030101010101" pitchFamily="2" charset="-122"/>
                  <a:cs typeface="Times New Roman" panose="02020603050405020304" pitchFamily="18" charset="0"/>
                </a:endParaRPr>
              </a:p>
              <a:p>
                <a:pPr marL="0" marR="0" lvl="0" indent="0" algn="l" defTabSz="1219170" rtl="0" eaLnBrk="1" fontAlgn="auto" latinLnBrk="0" hangingPunct="1">
                  <a:lnSpc>
                    <a:spcPct val="150000"/>
                  </a:lnSpc>
                  <a:spcBef>
                    <a:spcPts val="1200"/>
                  </a:spcBef>
                  <a:spcAft>
                    <a:spcPts val="600"/>
                  </a:spcAft>
                  <a:buClrTx/>
                  <a:buSzTx/>
                  <a:buFont typeface="Courier New" panose="02070309020205020404" pitchFamily="49" charset="0"/>
                  <a:buNone/>
                  <a:tabLst/>
                  <a:defRPr/>
                </a:pPr>
                <a:r>
                  <a:rPr lang="en-AU" sz="1100" b="0">
                    <a:effectLst/>
                    <a:latin typeface="Arial" panose="020B0604020202020204" pitchFamily="34" charset="0"/>
                    <a:ea typeface="DengXian" panose="02010600030101010101" pitchFamily="2" charset="-122"/>
                    <a:cs typeface="Times New Roman" panose="02020603050405020304" pitchFamily="18" charset="0"/>
                  </a:rPr>
                  <a:t>2. </a:t>
                </a:r>
                <a:r>
                  <a:rPr lang="en-AU" sz="1100" b="0">
                    <a:effectLst/>
                    <a:latin typeface="Arial" panose="020B0604020202020204" pitchFamily="34" charset="0"/>
                    <a:ea typeface="Calibri" panose="020F0502020204030204" pitchFamily="34" charset="0"/>
                  </a:rPr>
                  <a:t>Explain that for image A:</a:t>
                </a:r>
              </a:p>
              <a:p>
                <a:pPr marL="171450" lvl="0" indent="-171450">
                  <a:lnSpc>
                    <a:spcPct val="150000"/>
                  </a:lnSpc>
                  <a:spcBef>
                    <a:spcPts val="1200"/>
                  </a:spcBef>
                  <a:spcAft>
                    <a:spcPts val="600"/>
                  </a:spcAft>
                  <a:buFont typeface="Arial" panose="020B0604020202020204" pitchFamily="34" charset="0"/>
                  <a:buChar char="•"/>
                </a:pPr>
                <a:r>
                  <a:rPr lang="en-AU" sz="1100" b="0">
                    <a:effectLst/>
                    <a:latin typeface="Arial" panose="020B0604020202020204" pitchFamily="34" charset="0"/>
                    <a:ea typeface="Calibri" panose="020F0502020204030204" pitchFamily="34" charset="0"/>
                    <a:cs typeface="Times New Roman" panose="02020603050405020304" pitchFamily="18" charset="0"/>
                  </a:rPr>
                  <a:t>the large rectangle represents a whole or 1</a:t>
                </a:r>
              </a:p>
              <a:p>
                <a:pPr marL="171450" lvl="0" indent="-171450">
                  <a:lnSpc>
                    <a:spcPct val="150000"/>
                  </a:lnSpc>
                  <a:spcBef>
                    <a:spcPts val="1200"/>
                  </a:spcBef>
                  <a:spcAft>
                    <a:spcPts val="600"/>
                  </a:spcAft>
                  <a:buFont typeface="Arial" panose="020B0604020202020204" pitchFamily="34" charset="0"/>
                  <a:buChar char="•"/>
                </a:pPr>
                <a:r>
                  <a:rPr lang="en-AU" sz="1100" b="0">
                    <a:effectLst/>
                    <a:latin typeface="Arial" panose="020B0604020202020204" pitchFamily="34" charset="0"/>
                    <a:ea typeface="Calibri" panose="020F0502020204030204" pitchFamily="34" charset="0"/>
                    <a:cs typeface="Times New Roman" panose="02020603050405020304" pitchFamily="18" charset="0"/>
                  </a:rPr>
                  <a:t>each section represents one-sixth ( </a:t>
                </a:r>
                <a:r>
                  <a:rPr lang="en-AU" sz="1100" b="0" i="0">
                    <a:effectLst/>
                    <a:latin typeface="Cambria Math" panose="02040503050406030204" pitchFamily="18" charset="0"/>
                    <a:ea typeface="Calibri" panose="020F0502020204030204" pitchFamily="34" charset="0"/>
                    <a:cs typeface="Times New Roman" panose="02020603050405020304" pitchFamily="18" charset="0"/>
                  </a:rPr>
                  <a:t>1/6</a:t>
                </a:r>
                <a:r>
                  <a:rPr lang="en-AU" sz="1100" b="0">
                    <a:effectLst/>
                    <a:latin typeface="Arial" panose="020B0604020202020204" pitchFamily="34" charset="0"/>
                    <a:ea typeface="DengXian" panose="02010600030101010101" pitchFamily="2" charset="-122"/>
                    <a:cs typeface="Times New Roman" panose="02020603050405020304" pitchFamily="18" charset="0"/>
                  </a:rPr>
                  <a:t> )</a:t>
                </a:r>
                <a:endParaRPr lang="en-AU" sz="1100" b="0">
                  <a:effectLst/>
                  <a:latin typeface="Arial" panose="020B0604020202020204" pitchFamily="34" charset="0"/>
                  <a:ea typeface="Calibri" panose="020F0502020204030204" pitchFamily="34" charset="0"/>
                  <a:cs typeface="Times New Roman" panose="02020603050405020304" pitchFamily="18" charset="0"/>
                </a:endParaRPr>
              </a:p>
              <a:p>
                <a:pPr marL="171450" lvl="0" indent="-171450">
                  <a:lnSpc>
                    <a:spcPct val="150000"/>
                  </a:lnSpc>
                  <a:spcBef>
                    <a:spcPts val="1200"/>
                  </a:spcBef>
                  <a:spcAft>
                    <a:spcPts val="600"/>
                  </a:spcAft>
                  <a:buFont typeface="Arial" panose="020B0604020202020204" pitchFamily="34" charset="0"/>
                  <a:buChar char="•"/>
                </a:pPr>
                <a:r>
                  <a:rPr lang="en-AU" sz="1100" b="0">
                    <a:effectLst/>
                    <a:latin typeface="Arial" panose="020B0604020202020204" pitchFamily="34" charset="0"/>
                    <a:ea typeface="Calibri" panose="020F0502020204030204" pitchFamily="34" charset="0"/>
                    <a:cs typeface="Times New Roman" panose="02020603050405020304" pitchFamily="18" charset="0"/>
                  </a:rPr>
                  <a:t>the dotted area can be named two-sixths ( </a:t>
                </a:r>
                <a:r>
                  <a:rPr lang="en-AU" sz="1100" b="0" i="0">
                    <a:effectLst/>
                    <a:latin typeface="Cambria Math" panose="02040503050406030204" pitchFamily="18" charset="0"/>
                    <a:ea typeface="Calibri" panose="020F0502020204030204" pitchFamily="34" charset="0"/>
                    <a:cs typeface="Times New Roman" panose="02020603050405020304" pitchFamily="18" charset="0"/>
                  </a:rPr>
                  <a:t>2/6  </a:t>
                </a:r>
                <a:r>
                  <a:rPr lang="en-AU" sz="1100" b="0">
                    <a:effectLst/>
                    <a:latin typeface="Arial" panose="020B0604020202020204" pitchFamily="34" charset="0"/>
                    <a:ea typeface="DengXian" panose="02010600030101010101" pitchFamily="2" charset="-122"/>
                    <a:cs typeface="Times New Roman" panose="02020603050405020304" pitchFamily="18" charset="0"/>
                  </a:rPr>
                  <a:t>) </a:t>
                </a:r>
                <a:r>
                  <a:rPr lang="en-AU" sz="1100" b="0">
                    <a:effectLst/>
                    <a:latin typeface="Arial" panose="020B0604020202020204" pitchFamily="34" charset="0"/>
                    <a:ea typeface="Calibri" panose="020F0502020204030204" pitchFamily="34" charset="0"/>
                    <a:cs typeface="Times New Roman" panose="02020603050405020304" pitchFamily="18" charset="0"/>
                  </a:rPr>
                  <a:t>or one-third ( </a:t>
                </a:r>
                <a:r>
                  <a:rPr lang="en-AU" sz="1100" b="0" i="0">
                    <a:effectLst/>
                    <a:latin typeface="Cambria Math" panose="02040503050406030204" pitchFamily="18" charset="0"/>
                    <a:ea typeface="Calibri" panose="020F0502020204030204" pitchFamily="34" charset="0"/>
                    <a:cs typeface="Times New Roman" panose="02020603050405020304" pitchFamily="18" charset="0"/>
                  </a:rPr>
                  <a:t>1/3</a:t>
                </a:r>
                <a:r>
                  <a:rPr lang="en-AU" sz="1100" b="0">
                    <a:effectLst/>
                    <a:latin typeface="Arial" panose="020B0604020202020204" pitchFamily="34" charset="0"/>
                    <a:ea typeface="DengXian" panose="02010600030101010101" pitchFamily="2" charset="-122"/>
                    <a:cs typeface="Times New Roman" panose="02020603050405020304" pitchFamily="18" charset="0"/>
                  </a:rPr>
                  <a:t> )</a:t>
                </a:r>
                <a:endParaRPr lang="en-AU" sz="1100" b="0">
                  <a:effectLst/>
                  <a:latin typeface="Arial" panose="020B0604020202020204" pitchFamily="34" charset="0"/>
                  <a:ea typeface="Calibri" panose="020F0502020204030204" pitchFamily="34" charset="0"/>
                  <a:cs typeface="Times New Roman" panose="02020603050405020304" pitchFamily="18" charset="0"/>
                </a:endParaRPr>
              </a:p>
              <a:p>
                <a:pPr marL="171450" lvl="0" indent="-171450">
                  <a:lnSpc>
                    <a:spcPct val="150000"/>
                  </a:lnSpc>
                  <a:spcBef>
                    <a:spcPts val="1200"/>
                  </a:spcBef>
                  <a:spcAft>
                    <a:spcPts val="600"/>
                  </a:spcAft>
                  <a:buFont typeface="Arial" panose="020B0604020202020204" pitchFamily="34" charset="0"/>
                  <a:buChar char="•"/>
                </a:pPr>
                <a:r>
                  <a:rPr lang="en-AU" sz="1100" b="0">
                    <a:effectLst/>
                    <a:latin typeface="Arial" panose="020B0604020202020204" pitchFamily="34" charset="0"/>
                    <a:ea typeface="Calibri" panose="020F0502020204030204" pitchFamily="34" charset="0"/>
                    <a:cs typeface="Times New Roman" panose="02020603050405020304" pitchFamily="18" charset="0"/>
                  </a:rPr>
                  <a:t>the hatched area can be named three-sixths ( </a:t>
                </a:r>
                <a:r>
                  <a:rPr lang="en-AU" sz="1100" b="0" i="0">
                    <a:effectLst/>
                    <a:latin typeface="Cambria Math" panose="02040503050406030204" pitchFamily="18" charset="0"/>
                    <a:ea typeface="Calibri" panose="020F0502020204030204" pitchFamily="34" charset="0"/>
                    <a:cs typeface="Times New Roman" panose="02020603050405020304" pitchFamily="18" charset="0"/>
                  </a:rPr>
                  <a:t>3/6  </a:t>
                </a:r>
                <a:r>
                  <a:rPr lang="en-AU" sz="1100" b="0">
                    <a:effectLst/>
                    <a:latin typeface="Arial" panose="020B0604020202020204" pitchFamily="34" charset="0"/>
                    <a:ea typeface="DengXian" panose="02010600030101010101" pitchFamily="2" charset="-122"/>
                    <a:cs typeface="Times New Roman" panose="02020603050405020304" pitchFamily="18" charset="0"/>
                  </a:rPr>
                  <a:t>) </a:t>
                </a:r>
                <a:r>
                  <a:rPr lang="en-AU" sz="1100" b="0">
                    <a:effectLst/>
                    <a:latin typeface="Arial" panose="020B0604020202020204" pitchFamily="34" charset="0"/>
                    <a:ea typeface="Calibri" panose="020F0502020204030204" pitchFamily="34" charset="0"/>
                    <a:cs typeface="Times New Roman" panose="02020603050405020304" pitchFamily="18" charset="0"/>
                  </a:rPr>
                  <a:t>or one-half </a:t>
                </a:r>
                <a:r>
                  <a:rPr lang="en-AU" sz="1100" b="0" u="none">
                    <a:solidFill>
                      <a:srgbClr val="2F5496"/>
                    </a:solidFill>
                    <a:effectLst/>
                    <a:latin typeface="Arial" panose="020B0604020202020204" pitchFamily="34" charset="0"/>
                    <a:ea typeface="Calibri" panose="020F0502020204030204" pitchFamily="34" charset="0"/>
                    <a:cs typeface="Times New Roman" panose="02020603050405020304" pitchFamily="18" charset="0"/>
                  </a:rPr>
                  <a:t>( </a:t>
                </a:r>
                <a:r>
                  <a:rPr lang="en-AU" sz="1100" b="0" i="0">
                    <a:effectLst/>
                    <a:latin typeface="Cambria Math" panose="02040503050406030204" pitchFamily="18" charset="0"/>
                    <a:ea typeface="Calibri" panose="020F0502020204030204" pitchFamily="34" charset="0"/>
                    <a:cs typeface="Times New Roman" panose="02020603050405020304" pitchFamily="18" charset="0"/>
                  </a:rPr>
                  <a:t>1/2</a:t>
                </a:r>
                <a:r>
                  <a:rPr lang="en-AU" sz="1100" b="0">
                    <a:effectLst/>
                    <a:latin typeface="Arial" panose="020B0604020202020204" pitchFamily="34" charset="0"/>
                    <a:ea typeface="DengXian" panose="02010600030101010101" pitchFamily="2" charset="-122"/>
                    <a:cs typeface="Times New Roman" panose="02020603050405020304" pitchFamily="18" charset="0"/>
                  </a:rPr>
                  <a:t> ).</a:t>
                </a:r>
              </a:p>
              <a:p>
                <a:pPr marL="0" lvl="0" indent="0">
                  <a:lnSpc>
                    <a:spcPct val="150000"/>
                  </a:lnSpc>
                  <a:spcBef>
                    <a:spcPts val="1200"/>
                  </a:spcBef>
                  <a:spcAft>
                    <a:spcPts val="600"/>
                  </a:spcAft>
                  <a:buFont typeface="Courier New" panose="02070309020205020404" pitchFamily="49" charset="0"/>
                  <a:buNone/>
                </a:pPr>
                <a:r>
                  <a:rPr lang="en-AU" sz="1100" b="0">
                    <a:effectLst/>
                    <a:latin typeface="Arial" panose="020B0604020202020204" pitchFamily="34" charset="0"/>
                    <a:ea typeface="DengXian" panose="02010600030101010101" pitchFamily="2" charset="-122"/>
                    <a:cs typeface="Times New Roman" panose="02020603050405020304" pitchFamily="18" charset="0"/>
                  </a:rPr>
                  <a:t>3. </a:t>
                </a:r>
                <a:r>
                  <a:rPr lang="en-AU" sz="1100" b="0">
                    <a:effectLst/>
                    <a:latin typeface="Arial" panose="020B0604020202020204" pitchFamily="34" charset="0"/>
                    <a:ea typeface="Calibri" panose="020F0502020204030204" pitchFamily="34" charset="0"/>
                  </a:rPr>
                  <a:t>Students record at least 4 addition or subtraction sentences that match image A. Examples may include:</a:t>
                </a:r>
              </a:p>
              <a:p>
                <a:pPr marL="171450" lvl="0" indent="-171450">
                  <a:lnSpc>
                    <a:spcPct val="150000"/>
                  </a:lnSpc>
                  <a:spcBef>
                    <a:spcPts val="1200"/>
                  </a:spcBef>
                  <a:spcAft>
                    <a:spcPts val="600"/>
                  </a:spcAft>
                  <a:buFont typeface="Arial" panose="020B0604020202020204" pitchFamily="34" charset="0"/>
                  <a:buChar char="•"/>
                </a:pPr>
                <a:r>
                  <a:rPr lang="en-AU" sz="1100" b="0" i="0">
                    <a:effectLst/>
                    <a:latin typeface="Cambria Math" panose="02040503050406030204" pitchFamily="18" charset="0"/>
                    <a:ea typeface="Calibri" panose="020F0502020204030204" pitchFamily="34" charset="0"/>
                    <a:cs typeface="Times New Roman" panose="02020603050405020304" pitchFamily="18" charset="0"/>
                  </a:rPr>
                  <a:t>1/6</a:t>
                </a:r>
                <a:r>
                  <a:rPr lang="en-AU" sz="1100" b="0">
                    <a:effectLst/>
                    <a:latin typeface="Arial" panose="020B0604020202020204" pitchFamily="34" charset="0"/>
                    <a:ea typeface="Calibri" panose="020F0502020204030204" pitchFamily="34" charset="0"/>
                    <a:cs typeface="Times New Roman" panose="02020603050405020304" pitchFamily="18" charset="0"/>
                  </a:rPr>
                  <a:t> + </a:t>
                </a:r>
                <a:r>
                  <a:rPr lang="en-AU" sz="1100" b="0" i="0">
                    <a:effectLst/>
                    <a:latin typeface="Cambria Math" panose="02040503050406030204" pitchFamily="18" charset="0"/>
                    <a:ea typeface="Calibri" panose="020F0502020204030204" pitchFamily="34" charset="0"/>
                    <a:cs typeface="Times New Roman" panose="02020603050405020304" pitchFamily="18" charset="0"/>
                  </a:rPr>
                  <a:t>2/6  </a:t>
                </a:r>
                <a:r>
                  <a:rPr lang="en-AU" sz="1100" b="0">
                    <a:effectLst/>
                    <a:latin typeface="Arial" panose="020B0604020202020204" pitchFamily="34" charset="0"/>
                    <a:ea typeface="Calibri" panose="020F0502020204030204" pitchFamily="34" charset="0"/>
                    <a:cs typeface="Times New Roman" panose="02020603050405020304" pitchFamily="18" charset="0"/>
                  </a:rPr>
                  <a:t>+ </a:t>
                </a:r>
                <a:r>
                  <a:rPr lang="en-AU" sz="1100" b="0" i="0" dirty="0">
                    <a:effectLst/>
                    <a:latin typeface="Cambria Math" panose="02040503050406030204" pitchFamily="18" charset="0"/>
                    <a:ea typeface="Calibri" panose="020F0502020204030204" pitchFamily="34" charset="0"/>
                    <a:cs typeface="Times New Roman" panose="02020603050405020304" pitchFamily="18" charset="0"/>
                  </a:rPr>
                  <a:t>3/6  </a:t>
                </a:r>
                <a:r>
                  <a:rPr lang="en-AU" sz="1100" b="0">
                    <a:effectLst/>
                    <a:latin typeface="Arial" panose="020B0604020202020204" pitchFamily="34" charset="0"/>
                    <a:ea typeface="Calibri" panose="020F0502020204030204" pitchFamily="34" charset="0"/>
                    <a:cs typeface="Times New Roman" panose="02020603050405020304" pitchFamily="18" charset="0"/>
                  </a:rPr>
                  <a:t>= 1</a:t>
                </a:r>
              </a:p>
              <a:p>
                <a:pPr marL="171450" lvl="0" indent="-171450">
                  <a:lnSpc>
                    <a:spcPct val="150000"/>
                  </a:lnSpc>
                  <a:spcBef>
                    <a:spcPts val="1200"/>
                  </a:spcBef>
                  <a:spcAft>
                    <a:spcPts val="600"/>
                  </a:spcAft>
                  <a:buFont typeface="Arial" panose="020B0604020202020204" pitchFamily="34" charset="0"/>
                  <a:buChar char="•"/>
                </a:pPr>
                <a:r>
                  <a:rPr lang="en-AU" sz="1100" b="0" i="0">
                    <a:effectLst/>
                    <a:latin typeface="Cambria Math" panose="02040503050406030204" pitchFamily="18" charset="0"/>
                    <a:ea typeface="Calibri" panose="020F0502020204030204" pitchFamily="34" charset="0"/>
                    <a:cs typeface="Times New Roman" panose="02020603050405020304" pitchFamily="18" charset="0"/>
                  </a:rPr>
                  <a:t>3/6  </a:t>
                </a:r>
                <a:r>
                  <a:rPr lang="en-AU" sz="1100" b="0">
                    <a:effectLst/>
                    <a:latin typeface="Arial" panose="020B0604020202020204" pitchFamily="34" charset="0"/>
                    <a:ea typeface="Calibri" panose="020F0502020204030204" pitchFamily="34" charset="0"/>
                    <a:cs typeface="Times New Roman" panose="02020603050405020304" pitchFamily="18" charset="0"/>
                  </a:rPr>
                  <a:t>+ </a:t>
                </a:r>
                <a:r>
                  <a:rPr lang="en-AU" sz="1100" b="0" i="0">
                    <a:effectLst/>
                    <a:latin typeface="Cambria Math" panose="02040503050406030204" pitchFamily="18" charset="0"/>
                    <a:ea typeface="Calibri" panose="020F0502020204030204" pitchFamily="34" charset="0"/>
                    <a:cs typeface="Times New Roman" panose="02020603050405020304" pitchFamily="18" charset="0"/>
                  </a:rPr>
                  <a:t>2/6  </a:t>
                </a:r>
                <a:r>
                  <a:rPr lang="en-AU" sz="1100" b="0">
                    <a:effectLst/>
                    <a:latin typeface="Arial" panose="020B0604020202020204" pitchFamily="34" charset="0"/>
                    <a:ea typeface="Calibri" panose="020F0502020204030204" pitchFamily="34" charset="0"/>
                    <a:cs typeface="Times New Roman" panose="02020603050405020304" pitchFamily="18" charset="0"/>
                  </a:rPr>
                  <a:t>= </a:t>
                </a:r>
                <a:r>
                  <a:rPr lang="en-AU" sz="1100" b="0" i="0">
                    <a:effectLst/>
                    <a:latin typeface="Cambria Math" panose="02040503050406030204" pitchFamily="18" charset="0"/>
                    <a:ea typeface="Calibri" panose="020F0502020204030204" pitchFamily="34" charset="0"/>
                    <a:cs typeface="Times New Roman" panose="02020603050405020304" pitchFamily="18" charset="0"/>
                  </a:rPr>
                  <a:t>5/6</a:t>
                </a:r>
                <a:endParaRPr lang="en-AU" sz="1100" b="0">
                  <a:effectLst/>
                  <a:latin typeface="Arial" panose="020B0604020202020204" pitchFamily="34" charset="0"/>
                  <a:ea typeface="Calibri" panose="020F0502020204030204" pitchFamily="34" charset="0"/>
                  <a:cs typeface="Times New Roman" panose="02020603050405020304" pitchFamily="18" charset="0"/>
                </a:endParaRPr>
              </a:p>
              <a:p>
                <a:pPr marL="171450" lvl="0" indent="-171450">
                  <a:lnSpc>
                    <a:spcPct val="150000"/>
                  </a:lnSpc>
                  <a:spcBef>
                    <a:spcPts val="1200"/>
                  </a:spcBef>
                  <a:spcAft>
                    <a:spcPts val="600"/>
                  </a:spcAft>
                  <a:buFont typeface="Arial" panose="020B0604020202020204" pitchFamily="34" charset="0"/>
                  <a:buChar char="•"/>
                </a:pPr>
                <a:r>
                  <a:rPr lang="en-AU" sz="1100" b="0" i="0">
                    <a:effectLst/>
                    <a:latin typeface="Cambria Math" panose="02040503050406030204" pitchFamily="18" charset="0"/>
                    <a:ea typeface="Calibri" panose="020F0502020204030204" pitchFamily="34" charset="0"/>
                    <a:cs typeface="Times New Roman" panose="02020603050405020304" pitchFamily="18" charset="0"/>
                  </a:rPr>
                  <a:t>3/6</a:t>
                </a:r>
                <a:r>
                  <a:rPr lang="en-AU" sz="1100" b="0">
                    <a:effectLst/>
                    <a:latin typeface="Arial" panose="020B0604020202020204" pitchFamily="34" charset="0"/>
                    <a:ea typeface="DengXian" panose="02010600030101010101" pitchFamily="2" charset="-122"/>
                    <a:cs typeface="Times New Roman" panose="02020603050405020304" pitchFamily="18" charset="0"/>
                  </a:rPr>
                  <a:t> – </a:t>
                </a:r>
                <a:r>
                  <a:rPr lang="en-AU" sz="1100" b="0" i="0">
                    <a:effectLst/>
                    <a:latin typeface="Cambria Math" panose="02040503050406030204" pitchFamily="18" charset="0"/>
                    <a:ea typeface="DengXian" panose="02010600030101010101" pitchFamily="2" charset="-122"/>
                    <a:cs typeface="Times New Roman" panose="02020603050405020304" pitchFamily="18" charset="0"/>
                  </a:rPr>
                  <a:t>2/6  </a:t>
                </a:r>
                <a:r>
                  <a:rPr lang="en-AU" sz="1100" b="0">
                    <a:effectLst/>
                    <a:latin typeface="Arial" panose="020B0604020202020204" pitchFamily="34" charset="0"/>
                    <a:ea typeface="DengXian" panose="02010600030101010101" pitchFamily="2" charset="-122"/>
                    <a:cs typeface="Times New Roman" panose="02020603050405020304" pitchFamily="18" charset="0"/>
                  </a:rPr>
                  <a:t>= </a:t>
                </a:r>
                <a:r>
                  <a:rPr lang="en-AU" sz="1100" b="0" i="0">
                    <a:effectLst/>
                    <a:latin typeface="Cambria Math" panose="02040503050406030204" pitchFamily="18" charset="0"/>
                    <a:ea typeface="DengXian" panose="02010600030101010101" pitchFamily="2" charset="-122"/>
                    <a:cs typeface="Times New Roman" panose="02020603050405020304" pitchFamily="18" charset="0"/>
                  </a:rPr>
                  <a:t>1/6</a:t>
                </a:r>
                <a:endParaRPr lang="en-AU" sz="1100" b="0">
                  <a:effectLst/>
                  <a:latin typeface="Arial" panose="020B0604020202020204" pitchFamily="34" charset="0"/>
                  <a:ea typeface="Calibri" panose="020F0502020204030204" pitchFamily="34" charset="0"/>
                  <a:cs typeface="Times New Roman" panose="02020603050405020304" pitchFamily="18" charset="0"/>
                </a:endParaRPr>
              </a:p>
              <a:p>
                <a:pPr marL="171450" lvl="0" indent="-171450">
                  <a:lnSpc>
                    <a:spcPct val="150000"/>
                  </a:lnSpc>
                  <a:spcBef>
                    <a:spcPts val="1200"/>
                  </a:spcBef>
                  <a:spcAft>
                    <a:spcPts val="600"/>
                  </a:spcAft>
                  <a:buFont typeface="Arial" panose="020B0604020202020204" pitchFamily="34" charset="0"/>
                  <a:buChar char="•"/>
                </a:pPr>
                <a:r>
                  <a:rPr lang="en-AU" sz="1100" b="0">
                    <a:effectLst/>
                    <a:latin typeface="Arial" panose="020B0604020202020204" pitchFamily="34" charset="0"/>
                    <a:ea typeface="Calibri" panose="020F0502020204030204" pitchFamily="34" charset="0"/>
                    <a:cs typeface="Times New Roman" panose="02020603050405020304" pitchFamily="18" charset="0"/>
                  </a:rPr>
                  <a:t>1 </a:t>
                </a:r>
                <a:r>
                  <a:rPr lang="en-AU" sz="1100" b="0">
                    <a:effectLst/>
                    <a:latin typeface="Arial" panose="020B0604020202020204" pitchFamily="34" charset="0"/>
                    <a:ea typeface="DengXian" panose="02010600030101010101" pitchFamily="2" charset="-122"/>
                    <a:cs typeface="Times New Roman" panose="02020603050405020304" pitchFamily="18" charset="0"/>
                  </a:rPr>
                  <a:t>– </a:t>
                </a:r>
                <a:r>
                  <a:rPr lang="en-AU" sz="1100" b="0" i="0">
                    <a:effectLst/>
                    <a:latin typeface="Cambria Math" panose="02040503050406030204" pitchFamily="18" charset="0"/>
                    <a:ea typeface="Calibri" panose="020F0502020204030204" pitchFamily="34" charset="0"/>
                    <a:cs typeface="Times New Roman" panose="02020603050405020304" pitchFamily="18" charset="0"/>
                  </a:rPr>
                  <a:t>1/6  </a:t>
                </a:r>
                <a:r>
                  <a:rPr lang="en-AU" sz="1100" b="0">
                    <a:effectLst/>
                    <a:latin typeface="Arial" panose="020B0604020202020204" pitchFamily="34" charset="0"/>
                    <a:ea typeface="DengXian" panose="02010600030101010101" pitchFamily="2" charset="-122"/>
                    <a:cs typeface="Times New Roman" panose="02020603050405020304" pitchFamily="18" charset="0"/>
                  </a:rPr>
                  <a:t>= </a:t>
                </a:r>
                <a:r>
                  <a:rPr lang="en-AU" sz="1100" b="0" i="0">
                    <a:effectLst/>
                    <a:latin typeface="Cambria Math" panose="02040503050406030204" pitchFamily="18" charset="0"/>
                    <a:ea typeface="DengXian" panose="02010600030101010101" pitchFamily="2" charset="-122"/>
                    <a:cs typeface="Times New Roman" panose="02020603050405020304" pitchFamily="18" charset="0"/>
                  </a:rPr>
                  <a:t>5/6</a:t>
                </a:r>
                <a:r>
                  <a:rPr lang="en-AU" sz="1100" b="0">
                    <a:effectLst/>
                    <a:latin typeface="Arial" panose="020B0604020202020204" pitchFamily="34" charset="0"/>
                    <a:ea typeface="DengXian" panose="02010600030101010101" pitchFamily="2" charset="-122"/>
                    <a:cs typeface="Times New Roman" panose="02020603050405020304" pitchFamily="18" charset="0"/>
                  </a:rPr>
                  <a:t>.</a:t>
                </a:r>
                <a:endParaRPr lang="en-AU" sz="1100" b="0">
                  <a:effectLst/>
                  <a:latin typeface="Arial" panose="020B0604020202020204" pitchFamily="34" charset="0"/>
                  <a:ea typeface="Calibri" panose="020F0502020204030204" pitchFamily="34" charset="0"/>
                  <a:cs typeface="Times New Roman" panose="02020603050405020304" pitchFamily="18" charset="0"/>
                </a:endParaRPr>
              </a:p>
              <a:p>
                <a:pPr marL="0" lvl="0" indent="0">
                  <a:lnSpc>
                    <a:spcPct val="150000"/>
                  </a:lnSpc>
                  <a:spcBef>
                    <a:spcPts val="1200"/>
                  </a:spcBef>
                  <a:spcAft>
                    <a:spcPts val="600"/>
                  </a:spcAft>
                  <a:buFont typeface="Courier New" panose="02070309020205020404" pitchFamily="49" charset="0"/>
                  <a:buNone/>
                </a:pPr>
                <a:r>
                  <a:rPr lang="en-AU" sz="1100" b="0">
                    <a:effectLst/>
                    <a:latin typeface="Arial" panose="020B0604020202020204" pitchFamily="34" charset="0"/>
                    <a:ea typeface="Calibri" panose="020F0502020204030204" pitchFamily="34" charset="0"/>
                    <a:cs typeface="Times New Roman" panose="02020603050405020304" pitchFamily="18" charset="0"/>
                  </a:rPr>
                  <a:t>4. </a:t>
                </a:r>
                <a:r>
                  <a:rPr lang="en-AU" sz="1100" b="0">
                    <a:effectLst/>
                    <a:latin typeface="Arial" panose="020B0604020202020204" pitchFamily="34" charset="0"/>
                    <a:ea typeface="Calibri" panose="020F0502020204030204" pitchFamily="34" charset="0"/>
                  </a:rPr>
                  <a:t>Check for understanding by selecting students to share their responses.</a:t>
                </a:r>
              </a:p>
              <a:p>
                <a:pPr marL="0" lvl="0" indent="0">
                  <a:lnSpc>
                    <a:spcPct val="150000"/>
                  </a:lnSpc>
                  <a:spcBef>
                    <a:spcPts val="1200"/>
                  </a:spcBef>
                  <a:spcAft>
                    <a:spcPts val="600"/>
                  </a:spcAft>
                  <a:buFont typeface="+mj-lt"/>
                  <a:buNone/>
                </a:pPr>
                <a:r>
                  <a:rPr lang="en-AU" sz="1100" b="0">
                    <a:effectLst/>
                    <a:latin typeface="Arial" panose="020B0604020202020204" pitchFamily="34" charset="0"/>
                    <a:ea typeface="Calibri" panose="020F0502020204030204" pitchFamily="34" charset="0"/>
                  </a:rPr>
                  <a:t>5. Explain to students they will now record at least 4 addition or subtraction sentences that match image B. Examples may include:</a:t>
                </a:r>
              </a:p>
              <a:p>
                <a:pPr marL="171450" lvl="0" indent="-171450">
                  <a:lnSpc>
                    <a:spcPct val="150000"/>
                  </a:lnSpc>
                  <a:spcBef>
                    <a:spcPts val="1200"/>
                  </a:spcBef>
                  <a:spcAft>
                    <a:spcPts val="600"/>
                  </a:spcAft>
                  <a:buFont typeface="Arial" panose="020B0604020202020204" pitchFamily="34" charset="0"/>
                  <a:buChar char="•"/>
                </a:pPr>
                <a:r>
                  <a:rPr lang="en-AU" sz="1100" b="0" i="0">
                    <a:effectLst/>
                    <a:latin typeface="Cambria Math" panose="02040503050406030204" pitchFamily="18" charset="0"/>
                    <a:ea typeface="Calibri" panose="020F0502020204030204" pitchFamily="34" charset="0"/>
                    <a:cs typeface="Times New Roman" panose="02020603050405020304" pitchFamily="18" charset="0"/>
                  </a:rPr>
                  <a:t>4/6  </a:t>
                </a:r>
                <a:r>
                  <a:rPr lang="en-AU" sz="1100" b="0">
                    <a:effectLst/>
                    <a:latin typeface="Arial" panose="020B0604020202020204" pitchFamily="34" charset="0"/>
                    <a:ea typeface="Calibri" panose="020F0502020204030204" pitchFamily="34" charset="0"/>
                    <a:cs typeface="Times New Roman" panose="02020603050405020304" pitchFamily="18" charset="0"/>
                  </a:rPr>
                  <a:t>+ </a:t>
                </a:r>
                <a:r>
                  <a:rPr lang="en-AU" sz="1100" b="0" i="0">
                    <a:effectLst/>
                    <a:latin typeface="Cambria Math" panose="02040503050406030204" pitchFamily="18" charset="0"/>
                    <a:ea typeface="Calibri" panose="020F0502020204030204" pitchFamily="34" charset="0"/>
                    <a:cs typeface="Times New Roman" panose="02020603050405020304" pitchFamily="18" charset="0"/>
                  </a:rPr>
                  <a:t>3/6  </a:t>
                </a:r>
                <a:r>
                  <a:rPr lang="en-AU" sz="1100" b="0">
                    <a:effectLst/>
                    <a:latin typeface="Arial" panose="020B0604020202020204" pitchFamily="34" charset="0"/>
                    <a:ea typeface="Calibri" panose="020F0502020204030204" pitchFamily="34" charset="0"/>
                    <a:cs typeface="Times New Roman" panose="02020603050405020304" pitchFamily="18" charset="0"/>
                  </a:rPr>
                  <a:t>+ </a:t>
                </a:r>
                <a:r>
                  <a:rPr lang="en-AU" sz="1100" b="0" i="0">
                    <a:effectLst/>
                    <a:latin typeface="Cambria Math" panose="02040503050406030204" pitchFamily="18" charset="0"/>
                    <a:ea typeface="Calibri" panose="020F0502020204030204" pitchFamily="34" charset="0"/>
                    <a:cs typeface="Times New Roman" panose="02020603050405020304" pitchFamily="18" charset="0"/>
                  </a:rPr>
                  <a:t>2/6</a:t>
                </a:r>
                <a:r>
                  <a:rPr lang="en-AU" sz="1100" b="0">
                    <a:effectLst/>
                    <a:latin typeface="Arial" panose="020B0604020202020204" pitchFamily="34" charset="0"/>
                    <a:ea typeface="Calibri" panose="020F0502020204030204" pitchFamily="34" charset="0"/>
                    <a:cs typeface="Times New Roman" panose="02020603050405020304" pitchFamily="18" charset="0"/>
                  </a:rPr>
                  <a:t> = </a:t>
                </a:r>
                <a:r>
                  <a:rPr lang="en-AU" sz="1100" b="0" i="0">
                    <a:effectLst/>
                    <a:latin typeface="Cambria Math" panose="02040503050406030204" pitchFamily="18" charset="0"/>
                    <a:ea typeface="Calibri" panose="020F0502020204030204" pitchFamily="34" charset="0"/>
                    <a:cs typeface="Times New Roman" panose="02020603050405020304" pitchFamily="18" charset="0"/>
                  </a:rPr>
                  <a:t>9/6</a:t>
                </a:r>
                <a:r>
                  <a:rPr lang="en-AU" sz="1100" b="0">
                    <a:effectLst/>
                    <a:latin typeface="Arial" panose="020B0604020202020204" pitchFamily="34" charset="0"/>
                    <a:ea typeface="Calibri" panose="020F0502020204030204" pitchFamily="34" charset="0"/>
                    <a:cs typeface="Times New Roman" panose="02020603050405020304" pitchFamily="18" charset="0"/>
                  </a:rPr>
                  <a:t> = </a:t>
                </a:r>
                <a:r>
                  <a:rPr lang="en-AU" sz="1100" b="0" i="0">
                    <a:effectLst/>
                    <a:latin typeface="Cambria Math" panose="02040503050406030204" pitchFamily="18" charset="0"/>
                    <a:ea typeface="Calibri" panose="020F0502020204030204" pitchFamily="34" charset="0"/>
                    <a:cs typeface="Times New Roman" panose="02020603050405020304" pitchFamily="18" charset="0"/>
                  </a:rPr>
                  <a:t>1 1/2</a:t>
                </a:r>
                <a:endParaRPr lang="en-AU" sz="1100" b="0">
                  <a:effectLst/>
                  <a:latin typeface="Arial" panose="020B0604020202020204" pitchFamily="34" charset="0"/>
                  <a:ea typeface="Calibri" panose="020F0502020204030204" pitchFamily="34" charset="0"/>
                  <a:cs typeface="Times New Roman" panose="02020603050405020304" pitchFamily="18" charset="0"/>
                </a:endParaRPr>
              </a:p>
              <a:p>
                <a:pPr marL="171450" lvl="0" indent="-171450">
                  <a:lnSpc>
                    <a:spcPct val="150000"/>
                  </a:lnSpc>
                  <a:spcBef>
                    <a:spcPts val="1200"/>
                  </a:spcBef>
                  <a:spcAft>
                    <a:spcPts val="600"/>
                  </a:spcAft>
                  <a:buFont typeface="Arial" panose="020B0604020202020204" pitchFamily="34" charset="0"/>
                  <a:buChar char="•"/>
                </a:pPr>
                <a:r>
                  <a:rPr lang="en-AU" sz="1100" b="0" i="0">
                    <a:effectLst/>
                    <a:latin typeface="Cambria Math" panose="02040503050406030204" pitchFamily="18" charset="0"/>
                    <a:ea typeface="Calibri" panose="020F0502020204030204" pitchFamily="34" charset="0"/>
                    <a:cs typeface="Times New Roman" panose="02020603050405020304" pitchFamily="18" charset="0"/>
                  </a:rPr>
                  <a:t>4/6  </a:t>
                </a:r>
                <a:r>
                  <a:rPr lang="en-AU" sz="1100" b="0">
                    <a:effectLst/>
                    <a:latin typeface="Arial" panose="020B0604020202020204" pitchFamily="34" charset="0"/>
                    <a:ea typeface="Calibri" panose="020F0502020204030204" pitchFamily="34" charset="0"/>
                    <a:cs typeface="Times New Roman" panose="02020603050405020304" pitchFamily="18" charset="0"/>
                  </a:rPr>
                  <a:t>+ </a:t>
                </a:r>
                <a:r>
                  <a:rPr lang="en-AU" sz="1100" b="0" i="0">
                    <a:effectLst/>
                    <a:latin typeface="Cambria Math" panose="02040503050406030204" pitchFamily="18" charset="0"/>
                    <a:ea typeface="Calibri" panose="020F0502020204030204" pitchFamily="34" charset="0"/>
                    <a:cs typeface="Times New Roman" panose="02020603050405020304" pitchFamily="18" charset="0"/>
                  </a:rPr>
                  <a:t>3/6  </a:t>
                </a:r>
                <a:r>
                  <a:rPr lang="en-AU" sz="1100" b="0">
                    <a:effectLst/>
                    <a:latin typeface="Arial" panose="020B0604020202020204" pitchFamily="34" charset="0"/>
                    <a:ea typeface="Calibri" panose="020F0502020204030204" pitchFamily="34" charset="0"/>
                    <a:cs typeface="Times New Roman" panose="02020603050405020304" pitchFamily="18" charset="0"/>
                  </a:rPr>
                  <a:t>= </a:t>
                </a:r>
                <a:r>
                  <a:rPr lang="en-AU" sz="1100" b="0" i="0">
                    <a:effectLst/>
                    <a:latin typeface="Cambria Math" panose="02040503050406030204" pitchFamily="18" charset="0"/>
                    <a:ea typeface="Calibri" panose="020F0502020204030204" pitchFamily="34" charset="0"/>
                    <a:cs typeface="Times New Roman" panose="02020603050405020304" pitchFamily="18" charset="0"/>
                  </a:rPr>
                  <a:t>7/6  </a:t>
                </a:r>
                <a:r>
                  <a:rPr lang="en-AU" sz="1100" b="0">
                    <a:effectLst/>
                    <a:latin typeface="Arial" panose="020B0604020202020204" pitchFamily="34" charset="0"/>
                    <a:ea typeface="Calibri" panose="020F0502020204030204" pitchFamily="34" charset="0"/>
                    <a:cs typeface="Times New Roman" panose="02020603050405020304" pitchFamily="18" charset="0"/>
                  </a:rPr>
                  <a:t>= </a:t>
                </a:r>
                <a:r>
                  <a:rPr lang="en-AU" sz="1100" b="0" i="0">
                    <a:effectLst/>
                    <a:latin typeface="Cambria Math" panose="02040503050406030204" pitchFamily="18" charset="0"/>
                    <a:ea typeface="Calibri" panose="020F0502020204030204" pitchFamily="34" charset="0"/>
                    <a:cs typeface="Times New Roman" panose="02020603050405020304" pitchFamily="18" charset="0"/>
                  </a:rPr>
                  <a:t>1 1/6</a:t>
                </a:r>
                <a:endParaRPr lang="en-AU" sz="1100" b="0">
                  <a:effectLst/>
                  <a:latin typeface="Arial" panose="020B0604020202020204" pitchFamily="34" charset="0"/>
                  <a:ea typeface="Calibri" panose="020F0502020204030204" pitchFamily="34" charset="0"/>
                  <a:cs typeface="Times New Roman" panose="02020603050405020304" pitchFamily="18" charset="0"/>
                </a:endParaRPr>
              </a:p>
              <a:p>
                <a:pPr marL="171450" lvl="0" indent="-171450">
                  <a:lnSpc>
                    <a:spcPct val="150000"/>
                  </a:lnSpc>
                  <a:spcBef>
                    <a:spcPts val="1200"/>
                  </a:spcBef>
                  <a:spcAft>
                    <a:spcPts val="600"/>
                  </a:spcAft>
                  <a:buFont typeface="Arial" panose="020B0604020202020204" pitchFamily="34" charset="0"/>
                  <a:buChar char="•"/>
                </a:pPr>
                <a:r>
                  <a:rPr lang="en-AU" sz="1100" b="0" i="0">
                    <a:effectLst/>
                    <a:latin typeface="Cambria Math" panose="02040503050406030204" pitchFamily="18" charset="0"/>
                    <a:ea typeface="Calibri" panose="020F0502020204030204" pitchFamily="34" charset="0"/>
                    <a:cs typeface="Times New Roman" panose="02020603050405020304" pitchFamily="18" charset="0"/>
                  </a:rPr>
                  <a:t>1 3/6  </a:t>
                </a:r>
                <a:r>
                  <a:rPr lang="en-AU" sz="1100" b="0">
                    <a:effectLst/>
                    <a:latin typeface="Arial" panose="020B0604020202020204" pitchFamily="34" charset="0"/>
                    <a:ea typeface="Calibri" panose="020F0502020204030204" pitchFamily="34" charset="0"/>
                    <a:cs typeface="Times New Roman" panose="02020603050405020304" pitchFamily="18" charset="0"/>
                  </a:rPr>
                  <a:t> − </a:t>
                </a:r>
                <a:r>
                  <a:rPr lang="en-AU" sz="1100" b="0" i="0">
                    <a:effectLst/>
                    <a:latin typeface="Cambria Math" panose="02040503050406030204" pitchFamily="18" charset="0"/>
                    <a:ea typeface="Calibri" panose="020F0502020204030204" pitchFamily="34" charset="0"/>
                    <a:cs typeface="Times New Roman" panose="02020603050405020304" pitchFamily="18" charset="0"/>
                  </a:rPr>
                  <a:t>2/6  </a:t>
                </a:r>
                <a:r>
                  <a:rPr lang="en-AU" sz="1100" b="0">
                    <a:effectLst/>
                    <a:latin typeface="Arial" panose="020B0604020202020204" pitchFamily="34" charset="0"/>
                    <a:ea typeface="Calibri" panose="020F0502020204030204" pitchFamily="34" charset="0"/>
                    <a:cs typeface="Times New Roman" panose="02020603050405020304" pitchFamily="18" charset="0"/>
                  </a:rPr>
                  <a:t>= </a:t>
                </a:r>
                <a:r>
                  <a:rPr lang="en-AU" sz="1100" b="0" i="0">
                    <a:effectLst/>
                    <a:latin typeface="Cambria Math" panose="02040503050406030204" pitchFamily="18" charset="0"/>
                    <a:ea typeface="Calibri" panose="020F0502020204030204" pitchFamily="34" charset="0"/>
                    <a:cs typeface="Times New Roman" panose="02020603050405020304" pitchFamily="18" charset="0"/>
                  </a:rPr>
                  <a:t>1 1/6</a:t>
                </a:r>
                <a:r>
                  <a:rPr lang="en-AU" sz="1100" b="0">
                    <a:effectLst/>
                    <a:latin typeface="Arial" panose="020B0604020202020204" pitchFamily="34" charset="0"/>
                    <a:ea typeface="Calibri" panose="020F0502020204030204" pitchFamily="34" charset="0"/>
                    <a:cs typeface="Times New Roman" panose="02020603050405020304" pitchFamily="18" charset="0"/>
                  </a:rPr>
                  <a:t> = </a:t>
                </a:r>
                <a:r>
                  <a:rPr lang="en-AU" sz="1100" b="0" i="0">
                    <a:effectLst/>
                    <a:latin typeface="Cambria Math" panose="02040503050406030204" pitchFamily="18" charset="0"/>
                    <a:ea typeface="Calibri" panose="020F0502020204030204" pitchFamily="34" charset="0"/>
                    <a:cs typeface="Times New Roman" panose="02020603050405020304" pitchFamily="18" charset="0"/>
                  </a:rPr>
                  <a:t>7/6</a:t>
                </a:r>
                <a:r>
                  <a:rPr lang="en-AU" sz="1100" b="0">
                    <a:effectLst/>
                    <a:latin typeface="Arial" panose="020B0604020202020204" pitchFamily="34" charset="0"/>
                    <a:ea typeface="Calibri" panose="020F0502020204030204" pitchFamily="34" charset="0"/>
                    <a:cs typeface="Times New Roman" panose="02020603050405020304" pitchFamily="18" charset="0"/>
                  </a:rPr>
                  <a:t>.</a:t>
                </a:r>
              </a:p>
              <a:p>
                <a:pPr marL="0" lvl="0" indent="0">
                  <a:lnSpc>
                    <a:spcPct val="150000"/>
                  </a:lnSpc>
                  <a:spcBef>
                    <a:spcPts val="1200"/>
                  </a:spcBef>
                  <a:spcAft>
                    <a:spcPts val="600"/>
                  </a:spcAft>
                  <a:buFont typeface="+mj-lt"/>
                  <a:buNone/>
                </a:pPr>
                <a:r>
                  <a:rPr lang="en-AU" sz="1100" b="0">
                    <a:effectLst/>
                    <a:latin typeface="Arial" panose="020B0604020202020204" pitchFamily="34" charset="0"/>
                    <a:ea typeface="Calibri" panose="020F0502020204030204" pitchFamily="34" charset="0"/>
                    <a:cs typeface="Times New Roman" panose="02020603050405020304" pitchFamily="18" charset="0"/>
                  </a:rPr>
                  <a:t>6. </a:t>
                </a:r>
                <a:r>
                  <a:rPr lang="en-AU" sz="1800" b="0">
                    <a:effectLst/>
                    <a:latin typeface="Arial" panose="020B0604020202020204" pitchFamily="34" charset="0"/>
                    <a:ea typeface="Calibri" panose="020F0502020204030204" pitchFamily="34" charset="0"/>
                  </a:rPr>
                  <a:t>Check for understanding by selecting students to share their responses.</a:t>
                </a:r>
              </a:p>
              <a:p>
                <a:pPr marL="0" lvl="0" indent="0">
                  <a:lnSpc>
                    <a:spcPct val="150000"/>
                  </a:lnSpc>
                  <a:spcBef>
                    <a:spcPts val="1200"/>
                  </a:spcBef>
                  <a:spcAft>
                    <a:spcPts val="600"/>
                  </a:spcAft>
                  <a:buFont typeface="+mj-lt"/>
                  <a:buNone/>
                </a:pPr>
                <a:endParaRPr lang="en-AU" sz="1800" b="0">
                  <a:effectLst/>
                  <a:latin typeface="Arial" panose="020B0604020202020204" pitchFamily="34" charset="0"/>
                  <a:ea typeface="Calibri" panose="020F0502020204030204" pitchFamily="34" charset="0"/>
                </a:endParaRPr>
              </a:p>
              <a:p>
                <a:pPr>
                  <a:lnSpc>
                    <a:spcPct val="150000"/>
                  </a:lnSpc>
                  <a:spcBef>
                    <a:spcPts val="1200"/>
                  </a:spcBef>
                  <a:spcAft>
                    <a:spcPts val="600"/>
                  </a:spcAft>
                </a:pPr>
                <a:r>
                  <a:rPr lang="en-AU" sz="1800" b="1">
                    <a:effectLst/>
                    <a:latin typeface="Arial" panose="020B0604020202020204" pitchFamily="34" charset="0"/>
                    <a:ea typeface="Calibri" panose="020F0502020204030204" pitchFamily="34" charset="0"/>
                  </a:rPr>
                  <a:t>Note</a:t>
                </a:r>
                <a:r>
                  <a:rPr lang="en-AU" sz="1800" b="0">
                    <a:effectLst/>
                    <a:latin typeface="Arial" panose="020B0604020202020204" pitchFamily="34" charset="0"/>
                    <a:ea typeface="Calibri" panose="020F0502020204030204" pitchFamily="34" charset="0"/>
                  </a:rPr>
                  <a:t>: in the syllabus, the expression ‘fraction greater than one’ is used instead of the term ‘improper fraction’ or ‘mixed numeral.’</a:t>
                </a:r>
              </a:p>
              <a:p>
                <a:pPr marL="0" lvl="0" indent="0">
                  <a:lnSpc>
                    <a:spcPct val="150000"/>
                  </a:lnSpc>
                  <a:spcBef>
                    <a:spcPts val="1200"/>
                  </a:spcBef>
                  <a:spcAft>
                    <a:spcPts val="600"/>
                  </a:spcAft>
                  <a:buFont typeface="Courier New" panose="02070309020205020404" pitchFamily="49" charset="0"/>
                  <a:buNone/>
                </a:pPr>
                <a:endParaRPr lang="en-AU" sz="1100">
                  <a:effectLst/>
                  <a:latin typeface="Arial" panose="020B0604020202020204" pitchFamily="34" charset="0"/>
                  <a:ea typeface="Calibri" panose="020F0502020204030204" pitchFamily="34" charset="0"/>
                  <a:cs typeface="Times New Roman" panose="02020603050405020304" pitchFamily="18" charset="0"/>
                </a:endParaRPr>
              </a:p>
              <a:p>
                <a:pPr marL="342900" lvl="0" indent="-342900">
                  <a:lnSpc>
                    <a:spcPct val="150000"/>
                  </a:lnSpc>
                  <a:spcBef>
                    <a:spcPts val="1200"/>
                  </a:spcBef>
                  <a:spcAft>
                    <a:spcPts val="600"/>
                  </a:spcAft>
                  <a:buFont typeface="Courier New" panose="02070309020205020404" pitchFamily="49" charset="0"/>
                  <a:buChar char="o"/>
                </a:pPr>
                <a:endParaRPr lang="en-AU" sz="1100">
                  <a:effectLst/>
                  <a:latin typeface="Arial" panose="020B0604020202020204" pitchFamily="34" charset="0"/>
                  <a:ea typeface="Calibri" panose="020F0502020204030204" pitchFamily="34" charset="0"/>
                  <a:cs typeface="Times New Roman" panose="02020603050405020304" pitchFamily="18" charset="0"/>
                </a:endParaRPr>
              </a:p>
              <a:p>
                <a:pPr marL="0" lvl="0" indent="0">
                  <a:lnSpc>
                    <a:spcPct val="150000"/>
                  </a:lnSpc>
                  <a:buFont typeface="Symbol" panose="05050102010706020507" pitchFamily="18" charset="2"/>
                  <a:buNone/>
                </a:pPr>
                <a:endParaRPr lang="en-AU" sz="1800">
                  <a:effectLst/>
                  <a:latin typeface="Arial" panose="020B0604020202020204" pitchFamily="34" charset="0"/>
                  <a:ea typeface="Calibri" panose="020F0502020204030204" pitchFamily="34" charset="0"/>
                </a:endParaRPr>
              </a:p>
              <a:p>
                <a:pPr marL="0" lvl="0" indent="0">
                  <a:lnSpc>
                    <a:spcPct val="150000"/>
                  </a:lnSpc>
                  <a:buFont typeface="Symbol" panose="05050102010706020507" pitchFamily="18" charset="2"/>
                  <a:buNone/>
                </a:pPr>
                <a:endParaRPr lang="en-AU" sz="1800">
                  <a:effectLst/>
                  <a:latin typeface="Arial" panose="020B0604020202020204" pitchFamily="34" charset="0"/>
                  <a:ea typeface="Calibri" panose="020F0502020204030204" pitchFamily="34" charset="0"/>
                </a:endParaRPr>
              </a:p>
              <a:p>
                <a:pPr marL="0" lvl="0" indent="0">
                  <a:lnSpc>
                    <a:spcPct val="150000"/>
                  </a:lnSpc>
                  <a:buFont typeface="Symbol" panose="05050102010706020507" pitchFamily="18" charset="2"/>
                  <a:buNone/>
                </a:pPr>
                <a:endParaRPr lang="en-AU" sz="180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Courier New" panose="02070309020205020404" pitchFamily="49" charset="0"/>
                  <a:buNone/>
                </a:pPr>
                <a:endParaRPr lang="en-AU" sz="1800">
                  <a:effectLst/>
                  <a:latin typeface="Arial" panose="020B0604020202020204" pitchFamily="34" charset="0"/>
                  <a:ea typeface="Calibri" panose="020F0502020204030204" pitchFamily="34" charset="0"/>
                  <a:cs typeface="Times New Roman" panose="02020603050405020304" pitchFamily="18" charset="0"/>
                </a:endParaRPr>
              </a:p>
              <a:p>
                <a:pPr marL="0" lvl="0" indent="0">
                  <a:lnSpc>
                    <a:spcPct val="150000"/>
                  </a:lnSpc>
                  <a:buFont typeface="Symbol" panose="05050102010706020507" pitchFamily="18" charset="2"/>
                  <a:buNone/>
                </a:pPr>
                <a:endParaRPr lang="en-AU" sz="1800">
                  <a:effectLst/>
                  <a:latin typeface="Arial" panose="020B0604020202020204" pitchFamily="34" charset="0"/>
                  <a:ea typeface="Calibri" panose="020F0502020204030204" pitchFamily="34" charset="0"/>
                </a:endParaRPr>
              </a:p>
              <a:p>
                <a:pPr marL="0" lvl="0" indent="0">
                  <a:lnSpc>
                    <a:spcPct val="150000"/>
                  </a:lnSpc>
                  <a:buFont typeface="Symbol" panose="05050102010706020507" pitchFamily="18" charset="2"/>
                  <a:buNone/>
                </a:pPr>
                <a:endParaRPr lang="en-AU" sz="1800">
                  <a:effectLst/>
                  <a:latin typeface="Arial" panose="020B0604020202020204" pitchFamily="34" charset="0"/>
                  <a:ea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800" b="1">
                  <a:effectLst/>
                  <a:latin typeface="Arial" panose="020B0604020202020204" pitchFamily="34" charset="0"/>
                  <a:ea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ED6AA7A9-33A8-CD23-AD2C-21F34646B92B}"/>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312328428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8C1CE-3D7B-8C22-AFC5-660902D599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E37C5F-4ACE-3DE4-9D05-E15869C1E5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7D0275-1957-4FCD-4C9F-4F5014D4029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0ED9EA0-63F8-DCB3-45D1-47D40D33264E}"/>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16781621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85C66-E87F-8559-1BA9-FC3610A67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92896-D187-8BC4-AFD2-7703B8D5EA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077664-AA60-3C7F-EA05-E21A631F224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6</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57CEC59-E004-9475-6C50-843D04984AF6}"/>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41968075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15048-2001-38E7-C6D8-4D56F31393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C8191-A82C-7584-98A7-AB3325A543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5D1080-5AAD-6FC8-34A4-C308FFD0130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Representing quantity fractions A</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7AF038-93C9-4742-2CFB-CDB0907916EC}"/>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718513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76D1B-C30D-914C-D301-04E3D94155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5D6EBE-AC3C-D895-E00D-A6AB845EB2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934EA7-7CE3-4F4E-4C9B-79F74EFA3E1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Additive relations A</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B20FF9E-D104-FB31-D6A0-7D894B5152CA}"/>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7602124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9237A-4851-3D2C-DEBB-BE3972BF45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8C423-A6E6-C5B7-7905-CC0BC5A1EE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63C889-7CAC-B141-2484-44CF565D2B6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Non spatial measure A: Mass</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6C61C20-F4A1-5B16-3DAE-BF102D6A931F}"/>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1482671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88F32-0A67-FA95-4465-407CB7E45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92FD93-170C-A7F6-032B-206207344D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81DDA8-1CA3-B1ED-E0A4-4DA46EACB79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Three-dimensional spatial structure A</a:t>
            </a:r>
            <a:endParaRPr lang="en-AU"/>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3B6ABB5-2F6F-3721-A6D1-DA32621E5284}"/>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24774733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0D876-385B-3FA0-AF77-FFB78593D7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C3E193-042F-DD74-4C16-6E001EA48D26}"/>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6E85CA9F-2EC0-2C80-50A8-EA1B9C527DB9}"/>
                  </a:ext>
                </a:extLst>
              </p:cNvPr>
              <p:cNvSpPr>
                <a:spLocks noGrp="1"/>
              </p:cNvSpPr>
              <p:nvPr>
                <p:ph type="body" idx="1"/>
              </p:nvPr>
            </p:nvSpPr>
            <p:spPr/>
            <p:txBody>
              <a:bodyPr/>
              <a:lstStyle/>
              <a:p>
                <a:pPr>
                  <a:lnSpc>
                    <a:spcPct val="150000"/>
                  </a:lnSpc>
                  <a:spcBef>
                    <a:spcPts val="1200"/>
                  </a:spcBef>
                  <a:spcAft>
                    <a:spcPts val="600"/>
                  </a:spcAft>
                </a:pPr>
                <a:r>
                  <a:rPr lang="en-AU" sz="1800" dirty="0">
                    <a:solidFill>
                      <a:srgbClr val="000000"/>
                    </a:solidFill>
                    <a:latin typeface="Arial"/>
                    <a:cs typeface="Arial"/>
                  </a:rPr>
                  <a:t>This is a developing number sense activity. </a:t>
                </a:r>
                <a:endParaRPr lang="en-US" sz="1800" dirty="0">
                  <a:solidFill>
                    <a:srgbClr val="444444"/>
                  </a:solidFill>
                  <a:latin typeface="Arial"/>
                  <a:cs typeface="Arial"/>
                </a:endParaRPr>
              </a:p>
              <a:p>
                <a:pPr>
                  <a:lnSpc>
                    <a:spcPct val="150000"/>
                  </a:lnSpc>
                  <a:spcBef>
                    <a:spcPts val="1200"/>
                  </a:spcBef>
                  <a:spcAft>
                    <a:spcPts val="600"/>
                  </a:spcAft>
                </a:pPr>
                <a:endParaRPr lang="en-AU" sz="1800" dirty="0">
                  <a:solidFill>
                    <a:srgbClr val="444444"/>
                  </a:solidFill>
                </a:endParaRPr>
              </a:p>
              <a:p>
                <a:pPr>
                  <a:lnSpc>
                    <a:spcPct val="150000"/>
                  </a:lnSpc>
                  <a:spcBef>
                    <a:spcPts val="1200"/>
                  </a:spcBef>
                  <a:spcAft>
                    <a:spcPts val="600"/>
                  </a:spcAft>
                </a:pPr>
                <a:r>
                  <a:rPr lang="en-AU" sz="1800" dirty="0">
                    <a:solidFill>
                      <a:srgbClr val="000000"/>
                    </a:solidFill>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dirty="0">
                  <a:solidFill>
                    <a:srgbClr val="444444"/>
                  </a:solidFill>
                  <a:latin typeface="Arial"/>
                  <a:cs typeface="Arial"/>
                </a:endParaRPr>
              </a:p>
              <a:p>
                <a:pPr>
                  <a:lnSpc>
                    <a:spcPts val="1913"/>
                  </a:lnSpc>
                </a:pPr>
                <a:endParaRPr lang="en-AU" sz="1800" dirty="0">
                  <a:solidFill>
                    <a:srgbClr val="444444"/>
                  </a:solidFill>
                </a:endParaRPr>
              </a:p>
              <a:p>
                <a:r>
                  <a:rPr lang="en-AU" sz="1800" b="1" dirty="0">
                    <a:solidFill>
                      <a:srgbClr val="000000"/>
                    </a:solidFill>
                    <a:latin typeface="Arial"/>
                    <a:cs typeface="Arial"/>
                  </a:rPr>
                  <a:t>Syllabus focus area:</a:t>
                </a:r>
                <a:endParaRPr lang="en-US" sz="1800" dirty="0">
                  <a:solidFill>
                    <a:srgbClr val="444444"/>
                  </a:solidFill>
                  <a:latin typeface="Arial"/>
                  <a:cs typeface="Arial"/>
                </a:endParaRPr>
              </a:p>
              <a:p>
                <a:r>
                  <a:rPr lang="en-AU" sz="1800" dirty="0">
                    <a:solidFill>
                      <a:srgbClr val="000000"/>
                    </a:solidFill>
                    <a:latin typeface="Arial"/>
                    <a:cs typeface="Arial"/>
                  </a:rPr>
                  <a:t>Representing quantity fractions A</a:t>
                </a:r>
              </a:p>
              <a:p>
                <a:endParaRPr lang="en-AU" sz="1800" b="1" dirty="0">
                  <a:solidFill>
                    <a:srgbClr val="000000"/>
                  </a:solidFill>
                  <a:effectLst/>
                  <a:latin typeface="Arial"/>
                  <a:ea typeface="Calibri" panose="020F0502020204030204" pitchFamily="34" charset="0"/>
                  <a:cs typeface="Arial"/>
                </a:endParaRPr>
              </a:p>
              <a:p>
                <a:r>
                  <a:rPr lang="en-AU" sz="1800" b="1" dirty="0">
                    <a:solidFill>
                      <a:srgbClr val="000000"/>
                    </a:solidFill>
                    <a:effectLst/>
                    <a:latin typeface="Arial"/>
                    <a:ea typeface="Calibri" panose="020F0502020204030204" pitchFamily="34" charset="0"/>
                    <a:cs typeface="Arial"/>
                  </a:rPr>
                  <a:t>Calculating fractions in area models</a:t>
                </a:r>
                <a:endParaRPr lang="en-AU" sz="1800" b="1" dirty="0">
                  <a:effectLst/>
                  <a:latin typeface="Arial" panose="020B0604020202020204" pitchFamily="34" charset="0"/>
                  <a:ea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800" b="1" dirty="0">
                  <a:effectLst/>
                  <a:latin typeface="Arial" panose="020B0604020202020204" pitchFamily="34" charset="0"/>
                  <a:ea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800" b="1" dirty="0">
                    <a:effectLst/>
                    <a:latin typeface="Arial" panose="020B0604020202020204" pitchFamily="34" charset="0"/>
                    <a:ea typeface="Calibri" panose="020F0502020204030204" pitchFamily="34" charset="0"/>
                  </a:rPr>
                  <a:t>Note: </a:t>
                </a:r>
                <a:r>
                  <a:rPr lang="en-AU" sz="1800" b="0" dirty="0">
                    <a:effectLst/>
                    <a:latin typeface="Arial" panose="020B0604020202020204" pitchFamily="34" charset="0"/>
                    <a:ea typeface="Calibri" panose="020F0502020204030204" pitchFamily="34" charset="0"/>
                  </a:rPr>
                  <a:t>the equations noted in point 2 may be written on the board, after students’ complete section 1.</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800" b="0" dirty="0">
                    <a:effectLst/>
                    <a:latin typeface="Arial" panose="020B0604020202020204" pitchFamily="34" charset="0"/>
                    <a:ea typeface="Calibri" panose="020F0502020204030204" pitchFamily="34" charset="0"/>
                  </a:rPr>
                  <a:t>Alternatively, this section can be hidden until section 1 is complete. </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800" b="0" dirty="0">
                  <a:effectLst/>
                  <a:latin typeface="Arial" panose="020B0604020202020204" pitchFamily="34" charset="0"/>
                  <a:ea typeface="Calibri" panose="020F0502020204030204" pitchFamily="34" charset="0"/>
                </a:endParaRPr>
              </a:p>
              <a:p>
                <a:pPr marL="342900" marR="0" lvl="0" indent="-342900" algn="l" defTabSz="1219170" rtl="0" eaLnBrk="1" fontAlgn="auto" latinLnBrk="0" hangingPunct="1">
                  <a:lnSpc>
                    <a:spcPct val="150000"/>
                  </a:lnSpc>
                  <a:spcBef>
                    <a:spcPts val="1200"/>
                  </a:spcBef>
                  <a:spcAft>
                    <a:spcPts val="600"/>
                  </a:spcAft>
                  <a:buClrTx/>
                  <a:buSzTx/>
                  <a:buFont typeface="+mj-lt"/>
                  <a:buAutoNum type="arabicPeriod"/>
                  <a:tabLst/>
                  <a:defRPr/>
                </a:pPr>
                <a:r>
                  <a:rPr lang="en-AU" sz="1800" dirty="0">
                    <a:effectLst/>
                    <a:latin typeface="Arial" panose="020B0604020202020204" pitchFamily="34" charset="0"/>
                    <a:ea typeface="Calibri" panose="020F0502020204030204" pitchFamily="34" charset="0"/>
                  </a:rPr>
                  <a:t>1. Display Resource 21 – new area models</a:t>
                </a:r>
                <a:r>
                  <a:rPr lang="en-AU" sz="1800" b="0" dirty="0">
                    <a:effectLst/>
                    <a:latin typeface="Arial" panose="020B0604020202020204" pitchFamily="34" charset="0"/>
                    <a:ea typeface="Calibri" panose="020F0502020204030204" pitchFamily="34" charset="0"/>
                  </a:rPr>
                  <a:t> (this resource correspond to Resource 21 – new area models in Stage 3, Year A Unit 16).</a:t>
                </a:r>
                <a:endParaRPr lang="en-AU" sz="1800" b="0" dirty="0">
                  <a:effectLst/>
                  <a:latin typeface="Arial" panose="020B0604020202020204" pitchFamily="34" charset="0"/>
                  <a:ea typeface="DengXian" panose="02010600030101010101" pitchFamily="2" charset="-122"/>
                  <a:cs typeface="Times New Roman" panose="02020603050405020304" pitchFamily="18" charset="0"/>
                </a:endParaRPr>
              </a:p>
              <a:p>
                <a:pPr marL="342900" marR="0" lvl="0" indent="-342900" algn="l" defTabSz="1219170" rtl="0" eaLnBrk="1" fontAlgn="auto" latinLnBrk="0" hangingPunct="1">
                  <a:lnSpc>
                    <a:spcPct val="150000"/>
                  </a:lnSpc>
                  <a:spcBef>
                    <a:spcPts val="1200"/>
                  </a:spcBef>
                  <a:spcAft>
                    <a:spcPts val="600"/>
                  </a:spcAft>
                  <a:buClrTx/>
                  <a:buSzTx/>
                  <a:buFont typeface="+mj-lt"/>
                  <a:buAutoNum type="arabicPeriod"/>
                  <a:tabLst/>
                  <a:defRPr/>
                </a:pPr>
                <a:endParaRPr lang="en-AU" sz="1800" dirty="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800" b="0" dirty="0">
                    <a:effectLst/>
                    <a:latin typeface="Arial" panose="020B0604020202020204" pitchFamily="34" charset="0"/>
                    <a:ea typeface="Calibri" panose="020F0502020204030204" pitchFamily="34" charset="0"/>
                  </a:rPr>
                  <a:t>Ask the following questions, and students record responses to:</a:t>
                </a:r>
              </a:p>
              <a:p>
                <a:pPr marL="285750" lvl="0" indent="-285750">
                  <a:lnSpc>
                    <a:spcPct val="150000"/>
                  </a:lnSpc>
                  <a:spcBef>
                    <a:spcPts val="1200"/>
                  </a:spcBef>
                  <a:spcAft>
                    <a:spcPts val="600"/>
                  </a:spcAft>
                  <a:buFontTx/>
                  <a:buChar char="-"/>
                </a:pPr>
                <a:r>
                  <a:rPr lang="en-AU" sz="1800" b="0" dirty="0">
                    <a:effectLst/>
                    <a:latin typeface="Arial" panose="020B0604020202020204" pitchFamily="34" charset="0"/>
                    <a:ea typeface="Calibri" panose="020F0502020204030204" pitchFamily="34" charset="0"/>
                    <a:cs typeface="Times New Roman" panose="02020603050405020304" pitchFamily="18" charset="0"/>
                  </a:rPr>
                  <a:t>If image A represents a whole, what fraction is it partitioned into? (sixths)</a:t>
                </a:r>
              </a:p>
              <a:p>
                <a:pPr marL="285750" lvl="0" indent="-285750">
                  <a:lnSpc>
                    <a:spcPct val="150000"/>
                  </a:lnSpc>
                  <a:spcBef>
                    <a:spcPts val="1200"/>
                  </a:spcBef>
                  <a:spcAft>
                    <a:spcPts val="600"/>
                  </a:spcAft>
                  <a:buFontTx/>
                  <a:buChar char="-"/>
                </a:pPr>
                <a:r>
                  <a:rPr lang="en-AU" sz="1800" b="0" kern="1200" dirty="0">
                    <a:solidFill>
                      <a:schemeClr val="tx1"/>
                    </a:solidFill>
                    <a:effectLst/>
                    <a:latin typeface="Arial" panose="020B0604020202020204" pitchFamily="34" charset="0"/>
                    <a:ea typeface="Calibri" panose="020F0502020204030204" pitchFamily="34" charset="0"/>
                    <a:cs typeface="Times New Roman" panose="02020603050405020304" pitchFamily="18" charset="0"/>
                  </a:rPr>
                  <a:t>What is shown in image B? (two wholes, in a different orientation)</a:t>
                </a:r>
              </a:p>
              <a:p>
                <a:pPr marL="285750" lvl="0" indent="-285750">
                  <a:lnSpc>
                    <a:spcPct val="150000"/>
                  </a:lnSpc>
                  <a:spcBef>
                    <a:spcPts val="1200"/>
                  </a:spcBef>
                  <a:spcAft>
                    <a:spcPts val="600"/>
                  </a:spcAft>
                  <a:buFontTx/>
                  <a:buChar char="-"/>
                </a:pPr>
                <a:r>
                  <a:rPr lang="en-AU" sz="1800" b="0" dirty="0">
                    <a:effectLst/>
                    <a:latin typeface="Arial" panose="020B0604020202020204" pitchFamily="34" charset="0"/>
                    <a:ea typeface="Calibri" panose="020F0502020204030204" pitchFamily="34" charset="0"/>
                    <a:cs typeface="Times New Roman" panose="02020603050405020304" pitchFamily="18" charset="0"/>
                  </a:rPr>
                  <a:t>What fraction is represented by the cross-hatched sections in image B? (</a:t>
                </a:r>
                <a14:m>
                  <m:oMath xmlns:m="http://schemas.openxmlformats.org/officeDocument/2006/math">
                    <m:r>
                      <a:rPr lang="en-AU" sz="1800" b="0" i="1" smtClean="0">
                        <a:effectLst/>
                        <a:latin typeface="Cambria Math" panose="02040503050406030204" pitchFamily="18" charset="0"/>
                        <a:ea typeface="Calibri" panose="020F0502020204030204" pitchFamily="34" charset="0"/>
                        <a:cs typeface="Times New Roman" panose="02020603050405020304" pitchFamily="18" charset="0"/>
                      </a:rPr>
                      <m:t> </m:t>
                    </m:r>
                    <m:f>
                      <m:fPr>
                        <m:ctrlPr>
                          <a:rPr lang="en-AU" sz="1800" b="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AU" sz="1800" b="0" i="1" smtClean="0">
                            <a:effectLst/>
                            <a:latin typeface="Cambria Math" panose="02040503050406030204" pitchFamily="18" charset="0"/>
                            <a:ea typeface="DengXian" panose="02010600030101010101" pitchFamily="2" charset="-122"/>
                            <a:cs typeface="Times New Roman" panose="02020603050405020304" pitchFamily="18" charset="0"/>
                          </a:rPr>
                          <m:t>6</m:t>
                        </m:r>
                      </m:num>
                      <m:den>
                        <m:r>
                          <a:rPr lang="en-AU" sz="1800" b="0" i="1" smtClean="0">
                            <a:effectLst/>
                            <a:latin typeface="Cambria Math" panose="02040503050406030204" pitchFamily="18" charset="0"/>
                            <a:ea typeface="DengXian" panose="02010600030101010101" pitchFamily="2" charset="-122"/>
                            <a:cs typeface="Times New Roman" panose="02020603050405020304" pitchFamily="18" charset="0"/>
                          </a:rPr>
                          <m:t>6</m:t>
                        </m:r>
                      </m:den>
                    </m:f>
                    <m:r>
                      <a:rPr lang="en-AU" sz="1800" b="0" i="1" smtClean="0">
                        <a:effectLst/>
                        <a:latin typeface="Cambria Math" panose="02040503050406030204" pitchFamily="18" charset="0"/>
                        <a:ea typeface="DengXian" panose="02010600030101010101" pitchFamily="2" charset="-122"/>
                        <a:cs typeface="Times New Roman" panose="02020603050405020304" pitchFamily="18" charset="0"/>
                      </a:rPr>
                      <m:t> </m:t>
                    </m:r>
                  </m:oMath>
                </a14:m>
                <a:r>
                  <a:rPr lang="en-AU" sz="1800" b="0" dirty="0">
                    <a:effectLst/>
                    <a:latin typeface="Arial" panose="020B0604020202020204" pitchFamily="34" charset="0"/>
                    <a:ea typeface="DengXian" panose="02010600030101010101" pitchFamily="2" charset="-122"/>
                    <a:cs typeface="Times New Roman" panose="02020603050405020304" pitchFamily="18" charset="0"/>
                  </a:rPr>
                  <a:t> </a:t>
                </a:r>
                <a:r>
                  <a:rPr lang="en-AU" sz="1800" b="0" dirty="0">
                    <a:effectLst/>
                    <a:latin typeface="Arial" panose="020B0604020202020204" pitchFamily="34" charset="0"/>
                    <a:ea typeface="Calibri" panose="020F0502020204030204" pitchFamily="34" charset="0"/>
                    <a:cs typeface="Times New Roman" panose="02020603050405020304" pitchFamily="18" charset="0"/>
                  </a:rPr>
                  <a:t>or one whole)</a:t>
                </a:r>
              </a:p>
              <a:p>
                <a:pPr marL="285750" lvl="0" indent="-285750">
                  <a:lnSpc>
                    <a:spcPct val="150000"/>
                  </a:lnSpc>
                  <a:spcBef>
                    <a:spcPts val="1200"/>
                  </a:spcBef>
                  <a:spcAft>
                    <a:spcPts val="600"/>
                  </a:spcAft>
                  <a:buFontTx/>
                  <a:buChar char="-"/>
                </a:pPr>
                <a:r>
                  <a:rPr lang="en-AU" sz="1800" b="0" dirty="0">
                    <a:effectLst/>
                    <a:latin typeface="Arial" panose="020B0604020202020204" pitchFamily="34" charset="0"/>
                    <a:ea typeface="Calibri" panose="020F0502020204030204" pitchFamily="34" charset="0"/>
                    <a:cs typeface="Times New Roman" panose="02020603050405020304" pitchFamily="18" charset="0"/>
                  </a:rPr>
                  <a:t>What fraction is represented by the dotted sections in image B? (</a:t>
                </a:r>
                <a14:m>
                  <m:oMath xmlns:m="http://schemas.openxmlformats.org/officeDocument/2006/math">
                    <m:r>
                      <a:rPr lang="en-AU" sz="1800" b="0" i="1" smtClean="0">
                        <a:effectLst/>
                        <a:latin typeface="Cambria Math" panose="02040503050406030204" pitchFamily="18" charset="0"/>
                        <a:ea typeface="Calibri" panose="020F0502020204030204" pitchFamily="34" charset="0"/>
                        <a:cs typeface="Times New Roman" panose="02020603050405020304" pitchFamily="18" charset="0"/>
                      </a:rPr>
                      <m:t> </m:t>
                    </m:r>
                    <m:f>
                      <m:fPr>
                        <m:ctrlPr>
                          <a:rPr lang="en-AU" sz="1800" b="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AU" sz="1800" b="0" i="1" smtClean="0">
                            <a:effectLst/>
                            <a:latin typeface="Cambria Math" panose="02040503050406030204" pitchFamily="18" charset="0"/>
                            <a:ea typeface="DengXian" panose="02010600030101010101" pitchFamily="2" charset="-122"/>
                            <a:cs typeface="Times New Roman" panose="02020603050405020304" pitchFamily="18" charset="0"/>
                          </a:rPr>
                          <m:t>4</m:t>
                        </m:r>
                      </m:num>
                      <m:den>
                        <m:r>
                          <a:rPr lang="en-AU" sz="1800" b="0" i="1" smtClean="0">
                            <a:effectLst/>
                            <a:latin typeface="Cambria Math" panose="02040503050406030204" pitchFamily="18" charset="0"/>
                            <a:ea typeface="DengXian" panose="02010600030101010101" pitchFamily="2" charset="-122"/>
                            <a:cs typeface="Times New Roman" panose="02020603050405020304" pitchFamily="18" charset="0"/>
                          </a:rPr>
                          <m:t>6</m:t>
                        </m:r>
                      </m:den>
                    </m:f>
                    <m:r>
                      <a:rPr lang="en-AU" sz="1800" b="0" i="1" smtClean="0">
                        <a:effectLst/>
                        <a:latin typeface="Cambria Math" panose="02040503050406030204" pitchFamily="18" charset="0"/>
                        <a:ea typeface="DengXian" panose="02010600030101010101" pitchFamily="2" charset="-122"/>
                        <a:cs typeface="Times New Roman" panose="02020603050405020304" pitchFamily="18" charset="0"/>
                      </a:rPr>
                      <m:t> </m:t>
                    </m:r>
                  </m:oMath>
                </a14:m>
                <a:r>
                  <a:rPr lang="en-AU" sz="1800" b="0" dirty="0">
                    <a:effectLst/>
                    <a:latin typeface="Arial" panose="020B0604020202020204" pitchFamily="34" charset="0"/>
                    <a:ea typeface="DengXian" panose="02010600030101010101" pitchFamily="2" charset="-122"/>
                    <a:cs typeface="Times New Roman" panose="02020603050405020304" pitchFamily="18" charset="0"/>
                  </a:rPr>
                  <a:t> </a:t>
                </a:r>
                <a:r>
                  <a:rPr lang="en-AU" sz="1800" b="0" dirty="0">
                    <a:effectLst/>
                    <a:latin typeface="Arial" panose="020B0604020202020204" pitchFamily="34" charset="0"/>
                    <a:ea typeface="Calibri" panose="020F0502020204030204" pitchFamily="34" charset="0"/>
                    <a:cs typeface="Times New Roman" panose="02020603050405020304" pitchFamily="18" charset="0"/>
                  </a:rPr>
                  <a:t>or </a:t>
                </a:r>
                <a14:m>
                  <m:oMath xmlns:m="http://schemas.openxmlformats.org/officeDocument/2006/math">
                    <m:f>
                      <m:fPr>
                        <m:ctrlPr>
                          <a:rPr lang="en-AU" sz="1800" b="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AU" sz="1800" b="0" i="1" smtClean="0">
                            <a:effectLst/>
                            <a:latin typeface="Cambria Math" panose="02040503050406030204" pitchFamily="18" charset="0"/>
                            <a:ea typeface="DengXian" panose="02010600030101010101" pitchFamily="2" charset="-122"/>
                            <a:cs typeface="Times New Roman" panose="02020603050405020304" pitchFamily="18" charset="0"/>
                          </a:rPr>
                          <m:t>2</m:t>
                        </m:r>
                      </m:num>
                      <m:den>
                        <m:r>
                          <a:rPr lang="en-AU" sz="1800" b="0" i="1" smtClean="0">
                            <a:effectLst/>
                            <a:latin typeface="Cambria Math" panose="02040503050406030204" pitchFamily="18" charset="0"/>
                            <a:ea typeface="DengXian" panose="02010600030101010101" pitchFamily="2" charset="-122"/>
                            <a:cs typeface="Times New Roman" panose="02020603050405020304" pitchFamily="18" charset="0"/>
                          </a:rPr>
                          <m:t>3</m:t>
                        </m:r>
                      </m:den>
                    </m:f>
                    <m:r>
                      <a:rPr lang="en-AU" sz="1800" b="0" i="1" smtClean="0">
                        <a:effectLst/>
                        <a:latin typeface="Cambria Math" panose="02040503050406030204" pitchFamily="18" charset="0"/>
                        <a:ea typeface="DengXian" panose="02010600030101010101" pitchFamily="2" charset="-122"/>
                        <a:cs typeface="Times New Roman" panose="02020603050405020304" pitchFamily="18" charset="0"/>
                      </a:rPr>
                      <m:t> </m:t>
                    </m:r>
                  </m:oMath>
                </a14:m>
                <a:r>
                  <a:rPr lang="en-AU" sz="1800" b="0" dirty="0">
                    <a:effectLst/>
                    <a:latin typeface="Arial" panose="020B0604020202020204" pitchFamily="34" charset="0"/>
                    <a:ea typeface="Calibri" panose="020F0502020204030204" pitchFamily="34" charset="0"/>
                    <a:cs typeface="Times New Roman" panose="02020603050405020304" pitchFamily="18" charset="0"/>
                  </a:rPr>
                  <a:t>)</a:t>
                </a:r>
              </a:p>
              <a:p>
                <a:pPr marL="285750" lvl="0" indent="-285750">
                  <a:lnSpc>
                    <a:spcPct val="150000"/>
                  </a:lnSpc>
                  <a:spcBef>
                    <a:spcPts val="1200"/>
                  </a:spcBef>
                  <a:spcAft>
                    <a:spcPts val="600"/>
                  </a:spcAft>
                  <a:buFontTx/>
                  <a:buChar char="-"/>
                </a:pPr>
                <a:r>
                  <a:rPr lang="en-AU" sz="1800" b="0" dirty="0">
                    <a:effectLst/>
                    <a:latin typeface="Arial" panose="020B0604020202020204" pitchFamily="34" charset="0"/>
                    <a:ea typeface="Calibri" panose="020F0502020204030204" pitchFamily="34" charset="0"/>
                    <a:cs typeface="Times New Roman" panose="02020603050405020304" pitchFamily="18" charset="0"/>
                  </a:rPr>
                  <a:t>What fraction is represented by the white sections in image B? (</a:t>
                </a:r>
                <a14:m>
                  <m:oMath xmlns:m="http://schemas.openxmlformats.org/officeDocument/2006/math">
                    <m:r>
                      <a:rPr lang="en-AU" sz="1800" b="0" i="1" smtClean="0">
                        <a:effectLst/>
                        <a:latin typeface="Cambria Math" panose="02040503050406030204" pitchFamily="18" charset="0"/>
                        <a:ea typeface="Calibri" panose="020F0502020204030204" pitchFamily="34" charset="0"/>
                        <a:cs typeface="Times New Roman" panose="02020603050405020304" pitchFamily="18" charset="0"/>
                      </a:rPr>
                      <m:t> </m:t>
                    </m:r>
                    <m:f>
                      <m:fPr>
                        <m:ctrlPr>
                          <a:rPr lang="en-AU" sz="1800" b="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AU" sz="1800" b="0" i="1" smtClean="0">
                            <a:effectLst/>
                            <a:latin typeface="Cambria Math" panose="02040503050406030204" pitchFamily="18" charset="0"/>
                            <a:ea typeface="DengXian" panose="02010600030101010101" pitchFamily="2" charset="-122"/>
                            <a:cs typeface="Times New Roman" panose="02020603050405020304" pitchFamily="18" charset="0"/>
                          </a:rPr>
                          <m:t>2</m:t>
                        </m:r>
                      </m:num>
                      <m:den>
                        <m:r>
                          <a:rPr lang="en-AU" sz="1800" b="0" i="1" smtClean="0">
                            <a:effectLst/>
                            <a:latin typeface="Cambria Math" panose="02040503050406030204" pitchFamily="18" charset="0"/>
                            <a:ea typeface="DengXian" panose="02010600030101010101" pitchFamily="2" charset="-122"/>
                            <a:cs typeface="Times New Roman" panose="02020603050405020304" pitchFamily="18" charset="0"/>
                          </a:rPr>
                          <m:t>6</m:t>
                        </m:r>
                      </m:den>
                    </m:f>
                    <m:r>
                      <a:rPr lang="en-AU" sz="1800" b="0" i="1" smtClean="0">
                        <a:effectLst/>
                        <a:latin typeface="Cambria Math" panose="02040503050406030204" pitchFamily="18" charset="0"/>
                        <a:ea typeface="DengXian" panose="02010600030101010101" pitchFamily="2" charset="-122"/>
                        <a:cs typeface="Times New Roman" panose="02020603050405020304" pitchFamily="18" charset="0"/>
                      </a:rPr>
                      <m:t> </m:t>
                    </m:r>
                  </m:oMath>
                </a14:m>
                <a:r>
                  <a:rPr lang="en-AU" sz="1800" b="0" dirty="0">
                    <a:effectLst/>
                    <a:latin typeface="Arial" panose="020B0604020202020204" pitchFamily="34" charset="0"/>
                    <a:ea typeface="DengXian" panose="02010600030101010101" pitchFamily="2" charset="-122"/>
                    <a:cs typeface="Times New Roman" panose="02020603050405020304" pitchFamily="18" charset="0"/>
                  </a:rPr>
                  <a:t> </a:t>
                </a:r>
                <a:r>
                  <a:rPr lang="en-AU" sz="1800" b="0" dirty="0">
                    <a:effectLst/>
                    <a:latin typeface="Arial" panose="020B0604020202020204" pitchFamily="34" charset="0"/>
                    <a:ea typeface="Calibri" panose="020F0502020204030204" pitchFamily="34" charset="0"/>
                    <a:cs typeface="Times New Roman" panose="02020603050405020304" pitchFamily="18" charset="0"/>
                  </a:rPr>
                  <a:t>or </a:t>
                </a:r>
                <a14:m>
                  <m:oMath xmlns:m="http://schemas.openxmlformats.org/officeDocument/2006/math">
                    <m:f>
                      <m:fPr>
                        <m:ctrlPr>
                          <a:rPr lang="en-AU" sz="1800" b="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AU" sz="1800" b="0" i="1" smtClean="0">
                            <a:effectLst/>
                            <a:latin typeface="Cambria Math" panose="02040503050406030204" pitchFamily="18" charset="0"/>
                            <a:ea typeface="DengXian" panose="02010600030101010101" pitchFamily="2" charset="-122"/>
                            <a:cs typeface="Times New Roman" panose="02020603050405020304" pitchFamily="18" charset="0"/>
                          </a:rPr>
                          <m:t>1</m:t>
                        </m:r>
                      </m:num>
                      <m:den>
                        <m:r>
                          <a:rPr lang="en-AU" sz="1800" b="0" i="1" smtClean="0">
                            <a:effectLst/>
                            <a:latin typeface="Cambria Math" panose="02040503050406030204" pitchFamily="18" charset="0"/>
                            <a:ea typeface="DengXian" panose="02010600030101010101" pitchFamily="2" charset="-122"/>
                            <a:cs typeface="Times New Roman" panose="02020603050405020304" pitchFamily="18" charset="0"/>
                          </a:rPr>
                          <m:t>3</m:t>
                        </m:r>
                      </m:den>
                    </m:f>
                    <m:r>
                      <a:rPr lang="en-AU" sz="1800" b="0" i="1" smtClean="0">
                        <a:effectLst/>
                        <a:latin typeface="Cambria Math" panose="02040503050406030204" pitchFamily="18" charset="0"/>
                        <a:ea typeface="DengXian" panose="02010600030101010101" pitchFamily="2" charset="-122"/>
                        <a:cs typeface="Times New Roman" panose="02020603050405020304" pitchFamily="18" charset="0"/>
                      </a:rPr>
                      <m:t> </m:t>
                    </m:r>
                  </m:oMath>
                </a14:m>
                <a:r>
                  <a:rPr lang="en-AU" sz="1800" b="0" dirty="0">
                    <a:effectLst/>
                    <a:latin typeface="Arial" panose="020B0604020202020204" pitchFamily="34" charset="0"/>
                    <a:ea typeface="Calibri" panose="020F0502020204030204" pitchFamily="34" charset="0"/>
                    <a:cs typeface="Times New Roman" panose="02020603050405020304" pitchFamily="18" charset="0"/>
                  </a:rPr>
                  <a:t>)</a:t>
                </a:r>
              </a:p>
              <a:p>
                <a:pPr marL="0" lvl="0" indent="0">
                  <a:lnSpc>
                    <a:spcPct val="150000"/>
                  </a:lnSpc>
                  <a:spcBef>
                    <a:spcPts val="1200"/>
                  </a:spcBef>
                  <a:spcAft>
                    <a:spcPts val="600"/>
                  </a:spcAft>
                  <a:buFont typeface="+mj-lt"/>
                  <a:buNone/>
                </a:pPr>
                <a:r>
                  <a:rPr lang="en-AU" sz="1800" b="0" dirty="0">
                    <a:effectLst/>
                    <a:latin typeface="Arial" panose="020B0604020202020204" pitchFamily="34" charset="0"/>
                    <a:ea typeface="Calibri" panose="020F0502020204030204" pitchFamily="34" charset="0"/>
                  </a:rPr>
                  <a:t>3. Display the following equations on the board:</a:t>
                </a:r>
              </a:p>
              <a:p>
                <a:pPr marL="285750" lvl="0" indent="-285750">
                  <a:lnSpc>
                    <a:spcPct val="150000"/>
                  </a:lnSpc>
                  <a:spcBef>
                    <a:spcPts val="1200"/>
                  </a:spcBef>
                  <a:spcAft>
                    <a:spcPts val="600"/>
                  </a:spcAft>
                  <a:buFontTx/>
                  <a:buChar char="-"/>
                </a:pPr>
                <a:r>
                  <a:rPr lang="en-AU" sz="1800" b="0" dirty="0">
                    <a:effectLst/>
                    <a:latin typeface="Arial" panose="020B0604020202020204" pitchFamily="34" charset="0"/>
                    <a:ea typeface="Calibri" panose="020F0502020204030204" pitchFamily="34" charset="0"/>
                    <a:cs typeface="Times New Roman" panose="02020603050405020304" pitchFamily="18" charset="0"/>
                  </a:rPr>
                  <a:t>2 – </a:t>
                </a:r>
                <a14:m>
                  <m:oMath xmlns:m="http://schemas.openxmlformats.org/officeDocument/2006/math">
                    <m:f>
                      <m:fPr>
                        <m:ctrlPr>
                          <a:rPr lang="en-AU" sz="1800" b="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AU" sz="1800" b="0" i="1" smtClean="0">
                            <a:effectLst/>
                            <a:latin typeface="Cambria Math" panose="02040503050406030204" pitchFamily="18" charset="0"/>
                            <a:ea typeface="DengXian" panose="02010600030101010101" pitchFamily="2" charset="-122"/>
                            <a:cs typeface="Times New Roman" panose="02020603050405020304" pitchFamily="18" charset="0"/>
                          </a:rPr>
                          <m:t>6</m:t>
                        </m:r>
                      </m:num>
                      <m:den>
                        <m:r>
                          <a:rPr lang="en-AU" sz="1800" b="0" i="1" smtClean="0">
                            <a:effectLst/>
                            <a:latin typeface="Cambria Math" panose="02040503050406030204" pitchFamily="18" charset="0"/>
                            <a:ea typeface="DengXian" panose="02010600030101010101" pitchFamily="2" charset="-122"/>
                            <a:cs typeface="Times New Roman" panose="02020603050405020304" pitchFamily="18" charset="0"/>
                          </a:rPr>
                          <m:t>6</m:t>
                        </m:r>
                      </m:den>
                    </m:f>
                  </m:oMath>
                </a14:m>
                <a:r>
                  <a:rPr lang="en-AU" sz="1800" b="0" dirty="0">
                    <a:effectLst/>
                    <a:latin typeface="Arial" panose="020B0604020202020204" pitchFamily="34" charset="0"/>
                    <a:ea typeface="DengXian" panose="02010600030101010101" pitchFamily="2" charset="-122"/>
                    <a:cs typeface="Times New Roman" panose="02020603050405020304" pitchFamily="18" charset="0"/>
                  </a:rPr>
                  <a:t> </a:t>
                </a:r>
                <a:r>
                  <a:rPr lang="en-AU" sz="1800" b="0" dirty="0">
                    <a:effectLst/>
                    <a:latin typeface="Arial" panose="020B0604020202020204" pitchFamily="34" charset="0"/>
                    <a:ea typeface="Calibri" panose="020F0502020204030204" pitchFamily="34" charset="0"/>
                    <a:cs typeface="Times New Roman" panose="02020603050405020304" pitchFamily="18" charset="0"/>
                  </a:rPr>
                  <a:t>= _?</a:t>
                </a:r>
              </a:p>
              <a:p>
                <a:pPr marL="285750" lvl="0" indent="-285750">
                  <a:lnSpc>
                    <a:spcPct val="150000"/>
                  </a:lnSpc>
                  <a:spcBef>
                    <a:spcPts val="1200"/>
                  </a:spcBef>
                  <a:spcAft>
                    <a:spcPts val="600"/>
                  </a:spcAft>
                  <a:buFontTx/>
                  <a:buChar char="-"/>
                </a:pPr>
                <a:r>
                  <a:rPr lang="en-AU" sz="1800" b="0" dirty="0">
                    <a:effectLst/>
                    <a:latin typeface="Arial" panose="020B0604020202020204" pitchFamily="34" charset="0"/>
                    <a:ea typeface="Calibri" panose="020F0502020204030204" pitchFamily="34" charset="0"/>
                    <a:cs typeface="Times New Roman" panose="02020603050405020304" pitchFamily="18" charset="0"/>
                  </a:rPr>
                  <a:t>2 </a:t>
                </a:r>
                <a:r>
                  <a:rPr lang="en-AU" sz="1800" b="0" dirty="0">
                    <a:effectLst/>
                    <a:latin typeface="Arial" panose="020B0604020202020204" pitchFamily="34" charset="0"/>
                    <a:ea typeface="DengXian" panose="02010600030101010101" pitchFamily="2" charset="-122"/>
                    <a:cs typeface="Times New Roman" panose="02020603050405020304" pitchFamily="18" charset="0"/>
                  </a:rPr>
                  <a:t>– </a:t>
                </a:r>
                <a14:m>
                  <m:oMath xmlns:m="http://schemas.openxmlformats.org/officeDocument/2006/math">
                    <m:f>
                      <m:fPr>
                        <m:ctrlPr>
                          <a:rPr lang="en-AU" sz="1800" b="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AU" sz="1800" b="0" i="1" smtClean="0">
                            <a:effectLst/>
                            <a:latin typeface="Cambria Math" panose="02040503050406030204" pitchFamily="18" charset="0"/>
                            <a:ea typeface="DengXian" panose="02010600030101010101" pitchFamily="2" charset="-122"/>
                            <a:cs typeface="Times New Roman" panose="02020603050405020304" pitchFamily="18" charset="0"/>
                          </a:rPr>
                          <m:t>1</m:t>
                        </m:r>
                      </m:num>
                      <m:den>
                        <m:r>
                          <a:rPr lang="en-AU" sz="1800" b="0" i="1" smtClean="0">
                            <a:effectLst/>
                            <a:latin typeface="Cambria Math" panose="02040503050406030204" pitchFamily="18" charset="0"/>
                            <a:ea typeface="DengXian" panose="02010600030101010101" pitchFamily="2" charset="-122"/>
                            <a:cs typeface="Times New Roman" panose="02020603050405020304" pitchFamily="18" charset="0"/>
                          </a:rPr>
                          <m:t>3</m:t>
                        </m:r>
                      </m:den>
                    </m:f>
                  </m:oMath>
                </a14:m>
                <a:r>
                  <a:rPr lang="en-AU" sz="1800" b="0" dirty="0">
                    <a:effectLst/>
                    <a:latin typeface="Arial" panose="020B0604020202020204" pitchFamily="34" charset="0"/>
                    <a:ea typeface="DengXian" panose="02010600030101010101" pitchFamily="2" charset="-122"/>
                    <a:cs typeface="Times New Roman" panose="02020603050405020304" pitchFamily="18" charset="0"/>
                  </a:rPr>
                  <a:t> </a:t>
                </a:r>
                <a:r>
                  <a:rPr lang="en-AU" sz="1800" b="0" dirty="0">
                    <a:effectLst/>
                    <a:latin typeface="Arial" panose="020B0604020202020204" pitchFamily="34" charset="0"/>
                    <a:ea typeface="Calibri" panose="020F0502020204030204" pitchFamily="34" charset="0"/>
                    <a:cs typeface="Times New Roman" panose="02020603050405020304" pitchFamily="18" charset="0"/>
                  </a:rPr>
                  <a:t>= _?</a:t>
                </a:r>
              </a:p>
              <a:p>
                <a:pPr marL="285750" lvl="0" indent="-285750">
                  <a:lnSpc>
                    <a:spcPct val="150000"/>
                  </a:lnSpc>
                  <a:spcBef>
                    <a:spcPts val="1200"/>
                  </a:spcBef>
                  <a:spcAft>
                    <a:spcPts val="600"/>
                  </a:spcAft>
                  <a:buFontTx/>
                  <a:buChar char="-"/>
                </a:pPr>
                <a:r>
                  <a:rPr lang="en-AU" sz="1800" b="0" dirty="0">
                    <a:effectLst/>
                    <a:latin typeface="Arial" panose="020B0604020202020204" pitchFamily="34" charset="0"/>
                    <a:ea typeface="Calibri" panose="020F0502020204030204" pitchFamily="34" charset="0"/>
                    <a:cs typeface="Times New Roman" panose="02020603050405020304" pitchFamily="18" charset="0"/>
                  </a:rPr>
                  <a:t>2 </a:t>
                </a:r>
                <a:r>
                  <a:rPr lang="en-AU" sz="1800" b="0" dirty="0">
                    <a:effectLst/>
                    <a:latin typeface="Arial" panose="020B0604020202020204" pitchFamily="34" charset="0"/>
                    <a:ea typeface="DengXian" panose="02010600030101010101" pitchFamily="2" charset="-122"/>
                    <a:cs typeface="Times New Roman" panose="02020603050405020304" pitchFamily="18" charset="0"/>
                  </a:rPr>
                  <a:t>– </a:t>
                </a:r>
                <a14:m>
                  <m:oMath xmlns:m="http://schemas.openxmlformats.org/officeDocument/2006/math">
                    <m:f>
                      <m:fPr>
                        <m:ctrlPr>
                          <a:rPr lang="en-AU" sz="1800" b="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AU" sz="1800" b="0" i="1" smtClean="0">
                            <a:effectLst/>
                            <a:latin typeface="Cambria Math" panose="02040503050406030204" pitchFamily="18" charset="0"/>
                            <a:ea typeface="DengXian" panose="02010600030101010101" pitchFamily="2" charset="-122"/>
                            <a:cs typeface="Times New Roman" panose="02020603050405020304" pitchFamily="18" charset="0"/>
                          </a:rPr>
                          <m:t>2</m:t>
                        </m:r>
                      </m:num>
                      <m:den>
                        <m:r>
                          <a:rPr lang="en-AU" sz="1800" b="0" i="1" smtClean="0">
                            <a:effectLst/>
                            <a:latin typeface="Cambria Math" panose="02040503050406030204" pitchFamily="18" charset="0"/>
                            <a:ea typeface="DengXian" panose="02010600030101010101" pitchFamily="2" charset="-122"/>
                            <a:cs typeface="Times New Roman" panose="02020603050405020304" pitchFamily="18" charset="0"/>
                          </a:rPr>
                          <m:t>3</m:t>
                        </m:r>
                      </m:den>
                    </m:f>
                  </m:oMath>
                </a14:m>
                <a:r>
                  <a:rPr lang="en-AU" sz="1800" b="0" dirty="0">
                    <a:effectLst/>
                    <a:latin typeface="Arial" panose="020B0604020202020204" pitchFamily="34" charset="0"/>
                    <a:ea typeface="DengXian" panose="02010600030101010101" pitchFamily="2" charset="-122"/>
                    <a:cs typeface="Times New Roman" panose="02020603050405020304" pitchFamily="18" charset="0"/>
                  </a:rPr>
                  <a:t> </a:t>
                </a:r>
                <a:r>
                  <a:rPr lang="en-AU" sz="1800" b="0" dirty="0">
                    <a:effectLst/>
                    <a:latin typeface="Arial" panose="020B0604020202020204" pitchFamily="34" charset="0"/>
                    <a:ea typeface="Calibri" panose="020F0502020204030204" pitchFamily="34" charset="0"/>
                    <a:cs typeface="Times New Roman" panose="02020603050405020304" pitchFamily="18" charset="0"/>
                  </a:rPr>
                  <a:t>= _?</a:t>
                </a:r>
              </a:p>
              <a:p>
                <a:pPr marL="0" lvl="0" indent="0">
                  <a:lnSpc>
                    <a:spcPct val="150000"/>
                  </a:lnSpc>
                  <a:spcBef>
                    <a:spcPts val="1200"/>
                  </a:spcBef>
                  <a:spcAft>
                    <a:spcPts val="600"/>
                  </a:spcAft>
                  <a:buFont typeface="+mj-lt"/>
                  <a:buNone/>
                </a:pPr>
                <a:r>
                  <a:rPr lang="en-AU" sz="1800" b="0" dirty="0">
                    <a:effectLst/>
                    <a:latin typeface="Arial" panose="020B0604020202020204" pitchFamily="34" charset="0"/>
                    <a:ea typeface="Calibri" panose="020F0502020204030204" pitchFamily="34" charset="0"/>
                    <a:cs typeface="Times New Roman" panose="02020603050405020304" pitchFamily="18" charset="0"/>
                  </a:rPr>
                  <a:t>4. </a:t>
                </a:r>
                <a:r>
                  <a:rPr lang="en-AU" sz="1800" b="0" dirty="0">
                    <a:effectLst/>
                    <a:latin typeface="Arial" panose="020B0604020202020204" pitchFamily="34" charset="0"/>
                    <a:ea typeface="Calibri" panose="020F0502020204030204" pitchFamily="34" charset="0"/>
                  </a:rPr>
                  <a:t>Ask students to Think-Pair-Share</a:t>
                </a:r>
                <a:r>
                  <a:rPr lang="en-AU" sz="1800" b="0" u="sng" dirty="0">
                    <a:solidFill>
                      <a:srgbClr val="2F5496"/>
                    </a:solidFill>
                    <a:effectLst/>
                    <a:latin typeface="Arial" panose="020B0604020202020204" pitchFamily="34" charset="0"/>
                    <a:ea typeface="Calibri" panose="020F0502020204030204" pitchFamily="34" charset="0"/>
                  </a:rPr>
                  <a:t> </a:t>
                </a:r>
                <a:r>
                  <a:rPr lang="en-AU" sz="1800" b="0" dirty="0">
                    <a:effectLst/>
                    <a:latin typeface="Arial" panose="020B0604020202020204" pitchFamily="34" charset="0"/>
                    <a:ea typeface="Calibri" panose="020F0502020204030204" pitchFamily="34" charset="0"/>
                  </a:rPr>
                  <a:t>to complete each equation verbally.</a:t>
                </a:r>
              </a:p>
              <a:p>
                <a:pPr marL="0" lvl="0" indent="0">
                  <a:lnSpc>
                    <a:spcPct val="150000"/>
                  </a:lnSpc>
                  <a:spcBef>
                    <a:spcPts val="1200"/>
                  </a:spcBef>
                  <a:spcAft>
                    <a:spcPts val="600"/>
                  </a:spcAft>
                  <a:buFont typeface="+mj-lt"/>
                  <a:buNone/>
                </a:pPr>
                <a:r>
                  <a:rPr lang="en-AU" sz="1800" b="0" dirty="0">
                    <a:effectLst/>
                    <a:latin typeface="Arial" panose="020B0604020202020204" pitchFamily="34" charset="0"/>
                    <a:ea typeface="Calibri" panose="020F0502020204030204" pitchFamily="34" charset="0"/>
                  </a:rPr>
                  <a:t>5. Select students to share their responses and explain their thinking.</a:t>
                </a:r>
              </a:p>
              <a:p>
                <a:pPr marL="342900" lvl="0" indent="-342900">
                  <a:lnSpc>
                    <a:spcPct val="150000"/>
                  </a:lnSpc>
                  <a:spcBef>
                    <a:spcPts val="1200"/>
                  </a:spcBef>
                  <a:spcAft>
                    <a:spcPts val="600"/>
                  </a:spcAft>
                  <a:buFont typeface="+mj-lt"/>
                  <a:buAutoNum type="arabicPeriod"/>
                </a:pPr>
                <a:endParaRPr lang="en-AU" sz="1800" b="0" dirty="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Symbol" panose="05050102010706020507" pitchFamily="18" charset="2"/>
                  <a:buChar char=""/>
                </a:pPr>
                <a:endParaRPr lang="en-AU" sz="1800" dirty="0">
                  <a:effectLst/>
                  <a:latin typeface="Arial" panose="020B0604020202020204" pitchFamily="34" charset="0"/>
                  <a:ea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800" b="0" dirty="0">
                  <a:effectLst/>
                  <a:latin typeface="Arial" panose="020B0604020202020204" pitchFamily="34" charset="0"/>
                  <a:ea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6E85CA9F-2EC0-2C80-50A8-EA1B9C527DB9}"/>
                  </a:ext>
                </a:extLst>
              </p:cNvPr>
              <p:cNvSpPr>
                <a:spLocks noGrp="1"/>
              </p:cNvSpPr>
              <p:nvPr>
                <p:ph type="body" idx="1"/>
              </p:nvPr>
            </p:nvSpPr>
            <p:spPr/>
            <p:txBody>
              <a:bodyPr/>
              <a:lstStyle/>
              <a:p>
                <a:pPr>
                  <a:lnSpc>
                    <a:spcPct val="150000"/>
                  </a:lnSpc>
                  <a:spcBef>
                    <a:spcPts val="1200"/>
                  </a:spcBef>
                  <a:spcAft>
                    <a:spcPts val="600"/>
                  </a:spcAft>
                </a:pPr>
                <a:r>
                  <a:rPr lang="en-AU" sz="1800">
                    <a:solidFill>
                      <a:srgbClr val="000000"/>
                    </a:solidFill>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pPr>
                <a:endParaRPr lang="en-AU" sz="1800">
                  <a:solidFill>
                    <a:srgbClr val="444444"/>
                  </a:solidFill>
                </a:endParaRPr>
              </a:p>
              <a:p>
                <a:pPr>
                  <a:lnSpc>
                    <a:spcPct val="150000"/>
                  </a:lnSpc>
                  <a:spcBef>
                    <a:spcPts val="1200"/>
                  </a:spcBef>
                  <a:spcAft>
                    <a:spcPts val="600"/>
                  </a:spcAft>
                </a:pPr>
                <a:r>
                  <a:rPr lang="en-AU" sz="1800">
                    <a:solidFill>
                      <a:srgbClr val="000000"/>
                    </a:solidFill>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pPr>
                <a:endParaRPr lang="en-AU" sz="1800">
                  <a:solidFill>
                    <a:srgbClr val="444444"/>
                  </a:solidFill>
                </a:endParaRPr>
              </a:p>
              <a:p>
                <a:r>
                  <a:rPr lang="en-AU" sz="1800" b="1">
                    <a:solidFill>
                      <a:srgbClr val="000000"/>
                    </a:solidFill>
                    <a:latin typeface="Arial"/>
                    <a:cs typeface="Arial"/>
                  </a:rPr>
                  <a:t>Syllabus focus area:</a:t>
                </a:r>
                <a:endParaRPr lang="en-US" sz="1800">
                  <a:solidFill>
                    <a:srgbClr val="444444"/>
                  </a:solidFill>
                  <a:latin typeface="Arial"/>
                  <a:cs typeface="Arial"/>
                </a:endParaRPr>
              </a:p>
              <a:p>
                <a:r>
                  <a:rPr lang="en-AU" sz="1800">
                    <a:solidFill>
                      <a:srgbClr val="000000"/>
                    </a:solidFill>
                    <a:latin typeface="Arial"/>
                    <a:cs typeface="Arial"/>
                  </a:rPr>
                  <a:t>Representing quantity fractions A</a:t>
                </a:r>
              </a:p>
              <a:p>
                <a:endParaRPr lang="en-AU" sz="1800" b="1">
                  <a:solidFill>
                    <a:srgbClr val="000000"/>
                  </a:solidFill>
                  <a:effectLst/>
                  <a:latin typeface="Arial"/>
                  <a:ea typeface="Calibri" panose="020F0502020204030204" pitchFamily="34" charset="0"/>
                  <a:cs typeface="Arial"/>
                </a:endParaRPr>
              </a:p>
              <a:p>
                <a:r>
                  <a:rPr lang="en-AU" sz="1800" b="1">
                    <a:solidFill>
                      <a:srgbClr val="000000"/>
                    </a:solidFill>
                    <a:effectLst/>
                    <a:latin typeface="Arial"/>
                    <a:ea typeface="Calibri" panose="020F0502020204030204" pitchFamily="34" charset="0"/>
                    <a:cs typeface="Arial"/>
                  </a:rPr>
                  <a:t>Calculating fractions in area models</a:t>
                </a:r>
                <a:endParaRPr lang="en-AU" sz="1800" b="1">
                  <a:effectLst/>
                  <a:latin typeface="Arial" panose="020B0604020202020204" pitchFamily="34" charset="0"/>
                  <a:ea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800" b="1">
                  <a:effectLst/>
                  <a:latin typeface="Arial" panose="020B0604020202020204" pitchFamily="34" charset="0"/>
                  <a:ea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800" b="1">
                    <a:effectLst/>
                    <a:latin typeface="Arial" panose="020B0604020202020204" pitchFamily="34" charset="0"/>
                    <a:ea typeface="Calibri" panose="020F0502020204030204" pitchFamily="34" charset="0"/>
                  </a:rPr>
                  <a:t>Note: </a:t>
                </a:r>
                <a:r>
                  <a:rPr lang="en-AU" sz="1800" b="0">
                    <a:effectLst/>
                    <a:latin typeface="Arial" panose="020B0604020202020204" pitchFamily="34" charset="0"/>
                    <a:ea typeface="Calibri" panose="020F0502020204030204" pitchFamily="34" charset="0"/>
                  </a:rPr>
                  <a:t>the equations noted in point 2 may be written on the board, after students’ complete section 1.</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800" b="0">
                    <a:effectLst/>
                    <a:latin typeface="Arial" panose="020B0604020202020204" pitchFamily="34" charset="0"/>
                    <a:ea typeface="Calibri" panose="020F0502020204030204" pitchFamily="34" charset="0"/>
                  </a:rPr>
                  <a:t>Alternatively, this section can be hidden until section 1 is complete. </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800" b="0">
                  <a:effectLst/>
                  <a:latin typeface="Arial" panose="020B0604020202020204" pitchFamily="34" charset="0"/>
                  <a:ea typeface="Calibri" panose="020F0502020204030204" pitchFamily="34" charset="0"/>
                </a:endParaRPr>
              </a:p>
              <a:p>
                <a:pPr marL="342900" marR="0" lvl="0" indent="-342900" algn="l" defTabSz="1219170" rtl="0" eaLnBrk="1" fontAlgn="auto" latinLnBrk="0" hangingPunct="1">
                  <a:lnSpc>
                    <a:spcPct val="150000"/>
                  </a:lnSpc>
                  <a:spcBef>
                    <a:spcPts val="1200"/>
                  </a:spcBef>
                  <a:spcAft>
                    <a:spcPts val="600"/>
                  </a:spcAft>
                  <a:buClrTx/>
                  <a:buSzTx/>
                  <a:buFont typeface="+mj-lt"/>
                  <a:buAutoNum type="arabicPeriod"/>
                  <a:tabLst/>
                  <a:defRPr/>
                </a:pPr>
                <a:r>
                  <a:rPr lang="en-AU" sz="1800">
                    <a:effectLst/>
                    <a:latin typeface="Arial" panose="020B0604020202020204" pitchFamily="34" charset="0"/>
                    <a:ea typeface="Calibri" panose="020F0502020204030204" pitchFamily="34" charset="0"/>
                  </a:rPr>
                  <a:t>1. Display Resource 21 – new area models</a:t>
                </a:r>
                <a:r>
                  <a:rPr lang="en-AU" sz="1800" b="0">
                    <a:effectLst/>
                    <a:latin typeface="Arial" panose="020B0604020202020204" pitchFamily="34" charset="0"/>
                    <a:ea typeface="Calibri" panose="020F0502020204030204" pitchFamily="34" charset="0"/>
                  </a:rPr>
                  <a:t> (this resource correspond to Resource 21 – new area models in Stage 3, Year A Unit 16).</a:t>
                </a:r>
                <a:endParaRPr lang="en-AU" sz="1800" b="0">
                  <a:effectLst/>
                  <a:latin typeface="Arial" panose="020B0604020202020204" pitchFamily="34" charset="0"/>
                  <a:ea typeface="DengXian" panose="02010600030101010101" pitchFamily="2" charset="-122"/>
                  <a:cs typeface="Times New Roman" panose="02020603050405020304" pitchFamily="18" charset="0"/>
                </a:endParaRPr>
              </a:p>
              <a:p>
                <a:pPr marL="342900" marR="0" lvl="0" indent="-342900" algn="l" defTabSz="1219170" rtl="0" eaLnBrk="1" fontAlgn="auto" latinLnBrk="0" hangingPunct="1">
                  <a:lnSpc>
                    <a:spcPct val="150000"/>
                  </a:lnSpc>
                  <a:spcBef>
                    <a:spcPts val="1200"/>
                  </a:spcBef>
                  <a:spcAft>
                    <a:spcPts val="600"/>
                  </a:spcAft>
                  <a:buClrTx/>
                  <a:buSzTx/>
                  <a:buFont typeface="+mj-lt"/>
                  <a:buAutoNum type="arabicPeriod"/>
                  <a:tabLst/>
                  <a:defRPr/>
                </a:pP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800" b="0">
                    <a:effectLst/>
                    <a:latin typeface="Arial" panose="020B0604020202020204" pitchFamily="34" charset="0"/>
                    <a:ea typeface="Calibri" panose="020F0502020204030204" pitchFamily="34" charset="0"/>
                  </a:rPr>
                  <a:t>Ask the following questions, and students record responses to:</a:t>
                </a:r>
              </a:p>
              <a:p>
                <a:pPr marL="285750" lvl="0" indent="-285750">
                  <a:lnSpc>
                    <a:spcPct val="150000"/>
                  </a:lnSpc>
                  <a:spcBef>
                    <a:spcPts val="1200"/>
                  </a:spcBef>
                  <a:spcAft>
                    <a:spcPts val="600"/>
                  </a:spcAft>
                  <a:buFontTx/>
                  <a:buChar char="-"/>
                </a:pPr>
                <a:r>
                  <a:rPr lang="en-AU" sz="1800" b="0">
                    <a:effectLst/>
                    <a:latin typeface="Arial" panose="020B0604020202020204" pitchFamily="34" charset="0"/>
                    <a:ea typeface="Calibri" panose="020F0502020204030204" pitchFamily="34" charset="0"/>
                    <a:cs typeface="Times New Roman" panose="02020603050405020304" pitchFamily="18" charset="0"/>
                  </a:rPr>
                  <a:t>If image A represents a whole, what fraction is it partitioned into? (sixths)</a:t>
                </a:r>
              </a:p>
              <a:p>
                <a:pPr marL="285750" lvl="0" indent="-285750">
                  <a:lnSpc>
                    <a:spcPct val="150000"/>
                  </a:lnSpc>
                  <a:spcBef>
                    <a:spcPts val="1200"/>
                  </a:spcBef>
                  <a:spcAft>
                    <a:spcPts val="600"/>
                  </a:spcAft>
                  <a:buFontTx/>
                  <a:buChar char="-"/>
                </a:pPr>
                <a:r>
                  <a:rPr lang="en-AU" sz="1800" b="0" kern="1200">
                    <a:solidFill>
                      <a:schemeClr val="tx1"/>
                    </a:solidFill>
                    <a:effectLst/>
                    <a:latin typeface="Arial" panose="020B0604020202020204" pitchFamily="34" charset="0"/>
                    <a:ea typeface="Calibri" panose="020F0502020204030204" pitchFamily="34" charset="0"/>
                    <a:cs typeface="Times New Roman" panose="02020603050405020304" pitchFamily="18" charset="0"/>
                  </a:rPr>
                  <a:t>What is shown in image B? (two wholes, in a different orientation)</a:t>
                </a:r>
              </a:p>
              <a:p>
                <a:pPr marL="285750" lvl="0" indent="-285750">
                  <a:lnSpc>
                    <a:spcPct val="150000"/>
                  </a:lnSpc>
                  <a:spcBef>
                    <a:spcPts val="1200"/>
                  </a:spcBef>
                  <a:spcAft>
                    <a:spcPts val="600"/>
                  </a:spcAft>
                  <a:buFontTx/>
                  <a:buChar char="-"/>
                </a:pPr>
                <a:r>
                  <a:rPr lang="en-AU" sz="1800" b="0">
                    <a:effectLst/>
                    <a:latin typeface="Arial" panose="020B0604020202020204" pitchFamily="34" charset="0"/>
                    <a:ea typeface="Calibri" panose="020F0502020204030204" pitchFamily="34" charset="0"/>
                    <a:cs typeface="Times New Roman" panose="02020603050405020304" pitchFamily="18" charset="0"/>
                  </a:rPr>
                  <a:t>What fraction is represented by the cross-hatched sections in image B? (</a:t>
                </a:r>
                <a:r>
                  <a:rPr lang="en-AU" sz="1800" b="0" i="0">
                    <a:effectLst/>
                    <a:latin typeface="Cambria Math" panose="02040503050406030204" pitchFamily="18" charset="0"/>
                    <a:ea typeface="Calibri" panose="020F0502020204030204" pitchFamily="34" charset="0"/>
                    <a:cs typeface="Times New Roman" panose="02020603050405020304" pitchFamily="18" charset="0"/>
                  </a:rPr>
                  <a:t> </a:t>
                </a:r>
                <a:r>
                  <a:rPr lang="en-AU" sz="1800" b="0" i="0">
                    <a:effectLst/>
                    <a:latin typeface="Cambria Math" panose="02040503050406030204" pitchFamily="18" charset="0"/>
                    <a:ea typeface="DengXian" panose="02010600030101010101" pitchFamily="2" charset="-122"/>
                    <a:cs typeface="Times New Roman" panose="02020603050405020304" pitchFamily="18" charset="0"/>
                  </a:rPr>
                  <a:t> 6/6  </a:t>
                </a:r>
                <a:r>
                  <a:rPr lang="en-AU" sz="1800" b="0">
                    <a:effectLst/>
                    <a:latin typeface="Arial" panose="020B0604020202020204" pitchFamily="34" charset="0"/>
                    <a:ea typeface="DengXian" panose="02010600030101010101" pitchFamily="2" charset="-122"/>
                    <a:cs typeface="Times New Roman" panose="02020603050405020304" pitchFamily="18" charset="0"/>
                  </a:rPr>
                  <a:t> </a:t>
                </a:r>
                <a:r>
                  <a:rPr lang="en-AU" sz="1800" b="0">
                    <a:effectLst/>
                    <a:latin typeface="Arial" panose="020B0604020202020204" pitchFamily="34" charset="0"/>
                    <a:ea typeface="Calibri" panose="020F0502020204030204" pitchFamily="34" charset="0"/>
                    <a:cs typeface="Times New Roman" panose="02020603050405020304" pitchFamily="18" charset="0"/>
                  </a:rPr>
                  <a:t>or one whole)</a:t>
                </a:r>
              </a:p>
              <a:p>
                <a:pPr marL="285750" lvl="0" indent="-285750">
                  <a:lnSpc>
                    <a:spcPct val="150000"/>
                  </a:lnSpc>
                  <a:spcBef>
                    <a:spcPts val="1200"/>
                  </a:spcBef>
                  <a:spcAft>
                    <a:spcPts val="600"/>
                  </a:spcAft>
                  <a:buFontTx/>
                  <a:buChar char="-"/>
                </a:pPr>
                <a:r>
                  <a:rPr lang="en-AU" sz="1800" b="0">
                    <a:effectLst/>
                    <a:latin typeface="Arial" panose="020B0604020202020204" pitchFamily="34" charset="0"/>
                    <a:ea typeface="Calibri" panose="020F0502020204030204" pitchFamily="34" charset="0"/>
                    <a:cs typeface="Times New Roman" panose="02020603050405020304" pitchFamily="18" charset="0"/>
                  </a:rPr>
                  <a:t>What fraction is represented by the dotted sections in image B? (</a:t>
                </a:r>
                <a:r>
                  <a:rPr lang="en-AU" sz="1800" b="0" i="0">
                    <a:effectLst/>
                    <a:latin typeface="Cambria Math" panose="02040503050406030204" pitchFamily="18" charset="0"/>
                    <a:ea typeface="Calibri" panose="020F0502020204030204" pitchFamily="34" charset="0"/>
                    <a:cs typeface="Times New Roman" panose="02020603050405020304" pitchFamily="18" charset="0"/>
                  </a:rPr>
                  <a:t> </a:t>
                </a:r>
                <a:r>
                  <a:rPr lang="en-AU" sz="1800" b="0" i="0">
                    <a:effectLst/>
                    <a:latin typeface="Cambria Math" panose="02040503050406030204" pitchFamily="18" charset="0"/>
                    <a:ea typeface="DengXian" panose="02010600030101010101" pitchFamily="2" charset="-122"/>
                    <a:cs typeface="Times New Roman" panose="02020603050405020304" pitchFamily="18" charset="0"/>
                  </a:rPr>
                  <a:t> 4/6  </a:t>
                </a:r>
                <a:r>
                  <a:rPr lang="en-AU" sz="1800" b="0">
                    <a:effectLst/>
                    <a:latin typeface="Arial" panose="020B0604020202020204" pitchFamily="34" charset="0"/>
                    <a:ea typeface="DengXian" panose="02010600030101010101" pitchFamily="2" charset="-122"/>
                    <a:cs typeface="Times New Roman" panose="02020603050405020304" pitchFamily="18" charset="0"/>
                  </a:rPr>
                  <a:t> </a:t>
                </a:r>
                <a:r>
                  <a:rPr lang="en-AU" sz="1800" b="0">
                    <a:effectLst/>
                    <a:latin typeface="Arial" panose="020B0604020202020204" pitchFamily="34" charset="0"/>
                    <a:ea typeface="Calibri" panose="020F0502020204030204" pitchFamily="34" charset="0"/>
                    <a:cs typeface="Times New Roman" panose="02020603050405020304" pitchFamily="18" charset="0"/>
                  </a:rPr>
                  <a:t>or </a:t>
                </a:r>
                <a:r>
                  <a:rPr lang="en-AU" sz="1800" b="0" i="0">
                    <a:effectLst/>
                    <a:latin typeface="Cambria Math" panose="02040503050406030204" pitchFamily="18" charset="0"/>
                    <a:ea typeface="DengXian" panose="02010600030101010101" pitchFamily="2" charset="-122"/>
                    <a:cs typeface="Times New Roman" panose="02020603050405020304" pitchFamily="18" charset="0"/>
                  </a:rPr>
                  <a:t>2/3  </a:t>
                </a:r>
                <a:r>
                  <a:rPr lang="en-AU" sz="1800" b="0">
                    <a:effectLst/>
                    <a:latin typeface="Arial" panose="020B0604020202020204" pitchFamily="34" charset="0"/>
                    <a:ea typeface="Calibri" panose="020F0502020204030204" pitchFamily="34" charset="0"/>
                    <a:cs typeface="Times New Roman" panose="02020603050405020304" pitchFamily="18" charset="0"/>
                  </a:rPr>
                  <a:t>)</a:t>
                </a:r>
              </a:p>
              <a:p>
                <a:pPr marL="285750" lvl="0" indent="-285750">
                  <a:lnSpc>
                    <a:spcPct val="150000"/>
                  </a:lnSpc>
                  <a:spcBef>
                    <a:spcPts val="1200"/>
                  </a:spcBef>
                  <a:spcAft>
                    <a:spcPts val="600"/>
                  </a:spcAft>
                  <a:buFontTx/>
                  <a:buChar char="-"/>
                </a:pPr>
                <a:r>
                  <a:rPr lang="en-AU" sz="1800" b="0">
                    <a:effectLst/>
                    <a:latin typeface="Arial" panose="020B0604020202020204" pitchFamily="34" charset="0"/>
                    <a:ea typeface="Calibri" panose="020F0502020204030204" pitchFamily="34" charset="0"/>
                    <a:cs typeface="Times New Roman" panose="02020603050405020304" pitchFamily="18" charset="0"/>
                  </a:rPr>
                  <a:t>What fraction is represented by the white sections in image B? (</a:t>
                </a:r>
                <a:r>
                  <a:rPr lang="en-AU" sz="1800" b="0" i="0">
                    <a:effectLst/>
                    <a:latin typeface="Cambria Math" panose="02040503050406030204" pitchFamily="18" charset="0"/>
                    <a:ea typeface="Calibri" panose="020F0502020204030204" pitchFamily="34" charset="0"/>
                    <a:cs typeface="Times New Roman" panose="02020603050405020304" pitchFamily="18" charset="0"/>
                  </a:rPr>
                  <a:t> </a:t>
                </a:r>
                <a:r>
                  <a:rPr lang="en-AU" sz="1800" b="0" i="0">
                    <a:effectLst/>
                    <a:latin typeface="Cambria Math" panose="02040503050406030204" pitchFamily="18" charset="0"/>
                    <a:ea typeface="DengXian" panose="02010600030101010101" pitchFamily="2" charset="-122"/>
                    <a:cs typeface="Times New Roman" panose="02020603050405020304" pitchFamily="18" charset="0"/>
                  </a:rPr>
                  <a:t> 2/6  </a:t>
                </a:r>
                <a:r>
                  <a:rPr lang="en-AU" sz="1800" b="0">
                    <a:effectLst/>
                    <a:latin typeface="Arial" panose="020B0604020202020204" pitchFamily="34" charset="0"/>
                    <a:ea typeface="DengXian" panose="02010600030101010101" pitchFamily="2" charset="-122"/>
                    <a:cs typeface="Times New Roman" panose="02020603050405020304" pitchFamily="18" charset="0"/>
                  </a:rPr>
                  <a:t> </a:t>
                </a:r>
                <a:r>
                  <a:rPr lang="en-AU" sz="1800" b="0">
                    <a:effectLst/>
                    <a:latin typeface="Arial" panose="020B0604020202020204" pitchFamily="34" charset="0"/>
                    <a:ea typeface="Calibri" panose="020F0502020204030204" pitchFamily="34" charset="0"/>
                    <a:cs typeface="Times New Roman" panose="02020603050405020304" pitchFamily="18" charset="0"/>
                  </a:rPr>
                  <a:t>or </a:t>
                </a:r>
                <a:r>
                  <a:rPr lang="en-AU" sz="1800" b="0" i="0">
                    <a:effectLst/>
                    <a:latin typeface="Cambria Math" panose="02040503050406030204" pitchFamily="18" charset="0"/>
                    <a:ea typeface="DengXian" panose="02010600030101010101" pitchFamily="2" charset="-122"/>
                    <a:cs typeface="Times New Roman" panose="02020603050405020304" pitchFamily="18" charset="0"/>
                  </a:rPr>
                  <a:t>1/3  </a:t>
                </a:r>
                <a:r>
                  <a:rPr lang="en-AU" sz="1800" b="0">
                    <a:effectLst/>
                    <a:latin typeface="Arial" panose="020B0604020202020204" pitchFamily="34" charset="0"/>
                    <a:ea typeface="Calibri" panose="020F0502020204030204" pitchFamily="34" charset="0"/>
                    <a:cs typeface="Times New Roman" panose="02020603050405020304" pitchFamily="18" charset="0"/>
                  </a:rPr>
                  <a:t>)</a:t>
                </a:r>
              </a:p>
              <a:p>
                <a:pPr marL="0" lvl="0" indent="0">
                  <a:lnSpc>
                    <a:spcPct val="150000"/>
                  </a:lnSpc>
                  <a:spcBef>
                    <a:spcPts val="1200"/>
                  </a:spcBef>
                  <a:spcAft>
                    <a:spcPts val="600"/>
                  </a:spcAft>
                  <a:buFont typeface="+mj-lt"/>
                  <a:buNone/>
                </a:pPr>
                <a:r>
                  <a:rPr lang="en-AU" sz="1800" b="0">
                    <a:effectLst/>
                    <a:latin typeface="Arial" panose="020B0604020202020204" pitchFamily="34" charset="0"/>
                    <a:ea typeface="Calibri" panose="020F0502020204030204" pitchFamily="34" charset="0"/>
                  </a:rPr>
                  <a:t>3. Display the following equations on the board:</a:t>
                </a:r>
              </a:p>
              <a:p>
                <a:pPr marL="285750" lvl="0" indent="-285750">
                  <a:lnSpc>
                    <a:spcPct val="150000"/>
                  </a:lnSpc>
                  <a:spcBef>
                    <a:spcPts val="1200"/>
                  </a:spcBef>
                  <a:spcAft>
                    <a:spcPts val="600"/>
                  </a:spcAft>
                  <a:buFontTx/>
                  <a:buChar char="-"/>
                </a:pPr>
                <a:r>
                  <a:rPr lang="en-AU" sz="1800" b="0">
                    <a:effectLst/>
                    <a:latin typeface="Arial" panose="020B0604020202020204" pitchFamily="34" charset="0"/>
                    <a:ea typeface="Calibri" panose="020F0502020204030204" pitchFamily="34" charset="0"/>
                    <a:cs typeface="Times New Roman" panose="02020603050405020304" pitchFamily="18" charset="0"/>
                  </a:rPr>
                  <a:t>2 – </a:t>
                </a:r>
                <a:r>
                  <a:rPr lang="en-AU" sz="1800" b="0" i="0">
                    <a:effectLst/>
                    <a:latin typeface="Cambria Math" panose="02040503050406030204" pitchFamily="18" charset="0"/>
                    <a:ea typeface="DengXian" panose="02010600030101010101" pitchFamily="2" charset="-122"/>
                    <a:cs typeface="Times New Roman" panose="02020603050405020304" pitchFamily="18" charset="0"/>
                  </a:rPr>
                  <a:t>6/6</a:t>
                </a:r>
                <a:r>
                  <a:rPr lang="en-AU" sz="1800" b="0">
                    <a:effectLst/>
                    <a:latin typeface="Arial" panose="020B0604020202020204" pitchFamily="34" charset="0"/>
                    <a:ea typeface="DengXian" panose="02010600030101010101" pitchFamily="2" charset="-122"/>
                    <a:cs typeface="Times New Roman" panose="02020603050405020304" pitchFamily="18" charset="0"/>
                  </a:rPr>
                  <a:t> </a:t>
                </a:r>
                <a:r>
                  <a:rPr lang="en-AU" sz="1800" b="0">
                    <a:effectLst/>
                    <a:latin typeface="Arial" panose="020B0604020202020204" pitchFamily="34" charset="0"/>
                    <a:ea typeface="Calibri" panose="020F0502020204030204" pitchFamily="34" charset="0"/>
                    <a:cs typeface="Times New Roman" panose="02020603050405020304" pitchFamily="18" charset="0"/>
                  </a:rPr>
                  <a:t>= _?</a:t>
                </a:r>
              </a:p>
              <a:p>
                <a:pPr marL="285750" lvl="0" indent="-285750">
                  <a:lnSpc>
                    <a:spcPct val="150000"/>
                  </a:lnSpc>
                  <a:spcBef>
                    <a:spcPts val="1200"/>
                  </a:spcBef>
                  <a:spcAft>
                    <a:spcPts val="600"/>
                  </a:spcAft>
                  <a:buFontTx/>
                  <a:buChar char="-"/>
                </a:pPr>
                <a:r>
                  <a:rPr lang="en-AU" sz="1800" b="0">
                    <a:effectLst/>
                    <a:latin typeface="Arial" panose="020B0604020202020204" pitchFamily="34" charset="0"/>
                    <a:ea typeface="Calibri" panose="020F0502020204030204" pitchFamily="34" charset="0"/>
                    <a:cs typeface="Times New Roman" panose="02020603050405020304" pitchFamily="18" charset="0"/>
                  </a:rPr>
                  <a:t>2 </a:t>
                </a:r>
                <a:r>
                  <a:rPr lang="en-AU" sz="1800" b="0">
                    <a:effectLst/>
                    <a:latin typeface="Arial" panose="020B0604020202020204" pitchFamily="34" charset="0"/>
                    <a:ea typeface="DengXian" panose="02010600030101010101" pitchFamily="2" charset="-122"/>
                    <a:cs typeface="Times New Roman" panose="02020603050405020304" pitchFamily="18" charset="0"/>
                  </a:rPr>
                  <a:t>– </a:t>
                </a:r>
                <a:r>
                  <a:rPr lang="en-AU" sz="1800" b="0" i="0">
                    <a:effectLst/>
                    <a:latin typeface="Cambria Math" panose="02040503050406030204" pitchFamily="18" charset="0"/>
                    <a:ea typeface="DengXian" panose="02010600030101010101" pitchFamily="2" charset="-122"/>
                    <a:cs typeface="Times New Roman" panose="02020603050405020304" pitchFamily="18" charset="0"/>
                  </a:rPr>
                  <a:t>1/3</a:t>
                </a:r>
                <a:r>
                  <a:rPr lang="en-AU" sz="1800" b="0">
                    <a:effectLst/>
                    <a:latin typeface="Arial" panose="020B0604020202020204" pitchFamily="34" charset="0"/>
                    <a:ea typeface="DengXian" panose="02010600030101010101" pitchFamily="2" charset="-122"/>
                    <a:cs typeface="Times New Roman" panose="02020603050405020304" pitchFamily="18" charset="0"/>
                  </a:rPr>
                  <a:t> </a:t>
                </a:r>
                <a:r>
                  <a:rPr lang="en-AU" sz="1800" b="0">
                    <a:effectLst/>
                    <a:latin typeface="Arial" panose="020B0604020202020204" pitchFamily="34" charset="0"/>
                    <a:ea typeface="Calibri" panose="020F0502020204030204" pitchFamily="34" charset="0"/>
                    <a:cs typeface="Times New Roman" panose="02020603050405020304" pitchFamily="18" charset="0"/>
                  </a:rPr>
                  <a:t>= _?</a:t>
                </a:r>
              </a:p>
              <a:p>
                <a:pPr marL="285750" lvl="0" indent="-285750">
                  <a:lnSpc>
                    <a:spcPct val="150000"/>
                  </a:lnSpc>
                  <a:spcBef>
                    <a:spcPts val="1200"/>
                  </a:spcBef>
                  <a:spcAft>
                    <a:spcPts val="600"/>
                  </a:spcAft>
                  <a:buFontTx/>
                  <a:buChar char="-"/>
                </a:pPr>
                <a:r>
                  <a:rPr lang="en-AU" sz="1800" b="0">
                    <a:effectLst/>
                    <a:latin typeface="Arial" panose="020B0604020202020204" pitchFamily="34" charset="0"/>
                    <a:ea typeface="Calibri" panose="020F0502020204030204" pitchFamily="34" charset="0"/>
                    <a:cs typeface="Times New Roman" panose="02020603050405020304" pitchFamily="18" charset="0"/>
                  </a:rPr>
                  <a:t>2 </a:t>
                </a:r>
                <a:r>
                  <a:rPr lang="en-AU" sz="1800" b="0">
                    <a:effectLst/>
                    <a:latin typeface="Arial" panose="020B0604020202020204" pitchFamily="34" charset="0"/>
                    <a:ea typeface="DengXian" panose="02010600030101010101" pitchFamily="2" charset="-122"/>
                    <a:cs typeface="Times New Roman" panose="02020603050405020304" pitchFamily="18" charset="0"/>
                  </a:rPr>
                  <a:t>– </a:t>
                </a:r>
                <a:r>
                  <a:rPr lang="en-AU" sz="1800" b="0" i="0">
                    <a:effectLst/>
                    <a:latin typeface="Cambria Math" panose="02040503050406030204" pitchFamily="18" charset="0"/>
                    <a:ea typeface="DengXian" panose="02010600030101010101" pitchFamily="2" charset="-122"/>
                    <a:cs typeface="Times New Roman" panose="02020603050405020304" pitchFamily="18" charset="0"/>
                  </a:rPr>
                  <a:t>2/3</a:t>
                </a:r>
                <a:r>
                  <a:rPr lang="en-AU" sz="1800" b="0">
                    <a:effectLst/>
                    <a:latin typeface="Arial" panose="020B0604020202020204" pitchFamily="34" charset="0"/>
                    <a:ea typeface="DengXian" panose="02010600030101010101" pitchFamily="2" charset="-122"/>
                    <a:cs typeface="Times New Roman" panose="02020603050405020304" pitchFamily="18" charset="0"/>
                  </a:rPr>
                  <a:t> </a:t>
                </a:r>
                <a:r>
                  <a:rPr lang="en-AU" sz="1800" b="0">
                    <a:effectLst/>
                    <a:latin typeface="Arial" panose="020B0604020202020204" pitchFamily="34" charset="0"/>
                    <a:ea typeface="Calibri" panose="020F0502020204030204" pitchFamily="34" charset="0"/>
                    <a:cs typeface="Times New Roman" panose="02020603050405020304" pitchFamily="18" charset="0"/>
                  </a:rPr>
                  <a:t>= _?</a:t>
                </a:r>
              </a:p>
              <a:p>
                <a:pPr marL="0" lvl="0" indent="0">
                  <a:lnSpc>
                    <a:spcPct val="150000"/>
                  </a:lnSpc>
                  <a:spcBef>
                    <a:spcPts val="1200"/>
                  </a:spcBef>
                  <a:spcAft>
                    <a:spcPts val="600"/>
                  </a:spcAft>
                  <a:buFont typeface="+mj-lt"/>
                  <a:buNone/>
                </a:pPr>
                <a:r>
                  <a:rPr lang="en-AU" sz="1800" b="0">
                    <a:effectLst/>
                    <a:latin typeface="Arial" panose="020B0604020202020204" pitchFamily="34" charset="0"/>
                    <a:ea typeface="Calibri" panose="020F0502020204030204" pitchFamily="34" charset="0"/>
                    <a:cs typeface="Times New Roman" panose="02020603050405020304" pitchFamily="18" charset="0"/>
                  </a:rPr>
                  <a:t>4. </a:t>
                </a:r>
                <a:r>
                  <a:rPr lang="en-AU" sz="1800" b="0">
                    <a:effectLst/>
                    <a:latin typeface="Arial" panose="020B0604020202020204" pitchFamily="34" charset="0"/>
                    <a:ea typeface="Calibri" panose="020F0502020204030204" pitchFamily="34" charset="0"/>
                  </a:rPr>
                  <a:t>Ask students to Think-Pair-Share</a:t>
                </a:r>
                <a:r>
                  <a:rPr lang="en-AU" sz="1800" b="0" u="sng">
                    <a:solidFill>
                      <a:srgbClr val="2F5496"/>
                    </a:solidFill>
                    <a:effectLst/>
                    <a:latin typeface="Arial" panose="020B0604020202020204" pitchFamily="34" charset="0"/>
                    <a:ea typeface="Calibri" panose="020F0502020204030204" pitchFamily="34" charset="0"/>
                  </a:rPr>
                  <a:t> </a:t>
                </a:r>
                <a:r>
                  <a:rPr lang="en-AU" sz="1800" b="0">
                    <a:effectLst/>
                    <a:latin typeface="Arial" panose="020B0604020202020204" pitchFamily="34" charset="0"/>
                    <a:ea typeface="Calibri" panose="020F0502020204030204" pitchFamily="34" charset="0"/>
                  </a:rPr>
                  <a:t>to complete each equation verbally.</a:t>
                </a:r>
              </a:p>
              <a:p>
                <a:pPr marL="0" lvl="0" indent="0">
                  <a:lnSpc>
                    <a:spcPct val="150000"/>
                  </a:lnSpc>
                  <a:spcBef>
                    <a:spcPts val="1200"/>
                  </a:spcBef>
                  <a:spcAft>
                    <a:spcPts val="600"/>
                  </a:spcAft>
                  <a:buFont typeface="+mj-lt"/>
                  <a:buNone/>
                </a:pPr>
                <a:r>
                  <a:rPr lang="en-AU" sz="1800" b="0">
                    <a:effectLst/>
                    <a:latin typeface="Arial" panose="020B0604020202020204" pitchFamily="34" charset="0"/>
                    <a:ea typeface="Calibri" panose="020F0502020204030204" pitchFamily="34" charset="0"/>
                  </a:rPr>
                  <a:t>5. Select students to share their responses and explain their thinking.</a:t>
                </a:r>
              </a:p>
              <a:p>
                <a:pPr marL="342900" lvl="0" indent="-342900">
                  <a:lnSpc>
                    <a:spcPct val="150000"/>
                  </a:lnSpc>
                  <a:spcBef>
                    <a:spcPts val="1200"/>
                  </a:spcBef>
                  <a:spcAft>
                    <a:spcPts val="600"/>
                  </a:spcAft>
                  <a:buFont typeface="+mj-lt"/>
                  <a:buAutoNum type="arabicPeriod"/>
                </a:pPr>
                <a:endParaRPr lang="en-AU" sz="1800" b="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Symbol" panose="05050102010706020507" pitchFamily="18" charset="2"/>
                  <a:buChar char=""/>
                </a:pPr>
                <a:endParaRPr lang="en-AU" sz="1800">
                  <a:effectLst/>
                  <a:latin typeface="Arial" panose="020B0604020202020204" pitchFamily="34" charset="0"/>
                  <a:ea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800" b="0">
                  <a:effectLst/>
                  <a:latin typeface="Arial" panose="020B0604020202020204" pitchFamily="34" charset="0"/>
                  <a:ea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3DC1184A-BCDD-48D3-9FD6-28D8F65477C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36768814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FBFB4-718D-9541-6358-1F66A2F4A1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E09BE8-202A-1EE8-AEE4-9E9DB4B623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AB54E4-EB56-2205-5728-0E201B3506CD}"/>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2B0FEF8-B0DC-2765-6F13-0A7C1C0229C9}"/>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40432991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4E1AA-AE86-2419-E2D4-2F289D4B1B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DB1A52-D738-FB15-6A68-894885BF73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E58CA6-89FC-61BC-201C-3E8BC638A2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a:t>
            </a:r>
            <a:r>
              <a:rPr lang="en-AU">
                <a:latin typeface="Arial"/>
                <a:cs typeface="Arial"/>
              </a:rPr>
              <a:t>7</a:t>
            </a:r>
            <a:r>
              <a:rPr lang="en-AU" sz="1600" b="0" i="0">
                <a:solidFill>
                  <a:schemeClr val="tx1"/>
                </a:solidFill>
                <a:latin typeface="Arial"/>
                <a:cs typeface="Arial"/>
              </a:rPr>
              <a:t>)</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Representing quantity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6C2E524-5D71-6633-0348-9CDDC581B714}"/>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27992859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0E809-2925-C87D-C957-FA32EC313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71B097-5E06-8DBA-B5EE-B58B05DC1B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1A37E-1569-41F2-C23C-502EC4ECAD3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Representing quantity fractions A</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BCC9A5-6936-491A-994F-FDC4655C4B18}"/>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09795004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55F76-E6D2-7B99-F71E-DB1DF916E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954AB7-E54A-0179-7463-CC032467CD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CE1AFA-BE70-72AC-5BD2-4C54E311BE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Additive relations A</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1420019-49F3-573E-EFF8-02A0493C57F5}"/>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0974901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69749-6644-6D33-6ACB-65D3205596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4CCD5A-639D-4F52-8240-8ACBA29FEB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18884-0DB2-8A77-3C87-7EBDCFECB0E5}"/>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Non spatial measure A</a:t>
            </a:r>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EFECC54-4E5C-67BD-9FEF-B1C21BC22612}"/>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246591415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48F21-7A5A-0DB8-830C-E5544F511C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5E7E3-5F10-879E-2027-47EBFA1BE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928398-6724-9761-1EBB-94DC55BDE13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Geometric measure A: </a:t>
            </a:r>
            <a:r>
              <a:rPr lang="en-AU" sz="1600" kern="1200">
                <a:solidFill>
                  <a:schemeClr val="tx1"/>
                </a:solidFill>
                <a:effectLst/>
                <a:latin typeface="Arial" panose="020B0604020202020204" pitchFamily="34" charset="0"/>
                <a:ea typeface="+mn-ea"/>
                <a:cs typeface="Arial" panose="020B0604020202020204" pitchFamily="34" charset="0"/>
              </a:rPr>
              <a:t>Angles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10DDF84-4C7C-EAD7-3908-FD10A1831FE5}"/>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29740096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59746-A029-C4ED-7029-1244F21C07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C392FA-5B1B-0586-0785-F6C004C76A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4E48EF-911B-D52D-EBB7-9A3F6F9B5EA5}"/>
              </a:ext>
            </a:extLst>
          </p:cNvPr>
          <p:cNvSpPr>
            <a:spLocks noGrp="1"/>
          </p:cNvSpPr>
          <p:nvPr>
            <p:ph type="body" idx="1"/>
          </p:nvPr>
        </p:nvSpPr>
        <p:spPr/>
        <p:txBody>
          <a:bodyPr/>
          <a:lstStyle/>
          <a:p>
            <a:pPr>
              <a:lnSpc>
                <a:spcPct val="150000"/>
              </a:lnSpc>
              <a:spcBef>
                <a:spcPts val="1200"/>
              </a:spcBef>
              <a:spcAft>
                <a:spcPts val="600"/>
              </a:spcAft>
            </a:pPr>
            <a:r>
              <a:rPr lang="en-AU" sz="1800">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pPr>
            <a:endParaRPr lang="en-AU" sz="1800">
              <a:solidFill>
                <a:srgbClr val="444444"/>
              </a:solidFill>
            </a:endParaRPr>
          </a:p>
          <a:p>
            <a:pPr>
              <a:lnSpc>
                <a:spcPct val="150000"/>
              </a:lnSpc>
              <a:spcBef>
                <a:spcPts val="1200"/>
              </a:spcBef>
              <a:spcAft>
                <a:spcPts val="600"/>
              </a:spcAft>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pPr>
            <a:endParaRPr lang="en-AU" sz="1800">
              <a:solidFill>
                <a:srgbClr val="444444"/>
              </a:solidFill>
            </a:endParaRPr>
          </a:p>
          <a:p>
            <a:r>
              <a:rPr lang="en-AU" sz="1800" b="1">
                <a:latin typeface="Arial"/>
                <a:cs typeface="Arial"/>
              </a:rPr>
              <a:t>Syllabus focus area:</a:t>
            </a:r>
            <a:endParaRPr lang="en-US" sz="1800">
              <a:solidFill>
                <a:srgbClr val="444444"/>
              </a:solidFill>
              <a:latin typeface="Arial"/>
              <a:cs typeface="Arial"/>
            </a:endParaRPr>
          </a:p>
          <a:p>
            <a:r>
              <a:rPr lang="en-AU" sz="1800">
                <a:latin typeface="Arial"/>
                <a:cs typeface="Arial"/>
              </a:rPr>
              <a:t>Representing quantity fractions B</a:t>
            </a:r>
          </a:p>
          <a:p>
            <a:endParaRPr lang="en-AU" sz="1800">
              <a:latin typeface="Arial"/>
              <a:cs typeface="Arial"/>
            </a:endParaRPr>
          </a:p>
          <a:p>
            <a:r>
              <a:rPr lang="en-AU" sz="1800" b="1">
                <a:latin typeface="Arial"/>
                <a:cs typeface="Arial"/>
              </a:rPr>
              <a:t>Equivalent fractions, decimals and percentages</a:t>
            </a:r>
          </a:p>
          <a:p>
            <a:endParaRPr lang="en-AU" sz="1800">
              <a:effectLst/>
              <a:latin typeface="Arial" panose="020B0604020202020204" pitchFamily="34" charset="0"/>
              <a:ea typeface="Calibri" panose="020F0502020204030204" pitchFamily="34" charset="0"/>
            </a:endParaRPr>
          </a:p>
          <a:p>
            <a:pPr marL="342900" marR="0" lvl="0" indent="-342900" algn="l" defTabSz="1219170" rtl="0" eaLnBrk="1" fontAlgn="auto" latinLnBrk="0" hangingPunct="1">
              <a:lnSpc>
                <a:spcPct val="150000"/>
              </a:lnSpc>
              <a:spcBef>
                <a:spcPts val="1200"/>
              </a:spcBef>
              <a:spcAft>
                <a:spcPts val="600"/>
              </a:spcAft>
              <a:buClrTx/>
              <a:buSzTx/>
              <a:buFont typeface="+mj-lt"/>
              <a:buAutoNum type="arabicPeriod"/>
              <a:tabLst/>
              <a:defRPr/>
            </a:pPr>
            <a:r>
              <a:rPr lang="en-AU" sz="1800">
                <a:effectLst/>
                <a:latin typeface="Arial" panose="020B0604020202020204" pitchFamily="34" charset="0"/>
                <a:ea typeface="Calibri" panose="020F0502020204030204" pitchFamily="34" charset="0"/>
              </a:rPr>
              <a:t>Display Resource 22 – magic square</a:t>
            </a:r>
            <a:r>
              <a:rPr lang="en-AU" sz="1800" b="0">
                <a:effectLst/>
                <a:latin typeface="Arial" panose="020B0604020202020204" pitchFamily="34" charset="0"/>
                <a:ea typeface="Calibri" panose="020F0502020204030204" pitchFamily="34" charset="0"/>
              </a:rPr>
              <a:t> (this resource corresponds to Resource 22 – magic square in Stage 3, Year A Unit 16)</a:t>
            </a:r>
            <a:r>
              <a:rPr lang="en-AU" sz="1800">
                <a:effectLst/>
                <a:latin typeface="Arial" panose="020B0604020202020204" pitchFamily="34" charset="0"/>
                <a:ea typeface="Calibri" panose="020F0502020204030204" pitchFamily="34" charset="0"/>
              </a:rPr>
              <a:t>.</a:t>
            </a:r>
          </a:p>
          <a:p>
            <a:pPr marL="342900" lvl="0" indent="-342900">
              <a:lnSpc>
                <a:spcPct val="150000"/>
              </a:lnSpc>
              <a:spcBef>
                <a:spcPts val="1200"/>
              </a:spcBef>
              <a:spcAft>
                <a:spcPts val="600"/>
              </a:spcAft>
              <a:buFont typeface="+mj-lt"/>
              <a:buAutoNum type="arabicPeriod"/>
            </a:pPr>
            <a:r>
              <a:rPr lang="en-AU" sz="1800" b="0">
                <a:effectLst/>
                <a:latin typeface="Arial" panose="020B0604020202020204" pitchFamily="34" charset="0"/>
                <a:ea typeface="Calibri" panose="020F0502020204030204" pitchFamily="34" charset="0"/>
              </a:rPr>
              <a:t>Explain that this is a form of puzzle where each fraction needs to be placed in a box so that when added, the rows, diagonals and columns add up to one and a half.</a:t>
            </a:r>
          </a:p>
          <a:p>
            <a:pPr marL="342900" lvl="0" indent="-342900">
              <a:lnSpc>
                <a:spcPct val="150000"/>
              </a:lnSpc>
              <a:spcBef>
                <a:spcPts val="1200"/>
              </a:spcBef>
              <a:spcAft>
                <a:spcPts val="600"/>
              </a:spcAft>
              <a:buFont typeface="+mj-lt"/>
              <a:buAutoNum type="arabicPeriod"/>
            </a:pPr>
            <a:r>
              <a:rPr lang="en-AU" sz="1800" b="0">
                <a:effectLst/>
                <a:latin typeface="Arial" panose="020B0604020202020204" pitchFamily="34" charset="0"/>
                <a:ea typeface="Calibri" panose="020F0502020204030204" pitchFamily="34" charset="0"/>
              </a:rPr>
              <a:t>Explain the explicit connections between fractions, </a:t>
            </a:r>
            <a:r>
              <a:rPr lang="en-AU" sz="1800" b="0" u="none">
                <a:solidFill>
                  <a:srgbClr val="2F5496"/>
                </a:solidFill>
                <a:effectLst/>
                <a:latin typeface="Arial" panose="020B0604020202020204" pitchFamily="34" charset="0"/>
                <a:ea typeface="Calibri" panose="020F0502020204030204" pitchFamily="34" charset="0"/>
              </a:rPr>
              <a:t>decimals</a:t>
            </a:r>
            <a:r>
              <a:rPr lang="en-AU" sz="1800" b="0" u="none">
                <a:effectLst/>
                <a:latin typeface="Arial" panose="020B0604020202020204" pitchFamily="34" charset="0"/>
                <a:ea typeface="Calibri" panose="020F0502020204030204" pitchFamily="34" charset="0"/>
              </a:rPr>
              <a:t> </a:t>
            </a:r>
            <a:r>
              <a:rPr lang="en-AU" sz="1800" b="0">
                <a:effectLst/>
                <a:latin typeface="Arial" panose="020B0604020202020204" pitchFamily="34" charset="0"/>
                <a:ea typeface="Calibri" panose="020F0502020204030204" pitchFamily="34" charset="0"/>
              </a:rPr>
              <a:t>and percentages.</a:t>
            </a:r>
          </a:p>
          <a:p>
            <a:pPr marL="342900" lvl="0" indent="-342900">
              <a:lnSpc>
                <a:spcPct val="150000"/>
              </a:lnSpc>
              <a:spcBef>
                <a:spcPts val="1200"/>
              </a:spcBef>
              <a:spcAft>
                <a:spcPts val="600"/>
              </a:spcAft>
              <a:buFont typeface="+mj-lt"/>
              <a:buAutoNum type="arabicPeriod"/>
            </a:pPr>
            <a:r>
              <a:rPr lang="en-AU" sz="1800" b="0">
                <a:effectLst/>
                <a:latin typeface="Arial" panose="020B0604020202020204" pitchFamily="34" charset="0"/>
                <a:ea typeface="Calibri" panose="020F0502020204030204" pitchFamily="34" charset="0"/>
              </a:rPr>
              <a:t>Ask students to explain what they notice when they look at the fractions.</a:t>
            </a:r>
          </a:p>
          <a:p>
            <a:pPr marL="342900" lvl="0" indent="-342900">
              <a:lnSpc>
                <a:spcPct val="150000"/>
              </a:lnSpc>
              <a:spcBef>
                <a:spcPts val="1200"/>
              </a:spcBef>
              <a:spcAft>
                <a:spcPts val="600"/>
              </a:spcAft>
              <a:buFont typeface="+mj-lt"/>
              <a:buAutoNum type="arabicPeriod"/>
            </a:pPr>
            <a:r>
              <a:rPr lang="en-AU" sz="1800" b="0">
                <a:effectLst/>
                <a:latin typeface="Arial" panose="020B0604020202020204" pitchFamily="34" charset="0"/>
                <a:ea typeface="Calibri" panose="020F0502020204030204" pitchFamily="34" charset="0"/>
              </a:rPr>
              <a:t>Explain that the magic number is one and a half. </a:t>
            </a:r>
          </a:p>
          <a:p>
            <a:pPr marL="342900" lvl="0" indent="-342900">
              <a:lnSpc>
                <a:spcPct val="150000"/>
              </a:lnSpc>
              <a:spcBef>
                <a:spcPts val="1200"/>
              </a:spcBef>
              <a:spcAft>
                <a:spcPts val="600"/>
              </a:spcAft>
              <a:buFont typeface="+mj-lt"/>
              <a:buAutoNum type="arabicPeriod"/>
            </a:pPr>
            <a:r>
              <a:rPr lang="en-AU" sz="1800" b="0">
                <a:effectLst/>
                <a:latin typeface="Arial" panose="020B0604020202020204" pitchFamily="34" charset="0"/>
                <a:ea typeface="Calibri" panose="020F0502020204030204" pitchFamily="34" charset="0"/>
              </a:rPr>
              <a:t>Ask students to Think-Pair-Share another way to make one and a half by adding the fractional parts.</a:t>
            </a:r>
          </a:p>
          <a:p>
            <a:pPr marL="342900" lvl="0" indent="-342900">
              <a:lnSpc>
                <a:spcPct val="150000"/>
              </a:lnSpc>
              <a:spcBef>
                <a:spcPts val="1200"/>
              </a:spcBef>
              <a:spcAft>
                <a:spcPts val="600"/>
              </a:spcAft>
              <a:buFont typeface="+mj-lt"/>
              <a:buAutoNum type="arabicPeriod"/>
            </a:pPr>
            <a:r>
              <a:rPr lang="en-AU" sz="1800" b="0">
                <a:effectLst/>
                <a:latin typeface="Arial" panose="020B0604020202020204" pitchFamily="34" charset="0"/>
                <a:ea typeface="Calibri" panose="020F0502020204030204" pitchFamily="34" charset="0"/>
              </a:rPr>
              <a:t>Prompt students to solve the puzzle in a small group of 3.</a:t>
            </a:r>
          </a:p>
          <a:p>
            <a:pPr>
              <a:buNone/>
            </a:pPr>
            <a:r>
              <a:rPr lang="en-AU" sz="1800" b="0">
                <a:effectLst/>
                <a:latin typeface="Arial" panose="020B0604020202020204" pitchFamily="34" charset="0"/>
                <a:ea typeface="Calibri" panose="020F0502020204030204" pitchFamily="34" charset="0"/>
              </a:rPr>
              <a:t>8.      Check for understanding by selecting students to share their strategies and solutions .</a:t>
            </a:r>
          </a:p>
          <a:p>
            <a:pPr marL="0" lvl="0" indent="0">
              <a:lnSpc>
                <a:spcPct val="150000"/>
              </a:lnSpc>
              <a:buFont typeface="Symbol" panose="05050102010706020507" pitchFamily="18" charset="2"/>
              <a:buNone/>
            </a:pPr>
            <a:endParaRPr lang="en-AU" sz="1800" b="0">
              <a:effectLst/>
              <a:latin typeface="Arial" panose="020B0604020202020204" pitchFamily="34" charset="0"/>
              <a:ea typeface="Calibri" panose="020F0502020204030204" pitchFamily="34" charset="0"/>
            </a:endParaRPr>
          </a:p>
          <a:p>
            <a:pPr marL="0" marR="0" lvl="0" indent="0" algn="l" defTabSz="1219170" rtl="0" eaLnBrk="1" fontAlgn="auto" latinLnBrk="0" hangingPunct="1">
              <a:lnSpc>
                <a:spcPct val="150000"/>
              </a:lnSpc>
              <a:spcBef>
                <a:spcPts val="0"/>
              </a:spcBef>
              <a:spcAft>
                <a:spcPts val="0"/>
              </a:spcAft>
              <a:buClrTx/>
              <a:buSzTx/>
              <a:buFont typeface="Symbol" panose="05050102010706020507" pitchFamily="18" charset="2"/>
              <a:buNone/>
              <a:tabLst/>
              <a:defRPr/>
            </a:pPr>
            <a:r>
              <a:rPr lang="en-AU" sz="1800" b="0">
                <a:effectLst/>
                <a:latin typeface="Arial" panose="020B0604020202020204" pitchFamily="34" charset="0"/>
                <a:ea typeface="Calibri" panose="020F0502020204030204" pitchFamily="34" charset="0"/>
              </a:rPr>
              <a:t>This activity is an adaptation of Magic Square Fun by Learn With Math Games.com and was introduced in </a:t>
            </a:r>
            <a:r>
              <a:rPr lang="en-AU" sz="1800" b="0" u="none">
                <a:effectLst/>
                <a:latin typeface="Arial" panose="020B0604020202020204" pitchFamily="34" charset="0"/>
                <a:ea typeface="Calibri" panose="020F0502020204030204" pitchFamily="34" charset="0"/>
              </a:rPr>
              <a:t>Stage 3</a:t>
            </a:r>
            <a:r>
              <a:rPr lang="en-AU" sz="1800" b="0" u="none">
                <a:solidFill>
                  <a:srgbClr val="2F5496"/>
                </a:solidFill>
                <a:effectLst/>
                <a:latin typeface="Arial" panose="020B0604020202020204" pitchFamily="34" charset="0"/>
                <a:ea typeface="Calibri" panose="020F0502020204030204" pitchFamily="34" charset="0"/>
              </a:rPr>
              <a:t> Year A</a:t>
            </a:r>
            <a:r>
              <a:rPr lang="en-AU" sz="1800" b="0" u="none">
                <a:effectLst/>
                <a:latin typeface="Arial" panose="020B0604020202020204" pitchFamily="34" charset="0"/>
                <a:ea typeface="Calibri" panose="020F0502020204030204" pitchFamily="34" charset="0"/>
              </a:rPr>
              <a:t> Unit 4.</a:t>
            </a:r>
          </a:p>
          <a:p>
            <a:pPr marL="0" lvl="0" indent="0">
              <a:lnSpc>
                <a:spcPct val="150000"/>
              </a:lnSpc>
              <a:buFont typeface="Symbol" panose="05050102010706020507" pitchFamily="18" charset="2"/>
              <a:buNone/>
            </a:pPr>
            <a:endParaRPr lang="en-AU" sz="1800">
              <a:effectLst/>
              <a:latin typeface="Arial" panose="020B0604020202020204" pitchFamily="34" charset="0"/>
              <a:ea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800" b="1">
              <a:effectLst/>
              <a:latin typeface="Arial" panose="020B060402020202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685D1032-EB0B-8657-EA23-FB73C8EFFDCF}"/>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252085261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03164-16C6-19AE-E51A-5BA4B3465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2EBD5-26DA-9FD5-0949-118C9D67EE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E585D-A265-A795-EB9A-C9041ADE398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76747B98-5F7E-AC75-DFE3-6D5FCD89656B}"/>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414812431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37C3A-DFF4-E87C-0263-2CB64DCC1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27C56C-5609-C780-6C83-DB98BFF089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79062C-1F8B-D341-F9D5-5EE25643251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8</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quantity fractions A</a:t>
            </a:r>
            <a:br>
              <a:rPr lang="en-AU" sz="1600" b="0" i="0">
                <a:latin typeface="Arial" panose="020B0604020202020204" pitchFamily="34" charset="0"/>
                <a:cs typeface="Arial" panose="020B0604020202020204" pitchFamily="34" charset="0"/>
              </a:rPr>
            </a:br>
            <a:endParaRPr lang="en-AU" sz="1600" b="0" i="0">
              <a:solidFill>
                <a:schemeClr val="tx1"/>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9BF44D-0A94-58EC-0CFA-15296355176C}"/>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253000930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819E3-B0F6-7F8F-03D3-6407A21A03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9BA8AD-0665-4AF9-5A1C-332FB12138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972822-3E05-64AA-6A34-FA90BE4748E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Representing quantity fractions A</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FF6F656-CCC2-ED1F-3E84-53642B1F7B01}"/>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75488731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6DD56-BE1A-23FB-10E3-378D5A007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A87B06-2D49-D04C-FEB0-5F2259A470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7C9C7B-0CDE-38B4-67CD-96D952AAD59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E637398-4945-92F8-11C9-21081FF5B415}"/>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370164060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D993A-B0EC-5958-6F66-C545E0BEB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EA9FF-B123-5F5A-0CCF-31A0BAF3DE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15045E-1C4C-8CA0-E96F-0AF9A3F0ABB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Non spatial measure A: Mass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68A08A-0379-056A-4ADA-5D3F78B00160}"/>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55060838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16726-708F-EFAA-A111-FD7BCC598F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D9A5FD-EE3D-96B7-9793-E033EC8ED9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9C8CA0-BB3C-CA23-79CB-467D2C7E2FA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Non-spatial measure A: Time</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D182D59-C4BF-2A14-2C57-1195577B5798}"/>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243262752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254E0-8757-C5B9-5C9C-BD24D12090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790567-E554-F482-4005-41E5AE3E55F9}"/>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419BC201-C256-F491-87A5-F45154F6157F}"/>
                  </a:ext>
                </a:extLst>
              </p:cNvPr>
              <p:cNvSpPr>
                <a:spLocks noGrp="1"/>
              </p:cNvSpPr>
              <p:nvPr>
                <p:ph type="body" idx="1"/>
              </p:nvPr>
            </p:nvSpPr>
            <p:spPr/>
            <p:txBody>
              <a:bodyPr/>
              <a:lstStyle/>
              <a:p>
                <a:pPr>
                  <a:lnSpc>
                    <a:spcPct val="150000"/>
                  </a:lnSpc>
                  <a:spcBef>
                    <a:spcPts val="1200"/>
                  </a:spcBef>
                  <a:spcAft>
                    <a:spcPts val="600"/>
                  </a:spcAft>
                </a:pPr>
                <a:r>
                  <a:rPr lang="en-AU" sz="1800">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pPr>
                <a:endParaRPr lang="en-AU" sz="1800">
                  <a:solidFill>
                    <a:srgbClr val="444444"/>
                  </a:solidFill>
                </a:endParaRPr>
              </a:p>
              <a:p>
                <a:pPr>
                  <a:lnSpc>
                    <a:spcPct val="150000"/>
                  </a:lnSpc>
                  <a:spcBef>
                    <a:spcPts val="1200"/>
                  </a:spcBef>
                  <a:spcAft>
                    <a:spcPts val="600"/>
                  </a:spcAft>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pPr>
                <a:endParaRPr lang="en-AU" sz="1800">
                  <a:solidFill>
                    <a:srgbClr val="444444"/>
                  </a:solidFill>
                </a:endParaRPr>
              </a:p>
              <a:p>
                <a:r>
                  <a:rPr lang="en-AU" sz="1800" b="1">
                    <a:latin typeface="Arial"/>
                    <a:cs typeface="Arial"/>
                  </a:rPr>
                  <a:t>Syllabus focus area:</a:t>
                </a:r>
                <a:endParaRPr lang="en-US" sz="1800">
                  <a:solidFill>
                    <a:srgbClr val="444444"/>
                  </a:solidFill>
                  <a:latin typeface="Arial"/>
                  <a:cs typeface="Arial"/>
                </a:endParaRPr>
              </a:p>
              <a:p>
                <a:r>
                  <a:rPr lang="en-AU" sz="1800">
                    <a:latin typeface="Arial"/>
                    <a:cs typeface="Arial"/>
                  </a:rPr>
                  <a:t>Representing quantity fractions A</a:t>
                </a:r>
              </a:p>
              <a:p>
                <a:endParaRPr lang="en-AU" sz="1800">
                  <a:latin typeface="Arial"/>
                  <a:cs typeface="Arial"/>
                </a:endParaRPr>
              </a:p>
              <a:p>
                <a:r>
                  <a:rPr lang="en-AU" sz="1800" b="1">
                    <a:latin typeface="Arial"/>
                    <a:cs typeface="Arial"/>
                  </a:rPr>
                  <a:t>Solving problems with fractions (same denominator)</a:t>
                </a:r>
              </a:p>
              <a:p>
                <a:endParaRPr lang="en-AU" sz="1800">
                  <a:solidFill>
                    <a:srgbClr val="444444"/>
                  </a:solidFill>
                  <a:latin typeface="Arial"/>
                  <a:cs typeface="Arial"/>
                </a:endParaRP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 I eat</a:t>
                </a:r>
                <a14:m>
                  <m:oMath xmlns:m="http://schemas.openxmlformats.org/officeDocument/2006/math">
                    <m:r>
                      <a:rPr lang="en-AU" sz="1600" i="1" kern="1200">
                        <a:solidFill>
                          <a:schemeClr val="tx1"/>
                        </a:solidFill>
                        <a:effectLst/>
                        <a:latin typeface="Cambria Math" panose="02040503050406030204" pitchFamily="18" charset="0"/>
                        <a:ea typeface="+mn-ea"/>
                        <a:cs typeface="Arial" panose="020B0604020202020204" pitchFamily="34" charset="0"/>
                      </a:rPr>
                      <m:t> </m:t>
                    </m:r>
                    <m:f>
                      <m:fPr>
                        <m:ctrlPr>
                          <a:rPr lang="en-AU" sz="1600" i="1" kern="1200">
                            <a:solidFill>
                              <a:schemeClr val="tx1"/>
                            </a:solidFill>
                            <a:effectLst/>
                            <a:latin typeface="Cambria Math" panose="02040503050406030204" pitchFamily="18" charset="0"/>
                            <a:ea typeface="+mn-ea"/>
                            <a:cs typeface="Arial" panose="020B0604020202020204" pitchFamily="34" charset="0"/>
                          </a:rPr>
                        </m:ctrlPr>
                      </m:fPr>
                      <m:num>
                        <m:r>
                          <a:rPr lang="en-AU" sz="1600" kern="1200">
                            <a:solidFill>
                              <a:schemeClr val="tx1"/>
                            </a:solidFill>
                            <a:effectLst/>
                            <a:latin typeface="Cambria Math" panose="02040503050406030204" pitchFamily="18" charset="0"/>
                            <a:ea typeface="+mn-ea"/>
                            <a:cs typeface="Arial" panose="020B0604020202020204" pitchFamily="34" charset="0"/>
                          </a:rPr>
                          <m:t>1</m:t>
                        </m:r>
                      </m:num>
                      <m:den>
                        <m:r>
                          <a:rPr lang="en-AU" sz="1600" kern="1200">
                            <a:solidFill>
                              <a:schemeClr val="tx1"/>
                            </a:solidFill>
                            <a:effectLst/>
                            <a:latin typeface="Cambria Math" panose="02040503050406030204" pitchFamily="18" charset="0"/>
                            <a:ea typeface="+mn-ea"/>
                            <a:cs typeface="Arial" panose="020B0604020202020204" pitchFamily="34" charset="0"/>
                          </a:rPr>
                          <m:t>5</m:t>
                        </m:r>
                      </m:den>
                    </m:f>
                  </m:oMath>
                </a14:m>
                <a:r>
                  <a:rPr lang="en-AU" sz="1600" kern="1200">
                    <a:solidFill>
                      <a:schemeClr val="tx1"/>
                    </a:solidFill>
                    <a:effectLst/>
                    <a:latin typeface="Arial" panose="020B0604020202020204" pitchFamily="34" charset="0"/>
                    <a:ea typeface="+mn-ea"/>
                    <a:cs typeface="Arial" panose="020B0604020202020204" pitchFamily="34" charset="0"/>
                  </a:rPr>
                  <a:t> of a block of chocolate and you eat </a:t>
                </a:r>
                <a14:m>
                  <m:oMath xmlns:m="http://schemas.openxmlformats.org/officeDocument/2006/math">
                    <m:f>
                      <m:fPr>
                        <m:ctrlPr>
                          <a:rPr lang="en-AU" sz="1600" i="1" kern="1200">
                            <a:solidFill>
                              <a:schemeClr val="tx1"/>
                            </a:solidFill>
                            <a:effectLst/>
                            <a:latin typeface="Cambria Math" panose="02040503050406030204" pitchFamily="18" charset="0"/>
                            <a:ea typeface="+mn-ea"/>
                            <a:cs typeface="Arial" panose="020B0604020202020204" pitchFamily="34" charset="0"/>
                          </a:rPr>
                        </m:ctrlPr>
                      </m:fPr>
                      <m:num>
                        <m:r>
                          <a:rPr lang="en-AU" sz="1600" kern="1200">
                            <a:solidFill>
                              <a:schemeClr val="tx1"/>
                            </a:solidFill>
                            <a:effectLst/>
                            <a:latin typeface="Cambria Math" panose="02040503050406030204" pitchFamily="18" charset="0"/>
                            <a:ea typeface="+mn-ea"/>
                            <a:cs typeface="Arial" panose="020B0604020202020204" pitchFamily="34" charset="0"/>
                          </a:rPr>
                          <m:t>3</m:t>
                        </m:r>
                      </m:num>
                      <m:den>
                        <m:r>
                          <a:rPr lang="en-AU" sz="1600" kern="1200">
                            <a:solidFill>
                              <a:schemeClr val="tx1"/>
                            </a:solidFill>
                            <a:effectLst/>
                            <a:latin typeface="Cambria Math" panose="02040503050406030204" pitchFamily="18" charset="0"/>
                            <a:ea typeface="+mn-ea"/>
                            <a:cs typeface="Arial" panose="020B0604020202020204" pitchFamily="34" charset="0"/>
                          </a:rPr>
                          <m:t>5</m:t>
                        </m:r>
                      </m:den>
                    </m:f>
                    <m:r>
                      <a:rPr lang="en-AU" sz="1600" i="1" kern="1200">
                        <a:solidFill>
                          <a:schemeClr val="tx1"/>
                        </a:solidFill>
                        <a:effectLst/>
                        <a:latin typeface="Cambria Math" panose="02040503050406030204" pitchFamily="18" charset="0"/>
                        <a:ea typeface="+mn-ea"/>
                        <a:cs typeface="Arial" panose="020B0604020202020204" pitchFamily="34" charset="0"/>
                      </a:rPr>
                      <m:t> </m:t>
                    </m:r>
                  </m:oMath>
                </a14:m>
                <a:r>
                  <a:rPr lang="en-AU" sz="1600" kern="1200">
                    <a:solidFill>
                      <a:schemeClr val="tx1"/>
                    </a:solidFill>
                    <a:effectLst/>
                    <a:latin typeface="Arial" panose="020B0604020202020204" pitchFamily="34" charset="0"/>
                    <a:ea typeface="+mn-ea"/>
                    <a:cs typeface="Arial" panose="020B0604020202020204" pitchFamily="34" charset="0"/>
                  </a:rPr>
                  <a:t> of the same block. How much of the block of chocolate has been eaten?</a:t>
                </a:r>
              </a:p>
              <a:p>
                <a:pPr marL="342900" marR="0" lvl="0" indent="-342900" algn="l" defTabSz="1219170" rtl="0" eaLnBrk="1" fontAlgn="auto" latinLnBrk="0" hangingPunct="1">
                  <a:lnSpc>
                    <a:spcPct val="100000"/>
                  </a:lnSpc>
                  <a:spcBef>
                    <a:spcPts val="0"/>
                  </a:spcBef>
                  <a:spcAft>
                    <a:spcPts val="0"/>
                  </a:spcAft>
                  <a:buClrTx/>
                  <a:buSzTx/>
                  <a:buFont typeface="+mj-lt"/>
                  <a:buAutoNum type="arabicPeriod"/>
                  <a:tabLst/>
                  <a:defRPr/>
                </a:pPr>
                <a:r>
                  <a:rPr lang="en-AU" sz="1600" kern="1200">
                    <a:solidFill>
                      <a:schemeClr val="tx1"/>
                    </a:solidFill>
                    <a:effectLst/>
                    <a:latin typeface="Arial" panose="020B0604020202020204" pitchFamily="34" charset="0"/>
                    <a:ea typeface="+mn-ea"/>
                    <a:cs typeface="Arial" panose="020B0604020202020204" pitchFamily="34" charset="0"/>
                  </a:rPr>
                  <a:t>Provide</a:t>
                </a:r>
                <a:r>
                  <a:rPr lang="en-AU" sz="1600" b="1" kern="1200">
                    <a:solidFill>
                      <a:schemeClr val="tx1"/>
                    </a:solidFill>
                    <a:effectLst/>
                    <a:latin typeface="Arial" panose="020B0604020202020204" pitchFamily="34" charset="0"/>
                    <a:ea typeface="+mn-ea"/>
                    <a:cs typeface="Arial" panose="020B0604020202020204" pitchFamily="34" charset="0"/>
                  </a:rPr>
                  <a:t> </a:t>
                </a:r>
                <a:r>
                  <a:rPr lang="en-AU" sz="1600" kern="1200">
                    <a:solidFill>
                      <a:schemeClr val="tx1"/>
                    </a:solidFill>
                    <a:effectLst/>
                    <a:latin typeface="Arial" panose="020B0604020202020204" pitchFamily="34" charset="0"/>
                    <a:ea typeface="+mn-ea"/>
                    <a:cs typeface="Arial" panose="020B0604020202020204" pitchFamily="34" charset="0"/>
                  </a:rPr>
                  <a:t>students with Resource 23 – chocolate block to represent the chocolate problem using an area model </a:t>
                </a:r>
                <a:r>
                  <a:rPr lang="en-AU" sz="1600" b="0">
                    <a:effectLst/>
                    <a:latin typeface="Arial" panose="020B0604020202020204" pitchFamily="34" charset="0"/>
                    <a:ea typeface="Calibri" panose="020F0502020204030204" pitchFamily="34" charset="0"/>
                  </a:rPr>
                  <a:t>(this resource corresponds to Resource 23 – chocolate block in Stage 3, Year A Unit 16)</a:t>
                </a:r>
                <a:r>
                  <a:rPr lang="en-AU" sz="1600" kern="1200">
                    <a:solidFill>
                      <a:schemeClr val="tx1"/>
                    </a:solidFill>
                    <a:effectLst/>
                    <a:latin typeface="Arial" panose="020B0604020202020204" pitchFamily="34" charset="0"/>
                    <a:ea typeface="+mn-ea"/>
                    <a:cs typeface="Arial" panose="020B0604020202020204" pitchFamily="34" charset="0"/>
                  </a:rPr>
                  <a:t>.</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Prompt students to solve the following questions on</a:t>
                </a:r>
                <a:r>
                  <a:rPr lang="en-AU" sz="1600" b="1" kern="1200">
                    <a:solidFill>
                      <a:schemeClr val="tx1"/>
                    </a:solidFill>
                    <a:effectLst/>
                    <a:latin typeface="Arial" panose="020B0604020202020204" pitchFamily="34" charset="0"/>
                    <a:ea typeface="+mn-ea"/>
                    <a:cs typeface="Arial" panose="020B0604020202020204" pitchFamily="34" charset="0"/>
                  </a:rPr>
                  <a:t> </a:t>
                </a:r>
                <a:r>
                  <a:rPr lang="en-AU" sz="1600" kern="1200">
                    <a:solidFill>
                      <a:schemeClr val="tx1"/>
                    </a:solidFill>
                    <a:effectLst/>
                    <a:latin typeface="Arial" panose="020B0604020202020204" pitchFamily="34" charset="0"/>
                    <a:ea typeface="+mn-ea"/>
                    <a:cs typeface="Arial" panose="020B0604020202020204" pitchFamily="34" charset="0"/>
                  </a:rPr>
                  <a:t>Resource 23 – chocolate block:</a:t>
                </a:r>
              </a:p>
              <a:p>
                <a:pPr marL="0" lvl="0" indent="0">
                  <a:buFont typeface="+mj-lt"/>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Tx/>
                  <a:buChar char="-"/>
                </a:pPr>
                <a:r>
                  <a:rPr lang="en-AU" sz="1600" kern="1200">
                    <a:solidFill>
                      <a:schemeClr val="tx1"/>
                    </a:solidFill>
                    <a:effectLst/>
                    <a:latin typeface="Arial" panose="020B0604020202020204" pitchFamily="34" charset="0"/>
                    <a:ea typeface="+mn-ea"/>
                    <a:cs typeface="Arial" panose="020B0604020202020204" pitchFamily="34" charset="0"/>
                  </a:rPr>
                  <a:t>What percentage of the chocolate did I eat?</a:t>
                </a:r>
              </a:p>
              <a:p>
                <a:pPr marL="285750" indent="-285750">
                  <a:buFontTx/>
                  <a:buChar char="-"/>
                </a:pPr>
                <a:r>
                  <a:rPr lang="en-AU" sz="1600" kern="1200">
                    <a:solidFill>
                      <a:schemeClr val="tx1"/>
                    </a:solidFill>
                    <a:effectLst/>
                    <a:latin typeface="Arial" panose="020B0604020202020204" pitchFamily="34" charset="0"/>
                    <a:ea typeface="+mn-ea"/>
                    <a:cs typeface="Arial" panose="020B0604020202020204" pitchFamily="34" charset="0"/>
                  </a:rPr>
                  <a:t>What percentage of the chocolate did you eat?</a:t>
                </a:r>
              </a:p>
              <a:p>
                <a:pPr marL="285750" indent="-285750">
                  <a:buFontTx/>
                  <a:buChar char="-"/>
                </a:pPr>
                <a:endParaRPr lang="en-AU" sz="1800" b="0">
                  <a:effectLst/>
                  <a:latin typeface="Arial" panose="020B0604020202020204" pitchFamily="34" charset="0"/>
                  <a:ea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419BC201-C256-F491-87A5-F45154F6157F}"/>
                  </a:ext>
                </a:extLst>
              </p:cNvPr>
              <p:cNvSpPr>
                <a:spLocks noGrp="1"/>
              </p:cNvSpPr>
              <p:nvPr>
                <p:ph type="body" idx="1"/>
              </p:nvPr>
            </p:nvSpPr>
            <p:spPr/>
            <p:txBody>
              <a:bodyPr/>
              <a:lstStyle/>
              <a:p>
                <a:pPr>
                  <a:lnSpc>
                    <a:spcPct val="150000"/>
                  </a:lnSpc>
                  <a:spcBef>
                    <a:spcPts val="1200"/>
                  </a:spcBef>
                  <a:spcAft>
                    <a:spcPts val="600"/>
                  </a:spcAft>
                </a:pPr>
                <a:r>
                  <a:rPr lang="en-AU" sz="1800">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pPr>
                <a:endParaRPr lang="en-AU" sz="1800">
                  <a:solidFill>
                    <a:srgbClr val="444444"/>
                  </a:solidFill>
                </a:endParaRPr>
              </a:p>
              <a:p>
                <a:pPr>
                  <a:lnSpc>
                    <a:spcPct val="150000"/>
                  </a:lnSpc>
                  <a:spcBef>
                    <a:spcPts val="1200"/>
                  </a:spcBef>
                  <a:spcAft>
                    <a:spcPts val="600"/>
                  </a:spcAft>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pPr>
                <a:endParaRPr lang="en-AU" sz="1800">
                  <a:solidFill>
                    <a:srgbClr val="444444"/>
                  </a:solidFill>
                </a:endParaRPr>
              </a:p>
              <a:p>
                <a:r>
                  <a:rPr lang="en-AU" sz="1800" b="1">
                    <a:latin typeface="Arial"/>
                    <a:cs typeface="Arial"/>
                  </a:rPr>
                  <a:t>Syllabus focus area:</a:t>
                </a:r>
                <a:endParaRPr lang="en-US" sz="1800">
                  <a:solidFill>
                    <a:srgbClr val="444444"/>
                  </a:solidFill>
                  <a:latin typeface="Arial"/>
                  <a:cs typeface="Arial"/>
                </a:endParaRPr>
              </a:p>
              <a:p>
                <a:r>
                  <a:rPr lang="en-AU" sz="1800">
                    <a:latin typeface="Arial"/>
                    <a:cs typeface="Arial"/>
                  </a:rPr>
                  <a:t>Representing quantity fractions A</a:t>
                </a:r>
              </a:p>
              <a:p>
                <a:endParaRPr lang="en-AU" sz="1800">
                  <a:latin typeface="Arial"/>
                  <a:cs typeface="Arial"/>
                </a:endParaRPr>
              </a:p>
              <a:p>
                <a:r>
                  <a:rPr lang="en-AU" sz="1800" b="1">
                    <a:latin typeface="Arial"/>
                    <a:cs typeface="Arial"/>
                  </a:rPr>
                  <a:t>Solving problems with fractions (same denominator)</a:t>
                </a:r>
              </a:p>
              <a:p>
                <a:endParaRPr lang="en-AU" sz="1800">
                  <a:solidFill>
                    <a:srgbClr val="444444"/>
                  </a:solidFill>
                  <a:latin typeface="Arial"/>
                  <a:cs typeface="Arial"/>
                </a:endParaRP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 I eat</a:t>
                </a:r>
                <a:r>
                  <a:rPr lang="en-AU" sz="1600" i="0" kern="1200">
                    <a:solidFill>
                      <a:schemeClr val="tx1"/>
                    </a:solidFill>
                    <a:effectLst/>
                    <a:latin typeface="Cambria Math" panose="02040503050406030204" pitchFamily="18" charset="0"/>
                    <a:ea typeface="+mn-ea"/>
                    <a:cs typeface="Arial" panose="020B0604020202020204" pitchFamily="34" charset="0"/>
                  </a:rPr>
                  <a:t>  1/5</a:t>
                </a:r>
                <a:r>
                  <a:rPr lang="en-AU" sz="1600" kern="1200">
                    <a:solidFill>
                      <a:schemeClr val="tx1"/>
                    </a:solidFill>
                    <a:effectLst/>
                    <a:latin typeface="Arial" panose="020B0604020202020204" pitchFamily="34" charset="0"/>
                    <a:ea typeface="+mn-ea"/>
                    <a:cs typeface="Arial" panose="020B0604020202020204" pitchFamily="34" charset="0"/>
                  </a:rPr>
                  <a:t> of a block of chocolate and you eat </a:t>
                </a:r>
                <a:r>
                  <a:rPr lang="en-AU" sz="1600" i="0" kern="1200">
                    <a:solidFill>
                      <a:schemeClr val="tx1"/>
                    </a:solidFill>
                    <a:effectLst/>
                    <a:latin typeface="Cambria Math" panose="02040503050406030204" pitchFamily="18" charset="0"/>
                    <a:ea typeface="+mn-ea"/>
                    <a:cs typeface="Arial" panose="020B0604020202020204" pitchFamily="34" charset="0"/>
                  </a:rPr>
                  <a:t>3/5  </a:t>
                </a:r>
                <a:r>
                  <a:rPr lang="en-AU" sz="1600" kern="1200">
                    <a:solidFill>
                      <a:schemeClr val="tx1"/>
                    </a:solidFill>
                    <a:effectLst/>
                    <a:latin typeface="Arial" panose="020B0604020202020204" pitchFamily="34" charset="0"/>
                    <a:ea typeface="+mn-ea"/>
                    <a:cs typeface="Arial" panose="020B0604020202020204" pitchFamily="34" charset="0"/>
                  </a:rPr>
                  <a:t> of the same block. How much of the block of chocolate has been eaten?</a:t>
                </a:r>
              </a:p>
              <a:p>
                <a:pPr marL="342900" marR="0" lvl="0" indent="-342900" algn="l" defTabSz="1219170" rtl="0" eaLnBrk="1" fontAlgn="auto" latinLnBrk="0" hangingPunct="1">
                  <a:lnSpc>
                    <a:spcPct val="100000"/>
                  </a:lnSpc>
                  <a:spcBef>
                    <a:spcPts val="0"/>
                  </a:spcBef>
                  <a:spcAft>
                    <a:spcPts val="0"/>
                  </a:spcAft>
                  <a:buClrTx/>
                  <a:buSzTx/>
                  <a:buFont typeface="+mj-lt"/>
                  <a:buAutoNum type="arabicPeriod"/>
                  <a:tabLst/>
                  <a:defRPr/>
                </a:pPr>
                <a:r>
                  <a:rPr lang="en-AU" sz="1600" kern="1200">
                    <a:solidFill>
                      <a:schemeClr val="tx1"/>
                    </a:solidFill>
                    <a:effectLst/>
                    <a:latin typeface="Arial" panose="020B0604020202020204" pitchFamily="34" charset="0"/>
                    <a:ea typeface="+mn-ea"/>
                    <a:cs typeface="Arial" panose="020B0604020202020204" pitchFamily="34" charset="0"/>
                  </a:rPr>
                  <a:t>Provide</a:t>
                </a:r>
                <a:r>
                  <a:rPr lang="en-AU" sz="1600" b="1" kern="1200">
                    <a:solidFill>
                      <a:schemeClr val="tx1"/>
                    </a:solidFill>
                    <a:effectLst/>
                    <a:latin typeface="Arial" panose="020B0604020202020204" pitchFamily="34" charset="0"/>
                    <a:ea typeface="+mn-ea"/>
                    <a:cs typeface="Arial" panose="020B0604020202020204" pitchFamily="34" charset="0"/>
                  </a:rPr>
                  <a:t> </a:t>
                </a:r>
                <a:r>
                  <a:rPr lang="en-AU" sz="1600" kern="1200">
                    <a:solidFill>
                      <a:schemeClr val="tx1"/>
                    </a:solidFill>
                    <a:effectLst/>
                    <a:latin typeface="Arial" panose="020B0604020202020204" pitchFamily="34" charset="0"/>
                    <a:ea typeface="+mn-ea"/>
                    <a:cs typeface="Arial" panose="020B0604020202020204" pitchFamily="34" charset="0"/>
                  </a:rPr>
                  <a:t>students with Resource 23 – chocolate block to represent the chocolate problem using an area model </a:t>
                </a:r>
                <a:r>
                  <a:rPr lang="en-AU" sz="1600" b="0">
                    <a:effectLst/>
                    <a:latin typeface="Arial" panose="020B0604020202020204" pitchFamily="34" charset="0"/>
                    <a:ea typeface="Calibri" panose="020F0502020204030204" pitchFamily="34" charset="0"/>
                  </a:rPr>
                  <a:t>(this resource corresponds to Resource 23 – chocolate block in Stage 3, Year A Unit 16)</a:t>
                </a:r>
                <a:r>
                  <a:rPr lang="en-AU" sz="1600" kern="1200">
                    <a:solidFill>
                      <a:schemeClr val="tx1"/>
                    </a:solidFill>
                    <a:effectLst/>
                    <a:latin typeface="Arial" panose="020B0604020202020204" pitchFamily="34" charset="0"/>
                    <a:ea typeface="+mn-ea"/>
                    <a:cs typeface="Arial" panose="020B0604020202020204" pitchFamily="34" charset="0"/>
                  </a:rPr>
                  <a:t>.</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Prompt students to solve the following questions on</a:t>
                </a:r>
                <a:r>
                  <a:rPr lang="en-AU" sz="1600" b="1" kern="1200">
                    <a:solidFill>
                      <a:schemeClr val="tx1"/>
                    </a:solidFill>
                    <a:effectLst/>
                    <a:latin typeface="Arial" panose="020B0604020202020204" pitchFamily="34" charset="0"/>
                    <a:ea typeface="+mn-ea"/>
                    <a:cs typeface="Arial" panose="020B0604020202020204" pitchFamily="34" charset="0"/>
                  </a:rPr>
                  <a:t> </a:t>
                </a:r>
                <a:r>
                  <a:rPr lang="en-AU" sz="1600" kern="1200">
                    <a:solidFill>
                      <a:schemeClr val="tx1"/>
                    </a:solidFill>
                    <a:effectLst/>
                    <a:latin typeface="Arial" panose="020B0604020202020204" pitchFamily="34" charset="0"/>
                    <a:ea typeface="+mn-ea"/>
                    <a:cs typeface="Arial" panose="020B0604020202020204" pitchFamily="34" charset="0"/>
                  </a:rPr>
                  <a:t>Resource 23 – chocolate block:</a:t>
                </a:r>
              </a:p>
              <a:p>
                <a:pPr marL="0" lvl="0" indent="0">
                  <a:buFont typeface="+mj-lt"/>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Tx/>
                  <a:buChar char="-"/>
                </a:pPr>
                <a:r>
                  <a:rPr lang="en-AU" sz="1600" kern="1200">
                    <a:solidFill>
                      <a:schemeClr val="tx1"/>
                    </a:solidFill>
                    <a:effectLst/>
                    <a:latin typeface="Arial" panose="020B0604020202020204" pitchFamily="34" charset="0"/>
                    <a:ea typeface="+mn-ea"/>
                    <a:cs typeface="Arial" panose="020B0604020202020204" pitchFamily="34" charset="0"/>
                  </a:rPr>
                  <a:t>What percentage of the chocolate did I eat?</a:t>
                </a:r>
              </a:p>
              <a:p>
                <a:pPr marL="285750" indent="-285750">
                  <a:buFontTx/>
                  <a:buChar char="-"/>
                </a:pPr>
                <a:r>
                  <a:rPr lang="en-AU" sz="1600" kern="1200">
                    <a:solidFill>
                      <a:schemeClr val="tx1"/>
                    </a:solidFill>
                    <a:effectLst/>
                    <a:latin typeface="Arial" panose="020B0604020202020204" pitchFamily="34" charset="0"/>
                    <a:ea typeface="+mn-ea"/>
                    <a:cs typeface="Arial" panose="020B0604020202020204" pitchFamily="34" charset="0"/>
                  </a:rPr>
                  <a:t>What percentage of the chocolate did you eat?</a:t>
                </a:r>
              </a:p>
              <a:p>
                <a:pPr marL="285750" indent="-285750">
                  <a:buFontTx/>
                  <a:buChar char="-"/>
                </a:pPr>
                <a:endParaRPr lang="en-AU" sz="1800" b="0">
                  <a:effectLst/>
                  <a:latin typeface="Arial" panose="020B0604020202020204" pitchFamily="34" charset="0"/>
                  <a:ea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AF58B8FA-D65E-495A-67E5-47B0C3668713}"/>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353253445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a:t>Use the arrows to navigate between related activities.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a:t>Hyperlink each arrow to compare between related slides.</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A3FC8-7C27-ADA4-A03B-5E48C1C14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F9E58-3C51-C638-D2A9-0DC09233C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9681D0-1819-E9EE-FB6C-BDEED94D69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panose="020B0604020202020204" pitchFamily="34" charset="0"/>
                <a:cs typeface="Arial" panose="020B0604020202020204" pitchFamily="34" charset="0"/>
              </a:rPr>
              <a:t>This question connects to the content in the developing number sense activity (Activity 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p>
        </p:txBody>
      </p:sp>
      <p:sp>
        <p:nvSpPr>
          <p:cNvPr id="4" name="Slide Number Placeholder 3">
            <a:extLst>
              <a:ext uri="{FF2B5EF4-FFF2-40B4-BE49-F238E27FC236}">
                <a16:creationId xmlns:a16="http://schemas.microsoft.com/office/drawing/2014/main" id="{53E40460-08D8-1BDD-6B68-F7DFB23337A6}"/>
              </a:ext>
            </a:extLst>
          </p:cNvPr>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15444382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37D30-8C3C-1F9B-1235-EED776AA1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F2E79-EC8B-85C4-64A1-B9824B577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281569-AF22-80CB-50D8-8C75DD35029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1)</a:t>
            </a:r>
            <a:br>
              <a:rPr lang="en-AU">
                <a:latin typeface="Arial"/>
                <a:cs typeface="Arial"/>
              </a:rPr>
            </a:br>
            <a:br>
              <a:rPr lang="en-AU"/>
            </a:br>
            <a:r>
              <a:rPr lang="en-AU" b="1"/>
              <a:t>Syllabus focus area:</a:t>
            </a:r>
            <a:endParaRPr lang="en-US">
              <a:solidFill>
                <a:srgbClr val="444444"/>
              </a:solidFill>
            </a:endParaRPr>
          </a:p>
          <a:p>
            <a:r>
              <a:rPr lang="en-AU"/>
              <a:t>Multiplicative relations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49558E46-6CF2-2491-6CB7-1B34BC401650}"/>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103638957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208879224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3.xml"/><Relationship Id="rId4" Type="http://schemas.openxmlformats.org/officeDocument/2006/relationships/slide" Target="slide11.xml"/><Relationship Id="rId9" Type="http://schemas.openxmlformats.org/officeDocument/2006/relationships/slide" Target="slide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5.xml"/><Relationship Id="rId5" Type="http://schemas.openxmlformats.org/officeDocument/2006/relationships/image" Target="../media/image26.png"/><Relationship Id="rId4" Type="http://schemas.openxmlformats.org/officeDocument/2006/relationships/image" Target="../media/image25.png"/></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5.xml"/><Relationship Id="rId1" Type="http://schemas.openxmlformats.org/officeDocument/2006/relationships/slideLayout" Target="../slideLayouts/slideLayout11.xml"/><Relationship Id="rId4" Type="http://schemas.openxmlformats.org/officeDocument/2006/relationships/image" Target="../media/image33.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6.png"/><Relationship Id="rId7" Type="http://schemas.openxmlformats.org/officeDocument/2006/relationships/image" Target="../media/image37.png"/><Relationship Id="rId2" Type="http://schemas.openxmlformats.org/officeDocument/2006/relationships/notesSlide" Target="../notesSlides/notesSlide47.xml"/><Relationship Id="rId1" Type="http://schemas.openxmlformats.org/officeDocument/2006/relationships/slideLayout" Target="../slideLayouts/slideLayout6.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 Id="rId4" Type="http://schemas.openxmlformats.org/officeDocument/2006/relationships/image" Target="../media/image41.png"/></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9.xml"/><Relationship Id="rId1" Type="http://schemas.openxmlformats.org/officeDocument/2006/relationships/slideLayout" Target="../slideLayouts/slideLayout11.xml"/><Relationship Id="rId4" Type="http://schemas.openxmlformats.org/officeDocument/2006/relationships/image" Target="../media/image44.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4.xml"/><Relationship Id="rId1" Type="http://schemas.openxmlformats.org/officeDocument/2006/relationships/slideLayout" Target="../slideLayouts/slideLayout11.xml"/><Relationship Id="rId4" Type="http://schemas.openxmlformats.org/officeDocument/2006/relationships/image" Target="../media/image46.sv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F6095-1EC4-AF1D-D63E-D59E13EB8A7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29C7B9-C360-81F1-3033-970F881863DA}"/>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EDCC1CBD-2D5B-E7F2-8E17-B400FEB5419F}"/>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a:latin typeface="Arial"/>
                <a:cs typeface="Arial"/>
              </a:rPr>
              <a:t>This resource aligns to the learning in Stage 3 Year A Unit 16 and revisits content from earlier sample units.</a:t>
            </a:r>
          </a:p>
          <a:p>
            <a:pPr marL="342900" indent="-342900">
              <a:buFont typeface="Arial"/>
              <a:buChar char="•"/>
            </a:pPr>
            <a:r>
              <a:rPr lang="en-AU" sz="1800">
                <a:solidFill>
                  <a:srgbClr val="22272B"/>
                </a:solidFill>
                <a:latin typeface="+mn-lt"/>
                <a:cs typeface="Arial"/>
              </a:rPr>
              <a:t>Classroom teachers are encouraged to </a:t>
            </a:r>
            <a:r>
              <a:rPr lang="en-AU" sz="1800" b="1">
                <a:solidFill>
                  <a:srgbClr val="22272B"/>
                </a:solidFill>
                <a:latin typeface="+mn-lt"/>
                <a:cs typeface="Arial"/>
              </a:rPr>
              <a:t>add, edit and adapt</a:t>
            </a:r>
            <a:r>
              <a:rPr lang="en-AU" sz="1800">
                <a:solidFill>
                  <a:srgbClr val="22272B"/>
                </a:solidFill>
                <a:latin typeface="+mn-lt"/>
                <a:cs typeface="Arial"/>
              </a:rPr>
              <a:t> to meet the needs of their students.</a:t>
            </a:r>
          </a:p>
          <a:p>
            <a:pPr marL="342900" indent="-342900">
              <a:lnSpc>
                <a:spcPct val="150000"/>
              </a:lnSpc>
              <a:buFont typeface="Arial"/>
              <a:buChar char="•"/>
            </a:pPr>
            <a:r>
              <a:rPr lang="en-AU" sz="1800">
                <a:solidFill>
                  <a:srgbClr val="22272B"/>
                </a:solidFill>
                <a:latin typeface="+mn-lt"/>
                <a:cs typeface="Arial"/>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cs typeface="Arial"/>
              </a:rPr>
              <a:t>To convert the PowerPoint to Google Slides:</a:t>
            </a:r>
          </a:p>
          <a:p>
            <a:pPr marL="913765" lvl="1" indent="-457200">
              <a:lnSpc>
                <a:spcPct val="150000"/>
              </a:lnSpc>
              <a:buFont typeface="+mj-lt"/>
              <a:buAutoNum type="arabicPeriod"/>
            </a:pPr>
            <a:r>
              <a:rPr lang="en-AU">
                <a:solidFill>
                  <a:srgbClr val="22272B"/>
                </a:solidFill>
                <a:latin typeface="+mn-lt"/>
                <a:cs typeface="Arial"/>
              </a:rPr>
              <a:t>Upload the file into Google Drive and open it.</a:t>
            </a:r>
          </a:p>
          <a:p>
            <a:pPr marL="913765" lvl="1" indent="-457200">
              <a:lnSpc>
                <a:spcPct val="150000"/>
              </a:lnSpc>
              <a:buFont typeface="+mj-lt"/>
              <a:buAutoNum type="arabicPeriod"/>
            </a:pPr>
            <a:r>
              <a:rPr lang="en-AU">
                <a:solidFill>
                  <a:srgbClr val="22272B"/>
                </a:solidFill>
                <a:latin typeface="+mn-lt"/>
                <a:cs typeface="Arial"/>
              </a:rPr>
              <a:t>Go to File &gt; Save as Google Slides.</a:t>
            </a:r>
          </a:p>
          <a:p>
            <a:pPr marL="456565" lvl="1">
              <a:lnSpc>
                <a:spcPct val="150000"/>
              </a:lnSpc>
            </a:pPr>
            <a:r>
              <a:rPr lang="en-AU">
                <a:solidFill>
                  <a:srgbClr val="22272B"/>
                </a:solidFill>
                <a:latin typeface="+mn-lt"/>
                <a:cs typeface="Arial"/>
              </a:rPr>
              <a:t>(Note – conversion may cause formatting changes in the slides.)</a:t>
            </a:r>
          </a:p>
        </p:txBody>
      </p:sp>
      <p:sp>
        <p:nvSpPr>
          <p:cNvPr id="2" name="Slide Number Placeholder 1">
            <a:extLst>
              <a:ext uri="{FF2B5EF4-FFF2-40B4-BE49-F238E27FC236}">
                <a16:creationId xmlns:a16="http://schemas.microsoft.com/office/drawing/2014/main" id="{5054FBAE-1B2A-91CD-091C-35061078D29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3330546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latin typeface="+mj-lt"/>
                <a:cs typeface="Arial"/>
              </a:rPr>
              <a:t>Review of Learning </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sz="2400">
                <a:latin typeface="+mj-lt"/>
                <a:cs typeface="Arial"/>
              </a:rPr>
              <a:t>Mathematics Stage 3 </a:t>
            </a:r>
            <a:r>
              <a:rPr lang="en-AU" sz="2400">
                <a:solidFill>
                  <a:srgbClr val="FFFFFF"/>
                </a:solidFill>
                <a:latin typeface="+mj-lt"/>
                <a:cs typeface="Arial"/>
              </a:rPr>
              <a:t>–</a:t>
            </a:r>
            <a:r>
              <a:rPr lang="en-AU" sz="2400">
                <a:latin typeface="+mj-lt"/>
                <a:cs typeface="Arial"/>
              </a:rPr>
              <a:t> Unit 16</a:t>
            </a:r>
          </a:p>
        </p:txBody>
      </p:sp>
      <p:pic>
        <p:nvPicPr>
          <p:cNvPr id="4" name="Picture Placeholder 3" descr="A row of dice on a blue background">
            <a:extLst>
              <a:ext uri="{FF2B5EF4-FFF2-40B4-BE49-F238E27FC236}">
                <a16:creationId xmlns:a16="http://schemas.microsoft.com/office/drawing/2014/main" id="{27D6D49C-580D-CED2-3F28-318B6A237077}"/>
              </a:ext>
            </a:extLst>
          </p:cNvPr>
          <p:cNvPicPr>
            <a:picLocks noGrp="1" noChangeAspect="1"/>
          </p:cNvPicPr>
          <p:nvPr>
            <p:ph type="pic" sz="quarter" idx="13"/>
          </p:nvPr>
        </p:nvPicPr>
        <p:blipFill>
          <a:blip r:embed="rId3"/>
          <a:srcRect l="435" r="435"/>
          <a:stretch/>
        </p:blipFill>
        <p:spPr>
          <a:xfrm>
            <a:off x="7128000" y="2233"/>
            <a:ext cx="5064000" cy="6853534"/>
          </a:xfrm>
          <a:prstGeom prst="rect">
            <a:avLst/>
          </a:prstGeom>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descr="Link for Review of learning 1.">
            <a:extLst>
              <a:ext uri="{FF2B5EF4-FFF2-40B4-BE49-F238E27FC236}">
                <a16:creationId xmlns:a16="http://schemas.microsoft.com/office/drawing/2014/main" id="{1B4FCA10-C38C-7EB1-6B3D-6210A414C65B}"/>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dirty="0">
                  <a:solidFill>
                    <a:schemeClr val="accent1"/>
                  </a:solidFill>
                  <a:latin typeface="+mj-lt"/>
                  <a:cs typeface="Arial"/>
                </a:rPr>
                <a:t>Review of learning 1</a:t>
              </a: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1</a:t>
              </a:r>
            </a:p>
          </p:txBody>
        </p:sp>
      </p:grpSp>
      <p:grpSp>
        <p:nvGrpSpPr>
          <p:cNvPr id="7" name="Group 6" descr="Link for Review of learning 2.">
            <a:extLst>
              <a:ext uri="{FF2B5EF4-FFF2-40B4-BE49-F238E27FC236}">
                <a16:creationId xmlns:a16="http://schemas.microsoft.com/office/drawing/2014/main" id="{AF7A23A4-F1DB-31F7-E62C-F1BFA9349F64}"/>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2</a:t>
              </a:r>
              <a:endParaRPr lang="en-US">
                <a:solidFill>
                  <a:schemeClr val="accent1"/>
                </a:solidFill>
                <a:latin typeface="+mj-lt"/>
                <a:cs typeface="Aria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2</a:t>
              </a:r>
            </a:p>
          </p:txBody>
        </p:sp>
      </p:grpSp>
      <p:grpSp>
        <p:nvGrpSpPr>
          <p:cNvPr id="8" name="Group 7" descr="Link for Review of learning 3.">
            <a:extLst>
              <a:ext uri="{FF2B5EF4-FFF2-40B4-BE49-F238E27FC236}">
                <a16:creationId xmlns:a16="http://schemas.microsoft.com/office/drawing/2014/main" id="{DF37B4A1-413C-FC0F-E0B4-307A5BFA5855}"/>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3 </a:t>
              </a: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3</a:t>
              </a:r>
            </a:p>
          </p:txBody>
        </p:sp>
      </p:grpSp>
      <p:grpSp>
        <p:nvGrpSpPr>
          <p:cNvPr id="9" name="Group 8" descr="Link for Review of learning 4.">
            <a:extLst>
              <a:ext uri="{FF2B5EF4-FFF2-40B4-BE49-F238E27FC236}">
                <a16:creationId xmlns:a16="http://schemas.microsoft.com/office/drawing/2014/main" id="{C989DA6E-4839-1BBD-77AB-6F9CC520B670}"/>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4</a:t>
              </a:r>
              <a:endParaRPr lang="en-US">
                <a:solidFill>
                  <a:schemeClr val="accent1"/>
                </a:solidFill>
                <a:latin typeface="+mj-lt"/>
                <a:cs typeface="Arial" panose="020B0604020202020204"/>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4</a:t>
              </a:r>
            </a:p>
          </p:txBody>
        </p:sp>
      </p:grpSp>
      <p:grpSp>
        <p:nvGrpSpPr>
          <p:cNvPr id="17" name="Group 16" descr="Link for Review of learning 5.">
            <a:extLst>
              <a:ext uri="{FF2B5EF4-FFF2-40B4-BE49-F238E27FC236}">
                <a16:creationId xmlns:a16="http://schemas.microsoft.com/office/drawing/2014/main" id="{5CA7685F-33D7-262A-AE71-7F572C4FD60A}"/>
              </a:ext>
            </a:extLst>
          </p:cNvPr>
          <p:cNvGrpSpPr/>
          <p:nvPr/>
        </p:nvGrpSpPr>
        <p:grpSpPr>
          <a:xfrm>
            <a:off x="6096000" y="1202936"/>
            <a:ext cx="4775638" cy="1045440"/>
            <a:chOff x="6096000" y="126940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5</a:t>
              </a:r>
              <a:endParaRPr lang="en-US">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940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5</a:t>
              </a:r>
            </a:p>
          </p:txBody>
        </p:sp>
      </p:grpSp>
      <p:grpSp>
        <p:nvGrpSpPr>
          <p:cNvPr id="11" name="Group 10" descr="Link for Review of learning 6.">
            <a:extLst>
              <a:ext uri="{FF2B5EF4-FFF2-40B4-BE49-F238E27FC236}">
                <a16:creationId xmlns:a16="http://schemas.microsoft.com/office/drawing/2014/main" id="{98348D52-CA50-F15C-B472-B152337D805F}"/>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6</a:t>
              </a:r>
              <a:endParaRPr lang="en-US">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6</a:t>
              </a:r>
            </a:p>
          </p:txBody>
        </p:sp>
      </p:grpSp>
      <p:grpSp>
        <p:nvGrpSpPr>
          <p:cNvPr id="12" name="Group 11" descr="Link for Review of learning 7.">
            <a:extLst>
              <a:ext uri="{FF2B5EF4-FFF2-40B4-BE49-F238E27FC236}">
                <a16:creationId xmlns:a16="http://schemas.microsoft.com/office/drawing/2014/main" id="{E73741F1-615E-A4A4-088D-E0A9187F983E}"/>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panose="020B0604020202020204"/>
                </a:rPr>
                <a:t>Review of learning 7</a:t>
              </a:r>
              <a:endParaRPr lang="en-US">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7</a:t>
              </a:r>
            </a:p>
          </p:txBody>
        </p:sp>
      </p:grpSp>
      <p:grpSp>
        <p:nvGrpSpPr>
          <p:cNvPr id="13" name="Group 12" descr="Link for Review of learning 8.">
            <a:extLst>
              <a:ext uri="{FF2B5EF4-FFF2-40B4-BE49-F238E27FC236}">
                <a16:creationId xmlns:a16="http://schemas.microsoft.com/office/drawing/2014/main" id="{8E45D1B3-369A-D013-FFE7-B91D37B811F7}"/>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8</a:t>
              </a:r>
              <a:endParaRPr lang="en-US">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0"/>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cs typeface="Arial"/>
              </a:rPr>
              <a:t>Review of learning 1</a:t>
            </a:r>
            <a:endParaRPr lang="en-AU">
              <a:latin typeface="+mj-lt"/>
            </a:endParaRP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a:t>Multiple choice </a:t>
            </a:r>
            <a:r>
              <a:rPr lang="en-US">
                <a:solidFill>
                  <a:schemeClr val="bg1"/>
                </a:solidFill>
              </a:rPr>
              <a:t>(1)</a:t>
            </a:r>
          </a:p>
        </p:txBody>
      </p:sp>
      <p:pic>
        <p:nvPicPr>
          <p:cNvPr id="6" name="Picture 5" descr="image of a finger selecting an option for a multiple choice or true and false">
            <a:extLst>
              <a:ext uri="{FF2B5EF4-FFF2-40B4-BE49-F238E27FC236}">
                <a16:creationId xmlns:a16="http://schemas.microsoft.com/office/drawing/2014/main" id="{D3D1DC3B-1B1B-6515-571E-5C8995A16EF6}"/>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60000" y="967577"/>
            <a:ext cx="11358861" cy="754243"/>
          </a:xfrm>
        </p:spPr>
        <p:txBody>
          <a:bodyPr vert="horz" lIns="0" tIns="0" rIns="0" bIns="0" rtlCol="0" anchor="t">
            <a:noAutofit/>
          </a:bodyPr>
          <a:lstStyle/>
          <a:p>
            <a:r>
              <a:rPr lang="en-AU" sz="4000" dirty="0">
                <a:latin typeface="Arial"/>
                <a:cs typeface="Arial"/>
              </a:rPr>
              <a:t>Which of the following includes </a:t>
            </a:r>
            <a:r>
              <a:rPr lang="en-AU" sz="4000" b="1" dirty="0">
                <a:latin typeface="Arial"/>
                <a:cs typeface="Arial"/>
              </a:rPr>
              <a:t>factors</a:t>
            </a:r>
            <a:r>
              <a:rPr lang="en-AU" sz="4000" dirty="0">
                <a:latin typeface="Arial"/>
                <a:cs typeface="Arial"/>
              </a:rPr>
              <a:t> of 30?</a:t>
            </a:r>
          </a:p>
        </p:txBody>
      </p:sp>
      <p:sp>
        <p:nvSpPr>
          <p:cNvPr id="13" name="TextBox 8">
            <a:extLst>
              <a:ext uri="{FF2B5EF4-FFF2-40B4-BE49-F238E27FC236}">
                <a16:creationId xmlns:a16="http://schemas.microsoft.com/office/drawing/2014/main" id="{17539DAC-4E92-AFE5-86E8-50C88518EFAD}"/>
              </a:ext>
            </a:extLst>
          </p:cNvPr>
          <p:cNvSpPr txBox="1"/>
          <p:nvPr/>
        </p:nvSpPr>
        <p:spPr>
          <a:xfrm>
            <a:off x="548891" y="2146606"/>
            <a:ext cx="529429" cy="738664"/>
          </a:xfrm>
          <a:prstGeom prst="rect">
            <a:avLst/>
          </a:prstGeom>
          <a:noFill/>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l"/>
            <a:r>
              <a:rPr lang="en-US" sz="4800" b="1"/>
              <a:t>A</a:t>
            </a:r>
          </a:p>
        </p:txBody>
      </p:sp>
      <p:sp>
        <p:nvSpPr>
          <p:cNvPr id="10" name="Text Placeholder 17">
            <a:extLst>
              <a:ext uri="{FF2B5EF4-FFF2-40B4-BE49-F238E27FC236}">
                <a16:creationId xmlns:a16="http://schemas.microsoft.com/office/drawing/2014/main" id="{DD9E4C8E-C942-2FA4-6AAC-B2B3D321FC2F}"/>
              </a:ext>
            </a:extLst>
          </p:cNvPr>
          <p:cNvSpPr>
            <a:spLocks noGrp="1"/>
          </p:cNvSpPr>
          <p:nvPr/>
        </p:nvSpPr>
        <p:spPr>
          <a:xfrm>
            <a:off x="1537082" y="2091187"/>
            <a:ext cx="10175920" cy="641396"/>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mn-lt"/>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mn-lt"/>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mn-lt"/>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mn-lt"/>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000" dirty="0">
                <a:cs typeface="Arial"/>
              </a:rPr>
              <a:t>1, 2, 3, 4, 6, 8, 15, 30</a:t>
            </a:r>
          </a:p>
        </p:txBody>
      </p:sp>
      <p:sp>
        <p:nvSpPr>
          <p:cNvPr id="14" name="TextBox 9">
            <a:extLst>
              <a:ext uri="{FF2B5EF4-FFF2-40B4-BE49-F238E27FC236}">
                <a16:creationId xmlns:a16="http://schemas.microsoft.com/office/drawing/2014/main" id="{0E33B1A6-4106-9E75-7645-88335BABE19D}"/>
              </a:ext>
            </a:extLst>
          </p:cNvPr>
          <p:cNvSpPr txBox="1"/>
          <p:nvPr/>
        </p:nvSpPr>
        <p:spPr>
          <a:xfrm>
            <a:off x="558609" y="3225792"/>
            <a:ext cx="529429" cy="738664"/>
          </a:xfrm>
          <a:prstGeom prst="rect">
            <a:avLst/>
          </a:prstGeom>
          <a:noFill/>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l"/>
            <a:r>
              <a:rPr lang="en-US" sz="4800" b="1"/>
              <a:t>B</a:t>
            </a:r>
          </a:p>
        </p:txBody>
      </p:sp>
      <p:sp>
        <p:nvSpPr>
          <p:cNvPr id="9" name="Text Placeholder 16">
            <a:extLst>
              <a:ext uri="{FF2B5EF4-FFF2-40B4-BE49-F238E27FC236}">
                <a16:creationId xmlns:a16="http://schemas.microsoft.com/office/drawing/2014/main" id="{5E4A5EB3-F414-A07E-B091-A6903C289403}"/>
              </a:ext>
            </a:extLst>
          </p:cNvPr>
          <p:cNvSpPr>
            <a:spLocks noGrp="1"/>
          </p:cNvSpPr>
          <p:nvPr/>
        </p:nvSpPr>
        <p:spPr>
          <a:xfrm>
            <a:off x="1537082" y="3086499"/>
            <a:ext cx="10175920" cy="641396"/>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mn-lt"/>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mn-lt"/>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mn-lt"/>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mn-lt"/>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000">
                <a:cs typeface="Arial"/>
              </a:rPr>
              <a:t>2, 4, 6, 10, 15, 30</a:t>
            </a:r>
          </a:p>
        </p:txBody>
      </p:sp>
      <p:sp>
        <p:nvSpPr>
          <p:cNvPr id="18" name="TextBox 11">
            <a:extLst>
              <a:ext uri="{FF2B5EF4-FFF2-40B4-BE49-F238E27FC236}">
                <a16:creationId xmlns:a16="http://schemas.microsoft.com/office/drawing/2014/main" id="{7E4BDDCB-88AF-EC45-6F07-05B50A0060D2}"/>
              </a:ext>
            </a:extLst>
          </p:cNvPr>
          <p:cNvSpPr txBox="1"/>
          <p:nvPr/>
        </p:nvSpPr>
        <p:spPr>
          <a:xfrm>
            <a:off x="558611" y="4160349"/>
            <a:ext cx="529428" cy="738664"/>
          </a:xfrm>
          <a:prstGeom prst="rect">
            <a:avLst/>
          </a:prstGeom>
          <a:noFill/>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l"/>
            <a:r>
              <a:rPr lang="en-US" sz="4800" b="1"/>
              <a:t>C</a:t>
            </a:r>
          </a:p>
        </p:txBody>
      </p:sp>
      <p:sp>
        <p:nvSpPr>
          <p:cNvPr id="8" name="Text Placeholder 15">
            <a:extLst>
              <a:ext uri="{FF2B5EF4-FFF2-40B4-BE49-F238E27FC236}">
                <a16:creationId xmlns:a16="http://schemas.microsoft.com/office/drawing/2014/main" id="{E2AEB52E-AFAA-8A1C-4AC0-681B940D0160}"/>
              </a:ext>
            </a:extLst>
          </p:cNvPr>
          <p:cNvSpPr>
            <a:spLocks noGrp="1"/>
          </p:cNvSpPr>
          <p:nvPr/>
        </p:nvSpPr>
        <p:spPr>
          <a:xfrm>
            <a:off x="1537082" y="4091076"/>
            <a:ext cx="10175920" cy="641396"/>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mn-lt"/>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mn-lt"/>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mn-lt"/>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mn-lt"/>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000" dirty="0">
                <a:ea typeface="+mn-lt"/>
                <a:cs typeface="+mn-lt"/>
              </a:rPr>
              <a:t>1, 2, 3, 5, 6, 10, 15, 30</a:t>
            </a:r>
            <a:endParaRPr lang="en-US" sz="4000" dirty="0"/>
          </a:p>
        </p:txBody>
      </p:sp>
      <p:sp>
        <p:nvSpPr>
          <p:cNvPr id="16" name="TextBox 10">
            <a:extLst>
              <a:ext uri="{FF2B5EF4-FFF2-40B4-BE49-F238E27FC236}">
                <a16:creationId xmlns:a16="http://schemas.microsoft.com/office/drawing/2014/main" id="{28ADB1A3-D5FD-9EC3-BED8-5982F1544E0E}"/>
              </a:ext>
            </a:extLst>
          </p:cNvPr>
          <p:cNvSpPr txBox="1"/>
          <p:nvPr/>
        </p:nvSpPr>
        <p:spPr>
          <a:xfrm>
            <a:off x="568134" y="5239535"/>
            <a:ext cx="529429" cy="738664"/>
          </a:xfrm>
          <a:prstGeom prst="rect">
            <a:avLst/>
          </a:prstGeom>
          <a:noFill/>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l"/>
            <a:r>
              <a:rPr lang="en-US" sz="4800" b="1"/>
              <a:t>D</a:t>
            </a:r>
          </a:p>
        </p:txBody>
      </p:sp>
      <p:sp>
        <p:nvSpPr>
          <p:cNvPr id="7" name="Text Placeholder 13">
            <a:extLst>
              <a:ext uri="{FF2B5EF4-FFF2-40B4-BE49-F238E27FC236}">
                <a16:creationId xmlns:a16="http://schemas.microsoft.com/office/drawing/2014/main" id="{AB4F46E8-39CC-516C-AA47-44AFBB8D4DF4}"/>
              </a:ext>
            </a:extLst>
          </p:cNvPr>
          <p:cNvSpPr>
            <a:spLocks noGrp="1"/>
          </p:cNvSpPr>
          <p:nvPr/>
        </p:nvSpPr>
        <p:spPr>
          <a:xfrm>
            <a:off x="1542941" y="5111473"/>
            <a:ext cx="10175920" cy="641396"/>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mn-lt"/>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mn-lt"/>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mn-lt"/>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mn-lt"/>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000">
                <a:ea typeface="+mn-lt"/>
                <a:cs typeface="+mn-lt"/>
              </a:rPr>
              <a:t>3, 6, 8, 9, 15, 30</a:t>
            </a:r>
            <a:endParaRPr lang="en-US" sz="4000"/>
          </a:p>
        </p:txBody>
      </p:sp>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7292A2D-79DC-853F-A2F3-AFB9D75909B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a:t>
            </a:r>
          </a:p>
        </p:txBody>
      </p:sp>
      <p:pic>
        <p:nvPicPr>
          <p:cNvPr id="5" name="Picture 4" descr="image of a clipboard with a pencil recording short answer responses">
            <a:extLst>
              <a:ext uri="{FF2B5EF4-FFF2-40B4-BE49-F238E27FC236}">
                <a16:creationId xmlns:a16="http://schemas.microsoft.com/office/drawing/2014/main" id="{60B5CDFF-4A15-89C2-D24B-9A50E271EEC2}"/>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11" name="Picture Placeholder 10">
            <a:extLst>
              <a:ext uri="{FF2B5EF4-FFF2-40B4-BE49-F238E27FC236}">
                <a16:creationId xmlns:a16="http://schemas.microsoft.com/office/drawing/2014/main" id="{4F3FEFD7-8600-F68D-84BD-680FA1695628}"/>
              </a:ext>
            </a:extLst>
          </p:cNvPr>
          <p:cNvSpPr>
            <a:spLocks noGrp="1"/>
          </p:cNvSpPr>
          <p:nvPr>
            <p:ph type="pic" sz="quarter" idx="21"/>
          </p:nvPr>
        </p:nvSpPr>
        <p:spPr>
          <a:xfrm>
            <a:off x="360000" y="1275500"/>
            <a:ext cx="11200365" cy="4092718"/>
          </a:xfrm>
        </p:spPr>
        <p:txBody>
          <a:bodyPr/>
          <a:lstStyle/>
          <a:p>
            <a:pPr algn="ctr"/>
            <a:r>
              <a:rPr lang="en-US" sz="4400" dirty="0">
                <a:latin typeface="Arial"/>
                <a:cs typeface="Arial"/>
              </a:rPr>
              <a:t>Draw a number line 0-1. </a:t>
            </a:r>
          </a:p>
          <a:p>
            <a:pPr algn="ctr"/>
            <a:r>
              <a:rPr lang="en-US" sz="4400" b="1" dirty="0">
                <a:latin typeface="Arial"/>
                <a:cs typeface="Arial"/>
              </a:rPr>
              <a:t>Order</a:t>
            </a:r>
            <a:r>
              <a:rPr lang="en-US" sz="4400" dirty="0">
                <a:latin typeface="Arial"/>
                <a:cs typeface="Arial"/>
              </a:rPr>
              <a:t> the following </a:t>
            </a:r>
            <a:r>
              <a:rPr lang="en-US" sz="4400" b="1" dirty="0">
                <a:latin typeface="Arial"/>
                <a:cs typeface="Arial"/>
              </a:rPr>
              <a:t>fractions</a:t>
            </a:r>
            <a:r>
              <a:rPr lang="en-US" sz="4400" dirty="0">
                <a:latin typeface="Arial"/>
                <a:cs typeface="Arial"/>
              </a:rPr>
              <a:t>:</a:t>
            </a:r>
            <a:endParaRPr lang="en-US" sz="4400" dirty="0"/>
          </a:p>
          <a:p>
            <a:endParaRPr lang="en-US" sz="4000" dirty="0">
              <a:latin typeface="Arial"/>
              <a:cs typeface="Aria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3832300-E151-2F33-46AA-C79008A3F87C}"/>
                  </a:ext>
                </a:extLst>
              </p:cNvPr>
              <p:cNvSpPr txBox="1"/>
              <p:nvPr/>
            </p:nvSpPr>
            <p:spPr>
              <a:xfrm>
                <a:off x="3184841" y="4191734"/>
                <a:ext cx="737277" cy="1299774"/>
              </a:xfrm>
              <a:prstGeom prst="rect">
                <a:avLst/>
              </a:prstGeom>
              <a:noFill/>
            </p:spPr>
            <p:txBody>
              <a:bodyPr wrap="square" lIns="0" tIns="0" rIns="0" bIns="0" rtlCol="0">
                <a:noAutofit/>
              </a:bodyPr>
              <a:lstStyle/>
              <a:p>
                <a:pPr algn="ctr"/>
                <a14:m>
                  <m:oMath xmlns:m="http://schemas.openxmlformats.org/officeDocument/2006/math">
                    <m:f>
                      <m:fPr>
                        <m:ctrlPr>
                          <a:rPr lang="en-AU" sz="4400" b="1" i="1" smtClean="0">
                            <a:effectLst/>
                            <a:latin typeface="Cambria Math" panose="02040503050406030204" pitchFamily="18" charset="0"/>
                          </a:rPr>
                        </m:ctrlPr>
                      </m:fPr>
                      <m:num>
                        <m:r>
                          <a:rPr lang="en-AU" sz="4400" b="1" i="1" smtClean="0">
                            <a:effectLst/>
                            <a:latin typeface="Cambria Math" panose="02040503050406030204" pitchFamily="18" charset="0"/>
                          </a:rPr>
                          <m:t>𝟏</m:t>
                        </m:r>
                      </m:num>
                      <m:den>
                        <m:r>
                          <a:rPr lang="en-AU" sz="4400" b="1" i="1" smtClean="0">
                            <a:effectLst/>
                            <a:latin typeface="Cambria Math" panose="02040503050406030204" pitchFamily="18" charset="0"/>
                            <a:ea typeface="Calibri" panose="020F0502020204030204" pitchFamily="34" charset="0"/>
                            <a:cs typeface="Arial" panose="020B0604020202020204" pitchFamily="34" charset="0"/>
                          </a:rPr>
                          <m:t>𝟐</m:t>
                        </m:r>
                      </m:den>
                    </m:f>
                  </m:oMath>
                </a14:m>
                <a:r>
                  <a:rPr lang="en-AU" sz="3200" b="1" dirty="0"/>
                  <a:t> </a:t>
                </a:r>
              </a:p>
            </p:txBody>
          </p:sp>
        </mc:Choice>
        <mc:Fallback xmlns="">
          <p:sp>
            <p:nvSpPr>
              <p:cNvPr id="4" name="TextBox 3">
                <a:extLst>
                  <a:ext uri="{FF2B5EF4-FFF2-40B4-BE49-F238E27FC236}">
                    <a16:creationId xmlns:a16="http://schemas.microsoft.com/office/drawing/2014/main" id="{C3832300-E151-2F33-46AA-C79008A3F87C}"/>
                  </a:ext>
                </a:extLst>
              </p:cNvPr>
              <p:cNvSpPr txBox="1">
                <a:spLocks noRot="1" noChangeAspect="1" noMove="1" noResize="1" noEditPoints="1" noAdjustHandles="1" noChangeArrowheads="1" noChangeShapeType="1" noTextEdit="1"/>
              </p:cNvSpPr>
              <p:nvPr/>
            </p:nvSpPr>
            <p:spPr>
              <a:xfrm>
                <a:off x="3184841" y="4191734"/>
                <a:ext cx="737277" cy="1299774"/>
              </a:xfrm>
              <a:prstGeom prst="rect">
                <a:avLst/>
              </a:prstGeom>
              <a:blipFill>
                <a:blip r:embed="rId4"/>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50550E9-CE5B-6761-3019-8DE217FD501F}"/>
                  </a:ext>
                </a:extLst>
              </p:cNvPr>
              <p:cNvSpPr txBox="1"/>
              <p:nvPr/>
            </p:nvSpPr>
            <p:spPr>
              <a:xfrm>
                <a:off x="4047217" y="4191734"/>
                <a:ext cx="737277" cy="1299774"/>
              </a:xfrm>
              <a:prstGeom prst="rect">
                <a:avLst/>
              </a:prstGeom>
              <a:noFill/>
            </p:spPr>
            <p:txBody>
              <a:bodyPr wrap="square" lIns="0" tIns="0" rIns="0" bIns="0" rtlCol="0">
                <a:noAutofit/>
              </a:bodyPr>
              <a:lstStyle/>
              <a:p>
                <a:pPr algn="ctr"/>
                <a14:m>
                  <m:oMath xmlns:m="http://schemas.openxmlformats.org/officeDocument/2006/math">
                    <m:f>
                      <m:fPr>
                        <m:ctrlPr>
                          <a:rPr lang="en-AU" sz="4400" b="1" i="1" smtClean="0">
                            <a:effectLst/>
                            <a:latin typeface="Cambria Math" panose="02040503050406030204" pitchFamily="18" charset="0"/>
                          </a:rPr>
                        </m:ctrlPr>
                      </m:fPr>
                      <m:num>
                        <m:r>
                          <a:rPr lang="en-AU" sz="4400" b="1" i="1" smtClean="0">
                            <a:effectLst/>
                            <a:latin typeface="Cambria Math" panose="02040503050406030204" pitchFamily="18" charset="0"/>
                            <a:ea typeface="Calibri" panose="020F0502020204030204" pitchFamily="34" charset="0"/>
                            <a:cs typeface="Arial" panose="020B0604020202020204" pitchFamily="34" charset="0"/>
                          </a:rPr>
                          <m:t>𝟑</m:t>
                        </m:r>
                      </m:num>
                      <m:den>
                        <m:r>
                          <a:rPr lang="en-AU" sz="4400" b="1" i="1" smtClean="0">
                            <a:effectLst/>
                            <a:latin typeface="Cambria Math" panose="02040503050406030204" pitchFamily="18" charset="0"/>
                            <a:ea typeface="Calibri" panose="020F0502020204030204" pitchFamily="34" charset="0"/>
                            <a:cs typeface="Arial" panose="020B0604020202020204" pitchFamily="34" charset="0"/>
                          </a:rPr>
                          <m:t>𝟖</m:t>
                        </m:r>
                      </m:den>
                    </m:f>
                  </m:oMath>
                </a14:m>
                <a:r>
                  <a:rPr lang="en-AU" sz="3200" b="1" dirty="0"/>
                  <a:t> </a:t>
                </a:r>
              </a:p>
            </p:txBody>
          </p:sp>
        </mc:Choice>
        <mc:Fallback xmlns="">
          <p:sp>
            <p:nvSpPr>
              <p:cNvPr id="6" name="TextBox 5">
                <a:extLst>
                  <a:ext uri="{FF2B5EF4-FFF2-40B4-BE49-F238E27FC236}">
                    <a16:creationId xmlns:a16="http://schemas.microsoft.com/office/drawing/2014/main" id="{B50550E9-CE5B-6761-3019-8DE217FD501F}"/>
                  </a:ext>
                </a:extLst>
              </p:cNvPr>
              <p:cNvSpPr txBox="1">
                <a:spLocks noRot="1" noChangeAspect="1" noMove="1" noResize="1" noEditPoints="1" noAdjustHandles="1" noChangeArrowheads="1" noChangeShapeType="1" noTextEdit="1"/>
              </p:cNvSpPr>
              <p:nvPr/>
            </p:nvSpPr>
            <p:spPr>
              <a:xfrm>
                <a:off x="4047217" y="4191734"/>
                <a:ext cx="737277" cy="1299774"/>
              </a:xfrm>
              <a:prstGeom prst="rect">
                <a:avLst/>
              </a:prstGeom>
              <a:blipFill>
                <a:blip r:embed="rId5"/>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212B9E4-37A9-1FE0-5ABE-AC1728172469}"/>
                  </a:ext>
                </a:extLst>
              </p:cNvPr>
              <p:cNvSpPr txBox="1"/>
              <p:nvPr/>
            </p:nvSpPr>
            <p:spPr>
              <a:xfrm>
                <a:off x="4909593" y="4191734"/>
                <a:ext cx="737277" cy="1299774"/>
              </a:xfrm>
              <a:prstGeom prst="rect">
                <a:avLst/>
              </a:prstGeom>
              <a:noFill/>
            </p:spPr>
            <p:txBody>
              <a:bodyPr wrap="square" lIns="0" tIns="0" rIns="0" bIns="0" rtlCol="0">
                <a:noAutofit/>
              </a:bodyPr>
              <a:lstStyle/>
              <a:p>
                <a:pPr algn="ctr"/>
                <a14:m>
                  <m:oMath xmlns:m="http://schemas.openxmlformats.org/officeDocument/2006/math">
                    <m:f>
                      <m:fPr>
                        <m:ctrlPr>
                          <a:rPr lang="en-AU" sz="4400" b="1" i="1" smtClean="0">
                            <a:effectLst/>
                            <a:latin typeface="Cambria Math" panose="02040503050406030204" pitchFamily="18" charset="0"/>
                          </a:rPr>
                        </m:ctrlPr>
                      </m:fPr>
                      <m:num>
                        <m:r>
                          <a:rPr lang="en-AU" sz="4400" b="1" i="1">
                            <a:effectLst/>
                            <a:latin typeface="Cambria Math" panose="02040503050406030204" pitchFamily="18" charset="0"/>
                            <a:ea typeface="Calibri" panose="020F0502020204030204" pitchFamily="34" charset="0"/>
                            <a:cs typeface="Arial" panose="020B0604020202020204" pitchFamily="34" charset="0"/>
                          </a:rPr>
                          <m:t>𝟏</m:t>
                        </m:r>
                      </m:num>
                      <m:den>
                        <m:r>
                          <a:rPr lang="en-AU" sz="4400" b="1" i="1" smtClean="0">
                            <a:effectLst/>
                            <a:latin typeface="Cambria Math" panose="02040503050406030204" pitchFamily="18" charset="0"/>
                            <a:ea typeface="Calibri" panose="020F0502020204030204" pitchFamily="34" charset="0"/>
                            <a:cs typeface="Arial" panose="020B0604020202020204" pitchFamily="34" charset="0"/>
                          </a:rPr>
                          <m:t>𝟒</m:t>
                        </m:r>
                      </m:den>
                    </m:f>
                  </m:oMath>
                </a14:m>
                <a:r>
                  <a:rPr lang="en-AU" sz="4400" b="1"/>
                  <a:t> </a:t>
                </a:r>
              </a:p>
            </p:txBody>
          </p:sp>
        </mc:Choice>
        <mc:Fallback xmlns="">
          <p:sp>
            <p:nvSpPr>
              <p:cNvPr id="7" name="TextBox 6">
                <a:extLst>
                  <a:ext uri="{FF2B5EF4-FFF2-40B4-BE49-F238E27FC236}">
                    <a16:creationId xmlns:a16="http://schemas.microsoft.com/office/drawing/2014/main" id="{9212B9E4-37A9-1FE0-5ABE-AC1728172469}"/>
                  </a:ext>
                </a:extLst>
              </p:cNvPr>
              <p:cNvSpPr txBox="1">
                <a:spLocks noRot="1" noChangeAspect="1" noMove="1" noResize="1" noEditPoints="1" noAdjustHandles="1" noChangeArrowheads="1" noChangeShapeType="1" noTextEdit="1"/>
              </p:cNvSpPr>
              <p:nvPr/>
            </p:nvSpPr>
            <p:spPr>
              <a:xfrm>
                <a:off x="4909593" y="4191734"/>
                <a:ext cx="737277" cy="1299774"/>
              </a:xfrm>
              <a:prstGeom prst="rect">
                <a:avLst/>
              </a:prstGeom>
              <a:blipFill>
                <a:blip r:embed="rId6"/>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76C31F6-F21F-4F34-F735-54ADC18E63AE}"/>
                  </a:ext>
                </a:extLst>
              </p:cNvPr>
              <p:cNvSpPr txBox="1"/>
              <p:nvPr/>
            </p:nvSpPr>
            <p:spPr>
              <a:xfrm>
                <a:off x="5771969" y="4191734"/>
                <a:ext cx="737277" cy="1299774"/>
              </a:xfrm>
              <a:prstGeom prst="rect">
                <a:avLst/>
              </a:prstGeom>
              <a:noFill/>
            </p:spPr>
            <p:txBody>
              <a:bodyPr wrap="square" lIns="0" tIns="0" rIns="0" bIns="0" rtlCol="0">
                <a:noAutofit/>
              </a:bodyPr>
              <a:lstStyle/>
              <a:p>
                <a:pPr algn="ctr"/>
                <a14:m>
                  <m:oMath xmlns:m="http://schemas.openxmlformats.org/officeDocument/2006/math">
                    <m:f>
                      <m:fPr>
                        <m:ctrlPr>
                          <a:rPr lang="en-AU" sz="4400" b="1" i="1" smtClean="0">
                            <a:effectLst/>
                            <a:latin typeface="Cambria Math" panose="02040503050406030204" pitchFamily="18" charset="0"/>
                          </a:rPr>
                        </m:ctrlPr>
                      </m:fPr>
                      <m:num>
                        <m:r>
                          <a:rPr lang="en-AU" sz="4400" b="1" i="1" smtClean="0">
                            <a:effectLst/>
                            <a:latin typeface="Cambria Math" panose="02040503050406030204" pitchFamily="18" charset="0"/>
                            <a:ea typeface="Calibri" panose="020F0502020204030204" pitchFamily="34" charset="0"/>
                            <a:cs typeface="Arial" panose="020B0604020202020204" pitchFamily="34" charset="0"/>
                          </a:rPr>
                          <m:t>𝟑</m:t>
                        </m:r>
                      </m:num>
                      <m:den>
                        <m:r>
                          <a:rPr lang="en-AU" sz="4400" b="1" i="1" smtClean="0">
                            <a:effectLst/>
                            <a:latin typeface="Cambria Math" panose="02040503050406030204" pitchFamily="18" charset="0"/>
                            <a:ea typeface="Calibri" panose="020F0502020204030204" pitchFamily="34" charset="0"/>
                            <a:cs typeface="Arial" panose="020B0604020202020204" pitchFamily="34" charset="0"/>
                          </a:rPr>
                          <m:t>𝟒</m:t>
                        </m:r>
                      </m:den>
                    </m:f>
                  </m:oMath>
                </a14:m>
                <a:r>
                  <a:rPr lang="en-AU" sz="3200" b="1" dirty="0"/>
                  <a:t> </a:t>
                </a:r>
              </a:p>
            </p:txBody>
          </p:sp>
        </mc:Choice>
        <mc:Fallback xmlns="">
          <p:sp>
            <p:nvSpPr>
              <p:cNvPr id="8" name="TextBox 7">
                <a:extLst>
                  <a:ext uri="{FF2B5EF4-FFF2-40B4-BE49-F238E27FC236}">
                    <a16:creationId xmlns:a16="http://schemas.microsoft.com/office/drawing/2014/main" id="{F76C31F6-F21F-4F34-F735-54ADC18E63AE}"/>
                  </a:ext>
                </a:extLst>
              </p:cNvPr>
              <p:cNvSpPr txBox="1">
                <a:spLocks noRot="1" noChangeAspect="1" noMove="1" noResize="1" noEditPoints="1" noAdjustHandles="1" noChangeArrowheads="1" noChangeShapeType="1" noTextEdit="1"/>
              </p:cNvSpPr>
              <p:nvPr/>
            </p:nvSpPr>
            <p:spPr>
              <a:xfrm>
                <a:off x="5771969" y="4191734"/>
                <a:ext cx="737277" cy="1299774"/>
              </a:xfrm>
              <a:prstGeom prst="rect">
                <a:avLst/>
              </a:prstGeom>
              <a:blipFill>
                <a:blip r:embed="rId7"/>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1D67834-1A53-B699-FFEE-8A9AE45003BD}"/>
                  </a:ext>
                </a:extLst>
              </p:cNvPr>
              <p:cNvSpPr txBox="1"/>
              <p:nvPr/>
            </p:nvSpPr>
            <p:spPr>
              <a:xfrm>
                <a:off x="6634345" y="4191734"/>
                <a:ext cx="737277" cy="1299774"/>
              </a:xfrm>
              <a:prstGeom prst="rect">
                <a:avLst/>
              </a:prstGeom>
              <a:noFill/>
            </p:spPr>
            <p:txBody>
              <a:bodyPr wrap="square" lIns="0" tIns="0" rIns="0" bIns="0" rtlCol="0">
                <a:noAutofit/>
              </a:bodyPr>
              <a:lstStyle/>
              <a:p>
                <a:pPr algn="ctr"/>
                <a14:m>
                  <m:oMath xmlns:m="http://schemas.openxmlformats.org/officeDocument/2006/math">
                    <m:f>
                      <m:fPr>
                        <m:ctrlPr>
                          <a:rPr lang="en-AU" sz="4400" b="1" i="1" smtClean="0">
                            <a:effectLst/>
                            <a:latin typeface="Cambria Math" panose="02040503050406030204" pitchFamily="18" charset="0"/>
                          </a:rPr>
                        </m:ctrlPr>
                      </m:fPr>
                      <m:num>
                        <m:r>
                          <a:rPr lang="en-AU" sz="4400" b="1" i="1" smtClean="0">
                            <a:effectLst/>
                            <a:latin typeface="Cambria Math" panose="02040503050406030204" pitchFamily="18" charset="0"/>
                          </a:rPr>
                          <m:t>𝟕</m:t>
                        </m:r>
                      </m:num>
                      <m:den>
                        <m:r>
                          <a:rPr lang="en-AU" sz="4400" b="1" i="1" smtClean="0">
                            <a:effectLst/>
                            <a:latin typeface="Cambria Math" panose="02040503050406030204" pitchFamily="18" charset="0"/>
                            <a:ea typeface="Calibri" panose="020F0502020204030204" pitchFamily="34" charset="0"/>
                            <a:cs typeface="Arial" panose="020B0604020202020204" pitchFamily="34" charset="0"/>
                          </a:rPr>
                          <m:t>𝟖</m:t>
                        </m:r>
                      </m:den>
                    </m:f>
                  </m:oMath>
                </a14:m>
                <a:r>
                  <a:rPr lang="en-AU" sz="3200" b="1" dirty="0"/>
                  <a:t> </a:t>
                </a:r>
              </a:p>
            </p:txBody>
          </p:sp>
        </mc:Choice>
        <mc:Fallback xmlns="">
          <p:sp>
            <p:nvSpPr>
              <p:cNvPr id="9" name="TextBox 8">
                <a:extLst>
                  <a:ext uri="{FF2B5EF4-FFF2-40B4-BE49-F238E27FC236}">
                    <a16:creationId xmlns:a16="http://schemas.microsoft.com/office/drawing/2014/main" id="{91D67834-1A53-B699-FFEE-8A9AE45003BD}"/>
                  </a:ext>
                </a:extLst>
              </p:cNvPr>
              <p:cNvSpPr txBox="1">
                <a:spLocks noRot="1" noChangeAspect="1" noMove="1" noResize="1" noEditPoints="1" noAdjustHandles="1" noChangeArrowheads="1" noChangeShapeType="1" noTextEdit="1"/>
              </p:cNvSpPr>
              <p:nvPr/>
            </p:nvSpPr>
            <p:spPr>
              <a:xfrm>
                <a:off x="6634345" y="4191734"/>
                <a:ext cx="737277" cy="1299774"/>
              </a:xfrm>
              <a:prstGeom prst="rect">
                <a:avLst/>
              </a:prstGeom>
              <a:blipFill>
                <a:blip r:embed="rId8"/>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3F44924-2E60-24F8-3F5D-F4BB44320190}"/>
                  </a:ext>
                </a:extLst>
              </p:cNvPr>
              <p:cNvSpPr txBox="1"/>
              <p:nvPr/>
            </p:nvSpPr>
            <p:spPr>
              <a:xfrm>
                <a:off x="7496721" y="4191734"/>
                <a:ext cx="737277" cy="1299774"/>
              </a:xfrm>
              <a:prstGeom prst="rect">
                <a:avLst/>
              </a:prstGeom>
              <a:noFill/>
            </p:spPr>
            <p:txBody>
              <a:bodyPr wrap="square" lIns="0" tIns="0" rIns="0" bIns="0" rtlCol="0">
                <a:noAutofit/>
              </a:bodyPr>
              <a:lstStyle/>
              <a:p>
                <a:pPr algn="ctr"/>
                <a14:m>
                  <m:oMath xmlns:m="http://schemas.openxmlformats.org/officeDocument/2006/math">
                    <m:f>
                      <m:fPr>
                        <m:ctrlPr>
                          <a:rPr lang="en-AU" sz="4400" b="1" i="1" smtClean="0">
                            <a:effectLst/>
                            <a:latin typeface="Cambria Math" panose="02040503050406030204" pitchFamily="18" charset="0"/>
                          </a:rPr>
                        </m:ctrlPr>
                      </m:fPr>
                      <m:num>
                        <m:r>
                          <a:rPr lang="en-AU" sz="4400" b="1" i="1" smtClean="0">
                            <a:effectLst/>
                            <a:latin typeface="Cambria Math" panose="02040503050406030204" pitchFamily="18" charset="0"/>
                            <a:ea typeface="Calibri" panose="020F0502020204030204" pitchFamily="34" charset="0"/>
                            <a:cs typeface="Arial" panose="020B0604020202020204" pitchFamily="34" charset="0"/>
                          </a:rPr>
                          <m:t>𝟒</m:t>
                        </m:r>
                      </m:num>
                      <m:den>
                        <m:r>
                          <a:rPr lang="en-AU" sz="4400" b="1" i="1" smtClean="0">
                            <a:effectLst/>
                            <a:latin typeface="Cambria Math" panose="02040503050406030204" pitchFamily="18" charset="0"/>
                            <a:ea typeface="Calibri" panose="020F0502020204030204" pitchFamily="34" charset="0"/>
                            <a:cs typeface="Arial" panose="020B0604020202020204" pitchFamily="34" charset="0"/>
                          </a:rPr>
                          <m:t>𝟒</m:t>
                        </m:r>
                      </m:den>
                    </m:f>
                  </m:oMath>
                </a14:m>
                <a:r>
                  <a:rPr lang="en-AU" sz="3200" b="1" dirty="0"/>
                  <a:t> </a:t>
                </a:r>
              </a:p>
            </p:txBody>
          </p:sp>
        </mc:Choice>
        <mc:Fallback xmlns="">
          <p:sp>
            <p:nvSpPr>
              <p:cNvPr id="10" name="TextBox 9">
                <a:extLst>
                  <a:ext uri="{FF2B5EF4-FFF2-40B4-BE49-F238E27FC236}">
                    <a16:creationId xmlns:a16="http://schemas.microsoft.com/office/drawing/2014/main" id="{33F44924-2E60-24F8-3F5D-F4BB44320190}"/>
                  </a:ext>
                </a:extLst>
              </p:cNvPr>
              <p:cNvSpPr txBox="1">
                <a:spLocks noRot="1" noChangeAspect="1" noMove="1" noResize="1" noEditPoints="1" noAdjustHandles="1" noChangeArrowheads="1" noChangeShapeType="1" noTextEdit="1"/>
              </p:cNvSpPr>
              <p:nvPr/>
            </p:nvSpPr>
            <p:spPr>
              <a:xfrm>
                <a:off x="7496721" y="4191734"/>
                <a:ext cx="737277" cy="1299774"/>
              </a:xfrm>
              <a:prstGeom prst="rect">
                <a:avLst/>
              </a:prstGeom>
              <a:blipFill>
                <a:blip r:embed="rId9"/>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B19DD11-2805-9CC9-C27A-0A991C458142}"/>
                  </a:ext>
                </a:extLst>
              </p:cNvPr>
              <p:cNvSpPr txBox="1"/>
              <p:nvPr/>
            </p:nvSpPr>
            <p:spPr>
              <a:xfrm>
                <a:off x="8359097" y="4191734"/>
                <a:ext cx="737277" cy="1299774"/>
              </a:xfrm>
              <a:prstGeom prst="rect">
                <a:avLst/>
              </a:prstGeom>
              <a:noFill/>
            </p:spPr>
            <p:txBody>
              <a:bodyPr wrap="square" lIns="0" tIns="0" rIns="0" bIns="0" rtlCol="0">
                <a:noAutofit/>
              </a:bodyPr>
              <a:lstStyle/>
              <a:p>
                <a:pPr algn="ctr"/>
                <a14:m>
                  <m:oMath xmlns:m="http://schemas.openxmlformats.org/officeDocument/2006/math">
                    <m:f>
                      <m:fPr>
                        <m:ctrlPr>
                          <a:rPr lang="en-AU" sz="4400" b="1" i="1" smtClean="0">
                            <a:effectLst/>
                            <a:latin typeface="Cambria Math" panose="02040503050406030204" pitchFamily="18" charset="0"/>
                          </a:rPr>
                        </m:ctrlPr>
                      </m:fPr>
                      <m:num>
                        <m:r>
                          <a:rPr lang="en-AU" sz="4400" b="1" i="1" smtClean="0">
                            <a:effectLst/>
                            <a:latin typeface="Cambria Math" panose="02040503050406030204" pitchFamily="18" charset="0"/>
                            <a:ea typeface="Calibri" panose="020F0502020204030204" pitchFamily="34" charset="0"/>
                            <a:cs typeface="Arial" panose="020B0604020202020204" pitchFamily="34" charset="0"/>
                          </a:rPr>
                          <m:t>𝟓</m:t>
                        </m:r>
                      </m:num>
                      <m:den>
                        <m:r>
                          <a:rPr lang="en-AU" sz="4400" b="1" i="1" smtClean="0">
                            <a:effectLst/>
                            <a:latin typeface="Cambria Math" panose="02040503050406030204" pitchFamily="18" charset="0"/>
                            <a:ea typeface="Calibri" panose="020F0502020204030204" pitchFamily="34" charset="0"/>
                            <a:cs typeface="Arial" panose="020B0604020202020204" pitchFamily="34" charset="0"/>
                          </a:rPr>
                          <m:t>𝟖</m:t>
                        </m:r>
                      </m:den>
                    </m:f>
                  </m:oMath>
                </a14:m>
                <a:r>
                  <a:rPr lang="en-AU" sz="4400" b="1"/>
                  <a:t> </a:t>
                </a:r>
              </a:p>
            </p:txBody>
          </p:sp>
        </mc:Choice>
        <mc:Fallback xmlns="">
          <p:sp>
            <p:nvSpPr>
              <p:cNvPr id="12" name="TextBox 11">
                <a:extLst>
                  <a:ext uri="{FF2B5EF4-FFF2-40B4-BE49-F238E27FC236}">
                    <a16:creationId xmlns:a16="http://schemas.microsoft.com/office/drawing/2014/main" id="{9B19DD11-2805-9CC9-C27A-0A991C458142}"/>
                  </a:ext>
                </a:extLst>
              </p:cNvPr>
              <p:cNvSpPr txBox="1">
                <a:spLocks noRot="1" noChangeAspect="1" noMove="1" noResize="1" noEditPoints="1" noAdjustHandles="1" noChangeArrowheads="1" noChangeShapeType="1" noTextEdit="1"/>
              </p:cNvSpPr>
              <p:nvPr/>
            </p:nvSpPr>
            <p:spPr>
              <a:xfrm>
                <a:off x="8359097" y="4191734"/>
                <a:ext cx="737277" cy="1299774"/>
              </a:xfrm>
              <a:prstGeom prst="rect">
                <a:avLst/>
              </a:prstGeom>
              <a:blipFill>
                <a:blip r:embed="rId10"/>
                <a:stretch>
                  <a:fillRect/>
                </a:stretch>
              </a:blipFill>
            </p:spPr>
            <p:txBody>
              <a:bodyPr/>
              <a:lstStyle/>
              <a:p>
                <a:r>
                  <a:rPr lang="en-AU">
                    <a:noFill/>
                  </a:rPr>
                  <a:t> </a:t>
                </a:r>
              </a:p>
            </p:txBody>
          </p:sp>
        </mc:Fallback>
      </mc:AlternateContent>
      <p:sp>
        <p:nvSpPr>
          <p:cNvPr id="2" name="Slide Number Placeholder 1">
            <a:extLst>
              <a:ext uri="{FF2B5EF4-FFF2-40B4-BE49-F238E27FC236}">
                <a16:creationId xmlns:a16="http://schemas.microsoft.com/office/drawing/2014/main" id="{EA9D6B60-D9E0-EC2E-C5BB-DF4DD3655BFD}"/>
              </a:ext>
            </a:extLst>
          </p:cNvPr>
          <p:cNvSpPr>
            <a:spLocks noGrp="1"/>
          </p:cNvSpPr>
          <p:nvPr>
            <p:ph type="sldNum" sz="quarter" idx="12"/>
          </p:nvPr>
        </p:nvSpPr>
        <p:spPr/>
        <p:txBody>
          <a:bodyPr/>
          <a:lstStyle/>
          <a:p>
            <a:fld id="{10A01DC5-1685-4615-8240-15192985C6A2}" type="slidenum">
              <a:rPr lang="en-AU" smtClean="0"/>
              <a:t>6</a:t>
            </a:fld>
            <a:endParaRPr lang="en-AU"/>
          </a:p>
        </p:txBody>
      </p:sp>
    </p:spTree>
    <p:extLst>
      <p:ext uri="{BB962C8B-B14F-4D97-AF65-F5344CB8AC3E}">
        <p14:creationId xmlns:p14="http://schemas.microsoft.com/office/powerpoint/2010/main" val="2868920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04D29-3F5A-CA10-3A4C-1106A0EFFEF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B5BAC30-6BD8-C081-77BC-D2B9575F713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a:t>
            </a:r>
          </a:p>
        </p:txBody>
      </p:sp>
      <p:pic>
        <p:nvPicPr>
          <p:cNvPr id="16" name="Picture 15" descr="image of a clipboard with a pencil recording short answer responses">
            <a:extLst>
              <a:ext uri="{FF2B5EF4-FFF2-40B4-BE49-F238E27FC236}">
                <a16:creationId xmlns:a16="http://schemas.microsoft.com/office/drawing/2014/main" id="{0C94229E-5CFB-7E08-8FF3-B2F6FCEAFBB8}"/>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11" name="Picture Placeholder 10">
            <a:extLst>
              <a:ext uri="{FF2B5EF4-FFF2-40B4-BE49-F238E27FC236}">
                <a16:creationId xmlns:a16="http://schemas.microsoft.com/office/drawing/2014/main" id="{7157F9C0-C1ED-7744-16B0-EF203AF569DC}"/>
              </a:ext>
            </a:extLst>
          </p:cNvPr>
          <p:cNvSpPr>
            <a:spLocks noGrp="1"/>
          </p:cNvSpPr>
          <p:nvPr>
            <p:ph type="pic" sz="quarter" idx="21"/>
          </p:nvPr>
        </p:nvSpPr>
        <p:spPr>
          <a:xfrm>
            <a:off x="246024" y="1184223"/>
            <a:ext cx="11243037" cy="2388414"/>
          </a:xfrm>
        </p:spPr>
        <p:txBody>
          <a:bodyPr/>
          <a:lstStyle/>
          <a:p>
            <a:pPr algn="ctr"/>
            <a:r>
              <a:rPr lang="en-US" sz="4400" b="1" dirty="0">
                <a:latin typeface="Arial"/>
                <a:cs typeface="Arial"/>
              </a:rPr>
              <a:t>Record</a:t>
            </a:r>
            <a:r>
              <a:rPr lang="en-US" sz="4400" dirty="0">
                <a:latin typeface="Arial"/>
                <a:cs typeface="Arial"/>
              </a:rPr>
              <a:t> two 6-digit numbers that when added together, make a number close to 1 million.</a:t>
            </a:r>
            <a:endParaRPr lang="en-US" sz="4400"/>
          </a:p>
          <a:p>
            <a:pPr algn="ctr"/>
            <a:r>
              <a:rPr lang="en-US" sz="4400" dirty="0">
                <a:latin typeface="Arial"/>
                <a:cs typeface="Arial"/>
              </a:rPr>
              <a:t>    </a:t>
            </a:r>
            <a:br>
              <a:rPr lang="en-US" sz="4400" dirty="0">
                <a:latin typeface="Arial"/>
                <a:cs typeface="Arial"/>
              </a:rPr>
            </a:br>
            <a:endParaRPr lang="en-US" sz="4400" dirty="0">
              <a:solidFill>
                <a:srgbClr val="22272B"/>
              </a:solidFill>
            </a:endParaRPr>
          </a:p>
          <a:p>
            <a:endParaRPr lang="en-US" dirty="0">
              <a:latin typeface="Arial"/>
              <a:cs typeface="Arial"/>
            </a:endParaRPr>
          </a:p>
        </p:txBody>
      </p:sp>
      <p:pic>
        <p:nvPicPr>
          <p:cNvPr id="5" name="Picture 4" descr="Box outlines for place value for an addition algorithm for two 6-digit numbers.">
            <a:extLst>
              <a:ext uri="{FF2B5EF4-FFF2-40B4-BE49-F238E27FC236}">
                <a16:creationId xmlns:a16="http://schemas.microsoft.com/office/drawing/2014/main" id="{5A9CE6FB-85A9-A70E-1070-20F1C88A7762}"/>
              </a:ext>
            </a:extLst>
          </p:cNvPr>
          <p:cNvPicPr>
            <a:picLocks noChangeAspect="1"/>
          </p:cNvPicPr>
          <p:nvPr/>
        </p:nvPicPr>
        <p:blipFill>
          <a:blip r:embed="rId4"/>
          <a:stretch>
            <a:fillRect/>
          </a:stretch>
        </p:blipFill>
        <p:spPr>
          <a:xfrm>
            <a:off x="2079056" y="3936096"/>
            <a:ext cx="8031674" cy="2757863"/>
          </a:xfrm>
          <a:prstGeom prst="rect">
            <a:avLst/>
          </a:prstGeom>
          <a:ln>
            <a:noFill/>
          </a:ln>
        </p:spPr>
      </p:pic>
      <p:sp>
        <p:nvSpPr>
          <p:cNvPr id="2" name="Slide Number Placeholder 1">
            <a:extLst>
              <a:ext uri="{FF2B5EF4-FFF2-40B4-BE49-F238E27FC236}">
                <a16:creationId xmlns:a16="http://schemas.microsoft.com/office/drawing/2014/main" id="{E7694136-0ABE-6565-8E70-C408D71197A0}"/>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471408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73FA9-B3B4-3714-FC45-47F2D01CCFD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8F05DE5-C379-717B-6C87-B9DC7632F6A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a:t>
            </a:r>
          </a:p>
        </p:txBody>
      </p:sp>
      <p:pic>
        <p:nvPicPr>
          <p:cNvPr id="4" name="Picture 3" descr="image of a clipboard with a pencil recording short answer responses">
            <a:extLst>
              <a:ext uri="{FF2B5EF4-FFF2-40B4-BE49-F238E27FC236}">
                <a16:creationId xmlns:a16="http://schemas.microsoft.com/office/drawing/2014/main" id="{FF142F24-A346-63B3-9C1B-1E3C7790562A}"/>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8" name="Picture Placeholder 10">
            <a:extLst>
              <a:ext uri="{FF2B5EF4-FFF2-40B4-BE49-F238E27FC236}">
                <a16:creationId xmlns:a16="http://schemas.microsoft.com/office/drawing/2014/main" id="{C71FA276-C5C1-DB90-3082-41EDC65E643E}"/>
              </a:ext>
            </a:extLst>
          </p:cNvPr>
          <p:cNvSpPr txBox="1">
            <a:spLocks/>
          </p:cNvSpPr>
          <p:nvPr/>
        </p:nvSpPr>
        <p:spPr>
          <a:xfrm>
            <a:off x="777001" y="1184222"/>
            <a:ext cx="10152450" cy="4993057"/>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dirty="0">
                <a:solidFill>
                  <a:srgbClr val="22272B"/>
                </a:solidFill>
                <a:latin typeface="Arial"/>
                <a:cs typeface="Arial"/>
              </a:rPr>
              <a:t>Jesse swam 400m on Monday, 500m on Tuesday, 300m on Wednesday, 600m on Thursday and 200m on Friday. </a:t>
            </a:r>
          </a:p>
          <a:p>
            <a:pPr algn="ctr"/>
            <a:r>
              <a:rPr lang="en-US" sz="4400" b="1" dirty="0">
                <a:solidFill>
                  <a:srgbClr val="22272B"/>
                </a:solidFill>
                <a:latin typeface="Arial"/>
                <a:cs typeface="Arial"/>
              </a:rPr>
              <a:t>Record the distance </a:t>
            </a:r>
            <a:r>
              <a:rPr lang="en-US" sz="4400" dirty="0">
                <a:solidFill>
                  <a:srgbClr val="22272B"/>
                </a:solidFill>
                <a:latin typeface="Arial"/>
                <a:cs typeface="Arial"/>
              </a:rPr>
              <a:t>Jesse swam using the</a:t>
            </a:r>
            <a:r>
              <a:rPr lang="en-US" sz="4400" b="1" dirty="0">
                <a:solidFill>
                  <a:srgbClr val="22272B"/>
                </a:solidFill>
                <a:latin typeface="Arial"/>
                <a:cs typeface="Arial"/>
              </a:rPr>
              <a:t> </a:t>
            </a:r>
            <a:r>
              <a:rPr lang="en-US" sz="4400" dirty="0">
                <a:solidFill>
                  <a:srgbClr val="22272B"/>
                </a:solidFill>
                <a:latin typeface="Arial"/>
                <a:cs typeface="Arial"/>
              </a:rPr>
              <a:t>abbreviation for</a:t>
            </a:r>
            <a:r>
              <a:rPr lang="en-US" sz="4400" b="1" dirty="0">
                <a:solidFill>
                  <a:srgbClr val="22272B"/>
                </a:solidFill>
                <a:latin typeface="Arial"/>
                <a:cs typeface="Arial"/>
              </a:rPr>
              <a:t> </a:t>
            </a:r>
            <a:r>
              <a:rPr lang="en-US" sz="4400" b="1" dirty="0" err="1">
                <a:solidFill>
                  <a:srgbClr val="22272B"/>
                </a:solidFill>
                <a:latin typeface="Arial"/>
                <a:cs typeface="Arial"/>
              </a:rPr>
              <a:t>kilometres</a:t>
            </a:r>
            <a:r>
              <a:rPr lang="en-US" sz="4400" b="1" dirty="0">
                <a:solidFill>
                  <a:srgbClr val="22272B"/>
                </a:solidFill>
                <a:latin typeface="Arial"/>
                <a:cs typeface="Arial"/>
              </a:rPr>
              <a:t>.</a:t>
            </a:r>
            <a:endParaRPr lang="en-US" sz="4400" b="1" dirty="0">
              <a:solidFill>
                <a:srgbClr val="22272B"/>
              </a:solidFill>
            </a:endParaRPr>
          </a:p>
          <a:p>
            <a:endParaRPr lang="en-US" dirty="0">
              <a:latin typeface="Arial"/>
              <a:cs typeface="Arial"/>
            </a:endParaRPr>
          </a:p>
        </p:txBody>
      </p:sp>
      <p:sp>
        <p:nvSpPr>
          <p:cNvPr id="2" name="Slide Number Placeholder 1">
            <a:extLst>
              <a:ext uri="{FF2B5EF4-FFF2-40B4-BE49-F238E27FC236}">
                <a16:creationId xmlns:a16="http://schemas.microsoft.com/office/drawing/2014/main" id="{2DBE3B1A-BD2A-49DE-A752-21D7297BB0E0}"/>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1859326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86DCB-E9CB-B576-D914-C2FA7FAE931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A3EF466-F3BA-38A9-63CB-DD80F64CB1BC}"/>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(4)</a:t>
            </a:r>
          </a:p>
        </p:txBody>
      </p:sp>
      <p:pic>
        <p:nvPicPr>
          <p:cNvPr id="4" name="Picture 3" descr="image of a clipboard with a pencil recording short answer responses">
            <a:extLst>
              <a:ext uri="{FF2B5EF4-FFF2-40B4-BE49-F238E27FC236}">
                <a16:creationId xmlns:a16="http://schemas.microsoft.com/office/drawing/2014/main" id="{9AFF81D9-B035-9967-8700-C5F2EB26519C}"/>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12" name="Text Placeholder 11">
            <a:extLst>
              <a:ext uri="{FF2B5EF4-FFF2-40B4-BE49-F238E27FC236}">
                <a16:creationId xmlns:a16="http://schemas.microsoft.com/office/drawing/2014/main" id="{65C867D5-8CB8-739D-AB4F-83858803E2F0}"/>
              </a:ext>
            </a:extLst>
          </p:cNvPr>
          <p:cNvSpPr>
            <a:spLocks noGrp="1"/>
          </p:cNvSpPr>
          <p:nvPr>
            <p:ph type="body" sz="quarter" idx="22"/>
          </p:nvPr>
        </p:nvSpPr>
        <p:spPr>
          <a:xfrm>
            <a:off x="360001" y="1323207"/>
            <a:ext cx="11002764" cy="4457646"/>
          </a:xfrm>
        </p:spPr>
        <p:txBody>
          <a:bodyPr vert="horz" lIns="0" tIns="0" rIns="0" bIns="0" rtlCol="0" anchor="t">
            <a:noAutofit/>
          </a:bodyPr>
          <a:lstStyle/>
          <a:p>
            <a:pPr algn="ctr"/>
            <a:r>
              <a:rPr lang="en-US" sz="4400" dirty="0">
                <a:latin typeface="Arial"/>
                <a:cs typeface="Arial"/>
              </a:rPr>
              <a:t>Sophie needs to catch the bus to the oval at 3:30 pm and then the 5:45 pm bus home. </a:t>
            </a:r>
          </a:p>
          <a:p>
            <a:pPr algn="ctr"/>
            <a:endParaRPr lang="en-US" sz="4400" b="1" dirty="0">
              <a:latin typeface="Arial"/>
              <a:cs typeface="Arial"/>
            </a:endParaRPr>
          </a:p>
          <a:p>
            <a:pPr algn="ctr"/>
            <a:r>
              <a:rPr lang="en-US" sz="4400" b="1" dirty="0">
                <a:latin typeface="Arial"/>
                <a:cs typeface="Arial"/>
              </a:rPr>
              <a:t>Record </a:t>
            </a:r>
            <a:r>
              <a:rPr lang="en-US" sz="4400" dirty="0">
                <a:latin typeface="Arial"/>
                <a:cs typeface="Arial"/>
              </a:rPr>
              <a:t>the times in </a:t>
            </a:r>
            <a:r>
              <a:rPr lang="en-US" sz="4400" b="1" dirty="0">
                <a:latin typeface="Arial"/>
                <a:cs typeface="Arial"/>
              </a:rPr>
              <a:t>24-hour time</a:t>
            </a:r>
            <a:r>
              <a:rPr lang="en-US" sz="4400" dirty="0">
                <a:latin typeface="Arial"/>
                <a:cs typeface="Arial"/>
              </a:rPr>
              <a:t>.</a:t>
            </a:r>
          </a:p>
        </p:txBody>
      </p:sp>
      <p:sp>
        <p:nvSpPr>
          <p:cNvPr id="2" name="Slide Number Placeholder 1">
            <a:extLst>
              <a:ext uri="{FF2B5EF4-FFF2-40B4-BE49-F238E27FC236}">
                <a16:creationId xmlns:a16="http://schemas.microsoft.com/office/drawing/2014/main" id="{9C32FB6E-2A90-1CC2-721F-898CF92613A0}"/>
              </a:ext>
            </a:extLst>
          </p:cNvPr>
          <p:cNvSpPr>
            <a:spLocks noGrp="1"/>
          </p:cNvSpPr>
          <p:nvPr>
            <p:ph type="sldNum" sz="quarter" idx="12"/>
          </p:nvPr>
        </p:nvSpPr>
        <p:spPr/>
        <p:txBody>
          <a:bodyPr/>
          <a:lstStyle/>
          <a:p>
            <a:fld id="{10A01DC5-1685-4615-8240-15192985C6A2}" type="slidenum">
              <a:rPr lang="en-AU" smtClean="0"/>
              <a:t>9</a:t>
            </a:fld>
            <a:endParaRPr lang="en-AU"/>
          </a:p>
        </p:txBody>
      </p:sp>
    </p:spTree>
    <p:extLst>
      <p:ext uri="{BB962C8B-B14F-4D97-AF65-F5344CB8AC3E}">
        <p14:creationId xmlns:p14="http://schemas.microsoft.com/office/powerpoint/2010/main" val="272658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p:txBody>
          <a:bodyPr/>
          <a:lstStyle/>
          <a:p>
            <a:r>
              <a:rPr lang="en-AU">
                <a:latin typeface="Arial"/>
                <a:cs typeface="Arial"/>
              </a:rPr>
              <a:t>Activity 1 – determining products and factors</a:t>
            </a:r>
          </a:p>
        </p:txBody>
      </p:sp>
      <p:pic>
        <p:nvPicPr>
          <p:cNvPr id="6" name="Picture 5" descr="image of a head with cogs turning inside">
            <a:extLst>
              <a:ext uri="{FF2B5EF4-FFF2-40B4-BE49-F238E27FC236}">
                <a16:creationId xmlns:a16="http://schemas.microsoft.com/office/drawing/2014/main" id="{FD9CB2FA-5D2D-5F87-87BC-91BD9E444679}"/>
              </a:ext>
            </a:extLst>
          </p:cNvPr>
          <p:cNvPicPr>
            <a:picLocks noChangeAspect="1"/>
          </p:cNvPicPr>
          <p:nvPr/>
        </p:nvPicPr>
        <p:blipFill>
          <a:blip r:embed="rId3"/>
          <a:stretch>
            <a:fillRect/>
          </a:stretch>
        </p:blipFill>
        <p:spPr>
          <a:xfrm>
            <a:off x="11107003" y="240894"/>
            <a:ext cx="720000" cy="856364"/>
          </a:xfrm>
          <a:prstGeom prst="rect">
            <a:avLst/>
          </a:prstGeom>
          <a:ln>
            <a:noFill/>
          </a:ln>
        </p:spPr>
      </p:pic>
      <p:pic>
        <p:nvPicPr>
          <p:cNvPr id="9" name="Picture 8" descr="Blocks showing the products. Starts with 1 block and a factor of 2 gives 2 blocks, a factor of 3 gives 3 blocks and a factor of 2 then 3 gives 6 blocks">
            <a:extLst>
              <a:ext uri="{FF2B5EF4-FFF2-40B4-BE49-F238E27FC236}">
                <a16:creationId xmlns:a16="http://schemas.microsoft.com/office/drawing/2014/main" id="{150F075A-69B2-41BE-D197-CC2CEC9ED8FC}"/>
              </a:ext>
            </a:extLst>
          </p:cNvPr>
          <p:cNvPicPr>
            <a:picLocks noChangeAspect="1"/>
          </p:cNvPicPr>
          <p:nvPr/>
        </p:nvPicPr>
        <p:blipFill>
          <a:blip r:embed="rId4"/>
          <a:stretch>
            <a:fillRect/>
          </a:stretch>
        </p:blipFill>
        <p:spPr>
          <a:xfrm>
            <a:off x="3614654" y="905601"/>
            <a:ext cx="5480565" cy="2383474"/>
          </a:xfrm>
          <a:prstGeom prst="rect">
            <a:avLst/>
          </a:prstGeom>
          <a:ln>
            <a:noFill/>
          </a:ln>
        </p:spPr>
      </p:pic>
      <p:pic>
        <p:nvPicPr>
          <p:cNvPr id="10" name="Picture 9" descr="A table showing how many units, the steps in the machine needed and the factors.">
            <a:extLst>
              <a:ext uri="{FF2B5EF4-FFF2-40B4-BE49-F238E27FC236}">
                <a16:creationId xmlns:a16="http://schemas.microsoft.com/office/drawing/2014/main" id="{9D2C75C2-7561-FE22-13DA-4F4943A04F9B}"/>
              </a:ext>
            </a:extLst>
          </p:cNvPr>
          <p:cNvPicPr>
            <a:picLocks noChangeAspect="1"/>
          </p:cNvPicPr>
          <p:nvPr/>
        </p:nvPicPr>
        <p:blipFill>
          <a:blip r:embed="rId5"/>
          <a:stretch>
            <a:fillRect/>
          </a:stretch>
        </p:blipFill>
        <p:spPr>
          <a:xfrm>
            <a:off x="2485154" y="3521509"/>
            <a:ext cx="7221692" cy="3174491"/>
          </a:xfrm>
          <a:prstGeom prst="rect">
            <a:avLst/>
          </a:prstGeom>
        </p:spPr>
      </p:pic>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10</a:t>
            </a:fld>
            <a:endParaRPr lang="en-AU"/>
          </a:p>
        </p:txBody>
      </p:sp>
    </p:spTree>
    <p:extLst>
      <p:ext uri="{BB962C8B-B14F-4D97-AF65-F5344CB8AC3E}">
        <p14:creationId xmlns:p14="http://schemas.microsoft.com/office/powerpoint/2010/main" val="1612166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D668B-2570-AD54-B728-912F7A13E93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F5EB3C2-B8E5-B5DD-ECAA-CB559EC904F7}"/>
              </a:ext>
            </a:extLst>
          </p:cNvPr>
          <p:cNvSpPr>
            <a:spLocks noGrp="1"/>
          </p:cNvSpPr>
          <p:nvPr>
            <p:ph type="ctrTitle"/>
          </p:nvPr>
        </p:nvSpPr>
        <p:spPr/>
        <p:txBody>
          <a:bodyPr/>
          <a:lstStyle/>
          <a:p>
            <a:r>
              <a:rPr lang="en-AU">
                <a:latin typeface="+mj-lt"/>
                <a:cs typeface="Arial"/>
              </a:rPr>
              <a:t>Review of learning  2</a:t>
            </a:r>
            <a:endParaRPr lang="en-AU">
              <a:latin typeface="+mj-lt"/>
            </a:endParaRPr>
          </a:p>
        </p:txBody>
      </p:sp>
    </p:spTree>
    <p:extLst>
      <p:ext uri="{BB962C8B-B14F-4D97-AF65-F5344CB8AC3E}">
        <p14:creationId xmlns:p14="http://schemas.microsoft.com/office/powerpoint/2010/main" val="3134920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39087-8482-8C93-7654-8161E15881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D18FB72-95E4-7D60-C7EB-497F6F0C4C41}"/>
              </a:ext>
            </a:extLst>
          </p:cNvPr>
          <p:cNvSpPr>
            <a:spLocks noGrp="1"/>
          </p:cNvSpPr>
          <p:nvPr>
            <p:ph type="title"/>
          </p:nvPr>
        </p:nvSpPr>
        <p:spPr/>
        <p:txBody>
          <a:bodyPr/>
          <a:lstStyle/>
          <a:p>
            <a:r>
              <a:rPr lang="en-US"/>
              <a:t>True or false </a:t>
            </a:r>
            <a:r>
              <a:rPr lang="en-US">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87EDFC9E-A618-53A7-C204-54881B9AC2B6}"/>
              </a:ext>
            </a:extLst>
          </p:cNvPr>
          <p:cNvPicPr>
            <a:picLocks noChangeAspect="1"/>
          </p:cNvPicPr>
          <p:nvPr/>
        </p:nvPicPr>
        <p:blipFill>
          <a:blip r:embed="rId3"/>
          <a:stretch>
            <a:fillRect/>
          </a:stretch>
        </p:blipFill>
        <p:spPr>
          <a:xfrm>
            <a:off x="10807908" y="43303"/>
            <a:ext cx="1165786" cy="1140716"/>
          </a:xfrm>
          <a:prstGeom prst="rect">
            <a:avLst/>
          </a:prstGeom>
          <a:ln>
            <a:noFill/>
          </a:ln>
        </p:spPr>
      </p:pic>
      <p:sp>
        <p:nvSpPr>
          <p:cNvPr id="7" name="Text Placeholder 6">
            <a:extLst>
              <a:ext uri="{FF2B5EF4-FFF2-40B4-BE49-F238E27FC236}">
                <a16:creationId xmlns:a16="http://schemas.microsoft.com/office/drawing/2014/main" id="{A26C78AF-8B76-8BE5-6FD1-C3122BE06605}"/>
              </a:ext>
            </a:extLst>
          </p:cNvPr>
          <p:cNvSpPr>
            <a:spLocks noGrp="1"/>
          </p:cNvSpPr>
          <p:nvPr>
            <p:ph type="body" sz="quarter" idx="22"/>
          </p:nvPr>
        </p:nvSpPr>
        <p:spPr>
          <a:xfrm>
            <a:off x="962025" y="1717386"/>
            <a:ext cx="10161976" cy="2703738"/>
          </a:xfrm>
        </p:spPr>
        <p:txBody>
          <a:bodyPr vert="horz" lIns="0" tIns="0" rIns="0" bIns="0" rtlCol="0" anchor="t">
            <a:noAutofit/>
          </a:bodyPr>
          <a:lstStyle/>
          <a:p>
            <a:pPr algn="ctr"/>
            <a:r>
              <a:rPr lang="en-US" sz="4400" dirty="0">
                <a:latin typeface="Arial"/>
                <a:cs typeface="Arial"/>
              </a:rPr>
              <a:t>Jeremy says 14 is a </a:t>
            </a:r>
            <a:r>
              <a:rPr lang="en-US" sz="4400" b="1" dirty="0">
                <a:latin typeface="Arial"/>
                <a:cs typeface="Arial"/>
              </a:rPr>
              <a:t>prime number </a:t>
            </a:r>
            <a:r>
              <a:rPr lang="en-US" sz="4400" dirty="0">
                <a:latin typeface="Arial"/>
                <a:cs typeface="Arial"/>
              </a:rPr>
              <a:t>because it has </a:t>
            </a:r>
            <a:r>
              <a:rPr lang="en-US" sz="4400" b="1" dirty="0">
                <a:latin typeface="Arial"/>
                <a:cs typeface="Arial"/>
              </a:rPr>
              <a:t>factors</a:t>
            </a:r>
            <a:r>
              <a:rPr lang="en-US" sz="4400" dirty="0">
                <a:latin typeface="Arial"/>
                <a:cs typeface="Arial"/>
              </a:rPr>
              <a:t> of 1, 2, 7 and 14. </a:t>
            </a:r>
          </a:p>
          <a:p>
            <a:pPr algn="ctr"/>
            <a:endParaRPr lang="en-US" sz="4000" dirty="0"/>
          </a:p>
        </p:txBody>
      </p:sp>
      <p:graphicFrame>
        <p:nvGraphicFramePr>
          <p:cNvPr id="12" name="Table 11">
            <a:extLst>
              <a:ext uri="{FF2B5EF4-FFF2-40B4-BE49-F238E27FC236}">
                <a16:creationId xmlns:a16="http://schemas.microsoft.com/office/drawing/2014/main" id="{9FB43ECC-6198-CAD9-D35A-4745C2C73040}"/>
              </a:ext>
            </a:extLst>
          </p:cNvPr>
          <p:cNvGraphicFramePr>
            <a:graphicFrameLocks noGrp="1"/>
          </p:cNvGraphicFramePr>
          <p:nvPr>
            <p:extLst>
              <p:ext uri="{D42A27DB-BD31-4B8C-83A1-F6EECF244321}">
                <p14:modId xmlns:p14="http://schemas.microsoft.com/office/powerpoint/2010/main" val="2743736753"/>
              </p:ext>
            </p:extLst>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68527CEC-B9B9-C681-7B54-933A5FB66107}"/>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4090065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86458-B3DC-1B5B-CAB0-67289592938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9E0F587-1932-6389-F8B8-958D63E6AFE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(5)</a:t>
            </a:r>
          </a:p>
        </p:txBody>
      </p:sp>
      <p:pic>
        <p:nvPicPr>
          <p:cNvPr id="4" name="Picture 3" descr="image of a clipboard with a pencil recording short answer responses">
            <a:extLst>
              <a:ext uri="{FF2B5EF4-FFF2-40B4-BE49-F238E27FC236}">
                <a16:creationId xmlns:a16="http://schemas.microsoft.com/office/drawing/2014/main" id="{D6AA7882-9128-F96D-36AE-AAE3C6433E5E}"/>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11" name="Picture Placeholder 10">
            <a:extLst>
              <a:ext uri="{FF2B5EF4-FFF2-40B4-BE49-F238E27FC236}">
                <a16:creationId xmlns:a16="http://schemas.microsoft.com/office/drawing/2014/main" id="{777805AA-3000-4F7B-AF76-0FB0E2B466BE}"/>
              </a:ext>
            </a:extLst>
          </p:cNvPr>
          <p:cNvSpPr>
            <a:spLocks noGrp="1"/>
          </p:cNvSpPr>
          <p:nvPr>
            <p:ph type="pic" sz="quarter" idx="21"/>
          </p:nvPr>
        </p:nvSpPr>
        <p:spPr>
          <a:xfrm>
            <a:off x="232376" y="1347399"/>
            <a:ext cx="11095265" cy="365601"/>
          </a:xfrm>
        </p:spPr>
        <p:txBody>
          <a:bodyPr/>
          <a:lstStyle/>
          <a:p>
            <a:pPr algn="ctr"/>
            <a:r>
              <a:rPr lang="en-US" sz="4400" dirty="0">
                <a:latin typeface="Arial"/>
                <a:cs typeface="Arial"/>
              </a:rPr>
              <a:t>On a number line from 0 to 1, </a:t>
            </a:r>
            <a:r>
              <a:rPr lang="en-US" sz="4400" b="1" dirty="0">
                <a:latin typeface="Arial"/>
                <a:cs typeface="Arial"/>
              </a:rPr>
              <a:t>order</a:t>
            </a:r>
            <a:r>
              <a:rPr lang="en-US" sz="4400" dirty="0">
                <a:latin typeface="Arial"/>
                <a:cs typeface="Arial"/>
              </a:rPr>
              <a:t> the following </a:t>
            </a:r>
            <a:r>
              <a:rPr lang="en-US" sz="4400" b="1" dirty="0">
                <a:latin typeface="Arial"/>
                <a:cs typeface="Arial"/>
              </a:rPr>
              <a:t>fractions</a:t>
            </a:r>
            <a:r>
              <a:rPr lang="en-US" sz="4400" dirty="0">
                <a:latin typeface="Arial"/>
                <a:cs typeface="Arial"/>
              </a:rPr>
              <a:t>:</a:t>
            </a:r>
            <a:endParaRPr lang="en-US" sz="4400" dirty="0"/>
          </a:p>
          <a:p>
            <a:endParaRPr lang="en-US" dirty="0">
              <a:latin typeface="Arial"/>
              <a:cs typeface="Arial"/>
            </a:endParaRPr>
          </a:p>
        </p:txBody>
      </p:sp>
      <p:pic>
        <p:nvPicPr>
          <p:cNvPr id="7" name="Picture 6" descr="An image of four fractions, top left is four blocks with 3 shaded and 1 white; top right is the word 1 third; bottom left is the fraction notation for one tenth; and bottom right is a circle segmented in 6 equal pieces with one piece shaded in.">
            <a:extLst>
              <a:ext uri="{FF2B5EF4-FFF2-40B4-BE49-F238E27FC236}">
                <a16:creationId xmlns:a16="http://schemas.microsoft.com/office/drawing/2014/main" id="{552D6CAA-9744-2636-31AC-F24DFDA027E8}"/>
              </a:ext>
            </a:extLst>
          </p:cNvPr>
          <p:cNvPicPr>
            <a:picLocks noChangeAspect="1"/>
          </p:cNvPicPr>
          <p:nvPr/>
        </p:nvPicPr>
        <p:blipFill>
          <a:blip r:embed="rId4"/>
          <a:stretch>
            <a:fillRect/>
          </a:stretch>
        </p:blipFill>
        <p:spPr>
          <a:xfrm>
            <a:off x="3595351" y="3340811"/>
            <a:ext cx="4369313" cy="3265189"/>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4D59C605-2915-EBC8-907B-0379999694C3}"/>
              </a:ext>
            </a:extLst>
          </p:cNvPr>
          <p:cNvSpPr>
            <a:spLocks noGrp="1"/>
          </p:cNvSpPr>
          <p:nvPr>
            <p:ph type="sldNum" sz="quarter" idx="12"/>
          </p:nvPr>
        </p:nvSpPr>
        <p:spPr/>
        <p:txBody>
          <a:bodyPr/>
          <a:lstStyle/>
          <a:p>
            <a:fld id="{10A01DC5-1685-4615-8240-15192985C6A2}" type="slidenum">
              <a:rPr lang="en-AU" smtClean="0"/>
              <a:t>13</a:t>
            </a:fld>
            <a:endParaRPr lang="en-AU"/>
          </a:p>
        </p:txBody>
      </p:sp>
    </p:spTree>
    <p:extLst>
      <p:ext uri="{BB962C8B-B14F-4D97-AF65-F5344CB8AC3E}">
        <p14:creationId xmlns:p14="http://schemas.microsoft.com/office/powerpoint/2010/main" val="1861443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EB60A-DB53-A5B7-8B1E-B76E42DF201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658F565-BC0F-A638-D187-0FE9F8DCFE26}"/>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(6)</a:t>
            </a:r>
          </a:p>
        </p:txBody>
      </p:sp>
      <p:pic>
        <p:nvPicPr>
          <p:cNvPr id="12" name="Picture 11" descr="image of a clipboard with a pencil recording short answer responses">
            <a:extLst>
              <a:ext uri="{FF2B5EF4-FFF2-40B4-BE49-F238E27FC236}">
                <a16:creationId xmlns:a16="http://schemas.microsoft.com/office/drawing/2014/main" id="{9AA4C562-DA8B-AB67-B4B6-E448C50E15A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1FAEB63C-05D7-629C-93E0-6E9FD7090D30}"/>
              </a:ext>
            </a:extLst>
          </p:cNvPr>
          <p:cNvSpPr>
            <a:spLocks noGrp="1"/>
          </p:cNvSpPr>
          <p:nvPr>
            <p:ph type="pic" sz="quarter" idx="21"/>
          </p:nvPr>
        </p:nvSpPr>
        <p:spPr>
          <a:xfrm>
            <a:off x="600963" y="1479942"/>
            <a:ext cx="11243037" cy="1949058"/>
          </a:xfrm>
        </p:spPr>
        <p:txBody>
          <a:bodyPr/>
          <a:lstStyle/>
          <a:p>
            <a:pPr algn="ctr"/>
            <a:r>
              <a:rPr lang="en-US" sz="4400" dirty="0">
                <a:latin typeface="Arial"/>
                <a:cs typeface="Arial"/>
              </a:rPr>
              <a:t>Use a </a:t>
            </a:r>
            <a:r>
              <a:rPr lang="en-US" sz="4400" b="1" dirty="0">
                <a:latin typeface="Arial"/>
                <a:cs typeface="Arial"/>
              </a:rPr>
              <a:t>mental strategy </a:t>
            </a:r>
            <a:r>
              <a:rPr lang="en-US" sz="4400" dirty="0">
                <a:latin typeface="Arial"/>
                <a:cs typeface="Arial"/>
              </a:rPr>
              <a:t>to solve:</a:t>
            </a:r>
            <a:endParaRPr lang="en-US" sz="4400" dirty="0"/>
          </a:p>
          <a:p>
            <a:endParaRPr lang="en-US" dirty="0">
              <a:latin typeface="Arial"/>
              <a:cs typeface="Arial"/>
            </a:endParaRPr>
          </a:p>
        </p:txBody>
      </p:sp>
      <p:sp>
        <p:nvSpPr>
          <p:cNvPr id="5" name="TextBox 4">
            <a:extLst>
              <a:ext uri="{FF2B5EF4-FFF2-40B4-BE49-F238E27FC236}">
                <a16:creationId xmlns:a16="http://schemas.microsoft.com/office/drawing/2014/main" id="{AFF71348-ABA0-F842-DFB5-750A323AD785}"/>
              </a:ext>
            </a:extLst>
          </p:cNvPr>
          <p:cNvSpPr txBox="1"/>
          <p:nvPr/>
        </p:nvSpPr>
        <p:spPr>
          <a:xfrm>
            <a:off x="3592203" y="3773607"/>
            <a:ext cx="5260556" cy="1299774"/>
          </a:xfrm>
          <a:prstGeom prst="rect">
            <a:avLst/>
          </a:prstGeom>
          <a:noFill/>
        </p:spPr>
        <p:txBody>
          <a:bodyPr wrap="square" lIns="0" tIns="0" rIns="0" bIns="0" rtlCol="0">
            <a:noAutofit/>
          </a:bodyPr>
          <a:lstStyle/>
          <a:p>
            <a:pPr algn="ctr"/>
            <a:r>
              <a:rPr lang="en-AU" sz="4400" b="1" dirty="0"/>
              <a:t>3597 + 5349 </a:t>
            </a:r>
          </a:p>
        </p:txBody>
      </p:sp>
      <p:sp>
        <p:nvSpPr>
          <p:cNvPr id="2" name="Slide Number Placeholder 1">
            <a:extLst>
              <a:ext uri="{FF2B5EF4-FFF2-40B4-BE49-F238E27FC236}">
                <a16:creationId xmlns:a16="http://schemas.microsoft.com/office/drawing/2014/main" id="{F8C3A20D-F8A7-870F-024C-C73BED4F0723}"/>
              </a:ext>
            </a:extLst>
          </p:cNvPr>
          <p:cNvSpPr>
            <a:spLocks noGrp="1"/>
          </p:cNvSpPr>
          <p:nvPr>
            <p:ph type="sldNum" sz="quarter" idx="12"/>
          </p:nvPr>
        </p:nvSpPr>
        <p:spPr/>
        <p:txBody>
          <a:bodyPr/>
          <a:lstStyle/>
          <a:p>
            <a:fld id="{10A01DC5-1685-4615-8240-15192985C6A2}" type="slidenum">
              <a:rPr lang="en-AU" smtClean="0"/>
              <a:t>14</a:t>
            </a:fld>
            <a:endParaRPr lang="en-AU"/>
          </a:p>
        </p:txBody>
      </p:sp>
    </p:spTree>
    <p:extLst>
      <p:ext uri="{BB962C8B-B14F-4D97-AF65-F5344CB8AC3E}">
        <p14:creationId xmlns:p14="http://schemas.microsoft.com/office/powerpoint/2010/main" val="4206514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F66E2-F0C5-5138-CAEC-E3751681CC9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7207C71-565C-F655-DA13-564DFCF88FF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(7)</a:t>
            </a:r>
          </a:p>
        </p:txBody>
      </p:sp>
      <p:pic>
        <p:nvPicPr>
          <p:cNvPr id="4" name="Picture 3" descr="image of a clipboard with a pencil recording short answer responses">
            <a:extLst>
              <a:ext uri="{FF2B5EF4-FFF2-40B4-BE49-F238E27FC236}">
                <a16:creationId xmlns:a16="http://schemas.microsoft.com/office/drawing/2014/main" id="{878A31AB-6C94-1BFB-9B08-E66847EEC2BB}"/>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E83C9D2F-076B-25AC-741C-C56ACEF8B118}"/>
              </a:ext>
            </a:extLst>
          </p:cNvPr>
          <p:cNvSpPr>
            <a:spLocks noGrp="1"/>
          </p:cNvSpPr>
          <p:nvPr>
            <p:ph type="pic" sz="quarter" idx="21"/>
          </p:nvPr>
        </p:nvSpPr>
        <p:spPr>
          <a:xfrm>
            <a:off x="1060721" y="996878"/>
            <a:ext cx="9609887" cy="5165912"/>
          </a:xfrm>
        </p:spPr>
        <p:txBody>
          <a:bodyPr/>
          <a:lstStyle/>
          <a:p>
            <a:pPr algn="ctr"/>
            <a:r>
              <a:rPr lang="en-US" sz="4400" dirty="0">
                <a:latin typeface="Arial"/>
                <a:cs typeface="Arial"/>
              </a:rPr>
              <a:t>Elias trained for the long jump event. His jumps measured 1.54 m, 1.43 m and 1.32 m. </a:t>
            </a:r>
          </a:p>
          <a:p>
            <a:pPr algn="ctr"/>
            <a:r>
              <a:rPr lang="en-US" sz="4400" b="1" dirty="0">
                <a:latin typeface="Arial"/>
                <a:cs typeface="Arial"/>
              </a:rPr>
              <a:t>Estimate</a:t>
            </a:r>
            <a:r>
              <a:rPr lang="en-US" sz="4400" dirty="0">
                <a:latin typeface="Arial"/>
                <a:cs typeface="Arial"/>
              </a:rPr>
              <a:t> the total distance using an appropriate </a:t>
            </a:r>
            <a:r>
              <a:rPr lang="en-US" sz="4400" b="1" dirty="0">
                <a:latin typeface="Arial"/>
                <a:cs typeface="Arial"/>
              </a:rPr>
              <a:t>unit of measure. </a:t>
            </a:r>
          </a:p>
          <a:p>
            <a:endParaRPr lang="en-US" dirty="0">
              <a:latin typeface="Arial"/>
              <a:cs typeface="Arial"/>
            </a:endParaRPr>
          </a:p>
        </p:txBody>
      </p:sp>
      <p:sp>
        <p:nvSpPr>
          <p:cNvPr id="2" name="Slide Number Placeholder 1">
            <a:extLst>
              <a:ext uri="{FF2B5EF4-FFF2-40B4-BE49-F238E27FC236}">
                <a16:creationId xmlns:a16="http://schemas.microsoft.com/office/drawing/2014/main" id="{865C0EE6-AA77-F601-9124-C2AB88FE1BA4}"/>
              </a:ext>
            </a:extLst>
          </p:cNvPr>
          <p:cNvSpPr>
            <a:spLocks noGrp="1"/>
          </p:cNvSpPr>
          <p:nvPr>
            <p:ph type="sldNum" sz="quarter" idx="12"/>
          </p:nvPr>
        </p:nvSpPr>
        <p:spPr/>
        <p:txBody>
          <a:bodyPr/>
          <a:lstStyle/>
          <a:p>
            <a:fld id="{10A01DC5-1685-4615-8240-15192985C6A2}" type="slidenum">
              <a:rPr lang="en-AU" smtClean="0"/>
              <a:t>15</a:t>
            </a:fld>
            <a:endParaRPr lang="en-AU"/>
          </a:p>
        </p:txBody>
      </p:sp>
    </p:spTree>
    <p:extLst>
      <p:ext uri="{BB962C8B-B14F-4D97-AF65-F5344CB8AC3E}">
        <p14:creationId xmlns:p14="http://schemas.microsoft.com/office/powerpoint/2010/main" val="3098002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754AA-2C66-0C25-B9E8-7186573B43F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665DAF2-1A41-F192-2D01-F9D2CDB43416}"/>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(8)</a:t>
            </a:r>
          </a:p>
        </p:txBody>
      </p:sp>
      <p:pic>
        <p:nvPicPr>
          <p:cNvPr id="4" name="Picture 3" descr="image of a clipboard with a pencil recording short answer responses">
            <a:extLst>
              <a:ext uri="{FF2B5EF4-FFF2-40B4-BE49-F238E27FC236}">
                <a16:creationId xmlns:a16="http://schemas.microsoft.com/office/drawing/2014/main" id="{9008FCB9-73D4-8BB4-C873-11DABD7754D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686F4CE3-1291-37C6-C630-AE7D9898FB44}"/>
              </a:ext>
            </a:extLst>
          </p:cNvPr>
          <p:cNvSpPr>
            <a:spLocks noGrp="1"/>
          </p:cNvSpPr>
          <p:nvPr>
            <p:ph type="pic" sz="quarter" idx="21"/>
          </p:nvPr>
        </p:nvSpPr>
        <p:spPr>
          <a:xfrm>
            <a:off x="360000" y="1105273"/>
            <a:ext cx="4965691" cy="4647454"/>
          </a:xfrm>
        </p:spPr>
        <p:txBody>
          <a:bodyPr/>
          <a:lstStyle/>
          <a:p>
            <a:r>
              <a:rPr lang="en-US" sz="3200" b="1" dirty="0">
                <a:latin typeface="Arial"/>
                <a:cs typeface="Arial"/>
              </a:rPr>
              <a:t>Identify</a:t>
            </a:r>
            <a:r>
              <a:rPr lang="en-US" sz="3200" dirty="0">
                <a:latin typeface="Arial"/>
                <a:cs typeface="Arial"/>
              </a:rPr>
              <a:t> the number of the following </a:t>
            </a:r>
            <a:r>
              <a:rPr lang="en-US" sz="3200" b="1" dirty="0">
                <a:latin typeface="Arial"/>
                <a:cs typeface="Arial"/>
              </a:rPr>
              <a:t>2D shapes</a:t>
            </a:r>
            <a:r>
              <a:rPr lang="en-US" sz="3200" dirty="0">
                <a:latin typeface="Arial"/>
                <a:cs typeface="Arial"/>
              </a:rPr>
              <a:t>:</a:t>
            </a:r>
            <a:endParaRPr lang="en-US" sz="3200" dirty="0"/>
          </a:p>
          <a:p>
            <a:pPr marL="457200" indent="-457200">
              <a:buChar char="•"/>
            </a:pPr>
            <a:r>
              <a:rPr lang="en-US" sz="3200" dirty="0">
                <a:latin typeface="Arial"/>
                <a:cs typeface="Arial"/>
              </a:rPr>
              <a:t>isosceles triangles</a:t>
            </a:r>
            <a:endParaRPr lang="en-US" sz="3200" dirty="0"/>
          </a:p>
          <a:p>
            <a:pPr marL="457200" indent="-457200">
              <a:buChar char="•"/>
            </a:pPr>
            <a:r>
              <a:rPr lang="en-US" sz="3200" dirty="0">
                <a:latin typeface="Arial"/>
                <a:cs typeface="Arial"/>
              </a:rPr>
              <a:t>quadrilaterals</a:t>
            </a:r>
          </a:p>
          <a:p>
            <a:pPr marL="457200" indent="-457200">
              <a:buChar char="•"/>
            </a:pPr>
            <a:r>
              <a:rPr lang="en-US" sz="3200" dirty="0">
                <a:latin typeface="Arial"/>
                <a:cs typeface="Arial"/>
              </a:rPr>
              <a:t>equilateral triangles</a:t>
            </a:r>
          </a:p>
          <a:p>
            <a:pPr marL="457200" indent="-457200">
              <a:buChar char="•"/>
            </a:pPr>
            <a:r>
              <a:rPr lang="en-US" sz="3200" dirty="0">
                <a:latin typeface="Arial"/>
                <a:cs typeface="Arial"/>
              </a:rPr>
              <a:t>scalene triangles</a:t>
            </a:r>
            <a:endParaRPr lang="en-US" sz="3200" dirty="0"/>
          </a:p>
          <a:p>
            <a:endParaRPr lang="en-US" dirty="0">
              <a:latin typeface="Arial"/>
              <a:cs typeface="Arial"/>
            </a:endParaRPr>
          </a:p>
        </p:txBody>
      </p:sp>
      <p:pic>
        <p:nvPicPr>
          <p:cNvPr id="6" name="Picture 5" descr="14 shapes. Scalene triangle, trapezium, trapezium, square, trapezium, parallelogram, isosceles triangle, kite, rectangle, isosceles triangle, square, rhombus, rectangle and equilateral triangle. ">
            <a:extLst>
              <a:ext uri="{FF2B5EF4-FFF2-40B4-BE49-F238E27FC236}">
                <a16:creationId xmlns:a16="http://schemas.microsoft.com/office/drawing/2014/main" id="{3FFFB60A-C2DC-85C7-871F-FF09555B05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37605" y="1411890"/>
            <a:ext cx="6245860" cy="4476115"/>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8D3FEC2D-FBC9-6ADC-655C-61AE188BF640}"/>
              </a:ext>
            </a:extLst>
          </p:cNvPr>
          <p:cNvSpPr>
            <a:spLocks noGrp="1"/>
          </p:cNvSpPr>
          <p:nvPr>
            <p:ph type="sldNum" sz="quarter" idx="12"/>
          </p:nvPr>
        </p:nvSpPr>
        <p:spPr/>
        <p:txBody>
          <a:bodyPr/>
          <a:lstStyle/>
          <a:p>
            <a:fld id="{10A01DC5-1685-4615-8240-15192985C6A2}" type="slidenum">
              <a:rPr lang="en-AU" smtClean="0"/>
              <a:t>16</a:t>
            </a:fld>
            <a:endParaRPr lang="en-AU"/>
          </a:p>
        </p:txBody>
      </p:sp>
    </p:spTree>
    <p:extLst>
      <p:ext uri="{BB962C8B-B14F-4D97-AF65-F5344CB8AC3E}">
        <p14:creationId xmlns:p14="http://schemas.microsoft.com/office/powerpoint/2010/main" val="3923910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2 – prime and composite numbers</a:t>
            </a:r>
          </a:p>
        </p:txBody>
      </p:sp>
      <p:pic>
        <p:nvPicPr>
          <p:cNvPr id="4" name="Picture 3" descr="image of a head with cogs turning inside">
            <a:extLst>
              <a:ext uri="{FF2B5EF4-FFF2-40B4-BE49-F238E27FC236}">
                <a16:creationId xmlns:a16="http://schemas.microsoft.com/office/drawing/2014/main" id="{7A1306BB-7902-319C-CF8F-A2DB61C77D2C}"/>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Blocks showing the products. Starts with 1 block and a factor of 2 gives 2 blocks, a factor of 3 gives 3 blocks and a factor of 2 then 3 gives 6 blocks">
            <a:extLst>
              <a:ext uri="{FF2B5EF4-FFF2-40B4-BE49-F238E27FC236}">
                <a16:creationId xmlns:a16="http://schemas.microsoft.com/office/drawing/2014/main" id="{606BF7EA-3F1A-D8EA-737D-F1E32C1B784C}"/>
              </a:ext>
            </a:extLst>
          </p:cNvPr>
          <p:cNvPicPr>
            <a:picLocks noChangeAspect="1"/>
          </p:cNvPicPr>
          <p:nvPr/>
        </p:nvPicPr>
        <p:blipFill>
          <a:blip r:embed="rId4"/>
          <a:stretch>
            <a:fillRect/>
          </a:stretch>
        </p:blipFill>
        <p:spPr>
          <a:xfrm>
            <a:off x="3355717" y="905601"/>
            <a:ext cx="5480565" cy="2383474"/>
          </a:xfrm>
          <a:prstGeom prst="rect">
            <a:avLst/>
          </a:prstGeom>
          <a:ln>
            <a:noFill/>
          </a:ln>
        </p:spPr>
      </p:pic>
      <p:pic>
        <p:nvPicPr>
          <p:cNvPr id="9" name="Picture 8" descr="A table showing how many units, the steps in the machine needed and the factors.">
            <a:extLst>
              <a:ext uri="{FF2B5EF4-FFF2-40B4-BE49-F238E27FC236}">
                <a16:creationId xmlns:a16="http://schemas.microsoft.com/office/drawing/2014/main" id="{917CA610-D16E-3FD4-6808-B29EC82E3D9B}"/>
              </a:ext>
            </a:extLst>
          </p:cNvPr>
          <p:cNvPicPr>
            <a:picLocks noChangeAspect="1"/>
          </p:cNvPicPr>
          <p:nvPr/>
        </p:nvPicPr>
        <p:blipFill>
          <a:blip r:embed="rId5"/>
          <a:stretch>
            <a:fillRect/>
          </a:stretch>
        </p:blipFill>
        <p:spPr>
          <a:xfrm>
            <a:off x="2028742" y="3523489"/>
            <a:ext cx="7557723" cy="317251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17</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Tree>
    <p:extLst>
      <p:ext uri="{BB962C8B-B14F-4D97-AF65-F5344CB8AC3E}">
        <p14:creationId xmlns:p14="http://schemas.microsoft.com/office/powerpoint/2010/main" val="1249675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F9F5E-9F20-A840-C8DD-9ED062B9C6E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0C29BB1-E8E0-F23D-E9E0-8AB0443FBBAF}"/>
              </a:ext>
            </a:extLst>
          </p:cNvPr>
          <p:cNvSpPr>
            <a:spLocks noGrp="1"/>
          </p:cNvSpPr>
          <p:nvPr>
            <p:ph type="ctrTitle"/>
          </p:nvPr>
        </p:nvSpPr>
        <p:spPr/>
        <p:txBody>
          <a:bodyPr/>
          <a:lstStyle/>
          <a:p>
            <a:r>
              <a:rPr lang="en-AU">
                <a:latin typeface="+mj-lt"/>
                <a:cs typeface="Arial"/>
              </a:rPr>
              <a:t>Review of learning 3</a:t>
            </a:r>
            <a:endParaRPr lang="en-AU">
              <a:latin typeface="+mj-lt"/>
            </a:endParaRPr>
          </a:p>
        </p:txBody>
      </p:sp>
    </p:spTree>
    <p:extLst>
      <p:ext uri="{BB962C8B-B14F-4D97-AF65-F5344CB8AC3E}">
        <p14:creationId xmlns:p14="http://schemas.microsoft.com/office/powerpoint/2010/main" val="122646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861B1-6A34-35AF-C8F8-98FFF9B6C75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237A4AD-5902-0B45-1C0F-CD463740134A}"/>
              </a:ext>
            </a:extLst>
          </p:cNvPr>
          <p:cNvSpPr>
            <a:spLocks noGrp="1"/>
          </p:cNvSpPr>
          <p:nvPr>
            <p:ph type="title"/>
          </p:nvPr>
        </p:nvSpPr>
        <p:spPr/>
        <p:txBody>
          <a:bodyPr/>
          <a:lstStyle/>
          <a:p>
            <a:r>
              <a:rPr lang="en-US"/>
              <a:t>Multiple choice </a:t>
            </a:r>
            <a:r>
              <a:rPr lang="en-US">
                <a:solidFill>
                  <a:schemeClr val="bg1"/>
                </a:solidFill>
              </a:rPr>
              <a:t>(2)</a:t>
            </a:r>
          </a:p>
        </p:txBody>
      </p:sp>
      <p:pic>
        <p:nvPicPr>
          <p:cNvPr id="5" name="Picture 4" descr="image of a finger selecting an option for a multiple choice or true and false">
            <a:extLst>
              <a:ext uri="{FF2B5EF4-FFF2-40B4-BE49-F238E27FC236}">
                <a16:creationId xmlns:a16="http://schemas.microsoft.com/office/drawing/2014/main" id="{35EA0110-8963-8FFF-008C-5572AAB946D2}"/>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56364F73-E229-E283-75C8-9CCFC763AB34}"/>
              </a:ext>
            </a:extLst>
          </p:cNvPr>
          <p:cNvSpPr>
            <a:spLocks noGrp="1"/>
          </p:cNvSpPr>
          <p:nvPr>
            <p:ph type="body" sz="quarter" idx="24"/>
          </p:nvPr>
        </p:nvSpPr>
        <p:spPr>
          <a:xfrm>
            <a:off x="360000" y="1032209"/>
            <a:ext cx="11379282" cy="1399194"/>
          </a:xfrm>
        </p:spPr>
        <p:txBody>
          <a:bodyPr vert="horz" lIns="0" tIns="0" rIns="0" bIns="0" rtlCol="0" anchor="t">
            <a:noAutofit/>
          </a:bodyPr>
          <a:lstStyle/>
          <a:p>
            <a:pPr algn="ctr"/>
            <a:r>
              <a:rPr lang="en-US" sz="4400" dirty="0">
                <a:latin typeface="Arial"/>
                <a:cs typeface="Arial"/>
              </a:rPr>
              <a:t>I am thinking of a number. Its </a:t>
            </a:r>
            <a:r>
              <a:rPr lang="en-US" sz="4400" b="1" dirty="0">
                <a:latin typeface="Arial"/>
                <a:cs typeface="Arial"/>
              </a:rPr>
              <a:t>factors</a:t>
            </a:r>
            <a:r>
              <a:rPr lang="en-US" sz="4400" dirty="0">
                <a:latin typeface="Arial"/>
                <a:cs typeface="Arial"/>
              </a:rPr>
              <a:t> include:</a:t>
            </a:r>
          </a:p>
          <a:p>
            <a:pPr algn="ctr"/>
            <a:r>
              <a:rPr lang="en-US" sz="4400" dirty="0">
                <a:latin typeface="Arial"/>
                <a:cs typeface="Arial"/>
              </a:rPr>
              <a:t> </a:t>
            </a:r>
            <a:r>
              <a:rPr lang="en-US" sz="4400" b="1" dirty="0">
                <a:latin typeface="Arial"/>
                <a:cs typeface="Arial"/>
              </a:rPr>
              <a:t>1, 2, 3, 4, 6 and 8</a:t>
            </a:r>
            <a:r>
              <a:rPr lang="en-US" sz="4400" dirty="0">
                <a:latin typeface="Arial"/>
                <a:cs typeface="Arial"/>
              </a:rPr>
              <a:t> </a:t>
            </a:r>
          </a:p>
          <a:p>
            <a:pPr algn="ctr"/>
            <a:r>
              <a:rPr lang="en-US" sz="4400" dirty="0">
                <a:latin typeface="Arial"/>
                <a:cs typeface="Arial"/>
              </a:rPr>
              <a:t>What number am I?</a:t>
            </a:r>
            <a:endParaRPr lang="en-US" sz="2000" dirty="0"/>
          </a:p>
        </p:txBody>
      </p:sp>
      <p:graphicFrame>
        <p:nvGraphicFramePr>
          <p:cNvPr id="7" name="Table 6">
            <a:extLst>
              <a:ext uri="{FF2B5EF4-FFF2-40B4-BE49-F238E27FC236}">
                <a16:creationId xmlns:a16="http://schemas.microsoft.com/office/drawing/2014/main" id="{D0D37505-C50A-E6B5-3A37-A9BF025A532A}"/>
              </a:ext>
            </a:extLst>
          </p:cNvPr>
          <p:cNvGraphicFramePr>
            <a:graphicFrameLocks noGrp="1"/>
          </p:cNvGraphicFramePr>
          <p:nvPr>
            <p:extLst>
              <p:ext uri="{D42A27DB-BD31-4B8C-83A1-F6EECF244321}">
                <p14:modId xmlns:p14="http://schemas.microsoft.com/office/powerpoint/2010/main" val="6565248"/>
              </p:ext>
            </p:extLst>
          </p:nvPr>
        </p:nvGraphicFramePr>
        <p:xfrm>
          <a:off x="572708" y="4426598"/>
          <a:ext cx="10551292" cy="1524000"/>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57</a:t>
                      </a:r>
                      <a:endParaRPr lang="en-AU" sz="4000"/>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68</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96</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104</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sp>
        <p:nvSpPr>
          <p:cNvPr id="2" name="Slide Number Placeholder 1">
            <a:extLst>
              <a:ext uri="{FF2B5EF4-FFF2-40B4-BE49-F238E27FC236}">
                <a16:creationId xmlns:a16="http://schemas.microsoft.com/office/drawing/2014/main" id="{A3EE77A7-FE1B-9394-E3D8-9905BF492C48}"/>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85618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91311-E2CA-3AC5-05C9-E03DA9A2845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12184FE-E6F1-A3C6-01CD-68612E2B257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(9)</a:t>
            </a:r>
          </a:p>
        </p:txBody>
      </p:sp>
      <p:pic>
        <p:nvPicPr>
          <p:cNvPr id="4" name="Picture 3" descr="image of a clipboard with a pencil recording short answer responses">
            <a:extLst>
              <a:ext uri="{FF2B5EF4-FFF2-40B4-BE49-F238E27FC236}">
                <a16:creationId xmlns:a16="http://schemas.microsoft.com/office/drawing/2014/main" id="{0BADCB8F-5A5A-827C-24CB-6A28E30A510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615793BF-4D97-0D6A-FB17-D26939AF18A8}"/>
              </a:ext>
            </a:extLst>
          </p:cNvPr>
          <p:cNvSpPr>
            <a:spLocks noGrp="1"/>
          </p:cNvSpPr>
          <p:nvPr>
            <p:ph type="pic" sz="quarter" idx="21"/>
          </p:nvPr>
        </p:nvSpPr>
        <p:spPr>
          <a:xfrm>
            <a:off x="474481" y="1184223"/>
            <a:ext cx="11243037" cy="1788000"/>
          </a:xfrm>
        </p:spPr>
        <p:txBody>
          <a:bodyPr/>
          <a:lstStyle/>
          <a:p>
            <a:pPr algn="ctr"/>
            <a:r>
              <a:rPr lang="en-US" sz="4400" b="1" dirty="0">
                <a:latin typeface="Arial"/>
                <a:cs typeface="Arial"/>
              </a:rPr>
              <a:t>Order</a:t>
            </a:r>
            <a:r>
              <a:rPr lang="en-US" sz="4400" dirty="0">
                <a:latin typeface="Arial"/>
                <a:cs typeface="Arial"/>
              </a:rPr>
              <a:t> the unit fractions in </a:t>
            </a:r>
            <a:r>
              <a:rPr lang="en-US" sz="4400" b="1" dirty="0">
                <a:latin typeface="Arial"/>
                <a:cs typeface="Arial"/>
              </a:rPr>
              <a:t>ascending order</a:t>
            </a:r>
            <a:r>
              <a:rPr lang="en-US" sz="4400" dirty="0">
                <a:latin typeface="Arial"/>
                <a:cs typeface="Arial"/>
              </a:rPr>
              <a:t> on a number line from 0 to 1.</a:t>
            </a:r>
            <a:endParaRPr lang="en-US" sz="3600" dirty="0"/>
          </a:p>
          <a:p>
            <a:endParaRPr lang="en-US" dirty="0">
              <a:latin typeface="Arial"/>
              <a:cs typeface="Arial"/>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C654DDA-8E01-D0B6-3574-49173998DC24}"/>
                  </a:ext>
                </a:extLst>
              </p:cNvPr>
              <p:cNvSpPr txBox="1"/>
              <p:nvPr/>
            </p:nvSpPr>
            <p:spPr>
              <a:xfrm>
                <a:off x="2754476" y="3761832"/>
                <a:ext cx="8276000" cy="1402435"/>
              </a:xfrm>
              <a:prstGeom prst="rect">
                <a:avLst/>
              </a:prstGeom>
              <a:noFill/>
            </p:spPr>
            <p:txBody>
              <a:bodyPr wrap="square">
                <a:spAutoFit/>
              </a:bodyPr>
              <a:lstStyle/>
              <a:p>
                <a14:m>
                  <m:oMath xmlns:m="http://schemas.openxmlformats.org/officeDocument/2006/math">
                    <m:f>
                      <m:fPr>
                        <m:ctrlPr>
                          <a:rPr lang="en-AU" sz="6000" i="1" smtClean="0">
                            <a:latin typeface="Cambria Math" panose="02040503050406030204" pitchFamily="18" charset="0"/>
                            <a:ea typeface="DengXian" panose="02010600030101010101" pitchFamily="2" charset="-122"/>
                          </a:rPr>
                        </m:ctrlPr>
                      </m:fPr>
                      <m:num>
                        <m:r>
                          <a:rPr lang="en-AU" sz="6000" i="1">
                            <a:latin typeface="Cambria Math" panose="02040503050406030204" pitchFamily="18" charset="0"/>
                            <a:ea typeface="DengXian" panose="02010600030101010101" pitchFamily="2" charset="-122"/>
                          </a:rPr>
                          <m:t>1</m:t>
                        </m:r>
                      </m:num>
                      <m:den>
                        <m:r>
                          <a:rPr lang="en-AU" sz="6000" b="0" i="1" smtClean="0">
                            <a:latin typeface="Cambria Math" panose="02040503050406030204" pitchFamily="18" charset="0"/>
                            <a:ea typeface="DengXian" panose="02010600030101010101" pitchFamily="2" charset="-122"/>
                          </a:rPr>
                          <m:t>8</m:t>
                        </m:r>
                      </m:den>
                    </m:f>
                  </m:oMath>
                </a14:m>
                <a:r>
                  <a:rPr lang="en-AU" sz="6000" dirty="0">
                    <a:ea typeface="DengXian" panose="02010600030101010101" pitchFamily="2" charset="-122"/>
                  </a:rPr>
                  <a:t>   </a:t>
                </a:r>
                <a14:m>
                  <m:oMath xmlns:m="http://schemas.openxmlformats.org/officeDocument/2006/math">
                    <m:f>
                      <m:fPr>
                        <m:ctrlPr>
                          <a:rPr lang="en-AU" sz="6000" i="1">
                            <a:latin typeface="Cambria Math" panose="02040503050406030204" pitchFamily="18" charset="0"/>
                            <a:ea typeface="DengXian" panose="02010600030101010101" pitchFamily="2" charset="-122"/>
                          </a:rPr>
                        </m:ctrlPr>
                      </m:fPr>
                      <m:num>
                        <m:r>
                          <a:rPr lang="en-AU" sz="6000" i="1">
                            <a:latin typeface="Cambria Math" panose="02040503050406030204" pitchFamily="18" charset="0"/>
                            <a:ea typeface="DengXian" panose="02010600030101010101" pitchFamily="2" charset="-122"/>
                          </a:rPr>
                          <m:t>1</m:t>
                        </m:r>
                      </m:num>
                      <m:den>
                        <m:r>
                          <a:rPr lang="en-AU" sz="6000" b="0" i="1" smtClean="0">
                            <a:latin typeface="Cambria Math" panose="02040503050406030204" pitchFamily="18" charset="0"/>
                            <a:ea typeface="DengXian" panose="02010600030101010101" pitchFamily="2" charset="-122"/>
                          </a:rPr>
                          <m:t>6</m:t>
                        </m:r>
                      </m:den>
                    </m:f>
                  </m:oMath>
                </a14:m>
                <a:r>
                  <a:rPr lang="en-AU" sz="6000" dirty="0">
                    <a:ea typeface="DengXian" panose="02010600030101010101" pitchFamily="2" charset="-122"/>
                  </a:rPr>
                  <a:t>   </a:t>
                </a:r>
                <a14:m>
                  <m:oMath xmlns:m="http://schemas.openxmlformats.org/officeDocument/2006/math">
                    <m:f>
                      <m:fPr>
                        <m:ctrlPr>
                          <a:rPr lang="en-AU" sz="6000" i="1">
                            <a:latin typeface="Cambria Math" panose="02040503050406030204" pitchFamily="18" charset="0"/>
                            <a:ea typeface="DengXian" panose="02010600030101010101" pitchFamily="2" charset="-122"/>
                          </a:rPr>
                        </m:ctrlPr>
                      </m:fPr>
                      <m:num>
                        <m:r>
                          <a:rPr lang="en-AU" sz="6000" i="1">
                            <a:latin typeface="Cambria Math" panose="02040503050406030204" pitchFamily="18" charset="0"/>
                            <a:ea typeface="DengXian" panose="02010600030101010101" pitchFamily="2" charset="-122"/>
                          </a:rPr>
                          <m:t>1</m:t>
                        </m:r>
                      </m:num>
                      <m:den>
                        <m:r>
                          <a:rPr lang="en-AU" sz="6000" b="0" i="1" smtClean="0">
                            <a:latin typeface="Cambria Math" panose="02040503050406030204" pitchFamily="18" charset="0"/>
                            <a:ea typeface="DengXian" panose="02010600030101010101" pitchFamily="2" charset="-122"/>
                          </a:rPr>
                          <m:t>3</m:t>
                        </m:r>
                      </m:den>
                    </m:f>
                  </m:oMath>
                </a14:m>
                <a:r>
                  <a:rPr lang="en-AU" sz="6000" dirty="0">
                    <a:ea typeface="DengXian" panose="02010600030101010101" pitchFamily="2" charset="-122"/>
                  </a:rPr>
                  <a:t>   </a:t>
                </a:r>
                <a14:m>
                  <m:oMath xmlns:m="http://schemas.openxmlformats.org/officeDocument/2006/math">
                    <m:f>
                      <m:fPr>
                        <m:ctrlPr>
                          <a:rPr lang="en-AU" sz="6000" i="1">
                            <a:latin typeface="Cambria Math" panose="02040503050406030204" pitchFamily="18" charset="0"/>
                            <a:ea typeface="DengXian" panose="02010600030101010101" pitchFamily="2" charset="-122"/>
                          </a:rPr>
                        </m:ctrlPr>
                      </m:fPr>
                      <m:num>
                        <m:r>
                          <a:rPr lang="en-AU" sz="6000" i="1">
                            <a:latin typeface="Cambria Math" panose="02040503050406030204" pitchFamily="18" charset="0"/>
                            <a:ea typeface="DengXian" panose="02010600030101010101" pitchFamily="2" charset="-122"/>
                          </a:rPr>
                          <m:t>1</m:t>
                        </m:r>
                      </m:num>
                      <m:den>
                        <m:r>
                          <a:rPr lang="en-AU" sz="6000" b="0" i="1" smtClean="0">
                            <a:latin typeface="Cambria Math" panose="02040503050406030204" pitchFamily="18" charset="0"/>
                            <a:ea typeface="DengXian" panose="02010600030101010101" pitchFamily="2" charset="-122"/>
                          </a:rPr>
                          <m:t>10</m:t>
                        </m:r>
                      </m:den>
                    </m:f>
                  </m:oMath>
                </a14:m>
                <a:r>
                  <a:rPr lang="en-AU" sz="6000" dirty="0">
                    <a:ea typeface="DengXian" panose="02010600030101010101" pitchFamily="2" charset="-122"/>
                  </a:rPr>
                  <a:t>   </a:t>
                </a:r>
                <a14:m>
                  <m:oMath xmlns:m="http://schemas.openxmlformats.org/officeDocument/2006/math">
                    <m:f>
                      <m:fPr>
                        <m:ctrlPr>
                          <a:rPr lang="en-AU" sz="6000" i="1">
                            <a:latin typeface="Cambria Math" panose="02040503050406030204" pitchFamily="18" charset="0"/>
                            <a:ea typeface="DengXian" panose="02010600030101010101" pitchFamily="2" charset="-122"/>
                          </a:rPr>
                        </m:ctrlPr>
                      </m:fPr>
                      <m:num>
                        <m:r>
                          <a:rPr lang="en-AU" sz="6000" i="1">
                            <a:latin typeface="Cambria Math" panose="02040503050406030204" pitchFamily="18" charset="0"/>
                            <a:ea typeface="DengXian" panose="02010600030101010101" pitchFamily="2" charset="-122"/>
                          </a:rPr>
                          <m:t>1</m:t>
                        </m:r>
                      </m:num>
                      <m:den>
                        <m:r>
                          <a:rPr lang="en-AU" sz="6000" b="0" i="1" smtClean="0">
                            <a:latin typeface="Cambria Math" panose="02040503050406030204" pitchFamily="18" charset="0"/>
                            <a:ea typeface="DengXian" panose="02010600030101010101" pitchFamily="2" charset="-122"/>
                          </a:rPr>
                          <m:t>2</m:t>
                        </m:r>
                      </m:den>
                    </m:f>
                  </m:oMath>
                </a14:m>
                <a:r>
                  <a:rPr lang="en-AU" sz="6000" dirty="0">
                    <a:ea typeface="DengXian" panose="02010600030101010101" pitchFamily="2" charset="-122"/>
                  </a:rPr>
                  <a:t>   </a:t>
                </a:r>
                <a14:m>
                  <m:oMath xmlns:m="http://schemas.openxmlformats.org/officeDocument/2006/math">
                    <m:f>
                      <m:fPr>
                        <m:ctrlPr>
                          <a:rPr lang="en-AU" sz="6000" i="1">
                            <a:latin typeface="Cambria Math" panose="02040503050406030204" pitchFamily="18" charset="0"/>
                            <a:ea typeface="DengXian" panose="02010600030101010101" pitchFamily="2" charset="-122"/>
                          </a:rPr>
                        </m:ctrlPr>
                      </m:fPr>
                      <m:num>
                        <m:r>
                          <a:rPr lang="en-AU" sz="6000" i="1">
                            <a:latin typeface="Cambria Math" panose="02040503050406030204" pitchFamily="18" charset="0"/>
                            <a:ea typeface="DengXian" panose="02010600030101010101" pitchFamily="2" charset="-122"/>
                          </a:rPr>
                          <m:t>1</m:t>
                        </m:r>
                      </m:num>
                      <m:den>
                        <m:r>
                          <a:rPr lang="en-AU" sz="6000" b="0" i="1" smtClean="0">
                            <a:latin typeface="Cambria Math" panose="02040503050406030204" pitchFamily="18" charset="0"/>
                            <a:ea typeface="DengXian" panose="02010600030101010101" pitchFamily="2" charset="-122"/>
                          </a:rPr>
                          <m:t>4</m:t>
                        </m:r>
                      </m:den>
                    </m:f>
                  </m:oMath>
                </a14:m>
                <a:r>
                  <a:rPr lang="en-AU" sz="6000" dirty="0">
                    <a:ea typeface="DengXian" panose="02010600030101010101" pitchFamily="2" charset="-122"/>
                  </a:rPr>
                  <a:t>   </a:t>
                </a:r>
                <a14:m>
                  <m:oMath xmlns:m="http://schemas.openxmlformats.org/officeDocument/2006/math">
                    <m:f>
                      <m:fPr>
                        <m:ctrlPr>
                          <a:rPr lang="en-AU" sz="6000" i="1">
                            <a:latin typeface="Cambria Math" panose="02040503050406030204" pitchFamily="18" charset="0"/>
                            <a:ea typeface="DengXian" panose="02010600030101010101" pitchFamily="2" charset="-122"/>
                          </a:rPr>
                        </m:ctrlPr>
                      </m:fPr>
                      <m:num>
                        <m:r>
                          <a:rPr lang="en-AU" sz="6000" i="1">
                            <a:latin typeface="Cambria Math" panose="02040503050406030204" pitchFamily="18" charset="0"/>
                            <a:ea typeface="DengXian" panose="02010600030101010101" pitchFamily="2" charset="-122"/>
                          </a:rPr>
                          <m:t>1</m:t>
                        </m:r>
                      </m:num>
                      <m:den>
                        <m:r>
                          <a:rPr lang="en-AU" sz="6000" i="1">
                            <a:latin typeface="Cambria Math" panose="02040503050406030204" pitchFamily="18" charset="0"/>
                            <a:ea typeface="DengXian" panose="02010600030101010101" pitchFamily="2" charset="-122"/>
                          </a:rPr>
                          <m:t>5</m:t>
                        </m:r>
                      </m:den>
                    </m:f>
                  </m:oMath>
                </a14:m>
                <a:endParaRPr lang="en-AU" dirty="0"/>
              </a:p>
            </p:txBody>
          </p:sp>
        </mc:Choice>
        <mc:Fallback xmlns="">
          <p:sp>
            <p:nvSpPr>
              <p:cNvPr id="7" name="TextBox 6">
                <a:extLst>
                  <a:ext uri="{FF2B5EF4-FFF2-40B4-BE49-F238E27FC236}">
                    <a16:creationId xmlns:a16="http://schemas.microsoft.com/office/drawing/2014/main" id="{2C654DDA-8E01-D0B6-3574-49173998DC24}"/>
                  </a:ext>
                </a:extLst>
              </p:cNvPr>
              <p:cNvSpPr txBox="1">
                <a:spLocks noRot="1" noChangeAspect="1" noMove="1" noResize="1" noEditPoints="1" noAdjustHandles="1" noChangeArrowheads="1" noChangeShapeType="1" noTextEdit="1"/>
              </p:cNvSpPr>
              <p:nvPr/>
            </p:nvSpPr>
            <p:spPr>
              <a:xfrm>
                <a:off x="2754476" y="3761832"/>
                <a:ext cx="8276000" cy="1402435"/>
              </a:xfrm>
              <a:prstGeom prst="rect">
                <a:avLst/>
              </a:prstGeom>
              <a:blipFill>
                <a:blip r:embed="rId4"/>
                <a:stretch>
                  <a:fillRect/>
                </a:stretch>
              </a:blipFill>
            </p:spPr>
            <p:txBody>
              <a:bodyPr/>
              <a:lstStyle/>
              <a:p>
                <a:r>
                  <a:rPr lang="en-AU">
                    <a:noFill/>
                  </a:rPr>
                  <a:t> </a:t>
                </a:r>
              </a:p>
            </p:txBody>
          </p:sp>
        </mc:Fallback>
      </mc:AlternateContent>
      <p:sp>
        <p:nvSpPr>
          <p:cNvPr id="2" name="Slide Number Placeholder 1">
            <a:extLst>
              <a:ext uri="{FF2B5EF4-FFF2-40B4-BE49-F238E27FC236}">
                <a16:creationId xmlns:a16="http://schemas.microsoft.com/office/drawing/2014/main" id="{3DB77910-F56A-4A66-771A-69EA4515CFC6}"/>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3777370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BD7D5-E3D8-3EA4-002E-040D80D173B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DCC67C6-6231-F53A-D387-99ECE9B2DACA}"/>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(10)</a:t>
            </a:r>
          </a:p>
        </p:txBody>
      </p:sp>
      <p:sp>
        <p:nvSpPr>
          <p:cNvPr id="2" name="Slide Number Placeholder 1">
            <a:extLst>
              <a:ext uri="{FF2B5EF4-FFF2-40B4-BE49-F238E27FC236}">
                <a16:creationId xmlns:a16="http://schemas.microsoft.com/office/drawing/2014/main" id="{82D34442-A9BE-0442-A29E-FA970CD892F8}"/>
              </a:ext>
            </a:extLst>
          </p:cNvPr>
          <p:cNvSpPr>
            <a:spLocks noGrp="1"/>
          </p:cNvSpPr>
          <p:nvPr>
            <p:ph type="sldNum" sz="quarter" idx="12"/>
          </p:nvPr>
        </p:nvSpPr>
        <p:spPr/>
        <p:txBody>
          <a:bodyPr/>
          <a:lstStyle/>
          <a:p>
            <a:fld id="{10A01DC5-1685-4615-8240-15192985C6A2}" type="slidenum">
              <a:rPr lang="en-AU" smtClean="0"/>
              <a:t>21</a:t>
            </a:fld>
            <a:endParaRPr lang="en-AU"/>
          </a:p>
        </p:txBody>
      </p:sp>
      <p:sp>
        <p:nvSpPr>
          <p:cNvPr id="11" name="Picture Placeholder 10">
            <a:extLst>
              <a:ext uri="{FF2B5EF4-FFF2-40B4-BE49-F238E27FC236}">
                <a16:creationId xmlns:a16="http://schemas.microsoft.com/office/drawing/2014/main" id="{D0E0EC4F-A97F-1AC0-49C2-238243DB79CE}"/>
              </a:ext>
            </a:extLst>
          </p:cNvPr>
          <p:cNvSpPr>
            <a:spLocks noGrp="1"/>
          </p:cNvSpPr>
          <p:nvPr>
            <p:ph type="pic" sz="quarter" idx="21"/>
          </p:nvPr>
        </p:nvSpPr>
        <p:spPr>
          <a:xfrm>
            <a:off x="600963" y="1389404"/>
            <a:ext cx="11243037" cy="3056398"/>
          </a:xfrm>
        </p:spPr>
        <p:txBody>
          <a:bodyPr/>
          <a:lstStyle/>
          <a:p>
            <a:pPr algn="ctr"/>
            <a:r>
              <a:rPr lang="en-US" sz="4400" dirty="0">
                <a:latin typeface="Arial"/>
                <a:cs typeface="Arial"/>
              </a:rPr>
              <a:t>Use the strategies of </a:t>
            </a:r>
            <a:r>
              <a:rPr lang="en-US" sz="4400" b="1" dirty="0">
                <a:latin typeface="Arial"/>
                <a:cs typeface="Arial"/>
              </a:rPr>
              <a:t>levelling</a:t>
            </a:r>
            <a:r>
              <a:rPr lang="en-US" sz="4400" dirty="0">
                <a:latin typeface="Arial"/>
                <a:cs typeface="Arial"/>
              </a:rPr>
              <a:t> and </a:t>
            </a:r>
            <a:r>
              <a:rPr lang="en-US" sz="4400" b="1" dirty="0">
                <a:latin typeface="Arial"/>
                <a:cs typeface="Arial"/>
              </a:rPr>
              <a:t>constant difference</a:t>
            </a:r>
            <a:r>
              <a:rPr lang="en-US" sz="4400" dirty="0">
                <a:latin typeface="Arial"/>
                <a:cs typeface="Arial"/>
              </a:rPr>
              <a:t> to solve:</a:t>
            </a:r>
            <a:endParaRPr lang="en-US" dirty="0">
              <a:latin typeface="Arial"/>
              <a:cs typeface="Arial"/>
            </a:endParaRPr>
          </a:p>
          <a:p>
            <a:pPr algn="ctr"/>
            <a:r>
              <a:rPr lang="en-US" sz="4400" dirty="0">
                <a:latin typeface="Arial"/>
                <a:cs typeface="Arial"/>
              </a:rPr>
              <a:t>456 + 64 </a:t>
            </a:r>
          </a:p>
          <a:p>
            <a:pPr algn="ctr"/>
            <a:r>
              <a:rPr lang="en-US" sz="4400" dirty="0">
                <a:latin typeface="Arial"/>
                <a:cs typeface="Arial"/>
              </a:rPr>
              <a:t>289 – 31</a:t>
            </a:r>
            <a:endParaRPr lang="en-US" sz="44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CE7CF1E4-4432-483B-E4F0-A7EDC0414FD9}"/>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446672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1BD45-44FF-11A5-FE27-5FEEB2BCBA9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018A579-B085-1F5A-BA99-7348214BE83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(11)</a:t>
            </a:r>
          </a:p>
        </p:txBody>
      </p:sp>
      <p:pic>
        <p:nvPicPr>
          <p:cNvPr id="4" name="Picture 3" descr="image of a clipboard with a pencil recording short answer responses">
            <a:extLst>
              <a:ext uri="{FF2B5EF4-FFF2-40B4-BE49-F238E27FC236}">
                <a16:creationId xmlns:a16="http://schemas.microsoft.com/office/drawing/2014/main" id="{B8D0C62D-183A-CACC-790E-F241DFF5E1E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BA99C24B-2D22-028D-AEA8-8D8B48CB4938}"/>
              </a:ext>
            </a:extLst>
          </p:cNvPr>
          <p:cNvSpPr>
            <a:spLocks noGrp="1"/>
          </p:cNvSpPr>
          <p:nvPr>
            <p:ph type="pic" sz="quarter" idx="21"/>
          </p:nvPr>
        </p:nvSpPr>
        <p:spPr>
          <a:xfrm>
            <a:off x="360000" y="1208386"/>
            <a:ext cx="11243038" cy="879809"/>
          </a:xfrm>
        </p:spPr>
        <p:txBody>
          <a:bodyPr/>
          <a:lstStyle/>
          <a:p>
            <a:pPr algn="ctr"/>
            <a:r>
              <a:rPr lang="en-US" sz="4000" dirty="0">
                <a:latin typeface="Arial"/>
                <a:cs typeface="Arial"/>
              </a:rPr>
              <a:t>Find the total </a:t>
            </a:r>
            <a:r>
              <a:rPr lang="en-US" sz="4000" b="1" dirty="0">
                <a:latin typeface="Arial"/>
                <a:cs typeface="Arial"/>
              </a:rPr>
              <a:t>perimeter</a:t>
            </a:r>
            <a:r>
              <a:rPr lang="en-US" sz="4000" dirty="0">
                <a:latin typeface="Arial"/>
                <a:cs typeface="Arial"/>
              </a:rPr>
              <a:t> of this composite shape:</a:t>
            </a:r>
            <a:endParaRPr lang="en-US" sz="4000" dirty="0"/>
          </a:p>
          <a:p>
            <a:endParaRPr lang="en-US" dirty="0">
              <a:latin typeface="Arial"/>
              <a:cs typeface="Arial"/>
            </a:endParaRPr>
          </a:p>
        </p:txBody>
      </p:sp>
      <p:pic>
        <p:nvPicPr>
          <p:cNvPr id="6" name="Picture 5" descr="A composite shape like an upper case H with a range of lengths to find the perimeter.">
            <a:extLst>
              <a:ext uri="{FF2B5EF4-FFF2-40B4-BE49-F238E27FC236}">
                <a16:creationId xmlns:a16="http://schemas.microsoft.com/office/drawing/2014/main" id="{613E5276-3A6A-07FA-740A-6B3ECFBEF1F9}"/>
              </a:ext>
            </a:extLst>
          </p:cNvPr>
          <p:cNvPicPr>
            <a:picLocks noChangeAspect="1"/>
          </p:cNvPicPr>
          <p:nvPr/>
        </p:nvPicPr>
        <p:blipFill>
          <a:blip r:embed="rId4"/>
          <a:stretch>
            <a:fillRect/>
          </a:stretch>
        </p:blipFill>
        <p:spPr>
          <a:xfrm>
            <a:off x="3788883" y="2261781"/>
            <a:ext cx="5179101" cy="4344219"/>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605D520E-CA22-0FDB-E276-04CB5533BA58}"/>
              </a:ext>
            </a:extLst>
          </p:cNvPr>
          <p:cNvSpPr>
            <a:spLocks noGrp="1"/>
          </p:cNvSpPr>
          <p:nvPr>
            <p:ph type="sldNum" sz="quarter" idx="12"/>
          </p:nvPr>
        </p:nvSpPr>
        <p:spPr/>
        <p:txBody>
          <a:bodyPr/>
          <a:lstStyle/>
          <a:p>
            <a:fld id="{10A01DC5-1685-4615-8240-15192985C6A2}" type="slidenum">
              <a:rPr lang="en-AU" smtClean="0"/>
              <a:t>22</a:t>
            </a:fld>
            <a:endParaRPr lang="en-AU"/>
          </a:p>
        </p:txBody>
      </p:sp>
    </p:spTree>
    <p:extLst>
      <p:ext uri="{BB962C8B-B14F-4D97-AF65-F5344CB8AC3E}">
        <p14:creationId xmlns:p14="http://schemas.microsoft.com/office/powerpoint/2010/main" val="287615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C73F8-9FD6-0ECE-3ECF-73C36B28CAE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A83EBBF-04B8-9A2C-ED9F-A19E882F3DC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(12)</a:t>
            </a:r>
          </a:p>
        </p:txBody>
      </p:sp>
      <p:pic>
        <p:nvPicPr>
          <p:cNvPr id="4" name="Picture 3" descr="image of a clipboard with a pencil recording short answer responses">
            <a:extLst>
              <a:ext uri="{FF2B5EF4-FFF2-40B4-BE49-F238E27FC236}">
                <a16:creationId xmlns:a16="http://schemas.microsoft.com/office/drawing/2014/main" id="{684B5940-5140-3FDA-A2C8-AEE3D94BCCE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0BBCDB05-A139-44A3-EA5D-6556ADCA3BC0}"/>
              </a:ext>
            </a:extLst>
          </p:cNvPr>
          <p:cNvSpPr>
            <a:spLocks noGrp="1"/>
          </p:cNvSpPr>
          <p:nvPr>
            <p:ph type="pic" sz="quarter" idx="21"/>
          </p:nvPr>
        </p:nvSpPr>
        <p:spPr>
          <a:xfrm>
            <a:off x="600963" y="1686425"/>
            <a:ext cx="11243037" cy="3659902"/>
          </a:xfrm>
        </p:spPr>
        <p:txBody>
          <a:bodyPr/>
          <a:lstStyle/>
          <a:p>
            <a:pPr algn="ctr"/>
            <a:r>
              <a:rPr lang="en-US" sz="4400" dirty="0">
                <a:latin typeface="Arial"/>
                <a:cs typeface="Arial"/>
              </a:rPr>
              <a:t>Tyrell says a </a:t>
            </a:r>
            <a:r>
              <a:rPr lang="en-US" sz="4400" b="1" dirty="0">
                <a:latin typeface="Arial"/>
                <a:cs typeface="Arial"/>
              </a:rPr>
              <a:t>square pyramid</a:t>
            </a:r>
            <a:r>
              <a:rPr lang="en-US" sz="4400" dirty="0">
                <a:latin typeface="Arial"/>
                <a:cs typeface="Arial"/>
              </a:rPr>
              <a:t> has 4 vertices.</a:t>
            </a:r>
            <a:br>
              <a:rPr lang="en-US" sz="4400" dirty="0"/>
            </a:br>
            <a:r>
              <a:rPr lang="en-US" sz="4400" dirty="0">
                <a:latin typeface="Arial"/>
                <a:cs typeface="Arial"/>
              </a:rPr>
              <a:t> Do you </a:t>
            </a:r>
            <a:r>
              <a:rPr lang="en-US" sz="4400" b="1" dirty="0">
                <a:latin typeface="Arial"/>
                <a:cs typeface="Arial"/>
              </a:rPr>
              <a:t>agree</a:t>
            </a:r>
            <a:r>
              <a:rPr lang="en-US" sz="4400" dirty="0">
                <a:latin typeface="Arial"/>
                <a:cs typeface="Arial"/>
              </a:rPr>
              <a:t> or </a:t>
            </a:r>
            <a:r>
              <a:rPr lang="en-US" sz="4400" b="1" dirty="0">
                <a:latin typeface="Arial"/>
                <a:cs typeface="Arial"/>
              </a:rPr>
              <a:t>disagree</a:t>
            </a:r>
            <a:r>
              <a:rPr lang="en-US" sz="4400" dirty="0">
                <a:latin typeface="Arial"/>
                <a:cs typeface="Arial"/>
              </a:rPr>
              <a:t>? Why?</a:t>
            </a:r>
          </a:p>
          <a:p>
            <a:endParaRPr lang="en-US" dirty="0">
              <a:latin typeface="Arial"/>
              <a:cs typeface="Arial"/>
            </a:endParaRPr>
          </a:p>
        </p:txBody>
      </p:sp>
      <p:sp>
        <p:nvSpPr>
          <p:cNvPr id="2" name="Slide Number Placeholder 1">
            <a:extLst>
              <a:ext uri="{FF2B5EF4-FFF2-40B4-BE49-F238E27FC236}">
                <a16:creationId xmlns:a16="http://schemas.microsoft.com/office/drawing/2014/main" id="{1C171D71-9E03-59C1-3888-D6A2F0BA0FB7}"/>
              </a:ext>
            </a:extLst>
          </p:cNvPr>
          <p:cNvSpPr>
            <a:spLocks noGrp="1"/>
          </p:cNvSpPr>
          <p:nvPr>
            <p:ph type="sldNum" sz="quarter" idx="12"/>
          </p:nvPr>
        </p:nvSpPr>
        <p:spPr/>
        <p:txBody>
          <a:bodyPr/>
          <a:lstStyle/>
          <a:p>
            <a:fld id="{10A01DC5-1685-4615-8240-15192985C6A2}" type="slidenum">
              <a:rPr lang="en-AU" smtClean="0"/>
              <a:t>23</a:t>
            </a:fld>
            <a:endParaRPr lang="en-AU"/>
          </a:p>
        </p:txBody>
      </p:sp>
    </p:spTree>
    <p:extLst>
      <p:ext uri="{BB962C8B-B14F-4D97-AF65-F5344CB8AC3E}">
        <p14:creationId xmlns:p14="http://schemas.microsoft.com/office/powerpoint/2010/main" val="4064626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21112-81EB-75E0-061A-7ABBBA85D63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D328CC5-222F-9867-E50E-A351FB41E941}"/>
              </a:ext>
            </a:extLst>
          </p:cNvPr>
          <p:cNvSpPr>
            <a:spLocks noGrp="1"/>
          </p:cNvSpPr>
          <p:nvPr>
            <p:ph type="title"/>
          </p:nvPr>
        </p:nvSpPr>
        <p:spPr/>
        <p:txBody>
          <a:bodyPr/>
          <a:lstStyle/>
          <a:p>
            <a:r>
              <a:rPr lang="en-AU">
                <a:latin typeface="Arial"/>
                <a:cs typeface="Arial"/>
              </a:rPr>
              <a:t>Activity 3 – factors of a number</a:t>
            </a:r>
            <a:br>
              <a:rPr lang="en-AU">
                <a:latin typeface="Arial"/>
                <a:cs typeface="Arial"/>
              </a:rPr>
            </a:br>
            <a:endParaRPr lang="en-AU">
              <a:latin typeface="Arial"/>
              <a:cs typeface="Arial"/>
            </a:endParaRPr>
          </a:p>
        </p:txBody>
      </p:sp>
      <p:sp>
        <p:nvSpPr>
          <p:cNvPr id="6" name="TextBox 5">
            <a:extLst>
              <a:ext uri="{FF2B5EF4-FFF2-40B4-BE49-F238E27FC236}">
                <a16:creationId xmlns:a16="http://schemas.microsoft.com/office/drawing/2014/main" id="{940F947F-8DC1-2CA8-E27D-6CA3E81EB15E}"/>
              </a:ext>
            </a:extLst>
          </p:cNvPr>
          <p:cNvSpPr txBox="1"/>
          <p:nvPr/>
        </p:nvSpPr>
        <p:spPr>
          <a:xfrm>
            <a:off x="360000" y="1242924"/>
            <a:ext cx="11635355" cy="5202514"/>
          </a:xfrm>
          <a:prstGeom prst="rect">
            <a:avLst/>
          </a:prstGeom>
          <a:noFill/>
        </p:spPr>
        <p:txBody>
          <a:bodyPr wrap="square" lIns="91440" tIns="45720" rIns="91440" bIns="45720" anchor="t">
            <a:spAutoFit/>
          </a:bodyPr>
          <a:lstStyle/>
          <a:p>
            <a:pPr lvl="0">
              <a:lnSpc>
                <a:spcPct val="150000"/>
              </a:lnSpc>
              <a:spcBef>
                <a:spcPts val="1200"/>
              </a:spcBef>
            </a:pPr>
            <a:r>
              <a:rPr lang="en-AU" sz="3200" dirty="0">
                <a:latin typeface="Arial" panose="020B0604020202020204" pitchFamily="34" charset="0"/>
                <a:ea typeface="Calibri" panose="020F0502020204030204" pitchFamily="34" charset="0"/>
              </a:rPr>
              <a:t>Amira is </a:t>
            </a:r>
            <a:r>
              <a:rPr lang="en-AU" sz="3200" dirty="0">
                <a:effectLst/>
                <a:latin typeface="Arial" panose="020B0604020202020204" pitchFamily="34" charset="0"/>
                <a:ea typeface="Calibri" panose="020F0502020204030204" pitchFamily="34" charset="0"/>
              </a:rPr>
              <a:t>thinking of a number. Its </a:t>
            </a:r>
            <a:r>
              <a:rPr lang="en-AU" sz="3200" b="1" dirty="0">
                <a:effectLst/>
                <a:latin typeface="Arial" panose="020B0604020202020204" pitchFamily="34" charset="0"/>
                <a:ea typeface="Calibri" panose="020F0502020204030204" pitchFamily="34" charset="0"/>
              </a:rPr>
              <a:t>factors </a:t>
            </a:r>
            <a:r>
              <a:rPr lang="en-AU" sz="3200" dirty="0">
                <a:effectLst/>
                <a:latin typeface="Arial" panose="020B0604020202020204" pitchFamily="34" charset="0"/>
                <a:ea typeface="Calibri" panose="020F0502020204030204" pitchFamily="34" charset="0"/>
              </a:rPr>
              <a:t>include 1, 2, 3 and 4. </a:t>
            </a:r>
          </a:p>
          <a:p>
            <a:pPr lvl="0">
              <a:lnSpc>
                <a:spcPct val="150000"/>
              </a:lnSpc>
              <a:spcBef>
                <a:spcPts val="1200"/>
              </a:spcBef>
            </a:pPr>
            <a:r>
              <a:rPr lang="en-AU" sz="3200" dirty="0">
                <a:effectLst/>
                <a:latin typeface="Arial" panose="020B0604020202020204" pitchFamily="34" charset="0"/>
                <a:ea typeface="Calibri" panose="020F0502020204030204" pitchFamily="34" charset="0"/>
              </a:rPr>
              <a:t>					- Jake says it is 48</a:t>
            </a:r>
          </a:p>
          <a:p>
            <a:pPr lvl="0">
              <a:lnSpc>
                <a:spcPct val="150000"/>
              </a:lnSpc>
              <a:spcBef>
                <a:spcPts val="1200"/>
              </a:spcBef>
            </a:pPr>
            <a:r>
              <a:rPr lang="en-AU" sz="3200" dirty="0">
                <a:effectLst/>
                <a:latin typeface="Arial" panose="020B0604020202020204" pitchFamily="34" charset="0"/>
                <a:ea typeface="Calibri" panose="020F0502020204030204" pitchFamily="34" charset="0"/>
              </a:rPr>
              <a:t>					- Malik says it is 24</a:t>
            </a:r>
          </a:p>
          <a:p>
            <a:pPr lvl="0">
              <a:lnSpc>
                <a:spcPct val="150000"/>
              </a:lnSpc>
              <a:spcBef>
                <a:spcPts val="1200"/>
              </a:spcBef>
            </a:pPr>
            <a:r>
              <a:rPr lang="en-AU" sz="3200" dirty="0">
                <a:effectLst/>
                <a:latin typeface="Arial" panose="020B0604020202020204" pitchFamily="34" charset="0"/>
                <a:ea typeface="Calibri" panose="020F0502020204030204" pitchFamily="34" charset="0"/>
              </a:rPr>
              <a:t>					-</a:t>
            </a:r>
            <a:r>
              <a:rPr lang="en-AU" sz="3200" dirty="0">
                <a:latin typeface="Arial" panose="020B0604020202020204" pitchFamily="34" charset="0"/>
                <a:ea typeface="Calibri" panose="020F0502020204030204" pitchFamily="34" charset="0"/>
              </a:rPr>
              <a:t> </a:t>
            </a:r>
            <a:r>
              <a:rPr lang="en-AU" sz="3200" dirty="0">
                <a:effectLst/>
                <a:latin typeface="Arial" panose="020B0604020202020204" pitchFamily="34" charset="0"/>
                <a:ea typeface="Calibri" panose="020F0502020204030204" pitchFamily="34" charset="0"/>
              </a:rPr>
              <a:t>Lucy says it is 71. </a:t>
            </a:r>
          </a:p>
          <a:p>
            <a:pPr lvl="0">
              <a:lnSpc>
                <a:spcPct val="150000"/>
              </a:lnSpc>
              <a:spcBef>
                <a:spcPts val="1200"/>
              </a:spcBef>
            </a:pPr>
            <a:endParaRPr lang="en-AU" sz="3200" dirty="0">
              <a:effectLst/>
              <a:latin typeface="Arial" panose="020B0604020202020204" pitchFamily="34" charset="0"/>
              <a:ea typeface="Calibri" panose="020F0502020204030204" pitchFamily="34" charset="0"/>
            </a:endParaRPr>
          </a:p>
          <a:p>
            <a:pPr lvl="0">
              <a:lnSpc>
                <a:spcPct val="150000"/>
              </a:lnSpc>
              <a:spcBef>
                <a:spcPts val="1200"/>
              </a:spcBef>
            </a:pPr>
            <a:r>
              <a:rPr lang="en-AU" sz="3200" dirty="0">
                <a:effectLst/>
                <a:latin typeface="Arial" panose="020B0604020202020204" pitchFamily="34" charset="0"/>
                <a:ea typeface="Calibri" panose="020F0502020204030204" pitchFamily="34" charset="0"/>
              </a:rPr>
              <a:t>                          </a:t>
            </a:r>
            <a:r>
              <a:rPr lang="en-AU" sz="3200" b="1" dirty="0">
                <a:effectLst/>
                <a:latin typeface="Arial" panose="020B0604020202020204" pitchFamily="34" charset="0"/>
                <a:ea typeface="Calibri" panose="020F0502020204030204" pitchFamily="34" charset="0"/>
              </a:rPr>
              <a:t>Who is correct and why?</a:t>
            </a:r>
            <a:endParaRPr lang="en-AU" sz="3600" b="1" dirty="0">
              <a:effectLst/>
              <a:latin typeface="Arial" panose="020B0604020202020204" pitchFamily="34" charset="0"/>
              <a:ea typeface="Calibri" panose="020F0502020204030204" pitchFamily="34" charset="0"/>
            </a:endParaRPr>
          </a:p>
        </p:txBody>
      </p:sp>
      <p:sp>
        <p:nvSpPr>
          <p:cNvPr id="2" name="Slide Number Placeholder 1">
            <a:extLst>
              <a:ext uri="{FF2B5EF4-FFF2-40B4-BE49-F238E27FC236}">
                <a16:creationId xmlns:a16="http://schemas.microsoft.com/office/drawing/2014/main" id="{34852866-B9CC-9701-4CA5-1D4385483C22}"/>
              </a:ext>
            </a:extLst>
          </p:cNvPr>
          <p:cNvSpPr>
            <a:spLocks noGrp="1"/>
          </p:cNvSpPr>
          <p:nvPr>
            <p:ph type="sldNum" sz="quarter" idx="12"/>
          </p:nvPr>
        </p:nvSpPr>
        <p:spPr/>
        <p:txBody>
          <a:bodyPr/>
          <a:lstStyle/>
          <a:p>
            <a:fld id="{10A01DC5-1685-4615-8240-15192985C6A2}" type="slidenum">
              <a:rPr lang="en-AU" smtClean="0"/>
              <a:t>24</a:t>
            </a:fld>
            <a:endParaRPr lang="en-AU"/>
          </a:p>
        </p:txBody>
      </p:sp>
    </p:spTree>
    <p:extLst>
      <p:ext uri="{BB962C8B-B14F-4D97-AF65-F5344CB8AC3E}">
        <p14:creationId xmlns:p14="http://schemas.microsoft.com/office/powerpoint/2010/main" val="955882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8D470-C119-FE15-B585-7B00E3FC0E6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38549DE-34BC-2932-4069-8C67AECD9A58}"/>
              </a:ext>
            </a:extLst>
          </p:cNvPr>
          <p:cNvSpPr>
            <a:spLocks noGrp="1"/>
          </p:cNvSpPr>
          <p:nvPr>
            <p:ph type="ctrTitle"/>
          </p:nvPr>
        </p:nvSpPr>
        <p:spPr/>
        <p:txBody>
          <a:bodyPr/>
          <a:lstStyle/>
          <a:p>
            <a:r>
              <a:rPr lang="en-AU">
                <a:latin typeface="+mj-lt"/>
                <a:cs typeface="Arial"/>
              </a:rPr>
              <a:t>Review of learning 4</a:t>
            </a:r>
            <a:endParaRPr lang="en-AU">
              <a:latin typeface="+mj-lt"/>
            </a:endParaRPr>
          </a:p>
        </p:txBody>
      </p:sp>
    </p:spTree>
    <p:extLst>
      <p:ext uri="{BB962C8B-B14F-4D97-AF65-F5344CB8AC3E}">
        <p14:creationId xmlns:p14="http://schemas.microsoft.com/office/powerpoint/2010/main" val="2097754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47EEB-F21E-045D-8ADE-B6DF797BBD6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7D4AB32-9AD3-7208-104F-40FDED38BA06}"/>
              </a:ext>
            </a:extLst>
          </p:cNvPr>
          <p:cNvSpPr>
            <a:spLocks noGrp="1"/>
          </p:cNvSpPr>
          <p:nvPr>
            <p:ph type="title"/>
          </p:nvPr>
        </p:nvSpPr>
        <p:spPr/>
        <p:txBody>
          <a:bodyPr/>
          <a:lstStyle/>
          <a:p>
            <a:r>
              <a:rPr lang="en-US"/>
              <a:t>True or false</a:t>
            </a:r>
            <a:r>
              <a:rPr lang="en-US">
                <a:solidFill>
                  <a:schemeClr val="accent4"/>
                </a:solidFill>
              </a:rPr>
              <a:t> </a:t>
            </a:r>
            <a:r>
              <a:rPr lang="en-US">
                <a:solidFill>
                  <a:schemeClr val="bg1"/>
                </a:solidFill>
              </a:rPr>
              <a:t>(2)</a:t>
            </a:r>
          </a:p>
        </p:txBody>
      </p:sp>
      <p:pic>
        <p:nvPicPr>
          <p:cNvPr id="6" name="Picture 5" descr="image of a finger selecting an option for a multiple choice or true and false">
            <a:extLst>
              <a:ext uri="{FF2B5EF4-FFF2-40B4-BE49-F238E27FC236}">
                <a16:creationId xmlns:a16="http://schemas.microsoft.com/office/drawing/2014/main" id="{4348276A-08AB-CAAE-2AF9-8F7FE9DCE3A5}"/>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7" name="Text Placeholder 6">
            <a:extLst>
              <a:ext uri="{FF2B5EF4-FFF2-40B4-BE49-F238E27FC236}">
                <a16:creationId xmlns:a16="http://schemas.microsoft.com/office/drawing/2014/main" id="{F060180D-91D5-EA06-E103-8B3688B0CE76}"/>
              </a:ext>
            </a:extLst>
          </p:cNvPr>
          <p:cNvSpPr>
            <a:spLocks noGrp="1"/>
          </p:cNvSpPr>
          <p:nvPr>
            <p:ph type="body" sz="quarter" idx="22"/>
          </p:nvPr>
        </p:nvSpPr>
        <p:spPr>
          <a:xfrm>
            <a:off x="474481" y="1355920"/>
            <a:ext cx="11243037" cy="1423578"/>
          </a:xfrm>
        </p:spPr>
        <p:txBody>
          <a:bodyPr vert="horz" lIns="0" tIns="0" rIns="0" bIns="0" rtlCol="0" anchor="t">
            <a:noAutofit/>
          </a:bodyPr>
          <a:lstStyle/>
          <a:p>
            <a:pPr algn="ctr"/>
            <a:r>
              <a:rPr lang="en-US" sz="4400" dirty="0"/>
              <a:t>9 is a </a:t>
            </a:r>
            <a:r>
              <a:rPr lang="en-US" sz="4400" b="1" dirty="0"/>
              <a:t>factor</a:t>
            </a:r>
            <a:r>
              <a:rPr lang="en-US" sz="4400" dirty="0"/>
              <a:t> of 48.</a:t>
            </a:r>
          </a:p>
        </p:txBody>
      </p:sp>
      <p:graphicFrame>
        <p:nvGraphicFramePr>
          <p:cNvPr id="5" name="Table 4">
            <a:extLst>
              <a:ext uri="{FF2B5EF4-FFF2-40B4-BE49-F238E27FC236}">
                <a16:creationId xmlns:a16="http://schemas.microsoft.com/office/drawing/2014/main" id="{DB699691-98F7-EA8F-32F1-C06DC46C20B7}"/>
              </a:ext>
            </a:extLst>
          </p:cNvPr>
          <p:cNvGraphicFramePr>
            <a:graphicFrameLocks noGrp="1"/>
          </p:cNvGraphicFramePr>
          <p:nvPr>
            <p:extLst>
              <p:ext uri="{D42A27DB-BD31-4B8C-83A1-F6EECF244321}">
                <p14:modId xmlns:p14="http://schemas.microsoft.com/office/powerpoint/2010/main" val="3378696051"/>
              </p:ext>
            </p:extLst>
          </p:nvPr>
        </p:nvGraphicFramePr>
        <p:xfrm>
          <a:off x="2359854" y="3058160"/>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8" name="Text Placeholder 6">
            <a:extLst>
              <a:ext uri="{FF2B5EF4-FFF2-40B4-BE49-F238E27FC236}">
                <a16:creationId xmlns:a16="http://schemas.microsoft.com/office/drawing/2014/main" id="{3A074738-CE59-5071-52C8-508A8FBC6FE2}"/>
              </a:ext>
            </a:extLst>
          </p:cNvPr>
          <p:cNvSpPr txBox="1">
            <a:spLocks/>
          </p:cNvSpPr>
          <p:nvPr/>
        </p:nvSpPr>
        <p:spPr>
          <a:xfrm>
            <a:off x="360000" y="4481494"/>
            <a:ext cx="11243037" cy="1423578"/>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dirty="0"/>
              <a:t>Communicate </a:t>
            </a:r>
            <a:r>
              <a:rPr lang="en-US" sz="4400" dirty="0"/>
              <a:t>your </a:t>
            </a:r>
            <a:r>
              <a:rPr lang="en-US" sz="4400" b="1" dirty="0"/>
              <a:t>reasoning</a:t>
            </a:r>
            <a:r>
              <a:rPr lang="en-US" sz="4400" dirty="0"/>
              <a:t>.</a:t>
            </a:r>
          </a:p>
        </p:txBody>
      </p:sp>
      <p:sp>
        <p:nvSpPr>
          <p:cNvPr id="2" name="Slide Number Placeholder 1">
            <a:extLst>
              <a:ext uri="{FF2B5EF4-FFF2-40B4-BE49-F238E27FC236}">
                <a16:creationId xmlns:a16="http://schemas.microsoft.com/office/drawing/2014/main" id="{8CD3A27D-3714-AE5A-F3A7-8938A8312568}"/>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393875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EC9BF-5F7D-214B-1148-F6F0F6CD319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58B9408-BD93-F840-A268-57E14808F86B}"/>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(13)</a:t>
            </a:r>
          </a:p>
        </p:txBody>
      </p:sp>
      <p:pic>
        <p:nvPicPr>
          <p:cNvPr id="4" name="Picture 3" descr="image of a clipboard with a pencil recording short answer responses">
            <a:extLst>
              <a:ext uri="{FF2B5EF4-FFF2-40B4-BE49-F238E27FC236}">
                <a16:creationId xmlns:a16="http://schemas.microsoft.com/office/drawing/2014/main" id="{8630EBD8-CFDA-21D1-0781-2E0CE818F68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14C19D03-CFFF-C433-C478-7D603E7E945A}"/>
              </a:ext>
            </a:extLst>
          </p:cNvPr>
          <p:cNvSpPr>
            <a:spLocks noGrp="1"/>
          </p:cNvSpPr>
          <p:nvPr>
            <p:ph type="pic" sz="quarter" idx="21"/>
          </p:nvPr>
        </p:nvSpPr>
        <p:spPr>
          <a:xfrm>
            <a:off x="360000" y="996878"/>
            <a:ext cx="11243037" cy="5699122"/>
          </a:xfrm>
        </p:spPr>
        <p:txBody>
          <a:bodyPr/>
          <a:lstStyle/>
          <a:p>
            <a:pPr algn="ctr"/>
            <a:r>
              <a:rPr lang="en-US" sz="4000" b="1" dirty="0">
                <a:latin typeface="Arial"/>
                <a:cs typeface="Arial"/>
              </a:rPr>
              <a:t>Record</a:t>
            </a:r>
            <a:r>
              <a:rPr lang="en-US" sz="4000" dirty="0">
                <a:latin typeface="Arial"/>
                <a:cs typeface="Arial"/>
              </a:rPr>
              <a:t> </a:t>
            </a:r>
            <a:r>
              <a:rPr lang="en-US" sz="4000" b="1" dirty="0">
                <a:latin typeface="Arial"/>
                <a:cs typeface="Arial"/>
              </a:rPr>
              <a:t>10%, </a:t>
            </a:r>
            <a:r>
              <a:rPr lang="en-US" sz="4000" dirty="0">
                <a:latin typeface="Arial"/>
                <a:cs typeface="Arial"/>
              </a:rPr>
              <a:t>or </a:t>
            </a:r>
            <a:r>
              <a:rPr lang="en-US" sz="4000" b="1" dirty="0">
                <a:latin typeface="Arial"/>
                <a:cs typeface="Arial"/>
              </a:rPr>
              <a:t>one-tenth</a:t>
            </a:r>
            <a:r>
              <a:rPr lang="en-US" sz="4000" dirty="0">
                <a:latin typeface="Arial"/>
                <a:cs typeface="Arial"/>
              </a:rPr>
              <a:t>, of the following:</a:t>
            </a:r>
          </a:p>
          <a:p>
            <a:pPr algn="ctr"/>
            <a:r>
              <a:rPr lang="en-US" sz="3600" dirty="0">
                <a:latin typeface="Arial"/>
                <a:cs typeface="Arial"/>
              </a:rPr>
              <a:t>130</a:t>
            </a:r>
          </a:p>
          <a:p>
            <a:pPr algn="ctr"/>
            <a:r>
              <a:rPr lang="en-US" sz="3600" dirty="0">
                <a:latin typeface="Arial"/>
                <a:cs typeface="Arial"/>
              </a:rPr>
              <a:t>250</a:t>
            </a:r>
          </a:p>
          <a:p>
            <a:pPr algn="ctr"/>
            <a:r>
              <a:rPr lang="en-US" sz="3600" dirty="0">
                <a:latin typeface="Arial"/>
                <a:cs typeface="Arial"/>
              </a:rPr>
              <a:t>70</a:t>
            </a:r>
          </a:p>
          <a:p>
            <a:pPr algn="ctr"/>
            <a:r>
              <a:rPr lang="en-US" sz="3600" dirty="0">
                <a:latin typeface="Arial"/>
                <a:cs typeface="Arial"/>
              </a:rPr>
              <a:t>620</a:t>
            </a:r>
          </a:p>
          <a:p>
            <a:pPr algn="ctr"/>
            <a:r>
              <a:rPr lang="en-US" sz="3600" dirty="0">
                <a:latin typeface="Arial"/>
                <a:cs typeface="Arial"/>
              </a:rPr>
              <a:t>22</a:t>
            </a:r>
            <a:endParaRPr lang="en-US" sz="3600" dirty="0"/>
          </a:p>
          <a:p>
            <a:endParaRPr lang="en-US" dirty="0">
              <a:latin typeface="Arial"/>
              <a:cs typeface="Arial"/>
            </a:endParaRPr>
          </a:p>
        </p:txBody>
      </p:sp>
      <p:sp>
        <p:nvSpPr>
          <p:cNvPr id="2" name="Slide Number Placeholder 1">
            <a:extLst>
              <a:ext uri="{FF2B5EF4-FFF2-40B4-BE49-F238E27FC236}">
                <a16:creationId xmlns:a16="http://schemas.microsoft.com/office/drawing/2014/main" id="{8AEC1B69-AE9B-3F77-A4B2-5F8F2302B7B4}"/>
              </a:ext>
            </a:extLst>
          </p:cNvPr>
          <p:cNvSpPr>
            <a:spLocks noGrp="1"/>
          </p:cNvSpPr>
          <p:nvPr>
            <p:ph type="sldNum" sz="quarter" idx="12"/>
          </p:nvPr>
        </p:nvSpPr>
        <p:spPr/>
        <p:txBody>
          <a:bodyPr/>
          <a:lstStyle/>
          <a:p>
            <a:fld id="{10A01DC5-1685-4615-8240-15192985C6A2}" type="slidenum">
              <a:rPr lang="en-AU" smtClean="0"/>
              <a:t>27</a:t>
            </a:fld>
            <a:endParaRPr lang="en-AU"/>
          </a:p>
        </p:txBody>
      </p:sp>
    </p:spTree>
    <p:extLst>
      <p:ext uri="{BB962C8B-B14F-4D97-AF65-F5344CB8AC3E}">
        <p14:creationId xmlns:p14="http://schemas.microsoft.com/office/powerpoint/2010/main" val="3623419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14626-760E-9A4A-8105-1F978D2E734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59E3760-EAF2-4091-B547-3DBDF77EEF77}"/>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(14)</a:t>
            </a:r>
          </a:p>
        </p:txBody>
      </p:sp>
      <p:pic>
        <p:nvPicPr>
          <p:cNvPr id="4" name="Picture 3" descr="image of a clipboard with a pencil recording short answer responses">
            <a:extLst>
              <a:ext uri="{FF2B5EF4-FFF2-40B4-BE49-F238E27FC236}">
                <a16:creationId xmlns:a16="http://schemas.microsoft.com/office/drawing/2014/main" id="{6E0C4BB2-6B6A-19FE-469B-BAB25B9E1B6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E46BF803-4CE5-D62A-0F12-A75A65A12826}"/>
              </a:ext>
            </a:extLst>
          </p:cNvPr>
          <p:cNvSpPr>
            <a:spLocks noGrp="1"/>
          </p:cNvSpPr>
          <p:nvPr>
            <p:ph type="pic" sz="quarter" idx="21"/>
          </p:nvPr>
        </p:nvSpPr>
        <p:spPr>
          <a:xfrm>
            <a:off x="592335" y="1124999"/>
            <a:ext cx="11243037" cy="732628"/>
          </a:xfrm>
        </p:spPr>
        <p:txBody>
          <a:bodyPr/>
          <a:lstStyle/>
          <a:p>
            <a:pPr algn="ctr"/>
            <a:r>
              <a:rPr lang="en-US" sz="4400" dirty="0">
                <a:latin typeface="Arial"/>
                <a:cs typeface="Arial"/>
              </a:rPr>
              <a:t>Which </a:t>
            </a:r>
            <a:r>
              <a:rPr lang="en-US" sz="4400" b="1" dirty="0">
                <a:latin typeface="Arial"/>
                <a:cs typeface="Arial"/>
              </a:rPr>
              <a:t>combination</a:t>
            </a:r>
            <a:r>
              <a:rPr lang="en-US" sz="4400" dirty="0">
                <a:latin typeface="Arial"/>
                <a:cs typeface="Arial"/>
              </a:rPr>
              <a:t> of parcels will </a:t>
            </a:r>
            <a:r>
              <a:rPr lang="en-US" sz="4400" b="1" dirty="0">
                <a:latin typeface="Arial"/>
                <a:cs typeface="Arial"/>
              </a:rPr>
              <a:t>balance</a:t>
            </a:r>
            <a:r>
              <a:rPr lang="en-US" sz="4400" dirty="0">
                <a:latin typeface="Arial"/>
                <a:cs typeface="Arial"/>
              </a:rPr>
              <a:t> a set of scales? </a:t>
            </a:r>
          </a:p>
        </p:txBody>
      </p:sp>
      <p:pic>
        <p:nvPicPr>
          <p:cNvPr id="6" name="Picture 5" descr="A range of parcels of varying mass: Parcel A = 47.91 kg; Parcel B = 4.003 kg; Parcel C = 32.713 kg; and Parcel D = 11.19 kg.">
            <a:extLst>
              <a:ext uri="{FF2B5EF4-FFF2-40B4-BE49-F238E27FC236}">
                <a16:creationId xmlns:a16="http://schemas.microsoft.com/office/drawing/2014/main" id="{F962D43C-1236-E173-86F5-B378DB8C2A85}"/>
              </a:ext>
            </a:extLst>
          </p:cNvPr>
          <p:cNvPicPr>
            <a:picLocks noChangeAspect="1"/>
          </p:cNvPicPr>
          <p:nvPr/>
        </p:nvPicPr>
        <p:blipFill>
          <a:blip r:embed="rId4"/>
          <a:stretch>
            <a:fillRect/>
          </a:stretch>
        </p:blipFill>
        <p:spPr>
          <a:xfrm>
            <a:off x="2021637" y="3309369"/>
            <a:ext cx="7919764" cy="3037839"/>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8F9675BE-BFC3-3FAD-015E-711B1DA7D54F}"/>
              </a:ext>
            </a:extLst>
          </p:cNvPr>
          <p:cNvSpPr>
            <a:spLocks noGrp="1"/>
          </p:cNvSpPr>
          <p:nvPr>
            <p:ph type="sldNum" sz="quarter" idx="12"/>
          </p:nvPr>
        </p:nvSpPr>
        <p:spPr/>
        <p:txBody>
          <a:bodyPr/>
          <a:lstStyle/>
          <a:p>
            <a:fld id="{10A01DC5-1685-4615-8240-15192985C6A2}" type="slidenum">
              <a:rPr lang="en-AU" smtClean="0"/>
              <a:t>28</a:t>
            </a:fld>
            <a:endParaRPr lang="en-AU"/>
          </a:p>
        </p:txBody>
      </p:sp>
    </p:spTree>
    <p:extLst>
      <p:ext uri="{BB962C8B-B14F-4D97-AF65-F5344CB8AC3E}">
        <p14:creationId xmlns:p14="http://schemas.microsoft.com/office/powerpoint/2010/main" val="2183792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D986D-6D17-4AF1-8968-0D0D4C44B90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BA11519-040C-7679-15EE-A8789BC06BE3}"/>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(15)</a:t>
            </a:r>
          </a:p>
        </p:txBody>
      </p:sp>
      <p:pic>
        <p:nvPicPr>
          <p:cNvPr id="4" name="Picture 3" descr="image of a clipboard with a pencil recording short answer responses">
            <a:extLst>
              <a:ext uri="{FF2B5EF4-FFF2-40B4-BE49-F238E27FC236}">
                <a16:creationId xmlns:a16="http://schemas.microsoft.com/office/drawing/2014/main" id="{5AE60A7A-7377-46D6-1913-99B349DCED2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352E0507-6E6B-EB8A-88E2-35DDFC075B74}"/>
              </a:ext>
            </a:extLst>
          </p:cNvPr>
          <p:cNvSpPr>
            <a:spLocks noGrp="1"/>
          </p:cNvSpPr>
          <p:nvPr>
            <p:ph type="pic" sz="quarter" idx="21"/>
          </p:nvPr>
        </p:nvSpPr>
        <p:spPr>
          <a:xfrm>
            <a:off x="359999" y="1500497"/>
            <a:ext cx="11243037" cy="3336814"/>
          </a:xfrm>
        </p:spPr>
        <p:txBody>
          <a:bodyPr/>
          <a:lstStyle/>
          <a:p>
            <a:pPr algn="ctr"/>
            <a:r>
              <a:rPr lang="en-US" sz="4400" dirty="0">
                <a:latin typeface="Arial"/>
                <a:cs typeface="Arial"/>
              </a:rPr>
              <a:t>Pop’s garden needs 60m of fencing. What could be the </a:t>
            </a:r>
            <a:r>
              <a:rPr lang="en-US" sz="4400" b="1" dirty="0">
                <a:latin typeface="Arial"/>
                <a:cs typeface="Arial"/>
              </a:rPr>
              <a:t>length and width </a:t>
            </a:r>
            <a:r>
              <a:rPr lang="en-US" sz="4400" dirty="0">
                <a:latin typeface="Arial"/>
                <a:cs typeface="Arial"/>
              </a:rPr>
              <a:t>of the garden?</a:t>
            </a:r>
          </a:p>
          <a:p>
            <a:pPr algn="ctr"/>
            <a:r>
              <a:rPr lang="en-US" sz="4400" b="1" dirty="0">
                <a:latin typeface="Arial"/>
                <a:cs typeface="Arial"/>
              </a:rPr>
              <a:t>Communicate </a:t>
            </a:r>
            <a:r>
              <a:rPr lang="en-US" sz="4400" dirty="0">
                <a:latin typeface="Arial"/>
                <a:cs typeface="Arial"/>
              </a:rPr>
              <a:t>your</a:t>
            </a:r>
            <a:r>
              <a:rPr lang="en-US" sz="4400" b="1" dirty="0">
                <a:latin typeface="Arial"/>
                <a:cs typeface="Arial"/>
              </a:rPr>
              <a:t> thinking</a:t>
            </a:r>
            <a:r>
              <a:rPr lang="en-US" sz="4400" dirty="0">
                <a:latin typeface="Arial"/>
                <a:cs typeface="Arial"/>
              </a:rPr>
              <a:t>.</a:t>
            </a:r>
            <a:endParaRPr lang="en-US" dirty="0"/>
          </a:p>
          <a:p>
            <a:endParaRPr lang="en-US" dirty="0">
              <a:latin typeface="Arial"/>
              <a:cs typeface="Arial"/>
            </a:endParaRPr>
          </a:p>
        </p:txBody>
      </p:sp>
      <p:sp>
        <p:nvSpPr>
          <p:cNvPr id="2" name="Slide Number Placeholder 1">
            <a:extLst>
              <a:ext uri="{FF2B5EF4-FFF2-40B4-BE49-F238E27FC236}">
                <a16:creationId xmlns:a16="http://schemas.microsoft.com/office/drawing/2014/main" id="{EA1E5DD1-AEBC-FDC0-6BF2-FB696E3A8062}"/>
              </a:ext>
            </a:extLst>
          </p:cNvPr>
          <p:cNvSpPr>
            <a:spLocks noGrp="1"/>
          </p:cNvSpPr>
          <p:nvPr>
            <p:ph type="sldNum" sz="quarter" idx="12"/>
          </p:nvPr>
        </p:nvSpPr>
        <p:spPr/>
        <p:txBody>
          <a:bodyPr/>
          <a:lstStyle/>
          <a:p>
            <a:fld id="{10A01DC5-1685-4615-8240-15192985C6A2}" type="slidenum">
              <a:rPr lang="en-AU" smtClean="0"/>
              <a:t>29</a:t>
            </a:fld>
            <a:endParaRPr lang="en-AU"/>
          </a:p>
        </p:txBody>
      </p:sp>
    </p:spTree>
    <p:extLst>
      <p:ext uri="{BB962C8B-B14F-4D97-AF65-F5344CB8AC3E}">
        <p14:creationId xmlns:p14="http://schemas.microsoft.com/office/powerpoint/2010/main" val="234472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65A73-E634-98E9-DB9B-0D0C734E9F8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DF6C1BB-92D8-F3F1-FD83-E71E6EE5426B}"/>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(16)</a:t>
            </a:r>
          </a:p>
        </p:txBody>
      </p:sp>
      <p:pic>
        <p:nvPicPr>
          <p:cNvPr id="4" name="Picture 3" descr="image of a clipboard with a pencil recording short answer responses">
            <a:extLst>
              <a:ext uri="{FF2B5EF4-FFF2-40B4-BE49-F238E27FC236}">
                <a16:creationId xmlns:a16="http://schemas.microsoft.com/office/drawing/2014/main" id="{67930802-0D15-204B-8B8B-C39671389CDA}"/>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62E43AA6-EE50-7B61-E74B-D734C2893183}"/>
              </a:ext>
            </a:extLst>
          </p:cNvPr>
          <p:cNvSpPr>
            <a:spLocks noGrp="1"/>
          </p:cNvSpPr>
          <p:nvPr>
            <p:ph type="pic" sz="quarter" idx="21"/>
          </p:nvPr>
        </p:nvSpPr>
        <p:spPr>
          <a:xfrm>
            <a:off x="474481" y="1461072"/>
            <a:ext cx="11243037" cy="3336814"/>
          </a:xfrm>
        </p:spPr>
        <p:txBody>
          <a:bodyPr/>
          <a:lstStyle/>
          <a:p>
            <a:pPr algn="ctr"/>
            <a:r>
              <a:rPr lang="en-US" sz="4000">
                <a:latin typeface="Arial"/>
                <a:cs typeface="Arial"/>
              </a:rPr>
              <a:t>The playground needs new turf. The </a:t>
            </a:r>
            <a:r>
              <a:rPr lang="en-US" sz="4000" b="1">
                <a:latin typeface="Arial"/>
                <a:cs typeface="Arial"/>
              </a:rPr>
              <a:t>length</a:t>
            </a:r>
            <a:r>
              <a:rPr lang="en-US" sz="4000">
                <a:latin typeface="Arial"/>
                <a:cs typeface="Arial"/>
              </a:rPr>
              <a:t> is 28 </a:t>
            </a:r>
            <a:r>
              <a:rPr lang="en-US" sz="4000" err="1">
                <a:latin typeface="Arial"/>
                <a:cs typeface="Arial"/>
              </a:rPr>
              <a:t>metres</a:t>
            </a:r>
            <a:r>
              <a:rPr lang="en-US" sz="4000">
                <a:latin typeface="Arial"/>
                <a:cs typeface="Arial"/>
              </a:rPr>
              <a:t>, and the </a:t>
            </a:r>
            <a:r>
              <a:rPr lang="en-US" sz="4000" b="1">
                <a:latin typeface="Arial"/>
                <a:cs typeface="Arial"/>
              </a:rPr>
              <a:t>width</a:t>
            </a:r>
            <a:r>
              <a:rPr lang="en-US" sz="4000">
                <a:latin typeface="Arial"/>
                <a:cs typeface="Arial"/>
              </a:rPr>
              <a:t> is 7 </a:t>
            </a:r>
            <a:r>
              <a:rPr lang="en-US" sz="4000" err="1">
                <a:latin typeface="Arial"/>
                <a:cs typeface="Arial"/>
              </a:rPr>
              <a:t>metres</a:t>
            </a:r>
            <a:r>
              <a:rPr lang="en-US" sz="4000">
                <a:latin typeface="Arial"/>
                <a:cs typeface="Arial"/>
              </a:rPr>
              <a:t>. </a:t>
            </a:r>
            <a:r>
              <a:rPr lang="en-US" sz="4000" err="1">
                <a:latin typeface="Arial"/>
                <a:cs typeface="Arial"/>
              </a:rPr>
              <a:t>Mr</a:t>
            </a:r>
            <a:r>
              <a:rPr lang="en-US" sz="4000">
                <a:latin typeface="Arial"/>
                <a:cs typeface="Arial"/>
              </a:rPr>
              <a:t> Bancroft </a:t>
            </a:r>
            <a:r>
              <a:rPr lang="en-US" sz="4000" b="1">
                <a:latin typeface="Arial"/>
                <a:cs typeface="Arial"/>
              </a:rPr>
              <a:t>estimates</a:t>
            </a:r>
            <a:r>
              <a:rPr lang="en-US" sz="4000">
                <a:latin typeface="Arial"/>
                <a:cs typeface="Arial"/>
              </a:rPr>
              <a:t> that 200 square </a:t>
            </a:r>
            <a:r>
              <a:rPr lang="en-US" sz="4000" err="1">
                <a:latin typeface="Arial"/>
                <a:cs typeface="Arial"/>
              </a:rPr>
              <a:t>metres</a:t>
            </a:r>
            <a:r>
              <a:rPr lang="en-US" sz="4000">
                <a:latin typeface="Arial"/>
                <a:cs typeface="Arial"/>
              </a:rPr>
              <a:t> of turf is needed to cover the playground. Is this enough? Explain the </a:t>
            </a:r>
            <a:r>
              <a:rPr lang="en-US" sz="4000" b="1">
                <a:latin typeface="Arial"/>
                <a:cs typeface="Arial"/>
              </a:rPr>
              <a:t>strategies</a:t>
            </a:r>
            <a:r>
              <a:rPr lang="en-US" sz="4000">
                <a:latin typeface="Arial"/>
                <a:cs typeface="Arial"/>
              </a:rPr>
              <a:t> you used.</a:t>
            </a:r>
            <a:endParaRPr lang="en-US" sz="4000"/>
          </a:p>
          <a:p>
            <a:endParaRPr lang="en-US">
              <a:latin typeface="Arial"/>
              <a:cs typeface="Arial"/>
            </a:endParaRPr>
          </a:p>
        </p:txBody>
      </p:sp>
      <p:sp>
        <p:nvSpPr>
          <p:cNvPr id="2" name="Slide Number Placeholder 1">
            <a:extLst>
              <a:ext uri="{FF2B5EF4-FFF2-40B4-BE49-F238E27FC236}">
                <a16:creationId xmlns:a16="http://schemas.microsoft.com/office/drawing/2014/main" id="{8DAE7550-980B-6F74-1F50-776AFA7A5FAF}"/>
              </a:ext>
            </a:extLst>
          </p:cNvPr>
          <p:cNvSpPr>
            <a:spLocks noGrp="1"/>
          </p:cNvSpPr>
          <p:nvPr>
            <p:ph type="sldNum" sz="quarter" idx="12"/>
          </p:nvPr>
        </p:nvSpPr>
        <p:spPr/>
        <p:txBody>
          <a:bodyPr/>
          <a:lstStyle/>
          <a:p>
            <a:fld id="{10A01DC5-1685-4615-8240-15192985C6A2}" type="slidenum">
              <a:rPr lang="en-AU" smtClean="0"/>
              <a:t>30</a:t>
            </a:fld>
            <a:endParaRPr lang="en-AU"/>
          </a:p>
        </p:txBody>
      </p:sp>
    </p:spTree>
    <p:extLst>
      <p:ext uri="{BB962C8B-B14F-4D97-AF65-F5344CB8AC3E}">
        <p14:creationId xmlns:p14="http://schemas.microsoft.com/office/powerpoint/2010/main" val="4173883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0B6AC-C3E1-FE70-6C96-E032E2BCC7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DEFC7A0-99EF-5D5B-9B68-077AE722DEE5}"/>
              </a:ext>
            </a:extLst>
          </p:cNvPr>
          <p:cNvSpPr>
            <a:spLocks noGrp="1"/>
          </p:cNvSpPr>
          <p:nvPr>
            <p:ph type="title"/>
          </p:nvPr>
        </p:nvSpPr>
        <p:spPr/>
        <p:txBody>
          <a:bodyPr/>
          <a:lstStyle/>
          <a:p>
            <a:r>
              <a:rPr lang="en-AU">
                <a:latin typeface="Arial"/>
                <a:cs typeface="Arial"/>
              </a:rPr>
              <a:t>Activity 4 – determining factors</a:t>
            </a:r>
          </a:p>
        </p:txBody>
      </p:sp>
      <p:sp>
        <p:nvSpPr>
          <p:cNvPr id="6" name="TextBox 5">
            <a:extLst>
              <a:ext uri="{FF2B5EF4-FFF2-40B4-BE49-F238E27FC236}">
                <a16:creationId xmlns:a16="http://schemas.microsoft.com/office/drawing/2014/main" id="{B0DED9B5-5DED-60DE-2C80-6660E344953C}"/>
              </a:ext>
            </a:extLst>
          </p:cNvPr>
          <p:cNvSpPr txBox="1"/>
          <p:nvPr/>
        </p:nvSpPr>
        <p:spPr>
          <a:xfrm>
            <a:off x="1075586" y="1243041"/>
            <a:ext cx="10968929" cy="982513"/>
          </a:xfrm>
          <a:prstGeom prst="rect">
            <a:avLst/>
          </a:prstGeom>
          <a:noFill/>
        </p:spPr>
        <p:txBody>
          <a:bodyPr wrap="square" lIns="91440" tIns="45720" rIns="91440" bIns="45720" anchor="t">
            <a:spAutoFit/>
          </a:bodyPr>
          <a:lstStyle/>
          <a:p>
            <a:pPr>
              <a:lnSpc>
                <a:spcPct val="150000"/>
              </a:lnSpc>
              <a:spcBef>
                <a:spcPts val="1200"/>
              </a:spcBef>
            </a:pPr>
            <a:r>
              <a:rPr lang="en-AU" sz="4400" dirty="0">
                <a:latin typeface="Arial"/>
                <a:ea typeface="Calibri"/>
                <a:cs typeface="Arial"/>
              </a:rPr>
              <a:t>Identify as many </a:t>
            </a:r>
            <a:r>
              <a:rPr lang="en-AU" sz="4400" b="1" dirty="0">
                <a:latin typeface="Arial"/>
                <a:ea typeface="Calibri"/>
                <a:cs typeface="Arial"/>
              </a:rPr>
              <a:t>factors</a:t>
            </a:r>
            <a:r>
              <a:rPr lang="en-AU" sz="4400" dirty="0">
                <a:latin typeface="Arial"/>
                <a:ea typeface="Calibri"/>
                <a:cs typeface="Arial"/>
              </a:rPr>
              <a:t> as possible.</a:t>
            </a:r>
          </a:p>
        </p:txBody>
      </p:sp>
      <p:sp>
        <p:nvSpPr>
          <p:cNvPr id="5" name="TextBox 4">
            <a:extLst>
              <a:ext uri="{FF2B5EF4-FFF2-40B4-BE49-F238E27FC236}">
                <a16:creationId xmlns:a16="http://schemas.microsoft.com/office/drawing/2014/main" id="{14D474D9-EA3D-8944-B1BE-3142AE510ED2}"/>
              </a:ext>
            </a:extLst>
          </p:cNvPr>
          <p:cNvSpPr txBox="1"/>
          <p:nvPr/>
        </p:nvSpPr>
        <p:spPr>
          <a:xfrm>
            <a:off x="4892576" y="3221829"/>
            <a:ext cx="1879774" cy="1172821"/>
          </a:xfrm>
          <a:prstGeom prst="rect">
            <a:avLst/>
          </a:prstGeom>
          <a:noFill/>
        </p:spPr>
        <p:txBody>
          <a:bodyPr wrap="square" lIns="0" tIns="0" rIns="0" bIns="0" rtlCol="0">
            <a:noAutofit/>
          </a:bodyPr>
          <a:lstStyle/>
          <a:p>
            <a:pPr algn="ctr"/>
            <a:r>
              <a:rPr lang="en-AU" sz="11500">
                <a:solidFill>
                  <a:schemeClr val="accent1"/>
                </a:solidFill>
                <a:latin typeface="Foundation Handwriting" panose="020B0603050302020204" pitchFamily="34" charset="0"/>
              </a:rPr>
              <a:t>64</a:t>
            </a:r>
          </a:p>
        </p:txBody>
      </p:sp>
      <p:sp>
        <p:nvSpPr>
          <p:cNvPr id="2" name="Slide Number Placeholder 1">
            <a:extLst>
              <a:ext uri="{FF2B5EF4-FFF2-40B4-BE49-F238E27FC236}">
                <a16:creationId xmlns:a16="http://schemas.microsoft.com/office/drawing/2014/main" id="{75BFD066-2683-0BBE-5B4B-8967B3DD73F0}"/>
              </a:ext>
            </a:extLst>
          </p:cNvPr>
          <p:cNvSpPr>
            <a:spLocks noGrp="1"/>
          </p:cNvSpPr>
          <p:nvPr>
            <p:ph type="sldNum" sz="quarter" idx="12"/>
          </p:nvPr>
        </p:nvSpPr>
        <p:spPr/>
        <p:txBody>
          <a:bodyPr/>
          <a:lstStyle/>
          <a:p>
            <a:fld id="{10A01DC5-1685-4615-8240-15192985C6A2}" type="slidenum">
              <a:rPr lang="en-AU" smtClean="0"/>
              <a:t>31</a:t>
            </a:fld>
            <a:endParaRPr lang="en-AU"/>
          </a:p>
        </p:txBody>
      </p:sp>
    </p:spTree>
    <p:extLst>
      <p:ext uri="{BB962C8B-B14F-4D97-AF65-F5344CB8AC3E}">
        <p14:creationId xmlns:p14="http://schemas.microsoft.com/office/powerpoint/2010/main" val="1029590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AA317-177A-AB71-ADCD-8AE5EF981A1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9A12372-C1A2-E699-0EC6-99DCA1418796}"/>
              </a:ext>
            </a:extLst>
          </p:cNvPr>
          <p:cNvSpPr>
            <a:spLocks noGrp="1"/>
          </p:cNvSpPr>
          <p:nvPr>
            <p:ph type="ctrTitle"/>
          </p:nvPr>
        </p:nvSpPr>
        <p:spPr/>
        <p:txBody>
          <a:bodyPr/>
          <a:lstStyle/>
          <a:p>
            <a:r>
              <a:rPr lang="en-AU">
                <a:latin typeface="+mj-lt"/>
                <a:cs typeface="Arial"/>
              </a:rPr>
              <a:t>Review of learning 5</a:t>
            </a:r>
            <a:endParaRPr lang="en-AU">
              <a:latin typeface="+mj-lt"/>
            </a:endParaRPr>
          </a:p>
        </p:txBody>
      </p:sp>
    </p:spTree>
    <p:extLst>
      <p:ext uri="{BB962C8B-B14F-4D97-AF65-F5344CB8AC3E}">
        <p14:creationId xmlns:p14="http://schemas.microsoft.com/office/powerpoint/2010/main" val="2658045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(3)</a:t>
            </a:r>
          </a:p>
        </p:txBody>
      </p:sp>
      <p:pic>
        <p:nvPicPr>
          <p:cNvPr id="5" name="Picture 4" descr="image of a finger selecting an option for a multiple choice or true and false">
            <a:extLst>
              <a:ext uri="{FF2B5EF4-FFF2-40B4-BE49-F238E27FC236}">
                <a16:creationId xmlns:a16="http://schemas.microsoft.com/office/drawing/2014/main" id="{F31D1F19-3C77-CBD3-78E2-B3C67CA06991}"/>
              </a:ext>
            </a:extLst>
          </p:cNvPr>
          <p:cNvPicPr>
            <a:picLocks noChangeAspect="1"/>
          </p:cNvPicPr>
          <p:nvPr/>
        </p:nvPicPr>
        <p:blipFill>
          <a:blip r:embed="rId3"/>
          <a:stretch>
            <a:fillRect/>
          </a:stretch>
        </p:blipFill>
        <p:spPr>
          <a:xfrm>
            <a:off x="10639184" y="43303"/>
            <a:ext cx="1334510" cy="1305812"/>
          </a:xfrm>
          <a:prstGeom prst="rect">
            <a:avLst/>
          </a:prstGeom>
        </p:spPr>
      </p:pic>
      <mc:AlternateContent xmlns:mc="http://schemas.openxmlformats.org/markup-compatibility/2006" xmlns:a14="http://schemas.microsoft.com/office/drawing/2010/main">
        <mc:Choice Requires="a14">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a:xfrm>
                <a:off x="360000" y="1571992"/>
                <a:ext cx="11243037" cy="893226"/>
              </a:xfrm>
            </p:spPr>
            <p:txBody>
              <a:bodyPr vert="horz" lIns="0" tIns="0" rIns="0" bIns="0" rtlCol="0" anchor="t">
                <a:noAutofit/>
              </a:bodyPr>
              <a:lstStyle/>
              <a:p>
                <a:pPr algn="ctr"/>
                <a:r>
                  <a:rPr lang="en-AU" sz="4400" dirty="0"/>
                  <a:t>1 </a:t>
                </a:r>
                <a14:m>
                  <m:oMath xmlns:m="http://schemas.openxmlformats.org/officeDocument/2006/math">
                    <m:f>
                      <m:fPr>
                        <m:ctrlPr>
                          <a:rPr lang="en-AU" sz="4400" i="1">
                            <a:latin typeface="Cambria Math" panose="02040503050406030204" pitchFamily="18" charset="0"/>
                          </a:rPr>
                        </m:ctrlPr>
                      </m:fPr>
                      <m:num>
                        <m:r>
                          <a:rPr lang="en-AU" sz="4400" b="0" i="1" smtClean="0">
                            <a:latin typeface="Cambria Math" panose="02040503050406030204" pitchFamily="18" charset="0"/>
                          </a:rPr>
                          <m:t>2</m:t>
                        </m:r>
                      </m:num>
                      <m:den>
                        <m:r>
                          <a:rPr lang="en-AU" sz="4400" b="0" i="1">
                            <a:latin typeface="Cambria Math" panose="02040503050406030204" pitchFamily="18" charset="0"/>
                            <a:ea typeface="Calibri" panose="020F0502020204030204" pitchFamily="34" charset="0"/>
                          </a:rPr>
                          <m:t>4</m:t>
                        </m:r>
                      </m:den>
                    </m:f>
                  </m:oMath>
                </a14:m>
                <a:r>
                  <a:rPr lang="en-AU" sz="4400" dirty="0"/>
                  <a:t> </a:t>
                </a:r>
                <a:r>
                  <a:rPr lang="en-US" sz="4400" dirty="0"/>
                  <a:t>+</a:t>
                </a:r>
                <a:r>
                  <a:rPr lang="en-AU" sz="4400" dirty="0"/>
                  <a:t> </a:t>
                </a:r>
                <a14:m>
                  <m:oMath xmlns:m="http://schemas.openxmlformats.org/officeDocument/2006/math">
                    <m:f>
                      <m:fPr>
                        <m:ctrlPr>
                          <a:rPr lang="en-AU" sz="4400" i="1">
                            <a:latin typeface="Cambria Math" panose="02040503050406030204" pitchFamily="18" charset="0"/>
                          </a:rPr>
                        </m:ctrlPr>
                      </m:fPr>
                      <m:num>
                        <m:r>
                          <a:rPr lang="en-AU" sz="4400" b="0" i="1">
                            <a:latin typeface="Cambria Math" panose="02040503050406030204" pitchFamily="18" charset="0"/>
                            <a:ea typeface="Calibri" panose="020F0502020204030204" pitchFamily="34" charset="0"/>
                          </a:rPr>
                          <m:t>3</m:t>
                        </m:r>
                      </m:num>
                      <m:den>
                        <m:r>
                          <a:rPr lang="en-AU" sz="4400" b="0" i="1">
                            <a:latin typeface="Cambria Math" panose="02040503050406030204" pitchFamily="18" charset="0"/>
                            <a:ea typeface="Calibri" panose="020F0502020204030204" pitchFamily="34" charset="0"/>
                          </a:rPr>
                          <m:t>4</m:t>
                        </m:r>
                      </m:den>
                    </m:f>
                  </m:oMath>
                </a14:m>
                <a:r>
                  <a:rPr lang="en-US" sz="4400" dirty="0"/>
                  <a:t>  is </a:t>
                </a:r>
                <a:r>
                  <a:rPr lang="en-US" sz="4400" b="1" dirty="0"/>
                  <a:t>not</a:t>
                </a:r>
                <a:r>
                  <a:rPr lang="en-US" sz="4400" dirty="0"/>
                  <a:t> equal to:</a:t>
                </a:r>
              </a:p>
            </p:txBody>
          </p:sp>
        </mc:Choice>
        <mc:Fallback xmlns="">
          <p:sp>
            <p:nvSpPr>
              <p:cNvPr id="18" name="Text Placeholder 17">
                <a:extLst>
                  <a:ext uri="{FF2B5EF4-FFF2-40B4-BE49-F238E27FC236}">
                    <a16:creationId xmlns:a16="http://schemas.microsoft.com/office/drawing/2014/main" id="{E8FE2C2C-AE76-908D-8B08-A054EB3D8479}"/>
                  </a:ext>
                </a:extLst>
              </p:cNvPr>
              <p:cNvSpPr>
                <a:spLocks noGrp="1" noRot="1" noChangeAspect="1" noMove="1" noResize="1" noEditPoints="1" noAdjustHandles="1" noChangeArrowheads="1" noChangeShapeType="1" noTextEdit="1"/>
              </p:cNvSpPr>
              <p:nvPr>
                <p:ph type="body" sz="quarter" idx="24"/>
              </p:nvPr>
            </p:nvSpPr>
            <p:spPr>
              <a:xfrm>
                <a:off x="360000" y="1571992"/>
                <a:ext cx="11243037" cy="893226"/>
              </a:xfrm>
              <a:blipFill>
                <a:blip r:embed="rId4"/>
                <a:stretch>
                  <a:fillRect b="-66438"/>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35E5AB9F-F464-7892-DE49-02CB519550E6}"/>
                  </a:ext>
                </a:extLst>
              </p:cNvPr>
              <p:cNvGraphicFramePr>
                <a:graphicFrameLocks noGrp="1"/>
              </p:cNvGraphicFramePr>
              <p:nvPr>
                <p:extLst>
                  <p:ext uri="{D42A27DB-BD31-4B8C-83A1-F6EECF244321}">
                    <p14:modId xmlns:p14="http://schemas.microsoft.com/office/powerpoint/2010/main" val="1989052957"/>
                  </p:ext>
                </p:extLst>
              </p:nvPr>
            </p:nvGraphicFramePr>
            <p:xfrm>
              <a:off x="360000" y="3429000"/>
              <a:ext cx="11484000" cy="1546479"/>
            </p:xfrm>
            <a:graphic>
              <a:graphicData uri="http://schemas.openxmlformats.org/drawingml/2006/table">
                <a:tbl>
                  <a:tblPr firstRow="1" bandRow="1">
                    <a:tableStyleId>{5A111915-BE36-4E01-A7E5-04B1672EAD32}</a:tableStyleId>
                  </a:tblPr>
                  <a:tblGrid>
                    <a:gridCol w="2871000">
                      <a:extLst>
                        <a:ext uri="{9D8B030D-6E8A-4147-A177-3AD203B41FA5}">
                          <a16:colId xmlns:a16="http://schemas.microsoft.com/office/drawing/2014/main" val="1764535638"/>
                        </a:ext>
                      </a:extLst>
                    </a:gridCol>
                    <a:gridCol w="2871000">
                      <a:extLst>
                        <a:ext uri="{9D8B030D-6E8A-4147-A177-3AD203B41FA5}">
                          <a16:colId xmlns:a16="http://schemas.microsoft.com/office/drawing/2014/main" val="1542929608"/>
                        </a:ext>
                      </a:extLst>
                    </a:gridCol>
                    <a:gridCol w="2871000">
                      <a:extLst>
                        <a:ext uri="{9D8B030D-6E8A-4147-A177-3AD203B41FA5}">
                          <a16:colId xmlns:a16="http://schemas.microsoft.com/office/drawing/2014/main" val="4128396063"/>
                        </a:ext>
                      </a:extLst>
                    </a:gridCol>
                    <a:gridCol w="2871000">
                      <a:extLst>
                        <a:ext uri="{9D8B030D-6E8A-4147-A177-3AD203B41FA5}">
                          <a16:colId xmlns:a16="http://schemas.microsoft.com/office/drawing/2014/main" val="684268156"/>
                        </a:ext>
                      </a:extLst>
                    </a:gridCol>
                  </a:tblGrid>
                  <a:tr h="681547">
                    <a:tc>
                      <a:txBody>
                        <a:bodyPr/>
                        <a:lstStyle/>
                        <a:p>
                          <a:pPr algn="ctr"/>
                          <a:r>
                            <a:rPr lang="en-US" sz="4400" b="1">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40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400" dirty="0">
                              <a:solidFill>
                                <a:schemeClr val="tx1"/>
                              </a:solidFill>
                            </a:rPr>
                            <a:t>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400">
                              <a:solidFill>
                                <a:schemeClr val="tx1"/>
                              </a:solidFill>
                            </a:rPr>
                            <a:t>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algn="ctr"/>
                          <a:r>
                            <a:rPr lang="en-AU" sz="3200"/>
                            <a:t>2 </a:t>
                          </a:r>
                          <a14:m>
                            <m:oMath xmlns:m="http://schemas.openxmlformats.org/officeDocument/2006/math">
                              <m:f>
                                <m:fPr>
                                  <m:ctrlPr>
                                    <a:rPr lang="en-AU" sz="3200" i="1">
                                      <a:latin typeface="Cambria Math" panose="02040503050406030204" pitchFamily="18" charset="0"/>
                                    </a:rPr>
                                  </m:ctrlPr>
                                </m:fPr>
                                <m:num>
                                  <m:r>
                                    <a:rPr lang="en-AU" sz="3200" b="0" i="1" smtClean="0">
                                      <a:latin typeface="Cambria Math" panose="02040503050406030204" pitchFamily="18" charset="0"/>
                                    </a:rPr>
                                    <m:t>1</m:t>
                                  </m:r>
                                </m:num>
                                <m:den>
                                  <m:r>
                                    <a:rPr lang="en-AU" sz="3200" b="0" i="1">
                                      <a:latin typeface="Cambria Math" panose="02040503050406030204" pitchFamily="18" charset="0"/>
                                      <a:ea typeface="Calibri" panose="020F0502020204030204" pitchFamily="34" charset="0"/>
                                    </a:rPr>
                                    <m:t>4</m:t>
                                  </m:r>
                                </m:den>
                              </m:f>
                            </m:oMath>
                          </a14:m>
                          <a:endParaRPr lang="en-AU" sz="32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3200"/>
                            <a:t>2</a:t>
                          </a:r>
                          <a14:m>
                            <m:oMath xmlns:m="http://schemas.openxmlformats.org/officeDocument/2006/math">
                              <m:f>
                                <m:fPr>
                                  <m:ctrlPr>
                                    <a:rPr lang="en-AU" sz="3200" i="1" dirty="0">
                                      <a:latin typeface="Cambria Math" panose="02040503050406030204" pitchFamily="18" charset="0"/>
                                    </a:rPr>
                                  </m:ctrlPr>
                                </m:fPr>
                                <m:num>
                                  <m:r>
                                    <a:rPr lang="en-AU" sz="3200" b="0" i="1" smtClean="0">
                                      <a:latin typeface="Cambria Math" panose="02040503050406030204" pitchFamily="18" charset="0"/>
                                    </a:rPr>
                                    <m:t>2</m:t>
                                  </m:r>
                                </m:num>
                                <m:den>
                                  <m:r>
                                    <a:rPr lang="en-AU" sz="3200" b="0" i="1" smtClean="0">
                                      <a:latin typeface="Cambria Math" panose="02040503050406030204" pitchFamily="18" charset="0"/>
                                    </a:rPr>
                                    <m:t>8</m:t>
                                  </m:r>
                                </m:den>
                              </m:f>
                            </m:oMath>
                          </a14:m>
                          <a:endParaRPr lang="en-AU" sz="32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3200"/>
                            <a:t> </a:t>
                          </a:r>
                          <a14:m>
                            <m:oMath xmlns:m="http://schemas.openxmlformats.org/officeDocument/2006/math">
                              <m:f>
                                <m:fPr>
                                  <m:ctrlPr>
                                    <a:rPr lang="en-AU" sz="3200" i="1">
                                      <a:latin typeface="Cambria Math" panose="02040503050406030204" pitchFamily="18" charset="0"/>
                                    </a:rPr>
                                  </m:ctrlPr>
                                </m:fPr>
                                <m:num>
                                  <m:r>
                                    <a:rPr lang="en-AU" sz="3200" b="0" i="1" smtClean="0">
                                      <a:latin typeface="Cambria Math" panose="02040503050406030204" pitchFamily="18" charset="0"/>
                                    </a:rPr>
                                    <m:t>9</m:t>
                                  </m:r>
                                </m:num>
                                <m:den>
                                  <m:r>
                                    <a:rPr lang="en-AU" sz="3200" b="0" i="1">
                                      <a:latin typeface="Cambria Math" panose="02040503050406030204" pitchFamily="18" charset="0"/>
                                      <a:ea typeface="Calibri" panose="020F0502020204030204" pitchFamily="34" charset="0"/>
                                    </a:rPr>
                                    <m:t>4</m:t>
                                  </m:r>
                                </m:den>
                              </m:f>
                            </m:oMath>
                          </a14:m>
                          <a:endParaRPr lang="en-AU" sz="32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3200" dirty="0"/>
                            <a:t> </a:t>
                          </a:r>
                          <a14:m>
                            <m:oMath xmlns:m="http://schemas.openxmlformats.org/officeDocument/2006/math">
                              <m:f>
                                <m:fPr>
                                  <m:ctrlPr>
                                    <a:rPr lang="en-AU" sz="3200" i="1">
                                      <a:latin typeface="Cambria Math" panose="02040503050406030204" pitchFamily="18" charset="0"/>
                                    </a:rPr>
                                  </m:ctrlPr>
                                </m:fPr>
                                <m:num>
                                  <m:r>
                                    <a:rPr lang="en-AU" sz="3200" b="0" i="1" smtClean="0">
                                      <a:latin typeface="Cambria Math" panose="02040503050406030204" pitchFamily="18" charset="0"/>
                                    </a:rPr>
                                    <m:t>19</m:t>
                                  </m:r>
                                </m:num>
                                <m:den>
                                  <m:r>
                                    <a:rPr lang="en-AU" sz="3200" b="0" i="1" smtClean="0">
                                      <a:latin typeface="Cambria Math" panose="02040503050406030204" pitchFamily="18" charset="0"/>
                                    </a:rPr>
                                    <m:t>8</m:t>
                                  </m:r>
                                </m:den>
                              </m:f>
                            </m:oMath>
                          </a14:m>
                          <a:endParaRPr lang="en-AU" sz="3200" dirty="0">
                            <a:latin typeface="+mn-lt"/>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mc:Choice>
        <mc:Fallback xmlns="">
          <p:graphicFrame>
            <p:nvGraphicFramePr>
              <p:cNvPr id="4" name="Table 3">
                <a:extLst>
                  <a:ext uri="{FF2B5EF4-FFF2-40B4-BE49-F238E27FC236}">
                    <a16:creationId xmlns:a16="http://schemas.microsoft.com/office/drawing/2014/main" id="{35E5AB9F-F464-7892-DE49-02CB519550E6}"/>
                  </a:ext>
                </a:extLst>
              </p:cNvPr>
              <p:cNvGraphicFramePr>
                <a:graphicFrameLocks noGrp="1"/>
              </p:cNvGraphicFramePr>
              <p:nvPr>
                <p:extLst>
                  <p:ext uri="{D42A27DB-BD31-4B8C-83A1-F6EECF244321}">
                    <p14:modId xmlns:p14="http://schemas.microsoft.com/office/powerpoint/2010/main" val="1989052957"/>
                  </p:ext>
                </p:extLst>
              </p:nvPr>
            </p:nvGraphicFramePr>
            <p:xfrm>
              <a:off x="360000" y="3429000"/>
              <a:ext cx="11484000" cy="1546479"/>
            </p:xfrm>
            <a:graphic>
              <a:graphicData uri="http://schemas.openxmlformats.org/drawingml/2006/table">
                <a:tbl>
                  <a:tblPr firstRow="1" bandRow="1">
                    <a:tableStyleId>{5A111915-BE36-4E01-A7E5-04B1672EAD32}</a:tableStyleId>
                  </a:tblPr>
                  <a:tblGrid>
                    <a:gridCol w="2871000">
                      <a:extLst>
                        <a:ext uri="{9D8B030D-6E8A-4147-A177-3AD203B41FA5}">
                          <a16:colId xmlns:a16="http://schemas.microsoft.com/office/drawing/2014/main" val="1764535638"/>
                        </a:ext>
                      </a:extLst>
                    </a:gridCol>
                    <a:gridCol w="2871000">
                      <a:extLst>
                        <a:ext uri="{9D8B030D-6E8A-4147-A177-3AD203B41FA5}">
                          <a16:colId xmlns:a16="http://schemas.microsoft.com/office/drawing/2014/main" val="1542929608"/>
                        </a:ext>
                      </a:extLst>
                    </a:gridCol>
                    <a:gridCol w="2871000">
                      <a:extLst>
                        <a:ext uri="{9D8B030D-6E8A-4147-A177-3AD203B41FA5}">
                          <a16:colId xmlns:a16="http://schemas.microsoft.com/office/drawing/2014/main" val="4128396063"/>
                        </a:ext>
                      </a:extLst>
                    </a:gridCol>
                    <a:gridCol w="2871000">
                      <a:extLst>
                        <a:ext uri="{9D8B030D-6E8A-4147-A177-3AD203B41FA5}">
                          <a16:colId xmlns:a16="http://schemas.microsoft.com/office/drawing/2014/main" val="684268156"/>
                        </a:ext>
                      </a:extLst>
                    </a:gridCol>
                  </a:tblGrid>
                  <a:tr h="762000">
                    <a:tc>
                      <a:txBody>
                        <a:bodyPr/>
                        <a:lstStyle/>
                        <a:p>
                          <a:pPr algn="ctr"/>
                          <a:r>
                            <a:rPr lang="en-US" sz="4400" b="1">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40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400">
                              <a:solidFill>
                                <a:schemeClr val="tx1"/>
                              </a:solidFill>
                            </a:rPr>
                            <a:t>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400">
                              <a:solidFill>
                                <a:schemeClr val="tx1"/>
                              </a:solidFill>
                            </a:rPr>
                            <a:t>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784479">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t="-113953" r="-300000" b="-10078"/>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100000" t="-113953" r="-200000" b="-10078"/>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200000" t="-113953" r="-100000" b="-10078"/>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300000" t="-113953" b="-10078"/>
                          </a:stretch>
                        </a:blipFill>
                      </a:tcPr>
                    </a:tc>
                    <a:extLst>
                      <a:ext uri="{0D108BD9-81ED-4DB2-BD59-A6C34878D82A}">
                        <a16:rowId xmlns:a16="http://schemas.microsoft.com/office/drawing/2014/main" val="505300166"/>
                      </a:ext>
                    </a:extLst>
                  </a:tr>
                </a:tbl>
              </a:graphicData>
            </a:graphic>
          </p:graphicFrame>
        </mc:Fallback>
      </mc:AlternateContent>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D2BD3-C0AF-4708-6300-CAF6418A984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7F9A0C-D005-60FF-B9A6-94BD6542024F}"/>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(17)</a:t>
            </a:r>
          </a:p>
        </p:txBody>
      </p:sp>
      <p:pic>
        <p:nvPicPr>
          <p:cNvPr id="4" name="Picture 3" descr="image of a clipboard with a pencil recording short answer responses">
            <a:extLst>
              <a:ext uri="{FF2B5EF4-FFF2-40B4-BE49-F238E27FC236}">
                <a16:creationId xmlns:a16="http://schemas.microsoft.com/office/drawing/2014/main" id="{BB099BAB-328B-59D1-278A-FFBF494FA8C0}"/>
              </a:ext>
            </a:extLst>
          </p:cNvPr>
          <p:cNvPicPr>
            <a:picLocks noChangeAspect="1"/>
          </p:cNvPicPr>
          <p:nvPr/>
        </p:nvPicPr>
        <p:blipFill>
          <a:blip r:embed="rId3"/>
          <a:stretch>
            <a:fillRect/>
          </a:stretch>
        </p:blipFill>
        <p:spPr>
          <a:xfrm>
            <a:off x="11124000" y="162000"/>
            <a:ext cx="915500" cy="915500"/>
          </a:xfrm>
          <a:prstGeom prst="rect">
            <a:avLst/>
          </a:prstGeom>
        </p:spPr>
      </p:pic>
      <p:sp>
        <p:nvSpPr>
          <p:cNvPr id="11" name="Picture Placeholder 10">
            <a:extLst>
              <a:ext uri="{FF2B5EF4-FFF2-40B4-BE49-F238E27FC236}">
                <a16:creationId xmlns:a16="http://schemas.microsoft.com/office/drawing/2014/main" id="{E3076825-3639-8154-0BA8-58E1ADFFDA47}"/>
              </a:ext>
            </a:extLst>
          </p:cNvPr>
          <p:cNvSpPr>
            <a:spLocks noGrp="1"/>
          </p:cNvSpPr>
          <p:nvPr>
            <p:ph type="pic" sz="quarter" idx="21"/>
          </p:nvPr>
        </p:nvSpPr>
        <p:spPr>
          <a:xfrm>
            <a:off x="1543049" y="1539872"/>
            <a:ext cx="9105901" cy="3778256"/>
          </a:xfrm>
        </p:spPr>
        <p:txBody>
          <a:bodyPr/>
          <a:lstStyle/>
          <a:p>
            <a:pPr algn="ctr"/>
            <a:r>
              <a:rPr lang="en-US" sz="4400" dirty="0">
                <a:latin typeface="Arial"/>
                <a:cs typeface="Arial"/>
              </a:rPr>
              <a:t>Sarah wants to buy a new pair of athletic shoes which cost $200. There is a </a:t>
            </a:r>
            <a:r>
              <a:rPr lang="en-US" sz="4400" b="1" dirty="0">
                <a:latin typeface="Arial"/>
                <a:cs typeface="Arial"/>
              </a:rPr>
              <a:t>25% discount</a:t>
            </a:r>
            <a:r>
              <a:rPr lang="en-US" sz="4400" dirty="0">
                <a:latin typeface="Arial"/>
                <a:cs typeface="Arial"/>
              </a:rPr>
              <a:t>. </a:t>
            </a:r>
          </a:p>
          <a:p>
            <a:pPr algn="ctr"/>
            <a:r>
              <a:rPr lang="en-US" sz="4400" dirty="0">
                <a:latin typeface="Arial"/>
                <a:cs typeface="Arial"/>
              </a:rPr>
              <a:t>How much will Sarah pay?</a:t>
            </a:r>
            <a:endParaRPr lang="en-US" dirty="0">
              <a:latin typeface="Arial"/>
              <a:cs typeface="Arial"/>
            </a:endParaRPr>
          </a:p>
        </p:txBody>
      </p:sp>
      <p:sp>
        <p:nvSpPr>
          <p:cNvPr id="2" name="Slide Number Placeholder 1">
            <a:extLst>
              <a:ext uri="{FF2B5EF4-FFF2-40B4-BE49-F238E27FC236}">
                <a16:creationId xmlns:a16="http://schemas.microsoft.com/office/drawing/2014/main" id="{40130AEC-A203-6E6F-E5BE-64487BE37563}"/>
              </a:ext>
            </a:extLst>
          </p:cNvPr>
          <p:cNvSpPr>
            <a:spLocks noGrp="1"/>
          </p:cNvSpPr>
          <p:nvPr>
            <p:ph type="sldNum" sz="quarter" idx="12"/>
          </p:nvPr>
        </p:nvSpPr>
        <p:spPr/>
        <p:txBody>
          <a:bodyPr/>
          <a:lstStyle/>
          <a:p>
            <a:fld id="{10A01DC5-1685-4615-8240-15192985C6A2}" type="slidenum">
              <a:rPr lang="en-AU" smtClean="0"/>
              <a:t>34</a:t>
            </a:fld>
            <a:endParaRPr lang="en-AU"/>
          </a:p>
        </p:txBody>
      </p:sp>
    </p:spTree>
    <p:extLst>
      <p:ext uri="{BB962C8B-B14F-4D97-AF65-F5344CB8AC3E}">
        <p14:creationId xmlns:p14="http://schemas.microsoft.com/office/powerpoint/2010/main" val="1672030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58B9F-C306-6503-3373-9BF6711EAAD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FACE562-8F72-5080-9D69-0EE65AC407B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(18)</a:t>
            </a:r>
          </a:p>
        </p:txBody>
      </p:sp>
      <p:pic>
        <p:nvPicPr>
          <p:cNvPr id="5" name="Picture 4" descr="image of a clipboard with a pencil recording short answer responses">
            <a:extLst>
              <a:ext uri="{FF2B5EF4-FFF2-40B4-BE49-F238E27FC236}">
                <a16:creationId xmlns:a16="http://schemas.microsoft.com/office/drawing/2014/main" id="{FE345378-20FF-A172-6D0E-53FEDBC9411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1F75818F-93B9-450A-ABF8-A471F0F65B72}"/>
              </a:ext>
            </a:extLst>
          </p:cNvPr>
          <p:cNvSpPr txBox="1"/>
          <p:nvPr/>
        </p:nvSpPr>
        <p:spPr>
          <a:xfrm>
            <a:off x="347997" y="865575"/>
            <a:ext cx="10968929" cy="1651671"/>
          </a:xfrm>
          <a:prstGeom prst="rect">
            <a:avLst/>
          </a:prstGeom>
          <a:noFill/>
        </p:spPr>
        <p:txBody>
          <a:bodyPr wrap="square" lIns="91440" tIns="45720" rIns="91440" bIns="45720" anchor="t">
            <a:spAutoFit/>
          </a:bodyPr>
          <a:lstStyle/>
          <a:p>
            <a:pPr>
              <a:lnSpc>
                <a:spcPct val="150000"/>
              </a:lnSpc>
              <a:spcBef>
                <a:spcPts val="1200"/>
              </a:spcBef>
            </a:pPr>
            <a:r>
              <a:rPr lang="en-AU" sz="3600" dirty="0">
                <a:latin typeface="Arial"/>
                <a:ea typeface="Calibri"/>
                <a:cs typeface="Arial"/>
              </a:rPr>
              <a:t>Use </a:t>
            </a:r>
            <a:r>
              <a:rPr lang="en-AU" sz="3600" b="1" dirty="0">
                <a:latin typeface="Arial"/>
                <a:ea typeface="Calibri"/>
                <a:cs typeface="Arial"/>
              </a:rPr>
              <a:t>estimation</a:t>
            </a:r>
            <a:r>
              <a:rPr lang="en-AU" sz="3600" dirty="0">
                <a:latin typeface="Arial"/>
                <a:ea typeface="Calibri"/>
                <a:cs typeface="Arial"/>
              </a:rPr>
              <a:t> to determine the reasonableness of this answer.</a:t>
            </a:r>
          </a:p>
        </p:txBody>
      </p:sp>
      <p:pic>
        <p:nvPicPr>
          <p:cNvPr id="10" name="Picture 9" descr="An incorrect subtraction algorithm; 434006 - 5199 = 434207">
            <a:extLst>
              <a:ext uri="{FF2B5EF4-FFF2-40B4-BE49-F238E27FC236}">
                <a16:creationId xmlns:a16="http://schemas.microsoft.com/office/drawing/2014/main" id="{B08C5ED3-CF6C-C418-B90B-9D1CC9DE5870}"/>
              </a:ext>
            </a:extLst>
          </p:cNvPr>
          <p:cNvPicPr>
            <a:picLocks noChangeAspect="1"/>
          </p:cNvPicPr>
          <p:nvPr/>
        </p:nvPicPr>
        <p:blipFill>
          <a:blip r:embed="rId4"/>
          <a:stretch>
            <a:fillRect/>
          </a:stretch>
        </p:blipFill>
        <p:spPr>
          <a:xfrm>
            <a:off x="4209863" y="1943013"/>
            <a:ext cx="3245196" cy="3477549"/>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163AA28C-C3EA-2F66-C341-D983AF5CCFB0}"/>
              </a:ext>
            </a:extLst>
          </p:cNvPr>
          <p:cNvSpPr txBox="1"/>
          <p:nvPr/>
        </p:nvSpPr>
        <p:spPr>
          <a:xfrm>
            <a:off x="2910348" y="5785326"/>
            <a:ext cx="6371303" cy="820674"/>
          </a:xfrm>
          <a:prstGeom prst="rect">
            <a:avLst/>
          </a:prstGeom>
          <a:noFill/>
        </p:spPr>
        <p:txBody>
          <a:bodyPr wrap="square" lIns="91440" tIns="45720" rIns="91440" bIns="45720" anchor="t">
            <a:spAutoFit/>
          </a:bodyPr>
          <a:lstStyle/>
          <a:p>
            <a:pPr>
              <a:lnSpc>
                <a:spcPct val="150000"/>
              </a:lnSpc>
              <a:spcBef>
                <a:spcPts val="1200"/>
              </a:spcBef>
            </a:pPr>
            <a:r>
              <a:rPr lang="en-AU" sz="3600" b="1" dirty="0">
                <a:latin typeface="Arial"/>
                <a:ea typeface="Calibri"/>
                <a:cs typeface="Arial"/>
              </a:rPr>
              <a:t>Communicate</a:t>
            </a:r>
            <a:r>
              <a:rPr lang="en-AU" sz="3600" dirty="0">
                <a:latin typeface="Arial"/>
                <a:ea typeface="Calibri"/>
                <a:cs typeface="Arial"/>
              </a:rPr>
              <a:t> your </a:t>
            </a:r>
            <a:r>
              <a:rPr lang="en-AU" sz="3600" b="1" dirty="0">
                <a:latin typeface="Arial"/>
                <a:ea typeface="Calibri"/>
                <a:cs typeface="Arial"/>
              </a:rPr>
              <a:t>thinking</a:t>
            </a:r>
            <a:r>
              <a:rPr lang="en-AU" sz="3600" dirty="0">
                <a:latin typeface="Arial"/>
                <a:ea typeface="Calibri"/>
                <a:cs typeface="Arial"/>
              </a:rPr>
              <a:t>.</a:t>
            </a:r>
          </a:p>
        </p:txBody>
      </p:sp>
      <p:sp>
        <p:nvSpPr>
          <p:cNvPr id="2" name="Slide Number Placeholder 1">
            <a:extLst>
              <a:ext uri="{FF2B5EF4-FFF2-40B4-BE49-F238E27FC236}">
                <a16:creationId xmlns:a16="http://schemas.microsoft.com/office/drawing/2014/main" id="{F1F2BFEC-E945-6F4C-3309-9F724EDCBBF2}"/>
              </a:ext>
            </a:extLst>
          </p:cNvPr>
          <p:cNvSpPr>
            <a:spLocks noGrp="1"/>
          </p:cNvSpPr>
          <p:nvPr>
            <p:ph type="sldNum" sz="quarter" idx="12"/>
          </p:nvPr>
        </p:nvSpPr>
        <p:spPr/>
        <p:txBody>
          <a:bodyPr/>
          <a:lstStyle/>
          <a:p>
            <a:fld id="{10A01DC5-1685-4615-8240-15192985C6A2}" type="slidenum">
              <a:rPr lang="en-AU" smtClean="0"/>
              <a:t>35</a:t>
            </a:fld>
            <a:endParaRPr lang="en-AU"/>
          </a:p>
        </p:txBody>
      </p:sp>
    </p:spTree>
    <p:extLst>
      <p:ext uri="{BB962C8B-B14F-4D97-AF65-F5344CB8AC3E}">
        <p14:creationId xmlns:p14="http://schemas.microsoft.com/office/powerpoint/2010/main" val="2560304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E5171-1234-D0DF-8708-3925C62E7E7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C79D7C8-F241-CB18-CA93-BC27C3BD3394}"/>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(19)</a:t>
            </a:r>
          </a:p>
        </p:txBody>
      </p:sp>
      <p:pic>
        <p:nvPicPr>
          <p:cNvPr id="4" name="Picture 3" descr="image of a clipboard with a pencil recording short answer responses">
            <a:extLst>
              <a:ext uri="{FF2B5EF4-FFF2-40B4-BE49-F238E27FC236}">
                <a16:creationId xmlns:a16="http://schemas.microsoft.com/office/drawing/2014/main" id="{7DFD27BE-68F7-D289-2C28-ACC03945378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9746C590-5EAE-E428-0D12-C870AC29AF8E}"/>
              </a:ext>
            </a:extLst>
          </p:cNvPr>
          <p:cNvSpPr>
            <a:spLocks noGrp="1"/>
          </p:cNvSpPr>
          <p:nvPr>
            <p:ph type="pic" sz="quarter" idx="21"/>
          </p:nvPr>
        </p:nvSpPr>
        <p:spPr>
          <a:xfrm>
            <a:off x="360001" y="1141409"/>
            <a:ext cx="11124000" cy="5399740"/>
          </a:xfrm>
        </p:spPr>
        <p:txBody>
          <a:bodyPr/>
          <a:lstStyle/>
          <a:p>
            <a:pPr algn="ctr"/>
            <a:r>
              <a:rPr lang="en-US" sz="3200" dirty="0">
                <a:solidFill>
                  <a:srgbClr val="333333"/>
                </a:solidFill>
                <a:latin typeface="Arial"/>
                <a:cs typeface="Segoe UI"/>
              </a:rPr>
              <a:t>Identify the suitable </a:t>
            </a:r>
            <a:r>
              <a:rPr lang="en-US" sz="3200" b="1" dirty="0">
                <a:solidFill>
                  <a:srgbClr val="333333"/>
                </a:solidFill>
                <a:latin typeface="Arial"/>
                <a:cs typeface="Segoe UI"/>
              </a:rPr>
              <a:t>unit</a:t>
            </a:r>
            <a:r>
              <a:rPr lang="en-US" sz="3200" dirty="0">
                <a:solidFill>
                  <a:srgbClr val="333333"/>
                </a:solidFill>
                <a:latin typeface="Arial"/>
                <a:cs typeface="Segoe UI"/>
              </a:rPr>
              <a:t> to </a:t>
            </a:r>
            <a:r>
              <a:rPr lang="en-US" sz="3200" b="1" dirty="0">
                <a:solidFill>
                  <a:srgbClr val="333333"/>
                </a:solidFill>
                <a:latin typeface="Arial"/>
                <a:cs typeface="Segoe UI"/>
              </a:rPr>
              <a:t>measure the mass</a:t>
            </a:r>
            <a:r>
              <a:rPr lang="en-US" sz="3200" dirty="0">
                <a:solidFill>
                  <a:srgbClr val="333333"/>
                </a:solidFill>
                <a:latin typeface="Arial"/>
                <a:cs typeface="Segoe UI"/>
              </a:rPr>
              <a:t> of the following items, choosing from </a:t>
            </a:r>
            <a:r>
              <a:rPr lang="en-US" sz="3200" b="1" dirty="0">
                <a:solidFill>
                  <a:srgbClr val="333333"/>
                </a:solidFill>
                <a:latin typeface="Arial"/>
                <a:cs typeface="Segoe UI"/>
              </a:rPr>
              <a:t>grams, kilograms, and </a:t>
            </a:r>
            <a:r>
              <a:rPr lang="en-US" sz="3200" b="1" dirty="0" err="1">
                <a:solidFill>
                  <a:srgbClr val="333333"/>
                </a:solidFill>
                <a:latin typeface="Arial"/>
                <a:cs typeface="Segoe UI"/>
              </a:rPr>
              <a:t>tonnes</a:t>
            </a:r>
            <a:r>
              <a:rPr lang="en-US" sz="3200" b="1" dirty="0">
                <a:solidFill>
                  <a:srgbClr val="333333"/>
                </a:solidFill>
                <a:latin typeface="Arial"/>
                <a:cs typeface="Segoe UI"/>
              </a:rPr>
              <a:t>:</a:t>
            </a:r>
            <a:r>
              <a:rPr lang="en-US" sz="2800" dirty="0">
                <a:latin typeface="Arial"/>
                <a:cs typeface="Arial"/>
              </a:rPr>
              <a:t>	</a:t>
            </a:r>
            <a:endParaRPr lang="en-US" sz="3200" dirty="0">
              <a:solidFill>
                <a:srgbClr val="333333"/>
              </a:solidFill>
              <a:latin typeface="Arial"/>
              <a:ea typeface="Calibri"/>
              <a:cs typeface="Segoe UI"/>
            </a:endParaRPr>
          </a:p>
          <a:p>
            <a:pPr marL="457200" indent="-457200" algn="ctr">
              <a:buChar char="•"/>
            </a:pPr>
            <a:r>
              <a:rPr lang="en-US" sz="2800">
                <a:latin typeface="Arial"/>
                <a:cs typeface="Arial"/>
              </a:rPr>
              <a:t>a pencil</a:t>
            </a:r>
          </a:p>
          <a:p>
            <a:pPr marL="457200" indent="-457200" algn="ctr">
              <a:buChar char="•"/>
            </a:pPr>
            <a:r>
              <a:rPr lang="en-US" sz="2800" dirty="0">
                <a:latin typeface="Arial"/>
                <a:cs typeface="Arial"/>
              </a:rPr>
              <a:t>a watermelon</a:t>
            </a:r>
          </a:p>
          <a:p>
            <a:pPr marL="457200" indent="-457200" algn="ctr">
              <a:buChar char="•"/>
            </a:pPr>
            <a:r>
              <a:rPr lang="en-US" sz="2800" dirty="0">
                <a:latin typeface="Arial"/>
                <a:cs typeface="Arial"/>
              </a:rPr>
              <a:t>a puppy</a:t>
            </a:r>
          </a:p>
          <a:p>
            <a:pPr marL="457200" indent="-457200" algn="ctr">
              <a:buChar char="•"/>
            </a:pPr>
            <a:r>
              <a:rPr lang="en-US" sz="2800" dirty="0">
                <a:latin typeface="Arial"/>
                <a:cs typeface="Arial"/>
              </a:rPr>
              <a:t>a truck</a:t>
            </a:r>
          </a:p>
          <a:p>
            <a:pPr algn="ctr"/>
            <a:endParaRPr lang="en-US" sz="1600" dirty="0"/>
          </a:p>
          <a:p>
            <a:pPr algn="ctr"/>
            <a:endParaRPr lang="en-US" sz="1600" dirty="0">
              <a:latin typeface="Arial"/>
              <a:cs typeface="Arial"/>
            </a:endParaRPr>
          </a:p>
        </p:txBody>
      </p:sp>
      <p:sp>
        <p:nvSpPr>
          <p:cNvPr id="2" name="Slide Number Placeholder 1">
            <a:extLst>
              <a:ext uri="{FF2B5EF4-FFF2-40B4-BE49-F238E27FC236}">
                <a16:creationId xmlns:a16="http://schemas.microsoft.com/office/drawing/2014/main" id="{CF15FF86-1890-9ED1-C2D9-01A6B72ED73B}"/>
              </a:ext>
            </a:extLst>
          </p:cNvPr>
          <p:cNvSpPr>
            <a:spLocks noGrp="1"/>
          </p:cNvSpPr>
          <p:nvPr>
            <p:ph type="sldNum" sz="quarter" idx="12"/>
          </p:nvPr>
        </p:nvSpPr>
        <p:spPr/>
        <p:txBody>
          <a:bodyPr/>
          <a:lstStyle/>
          <a:p>
            <a:fld id="{10A01DC5-1685-4615-8240-15192985C6A2}" type="slidenum">
              <a:rPr lang="en-AU" smtClean="0"/>
              <a:t>36</a:t>
            </a:fld>
            <a:endParaRPr lang="en-AU"/>
          </a:p>
        </p:txBody>
      </p:sp>
    </p:spTree>
    <p:extLst>
      <p:ext uri="{BB962C8B-B14F-4D97-AF65-F5344CB8AC3E}">
        <p14:creationId xmlns:p14="http://schemas.microsoft.com/office/powerpoint/2010/main" val="79627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11101-C2AA-A4B8-D565-D0C731099D2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1012728-7DD3-DAD5-02D7-5D1F8430E7A9}"/>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(20)</a:t>
            </a:r>
          </a:p>
        </p:txBody>
      </p:sp>
      <p:pic>
        <p:nvPicPr>
          <p:cNvPr id="4" name="Picture 3" descr="image of a clipboard with a pencil recording short answer responses">
            <a:extLst>
              <a:ext uri="{FF2B5EF4-FFF2-40B4-BE49-F238E27FC236}">
                <a16:creationId xmlns:a16="http://schemas.microsoft.com/office/drawing/2014/main" id="{89697BB4-4FB9-C885-399C-CADFAFEEE3D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96CD0A12-6C4E-2A9C-E016-8C9F82325D04}"/>
              </a:ext>
            </a:extLst>
          </p:cNvPr>
          <p:cNvSpPr>
            <a:spLocks noGrp="1"/>
          </p:cNvSpPr>
          <p:nvPr>
            <p:ph type="pic" sz="quarter" idx="21"/>
          </p:nvPr>
        </p:nvSpPr>
        <p:spPr>
          <a:xfrm>
            <a:off x="392198" y="905601"/>
            <a:ext cx="11210840" cy="1507241"/>
          </a:xfrm>
        </p:spPr>
        <p:txBody>
          <a:bodyPr/>
          <a:lstStyle/>
          <a:p>
            <a:pPr algn="ctr"/>
            <a:r>
              <a:rPr lang="en-US" sz="4400" dirty="0">
                <a:latin typeface="Arial"/>
                <a:cs typeface="Arial"/>
              </a:rPr>
              <a:t>Identify the </a:t>
            </a:r>
            <a:r>
              <a:rPr lang="en-US" sz="4400" b="1" dirty="0">
                <a:latin typeface="Arial"/>
                <a:cs typeface="Arial"/>
              </a:rPr>
              <a:t>possible outcomes</a:t>
            </a:r>
            <a:r>
              <a:rPr lang="en-US" sz="4400" dirty="0">
                <a:latin typeface="Arial"/>
                <a:cs typeface="Arial"/>
              </a:rPr>
              <a:t> which are </a:t>
            </a:r>
          </a:p>
          <a:p>
            <a:pPr algn="ctr"/>
            <a:r>
              <a:rPr lang="en-US" sz="4400" b="1" dirty="0">
                <a:latin typeface="Arial"/>
                <a:cs typeface="Arial"/>
              </a:rPr>
              <a:t>equally likely. </a:t>
            </a:r>
            <a:endParaRPr lang="en-US" b="1" dirty="0"/>
          </a:p>
          <a:p>
            <a:endParaRPr lang="en-US" dirty="0">
              <a:latin typeface="Arial"/>
              <a:cs typeface="Arial"/>
            </a:endParaRPr>
          </a:p>
        </p:txBody>
      </p:sp>
      <p:pic>
        <p:nvPicPr>
          <p:cNvPr id="6" name="Picture 5" descr="A spinner showing a quarter coloured orange, a quarter coloured blue and two opposing quarters coloured green.">
            <a:extLst>
              <a:ext uri="{FF2B5EF4-FFF2-40B4-BE49-F238E27FC236}">
                <a16:creationId xmlns:a16="http://schemas.microsoft.com/office/drawing/2014/main" id="{651E14AB-8082-10F0-B7C2-2112ED94C7CC}"/>
              </a:ext>
            </a:extLst>
          </p:cNvPr>
          <p:cNvPicPr>
            <a:picLocks noChangeAspect="1"/>
          </p:cNvPicPr>
          <p:nvPr/>
        </p:nvPicPr>
        <p:blipFill>
          <a:blip r:embed="rId4"/>
          <a:stretch>
            <a:fillRect/>
          </a:stretch>
        </p:blipFill>
        <p:spPr>
          <a:xfrm>
            <a:off x="4758652" y="3111231"/>
            <a:ext cx="2959856" cy="2667524"/>
          </a:xfrm>
          <a:prstGeom prst="rect">
            <a:avLst/>
          </a:prstGeom>
          <a:ln>
            <a:noFill/>
          </a:ln>
          <a:effectLst>
            <a:outerShdw blurRad="292100" dist="139700" dir="2700000" algn="tl" rotWithShape="0">
              <a:srgbClr val="333333">
                <a:alpha val="65000"/>
              </a:srgbClr>
            </a:outerShdw>
          </a:effectLst>
        </p:spPr>
      </p:pic>
      <p:sp>
        <p:nvSpPr>
          <p:cNvPr id="9" name="Picture Placeholder 10">
            <a:extLst>
              <a:ext uri="{FF2B5EF4-FFF2-40B4-BE49-F238E27FC236}">
                <a16:creationId xmlns:a16="http://schemas.microsoft.com/office/drawing/2014/main" id="{5BF46201-9C81-24C0-956C-978F75F713DE}"/>
              </a:ext>
            </a:extLst>
          </p:cNvPr>
          <p:cNvSpPr txBox="1">
            <a:spLocks/>
          </p:cNvSpPr>
          <p:nvPr/>
        </p:nvSpPr>
        <p:spPr>
          <a:xfrm>
            <a:off x="633160" y="5779627"/>
            <a:ext cx="11210840" cy="915501"/>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dirty="0">
                <a:latin typeface="Arial"/>
                <a:cs typeface="Arial"/>
              </a:rPr>
              <a:t>Communicate </a:t>
            </a:r>
            <a:r>
              <a:rPr lang="en-US" sz="4000" dirty="0">
                <a:latin typeface="Arial"/>
                <a:cs typeface="Arial"/>
              </a:rPr>
              <a:t>your</a:t>
            </a:r>
            <a:r>
              <a:rPr lang="en-US" sz="4000" b="1" dirty="0">
                <a:latin typeface="Arial"/>
                <a:cs typeface="Arial"/>
              </a:rPr>
              <a:t> thinking.</a:t>
            </a:r>
            <a:endParaRPr lang="en-US" sz="1600" b="1" dirty="0"/>
          </a:p>
          <a:p>
            <a:endParaRPr lang="en-US" dirty="0">
              <a:latin typeface="Arial"/>
              <a:cs typeface="Arial"/>
            </a:endParaRPr>
          </a:p>
        </p:txBody>
      </p:sp>
      <p:sp>
        <p:nvSpPr>
          <p:cNvPr id="2" name="Slide Number Placeholder 1">
            <a:extLst>
              <a:ext uri="{FF2B5EF4-FFF2-40B4-BE49-F238E27FC236}">
                <a16:creationId xmlns:a16="http://schemas.microsoft.com/office/drawing/2014/main" id="{E1891367-9F77-2286-E613-6F1B7282E70A}"/>
              </a:ext>
            </a:extLst>
          </p:cNvPr>
          <p:cNvSpPr>
            <a:spLocks noGrp="1"/>
          </p:cNvSpPr>
          <p:nvPr>
            <p:ph type="sldNum" sz="quarter" idx="12"/>
          </p:nvPr>
        </p:nvSpPr>
        <p:spPr/>
        <p:txBody>
          <a:bodyPr/>
          <a:lstStyle/>
          <a:p>
            <a:fld id="{10A01DC5-1685-4615-8240-15192985C6A2}" type="slidenum">
              <a:rPr lang="en-AU" smtClean="0"/>
              <a:t>37</a:t>
            </a:fld>
            <a:endParaRPr lang="en-AU"/>
          </a:p>
        </p:txBody>
      </p:sp>
    </p:spTree>
    <p:extLst>
      <p:ext uri="{BB962C8B-B14F-4D97-AF65-F5344CB8AC3E}">
        <p14:creationId xmlns:p14="http://schemas.microsoft.com/office/powerpoint/2010/main" val="745713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759AF-5F90-F928-2B65-FE0AE46C398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E487467-4804-0A46-175E-C0CBEE96735F}"/>
              </a:ext>
            </a:extLst>
          </p:cNvPr>
          <p:cNvSpPr>
            <a:spLocks noGrp="1"/>
          </p:cNvSpPr>
          <p:nvPr>
            <p:ph type="title"/>
          </p:nvPr>
        </p:nvSpPr>
        <p:spPr/>
        <p:txBody>
          <a:bodyPr/>
          <a:lstStyle/>
          <a:p>
            <a:r>
              <a:rPr lang="en-AU" dirty="0">
                <a:latin typeface="Arial"/>
                <a:cs typeface="Arial"/>
              </a:rPr>
              <a:t>Activity 5 – adding and subtracting fractions in area models</a:t>
            </a:r>
            <a:br>
              <a:rPr lang="en-AU" dirty="0">
                <a:latin typeface="Arial"/>
                <a:cs typeface="Arial"/>
              </a:rPr>
            </a:br>
            <a:endParaRPr lang="en-AU" dirty="0">
              <a:latin typeface="Arial"/>
              <a:cs typeface="Arial"/>
            </a:endParaRPr>
          </a:p>
        </p:txBody>
      </p:sp>
      <p:sp>
        <p:nvSpPr>
          <p:cNvPr id="6" name="TextBox 5">
            <a:extLst>
              <a:ext uri="{FF2B5EF4-FFF2-40B4-BE49-F238E27FC236}">
                <a16:creationId xmlns:a16="http://schemas.microsoft.com/office/drawing/2014/main" id="{9116E7A4-3545-E54E-5C1B-CE6B1D8AE421}"/>
              </a:ext>
            </a:extLst>
          </p:cNvPr>
          <p:cNvSpPr txBox="1"/>
          <p:nvPr/>
        </p:nvSpPr>
        <p:spPr>
          <a:xfrm>
            <a:off x="360000" y="1633249"/>
            <a:ext cx="5550470" cy="6011902"/>
          </a:xfrm>
          <a:prstGeom prst="rect">
            <a:avLst/>
          </a:prstGeom>
          <a:noFill/>
        </p:spPr>
        <p:txBody>
          <a:bodyPr wrap="square" lIns="91440" tIns="45720" rIns="91440" bIns="45720" anchor="t">
            <a:spAutoFit/>
          </a:bodyPr>
          <a:lstStyle/>
          <a:p>
            <a:pPr>
              <a:lnSpc>
                <a:spcPct val="150000"/>
              </a:lnSpc>
              <a:spcBef>
                <a:spcPts val="1200"/>
              </a:spcBef>
            </a:pPr>
            <a:r>
              <a:rPr lang="en-AU" sz="2800" b="1" i="0" u="none" strike="noStrike" dirty="0">
                <a:solidFill>
                  <a:srgbClr val="22272B"/>
                </a:solidFill>
                <a:effectLst/>
                <a:latin typeface="Arial"/>
                <a:cs typeface="Arial"/>
              </a:rPr>
              <a:t>Record</a:t>
            </a:r>
            <a:r>
              <a:rPr lang="en-AU" sz="2800" b="0" i="0" u="none" strike="noStrike" dirty="0">
                <a:solidFill>
                  <a:srgbClr val="22272B"/>
                </a:solidFill>
                <a:effectLst/>
                <a:latin typeface="Arial"/>
                <a:cs typeface="Arial"/>
              </a:rPr>
              <a:t> at least 4 </a:t>
            </a:r>
            <a:r>
              <a:rPr lang="en-AU" sz="2800" b="1" i="0" u="none" strike="noStrike" dirty="0">
                <a:solidFill>
                  <a:srgbClr val="22272B"/>
                </a:solidFill>
                <a:effectLst/>
                <a:latin typeface="Arial"/>
                <a:cs typeface="Arial"/>
              </a:rPr>
              <a:t>addition or subtraction</a:t>
            </a:r>
            <a:r>
              <a:rPr lang="en-AU" sz="2800" b="0" i="0" u="none" strike="noStrike" dirty="0">
                <a:solidFill>
                  <a:srgbClr val="22272B"/>
                </a:solidFill>
                <a:effectLst/>
                <a:latin typeface="Arial"/>
                <a:cs typeface="Arial"/>
              </a:rPr>
              <a:t> sentences that match image A.</a:t>
            </a:r>
          </a:p>
          <a:p>
            <a:pPr>
              <a:lnSpc>
                <a:spcPct val="150000"/>
              </a:lnSpc>
              <a:spcBef>
                <a:spcPts val="1200"/>
              </a:spcBef>
            </a:pPr>
            <a:endParaRPr lang="en-AU" sz="2800" b="0" i="0" u="none" strike="noStrike" dirty="0">
              <a:solidFill>
                <a:srgbClr val="22272B"/>
              </a:solidFill>
              <a:effectLst/>
              <a:latin typeface="Arial" panose="020B0604020202020204" pitchFamily="34" charset="0"/>
              <a:cs typeface="Arial"/>
            </a:endParaRPr>
          </a:p>
          <a:p>
            <a:pPr>
              <a:lnSpc>
                <a:spcPct val="150000"/>
              </a:lnSpc>
              <a:spcBef>
                <a:spcPts val="1200"/>
              </a:spcBef>
            </a:pPr>
            <a:r>
              <a:rPr lang="en-AU" sz="2800" b="1" i="0" u="none" strike="noStrike" dirty="0">
                <a:solidFill>
                  <a:srgbClr val="22272B"/>
                </a:solidFill>
                <a:effectLst/>
                <a:latin typeface="Arial"/>
                <a:cs typeface="Arial"/>
              </a:rPr>
              <a:t>Record</a:t>
            </a:r>
            <a:r>
              <a:rPr lang="en-AU" sz="2800" b="0" i="0" u="none" strike="noStrike" dirty="0">
                <a:solidFill>
                  <a:srgbClr val="22272B"/>
                </a:solidFill>
                <a:effectLst/>
                <a:latin typeface="Arial"/>
                <a:cs typeface="Arial"/>
              </a:rPr>
              <a:t> at least 4 </a:t>
            </a:r>
            <a:r>
              <a:rPr lang="en-AU" sz="2800" b="1" i="0" u="none" strike="noStrike" dirty="0">
                <a:solidFill>
                  <a:srgbClr val="22272B"/>
                </a:solidFill>
                <a:effectLst/>
                <a:latin typeface="Arial"/>
                <a:cs typeface="Arial"/>
              </a:rPr>
              <a:t>addition or subtraction</a:t>
            </a:r>
            <a:r>
              <a:rPr lang="en-AU" sz="2800" b="0" i="0" u="none" strike="noStrike" dirty="0">
                <a:solidFill>
                  <a:srgbClr val="22272B"/>
                </a:solidFill>
                <a:effectLst/>
                <a:latin typeface="Arial"/>
                <a:cs typeface="Arial"/>
              </a:rPr>
              <a:t> sentences that match image B.</a:t>
            </a:r>
          </a:p>
          <a:p>
            <a:pPr marL="285750" lvl="0" indent="-285750">
              <a:lnSpc>
                <a:spcPct val="150000"/>
              </a:lnSpc>
              <a:spcBef>
                <a:spcPts val="1200"/>
              </a:spcBef>
              <a:buFont typeface="Arial" panose="020B0604020202020204" pitchFamily="34" charset="0"/>
              <a:buChar char="•"/>
            </a:pPr>
            <a:endParaRPr lang="en-AU" sz="1800" dirty="0">
              <a:effectLst/>
              <a:latin typeface="Arial" panose="020B0604020202020204" pitchFamily="34" charset="0"/>
              <a:ea typeface="Calibri" panose="020F0502020204030204" pitchFamily="34" charset="0"/>
            </a:endParaRPr>
          </a:p>
          <a:p>
            <a:pPr marL="285750" indent="-285750">
              <a:lnSpc>
                <a:spcPct val="150000"/>
              </a:lnSpc>
              <a:spcBef>
                <a:spcPts val="1200"/>
              </a:spcBef>
              <a:buFont typeface="Arial" panose="020B0604020202020204" pitchFamily="34" charset="0"/>
              <a:buChar char="•"/>
            </a:pPr>
            <a:endParaRPr lang="en-AU" sz="1800" dirty="0">
              <a:latin typeface="Arial" panose="020B0604020202020204" pitchFamily="34" charset="0"/>
              <a:ea typeface="Calibri" panose="020F0502020204030204" pitchFamily="34" charset="0"/>
              <a:cs typeface="Arial" panose="020B0604020202020204" pitchFamily="34" charset="0"/>
            </a:endParaRPr>
          </a:p>
        </p:txBody>
      </p:sp>
      <p:pic>
        <p:nvPicPr>
          <p:cNvPr id="81" name="Picture 80" descr="Image A is a rectangle divided into 6 equal smaller rectangles to represent sixths. Three sixths are shaded with a crosshatch. Two sixths are covered in dots. One sixth is left blank.&#10;Image B shows the same rectangle as Image A and also another rectangle with 3 sixths, one shaded with a cross hatch, one with dots and one left blank.&#10;">
            <a:extLst>
              <a:ext uri="{FF2B5EF4-FFF2-40B4-BE49-F238E27FC236}">
                <a16:creationId xmlns:a16="http://schemas.microsoft.com/office/drawing/2014/main" id="{E0C6DA38-283F-192C-DDED-E9EDB872A3C5}"/>
              </a:ext>
            </a:extLst>
          </p:cNvPr>
          <p:cNvPicPr>
            <a:picLocks noChangeAspect="1"/>
          </p:cNvPicPr>
          <p:nvPr/>
        </p:nvPicPr>
        <p:blipFill>
          <a:blip r:embed="rId3"/>
          <a:srcRect t="2834"/>
          <a:stretch/>
        </p:blipFill>
        <p:spPr>
          <a:xfrm>
            <a:off x="5910470" y="1737049"/>
            <a:ext cx="4890051" cy="4760951"/>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7639916D-74F3-7B0E-3F89-CBB19E469704}"/>
              </a:ext>
            </a:extLst>
          </p:cNvPr>
          <p:cNvSpPr>
            <a:spLocks noGrp="1"/>
          </p:cNvSpPr>
          <p:nvPr>
            <p:ph type="sldNum" sz="quarter" idx="12"/>
          </p:nvPr>
        </p:nvSpPr>
        <p:spPr/>
        <p:txBody>
          <a:bodyPr/>
          <a:lstStyle/>
          <a:p>
            <a:fld id="{10A01DC5-1685-4615-8240-15192985C6A2}" type="slidenum">
              <a:rPr lang="en-AU" smtClean="0"/>
              <a:t>38</a:t>
            </a:fld>
            <a:endParaRPr lang="en-AU"/>
          </a:p>
        </p:txBody>
      </p:sp>
    </p:spTree>
    <p:extLst>
      <p:ext uri="{BB962C8B-B14F-4D97-AF65-F5344CB8AC3E}">
        <p14:creationId xmlns:p14="http://schemas.microsoft.com/office/powerpoint/2010/main" val="179384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F2A2D-5D54-42BE-C8C2-C2A6CB078AB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BD32E23-FB04-E164-BE83-F761F94A317D}"/>
              </a:ext>
            </a:extLst>
          </p:cNvPr>
          <p:cNvSpPr>
            <a:spLocks noGrp="1"/>
          </p:cNvSpPr>
          <p:nvPr>
            <p:ph type="ctrTitle"/>
          </p:nvPr>
        </p:nvSpPr>
        <p:spPr/>
        <p:txBody>
          <a:bodyPr/>
          <a:lstStyle/>
          <a:p>
            <a:r>
              <a:rPr lang="en-AU">
                <a:latin typeface="+mj-lt"/>
                <a:cs typeface="Arial"/>
              </a:rPr>
              <a:t>Review of learning 6</a:t>
            </a:r>
            <a:endParaRPr lang="en-AU">
              <a:latin typeface="+mj-lt"/>
            </a:endParaRPr>
          </a:p>
        </p:txBody>
      </p:sp>
    </p:spTree>
    <p:extLst>
      <p:ext uri="{BB962C8B-B14F-4D97-AF65-F5344CB8AC3E}">
        <p14:creationId xmlns:p14="http://schemas.microsoft.com/office/powerpoint/2010/main" val="3128611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BEE8F-3F48-A6A8-BFF8-F8998C7850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0239AA5-BD2F-916C-A693-02FBD1E332CB}"/>
              </a:ext>
            </a:extLst>
          </p:cNvPr>
          <p:cNvSpPr>
            <a:spLocks noGrp="1"/>
          </p:cNvSpPr>
          <p:nvPr>
            <p:ph type="title"/>
          </p:nvPr>
        </p:nvSpPr>
        <p:spPr/>
        <p:txBody>
          <a:bodyPr/>
          <a:lstStyle/>
          <a:p>
            <a:r>
              <a:rPr lang="en-US"/>
              <a:t>True or false </a:t>
            </a:r>
            <a:r>
              <a:rPr lang="en-US">
                <a:solidFill>
                  <a:schemeClr val="bg1"/>
                </a:solidFill>
              </a:rPr>
              <a:t>(3)</a:t>
            </a:r>
          </a:p>
        </p:txBody>
      </p:sp>
      <p:pic>
        <p:nvPicPr>
          <p:cNvPr id="5" name="Picture 4" descr="image of a finger selecting an option for a multiple choice or true and false">
            <a:extLst>
              <a:ext uri="{FF2B5EF4-FFF2-40B4-BE49-F238E27FC236}">
                <a16:creationId xmlns:a16="http://schemas.microsoft.com/office/drawing/2014/main" id="{55D61279-F839-6A02-5B10-40DD79748FE7}"/>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4743D993-BC52-886E-0C46-306156440477}"/>
                  </a:ext>
                </a:extLst>
              </p:cNvPr>
              <p:cNvSpPr>
                <a:spLocks noGrp="1"/>
              </p:cNvSpPr>
              <p:nvPr>
                <p:ph type="body" sz="quarter" idx="22"/>
              </p:nvPr>
            </p:nvSpPr>
            <p:spPr>
              <a:xfrm>
                <a:off x="303295" y="1279509"/>
                <a:ext cx="11185528" cy="2128068"/>
              </a:xfrm>
            </p:spPr>
            <p:txBody>
              <a:bodyPr vert="horz" lIns="0" tIns="0" rIns="0" bIns="0" rtlCol="0" anchor="t">
                <a:noAutofit/>
              </a:bodyPr>
              <a:lstStyle/>
              <a:p>
                <a:pPr algn="ctr"/>
                <a:r>
                  <a:rPr lang="en-AU" sz="4400" dirty="0"/>
                  <a:t>1 </a:t>
                </a:r>
                <a14:m>
                  <m:oMath xmlns:m="http://schemas.openxmlformats.org/officeDocument/2006/math">
                    <m:f>
                      <m:fPr>
                        <m:ctrlPr>
                          <a:rPr lang="en-AU" sz="4400" i="1">
                            <a:latin typeface="Cambria Math" panose="02040503050406030204" pitchFamily="18" charset="0"/>
                          </a:rPr>
                        </m:ctrlPr>
                      </m:fPr>
                      <m:num>
                        <m:r>
                          <a:rPr lang="en-AU" sz="4400" i="1">
                            <a:latin typeface="Cambria Math" panose="02040503050406030204" pitchFamily="18" charset="0"/>
                          </a:rPr>
                          <m:t>2</m:t>
                        </m:r>
                      </m:num>
                      <m:den>
                        <m:r>
                          <a:rPr lang="en-AU" sz="4400" b="0" i="1" smtClean="0">
                            <a:latin typeface="Cambria Math" panose="02040503050406030204" pitchFamily="18" charset="0"/>
                          </a:rPr>
                          <m:t>8</m:t>
                        </m:r>
                      </m:den>
                    </m:f>
                  </m:oMath>
                </a14:m>
                <a:r>
                  <a:rPr lang="en-AU" sz="4400" dirty="0"/>
                  <a:t> </a:t>
                </a:r>
                <a:r>
                  <a:rPr lang="en-US" sz="4400" dirty="0"/>
                  <a:t>-</a:t>
                </a:r>
                <a:r>
                  <a:rPr lang="en-AU" sz="4400" dirty="0"/>
                  <a:t> </a:t>
                </a:r>
                <a14:m>
                  <m:oMath xmlns:m="http://schemas.openxmlformats.org/officeDocument/2006/math">
                    <m:f>
                      <m:fPr>
                        <m:ctrlPr>
                          <a:rPr lang="en-AU" sz="4400" i="1">
                            <a:latin typeface="Cambria Math" panose="02040503050406030204" pitchFamily="18" charset="0"/>
                          </a:rPr>
                        </m:ctrlPr>
                      </m:fPr>
                      <m:num>
                        <m:r>
                          <a:rPr lang="en-AU" sz="4400" b="0" i="1" smtClean="0">
                            <a:latin typeface="Cambria Math" panose="02040503050406030204" pitchFamily="18" charset="0"/>
                          </a:rPr>
                          <m:t>5</m:t>
                        </m:r>
                      </m:num>
                      <m:den>
                        <m:r>
                          <a:rPr lang="en-AU" sz="4400" b="0" i="1" smtClean="0">
                            <a:latin typeface="Cambria Math" panose="02040503050406030204" pitchFamily="18" charset="0"/>
                            <a:ea typeface="Calibri" panose="020F0502020204030204" pitchFamily="34" charset="0"/>
                          </a:rPr>
                          <m:t>8</m:t>
                        </m:r>
                      </m:den>
                    </m:f>
                  </m:oMath>
                </a14:m>
                <a:r>
                  <a:rPr lang="en-US" sz="4400" dirty="0"/>
                  <a:t> = </a:t>
                </a:r>
                <a14:m>
                  <m:oMath xmlns:m="http://schemas.openxmlformats.org/officeDocument/2006/math">
                    <m:f>
                      <m:fPr>
                        <m:ctrlPr>
                          <a:rPr lang="en-AU" sz="4400" i="1">
                            <a:latin typeface="Cambria Math" panose="02040503050406030204" pitchFamily="18" charset="0"/>
                          </a:rPr>
                        </m:ctrlPr>
                      </m:fPr>
                      <m:num>
                        <m:r>
                          <a:rPr lang="en-AU" sz="4400" b="0" i="1" smtClean="0">
                            <a:latin typeface="Cambria Math" panose="02040503050406030204" pitchFamily="18" charset="0"/>
                          </a:rPr>
                          <m:t>1</m:t>
                        </m:r>
                        <m:r>
                          <a:rPr lang="en-AU" sz="4400" i="1">
                            <a:latin typeface="Cambria Math" panose="02040503050406030204" pitchFamily="18" charset="0"/>
                          </a:rPr>
                          <m:t>5</m:t>
                        </m:r>
                      </m:num>
                      <m:den>
                        <m:r>
                          <a:rPr lang="en-AU" sz="4400" i="1">
                            <a:latin typeface="Cambria Math" panose="02040503050406030204" pitchFamily="18" charset="0"/>
                            <a:ea typeface="Calibri" panose="020F0502020204030204" pitchFamily="34" charset="0"/>
                          </a:rPr>
                          <m:t>8</m:t>
                        </m:r>
                      </m:den>
                    </m:f>
                  </m:oMath>
                </a14:m>
                <a:endParaRPr lang="en-US" sz="4400" dirty="0"/>
              </a:p>
            </p:txBody>
          </p:sp>
        </mc:Choice>
        <mc:Fallback xmlns="">
          <p:sp>
            <p:nvSpPr>
              <p:cNvPr id="7" name="Text Placeholder 6">
                <a:extLst>
                  <a:ext uri="{FF2B5EF4-FFF2-40B4-BE49-F238E27FC236}">
                    <a16:creationId xmlns:a16="http://schemas.microsoft.com/office/drawing/2014/main" id="{4743D993-BC52-886E-0C46-306156440477}"/>
                  </a:ext>
                </a:extLst>
              </p:cNvPr>
              <p:cNvSpPr>
                <a:spLocks noGrp="1" noRot="1" noChangeAspect="1" noMove="1" noResize="1" noEditPoints="1" noAdjustHandles="1" noChangeArrowheads="1" noChangeShapeType="1" noTextEdit="1"/>
              </p:cNvSpPr>
              <p:nvPr>
                <p:ph type="body" sz="quarter" idx="22"/>
              </p:nvPr>
            </p:nvSpPr>
            <p:spPr>
              <a:xfrm>
                <a:off x="303295" y="1279509"/>
                <a:ext cx="11185528" cy="2128068"/>
              </a:xfrm>
              <a:blipFill>
                <a:blip r:embed="rId4"/>
                <a:stretch>
                  <a:fillRect/>
                </a:stretch>
              </a:blipFill>
            </p:spPr>
            <p:txBody>
              <a:bodyPr/>
              <a:lstStyle/>
              <a:p>
                <a:r>
                  <a:rPr lang="en-AU">
                    <a:noFill/>
                  </a:rPr>
                  <a:t> </a:t>
                </a:r>
              </a:p>
            </p:txBody>
          </p:sp>
        </mc:Fallback>
      </mc:AlternateContent>
      <p:graphicFrame>
        <p:nvGraphicFramePr>
          <p:cNvPr id="13" name="Table 12">
            <a:extLst>
              <a:ext uri="{FF2B5EF4-FFF2-40B4-BE49-F238E27FC236}">
                <a16:creationId xmlns:a16="http://schemas.microsoft.com/office/drawing/2014/main" id="{B37F8FD6-1114-0311-68BF-0ED89EC52553}"/>
              </a:ext>
            </a:extLst>
          </p:cNvPr>
          <p:cNvGraphicFramePr>
            <a:graphicFrameLocks noGrp="1"/>
          </p:cNvGraphicFramePr>
          <p:nvPr>
            <p:extLst>
              <p:ext uri="{D42A27DB-BD31-4B8C-83A1-F6EECF244321}">
                <p14:modId xmlns:p14="http://schemas.microsoft.com/office/powerpoint/2010/main" val="2172982458"/>
              </p:ext>
            </p:extLst>
          </p:nvPr>
        </p:nvGraphicFramePr>
        <p:xfrm>
          <a:off x="2442981" y="3882016"/>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6" name="Text Placeholder 6">
            <a:extLst>
              <a:ext uri="{FF2B5EF4-FFF2-40B4-BE49-F238E27FC236}">
                <a16:creationId xmlns:a16="http://schemas.microsoft.com/office/drawing/2014/main" id="{0F92E5A7-6B31-AB53-C955-F26938BA825B}"/>
              </a:ext>
            </a:extLst>
          </p:cNvPr>
          <p:cNvSpPr txBox="1">
            <a:spLocks/>
          </p:cNvSpPr>
          <p:nvPr/>
        </p:nvSpPr>
        <p:spPr>
          <a:xfrm>
            <a:off x="470073" y="5098135"/>
            <a:ext cx="11243037" cy="1423578"/>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dirty="0">
                <a:latin typeface="Arial"/>
                <a:cs typeface="Arial"/>
              </a:rPr>
              <a:t>Communicate </a:t>
            </a:r>
            <a:r>
              <a:rPr lang="en-US" sz="4400" dirty="0">
                <a:latin typeface="Arial"/>
                <a:cs typeface="Arial"/>
              </a:rPr>
              <a:t>your</a:t>
            </a:r>
            <a:r>
              <a:rPr lang="en-US" sz="4400" b="1" dirty="0">
                <a:latin typeface="Arial"/>
                <a:cs typeface="Arial"/>
              </a:rPr>
              <a:t> reasoning. </a:t>
            </a:r>
            <a:endParaRPr lang="en-US" sz="4400" b="1" dirty="0"/>
          </a:p>
        </p:txBody>
      </p:sp>
      <p:sp>
        <p:nvSpPr>
          <p:cNvPr id="2" name="Slide Number Placeholder 1">
            <a:extLst>
              <a:ext uri="{FF2B5EF4-FFF2-40B4-BE49-F238E27FC236}">
                <a16:creationId xmlns:a16="http://schemas.microsoft.com/office/drawing/2014/main" id="{4E3DBF4C-4471-70A6-E61E-AB472EE35E92}"/>
              </a:ext>
            </a:extLst>
          </p:cNvPr>
          <p:cNvSpPr>
            <a:spLocks noGrp="1"/>
          </p:cNvSpPr>
          <p:nvPr>
            <p:ph type="sldNum" sz="quarter" idx="12"/>
          </p:nvPr>
        </p:nvSpPr>
        <p:spPr/>
        <p:txBody>
          <a:bodyPr/>
          <a:lstStyle/>
          <a:p>
            <a:fld id="{10A01DC5-1685-4615-8240-15192985C6A2}" type="slidenum">
              <a:rPr lang="en-AU" smtClean="0"/>
              <a:t>40</a:t>
            </a:fld>
            <a:endParaRPr lang="en-AU"/>
          </a:p>
        </p:txBody>
      </p:sp>
    </p:spTree>
    <p:extLst>
      <p:ext uri="{BB962C8B-B14F-4D97-AF65-F5344CB8AC3E}">
        <p14:creationId xmlns:p14="http://schemas.microsoft.com/office/powerpoint/2010/main" val="462152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6F4A1-EDA2-571F-5B96-FDF8BD0C7E5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E88FA31-7274-55BC-6613-F0B8D3114635}"/>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(21)</a:t>
            </a:r>
          </a:p>
        </p:txBody>
      </p:sp>
      <p:pic>
        <p:nvPicPr>
          <p:cNvPr id="4" name="Picture 3" descr="image of a clipboard with a pencil recording short answer responses">
            <a:extLst>
              <a:ext uri="{FF2B5EF4-FFF2-40B4-BE49-F238E27FC236}">
                <a16:creationId xmlns:a16="http://schemas.microsoft.com/office/drawing/2014/main" id="{FFC89052-219D-2803-0123-F3BA24E9962C}"/>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AF9DFFF-188C-598D-7528-7DFDA90CA074}"/>
                  </a:ext>
                </a:extLst>
              </p:cNvPr>
              <p:cNvSpPr txBox="1"/>
              <p:nvPr/>
            </p:nvSpPr>
            <p:spPr>
              <a:xfrm>
                <a:off x="688257" y="1184223"/>
                <a:ext cx="10638503" cy="5515934"/>
              </a:xfrm>
              <a:prstGeom prst="rect">
                <a:avLst/>
              </a:prstGeom>
              <a:noFill/>
            </p:spPr>
            <p:txBody>
              <a:bodyPr wrap="square">
                <a:spAutoFit/>
              </a:bodyPr>
              <a:lstStyle/>
              <a:p>
                <a:pPr lvl="0" algn="ctr">
                  <a:lnSpc>
                    <a:spcPct val="150000"/>
                  </a:lnSpc>
                  <a:spcBef>
                    <a:spcPts val="1200"/>
                  </a:spcBef>
                  <a:spcAft>
                    <a:spcPts val="600"/>
                  </a:spcAft>
                </a:pPr>
                <a:r>
                  <a:rPr lang="en-AU" sz="3200" dirty="0">
                    <a:effectLst/>
                    <a:latin typeface="Arial" panose="020B0604020202020204" pitchFamily="34" charset="0"/>
                    <a:ea typeface="Calibri" panose="020F0502020204030204" pitchFamily="34" charset="0"/>
                  </a:rPr>
                  <a:t>Three gardeners have one open bag of potting mix each. One is 4-fifths ( </a:t>
                </a:r>
                <a14:m>
                  <m:oMath xmlns:m="http://schemas.openxmlformats.org/officeDocument/2006/math">
                    <m:f>
                      <m:fPr>
                        <m:ctrlPr>
                          <a:rPr lang="en-AU" sz="3200" i="1">
                            <a:effectLst/>
                            <a:latin typeface="Cambria Math" panose="02040503050406030204" pitchFamily="18" charset="0"/>
                            <a:ea typeface="Calibri" panose="020F0502020204030204" pitchFamily="34" charset="0"/>
                          </a:rPr>
                        </m:ctrlPr>
                      </m:fPr>
                      <m:num>
                        <m:r>
                          <a:rPr lang="en-AU" sz="3200" i="1">
                            <a:effectLst/>
                            <a:latin typeface="Cambria Math" panose="02040503050406030204" pitchFamily="18" charset="0"/>
                            <a:ea typeface="Calibri" panose="020F0502020204030204" pitchFamily="34" charset="0"/>
                          </a:rPr>
                          <m:t>4</m:t>
                        </m:r>
                      </m:num>
                      <m:den>
                        <m:r>
                          <a:rPr lang="en-AU" sz="3200" i="1">
                            <a:effectLst/>
                            <a:latin typeface="Cambria Math" panose="02040503050406030204" pitchFamily="18" charset="0"/>
                            <a:ea typeface="Calibri" panose="020F0502020204030204" pitchFamily="34" charset="0"/>
                          </a:rPr>
                          <m:t>5</m:t>
                        </m:r>
                      </m:den>
                    </m:f>
                    <m:r>
                      <a:rPr lang="en-AU" sz="3200" i="1">
                        <a:effectLst/>
                        <a:latin typeface="Cambria Math" panose="02040503050406030204" pitchFamily="18" charset="0"/>
                        <a:ea typeface="Calibri" panose="020F0502020204030204" pitchFamily="34" charset="0"/>
                      </a:rPr>
                      <m:t> </m:t>
                    </m:r>
                  </m:oMath>
                </a14:m>
                <a:r>
                  <a:rPr lang="en-AU" sz="3200" dirty="0">
                    <a:effectLst/>
                    <a:latin typeface="Arial" panose="020B0604020202020204" pitchFamily="34" charset="0"/>
                    <a:ea typeface="Calibri" panose="020F0502020204030204" pitchFamily="34" charset="0"/>
                  </a:rPr>
                  <a:t>) full</a:t>
                </a:r>
                <a:r>
                  <a:rPr lang="en-AU" sz="3200" dirty="0">
                    <a:latin typeface="Arial" panose="020B0604020202020204" pitchFamily="34" charset="0"/>
                    <a:ea typeface="Calibri" panose="020F0502020204030204" pitchFamily="34" charset="0"/>
                  </a:rPr>
                  <a:t>, another is 2-fifths (</a:t>
                </a:r>
                <a14:m>
                  <m:oMath xmlns:m="http://schemas.openxmlformats.org/officeDocument/2006/math">
                    <m:r>
                      <a:rPr lang="en-AU" sz="3200" i="1">
                        <a:latin typeface="Cambria Math" panose="02040503050406030204" pitchFamily="18" charset="0"/>
                        <a:ea typeface="Calibri" panose="020F0502020204030204" pitchFamily="34" charset="0"/>
                      </a:rPr>
                      <m:t> </m:t>
                    </m:r>
                    <m:f>
                      <m:fPr>
                        <m:ctrlPr>
                          <a:rPr lang="en-AU" sz="3200" i="1">
                            <a:latin typeface="Cambria Math" panose="02040503050406030204" pitchFamily="18" charset="0"/>
                            <a:ea typeface="Calibri" panose="020F0502020204030204" pitchFamily="34" charset="0"/>
                          </a:rPr>
                        </m:ctrlPr>
                      </m:fPr>
                      <m:num>
                        <m:r>
                          <a:rPr lang="en-AU" sz="3200" b="0" i="1" smtClean="0">
                            <a:latin typeface="Cambria Math" panose="02040503050406030204" pitchFamily="18" charset="0"/>
                            <a:ea typeface="Calibri" panose="020F0502020204030204" pitchFamily="34" charset="0"/>
                          </a:rPr>
                          <m:t>2</m:t>
                        </m:r>
                      </m:num>
                      <m:den>
                        <m:r>
                          <a:rPr lang="en-AU" sz="3200" i="1">
                            <a:latin typeface="Cambria Math" panose="02040503050406030204" pitchFamily="18" charset="0"/>
                            <a:ea typeface="Calibri" panose="020F0502020204030204" pitchFamily="34" charset="0"/>
                          </a:rPr>
                          <m:t>5</m:t>
                        </m:r>
                      </m:den>
                    </m:f>
                    <m:r>
                      <a:rPr lang="en-AU" sz="3200" i="1">
                        <a:latin typeface="Cambria Math" panose="02040503050406030204" pitchFamily="18" charset="0"/>
                        <a:ea typeface="Calibri" panose="020F0502020204030204" pitchFamily="34" charset="0"/>
                      </a:rPr>
                      <m:t> </m:t>
                    </m:r>
                  </m:oMath>
                </a14:m>
                <a:r>
                  <a:rPr lang="en-AU" sz="3200" dirty="0">
                    <a:latin typeface="Arial" panose="020B0604020202020204" pitchFamily="34" charset="0"/>
                    <a:ea typeface="Calibri" panose="020F0502020204030204" pitchFamily="34" charset="0"/>
                  </a:rPr>
                  <a:t>) full </a:t>
                </a:r>
                <a:r>
                  <a:rPr lang="en-AU" sz="3200" dirty="0">
                    <a:effectLst/>
                    <a:latin typeface="Arial" panose="020B0604020202020204" pitchFamily="34" charset="0"/>
                    <a:ea typeface="Calibri" panose="020F0502020204030204" pitchFamily="34" charset="0"/>
                  </a:rPr>
                  <a:t>and the other is 3-fifths (</a:t>
                </a:r>
                <a14:m>
                  <m:oMath xmlns:m="http://schemas.openxmlformats.org/officeDocument/2006/math">
                    <m:r>
                      <a:rPr lang="en-AU" sz="3200" i="1">
                        <a:effectLst/>
                        <a:latin typeface="Cambria Math" panose="02040503050406030204" pitchFamily="18" charset="0"/>
                        <a:ea typeface="Calibri" panose="020F0502020204030204" pitchFamily="34" charset="0"/>
                      </a:rPr>
                      <m:t> </m:t>
                    </m:r>
                    <m:f>
                      <m:fPr>
                        <m:ctrlPr>
                          <a:rPr lang="en-AU" sz="3200" i="1">
                            <a:effectLst/>
                            <a:latin typeface="Cambria Math" panose="02040503050406030204" pitchFamily="18" charset="0"/>
                            <a:ea typeface="Calibri" panose="020F0502020204030204" pitchFamily="34" charset="0"/>
                          </a:rPr>
                        </m:ctrlPr>
                      </m:fPr>
                      <m:num>
                        <m:r>
                          <a:rPr lang="en-AU" sz="3200" i="1">
                            <a:effectLst/>
                            <a:latin typeface="Cambria Math" panose="02040503050406030204" pitchFamily="18" charset="0"/>
                            <a:ea typeface="Calibri" panose="020F0502020204030204" pitchFamily="34" charset="0"/>
                          </a:rPr>
                          <m:t>3</m:t>
                        </m:r>
                      </m:num>
                      <m:den>
                        <m:r>
                          <a:rPr lang="en-AU" sz="3200" i="1">
                            <a:effectLst/>
                            <a:latin typeface="Cambria Math" panose="02040503050406030204" pitchFamily="18" charset="0"/>
                            <a:ea typeface="Calibri" panose="020F0502020204030204" pitchFamily="34" charset="0"/>
                          </a:rPr>
                          <m:t>5</m:t>
                        </m:r>
                      </m:den>
                    </m:f>
                    <m:r>
                      <a:rPr lang="en-AU" sz="3200" i="1">
                        <a:effectLst/>
                        <a:latin typeface="Cambria Math" panose="02040503050406030204" pitchFamily="18" charset="0"/>
                        <a:ea typeface="Calibri" panose="020F0502020204030204" pitchFamily="34" charset="0"/>
                      </a:rPr>
                      <m:t> </m:t>
                    </m:r>
                  </m:oMath>
                </a14:m>
                <a:r>
                  <a:rPr lang="en-AU" sz="3200" dirty="0">
                    <a:effectLst/>
                    <a:latin typeface="Arial" panose="020B0604020202020204" pitchFamily="34" charset="0"/>
                    <a:ea typeface="Calibri" panose="020F0502020204030204" pitchFamily="34" charset="0"/>
                  </a:rPr>
                  <a:t>) full. How much potting mix do the gardeners have </a:t>
                </a:r>
                <a:r>
                  <a:rPr lang="en-AU" sz="3200" b="1" dirty="0">
                    <a:effectLst/>
                    <a:latin typeface="Arial" panose="020B0604020202020204" pitchFamily="34" charset="0"/>
                    <a:ea typeface="Calibri" panose="020F0502020204030204" pitchFamily="34" charset="0"/>
                  </a:rPr>
                  <a:t>altogether</a:t>
                </a:r>
                <a:r>
                  <a:rPr lang="en-AU" sz="3200" dirty="0">
                    <a:latin typeface="Arial" panose="020B0604020202020204" pitchFamily="34" charset="0"/>
                    <a:ea typeface="Calibri" panose="020F0502020204030204" pitchFamily="34" charset="0"/>
                  </a:rPr>
                  <a:t>?</a:t>
                </a:r>
                <a:endParaRPr lang="en-AU" sz="3200" dirty="0">
                  <a:effectLst/>
                  <a:latin typeface="Arial" panose="020B0604020202020204" pitchFamily="34" charset="0"/>
                  <a:ea typeface="Calibri" panose="020F0502020204030204" pitchFamily="34" charset="0"/>
                </a:endParaRPr>
              </a:p>
              <a:p>
                <a:pPr lvl="0" algn="ctr">
                  <a:lnSpc>
                    <a:spcPct val="150000"/>
                  </a:lnSpc>
                  <a:spcBef>
                    <a:spcPts val="1200"/>
                  </a:spcBef>
                  <a:spcAft>
                    <a:spcPts val="600"/>
                  </a:spcAft>
                </a:pPr>
                <a:endParaRPr lang="en-AU" sz="3200" dirty="0">
                  <a:latin typeface="Arial" panose="020B0604020202020204" pitchFamily="34" charset="0"/>
                  <a:ea typeface="Calibri" panose="020F0502020204030204" pitchFamily="34" charset="0"/>
                </a:endParaRPr>
              </a:p>
              <a:p>
                <a:pPr lvl="0" algn="ctr">
                  <a:lnSpc>
                    <a:spcPct val="150000"/>
                  </a:lnSpc>
                  <a:spcBef>
                    <a:spcPts val="1200"/>
                  </a:spcBef>
                  <a:spcAft>
                    <a:spcPts val="600"/>
                  </a:spcAft>
                </a:pPr>
                <a:r>
                  <a:rPr lang="en-AU" sz="3200" dirty="0">
                    <a:effectLst/>
                    <a:latin typeface="Arial" panose="020B0604020202020204" pitchFamily="34" charset="0"/>
                    <a:ea typeface="Calibri" panose="020F0502020204030204" pitchFamily="34" charset="0"/>
                  </a:rPr>
                  <a:t>Share your </a:t>
                </a:r>
                <a:r>
                  <a:rPr lang="en-AU" sz="3200" b="1" dirty="0">
                    <a:effectLst/>
                    <a:latin typeface="Arial" panose="020B0604020202020204" pitchFamily="34" charset="0"/>
                    <a:ea typeface="Calibri" panose="020F0502020204030204" pitchFamily="34" charset="0"/>
                  </a:rPr>
                  <a:t>strategies</a:t>
                </a:r>
                <a:r>
                  <a:rPr lang="en-AU" sz="3200" dirty="0">
                    <a:effectLst/>
                    <a:latin typeface="Arial" panose="020B0604020202020204" pitchFamily="34" charset="0"/>
                    <a:ea typeface="Calibri" panose="020F0502020204030204" pitchFamily="34" charset="0"/>
                  </a:rPr>
                  <a:t> for finding the solution.</a:t>
                </a:r>
              </a:p>
            </p:txBody>
          </p:sp>
        </mc:Choice>
        <mc:Fallback xmlns="">
          <p:sp>
            <p:nvSpPr>
              <p:cNvPr id="10" name="TextBox 9">
                <a:extLst>
                  <a:ext uri="{FF2B5EF4-FFF2-40B4-BE49-F238E27FC236}">
                    <a16:creationId xmlns:a16="http://schemas.microsoft.com/office/drawing/2014/main" id="{BAF9DFFF-188C-598D-7528-7DFDA90CA074}"/>
                  </a:ext>
                </a:extLst>
              </p:cNvPr>
              <p:cNvSpPr txBox="1">
                <a:spLocks noRot="1" noChangeAspect="1" noMove="1" noResize="1" noEditPoints="1" noAdjustHandles="1" noChangeArrowheads="1" noChangeShapeType="1" noTextEdit="1"/>
              </p:cNvSpPr>
              <p:nvPr/>
            </p:nvSpPr>
            <p:spPr>
              <a:xfrm>
                <a:off x="688257" y="1184223"/>
                <a:ext cx="10638503" cy="5515934"/>
              </a:xfrm>
              <a:prstGeom prst="rect">
                <a:avLst/>
              </a:prstGeom>
              <a:blipFill>
                <a:blip r:embed="rId4"/>
                <a:stretch>
                  <a:fillRect l="-401" r="-1318" b="-2652"/>
                </a:stretch>
              </a:blipFill>
            </p:spPr>
            <p:txBody>
              <a:bodyPr/>
              <a:lstStyle/>
              <a:p>
                <a:r>
                  <a:rPr lang="en-AU">
                    <a:noFill/>
                  </a:rPr>
                  <a:t> </a:t>
                </a:r>
              </a:p>
            </p:txBody>
          </p:sp>
        </mc:Fallback>
      </mc:AlternateContent>
      <p:sp>
        <p:nvSpPr>
          <p:cNvPr id="2" name="Slide Number Placeholder 1">
            <a:extLst>
              <a:ext uri="{FF2B5EF4-FFF2-40B4-BE49-F238E27FC236}">
                <a16:creationId xmlns:a16="http://schemas.microsoft.com/office/drawing/2014/main" id="{5A98F8AC-46DC-BE09-C063-0F99C404F8CD}"/>
              </a:ext>
            </a:extLst>
          </p:cNvPr>
          <p:cNvSpPr>
            <a:spLocks noGrp="1"/>
          </p:cNvSpPr>
          <p:nvPr>
            <p:ph type="sldNum" sz="quarter" idx="12"/>
          </p:nvPr>
        </p:nvSpPr>
        <p:spPr/>
        <p:txBody>
          <a:bodyPr/>
          <a:lstStyle/>
          <a:p>
            <a:fld id="{10A01DC5-1685-4615-8240-15192985C6A2}" type="slidenum">
              <a:rPr lang="en-AU" smtClean="0"/>
              <a:t>41</a:t>
            </a:fld>
            <a:endParaRPr lang="en-AU"/>
          </a:p>
        </p:txBody>
      </p:sp>
    </p:spTree>
    <p:extLst>
      <p:ext uri="{BB962C8B-B14F-4D97-AF65-F5344CB8AC3E}">
        <p14:creationId xmlns:p14="http://schemas.microsoft.com/office/powerpoint/2010/main" val="36891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E5182-257F-1678-1C50-B8D0403D96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D1DC104-86CB-4221-6644-89860C0DACB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(22)</a:t>
            </a:r>
          </a:p>
        </p:txBody>
      </p:sp>
      <p:pic>
        <p:nvPicPr>
          <p:cNvPr id="4" name="Picture 3" descr="image of a clipboard with a pencil recording short answer responses">
            <a:extLst>
              <a:ext uri="{FF2B5EF4-FFF2-40B4-BE49-F238E27FC236}">
                <a16:creationId xmlns:a16="http://schemas.microsoft.com/office/drawing/2014/main" id="{A5C75FC3-3580-0C1D-8090-EC44658DAC9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80B7212B-2801-5D27-0B76-52A657270CAF}"/>
              </a:ext>
            </a:extLst>
          </p:cNvPr>
          <p:cNvSpPr>
            <a:spLocks noGrp="1"/>
          </p:cNvSpPr>
          <p:nvPr>
            <p:ph type="pic" sz="quarter" idx="21"/>
          </p:nvPr>
        </p:nvSpPr>
        <p:spPr>
          <a:xfrm>
            <a:off x="360001" y="1636819"/>
            <a:ext cx="11243037" cy="654098"/>
          </a:xfrm>
        </p:spPr>
        <p:txBody>
          <a:bodyPr/>
          <a:lstStyle/>
          <a:p>
            <a:pPr algn="ctr"/>
            <a:r>
              <a:rPr lang="en-US" sz="4400" dirty="0">
                <a:latin typeface="Arial"/>
                <a:cs typeface="Arial"/>
              </a:rPr>
              <a:t>Use </a:t>
            </a:r>
            <a:r>
              <a:rPr lang="en-US" sz="4400" b="1" dirty="0">
                <a:latin typeface="Arial"/>
                <a:cs typeface="Arial"/>
              </a:rPr>
              <a:t>rounding</a:t>
            </a:r>
            <a:r>
              <a:rPr lang="en-US" sz="4400" dirty="0">
                <a:latin typeface="Arial"/>
                <a:cs typeface="Arial"/>
              </a:rPr>
              <a:t> and </a:t>
            </a:r>
            <a:r>
              <a:rPr lang="en-US" sz="4400" b="1" dirty="0">
                <a:latin typeface="Arial"/>
                <a:cs typeface="Arial"/>
              </a:rPr>
              <a:t>estimation</a:t>
            </a:r>
            <a:r>
              <a:rPr lang="en-US" sz="4400" dirty="0">
                <a:latin typeface="Arial"/>
                <a:cs typeface="Arial"/>
              </a:rPr>
              <a:t> to solve this number sentence.</a:t>
            </a:r>
          </a:p>
          <a:p>
            <a:pPr algn="ctr"/>
            <a:r>
              <a:rPr lang="en-US" sz="3200">
                <a:latin typeface="Arial"/>
                <a:cs typeface="Arial"/>
              </a:rPr>
              <a:t> </a:t>
            </a:r>
          </a:p>
          <a:p>
            <a:pPr algn="ctr"/>
            <a:endParaRPr lang="en-US" sz="4400"/>
          </a:p>
          <a:p>
            <a:endParaRPr lang="en-US">
              <a:latin typeface="Arial"/>
              <a:cs typeface="Arial"/>
            </a:endParaRPr>
          </a:p>
        </p:txBody>
      </p:sp>
      <p:sp>
        <p:nvSpPr>
          <p:cNvPr id="6" name="TextBox 5">
            <a:extLst>
              <a:ext uri="{FF2B5EF4-FFF2-40B4-BE49-F238E27FC236}">
                <a16:creationId xmlns:a16="http://schemas.microsoft.com/office/drawing/2014/main" id="{40E95148-CE31-64B8-D6FE-8A0B5A6F9D98}"/>
              </a:ext>
            </a:extLst>
          </p:cNvPr>
          <p:cNvSpPr txBox="1"/>
          <p:nvPr/>
        </p:nvSpPr>
        <p:spPr>
          <a:xfrm>
            <a:off x="3048000" y="4358978"/>
            <a:ext cx="6096000" cy="923330"/>
          </a:xfrm>
          <a:prstGeom prst="rect">
            <a:avLst/>
          </a:prstGeom>
          <a:noFill/>
        </p:spPr>
        <p:txBody>
          <a:bodyPr wrap="square">
            <a:spAutoFit/>
          </a:bodyPr>
          <a:lstStyle/>
          <a:p>
            <a:pPr algn="ctr"/>
            <a:r>
              <a:rPr lang="en-AU" sz="5400"/>
              <a:t>16 429 + 648 957</a:t>
            </a:r>
            <a:endParaRPr lang="en-AU" sz="11500"/>
          </a:p>
        </p:txBody>
      </p:sp>
      <p:sp>
        <p:nvSpPr>
          <p:cNvPr id="2" name="Slide Number Placeholder 1">
            <a:extLst>
              <a:ext uri="{FF2B5EF4-FFF2-40B4-BE49-F238E27FC236}">
                <a16:creationId xmlns:a16="http://schemas.microsoft.com/office/drawing/2014/main" id="{DDDCFCF7-04CF-C461-ECB1-3FC634BF5BAD}"/>
              </a:ext>
            </a:extLst>
          </p:cNvPr>
          <p:cNvSpPr>
            <a:spLocks noGrp="1"/>
          </p:cNvSpPr>
          <p:nvPr>
            <p:ph type="sldNum" sz="quarter" idx="12"/>
          </p:nvPr>
        </p:nvSpPr>
        <p:spPr/>
        <p:txBody>
          <a:bodyPr/>
          <a:lstStyle/>
          <a:p>
            <a:fld id="{10A01DC5-1685-4615-8240-15192985C6A2}" type="slidenum">
              <a:rPr lang="en-AU" smtClean="0"/>
              <a:t>42</a:t>
            </a:fld>
            <a:endParaRPr lang="en-AU"/>
          </a:p>
        </p:txBody>
      </p:sp>
    </p:spTree>
    <p:extLst>
      <p:ext uri="{BB962C8B-B14F-4D97-AF65-F5344CB8AC3E}">
        <p14:creationId xmlns:p14="http://schemas.microsoft.com/office/powerpoint/2010/main" val="1847143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9FF86-7C5B-FA31-D796-296DE0A8C80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91C906B-02BA-2EFD-6FF2-2138C2C6F5C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(23)</a:t>
            </a:r>
          </a:p>
        </p:txBody>
      </p:sp>
      <p:pic>
        <p:nvPicPr>
          <p:cNvPr id="4" name="Picture 3" descr="image of a clipboard with a pencil recording short answer responses">
            <a:extLst>
              <a:ext uri="{FF2B5EF4-FFF2-40B4-BE49-F238E27FC236}">
                <a16:creationId xmlns:a16="http://schemas.microsoft.com/office/drawing/2014/main" id="{60BD3A60-80E3-562B-92FB-07B4A07F11E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8A7FE6AB-F028-BE57-C4D2-218E23CCA7F3}"/>
              </a:ext>
            </a:extLst>
          </p:cNvPr>
          <p:cNvSpPr>
            <a:spLocks noGrp="1"/>
          </p:cNvSpPr>
          <p:nvPr>
            <p:ph type="pic" sz="quarter" idx="21"/>
          </p:nvPr>
        </p:nvSpPr>
        <p:spPr>
          <a:xfrm>
            <a:off x="359999" y="1735656"/>
            <a:ext cx="11243037" cy="4501722"/>
          </a:xfrm>
        </p:spPr>
        <p:txBody>
          <a:bodyPr/>
          <a:lstStyle/>
          <a:p>
            <a:pPr algn="ctr"/>
            <a:r>
              <a:rPr lang="en-US" sz="4400" dirty="0">
                <a:latin typeface="Arial"/>
                <a:cs typeface="Arial"/>
              </a:rPr>
              <a:t>Which object in the classroom would be most appropriate to </a:t>
            </a:r>
            <a:r>
              <a:rPr lang="en-US" sz="4400" b="1" dirty="0">
                <a:latin typeface="Arial"/>
                <a:cs typeface="Arial"/>
              </a:rPr>
              <a:t>measure in kilograms</a:t>
            </a:r>
            <a:r>
              <a:rPr lang="en-US" sz="4400" dirty="0">
                <a:latin typeface="Arial"/>
                <a:cs typeface="Arial"/>
              </a:rPr>
              <a:t>?</a:t>
            </a:r>
          </a:p>
          <a:p>
            <a:pPr algn="ctr"/>
            <a:endParaRPr lang="en-US" sz="4400" dirty="0">
              <a:latin typeface="Arial"/>
              <a:cs typeface="Arial"/>
            </a:endParaRPr>
          </a:p>
          <a:p>
            <a:pPr algn="ctr"/>
            <a:r>
              <a:rPr lang="en-US" sz="4400" b="1" dirty="0">
                <a:latin typeface="Arial"/>
                <a:cs typeface="Arial"/>
              </a:rPr>
              <a:t>Communicate </a:t>
            </a:r>
            <a:r>
              <a:rPr lang="en-US" sz="4400" dirty="0">
                <a:latin typeface="Arial"/>
                <a:cs typeface="Arial"/>
              </a:rPr>
              <a:t>your</a:t>
            </a:r>
            <a:r>
              <a:rPr lang="en-US" sz="4400" b="1" dirty="0">
                <a:latin typeface="Arial"/>
                <a:cs typeface="Arial"/>
              </a:rPr>
              <a:t> thinking.</a:t>
            </a:r>
            <a:endParaRPr lang="en-US" sz="4400" b="1" dirty="0"/>
          </a:p>
          <a:p>
            <a:pPr algn="ctr"/>
            <a:endParaRPr lang="en-US" sz="4400" dirty="0"/>
          </a:p>
          <a:p>
            <a:endParaRPr lang="en-US" dirty="0">
              <a:latin typeface="Arial"/>
              <a:cs typeface="Arial"/>
            </a:endParaRPr>
          </a:p>
        </p:txBody>
      </p:sp>
      <p:sp>
        <p:nvSpPr>
          <p:cNvPr id="2" name="Slide Number Placeholder 1">
            <a:extLst>
              <a:ext uri="{FF2B5EF4-FFF2-40B4-BE49-F238E27FC236}">
                <a16:creationId xmlns:a16="http://schemas.microsoft.com/office/drawing/2014/main" id="{57FEA1A1-341D-8A60-97E6-8F9B65B0FF51}"/>
              </a:ext>
            </a:extLst>
          </p:cNvPr>
          <p:cNvSpPr>
            <a:spLocks noGrp="1"/>
          </p:cNvSpPr>
          <p:nvPr>
            <p:ph type="sldNum" sz="quarter" idx="12"/>
          </p:nvPr>
        </p:nvSpPr>
        <p:spPr/>
        <p:txBody>
          <a:bodyPr/>
          <a:lstStyle/>
          <a:p>
            <a:fld id="{10A01DC5-1685-4615-8240-15192985C6A2}" type="slidenum">
              <a:rPr lang="en-AU" smtClean="0"/>
              <a:t>43</a:t>
            </a:fld>
            <a:endParaRPr lang="en-AU"/>
          </a:p>
        </p:txBody>
      </p:sp>
    </p:spTree>
    <p:extLst>
      <p:ext uri="{BB962C8B-B14F-4D97-AF65-F5344CB8AC3E}">
        <p14:creationId xmlns:p14="http://schemas.microsoft.com/office/powerpoint/2010/main" val="800713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1F0B1-A631-6222-A4F6-6ADABC92764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CF2E279-7B70-6AD5-A87B-975C74B4C5A3}"/>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(24)</a:t>
            </a:r>
          </a:p>
        </p:txBody>
      </p:sp>
      <p:pic>
        <p:nvPicPr>
          <p:cNvPr id="4" name="Picture 3" descr="image of a clipboard with a pencil recording short answer responses">
            <a:extLst>
              <a:ext uri="{FF2B5EF4-FFF2-40B4-BE49-F238E27FC236}">
                <a16:creationId xmlns:a16="http://schemas.microsoft.com/office/drawing/2014/main" id="{9413A593-D677-BE14-4F68-8ED6884EFE1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292E23AF-C9AF-1BEC-B7EF-97960722B4D3}"/>
              </a:ext>
            </a:extLst>
          </p:cNvPr>
          <p:cNvSpPr>
            <a:spLocks noGrp="1"/>
          </p:cNvSpPr>
          <p:nvPr>
            <p:ph type="pic" sz="quarter" idx="21"/>
          </p:nvPr>
        </p:nvSpPr>
        <p:spPr>
          <a:xfrm>
            <a:off x="612648" y="1326317"/>
            <a:ext cx="10891093" cy="5189683"/>
          </a:xfrm>
        </p:spPr>
        <p:txBody>
          <a:bodyPr/>
          <a:lstStyle/>
          <a:p>
            <a:pPr algn="ctr"/>
            <a:r>
              <a:rPr lang="en-US" sz="4400" dirty="0" err="1">
                <a:latin typeface="Arial"/>
                <a:cs typeface="Arial"/>
              </a:rPr>
              <a:t>Mrs</a:t>
            </a:r>
            <a:r>
              <a:rPr lang="en-US" sz="4400" dirty="0">
                <a:latin typeface="Arial"/>
                <a:cs typeface="Arial"/>
              </a:rPr>
              <a:t> Leaver is </a:t>
            </a:r>
            <a:r>
              <a:rPr lang="en-US" sz="4400" dirty="0" err="1">
                <a:latin typeface="Arial"/>
                <a:cs typeface="Arial"/>
              </a:rPr>
              <a:t>organising</a:t>
            </a:r>
            <a:r>
              <a:rPr lang="en-US" sz="4400" dirty="0">
                <a:latin typeface="Arial"/>
                <a:cs typeface="Arial"/>
              </a:rPr>
              <a:t> a class picnic and needs one </a:t>
            </a:r>
            <a:r>
              <a:rPr lang="en-US" sz="4400" dirty="0" err="1">
                <a:latin typeface="Arial"/>
                <a:cs typeface="Arial"/>
              </a:rPr>
              <a:t>litre</a:t>
            </a:r>
            <a:r>
              <a:rPr lang="en-US" sz="4400" dirty="0">
                <a:latin typeface="Arial"/>
                <a:cs typeface="Arial"/>
              </a:rPr>
              <a:t> of water, 550 mL of orange juice and 250 mL of milk. </a:t>
            </a:r>
            <a:r>
              <a:rPr lang="en-US" sz="4400" b="1" dirty="0">
                <a:latin typeface="Arial"/>
                <a:cs typeface="Arial"/>
              </a:rPr>
              <a:t>How many </a:t>
            </a:r>
            <a:r>
              <a:rPr lang="en-US" sz="4400" b="1" dirty="0" err="1">
                <a:latin typeface="Arial"/>
                <a:cs typeface="Arial"/>
              </a:rPr>
              <a:t>litres</a:t>
            </a:r>
            <a:r>
              <a:rPr lang="en-US" sz="4400" b="1" dirty="0">
                <a:latin typeface="Arial"/>
                <a:cs typeface="Arial"/>
              </a:rPr>
              <a:t> </a:t>
            </a:r>
            <a:r>
              <a:rPr lang="en-US" sz="4400" dirty="0">
                <a:latin typeface="Arial"/>
                <a:cs typeface="Arial"/>
              </a:rPr>
              <a:t>does </a:t>
            </a:r>
            <a:r>
              <a:rPr lang="en-US" sz="4400" dirty="0" err="1">
                <a:latin typeface="Arial"/>
                <a:cs typeface="Arial"/>
              </a:rPr>
              <a:t>Mrs</a:t>
            </a:r>
            <a:r>
              <a:rPr lang="en-US" sz="4400" dirty="0">
                <a:latin typeface="Arial"/>
                <a:cs typeface="Arial"/>
              </a:rPr>
              <a:t> Leaver need to organize? </a:t>
            </a:r>
          </a:p>
          <a:p>
            <a:pPr algn="ctr"/>
            <a:r>
              <a:rPr lang="en-US" sz="4400" dirty="0">
                <a:latin typeface="Arial"/>
                <a:cs typeface="Arial"/>
              </a:rPr>
              <a:t>Answer using </a:t>
            </a:r>
            <a:r>
              <a:rPr lang="en-US" sz="4400" b="1" dirty="0">
                <a:latin typeface="Arial"/>
                <a:cs typeface="Arial"/>
              </a:rPr>
              <a:t>decimal notation</a:t>
            </a:r>
            <a:r>
              <a:rPr lang="en-US" sz="4400" dirty="0">
                <a:latin typeface="Arial"/>
                <a:cs typeface="Arial"/>
              </a:rPr>
              <a:t>.</a:t>
            </a:r>
            <a:endParaRPr lang="en-US" sz="4400" dirty="0"/>
          </a:p>
          <a:p>
            <a:pPr algn="ctr"/>
            <a:endParaRPr lang="en-US" sz="4400" dirty="0"/>
          </a:p>
          <a:p>
            <a:endParaRPr lang="en-US" dirty="0">
              <a:latin typeface="Arial"/>
              <a:cs typeface="Arial"/>
            </a:endParaRPr>
          </a:p>
        </p:txBody>
      </p:sp>
      <p:sp>
        <p:nvSpPr>
          <p:cNvPr id="2" name="Slide Number Placeholder 1">
            <a:extLst>
              <a:ext uri="{FF2B5EF4-FFF2-40B4-BE49-F238E27FC236}">
                <a16:creationId xmlns:a16="http://schemas.microsoft.com/office/drawing/2014/main" id="{3AA87200-480B-20DB-4C26-10675759AD1F}"/>
              </a:ext>
            </a:extLst>
          </p:cNvPr>
          <p:cNvSpPr>
            <a:spLocks noGrp="1"/>
          </p:cNvSpPr>
          <p:nvPr>
            <p:ph type="sldNum" sz="quarter" idx="12"/>
          </p:nvPr>
        </p:nvSpPr>
        <p:spPr/>
        <p:txBody>
          <a:bodyPr/>
          <a:lstStyle/>
          <a:p>
            <a:fld id="{10A01DC5-1685-4615-8240-15192985C6A2}" type="slidenum">
              <a:rPr lang="en-AU" smtClean="0"/>
              <a:t>44</a:t>
            </a:fld>
            <a:endParaRPr lang="en-AU"/>
          </a:p>
        </p:txBody>
      </p:sp>
    </p:spTree>
    <p:extLst>
      <p:ext uri="{BB962C8B-B14F-4D97-AF65-F5344CB8AC3E}">
        <p14:creationId xmlns:p14="http://schemas.microsoft.com/office/powerpoint/2010/main" val="3284912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74D6A-9CB6-B01F-CA28-A72DAA144CA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9D6F347-2D35-06F1-D022-AB900EF6855D}"/>
              </a:ext>
            </a:extLst>
          </p:cNvPr>
          <p:cNvSpPr>
            <a:spLocks noGrp="1"/>
          </p:cNvSpPr>
          <p:nvPr>
            <p:ph type="title"/>
          </p:nvPr>
        </p:nvSpPr>
        <p:spPr/>
        <p:txBody>
          <a:bodyPr/>
          <a:lstStyle/>
          <a:p>
            <a:r>
              <a:rPr lang="en-AU">
                <a:latin typeface="Arial"/>
                <a:cs typeface="Arial"/>
              </a:rPr>
              <a:t>Activity 6 – calculating fractions in area models</a:t>
            </a:r>
            <a:br>
              <a:rPr lang="en-AU">
                <a:latin typeface="Arial"/>
                <a:cs typeface="Arial"/>
              </a:rPr>
            </a:br>
            <a:endParaRPr lang="en-AU">
              <a:latin typeface="Arial"/>
              <a:cs typeface="Aria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B43E3D9-52AC-E1B0-0D5A-E3078EE37EDF}"/>
                  </a:ext>
                </a:extLst>
              </p:cNvPr>
              <p:cNvSpPr txBox="1"/>
              <p:nvPr/>
            </p:nvSpPr>
            <p:spPr>
              <a:xfrm>
                <a:off x="359999" y="1012771"/>
                <a:ext cx="6518080" cy="7401257"/>
              </a:xfrm>
              <a:prstGeom prst="rect">
                <a:avLst/>
              </a:prstGeom>
              <a:noFill/>
            </p:spPr>
            <p:txBody>
              <a:bodyPr wrap="square" lIns="91440" tIns="45720" rIns="91440" bIns="45720" anchor="t">
                <a:spAutoFit/>
              </a:bodyPr>
              <a:lstStyle/>
              <a:p>
                <a:pPr lvl="0">
                  <a:lnSpc>
                    <a:spcPct val="150000"/>
                  </a:lnSpc>
                  <a:spcBef>
                    <a:spcPts val="1200"/>
                  </a:spcBef>
                </a:pPr>
                <a:r>
                  <a:rPr lang="en-AU" sz="3600" dirty="0">
                    <a:latin typeface="Arial"/>
                    <a:ea typeface="Calibri"/>
                    <a:cs typeface="Arial"/>
                  </a:rPr>
                  <a:t>Use the </a:t>
                </a:r>
                <a:r>
                  <a:rPr lang="en-AU" sz="3600" b="1" dirty="0">
                    <a:latin typeface="Arial"/>
                    <a:ea typeface="Calibri"/>
                    <a:cs typeface="Arial"/>
                  </a:rPr>
                  <a:t>area models </a:t>
                </a:r>
                <a:r>
                  <a:rPr lang="en-AU" sz="3600" dirty="0">
                    <a:latin typeface="Arial"/>
                    <a:ea typeface="Calibri"/>
                    <a:cs typeface="Arial"/>
                  </a:rPr>
                  <a:t>to solve:</a:t>
                </a:r>
              </a:p>
              <a:p>
                <a:pPr>
                  <a:lnSpc>
                    <a:spcPct val="150000"/>
                  </a:lnSpc>
                  <a:spcBef>
                    <a:spcPts val="1200"/>
                  </a:spcBef>
                </a:pPr>
                <a:r>
                  <a:rPr lang="en-AU" sz="3600" dirty="0">
                    <a:effectLst/>
                    <a:latin typeface="Arial" panose="020B0604020202020204" pitchFamily="34" charset="0"/>
                    <a:ea typeface="Calibri" panose="020F0502020204030204" pitchFamily="34" charset="0"/>
                    <a:cs typeface="Times New Roman" panose="02020603050405020304" pitchFamily="18" charset="0"/>
                  </a:rPr>
                  <a:t>	2 – </a:t>
                </a:r>
                <a14:m>
                  <m:oMath xmlns:m="http://schemas.openxmlformats.org/officeDocument/2006/math">
                    <m:f>
                      <m:fPr>
                        <m:ctrlPr>
                          <a:rPr lang="en-AU" sz="360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AU" sz="3600" b="0" i="1" smtClean="0">
                            <a:effectLst/>
                            <a:latin typeface="Cambria Math" panose="02040503050406030204" pitchFamily="18" charset="0"/>
                            <a:ea typeface="DengXian" panose="02010600030101010101" pitchFamily="2" charset="-122"/>
                            <a:cs typeface="Times New Roman" panose="02020603050405020304" pitchFamily="18" charset="0"/>
                          </a:rPr>
                          <m:t>6</m:t>
                        </m:r>
                      </m:num>
                      <m:den>
                        <m:r>
                          <a:rPr lang="en-AU" sz="3600" i="1">
                            <a:effectLst/>
                            <a:latin typeface="Cambria Math" panose="02040503050406030204" pitchFamily="18" charset="0"/>
                            <a:ea typeface="DengXian" panose="02010600030101010101" pitchFamily="2" charset="-122"/>
                            <a:cs typeface="Times New Roman" panose="02020603050405020304" pitchFamily="18" charset="0"/>
                          </a:rPr>
                          <m:t>6</m:t>
                        </m:r>
                      </m:den>
                    </m:f>
                  </m:oMath>
                </a14:m>
                <a:r>
                  <a:rPr lang="en-AU" sz="3600" dirty="0">
                    <a:effectLst/>
                    <a:latin typeface="Arial" panose="020B0604020202020204" pitchFamily="34" charset="0"/>
                    <a:ea typeface="DengXian" panose="02010600030101010101" pitchFamily="2" charset="-122"/>
                    <a:cs typeface="Times New Roman" panose="02020603050405020304" pitchFamily="18" charset="0"/>
                  </a:rPr>
                  <a:t> </a:t>
                </a:r>
                <a:r>
                  <a:rPr lang="en-AU" sz="3600" dirty="0">
                    <a:effectLst/>
                    <a:latin typeface="Arial" panose="020B0604020202020204" pitchFamily="34" charset="0"/>
                    <a:ea typeface="Calibri" panose="020F0502020204030204" pitchFamily="34" charset="0"/>
                    <a:cs typeface="Times New Roman" panose="02020603050405020304" pitchFamily="18" charset="0"/>
                  </a:rPr>
                  <a:t>= </a:t>
                </a:r>
              </a:p>
              <a:p>
                <a:pPr>
                  <a:lnSpc>
                    <a:spcPct val="150000"/>
                  </a:lnSpc>
                  <a:spcBef>
                    <a:spcPts val="1200"/>
                  </a:spcBef>
                </a:pPr>
                <a:r>
                  <a:rPr lang="en-AU" sz="3600" dirty="0"/>
                  <a:t>	2 – </a:t>
                </a:r>
                <a14:m>
                  <m:oMath xmlns:m="http://schemas.openxmlformats.org/officeDocument/2006/math">
                    <m:f>
                      <m:fPr>
                        <m:ctrlPr>
                          <a:rPr lang="en-AU" sz="3600" i="1">
                            <a:latin typeface="Cambria Math" panose="02040503050406030204" pitchFamily="18" charset="0"/>
                          </a:rPr>
                        </m:ctrlPr>
                      </m:fPr>
                      <m:num>
                        <m:r>
                          <a:rPr lang="en-AU" sz="3600" b="0" i="1" smtClean="0">
                            <a:latin typeface="Cambria Math" panose="02040503050406030204" pitchFamily="18" charset="0"/>
                          </a:rPr>
                          <m:t>1</m:t>
                        </m:r>
                      </m:num>
                      <m:den>
                        <m:r>
                          <a:rPr lang="en-AU" sz="3600" b="0" i="1" smtClean="0">
                            <a:latin typeface="Cambria Math" panose="02040503050406030204" pitchFamily="18" charset="0"/>
                          </a:rPr>
                          <m:t>3</m:t>
                        </m:r>
                      </m:den>
                    </m:f>
                  </m:oMath>
                </a14:m>
                <a:r>
                  <a:rPr lang="en-AU" sz="3600" dirty="0"/>
                  <a:t> = </a:t>
                </a:r>
              </a:p>
              <a:p>
                <a:pPr>
                  <a:lnSpc>
                    <a:spcPct val="150000"/>
                  </a:lnSpc>
                  <a:spcBef>
                    <a:spcPts val="1200"/>
                  </a:spcBef>
                </a:pPr>
                <a:r>
                  <a:rPr lang="en-AU" sz="3600" dirty="0"/>
                  <a:t>	2 – </a:t>
                </a:r>
                <a14:m>
                  <m:oMath xmlns:m="http://schemas.openxmlformats.org/officeDocument/2006/math">
                    <m:f>
                      <m:fPr>
                        <m:ctrlPr>
                          <a:rPr lang="en-AU" sz="3600" i="1">
                            <a:latin typeface="Cambria Math" panose="02040503050406030204" pitchFamily="18" charset="0"/>
                          </a:rPr>
                        </m:ctrlPr>
                      </m:fPr>
                      <m:num>
                        <m:r>
                          <a:rPr lang="en-AU" sz="3600" b="0" i="1" smtClean="0">
                            <a:latin typeface="Cambria Math" panose="02040503050406030204" pitchFamily="18" charset="0"/>
                          </a:rPr>
                          <m:t>2</m:t>
                        </m:r>
                      </m:num>
                      <m:den>
                        <m:r>
                          <a:rPr lang="en-AU" sz="3600" i="1">
                            <a:latin typeface="Cambria Math" panose="02040503050406030204" pitchFamily="18" charset="0"/>
                          </a:rPr>
                          <m:t>3</m:t>
                        </m:r>
                      </m:den>
                    </m:f>
                  </m:oMath>
                </a14:m>
                <a:r>
                  <a:rPr lang="en-AU" sz="3600" dirty="0"/>
                  <a:t> = </a:t>
                </a:r>
              </a:p>
              <a:p>
                <a:pPr>
                  <a:lnSpc>
                    <a:spcPct val="150000"/>
                  </a:lnSpc>
                  <a:spcBef>
                    <a:spcPts val="1200"/>
                  </a:spcBef>
                </a:pPr>
                <a:endParaRPr lang="en-AU" sz="2000" dirty="0"/>
              </a:p>
              <a:p>
                <a:pPr>
                  <a:lnSpc>
                    <a:spcPct val="150000"/>
                  </a:lnSpc>
                  <a:spcBef>
                    <a:spcPts val="1200"/>
                  </a:spcBef>
                </a:pPr>
                <a:endParaRPr lang="en-AU" sz="2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50000"/>
                  </a:lnSpc>
                  <a:spcBef>
                    <a:spcPts val="1200"/>
                  </a:spcBef>
                </a:pPr>
                <a:endParaRPr lang="en-AU" sz="2000" dirty="0">
                  <a:effectLst/>
                  <a:latin typeface="Arial" panose="020B0604020202020204" pitchFamily="34" charset="0"/>
                  <a:ea typeface="Calibri" panose="020F0502020204030204" pitchFamily="34" charset="0"/>
                </a:endParaRPr>
              </a:p>
              <a:p>
                <a:pPr marL="285750" indent="-285750">
                  <a:lnSpc>
                    <a:spcPct val="150000"/>
                  </a:lnSpc>
                  <a:spcBef>
                    <a:spcPts val="1200"/>
                  </a:spcBef>
                  <a:buFont typeface="Arial" panose="020B0604020202020204" pitchFamily="34" charset="0"/>
                  <a:buChar char="•"/>
                </a:pPr>
                <a:endParaRPr lang="en-AU" sz="2000" dirty="0">
                  <a:latin typeface="Arial" panose="020B0604020202020204" pitchFamily="34" charset="0"/>
                  <a:ea typeface="Calibri" panose="020F0502020204030204" pitchFamily="34" charset="0"/>
                  <a:cs typeface="Arial" panose="020B0604020202020204" pitchFamily="34" charset="0"/>
                </a:endParaRPr>
              </a:p>
            </p:txBody>
          </p:sp>
        </mc:Choice>
        <mc:Fallback xmlns="">
          <p:sp>
            <p:nvSpPr>
              <p:cNvPr id="6" name="TextBox 5">
                <a:extLst>
                  <a:ext uri="{FF2B5EF4-FFF2-40B4-BE49-F238E27FC236}">
                    <a16:creationId xmlns:a16="http://schemas.microsoft.com/office/drawing/2014/main" id="{DB43E3D9-52AC-E1B0-0D5A-E3078EE37EDF}"/>
                  </a:ext>
                </a:extLst>
              </p:cNvPr>
              <p:cNvSpPr txBox="1">
                <a:spLocks noRot="1" noChangeAspect="1" noMove="1" noResize="1" noEditPoints="1" noAdjustHandles="1" noChangeArrowheads="1" noChangeShapeType="1" noTextEdit="1"/>
              </p:cNvSpPr>
              <p:nvPr/>
            </p:nvSpPr>
            <p:spPr>
              <a:xfrm>
                <a:off x="359999" y="1012771"/>
                <a:ext cx="6518080" cy="7401257"/>
              </a:xfrm>
              <a:prstGeom prst="rect">
                <a:avLst/>
              </a:prstGeom>
              <a:blipFill>
                <a:blip r:embed="rId3"/>
                <a:stretch>
                  <a:fillRect l="-2806" r="-935"/>
                </a:stretch>
              </a:blipFill>
            </p:spPr>
            <p:txBody>
              <a:bodyPr/>
              <a:lstStyle/>
              <a:p>
                <a:r>
                  <a:rPr lang="en-AU">
                    <a:noFill/>
                  </a:rPr>
                  <a:t> </a:t>
                </a:r>
              </a:p>
            </p:txBody>
          </p:sp>
        </mc:Fallback>
      </mc:AlternateContent>
      <p:pic>
        <p:nvPicPr>
          <p:cNvPr id="82" name="Picture 81" descr="Image A is a rectangle divided into 6 equal smaller rectangles to represent sixths. Three sixths are shaded with a crosshatch. Two sixths are covered in dots. One sixth is left blank.&#10;Image B is composed of Image A rotated clockwise 90 degrees and doubled.">
            <a:extLst>
              <a:ext uri="{FF2B5EF4-FFF2-40B4-BE49-F238E27FC236}">
                <a16:creationId xmlns:a16="http://schemas.microsoft.com/office/drawing/2014/main" id="{D15013AA-7811-A319-E029-B80D98570A9D}"/>
              </a:ext>
            </a:extLst>
          </p:cNvPr>
          <p:cNvPicPr>
            <a:picLocks noChangeAspect="1"/>
          </p:cNvPicPr>
          <p:nvPr/>
        </p:nvPicPr>
        <p:blipFill>
          <a:blip r:embed="rId4"/>
          <a:stretch>
            <a:fillRect/>
          </a:stretch>
        </p:blipFill>
        <p:spPr>
          <a:xfrm>
            <a:off x="7238079" y="1266255"/>
            <a:ext cx="4245921" cy="5231745"/>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F476B1CD-2062-6253-6329-C7AE89C387E8}"/>
              </a:ext>
            </a:extLst>
          </p:cNvPr>
          <p:cNvSpPr>
            <a:spLocks noGrp="1"/>
          </p:cNvSpPr>
          <p:nvPr>
            <p:ph type="sldNum" sz="quarter" idx="12"/>
          </p:nvPr>
        </p:nvSpPr>
        <p:spPr/>
        <p:txBody>
          <a:bodyPr/>
          <a:lstStyle/>
          <a:p>
            <a:fld id="{10A01DC5-1685-4615-8240-15192985C6A2}" type="slidenum">
              <a:rPr lang="en-AU" smtClean="0"/>
              <a:t>45</a:t>
            </a:fld>
            <a:endParaRPr lang="en-AU"/>
          </a:p>
        </p:txBody>
      </p:sp>
    </p:spTree>
    <p:extLst>
      <p:ext uri="{BB962C8B-B14F-4D97-AF65-F5344CB8AC3E}">
        <p14:creationId xmlns:p14="http://schemas.microsoft.com/office/powerpoint/2010/main" val="641501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B424F-7DD0-3E03-466D-8D5582F980A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55B056C-EFDF-07CA-9F8C-380C2D645C57}"/>
              </a:ext>
            </a:extLst>
          </p:cNvPr>
          <p:cNvSpPr>
            <a:spLocks noGrp="1"/>
          </p:cNvSpPr>
          <p:nvPr>
            <p:ph type="ctrTitle"/>
          </p:nvPr>
        </p:nvSpPr>
        <p:spPr/>
        <p:txBody>
          <a:bodyPr/>
          <a:lstStyle/>
          <a:p>
            <a:r>
              <a:rPr lang="en-AU">
                <a:latin typeface="+mj-lt"/>
                <a:cs typeface="Arial"/>
              </a:rPr>
              <a:t>Review of learning  7</a:t>
            </a:r>
            <a:endParaRPr lang="en-AU">
              <a:latin typeface="+mj-lt"/>
            </a:endParaRPr>
          </a:p>
        </p:txBody>
      </p:sp>
    </p:spTree>
    <p:extLst>
      <p:ext uri="{BB962C8B-B14F-4D97-AF65-F5344CB8AC3E}">
        <p14:creationId xmlns:p14="http://schemas.microsoft.com/office/powerpoint/2010/main" val="532709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DEC98-6E64-B27A-62A0-329A669AEC8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0021225-41F1-0C16-7955-7A20CE3F9226}"/>
              </a:ext>
            </a:extLst>
          </p:cNvPr>
          <p:cNvSpPr>
            <a:spLocks noGrp="1"/>
          </p:cNvSpPr>
          <p:nvPr>
            <p:ph type="title"/>
          </p:nvPr>
        </p:nvSpPr>
        <p:spPr/>
        <p:txBody>
          <a:bodyPr/>
          <a:lstStyle/>
          <a:p>
            <a:r>
              <a:rPr lang="en-US"/>
              <a:t>Multiple choice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762B9242-51CC-E9FE-F0ED-48F177A9021B}"/>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14">
            <a:extLst>
              <a:ext uri="{FF2B5EF4-FFF2-40B4-BE49-F238E27FC236}">
                <a16:creationId xmlns:a16="http://schemas.microsoft.com/office/drawing/2014/main" id="{CA95A8D3-8910-15F9-8CCD-CC5CE999586C}"/>
              </a:ext>
            </a:extLst>
          </p:cNvPr>
          <p:cNvSpPr>
            <a:spLocks noGrp="1"/>
          </p:cNvSpPr>
          <p:nvPr>
            <p:ph type="body" sz="quarter" idx="28"/>
          </p:nvPr>
        </p:nvSpPr>
        <p:spPr>
          <a:xfrm>
            <a:off x="334527" y="1048289"/>
            <a:ext cx="11639167" cy="1420148"/>
          </a:xfrm>
        </p:spPr>
        <p:txBody>
          <a:bodyPr vert="horz" lIns="0" tIns="0" rIns="0" bIns="0" rtlCol="0" anchor="t">
            <a:noAutofit/>
          </a:bodyPr>
          <a:lstStyle/>
          <a:p>
            <a:r>
              <a:rPr lang="en-US" sz="4000" dirty="0">
                <a:latin typeface="Arial"/>
                <a:cs typeface="Arial"/>
              </a:rPr>
              <a:t>What </a:t>
            </a:r>
            <a:r>
              <a:rPr lang="en-US" sz="4000" b="1" dirty="0">
                <a:latin typeface="Arial"/>
                <a:cs typeface="Arial"/>
              </a:rPr>
              <a:t>fraction</a:t>
            </a:r>
            <a:r>
              <a:rPr lang="en-US" sz="4000" dirty="0">
                <a:latin typeface="Arial"/>
                <a:cs typeface="Arial"/>
              </a:rPr>
              <a:t> of the hexagon is the blue rhombus?</a:t>
            </a:r>
            <a:endParaRPr lang="en-US" dirty="0"/>
          </a:p>
          <a:p>
            <a:endParaRPr lang="en-US" sz="4000" dirty="0">
              <a:latin typeface="Arial"/>
              <a:cs typeface="Arial"/>
            </a:endParaRPr>
          </a:p>
        </p:txBody>
      </p:sp>
      <p:sp>
        <p:nvSpPr>
          <p:cNvPr id="9" name="TextBox 8">
            <a:extLst>
              <a:ext uri="{FF2B5EF4-FFF2-40B4-BE49-F238E27FC236}">
                <a16:creationId xmlns:a16="http://schemas.microsoft.com/office/drawing/2014/main" id="{01959E7F-5339-4140-06DD-3FCB073486C3}"/>
              </a:ext>
            </a:extLst>
          </p:cNvPr>
          <p:cNvSpPr txBox="1"/>
          <p:nvPr/>
        </p:nvSpPr>
        <p:spPr>
          <a:xfrm>
            <a:off x="2741403" y="223314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mc:AlternateContent xmlns:mc="http://schemas.openxmlformats.org/markup-compatibility/2006" xmlns:a14="http://schemas.microsoft.com/office/drawing/2010/main">
        <mc:Choice Requires="a14">
          <p:sp>
            <p:nvSpPr>
              <p:cNvPr id="18" name="Text Placeholder 17">
                <a:extLst>
                  <a:ext uri="{FF2B5EF4-FFF2-40B4-BE49-F238E27FC236}">
                    <a16:creationId xmlns:a16="http://schemas.microsoft.com/office/drawing/2014/main" id="{9E79809D-9372-E31A-587E-B87233AE7FEB}"/>
                  </a:ext>
                </a:extLst>
              </p:cNvPr>
              <p:cNvSpPr>
                <a:spLocks noGrp="1"/>
              </p:cNvSpPr>
              <p:nvPr>
                <p:ph type="body" sz="quarter" idx="31"/>
              </p:nvPr>
            </p:nvSpPr>
            <p:spPr>
              <a:xfrm>
                <a:off x="3156583" y="1984649"/>
                <a:ext cx="1034609" cy="641396"/>
              </a:xfrm>
            </p:spPr>
            <p:txBody>
              <a:bodyPr vert="horz" lIns="0" tIns="0" rIns="0" bIns="0" rtlCol="0" anchor="t">
                <a:noAutofit/>
              </a:bodyPr>
              <a:lstStyle/>
              <a:p>
                <a:pPr/>
                <a14:m>
                  <m:oMathPara xmlns:m="http://schemas.openxmlformats.org/officeDocument/2006/math">
                    <m:oMathParaPr>
                      <m:jc m:val="centerGroup"/>
                    </m:oMathParaPr>
                    <m:oMath xmlns:m="http://schemas.openxmlformats.org/officeDocument/2006/math">
                      <m:f>
                        <m:fPr>
                          <m:ctrlPr>
                            <a:rPr lang="en-AU" sz="2400" i="1" smtClean="0">
                              <a:latin typeface="Cambria Math" panose="02040503050406030204" pitchFamily="18" charset="0"/>
                              <a:ea typeface="DengXian" panose="02010600030101010101" pitchFamily="2" charset="-122"/>
                              <a:cs typeface="Times New Roman" panose="02020603050405020304" pitchFamily="18" charset="0"/>
                            </a:rPr>
                          </m:ctrlPr>
                        </m:fPr>
                        <m:num>
                          <m:r>
                            <a:rPr lang="en-AU" sz="2400" b="0" i="1" smtClean="0">
                              <a:latin typeface="Cambria Math" panose="02040503050406030204" pitchFamily="18" charset="0"/>
                              <a:ea typeface="DengXian" panose="02010600030101010101" pitchFamily="2" charset="-122"/>
                              <a:cs typeface="Times New Roman" panose="02020603050405020304" pitchFamily="18" charset="0"/>
                            </a:rPr>
                            <m:t>3</m:t>
                          </m:r>
                        </m:num>
                        <m:den>
                          <m:r>
                            <a:rPr lang="en-AU" sz="2400" i="1">
                              <a:latin typeface="Cambria Math" panose="02040503050406030204" pitchFamily="18" charset="0"/>
                              <a:ea typeface="DengXian" panose="02010600030101010101" pitchFamily="2" charset="-122"/>
                              <a:cs typeface="Times New Roman" panose="02020603050405020304" pitchFamily="18" charset="0"/>
                            </a:rPr>
                            <m:t>6</m:t>
                          </m:r>
                        </m:den>
                      </m:f>
                    </m:oMath>
                  </m:oMathPara>
                </a14:m>
                <a:endParaRPr lang="en-US" sz="4000" dirty="0">
                  <a:cs typeface="Arial"/>
                </a:endParaRPr>
              </a:p>
            </p:txBody>
          </p:sp>
        </mc:Choice>
        <mc:Fallback xmlns="">
          <p:sp>
            <p:nvSpPr>
              <p:cNvPr id="18" name="Text Placeholder 17">
                <a:extLst>
                  <a:ext uri="{FF2B5EF4-FFF2-40B4-BE49-F238E27FC236}">
                    <a16:creationId xmlns:a16="http://schemas.microsoft.com/office/drawing/2014/main" id="{9E79809D-9372-E31A-587E-B87233AE7FEB}"/>
                  </a:ext>
                </a:extLst>
              </p:cNvPr>
              <p:cNvSpPr>
                <a:spLocks noGrp="1" noRot="1" noChangeAspect="1" noMove="1" noResize="1" noEditPoints="1" noAdjustHandles="1" noChangeArrowheads="1" noChangeShapeType="1" noTextEdit="1"/>
              </p:cNvSpPr>
              <p:nvPr>
                <p:ph type="body" sz="quarter" idx="31"/>
              </p:nvPr>
            </p:nvSpPr>
            <p:spPr>
              <a:xfrm>
                <a:off x="3156583" y="1984649"/>
                <a:ext cx="1034609" cy="641396"/>
              </a:xfrm>
              <a:blipFill>
                <a:blip r:embed="rId4"/>
                <a:stretch>
                  <a:fillRect b="-46667"/>
                </a:stretch>
              </a:blipFill>
            </p:spPr>
            <p:txBody>
              <a:bodyPr/>
              <a:lstStyle/>
              <a:p>
                <a:r>
                  <a:rPr lang="en-AU">
                    <a:noFill/>
                  </a:rPr>
                  <a:t> </a:t>
                </a:r>
              </a:p>
            </p:txBody>
          </p:sp>
        </mc:Fallback>
      </mc:AlternateContent>
      <p:sp>
        <p:nvSpPr>
          <p:cNvPr id="10" name="TextBox 9">
            <a:extLst>
              <a:ext uri="{FF2B5EF4-FFF2-40B4-BE49-F238E27FC236}">
                <a16:creationId xmlns:a16="http://schemas.microsoft.com/office/drawing/2014/main" id="{BEE40492-9435-5860-3C94-30096476C915}"/>
              </a:ext>
            </a:extLst>
          </p:cNvPr>
          <p:cNvSpPr txBox="1"/>
          <p:nvPr/>
        </p:nvSpPr>
        <p:spPr>
          <a:xfrm>
            <a:off x="2741403" y="338521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mc:AlternateContent xmlns:mc="http://schemas.openxmlformats.org/markup-compatibility/2006" xmlns:a14="http://schemas.microsoft.com/office/drawing/2010/main">
        <mc:Choice Requires="a14">
          <p:sp>
            <p:nvSpPr>
              <p:cNvPr id="22" name="Text Placeholder 17">
                <a:extLst>
                  <a:ext uri="{FF2B5EF4-FFF2-40B4-BE49-F238E27FC236}">
                    <a16:creationId xmlns:a16="http://schemas.microsoft.com/office/drawing/2014/main" id="{7C942E93-6597-5C76-2699-67D1505DE037}"/>
                  </a:ext>
                </a:extLst>
              </p:cNvPr>
              <p:cNvSpPr txBox="1">
                <a:spLocks/>
              </p:cNvSpPr>
              <p:nvPr/>
            </p:nvSpPr>
            <p:spPr>
              <a:xfrm>
                <a:off x="3156583" y="3103671"/>
                <a:ext cx="1034609" cy="641396"/>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mn-lt"/>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mn-lt"/>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mn-lt"/>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mn-lt"/>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f>
                        <m:fPr>
                          <m:ctrlPr>
                            <a:rPr lang="en-AU" sz="2400" i="1" smtClean="0">
                              <a:latin typeface="Cambria Math" panose="02040503050406030204" pitchFamily="18" charset="0"/>
                              <a:ea typeface="DengXian" panose="02010600030101010101" pitchFamily="2" charset="-122"/>
                              <a:cs typeface="Times New Roman" panose="02020603050405020304" pitchFamily="18" charset="0"/>
                            </a:rPr>
                          </m:ctrlPr>
                        </m:fPr>
                        <m:num>
                          <m:r>
                            <a:rPr lang="en-AU" sz="2400" i="1">
                              <a:latin typeface="Cambria Math" panose="02040503050406030204" pitchFamily="18" charset="0"/>
                              <a:ea typeface="DengXian" panose="02010600030101010101" pitchFamily="2" charset="-122"/>
                              <a:cs typeface="Times New Roman" panose="02020603050405020304" pitchFamily="18" charset="0"/>
                            </a:rPr>
                            <m:t>6</m:t>
                          </m:r>
                        </m:num>
                        <m:den>
                          <m:r>
                            <a:rPr lang="en-AU" sz="2400" b="0" i="1" smtClean="0">
                              <a:latin typeface="Cambria Math" panose="02040503050406030204" pitchFamily="18" charset="0"/>
                              <a:ea typeface="DengXian" panose="02010600030101010101" pitchFamily="2" charset="-122"/>
                              <a:cs typeface="Times New Roman" panose="02020603050405020304" pitchFamily="18" charset="0"/>
                            </a:rPr>
                            <m:t>12</m:t>
                          </m:r>
                        </m:den>
                      </m:f>
                    </m:oMath>
                  </m:oMathPara>
                </a14:m>
                <a:endParaRPr lang="en-US" sz="4000">
                  <a:cs typeface="Arial"/>
                </a:endParaRPr>
              </a:p>
            </p:txBody>
          </p:sp>
        </mc:Choice>
        <mc:Fallback xmlns="">
          <p:sp>
            <p:nvSpPr>
              <p:cNvPr id="22" name="Text Placeholder 17">
                <a:extLst>
                  <a:ext uri="{FF2B5EF4-FFF2-40B4-BE49-F238E27FC236}">
                    <a16:creationId xmlns:a16="http://schemas.microsoft.com/office/drawing/2014/main" id="{7C942E93-6597-5C76-2699-67D1505DE037}"/>
                  </a:ext>
                </a:extLst>
              </p:cNvPr>
              <p:cNvSpPr txBox="1">
                <a:spLocks noRot="1" noChangeAspect="1" noMove="1" noResize="1" noEditPoints="1" noAdjustHandles="1" noChangeArrowheads="1" noChangeShapeType="1" noTextEdit="1"/>
              </p:cNvSpPr>
              <p:nvPr/>
            </p:nvSpPr>
            <p:spPr>
              <a:xfrm>
                <a:off x="3156583" y="3103671"/>
                <a:ext cx="1034609" cy="641396"/>
              </a:xfrm>
              <a:prstGeom prst="rect">
                <a:avLst/>
              </a:prstGeom>
              <a:blipFill>
                <a:blip r:embed="rId5"/>
                <a:stretch>
                  <a:fillRect b="-47619"/>
                </a:stretch>
              </a:blipFill>
            </p:spPr>
            <p:txBody>
              <a:bodyPr/>
              <a:lstStyle/>
              <a:p>
                <a:r>
                  <a:rPr lang="en-AU">
                    <a:noFill/>
                  </a:rPr>
                  <a:t> </a:t>
                </a:r>
              </a:p>
            </p:txBody>
          </p:sp>
        </mc:Fallback>
      </mc:AlternateContent>
      <p:sp>
        <p:nvSpPr>
          <p:cNvPr id="12" name="TextBox 11">
            <a:extLst>
              <a:ext uri="{FF2B5EF4-FFF2-40B4-BE49-F238E27FC236}">
                <a16:creationId xmlns:a16="http://schemas.microsoft.com/office/drawing/2014/main" id="{C86D3D05-3E76-5A4E-DF8C-4677FB0BC3BF}"/>
              </a:ext>
            </a:extLst>
          </p:cNvPr>
          <p:cNvSpPr txBox="1"/>
          <p:nvPr/>
        </p:nvSpPr>
        <p:spPr>
          <a:xfrm>
            <a:off x="2741403" y="45261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mc:AlternateContent xmlns:mc="http://schemas.openxmlformats.org/markup-compatibility/2006" xmlns:a14="http://schemas.microsoft.com/office/drawing/2010/main">
        <mc:Choice Requires="a14">
          <p:sp>
            <p:nvSpPr>
              <p:cNvPr id="23" name="Text Placeholder 17">
                <a:extLst>
                  <a:ext uri="{FF2B5EF4-FFF2-40B4-BE49-F238E27FC236}">
                    <a16:creationId xmlns:a16="http://schemas.microsoft.com/office/drawing/2014/main" id="{151518C8-D498-135D-48FA-513560ADA1B0}"/>
                  </a:ext>
                </a:extLst>
              </p:cNvPr>
              <p:cNvSpPr txBox="1">
                <a:spLocks/>
              </p:cNvSpPr>
              <p:nvPr/>
            </p:nvSpPr>
            <p:spPr>
              <a:xfrm>
                <a:off x="3156583" y="4261304"/>
                <a:ext cx="1034609" cy="641396"/>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mn-lt"/>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mn-lt"/>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mn-lt"/>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mn-lt"/>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f>
                        <m:fPr>
                          <m:ctrlPr>
                            <a:rPr lang="en-AU" sz="2400" i="1" smtClean="0">
                              <a:latin typeface="Cambria Math" panose="02040503050406030204" pitchFamily="18" charset="0"/>
                              <a:ea typeface="DengXian" panose="02010600030101010101" pitchFamily="2" charset="-122"/>
                              <a:cs typeface="Times New Roman" panose="02020603050405020304" pitchFamily="18" charset="0"/>
                            </a:rPr>
                          </m:ctrlPr>
                        </m:fPr>
                        <m:num>
                          <m:r>
                            <a:rPr lang="en-AU" sz="2400" b="0" i="1" smtClean="0">
                              <a:latin typeface="Cambria Math" panose="02040503050406030204" pitchFamily="18" charset="0"/>
                              <a:ea typeface="DengXian" panose="02010600030101010101" pitchFamily="2" charset="-122"/>
                              <a:cs typeface="Times New Roman" panose="02020603050405020304" pitchFamily="18" charset="0"/>
                            </a:rPr>
                            <m:t>1</m:t>
                          </m:r>
                        </m:num>
                        <m:den>
                          <m:r>
                            <a:rPr lang="en-AU" sz="2400" b="0" i="1" smtClean="0">
                              <a:latin typeface="Cambria Math" panose="02040503050406030204" pitchFamily="18" charset="0"/>
                              <a:ea typeface="DengXian" panose="02010600030101010101" pitchFamily="2" charset="-122"/>
                              <a:cs typeface="Times New Roman" panose="02020603050405020304" pitchFamily="18" charset="0"/>
                            </a:rPr>
                            <m:t>3</m:t>
                          </m:r>
                        </m:den>
                      </m:f>
                    </m:oMath>
                  </m:oMathPara>
                </a14:m>
                <a:endParaRPr lang="en-US" sz="4000">
                  <a:cs typeface="Arial"/>
                </a:endParaRPr>
              </a:p>
            </p:txBody>
          </p:sp>
        </mc:Choice>
        <mc:Fallback xmlns="">
          <p:sp>
            <p:nvSpPr>
              <p:cNvPr id="23" name="Text Placeholder 17">
                <a:extLst>
                  <a:ext uri="{FF2B5EF4-FFF2-40B4-BE49-F238E27FC236}">
                    <a16:creationId xmlns:a16="http://schemas.microsoft.com/office/drawing/2014/main" id="{151518C8-D498-135D-48FA-513560ADA1B0}"/>
                  </a:ext>
                </a:extLst>
              </p:cNvPr>
              <p:cNvSpPr txBox="1">
                <a:spLocks noRot="1" noChangeAspect="1" noMove="1" noResize="1" noEditPoints="1" noAdjustHandles="1" noChangeArrowheads="1" noChangeShapeType="1" noTextEdit="1"/>
              </p:cNvSpPr>
              <p:nvPr/>
            </p:nvSpPr>
            <p:spPr>
              <a:xfrm>
                <a:off x="3156583" y="4261304"/>
                <a:ext cx="1034609" cy="641396"/>
              </a:xfrm>
              <a:prstGeom prst="rect">
                <a:avLst/>
              </a:prstGeom>
              <a:blipFill>
                <a:blip r:embed="rId6"/>
                <a:stretch>
                  <a:fillRect b="-47619"/>
                </a:stretch>
              </a:blipFill>
            </p:spPr>
            <p:txBody>
              <a:bodyPr/>
              <a:lstStyle/>
              <a:p>
                <a:r>
                  <a:rPr lang="en-AU">
                    <a:noFill/>
                  </a:rPr>
                  <a:t> </a:t>
                </a:r>
              </a:p>
            </p:txBody>
          </p:sp>
        </mc:Fallback>
      </mc:AlternateContent>
      <p:sp>
        <p:nvSpPr>
          <p:cNvPr id="11" name="TextBox 10">
            <a:extLst>
              <a:ext uri="{FF2B5EF4-FFF2-40B4-BE49-F238E27FC236}">
                <a16:creationId xmlns:a16="http://schemas.microsoft.com/office/drawing/2014/main" id="{5912478F-CB84-AC6C-FE6E-1FCE453E61F6}"/>
              </a:ext>
            </a:extLst>
          </p:cNvPr>
          <p:cNvSpPr txBox="1"/>
          <p:nvPr/>
        </p:nvSpPr>
        <p:spPr>
          <a:xfrm>
            <a:off x="2741403" y="561761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mc:AlternateContent xmlns:mc="http://schemas.openxmlformats.org/markup-compatibility/2006" xmlns:a14="http://schemas.microsoft.com/office/drawing/2010/main">
        <mc:Choice Requires="a14">
          <p:sp>
            <p:nvSpPr>
              <p:cNvPr id="24" name="Text Placeholder 17">
                <a:extLst>
                  <a:ext uri="{FF2B5EF4-FFF2-40B4-BE49-F238E27FC236}">
                    <a16:creationId xmlns:a16="http://schemas.microsoft.com/office/drawing/2014/main" id="{309FEA9D-B143-7220-6D60-8240E954E79E}"/>
                  </a:ext>
                </a:extLst>
              </p:cNvPr>
              <p:cNvSpPr txBox="1">
                <a:spLocks/>
              </p:cNvSpPr>
              <p:nvPr/>
            </p:nvSpPr>
            <p:spPr>
              <a:xfrm>
                <a:off x="3156583" y="5329930"/>
                <a:ext cx="1034609" cy="641396"/>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mn-lt"/>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mn-lt"/>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mn-lt"/>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mn-lt"/>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f>
                        <m:fPr>
                          <m:ctrlPr>
                            <a:rPr lang="en-AU" sz="2400" i="1" smtClean="0">
                              <a:latin typeface="Cambria Math" panose="02040503050406030204" pitchFamily="18" charset="0"/>
                              <a:ea typeface="DengXian" panose="02010600030101010101" pitchFamily="2" charset="-122"/>
                              <a:cs typeface="Times New Roman" panose="02020603050405020304" pitchFamily="18" charset="0"/>
                            </a:rPr>
                          </m:ctrlPr>
                        </m:fPr>
                        <m:num>
                          <m:r>
                            <a:rPr lang="en-AU" sz="2400" b="0" i="1" smtClean="0">
                              <a:latin typeface="Cambria Math" panose="02040503050406030204" pitchFamily="18" charset="0"/>
                              <a:ea typeface="DengXian" panose="02010600030101010101" pitchFamily="2" charset="-122"/>
                              <a:cs typeface="Times New Roman" panose="02020603050405020304" pitchFamily="18" charset="0"/>
                            </a:rPr>
                            <m:t>2</m:t>
                          </m:r>
                        </m:num>
                        <m:den>
                          <m:r>
                            <a:rPr lang="en-AU" sz="2400" b="0" i="1" smtClean="0">
                              <a:latin typeface="Cambria Math" panose="02040503050406030204" pitchFamily="18" charset="0"/>
                              <a:ea typeface="DengXian" panose="02010600030101010101" pitchFamily="2" charset="-122"/>
                              <a:cs typeface="Times New Roman" panose="02020603050405020304" pitchFamily="18" charset="0"/>
                            </a:rPr>
                            <m:t>10</m:t>
                          </m:r>
                        </m:den>
                      </m:f>
                    </m:oMath>
                  </m:oMathPara>
                </a14:m>
                <a:endParaRPr lang="en-US" sz="4000">
                  <a:cs typeface="Arial"/>
                </a:endParaRPr>
              </a:p>
            </p:txBody>
          </p:sp>
        </mc:Choice>
        <mc:Fallback xmlns="">
          <p:sp>
            <p:nvSpPr>
              <p:cNvPr id="24" name="Text Placeholder 17">
                <a:extLst>
                  <a:ext uri="{FF2B5EF4-FFF2-40B4-BE49-F238E27FC236}">
                    <a16:creationId xmlns:a16="http://schemas.microsoft.com/office/drawing/2014/main" id="{309FEA9D-B143-7220-6D60-8240E954E79E}"/>
                  </a:ext>
                </a:extLst>
              </p:cNvPr>
              <p:cNvSpPr txBox="1">
                <a:spLocks noRot="1" noChangeAspect="1" noMove="1" noResize="1" noEditPoints="1" noAdjustHandles="1" noChangeArrowheads="1" noChangeShapeType="1" noTextEdit="1"/>
              </p:cNvSpPr>
              <p:nvPr/>
            </p:nvSpPr>
            <p:spPr>
              <a:xfrm>
                <a:off x="3156583" y="5329930"/>
                <a:ext cx="1034609" cy="641396"/>
              </a:xfrm>
              <a:prstGeom prst="rect">
                <a:avLst/>
              </a:prstGeom>
              <a:blipFill>
                <a:blip r:embed="rId7"/>
                <a:stretch>
                  <a:fillRect b="-46226"/>
                </a:stretch>
              </a:blipFill>
            </p:spPr>
            <p:txBody>
              <a:bodyPr/>
              <a:lstStyle/>
              <a:p>
                <a:r>
                  <a:rPr lang="en-AU">
                    <a:noFill/>
                  </a:rPr>
                  <a:t> </a:t>
                </a:r>
              </a:p>
            </p:txBody>
          </p:sp>
        </mc:Fallback>
      </mc:AlternateContent>
      <p:pic>
        <p:nvPicPr>
          <p:cNvPr id="6" name="Picture 5" descr="A red hexagon with 1 sixth covered by a green equilateral triangle and 2 sixths covered by a blue rhombus.">
            <a:extLst>
              <a:ext uri="{FF2B5EF4-FFF2-40B4-BE49-F238E27FC236}">
                <a16:creationId xmlns:a16="http://schemas.microsoft.com/office/drawing/2014/main" id="{46BDED2B-8B52-CC5C-DB08-BC36DE67B03F}"/>
              </a:ext>
            </a:extLst>
          </p:cNvPr>
          <p:cNvPicPr>
            <a:picLocks noChangeAspect="1"/>
          </p:cNvPicPr>
          <p:nvPr/>
        </p:nvPicPr>
        <p:blipFill>
          <a:blip r:embed="rId8"/>
          <a:stretch>
            <a:fillRect/>
          </a:stretch>
        </p:blipFill>
        <p:spPr>
          <a:xfrm>
            <a:off x="5567327" y="2671477"/>
            <a:ext cx="3596847" cy="3074532"/>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A54353F3-AFA1-F86F-DE0E-4EEDDC077D1C}"/>
              </a:ext>
            </a:extLst>
          </p:cNvPr>
          <p:cNvSpPr>
            <a:spLocks noGrp="1"/>
          </p:cNvSpPr>
          <p:nvPr>
            <p:ph type="sldNum" sz="quarter" idx="12"/>
          </p:nvPr>
        </p:nvSpPr>
        <p:spPr/>
        <p:txBody>
          <a:bodyPr/>
          <a:lstStyle/>
          <a:p>
            <a:fld id="{10A01DC5-1685-4615-8240-15192985C6A2}" type="slidenum">
              <a:rPr lang="en-AU" smtClean="0"/>
              <a:t>47</a:t>
            </a:fld>
            <a:endParaRPr lang="en-AU"/>
          </a:p>
        </p:txBody>
      </p:sp>
    </p:spTree>
    <p:extLst>
      <p:ext uri="{BB962C8B-B14F-4D97-AF65-F5344CB8AC3E}">
        <p14:creationId xmlns:p14="http://schemas.microsoft.com/office/powerpoint/2010/main" val="2587296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17138-09C4-3779-3ADC-C5FC41EBD76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A79083A-0495-1351-2474-66F37FD0839A}"/>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(25)</a:t>
            </a:r>
          </a:p>
        </p:txBody>
      </p:sp>
      <p:pic>
        <p:nvPicPr>
          <p:cNvPr id="4" name="Picture 3" descr="image of a clipboard with a pencil recording short answer responses">
            <a:extLst>
              <a:ext uri="{FF2B5EF4-FFF2-40B4-BE49-F238E27FC236}">
                <a16:creationId xmlns:a16="http://schemas.microsoft.com/office/drawing/2014/main" id="{0B2658E5-897D-F102-F9BC-10C464CD9E83}"/>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11" name="Picture Placeholder 10">
                <a:extLst>
                  <a:ext uri="{FF2B5EF4-FFF2-40B4-BE49-F238E27FC236}">
                    <a16:creationId xmlns:a16="http://schemas.microsoft.com/office/drawing/2014/main" id="{ACDE4623-0E37-0882-ACB4-C9EF952037E5}"/>
                  </a:ext>
                </a:extLst>
              </p:cNvPr>
              <p:cNvSpPr>
                <a:spLocks noGrp="1"/>
              </p:cNvSpPr>
              <p:nvPr>
                <p:ph type="pic" sz="quarter" idx="21"/>
              </p:nvPr>
            </p:nvSpPr>
            <p:spPr>
              <a:xfrm>
                <a:off x="246024" y="996878"/>
                <a:ext cx="11189376" cy="5403922"/>
              </a:xfrm>
            </p:spPr>
            <p:txBody>
              <a:bodyPr/>
              <a:lstStyle/>
              <a:p>
                <a:pPr algn="ctr"/>
                <a:r>
                  <a:rPr lang="en-US" sz="3600" dirty="0">
                    <a:latin typeface="Arial"/>
                    <a:cs typeface="Arial"/>
                  </a:rPr>
                  <a:t> </a:t>
                </a:r>
                <a:r>
                  <a:rPr lang="en-US" sz="4400" dirty="0">
                    <a:latin typeface="Arial"/>
                    <a:cs typeface="Arial"/>
                  </a:rPr>
                  <a:t>A family goes on a road trip. On the first day they listen to </a:t>
                </a:r>
                <a:r>
                  <a:rPr lang="en-US" sz="4400" b="1" dirty="0">
                    <a:latin typeface="Arial"/>
                    <a:cs typeface="Arial"/>
                  </a:rPr>
                  <a:t>10%</a:t>
                </a:r>
                <a:r>
                  <a:rPr lang="en-US" sz="4400" dirty="0">
                    <a:latin typeface="Arial"/>
                    <a:cs typeface="Arial"/>
                  </a:rPr>
                  <a:t> of an audio book. On the second day they listen to </a:t>
                </a:r>
                <a:r>
                  <a:rPr lang="en-US" sz="4400" b="1" dirty="0">
                    <a:latin typeface="Arial"/>
                    <a:cs typeface="Arial"/>
                  </a:rPr>
                  <a:t>one quarter </a:t>
                </a:r>
                <a:r>
                  <a:rPr lang="en-AU" sz="4400" dirty="0">
                    <a:ea typeface="Calibri" panose="020F0502020204030204" pitchFamily="34" charset="0"/>
                  </a:rPr>
                  <a:t>( </a:t>
                </a:r>
                <a14:m>
                  <m:oMath xmlns:m="http://schemas.openxmlformats.org/officeDocument/2006/math">
                    <m:f>
                      <m:fPr>
                        <m:ctrlPr>
                          <a:rPr lang="en-AU" sz="4400" i="1">
                            <a:latin typeface="Cambria Math" panose="02040503050406030204" pitchFamily="18" charset="0"/>
                            <a:ea typeface="Calibri" panose="020F0502020204030204" pitchFamily="34" charset="0"/>
                          </a:rPr>
                        </m:ctrlPr>
                      </m:fPr>
                      <m:num>
                        <m:r>
                          <a:rPr lang="en-AU" sz="4400" b="0" i="1" smtClean="0">
                            <a:latin typeface="Cambria Math" panose="02040503050406030204" pitchFamily="18" charset="0"/>
                            <a:ea typeface="Calibri" panose="020F0502020204030204" pitchFamily="34" charset="0"/>
                          </a:rPr>
                          <m:t>1</m:t>
                        </m:r>
                      </m:num>
                      <m:den>
                        <m:r>
                          <a:rPr lang="en-AU" sz="4400" b="0" i="1" smtClean="0">
                            <a:latin typeface="Cambria Math" panose="02040503050406030204" pitchFamily="18" charset="0"/>
                            <a:ea typeface="Calibri" panose="020F0502020204030204" pitchFamily="34" charset="0"/>
                          </a:rPr>
                          <m:t>4</m:t>
                        </m:r>
                      </m:den>
                    </m:f>
                    <m:r>
                      <a:rPr lang="en-AU" sz="4400" i="1">
                        <a:latin typeface="Cambria Math" panose="02040503050406030204" pitchFamily="18" charset="0"/>
                        <a:ea typeface="Calibri" panose="020F0502020204030204" pitchFamily="34" charset="0"/>
                      </a:rPr>
                      <m:t> </m:t>
                    </m:r>
                  </m:oMath>
                </a14:m>
                <a:r>
                  <a:rPr lang="en-AU" sz="4400" dirty="0">
                    <a:ea typeface="Calibri" panose="020F0502020204030204" pitchFamily="34" charset="0"/>
                  </a:rPr>
                  <a:t>) </a:t>
                </a:r>
                <a:r>
                  <a:rPr lang="en-US" sz="4400" dirty="0">
                    <a:latin typeface="Arial"/>
                    <a:cs typeface="Arial"/>
                  </a:rPr>
                  <a:t>of the total book. How much of the book do they have left to listen to?</a:t>
                </a:r>
              </a:p>
              <a:p>
                <a:pPr algn="ctr"/>
                <a:endParaRPr lang="en-US" sz="4400" dirty="0">
                  <a:latin typeface="Arial"/>
                  <a:cs typeface="Arial"/>
                </a:endParaRPr>
              </a:p>
              <a:p>
                <a:pPr algn="ctr"/>
                <a:r>
                  <a:rPr lang="en-US" sz="4400" dirty="0">
                    <a:latin typeface="Arial"/>
                    <a:cs typeface="Arial"/>
                  </a:rPr>
                  <a:t>Use a </a:t>
                </a:r>
                <a:r>
                  <a:rPr lang="en-US" sz="4400" b="1" dirty="0">
                    <a:latin typeface="Arial"/>
                    <a:cs typeface="Arial"/>
                  </a:rPr>
                  <a:t>bar model </a:t>
                </a:r>
                <a:r>
                  <a:rPr lang="en-US" sz="4400" dirty="0">
                    <a:latin typeface="Arial"/>
                    <a:cs typeface="Arial"/>
                  </a:rPr>
                  <a:t>or </a:t>
                </a:r>
                <a:r>
                  <a:rPr lang="en-US" sz="4400" b="1" dirty="0">
                    <a:latin typeface="Arial"/>
                    <a:cs typeface="Arial"/>
                  </a:rPr>
                  <a:t>number line </a:t>
                </a:r>
                <a:r>
                  <a:rPr lang="en-US" sz="4400" dirty="0">
                    <a:latin typeface="Arial"/>
                    <a:cs typeface="Arial"/>
                  </a:rPr>
                  <a:t>to show your thinking</a:t>
                </a:r>
                <a:r>
                  <a:rPr lang="en-US" sz="3200" dirty="0">
                    <a:latin typeface="Arial"/>
                    <a:cs typeface="Arial"/>
                  </a:rPr>
                  <a:t>.</a:t>
                </a:r>
                <a:endParaRPr lang="en-US" sz="3200" dirty="0"/>
              </a:p>
              <a:p>
                <a:pPr algn="ctr"/>
                <a:endParaRPr lang="en-US" sz="4400" dirty="0"/>
              </a:p>
              <a:p>
                <a:endParaRPr lang="en-US" dirty="0">
                  <a:latin typeface="Arial"/>
                  <a:cs typeface="Arial"/>
                </a:endParaRPr>
              </a:p>
            </p:txBody>
          </p:sp>
        </mc:Choice>
        <mc:Fallback xmlns="">
          <p:sp>
            <p:nvSpPr>
              <p:cNvPr id="11" name="Picture Placeholder 10">
                <a:extLst>
                  <a:ext uri="{FF2B5EF4-FFF2-40B4-BE49-F238E27FC236}">
                    <a16:creationId xmlns:a16="http://schemas.microsoft.com/office/drawing/2014/main" id="{ACDE4623-0E37-0882-ACB4-C9EF952037E5}"/>
                  </a:ext>
                </a:extLst>
              </p:cNvPr>
              <p:cNvSpPr>
                <a:spLocks noGrp="1" noRot="1" noChangeAspect="1" noMove="1" noResize="1" noEditPoints="1" noAdjustHandles="1" noChangeArrowheads="1" noChangeShapeType="1" noTextEdit="1"/>
              </p:cNvSpPr>
              <p:nvPr>
                <p:ph type="pic" sz="quarter" idx="21"/>
              </p:nvPr>
            </p:nvSpPr>
            <p:spPr>
              <a:xfrm>
                <a:off x="246024" y="996878"/>
                <a:ext cx="11189376" cy="5403922"/>
              </a:xfrm>
              <a:blipFill>
                <a:blip r:embed="rId4"/>
                <a:stretch>
                  <a:fillRect l="-2451" r="-3704" b="-66140"/>
                </a:stretch>
              </a:blipFill>
            </p:spPr>
            <p:txBody>
              <a:bodyPr/>
              <a:lstStyle/>
              <a:p>
                <a:r>
                  <a:rPr lang="en-AU">
                    <a:noFill/>
                  </a:rPr>
                  <a:t> </a:t>
                </a:r>
              </a:p>
            </p:txBody>
          </p:sp>
        </mc:Fallback>
      </mc:AlternateContent>
      <p:sp>
        <p:nvSpPr>
          <p:cNvPr id="2" name="Slide Number Placeholder 1">
            <a:extLst>
              <a:ext uri="{FF2B5EF4-FFF2-40B4-BE49-F238E27FC236}">
                <a16:creationId xmlns:a16="http://schemas.microsoft.com/office/drawing/2014/main" id="{C02BE3BE-2958-C89B-F3EF-B2EDE80629D7}"/>
              </a:ext>
            </a:extLst>
          </p:cNvPr>
          <p:cNvSpPr>
            <a:spLocks noGrp="1"/>
          </p:cNvSpPr>
          <p:nvPr>
            <p:ph type="sldNum" sz="quarter" idx="12"/>
          </p:nvPr>
        </p:nvSpPr>
        <p:spPr/>
        <p:txBody>
          <a:bodyPr/>
          <a:lstStyle/>
          <a:p>
            <a:fld id="{10A01DC5-1685-4615-8240-15192985C6A2}" type="slidenum">
              <a:rPr lang="en-AU" smtClean="0"/>
              <a:t>48</a:t>
            </a:fld>
            <a:endParaRPr lang="en-AU"/>
          </a:p>
        </p:txBody>
      </p:sp>
    </p:spTree>
    <p:extLst>
      <p:ext uri="{BB962C8B-B14F-4D97-AF65-F5344CB8AC3E}">
        <p14:creationId xmlns:p14="http://schemas.microsoft.com/office/powerpoint/2010/main" val="2796038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9FC73-CB73-205A-CAA7-7FD0D6436E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B9F4F55-65F7-47E4-8121-CF7185730C4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(26)</a:t>
            </a:r>
          </a:p>
        </p:txBody>
      </p:sp>
      <p:pic>
        <p:nvPicPr>
          <p:cNvPr id="4" name="Picture 3" descr="image of a clipboard with a pencil recording short answer responses">
            <a:extLst>
              <a:ext uri="{FF2B5EF4-FFF2-40B4-BE49-F238E27FC236}">
                <a16:creationId xmlns:a16="http://schemas.microsoft.com/office/drawing/2014/main" id="{03DE4DA9-4B9A-92DD-CA74-B2C1DDF4FB0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21E9C82F-FE72-F379-EE54-EC40C9DE00C1}"/>
              </a:ext>
            </a:extLst>
          </p:cNvPr>
          <p:cNvSpPr>
            <a:spLocks noGrp="1"/>
          </p:cNvSpPr>
          <p:nvPr>
            <p:ph type="pic" sz="quarter" idx="21"/>
          </p:nvPr>
        </p:nvSpPr>
        <p:spPr>
          <a:xfrm>
            <a:off x="359999" y="1042317"/>
            <a:ext cx="11210840" cy="4769889"/>
          </a:xfrm>
        </p:spPr>
        <p:txBody>
          <a:bodyPr/>
          <a:lstStyle/>
          <a:p>
            <a:pPr algn="ctr"/>
            <a:r>
              <a:rPr lang="en-US" sz="4400" dirty="0">
                <a:latin typeface="Arial"/>
                <a:cs typeface="Arial"/>
              </a:rPr>
              <a:t>Use </a:t>
            </a:r>
            <a:r>
              <a:rPr lang="en-US" sz="4400" b="1" dirty="0">
                <a:latin typeface="Arial"/>
                <a:cs typeface="Arial"/>
              </a:rPr>
              <a:t>estimation</a:t>
            </a:r>
            <a:r>
              <a:rPr lang="en-US" sz="4400" dirty="0">
                <a:latin typeface="Arial"/>
                <a:cs typeface="Arial"/>
              </a:rPr>
              <a:t> to find the answer:</a:t>
            </a:r>
          </a:p>
          <a:p>
            <a:pPr algn="ctr"/>
            <a:r>
              <a:rPr lang="en-US" sz="4400" dirty="0">
                <a:latin typeface="Arial"/>
                <a:cs typeface="Arial"/>
              </a:rPr>
              <a:t>43 893 + 92 107</a:t>
            </a:r>
          </a:p>
          <a:p>
            <a:pPr algn="ctr"/>
            <a:endParaRPr lang="en-US" sz="4400" dirty="0">
              <a:latin typeface="Arial"/>
              <a:cs typeface="Arial"/>
            </a:endParaRPr>
          </a:p>
          <a:p>
            <a:pPr algn="ctr"/>
            <a:r>
              <a:rPr lang="en-US" sz="4400" dirty="0">
                <a:latin typeface="Arial"/>
                <a:cs typeface="Arial"/>
              </a:rPr>
              <a:t>Justify the </a:t>
            </a:r>
            <a:r>
              <a:rPr lang="en-US" sz="4400" b="1" dirty="0">
                <a:latin typeface="Arial"/>
                <a:cs typeface="Arial"/>
              </a:rPr>
              <a:t>reasonableness</a:t>
            </a:r>
            <a:r>
              <a:rPr lang="en-US" sz="4400" dirty="0">
                <a:latin typeface="Arial"/>
                <a:cs typeface="Arial"/>
              </a:rPr>
              <a:t> of your solution</a:t>
            </a:r>
            <a:r>
              <a:rPr lang="en-US" sz="4000" dirty="0">
                <a:latin typeface="Arial"/>
                <a:cs typeface="Arial"/>
              </a:rPr>
              <a:t>.</a:t>
            </a:r>
            <a:endParaRPr lang="en-US" sz="4000" dirty="0"/>
          </a:p>
          <a:p>
            <a:pPr algn="ctr"/>
            <a:endParaRPr lang="en-US" sz="4400" dirty="0"/>
          </a:p>
          <a:p>
            <a:pPr algn="ctr"/>
            <a:endParaRPr lang="en-US" sz="4400" dirty="0"/>
          </a:p>
          <a:p>
            <a:endParaRPr lang="en-US" dirty="0">
              <a:latin typeface="Arial"/>
              <a:cs typeface="Arial"/>
            </a:endParaRPr>
          </a:p>
        </p:txBody>
      </p:sp>
      <p:sp>
        <p:nvSpPr>
          <p:cNvPr id="2" name="Slide Number Placeholder 1">
            <a:extLst>
              <a:ext uri="{FF2B5EF4-FFF2-40B4-BE49-F238E27FC236}">
                <a16:creationId xmlns:a16="http://schemas.microsoft.com/office/drawing/2014/main" id="{53EF37E2-888E-CB04-88EA-19DCDE0D7B10}"/>
              </a:ext>
            </a:extLst>
          </p:cNvPr>
          <p:cNvSpPr>
            <a:spLocks noGrp="1"/>
          </p:cNvSpPr>
          <p:nvPr>
            <p:ph type="sldNum" sz="quarter" idx="12"/>
          </p:nvPr>
        </p:nvSpPr>
        <p:spPr/>
        <p:txBody>
          <a:bodyPr/>
          <a:lstStyle/>
          <a:p>
            <a:fld id="{10A01DC5-1685-4615-8240-15192985C6A2}" type="slidenum">
              <a:rPr lang="en-AU" smtClean="0"/>
              <a:t>49</a:t>
            </a:fld>
            <a:endParaRPr lang="en-AU"/>
          </a:p>
        </p:txBody>
      </p:sp>
    </p:spTree>
    <p:extLst>
      <p:ext uri="{BB962C8B-B14F-4D97-AF65-F5344CB8AC3E}">
        <p14:creationId xmlns:p14="http://schemas.microsoft.com/office/powerpoint/2010/main" val="2825170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0F56B-0B8D-BD79-E370-6AC7E4243CD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17A4F92-D5D2-B138-7BEF-D1ED6B9CE5C1}"/>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(27)</a:t>
            </a:r>
          </a:p>
        </p:txBody>
      </p:sp>
      <p:pic>
        <p:nvPicPr>
          <p:cNvPr id="4" name="Picture 3" descr="image of a clipboard with a pencil recording short answer responses">
            <a:extLst>
              <a:ext uri="{FF2B5EF4-FFF2-40B4-BE49-F238E27FC236}">
                <a16:creationId xmlns:a16="http://schemas.microsoft.com/office/drawing/2014/main" id="{1E63D2BF-38DB-BA0C-BA80-947F471E806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AA232421-C8EE-55E7-3B48-FB94C1F70903}"/>
              </a:ext>
            </a:extLst>
          </p:cNvPr>
          <p:cNvSpPr>
            <a:spLocks noGrp="1"/>
          </p:cNvSpPr>
          <p:nvPr>
            <p:ph type="pic" sz="quarter" idx="21"/>
          </p:nvPr>
        </p:nvSpPr>
        <p:spPr>
          <a:xfrm>
            <a:off x="353365" y="913443"/>
            <a:ext cx="11235949" cy="5447015"/>
          </a:xfrm>
        </p:spPr>
        <p:txBody>
          <a:bodyPr/>
          <a:lstStyle/>
          <a:p>
            <a:pPr algn="ctr"/>
            <a:r>
              <a:rPr lang="en-US" sz="4400" b="1" dirty="0">
                <a:latin typeface="Arial"/>
                <a:cs typeface="Arial"/>
              </a:rPr>
              <a:t>Record</a:t>
            </a:r>
            <a:r>
              <a:rPr lang="en-US" sz="4400" dirty="0">
                <a:latin typeface="Arial"/>
                <a:cs typeface="Arial"/>
              </a:rPr>
              <a:t> the following </a:t>
            </a:r>
            <a:r>
              <a:rPr lang="en-US" sz="4400" b="1" dirty="0">
                <a:latin typeface="Arial"/>
                <a:cs typeface="Arial"/>
              </a:rPr>
              <a:t>masses</a:t>
            </a:r>
            <a:r>
              <a:rPr lang="en-US" sz="4400" dirty="0">
                <a:latin typeface="Arial"/>
                <a:cs typeface="Arial"/>
              </a:rPr>
              <a:t> in </a:t>
            </a:r>
            <a:r>
              <a:rPr lang="en-US" sz="4400" b="1" dirty="0">
                <a:latin typeface="Arial"/>
                <a:cs typeface="Arial"/>
              </a:rPr>
              <a:t>decimal notation:</a:t>
            </a:r>
            <a:endParaRPr lang="en-US" sz="4400" b="1">
              <a:latin typeface="Arial"/>
              <a:cs typeface="Arial"/>
            </a:endParaRPr>
          </a:p>
          <a:p>
            <a:pPr marL="571500" indent="-571500" algn="ctr">
              <a:buChar char="•"/>
            </a:pPr>
            <a:r>
              <a:rPr lang="en-US" sz="4400" dirty="0">
                <a:latin typeface="Arial"/>
                <a:cs typeface="Arial"/>
              </a:rPr>
              <a:t>2 kilograms and 350 grams </a:t>
            </a:r>
          </a:p>
          <a:p>
            <a:pPr marL="571500" indent="-571500" algn="ctr">
              <a:buChar char="•"/>
            </a:pPr>
            <a:r>
              <a:rPr lang="en-US" sz="4400" dirty="0">
                <a:latin typeface="Arial"/>
                <a:cs typeface="Arial"/>
              </a:rPr>
              <a:t>1 kilogram and 982 grams  </a:t>
            </a:r>
          </a:p>
          <a:p>
            <a:pPr marL="571500" indent="-571500" algn="ctr">
              <a:buChar char="•"/>
            </a:pPr>
            <a:r>
              <a:rPr lang="en-US" sz="4400" dirty="0">
                <a:latin typeface="Arial"/>
                <a:cs typeface="Arial"/>
              </a:rPr>
              <a:t>7 kilograms and 43 grams </a:t>
            </a:r>
            <a:endParaRPr lang="en-US" sz="4400" dirty="0"/>
          </a:p>
          <a:p>
            <a:pPr algn="ctr"/>
            <a:endParaRPr lang="en-US" sz="4400" dirty="0"/>
          </a:p>
          <a:p>
            <a:endParaRPr lang="en-US" dirty="0">
              <a:latin typeface="Arial"/>
              <a:cs typeface="Arial"/>
            </a:endParaRPr>
          </a:p>
        </p:txBody>
      </p:sp>
      <p:sp>
        <p:nvSpPr>
          <p:cNvPr id="2" name="Slide Number Placeholder 1">
            <a:extLst>
              <a:ext uri="{FF2B5EF4-FFF2-40B4-BE49-F238E27FC236}">
                <a16:creationId xmlns:a16="http://schemas.microsoft.com/office/drawing/2014/main" id="{4D1E675D-63E6-6EF0-A7F8-7CA3E2680A94}"/>
              </a:ext>
            </a:extLst>
          </p:cNvPr>
          <p:cNvSpPr>
            <a:spLocks noGrp="1"/>
          </p:cNvSpPr>
          <p:nvPr>
            <p:ph type="sldNum" sz="quarter" idx="12"/>
          </p:nvPr>
        </p:nvSpPr>
        <p:spPr/>
        <p:txBody>
          <a:bodyPr/>
          <a:lstStyle/>
          <a:p>
            <a:fld id="{10A01DC5-1685-4615-8240-15192985C6A2}" type="slidenum">
              <a:rPr lang="en-AU" smtClean="0"/>
              <a:t>50</a:t>
            </a:fld>
            <a:endParaRPr lang="en-AU"/>
          </a:p>
        </p:txBody>
      </p:sp>
    </p:spTree>
    <p:extLst>
      <p:ext uri="{BB962C8B-B14F-4D97-AF65-F5344CB8AC3E}">
        <p14:creationId xmlns:p14="http://schemas.microsoft.com/office/powerpoint/2010/main" val="1770370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7636B-D9FA-D8F2-87DC-26F9E69DDCA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EF2F071-69AF-26E6-9BD8-ADFB0EF0B312}"/>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(28)</a:t>
            </a:r>
          </a:p>
        </p:txBody>
      </p:sp>
      <p:pic>
        <p:nvPicPr>
          <p:cNvPr id="4" name="Picture 3" descr="image of a clipboard with a pencil recording short answer responses">
            <a:extLst>
              <a:ext uri="{FF2B5EF4-FFF2-40B4-BE49-F238E27FC236}">
                <a16:creationId xmlns:a16="http://schemas.microsoft.com/office/drawing/2014/main" id="{4B75951C-A82E-F9E5-67E0-9214B5EB3E9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89E81B81-DF76-7E96-6C02-AFD9B15A4EFF}"/>
              </a:ext>
            </a:extLst>
          </p:cNvPr>
          <p:cNvSpPr>
            <a:spLocks noGrp="1"/>
          </p:cNvSpPr>
          <p:nvPr>
            <p:ph type="pic" sz="quarter" idx="21"/>
          </p:nvPr>
        </p:nvSpPr>
        <p:spPr>
          <a:xfrm>
            <a:off x="274140" y="2255077"/>
            <a:ext cx="11221572" cy="2730735"/>
          </a:xfrm>
        </p:spPr>
        <p:txBody>
          <a:bodyPr/>
          <a:lstStyle/>
          <a:p>
            <a:pPr algn="ctr"/>
            <a:r>
              <a:rPr lang="en-US" sz="4400" b="1" dirty="0">
                <a:latin typeface="Arial"/>
                <a:cs typeface="Arial"/>
              </a:rPr>
              <a:t>Describe</a:t>
            </a:r>
            <a:r>
              <a:rPr lang="en-US" sz="4400" dirty="0">
                <a:latin typeface="Arial"/>
                <a:cs typeface="Arial"/>
              </a:rPr>
              <a:t> how to use a </a:t>
            </a:r>
            <a:r>
              <a:rPr lang="en-US" sz="4400" b="1" dirty="0">
                <a:latin typeface="Arial"/>
                <a:cs typeface="Arial"/>
              </a:rPr>
              <a:t>protractor</a:t>
            </a:r>
            <a:r>
              <a:rPr lang="en-US" sz="4400" dirty="0">
                <a:latin typeface="Arial"/>
                <a:cs typeface="Arial"/>
              </a:rPr>
              <a:t> to measure an </a:t>
            </a:r>
            <a:r>
              <a:rPr lang="en-US" sz="4400" b="1" dirty="0">
                <a:latin typeface="Arial"/>
                <a:cs typeface="Arial"/>
              </a:rPr>
              <a:t>angle less than </a:t>
            </a:r>
            <a:r>
              <a:rPr lang="en-AU" sz="4400" b="1" dirty="0">
                <a:latin typeface="Arial"/>
                <a:cs typeface="Arial"/>
              </a:rPr>
              <a:t>90°</a:t>
            </a:r>
            <a:r>
              <a:rPr lang="en-US" sz="4400" dirty="0">
                <a:latin typeface="Arial"/>
                <a:cs typeface="Arial"/>
              </a:rPr>
              <a:t>.</a:t>
            </a:r>
            <a:endParaRPr lang="en-US" dirty="0">
              <a:latin typeface="Arial"/>
              <a:cs typeface="Arial"/>
            </a:endParaRPr>
          </a:p>
        </p:txBody>
      </p:sp>
      <p:sp>
        <p:nvSpPr>
          <p:cNvPr id="2" name="Slide Number Placeholder 1">
            <a:extLst>
              <a:ext uri="{FF2B5EF4-FFF2-40B4-BE49-F238E27FC236}">
                <a16:creationId xmlns:a16="http://schemas.microsoft.com/office/drawing/2014/main" id="{17936BF7-7EEA-E829-93CD-C96F10F9ADE7}"/>
              </a:ext>
            </a:extLst>
          </p:cNvPr>
          <p:cNvSpPr>
            <a:spLocks noGrp="1"/>
          </p:cNvSpPr>
          <p:nvPr>
            <p:ph type="sldNum" sz="quarter" idx="12"/>
          </p:nvPr>
        </p:nvSpPr>
        <p:spPr/>
        <p:txBody>
          <a:bodyPr/>
          <a:lstStyle/>
          <a:p>
            <a:fld id="{10A01DC5-1685-4615-8240-15192985C6A2}" type="slidenum">
              <a:rPr lang="en-AU" smtClean="0"/>
              <a:t>51</a:t>
            </a:fld>
            <a:endParaRPr lang="en-AU"/>
          </a:p>
        </p:txBody>
      </p:sp>
    </p:spTree>
    <p:extLst>
      <p:ext uri="{BB962C8B-B14F-4D97-AF65-F5344CB8AC3E}">
        <p14:creationId xmlns:p14="http://schemas.microsoft.com/office/powerpoint/2010/main" val="1212306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01B38-F707-C7FD-1F66-74C22A5A8E5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08A4183-E2F7-6E36-183A-24961F29B8AD}"/>
              </a:ext>
            </a:extLst>
          </p:cNvPr>
          <p:cNvSpPr>
            <a:spLocks noGrp="1"/>
          </p:cNvSpPr>
          <p:nvPr>
            <p:ph type="title"/>
          </p:nvPr>
        </p:nvSpPr>
        <p:spPr/>
        <p:txBody>
          <a:bodyPr/>
          <a:lstStyle/>
          <a:p>
            <a:r>
              <a:rPr lang="en-AU">
                <a:latin typeface="Arial"/>
                <a:cs typeface="Arial"/>
              </a:rPr>
              <a:t>Activity 7 – equivalent fractions, decimals and percentages</a:t>
            </a:r>
            <a:br>
              <a:rPr lang="en-AU">
                <a:latin typeface="Arial"/>
                <a:cs typeface="Arial"/>
              </a:rPr>
            </a:br>
            <a:endParaRPr lang="en-AU">
              <a:latin typeface="Arial"/>
              <a:cs typeface="Arial"/>
            </a:endParaRPr>
          </a:p>
        </p:txBody>
      </p:sp>
      <p:pic>
        <p:nvPicPr>
          <p:cNvPr id="9" name="Picture 8" descr="An image of a magic number square 3 x 3. The magic number is 1 1/2. Numbers in the magic square are 1/2 in the centre, 3/10 middle bottom and 0.8 bottom right row. Possible numbers to include are 1/10, 90%, 40%, 7/10, 1/5 and 0.6.">
            <a:extLst>
              <a:ext uri="{FF2B5EF4-FFF2-40B4-BE49-F238E27FC236}">
                <a16:creationId xmlns:a16="http://schemas.microsoft.com/office/drawing/2014/main" id="{53C716E3-323C-6EF9-2915-C3BC54B2383E}"/>
              </a:ext>
            </a:extLst>
          </p:cNvPr>
          <p:cNvPicPr>
            <a:picLocks noChangeAspect="1"/>
          </p:cNvPicPr>
          <p:nvPr/>
        </p:nvPicPr>
        <p:blipFill>
          <a:blip r:embed="rId3"/>
          <a:stretch>
            <a:fillRect/>
          </a:stretch>
        </p:blipFill>
        <p:spPr>
          <a:xfrm>
            <a:off x="3559309" y="1253866"/>
            <a:ext cx="5345393" cy="5244134"/>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12ABA3D2-4478-8BC7-6543-54411025CF08}"/>
              </a:ext>
            </a:extLst>
          </p:cNvPr>
          <p:cNvSpPr>
            <a:spLocks noGrp="1"/>
          </p:cNvSpPr>
          <p:nvPr>
            <p:ph type="sldNum" sz="quarter" idx="12"/>
          </p:nvPr>
        </p:nvSpPr>
        <p:spPr/>
        <p:txBody>
          <a:bodyPr/>
          <a:lstStyle/>
          <a:p>
            <a:fld id="{10A01DC5-1685-4615-8240-15192985C6A2}" type="slidenum">
              <a:rPr lang="en-AU" smtClean="0"/>
              <a:t>52</a:t>
            </a:fld>
            <a:endParaRPr lang="en-AU"/>
          </a:p>
        </p:txBody>
      </p:sp>
    </p:spTree>
    <p:extLst>
      <p:ext uri="{BB962C8B-B14F-4D97-AF65-F5344CB8AC3E}">
        <p14:creationId xmlns:p14="http://schemas.microsoft.com/office/powerpoint/2010/main" val="115786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3B60A-22B2-4361-67CC-312F59BDAAB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54F7E62-8796-5FC7-FD38-8F4D46ED40A9}"/>
              </a:ext>
            </a:extLst>
          </p:cNvPr>
          <p:cNvSpPr>
            <a:spLocks noGrp="1"/>
          </p:cNvSpPr>
          <p:nvPr>
            <p:ph type="ctrTitle"/>
          </p:nvPr>
        </p:nvSpPr>
        <p:spPr/>
        <p:txBody>
          <a:bodyPr/>
          <a:lstStyle/>
          <a:p>
            <a:r>
              <a:rPr lang="en-AU">
                <a:latin typeface="+mj-lt"/>
                <a:cs typeface="Arial"/>
              </a:rPr>
              <a:t>Review of learning 8</a:t>
            </a:r>
            <a:endParaRPr lang="en-AU">
              <a:latin typeface="+mj-lt"/>
            </a:endParaRPr>
          </a:p>
        </p:txBody>
      </p:sp>
    </p:spTree>
    <p:extLst>
      <p:ext uri="{BB962C8B-B14F-4D97-AF65-F5344CB8AC3E}">
        <p14:creationId xmlns:p14="http://schemas.microsoft.com/office/powerpoint/2010/main" val="2515054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045DE-1C82-1DDC-BD3D-A63D7912E7B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5CD52BE-F5BD-DAA7-827E-221EB96A6BF3}"/>
              </a:ext>
            </a:extLst>
          </p:cNvPr>
          <p:cNvSpPr>
            <a:spLocks noGrp="1"/>
          </p:cNvSpPr>
          <p:nvPr>
            <p:ph type="title"/>
          </p:nvPr>
        </p:nvSpPr>
        <p:spPr/>
        <p:txBody>
          <a:bodyPr/>
          <a:lstStyle/>
          <a:p>
            <a:r>
              <a:rPr lang="en-US"/>
              <a:t>True or false </a:t>
            </a:r>
            <a:r>
              <a:rPr lang="en-US">
                <a:solidFill>
                  <a:schemeClr val="bg1"/>
                </a:solidFill>
              </a:rPr>
              <a:t>(4)</a:t>
            </a:r>
          </a:p>
        </p:txBody>
      </p:sp>
      <p:pic>
        <p:nvPicPr>
          <p:cNvPr id="5" name="Picture 4" descr="image of a finger selecting an option for a multiple choice or true and false">
            <a:extLst>
              <a:ext uri="{FF2B5EF4-FFF2-40B4-BE49-F238E27FC236}">
                <a16:creationId xmlns:a16="http://schemas.microsoft.com/office/drawing/2014/main" id="{75557DD5-EF65-9FF3-3C88-C4692F9C2F2F}"/>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EA6BC0CF-ECA6-DC5C-B614-7854FEE9F3D3}"/>
                  </a:ext>
                </a:extLst>
              </p:cNvPr>
              <p:cNvSpPr>
                <a:spLocks noGrp="1"/>
              </p:cNvSpPr>
              <p:nvPr>
                <p:ph type="body" sz="quarter" idx="22"/>
              </p:nvPr>
            </p:nvSpPr>
            <p:spPr>
              <a:xfrm>
                <a:off x="314027" y="1279509"/>
                <a:ext cx="11217725" cy="4220884"/>
              </a:xfrm>
            </p:spPr>
            <p:txBody>
              <a:bodyPr vert="horz" lIns="0" tIns="0" rIns="0" bIns="0" rtlCol="0" anchor="t">
                <a:noAutofit/>
              </a:bodyPr>
              <a:lstStyle/>
              <a:p>
                <a:pPr algn="ctr"/>
                <a:r>
                  <a:rPr lang="en-AU" sz="4000" dirty="0">
                    <a:ea typeface="Calibri" panose="020F0502020204030204" pitchFamily="34" charset="0"/>
                    <a:cs typeface="Times New Roman" panose="02020603050405020304" pitchFamily="18" charset="0"/>
                  </a:rPr>
                  <a:t>When Amy completes the following </a:t>
                </a:r>
                <a:r>
                  <a:rPr lang="en-AU" sz="4000" b="1" dirty="0">
                    <a:ea typeface="Calibri" panose="020F0502020204030204" pitchFamily="34" charset="0"/>
                    <a:cs typeface="Times New Roman" panose="02020603050405020304" pitchFamily="18" charset="0"/>
                  </a:rPr>
                  <a:t>fraction number sentence</a:t>
                </a:r>
                <a:r>
                  <a:rPr lang="en-AU" sz="4000" dirty="0">
                    <a:ea typeface="Calibri" panose="020F0502020204030204" pitchFamily="34" charset="0"/>
                    <a:cs typeface="Times New Roman" panose="02020603050405020304" pitchFamily="18" charset="0"/>
                  </a:rPr>
                  <a:t> her answer is </a:t>
                </a:r>
                <a14:m>
                  <m:oMath xmlns:m="http://schemas.openxmlformats.org/officeDocument/2006/math">
                    <m:f>
                      <m:fPr>
                        <m:ctrlPr>
                          <a:rPr lang="en-AU" sz="4000" i="1">
                            <a:latin typeface="Cambria Math" panose="02040503050406030204" pitchFamily="18" charset="0"/>
                            <a:ea typeface="DengXian" panose="02010600030101010101" pitchFamily="2" charset="-122"/>
                            <a:cs typeface="Times New Roman" panose="02020603050405020304" pitchFamily="18" charset="0"/>
                          </a:rPr>
                        </m:ctrlPr>
                      </m:fPr>
                      <m:num>
                        <m:r>
                          <a:rPr lang="en-AU" sz="4000" b="0" i="1" smtClean="0">
                            <a:latin typeface="Cambria Math" panose="02040503050406030204" pitchFamily="18" charset="0"/>
                            <a:ea typeface="DengXian" panose="02010600030101010101" pitchFamily="2" charset="-122"/>
                            <a:cs typeface="Times New Roman" panose="02020603050405020304" pitchFamily="18" charset="0"/>
                          </a:rPr>
                          <m:t>2</m:t>
                        </m:r>
                        <m:r>
                          <a:rPr lang="en-AU" sz="4000" i="1">
                            <a:latin typeface="Cambria Math" panose="02040503050406030204" pitchFamily="18" charset="0"/>
                            <a:ea typeface="DengXian" panose="02010600030101010101" pitchFamily="2" charset="-122"/>
                            <a:cs typeface="Times New Roman" panose="02020603050405020304" pitchFamily="18" charset="0"/>
                          </a:rPr>
                          <m:t>0</m:t>
                        </m:r>
                      </m:num>
                      <m:den>
                        <m:r>
                          <a:rPr lang="en-AU" sz="4000" b="0" i="1" smtClean="0">
                            <a:latin typeface="Cambria Math" panose="02040503050406030204" pitchFamily="18" charset="0"/>
                            <a:ea typeface="DengXian" panose="02010600030101010101" pitchFamily="2" charset="-122"/>
                            <a:cs typeface="Times New Roman" panose="02020603050405020304" pitchFamily="18" charset="0"/>
                          </a:rPr>
                          <m:t>6</m:t>
                        </m:r>
                      </m:den>
                    </m:f>
                    <m:r>
                      <a:rPr lang="en-AU" sz="4000" b="0" i="0" smtClean="0">
                        <a:latin typeface="Cambria Math" panose="02040503050406030204" pitchFamily="18" charset="0"/>
                        <a:ea typeface="DengXian" panose="02010600030101010101" pitchFamily="2" charset="-122"/>
                        <a:cs typeface="Times New Roman" panose="02020603050405020304" pitchFamily="18" charset="0"/>
                      </a:rPr>
                      <m:t>.</m:t>
                    </m:r>
                  </m:oMath>
                </a14:m>
                <a:endParaRPr lang="en-AU" sz="4000" dirty="0">
                  <a:ea typeface="Calibri" panose="020F0502020204030204" pitchFamily="34" charset="0"/>
                  <a:cs typeface="Times New Roman" panose="02020603050405020304" pitchFamily="18" charset="0"/>
                </a:endParaRPr>
              </a:p>
              <a:p>
                <a:pPr algn="ctr"/>
                <a:r>
                  <a:rPr lang="en-AU" sz="4000" dirty="0">
                    <a:ea typeface="Calibri" panose="020F0502020204030204" pitchFamily="34" charset="0"/>
                    <a:cs typeface="Times New Roman" panose="02020603050405020304" pitchFamily="18" charset="0"/>
                  </a:rPr>
                  <a:t>2 + </a:t>
                </a:r>
                <a14:m>
                  <m:oMath xmlns:m="http://schemas.openxmlformats.org/officeDocument/2006/math">
                    <m:f>
                      <m:fPr>
                        <m:ctrlPr>
                          <a:rPr lang="en-AU" sz="4000" i="1">
                            <a:latin typeface="Cambria Math" panose="02040503050406030204" pitchFamily="18" charset="0"/>
                            <a:ea typeface="DengXian" panose="02010600030101010101" pitchFamily="2" charset="-122"/>
                            <a:cs typeface="Times New Roman" panose="02020603050405020304" pitchFamily="18" charset="0"/>
                          </a:rPr>
                        </m:ctrlPr>
                      </m:fPr>
                      <m:num>
                        <m:r>
                          <a:rPr lang="en-AU" sz="4000" b="0" i="1">
                            <a:latin typeface="Cambria Math" panose="02040503050406030204" pitchFamily="18" charset="0"/>
                            <a:ea typeface="DengXian" panose="02010600030101010101" pitchFamily="2" charset="-122"/>
                            <a:cs typeface="Times New Roman" panose="02020603050405020304" pitchFamily="18" charset="0"/>
                          </a:rPr>
                          <m:t>6</m:t>
                        </m:r>
                      </m:num>
                      <m:den>
                        <m:r>
                          <a:rPr lang="en-AU" sz="4000" b="0" i="1">
                            <a:latin typeface="Cambria Math" panose="02040503050406030204" pitchFamily="18" charset="0"/>
                            <a:ea typeface="DengXian" panose="02010600030101010101" pitchFamily="2" charset="-122"/>
                            <a:cs typeface="Times New Roman" panose="02020603050405020304" pitchFamily="18" charset="0"/>
                          </a:rPr>
                          <m:t>6</m:t>
                        </m:r>
                      </m:den>
                    </m:f>
                  </m:oMath>
                </a14:m>
                <a:r>
                  <a:rPr lang="en-AU" sz="4000" dirty="0">
                    <a:ea typeface="DengXian" panose="02010600030101010101" pitchFamily="2" charset="-122"/>
                    <a:cs typeface="Times New Roman" panose="02020603050405020304" pitchFamily="18" charset="0"/>
                  </a:rPr>
                  <a:t> + </a:t>
                </a:r>
                <a14:m>
                  <m:oMath xmlns:m="http://schemas.openxmlformats.org/officeDocument/2006/math">
                    <m:f>
                      <m:fPr>
                        <m:ctrlPr>
                          <a:rPr lang="en-AU" sz="4000" i="1">
                            <a:latin typeface="Cambria Math" panose="02040503050406030204" pitchFamily="18" charset="0"/>
                            <a:ea typeface="DengXian" panose="02010600030101010101" pitchFamily="2" charset="-122"/>
                            <a:cs typeface="Times New Roman" panose="02020603050405020304" pitchFamily="18" charset="0"/>
                          </a:rPr>
                        </m:ctrlPr>
                      </m:fPr>
                      <m:num>
                        <m:r>
                          <a:rPr lang="en-AU" sz="4000" b="0" i="1" smtClean="0">
                            <a:latin typeface="Cambria Math" panose="02040503050406030204" pitchFamily="18" charset="0"/>
                            <a:ea typeface="DengXian" panose="02010600030101010101" pitchFamily="2" charset="-122"/>
                            <a:cs typeface="Times New Roman" panose="02020603050405020304" pitchFamily="18" charset="0"/>
                          </a:rPr>
                          <m:t>2</m:t>
                        </m:r>
                      </m:num>
                      <m:den>
                        <m:r>
                          <a:rPr lang="en-AU" sz="4000" b="0" i="1" smtClean="0">
                            <a:latin typeface="Cambria Math" panose="02040503050406030204" pitchFamily="18" charset="0"/>
                            <a:ea typeface="DengXian" panose="02010600030101010101" pitchFamily="2" charset="-122"/>
                            <a:cs typeface="Times New Roman" panose="02020603050405020304" pitchFamily="18" charset="0"/>
                          </a:rPr>
                          <m:t>6</m:t>
                        </m:r>
                      </m:den>
                    </m:f>
                  </m:oMath>
                </a14:m>
                <a:r>
                  <a:rPr lang="en-AU" sz="4000" b="1" dirty="0">
                    <a:ea typeface="DengXian" panose="02010600030101010101" pitchFamily="2" charset="-122"/>
                    <a:cs typeface="Times New Roman" panose="02020603050405020304" pitchFamily="18" charset="0"/>
                  </a:rPr>
                  <a:t> </a:t>
                </a:r>
                <a:endParaRPr lang="en-AU" sz="4000" b="1" dirty="0">
                  <a:latin typeface="Arial"/>
                  <a:ea typeface="Calibri" panose="020F0502020204030204" pitchFamily="34" charset="0"/>
                  <a:cs typeface="Times New Roman" panose="02020603050405020304" pitchFamily="18" charset="0"/>
                </a:endParaRPr>
              </a:p>
              <a:p>
                <a:pPr algn="ctr"/>
                <a:r>
                  <a:rPr lang="en-US" sz="4000" dirty="0">
                    <a:latin typeface="Arial"/>
                    <a:cs typeface="Arial"/>
                  </a:rPr>
                  <a:t>Is Amy’s solution true or false?</a:t>
                </a:r>
                <a:endParaRPr lang="en-US" sz="4000" dirty="0"/>
              </a:p>
            </p:txBody>
          </p:sp>
        </mc:Choice>
        <mc:Fallback xmlns="">
          <p:sp>
            <p:nvSpPr>
              <p:cNvPr id="7" name="Text Placeholder 6">
                <a:extLst>
                  <a:ext uri="{FF2B5EF4-FFF2-40B4-BE49-F238E27FC236}">
                    <a16:creationId xmlns:a16="http://schemas.microsoft.com/office/drawing/2014/main" id="{EA6BC0CF-ECA6-DC5C-B614-7854FEE9F3D3}"/>
                  </a:ext>
                </a:extLst>
              </p:cNvPr>
              <p:cNvSpPr>
                <a:spLocks noGrp="1" noRot="1" noChangeAspect="1" noMove="1" noResize="1" noEditPoints="1" noAdjustHandles="1" noChangeArrowheads="1" noChangeShapeType="1" noTextEdit="1"/>
              </p:cNvSpPr>
              <p:nvPr>
                <p:ph type="body" sz="quarter" idx="22"/>
              </p:nvPr>
            </p:nvSpPr>
            <p:spPr>
              <a:xfrm>
                <a:off x="314027" y="1279509"/>
                <a:ext cx="11217725" cy="4220884"/>
              </a:xfrm>
              <a:blipFill>
                <a:blip r:embed="rId4"/>
                <a:stretch>
                  <a:fillRect b="-13150"/>
                </a:stretch>
              </a:blipFill>
            </p:spPr>
            <p:txBody>
              <a:bodyPr/>
              <a:lstStyle/>
              <a:p>
                <a:r>
                  <a:rPr lang="en-AU">
                    <a:noFill/>
                  </a:rPr>
                  <a:t> </a:t>
                </a:r>
              </a:p>
            </p:txBody>
          </p:sp>
        </mc:Fallback>
      </mc:AlternateContent>
      <p:graphicFrame>
        <p:nvGraphicFramePr>
          <p:cNvPr id="12" name="Table 11">
            <a:extLst>
              <a:ext uri="{FF2B5EF4-FFF2-40B4-BE49-F238E27FC236}">
                <a16:creationId xmlns:a16="http://schemas.microsoft.com/office/drawing/2014/main" id="{32803648-AB31-1C55-361F-D02B899E3208}"/>
              </a:ext>
            </a:extLst>
          </p:cNvPr>
          <p:cNvGraphicFramePr>
            <a:graphicFrameLocks noGrp="1"/>
          </p:cNvGraphicFramePr>
          <p:nvPr>
            <p:extLst>
              <p:ext uri="{D42A27DB-BD31-4B8C-83A1-F6EECF244321}">
                <p14:modId xmlns:p14="http://schemas.microsoft.com/office/powerpoint/2010/main" val="2462743370"/>
              </p:ext>
            </p:extLst>
          </p:nvPr>
        </p:nvGraphicFramePr>
        <p:xfrm>
          <a:off x="2442981" y="5954320"/>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4E1B704-5DF8-9EB3-2103-8C8913465761}"/>
              </a:ext>
            </a:extLst>
          </p:cNvPr>
          <p:cNvSpPr>
            <a:spLocks noGrp="1"/>
          </p:cNvSpPr>
          <p:nvPr>
            <p:ph type="sldNum" sz="quarter" idx="12"/>
          </p:nvPr>
        </p:nvSpPr>
        <p:spPr/>
        <p:txBody>
          <a:bodyPr/>
          <a:lstStyle/>
          <a:p>
            <a:fld id="{10A01DC5-1685-4615-8240-15192985C6A2}" type="slidenum">
              <a:rPr lang="en-AU" smtClean="0"/>
              <a:t>54</a:t>
            </a:fld>
            <a:endParaRPr lang="en-AU"/>
          </a:p>
        </p:txBody>
      </p:sp>
    </p:spTree>
    <p:extLst>
      <p:ext uri="{BB962C8B-B14F-4D97-AF65-F5344CB8AC3E}">
        <p14:creationId xmlns:p14="http://schemas.microsoft.com/office/powerpoint/2010/main" val="690367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A186E-DEAD-1E3F-ADBE-CF258B9E68C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069B6F1-52F5-DBD9-FE1E-7DD78D3D510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(29)</a:t>
            </a:r>
          </a:p>
        </p:txBody>
      </p:sp>
      <p:pic>
        <p:nvPicPr>
          <p:cNvPr id="4" name="Picture 3" descr="image of a clipboard with a pencil recording short answer responses">
            <a:extLst>
              <a:ext uri="{FF2B5EF4-FFF2-40B4-BE49-F238E27FC236}">
                <a16:creationId xmlns:a16="http://schemas.microsoft.com/office/drawing/2014/main" id="{2A2578A1-ADBB-72FE-B090-2577A9392D2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FF54730D-1797-6F6B-C3B2-591C858320E8}"/>
              </a:ext>
            </a:extLst>
          </p:cNvPr>
          <p:cNvSpPr>
            <a:spLocks noGrp="1"/>
          </p:cNvSpPr>
          <p:nvPr>
            <p:ph type="pic" sz="quarter" idx="21"/>
          </p:nvPr>
        </p:nvSpPr>
        <p:spPr>
          <a:xfrm>
            <a:off x="246024" y="996878"/>
            <a:ext cx="11189376" cy="2889322"/>
          </a:xfrm>
        </p:spPr>
        <p:txBody>
          <a:bodyPr/>
          <a:lstStyle/>
          <a:p>
            <a:pPr algn="ctr"/>
            <a:r>
              <a:rPr lang="en-US" sz="4000" dirty="0">
                <a:latin typeface="Arial"/>
                <a:cs typeface="Arial"/>
              </a:rPr>
              <a:t>Write the following as a </a:t>
            </a:r>
            <a:r>
              <a:rPr lang="en-US" sz="4000" b="1" dirty="0">
                <a:latin typeface="Arial"/>
                <a:cs typeface="Arial"/>
              </a:rPr>
              <a:t>fraction number sentence</a:t>
            </a:r>
            <a:r>
              <a:rPr lang="en-US" sz="4000" dirty="0">
                <a:latin typeface="Arial"/>
                <a:cs typeface="Arial"/>
              </a:rPr>
              <a:t> and solve:</a:t>
            </a:r>
          </a:p>
          <a:p>
            <a:pPr algn="ctr"/>
            <a:r>
              <a:rPr lang="en-US" sz="4000" dirty="0">
                <a:latin typeface="Arial"/>
                <a:cs typeface="Arial"/>
              </a:rPr>
              <a:t>yellow circles + white squares + star </a:t>
            </a:r>
            <a:endParaRPr lang="en-US" sz="4000" dirty="0"/>
          </a:p>
          <a:p>
            <a:pPr algn="ctr"/>
            <a:endParaRPr lang="en-US" sz="4400" dirty="0"/>
          </a:p>
          <a:p>
            <a:endParaRPr lang="en-US" dirty="0">
              <a:latin typeface="Arial"/>
              <a:cs typeface="Arial"/>
            </a:endParaRPr>
          </a:p>
        </p:txBody>
      </p:sp>
      <p:pic>
        <p:nvPicPr>
          <p:cNvPr id="6" name="Picture 5" descr="An image of two rows of black and white checker board pattern to represent 10/10. In the first white sqaure on the top row is a grey star. In the second black square of the top row is a yellow circle. On the bottom row in the last black square is a yellow circle.">
            <a:extLst>
              <a:ext uri="{FF2B5EF4-FFF2-40B4-BE49-F238E27FC236}">
                <a16:creationId xmlns:a16="http://schemas.microsoft.com/office/drawing/2014/main" id="{B4018E65-43CB-45F3-3E92-0484060EC796}"/>
              </a:ext>
            </a:extLst>
          </p:cNvPr>
          <p:cNvPicPr>
            <a:picLocks noChangeAspect="1"/>
          </p:cNvPicPr>
          <p:nvPr/>
        </p:nvPicPr>
        <p:blipFill>
          <a:blip r:embed="rId4"/>
          <a:stretch>
            <a:fillRect/>
          </a:stretch>
        </p:blipFill>
        <p:spPr>
          <a:xfrm>
            <a:off x="3839986" y="4276038"/>
            <a:ext cx="4512028" cy="2087492"/>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5249BC38-5AE6-D002-8CF1-C81FA6A0F702}"/>
              </a:ext>
            </a:extLst>
          </p:cNvPr>
          <p:cNvSpPr>
            <a:spLocks noGrp="1"/>
          </p:cNvSpPr>
          <p:nvPr>
            <p:ph type="sldNum" sz="quarter" idx="12"/>
          </p:nvPr>
        </p:nvSpPr>
        <p:spPr/>
        <p:txBody>
          <a:bodyPr/>
          <a:lstStyle/>
          <a:p>
            <a:fld id="{10A01DC5-1685-4615-8240-15192985C6A2}" type="slidenum">
              <a:rPr lang="en-AU" smtClean="0"/>
              <a:t>55</a:t>
            </a:fld>
            <a:endParaRPr lang="en-AU"/>
          </a:p>
        </p:txBody>
      </p:sp>
    </p:spTree>
    <p:extLst>
      <p:ext uri="{BB962C8B-B14F-4D97-AF65-F5344CB8AC3E}">
        <p14:creationId xmlns:p14="http://schemas.microsoft.com/office/powerpoint/2010/main" val="3402796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D3EC5-1978-D0B2-1005-F3026FF696D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D284195-A94F-3D08-B252-D7FBC4299576}"/>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(30)</a:t>
            </a:r>
          </a:p>
        </p:txBody>
      </p:sp>
      <p:pic>
        <p:nvPicPr>
          <p:cNvPr id="5" name="Picture 4" descr="image of a clipboard with a pencil recording short answer responses">
            <a:extLst>
              <a:ext uri="{FF2B5EF4-FFF2-40B4-BE49-F238E27FC236}">
                <a16:creationId xmlns:a16="http://schemas.microsoft.com/office/drawing/2014/main" id="{96D03F5E-A893-89A8-C765-B38394489A2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D23D2566-41DB-141E-5859-22E86591C65C}"/>
              </a:ext>
            </a:extLst>
          </p:cNvPr>
          <p:cNvSpPr>
            <a:spLocks noGrp="1"/>
          </p:cNvSpPr>
          <p:nvPr>
            <p:ph type="pic" sz="quarter" idx="21"/>
          </p:nvPr>
        </p:nvSpPr>
        <p:spPr>
          <a:xfrm>
            <a:off x="531470" y="905600"/>
            <a:ext cx="11243037" cy="5592399"/>
          </a:xfrm>
        </p:spPr>
        <p:txBody>
          <a:bodyPr/>
          <a:lstStyle/>
          <a:p>
            <a:r>
              <a:rPr lang="en-US" sz="2800" b="1" dirty="0">
                <a:latin typeface="Arial"/>
                <a:cs typeface="Arial"/>
              </a:rPr>
              <a:t>Estimate</a:t>
            </a:r>
            <a:r>
              <a:rPr lang="en-US" sz="2800" dirty="0">
                <a:latin typeface="Arial"/>
                <a:cs typeface="Arial"/>
              </a:rPr>
              <a:t> the total </a:t>
            </a:r>
            <a:r>
              <a:rPr lang="en-US" sz="2800" b="1" dirty="0">
                <a:latin typeface="Arial"/>
                <a:cs typeface="Arial"/>
              </a:rPr>
              <a:t>distance:</a:t>
            </a:r>
            <a:endParaRPr lang="en-US" sz="1400" b="1" dirty="0">
              <a:latin typeface="Arial"/>
              <a:cs typeface="Arial"/>
            </a:endParaRPr>
          </a:p>
          <a:p>
            <a:endParaRPr lang="en-US" sz="700" dirty="0">
              <a:latin typeface="Arial"/>
              <a:cs typeface="Arial"/>
            </a:endParaRPr>
          </a:p>
          <a:p>
            <a:pPr marL="457200" indent="-457200">
              <a:buFont typeface="Arial" panose="020B0604020202020204" pitchFamily="34" charset="0"/>
              <a:buChar char="•"/>
            </a:pPr>
            <a:r>
              <a:rPr lang="en-US" sz="2400" dirty="0">
                <a:latin typeface="Arial"/>
                <a:cs typeface="Arial"/>
              </a:rPr>
              <a:t>Broken Hill, </a:t>
            </a:r>
            <a:r>
              <a:rPr lang="en-US" sz="2400" dirty="0" err="1">
                <a:latin typeface="Arial"/>
                <a:cs typeface="Arial"/>
              </a:rPr>
              <a:t>Wilyakali</a:t>
            </a:r>
            <a:r>
              <a:rPr lang="en-US" sz="2400" dirty="0">
                <a:latin typeface="Arial"/>
                <a:cs typeface="Arial"/>
              </a:rPr>
              <a:t> Country to </a:t>
            </a:r>
            <a:r>
              <a:rPr lang="en-US" sz="2400" dirty="0" err="1">
                <a:latin typeface="Arial"/>
                <a:cs typeface="Arial"/>
              </a:rPr>
              <a:t>Wilcannia</a:t>
            </a:r>
            <a:r>
              <a:rPr lang="en-US" sz="2400" dirty="0">
                <a:latin typeface="Arial"/>
                <a:cs typeface="Arial"/>
              </a:rPr>
              <a:t>, </a:t>
            </a:r>
            <a:r>
              <a:rPr lang="en-US" sz="2400" dirty="0" err="1">
                <a:latin typeface="Arial"/>
                <a:cs typeface="Arial"/>
              </a:rPr>
              <a:t>Barkindji</a:t>
            </a:r>
            <a:r>
              <a:rPr lang="en-US" sz="2400" dirty="0">
                <a:latin typeface="Arial"/>
                <a:cs typeface="Arial"/>
              </a:rPr>
              <a:t> Country: 197 </a:t>
            </a:r>
            <a:r>
              <a:rPr lang="en-US" sz="2400" dirty="0" err="1">
                <a:latin typeface="Arial"/>
                <a:cs typeface="Arial"/>
              </a:rPr>
              <a:t>kilometres</a:t>
            </a:r>
            <a:endParaRPr lang="en-US" sz="2400" dirty="0">
              <a:latin typeface="Arial"/>
              <a:cs typeface="Arial"/>
            </a:endParaRPr>
          </a:p>
          <a:p>
            <a:pPr marL="457200" indent="-457200">
              <a:buFont typeface="Arial" panose="020B0604020202020204" pitchFamily="34" charset="0"/>
              <a:buChar char="•"/>
            </a:pPr>
            <a:r>
              <a:rPr lang="en-US" sz="2400" dirty="0" err="1">
                <a:latin typeface="Arial"/>
                <a:cs typeface="Arial"/>
              </a:rPr>
              <a:t>Wilcannia</a:t>
            </a:r>
            <a:r>
              <a:rPr lang="en-US" sz="2400" dirty="0">
                <a:latin typeface="Arial"/>
                <a:cs typeface="Arial"/>
              </a:rPr>
              <a:t> to Dubbo, Wiradjuri Country: 557 </a:t>
            </a:r>
            <a:r>
              <a:rPr lang="en-US" sz="2400" dirty="0" err="1">
                <a:latin typeface="Arial"/>
                <a:cs typeface="Arial"/>
              </a:rPr>
              <a:t>kilometres</a:t>
            </a:r>
            <a:endParaRPr lang="en-US" sz="2400" dirty="0">
              <a:latin typeface="Arial"/>
              <a:cs typeface="Arial"/>
            </a:endParaRPr>
          </a:p>
          <a:p>
            <a:pPr marL="457200" indent="-457200">
              <a:buFont typeface="Arial" panose="020B0604020202020204" pitchFamily="34" charset="0"/>
              <a:buChar char="•"/>
            </a:pPr>
            <a:r>
              <a:rPr lang="en-US" sz="2400" dirty="0">
                <a:latin typeface="Arial"/>
                <a:cs typeface="Arial"/>
              </a:rPr>
              <a:t>Dubbo to Gunnedah, </a:t>
            </a:r>
            <a:r>
              <a:rPr lang="en-US" sz="2400" dirty="0" err="1">
                <a:latin typeface="Arial"/>
                <a:cs typeface="Arial"/>
              </a:rPr>
              <a:t>Kamilaroi</a:t>
            </a:r>
            <a:r>
              <a:rPr lang="en-US" sz="2400" dirty="0">
                <a:latin typeface="Arial"/>
                <a:cs typeface="Arial"/>
              </a:rPr>
              <a:t> Country: 248 </a:t>
            </a:r>
            <a:r>
              <a:rPr lang="en-US" sz="2400" dirty="0" err="1">
                <a:latin typeface="Arial"/>
                <a:cs typeface="Arial"/>
              </a:rPr>
              <a:t>kilometres</a:t>
            </a:r>
            <a:endParaRPr lang="en-US" sz="2400" dirty="0">
              <a:latin typeface="Arial"/>
              <a:cs typeface="Arial"/>
            </a:endParaRPr>
          </a:p>
          <a:p>
            <a:pPr marL="457200" indent="-457200">
              <a:buFont typeface="Arial" panose="020B0604020202020204" pitchFamily="34" charset="0"/>
              <a:buChar char="•"/>
            </a:pPr>
            <a:r>
              <a:rPr lang="en-US" sz="2400" dirty="0">
                <a:latin typeface="Arial"/>
                <a:cs typeface="Arial"/>
              </a:rPr>
              <a:t>Gunnedah to Armidale, </a:t>
            </a:r>
            <a:r>
              <a:rPr lang="en-US" sz="2400" dirty="0" err="1">
                <a:latin typeface="Arial"/>
                <a:cs typeface="Arial"/>
              </a:rPr>
              <a:t>Anaiwan</a:t>
            </a:r>
            <a:r>
              <a:rPr lang="en-US" sz="2400" dirty="0">
                <a:latin typeface="Arial"/>
                <a:cs typeface="Arial"/>
              </a:rPr>
              <a:t> Country: 179 </a:t>
            </a:r>
            <a:r>
              <a:rPr lang="en-US" sz="2400" dirty="0" err="1">
                <a:latin typeface="Arial"/>
                <a:cs typeface="Arial"/>
              </a:rPr>
              <a:t>kilometres</a:t>
            </a:r>
            <a:endParaRPr lang="en-US" sz="2400" dirty="0">
              <a:latin typeface="Arial"/>
              <a:cs typeface="Arial"/>
            </a:endParaRPr>
          </a:p>
          <a:p>
            <a:pPr marL="457200" indent="-457200">
              <a:buFont typeface="Arial" panose="020B0604020202020204" pitchFamily="34" charset="0"/>
              <a:buChar char="•"/>
            </a:pPr>
            <a:r>
              <a:rPr lang="en-US" sz="2400" dirty="0">
                <a:latin typeface="Arial"/>
                <a:cs typeface="Arial"/>
              </a:rPr>
              <a:t>Armidale to </a:t>
            </a:r>
            <a:r>
              <a:rPr lang="en-US" sz="2400" dirty="0" err="1">
                <a:latin typeface="Arial"/>
                <a:cs typeface="Arial"/>
              </a:rPr>
              <a:t>Yamba</a:t>
            </a:r>
            <a:r>
              <a:rPr lang="en-US" sz="2400" dirty="0">
                <a:latin typeface="Arial"/>
                <a:cs typeface="Arial"/>
              </a:rPr>
              <a:t>, </a:t>
            </a:r>
            <a:r>
              <a:rPr lang="en-US" sz="2400" dirty="0" err="1">
                <a:latin typeface="Arial"/>
                <a:cs typeface="Arial"/>
              </a:rPr>
              <a:t>Yaegl</a:t>
            </a:r>
            <a:r>
              <a:rPr lang="en-US" sz="2400" dirty="0">
                <a:latin typeface="Arial"/>
                <a:cs typeface="Arial"/>
              </a:rPr>
              <a:t> Country: 258 </a:t>
            </a:r>
            <a:r>
              <a:rPr lang="en-US" sz="2400" dirty="0" err="1">
                <a:latin typeface="Arial"/>
                <a:cs typeface="Arial"/>
              </a:rPr>
              <a:t>kilometres</a:t>
            </a:r>
            <a:endParaRPr lang="en-US" sz="2400" dirty="0">
              <a:latin typeface="Arial"/>
              <a:cs typeface="Arial"/>
            </a:endParaRPr>
          </a:p>
          <a:p>
            <a:endParaRPr lang="en-US" sz="1000" dirty="0">
              <a:latin typeface="Arial"/>
              <a:cs typeface="Arial"/>
            </a:endParaRPr>
          </a:p>
          <a:p>
            <a:r>
              <a:rPr lang="en-US" sz="2400" b="1" dirty="0">
                <a:latin typeface="Arial"/>
                <a:cs typeface="Arial"/>
              </a:rPr>
              <a:t>Communicate</a:t>
            </a:r>
            <a:r>
              <a:rPr lang="en-US" sz="2400" dirty="0">
                <a:latin typeface="Arial"/>
                <a:cs typeface="Arial"/>
              </a:rPr>
              <a:t> the </a:t>
            </a:r>
            <a:r>
              <a:rPr lang="en-US" sz="2400" b="1" dirty="0">
                <a:latin typeface="Arial"/>
                <a:cs typeface="Arial"/>
              </a:rPr>
              <a:t>reasonableness</a:t>
            </a:r>
            <a:r>
              <a:rPr lang="en-US" sz="2400" dirty="0">
                <a:latin typeface="Arial"/>
                <a:cs typeface="Arial"/>
              </a:rPr>
              <a:t> of your </a:t>
            </a:r>
            <a:r>
              <a:rPr lang="en-US" sz="2400" b="1" dirty="0">
                <a:latin typeface="Arial"/>
                <a:cs typeface="Arial"/>
              </a:rPr>
              <a:t>estimation</a:t>
            </a:r>
            <a:r>
              <a:rPr lang="en-US" sz="2400" dirty="0">
                <a:latin typeface="Arial"/>
                <a:cs typeface="Arial"/>
              </a:rPr>
              <a:t>.</a:t>
            </a:r>
            <a:endParaRPr lang="en-US" sz="2800" dirty="0">
              <a:latin typeface="Arial"/>
              <a:cs typeface="Arial"/>
            </a:endParaRPr>
          </a:p>
        </p:txBody>
      </p:sp>
      <p:sp>
        <p:nvSpPr>
          <p:cNvPr id="2" name="Slide Number Placeholder 1">
            <a:extLst>
              <a:ext uri="{FF2B5EF4-FFF2-40B4-BE49-F238E27FC236}">
                <a16:creationId xmlns:a16="http://schemas.microsoft.com/office/drawing/2014/main" id="{854331E5-B73F-E61B-8143-1547D7DE5518}"/>
              </a:ext>
            </a:extLst>
          </p:cNvPr>
          <p:cNvSpPr>
            <a:spLocks noGrp="1"/>
          </p:cNvSpPr>
          <p:nvPr>
            <p:ph type="sldNum" sz="quarter" idx="12"/>
          </p:nvPr>
        </p:nvSpPr>
        <p:spPr/>
        <p:txBody>
          <a:bodyPr/>
          <a:lstStyle/>
          <a:p>
            <a:fld id="{10A01DC5-1685-4615-8240-15192985C6A2}" type="slidenum">
              <a:rPr lang="en-AU" smtClean="0"/>
              <a:t>56</a:t>
            </a:fld>
            <a:endParaRPr lang="en-AU"/>
          </a:p>
        </p:txBody>
      </p:sp>
    </p:spTree>
    <p:extLst>
      <p:ext uri="{BB962C8B-B14F-4D97-AF65-F5344CB8AC3E}">
        <p14:creationId xmlns:p14="http://schemas.microsoft.com/office/powerpoint/2010/main" val="2067489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E5048-C70E-7453-F9E5-507985776F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84B6BC0-2F0C-F390-AAB1-BCCBF88DB5D1}"/>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(31)</a:t>
            </a:r>
          </a:p>
        </p:txBody>
      </p:sp>
      <p:pic>
        <p:nvPicPr>
          <p:cNvPr id="4" name="Picture 3" descr="image of a clipboard with a pencil recording short answer responses">
            <a:extLst>
              <a:ext uri="{FF2B5EF4-FFF2-40B4-BE49-F238E27FC236}">
                <a16:creationId xmlns:a16="http://schemas.microsoft.com/office/drawing/2014/main" id="{FFF091A0-BE16-4A35-B2E1-6ACE56F3AA8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93746974-51C1-ECF2-342C-DE409734E1F1}"/>
              </a:ext>
            </a:extLst>
          </p:cNvPr>
          <p:cNvSpPr>
            <a:spLocks noGrp="1"/>
          </p:cNvSpPr>
          <p:nvPr>
            <p:ph type="pic" sz="quarter" idx="21"/>
          </p:nvPr>
        </p:nvSpPr>
        <p:spPr>
          <a:xfrm>
            <a:off x="305357" y="996878"/>
            <a:ext cx="11178643" cy="5519122"/>
          </a:xfrm>
        </p:spPr>
        <p:txBody>
          <a:bodyPr/>
          <a:lstStyle/>
          <a:p>
            <a:pPr algn="ctr"/>
            <a:r>
              <a:rPr lang="en-US" sz="4400" b="1" dirty="0">
                <a:latin typeface="Arial"/>
                <a:cs typeface="Arial"/>
              </a:rPr>
              <a:t>Interpret </a:t>
            </a:r>
            <a:r>
              <a:rPr lang="en-US" sz="4400" dirty="0">
                <a:latin typeface="Arial"/>
                <a:cs typeface="Arial"/>
              </a:rPr>
              <a:t>the</a:t>
            </a:r>
            <a:r>
              <a:rPr lang="en-US" sz="4400" b="1" dirty="0">
                <a:latin typeface="Arial"/>
                <a:cs typeface="Arial"/>
              </a:rPr>
              <a:t> decimal notation </a:t>
            </a:r>
            <a:r>
              <a:rPr lang="en-US" sz="4400" dirty="0">
                <a:latin typeface="Arial"/>
                <a:cs typeface="Arial"/>
              </a:rPr>
              <a:t>for the following </a:t>
            </a:r>
            <a:r>
              <a:rPr lang="en-US" sz="4400" b="1" dirty="0">
                <a:latin typeface="Arial"/>
                <a:cs typeface="Arial"/>
              </a:rPr>
              <a:t>masses:</a:t>
            </a:r>
          </a:p>
          <a:p>
            <a:pPr algn="ctr"/>
            <a:r>
              <a:rPr lang="en-US" sz="4400" dirty="0">
                <a:latin typeface="Arial"/>
                <a:cs typeface="Arial"/>
              </a:rPr>
              <a:t>4.8 kg is the same as ___ g</a:t>
            </a:r>
          </a:p>
          <a:p>
            <a:pPr algn="ctr"/>
            <a:r>
              <a:rPr lang="en-US" sz="4400" dirty="0">
                <a:latin typeface="Arial"/>
                <a:cs typeface="Arial"/>
              </a:rPr>
              <a:t>0.875 kg is the same as ___ g</a:t>
            </a:r>
          </a:p>
          <a:p>
            <a:pPr algn="ctr"/>
            <a:r>
              <a:rPr lang="en-US" sz="4400" dirty="0">
                <a:latin typeface="Arial"/>
                <a:cs typeface="Arial"/>
              </a:rPr>
              <a:t>1.04 kg is the same as ___ g</a:t>
            </a:r>
            <a:endParaRPr lang="en-US" sz="4400" dirty="0"/>
          </a:p>
          <a:p>
            <a:pPr algn="ctr"/>
            <a:endParaRPr lang="en-US" sz="4400" dirty="0"/>
          </a:p>
          <a:p>
            <a:endParaRPr lang="en-US" dirty="0">
              <a:latin typeface="Arial"/>
              <a:cs typeface="Arial"/>
            </a:endParaRPr>
          </a:p>
        </p:txBody>
      </p:sp>
      <p:sp>
        <p:nvSpPr>
          <p:cNvPr id="2" name="Slide Number Placeholder 1">
            <a:extLst>
              <a:ext uri="{FF2B5EF4-FFF2-40B4-BE49-F238E27FC236}">
                <a16:creationId xmlns:a16="http://schemas.microsoft.com/office/drawing/2014/main" id="{2E2BE1B1-6CD9-10A7-4664-27A4D73F0617}"/>
              </a:ext>
            </a:extLst>
          </p:cNvPr>
          <p:cNvSpPr>
            <a:spLocks noGrp="1"/>
          </p:cNvSpPr>
          <p:nvPr>
            <p:ph type="sldNum" sz="quarter" idx="12"/>
          </p:nvPr>
        </p:nvSpPr>
        <p:spPr/>
        <p:txBody>
          <a:bodyPr/>
          <a:lstStyle/>
          <a:p>
            <a:fld id="{10A01DC5-1685-4615-8240-15192985C6A2}" type="slidenum">
              <a:rPr lang="en-AU" smtClean="0"/>
              <a:t>57</a:t>
            </a:fld>
            <a:endParaRPr lang="en-AU"/>
          </a:p>
        </p:txBody>
      </p:sp>
    </p:spTree>
    <p:extLst>
      <p:ext uri="{BB962C8B-B14F-4D97-AF65-F5344CB8AC3E}">
        <p14:creationId xmlns:p14="http://schemas.microsoft.com/office/powerpoint/2010/main" val="2110225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6B258-E9E3-B7E5-FD48-2651B4A7B8A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07775EF-5070-4FD3-34D7-939E6F742B97}"/>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(32)</a:t>
            </a:r>
          </a:p>
        </p:txBody>
      </p:sp>
      <p:pic>
        <p:nvPicPr>
          <p:cNvPr id="5" name="Picture 4" descr="image of a clipboard with a pencil recording short answer responses">
            <a:extLst>
              <a:ext uri="{FF2B5EF4-FFF2-40B4-BE49-F238E27FC236}">
                <a16:creationId xmlns:a16="http://schemas.microsoft.com/office/drawing/2014/main" id="{1749249A-5B60-6152-8C4E-E89CBA08879A}"/>
              </a:ext>
            </a:extLst>
          </p:cNvPr>
          <p:cNvPicPr>
            <a:picLocks noChangeAspect="1"/>
          </p:cNvPicPr>
          <p:nvPr/>
        </p:nvPicPr>
        <p:blipFill>
          <a:blip r:embed="rId3"/>
          <a:stretch>
            <a:fillRect/>
          </a:stretch>
        </p:blipFill>
        <p:spPr>
          <a:xfrm>
            <a:off x="11030476" y="268723"/>
            <a:ext cx="915500" cy="915500"/>
          </a:xfrm>
          <a:prstGeom prst="rect">
            <a:avLst/>
          </a:prstGeom>
        </p:spPr>
      </p:pic>
      <p:graphicFrame>
        <p:nvGraphicFramePr>
          <p:cNvPr id="4" name="Table 3">
            <a:extLst>
              <a:ext uri="{FF2B5EF4-FFF2-40B4-BE49-F238E27FC236}">
                <a16:creationId xmlns:a16="http://schemas.microsoft.com/office/drawing/2014/main" id="{AF043FA6-913F-0C31-3C98-11C6BD768657}"/>
              </a:ext>
            </a:extLst>
          </p:cNvPr>
          <p:cNvGraphicFramePr>
            <a:graphicFrameLocks noGrp="1"/>
          </p:cNvGraphicFramePr>
          <p:nvPr>
            <p:extLst>
              <p:ext uri="{D42A27DB-BD31-4B8C-83A1-F6EECF244321}">
                <p14:modId xmlns:p14="http://schemas.microsoft.com/office/powerpoint/2010/main" val="737660837"/>
              </p:ext>
            </p:extLst>
          </p:nvPr>
        </p:nvGraphicFramePr>
        <p:xfrm>
          <a:off x="395858" y="853549"/>
          <a:ext cx="10598760" cy="1280160"/>
        </p:xfrm>
        <a:graphic>
          <a:graphicData uri="http://schemas.openxmlformats.org/drawingml/2006/table">
            <a:tbl>
              <a:tblPr firstRow="1" bandRow="1" bandCol="1">
                <a:effectLst/>
                <a:tableStyleId>{5A111915-BE36-4E01-A7E5-04B1672EAD32}</a:tableStyleId>
              </a:tblPr>
              <a:tblGrid>
                <a:gridCol w="1119078">
                  <a:extLst>
                    <a:ext uri="{9D8B030D-6E8A-4147-A177-3AD203B41FA5}">
                      <a16:colId xmlns:a16="http://schemas.microsoft.com/office/drawing/2014/main" val="3216194231"/>
                    </a:ext>
                  </a:extLst>
                </a:gridCol>
                <a:gridCol w="1278947">
                  <a:extLst>
                    <a:ext uri="{9D8B030D-6E8A-4147-A177-3AD203B41FA5}">
                      <a16:colId xmlns:a16="http://schemas.microsoft.com/office/drawing/2014/main" val="2699885296"/>
                    </a:ext>
                  </a:extLst>
                </a:gridCol>
                <a:gridCol w="2158222">
                  <a:extLst>
                    <a:ext uri="{9D8B030D-6E8A-4147-A177-3AD203B41FA5}">
                      <a16:colId xmlns:a16="http://schemas.microsoft.com/office/drawing/2014/main" val="78815542"/>
                    </a:ext>
                  </a:extLst>
                </a:gridCol>
                <a:gridCol w="2300327">
                  <a:extLst>
                    <a:ext uri="{9D8B030D-6E8A-4147-A177-3AD203B41FA5}">
                      <a16:colId xmlns:a16="http://schemas.microsoft.com/office/drawing/2014/main" val="2958231785"/>
                    </a:ext>
                  </a:extLst>
                </a:gridCol>
                <a:gridCol w="976973">
                  <a:extLst>
                    <a:ext uri="{9D8B030D-6E8A-4147-A177-3AD203B41FA5}">
                      <a16:colId xmlns:a16="http://schemas.microsoft.com/office/drawing/2014/main" val="4002492082"/>
                    </a:ext>
                  </a:extLst>
                </a:gridCol>
                <a:gridCol w="1172368">
                  <a:extLst>
                    <a:ext uri="{9D8B030D-6E8A-4147-A177-3AD203B41FA5}">
                      <a16:colId xmlns:a16="http://schemas.microsoft.com/office/drawing/2014/main" val="1180454951"/>
                    </a:ext>
                  </a:extLst>
                </a:gridCol>
                <a:gridCol w="1592845">
                  <a:extLst>
                    <a:ext uri="{9D8B030D-6E8A-4147-A177-3AD203B41FA5}">
                      <a16:colId xmlns:a16="http://schemas.microsoft.com/office/drawing/2014/main" val="916697128"/>
                    </a:ext>
                  </a:extLst>
                </a:gridCol>
              </a:tblGrid>
              <a:tr h="185622">
                <a:tc>
                  <a:txBody>
                    <a:bodyPr/>
                    <a:lstStyle/>
                    <a:p>
                      <a:endParaRPr lang="en-AU" b="1"/>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AU"/>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AU"/>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AU"/>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AU"/>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AU"/>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AU"/>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9907401"/>
                  </a:ext>
                </a:extLst>
              </a:tr>
              <a:tr h="370840">
                <a:tc>
                  <a:txBody>
                    <a:bodyPr/>
                    <a:lstStyle/>
                    <a:p>
                      <a:r>
                        <a:rPr lang="en-AU" b="1"/>
                        <a:t>3HD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a:t>Vet to the rescue!</a:t>
                      </a:r>
                    </a:p>
                    <a:p>
                      <a:r>
                        <a:rPr lang="en-AU"/>
                        <a:t>5:28pm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a:t>Antiques world</a:t>
                      </a:r>
                    </a:p>
                    <a:p>
                      <a:r>
                        <a:rPr lang="en-AU"/>
                        <a:t>6:33pm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a:t>Journey to space</a:t>
                      </a:r>
                    </a:p>
                    <a:p>
                      <a:r>
                        <a:rPr lang="en-AU"/>
                        <a:t>7:31pm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a:t>Crime scene</a:t>
                      </a:r>
                    </a:p>
                    <a:p>
                      <a:r>
                        <a:rPr lang="en-AU"/>
                        <a:t>8:30pm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a:t>Forgotten</a:t>
                      </a:r>
                    </a:p>
                    <a:p>
                      <a:r>
                        <a:rPr lang="en-AU"/>
                        <a:t>10:59pm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a:t>League </a:t>
                      </a:r>
                    </a:p>
                    <a:p>
                      <a:r>
                        <a:rPr lang="en-AU"/>
                        <a:t>cup final 12:15am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0664875"/>
                  </a:ext>
                </a:extLst>
              </a:tr>
            </a:tbl>
          </a:graphicData>
        </a:graphic>
      </p:graphicFrame>
      <p:graphicFrame>
        <p:nvGraphicFramePr>
          <p:cNvPr id="7" name="Table 6">
            <a:extLst>
              <a:ext uri="{FF2B5EF4-FFF2-40B4-BE49-F238E27FC236}">
                <a16:creationId xmlns:a16="http://schemas.microsoft.com/office/drawing/2014/main" id="{467B910B-F7A4-A184-79D0-64E856A11E19}"/>
              </a:ext>
            </a:extLst>
          </p:cNvPr>
          <p:cNvGraphicFramePr>
            <a:graphicFrameLocks noGrp="1"/>
          </p:cNvGraphicFramePr>
          <p:nvPr>
            <p:extLst>
              <p:ext uri="{D42A27DB-BD31-4B8C-83A1-F6EECF244321}">
                <p14:modId xmlns:p14="http://schemas.microsoft.com/office/powerpoint/2010/main" val="3070766188"/>
              </p:ext>
            </p:extLst>
          </p:nvPr>
        </p:nvGraphicFramePr>
        <p:xfrm>
          <a:off x="382141" y="2223320"/>
          <a:ext cx="10598760" cy="1833880"/>
        </p:xfrm>
        <a:graphic>
          <a:graphicData uri="http://schemas.openxmlformats.org/drawingml/2006/table">
            <a:tbl>
              <a:tblPr firstRow="1" bandRow="1" bandCol="1">
                <a:tableStyleId>{5A111915-BE36-4E01-A7E5-04B1672EAD32}</a:tableStyleId>
              </a:tblPr>
              <a:tblGrid>
                <a:gridCol w="1116375">
                  <a:extLst>
                    <a:ext uri="{9D8B030D-6E8A-4147-A177-3AD203B41FA5}">
                      <a16:colId xmlns:a16="http://schemas.microsoft.com/office/drawing/2014/main" val="2840463611"/>
                    </a:ext>
                  </a:extLst>
                </a:gridCol>
                <a:gridCol w="1333500">
                  <a:extLst>
                    <a:ext uri="{9D8B030D-6E8A-4147-A177-3AD203B41FA5}">
                      <a16:colId xmlns:a16="http://schemas.microsoft.com/office/drawing/2014/main" val="1089377447"/>
                    </a:ext>
                  </a:extLst>
                </a:gridCol>
                <a:gridCol w="1083045">
                  <a:extLst>
                    <a:ext uri="{9D8B030D-6E8A-4147-A177-3AD203B41FA5}">
                      <a16:colId xmlns:a16="http://schemas.microsoft.com/office/drawing/2014/main" val="2889380016"/>
                    </a:ext>
                  </a:extLst>
                </a:gridCol>
                <a:gridCol w="869580">
                  <a:extLst>
                    <a:ext uri="{9D8B030D-6E8A-4147-A177-3AD203B41FA5}">
                      <a16:colId xmlns:a16="http://schemas.microsoft.com/office/drawing/2014/main" val="713093146"/>
                    </a:ext>
                  </a:extLst>
                </a:gridCol>
                <a:gridCol w="1019175">
                  <a:extLst>
                    <a:ext uri="{9D8B030D-6E8A-4147-A177-3AD203B41FA5}">
                      <a16:colId xmlns:a16="http://schemas.microsoft.com/office/drawing/2014/main" val="1615509741"/>
                    </a:ext>
                  </a:extLst>
                </a:gridCol>
                <a:gridCol w="1343025">
                  <a:extLst>
                    <a:ext uri="{9D8B030D-6E8A-4147-A177-3AD203B41FA5}">
                      <a16:colId xmlns:a16="http://schemas.microsoft.com/office/drawing/2014/main" val="4211801866"/>
                    </a:ext>
                  </a:extLst>
                </a:gridCol>
                <a:gridCol w="1076325">
                  <a:extLst>
                    <a:ext uri="{9D8B030D-6E8A-4147-A177-3AD203B41FA5}">
                      <a16:colId xmlns:a16="http://schemas.microsoft.com/office/drawing/2014/main" val="1556433055"/>
                    </a:ext>
                  </a:extLst>
                </a:gridCol>
                <a:gridCol w="1162050">
                  <a:extLst>
                    <a:ext uri="{9D8B030D-6E8A-4147-A177-3AD203B41FA5}">
                      <a16:colId xmlns:a16="http://schemas.microsoft.com/office/drawing/2014/main" val="283171319"/>
                    </a:ext>
                  </a:extLst>
                </a:gridCol>
                <a:gridCol w="1595685">
                  <a:extLst>
                    <a:ext uri="{9D8B030D-6E8A-4147-A177-3AD203B41FA5}">
                      <a16:colId xmlns:a16="http://schemas.microsoft.com/office/drawing/2014/main" val="324990445"/>
                    </a:ext>
                  </a:extLst>
                </a:gridCol>
              </a:tblGrid>
              <a:tr h="370840">
                <a:tc>
                  <a:txBody>
                    <a:bodyPr/>
                    <a:lstStyle/>
                    <a:p>
                      <a:endParaRPr lang="en-AU" b="1"/>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AU"/>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AU"/>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AU"/>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AU"/>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AU"/>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AU"/>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AU"/>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AU"/>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93113298"/>
                  </a:ext>
                </a:extLst>
              </a:tr>
              <a:tr h="370840">
                <a:tc>
                  <a:txBody>
                    <a:bodyPr/>
                    <a:lstStyle/>
                    <a:p>
                      <a:r>
                        <a:rPr lang="en-AU" b="1"/>
                        <a:t>Channel 4</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AU"/>
                        <a:t>Robot wars extreme 1750</a:t>
                      </a:r>
                    </a:p>
                    <a:p>
                      <a:endParaRPr lang="en-AU"/>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AU"/>
                        <a:t>Cartoon frenzy! 1833</a:t>
                      </a:r>
                    </a:p>
                    <a:p>
                      <a:endParaRPr lang="en-AU"/>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AU"/>
                        <a:t>World news 1903</a:t>
                      </a:r>
                    </a:p>
                    <a:p>
                      <a:endParaRPr lang="en-AU"/>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AU"/>
                        <a:t>Beyond the news 1931</a:t>
                      </a:r>
                    </a:p>
                    <a:p>
                      <a:endParaRPr lang="en-AU"/>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AU"/>
                        <a:t>Airport emergency 2000</a:t>
                      </a:r>
                    </a:p>
                    <a:p>
                      <a:endParaRPr lang="en-AU"/>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AU"/>
                        <a:t>Movie: Space Wars 2030</a:t>
                      </a:r>
                    </a:p>
                    <a:p>
                      <a:endParaRPr lang="en-AU"/>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AU"/>
                        <a:t>Extreme sports update 2328</a:t>
                      </a:r>
                    </a:p>
                    <a:p>
                      <a:endParaRPr lang="en-AU"/>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AU"/>
                        <a:t>International darts </a:t>
                      </a:r>
                    </a:p>
                    <a:p>
                      <a:r>
                        <a:rPr lang="en-AU"/>
                        <a:t>2345</a:t>
                      </a:r>
                    </a:p>
                    <a:p>
                      <a:endParaRPr lang="en-AU"/>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2045240"/>
                  </a:ext>
                </a:extLst>
              </a:tr>
            </a:tbl>
          </a:graphicData>
        </a:graphic>
      </p:graphicFrame>
      <p:sp>
        <p:nvSpPr>
          <p:cNvPr id="8" name="Picture Placeholder 10">
            <a:extLst>
              <a:ext uri="{FF2B5EF4-FFF2-40B4-BE49-F238E27FC236}">
                <a16:creationId xmlns:a16="http://schemas.microsoft.com/office/drawing/2014/main" id="{D37D11D4-5710-6733-73D9-81D8C5C6C643}"/>
              </a:ext>
            </a:extLst>
          </p:cNvPr>
          <p:cNvSpPr>
            <a:spLocks noGrp="1"/>
          </p:cNvSpPr>
          <p:nvPr>
            <p:ph type="pic" sz="quarter" idx="21"/>
          </p:nvPr>
        </p:nvSpPr>
        <p:spPr>
          <a:xfrm>
            <a:off x="348000" y="4146811"/>
            <a:ext cx="11371829" cy="2549189"/>
          </a:xfrm>
        </p:spPr>
        <p:txBody>
          <a:bodyPr/>
          <a:lstStyle/>
          <a:p>
            <a:pPr algn="ctr"/>
            <a:r>
              <a:rPr lang="en-US" sz="2800" dirty="0">
                <a:latin typeface="Arial"/>
                <a:cs typeface="Arial"/>
              </a:rPr>
              <a:t>Grandma wants to watch Beyond the news, Crime scene and Extreme sports update on different television channels. Will she be able to watch all television shows? </a:t>
            </a:r>
          </a:p>
          <a:p>
            <a:pPr algn="ctr"/>
            <a:r>
              <a:rPr lang="en-US" sz="2800" b="1" dirty="0">
                <a:latin typeface="Arial"/>
                <a:cs typeface="Arial"/>
              </a:rPr>
              <a:t>Communicate</a:t>
            </a:r>
            <a:r>
              <a:rPr lang="en-US" sz="2800" dirty="0">
                <a:latin typeface="Arial"/>
                <a:cs typeface="Arial"/>
              </a:rPr>
              <a:t> your </a:t>
            </a:r>
            <a:r>
              <a:rPr lang="en-US" sz="2800" b="1" dirty="0">
                <a:latin typeface="Arial"/>
                <a:cs typeface="Arial"/>
              </a:rPr>
              <a:t>thinking</a:t>
            </a:r>
            <a:r>
              <a:rPr lang="en-US" sz="2800" dirty="0">
                <a:latin typeface="Arial"/>
                <a:cs typeface="Arial"/>
              </a:rPr>
              <a:t>.</a:t>
            </a:r>
            <a:endParaRPr lang="en-US" sz="2800" dirty="0"/>
          </a:p>
          <a:p>
            <a:endParaRPr lang="en-US" dirty="0">
              <a:latin typeface="Arial"/>
              <a:cs typeface="Arial"/>
            </a:endParaRPr>
          </a:p>
        </p:txBody>
      </p:sp>
      <p:sp>
        <p:nvSpPr>
          <p:cNvPr id="2" name="Slide Number Placeholder 1">
            <a:extLst>
              <a:ext uri="{FF2B5EF4-FFF2-40B4-BE49-F238E27FC236}">
                <a16:creationId xmlns:a16="http://schemas.microsoft.com/office/drawing/2014/main" id="{55418E7A-B623-BD80-FF8F-7B9EC43E9641}"/>
              </a:ext>
            </a:extLst>
          </p:cNvPr>
          <p:cNvSpPr>
            <a:spLocks noGrp="1"/>
          </p:cNvSpPr>
          <p:nvPr>
            <p:ph type="sldNum" sz="quarter" idx="12"/>
          </p:nvPr>
        </p:nvSpPr>
        <p:spPr/>
        <p:txBody>
          <a:bodyPr/>
          <a:lstStyle/>
          <a:p>
            <a:fld id="{10A01DC5-1685-4615-8240-15192985C6A2}" type="slidenum">
              <a:rPr lang="en-AU" smtClean="0"/>
              <a:t>58</a:t>
            </a:fld>
            <a:endParaRPr lang="en-AU"/>
          </a:p>
        </p:txBody>
      </p:sp>
    </p:spTree>
    <p:extLst>
      <p:ext uri="{BB962C8B-B14F-4D97-AF65-F5344CB8AC3E}">
        <p14:creationId xmlns:p14="http://schemas.microsoft.com/office/powerpoint/2010/main" val="1686542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5AC73-F49A-CEF0-0F1C-C615F22F757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D1B994E-7C33-1A75-7E41-580AC8296D96}"/>
              </a:ext>
            </a:extLst>
          </p:cNvPr>
          <p:cNvSpPr>
            <a:spLocks noGrp="1"/>
          </p:cNvSpPr>
          <p:nvPr>
            <p:ph type="title"/>
          </p:nvPr>
        </p:nvSpPr>
        <p:spPr/>
        <p:txBody>
          <a:bodyPr/>
          <a:lstStyle/>
          <a:p>
            <a:r>
              <a:rPr lang="en-AU">
                <a:latin typeface="Arial"/>
                <a:cs typeface="Arial"/>
              </a:rPr>
              <a:t>Activity 8 – solving problems with fractions (same denominator)</a:t>
            </a:r>
            <a:br>
              <a:rPr lang="en-AU">
                <a:latin typeface="Arial"/>
                <a:cs typeface="Arial"/>
              </a:rPr>
            </a:br>
            <a:br>
              <a:rPr lang="en-AU">
                <a:latin typeface="Arial"/>
                <a:cs typeface="Arial"/>
              </a:rPr>
            </a:br>
            <a:endParaRPr lang="en-AU">
              <a:latin typeface="Arial"/>
              <a:cs typeface="Aria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D2D2082-C31E-A259-D5D0-416DB722AFDA}"/>
                  </a:ext>
                </a:extLst>
              </p:cNvPr>
              <p:cNvSpPr txBox="1"/>
              <p:nvPr/>
            </p:nvSpPr>
            <p:spPr>
              <a:xfrm>
                <a:off x="360000" y="1791223"/>
                <a:ext cx="7074776" cy="5627310"/>
              </a:xfrm>
              <a:prstGeom prst="rect">
                <a:avLst/>
              </a:prstGeom>
              <a:noFill/>
            </p:spPr>
            <p:txBody>
              <a:bodyPr wrap="square" lIns="91440" tIns="45720" rIns="91440" bIns="45720" anchor="t">
                <a:spAutoFit/>
              </a:bodyPr>
              <a:lstStyle/>
              <a:p>
                <a:pPr>
                  <a:lnSpc>
                    <a:spcPct val="150000"/>
                  </a:lnSpc>
                  <a:spcBef>
                    <a:spcPts val="1200"/>
                  </a:spcBef>
                </a:pPr>
                <a:r>
                  <a:rPr lang="en-AU">
                    <a:effectLst/>
                    <a:ea typeface="Calibri" panose="020F0502020204030204" pitchFamily="34" charset="0"/>
                  </a:rPr>
                  <a:t>I eat</a:t>
                </a:r>
                <a14:m>
                  <m:oMath xmlns:m="http://schemas.openxmlformats.org/officeDocument/2006/math">
                    <m:r>
                      <a:rPr lang="en-AU" b="0" i="1">
                        <a:effectLst/>
                        <a:latin typeface="Cambria Math" panose="02040503050406030204" pitchFamily="18" charset="0"/>
                        <a:ea typeface="Calibri" panose="020F0502020204030204" pitchFamily="34" charset="0"/>
                      </a:rPr>
                      <m:t> </m:t>
                    </m:r>
                    <m:r>
                      <a:rPr lang="en-AU" b="0" i="1" smtClean="0">
                        <a:effectLst/>
                        <a:latin typeface="Cambria Math" panose="02040503050406030204" pitchFamily="18" charset="0"/>
                        <a:ea typeface="Calibri" panose="020F0502020204030204" pitchFamily="34" charset="0"/>
                      </a:rPr>
                      <m:t> </m:t>
                    </m:r>
                    <m:f>
                      <m:fPr>
                        <m:ctrlPr>
                          <a:rPr lang="en-AU" i="1">
                            <a:effectLst/>
                            <a:latin typeface="Cambria Math" panose="02040503050406030204" pitchFamily="18" charset="0"/>
                            <a:ea typeface="DengXian" panose="02010600030101010101" pitchFamily="2" charset="-122"/>
                          </a:rPr>
                        </m:ctrlPr>
                      </m:fPr>
                      <m:num>
                        <m:r>
                          <a:rPr lang="en-AU" b="0" i="1">
                            <a:effectLst/>
                            <a:latin typeface="Cambria Math" panose="02040503050406030204" pitchFamily="18" charset="0"/>
                            <a:ea typeface="DengXian" panose="02010600030101010101" pitchFamily="2" charset="-122"/>
                          </a:rPr>
                          <m:t>1</m:t>
                        </m:r>
                      </m:num>
                      <m:den>
                        <m:r>
                          <a:rPr lang="en-AU" b="0" i="1">
                            <a:effectLst/>
                            <a:latin typeface="Cambria Math" panose="02040503050406030204" pitchFamily="18" charset="0"/>
                            <a:ea typeface="DengXian" panose="02010600030101010101" pitchFamily="2" charset="-122"/>
                          </a:rPr>
                          <m:t>5</m:t>
                        </m:r>
                      </m:den>
                    </m:f>
                  </m:oMath>
                </a14:m>
                <a:r>
                  <a:rPr lang="en-AU">
                    <a:effectLst/>
                    <a:ea typeface="DengXian" panose="02010600030101010101" pitchFamily="2" charset="-122"/>
                  </a:rPr>
                  <a:t> </a:t>
                </a:r>
                <a:r>
                  <a:rPr lang="en-AU">
                    <a:effectLst/>
                    <a:ea typeface="Calibri" panose="020F0502020204030204" pitchFamily="34" charset="0"/>
                  </a:rPr>
                  <a:t>of a block of chocolate and you eat </a:t>
                </a:r>
                <a14:m>
                  <m:oMath xmlns:m="http://schemas.openxmlformats.org/officeDocument/2006/math">
                    <m:f>
                      <m:fPr>
                        <m:ctrlPr>
                          <a:rPr lang="en-AU" i="1">
                            <a:effectLst/>
                            <a:latin typeface="Cambria Math" panose="02040503050406030204" pitchFamily="18" charset="0"/>
                            <a:ea typeface="DengXian" panose="02010600030101010101" pitchFamily="2" charset="-122"/>
                          </a:rPr>
                        </m:ctrlPr>
                      </m:fPr>
                      <m:num>
                        <m:r>
                          <a:rPr lang="en-AU" b="0" i="1">
                            <a:effectLst/>
                            <a:latin typeface="Cambria Math" panose="02040503050406030204" pitchFamily="18" charset="0"/>
                            <a:ea typeface="DengXian" panose="02010600030101010101" pitchFamily="2" charset="-122"/>
                          </a:rPr>
                          <m:t>3</m:t>
                        </m:r>
                      </m:num>
                      <m:den>
                        <m:r>
                          <a:rPr lang="en-AU" b="0" i="1">
                            <a:effectLst/>
                            <a:latin typeface="Cambria Math" panose="02040503050406030204" pitchFamily="18" charset="0"/>
                            <a:ea typeface="DengXian" panose="02010600030101010101" pitchFamily="2" charset="-122"/>
                          </a:rPr>
                          <m:t>5</m:t>
                        </m:r>
                      </m:den>
                    </m:f>
                    <m:r>
                      <a:rPr lang="en-AU" b="0" i="1">
                        <a:effectLst/>
                        <a:latin typeface="Cambria Math" panose="02040503050406030204" pitchFamily="18" charset="0"/>
                        <a:ea typeface="DengXian" panose="02010600030101010101" pitchFamily="2" charset="-122"/>
                      </a:rPr>
                      <m:t> </m:t>
                    </m:r>
                    <m:r>
                      <a:rPr lang="en-AU" b="0" i="1" smtClean="0">
                        <a:effectLst/>
                        <a:latin typeface="Cambria Math" panose="02040503050406030204" pitchFamily="18" charset="0"/>
                        <a:ea typeface="DengXian" panose="02010600030101010101" pitchFamily="2" charset="-122"/>
                      </a:rPr>
                      <m:t> </m:t>
                    </m:r>
                  </m:oMath>
                </a14:m>
                <a:r>
                  <a:rPr lang="en-AU">
                    <a:effectLst/>
                    <a:ea typeface="Calibri" panose="020F0502020204030204" pitchFamily="34" charset="0"/>
                  </a:rPr>
                  <a:t>of the same block. How much of the block of chocolate has been eaten?</a:t>
                </a:r>
              </a:p>
              <a:p>
                <a:pPr marL="285750" lvl="0" indent="-285750">
                  <a:lnSpc>
                    <a:spcPct val="150000"/>
                  </a:lnSpc>
                  <a:spcBef>
                    <a:spcPts val="1200"/>
                  </a:spcBef>
                  <a:buFont typeface="Arial" panose="020B0604020202020204" pitchFamily="34" charset="0"/>
                  <a:buChar char="•"/>
                </a:pPr>
                <a:r>
                  <a:rPr lang="en-AU">
                    <a:latin typeface="Arial" panose="020B0604020202020204" pitchFamily="34" charset="0"/>
                    <a:ea typeface="Calibri" panose="020F0502020204030204" pitchFamily="34" charset="0"/>
                  </a:rPr>
                  <a:t>	What percentage of the chocolate did I eat?</a:t>
                </a:r>
              </a:p>
              <a:p>
                <a:pPr marL="285750" lvl="0" indent="-285750">
                  <a:lnSpc>
                    <a:spcPct val="150000"/>
                  </a:lnSpc>
                  <a:spcBef>
                    <a:spcPts val="1200"/>
                  </a:spcBef>
                  <a:buFont typeface="Arial" panose="020B0604020202020204" pitchFamily="34" charset="0"/>
                  <a:buChar char="•"/>
                </a:pPr>
                <a:r>
                  <a:rPr lang="en-AU">
                    <a:latin typeface="Arial" panose="020B0604020202020204" pitchFamily="34" charset="0"/>
                    <a:ea typeface="Calibri" panose="020F0502020204030204" pitchFamily="34" charset="0"/>
                  </a:rPr>
                  <a:t>	What percentage of the chocolate did you eat?</a:t>
                </a:r>
              </a:p>
              <a:p>
                <a:pPr marL="285750" lvl="0" indent="-285750">
                  <a:lnSpc>
                    <a:spcPct val="150000"/>
                  </a:lnSpc>
                  <a:spcBef>
                    <a:spcPts val="1200"/>
                  </a:spcBef>
                  <a:buFont typeface="Arial" panose="020B0604020202020204" pitchFamily="34" charset="0"/>
                  <a:buChar char="•"/>
                </a:pPr>
                <a:endParaRPr lang="en-AU" sz="1800">
                  <a:effectLst/>
                  <a:latin typeface="Arial" panose="020B0604020202020204" pitchFamily="34" charset="0"/>
                  <a:ea typeface="Calibri" panose="020F0502020204030204" pitchFamily="34" charset="0"/>
                </a:endParaRPr>
              </a:p>
              <a:p>
                <a:pPr marL="342900" indent="-342900">
                  <a:lnSpc>
                    <a:spcPct val="150000"/>
                  </a:lnSpc>
                  <a:spcBef>
                    <a:spcPts val="1200"/>
                  </a:spcBef>
                  <a:buFont typeface="Arial" panose="020B0604020202020204" pitchFamily="34" charset="0"/>
                  <a:buChar char="•"/>
                </a:pPr>
                <a:endParaRPr lang="en-AU" sz="1800">
                  <a:effectLst/>
                  <a:latin typeface="Arial" panose="020B0604020202020204" pitchFamily="34" charset="0"/>
                  <a:ea typeface="Calibri" panose="020F0502020204030204" pitchFamily="34" charset="0"/>
                </a:endParaRPr>
              </a:p>
              <a:p>
                <a:pPr marL="285750" indent="-285750">
                  <a:lnSpc>
                    <a:spcPct val="150000"/>
                  </a:lnSpc>
                  <a:spcBef>
                    <a:spcPts val="1200"/>
                  </a:spcBef>
                  <a:buFont typeface="Arial" panose="020B0604020202020204" pitchFamily="34" charset="0"/>
                  <a:buChar char="•"/>
                </a:pPr>
                <a:endParaRPr lang="en-AU" sz="1800">
                  <a:latin typeface="Arial" panose="020B0604020202020204" pitchFamily="34" charset="0"/>
                  <a:ea typeface="Calibri" panose="020F0502020204030204" pitchFamily="34" charset="0"/>
                  <a:cs typeface="Arial" panose="020B0604020202020204" pitchFamily="34" charset="0"/>
                </a:endParaRPr>
              </a:p>
            </p:txBody>
          </p:sp>
        </mc:Choice>
        <mc:Fallback xmlns="">
          <p:sp>
            <p:nvSpPr>
              <p:cNvPr id="6" name="TextBox 5">
                <a:extLst>
                  <a:ext uri="{FF2B5EF4-FFF2-40B4-BE49-F238E27FC236}">
                    <a16:creationId xmlns:a16="http://schemas.microsoft.com/office/drawing/2014/main" id="{3D2D2082-C31E-A259-D5D0-416DB722AFDA}"/>
                  </a:ext>
                </a:extLst>
              </p:cNvPr>
              <p:cNvSpPr txBox="1">
                <a:spLocks noRot="1" noChangeAspect="1" noMove="1" noResize="1" noEditPoints="1" noAdjustHandles="1" noChangeArrowheads="1" noChangeShapeType="1" noTextEdit="1"/>
              </p:cNvSpPr>
              <p:nvPr/>
            </p:nvSpPr>
            <p:spPr>
              <a:xfrm>
                <a:off x="360000" y="1791223"/>
                <a:ext cx="7074776" cy="5627310"/>
              </a:xfrm>
              <a:prstGeom prst="rect">
                <a:avLst/>
              </a:prstGeom>
              <a:blipFill>
                <a:blip r:embed="rId3"/>
                <a:stretch>
                  <a:fillRect l="-1292" r="-603"/>
                </a:stretch>
              </a:blipFill>
            </p:spPr>
            <p:txBody>
              <a:bodyPr/>
              <a:lstStyle/>
              <a:p>
                <a:r>
                  <a:rPr lang="en-AU">
                    <a:noFill/>
                  </a:rPr>
                  <a:t> </a:t>
                </a:r>
              </a:p>
            </p:txBody>
          </p:sp>
        </mc:Fallback>
      </mc:AlternateContent>
      <p:sp>
        <p:nvSpPr>
          <p:cNvPr id="4" name="TextBox 3">
            <a:extLst>
              <a:ext uri="{FF2B5EF4-FFF2-40B4-BE49-F238E27FC236}">
                <a16:creationId xmlns:a16="http://schemas.microsoft.com/office/drawing/2014/main" id="{987E7E27-EDEE-B07B-43F8-3F40F06364CE}"/>
              </a:ext>
            </a:extLst>
          </p:cNvPr>
          <p:cNvSpPr txBox="1"/>
          <p:nvPr/>
        </p:nvSpPr>
        <p:spPr>
          <a:xfrm>
            <a:off x="8115495" y="1581645"/>
            <a:ext cx="2899438" cy="419157"/>
          </a:xfrm>
          <a:prstGeom prst="rect">
            <a:avLst/>
          </a:prstGeom>
          <a:noFill/>
        </p:spPr>
        <p:txBody>
          <a:bodyPr wrap="none" lIns="0" tIns="0" rIns="0" bIns="0" rtlCol="0">
            <a:noAutofit/>
          </a:bodyPr>
          <a:lstStyle/>
          <a:p>
            <a:pPr algn="l"/>
            <a:r>
              <a:rPr lang="en-AU" sz="1800" b="1">
                <a:latin typeface="Arial" panose="020B0604020202020204" pitchFamily="34" charset="0"/>
                <a:cs typeface="Arial" panose="020B0604020202020204" pitchFamily="34" charset="0"/>
              </a:rPr>
              <a:t>Example chocolate block</a:t>
            </a:r>
          </a:p>
        </p:txBody>
      </p:sp>
      <p:pic>
        <p:nvPicPr>
          <p:cNvPr id="7" name="Picture 6" descr="A 4 x 5 grid to represent a block of chocolate.">
            <a:extLst>
              <a:ext uri="{FF2B5EF4-FFF2-40B4-BE49-F238E27FC236}">
                <a16:creationId xmlns:a16="http://schemas.microsoft.com/office/drawing/2014/main" id="{B95A7EC4-9830-DD72-5E05-D90D13A3B221}"/>
              </a:ext>
            </a:extLst>
          </p:cNvPr>
          <p:cNvPicPr>
            <a:picLocks noChangeAspect="1"/>
          </p:cNvPicPr>
          <p:nvPr/>
        </p:nvPicPr>
        <p:blipFill>
          <a:blip r:embed="rId4"/>
          <a:stretch>
            <a:fillRect/>
          </a:stretch>
        </p:blipFill>
        <p:spPr>
          <a:xfrm>
            <a:off x="7606484" y="2227157"/>
            <a:ext cx="3917461" cy="3972637"/>
          </a:xfrm>
          <a:prstGeom prst="rect">
            <a:avLst/>
          </a:prstGeom>
        </p:spPr>
      </p:pic>
      <p:sp>
        <p:nvSpPr>
          <p:cNvPr id="2" name="Slide Number Placeholder 1">
            <a:extLst>
              <a:ext uri="{FF2B5EF4-FFF2-40B4-BE49-F238E27FC236}">
                <a16:creationId xmlns:a16="http://schemas.microsoft.com/office/drawing/2014/main" id="{7F8278AA-C8FB-8D87-7FAB-2CF7CCEE405C}"/>
              </a:ext>
            </a:extLst>
          </p:cNvPr>
          <p:cNvSpPr>
            <a:spLocks noGrp="1"/>
          </p:cNvSpPr>
          <p:nvPr>
            <p:ph type="sldNum" sz="quarter" idx="12"/>
          </p:nvPr>
        </p:nvSpPr>
        <p:spPr/>
        <p:txBody>
          <a:bodyPr/>
          <a:lstStyle/>
          <a:p>
            <a:fld id="{10A01DC5-1685-4615-8240-15192985C6A2}" type="slidenum">
              <a:rPr lang="en-AU" smtClean="0"/>
              <a:t>59</a:t>
            </a:fld>
            <a:endParaRPr lang="en-AU"/>
          </a:p>
        </p:txBody>
      </p:sp>
    </p:spTree>
    <p:extLst>
      <p:ext uri="{BB962C8B-B14F-4D97-AF65-F5344CB8AC3E}">
        <p14:creationId xmlns:p14="http://schemas.microsoft.com/office/powerpoint/2010/main" val="591837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4" name="Text Placeholder 3">
            <a:extLst>
              <a:ext uri="{FF2B5EF4-FFF2-40B4-BE49-F238E27FC236}">
                <a16:creationId xmlns:a16="http://schemas.microsoft.com/office/drawing/2014/main" id="{EB4C48A6-632A-10A7-9B85-40A6CEF59C26}"/>
              </a:ext>
            </a:extLst>
          </p:cNvPr>
          <p:cNvSpPr>
            <a:spLocks noGrp="1"/>
          </p:cNvSpPr>
          <p:nvPr>
            <p:ph type="body" sz="quarter" idx="18"/>
          </p:nvPr>
        </p:nvSpPr>
        <p:spPr/>
        <p:txBody>
          <a:bodyPr/>
          <a:lstStyle/>
          <a:p>
            <a:endParaRPr lang="en-AU">
              <a:latin typeface="+mj-lt"/>
            </a:endParaRPr>
          </a:p>
        </p:txBody>
      </p:sp>
      <p:sp>
        <p:nvSpPr>
          <p:cNvPr id="6" name="Graphic 5" descr="Button to go to the previous related slide">
            <a:hlinkClick r:id="" action="ppaction://noaction"/>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 action="ppaction://noaction"/>
            <a:extLst>
              <a:ext uri="{FF2B5EF4-FFF2-40B4-BE49-F238E27FC236}">
                <a16:creationId xmlns:a16="http://schemas.microsoft.com/office/drawing/2014/main" id="{B8B0DB6C-ED58-20DB-0EE1-4BC1C6B79D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EE9CE-D467-CF79-03E7-D0928BDD12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0CABD8-EB9E-30C6-352A-9951178A7DB9}"/>
              </a:ext>
            </a:extLst>
          </p:cNvPr>
          <p:cNvSpPr>
            <a:spLocks noGrp="1"/>
          </p:cNvSpPr>
          <p:nvPr>
            <p:ph type="sldNum" sz="quarter" idx="12"/>
          </p:nvPr>
        </p:nvSpPr>
        <p:spPr/>
        <p:txBody>
          <a:bodyPr/>
          <a:lstStyle/>
          <a:p>
            <a:fld id="{10A01DC5-1685-4615-8240-15192985C6A2}" type="slidenum">
              <a:rPr lang="en-AU" smtClean="0"/>
              <a:t>65</a:t>
            </a:fld>
            <a:endParaRPr lang="en-AU"/>
          </a:p>
        </p:txBody>
      </p:sp>
      <p:sp>
        <p:nvSpPr>
          <p:cNvPr id="3" name="Title 2">
            <a:extLst>
              <a:ext uri="{FF2B5EF4-FFF2-40B4-BE49-F238E27FC236}">
                <a16:creationId xmlns:a16="http://schemas.microsoft.com/office/drawing/2014/main" id="{6F7B9B9F-1954-2BCA-9CE2-E9BF07F578A5}"/>
              </a:ext>
            </a:extLst>
          </p:cNvPr>
          <p:cNvSpPr>
            <a:spLocks noGrp="1"/>
          </p:cNvSpPr>
          <p:nvPr>
            <p:ph type="title"/>
          </p:nvPr>
        </p:nvSpPr>
        <p:spPr/>
        <p:txBody>
          <a:bodyPr/>
          <a:lstStyle/>
          <a:p>
            <a:r>
              <a:rPr lang="en-US" dirty="0"/>
              <a:t>Multiple choice </a:t>
            </a:r>
            <a:r>
              <a:rPr lang="en-US" dirty="0">
                <a:solidFill>
                  <a:schemeClr val="bg1"/>
                </a:solidFill>
              </a:rPr>
              <a:t>(1)</a:t>
            </a:r>
          </a:p>
        </p:txBody>
      </p:sp>
      <p:sp>
        <p:nvSpPr>
          <p:cNvPr id="13" name="Text Placeholder 12">
            <a:extLst>
              <a:ext uri="{FF2B5EF4-FFF2-40B4-BE49-F238E27FC236}">
                <a16:creationId xmlns:a16="http://schemas.microsoft.com/office/drawing/2014/main" id="{884A26B5-6F52-2F0A-8648-DEA4BF0E15B4}"/>
              </a:ext>
            </a:extLst>
          </p:cNvPr>
          <p:cNvSpPr>
            <a:spLocks noGrp="1"/>
          </p:cNvSpPr>
          <p:nvPr>
            <p:ph type="body" sz="quarter" idx="18"/>
          </p:nvPr>
        </p:nvSpPr>
        <p:spPr/>
        <p:txBody>
          <a:bodyPr/>
          <a:lstStyle/>
          <a:p>
            <a:endParaRPr lang="en-US"/>
          </a:p>
        </p:txBody>
      </p:sp>
      <p:sp>
        <p:nvSpPr>
          <p:cNvPr id="14" name="Text Placeholder 13">
            <a:extLst>
              <a:ext uri="{FF2B5EF4-FFF2-40B4-BE49-F238E27FC236}">
                <a16:creationId xmlns:a16="http://schemas.microsoft.com/office/drawing/2014/main" id="{2FAE27F9-31E0-BEE8-BFCB-40B14864DE8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871424B5-AF1B-EBC1-192B-253358954B69}"/>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057F8B72-6486-DAFE-D378-A7E3F82B47C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86611D7-8B32-72EA-14FB-A57E82998441}"/>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EA13EBFB-AE4F-2AC8-7064-60FC4C858E88}"/>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31E8794B-BDE8-037D-0CAF-AA0E5A7E8583}"/>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68AE238C-3606-5F78-F03A-0E9E40F4FDA4}"/>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6464E12C-842E-0AE5-19AB-798F6BC2845D}"/>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E989C16C-1E4B-799F-ACDD-636F7693F2A6}"/>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643762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E7187-0435-DC00-BB5D-2125BBCA438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2BC893-9530-AC61-D7B3-3A452ECBB315}"/>
              </a:ext>
            </a:extLst>
          </p:cNvPr>
          <p:cNvSpPr>
            <a:spLocks noGrp="1"/>
          </p:cNvSpPr>
          <p:nvPr>
            <p:ph type="sldNum" sz="quarter" idx="12"/>
          </p:nvPr>
        </p:nvSpPr>
        <p:spPr/>
        <p:txBody>
          <a:bodyPr/>
          <a:lstStyle/>
          <a:p>
            <a:fld id="{10A01DC5-1685-4615-8240-15192985C6A2}" type="slidenum">
              <a:rPr lang="en-AU" smtClean="0"/>
              <a:t>66</a:t>
            </a:fld>
            <a:endParaRPr lang="en-AU"/>
          </a:p>
        </p:txBody>
      </p:sp>
      <p:sp>
        <p:nvSpPr>
          <p:cNvPr id="3" name="Title 2">
            <a:extLst>
              <a:ext uri="{FF2B5EF4-FFF2-40B4-BE49-F238E27FC236}">
                <a16:creationId xmlns:a16="http://schemas.microsoft.com/office/drawing/2014/main" id="{47BC9526-5863-A869-9375-A013AA9B1360}"/>
              </a:ext>
            </a:extLst>
          </p:cNvPr>
          <p:cNvSpPr>
            <a:spLocks noGrp="1"/>
          </p:cNvSpPr>
          <p:nvPr>
            <p:ph type="title"/>
          </p:nvPr>
        </p:nvSpPr>
        <p:spPr/>
        <p:txBody>
          <a:bodyPr/>
          <a:lstStyle/>
          <a:p>
            <a:r>
              <a:rPr lang="en-US" dirty="0"/>
              <a:t>Multiple choice </a:t>
            </a:r>
            <a:r>
              <a:rPr lang="en-US" dirty="0">
                <a:solidFill>
                  <a:schemeClr val="bg1"/>
                </a:solidFill>
              </a:rPr>
              <a:t>(2)</a:t>
            </a:r>
          </a:p>
        </p:txBody>
      </p:sp>
      <p:sp>
        <p:nvSpPr>
          <p:cNvPr id="14" name="Picture Placeholder 13">
            <a:extLst>
              <a:ext uri="{FF2B5EF4-FFF2-40B4-BE49-F238E27FC236}">
                <a16:creationId xmlns:a16="http://schemas.microsoft.com/office/drawing/2014/main" id="{29B9EC75-6577-E32D-99A2-E54978EE9438}"/>
              </a:ext>
            </a:extLst>
          </p:cNvPr>
          <p:cNvSpPr>
            <a:spLocks noGrp="1"/>
          </p:cNvSpPr>
          <p:nvPr>
            <p:ph type="pic" sz="quarter" idx="20"/>
          </p:nvPr>
        </p:nvSpPr>
        <p:spPr/>
        <p:txBody>
          <a:bodyPr/>
          <a:lstStyle/>
          <a:p>
            <a:pPr algn="ctr"/>
            <a:endParaRPr lang="en-AU" sz="4000"/>
          </a:p>
        </p:txBody>
      </p:sp>
      <p:sp>
        <p:nvSpPr>
          <p:cNvPr id="15" name="Picture Placeholder 14">
            <a:extLst>
              <a:ext uri="{FF2B5EF4-FFF2-40B4-BE49-F238E27FC236}">
                <a16:creationId xmlns:a16="http://schemas.microsoft.com/office/drawing/2014/main" id="{08C58CC8-E167-CE35-57C2-0AFB8730B7FA}"/>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4796CCA1-ED50-C4F4-B332-BD3BA323854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86C354AA-6397-16D8-C4C4-474F76D4A1C7}"/>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8B713342-A845-FC63-9421-B086E3AB3C41}"/>
              </a:ext>
            </a:extLst>
          </p:cNvPr>
          <p:cNvSpPr>
            <a:spLocks noGrp="1"/>
          </p:cNvSpPr>
          <p:nvPr>
            <p:ph type="body" sz="quarter" idx="24"/>
          </p:nvPr>
        </p:nvSpPr>
        <p:spPr>
          <a:xfrm>
            <a:off x="360000" y="1068785"/>
            <a:ext cx="11243037" cy="893226"/>
          </a:xfrm>
        </p:spPr>
        <p:txBody>
          <a:bodyPr vert="horz" lIns="0" tIns="0" rIns="0" bIns="0" rtlCol="0" anchor="t">
            <a:noAutofit/>
          </a:bodyPr>
          <a:lstStyle/>
          <a:p>
            <a:endParaRPr lang="en-US" sz="4000"/>
          </a:p>
        </p:txBody>
      </p:sp>
      <p:sp>
        <p:nvSpPr>
          <p:cNvPr id="9" name="TextBox 8">
            <a:extLst>
              <a:ext uri="{FF2B5EF4-FFF2-40B4-BE49-F238E27FC236}">
                <a16:creationId xmlns:a16="http://schemas.microsoft.com/office/drawing/2014/main" id="{277FD18C-1E47-9FBB-532B-0DE3C233677A}"/>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FC4CB8-AF3F-406B-99FC-2C281AD6990A}"/>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5B95680-E32C-1E10-95C3-D0583F057C8A}"/>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5C468B22-5176-DF39-28C7-B9C61DEEF657}"/>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884063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 </a:t>
            </a:r>
            <a:r>
              <a:rPr lang="en-AU">
                <a:solidFill>
                  <a:schemeClr val="accent4"/>
                </a:solidFill>
              </a:rPr>
              <a:t>(1)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67</a:t>
            </a:fld>
            <a:endParaRPr lang="en-AU"/>
          </a:p>
        </p:txBody>
      </p:sp>
      <p:sp>
        <p:nvSpPr>
          <p:cNvPr id="8" name="Content Placeholder 3">
            <a:extLst>
              <a:ext uri="{FF2B5EF4-FFF2-40B4-BE49-F238E27FC236}">
                <a16:creationId xmlns:a16="http://schemas.microsoft.com/office/drawing/2014/main" id="{613D62C1-0612-38E5-4AFD-758796578DDD}"/>
              </a:ext>
            </a:extLst>
          </p:cNvPr>
          <p:cNvSpPr>
            <a:spLocks noGrp="1"/>
          </p:cNvSpPr>
          <p:nvPr/>
        </p:nvSpPr>
        <p:spPr>
          <a:xfrm>
            <a:off x="242940" y="3347159"/>
            <a:ext cx="11484000" cy="3510841"/>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200" b="0" kern="1200">
                <a:solidFill>
                  <a:schemeClr val="tx1"/>
                </a:solidFill>
                <a:latin typeface="+mn-lt"/>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2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2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050" dirty="0">
                <a:latin typeface="Arial"/>
                <a:cs typeface="Arial"/>
                <a:hlinkClick r:id="rId6"/>
              </a:rPr>
              <a:t>Mathematics Syllabus K-10</a:t>
            </a:r>
            <a:r>
              <a:rPr lang="en-AU" sz="1050" dirty="0">
                <a:latin typeface="Arial"/>
                <a:cs typeface="Arial"/>
              </a:rPr>
              <a:t> © Syllabus NSW Education Standards Authority (NESA) for and on behalf of the Crown in right of the State of New South Wales, 2022.</a:t>
            </a:r>
          </a:p>
          <a:p>
            <a:r>
              <a:rPr lang="en-AU" sz="1050" dirty="0">
                <a:latin typeface="Arial"/>
                <a:cs typeface="Arial"/>
                <a:hlinkClick r:id="rId7"/>
              </a:rPr>
              <a:t>National Numeracy Learning Progression </a:t>
            </a:r>
            <a:r>
              <a:rPr lang="en-AU" sz="1050" dirty="0">
                <a:latin typeface="Arial"/>
                <a:cs typeface="Arial"/>
              </a:rPr>
              <a:t>© Australian Curriculum, Assessment and Reporting Authority (ACARA) 2010 to present, unless otherwise indicated. This material was downloaded from the </a:t>
            </a:r>
            <a:r>
              <a:rPr lang="en-AU" sz="1050" dirty="0">
                <a:latin typeface="Arial"/>
                <a:cs typeface="Arial"/>
                <a:hlinkClick r:id="rId8"/>
              </a:rPr>
              <a:t>Australian Curriculum </a:t>
            </a:r>
            <a:r>
              <a:rPr lang="en-AU" sz="1050" dirty="0">
                <a:latin typeface="Arial"/>
                <a:cs typeface="Arial"/>
              </a:rPr>
              <a:t>website (National Numeracy Learning Progression) (accessed 6 May 2025) and was not modified. </a:t>
            </a:r>
          </a:p>
          <a:p>
            <a:r>
              <a:rPr lang="en-AU" sz="1050" dirty="0">
                <a:latin typeface="Arial"/>
                <a:cs typeface="Arial"/>
              </a:rPr>
              <a:t>Barton C (n.d.) ‘Venn Diagram Rich Tasks’, </a:t>
            </a:r>
            <a:r>
              <a:rPr lang="en-AU" sz="1050" i="1" dirty="0">
                <a:latin typeface="Arial"/>
                <a:cs typeface="Arial"/>
              </a:rPr>
              <a:t>Venn Diagram Activities</a:t>
            </a:r>
            <a:r>
              <a:rPr lang="en-AU" sz="1050" dirty="0">
                <a:latin typeface="Arial"/>
                <a:cs typeface="Arial"/>
              </a:rPr>
              <a:t>, Mr Barton maths website, accessed 6 May 2025.</a:t>
            </a:r>
          </a:p>
          <a:p>
            <a:r>
              <a:rPr lang="en-AU" sz="1050" dirty="0">
                <a:latin typeface="Arial"/>
                <a:cs typeface="Arial"/>
              </a:rPr>
              <a:t>Burns M (2015) Fix It: An Activity for Ordering Fractions, </a:t>
            </a:r>
            <a:r>
              <a:rPr lang="en-AU" sz="1050" i="1" dirty="0">
                <a:latin typeface="Arial"/>
                <a:cs typeface="Arial"/>
              </a:rPr>
              <a:t>MB math website</a:t>
            </a:r>
            <a:r>
              <a:rPr lang="en-AU" sz="1050" dirty="0">
                <a:latin typeface="Arial"/>
                <a:cs typeface="Arial"/>
              </a:rPr>
              <a:t>, accessed 6 May 2025.</a:t>
            </a:r>
          </a:p>
          <a:p>
            <a:r>
              <a:rPr lang="en-AU" sz="1050" dirty="0">
                <a:latin typeface="Arial"/>
                <a:cs typeface="Arial"/>
              </a:rPr>
              <a:t>Clarke D and Roche A (2009) ‘Students’ fraction comparison strategies as a window into robust understanding and possible pointers for instruction’, Educational Studies in Mathematics, 72(1):127–138, doi:10.1007/s10649-009-9198-9, accessed 6 May 2025.</a:t>
            </a:r>
          </a:p>
          <a:p>
            <a:r>
              <a:rPr lang="en-AU" sz="1050" dirty="0">
                <a:latin typeface="Arial"/>
                <a:cs typeface="Arial"/>
              </a:rPr>
              <a:t>State of Victoria (Department of Education) (2020) ‘Liquorice Factory’ It’s All in the Numbers, </a:t>
            </a:r>
            <a:r>
              <a:rPr lang="en-AU" sz="1050" i="1" dirty="0">
                <a:latin typeface="Arial"/>
                <a:cs typeface="Arial"/>
              </a:rPr>
              <a:t>Arc Learning Sequences website</a:t>
            </a:r>
            <a:r>
              <a:rPr lang="en-AU" sz="1050" dirty="0">
                <a:latin typeface="Arial"/>
                <a:cs typeface="Arial"/>
              </a:rPr>
              <a:t>, accessed 28 February 2024.</a:t>
            </a:r>
          </a:p>
          <a:p>
            <a:r>
              <a:rPr lang="en-AU" sz="1050" dirty="0">
                <a:latin typeface="Arial"/>
                <a:cs typeface="Arial"/>
              </a:rPr>
              <a:t>www.learn-with-math-games.com (n.d.) Magic Square Fun, </a:t>
            </a:r>
            <a:r>
              <a:rPr lang="en-AU" sz="1050" i="1" dirty="0">
                <a:latin typeface="Arial"/>
                <a:cs typeface="Arial"/>
              </a:rPr>
              <a:t>learn-with-math-games.com website</a:t>
            </a:r>
            <a:r>
              <a:rPr lang="en-AU" sz="1050" dirty="0">
                <a:latin typeface="Arial"/>
                <a:cs typeface="Arial"/>
              </a:rPr>
              <a:t>, accessed 6 May 2025.</a:t>
            </a:r>
          </a:p>
          <a:p>
            <a:r>
              <a:rPr lang="en-AU" sz="1050" dirty="0">
                <a:latin typeface="Arial"/>
                <a:cs typeface="Arial"/>
              </a:rPr>
              <a:t>Xiaobo S and Harrington T (2022) 'Teaching word-problem solving through tape diagrams', Mathematics Teacher: Learning and Teaching PK–12, 115(3):170–182.</a:t>
            </a:r>
          </a:p>
        </p:txBody>
      </p:sp>
    </p:spTree>
    <p:extLst>
      <p:ext uri="{BB962C8B-B14F-4D97-AF65-F5344CB8AC3E}">
        <p14:creationId xmlns:p14="http://schemas.microsoft.com/office/powerpoint/2010/main" val="4099772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8550904603AA64982DCAA86C5CFC06E" ma:contentTypeVersion="31" ma:contentTypeDescription="Create a new document." ma:contentTypeScope="" ma:versionID="9688e37b2af58268cd21140b8063bd69">
  <xsd:schema xmlns:xsd="http://www.w3.org/2001/XMLSchema" xmlns:xs="http://www.w3.org/2001/XMLSchema" xmlns:p="http://schemas.microsoft.com/office/2006/metadata/properties" xmlns:ns2="7e763d47-3c66-4c58-9425-1477fd3ccd1e" xmlns:ns3="60129b06-f64b-40a8-96e2-c5b2f86112b1" targetNamespace="http://schemas.microsoft.com/office/2006/metadata/properties" ma:root="true" ma:fieldsID="3bfa7b24e970bd6c4c2e6a1c402160d7" ns2:_="" ns3:_="">
    <xsd:import namespace="7e763d47-3c66-4c58-9425-1477fd3ccd1e"/>
    <xsd:import namespace="60129b06-f64b-40a8-96e2-c5b2f86112b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Writingpod" minOccurs="0"/>
                <xsd:element ref="ns2:Designanddevelopment" minOccurs="0"/>
                <xsd:element ref="ns2:FeedbackfromNSWMS" minOccurs="0"/>
                <xsd:element ref="ns2:Contentediting" minOccurs="0"/>
                <xsd:element ref="ns2:Projectleadreview" minOccurs="0"/>
                <xsd:element ref="ns2:Workstreamleadendorsement" minOccurs="0"/>
                <xsd:element ref="ns2:Digitalsupport" minOccurs="0"/>
                <xsd:element ref="ns2:StoredinTRIM" minOccurs="0"/>
                <xsd:element ref="ns2:Published" minOccurs="0"/>
                <xsd:element ref="ns2:Resourcedrop"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element ref="ns2:Addedtoexce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763d47-3c66-4c58-9425-1477fd3ccd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Writingpod" ma:index="20" nillable="true" ma:displayName="Writing pod" ma:format="Dropdown" ma:list="UserInfo" ma:SharePointGroup="0" ma:internalName="Writingpod">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signanddevelopment" ma:index="21" nillable="true" ma:displayName="Design and development" ma:format="Dropdown" ma:internalName="Designanddevelopment">
      <xsd:simpleType>
        <xsd:restriction base="dms:Choice">
          <xsd:enumeration value="Not yet started"/>
          <xsd:enumeration value="In progress"/>
          <xsd:enumeration value="Complete"/>
        </xsd:restriction>
      </xsd:simpleType>
    </xsd:element>
    <xsd:element name="FeedbackfromNSWMS" ma:index="22" nillable="true" ma:displayName="Feedback from NSWMS" ma:description="Have leaders Michelle and Ayesha provided input?" ma:format="Dropdown" ma:internalName="FeedbackfromNSWMS">
      <xsd:simpleType>
        <xsd:restriction base="dms:Choice">
          <xsd:enumeration value="Not yet requested"/>
          <xsd:enumeration value="Request submitted"/>
          <xsd:enumeration value="Feedback received"/>
        </xsd:restriction>
      </xsd:simpleType>
    </xsd:element>
    <xsd:element name="Contentediting" ma:index="23" nillable="true" ma:displayName="Content editing" ma:description="Has unit content been edited by Senior Editor (R. Kilroy)?" ma:format="Dropdown" ma:internalName="Contentediting">
      <xsd:simpleType>
        <xsd:restriction base="dms:Choice">
          <xsd:enumeration value="Not yet requested"/>
          <xsd:enumeration value="Request submitted"/>
          <xsd:enumeration value="Editing complete"/>
        </xsd:restriction>
      </xsd:simpleType>
    </xsd:element>
    <xsd:element name="Projectleadreview" ma:index="24" nillable="true" ma:displayName="Project lead review" ma:description="Have project leads (H. Laverick and R. Cheal) reviewed the unit?" ma:format="Dropdown" ma:internalName="Projectleadreview">
      <xsd:simpleType>
        <xsd:restriction base="dms:Choice">
          <xsd:enumeration value="Not yet requested"/>
          <xsd:enumeration value="Request submitted"/>
          <xsd:enumeration value="Review complete"/>
        </xsd:restriction>
      </xsd:simpleType>
    </xsd:element>
    <xsd:element name="Workstreamleadendorsement" ma:index="25" nillable="true" ma:displayName="Workstream lead endorsement" ma:description="Has J. Hoffman endorsed the unit?" ma:format="Dropdown" ma:internalName="Workstreamleadendorsement">
      <xsd:simpleType>
        <xsd:restriction base="dms:Choice">
          <xsd:enumeration value="Not yet submitted"/>
          <xsd:enumeration value="Request submitted"/>
          <xsd:enumeration value="Endorsement complete"/>
        </xsd:restriction>
      </xsd:simpleType>
    </xsd:element>
    <xsd:element name="Digitalsupport" ma:index="26" nillable="true" ma:displayName="Digital support" ma:format="Dropdown" ma:internalName="Digitalsupport">
      <xsd:simpleType>
        <xsd:restriction base="dms:Choice">
          <xsd:enumeration value="Not yet submitted"/>
          <xsd:enumeration value="Request submitted (by project manager)"/>
          <xsd:enumeration value="Digital support complete"/>
        </xsd:restriction>
      </xsd:simpleType>
    </xsd:element>
    <xsd:element name="StoredinTRIM" ma:index="27" nillable="true" ma:displayName="Stored in TRIM" ma:format="Dropdown" ma:internalName="StoredinTRIM">
      <xsd:simpleType>
        <xsd:restriction base="dms:Choice">
          <xsd:enumeration value="Yes"/>
          <xsd:enumeration value="No"/>
        </xsd:restriction>
      </xsd:simpleType>
    </xsd:element>
    <xsd:element name="Published" ma:index="28" nillable="true" ma:displayName="Published" ma:format="Dropdown" ma:internalName="Published">
      <xsd:simpleType>
        <xsd:restriction base="dms:Choice">
          <xsd:enumeration value="Yes"/>
          <xsd:enumeration value="No"/>
        </xsd:restriction>
      </xsd:simpleType>
    </xsd:element>
    <xsd:element name="Resourcedrop" ma:index="29" nillable="true" ma:displayName="Drop week" ma:format="Dropdown" ma:internalName="Resourcedrop">
      <xsd:simpleType>
        <xsd:restriction base="dms:Choice">
          <xsd:enumeration value="T1, W1"/>
          <xsd:enumeration value="T1, W3"/>
          <xsd:enumeration value="T1, W7"/>
          <xsd:enumeration value="T1, W10"/>
          <xsd:enumeration value="T2, W1"/>
          <xsd:enumeration value="T2, W3"/>
          <xsd:enumeration value="T2, W7"/>
          <xsd:enumeration value="T2, W10"/>
          <xsd:enumeration value="T3, W1"/>
          <xsd:enumeration value="T3, W3"/>
          <xsd:enumeration value="T3, W7"/>
          <xsd:enumeration value="T3, W10"/>
          <xsd:enumeration value="T4, W1"/>
          <xsd:enumeration value="T4, W3"/>
          <xsd:enumeration value="T4, W7"/>
          <xsd:enumeration value="T4, W10"/>
        </xsd:restriction>
      </xsd:simpleType>
    </xsd:element>
    <xsd:element name="lcf76f155ced4ddcb4097134ff3c332f" ma:index="31"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3" nillable="true" ma:displayName="MediaServiceObjectDetectorVersions" ma:description="" ma:hidden="true" ma:indexed="true" ma:internalName="MediaServiceObjectDetectorVersions" ma:readOnly="true">
      <xsd:simpleType>
        <xsd:restriction base="dms:Text"/>
      </xsd:simpleType>
    </xsd:element>
    <xsd:element name="MediaServiceLocation" ma:index="34" nillable="true" ma:displayName="Location" ma:description="" ma:indexed="true" ma:internalName="MediaServiceLocation" ma:readOnly="true">
      <xsd:simpleType>
        <xsd:restriction base="dms:Text"/>
      </xsd:simpleType>
    </xsd:element>
    <xsd:element name="MediaServiceSearchProperties" ma:index="35" nillable="true" ma:displayName="MediaServiceSearchProperties" ma:hidden="true" ma:internalName="MediaServiceSearchProperties" ma:readOnly="true">
      <xsd:simpleType>
        <xsd:restriction base="dms:Note"/>
      </xsd:simpleType>
    </xsd:element>
    <xsd:element name="Addedtoexcel" ma:index="36" nillable="true" ma:displayName="Added to excel" ma:format="Dropdown" ma:internalName="Addedtoexcel">
      <xsd:simpleType>
        <xsd:restriction base="dms:Choice">
          <xsd:enumeration value="Yes"/>
        </xsd:restriction>
      </xsd:simpleType>
    </xsd:element>
  </xsd:schema>
  <xsd:schema xmlns:xsd="http://www.w3.org/2001/XMLSchema" xmlns:xs="http://www.w3.org/2001/XMLSchema" xmlns:dms="http://schemas.microsoft.com/office/2006/documentManagement/types" xmlns:pc="http://schemas.microsoft.com/office/infopath/2007/PartnerControls" targetNamespace="60129b06-f64b-40a8-96e2-c5b2f86112b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2" nillable="true" ma:displayName="Taxonomy Catch All Column" ma:hidden="true" ma:list="{d14652b1-c484-4c0c-a021-a754efd78e11}" ma:internalName="TaxCatchAll" ma:showField="CatchAllData" ma:web="60129b06-f64b-40a8-96e2-c5b2f86112b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60129b06-f64b-40a8-96e2-c5b2f86112b1" xsi:nil="true"/>
    <lcf76f155ced4ddcb4097134ff3c332f xmlns="7e763d47-3c66-4c58-9425-1477fd3ccd1e">
      <Terms xmlns="http://schemas.microsoft.com/office/infopath/2007/PartnerControls"/>
    </lcf76f155ced4ddcb4097134ff3c332f>
    <Projectleadreview xmlns="7e763d47-3c66-4c58-9425-1477fd3ccd1e" xsi:nil="true"/>
    <Workstreamleadendorsement xmlns="7e763d47-3c66-4c58-9425-1477fd3ccd1e" xsi:nil="true"/>
    <Digitalsupport xmlns="7e763d47-3c66-4c58-9425-1477fd3ccd1e" xsi:nil="true"/>
    <Addedtoexcel xmlns="7e763d47-3c66-4c58-9425-1477fd3ccd1e" xsi:nil="true"/>
    <Writingpod xmlns="7e763d47-3c66-4c58-9425-1477fd3ccd1e">
      <UserInfo>
        <DisplayName/>
        <AccountId xsi:nil="true"/>
        <AccountType/>
      </UserInfo>
    </Writingpod>
    <FeedbackfromNSWMS xmlns="7e763d47-3c66-4c58-9425-1477fd3ccd1e" xsi:nil="true"/>
    <Resourcedrop xmlns="7e763d47-3c66-4c58-9425-1477fd3ccd1e" xsi:nil="true"/>
    <Designanddevelopment xmlns="7e763d47-3c66-4c58-9425-1477fd3ccd1e" xsi:nil="true"/>
    <StoredinTRIM xmlns="7e763d47-3c66-4c58-9425-1477fd3ccd1e" xsi:nil="true"/>
    <Contentediting xmlns="7e763d47-3c66-4c58-9425-1477fd3ccd1e" xsi:nil="true"/>
    <Published xmlns="7e763d47-3c66-4c58-9425-1477fd3ccd1e" xsi:nil="true"/>
    <SharedWithUsers xmlns="60129b06-f64b-40a8-96e2-c5b2f86112b1">
      <UserInfo>
        <DisplayName/>
        <AccountId xsi:nil="true"/>
        <AccountType/>
      </UserInfo>
    </SharedWithUsers>
  </documentManagement>
</p:properties>
</file>

<file path=customXml/itemProps1.xml><?xml version="1.0" encoding="utf-8"?>
<ds:datastoreItem xmlns:ds="http://schemas.openxmlformats.org/officeDocument/2006/customXml" ds:itemID="{B9C68242-C972-4815-B4EF-36DAD899F771}">
  <ds:schemaRefs>
    <ds:schemaRef ds:uri="http://schemas.microsoft.com/sharepoint/v3/contenttype/forms"/>
  </ds:schemaRefs>
</ds:datastoreItem>
</file>

<file path=customXml/itemProps2.xml><?xml version="1.0" encoding="utf-8"?>
<ds:datastoreItem xmlns:ds="http://schemas.openxmlformats.org/officeDocument/2006/customXml" ds:itemID="{8A76A89B-95BC-4518-A6EB-CB5B5FF60538}">
  <ds:schemaRefs>
    <ds:schemaRef ds:uri="60129b06-f64b-40a8-96e2-c5b2f86112b1"/>
    <ds:schemaRef ds:uri="7e763d47-3c66-4c58-9425-1477fd3ccd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524F4DA-5415-43D4-8474-C9BE68919175}">
  <ds:schemaRefs>
    <ds:schemaRef ds:uri="7e763d47-3c66-4c58-9425-1477fd3ccd1e"/>
    <ds:schemaRef ds:uri="http://schemas.microsoft.com/office/2006/documentManagement/types"/>
    <ds:schemaRef ds:uri="http://purl.org/dc/dcmitype/"/>
    <ds:schemaRef ds:uri="http://purl.org/dc/terms/"/>
    <ds:schemaRef ds:uri="http://schemas.microsoft.com/office/infopath/2007/PartnerControls"/>
    <ds:schemaRef ds:uri="http://schemas.openxmlformats.org/package/2006/metadata/core-properties"/>
    <ds:schemaRef ds:uri="http://purl.org/dc/elements/1.1/"/>
    <ds:schemaRef ds:uri="60129b06-f64b-40a8-96e2-c5b2f86112b1"/>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student-facing-primary-template-2025-v1-5 (1)</Template>
  <TotalTime>33</TotalTime>
  <Words>6785</Words>
  <Application>Microsoft Office PowerPoint</Application>
  <PresentationFormat>Widescreen</PresentationFormat>
  <Paragraphs>868</Paragraphs>
  <Slides>68</Slides>
  <Notes>68</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68</vt:i4>
      </vt:variant>
    </vt:vector>
  </HeadingPairs>
  <TitlesOfParts>
    <vt:vector size="82" baseType="lpstr">
      <vt:lpstr>Wingdings</vt:lpstr>
      <vt:lpstr>Symbol</vt:lpstr>
      <vt:lpstr>Public Sans Light</vt:lpstr>
      <vt:lpstr>Calibri</vt:lpstr>
      <vt:lpstr>Public Sans</vt:lpstr>
      <vt:lpstr>Arial,Sans-Serif</vt:lpstr>
      <vt:lpstr>Montserrat</vt:lpstr>
      <vt:lpstr>Times New Roman</vt:lpstr>
      <vt:lpstr>Cambria Math</vt:lpstr>
      <vt:lpstr>DengXian</vt:lpstr>
      <vt:lpstr>Courier New</vt:lpstr>
      <vt:lpstr>Arial</vt:lpstr>
      <vt:lpstr>Foundation Handwriting</vt:lpstr>
      <vt:lpstr>NSWG Corporate</vt:lpstr>
      <vt:lpstr>Instructions for use</vt:lpstr>
      <vt:lpstr>Review of Learning </vt:lpstr>
      <vt:lpstr>Lessons</vt:lpstr>
      <vt:lpstr>Review of learning 1</vt:lpstr>
      <vt:lpstr>Multiple choice (1)</vt:lpstr>
      <vt:lpstr>Short response (1)</vt:lpstr>
      <vt:lpstr>Short response (2)</vt:lpstr>
      <vt:lpstr>Short response (3)</vt:lpstr>
      <vt:lpstr>Short response (4)</vt:lpstr>
      <vt:lpstr>Activity 1 – determining products and factors</vt:lpstr>
      <vt:lpstr>Review of learning  2</vt:lpstr>
      <vt:lpstr>True or false (1)</vt:lpstr>
      <vt:lpstr>Short response (5)</vt:lpstr>
      <vt:lpstr>Short response (6)</vt:lpstr>
      <vt:lpstr>Short response (7)</vt:lpstr>
      <vt:lpstr>Short response (8)</vt:lpstr>
      <vt:lpstr>Activity 2 – prime and composite numbers</vt:lpstr>
      <vt:lpstr>Review of learning 3</vt:lpstr>
      <vt:lpstr>Multiple choice (2)</vt:lpstr>
      <vt:lpstr>Short response (9)</vt:lpstr>
      <vt:lpstr>Short response (10)</vt:lpstr>
      <vt:lpstr>Short response (11)</vt:lpstr>
      <vt:lpstr>Short response (12)</vt:lpstr>
      <vt:lpstr>Activity 3 – factors of a number </vt:lpstr>
      <vt:lpstr>Review of learning 4</vt:lpstr>
      <vt:lpstr>True or false (2)</vt:lpstr>
      <vt:lpstr>Short response (13)</vt:lpstr>
      <vt:lpstr>Short response (14)</vt:lpstr>
      <vt:lpstr>Short response (15)</vt:lpstr>
      <vt:lpstr>Short response (16)</vt:lpstr>
      <vt:lpstr>Activity 4 – determining factors</vt:lpstr>
      <vt:lpstr>Review of learning 5</vt:lpstr>
      <vt:lpstr>Multiple choice (3)</vt:lpstr>
      <vt:lpstr>Short response (17)</vt:lpstr>
      <vt:lpstr>Short response (18)</vt:lpstr>
      <vt:lpstr>Short response (19)</vt:lpstr>
      <vt:lpstr>Short response (20)</vt:lpstr>
      <vt:lpstr>Activity 5 – adding and subtracting fractions in area models </vt:lpstr>
      <vt:lpstr>Review of learning 6</vt:lpstr>
      <vt:lpstr>True or false (3)</vt:lpstr>
      <vt:lpstr>Short response (21)</vt:lpstr>
      <vt:lpstr>Short response (22)</vt:lpstr>
      <vt:lpstr>Short response (23)</vt:lpstr>
      <vt:lpstr>Short response (24)</vt:lpstr>
      <vt:lpstr>Activity 6 – calculating fractions in area models </vt:lpstr>
      <vt:lpstr>Review of learning  7</vt:lpstr>
      <vt:lpstr>Multiple choice (4)</vt:lpstr>
      <vt:lpstr>Short response (25)</vt:lpstr>
      <vt:lpstr>Short response (26)</vt:lpstr>
      <vt:lpstr>Short response (27)</vt:lpstr>
      <vt:lpstr>Short response (28)</vt:lpstr>
      <vt:lpstr>Activity 7 – equivalent fractions, decimals and percentages </vt:lpstr>
      <vt:lpstr>Review of learning 8</vt:lpstr>
      <vt:lpstr>True or false (4)</vt:lpstr>
      <vt:lpstr>Short response (29)</vt:lpstr>
      <vt:lpstr>Short response (30)</vt:lpstr>
      <vt:lpstr>Short response (31)</vt:lpstr>
      <vt:lpstr>Short response (32)</vt:lpstr>
      <vt:lpstr>Activity 8 – solving problems with fractions (same denominator)  </vt:lpstr>
      <vt:lpstr>Double Venn diagram</vt:lpstr>
      <vt:lpstr>Frayer</vt:lpstr>
      <vt:lpstr>Spider map</vt:lpstr>
      <vt:lpstr>Cline</vt:lpstr>
      <vt:lpstr>Compare and contrast</vt:lpstr>
      <vt:lpstr>Multiple choice (1)</vt:lpstr>
      <vt:lpstr>Multiple choice (2)</vt:lpstr>
      <vt:lpstr>References (1)</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Carolyn Matthews</dc:creator>
  <cp:keywords/>
  <dc:description/>
  <cp:lastModifiedBy>Daniel Archer</cp:lastModifiedBy>
  <cp:revision>34</cp:revision>
  <dcterms:created xsi:type="dcterms:W3CDTF">2025-07-07T07:05:15Z</dcterms:created>
  <dcterms:modified xsi:type="dcterms:W3CDTF">2025-08-03T23:23:56Z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0x01010028550904603AA64982DCAA86C5CFC06E</vt:lpwstr>
  </property>
  <property fmtid="{D5CDD505-2E9C-101B-9397-08002B2CF9AE}" pid="10" name="MediaServiceImageTags">
    <vt:lpwstr/>
  </property>
  <property fmtid="{D5CDD505-2E9C-101B-9397-08002B2CF9AE}" pid="11" name="Order">
    <vt:r8>2192500</vt:r8>
  </property>
  <property fmtid="{D5CDD505-2E9C-101B-9397-08002B2CF9AE}" pid="12" name="xd_Signature">
    <vt:bool>false</vt:bool>
  </property>
  <property fmtid="{D5CDD505-2E9C-101B-9397-08002B2CF9AE}" pid="13" name="xd_ProgID">
    <vt:lpwstr/>
  </property>
  <property fmtid="{D5CDD505-2E9C-101B-9397-08002B2CF9AE}" pid="14" name="ComplianceAssetId">
    <vt:lpwstr/>
  </property>
  <property fmtid="{D5CDD505-2E9C-101B-9397-08002B2CF9AE}" pid="15" name="TemplateUrl">
    <vt:lpwstr/>
  </property>
  <property fmtid="{D5CDD505-2E9C-101B-9397-08002B2CF9AE}" pid="16" name="_ExtendedDescription">
    <vt:lpwstr/>
  </property>
  <property fmtid="{D5CDD505-2E9C-101B-9397-08002B2CF9AE}" pid="17" name="TriggerFlowInfo">
    <vt:lpwstr/>
  </property>
</Properties>
</file>