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80"/>
  </p:notesMasterIdLst>
  <p:handoutMasterIdLst>
    <p:handoutMasterId r:id="rId81"/>
  </p:handoutMasterIdLst>
  <p:sldIdLst>
    <p:sldId id="365" r:id="rId5"/>
    <p:sldId id="26579" r:id="rId6"/>
    <p:sldId id="26359" r:id="rId7"/>
    <p:sldId id="271" r:id="rId8"/>
    <p:sldId id="26577" r:id="rId9"/>
    <p:sldId id="358" r:id="rId10"/>
    <p:sldId id="26580" r:id="rId11"/>
    <p:sldId id="26581" r:id="rId12"/>
    <p:sldId id="26582" r:id="rId13"/>
    <p:sldId id="26576" r:id="rId14"/>
    <p:sldId id="26646" r:id="rId15"/>
    <p:sldId id="26583" r:id="rId16"/>
    <p:sldId id="26586" r:id="rId17"/>
    <p:sldId id="26587" r:id="rId18"/>
    <p:sldId id="26588" r:id="rId19"/>
    <p:sldId id="26589" r:id="rId20"/>
    <p:sldId id="26590" r:id="rId21"/>
    <p:sldId id="26591" r:id="rId22"/>
    <p:sldId id="26647" r:id="rId23"/>
    <p:sldId id="26592" r:id="rId24"/>
    <p:sldId id="26593" r:id="rId25"/>
    <p:sldId id="26596" r:id="rId26"/>
    <p:sldId id="26597" r:id="rId27"/>
    <p:sldId id="26598" r:id="rId28"/>
    <p:sldId id="26599" r:id="rId29"/>
    <p:sldId id="26600" r:id="rId30"/>
    <p:sldId id="26648" r:id="rId31"/>
    <p:sldId id="26601" r:id="rId32"/>
    <p:sldId id="26604" r:id="rId33"/>
    <p:sldId id="26605" r:id="rId34"/>
    <p:sldId id="26606" r:id="rId35"/>
    <p:sldId id="26607" r:id="rId36"/>
    <p:sldId id="26608" r:id="rId37"/>
    <p:sldId id="26609" r:id="rId38"/>
    <p:sldId id="26610" r:id="rId39"/>
    <p:sldId id="26611" r:id="rId40"/>
    <p:sldId id="26614" r:id="rId41"/>
    <p:sldId id="26615" r:id="rId42"/>
    <p:sldId id="26616" r:id="rId43"/>
    <p:sldId id="26617" r:id="rId44"/>
    <p:sldId id="26618" r:id="rId45"/>
    <p:sldId id="26619" r:id="rId46"/>
    <p:sldId id="26622" r:id="rId47"/>
    <p:sldId id="26623" r:id="rId48"/>
    <p:sldId id="26624" r:id="rId49"/>
    <p:sldId id="26625" r:id="rId50"/>
    <p:sldId id="26626" r:id="rId51"/>
    <p:sldId id="26627" r:id="rId52"/>
    <p:sldId id="26649" r:id="rId53"/>
    <p:sldId id="26628" r:id="rId54"/>
    <p:sldId id="26630" r:id="rId55"/>
    <p:sldId id="26632" r:id="rId56"/>
    <p:sldId id="26633" r:id="rId57"/>
    <p:sldId id="26634" r:id="rId58"/>
    <p:sldId id="26635" r:id="rId59"/>
    <p:sldId id="26636" r:id="rId60"/>
    <p:sldId id="26637" r:id="rId61"/>
    <p:sldId id="26640" r:id="rId62"/>
    <p:sldId id="26641" r:id="rId63"/>
    <p:sldId id="26642" r:id="rId64"/>
    <p:sldId id="26643" r:id="rId65"/>
    <p:sldId id="26644" r:id="rId66"/>
    <p:sldId id="26645" r:id="rId67"/>
    <p:sldId id="26650" r:id="rId68"/>
    <p:sldId id="26393" r:id="rId69"/>
    <p:sldId id="26387" r:id="rId70"/>
    <p:sldId id="26395" r:id="rId71"/>
    <p:sldId id="26391" r:id="rId72"/>
    <p:sldId id="26402" r:id="rId73"/>
    <p:sldId id="26507" r:id="rId74"/>
    <p:sldId id="26510" r:id="rId75"/>
    <p:sldId id="360" r:id="rId76"/>
    <p:sldId id="26651" r:id="rId77"/>
    <p:sldId id="26652" r:id="rId78"/>
    <p:sldId id="361" r:id="rId79"/>
  </p:sldIdLst>
  <p:sldSz cx="12192000" cy="6858000"/>
  <p:notesSz cx="6858000" cy="9144000"/>
  <p:embeddedFontLst>
    <p:embeddedFont>
      <p:font typeface="Cambria Math" panose="02040503050406030204" pitchFamily="18" charset="0"/>
      <p:regular r:id="rId82"/>
    </p:embeddedFont>
    <p:embeddedFont>
      <p:font typeface="Canva Student Font" panose="020B0604020202020204" charset="0"/>
      <p:regular r:id="rId83"/>
    </p:embeddedFont>
    <p:embeddedFont>
      <p:font typeface="Montserrat" panose="00000500000000000000" pitchFamily="2" charset="0"/>
      <p:regular r:id="rId84"/>
      <p:bold r:id="rId85"/>
      <p:italic r:id="rId86"/>
      <p:boldItalic r:id="rId87"/>
    </p:embeddedFont>
    <p:embeddedFont>
      <p:font typeface="Public Sans" pitchFamily="2" charset="0"/>
      <p:regular r:id="rId88"/>
      <p:bold r:id="rId89"/>
      <p:italic r:id="rId90"/>
      <p:boldItalic r:id="rId91"/>
    </p:embeddedFont>
    <p:embeddedFont>
      <p:font typeface="Public Sans Light" pitchFamily="2" charset="0"/>
      <p:regular r:id="rId92"/>
      <p:italic r:id="rId93"/>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 id="26646"/>
          </p14:sldIdLst>
        </p14:section>
        <p14:section name="Review of learning 2" id="{0AC6BBCB-7E49-46CE-B777-EFCDD4B60F91}">
          <p14:sldIdLst>
            <p14:sldId id="26583"/>
            <p14:sldId id="26586"/>
            <p14:sldId id="26587"/>
            <p14:sldId id="26588"/>
            <p14:sldId id="26589"/>
            <p14:sldId id="26590"/>
            <p14:sldId id="26591"/>
            <p14:sldId id="26647"/>
          </p14:sldIdLst>
        </p14:section>
        <p14:section name="Review of learning 3" id="{6F5E1C19-5255-4FF7-A3CD-4549F7EF69B2}">
          <p14:sldIdLst>
            <p14:sldId id="26592"/>
            <p14:sldId id="26593"/>
            <p14:sldId id="26596"/>
            <p14:sldId id="26597"/>
            <p14:sldId id="26598"/>
            <p14:sldId id="26599"/>
            <p14:sldId id="26600"/>
            <p14:sldId id="26648"/>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 id="26649"/>
          </p14:sldIdLst>
        </p14:section>
        <p14:section name="Review of learning 7" id="{CF63834E-0BE9-495B-9761-037C836F185E}">
          <p14:sldIdLst>
            <p14:sldId id="26628"/>
            <p14:sldId id="26630"/>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 id="26650"/>
          </p14:sldIdLst>
        </p14:section>
        <p14:section name="Assets for teachers to create own review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651"/>
            <p14:sldId id="26652"/>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6652228-BA2A-8E0F-B69D-752F252CA8C9}" name="Carolyn Matthews" initials="CM" userId="S::Carolyn.Matthews2@det.nsw.edu.au::7f53049a-bf0f-477a-aa49-60e3a8d71d98" providerId="AD"/>
  <p188:author id="{3FDA68B6-B52B-FE76-39D1-E268A1C28951}" name="Phil HOLLINS (Phil Hollins)" initials="PH" userId="S::philip.hollins@det.nsw.edu.au::2b9063ba-35fe-4c7f-aa4d-5bf1098ac266"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790BAB-2B18-430A-AA03-6565CF87AAE7}" v="1" dt="2025-10-23T02:22:20.773"/>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58954" autoAdjust="0"/>
  </p:normalViewPr>
  <p:slideViewPr>
    <p:cSldViewPr snapToGrid="0">
      <p:cViewPr varScale="1">
        <p:scale>
          <a:sx n="48" d="100"/>
          <a:sy n="48" d="100"/>
        </p:scale>
        <p:origin x="996" y="48"/>
      </p:cViewPr>
      <p:guideLst>
        <p:guide orient="horz" pos="2160"/>
        <p:guide pos="3863"/>
      </p:guideLst>
    </p:cSldViewPr>
  </p:slideViewPr>
  <p:outlineViewPr>
    <p:cViewPr>
      <p:scale>
        <a:sx n="33" d="100"/>
        <a:sy n="33" d="100"/>
      </p:scale>
      <p:origin x="0" y="-1104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font" Target="fonts/font9.fntdata"/><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notesMaster" Target="notesMasters/notesMaster1.xml"/><Relationship Id="rId85"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handoutMaster" Target="handoutMasters/handoutMaster1.xml"/><Relationship Id="rId86" Type="http://schemas.openxmlformats.org/officeDocument/2006/relationships/font" Target="fonts/font5.fntdata"/><Relationship Id="rId94" Type="http://schemas.openxmlformats.org/officeDocument/2006/relationships/presProps" Target="presProps.xml"/><Relationship Id="rId9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1.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6.fntdata"/><Relationship Id="rId61" Type="http://schemas.openxmlformats.org/officeDocument/2006/relationships/slide" Target="slides/slide57.xml"/><Relationship Id="rId82" Type="http://schemas.openxmlformats.org/officeDocument/2006/relationships/font" Target="fonts/font1.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2.fntdata"/><Relationship Id="rId9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24/10/2025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2-s3-decimats-understanding-fractions"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education.nsw.gov.au/teaching-and-learning/curriculum/mathematics/mathematics-curriculum-resources-k-12/mathematics-k-6-resources" TargetMode="External"/><Relationship Id="rId5" Type="http://schemas.openxmlformats.org/officeDocument/2006/relationships/hyperlink" Target="https://education.nsw.gov.au/teaching-and-learning/curriculum/mathematics/mathematics-curriculum-resources-k-12/thinking-mathematically-resources/mathematics-s2-s3-decimats-understanding-fractions" TargetMode="External"/><Relationship Id="rId4" Type="http://schemas.openxmlformats.org/officeDocument/2006/relationships/hyperlink" Target="https://education.nsw.gov.au/teaching-and-learning/curriculum/mathematics/mathematics-curriculum-resources-k-12/mathematics-k-6-resources"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3 Year B Unit 21</a:t>
            </a:r>
          </a:p>
          <a:p>
            <a:pPr marL="285750" indent="-285750">
              <a:buFont typeface="Arial" panose="020B0604020202020204" pitchFamily="34" charset="0"/>
              <a:buChar char="•"/>
            </a:pPr>
            <a:r>
              <a:rPr lang="en-AU" dirty="0"/>
              <a:t>Stage 3 Year A Unit 20</a:t>
            </a:r>
          </a:p>
          <a:p>
            <a:pPr marL="285750" indent="-285750">
              <a:buFont typeface="Arial" panose="020B0604020202020204" pitchFamily="34" charset="0"/>
              <a:buChar char="•"/>
            </a:pPr>
            <a:r>
              <a:rPr lang="en-AU" dirty="0"/>
              <a:t>Stage 3 Year A Unit 19</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Represents numbers A: Decimals and percentages</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Represents numbers B: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Position</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Represents numbers A: Decimals and percentages</a:t>
            </a:r>
            <a:br>
              <a:rPr lang="en-AU" dirty="0">
                <a:latin typeface="Arial"/>
                <a:cs typeface="Arial"/>
              </a:rPr>
            </a:br>
            <a:endParaRPr lang="en-AU" dirty="0"/>
          </a:p>
          <a:p>
            <a:r>
              <a:rPr lang="en-AU" b="1" dirty="0"/>
              <a:t>Activity 1 – comparing decimals</a:t>
            </a:r>
            <a:br>
              <a:rPr lang="en-AU" b="1" dirty="0"/>
            </a:br>
            <a:r>
              <a:rPr lang="en-AU" b="0" dirty="0"/>
              <a:t>This resource corresponds to Resource 18 – decimal comparisons in Stage 3 Year B Unit 21. </a:t>
            </a:r>
          </a:p>
          <a:p>
            <a:endParaRPr lang="en-AU" b="1" dirty="0"/>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‘Colour in Decimals’ from </a:t>
            </a:r>
            <a:r>
              <a:rPr lang="en-AU" sz="1600" i="1" kern="1200" dirty="0">
                <a:solidFill>
                  <a:schemeClr val="tx1"/>
                </a:solidFill>
                <a:effectLst/>
                <a:latin typeface="Arial" panose="020B0604020202020204" pitchFamily="34" charset="0"/>
                <a:ea typeface="+mn-ea"/>
                <a:cs typeface="Arial" panose="020B0604020202020204" pitchFamily="34" charset="0"/>
              </a:rPr>
              <a:t>Engaging Maths: 25 Favourite Lessons</a:t>
            </a:r>
            <a:r>
              <a:rPr lang="en-AU" sz="1600" kern="1200" dirty="0">
                <a:solidFill>
                  <a:schemeClr val="tx1"/>
                </a:solidFill>
                <a:effectLst/>
                <a:latin typeface="Arial" panose="020B0604020202020204" pitchFamily="34" charset="0"/>
                <a:ea typeface="+mn-ea"/>
                <a:cs typeface="Arial" panose="020B0604020202020204" pitchFamily="34" charset="0"/>
              </a:rPr>
              <a:t>, 2nd </a:t>
            </a:r>
            <a:r>
              <a:rPr lang="en-AU" sz="1600" kern="1200" dirty="0" err="1">
                <a:solidFill>
                  <a:schemeClr val="tx1"/>
                </a:solidFill>
                <a:effectLst/>
                <a:latin typeface="Arial" panose="020B0604020202020204" pitchFamily="34" charset="0"/>
                <a:ea typeface="+mn-ea"/>
                <a:cs typeface="Arial" panose="020B0604020202020204" pitchFamily="34" charset="0"/>
              </a:rPr>
              <a:t>edn</a:t>
            </a:r>
            <a:r>
              <a:rPr lang="en-AU" sz="1600" kern="1200" dirty="0">
                <a:solidFill>
                  <a:schemeClr val="tx1"/>
                </a:solidFill>
                <a:effectLst/>
                <a:latin typeface="Arial" panose="020B0604020202020204" pitchFamily="34" charset="0"/>
                <a:ea typeface="+mn-ea"/>
                <a:cs typeface="Arial" panose="020B0604020202020204" pitchFamily="34" charset="0"/>
              </a:rPr>
              <a:t> by Clarke and Roche.</a:t>
            </a:r>
            <a:br>
              <a:rPr lang="en-AU" sz="1600" kern="1200" dirty="0">
                <a:solidFill>
                  <a:schemeClr val="tx1"/>
                </a:solidFill>
                <a:effectLst/>
                <a:latin typeface="Arial" panose="020B0604020202020204" pitchFamily="34" charset="0"/>
                <a:ea typeface="+mn-ea"/>
                <a:cs typeface="Arial" panose="020B0604020202020204" pitchFamily="34" charset="0"/>
              </a:rPr>
            </a:b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u="none" kern="1200" dirty="0">
                <a:solidFill>
                  <a:schemeClr val="tx1"/>
                </a:solidFill>
                <a:effectLst/>
                <a:latin typeface="Arial" panose="020B0604020202020204" pitchFamily="34" charset="0"/>
                <a:ea typeface="+mn-ea"/>
                <a:cs typeface="Arial" panose="020B0604020202020204" pitchFamily="34" charset="0"/>
              </a:rPr>
              <a:t>Display the word ‘decimals’ and the examples ‘0.355’ and ‘0.35’.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a:t>
            </a:r>
            <a:r>
              <a:rPr lang="en-AU" sz="1600" u="none" kern="1200" dirty="0">
                <a:solidFill>
                  <a:schemeClr val="tx1"/>
                </a:solidFill>
                <a:effectLst/>
                <a:latin typeface="Arial" panose="020B0604020202020204" pitchFamily="34" charset="0"/>
                <a:ea typeface="+mn-ea"/>
                <a:cs typeface="Arial" panose="020B0604020202020204" pitchFamily="34" charset="0"/>
              </a:rPr>
              <a:t>to</a:t>
            </a:r>
            <a:r>
              <a:rPr lang="en-AU" sz="1600" kern="1200" dirty="0">
                <a:solidFill>
                  <a:schemeClr val="tx1"/>
                </a:solidFill>
                <a:effectLst/>
                <a:latin typeface="Arial" panose="020B0604020202020204" pitchFamily="34" charset="0"/>
                <a:ea typeface="+mn-ea"/>
                <a:cs typeface="Arial" panose="020B0604020202020204" pitchFamily="34" charset="0"/>
              </a:rPr>
              <a:t> discuss and record their prior knowledge of decimals. Encourage students to determine which is the largest decimal, recording their reasoning on whiteboards.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share their ideas with the class. Check for understanding and clarify any misconceptions. </a:t>
            </a:r>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DECAE-F9C0-BD32-DD49-ECF736E72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4007A-858C-0525-D955-471EF3DDC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00E7DD-704D-2D08-9984-D75076377824}"/>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Represents numbers A: Decimals and percentages</a:t>
            </a:r>
            <a:br>
              <a:rPr lang="en-AU" dirty="0">
                <a:latin typeface="Arial"/>
                <a:cs typeface="Arial"/>
              </a:rPr>
            </a:br>
            <a:endParaRPr lang="en-AU" dirty="0"/>
          </a:p>
          <a:p>
            <a:r>
              <a:rPr lang="en-AU" b="1" dirty="0"/>
              <a:t>Activity 1 – comparing decimals</a:t>
            </a:r>
            <a:br>
              <a:rPr lang="en-AU" b="1" dirty="0"/>
            </a:br>
            <a:r>
              <a:rPr lang="en-AU" b="0" dirty="0"/>
              <a:t>This resource corresponds to Resource 18 – decimal comparisons in Stage 3 Year B Unit 21. </a:t>
            </a:r>
          </a:p>
          <a:p>
            <a:endParaRPr lang="en-AU" b="1" dirty="0"/>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‘Colour in Decimals’ from </a:t>
            </a:r>
            <a:r>
              <a:rPr lang="en-AU" sz="1600" i="1" kern="1200" dirty="0">
                <a:solidFill>
                  <a:schemeClr val="tx1"/>
                </a:solidFill>
                <a:effectLst/>
                <a:latin typeface="Arial" panose="020B0604020202020204" pitchFamily="34" charset="0"/>
                <a:ea typeface="+mn-ea"/>
                <a:cs typeface="Arial" panose="020B0604020202020204" pitchFamily="34" charset="0"/>
              </a:rPr>
              <a:t>Engaging Maths: 25 Favourite Lessons</a:t>
            </a:r>
            <a:r>
              <a:rPr lang="en-AU" sz="1600" kern="1200" dirty="0">
                <a:solidFill>
                  <a:schemeClr val="tx1"/>
                </a:solidFill>
                <a:effectLst/>
                <a:latin typeface="Arial" panose="020B0604020202020204" pitchFamily="34" charset="0"/>
                <a:ea typeface="+mn-ea"/>
                <a:cs typeface="Arial" panose="020B0604020202020204" pitchFamily="34" charset="0"/>
              </a:rPr>
              <a:t>, 2nd </a:t>
            </a:r>
            <a:r>
              <a:rPr lang="en-AU" sz="1600" kern="1200" dirty="0" err="1">
                <a:solidFill>
                  <a:schemeClr val="tx1"/>
                </a:solidFill>
                <a:effectLst/>
                <a:latin typeface="Arial" panose="020B0604020202020204" pitchFamily="34" charset="0"/>
                <a:ea typeface="+mn-ea"/>
                <a:cs typeface="Arial" panose="020B0604020202020204" pitchFamily="34" charset="0"/>
              </a:rPr>
              <a:t>edn</a:t>
            </a:r>
            <a:r>
              <a:rPr lang="en-AU" sz="1600" kern="1200" dirty="0">
                <a:solidFill>
                  <a:schemeClr val="tx1"/>
                </a:solidFill>
                <a:effectLst/>
                <a:latin typeface="Arial" panose="020B0604020202020204" pitchFamily="34" charset="0"/>
                <a:ea typeface="+mn-ea"/>
                <a:cs typeface="Arial" panose="020B0604020202020204" pitchFamily="34" charset="0"/>
              </a:rPr>
              <a:t> by Clarke and Roche.</a:t>
            </a:r>
            <a:br>
              <a:rPr lang="en-AU" sz="1600" kern="1200" dirty="0">
                <a:solidFill>
                  <a:schemeClr val="tx1"/>
                </a:solidFill>
                <a:effectLst/>
                <a:latin typeface="Arial" panose="020B0604020202020204" pitchFamily="34" charset="0"/>
                <a:ea typeface="+mn-ea"/>
                <a:cs typeface="Arial" panose="020B0604020202020204" pitchFamily="34" charset="0"/>
              </a:rPr>
            </a:b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Distribute Resource 18 – decimal comparisons. Read the instructions and explain that students will have 5 minutes to circle the largest decimal in each pair.</a:t>
            </a:r>
          </a:p>
          <a:p>
            <a:br>
              <a:rPr lang="en-AU" sz="1600" b="1" kern="1200" dirty="0">
                <a:solidFill>
                  <a:schemeClr val="tx1"/>
                </a:solidFill>
                <a:effectLst/>
                <a:latin typeface="Arial" panose="020B0604020202020204" pitchFamily="34" charset="0"/>
                <a:ea typeface="+mn-ea"/>
                <a:cs typeface="Arial" panose="020B0604020202020204" pitchFamily="34" charset="0"/>
              </a:rPr>
            </a:b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Resource 18 – decimal comparisons is a screening tool adapted from Clarke and Roche (2014) to identify 2 common misconceptions with decimals. The first misconception is sometimes called ‘Longer is Larger’, where students consider that the number with more decimal places is larger. The second misconception is sometimes called ‘Shorter is Larger’, where students consider that the number with fewer decimal places is larger. Use the data from the completed task to identify student misconceptions about decimals in preparation for developing number sense Activity 2.</a:t>
            </a: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006E65D2-BEBC-ADEF-42A8-F782BFE03911}"/>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75991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B: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Decimals and percentages</a:t>
                </a:r>
                <a:br>
                  <a:rPr lang="en-AU" dirty="0"/>
                </a:br>
                <a:endParaRPr lang="en-AU" dirty="0"/>
              </a:p>
              <a:p>
                <a:r>
                  <a:rPr lang="en-AU" b="1" dirty="0"/>
                  <a:t>Activity 2 – decimal place value to hundredths</a:t>
                </a:r>
                <a:br>
                  <a:rPr lang="en-AU" b="1" dirty="0"/>
                </a:br>
                <a:r>
                  <a:rPr lang="en-AU" sz="1800" dirty="0"/>
                  <a:t>This resource corresponds to Resource 19 – colour in </a:t>
                </a:r>
                <a:r>
                  <a:rPr lang="en-AU" sz="1800" dirty="0" err="1"/>
                  <a:t>decimats</a:t>
                </a:r>
                <a:r>
                  <a:rPr lang="en-AU" sz="1800" dirty="0"/>
                  <a:t> and Resource 20 – </a:t>
                </a:r>
                <a:r>
                  <a:rPr lang="en-AU" sz="1800" dirty="0" err="1"/>
                  <a:t>decimat</a:t>
                </a:r>
                <a:r>
                  <a:rPr lang="en-AU" sz="1800" dirty="0"/>
                  <a:t> record table in </a:t>
                </a:r>
                <a:r>
                  <a:rPr lang="en-AU" sz="1800" dirty="0">
                    <a:highlight>
                      <a:srgbClr val="FFFF00"/>
                    </a:highlight>
                  </a:rPr>
                  <a:t>Stage 3 Year B Unit 21. </a:t>
                </a:r>
              </a:p>
              <a:p>
                <a:endParaRPr lang="en-AU" sz="1600" b="0" i="0" dirty="0">
                  <a:solidFill>
                    <a:srgbClr val="000000"/>
                  </a:solidFill>
                  <a:effectLst/>
                  <a:highlight>
                    <a:srgbClr val="FFFFFF"/>
                  </a:highlight>
                  <a:latin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dirty="0">
                    <a:solidFill>
                      <a:srgbClr val="000000"/>
                    </a:solidFill>
                    <a:effectLst/>
                    <a:highlight>
                      <a:srgbClr val="FFFFFF"/>
                    </a:highlight>
                    <a:latin typeface="Arial"/>
                    <a:cs typeface="Arial"/>
                  </a:rPr>
                  <a:t>This activity is an adaptation of </a:t>
                </a:r>
                <a:r>
                  <a:rPr lang="en-AU" sz="1600" b="0" i="0" u="sng" strike="noStrike" dirty="0" err="1">
                    <a:solidFill>
                      <a:srgbClr val="2F5496"/>
                    </a:solidFill>
                    <a:effectLst/>
                    <a:highlight>
                      <a:srgbClr val="FFFFFF"/>
                    </a:highlight>
                    <a:latin typeface="Arial"/>
                    <a:cs typeface="Arial"/>
                    <a:hlinkClick r:id="rId3"/>
                  </a:rPr>
                  <a:t>Decimats</a:t>
                </a:r>
                <a:r>
                  <a:rPr lang="en-AU" sz="1600" b="0" i="0" u="sng" strike="noStrike" dirty="0">
                    <a:solidFill>
                      <a:srgbClr val="2F5496"/>
                    </a:solidFill>
                    <a:effectLst/>
                    <a:highlight>
                      <a:srgbClr val="FFFFFF"/>
                    </a:highlight>
                    <a:latin typeface="Arial"/>
                    <a:cs typeface="Arial"/>
                    <a:hlinkClick r:id="rId3"/>
                  </a:rPr>
                  <a:t> (understanding fractions)</a:t>
                </a:r>
                <a:r>
                  <a:rPr lang="en-AU" sz="1600" b="0" i="0" dirty="0">
                    <a:solidFill>
                      <a:srgbClr val="000000"/>
                    </a:solidFill>
                    <a:effectLst/>
                    <a:highlight>
                      <a:srgbClr val="FFFFFF"/>
                    </a:highlight>
                    <a:latin typeface="Arial"/>
                    <a:cs typeface="Arial"/>
                  </a:rPr>
                  <a:t> from </a:t>
                </a:r>
                <a:r>
                  <a:rPr lang="en-AU" sz="1600" b="0" i="0" u="sng" strike="noStrike" dirty="0">
                    <a:solidFill>
                      <a:srgbClr val="2F5496"/>
                    </a:solidFill>
                    <a:effectLst/>
                    <a:highlight>
                      <a:srgbClr val="FFFFFF"/>
                    </a:highlight>
                    <a:latin typeface="Arial"/>
                    <a:cs typeface="Arial"/>
                    <a:hlinkClick r:id="rId4"/>
                  </a:rPr>
                  <a:t>Mathematics K-6 resources</a:t>
                </a:r>
                <a:r>
                  <a:rPr lang="en-AU" sz="1600" b="0" i="0" dirty="0">
                    <a:solidFill>
                      <a:srgbClr val="000000"/>
                    </a:solidFill>
                    <a:effectLst/>
                    <a:highlight>
                      <a:srgbClr val="FFFFFF"/>
                    </a:highlight>
                    <a:latin typeface="Arial"/>
                    <a:cs typeface="Arial"/>
                  </a:rPr>
                  <a:t> by State of New South Wales (Department of Education). </a:t>
                </a:r>
                <a:r>
                  <a:rPr lang="en-AU" sz="1600" dirty="0">
                    <a:effectLst/>
                    <a:latin typeface="Arial" panose="020B0604020202020204" pitchFamily="34" charset="0"/>
                    <a:ea typeface="Calibri" panose="020F0502020204030204" pitchFamily="34" charset="0"/>
                  </a:rPr>
                  <a:t>Watch videos prior to the activity for instructions on how to prepare and play the game. A tenth is a benchmark fraction for Stage 3 students. Students need a clear understanding of its size relative to a whole, a hundredth and a thousandth.</a:t>
                </a:r>
              </a:p>
              <a:p>
                <a:endParaRPr lang="en-AU" dirty="0"/>
              </a:p>
              <a:p>
                <a:pPr marL="342900" lvl="0" indent="-342900">
                  <a:lnSpc>
                    <a:spcPct val="150000"/>
                  </a:lnSpc>
                  <a:spcBef>
                    <a:spcPts val="1200"/>
                  </a:spcBef>
                  <a:spcAft>
                    <a:spcPts val="600"/>
                  </a:spcAft>
                  <a:buFont typeface="+mj-lt"/>
                  <a:buAutoNum type="arabicPeriod"/>
                  <a:tabLst>
                    <a:tab pos="228600" algn="l"/>
                    <a:tab pos="457200" algn="l"/>
                  </a:tabLst>
                </a:pPr>
                <a:r>
                  <a:rPr lang="en-AU" sz="1600" dirty="0">
                    <a:effectLst/>
                    <a:latin typeface="Arial" panose="020B0604020202020204" pitchFamily="34" charset="0"/>
                    <a:ea typeface="Calibri" panose="020F0502020204030204" pitchFamily="34" charset="0"/>
                  </a:rPr>
                  <a:t>Display the large </a:t>
                </a:r>
                <a:r>
                  <a:rPr lang="en-AU" sz="1600" dirty="0" err="1">
                    <a:effectLst/>
                    <a:latin typeface="Arial" panose="020B0604020202020204" pitchFamily="34" charset="0"/>
                    <a:ea typeface="Calibri" panose="020F0502020204030204" pitchFamily="34" charset="0"/>
                  </a:rPr>
                  <a:t>decimat</a:t>
                </a:r>
                <a:r>
                  <a:rPr lang="en-AU" sz="1600" dirty="0">
                    <a:effectLst/>
                    <a:latin typeface="Arial" panose="020B0604020202020204" pitchFamily="34" charset="0"/>
                    <a:ea typeface="Calibri" panose="020F0502020204030204" pitchFamily="34" charset="0"/>
                  </a:rPr>
                  <a:t> from </a:t>
                </a:r>
                <a:r>
                  <a:rPr lang="en-AU" sz="1600" dirty="0"/>
                  <a:t>Resource 19 – colour in </a:t>
                </a:r>
                <a:r>
                  <a:rPr lang="en-AU" sz="1600" dirty="0" err="1"/>
                  <a:t>decimats</a:t>
                </a:r>
                <a:r>
                  <a:rPr lang="en-AU" sz="1600" dirty="0">
                    <a:effectLst/>
                    <a:latin typeface="Arial" panose="020B0604020202020204" pitchFamily="34" charset="0"/>
                    <a:ea typeface="Calibri" panose="020F0502020204030204" pitchFamily="34" charset="0"/>
                  </a:rPr>
                  <a:t>. Explain that it is partitioned into 10 equal parts called tenths, each of which can be represented as a fraction (</a:t>
                </a:r>
                <a14:m>
                  <m:oMath xmlns:m="http://schemas.openxmlformats.org/officeDocument/2006/math">
                    <m:f>
                      <m:fPr>
                        <m:ctrlPr>
                          <a:rPr lang="en-AU" sz="1600" i="1">
                            <a:effectLst/>
                            <a:latin typeface="Cambria Math" panose="02040503050406030204" pitchFamily="18" charset="0"/>
                            <a:ea typeface="Calibri" panose="020F0502020204030204" pitchFamily="34" charset="0"/>
                          </a:rPr>
                        </m:ctrlPr>
                      </m:fPr>
                      <m:num>
                        <m:r>
                          <a:rPr lang="en-AU" sz="1600">
                            <a:effectLst/>
                            <a:latin typeface="Cambria Math" panose="02040503050406030204" pitchFamily="18" charset="0"/>
                            <a:ea typeface="Calibri" panose="020F0502020204030204" pitchFamily="34" charset="0"/>
                          </a:rPr>
                          <m:t>1</m:t>
                        </m:r>
                      </m:num>
                      <m:den>
                        <m:r>
                          <a:rPr lang="en-AU" sz="1600">
                            <a:effectLst/>
                            <a:latin typeface="Cambria Math" panose="02040503050406030204" pitchFamily="18" charset="0"/>
                            <a:ea typeface="Calibri" panose="020F0502020204030204" pitchFamily="34" charset="0"/>
                          </a:rPr>
                          <m:t>10</m:t>
                        </m:r>
                      </m:den>
                    </m:f>
                  </m:oMath>
                </a14:m>
                <a:r>
                  <a:rPr lang="en-AU" sz="1600" dirty="0">
                    <a:effectLst/>
                    <a:latin typeface="Arial" panose="020B0604020202020204" pitchFamily="34" charset="0"/>
                    <a:ea typeface="Calibri" panose="020F0502020204030204" pitchFamily="34" charset="0"/>
                  </a:rPr>
                  <a:t>) or a decimal (0.1). </a:t>
                </a:r>
              </a:p>
              <a:p>
                <a:pPr marL="342900" lvl="0" indent="-342900">
                  <a:lnSpc>
                    <a:spcPct val="150000"/>
                  </a:lnSpc>
                  <a:spcBef>
                    <a:spcPts val="1200"/>
                  </a:spcBef>
                  <a:spcAft>
                    <a:spcPts val="600"/>
                  </a:spcAft>
                  <a:buFont typeface="+mj-lt"/>
                  <a:buAutoNum type="arabicPeriod"/>
                  <a:tabLst>
                    <a:tab pos="228600" algn="l"/>
                    <a:tab pos="457200" algn="l"/>
                  </a:tabLst>
                </a:pPr>
                <a:r>
                  <a:rPr lang="en-AU" sz="1600" dirty="0">
                    <a:effectLst/>
                    <a:latin typeface="Arial" panose="020B0604020202020204" pitchFamily="34" charset="0"/>
                    <a:ea typeface="Calibri" panose="020F0502020204030204" pitchFamily="34" charset="0"/>
                  </a:rPr>
                  <a:t>Guide students on how to draw a </a:t>
                </a:r>
                <a:r>
                  <a:rPr lang="en-AU" sz="1600" dirty="0" err="1">
                    <a:effectLst/>
                    <a:latin typeface="Arial" panose="020B0604020202020204" pitchFamily="34" charset="0"/>
                    <a:ea typeface="Calibri" panose="020F0502020204030204" pitchFamily="34" charset="0"/>
                  </a:rPr>
                  <a:t>decimat</a:t>
                </a:r>
                <a:r>
                  <a:rPr lang="en-AU" sz="1600" dirty="0">
                    <a:effectLst/>
                    <a:latin typeface="Arial" panose="020B0604020202020204" pitchFamily="34" charset="0"/>
                    <a:ea typeface="Calibri" panose="020F0502020204030204" pitchFamily="34" charset="0"/>
                  </a:rPr>
                  <a:t> showing 10 tenths and then partition one tenth into 10 hundredths in their workbooks. Explain that the fraction </a:t>
                </a:r>
                <a14:m>
                  <m:oMath xmlns:m="http://schemas.openxmlformats.org/officeDocument/2006/math">
                    <m:f>
                      <m:fPr>
                        <m:ctrlPr>
                          <a:rPr lang="en-AU" sz="1600" i="1">
                            <a:effectLst/>
                            <a:latin typeface="Cambria Math" panose="02040503050406030204" pitchFamily="18" charset="0"/>
                            <a:ea typeface="Calibri" panose="020F0502020204030204" pitchFamily="34" charset="0"/>
                          </a:rPr>
                        </m:ctrlPr>
                      </m:fPr>
                      <m:num>
                        <m:r>
                          <a:rPr lang="en-AU" sz="1600">
                            <a:effectLst/>
                            <a:latin typeface="Cambria Math" panose="02040503050406030204" pitchFamily="18" charset="0"/>
                            <a:ea typeface="Calibri" panose="020F0502020204030204" pitchFamily="34" charset="0"/>
                          </a:rPr>
                          <m:t>1</m:t>
                        </m:r>
                      </m:num>
                      <m:den>
                        <m:r>
                          <a:rPr lang="en-AU" sz="1600">
                            <a:effectLst/>
                            <a:latin typeface="Cambria Math" panose="02040503050406030204" pitchFamily="18" charset="0"/>
                            <a:ea typeface="Calibri" panose="020F0502020204030204" pitchFamily="34" charset="0"/>
                          </a:rPr>
                          <m:t>100</m:t>
                        </m:r>
                      </m:den>
                    </m:f>
                  </m:oMath>
                </a14:m>
                <a:r>
                  <a:rPr lang="en-AU" sz="1600" dirty="0">
                    <a:effectLst/>
                    <a:latin typeface="Arial" panose="020B0604020202020204" pitchFamily="34" charset="0"/>
                    <a:ea typeface="Calibri" panose="020F0502020204030204" pitchFamily="34" charset="0"/>
                  </a:rPr>
                  <a:t> can be written as a decimal (0.01).</a:t>
                </a:r>
              </a:p>
            </p:txBody>
          </p:sp>
        </mc:Choice>
        <mc:Fallback xmlns="">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Decimals and percentages</a:t>
                </a:r>
                <a:br>
                  <a:rPr lang="en-AU" dirty="0"/>
                </a:br>
                <a:endParaRPr lang="en-AU" dirty="0"/>
              </a:p>
              <a:p>
                <a:r>
                  <a:rPr lang="en-AU" b="1" dirty="0"/>
                  <a:t>Activity 2 – decimal place value to hundredths</a:t>
                </a:r>
                <a:br>
                  <a:rPr lang="en-AU" b="1" dirty="0"/>
                </a:br>
                <a:r>
                  <a:rPr lang="en-AU" sz="1800" dirty="0"/>
                  <a:t>This resource corresponds to Resource 19 – colour in </a:t>
                </a:r>
                <a:r>
                  <a:rPr lang="en-AU" sz="1800" dirty="0" err="1"/>
                  <a:t>decimats</a:t>
                </a:r>
                <a:r>
                  <a:rPr lang="en-AU" sz="1800" dirty="0"/>
                  <a:t> and Resource 20 – </a:t>
                </a:r>
                <a:r>
                  <a:rPr lang="en-AU" sz="1800" dirty="0" err="1"/>
                  <a:t>decimat</a:t>
                </a:r>
                <a:r>
                  <a:rPr lang="en-AU" sz="1800" dirty="0"/>
                  <a:t> record table in </a:t>
                </a:r>
                <a:r>
                  <a:rPr lang="en-AU" sz="1800" dirty="0">
                    <a:highlight>
                      <a:srgbClr val="FFFF00"/>
                    </a:highlight>
                  </a:rPr>
                  <a:t>Stage 3 Year B Unit 21. </a:t>
                </a:r>
              </a:p>
              <a:p>
                <a:endParaRPr lang="en-AU" sz="1600" b="0" i="0" dirty="0">
                  <a:solidFill>
                    <a:srgbClr val="000000"/>
                  </a:solidFill>
                  <a:effectLst/>
                  <a:highlight>
                    <a:srgbClr val="FFFFFF"/>
                  </a:highlight>
                  <a:latin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dirty="0">
                    <a:solidFill>
                      <a:srgbClr val="000000"/>
                    </a:solidFill>
                    <a:effectLst/>
                    <a:highlight>
                      <a:srgbClr val="FFFFFF"/>
                    </a:highlight>
                    <a:latin typeface="Arial"/>
                    <a:cs typeface="Arial"/>
                  </a:rPr>
                  <a:t>This activity is an adaptation of </a:t>
                </a:r>
                <a:r>
                  <a:rPr lang="en-AU" sz="1600" b="0" i="0" u="sng" strike="noStrike" dirty="0" err="1">
                    <a:solidFill>
                      <a:srgbClr val="2F5496"/>
                    </a:solidFill>
                    <a:effectLst/>
                    <a:highlight>
                      <a:srgbClr val="FFFFFF"/>
                    </a:highlight>
                    <a:latin typeface="Arial"/>
                    <a:cs typeface="Arial"/>
                    <a:hlinkClick r:id="rId5"/>
                  </a:rPr>
                  <a:t>Decimats</a:t>
                </a:r>
                <a:r>
                  <a:rPr lang="en-AU" sz="1600" b="0" i="0" u="sng" strike="noStrike" dirty="0">
                    <a:solidFill>
                      <a:srgbClr val="2F5496"/>
                    </a:solidFill>
                    <a:effectLst/>
                    <a:highlight>
                      <a:srgbClr val="FFFFFF"/>
                    </a:highlight>
                    <a:latin typeface="Arial"/>
                    <a:cs typeface="Arial"/>
                    <a:hlinkClick r:id="rId5"/>
                  </a:rPr>
                  <a:t> (understanding fractions)</a:t>
                </a:r>
                <a:r>
                  <a:rPr lang="en-AU" sz="1600" b="0" i="0" dirty="0">
                    <a:solidFill>
                      <a:srgbClr val="000000"/>
                    </a:solidFill>
                    <a:effectLst/>
                    <a:highlight>
                      <a:srgbClr val="FFFFFF"/>
                    </a:highlight>
                    <a:latin typeface="Arial"/>
                    <a:cs typeface="Arial"/>
                  </a:rPr>
                  <a:t> from </a:t>
                </a:r>
                <a:r>
                  <a:rPr lang="en-AU" sz="1600" b="0" i="0" u="sng" strike="noStrike" dirty="0">
                    <a:solidFill>
                      <a:srgbClr val="2F5496"/>
                    </a:solidFill>
                    <a:effectLst/>
                    <a:highlight>
                      <a:srgbClr val="FFFFFF"/>
                    </a:highlight>
                    <a:latin typeface="Arial"/>
                    <a:cs typeface="Arial"/>
                    <a:hlinkClick r:id="rId6"/>
                  </a:rPr>
                  <a:t>Mathematics K-6 resources</a:t>
                </a:r>
                <a:r>
                  <a:rPr lang="en-AU" sz="1600" b="0" i="0" dirty="0">
                    <a:solidFill>
                      <a:srgbClr val="000000"/>
                    </a:solidFill>
                    <a:effectLst/>
                    <a:highlight>
                      <a:srgbClr val="FFFFFF"/>
                    </a:highlight>
                    <a:latin typeface="Arial"/>
                    <a:cs typeface="Arial"/>
                  </a:rPr>
                  <a:t> by State of New South Wales (Department of Education). </a:t>
                </a:r>
                <a:r>
                  <a:rPr lang="en-AU" sz="1600" dirty="0">
                    <a:effectLst/>
                    <a:latin typeface="Arial" panose="020B0604020202020204" pitchFamily="34" charset="0"/>
                    <a:ea typeface="Calibri" panose="020F0502020204030204" pitchFamily="34" charset="0"/>
                  </a:rPr>
                  <a:t>Watch videos prior to the activity for instructions on how to prepare and play the game. A tenth is a benchmark fraction for Stage 3 students. Students need a clear understanding of its size relative to a whole, a hundredth and a thousandth.</a:t>
                </a:r>
              </a:p>
              <a:p>
                <a:endParaRPr lang="en-AU" dirty="0"/>
              </a:p>
              <a:p>
                <a:pPr marL="342900" lvl="0" indent="-342900">
                  <a:lnSpc>
                    <a:spcPct val="150000"/>
                  </a:lnSpc>
                  <a:spcBef>
                    <a:spcPts val="1200"/>
                  </a:spcBef>
                  <a:spcAft>
                    <a:spcPts val="600"/>
                  </a:spcAft>
                  <a:buFont typeface="+mj-lt"/>
                  <a:buAutoNum type="arabicPeriod"/>
                  <a:tabLst>
                    <a:tab pos="228600" algn="l"/>
                    <a:tab pos="457200" algn="l"/>
                  </a:tabLst>
                </a:pPr>
                <a:r>
                  <a:rPr lang="en-AU" sz="1600" dirty="0">
                    <a:effectLst/>
                    <a:latin typeface="Arial" panose="020B0604020202020204" pitchFamily="34" charset="0"/>
                    <a:ea typeface="Calibri" panose="020F0502020204030204" pitchFamily="34" charset="0"/>
                  </a:rPr>
                  <a:t>Display the large </a:t>
                </a:r>
                <a:r>
                  <a:rPr lang="en-AU" sz="1600" dirty="0" err="1">
                    <a:effectLst/>
                    <a:latin typeface="Arial" panose="020B0604020202020204" pitchFamily="34" charset="0"/>
                    <a:ea typeface="Calibri" panose="020F0502020204030204" pitchFamily="34" charset="0"/>
                  </a:rPr>
                  <a:t>decimat</a:t>
                </a:r>
                <a:r>
                  <a:rPr lang="en-AU" sz="1600" dirty="0">
                    <a:effectLst/>
                    <a:latin typeface="Arial" panose="020B0604020202020204" pitchFamily="34" charset="0"/>
                    <a:ea typeface="Calibri" panose="020F0502020204030204" pitchFamily="34" charset="0"/>
                  </a:rPr>
                  <a:t> from </a:t>
                </a:r>
                <a:r>
                  <a:rPr lang="en-AU" sz="1600" dirty="0"/>
                  <a:t>Resource 19 – colour in </a:t>
                </a:r>
                <a:r>
                  <a:rPr lang="en-AU" sz="1600" dirty="0" err="1"/>
                  <a:t>decimats</a:t>
                </a:r>
                <a:r>
                  <a:rPr lang="en-AU" sz="1600" dirty="0">
                    <a:effectLst/>
                    <a:latin typeface="Arial" panose="020B0604020202020204" pitchFamily="34" charset="0"/>
                    <a:ea typeface="Calibri" panose="020F0502020204030204" pitchFamily="34" charset="0"/>
                  </a:rPr>
                  <a:t>. Explain that it is partitioned into 10 equal parts called tenths, each of which can be represented as a fraction (</a:t>
                </a:r>
                <a:r>
                  <a:rPr lang="en-AU" sz="1600" i="0">
                    <a:effectLst/>
                    <a:latin typeface="Cambria Math" panose="02040503050406030204" pitchFamily="18" charset="0"/>
                    <a:ea typeface="Calibri" panose="020F0502020204030204" pitchFamily="34" charset="0"/>
                  </a:rPr>
                  <a:t>1/10</a:t>
                </a:r>
                <a:r>
                  <a:rPr lang="en-AU" sz="1600" dirty="0">
                    <a:effectLst/>
                    <a:latin typeface="Arial" panose="020B0604020202020204" pitchFamily="34" charset="0"/>
                    <a:ea typeface="Calibri" panose="020F0502020204030204" pitchFamily="34" charset="0"/>
                  </a:rPr>
                  <a:t>) or a decimal (0.1). </a:t>
                </a:r>
              </a:p>
              <a:p>
                <a:pPr marL="342900" lvl="0" indent="-342900">
                  <a:lnSpc>
                    <a:spcPct val="150000"/>
                  </a:lnSpc>
                  <a:spcBef>
                    <a:spcPts val="1200"/>
                  </a:spcBef>
                  <a:spcAft>
                    <a:spcPts val="600"/>
                  </a:spcAft>
                  <a:buFont typeface="+mj-lt"/>
                  <a:buAutoNum type="arabicPeriod"/>
                  <a:tabLst>
                    <a:tab pos="228600" algn="l"/>
                    <a:tab pos="457200" algn="l"/>
                  </a:tabLst>
                </a:pPr>
                <a:r>
                  <a:rPr lang="en-AU" sz="1600" dirty="0">
                    <a:effectLst/>
                    <a:latin typeface="Arial" panose="020B0604020202020204" pitchFamily="34" charset="0"/>
                    <a:ea typeface="Calibri" panose="020F0502020204030204" pitchFamily="34" charset="0"/>
                  </a:rPr>
                  <a:t>Guide students on how to draw a </a:t>
                </a:r>
                <a:r>
                  <a:rPr lang="en-AU" sz="1600" dirty="0" err="1">
                    <a:effectLst/>
                    <a:latin typeface="Arial" panose="020B0604020202020204" pitchFamily="34" charset="0"/>
                    <a:ea typeface="Calibri" panose="020F0502020204030204" pitchFamily="34" charset="0"/>
                  </a:rPr>
                  <a:t>decimat</a:t>
                </a:r>
                <a:r>
                  <a:rPr lang="en-AU" sz="1600" dirty="0">
                    <a:effectLst/>
                    <a:latin typeface="Arial" panose="020B0604020202020204" pitchFamily="34" charset="0"/>
                    <a:ea typeface="Calibri" panose="020F0502020204030204" pitchFamily="34" charset="0"/>
                  </a:rPr>
                  <a:t> showing 10 tenths and then partition one tenth into 10 hundredths in their workbooks. Explain that the fraction </a:t>
                </a:r>
                <a:r>
                  <a:rPr lang="en-AU" sz="1600" i="0">
                    <a:effectLst/>
                    <a:latin typeface="Cambria Math" panose="02040503050406030204" pitchFamily="18" charset="0"/>
                    <a:ea typeface="Calibri" panose="020F0502020204030204" pitchFamily="34" charset="0"/>
                  </a:rPr>
                  <a:t>1/100</a:t>
                </a:r>
                <a:r>
                  <a:rPr lang="en-AU" sz="1600" dirty="0">
                    <a:effectLst/>
                    <a:latin typeface="Arial" panose="020B0604020202020204" pitchFamily="34" charset="0"/>
                    <a:ea typeface="Calibri" panose="020F0502020204030204" pitchFamily="34" charset="0"/>
                  </a:rPr>
                  <a:t> can be written as a decimal (0.01).</a:t>
                </a:r>
              </a:p>
            </p:txBody>
          </p:sp>
        </mc:Fallback>
      </mc:AlternateContent>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8BCAF-50BA-02FC-2D11-7ADC04769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12D60-B142-52E7-2DE0-5AB4C1BA7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8ABE4-4916-2617-7C38-499427C34FA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Decimals and percentages</a:t>
            </a:r>
            <a:br>
              <a:rPr lang="en-AU" dirty="0"/>
            </a:br>
            <a:endParaRPr lang="en-AU" dirty="0"/>
          </a:p>
          <a:p>
            <a:pPr marL="0" indent="0">
              <a:buFont typeface="+mj-lt"/>
              <a:buNone/>
            </a:pPr>
            <a:r>
              <a:rPr lang="en-AU" b="1" dirty="0"/>
              <a:t>Activity 2 – decimal place value to hundredths</a:t>
            </a:r>
          </a:p>
          <a:p>
            <a:pPr marL="342900" indent="-342900">
              <a:buFont typeface="+mj-lt"/>
              <a:buAutoNum type="arabicPeriod"/>
            </a:pPr>
            <a:r>
              <a:rPr lang="en-AU" sz="1600" dirty="0">
                <a:effectLst/>
                <a:latin typeface="Arial" panose="020B0604020202020204" pitchFamily="34" charset="0"/>
                <a:ea typeface="Calibri" panose="020F0502020204030204" pitchFamily="34" charset="0"/>
              </a:rPr>
              <a:t>Model how to play the game ‘Colour in </a:t>
            </a:r>
            <a:r>
              <a:rPr lang="en-AU" sz="1600" dirty="0" err="1">
                <a:effectLst/>
                <a:latin typeface="Arial" panose="020B0604020202020204" pitchFamily="34" charset="0"/>
                <a:ea typeface="Calibri" panose="020F0502020204030204" pitchFamily="34" charset="0"/>
              </a:rPr>
              <a:t>decimats</a:t>
            </a:r>
            <a:r>
              <a:rPr lang="en-AU" sz="1600" dirty="0">
                <a:effectLst/>
                <a:latin typeface="Arial" panose="020B0604020202020204" pitchFamily="34" charset="0"/>
                <a:ea typeface="Calibri" panose="020F0502020204030204" pitchFamily="34" charset="0"/>
              </a:rPr>
              <a:t>’. </a:t>
            </a:r>
          </a:p>
          <a:p>
            <a:endParaRPr lang="en-AU"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for this game, thousandths are not required, but the gameboard is readily extended to thousandths by partitioning a hundredth into 10 equal parts. Refer to </a:t>
            </a:r>
            <a:r>
              <a:rPr lang="en-AU" sz="1600" dirty="0"/>
              <a:t>Resource 19 – colour in </a:t>
            </a:r>
            <a:r>
              <a:rPr lang="en-AU" sz="1600" dirty="0" err="1"/>
              <a:t>decimats</a:t>
            </a:r>
            <a:r>
              <a:rPr lang="en-AU" sz="1600" dirty="0">
                <a:effectLst/>
                <a:latin typeface="Arial" panose="020B0604020202020204" pitchFamily="34" charset="0"/>
                <a:ea typeface="Calibri" panose="020F0502020204030204" pitchFamily="34" charset="0"/>
              </a:rPr>
              <a:t>.</a:t>
            </a:r>
          </a:p>
          <a:p>
            <a:endParaRPr lang="en-AU" dirty="0"/>
          </a:p>
          <a:p>
            <a:pPr marL="342900" marR="0" lvl="0" indent="-342900" algn="l" defTabSz="1219170" rtl="0" eaLnBrk="1" fontAlgn="auto" latinLnBrk="0" hangingPunct="1">
              <a:lnSpc>
                <a:spcPct val="100000"/>
              </a:lnSpc>
              <a:spcBef>
                <a:spcPts val="0"/>
              </a:spcBef>
              <a:spcAft>
                <a:spcPts val="0"/>
              </a:spcAft>
              <a:buClrTx/>
              <a:buSzTx/>
              <a:buFont typeface="+mj-lt"/>
              <a:buAutoNum type="arabicPeriod" startAt="2"/>
              <a:tabLst/>
              <a:defRPr/>
            </a:pPr>
            <a:r>
              <a:rPr lang="en-AU" sz="1600" dirty="0">
                <a:effectLst/>
                <a:latin typeface="Arial" panose="020B0604020202020204" pitchFamily="34" charset="0"/>
                <a:ea typeface="Calibri" panose="020F0502020204030204" pitchFamily="34" charset="0"/>
              </a:rPr>
              <a:t>Demonstrate spinning the spinners on </a:t>
            </a:r>
            <a:r>
              <a:rPr lang="en-AU" sz="1600" dirty="0"/>
              <a:t>Resource 19 – colour in </a:t>
            </a:r>
            <a:r>
              <a:rPr lang="en-AU" sz="1600" dirty="0" err="1"/>
              <a:t>decimats</a:t>
            </a:r>
            <a:r>
              <a:rPr lang="en-AU" sz="1600" dirty="0">
                <a:effectLst/>
                <a:latin typeface="Arial" panose="020B0604020202020204" pitchFamily="34" charset="0"/>
                <a:ea typeface="Calibri" panose="020F0502020204030204" pitchFamily="34" charset="0"/>
              </a:rPr>
              <a:t>. For example, 1 and tenths.</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startAt="2"/>
              <a:tabLst/>
              <a:defRPr/>
            </a:pPr>
            <a:r>
              <a:rPr lang="en-AU" sz="1600" kern="1200" dirty="0">
                <a:solidFill>
                  <a:schemeClr val="tx1"/>
                </a:solidFill>
                <a:effectLst/>
                <a:latin typeface="Arial" panose="020B0604020202020204" pitchFamily="34" charset="0"/>
                <a:ea typeface="+mn-ea"/>
                <a:cs typeface="Arial" panose="020B0604020202020204" pitchFamily="34" charset="0"/>
              </a:rPr>
              <a:t>Model recording spins on Resource 20 – </a:t>
            </a:r>
            <a:r>
              <a:rPr lang="en-AU" sz="1600" kern="1200" dirty="0" err="1">
                <a:solidFill>
                  <a:schemeClr val="tx1"/>
                </a:solidFill>
                <a:effectLst/>
                <a:latin typeface="Arial" panose="020B0604020202020204" pitchFamily="34" charset="0"/>
                <a:ea typeface="+mn-ea"/>
                <a:cs typeface="Arial" panose="020B0604020202020204" pitchFamily="34" charset="0"/>
              </a:rPr>
              <a:t>decimat</a:t>
            </a:r>
            <a:r>
              <a:rPr lang="en-AU" sz="1600" kern="1200" dirty="0">
                <a:solidFill>
                  <a:schemeClr val="tx1"/>
                </a:solidFill>
                <a:effectLst/>
                <a:latin typeface="Arial" panose="020B0604020202020204" pitchFamily="34" charset="0"/>
                <a:ea typeface="+mn-ea"/>
                <a:cs typeface="Arial" panose="020B0604020202020204" pitchFamily="34" charset="0"/>
              </a:rPr>
              <a:t> record table.</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startAt="2"/>
              <a:tabLst/>
              <a:defRPr/>
            </a:pPr>
            <a:r>
              <a:rPr lang="en-AU" sz="1600" kern="1200" dirty="0">
                <a:solidFill>
                  <a:schemeClr val="tx1"/>
                </a:solidFill>
                <a:effectLst/>
                <a:latin typeface="Arial" panose="020B0604020202020204" pitchFamily="34" charset="0"/>
                <a:ea typeface="+mn-ea"/>
                <a:cs typeface="Arial" panose="020B0604020202020204" pitchFamily="34" charset="0"/>
              </a:rPr>
              <a:t>Proceed with the game, selecting students to spin the spinners and complete the recording table. All students colour the </a:t>
            </a:r>
            <a:r>
              <a:rPr lang="en-AU" sz="1600" kern="1200" dirty="0" err="1">
                <a:solidFill>
                  <a:schemeClr val="tx1"/>
                </a:solidFill>
                <a:effectLst/>
                <a:latin typeface="Arial" panose="020B0604020202020204" pitchFamily="34" charset="0"/>
                <a:ea typeface="+mn-ea"/>
                <a:cs typeface="Arial" panose="020B0604020202020204" pitchFamily="34" charset="0"/>
              </a:rPr>
              <a:t>decimat</a:t>
            </a:r>
            <a:r>
              <a:rPr lang="en-AU" sz="1600" kern="1200" dirty="0">
                <a:solidFill>
                  <a:schemeClr val="tx1"/>
                </a:solidFill>
                <a:effectLst/>
                <a:latin typeface="Arial" panose="020B0604020202020204" pitchFamily="34" charset="0"/>
                <a:ea typeface="+mn-ea"/>
                <a:cs typeface="Arial" panose="020B0604020202020204" pitchFamily="34" charset="0"/>
              </a:rPr>
              <a:t> in their workbooks</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startAt="2"/>
              <a:tabLst/>
              <a:defRPr/>
            </a:pPr>
            <a:r>
              <a:rPr lang="en-AU" sz="1600" kern="1200" dirty="0">
                <a:solidFill>
                  <a:schemeClr val="tx1"/>
                </a:solidFill>
                <a:effectLst/>
                <a:latin typeface="Arial" panose="020B0604020202020204" pitchFamily="34" charset="0"/>
                <a:ea typeface="+mn-ea"/>
                <a:cs typeface="Arial" panose="020B0604020202020204" pitchFamily="34" charset="0"/>
              </a:rPr>
              <a:t>Repeat steps, discussing the way to correctly record fractions, decimals and words. </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startAt="2"/>
              <a:tabLst/>
              <a:defRPr/>
            </a:pPr>
            <a:r>
              <a:rPr lang="en-AU" sz="1600" kern="1200" dirty="0">
                <a:solidFill>
                  <a:schemeClr val="tx1"/>
                </a:solidFill>
                <a:effectLst/>
                <a:latin typeface="Arial" panose="020B0604020202020204" pitchFamily="34" charset="0"/>
                <a:ea typeface="+mn-ea"/>
                <a:cs typeface="Arial" panose="020B0604020202020204" pitchFamily="34" charset="0"/>
              </a:rPr>
              <a:t>Model strategies for adding decimals in the total column. Check for understanding as students colour in each fraction on their board.</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startAt="2"/>
              <a:tabLst/>
              <a:defRPr/>
            </a:pPr>
            <a:r>
              <a:rPr lang="en-AU" sz="1600" kern="1200" dirty="0">
                <a:solidFill>
                  <a:schemeClr val="tx1"/>
                </a:solidFill>
                <a:effectLst/>
                <a:latin typeface="Arial" panose="020B0604020202020204" pitchFamily="34" charset="0"/>
                <a:ea typeface="+mn-ea"/>
                <a:cs typeface="Arial" panose="020B0604020202020204" pitchFamily="34" charset="0"/>
              </a:rPr>
              <a:t>After a few turns, write two of the decimals from the recording chart next to each other, such as 0.2 and 0.06. Ask:</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Which decimal number is larger?</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can you prove your response is correct?</a:t>
            </a:r>
            <a:endParaRPr lang="en-AU" sz="1600" dirty="0">
              <a:effectLst/>
              <a:latin typeface="Arial" panose="020B0604020202020204" pitchFamily="34" charset="0"/>
              <a:ea typeface="Calibri" panose="020F0502020204030204" pitchFamily="34" charset="0"/>
            </a:endParaRP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78F3A435-149A-840E-14B5-7E60AC41F576}"/>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56716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Represents numbers A: Decimals and percentages</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Decimals and percentages</a:t>
            </a:r>
            <a:br>
              <a:rPr lang="en-AU" dirty="0"/>
            </a:br>
            <a:endParaRPr lang="en-AU" dirty="0"/>
          </a:p>
          <a:p>
            <a:r>
              <a:rPr lang="en-AU" b="1" dirty="0"/>
              <a:t>Activity 3 – decimal place value to thousandths</a:t>
            </a:r>
            <a:br>
              <a:rPr lang="en-AU" b="1" dirty="0"/>
            </a:br>
            <a:r>
              <a:rPr lang="en-AU" b="0" dirty="0"/>
              <a:t>This resource corresponds to </a:t>
            </a:r>
            <a:r>
              <a:rPr lang="en-AU" sz="1600" dirty="0"/>
              <a:t>Resource 19 – colour in </a:t>
            </a:r>
            <a:r>
              <a:rPr lang="en-AU" sz="1600" dirty="0" err="1"/>
              <a:t>decimats</a:t>
            </a:r>
            <a:r>
              <a:rPr lang="en-AU" sz="1600" dirty="0"/>
              <a:t> and Resource 20 – </a:t>
            </a:r>
            <a:r>
              <a:rPr lang="en-AU" sz="1600" dirty="0" err="1"/>
              <a:t>decimat</a:t>
            </a:r>
            <a:r>
              <a:rPr lang="en-AU" sz="1600" dirty="0"/>
              <a:t> record table in </a:t>
            </a:r>
            <a:r>
              <a:rPr lang="en-AU" sz="1600" dirty="0">
                <a:highlight>
                  <a:srgbClr val="FFFF00"/>
                </a:highlight>
              </a:rPr>
              <a:t>Stage 3 Year B Unit 21</a:t>
            </a:r>
            <a:r>
              <a:rPr lang="en-AU" b="0" dirty="0"/>
              <a:t>. </a:t>
            </a:r>
          </a:p>
          <a:p>
            <a:endParaRPr lang="en-AU" b="1" dirty="0"/>
          </a:p>
          <a:p>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prior to this lesson, prepare student copies of Resource 19 – colour in </a:t>
            </a:r>
            <a:r>
              <a:rPr lang="en-AU" sz="1600" kern="1200" dirty="0" err="1">
                <a:solidFill>
                  <a:schemeClr val="tx1"/>
                </a:solidFill>
                <a:effectLst/>
                <a:latin typeface="Arial" panose="020B0604020202020204" pitchFamily="34" charset="0"/>
                <a:ea typeface="+mn-ea"/>
                <a:cs typeface="Arial" panose="020B0604020202020204" pitchFamily="34" charset="0"/>
              </a:rPr>
              <a:t>decimats</a:t>
            </a:r>
            <a:r>
              <a:rPr lang="en-AU" sz="1600" kern="1200" dirty="0">
                <a:solidFill>
                  <a:schemeClr val="tx1"/>
                </a:solidFill>
                <a:effectLst/>
                <a:latin typeface="Arial" panose="020B0604020202020204" pitchFamily="34" charset="0"/>
                <a:ea typeface="+mn-ea"/>
                <a:cs typeface="Arial" panose="020B0604020202020204" pitchFamily="34" charset="0"/>
              </a:rPr>
              <a:t>.</a:t>
            </a:r>
          </a:p>
          <a:p>
            <a:pPr marL="34290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2 decimal numbers from Activity 2 – decimal place value to hundredths. Using a think-aloud, compare their relative size using place value names.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Using a think aloud, demonstrate comparing the relative size of decimals into the thousandths. For example, using the decimal numbers 0.456 and 0.462, I know: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the tenths place, both have 4. They are equal.</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the hundredths place, 0.456 has 5, and 0.462 has 6. Since 5 is less than 6, 0.456 is smaller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the thousandths place, 0.456 has 6, and 0.462 has 2, but we already know 0.456 is smaller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therefore, 0.456 &lt; 0.462. It’s important to compare each place value from left to right.</a:t>
            </a:r>
          </a:p>
          <a:p>
            <a:pPr marL="0" indent="0">
              <a:buFont typeface="+mj-lt"/>
              <a:buNone/>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AF5B8-C5CD-8892-BE4F-DCB7F2894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C3C5E-FC52-E54E-3D8E-D08DCE026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B13D9-E353-FC47-1CB2-AC1B1D45E4BC}"/>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Decimals and percentages</a:t>
            </a:r>
            <a:br>
              <a:rPr lang="en-AU" dirty="0"/>
            </a:br>
            <a:endParaRPr lang="en-AU" dirty="0"/>
          </a:p>
          <a:p>
            <a:r>
              <a:rPr lang="en-AU" b="1" dirty="0"/>
              <a:t>Activity 3 – decimal place value to thousandths</a:t>
            </a:r>
            <a:br>
              <a:rPr lang="en-AU" b="1" dirty="0"/>
            </a:br>
            <a:r>
              <a:rPr lang="en-AU" b="0" dirty="0"/>
              <a:t>This resource corresponds to </a:t>
            </a:r>
            <a:r>
              <a:rPr lang="en-AU" sz="1600" dirty="0"/>
              <a:t>Resource 19 – colour in </a:t>
            </a:r>
            <a:r>
              <a:rPr lang="en-AU" sz="1600" dirty="0" err="1"/>
              <a:t>decimats</a:t>
            </a:r>
            <a:r>
              <a:rPr lang="en-AU" sz="1600" dirty="0"/>
              <a:t> and Resource 20 – </a:t>
            </a:r>
            <a:r>
              <a:rPr lang="en-AU" sz="1600" dirty="0" err="1"/>
              <a:t>decimat</a:t>
            </a:r>
            <a:r>
              <a:rPr lang="en-AU" sz="1600" dirty="0"/>
              <a:t> record table in </a:t>
            </a:r>
            <a:r>
              <a:rPr lang="en-AU" sz="1600" dirty="0">
                <a:highlight>
                  <a:srgbClr val="FFFF00"/>
                </a:highlight>
              </a:rPr>
              <a:t>Stage 3 Year B Unit 21</a:t>
            </a:r>
            <a:r>
              <a:rPr lang="en-AU" b="0" dirty="0"/>
              <a:t>. </a:t>
            </a:r>
          </a:p>
          <a:p>
            <a:endParaRPr lang="en-AU" b="1" dirty="0"/>
          </a:p>
          <a:p>
            <a:pPr marL="342900" lvl="0" indent="-342900">
              <a:buFont typeface="+mj-lt"/>
              <a:buAutoNum type="arabicPeriod" startAt="3"/>
            </a:pPr>
            <a:r>
              <a:rPr lang="en-AU" sz="1600" kern="1200" dirty="0">
                <a:solidFill>
                  <a:schemeClr val="tx1"/>
                </a:solidFill>
                <a:effectLst/>
                <a:latin typeface="Arial" panose="020B0604020202020204" pitchFamily="34" charset="0"/>
                <a:ea typeface="+mn-ea"/>
                <a:cs typeface="Arial" panose="020B0604020202020204" pitchFamily="34" charset="0"/>
              </a:rPr>
              <a:t>Revise the rules of Colour in </a:t>
            </a:r>
            <a:r>
              <a:rPr lang="en-AU" sz="1600" kern="1200" dirty="0" err="1">
                <a:solidFill>
                  <a:schemeClr val="tx1"/>
                </a:solidFill>
                <a:effectLst/>
                <a:latin typeface="Arial" panose="020B0604020202020204" pitchFamily="34" charset="0"/>
                <a:ea typeface="+mn-ea"/>
                <a:cs typeface="Arial" panose="020B0604020202020204" pitchFamily="34" charset="0"/>
              </a:rPr>
              <a:t>decimats</a:t>
            </a:r>
            <a:r>
              <a:rPr lang="en-AU" sz="1600" kern="1200" dirty="0">
                <a:solidFill>
                  <a:schemeClr val="tx1"/>
                </a:solidFill>
                <a:effectLst/>
                <a:latin typeface="Arial" panose="020B0604020202020204" pitchFamily="34" charset="0"/>
                <a:ea typeface="+mn-ea"/>
                <a:cs typeface="Arial" panose="020B0604020202020204" pitchFamily="34" charset="0"/>
              </a:rPr>
              <a:t> from Activity 2 – decimal place value. </a:t>
            </a:r>
          </a:p>
          <a:p>
            <a:pPr marL="342900" lvl="0" indent="-342900">
              <a:buFont typeface="+mj-lt"/>
              <a:buAutoNum type="arabicPeriod" startAt="3"/>
            </a:pPr>
            <a:r>
              <a:rPr lang="en-AU" sz="1600" kern="1200" dirty="0">
                <a:solidFill>
                  <a:schemeClr val="tx1"/>
                </a:solidFill>
                <a:effectLst/>
                <a:latin typeface="Arial" panose="020B0604020202020204" pitchFamily="34" charset="0"/>
                <a:ea typeface="+mn-ea"/>
                <a:cs typeface="Arial" panose="020B0604020202020204" pitchFamily="34" charset="0"/>
              </a:rPr>
              <a:t>In small groups, students use Resource 20 – </a:t>
            </a:r>
            <a:r>
              <a:rPr lang="en-AU" sz="1600" kern="1200" dirty="0" err="1">
                <a:solidFill>
                  <a:schemeClr val="tx1"/>
                </a:solidFill>
                <a:effectLst/>
                <a:latin typeface="Arial" panose="020B0604020202020204" pitchFamily="34" charset="0"/>
                <a:ea typeface="+mn-ea"/>
                <a:cs typeface="Arial" panose="020B0604020202020204" pitchFamily="34" charset="0"/>
              </a:rPr>
              <a:t>decimat</a:t>
            </a:r>
            <a:r>
              <a:rPr lang="en-AU" sz="1600" kern="1200" dirty="0">
                <a:solidFill>
                  <a:schemeClr val="tx1"/>
                </a:solidFill>
                <a:effectLst/>
                <a:latin typeface="Arial" panose="020B0604020202020204" pitchFamily="34" charset="0"/>
                <a:ea typeface="+mn-ea"/>
                <a:cs typeface="Arial" panose="020B0604020202020204" pitchFamily="34" charset="0"/>
              </a:rPr>
              <a:t> record table and play Colour in </a:t>
            </a:r>
            <a:r>
              <a:rPr lang="en-AU" sz="1600" kern="1200" dirty="0" err="1">
                <a:solidFill>
                  <a:schemeClr val="tx1"/>
                </a:solidFill>
                <a:effectLst/>
                <a:latin typeface="Arial" panose="020B0604020202020204" pitchFamily="34" charset="0"/>
                <a:ea typeface="+mn-ea"/>
                <a:cs typeface="Arial" panose="020B0604020202020204" pitchFamily="34" charset="0"/>
              </a:rPr>
              <a:t>decimats</a:t>
            </a:r>
            <a:r>
              <a:rPr lang="en-AU" sz="1600" kern="1200" dirty="0">
                <a:solidFill>
                  <a:schemeClr val="tx1"/>
                </a:solidFill>
                <a:effectLst/>
                <a:latin typeface="Arial" panose="020B0604020202020204" pitchFamily="34" charset="0"/>
                <a:ea typeface="+mn-ea"/>
                <a:cs typeface="Arial" panose="020B0604020202020204" pitchFamily="34" charset="0"/>
              </a:rPr>
              <a:t>. </a:t>
            </a:r>
          </a:p>
          <a:p>
            <a:pPr marL="0" indent="0">
              <a:buFont typeface="+mj-lt"/>
              <a:buNone/>
            </a:pP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for this version of the game, thousandths are required, the gameboard is readily extended to thousandths by partitioning a hundredth into 10 equal parts. </a:t>
            </a:r>
          </a:p>
          <a:p>
            <a:pPr marL="342900" indent="-342900">
              <a:buFont typeface="+mj-lt"/>
              <a:buAutoNum type="arabicPeriod" startAt="5"/>
            </a:pPr>
            <a:r>
              <a:rPr lang="en-AU" sz="1600" kern="1200" dirty="0">
                <a:solidFill>
                  <a:schemeClr val="tx1"/>
                </a:solidFill>
                <a:effectLst/>
                <a:latin typeface="Arial" panose="020B0604020202020204" pitchFamily="34" charset="0"/>
                <a:ea typeface="+mn-ea"/>
                <a:cs typeface="Arial" panose="020B0604020202020204" pitchFamily="34" charset="0"/>
              </a:rPr>
              <a:t>Encourage students to check each of their records for equivalent fractions and the cumulative total.</a:t>
            </a:r>
            <a:endParaRPr lang="en-AU" b="1" dirty="0"/>
          </a:p>
          <a:p>
            <a:pPr marL="342900" indent="-342900">
              <a:buFont typeface="+mj-lt"/>
              <a:buAutoNum type="arabicPeriod" startAt="5"/>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7A72F3EC-A327-B5C9-3756-70282941F6D4}"/>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358957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Decimals and percentages</a:t>
            </a:r>
            <a:br>
              <a:rPr lang="en-AU" dirty="0"/>
            </a:br>
            <a:endParaRPr lang="en-AU" dirty="0"/>
          </a:p>
          <a:p>
            <a:r>
              <a:rPr lang="en-AU" b="1" dirty="0"/>
              <a:t>Activity 4 – decimals on a number line</a:t>
            </a:r>
            <a:br>
              <a:rPr lang="en-AU" b="1" dirty="0"/>
            </a:br>
            <a:r>
              <a:rPr lang="en-AU" b="0" dirty="0"/>
              <a:t>This resource corresponds to Activity 4 – decimals on a number line in Stage 3 Year B Unit 21. </a:t>
            </a:r>
          </a:p>
          <a:p>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a range of decimal numbers of up to 3 decimal places.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Model how to use a ruler to draw a number line.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Discuss how to label the number line and parts using decimal notation to hundredths. For example, benchmark decimals of 0.5, 1.0, 1.5, 2.0, 2.5, 3.0, 3.5, 4.0 4.5.</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draw and label the number line in their workbooks and label with the benchmark decimals.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place the displayed decimals on the number line. Encourage students to compare the position of different decimals on their number line to understand their relative size.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turn and talk to explain their reasoning and strategies used to place decimals on a number line.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Check for understanding by having students share their number lines and mathematical reasoning.</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strategies did you use to determine the placement of each decimal on the number line?</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did the benchmark decimals help you in placing the other numbers?</a:t>
            </a:r>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Represents numbers A: Whole numbers</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B: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Whole numbers</a:t>
            </a:r>
          </a:p>
          <a:p>
            <a:endParaRPr lang="en-AU" dirty="0"/>
          </a:p>
          <a:p>
            <a:r>
              <a:rPr lang="en-AU" b="1" dirty="0"/>
              <a:t>Activity 5 – place value to millions</a:t>
            </a:r>
            <a:br>
              <a:rPr lang="en-AU" b="1" dirty="0"/>
            </a:br>
            <a:r>
              <a:rPr lang="en-AU"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Resource 21 – city populations 1 </a:t>
            </a:r>
            <a:r>
              <a:rPr lang="en-AU" b="0" dirty="0"/>
              <a:t>in Stage 3 Year B Unit 21.</a:t>
            </a:r>
          </a:p>
          <a:p>
            <a:endParaRPr lang="en-AU" b="0" dirty="0"/>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‘Cities of the world’ from </a:t>
            </a:r>
            <a:r>
              <a:rPr lang="en-AU" sz="1600" i="1" kern="1200" dirty="0">
                <a:solidFill>
                  <a:schemeClr val="tx1"/>
                </a:solidFill>
                <a:effectLst/>
                <a:latin typeface="Arial" panose="020B0604020202020204" pitchFamily="34" charset="0"/>
                <a:ea typeface="+mn-ea"/>
                <a:cs typeface="Arial" panose="020B0604020202020204" pitchFamily="34" charset="0"/>
              </a:rPr>
              <a:t>A Practical Guide to Transforming Primary Mathematics: Activities and tasks that really work</a:t>
            </a:r>
            <a:r>
              <a:rPr lang="en-AU" sz="1600" kern="1200" dirty="0">
                <a:solidFill>
                  <a:schemeClr val="tx1"/>
                </a:solidFill>
                <a:effectLst/>
                <a:latin typeface="Arial" panose="020B0604020202020204" pitchFamily="34" charset="0"/>
                <a:ea typeface="+mn-ea"/>
                <a:cs typeface="Arial" panose="020B0604020202020204" pitchFamily="34" charset="0"/>
              </a:rPr>
              <a:t> by Askew. You may wish to prepare data that is of interest to your students, for example, cities of birth for parents or grandparents. Create a table to display this data as in Resource 21 – city populations 1.</a:t>
            </a:r>
          </a:p>
          <a:p>
            <a:pPr marL="342900" indent="-342900">
              <a:buFont typeface="+mj-lt"/>
              <a:buAutoNum type="arabicPeriod"/>
            </a:pPr>
            <a:br>
              <a:rPr lang="en-AU" sz="1600" kern="1200" dirty="0">
                <a:solidFill>
                  <a:schemeClr val="tx1"/>
                </a:solidFill>
                <a:effectLst/>
                <a:latin typeface="Arial" panose="020B0604020202020204" pitchFamily="34" charset="0"/>
                <a:ea typeface="+mn-ea"/>
                <a:cs typeface="Arial" panose="020B0604020202020204" pitchFamily="34" charset="0"/>
              </a:rPr>
            </a:br>
            <a:r>
              <a:rPr lang="en-AU" sz="1600" kern="1200" dirty="0">
                <a:solidFill>
                  <a:schemeClr val="tx1"/>
                </a:solidFill>
                <a:effectLst/>
                <a:latin typeface="Arial" panose="020B0604020202020204" pitchFamily="34" charset="0"/>
                <a:ea typeface="+mn-ea"/>
                <a:cs typeface="Arial" panose="020B0604020202020204" pitchFamily="34" charset="0"/>
              </a:rPr>
              <a:t>Display Resource 21 – city populations 1 or population data of interest to the class. Select students to read out each capital city and its population.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Discuss what the students notice about the numbers and when the data was prepared.</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Highlight the recorded populations of Tokyo and Dhaka. Explain that the population figures provided are likely rounded estimates of the actual values.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Model rounding the population number for Shanghai.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students to round the population data of Delhi to the nearest thousand and record on whiteboards.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Check for understanding on how to round numbers to the nearest thousand. Connect</a:t>
            </a:r>
            <a:r>
              <a:rPr lang="en-AU" sz="1600" b="1" kern="1200" dirty="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to prior learning, if necessary, focusing on place value positions.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pairs, students round the remaining cities to the nearest thousand and record cities in descending order.</a:t>
            </a:r>
          </a:p>
          <a:p>
            <a:pPr marL="34290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Record and display the list of cities and their rounded populations for Activity 6 – place value to billions.</a:t>
            </a:r>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B: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Non spatial measure A: Mass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Whole numbers</a:t>
            </a:r>
          </a:p>
          <a:p>
            <a:endParaRPr lang="en-AU" dirty="0"/>
          </a:p>
          <a:p>
            <a:r>
              <a:rPr lang="en-AU" b="1" dirty="0"/>
              <a:t>Activity 6 – place value to billions (1)</a:t>
            </a:r>
          </a:p>
          <a:p>
            <a:r>
              <a:rPr lang="en-AU" b="0" dirty="0"/>
              <a:t>This resource corresponds to Resource 22 – city populations 2 in Stage 3 Year B Unit 21. </a:t>
            </a:r>
          </a:p>
          <a:p>
            <a:endParaRPr lang="en-AU" b="0" dirty="0"/>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‘Cities of the world’ from </a:t>
            </a:r>
            <a:r>
              <a:rPr lang="en-AU" sz="1600" i="1" kern="1200" dirty="0">
                <a:solidFill>
                  <a:schemeClr val="tx1"/>
                </a:solidFill>
                <a:effectLst/>
                <a:latin typeface="Arial" panose="020B0604020202020204" pitchFamily="34" charset="0"/>
                <a:ea typeface="+mn-ea"/>
                <a:cs typeface="Arial" panose="020B0604020202020204" pitchFamily="34" charset="0"/>
              </a:rPr>
              <a:t>A Practical Guide to Transforming Primary Mathematics: Activities and tasks that really work</a:t>
            </a:r>
            <a:r>
              <a:rPr lang="en-AU" sz="1600" kern="1200" dirty="0">
                <a:solidFill>
                  <a:schemeClr val="tx1"/>
                </a:solidFill>
                <a:effectLst/>
                <a:latin typeface="Arial" panose="020B0604020202020204" pitchFamily="34" charset="0"/>
                <a:ea typeface="+mn-ea"/>
                <a:cs typeface="Arial" panose="020B0604020202020204" pitchFamily="34" charset="0"/>
              </a:rPr>
              <a:t> by Askew. </a:t>
            </a:r>
            <a:br>
              <a:rPr lang="en-AU" sz="1600" kern="1200" dirty="0">
                <a:solidFill>
                  <a:schemeClr val="tx1"/>
                </a:solidFill>
                <a:effectLst/>
                <a:latin typeface="Arial" panose="020B0604020202020204" pitchFamily="34" charset="0"/>
                <a:ea typeface="+mn-ea"/>
                <a:cs typeface="Arial" panose="020B0604020202020204" pitchFamily="34" charset="0"/>
              </a:rPr>
            </a:b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Revise the descending list of city populations from Activity 5 – place value in millions.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Resource 22 – city populations 2. Discuss how the population numbers have been rounded to a specified value.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In small groups, students discuss and record why they believe the numbers have been rounded. Students share their reasoning with the class.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has happened to the numbers? For example, they have been rounded and written in millions.</a:t>
            </a: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are some advantages and disadvantages of each way of recording large numbers?</a:t>
            </a: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Which way is easiest to see the relative size of the cities? Why?</a:t>
            </a:r>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Is there a pattern that you can see that would help you convert between units?</a:t>
            </a:r>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CFCFC-3253-3CB9-5678-81F6CCE20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786D2-535B-E167-B998-78841CDD9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FDF4E-C1AF-313D-276F-F47258BC1ADA}"/>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Whole numbers</a:t>
            </a:r>
          </a:p>
          <a:p>
            <a:endParaRPr lang="en-AU" dirty="0"/>
          </a:p>
          <a:p>
            <a:r>
              <a:rPr lang="en-AU" b="1" dirty="0"/>
              <a:t>Activity 6 – place value to billions (2)</a:t>
            </a:r>
            <a:br>
              <a:rPr lang="en-AU" b="1" dirty="0"/>
            </a:br>
            <a:r>
              <a:rPr lang="en-AU"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Resource 23 – organisational budgets</a:t>
            </a:r>
            <a:r>
              <a:rPr lang="en-AU" b="0" dirty="0"/>
              <a:t> in Stage 3 Year B Unit 21. </a:t>
            </a:r>
          </a:p>
          <a:p>
            <a:endParaRPr lang="en-AU" b="0" dirty="0"/>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‘Cities of the world’ from </a:t>
            </a:r>
            <a:r>
              <a:rPr lang="en-AU" sz="1600" i="1" kern="1200" dirty="0">
                <a:solidFill>
                  <a:schemeClr val="tx1"/>
                </a:solidFill>
                <a:effectLst/>
                <a:latin typeface="Arial" panose="020B0604020202020204" pitchFamily="34" charset="0"/>
                <a:ea typeface="+mn-ea"/>
                <a:cs typeface="Arial" panose="020B0604020202020204" pitchFamily="34" charset="0"/>
              </a:rPr>
              <a:t>A Practical Guide to Transforming Primary Mathematics: Activities and tasks that really work</a:t>
            </a:r>
            <a:r>
              <a:rPr lang="en-AU" sz="1600" kern="1200" dirty="0">
                <a:solidFill>
                  <a:schemeClr val="tx1"/>
                </a:solidFill>
                <a:effectLst/>
                <a:latin typeface="Arial" panose="020B0604020202020204" pitchFamily="34" charset="0"/>
                <a:ea typeface="+mn-ea"/>
                <a:cs typeface="Arial" panose="020B0604020202020204" pitchFamily="34" charset="0"/>
              </a:rPr>
              <a:t> by Askew. </a:t>
            </a:r>
            <a:br>
              <a:rPr lang="en-AU" sz="1600" kern="1200" dirty="0">
                <a:solidFill>
                  <a:schemeClr val="tx1"/>
                </a:solidFill>
                <a:effectLst/>
                <a:latin typeface="Arial" panose="020B0604020202020204" pitchFamily="34" charset="0"/>
                <a:ea typeface="+mn-ea"/>
                <a:cs typeface="Arial" panose="020B0604020202020204" pitchFamily="34" charset="0"/>
              </a:rPr>
            </a:b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startAt="5"/>
            </a:pPr>
            <a:r>
              <a:rPr lang="en-AU" sz="1600" kern="1200" dirty="0">
                <a:solidFill>
                  <a:schemeClr val="tx1"/>
                </a:solidFill>
                <a:effectLst/>
                <a:latin typeface="Arial" panose="020B0604020202020204" pitchFamily="34" charset="0"/>
                <a:ea typeface="+mn-ea"/>
                <a:cs typeface="Arial" panose="020B0604020202020204" pitchFamily="34" charset="0"/>
              </a:rPr>
              <a:t>Explain that when working with large numbers, organisations often change the units from ones to millions or billions to save space and to make numbers easier to view. For example, in the Australian Government’s annual budget papers, money is written in millions and billions of dollars, such as $3.2 million and $4.5 billion.</a:t>
            </a:r>
          </a:p>
          <a:p>
            <a:pPr marL="342900" lvl="0" indent="-342900">
              <a:buFont typeface="+mj-lt"/>
              <a:buAutoNum type="arabicPeriod" startAt="5"/>
            </a:pPr>
            <a:r>
              <a:rPr lang="en-AU" sz="1600" kern="1200" dirty="0">
                <a:solidFill>
                  <a:schemeClr val="tx1"/>
                </a:solidFill>
                <a:effectLst/>
                <a:latin typeface="Arial" panose="020B0604020202020204" pitchFamily="34" charset="0"/>
                <a:ea typeface="+mn-ea"/>
                <a:cs typeface="Arial" panose="020B0604020202020204" pitchFamily="34" charset="0"/>
              </a:rPr>
              <a:t>Display Resource 23 – organisational budgets. Select students to read aloud the populations in both tables.</a:t>
            </a:r>
          </a:p>
          <a:p>
            <a:pPr marL="342900" lvl="0" indent="-342900">
              <a:buFont typeface="+mj-lt"/>
              <a:buAutoNum type="arabicPeriod" startAt="5"/>
            </a:pPr>
            <a:r>
              <a:rPr lang="en-AU" sz="1600" kern="1200" dirty="0">
                <a:solidFill>
                  <a:schemeClr val="tx1"/>
                </a:solidFill>
                <a:effectLst/>
                <a:latin typeface="Arial" panose="020B0604020202020204" pitchFamily="34" charset="0"/>
                <a:ea typeface="+mn-ea"/>
                <a:cs typeface="Arial" panose="020B0604020202020204" pitchFamily="34" charset="0"/>
              </a:rPr>
              <a:t>In small groups, students expand the rounded figures using their knowledge of place value and arrange in ascending order.</a:t>
            </a:r>
          </a:p>
          <a:p>
            <a:pPr marL="342900" lvl="0" indent="-342900">
              <a:buFont typeface="+mj-lt"/>
              <a:buAutoNum type="arabicPeriod" startAt="5"/>
            </a:pPr>
            <a:r>
              <a:rPr lang="en-AU" sz="1600" kern="1200" dirty="0">
                <a:solidFill>
                  <a:schemeClr val="tx1"/>
                </a:solidFill>
                <a:effectLst/>
                <a:latin typeface="Arial" panose="020B0604020202020204" pitchFamily="34" charset="0"/>
                <a:ea typeface="+mn-ea"/>
                <a:cs typeface="Arial" panose="020B0604020202020204" pitchFamily="34" charset="0"/>
              </a:rPr>
              <a:t>Students share their mathematical thinking and reasoning with the class focusing on recognising 1000 thousands is 1 million and 1000 millions is 1 billion.</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75A41238-EC7F-99B2-1017-662C4326088D}"/>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5391175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b="0" i="0" kern="1200" dirty="0">
                <a:solidFill>
                  <a:schemeClr val="tx1"/>
                </a:solidFill>
                <a:effectLst/>
                <a:highlight>
                  <a:srgbClr val="FFFF00"/>
                </a:highlight>
                <a:latin typeface="Arial" panose="020B0604020202020204" pitchFamily="34" charset="0"/>
                <a:ea typeface="+mn-ea"/>
                <a:cs typeface="Arial" panose="020B0604020202020204" pitchFamily="34" charset="0"/>
              </a:rPr>
              <a:t>Represents numbers A: Whole numbers</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Additive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Non spatial measure A: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Whole numbers</a:t>
            </a:r>
          </a:p>
          <a:p>
            <a:endParaRPr lang="en-AU" dirty="0"/>
          </a:p>
          <a:p>
            <a:r>
              <a:rPr lang="en-AU" b="1" dirty="0"/>
              <a:t>Activity title</a:t>
            </a:r>
          </a:p>
          <a:p>
            <a:r>
              <a:rPr lang="en-AU" b="0" dirty="0"/>
              <a:t>This resource corresponds to Resource 22 – city populations 2 in Stage 3 Year B Unit 21. </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 a class, revise the steps for rounding numbers to a specified value. Encourage students to use words and diagrams. For example: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to round numbers to a specified value:</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Step 1:  Determine the place value to which you need to round. For example, nearest thousand, million, ten million.</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Step 2: Find the digit in that place value </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Step 3: Examine the digits to the right of the rounding digit. This will help you decide whether to round the number up or keep it the same.</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Step 4: Apply the rounding rules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If the digit to the right is 5 or greater, add one to the rounding digit (round up).</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If the digit to the right is less than 5, keep the rounding digit the same (round down).</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Step 5: Adjust the Remaining Digits</a:t>
            </a:r>
          </a:p>
          <a:p>
            <a:pPr marL="285750" lvl="0" indent="-285750">
              <a:buFont typeface="Courier New" panose="02070309020205020404" pitchFamily="49" charset="0"/>
              <a:buChar char="o"/>
            </a:pPr>
            <a:r>
              <a:rPr lang="en-AU" sz="1600" kern="1200" dirty="0">
                <a:solidFill>
                  <a:schemeClr val="tx1"/>
                </a:solidFill>
                <a:effectLst/>
                <a:latin typeface="Arial" panose="020B0604020202020204" pitchFamily="34" charset="0"/>
                <a:ea typeface="+mn-ea"/>
                <a:cs typeface="Arial" panose="020B0604020202020204" pitchFamily="34" charset="0"/>
              </a:rPr>
              <a:t>Change all digits to the right of the rounding digit to zero, as they are not significant in the rounded number.</a:t>
            </a:r>
          </a:p>
          <a:p>
            <a:pPr marL="342900" lvl="0" indent="-342900">
              <a:buFont typeface="+mj-lt"/>
              <a:buAutoNum type="arabicPeriod" startAt="2"/>
            </a:pPr>
            <a:r>
              <a:rPr lang="en-AU" sz="1600" b="0" kern="1200" dirty="0">
                <a:solidFill>
                  <a:schemeClr val="tx1"/>
                </a:solidFill>
                <a:effectLst/>
                <a:latin typeface="Arial" panose="020B0604020202020204" pitchFamily="34" charset="0"/>
                <a:ea typeface="+mn-ea"/>
                <a:cs typeface="Arial" panose="020B0604020202020204" pitchFamily="34" charset="0"/>
              </a:rPr>
              <a:t>Display a range of 5-, 6- and 7-digit numbers. For example, the number 6 489 521 or city populations.</a:t>
            </a:r>
          </a:p>
          <a:p>
            <a:pPr marL="342900" lvl="0" indent="-342900">
              <a:buFont typeface="+mj-lt"/>
              <a:buAutoNum type="arabicPeriod" startAt="2"/>
            </a:pPr>
            <a:r>
              <a:rPr lang="en-AU" sz="1600" b="0" kern="1200" dirty="0">
                <a:solidFill>
                  <a:schemeClr val="tx1"/>
                </a:solidFill>
                <a:effectLst/>
                <a:latin typeface="Arial" panose="020B0604020202020204" pitchFamily="34" charset="0"/>
                <a:ea typeface="+mn-ea"/>
                <a:cs typeface="Arial" panose="020B0604020202020204" pitchFamily="34" charset="0"/>
              </a:rPr>
              <a:t>Check for understanding by having students round the specified number to the nearest, thousand, million and ten million. </a:t>
            </a:r>
          </a:p>
          <a:p>
            <a:pPr marL="342900" indent="-342900">
              <a:buFont typeface="+mj-lt"/>
              <a:buAutoNum type="arabicPeriod" startAt="2"/>
            </a:pPr>
            <a:r>
              <a:rPr lang="en-AU" sz="1600" b="0" kern="1200" dirty="0">
                <a:solidFill>
                  <a:schemeClr val="tx1"/>
                </a:solidFill>
                <a:effectLst/>
                <a:latin typeface="Arial" panose="020B0604020202020204" pitchFamily="34" charset="0"/>
                <a:ea typeface="+mn-ea"/>
                <a:cs typeface="Arial" panose="020B0604020202020204" pitchFamily="34" charset="0"/>
              </a:rPr>
              <a:t>Students record their answers on whiteboards.</a:t>
            </a: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Represents Numbers A: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B: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Non spatial measure A: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Whole numbers</a:t>
            </a:r>
          </a:p>
          <a:p>
            <a:endParaRPr lang="en-AU" dirty="0"/>
          </a:p>
          <a:p>
            <a:r>
              <a:rPr lang="en-AU" b="1" dirty="0"/>
              <a:t>Activity title</a:t>
            </a:r>
          </a:p>
          <a:p>
            <a:r>
              <a:rPr lang="en-AU" b="0" dirty="0"/>
              <a:t>This resource corresponds to Resource 21 – city populations 2 in Stage 3 Year B Unit 21.</a:t>
            </a:r>
          </a:p>
          <a:p>
            <a:endParaRPr lang="en-AU" b="0" dirty="0"/>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‘Cities of the world’ from </a:t>
            </a:r>
            <a:r>
              <a:rPr lang="en-AU" sz="1600" i="1" kern="1200" dirty="0">
                <a:solidFill>
                  <a:schemeClr val="tx1"/>
                </a:solidFill>
                <a:effectLst/>
                <a:latin typeface="Arial" panose="020B0604020202020204" pitchFamily="34" charset="0"/>
                <a:ea typeface="+mn-ea"/>
                <a:cs typeface="Arial" panose="020B0604020202020204" pitchFamily="34" charset="0"/>
              </a:rPr>
              <a:t>A Practical Guide to Transforming Primary Mathematics: Activities and tasks that really work</a:t>
            </a:r>
            <a:r>
              <a:rPr lang="en-AU" sz="1600" kern="1200" dirty="0">
                <a:solidFill>
                  <a:schemeClr val="tx1"/>
                </a:solidFill>
                <a:effectLst/>
                <a:latin typeface="Arial" panose="020B0604020202020204" pitchFamily="34" charset="0"/>
                <a:ea typeface="+mn-ea"/>
                <a:cs typeface="Arial" panose="020B0604020202020204" pitchFamily="34" charset="0"/>
              </a:rPr>
              <a:t> by Askew. Prior to the lesson, gather information about the population of your local government area from a reliable source, such as the Australian Government’s Centre for Population.</a:t>
            </a:r>
            <a:br>
              <a:rPr lang="en-AU" sz="1600" kern="1200" dirty="0">
                <a:solidFill>
                  <a:schemeClr val="tx1"/>
                </a:solidFill>
                <a:effectLst/>
                <a:latin typeface="Arial" panose="020B0604020202020204" pitchFamily="34" charset="0"/>
                <a:ea typeface="+mn-ea"/>
                <a:cs typeface="Arial" panose="020B0604020202020204" pitchFamily="34" charset="0"/>
              </a:rPr>
            </a:b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Resource 21 – city populations 2. Select students to read the numbers aloud.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Revise each of the methods of recording large numbers.</a:t>
            </a:r>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642CE-AE10-1B12-A240-6D5631EAC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AAFFB-11DA-803D-E49D-72E96C995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CBA85-5EDE-B5CC-34F9-05B4BB77D392}"/>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A: Whole numbers</a:t>
            </a:r>
          </a:p>
          <a:p>
            <a:endParaRPr lang="en-AU" dirty="0"/>
          </a:p>
          <a:p>
            <a:r>
              <a:rPr lang="en-AU" b="1" dirty="0"/>
              <a:t>Activity title</a:t>
            </a:r>
          </a:p>
          <a:p>
            <a:r>
              <a:rPr lang="en-AU" b="0" dirty="0"/>
              <a:t>This resource corresponds to Resource 21 – city populations 2 in Stage 3 Year B Unit 21.</a:t>
            </a:r>
          </a:p>
          <a:p>
            <a:endParaRPr lang="en-AU" b="0" dirty="0"/>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‘Cities of the world’ from </a:t>
            </a:r>
            <a:r>
              <a:rPr lang="en-AU" sz="1600" i="1" kern="1200" dirty="0">
                <a:solidFill>
                  <a:schemeClr val="tx1"/>
                </a:solidFill>
                <a:effectLst/>
                <a:latin typeface="Arial" panose="020B0604020202020204" pitchFamily="34" charset="0"/>
                <a:ea typeface="+mn-ea"/>
                <a:cs typeface="Arial" panose="020B0604020202020204" pitchFamily="34" charset="0"/>
              </a:rPr>
              <a:t>A Practical Guide to Transforming Primary Mathematics: Activities and tasks that really work</a:t>
            </a:r>
            <a:r>
              <a:rPr lang="en-AU" sz="1600" kern="1200" dirty="0">
                <a:solidFill>
                  <a:schemeClr val="tx1"/>
                </a:solidFill>
                <a:effectLst/>
                <a:latin typeface="Arial" panose="020B0604020202020204" pitchFamily="34" charset="0"/>
                <a:ea typeface="+mn-ea"/>
                <a:cs typeface="Arial" panose="020B0604020202020204" pitchFamily="34" charset="0"/>
              </a:rPr>
              <a:t> by Askew. Prior to the lesson, gather information about the population of your local government area from a reliable source, such as the Australian Government’s Centre for Population.</a:t>
            </a:r>
            <a:br>
              <a:rPr lang="en-AU" sz="1600" kern="1200" dirty="0">
                <a:solidFill>
                  <a:schemeClr val="tx1"/>
                </a:solidFill>
                <a:effectLst/>
                <a:latin typeface="Arial" panose="020B0604020202020204" pitchFamily="34" charset="0"/>
                <a:ea typeface="+mn-ea"/>
                <a:cs typeface="Arial" panose="020B0604020202020204" pitchFamily="34" charset="0"/>
              </a:rPr>
            </a:b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marR="0" lvl="0" indent="-342900" algn="l" defTabSz="1219170" rtl="0" eaLnBrk="1" fontAlgn="auto" latinLnBrk="0" hangingPunct="1">
              <a:lnSpc>
                <a:spcPct val="100000"/>
              </a:lnSpc>
              <a:spcBef>
                <a:spcPts val="0"/>
              </a:spcBef>
              <a:spcAft>
                <a:spcPts val="0"/>
              </a:spcAft>
              <a:buClrTx/>
              <a:buSzTx/>
              <a:buFont typeface="+mj-lt"/>
              <a:buAutoNum type="arabicPeriod" startAt="4"/>
              <a:tabLst/>
              <a:defRPr/>
            </a:pPr>
            <a:r>
              <a:rPr lang="en-AU" sz="1600" kern="1200" dirty="0">
                <a:solidFill>
                  <a:schemeClr val="tx1"/>
                </a:solidFill>
                <a:effectLst/>
                <a:latin typeface="Arial" panose="020B0604020202020204" pitchFamily="34" charset="0"/>
                <a:ea typeface="+mn-ea"/>
                <a:cs typeface="Arial" panose="020B0604020202020204" pitchFamily="34" charset="0"/>
              </a:rPr>
              <a:t>Display the population of your local government area (LGA) or town. Discuss an appropriate value to round the population figures for comparison. For example, rounding to the nearest thousand. Discuss why this may be helpful.</a:t>
            </a:r>
            <a:endParaRPr lang="en-AU" b="0" dirty="0"/>
          </a:p>
          <a:p>
            <a:pPr marL="342900" lvl="0" indent="-342900">
              <a:buFont typeface="+mj-lt"/>
              <a:buAutoNum type="arabicPeriod" startAt="4"/>
            </a:pPr>
            <a:r>
              <a:rPr lang="en-AU" sz="1600" kern="1200" dirty="0">
                <a:solidFill>
                  <a:schemeClr val="tx1"/>
                </a:solidFill>
                <a:effectLst/>
                <a:latin typeface="Arial" panose="020B0604020202020204" pitchFamily="34" charset="0"/>
                <a:ea typeface="+mn-ea"/>
                <a:cs typeface="Arial" panose="020B0604020202020204" pitchFamily="34" charset="0"/>
              </a:rPr>
              <a:t>Display a range of local government areas and their approximate populations. For example: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Sydney City LGA: Approximately 250,000 residents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Woollahra LGA: Around 60,000 residents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Parramatta LGA: About 250,000 residents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Northern Beaches LGA: Approximately 250,000 residents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Canterbury-Bankstown LGA: Around 360,000 residents. </a:t>
            </a: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Divide the class into groups of 4. Allocate each group a different specified value to round the local government area figures. </a:t>
            </a: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Each group shares the rounded figures with the class. Display in a table on the board, adding each groups rounded figures. Check for understanding of rounding to a specified value.</a:t>
            </a:r>
          </a:p>
          <a:p>
            <a:pPr marL="34290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Discuss how to make comparisons in populations when they have been rounded to different specified values.</a:t>
            </a:r>
            <a:endParaRPr lang="en-AU" b="0" dirty="0"/>
          </a:p>
          <a:p>
            <a:pPr marL="342900" indent="-342900">
              <a:buFont typeface="+mj-lt"/>
              <a:buAutoNum type="arabicPeriod" startAt="6"/>
            </a:pP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0844DA8-2B90-3354-E62D-1D034DBA34F1}"/>
              </a:ext>
            </a:extLst>
          </p:cNvPr>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508495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22984-AB06-F8C3-06A6-B908164E3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FBECA-704A-1C05-CA42-7F4104920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F027C-CAF8-20D1-578B-A394F70DDE3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AD1321-58CC-ED4B-661A-A3B9978DA4A7}"/>
              </a:ext>
            </a:extLst>
          </p:cNvPr>
          <p:cNvSpPr>
            <a:spLocks noGrp="1"/>
          </p:cNvSpPr>
          <p:nvPr>
            <p:ph type="sldNum" sz="quarter" idx="5"/>
          </p:nvPr>
        </p:nvSpPr>
        <p:spPr/>
        <p:txBody>
          <a:bodyPr/>
          <a:lstStyle/>
          <a:p>
            <a:fld id="{B07158C4-A119-4B78-9DE8-A50001BC31DC}" type="slidenum">
              <a:rPr lang="en-AU" smtClean="0"/>
              <a:pPr/>
              <a:t>73</a:t>
            </a:fld>
            <a:endParaRPr lang="en-AU"/>
          </a:p>
        </p:txBody>
      </p:sp>
    </p:spTree>
    <p:extLst>
      <p:ext uri="{BB962C8B-B14F-4D97-AF65-F5344CB8AC3E}">
        <p14:creationId xmlns:p14="http://schemas.microsoft.com/office/powerpoint/2010/main" val="17371450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3BABA-1C4F-8667-C346-9FEB4C39A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FF138-219E-4F8B-6E82-EA589883A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4EBFD-9B88-C458-899B-9E0013709A1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0028349-ACB8-F611-0E6A-DC0C7ED4056E}"/>
              </a:ext>
            </a:extLst>
          </p:cNvPr>
          <p:cNvSpPr>
            <a:spLocks noGrp="1"/>
          </p:cNvSpPr>
          <p:nvPr>
            <p:ph type="sldNum" sz="quarter" idx="5"/>
          </p:nvPr>
        </p:nvSpPr>
        <p:spPr/>
        <p:txBody>
          <a:bodyPr/>
          <a:lstStyle/>
          <a:p>
            <a:fld id="{B07158C4-A119-4B78-9DE8-A50001BC31DC}" type="slidenum">
              <a:rPr lang="en-AU" smtClean="0"/>
              <a:pPr/>
              <a:t>74</a:t>
            </a:fld>
            <a:endParaRPr lang="en-AU"/>
          </a:p>
        </p:txBody>
      </p:sp>
    </p:spTree>
    <p:extLst>
      <p:ext uri="{BB962C8B-B14F-4D97-AF65-F5344CB8AC3E}">
        <p14:creationId xmlns:p14="http://schemas.microsoft.com/office/powerpoint/2010/main" val="301438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75</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slide" Target="slide4.xml"/><Relationship Id="rId7" Type="http://schemas.openxmlformats.org/officeDocument/2006/relationships/slide" Target="slide4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8.xml"/><Relationship Id="rId5" Type="http://schemas.openxmlformats.org/officeDocument/2006/relationships/slide" Target="slide20.xml"/><Relationship Id="rId10" Type="http://schemas.openxmlformats.org/officeDocument/2006/relationships/slide" Target="slide35.xml"/><Relationship Id="rId4" Type="http://schemas.openxmlformats.org/officeDocument/2006/relationships/slide" Target="slide12.xml"/><Relationship Id="rId9" Type="http://schemas.openxmlformats.org/officeDocument/2006/relationships/slide" Target="slide5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50.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0.sv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9.xml"/><Relationship Id="rId1" Type="http://schemas.openxmlformats.org/officeDocument/2006/relationships/slideLayout" Target="../slideLayouts/slideLayout11.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slide" Target="slide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72.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population.gov.au/data-and-forecasts/dashboards/population-local-government-area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nitachinmaths.com.au/wp-content/uploads/2021/07/ChinPENCILTEACH-Make100-1000-10-1-AnitaChinMaths-v3.1.pdf" TargetMode="External"/></Relationships>
</file>

<file path=ppt/slides/_rels/slide73.xml.rels><?xml version="1.0" encoding="UTF-8" standalone="yes"?>
<Relationships xmlns="http://schemas.openxmlformats.org/package/2006/relationships"><Relationship Id="rId8" Type="http://schemas.openxmlformats.org/officeDocument/2006/relationships/hyperlink" Target="https://extranet.education.unimelb.edu.au/SME/TNMY/Decimals/Decimals/teaching/models/numslide.htm"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multistopwatch.com/" TargetMode="External"/><Relationship Id="rId2" Type="http://schemas.openxmlformats.org/officeDocument/2006/relationships/notesSlide" Target="../notesSlides/notesSlide73.xml"/><Relationship Id="rId1" Type="http://schemas.openxmlformats.org/officeDocument/2006/relationships/slideLayout" Target="../slideLayouts/slideLayout13.xml"/><Relationship Id="rId6" Type="http://schemas.openxmlformats.org/officeDocument/2006/relationships/hyperlink" Target="https://mathsbot.com/manipulatives/placeValueCounters" TargetMode="External"/><Relationship Id="rId5" Type="http://schemas.openxmlformats.org/officeDocument/2006/relationships/hyperlink" Target="https://curriculum.nsw.edu.au/" TargetMode="External"/><Relationship Id="rId10" Type="http://schemas.openxmlformats.org/officeDocument/2006/relationships/hyperlink" Target="https://app.education.nsw.gov.au/sport/PageByName?name=FIND_RESULTS&amp;assoId=-1&amp;tempId=10&amp;layId=10"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education.nsw.gov.au/teaching-and-learning/curriculum/mathematics/mathematics-curriculum-resources-k-12/mathematics-k-6-resources/mathematics-stage-2-year-a-unit-11"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74.xml"/><Relationship Id="rId1" Type="http://schemas.openxmlformats.org/officeDocument/2006/relationships/slideLayout" Target="../slideLayouts/slideLayout13.xml"/><Relationship Id="rId6" Type="http://schemas.openxmlformats.org/officeDocument/2006/relationships/hyperlink" Target="https://nrich.maths.org/content/id/13271/Roman%20Numerals%20printable%20sheet.pdf"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3 Year B Unit 21.</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dirty="0">
                <a:latin typeface="+mj-lt"/>
              </a:rPr>
              <a:t>Mathematics Stage 3 – Unit 21</a:t>
            </a:r>
          </a:p>
        </p:txBody>
      </p:sp>
      <p:pic>
        <p:nvPicPr>
          <p:cNvPr id="5" name="Picture Placeholder 4" descr="A row of dice on a blue background&#10;&#10;AI-generated content may be incorrect.">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Group 5">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1</a:t>
              </a:r>
              <a:endParaRPr lang="en-AU" dirty="0">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2</a:t>
              </a:r>
              <a:endParaRPr lang="en-AU" dirty="0">
                <a:solidFill>
                  <a:schemeClr val="accent1"/>
                </a:solidFill>
                <a:latin typeface="+mj-lt"/>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3</a:t>
              </a:r>
              <a:endParaRPr lang="en-AU" dirty="0">
                <a:solidFill>
                  <a:schemeClr val="accent1"/>
                </a:solidFill>
                <a:latin typeface="+mj-lt"/>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4</a:t>
              </a:r>
              <a:endParaRPr lang="en-AU" dirty="0">
                <a:solidFill>
                  <a:schemeClr val="accent1"/>
                </a:solidFill>
                <a:latin typeface="+mj-lt"/>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6</a:t>
              </a:r>
              <a:endParaRPr lang="en-AU" dirty="0">
                <a:solidFill>
                  <a:schemeClr val="accent1"/>
                </a:solidFill>
                <a:latin typeface="+mj-lt"/>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7</a:t>
              </a:r>
              <a:endParaRPr lang="en-AU" dirty="0">
                <a:solidFill>
                  <a:schemeClr val="accent1"/>
                </a:solidFill>
                <a:latin typeface="+mj-lt"/>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8</a:t>
              </a:r>
              <a:endParaRPr lang="en-AU" dirty="0">
                <a:solidFill>
                  <a:schemeClr val="accent1"/>
                </a:solidFill>
                <a:latin typeface="+mj-lt"/>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5</a:t>
              </a:r>
              <a:endParaRPr lang="en-AU" dirty="0">
                <a:solidFill>
                  <a:schemeClr val="accent1"/>
                </a:solidFill>
                <a:latin typeface="+mj-lt"/>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152415"/>
            <a:ext cx="11243037" cy="893226"/>
          </a:xfrm>
        </p:spPr>
        <p:txBody>
          <a:bodyPr/>
          <a:lstStyle/>
          <a:p>
            <a:pPr algn="ctr"/>
            <a:r>
              <a:rPr lang="en-US" sz="4400" dirty="0"/>
              <a:t>Which </a:t>
            </a:r>
            <a:r>
              <a:rPr lang="en-US" sz="4400" b="1" dirty="0"/>
              <a:t>decimal number </a:t>
            </a:r>
            <a:r>
              <a:rPr lang="en-US" sz="4400" dirty="0"/>
              <a:t>has </a:t>
            </a:r>
          </a:p>
          <a:p>
            <a:pPr algn="ctr"/>
            <a:r>
              <a:rPr lang="en-US" sz="4400" dirty="0"/>
              <a:t>the </a:t>
            </a:r>
            <a:r>
              <a:rPr lang="en-US" sz="4400" b="1" dirty="0"/>
              <a:t>smallest value</a:t>
            </a:r>
            <a:r>
              <a:rPr lang="en-US" sz="4400" dirty="0"/>
              <a:t>? </a:t>
            </a:r>
          </a:p>
          <a:p>
            <a:pPr algn="ctr"/>
            <a:r>
              <a:rPr lang="en-US" sz="4400" dirty="0"/>
              <a:t>Explain your </a:t>
            </a:r>
            <a:r>
              <a:rPr lang="en-US" sz="4400" b="1" dirty="0"/>
              <a:t>reasoning</a:t>
            </a:r>
            <a:r>
              <a:rPr lang="en-US" sz="4400" dirty="0"/>
              <a:t>.</a:t>
            </a:r>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17">
            <a:extLst>
              <a:ext uri="{FF2B5EF4-FFF2-40B4-BE49-F238E27FC236}">
                <a16:creationId xmlns:a16="http://schemas.microsoft.com/office/drawing/2014/main" id="{A940959A-97C4-61B8-C624-C204FDBCB56B}"/>
              </a:ext>
            </a:extLst>
          </p:cNvPr>
          <p:cNvSpPr txBox="1">
            <a:spLocks/>
          </p:cNvSpPr>
          <p:nvPr/>
        </p:nvSpPr>
        <p:spPr>
          <a:xfrm>
            <a:off x="948964" y="4455816"/>
            <a:ext cx="10654074"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0.5		      0.125		   0.25            0.49</a:t>
            </a:r>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1E60C82-48A3-DA0D-6D11-2E89E70D927D}"/>
              </a:ext>
            </a:extLst>
          </p:cNvPr>
          <p:cNvSpPr txBox="1"/>
          <p:nvPr/>
        </p:nvSpPr>
        <p:spPr>
          <a:xfrm>
            <a:off x="1222917" y="3044279"/>
            <a:ext cx="9746166" cy="769441"/>
          </a:xfrm>
          <a:prstGeom prst="rect">
            <a:avLst/>
          </a:prstGeom>
          <a:noFill/>
        </p:spPr>
        <p:txBody>
          <a:bodyPr wrap="square">
            <a:spAutoFit/>
          </a:bodyPr>
          <a:lstStyle/>
          <a:p>
            <a:r>
              <a:rPr lang="en-AU" sz="4400" dirty="0"/>
              <a:t>Write the number </a:t>
            </a:r>
            <a:r>
              <a:rPr lang="en-AU" sz="4400" b="1" dirty="0"/>
              <a:t>3 198 342 </a:t>
            </a:r>
            <a:r>
              <a:rPr lang="en-AU" sz="4400" dirty="0"/>
              <a:t>in words.</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a:t>
            </a:r>
            <a:r>
              <a:rPr lang="en-AU" dirty="0">
                <a:solidFill>
                  <a:schemeClr val="bg1"/>
                </a:solidFill>
              </a:rPr>
              <a:t> (2)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A number line ranging from negative nine on the left to positive nine on the right, with all integers marked and a double-arrow line above the markers indicating the direction of progression from left to right.">
            <a:extLst>
              <a:ext uri="{FF2B5EF4-FFF2-40B4-BE49-F238E27FC236}">
                <a16:creationId xmlns:a16="http://schemas.microsoft.com/office/drawing/2014/main" id="{9B830460-8CE6-5CAB-5D75-C66039FE76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379" y="3932044"/>
            <a:ext cx="11375241" cy="1338209"/>
          </a:xfrm>
          <a:prstGeom prst="rect">
            <a:avLst/>
          </a:prstGeom>
          <a:ln>
            <a:noFill/>
          </a:ln>
          <a:effectLst>
            <a:outerShdw blurRad="292100" dist="139700" dir="2700000" algn="tl" rotWithShape="0">
              <a:srgbClr val="333333">
                <a:alpha val="65000"/>
              </a:srgbClr>
            </a:outerShdw>
          </a:effectLst>
        </p:spPr>
      </p:pic>
      <p:sp>
        <p:nvSpPr>
          <p:cNvPr id="7" name="Text Placeholder 17">
            <a:extLst>
              <a:ext uri="{FF2B5EF4-FFF2-40B4-BE49-F238E27FC236}">
                <a16:creationId xmlns:a16="http://schemas.microsoft.com/office/drawing/2014/main" id="{81DE25C6-DE74-FDD7-9D5E-1D4C3C4693C3}"/>
              </a:ext>
            </a:extLst>
          </p:cNvPr>
          <p:cNvSpPr txBox="1">
            <a:spLocks/>
          </p:cNvSpPr>
          <p:nvPr/>
        </p:nvSpPr>
        <p:spPr>
          <a:xfrm>
            <a:off x="578501" y="1058001"/>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Use the </a:t>
            </a:r>
            <a:r>
              <a:rPr lang="en-US" sz="4400" b="1" dirty="0"/>
              <a:t>number line </a:t>
            </a:r>
            <a:r>
              <a:rPr lang="en-US" sz="4400" dirty="0"/>
              <a:t>to solve </a:t>
            </a:r>
          </a:p>
          <a:p>
            <a:pPr algn="ctr"/>
            <a:r>
              <a:rPr lang="en-US" sz="4400" b="1" dirty="0"/>
              <a:t>4 - 5 =</a:t>
            </a:r>
            <a:r>
              <a:rPr lang="en-US" sz="4400" dirty="0"/>
              <a:t>  </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7777D646-33DE-016B-FCF7-5D16CEB89F21}"/>
              </a:ext>
            </a:extLst>
          </p:cNvPr>
          <p:cNvSpPr txBox="1">
            <a:spLocks/>
          </p:cNvSpPr>
          <p:nvPr/>
        </p:nvSpPr>
        <p:spPr>
          <a:xfrm>
            <a:off x="600963" y="326650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Identify the </a:t>
            </a:r>
            <a:r>
              <a:rPr lang="en-US" sz="4400" b="1" dirty="0"/>
              <a:t>type of triangle</a:t>
            </a:r>
            <a:r>
              <a:rPr lang="en-US" sz="4400" dirty="0"/>
              <a:t>. </a:t>
            </a:r>
          </a:p>
          <a:p>
            <a:pPr algn="ctr"/>
            <a:r>
              <a:rPr lang="en-US" sz="4400" b="1" dirty="0"/>
              <a:t>Explain</a:t>
            </a:r>
            <a:r>
              <a:rPr lang="en-US" sz="4400" dirty="0"/>
              <a:t> your </a:t>
            </a:r>
            <a:r>
              <a:rPr lang="en-US" sz="4400" b="1" dirty="0"/>
              <a:t>reasoning. </a:t>
            </a:r>
          </a:p>
        </p:txBody>
      </p:sp>
      <p:sp>
        <p:nvSpPr>
          <p:cNvPr id="5" name="Right Triangle 4" descr="A triangle that is both a right angled triangle and a scalene triangle.">
            <a:extLst>
              <a:ext uri="{FF2B5EF4-FFF2-40B4-BE49-F238E27FC236}">
                <a16:creationId xmlns:a16="http://schemas.microsoft.com/office/drawing/2014/main" id="{99400E73-DB6C-B37E-9EC6-99BE4F03085B}"/>
              </a:ext>
            </a:extLst>
          </p:cNvPr>
          <p:cNvSpPr/>
          <p:nvPr/>
        </p:nvSpPr>
        <p:spPr>
          <a:xfrm flipH="1">
            <a:off x="3621844" y="1367027"/>
            <a:ext cx="3843580" cy="1716678"/>
          </a:xfrm>
          <a:prstGeom prst="rtTriangle">
            <a:avLst/>
          </a:prstGeom>
          <a:solidFill>
            <a:schemeClr val="accent4"/>
          </a:solidFill>
          <a:ln w="28575">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B80EC570-FAE4-9AAB-B151-4E83877AACFB}"/>
              </a:ext>
            </a:extLst>
          </p:cNvPr>
          <p:cNvSpPr txBox="1">
            <a:spLocks/>
          </p:cNvSpPr>
          <p:nvPr/>
        </p:nvSpPr>
        <p:spPr>
          <a:xfrm>
            <a:off x="600963" y="905601"/>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dirty="0"/>
              <a:t>Record the </a:t>
            </a:r>
            <a:r>
              <a:rPr lang="en-US" sz="4000" b="1" dirty="0"/>
              <a:t>points</a:t>
            </a:r>
            <a:r>
              <a:rPr lang="en-US" sz="4000" dirty="0"/>
              <a:t> for the </a:t>
            </a:r>
            <a:r>
              <a:rPr lang="en-US" sz="4000" b="1" dirty="0"/>
              <a:t>letters</a:t>
            </a:r>
            <a:r>
              <a:rPr lang="en-US" sz="4000" dirty="0"/>
              <a:t> on </a:t>
            </a:r>
            <a:br>
              <a:rPr lang="en-US" sz="4000" dirty="0"/>
            </a:br>
            <a:r>
              <a:rPr lang="en-US" sz="4000" dirty="0"/>
              <a:t>the </a:t>
            </a:r>
            <a:r>
              <a:rPr lang="en-US" sz="4000" b="1" dirty="0"/>
              <a:t>Cartesian plane</a:t>
            </a:r>
            <a:r>
              <a:rPr lang="en-US" sz="4000" dirty="0"/>
              <a:t>. </a:t>
            </a:r>
          </a:p>
        </p:txBody>
      </p:sp>
      <p:grpSp>
        <p:nvGrpSpPr>
          <p:cNvPr id="24" name="Group 23" descr="A Cartesian plane showing all four quadrants from -6 to 6. The positions marked for letters are: A (4, 4) and B (5, 0).">
            <a:extLst>
              <a:ext uri="{FF2B5EF4-FFF2-40B4-BE49-F238E27FC236}">
                <a16:creationId xmlns:a16="http://schemas.microsoft.com/office/drawing/2014/main" id="{93BDFE11-41CC-6283-3B1C-3FAC7C551E13}"/>
              </a:ext>
            </a:extLst>
          </p:cNvPr>
          <p:cNvGrpSpPr/>
          <p:nvPr/>
        </p:nvGrpSpPr>
        <p:grpSpPr>
          <a:xfrm>
            <a:off x="3335125" y="2673053"/>
            <a:ext cx="5577644" cy="3958560"/>
            <a:chOff x="3335125" y="2673053"/>
            <a:chExt cx="5577644" cy="3958560"/>
          </a:xfrm>
        </p:grpSpPr>
        <p:pic>
          <p:nvPicPr>
            <p:cNvPr id="11" name="Picture 10" descr="A Cartesian plane showing all four quadrants from -6 to 6. The positions marked for letters are: A (4, 4) and B (5, 0).">
              <a:extLst>
                <a:ext uri="{FF2B5EF4-FFF2-40B4-BE49-F238E27FC236}">
                  <a16:creationId xmlns:a16="http://schemas.microsoft.com/office/drawing/2014/main" id="{F336D818-3601-4509-39E7-364633E191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5125" y="2673053"/>
              <a:ext cx="5080453" cy="3958560"/>
            </a:xfrm>
            <a:prstGeom prst="rect">
              <a:avLst/>
            </a:prstGeom>
          </p:spPr>
        </p:pic>
        <p:grpSp>
          <p:nvGrpSpPr>
            <p:cNvPr id="23" name="Group 22">
              <a:extLst>
                <a:ext uri="{FF2B5EF4-FFF2-40B4-BE49-F238E27FC236}">
                  <a16:creationId xmlns:a16="http://schemas.microsoft.com/office/drawing/2014/main" id="{315F6B04-B9C2-ACBD-216C-488C6E292246}"/>
                </a:ext>
              </a:extLst>
            </p:cNvPr>
            <p:cNvGrpSpPr/>
            <p:nvPr/>
          </p:nvGrpSpPr>
          <p:grpSpPr>
            <a:xfrm>
              <a:off x="7214586" y="3273721"/>
              <a:ext cx="1698183" cy="1609443"/>
              <a:chOff x="7214586" y="3273721"/>
              <a:chExt cx="1698183" cy="1609443"/>
            </a:xfrm>
          </p:grpSpPr>
          <p:sp>
            <p:nvSpPr>
              <p:cNvPr id="17" name="Oval 16">
                <a:extLst>
                  <a:ext uri="{FF2B5EF4-FFF2-40B4-BE49-F238E27FC236}">
                    <a16:creationId xmlns:a16="http://schemas.microsoft.com/office/drawing/2014/main" id="{62C0FE97-960B-8FA9-F424-3929814BE414}"/>
                  </a:ext>
                </a:extLst>
              </p:cNvPr>
              <p:cNvSpPr/>
              <p:nvPr/>
            </p:nvSpPr>
            <p:spPr>
              <a:xfrm>
                <a:off x="7214586" y="3429000"/>
                <a:ext cx="150921" cy="151109"/>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28DCC2C2-A2E1-1917-19D1-AABC9CB18351}"/>
                  </a:ext>
                </a:extLst>
              </p:cNvPr>
              <p:cNvSpPr/>
              <p:nvPr/>
            </p:nvSpPr>
            <p:spPr>
              <a:xfrm>
                <a:off x="7498918" y="4576778"/>
                <a:ext cx="150921" cy="151109"/>
              </a:xfrm>
              <a:prstGeom prst="ellips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CECEA461-8BB6-BD8B-A855-1A1902805F9F}"/>
                  </a:ext>
                </a:extLst>
              </p:cNvPr>
              <p:cNvSpPr txBox="1"/>
              <p:nvPr/>
            </p:nvSpPr>
            <p:spPr>
              <a:xfrm>
                <a:off x="7957722" y="3273721"/>
                <a:ext cx="782344" cy="461665"/>
              </a:xfrm>
              <a:prstGeom prst="rect">
                <a:avLst/>
              </a:prstGeom>
              <a:noFill/>
            </p:spPr>
            <p:txBody>
              <a:bodyPr wrap="square">
                <a:spAutoFit/>
              </a:bodyPr>
              <a:lstStyle/>
              <a:p>
                <a:r>
                  <a:rPr lang="en-US" sz="2400" b="1" dirty="0"/>
                  <a:t>A =</a:t>
                </a:r>
                <a:endParaRPr lang="en-AU" dirty="0"/>
              </a:p>
            </p:txBody>
          </p:sp>
          <p:sp>
            <p:nvSpPr>
              <p:cNvPr id="21" name="TextBox 20">
                <a:extLst>
                  <a:ext uri="{FF2B5EF4-FFF2-40B4-BE49-F238E27FC236}">
                    <a16:creationId xmlns:a16="http://schemas.microsoft.com/office/drawing/2014/main" id="{7008F8D1-9CFB-7BAC-16E8-E15C76F9F5D0}"/>
                  </a:ext>
                </a:extLst>
              </p:cNvPr>
              <p:cNvSpPr txBox="1"/>
              <p:nvPr/>
            </p:nvSpPr>
            <p:spPr>
              <a:xfrm>
                <a:off x="8242875" y="4421499"/>
                <a:ext cx="669894" cy="461665"/>
              </a:xfrm>
              <a:prstGeom prst="rect">
                <a:avLst/>
              </a:prstGeom>
              <a:noFill/>
            </p:spPr>
            <p:txBody>
              <a:bodyPr wrap="square">
                <a:spAutoFit/>
              </a:bodyPr>
              <a:lstStyle/>
              <a:p>
                <a:r>
                  <a:rPr lang="en-US" b="1" dirty="0"/>
                  <a:t>B =</a:t>
                </a:r>
                <a:endParaRPr lang="en-AU" dirty="0"/>
              </a:p>
            </p:txBody>
          </p:sp>
        </p:grpSp>
      </p:gr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dirty="0"/>
              <a:t>Activity 1 – comparing decimals (1)</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5">
            <a:extLst>
              <a:ext uri="{FF2B5EF4-FFF2-40B4-BE49-F238E27FC236}">
                <a16:creationId xmlns:a16="http://schemas.microsoft.com/office/drawing/2014/main" id="{86454F6A-8C1B-3C2F-F913-A29489B22172}"/>
              </a:ext>
            </a:extLst>
          </p:cNvPr>
          <p:cNvSpPr txBox="1"/>
          <p:nvPr/>
        </p:nvSpPr>
        <p:spPr>
          <a:xfrm>
            <a:off x="1645920" y="2401515"/>
            <a:ext cx="8485632" cy="236077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4480"/>
              </a:lnSpc>
            </a:pPr>
            <a:r>
              <a:rPr lang="en-US" sz="6000" dirty="0">
                <a:solidFill>
                  <a:srgbClr val="000000"/>
                </a:solidFill>
                <a:ea typeface="Canva Student Font"/>
                <a:cs typeface="Canva Student Font"/>
                <a:sym typeface="Canva Student Font"/>
              </a:rPr>
              <a:t>decimals </a:t>
            </a:r>
            <a:endParaRPr lang="en-US" sz="6000" dirty="0">
              <a:solidFill>
                <a:srgbClr val="000000"/>
              </a:solidFill>
              <a:ea typeface="Canva Student Font"/>
              <a:cs typeface="Canva Student Font"/>
            </a:endParaRPr>
          </a:p>
          <a:p>
            <a:pPr algn="ctr">
              <a:lnSpc>
                <a:spcPts val="4480"/>
              </a:lnSpc>
            </a:pPr>
            <a:endParaRPr lang="en-US" sz="6000" dirty="0">
              <a:solidFill>
                <a:srgbClr val="000000"/>
              </a:solidFill>
              <a:ea typeface="Canva Student Font"/>
              <a:cs typeface="Canva Student Font"/>
            </a:endParaRPr>
          </a:p>
          <a:p>
            <a:pPr algn="ctr">
              <a:lnSpc>
                <a:spcPts val="4480"/>
              </a:lnSpc>
            </a:pPr>
            <a:endParaRPr lang="en-US" sz="6000" dirty="0">
              <a:solidFill>
                <a:srgbClr val="000000"/>
              </a:solidFill>
              <a:ea typeface="Canva Student Font"/>
              <a:cs typeface="Canva Student Font"/>
            </a:endParaRPr>
          </a:p>
          <a:p>
            <a:pPr algn="ctr">
              <a:lnSpc>
                <a:spcPts val="4480"/>
              </a:lnSpc>
            </a:pPr>
            <a:r>
              <a:rPr lang="en-US" sz="6600" dirty="0">
                <a:solidFill>
                  <a:srgbClr val="000000"/>
                </a:solidFill>
                <a:ea typeface="Canva Student Font"/>
                <a:cs typeface="Canva Student Font"/>
                <a:sym typeface="Canva Student Font"/>
              </a:rPr>
              <a:t>0.355 		0.35</a:t>
            </a:r>
            <a:endParaRPr lang="en-US" sz="6600" dirty="0">
              <a:solidFill>
                <a:srgbClr val="000000"/>
              </a:solidFill>
              <a:ea typeface="Canva Student Font"/>
              <a:cs typeface="Canva Student Font"/>
            </a:endParaRPr>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38863-5C4D-36D3-B15E-296E598DC0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C867FD6-5D34-8D1A-2E23-116E6D6A723C}"/>
              </a:ext>
            </a:extLst>
          </p:cNvPr>
          <p:cNvSpPr>
            <a:spLocks noGrp="1"/>
          </p:cNvSpPr>
          <p:nvPr>
            <p:ph type="title"/>
          </p:nvPr>
        </p:nvSpPr>
        <p:spPr>
          <a:xfrm>
            <a:off x="360000" y="360000"/>
            <a:ext cx="10367268" cy="545601"/>
          </a:xfrm>
        </p:spPr>
        <p:txBody>
          <a:bodyPr/>
          <a:lstStyle/>
          <a:p>
            <a:r>
              <a:rPr lang="en-AU" dirty="0"/>
              <a:t>Activity 1 – comparing decimals (2)</a:t>
            </a:r>
          </a:p>
        </p:txBody>
      </p:sp>
      <p:sp>
        <p:nvSpPr>
          <p:cNvPr id="2" name="Slide Number Placeholder 1">
            <a:extLst>
              <a:ext uri="{FF2B5EF4-FFF2-40B4-BE49-F238E27FC236}">
                <a16:creationId xmlns:a16="http://schemas.microsoft.com/office/drawing/2014/main" id="{689E734D-7E25-ED3B-D406-E772474B712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pic>
        <p:nvPicPr>
          <p:cNvPr id="4" name="Picture 3" descr="image of a head with cogs turning inside">
            <a:extLst>
              <a:ext uri="{FF2B5EF4-FFF2-40B4-BE49-F238E27FC236}">
                <a16:creationId xmlns:a16="http://schemas.microsoft.com/office/drawing/2014/main" id="{4B53677A-E4B9-F736-7C08-D05391EBA9FA}"/>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CE477CBA-9C8D-EAD2-D0AD-E5098A2FA60E}"/>
              </a:ext>
            </a:extLst>
          </p:cNvPr>
          <p:cNvSpPr txBox="1"/>
          <p:nvPr/>
        </p:nvSpPr>
        <p:spPr>
          <a:xfrm>
            <a:off x="679268" y="1224242"/>
            <a:ext cx="10444731" cy="669414"/>
          </a:xfrm>
          <a:prstGeom prst="rect">
            <a:avLst/>
          </a:prstGeom>
          <a:noFill/>
        </p:spPr>
        <p:txBody>
          <a:bodyPr wrap="square">
            <a:spAutoFit/>
          </a:bodyPr>
          <a:lstStyle/>
          <a:p>
            <a:pPr algn="ctr">
              <a:lnSpc>
                <a:spcPts val="4480"/>
              </a:lnSpc>
            </a:pPr>
            <a:r>
              <a:rPr lang="en-US" sz="4400" dirty="0">
                <a:solidFill>
                  <a:srgbClr val="000000"/>
                </a:solidFill>
                <a:ea typeface="Canva Student Font"/>
                <a:cs typeface="Canva Student Font"/>
                <a:sym typeface="Canva Student Font"/>
              </a:rPr>
              <a:t>Circle the </a:t>
            </a:r>
            <a:r>
              <a:rPr lang="en-US" sz="4400" b="1" dirty="0">
                <a:solidFill>
                  <a:srgbClr val="000000"/>
                </a:solidFill>
                <a:ea typeface="Canva Student Font"/>
                <a:cs typeface="Canva Student Font"/>
                <a:sym typeface="Canva Student Font"/>
              </a:rPr>
              <a:t>largest</a:t>
            </a:r>
            <a:r>
              <a:rPr lang="en-US" sz="4400" dirty="0">
                <a:solidFill>
                  <a:srgbClr val="000000"/>
                </a:solidFill>
                <a:ea typeface="Canva Student Font"/>
                <a:cs typeface="Canva Student Font"/>
                <a:sym typeface="Canva Student Font"/>
              </a:rPr>
              <a:t> number in each pair.</a:t>
            </a:r>
          </a:p>
        </p:txBody>
      </p:sp>
      <p:pic>
        <p:nvPicPr>
          <p:cNvPr id="8" name="table" descr="There are 10 pairs of decimal numbers arranged in two columns of 5. Students circle the largest number in each pair. ">
            <a:extLst>
              <a:ext uri="{FF2B5EF4-FFF2-40B4-BE49-F238E27FC236}">
                <a16:creationId xmlns:a16="http://schemas.microsoft.com/office/drawing/2014/main" id="{57FB2289-6046-464B-8DF1-FABD0A3968FC}"/>
              </a:ext>
            </a:extLst>
          </p:cNvPr>
          <p:cNvPicPr>
            <a:picLocks noChangeAspect="1"/>
          </p:cNvPicPr>
          <p:nvPr/>
        </p:nvPicPr>
        <p:blipFill>
          <a:blip r:embed="rId4"/>
          <a:stretch>
            <a:fillRect/>
          </a:stretch>
        </p:blipFill>
        <p:spPr>
          <a:xfrm>
            <a:off x="1369761" y="2134027"/>
            <a:ext cx="4205810" cy="4057650"/>
          </a:xfrm>
          <a:prstGeom prst="rect">
            <a:avLst/>
          </a:prstGeom>
        </p:spPr>
      </p:pic>
      <p:pic>
        <p:nvPicPr>
          <p:cNvPr id="9" name="table" descr="There are 10 pairs of decimal numbers arranged in two columns of 5. Students circle the largest number in each pair. ">
            <a:extLst>
              <a:ext uri="{FF2B5EF4-FFF2-40B4-BE49-F238E27FC236}">
                <a16:creationId xmlns:a16="http://schemas.microsoft.com/office/drawing/2014/main" id="{12ADAD42-8B86-6B94-D328-6661F9157CE6}"/>
              </a:ext>
            </a:extLst>
          </p:cNvPr>
          <p:cNvPicPr>
            <a:picLocks noChangeAspect="1"/>
          </p:cNvPicPr>
          <p:nvPr/>
        </p:nvPicPr>
        <p:blipFill>
          <a:blip r:embed="rId5"/>
          <a:stretch>
            <a:fillRect/>
          </a:stretch>
        </p:blipFill>
        <p:spPr>
          <a:xfrm>
            <a:off x="6616431" y="2134027"/>
            <a:ext cx="4205810" cy="4057650"/>
          </a:xfrm>
          <a:prstGeom prst="rect">
            <a:avLst/>
          </a:prstGeom>
        </p:spPr>
      </p:pic>
    </p:spTree>
    <p:extLst>
      <p:ext uri="{BB962C8B-B14F-4D97-AF65-F5344CB8AC3E}">
        <p14:creationId xmlns:p14="http://schemas.microsoft.com/office/powerpoint/2010/main" val="1768732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2493524"/>
            <a:ext cx="11243037" cy="893226"/>
          </a:xfrm>
        </p:spPr>
        <p:txBody>
          <a:bodyPr/>
          <a:lstStyle/>
          <a:p>
            <a:pPr algn="ctr"/>
            <a:r>
              <a:rPr lang="en-AU" sz="4400" b="1" dirty="0"/>
              <a:t>0.270</a:t>
            </a:r>
            <a:r>
              <a:rPr lang="en-AU" sz="4400" dirty="0"/>
              <a:t> has the </a:t>
            </a:r>
            <a:r>
              <a:rPr lang="en-AU" sz="4400" b="1" dirty="0"/>
              <a:t>same value </a:t>
            </a:r>
            <a:r>
              <a:rPr lang="en-AU" sz="4400" dirty="0"/>
              <a:t>as </a:t>
            </a:r>
            <a:r>
              <a:rPr lang="en-AU" sz="4400" b="1" dirty="0"/>
              <a:t>0.27</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253932C-CA5C-82EE-C075-3A46123F8CE7}"/>
              </a:ext>
            </a:extLst>
          </p:cNvPr>
          <p:cNvSpPr txBox="1"/>
          <p:nvPr/>
        </p:nvSpPr>
        <p:spPr>
          <a:xfrm>
            <a:off x="763310" y="886666"/>
            <a:ext cx="10115562" cy="8092152"/>
          </a:xfrm>
          <a:prstGeom prst="rect">
            <a:avLst/>
          </a:prstGeom>
          <a:noFill/>
        </p:spPr>
        <p:txBody>
          <a:bodyPr wrap="square">
            <a:spAutoFit/>
          </a:bodyPr>
          <a:lstStyle/>
          <a:p>
            <a:pPr algn="ctr">
              <a:lnSpc>
                <a:spcPct val="150000"/>
              </a:lnSpc>
            </a:pPr>
            <a:r>
              <a:rPr lang="en-AU" sz="4400" b="1" dirty="0"/>
              <a:t>Record </a:t>
            </a:r>
            <a:r>
              <a:rPr lang="en-AU" sz="4400" dirty="0"/>
              <a:t>the following numbers in </a:t>
            </a:r>
            <a:r>
              <a:rPr lang="en-AU" sz="4400" b="1" dirty="0"/>
              <a:t>ascending</a:t>
            </a:r>
            <a:r>
              <a:rPr lang="en-AU" sz="4400" dirty="0"/>
              <a:t> order:</a:t>
            </a:r>
          </a:p>
          <a:p>
            <a:pPr algn="ctr">
              <a:lnSpc>
                <a:spcPct val="150000"/>
              </a:lnSpc>
            </a:pPr>
            <a:r>
              <a:rPr lang="en-AU" sz="4400" dirty="0"/>
              <a:t>1 045 054</a:t>
            </a:r>
          </a:p>
          <a:p>
            <a:pPr algn="ctr">
              <a:lnSpc>
                <a:spcPct val="150000"/>
              </a:lnSpc>
            </a:pPr>
            <a:r>
              <a:rPr lang="en-AU" sz="4400" dirty="0"/>
              <a:t>1 010 698</a:t>
            </a:r>
          </a:p>
          <a:p>
            <a:pPr algn="ctr">
              <a:lnSpc>
                <a:spcPct val="150000"/>
              </a:lnSpc>
            </a:pPr>
            <a:r>
              <a:rPr lang="en-AU" sz="4400" dirty="0"/>
              <a:t>1 909 987</a:t>
            </a:r>
          </a:p>
          <a:p>
            <a:pPr algn="ctr">
              <a:lnSpc>
                <a:spcPct val="150000"/>
              </a:lnSpc>
            </a:pPr>
            <a:r>
              <a:rPr lang="en-AU" sz="4400" dirty="0"/>
              <a:t>1 949 888</a:t>
            </a:r>
          </a:p>
          <a:p>
            <a:pPr algn="ctr">
              <a:lnSpc>
                <a:spcPct val="150000"/>
              </a:lnSpc>
            </a:pPr>
            <a:endParaRPr lang="en-AU" sz="4400" b="1" dirty="0"/>
          </a:p>
          <a:p>
            <a:pPr algn="ctr">
              <a:lnSpc>
                <a:spcPct val="150000"/>
              </a:lnSpc>
            </a:pPr>
            <a:endParaRPr lang="en-AU" sz="4400" dirty="0"/>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A number line ranging from negative nine on the left to positive nine on the right, with all integers marked and a double-arrow line above the markers indicating the direction of progression from left to right.">
            <a:extLst>
              <a:ext uri="{FF2B5EF4-FFF2-40B4-BE49-F238E27FC236}">
                <a16:creationId xmlns:a16="http://schemas.microsoft.com/office/drawing/2014/main" id="{F331E6AC-572A-1D3D-69C0-5FB09DD6E6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000" y="4411547"/>
            <a:ext cx="11375241" cy="1338209"/>
          </a:xfrm>
          <a:prstGeom prst="rect">
            <a:avLst/>
          </a:prstGeom>
          <a:ln>
            <a:noFill/>
          </a:ln>
          <a:effectLst>
            <a:outerShdw blurRad="292100" dist="139700" dir="2700000" algn="tl" rotWithShape="0">
              <a:srgbClr val="333333">
                <a:alpha val="65000"/>
              </a:srgbClr>
            </a:outerShdw>
          </a:effectLst>
        </p:spPr>
      </p:pic>
      <p:sp>
        <p:nvSpPr>
          <p:cNvPr id="7" name="Text Placeholder 17">
            <a:extLst>
              <a:ext uri="{FF2B5EF4-FFF2-40B4-BE49-F238E27FC236}">
                <a16:creationId xmlns:a16="http://schemas.microsoft.com/office/drawing/2014/main" id="{E38D210D-BE05-3BA9-1EE2-88E38D3B5999}"/>
              </a:ext>
            </a:extLst>
          </p:cNvPr>
          <p:cNvSpPr txBox="1">
            <a:spLocks/>
          </p:cNvSpPr>
          <p:nvPr/>
        </p:nvSpPr>
        <p:spPr>
          <a:xfrm>
            <a:off x="426101" y="905601"/>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Liam needs to buy a present for </a:t>
            </a:r>
            <a:r>
              <a:rPr lang="en-US" sz="4400" b="1" dirty="0"/>
              <a:t>$16</a:t>
            </a:r>
            <a:r>
              <a:rPr lang="en-US" sz="4400" dirty="0"/>
              <a:t>. </a:t>
            </a:r>
          </a:p>
          <a:p>
            <a:pPr algn="ctr"/>
            <a:r>
              <a:rPr lang="en-US" sz="4400" dirty="0"/>
              <a:t>He only has </a:t>
            </a:r>
            <a:r>
              <a:rPr lang="en-US" sz="4400" b="1" dirty="0"/>
              <a:t>$7</a:t>
            </a:r>
            <a:r>
              <a:rPr lang="en-US" sz="4400" dirty="0"/>
              <a:t>. Use the </a:t>
            </a:r>
            <a:r>
              <a:rPr lang="en-US" sz="4400" b="1" dirty="0"/>
              <a:t>number line</a:t>
            </a:r>
            <a:r>
              <a:rPr lang="en-US" sz="4400" dirty="0"/>
              <a:t> to find </a:t>
            </a:r>
            <a:r>
              <a:rPr lang="en-US" sz="4400" b="1" dirty="0"/>
              <a:t>how much </a:t>
            </a:r>
            <a:r>
              <a:rPr lang="en-US" sz="4400" dirty="0"/>
              <a:t>he needs to </a:t>
            </a:r>
            <a:r>
              <a:rPr lang="en-US" sz="4400" b="1" dirty="0"/>
              <a:t>borrow</a:t>
            </a:r>
            <a:r>
              <a:rPr lang="en-US" sz="4400" dirty="0"/>
              <a:t>. </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5792F7B-C61A-F483-87CD-C29463A3E30E}"/>
              </a:ext>
            </a:extLst>
          </p:cNvPr>
          <p:cNvSpPr txBox="1"/>
          <p:nvPr/>
        </p:nvSpPr>
        <p:spPr>
          <a:xfrm>
            <a:off x="1341216" y="1547599"/>
            <a:ext cx="9509568" cy="1446550"/>
          </a:xfrm>
          <a:prstGeom prst="rect">
            <a:avLst/>
          </a:prstGeom>
          <a:noFill/>
        </p:spPr>
        <p:txBody>
          <a:bodyPr wrap="square">
            <a:spAutoFit/>
          </a:bodyPr>
          <a:lstStyle/>
          <a:p>
            <a:pPr algn="ctr"/>
            <a:r>
              <a:rPr lang="en-AU" sz="4400" dirty="0"/>
              <a:t>Which </a:t>
            </a:r>
            <a:r>
              <a:rPr lang="en-AU" sz="4400" b="1" dirty="0"/>
              <a:t>polygon</a:t>
            </a:r>
            <a:r>
              <a:rPr lang="en-AU" sz="4400" dirty="0"/>
              <a:t> doesn’t belong?</a:t>
            </a:r>
          </a:p>
          <a:p>
            <a:pPr algn="ctr"/>
            <a:r>
              <a:rPr lang="en-AU" sz="4400" dirty="0"/>
              <a:t>Record your </a:t>
            </a:r>
            <a:r>
              <a:rPr lang="en-AU" sz="4400" b="1" dirty="0"/>
              <a:t>reasoning</a:t>
            </a:r>
            <a:r>
              <a:rPr lang="en-AU" sz="4400" dirty="0"/>
              <a:t>. </a:t>
            </a:r>
          </a:p>
        </p:txBody>
      </p:sp>
      <p:grpSp>
        <p:nvGrpSpPr>
          <p:cNvPr id="20" name="Group 19" descr="4 pentagons labelled A to D. They are all irregular, except for C. ">
            <a:extLst>
              <a:ext uri="{FF2B5EF4-FFF2-40B4-BE49-F238E27FC236}">
                <a16:creationId xmlns:a16="http://schemas.microsoft.com/office/drawing/2014/main" id="{A7D50104-8534-833F-C875-6A363BDD07FC}"/>
              </a:ext>
            </a:extLst>
          </p:cNvPr>
          <p:cNvGrpSpPr/>
          <p:nvPr/>
        </p:nvGrpSpPr>
        <p:grpSpPr>
          <a:xfrm>
            <a:off x="1783768" y="3562204"/>
            <a:ext cx="8757380" cy="1837156"/>
            <a:chOff x="1992995" y="3546706"/>
            <a:chExt cx="8757380" cy="1837156"/>
          </a:xfrm>
        </p:grpSpPr>
        <p:grpSp>
          <p:nvGrpSpPr>
            <p:cNvPr id="15" name="Group 14" descr="4 pentagons. They are all irregular except for the third one. ">
              <a:extLst>
                <a:ext uri="{FF2B5EF4-FFF2-40B4-BE49-F238E27FC236}">
                  <a16:creationId xmlns:a16="http://schemas.microsoft.com/office/drawing/2014/main" id="{9658B210-22DB-3008-4EFB-D5B25E3BB396}"/>
                </a:ext>
              </a:extLst>
            </p:cNvPr>
            <p:cNvGrpSpPr/>
            <p:nvPr/>
          </p:nvGrpSpPr>
          <p:grpSpPr>
            <a:xfrm>
              <a:off x="1992995" y="3546706"/>
              <a:ext cx="8757380" cy="1837156"/>
              <a:chOff x="2534316" y="3956670"/>
              <a:chExt cx="8498882" cy="1837156"/>
            </a:xfrm>
          </p:grpSpPr>
          <p:sp>
            <p:nvSpPr>
              <p:cNvPr id="8" name="Pentagon 7">
                <a:extLst>
                  <a:ext uri="{FF2B5EF4-FFF2-40B4-BE49-F238E27FC236}">
                    <a16:creationId xmlns:a16="http://schemas.microsoft.com/office/drawing/2014/main" id="{E4D25497-9C0F-DA0D-1DF9-CF52E4220C98}"/>
                  </a:ext>
                </a:extLst>
              </p:cNvPr>
              <p:cNvSpPr/>
              <p:nvPr/>
            </p:nvSpPr>
            <p:spPr>
              <a:xfrm>
                <a:off x="7133091" y="4347275"/>
                <a:ext cx="1464591" cy="1446551"/>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Freeform: Shape 8">
                <a:extLst>
                  <a:ext uri="{FF2B5EF4-FFF2-40B4-BE49-F238E27FC236}">
                    <a16:creationId xmlns:a16="http://schemas.microsoft.com/office/drawing/2014/main" id="{4E545497-09D5-E820-008B-AEDBF928DFB7}"/>
                  </a:ext>
                </a:extLst>
              </p:cNvPr>
              <p:cNvSpPr/>
              <p:nvPr/>
            </p:nvSpPr>
            <p:spPr>
              <a:xfrm>
                <a:off x="2534316" y="4347274"/>
                <a:ext cx="1751309" cy="1446551"/>
              </a:xfrm>
              <a:custGeom>
                <a:avLst/>
                <a:gdLst>
                  <a:gd name="connsiteX0" fmla="*/ 573438 w 2541722"/>
                  <a:gd name="connsiteY0" fmla="*/ 0 h 2162013"/>
                  <a:gd name="connsiteX1" fmla="*/ 2076773 w 2541722"/>
                  <a:gd name="connsiteY1" fmla="*/ 0 h 2162013"/>
                  <a:gd name="connsiteX2" fmla="*/ 2541722 w 2541722"/>
                  <a:gd name="connsiteY2" fmla="*/ 836908 h 2162013"/>
                  <a:gd name="connsiteX3" fmla="*/ 1449092 w 2541722"/>
                  <a:gd name="connsiteY3" fmla="*/ 2162013 h 2162013"/>
                  <a:gd name="connsiteX4" fmla="*/ 0 w 2541722"/>
                  <a:gd name="connsiteY4" fmla="*/ 829159 h 2162013"/>
                  <a:gd name="connsiteX5" fmla="*/ 573438 w 2541722"/>
                  <a:gd name="connsiteY5" fmla="*/ 0 h 216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41722" h="2162013">
                    <a:moveTo>
                      <a:pt x="573438" y="0"/>
                    </a:moveTo>
                    <a:lnTo>
                      <a:pt x="2076773" y="0"/>
                    </a:lnTo>
                    <a:lnTo>
                      <a:pt x="2541722" y="836908"/>
                    </a:lnTo>
                    <a:lnTo>
                      <a:pt x="1449092" y="2162013"/>
                    </a:lnTo>
                    <a:lnTo>
                      <a:pt x="0" y="829159"/>
                    </a:lnTo>
                    <a:lnTo>
                      <a:pt x="57343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Freeform: Shape 12">
                <a:extLst>
                  <a:ext uri="{FF2B5EF4-FFF2-40B4-BE49-F238E27FC236}">
                    <a16:creationId xmlns:a16="http://schemas.microsoft.com/office/drawing/2014/main" id="{49D747C6-E5BE-F494-285B-1A7D5AC8B9BB}"/>
                  </a:ext>
                </a:extLst>
              </p:cNvPr>
              <p:cNvSpPr/>
              <p:nvPr/>
            </p:nvSpPr>
            <p:spPr>
              <a:xfrm rot="10060814">
                <a:off x="9060698" y="3956670"/>
                <a:ext cx="1972500" cy="1594395"/>
              </a:xfrm>
              <a:custGeom>
                <a:avLst/>
                <a:gdLst>
                  <a:gd name="connsiteX0" fmla="*/ 0 w 1526583"/>
                  <a:gd name="connsiteY0" fmla="*/ 7749 h 1084882"/>
                  <a:gd name="connsiteX1" fmla="*/ 1526583 w 1526583"/>
                  <a:gd name="connsiteY1" fmla="*/ 0 h 1084882"/>
                  <a:gd name="connsiteX2" fmla="*/ 1108128 w 1526583"/>
                  <a:gd name="connsiteY2" fmla="*/ 1084882 h 1084882"/>
                  <a:gd name="connsiteX3" fmla="*/ 836908 w 1526583"/>
                  <a:gd name="connsiteY3" fmla="*/ 340963 h 1084882"/>
                  <a:gd name="connsiteX4" fmla="*/ 139484 w 1526583"/>
                  <a:gd name="connsiteY4" fmla="*/ 984143 h 1084882"/>
                  <a:gd name="connsiteX5" fmla="*/ 0 w 1526583"/>
                  <a:gd name="connsiteY5" fmla="*/ 7749 h 108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6583" h="1084882">
                    <a:moveTo>
                      <a:pt x="0" y="7749"/>
                    </a:moveTo>
                    <a:lnTo>
                      <a:pt x="1526583" y="0"/>
                    </a:lnTo>
                    <a:lnTo>
                      <a:pt x="1108128" y="1084882"/>
                    </a:lnTo>
                    <a:lnTo>
                      <a:pt x="836908" y="340963"/>
                    </a:lnTo>
                    <a:lnTo>
                      <a:pt x="139484" y="984143"/>
                    </a:lnTo>
                    <a:lnTo>
                      <a:pt x="0" y="7749"/>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Freeform: Shape 13">
                <a:extLst>
                  <a:ext uri="{FF2B5EF4-FFF2-40B4-BE49-F238E27FC236}">
                    <a16:creationId xmlns:a16="http://schemas.microsoft.com/office/drawing/2014/main" id="{B4FEA489-D715-9161-4376-FAE74600E94A}"/>
                  </a:ext>
                </a:extLst>
              </p:cNvPr>
              <p:cNvSpPr/>
              <p:nvPr/>
            </p:nvSpPr>
            <p:spPr>
              <a:xfrm>
                <a:off x="4843221" y="4347275"/>
                <a:ext cx="1898543" cy="1446550"/>
              </a:xfrm>
              <a:custGeom>
                <a:avLst/>
                <a:gdLst>
                  <a:gd name="connsiteX0" fmla="*/ 100739 w 1898543"/>
                  <a:gd name="connsiteY0" fmla="*/ 0 h 2224007"/>
                  <a:gd name="connsiteX1" fmla="*/ 1425844 w 1898543"/>
                  <a:gd name="connsiteY1" fmla="*/ 0 h 2224007"/>
                  <a:gd name="connsiteX2" fmla="*/ 1898543 w 1898543"/>
                  <a:gd name="connsiteY2" fmla="*/ 945397 h 2224007"/>
                  <a:gd name="connsiteX3" fmla="*/ 697424 w 1898543"/>
                  <a:gd name="connsiteY3" fmla="*/ 2224007 h 2224007"/>
                  <a:gd name="connsiteX4" fmla="*/ 0 w 1898543"/>
                  <a:gd name="connsiteY4" fmla="*/ 294468 h 2224007"/>
                  <a:gd name="connsiteX5" fmla="*/ 100739 w 1898543"/>
                  <a:gd name="connsiteY5" fmla="*/ 0 h 222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8543" h="2224007">
                    <a:moveTo>
                      <a:pt x="100739" y="0"/>
                    </a:moveTo>
                    <a:lnTo>
                      <a:pt x="1425844" y="0"/>
                    </a:lnTo>
                    <a:lnTo>
                      <a:pt x="1898543" y="945397"/>
                    </a:lnTo>
                    <a:lnTo>
                      <a:pt x="697424" y="2224007"/>
                    </a:lnTo>
                    <a:lnTo>
                      <a:pt x="0" y="294468"/>
                    </a:lnTo>
                    <a:lnTo>
                      <a:pt x="100739"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6" name="TextBox 15">
              <a:extLst>
                <a:ext uri="{FF2B5EF4-FFF2-40B4-BE49-F238E27FC236}">
                  <a16:creationId xmlns:a16="http://schemas.microsoft.com/office/drawing/2014/main" id="{537559FE-E673-1256-E522-BA8B01980924}"/>
                </a:ext>
              </a:extLst>
            </p:cNvPr>
            <p:cNvSpPr txBox="1"/>
            <p:nvPr/>
          </p:nvSpPr>
          <p:spPr>
            <a:xfrm>
              <a:off x="2726851" y="41078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A</a:t>
              </a:r>
            </a:p>
          </p:txBody>
        </p:sp>
        <p:sp>
          <p:nvSpPr>
            <p:cNvPr id="17" name="TextBox 16">
              <a:extLst>
                <a:ext uri="{FF2B5EF4-FFF2-40B4-BE49-F238E27FC236}">
                  <a16:creationId xmlns:a16="http://schemas.microsoft.com/office/drawing/2014/main" id="{844751D4-8169-BE37-CB09-EFFE4BFB5C7F}"/>
                </a:ext>
              </a:extLst>
            </p:cNvPr>
            <p:cNvSpPr txBox="1"/>
            <p:nvPr/>
          </p:nvSpPr>
          <p:spPr>
            <a:xfrm>
              <a:off x="5107684" y="421779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B</a:t>
              </a:r>
            </a:p>
          </p:txBody>
        </p:sp>
        <p:sp>
          <p:nvSpPr>
            <p:cNvPr id="18" name="TextBox 17">
              <a:extLst>
                <a:ext uri="{FF2B5EF4-FFF2-40B4-BE49-F238E27FC236}">
                  <a16:creationId xmlns:a16="http://schemas.microsoft.com/office/drawing/2014/main" id="{2398766C-FA66-06CC-BD6A-1B97FBF674F6}"/>
                </a:ext>
              </a:extLst>
            </p:cNvPr>
            <p:cNvSpPr txBox="1"/>
            <p:nvPr/>
          </p:nvSpPr>
          <p:spPr>
            <a:xfrm>
              <a:off x="7243625" y="42912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C</a:t>
              </a:r>
            </a:p>
          </p:txBody>
        </p:sp>
        <p:sp>
          <p:nvSpPr>
            <p:cNvPr id="19" name="TextBox 18">
              <a:extLst>
                <a:ext uri="{FF2B5EF4-FFF2-40B4-BE49-F238E27FC236}">
                  <a16:creationId xmlns:a16="http://schemas.microsoft.com/office/drawing/2014/main" id="{D764222E-22EB-432E-5CFA-44323970EC97}"/>
                </a:ext>
              </a:extLst>
            </p:cNvPr>
            <p:cNvSpPr txBox="1"/>
            <p:nvPr/>
          </p:nvSpPr>
          <p:spPr>
            <a:xfrm>
              <a:off x="9200434" y="43609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D</a:t>
              </a:r>
            </a:p>
          </p:txBody>
        </p:sp>
      </p:gr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0" name="Group 9" descr="A hexagon labelled A and an octagon labelled B.">
            <a:extLst>
              <a:ext uri="{FF2B5EF4-FFF2-40B4-BE49-F238E27FC236}">
                <a16:creationId xmlns:a16="http://schemas.microsoft.com/office/drawing/2014/main" id="{6BBF6EB8-90F0-8B43-6A24-6DBEFB655038}"/>
              </a:ext>
            </a:extLst>
          </p:cNvPr>
          <p:cNvGrpSpPr/>
          <p:nvPr/>
        </p:nvGrpSpPr>
        <p:grpSpPr>
          <a:xfrm>
            <a:off x="2940802" y="4476785"/>
            <a:ext cx="6310395" cy="1780503"/>
            <a:chOff x="2781946" y="4328373"/>
            <a:chExt cx="6310395" cy="1780503"/>
          </a:xfrm>
        </p:grpSpPr>
        <p:sp>
          <p:nvSpPr>
            <p:cNvPr id="5" name="Hexagon 4">
              <a:extLst>
                <a:ext uri="{FF2B5EF4-FFF2-40B4-BE49-F238E27FC236}">
                  <a16:creationId xmlns:a16="http://schemas.microsoft.com/office/drawing/2014/main" id="{E650E55E-4B46-B792-D099-C680FA7E0717}"/>
                </a:ext>
              </a:extLst>
            </p:cNvPr>
            <p:cNvSpPr/>
            <p:nvPr/>
          </p:nvSpPr>
          <p:spPr>
            <a:xfrm>
              <a:off x="2781946" y="4334320"/>
              <a:ext cx="2053526" cy="1774556"/>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ctagon 6">
              <a:extLst>
                <a:ext uri="{FF2B5EF4-FFF2-40B4-BE49-F238E27FC236}">
                  <a16:creationId xmlns:a16="http://schemas.microsoft.com/office/drawing/2014/main" id="{D4D4C27C-2920-AE29-F3B1-1A40DB0063C0}"/>
                </a:ext>
              </a:extLst>
            </p:cNvPr>
            <p:cNvSpPr/>
            <p:nvPr/>
          </p:nvSpPr>
          <p:spPr>
            <a:xfrm>
              <a:off x="7410774" y="4328373"/>
              <a:ext cx="1681567" cy="1774556"/>
            </a:xfrm>
            <a:prstGeom prst="oc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F5240E37-4E46-A779-B150-E8B2CABA204C}"/>
                </a:ext>
              </a:extLst>
            </p:cNvPr>
            <p:cNvSpPr txBox="1"/>
            <p:nvPr/>
          </p:nvSpPr>
          <p:spPr>
            <a:xfrm>
              <a:off x="3610254" y="47676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A</a:t>
              </a:r>
            </a:p>
          </p:txBody>
        </p:sp>
        <p:sp>
          <p:nvSpPr>
            <p:cNvPr id="9" name="TextBox 8">
              <a:extLst>
                <a:ext uri="{FF2B5EF4-FFF2-40B4-BE49-F238E27FC236}">
                  <a16:creationId xmlns:a16="http://schemas.microsoft.com/office/drawing/2014/main" id="{622DB243-16DE-EBD4-8D68-DEAEF5234E35}"/>
                </a:ext>
              </a:extLst>
            </p:cNvPr>
            <p:cNvSpPr txBox="1"/>
            <p:nvPr/>
          </p:nvSpPr>
          <p:spPr>
            <a:xfrm>
              <a:off x="8050517" y="47676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B</a:t>
              </a:r>
            </a:p>
          </p:txBody>
        </p:sp>
      </p:grpSp>
      <p:sp>
        <p:nvSpPr>
          <p:cNvPr id="4" name="Text Placeholder 17">
            <a:extLst>
              <a:ext uri="{FF2B5EF4-FFF2-40B4-BE49-F238E27FC236}">
                <a16:creationId xmlns:a16="http://schemas.microsoft.com/office/drawing/2014/main" id="{AA7036CE-1FAD-8D8D-2EE9-52C654FDADD9}"/>
              </a:ext>
            </a:extLst>
          </p:cNvPr>
          <p:cNvSpPr txBox="1">
            <a:spLocks/>
          </p:cNvSpPr>
          <p:nvPr/>
        </p:nvSpPr>
        <p:spPr>
          <a:xfrm>
            <a:off x="600963" y="1114481"/>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Both </a:t>
            </a:r>
            <a:r>
              <a:rPr lang="en-US" sz="4400" b="1" dirty="0"/>
              <a:t>regular polygons </a:t>
            </a:r>
            <a:r>
              <a:rPr lang="en-US" sz="4400" dirty="0"/>
              <a:t>have </a:t>
            </a:r>
            <a:br>
              <a:rPr lang="en-US" sz="4400" dirty="0"/>
            </a:br>
            <a:r>
              <a:rPr lang="en-US" sz="4400" dirty="0"/>
              <a:t>a </a:t>
            </a:r>
            <a:r>
              <a:rPr lang="en-US" sz="4400" b="1" dirty="0"/>
              <a:t>perimeter</a:t>
            </a:r>
            <a:r>
              <a:rPr lang="en-US" sz="4400" dirty="0"/>
              <a:t> of </a:t>
            </a:r>
            <a:r>
              <a:rPr lang="en-US" sz="4400" b="1" dirty="0"/>
              <a:t>24</a:t>
            </a:r>
            <a:r>
              <a:rPr lang="en-US" sz="4400" dirty="0"/>
              <a:t> cm. Find the </a:t>
            </a:r>
            <a:r>
              <a:rPr lang="en-US" sz="4400" b="1" dirty="0"/>
              <a:t>length</a:t>
            </a:r>
            <a:r>
              <a:rPr lang="en-US" sz="4400" dirty="0"/>
              <a:t> of </a:t>
            </a:r>
            <a:r>
              <a:rPr lang="en-US" sz="4400" b="1" dirty="0"/>
              <a:t>one side </a:t>
            </a:r>
            <a:r>
              <a:rPr lang="en-US" sz="4400" dirty="0"/>
              <a:t>for each polygon. </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t>Activity 2 – decimal place value to hundredths (1)</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Image of decimat">
            <a:extLst>
              <a:ext uri="{FF2B5EF4-FFF2-40B4-BE49-F238E27FC236}">
                <a16:creationId xmlns:a16="http://schemas.microsoft.com/office/drawing/2014/main" id="{94425800-3EE6-C743-AA73-2B0777D028CC}"/>
              </a:ext>
            </a:extLst>
          </p:cNvPr>
          <p:cNvGrpSpPr/>
          <p:nvPr/>
        </p:nvGrpSpPr>
        <p:grpSpPr>
          <a:xfrm rot="5400000">
            <a:off x="3140379" y="2298750"/>
            <a:ext cx="5265889" cy="3132611"/>
            <a:chOff x="0" y="21"/>
            <a:chExt cx="7021187" cy="4176952"/>
          </a:xfrm>
        </p:grpSpPr>
        <p:sp>
          <p:nvSpPr>
            <p:cNvPr id="5" name="AutoShape 14">
              <a:extLst>
                <a:ext uri="{FF2B5EF4-FFF2-40B4-BE49-F238E27FC236}">
                  <a16:creationId xmlns:a16="http://schemas.microsoft.com/office/drawing/2014/main" id="{6FCF6558-9102-1CEE-3782-65D849C986C1}"/>
                </a:ext>
              </a:extLst>
            </p:cNvPr>
            <p:cNvSpPr/>
            <p:nvPr/>
          </p:nvSpPr>
          <p:spPr>
            <a:xfrm flipV="1">
              <a:off x="14" y="10026"/>
              <a:ext cx="7021159" cy="10067"/>
            </a:xfrm>
            <a:prstGeom prst="line">
              <a:avLst/>
            </a:prstGeom>
            <a:ln w="20051" cap="flat">
              <a:solidFill>
                <a:srgbClr val="000000"/>
              </a:solidFill>
              <a:prstDash val="solid"/>
              <a:headEnd type="none" w="sm" len="sm"/>
              <a:tailEnd type="none" w="sm" len="sm"/>
            </a:ln>
          </p:spPr>
          <p:txBody>
            <a:bodyPr/>
            <a:lstStyle/>
            <a:p>
              <a:endParaRPr lang="en-AU"/>
            </a:p>
          </p:txBody>
        </p:sp>
        <p:sp>
          <p:nvSpPr>
            <p:cNvPr id="7" name="Freeform 15">
              <a:extLst>
                <a:ext uri="{FF2B5EF4-FFF2-40B4-BE49-F238E27FC236}">
                  <a16:creationId xmlns:a16="http://schemas.microsoft.com/office/drawing/2014/main" id="{95C0D540-721E-DFBE-2DC5-D6D3127A9E51}"/>
                </a:ext>
              </a:extLst>
            </p:cNvPr>
            <p:cNvSpPr/>
            <p:nvPr/>
          </p:nvSpPr>
          <p:spPr>
            <a:xfrm>
              <a:off x="0" y="37165"/>
              <a:ext cx="1263660" cy="2043587"/>
            </a:xfrm>
            <a:custGeom>
              <a:avLst/>
              <a:gdLst/>
              <a:ahLst/>
              <a:cxnLst/>
              <a:rect l="l" t="t" r="r" b="b"/>
              <a:pathLst>
                <a:path w="1263660" h="2043587">
                  <a:moveTo>
                    <a:pt x="0" y="0"/>
                  </a:moveTo>
                  <a:lnTo>
                    <a:pt x="1263660" y="0"/>
                  </a:lnTo>
                  <a:lnTo>
                    <a:pt x="1263660" y="2043587"/>
                  </a:lnTo>
                  <a:lnTo>
                    <a:pt x="0" y="2043587"/>
                  </a:lnTo>
                  <a:lnTo>
                    <a:pt x="0" y="0"/>
                  </a:lnTo>
                  <a:close/>
                </a:path>
              </a:pathLst>
            </a:custGeom>
            <a:blipFill>
              <a:blip r:embed="rId4"/>
              <a:stretch>
                <a:fillRect t="-2751" r="-3855"/>
              </a:stretch>
            </a:blipFill>
          </p:spPr>
          <p:txBody>
            <a:bodyPr/>
            <a:lstStyle/>
            <a:p>
              <a:endParaRPr lang="en-AU"/>
            </a:p>
          </p:txBody>
        </p:sp>
        <p:sp>
          <p:nvSpPr>
            <p:cNvPr id="8" name="AutoShape 16">
              <a:extLst>
                <a:ext uri="{FF2B5EF4-FFF2-40B4-BE49-F238E27FC236}">
                  <a16:creationId xmlns:a16="http://schemas.microsoft.com/office/drawing/2014/main" id="{DE6C82F7-6368-666D-164A-1D436F045414}"/>
                </a:ext>
              </a:extLst>
            </p:cNvPr>
            <p:cNvSpPr/>
            <p:nvPr/>
          </p:nvSpPr>
          <p:spPr>
            <a:xfrm flipV="1">
              <a:off x="14" y="2079169"/>
              <a:ext cx="7021173" cy="10046"/>
            </a:xfrm>
            <a:prstGeom prst="line">
              <a:avLst/>
            </a:prstGeom>
            <a:ln w="20051" cap="flat">
              <a:solidFill>
                <a:srgbClr val="000000"/>
              </a:solidFill>
              <a:prstDash val="solid"/>
              <a:headEnd type="none" w="sm" len="sm"/>
              <a:tailEnd type="none" w="sm" len="sm"/>
            </a:ln>
          </p:spPr>
          <p:txBody>
            <a:bodyPr/>
            <a:lstStyle/>
            <a:p>
              <a:endParaRPr lang="en-AU"/>
            </a:p>
          </p:txBody>
        </p:sp>
        <p:sp>
          <p:nvSpPr>
            <p:cNvPr id="9" name="AutoShape 17">
              <a:extLst>
                <a:ext uri="{FF2B5EF4-FFF2-40B4-BE49-F238E27FC236}">
                  <a16:creationId xmlns:a16="http://schemas.microsoft.com/office/drawing/2014/main" id="{A74E6C1F-C24D-D156-951A-664E007A6750}"/>
                </a:ext>
              </a:extLst>
            </p:cNvPr>
            <p:cNvSpPr/>
            <p:nvPr/>
          </p:nvSpPr>
          <p:spPr>
            <a:xfrm flipV="1">
              <a:off x="14" y="4148312"/>
              <a:ext cx="7021173" cy="10026"/>
            </a:xfrm>
            <a:prstGeom prst="line">
              <a:avLst/>
            </a:prstGeom>
            <a:ln w="20051" cap="flat">
              <a:solidFill>
                <a:srgbClr val="000000"/>
              </a:solidFill>
              <a:prstDash val="solid"/>
              <a:headEnd type="none" w="sm" len="sm"/>
              <a:tailEnd type="none" w="sm" len="sm"/>
            </a:ln>
          </p:spPr>
          <p:txBody>
            <a:bodyPr/>
            <a:lstStyle/>
            <a:p>
              <a:endParaRPr lang="en-AU"/>
            </a:p>
          </p:txBody>
        </p:sp>
        <p:sp>
          <p:nvSpPr>
            <p:cNvPr id="10" name="AutoShape 18">
              <a:extLst>
                <a:ext uri="{FF2B5EF4-FFF2-40B4-BE49-F238E27FC236}">
                  <a16:creationId xmlns:a16="http://schemas.microsoft.com/office/drawing/2014/main" id="{DA30AAF4-0034-EB25-3C79-02BE4B02ADDD}"/>
                </a:ext>
              </a:extLst>
            </p:cNvPr>
            <p:cNvSpPr/>
            <p:nvPr/>
          </p:nvSpPr>
          <p:spPr>
            <a:xfrm flipH="1">
              <a:off x="1263660" y="11629"/>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1" name="AutoShape 19">
              <a:extLst>
                <a:ext uri="{FF2B5EF4-FFF2-40B4-BE49-F238E27FC236}">
                  <a16:creationId xmlns:a16="http://schemas.microsoft.com/office/drawing/2014/main" id="{5A8BADFA-CA58-3676-B384-BAFBC78AF5AD}"/>
                </a:ext>
              </a:extLst>
            </p:cNvPr>
            <p:cNvSpPr/>
            <p:nvPr/>
          </p:nvSpPr>
          <p:spPr>
            <a:xfrm flipH="1">
              <a:off x="2711796" y="21"/>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2" name="AutoShape 20">
              <a:extLst>
                <a:ext uri="{FF2B5EF4-FFF2-40B4-BE49-F238E27FC236}">
                  <a16:creationId xmlns:a16="http://schemas.microsoft.com/office/drawing/2014/main" id="{40C60C74-CF24-4C08-32F0-CEDDFEDA3E19}"/>
                </a:ext>
              </a:extLst>
            </p:cNvPr>
            <p:cNvSpPr/>
            <p:nvPr/>
          </p:nvSpPr>
          <p:spPr>
            <a:xfrm flipH="1">
              <a:off x="4148926" y="10046"/>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3" name="AutoShape 21">
              <a:extLst>
                <a:ext uri="{FF2B5EF4-FFF2-40B4-BE49-F238E27FC236}">
                  <a16:creationId xmlns:a16="http://schemas.microsoft.com/office/drawing/2014/main" id="{0BBE8616-C5FF-93F7-93EE-0124A56A965B}"/>
                </a:ext>
              </a:extLst>
            </p:cNvPr>
            <p:cNvSpPr/>
            <p:nvPr/>
          </p:nvSpPr>
          <p:spPr>
            <a:xfrm flipH="1">
              <a:off x="5542031" y="38728"/>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4" name="AutoShape 22">
              <a:extLst>
                <a:ext uri="{FF2B5EF4-FFF2-40B4-BE49-F238E27FC236}">
                  <a16:creationId xmlns:a16="http://schemas.microsoft.com/office/drawing/2014/main" id="{29449158-01A2-340C-BA9F-EFCBB2C574C7}"/>
                </a:ext>
              </a:extLst>
            </p:cNvPr>
            <p:cNvSpPr/>
            <p:nvPr/>
          </p:nvSpPr>
          <p:spPr>
            <a:xfrm flipH="1">
              <a:off x="7002699" y="11629"/>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5" name="AutoShape 23">
              <a:extLst>
                <a:ext uri="{FF2B5EF4-FFF2-40B4-BE49-F238E27FC236}">
                  <a16:creationId xmlns:a16="http://schemas.microsoft.com/office/drawing/2014/main" id="{48F656CD-9BFB-75DF-CD98-CC3036924AA5}"/>
                </a:ext>
              </a:extLst>
            </p:cNvPr>
            <p:cNvSpPr/>
            <p:nvPr/>
          </p:nvSpPr>
          <p:spPr>
            <a:xfrm flipH="1">
              <a:off x="10026" y="10046"/>
              <a:ext cx="8463" cy="4138245"/>
            </a:xfrm>
            <a:prstGeom prst="line">
              <a:avLst/>
            </a:prstGeom>
            <a:ln w="20051" cap="flat">
              <a:solidFill>
                <a:srgbClr val="000000"/>
              </a:solidFill>
              <a:prstDash val="solid"/>
              <a:headEnd type="none" w="sm" len="sm"/>
              <a:tailEnd type="none" w="sm" len="sm"/>
            </a:ln>
          </p:spPr>
          <p:txBody>
            <a:bodyPr/>
            <a:lstStyle/>
            <a:p>
              <a:endParaRPr lang="en-AU"/>
            </a:p>
          </p:txBody>
        </p:sp>
      </p:gr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A85E-AA61-7F8F-CDA4-3FC8BB9A100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66AB5EF-6411-7B96-5A69-98B2A1F39196}"/>
              </a:ext>
            </a:extLst>
          </p:cNvPr>
          <p:cNvSpPr>
            <a:spLocks noGrp="1"/>
          </p:cNvSpPr>
          <p:nvPr>
            <p:ph type="title"/>
          </p:nvPr>
        </p:nvSpPr>
        <p:spPr>
          <a:xfrm>
            <a:off x="360000" y="360000"/>
            <a:ext cx="10367268" cy="545601"/>
          </a:xfrm>
        </p:spPr>
        <p:txBody>
          <a:bodyPr/>
          <a:lstStyle/>
          <a:p>
            <a:r>
              <a:rPr lang="en-AU" dirty="0"/>
              <a:t>Activity 2 – decimal place value to hundredths (2)</a:t>
            </a:r>
          </a:p>
        </p:txBody>
      </p:sp>
      <p:sp>
        <p:nvSpPr>
          <p:cNvPr id="2" name="Slide Number Placeholder 1">
            <a:extLst>
              <a:ext uri="{FF2B5EF4-FFF2-40B4-BE49-F238E27FC236}">
                <a16:creationId xmlns:a16="http://schemas.microsoft.com/office/drawing/2014/main" id="{26810647-5767-A50B-E904-48F6B6AB4A4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pic>
        <p:nvPicPr>
          <p:cNvPr id="4" name="Picture 3" descr="image of a head with cogs turning inside">
            <a:extLst>
              <a:ext uri="{FF2B5EF4-FFF2-40B4-BE49-F238E27FC236}">
                <a16:creationId xmlns:a16="http://schemas.microsoft.com/office/drawing/2014/main" id="{67464E19-E85E-E053-45C7-B2600C0A809D}"/>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Image of decimat">
            <a:extLst>
              <a:ext uri="{FF2B5EF4-FFF2-40B4-BE49-F238E27FC236}">
                <a16:creationId xmlns:a16="http://schemas.microsoft.com/office/drawing/2014/main" id="{76B5208B-0255-1232-4256-757F9B8D8FFD}"/>
              </a:ext>
            </a:extLst>
          </p:cNvPr>
          <p:cNvGrpSpPr/>
          <p:nvPr/>
        </p:nvGrpSpPr>
        <p:grpSpPr>
          <a:xfrm rot="5400000">
            <a:off x="7267753" y="2316750"/>
            <a:ext cx="5265889" cy="3132611"/>
            <a:chOff x="0" y="21"/>
            <a:chExt cx="7021187" cy="4176952"/>
          </a:xfrm>
        </p:grpSpPr>
        <p:sp>
          <p:nvSpPr>
            <p:cNvPr id="5" name="AutoShape 14">
              <a:extLst>
                <a:ext uri="{FF2B5EF4-FFF2-40B4-BE49-F238E27FC236}">
                  <a16:creationId xmlns:a16="http://schemas.microsoft.com/office/drawing/2014/main" id="{4A7A907C-D64A-0DAD-1E21-EEAE44CA0688}"/>
                </a:ext>
              </a:extLst>
            </p:cNvPr>
            <p:cNvSpPr/>
            <p:nvPr/>
          </p:nvSpPr>
          <p:spPr>
            <a:xfrm flipV="1">
              <a:off x="14" y="10026"/>
              <a:ext cx="7021159" cy="10067"/>
            </a:xfrm>
            <a:prstGeom prst="line">
              <a:avLst/>
            </a:prstGeom>
            <a:ln w="20051" cap="flat">
              <a:solidFill>
                <a:srgbClr val="000000"/>
              </a:solidFill>
              <a:prstDash val="solid"/>
              <a:headEnd type="none" w="sm" len="sm"/>
              <a:tailEnd type="none" w="sm" len="sm"/>
            </a:ln>
          </p:spPr>
          <p:txBody>
            <a:bodyPr/>
            <a:lstStyle/>
            <a:p>
              <a:endParaRPr lang="en-AU"/>
            </a:p>
          </p:txBody>
        </p:sp>
        <p:sp>
          <p:nvSpPr>
            <p:cNvPr id="7" name="Freeform 15">
              <a:extLst>
                <a:ext uri="{FF2B5EF4-FFF2-40B4-BE49-F238E27FC236}">
                  <a16:creationId xmlns:a16="http://schemas.microsoft.com/office/drawing/2014/main" id="{FA3FBB0D-6FF2-3A04-ABE5-1B06AA68E298}"/>
                </a:ext>
              </a:extLst>
            </p:cNvPr>
            <p:cNvSpPr/>
            <p:nvPr/>
          </p:nvSpPr>
          <p:spPr>
            <a:xfrm>
              <a:off x="0" y="37165"/>
              <a:ext cx="1263660" cy="2043587"/>
            </a:xfrm>
            <a:custGeom>
              <a:avLst/>
              <a:gdLst/>
              <a:ahLst/>
              <a:cxnLst/>
              <a:rect l="l" t="t" r="r" b="b"/>
              <a:pathLst>
                <a:path w="1263660" h="2043587">
                  <a:moveTo>
                    <a:pt x="0" y="0"/>
                  </a:moveTo>
                  <a:lnTo>
                    <a:pt x="1263660" y="0"/>
                  </a:lnTo>
                  <a:lnTo>
                    <a:pt x="1263660" y="2043587"/>
                  </a:lnTo>
                  <a:lnTo>
                    <a:pt x="0" y="2043587"/>
                  </a:lnTo>
                  <a:lnTo>
                    <a:pt x="0" y="0"/>
                  </a:lnTo>
                  <a:close/>
                </a:path>
              </a:pathLst>
            </a:custGeom>
            <a:blipFill>
              <a:blip r:embed="rId4"/>
              <a:stretch>
                <a:fillRect t="-2751" r="-3855"/>
              </a:stretch>
            </a:blipFill>
          </p:spPr>
          <p:txBody>
            <a:bodyPr/>
            <a:lstStyle/>
            <a:p>
              <a:endParaRPr lang="en-AU"/>
            </a:p>
          </p:txBody>
        </p:sp>
        <p:sp>
          <p:nvSpPr>
            <p:cNvPr id="8" name="AutoShape 16">
              <a:extLst>
                <a:ext uri="{FF2B5EF4-FFF2-40B4-BE49-F238E27FC236}">
                  <a16:creationId xmlns:a16="http://schemas.microsoft.com/office/drawing/2014/main" id="{C7F8DE4F-DB11-4CFB-192A-A2B348FC9FE1}"/>
                </a:ext>
              </a:extLst>
            </p:cNvPr>
            <p:cNvSpPr/>
            <p:nvPr/>
          </p:nvSpPr>
          <p:spPr>
            <a:xfrm flipV="1">
              <a:off x="14" y="2079169"/>
              <a:ext cx="7021173" cy="10046"/>
            </a:xfrm>
            <a:prstGeom prst="line">
              <a:avLst/>
            </a:prstGeom>
            <a:ln w="20051" cap="flat">
              <a:solidFill>
                <a:srgbClr val="000000"/>
              </a:solidFill>
              <a:prstDash val="solid"/>
              <a:headEnd type="none" w="sm" len="sm"/>
              <a:tailEnd type="none" w="sm" len="sm"/>
            </a:ln>
          </p:spPr>
          <p:txBody>
            <a:bodyPr/>
            <a:lstStyle/>
            <a:p>
              <a:endParaRPr lang="en-AU"/>
            </a:p>
          </p:txBody>
        </p:sp>
        <p:sp>
          <p:nvSpPr>
            <p:cNvPr id="9" name="AutoShape 17">
              <a:extLst>
                <a:ext uri="{FF2B5EF4-FFF2-40B4-BE49-F238E27FC236}">
                  <a16:creationId xmlns:a16="http://schemas.microsoft.com/office/drawing/2014/main" id="{0DEFF431-31C2-7FCC-AAB9-F4087E4E1681}"/>
                </a:ext>
              </a:extLst>
            </p:cNvPr>
            <p:cNvSpPr/>
            <p:nvPr/>
          </p:nvSpPr>
          <p:spPr>
            <a:xfrm flipV="1">
              <a:off x="14" y="4148312"/>
              <a:ext cx="7021173" cy="10026"/>
            </a:xfrm>
            <a:prstGeom prst="line">
              <a:avLst/>
            </a:prstGeom>
            <a:ln w="20051" cap="flat">
              <a:solidFill>
                <a:srgbClr val="000000"/>
              </a:solidFill>
              <a:prstDash val="solid"/>
              <a:headEnd type="none" w="sm" len="sm"/>
              <a:tailEnd type="none" w="sm" len="sm"/>
            </a:ln>
          </p:spPr>
          <p:txBody>
            <a:bodyPr/>
            <a:lstStyle/>
            <a:p>
              <a:endParaRPr lang="en-AU"/>
            </a:p>
          </p:txBody>
        </p:sp>
        <p:sp>
          <p:nvSpPr>
            <p:cNvPr id="10" name="AutoShape 18">
              <a:extLst>
                <a:ext uri="{FF2B5EF4-FFF2-40B4-BE49-F238E27FC236}">
                  <a16:creationId xmlns:a16="http://schemas.microsoft.com/office/drawing/2014/main" id="{4CDF3E26-397D-A8BC-C848-A378E02148C7}"/>
                </a:ext>
              </a:extLst>
            </p:cNvPr>
            <p:cNvSpPr/>
            <p:nvPr/>
          </p:nvSpPr>
          <p:spPr>
            <a:xfrm flipH="1">
              <a:off x="1263660" y="11629"/>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1" name="AutoShape 19">
              <a:extLst>
                <a:ext uri="{FF2B5EF4-FFF2-40B4-BE49-F238E27FC236}">
                  <a16:creationId xmlns:a16="http://schemas.microsoft.com/office/drawing/2014/main" id="{A76646D6-75C9-C2EA-5496-B73038123DF7}"/>
                </a:ext>
              </a:extLst>
            </p:cNvPr>
            <p:cNvSpPr/>
            <p:nvPr/>
          </p:nvSpPr>
          <p:spPr>
            <a:xfrm flipH="1">
              <a:off x="2711796" y="21"/>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2" name="AutoShape 20">
              <a:extLst>
                <a:ext uri="{FF2B5EF4-FFF2-40B4-BE49-F238E27FC236}">
                  <a16:creationId xmlns:a16="http://schemas.microsoft.com/office/drawing/2014/main" id="{2397894B-B4E5-D4F0-3ACA-DBAF0397101C}"/>
                </a:ext>
              </a:extLst>
            </p:cNvPr>
            <p:cNvSpPr/>
            <p:nvPr/>
          </p:nvSpPr>
          <p:spPr>
            <a:xfrm flipH="1">
              <a:off x="4148926" y="10046"/>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3" name="AutoShape 21">
              <a:extLst>
                <a:ext uri="{FF2B5EF4-FFF2-40B4-BE49-F238E27FC236}">
                  <a16:creationId xmlns:a16="http://schemas.microsoft.com/office/drawing/2014/main" id="{E1831C06-5A64-9975-5869-896A9FF86B09}"/>
                </a:ext>
              </a:extLst>
            </p:cNvPr>
            <p:cNvSpPr/>
            <p:nvPr/>
          </p:nvSpPr>
          <p:spPr>
            <a:xfrm flipH="1">
              <a:off x="5542031" y="38728"/>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4" name="AutoShape 22">
              <a:extLst>
                <a:ext uri="{FF2B5EF4-FFF2-40B4-BE49-F238E27FC236}">
                  <a16:creationId xmlns:a16="http://schemas.microsoft.com/office/drawing/2014/main" id="{E554BFF9-86D8-806F-61E9-2AC4ABBE7FED}"/>
                </a:ext>
              </a:extLst>
            </p:cNvPr>
            <p:cNvSpPr/>
            <p:nvPr/>
          </p:nvSpPr>
          <p:spPr>
            <a:xfrm flipH="1">
              <a:off x="7002699" y="11629"/>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5" name="AutoShape 23">
              <a:extLst>
                <a:ext uri="{FF2B5EF4-FFF2-40B4-BE49-F238E27FC236}">
                  <a16:creationId xmlns:a16="http://schemas.microsoft.com/office/drawing/2014/main" id="{E502F232-5756-24DD-C0AF-A527B23E7EBE}"/>
                </a:ext>
              </a:extLst>
            </p:cNvPr>
            <p:cNvSpPr/>
            <p:nvPr/>
          </p:nvSpPr>
          <p:spPr>
            <a:xfrm flipH="1">
              <a:off x="10026" y="10046"/>
              <a:ext cx="8463" cy="4138245"/>
            </a:xfrm>
            <a:prstGeom prst="line">
              <a:avLst/>
            </a:prstGeom>
            <a:ln w="20051" cap="flat">
              <a:solidFill>
                <a:srgbClr val="000000"/>
              </a:solidFill>
              <a:prstDash val="solid"/>
              <a:headEnd type="none" w="sm" len="sm"/>
              <a:tailEnd type="none" w="sm" len="sm"/>
            </a:ln>
          </p:spPr>
          <p:txBody>
            <a:bodyPr/>
            <a:lstStyle/>
            <a:p>
              <a:endParaRPr lang="en-AU"/>
            </a:p>
          </p:txBody>
        </p:sp>
      </p:grpSp>
      <p:graphicFrame>
        <p:nvGraphicFramePr>
          <p:cNvPr id="16" name="Table 15">
            <a:extLst>
              <a:ext uri="{FF2B5EF4-FFF2-40B4-BE49-F238E27FC236}">
                <a16:creationId xmlns:a16="http://schemas.microsoft.com/office/drawing/2014/main" id="{5D2FF7F0-FFA7-17AD-7E37-2A673CDA2F91}"/>
              </a:ext>
            </a:extLst>
          </p:cNvPr>
          <p:cNvGraphicFramePr>
            <a:graphicFrameLocks noGrp="1"/>
          </p:cNvGraphicFramePr>
          <p:nvPr>
            <p:extLst>
              <p:ext uri="{D42A27DB-BD31-4B8C-83A1-F6EECF244321}">
                <p14:modId xmlns:p14="http://schemas.microsoft.com/office/powerpoint/2010/main" val="739103997"/>
              </p:ext>
            </p:extLst>
          </p:nvPr>
        </p:nvGraphicFramePr>
        <p:xfrm>
          <a:off x="265196" y="1253574"/>
          <a:ext cx="7716209" cy="5090160"/>
        </p:xfrm>
        <a:graphic>
          <a:graphicData uri="http://schemas.openxmlformats.org/drawingml/2006/table">
            <a:tbl>
              <a:tblPr firstRow="1" bandRow="1">
                <a:tableStyleId>{5A111915-BE36-4E01-A7E5-04B1672EAD32}</a:tableStyleId>
              </a:tblPr>
              <a:tblGrid>
                <a:gridCol w="1073766">
                  <a:extLst>
                    <a:ext uri="{9D8B030D-6E8A-4147-A177-3AD203B41FA5}">
                      <a16:colId xmlns:a16="http://schemas.microsoft.com/office/drawing/2014/main" val="2747652108"/>
                    </a:ext>
                  </a:extLst>
                </a:gridCol>
                <a:gridCol w="1041688">
                  <a:extLst>
                    <a:ext uri="{9D8B030D-6E8A-4147-A177-3AD203B41FA5}">
                      <a16:colId xmlns:a16="http://schemas.microsoft.com/office/drawing/2014/main" val="819816092"/>
                    </a:ext>
                  </a:extLst>
                </a:gridCol>
                <a:gridCol w="3012726">
                  <a:extLst>
                    <a:ext uri="{9D8B030D-6E8A-4147-A177-3AD203B41FA5}">
                      <a16:colId xmlns:a16="http://schemas.microsoft.com/office/drawing/2014/main" val="2367114015"/>
                    </a:ext>
                  </a:extLst>
                </a:gridCol>
                <a:gridCol w="2588029">
                  <a:extLst>
                    <a:ext uri="{9D8B030D-6E8A-4147-A177-3AD203B41FA5}">
                      <a16:colId xmlns:a16="http://schemas.microsoft.com/office/drawing/2014/main" val="2367707699"/>
                    </a:ext>
                  </a:extLst>
                </a:gridCol>
              </a:tblGrid>
              <a:tr h="370840">
                <a:tc gridSpan="3">
                  <a:txBody>
                    <a:bodyPr/>
                    <a:lstStyle/>
                    <a:p>
                      <a:pPr algn="ctr"/>
                      <a:r>
                        <a:rPr lang="en-AU" b="0">
                          <a:solidFill>
                            <a:schemeClr val="bg1"/>
                          </a:solidFill>
                          <a:latin typeface="Arial" panose="020B0604020202020204" pitchFamily="34" charset="0"/>
                          <a:cs typeface="Arial" panose="020B0604020202020204" pitchFamily="34" charset="0"/>
                        </a:rPr>
                        <a:t>What I rolled or spun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b="0">
                          <a:solidFill>
                            <a:schemeClr val="bg1"/>
                          </a:solidFill>
                          <a:latin typeface="Arial" panose="020B0604020202020204" pitchFamily="34" charset="0"/>
                          <a:cs typeface="Arial" panose="020B0604020202020204" pitchFamily="34" charset="0"/>
                        </a:rPr>
                        <a:t>How much is shaded altogether?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434854146"/>
                  </a:ext>
                </a:extLst>
              </a:tr>
              <a:tr h="370840">
                <a:tc>
                  <a:txBody>
                    <a:bodyPr/>
                    <a:lstStyle/>
                    <a:p>
                      <a:pPr algn="ctr"/>
                      <a:r>
                        <a:rPr lang="en-AU"/>
                        <a:t>Fraction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AU"/>
                        <a:t>Decimal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AU"/>
                        <a:t>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AU"/>
                        <a:t>Decimal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704276713"/>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841527"/>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0523973"/>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0615744"/>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7530204"/>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093561"/>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9867958"/>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122420"/>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2243437"/>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5015821"/>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2122387"/>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6059478"/>
                  </a:ext>
                </a:extLst>
              </a:tr>
            </a:tbl>
          </a:graphicData>
        </a:graphic>
      </p:graphicFrame>
    </p:spTree>
    <p:extLst>
      <p:ext uri="{BB962C8B-B14F-4D97-AF65-F5344CB8AC3E}">
        <p14:creationId xmlns:p14="http://schemas.microsoft.com/office/powerpoint/2010/main" val="338575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p:txBody>
          <a:bodyPr/>
          <a:lstStyle/>
          <a:p>
            <a:pPr algn="ctr"/>
            <a:r>
              <a:rPr lang="en-US" sz="4400" dirty="0"/>
              <a:t>Which </a:t>
            </a:r>
            <a:r>
              <a:rPr lang="en-US" sz="4400" b="1" dirty="0"/>
              <a:t>decimal number </a:t>
            </a:r>
            <a:r>
              <a:rPr lang="en-US" sz="4400" dirty="0"/>
              <a:t>has the </a:t>
            </a:r>
          </a:p>
          <a:p>
            <a:pPr algn="ctr"/>
            <a:r>
              <a:rPr lang="en-US" sz="4400" dirty="0"/>
              <a:t>value </a:t>
            </a:r>
            <a:r>
              <a:rPr lang="en-US" sz="4400" b="1" dirty="0"/>
              <a:t>closest to 1.0</a:t>
            </a:r>
            <a:r>
              <a:rPr lang="en-US" sz="4400" dirty="0"/>
              <a:t>?</a:t>
            </a:r>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17">
            <a:extLst>
              <a:ext uri="{FF2B5EF4-FFF2-40B4-BE49-F238E27FC236}">
                <a16:creationId xmlns:a16="http://schemas.microsoft.com/office/drawing/2014/main" id="{847D5AB0-5CD4-5EB5-CF2C-EE66398E5E78}"/>
              </a:ext>
            </a:extLst>
          </p:cNvPr>
          <p:cNvSpPr txBox="1">
            <a:spLocks/>
          </p:cNvSpPr>
          <p:nvPr/>
        </p:nvSpPr>
        <p:spPr>
          <a:xfrm>
            <a:off x="730657" y="4338829"/>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0.99		    1.1		     0.9		       2.0	</a:t>
            </a:r>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6E2B216-48CA-613D-9AD6-C7AD5DA91053}"/>
              </a:ext>
            </a:extLst>
          </p:cNvPr>
          <p:cNvSpPr txBox="1"/>
          <p:nvPr/>
        </p:nvSpPr>
        <p:spPr>
          <a:xfrm>
            <a:off x="658499" y="2429912"/>
            <a:ext cx="10875001" cy="1998176"/>
          </a:xfrm>
          <a:prstGeom prst="rect">
            <a:avLst/>
          </a:prstGeom>
          <a:noFill/>
        </p:spPr>
        <p:txBody>
          <a:bodyPr wrap="square">
            <a:spAutoFit/>
          </a:bodyPr>
          <a:lstStyle/>
          <a:p>
            <a:pPr algn="ctr">
              <a:lnSpc>
                <a:spcPct val="150000"/>
              </a:lnSpc>
            </a:pPr>
            <a:r>
              <a:rPr lang="en-AU" sz="4400" dirty="0"/>
              <a:t>Show one way of regrouping </a:t>
            </a:r>
            <a:r>
              <a:rPr lang="en-AU" sz="4400" b="1" dirty="0"/>
              <a:t>3 463 485 </a:t>
            </a:r>
            <a:r>
              <a:rPr lang="en-AU" sz="4400" dirty="0"/>
              <a:t>using </a:t>
            </a:r>
            <a:r>
              <a:rPr lang="en-AU" sz="4400" b="1" dirty="0"/>
              <a:t>non-standard partitioning</a:t>
            </a:r>
            <a:r>
              <a:rPr lang="en-AU" sz="4400" dirty="0"/>
              <a:t>.</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2717F68-70D1-D849-EC9C-2AA53D0C28F9}"/>
              </a:ext>
            </a:extLst>
          </p:cNvPr>
          <p:cNvSpPr txBox="1"/>
          <p:nvPr/>
        </p:nvSpPr>
        <p:spPr>
          <a:xfrm>
            <a:off x="658499" y="1817170"/>
            <a:ext cx="10875001" cy="3013838"/>
          </a:xfrm>
          <a:prstGeom prst="rect">
            <a:avLst/>
          </a:prstGeom>
          <a:noFill/>
        </p:spPr>
        <p:txBody>
          <a:bodyPr wrap="square">
            <a:spAutoFit/>
          </a:bodyPr>
          <a:lstStyle/>
          <a:p>
            <a:pPr algn="ctr">
              <a:lnSpc>
                <a:spcPct val="150000"/>
              </a:lnSpc>
            </a:pPr>
            <a:r>
              <a:rPr lang="en-AU" sz="4400" dirty="0"/>
              <a:t>Use </a:t>
            </a:r>
            <a:r>
              <a:rPr lang="en-AU" sz="4400" b="1" dirty="0"/>
              <a:t>rounding</a:t>
            </a:r>
            <a:r>
              <a:rPr lang="en-AU" sz="4400" dirty="0"/>
              <a:t> to </a:t>
            </a:r>
            <a:r>
              <a:rPr lang="en-AU" sz="4400" b="1" dirty="0"/>
              <a:t>estimate</a:t>
            </a:r>
            <a:r>
              <a:rPr lang="en-AU" sz="4400" dirty="0"/>
              <a:t> a </a:t>
            </a:r>
          </a:p>
          <a:p>
            <a:pPr algn="ctr">
              <a:lnSpc>
                <a:spcPct val="150000"/>
              </a:lnSpc>
            </a:pPr>
            <a:r>
              <a:rPr lang="en-AU" sz="4400" b="1" dirty="0"/>
              <a:t>reasonable estimate </a:t>
            </a:r>
            <a:r>
              <a:rPr lang="en-AU" sz="4400" dirty="0"/>
              <a:t>to 1238 + 329. </a:t>
            </a:r>
          </a:p>
          <a:p>
            <a:pPr algn="ctr">
              <a:lnSpc>
                <a:spcPct val="150000"/>
              </a:lnSpc>
            </a:pPr>
            <a:r>
              <a:rPr lang="en-AU" sz="4400" dirty="0"/>
              <a:t>Be prepared to </a:t>
            </a:r>
            <a:r>
              <a:rPr lang="en-AU" sz="4400" b="1" dirty="0"/>
              <a:t>justify</a:t>
            </a:r>
            <a:r>
              <a:rPr lang="en-AU" sz="4400" dirty="0"/>
              <a:t> your solution.</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1E6AF86-0A1C-28F9-90C7-E851EECA5745}"/>
              </a:ext>
            </a:extLst>
          </p:cNvPr>
          <p:cNvSpPr txBox="1"/>
          <p:nvPr/>
        </p:nvSpPr>
        <p:spPr>
          <a:xfrm>
            <a:off x="618473" y="1089430"/>
            <a:ext cx="10955054" cy="2748253"/>
          </a:xfrm>
          <a:prstGeom prst="rect">
            <a:avLst/>
          </a:prstGeom>
          <a:noFill/>
        </p:spPr>
        <p:txBody>
          <a:bodyPr wrap="square">
            <a:spAutoFit/>
          </a:bodyPr>
          <a:lstStyle/>
          <a:p>
            <a:pPr algn="ctr">
              <a:lnSpc>
                <a:spcPct val="150000"/>
              </a:lnSpc>
            </a:pPr>
            <a:r>
              <a:rPr lang="en-AU" sz="4000" dirty="0"/>
              <a:t>Identify the </a:t>
            </a:r>
            <a:r>
              <a:rPr lang="en-AU" sz="4000" b="1" dirty="0"/>
              <a:t>lines of symmetry </a:t>
            </a:r>
            <a:r>
              <a:rPr lang="en-AU" sz="4000" dirty="0"/>
              <a:t>in </a:t>
            </a:r>
          </a:p>
          <a:p>
            <a:pPr algn="ctr">
              <a:lnSpc>
                <a:spcPct val="150000"/>
              </a:lnSpc>
            </a:pPr>
            <a:r>
              <a:rPr lang="en-AU" sz="4000" dirty="0"/>
              <a:t>the </a:t>
            </a:r>
            <a:r>
              <a:rPr lang="en-AU" sz="4000" b="1" dirty="0"/>
              <a:t>polygons</a:t>
            </a:r>
            <a:r>
              <a:rPr lang="en-AU" sz="4000" dirty="0"/>
              <a:t>. Which </a:t>
            </a:r>
            <a:r>
              <a:rPr lang="en-AU" sz="4000" b="1" dirty="0"/>
              <a:t>polygon</a:t>
            </a:r>
            <a:r>
              <a:rPr lang="en-AU" sz="4000" dirty="0"/>
              <a:t> doesn’t belong? Explain your </a:t>
            </a:r>
            <a:r>
              <a:rPr lang="en-AU" sz="4000" b="1" dirty="0"/>
              <a:t>reasoning</a:t>
            </a:r>
            <a:r>
              <a:rPr lang="en-AU" sz="4000" dirty="0"/>
              <a:t>.</a:t>
            </a:r>
          </a:p>
        </p:txBody>
      </p:sp>
      <p:grpSp>
        <p:nvGrpSpPr>
          <p:cNvPr id="11" name="Group 10" descr="4 four sided polygons labelled A to D. They all have 2 lines of symmetry, except for the third shape. It is a trapezium and it only has one line of symmetry.">
            <a:extLst>
              <a:ext uri="{FF2B5EF4-FFF2-40B4-BE49-F238E27FC236}">
                <a16:creationId xmlns:a16="http://schemas.microsoft.com/office/drawing/2014/main" id="{0841F7EE-2FC9-356B-ABCA-472178471E1C}"/>
              </a:ext>
            </a:extLst>
          </p:cNvPr>
          <p:cNvGrpSpPr/>
          <p:nvPr/>
        </p:nvGrpSpPr>
        <p:grpSpPr>
          <a:xfrm>
            <a:off x="1041375" y="4358746"/>
            <a:ext cx="10042026" cy="2247254"/>
            <a:chOff x="1157613" y="4343596"/>
            <a:chExt cx="10042026" cy="2247254"/>
          </a:xfrm>
        </p:grpSpPr>
        <p:sp>
          <p:nvSpPr>
            <p:cNvPr id="7" name="Rectangle 6">
              <a:extLst>
                <a:ext uri="{FF2B5EF4-FFF2-40B4-BE49-F238E27FC236}">
                  <a16:creationId xmlns:a16="http://schemas.microsoft.com/office/drawing/2014/main" id="{41025BD1-D871-8EF0-2F5A-C2F252CFF8C9}"/>
                </a:ext>
              </a:extLst>
            </p:cNvPr>
            <p:cNvSpPr/>
            <p:nvPr/>
          </p:nvSpPr>
          <p:spPr>
            <a:xfrm>
              <a:off x="1157613" y="4553026"/>
              <a:ext cx="2089282" cy="15566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Rectangle 7">
              <a:extLst>
                <a:ext uri="{FF2B5EF4-FFF2-40B4-BE49-F238E27FC236}">
                  <a16:creationId xmlns:a16="http://schemas.microsoft.com/office/drawing/2014/main" id="{F1C2D52A-2463-A38D-9072-ED6139361955}"/>
                </a:ext>
              </a:extLst>
            </p:cNvPr>
            <p:cNvSpPr/>
            <p:nvPr/>
          </p:nvSpPr>
          <p:spPr>
            <a:xfrm rot="2656094">
              <a:off x="9169361" y="5115384"/>
              <a:ext cx="2030278" cy="6741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 name="Trapezoid 8">
              <a:extLst>
                <a:ext uri="{FF2B5EF4-FFF2-40B4-BE49-F238E27FC236}">
                  <a16:creationId xmlns:a16="http://schemas.microsoft.com/office/drawing/2014/main" id="{BDF98413-832F-CD29-9451-DF7E5978F6B1}"/>
                </a:ext>
              </a:extLst>
            </p:cNvPr>
            <p:cNvSpPr/>
            <p:nvPr/>
          </p:nvSpPr>
          <p:spPr>
            <a:xfrm>
              <a:off x="6096000" y="4634885"/>
              <a:ext cx="2661925" cy="1317356"/>
            </a:xfrm>
            <a:prstGeom prst="trapezoid">
              <a:avLst>
                <a:gd name="adj" fmla="val 361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Flowchart: Decision 9">
              <a:extLst>
                <a:ext uri="{FF2B5EF4-FFF2-40B4-BE49-F238E27FC236}">
                  <a16:creationId xmlns:a16="http://schemas.microsoft.com/office/drawing/2014/main" id="{393D4134-0A61-9D4F-A756-AE5D4E43994F}"/>
                </a:ext>
              </a:extLst>
            </p:cNvPr>
            <p:cNvSpPr/>
            <p:nvPr/>
          </p:nvSpPr>
          <p:spPr>
            <a:xfrm rot="16200000">
              <a:off x="3604736" y="4944601"/>
              <a:ext cx="2247254" cy="1045244"/>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grpSp>
      <p:sp>
        <p:nvSpPr>
          <p:cNvPr id="12" name="TextBox 11">
            <a:extLst>
              <a:ext uri="{FF2B5EF4-FFF2-40B4-BE49-F238E27FC236}">
                <a16:creationId xmlns:a16="http://schemas.microsoft.com/office/drawing/2014/main" id="{A8DBCC72-F6E3-3224-A67B-F72C76ADD42F}"/>
              </a:ext>
            </a:extLst>
          </p:cNvPr>
          <p:cNvSpPr txBox="1"/>
          <p:nvPr/>
        </p:nvSpPr>
        <p:spPr>
          <a:xfrm>
            <a:off x="1882193" y="50299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A</a:t>
            </a:r>
          </a:p>
        </p:txBody>
      </p:sp>
      <p:sp>
        <p:nvSpPr>
          <p:cNvPr id="13" name="TextBox 12">
            <a:extLst>
              <a:ext uri="{FF2B5EF4-FFF2-40B4-BE49-F238E27FC236}">
                <a16:creationId xmlns:a16="http://schemas.microsoft.com/office/drawing/2014/main" id="{F5EF1E39-FDC9-1F84-9FC4-B64D5CE881E1}"/>
              </a:ext>
            </a:extLst>
          </p:cNvPr>
          <p:cNvSpPr txBox="1"/>
          <p:nvPr/>
        </p:nvSpPr>
        <p:spPr>
          <a:xfrm>
            <a:off x="4372502" y="50299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B</a:t>
            </a:r>
          </a:p>
        </p:txBody>
      </p:sp>
      <p:sp>
        <p:nvSpPr>
          <p:cNvPr id="14" name="TextBox 13">
            <a:extLst>
              <a:ext uri="{FF2B5EF4-FFF2-40B4-BE49-F238E27FC236}">
                <a16:creationId xmlns:a16="http://schemas.microsoft.com/office/drawing/2014/main" id="{C1F24D28-9F63-8108-2CFC-C3202D1604E0}"/>
              </a:ext>
            </a:extLst>
          </p:cNvPr>
          <p:cNvSpPr txBox="1"/>
          <p:nvPr/>
        </p:nvSpPr>
        <p:spPr>
          <a:xfrm>
            <a:off x="9868101" y="50693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D</a:t>
            </a:r>
          </a:p>
        </p:txBody>
      </p:sp>
      <p:sp>
        <p:nvSpPr>
          <p:cNvPr id="15" name="TextBox 14">
            <a:extLst>
              <a:ext uri="{FF2B5EF4-FFF2-40B4-BE49-F238E27FC236}">
                <a16:creationId xmlns:a16="http://schemas.microsoft.com/office/drawing/2014/main" id="{8B095017-DEC7-16C3-6805-F7938D95C7E1}"/>
              </a:ext>
            </a:extLst>
          </p:cNvPr>
          <p:cNvSpPr txBox="1"/>
          <p:nvPr/>
        </p:nvSpPr>
        <p:spPr>
          <a:xfrm>
            <a:off x="7046009" y="503061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C</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D571A2E-2AB8-78FE-BC05-D04A16B0E008}"/>
              </a:ext>
            </a:extLst>
          </p:cNvPr>
          <p:cNvSpPr txBox="1"/>
          <p:nvPr/>
        </p:nvSpPr>
        <p:spPr>
          <a:xfrm>
            <a:off x="653804" y="726473"/>
            <a:ext cx="10875001" cy="5518242"/>
          </a:xfrm>
          <a:prstGeom prst="rect">
            <a:avLst/>
          </a:prstGeom>
          <a:noFill/>
        </p:spPr>
        <p:txBody>
          <a:bodyPr wrap="square">
            <a:spAutoFit/>
          </a:bodyPr>
          <a:lstStyle/>
          <a:p>
            <a:pPr algn="ctr">
              <a:lnSpc>
                <a:spcPct val="150000"/>
              </a:lnSpc>
            </a:pPr>
            <a:r>
              <a:rPr lang="en-AU" sz="4000" dirty="0"/>
              <a:t>The </a:t>
            </a:r>
            <a:r>
              <a:rPr lang="en-AU" sz="4000" b="1" dirty="0"/>
              <a:t>angles</a:t>
            </a:r>
            <a:r>
              <a:rPr lang="en-AU" sz="4000" dirty="0"/>
              <a:t> in this </a:t>
            </a:r>
            <a:r>
              <a:rPr lang="en-AU" sz="4000" b="1" dirty="0"/>
              <a:t>regular pentagon </a:t>
            </a:r>
            <a:br>
              <a:rPr lang="en-AU" sz="4000" b="1" dirty="0"/>
            </a:br>
            <a:r>
              <a:rPr lang="en-AU" sz="4000" dirty="0"/>
              <a:t>are all the </a:t>
            </a:r>
            <a:r>
              <a:rPr lang="en-AU" sz="4000" b="1" dirty="0"/>
              <a:t>same size</a:t>
            </a:r>
            <a:r>
              <a:rPr lang="en-AU" sz="4000" dirty="0"/>
              <a:t>.</a:t>
            </a:r>
          </a:p>
          <a:p>
            <a:pPr algn="ctr">
              <a:lnSpc>
                <a:spcPct val="150000"/>
              </a:lnSpc>
            </a:pPr>
            <a:endParaRPr lang="en-AU" sz="4000" dirty="0"/>
          </a:p>
          <a:p>
            <a:pPr algn="ctr">
              <a:lnSpc>
                <a:spcPct val="150000"/>
              </a:lnSpc>
            </a:pPr>
            <a:endParaRPr lang="en-AU" sz="4000" dirty="0"/>
          </a:p>
          <a:p>
            <a:pPr algn="ctr">
              <a:lnSpc>
                <a:spcPct val="150000"/>
              </a:lnSpc>
            </a:pPr>
            <a:r>
              <a:rPr lang="en-AU" sz="4000" b="1" dirty="0"/>
              <a:t>Estimate</a:t>
            </a:r>
            <a:r>
              <a:rPr lang="en-AU" sz="4000" dirty="0"/>
              <a:t> and </a:t>
            </a:r>
            <a:r>
              <a:rPr lang="en-AU" sz="4000" b="1" dirty="0"/>
              <a:t>describe</a:t>
            </a:r>
            <a:r>
              <a:rPr lang="en-AU" sz="4000" dirty="0"/>
              <a:t> the </a:t>
            </a:r>
            <a:r>
              <a:rPr lang="en-AU" sz="4000" b="1" dirty="0"/>
              <a:t>size</a:t>
            </a:r>
            <a:r>
              <a:rPr lang="en-AU" sz="4000" dirty="0"/>
              <a:t> of the </a:t>
            </a:r>
            <a:r>
              <a:rPr lang="en-AU" sz="4000" b="1" dirty="0"/>
              <a:t>angles</a:t>
            </a:r>
            <a:r>
              <a:rPr lang="en-AU" sz="4000" dirty="0"/>
              <a:t>.</a:t>
            </a:r>
          </a:p>
          <a:p>
            <a:pPr algn="ctr">
              <a:lnSpc>
                <a:spcPct val="150000"/>
              </a:lnSpc>
            </a:pPr>
            <a:r>
              <a:rPr lang="en-AU" sz="4000" dirty="0"/>
              <a:t>Explain your </a:t>
            </a:r>
            <a:r>
              <a:rPr lang="en-AU" sz="4000" b="1" dirty="0"/>
              <a:t>reasoning</a:t>
            </a:r>
            <a:r>
              <a:rPr lang="en-AU" sz="4000" dirty="0"/>
              <a:t>.</a:t>
            </a:r>
          </a:p>
        </p:txBody>
      </p:sp>
      <p:grpSp>
        <p:nvGrpSpPr>
          <p:cNvPr id="8" name="Group 7">
            <a:extLst>
              <a:ext uri="{FF2B5EF4-FFF2-40B4-BE49-F238E27FC236}">
                <a16:creationId xmlns:a16="http://schemas.microsoft.com/office/drawing/2014/main" id="{DD188E5C-F5E3-3090-4061-E32882467611}"/>
              </a:ext>
            </a:extLst>
          </p:cNvPr>
          <p:cNvGrpSpPr/>
          <p:nvPr/>
        </p:nvGrpSpPr>
        <p:grpSpPr>
          <a:xfrm>
            <a:off x="5090160" y="2560320"/>
            <a:ext cx="2133595" cy="2292228"/>
            <a:chOff x="4783597" y="1594532"/>
            <a:chExt cx="1843914" cy="1926980"/>
          </a:xfrm>
        </p:grpSpPr>
        <p:sp>
          <p:nvSpPr>
            <p:cNvPr id="5" name="Pentagon 4">
              <a:extLst>
                <a:ext uri="{FF2B5EF4-FFF2-40B4-BE49-F238E27FC236}">
                  <a16:creationId xmlns:a16="http://schemas.microsoft.com/office/drawing/2014/main" id="{F5F7ABC2-AAAD-6287-7FF6-7B88D7ED134F}"/>
                </a:ext>
              </a:extLst>
            </p:cNvPr>
            <p:cNvSpPr/>
            <p:nvPr/>
          </p:nvSpPr>
          <p:spPr>
            <a:xfrm>
              <a:off x="4783597" y="1594532"/>
              <a:ext cx="1843914" cy="1692774"/>
            </a:xfrm>
            <a:prstGeom prst="pentagon">
              <a:avLst/>
            </a:prstGeom>
            <a:solidFill>
              <a:schemeClr val="accent3"/>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Arc 6">
              <a:extLst>
                <a:ext uri="{FF2B5EF4-FFF2-40B4-BE49-F238E27FC236}">
                  <a16:creationId xmlns:a16="http://schemas.microsoft.com/office/drawing/2014/main" id="{93FCEFE0-9807-BEFA-1D17-DBE898ECC5BB}"/>
                </a:ext>
              </a:extLst>
            </p:cNvPr>
            <p:cNvSpPr/>
            <p:nvPr/>
          </p:nvSpPr>
          <p:spPr>
            <a:xfrm rot="21093888">
              <a:off x="4884347" y="3053099"/>
              <a:ext cx="511441" cy="468413"/>
            </a:xfrm>
            <a:prstGeom prst="arc">
              <a:avLst>
                <a:gd name="adj1" fmla="val 15590330"/>
                <a:gd name="adj2" fmla="val 465909"/>
              </a:avLst>
            </a:prstGeom>
            <a:solidFill>
              <a:schemeClr val="tx2"/>
            </a:solidFill>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gr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dirty="0"/>
              <a:t>Activity 3 – decimal place value to thousandths (1)</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3B7759CA-7D1E-9C28-2F31-CA9C52EDE680}"/>
              </a:ext>
            </a:extLst>
          </p:cNvPr>
          <p:cNvSpPr txBox="1"/>
          <p:nvPr/>
        </p:nvSpPr>
        <p:spPr>
          <a:xfrm>
            <a:off x="2220686" y="1721972"/>
            <a:ext cx="8678091" cy="991891"/>
          </a:xfrm>
          <a:prstGeom prst="rect">
            <a:avLst/>
          </a:prstGeom>
          <a:noFill/>
        </p:spPr>
        <p:txBody>
          <a:bodyPr wrap="square" lIns="0" tIns="0" rIns="0" bIns="0" rtlCol="0">
            <a:noAutofit/>
          </a:bodyPr>
          <a:lstStyle/>
          <a:p>
            <a:pPr defTabSz="914400" eaLnBrk="0" fontAlgn="base" hangingPunct="0">
              <a:lnSpc>
                <a:spcPct val="150000"/>
              </a:lnSpc>
              <a:spcBef>
                <a:spcPct val="0"/>
              </a:spcBef>
              <a:spcAft>
                <a:spcPct val="0"/>
              </a:spcAft>
            </a:pPr>
            <a:r>
              <a:rPr lang="en-AU" altLang="en-US" sz="6600" dirty="0">
                <a:ea typeface="Calibri"/>
                <a:cs typeface="Arial"/>
              </a:rPr>
              <a:t>0.456    vs     0.462</a:t>
            </a:r>
          </a:p>
        </p:txBody>
      </p:sp>
      <p:sp>
        <p:nvSpPr>
          <p:cNvPr id="5" name="Rectangle 2">
            <a:extLst>
              <a:ext uri="{FF2B5EF4-FFF2-40B4-BE49-F238E27FC236}">
                <a16:creationId xmlns:a16="http://schemas.microsoft.com/office/drawing/2014/main" id="{80CA2C19-5583-81AB-5D96-BC49449320C9}"/>
              </a:ext>
            </a:extLst>
          </p:cNvPr>
          <p:cNvSpPr>
            <a:spLocks noChangeArrowheads="1"/>
          </p:cNvSpPr>
          <p:nvPr/>
        </p:nvSpPr>
        <p:spPr bwMode="auto">
          <a:xfrm>
            <a:off x="360000" y="3429000"/>
            <a:ext cx="10747003" cy="2748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defTabSz="914400" eaLnBrk="0" fontAlgn="base" hangingPunct="0">
              <a:lnSpc>
                <a:spcPct val="150000"/>
              </a:lnSpc>
              <a:spcBef>
                <a:spcPct val="0"/>
              </a:spcBef>
              <a:spcAft>
                <a:spcPct val="0"/>
              </a:spcAft>
            </a:pPr>
            <a:r>
              <a:rPr lang="en-AU" altLang="en-US" sz="4000" b="1" dirty="0">
                <a:latin typeface="Arial"/>
                <a:ea typeface="Calibri"/>
                <a:cs typeface="Arial"/>
              </a:rPr>
              <a:t>Compare</a:t>
            </a:r>
            <a:r>
              <a:rPr lang="en-AU" altLang="en-US" sz="4000" dirty="0">
                <a:latin typeface="Arial"/>
                <a:ea typeface="Calibri"/>
                <a:cs typeface="Arial"/>
              </a:rPr>
              <a:t> these 2 decimals using </a:t>
            </a:r>
          </a:p>
          <a:p>
            <a:pPr algn="ctr" defTabSz="914400" eaLnBrk="0" fontAlgn="base" hangingPunct="0">
              <a:lnSpc>
                <a:spcPct val="150000"/>
              </a:lnSpc>
              <a:spcBef>
                <a:spcPct val="0"/>
              </a:spcBef>
              <a:spcAft>
                <a:spcPct val="0"/>
              </a:spcAft>
            </a:pPr>
            <a:r>
              <a:rPr lang="en-AU" altLang="en-US" sz="4000" b="1" dirty="0">
                <a:latin typeface="Arial"/>
                <a:ea typeface="Calibri"/>
                <a:cs typeface="Arial"/>
              </a:rPr>
              <a:t>place value names</a:t>
            </a:r>
            <a:r>
              <a:rPr lang="en-AU" altLang="en-US" sz="4000" dirty="0">
                <a:latin typeface="Arial"/>
                <a:ea typeface="Calibri"/>
                <a:cs typeface="Arial"/>
              </a:rPr>
              <a:t>.</a:t>
            </a:r>
          </a:p>
          <a:p>
            <a:pPr algn="ctr" defTabSz="914400" eaLnBrk="0" fontAlgn="base" hangingPunct="0">
              <a:lnSpc>
                <a:spcPct val="150000"/>
              </a:lnSpc>
              <a:spcBef>
                <a:spcPct val="0"/>
              </a:spcBef>
              <a:spcAft>
                <a:spcPct val="0"/>
              </a:spcAft>
            </a:pPr>
            <a:r>
              <a:rPr lang="en-AU" altLang="en-US" sz="4000" dirty="0">
                <a:latin typeface="Arial"/>
                <a:ea typeface="Calibri"/>
                <a:cs typeface="Arial"/>
              </a:rPr>
              <a:t>Play ‘colour in </a:t>
            </a:r>
            <a:r>
              <a:rPr lang="en-AU" altLang="en-US" sz="4000" dirty="0" err="1">
                <a:latin typeface="Arial"/>
                <a:ea typeface="Calibri"/>
                <a:cs typeface="Arial"/>
              </a:rPr>
              <a:t>decimats</a:t>
            </a:r>
            <a:r>
              <a:rPr lang="en-AU" altLang="en-US" sz="4000" dirty="0">
                <a:latin typeface="Arial"/>
                <a:ea typeface="Calibri"/>
                <a:cs typeface="Arial"/>
              </a:rPr>
              <a:t>’ in a small group.</a:t>
            </a:r>
            <a:endParaRPr lang="en-AU" altLang="en-US" sz="4000" dirty="0">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18415-49DA-F1BC-999E-143DFBC45EE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28D61A5-1E9F-5ABE-D6B5-18498F82D971}"/>
              </a:ext>
            </a:extLst>
          </p:cNvPr>
          <p:cNvSpPr>
            <a:spLocks noGrp="1"/>
          </p:cNvSpPr>
          <p:nvPr>
            <p:ph type="title"/>
          </p:nvPr>
        </p:nvSpPr>
        <p:spPr>
          <a:xfrm>
            <a:off x="360000" y="360000"/>
            <a:ext cx="10367268" cy="545601"/>
          </a:xfrm>
        </p:spPr>
        <p:txBody>
          <a:bodyPr/>
          <a:lstStyle/>
          <a:p>
            <a:r>
              <a:rPr lang="en-AU" dirty="0"/>
              <a:t>Activity 3 – decimal place value to thousandths (2)</a:t>
            </a:r>
          </a:p>
        </p:txBody>
      </p:sp>
      <p:sp>
        <p:nvSpPr>
          <p:cNvPr id="2" name="Slide Number Placeholder 1">
            <a:extLst>
              <a:ext uri="{FF2B5EF4-FFF2-40B4-BE49-F238E27FC236}">
                <a16:creationId xmlns:a16="http://schemas.microsoft.com/office/drawing/2014/main" id="{6FBA0539-98CE-766F-AD49-195D8DE1475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4" name="Picture 3" descr="image of a head with cogs turning inside">
            <a:extLst>
              <a:ext uri="{FF2B5EF4-FFF2-40B4-BE49-F238E27FC236}">
                <a16:creationId xmlns:a16="http://schemas.microsoft.com/office/drawing/2014/main" id="{9E241D6A-7181-635F-BF98-2A74548718E8}"/>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4D883101-1074-1081-EF29-05FF20936E60}"/>
              </a:ext>
            </a:extLst>
          </p:cNvPr>
          <p:cNvGraphicFramePr>
            <a:graphicFrameLocks noGrp="1"/>
          </p:cNvGraphicFramePr>
          <p:nvPr>
            <p:extLst>
              <p:ext uri="{D42A27DB-BD31-4B8C-83A1-F6EECF244321}">
                <p14:modId xmlns:p14="http://schemas.microsoft.com/office/powerpoint/2010/main" val="1712721752"/>
              </p:ext>
            </p:extLst>
          </p:nvPr>
        </p:nvGraphicFramePr>
        <p:xfrm>
          <a:off x="265196" y="1253574"/>
          <a:ext cx="7716209" cy="5090160"/>
        </p:xfrm>
        <a:graphic>
          <a:graphicData uri="http://schemas.openxmlformats.org/drawingml/2006/table">
            <a:tbl>
              <a:tblPr firstRow="1" bandRow="1">
                <a:tableStyleId>{5A111915-BE36-4E01-A7E5-04B1672EAD32}</a:tableStyleId>
              </a:tblPr>
              <a:tblGrid>
                <a:gridCol w="1073766">
                  <a:extLst>
                    <a:ext uri="{9D8B030D-6E8A-4147-A177-3AD203B41FA5}">
                      <a16:colId xmlns:a16="http://schemas.microsoft.com/office/drawing/2014/main" val="2747652108"/>
                    </a:ext>
                  </a:extLst>
                </a:gridCol>
                <a:gridCol w="1041688">
                  <a:extLst>
                    <a:ext uri="{9D8B030D-6E8A-4147-A177-3AD203B41FA5}">
                      <a16:colId xmlns:a16="http://schemas.microsoft.com/office/drawing/2014/main" val="819816092"/>
                    </a:ext>
                  </a:extLst>
                </a:gridCol>
                <a:gridCol w="3012726">
                  <a:extLst>
                    <a:ext uri="{9D8B030D-6E8A-4147-A177-3AD203B41FA5}">
                      <a16:colId xmlns:a16="http://schemas.microsoft.com/office/drawing/2014/main" val="2367114015"/>
                    </a:ext>
                  </a:extLst>
                </a:gridCol>
                <a:gridCol w="2588029">
                  <a:extLst>
                    <a:ext uri="{9D8B030D-6E8A-4147-A177-3AD203B41FA5}">
                      <a16:colId xmlns:a16="http://schemas.microsoft.com/office/drawing/2014/main" val="2367707699"/>
                    </a:ext>
                  </a:extLst>
                </a:gridCol>
              </a:tblGrid>
              <a:tr h="370840">
                <a:tc gridSpan="3">
                  <a:txBody>
                    <a:bodyPr/>
                    <a:lstStyle/>
                    <a:p>
                      <a:pPr algn="ctr"/>
                      <a:r>
                        <a:rPr lang="en-AU" b="0">
                          <a:solidFill>
                            <a:schemeClr val="bg1"/>
                          </a:solidFill>
                          <a:latin typeface="Arial" panose="020B0604020202020204" pitchFamily="34" charset="0"/>
                          <a:cs typeface="Arial" panose="020B0604020202020204" pitchFamily="34" charset="0"/>
                        </a:rPr>
                        <a:t>What I rolled or spun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b="0">
                          <a:solidFill>
                            <a:schemeClr val="bg1"/>
                          </a:solidFill>
                          <a:latin typeface="Arial" panose="020B0604020202020204" pitchFamily="34" charset="0"/>
                          <a:cs typeface="Arial" panose="020B0604020202020204" pitchFamily="34" charset="0"/>
                        </a:rPr>
                        <a:t>How much is shaded altogether?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434854146"/>
                  </a:ext>
                </a:extLst>
              </a:tr>
              <a:tr h="370840">
                <a:tc>
                  <a:txBody>
                    <a:bodyPr/>
                    <a:lstStyle/>
                    <a:p>
                      <a:pPr algn="ctr"/>
                      <a:r>
                        <a:rPr lang="en-AU"/>
                        <a:t>Fraction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AU"/>
                        <a:t>Decimal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AU"/>
                        <a:t>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algn="ctr"/>
                      <a:r>
                        <a:rPr lang="en-AU"/>
                        <a:t>Decimal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704276713"/>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90841527"/>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0523973"/>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0615744"/>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7530204"/>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093561"/>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9867958"/>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2122420"/>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2243437"/>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5015821"/>
                  </a:ext>
                </a:extLst>
              </a:tr>
              <a:tr h="370840">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42122387"/>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6059478"/>
                  </a:ext>
                </a:extLst>
              </a:tr>
            </a:tbl>
          </a:graphicData>
        </a:graphic>
      </p:graphicFrame>
      <p:grpSp>
        <p:nvGrpSpPr>
          <p:cNvPr id="5" name="Group 4" descr="Image of decimat">
            <a:extLst>
              <a:ext uri="{FF2B5EF4-FFF2-40B4-BE49-F238E27FC236}">
                <a16:creationId xmlns:a16="http://schemas.microsoft.com/office/drawing/2014/main" id="{C9F9FD43-5BDC-34A9-6C25-941A6942F1CA}"/>
              </a:ext>
            </a:extLst>
          </p:cNvPr>
          <p:cNvGrpSpPr/>
          <p:nvPr/>
        </p:nvGrpSpPr>
        <p:grpSpPr>
          <a:xfrm rot="5400000">
            <a:off x="7267753" y="2316750"/>
            <a:ext cx="5265889" cy="3132611"/>
            <a:chOff x="0" y="21"/>
            <a:chExt cx="7021187" cy="4176952"/>
          </a:xfrm>
        </p:grpSpPr>
        <p:sp>
          <p:nvSpPr>
            <p:cNvPr id="7" name="AutoShape 14">
              <a:extLst>
                <a:ext uri="{FF2B5EF4-FFF2-40B4-BE49-F238E27FC236}">
                  <a16:creationId xmlns:a16="http://schemas.microsoft.com/office/drawing/2014/main" id="{D404C290-B4E2-073A-B3E6-1EEAA1C578C8}"/>
                </a:ext>
              </a:extLst>
            </p:cNvPr>
            <p:cNvSpPr/>
            <p:nvPr/>
          </p:nvSpPr>
          <p:spPr>
            <a:xfrm flipV="1">
              <a:off x="14" y="10026"/>
              <a:ext cx="7021159" cy="10067"/>
            </a:xfrm>
            <a:prstGeom prst="line">
              <a:avLst/>
            </a:prstGeom>
            <a:ln w="20051" cap="flat">
              <a:solidFill>
                <a:srgbClr val="000000"/>
              </a:solidFill>
              <a:prstDash val="solid"/>
              <a:headEnd type="none" w="sm" len="sm"/>
              <a:tailEnd type="none" w="sm" len="sm"/>
            </a:ln>
          </p:spPr>
          <p:txBody>
            <a:bodyPr/>
            <a:lstStyle/>
            <a:p>
              <a:endParaRPr lang="en-AU"/>
            </a:p>
          </p:txBody>
        </p:sp>
        <p:sp>
          <p:nvSpPr>
            <p:cNvPr id="8" name="Freeform 15">
              <a:extLst>
                <a:ext uri="{FF2B5EF4-FFF2-40B4-BE49-F238E27FC236}">
                  <a16:creationId xmlns:a16="http://schemas.microsoft.com/office/drawing/2014/main" id="{A54D1053-9C2B-8A9C-16CC-0B4E71B6CCE7}"/>
                </a:ext>
              </a:extLst>
            </p:cNvPr>
            <p:cNvSpPr/>
            <p:nvPr/>
          </p:nvSpPr>
          <p:spPr>
            <a:xfrm>
              <a:off x="0" y="37165"/>
              <a:ext cx="1263660" cy="2043587"/>
            </a:xfrm>
            <a:custGeom>
              <a:avLst/>
              <a:gdLst/>
              <a:ahLst/>
              <a:cxnLst/>
              <a:rect l="l" t="t" r="r" b="b"/>
              <a:pathLst>
                <a:path w="1263660" h="2043587">
                  <a:moveTo>
                    <a:pt x="0" y="0"/>
                  </a:moveTo>
                  <a:lnTo>
                    <a:pt x="1263660" y="0"/>
                  </a:lnTo>
                  <a:lnTo>
                    <a:pt x="1263660" y="2043587"/>
                  </a:lnTo>
                  <a:lnTo>
                    <a:pt x="0" y="2043587"/>
                  </a:lnTo>
                  <a:lnTo>
                    <a:pt x="0" y="0"/>
                  </a:lnTo>
                  <a:close/>
                </a:path>
              </a:pathLst>
            </a:custGeom>
            <a:blipFill>
              <a:blip r:embed="rId4"/>
              <a:stretch>
                <a:fillRect t="-2751" r="-3855"/>
              </a:stretch>
            </a:blipFill>
          </p:spPr>
          <p:txBody>
            <a:bodyPr/>
            <a:lstStyle/>
            <a:p>
              <a:endParaRPr lang="en-AU"/>
            </a:p>
          </p:txBody>
        </p:sp>
        <p:sp>
          <p:nvSpPr>
            <p:cNvPr id="9" name="AutoShape 16">
              <a:extLst>
                <a:ext uri="{FF2B5EF4-FFF2-40B4-BE49-F238E27FC236}">
                  <a16:creationId xmlns:a16="http://schemas.microsoft.com/office/drawing/2014/main" id="{941451E4-6CA4-EE49-5E9E-ABE0091C6554}"/>
                </a:ext>
              </a:extLst>
            </p:cNvPr>
            <p:cNvSpPr/>
            <p:nvPr/>
          </p:nvSpPr>
          <p:spPr>
            <a:xfrm flipV="1">
              <a:off x="14" y="2079169"/>
              <a:ext cx="7021173" cy="10046"/>
            </a:xfrm>
            <a:prstGeom prst="line">
              <a:avLst/>
            </a:prstGeom>
            <a:ln w="20051" cap="flat">
              <a:solidFill>
                <a:srgbClr val="000000"/>
              </a:solidFill>
              <a:prstDash val="solid"/>
              <a:headEnd type="none" w="sm" len="sm"/>
              <a:tailEnd type="none" w="sm" len="sm"/>
            </a:ln>
          </p:spPr>
          <p:txBody>
            <a:bodyPr/>
            <a:lstStyle/>
            <a:p>
              <a:endParaRPr lang="en-AU"/>
            </a:p>
          </p:txBody>
        </p:sp>
        <p:sp>
          <p:nvSpPr>
            <p:cNvPr id="10" name="AutoShape 17">
              <a:extLst>
                <a:ext uri="{FF2B5EF4-FFF2-40B4-BE49-F238E27FC236}">
                  <a16:creationId xmlns:a16="http://schemas.microsoft.com/office/drawing/2014/main" id="{00961C7F-B4EC-499F-4479-ED5D5B3DABC1}"/>
                </a:ext>
              </a:extLst>
            </p:cNvPr>
            <p:cNvSpPr/>
            <p:nvPr/>
          </p:nvSpPr>
          <p:spPr>
            <a:xfrm flipV="1">
              <a:off x="14" y="4148312"/>
              <a:ext cx="7021173" cy="10026"/>
            </a:xfrm>
            <a:prstGeom prst="line">
              <a:avLst/>
            </a:prstGeom>
            <a:ln w="20051" cap="flat">
              <a:solidFill>
                <a:srgbClr val="000000"/>
              </a:solidFill>
              <a:prstDash val="solid"/>
              <a:headEnd type="none" w="sm" len="sm"/>
              <a:tailEnd type="none" w="sm" len="sm"/>
            </a:ln>
          </p:spPr>
          <p:txBody>
            <a:bodyPr/>
            <a:lstStyle/>
            <a:p>
              <a:endParaRPr lang="en-AU"/>
            </a:p>
          </p:txBody>
        </p:sp>
        <p:sp>
          <p:nvSpPr>
            <p:cNvPr id="11" name="AutoShape 18">
              <a:extLst>
                <a:ext uri="{FF2B5EF4-FFF2-40B4-BE49-F238E27FC236}">
                  <a16:creationId xmlns:a16="http://schemas.microsoft.com/office/drawing/2014/main" id="{26A44061-5D52-2A41-482A-3E606A82E84D}"/>
                </a:ext>
              </a:extLst>
            </p:cNvPr>
            <p:cNvSpPr/>
            <p:nvPr/>
          </p:nvSpPr>
          <p:spPr>
            <a:xfrm flipH="1">
              <a:off x="1263660" y="11629"/>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2" name="AutoShape 19">
              <a:extLst>
                <a:ext uri="{FF2B5EF4-FFF2-40B4-BE49-F238E27FC236}">
                  <a16:creationId xmlns:a16="http://schemas.microsoft.com/office/drawing/2014/main" id="{5602B329-2731-46AF-809F-D486DF074E57}"/>
                </a:ext>
              </a:extLst>
            </p:cNvPr>
            <p:cNvSpPr/>
            <p:nvPr/>
          </p:nvSpPr>
          <p:spPr>
            <a:xfrm flipH="1">
              <a:off x="2711796" y="21"/>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3" name="AutoShape 20">
              <a:extLst>
                <a:ext uri="{FF2B5EF4-FFF2-40B4-BE49-F238E27FC236}">
                  <a16:creationId xmlns:a16="http://schemas.microsoft.com/office/drawing/2014/main" id="{6F360DD5-9CB1-83EF-4873-F21868C7EF3F}"/>
                </a:ext>
              </a:extLst>
            </p:cNvPr>
            <p:cNvSpPr/>
            <p:nvPr/>
          </p:nvSpPr>
          <p:spPr>
            <a:xfrm flipH="1">
              <a:off x="4148926" y="10046"/>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4" name="AutoShape 21">
              <a:extLst>
                <a:ext uri="{FF2B5EF4-FFF2-40B4-BE49-F238E27FC236}">
                  <a16:creationId xmlns:a16="http://schemas.microsoft.com/office/drawing/2014/main" id="{B9FCE76E-7BDA-D2DC-FA3A-2C30681BAB38}"/>
                </a:ext>
              </a:extLst>
            </p:cNvPr>
            <p:cNvSpPr/>
            <p:nvPr/>
          </p:nvSpPr>
          <p:spPr>
            <a:xfrm flipH="1">
              <a:off x="5542031" y="38728"/>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5" name="AutoShape 22">
              <a:extLst>
                <a:ext uri="{FF2B5EF4-FFF2-40B4-BE49-F238E27FC236}">
                  <a16:creationId xmlns:a16="http://schemas.microsoft.com/office/drawing/2014/main" id="{20B9288C-9810-B437-37C0-910AAF4E19A7}"/>
                </a:ext>
              </a:extLst>
            </p:cNvPr>
            <p:cNvSpPr/>
            <p:nvPr/>
          </p:nvSpPr>
          <p:spPr>
            <a:xfrm flipH="1">
              <a:off x="7002699" y="11629"/>
              <a:ext cx="8463" cy="4138245"/>
            </a:xfrm>
            <a:prstGeom prst="line">
              <a:avLst/>
            </a:prstGeom>
            <a:ln w="20051" cap="flat">
              <a:solidFill>
                <a:srgbClr val="000000"/>
              </a:solidFill>
              <a:prstDash val="solid"/>
              <a:headEnd type="none" w="sm" len="sm"/>
              <a:tailEnd type="none" w="sm" len="sm"/>
            </a:ln>
          </p:spPr>
          <p:txBody>
            <a:bodyPr/>
            <a:lstStyle/>
            <a:p>
              <a:endParaRPr lang="en-AU"/>
            </a:p>
          </p:txBody>
        </p:sp>
        <p:sp>
          <p:nvSpPr>
            <p:cNvPr id="16" name="AutoShape 23">
              <a:extLst>
                <a:ext uri="{FF2B5EF4-FFF2-40B4-BE49-F238E27FC236}">
                  <a16:creationId xmlns:a16="http://schemas.microsoft.com/office/drawing/2014/main" id="{4FC240AC-7701-C47E-A85D-85352C394A8B}"/>
                </a:ext>
              </a:extLst>
            </p:cNvPr>
            <p:cNvSpPr/>
            <p:nvPr/>
          </p:nvSpPr>
          <p:spPr>
            <a:xfrm flipH="1">
              <a:off x="10026" y="10046"/>
              <a:ext cx="8463" cy="4138245"/>
            </a:xfrm>
            <a:prstGeom prst="line">
              <a:avLst/>
            </a:prstGeom>
            <a:ln w="20051" cap="flat">
              <a:solidFill>
                <a:srgbClr val="000000"/>
              </a:solidFill>
              <a:prstDash val="solid"/>
              <a:headEnd type="none" w="sm" len="sm"/>
              <a:tailEnd type="none" w="sm" len="sm"/>
            </a:ln>
          </p:spPr>
          <p:txBody>
            <a:bodyPr/>
            <a:lstStyle/>
            <a:p>
              <a:endParaRPr lang="en-AU"/>
            </a:p>
          </p:txBody>
        </p:sp>
      </p:grpSp>
    </p:spTree>
    <p:extLst>
      <p:ext uri="{BB962C8B-B14F-4D97-AF65-F5344CB8AC3E}">
        <p14:creationId xmlns:p14="http://schemas.microsoft.com/office/powerpoint/2010/main" val="2204930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1" y="1347354"/>
            <a:ext cx="11243037" cy="893226"/>
          </a:xfrm>
        </p:spPr>
        <p:txBody>
          <a:bodyPr/>
          <a:lstStyle/>
          <a:p>
            <a:r>
              <a:rPr lang="en-AU" sz="4400" dirty="0"/>
              <a:t>The </a:t>
            </a:r>
            <a:r>
              <a:rPr lang="en-AU" sz="4400" b="1" dirty="0"/>
              <a:t>X</a:t>
            </a:r>
            <a:r>
              <a:rPr lang="en-AU" sz="4400" dirty="0"/>
              <a:t> on the </a:t>
            </a:r>
            <a:r>
              <a:rPr lang="en-AU" sz="4400" b="1" dirty="0"/>
              <a:t>number line </a:t>
            </a:r>
            <a:r>
              <a:rPr lang="en-AU" sz="4400" dirty="0"/>
              <a:t>represents </a:t>
            </a:r>
            <a:r>
              <a:rPr lang="en-AU" sz="4400" b="1" dirty="0"/>
              <a:t>1.40</a:t>
            </a:r>
          </a:p>
        </p:txBody>
      </p:sp>
      <p:pic>
        <p:nvPicPr>
          <p:cNvPr id="48" name="Picture 47" descr="A decimal number line from zero to 3. Marks for tenths are included, but not labelled. A red 'X' marks the place of 1.40">
            <a:extLst>
              <a:ext uri="{FF2B5EF4-FFF2-40B4-BE49-F238E27FC236}">
                <a16:creationId xmlns:a16="http://schemas.microsoft.com/office/drawing/2014/main" id="{E3BE91D1-6957-A37E-721F-E02E32F55A4A}"/>
              </a:ext>
            </a:extLst>
          </p:cNvPr>
          <p:cNvPicPr>
            <a:picLocks noChangeAspect="1"/>
          </p:cNvPicPr>
          <p:nvPr/>
        </p:nvPicPr>
        <p:blipFill>
          <a:blip r:embed="rId4"/>
          <a:stretch>
            <a:fillRect/>
          </a:stretch>
        </p:blipFill>
        <p:spPr>
          <a:xfrm>
            <a:off x="304043" y="2961099"/>
            <a:ext cx="11539957" cy="17781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07AAD873-0A35-4D77-D91E-7471D8D71B24}"/>
              </a:ext>
            </a:extLst>
          </p:cNvPr>
          <p:cNvSpPr txBox="1">
            <a:spLocks/>
          </p:cNvSpPr>
          <p:nvPr/>
        </p:nvSpPr>
        <p:spPr>
          <a:xfrm>
            <a:off x="360000" y="1528095"/>
            <a:ext cx="118320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Which number is </a:t>
            </a:r>
            <a:r>
              <a:rPr lang="en-US" sz="4400" b="1" dirty="0"/>
              <a:t>10 times larger </a:t>
            </a:r>
            <a:r>
              <a:rPr lang="en-US" sz="4400" dirty="0"/>
              <a:t>than </a:t>
            </a:r>
            <a:r>
              <a:rPr lang="en-US" sz="4400" b="1" dirty="0"/>
              <a:t>0.7</a:t>
            </a:r>
            <a:r>
              <a:rPr lang="en-US" sz="4400" dirty="0"/>
              <a:t>?</a:t>
            </a:r>
          </a:p>
          <a:p>
            <a:pPr algn="ctr"/>
            <a:r>
              <a:rPr lang="en-US" sz="4400" dirty="0"/>
              <a:t>Which number is </a:t>
            </a:r>
            <a:r>
              <a:rPr lang="en-US" sz="4400" b="1" dirty="0"/>
              <a:t>10 times smaller </a:t>
            </a:r>
            <a:r>
              <a:rPr lang="en-US" sz="4400" dirty="0"/>
              <a:t>than </a:t>
            </a:r>
            <a:r>
              <a:rPr lang="en-US" sz="4400" b="1" dirty="0"/>
              <a:t>0.7</a:t>
            </a:r>
            <a:r>
              <a:rPr lang="en-US" sz="4400" dirty="0"/>
              <a:t>?</a:t>
            </a:r>
          </a:p>
          <a:p>
            <a:pPr algn="ctr"/>
            <a:r>
              <a:rPr lang="en-US" sz="4400" dirty="0"/>
              <a:t>Explain your </a:t>
            </a:r>
            <a:r>
              <a:rPr lang="en-US" sz="4400" b="1" dirty="0"/>
              <a:t>reasoning</a:t>
            </a:r>
            <a:r>
              <a:rPr lang="en-US" sz="4400" dirty="0"/>
              <a:t>.</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6AF41E2-4720-F292-D23B-52B7CDB6D1DF}"/>
              </a:ext>
            </a:extLst>
          </p:cNvPr>
          <p:cNvSpPr txBox="1"/>
          <p:nvPr/>
        </p:nvSpPr>
        <p:spPr>
          <a:xfrm>
            <a:off x="658499" y="1922081"/>
            <a:ext cx="10875001" cy="3013838"/>
          </a:xfrm>
          <a:prstGeom prst="rect">
            <a:avLst/>
          </a:prstGeom>
          <a:noFill/>
        </p:spPr>
        <p:txBody>
          <a:bodyPr wrap="square">
            <a:spAutoFit/>
          </a:bodyPr>
          <a:lstStyle/>
          <a:p>
            <a:pPr algn="ctr">
              <a:lnSpc>
                <a:spcPct val="150000"/>
              </a:lnSpc>
            </a:pPr>
            <a:r>
              <a:rPr lang="en-AU" sz="4400" dirty="0"/>
              <a:t>Use </a:t>
            </a:r>
            <a:r>
              <a:rPr lang="en-AU" sz="4400" b="1" dirty="0"/>
              <a:t>rounding</a:t>
            </a:r>
            <a:r>
              <a:rPr lang="en-AU" sz="4400" dirty="0"/>
              <a:t> to </a:t>
            </a:r>
            <a:r>
              <a:rPr lang="en-AU" sz="4400" b="1" dirty="0"/>
              <a:t>estimate</a:t>
            </a:r>
            <a:r>
              <a:rPr lang="en-AU" sz="4400" dirty="0"/>
              <a:t> a </a:t>
            </a:r>
          </a:p>
          <a:p>
            <a:pPr algn="ctr">
              <a:lnSpc>
                <a:spcPct val="150000"/>
              </a:lnSpc>
            </a:pPr>
            <a:r>
              <a:rPr lang="en-AU" sz="4400" b="1" dirty="0"/>
              <a:t>reasonable solution </a:t>
            </a:r>
            <a:r>
              <a:rPr lang="en-AU" sz="4400" dirty="0"/>
              <a:t>to 12 238 + 2 104.</a:t>
            </a:r>
          </a:p>
          <a:p>
            <a:pPr algn="ctr">
              <a:lnSpc>
                <a:spcPct val="150000"/>
              </a:lnSpc>
            </a:pPr>
            <a:r>
              <a:rPr lang="en-AU" sz="4400" dirty="0"/>
              <a:t>Be prepared to </a:t>
            </a:r>
            <a:r>
              <a:rPr lang="en-AU" sz="4400" b="1" dirty="0"/>
              <a:t>justify</a:t>
            </a:r>
            <a:r>
              <a:rPr lang="en-AU" sz="4400" dirty="0"/>
              <a:t> your thinking.</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E223E756-1282-72A6-7EAC-4774389D2D1D}"/>
              </a:ext>
            </a:extLst>
          </p:cNvPr>
          <p:cNvSpPr txBox="1">
            <a:spLocks/>
          </p:cNvSpPr>
          <p:nvPr/>
        </p:nvSpPr>
        <p:spPr>
          <a:xfrm>
            <a:off x="180000" y="1184223"/>
            <a:ext cx="118320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A class was lined up but had to change rooms. They </a:t>
            </a:r>
            <a:r>
              <a:rPr lang="en-US" sz="4400" b="1" dirty="0"/>
              <a:t>turned</a:t>
            </a:r>
            <a:r>
              <a:rPr lang="en-US" sz="4400" dirty="0"/>
              <a:t> and faced the </a:t>
            </a:r>
            <a:r>
              <a:rPr lang="en-US" sz="4400" b="1" dirty="0"/>
              <a:t>opposite</a:t>
            </a:r>
            <a:r>
              <a:rPr lang="en-US" sz="4400" dirty="0"/>
              <a:t> direction.</a:t>
            </a:r>
          </a:p>
          <a:p>
            <a:pPr algn="ctr"/>
            <a:r>
              <a:rPr lang="en-US" sz="4400" dirty="0"/>
              <a:t>Approximately </a:t>
            </a:r>
            <a:r>
              <a:rPr lang="en-US" sz="4400" b="1" dirty="0"/>
              <a:t>how many degrees </a:t>
            </a:r>
            <a:r>
              <a:rPr lang="en-US" sz="4400" dirty="0"/>
              <a:t>did the students </a:t>
            </a:r>
            <a:r>
              <a:rPr lang="en-US" sz="4400" b="1" dirty="0"/>
              <a:t>turn</a:t>
            </a:r>
            <a:r>
              <a:rPr lang="en-US" sz="4400" dirty="0"/>
              <a:t>?</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3" name="Text Placeholder 17">
            <a:extLst>
              <a:ext uri="{FF2B5EF4-FFF2-40B4-BE49-F238E27FC236}">
                <a16:creationId xmlns:a16="http://schemas.microsoft.com/office/drawing/2014/main" id="{0A86A2D1-9232-3903-6F05-5B1093A7D97C}"/>
              </a:ext>
            </a:extLst>
          </p:cNvPr>
          <p:cNvSpPr txBox="1">
            <a:spLocks/>
          </p:cNvSpPr>
          <p:nvPr/>
        </p:nvSpPr>
        <p:spPr>
          <a:xfrm>
            <a:off x="180000" y="1184223"/>
            <a:ext cx="118320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t>Triangles </a:t>
            </a:r>
            <a:r>
              <a:rPr lang="en-US" sz="4400" dirty="0"/>
              <a:t>can be </a:t>
            </a:r>
            <a:r>
              <a:rPr lang="en-US" sz="4400" b="1" dirty="0"/>
              <a:t>classified</a:t>
            </a:r>
            <a:r>
              <a:rPr lang="en-US" sz="4400" dirty="0"/>
              <a:t> and </a:t>
            </a:r>
            <a:r>
              <a:rPr lang="en-US" sz="4400" b="1" dirty="0"/>
              <a:t>compared</a:t>
            </a:r>
            <a:r>
              <a:rPr lang="en-US" sz="4400" dirty="0"/>
              <a:t> by their </a:t>
            </a:r>
            <a:r>
              <a:rPr lang="en-US" sz="4400" b="1" dirty="0"/>
              <a:t>angles</a:t>
            </a:r>
            <a:r>
              <a:rPr lang="en-US" sz="4400" dirty="0"/>
              <a:t>. Which of the triangles below </a:t>
            </a:r>
            <a:r>
              <a:rPr lang="en-US" sz="4400" b="1" dirty="0"/>
              <a:t>doesn’t belong</a:t>
            </a:r>
            <a:r>
              <a:rPr lang="en-US" sz="4400" dirty="0"/>
              <a:t>? Record your </a:t>
            </a:r>
            <a:r>
              <a:rPr lang="en-US" sz="4400" b="1" dirty="0"/>
              <a:t>reasoning</a:t>
            </a:r>
            <a:r>
              <a:rPr lang="en-US" sz="4400" dirty="0"/>
              <a:t>.</a:t>
            </a:r>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a:p>
            <a:pPr algn="ctr"/>
            <a:endParaRPr lang="en-US" sz="4400" dirty="0"/>
          </a:p>
        </p:txBody>
      </p:sp>
      <p:sp>
        <p:nvSpPr>
          <p:cNvPr id="28" name="Isosceles Triangle 27">
            <a:extLst>
              <a:ext uri="{FF2B5EF4-FFF2-40B4-BE49-F238E27FC236}">
                <a16:creationId xmlns:a16="http://schemas.microsoft.com/office/drawing/2014/main" id="{5A5699F6-26B0-EECB-7593-19981CD72BB4}"/>
              </a:ext>
            </a:extLst>
          </p:cNvPr>
          <p:cNvSpPr/>
          <p:nvPr/>
        </p:nvSpPr>
        <p:spPr>
          <a:xfrm rot="2568451">
            <a:off x="9927133" y="4323281"/>
            <a:ext cx="1060704" cy="188200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Isosceles Triangle 28">
            <a:extLst>
              <a:ext uri="{FF2B5EF4-FFF2-40B4-BE49-F238E27FC236}">
                <a16:creationId xmlns:a16="http://schemas.microsoft.com/office/drawing/2014/main" id="{5FCB34E5-C75D-2495-3FE1-973DD9F4F4CD}"/>
              </a:ext>
            </a:extLst>
          </p:cNvPr>
          <p:cNvSpPr/>
          <p:nvPr/>
        </p:nvSpPr>
        <p:spPr>
          <a:xfrm rot="1121674">
            <a:off x="1175889" y="4332523"/>
            <a:ext cx="1756390" cy="188200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4" name="Group 33" descr="4 triangles labelled A to D. The second triangle is different, because it has one obtuse angle (greater than 90 degrees).">
            <a:extLst>
              <a:ext uri="{FF2B5EF4-FFF2-40B4-BE49-F238E27FC236}">
                <a16:creationId xmlns:a16="http://schemas.microsoft.com/office/drawing/2014/main" id="{C9C7CCE1-6913-0410-CB28-F6A114908702}"/>
              </a:ext>
            </a:extLst>
          </p:cNvPr>
          <p:cNvGrpSpPr/>
          <p:nvPr/>
        </p:nvGrpSpPr>
        <p:grpSpPr>
          <a:xfrm>
            <a:off x="1704129" y="4409418"/>
            <a:ext cx="8753356" cy="1790054"/>
            <a:chOff x="1704129" y="4409418"/>
            <a:chExt cx="8753356" cy="1790054"/>
          </a:xfrm>
        </p:grpSpPr>
        <p:sp>
          <p:nvSpPr>
            <p:cNvPr id="25" name="Isosceles Triangle 24">
              <a:extLst>
                <a:ext uri="{FF2B5EF4-FFF2-40B4-BE49-F238E27FC236}">
                  <a16:creationId xmlns:a16="http://schemas.microsoft.com/office/drawing/2014/main" id="{BFE78998-7901-659F-6DBB-82F645C89CD5}"/>
                </a:ext>
              </a:extLst>
            </p:cNvPr>
            <p:cNvSpPr/>
            <p:nvPr/>
          </p:nvSpPr>
          <p:spPr>
            <a:xfrm>
              <a:off x="7237710" y="4409418"/>
              <a:ext cx="1464590" cy="179005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Shape 26">
              <a:extLst>
                <a:ext uri="{FF2B5EF4-FFF2-40B4-BE49-F238E27FC236}">
                  <a16:creationId xmlns:a16="http://schemas.microsoft.com/office/drawing/2014/main" id="{F995236B-F734-5B5B-608B-4B1F43484813}"/>
                </a:ext>
              </a:extLst>
            </p:cNvPr>
            <p:cNvSpPr/>
            <p:nvPr/>
          </p:nvSpPr>
          <p:spPr>
            <a:xfrm>
              <a:off x="3346780" y="4502408"/>
              <a:ext cx="2921430" cy="1604074"/>
            </a:xfrm>
            <a:custGeom>
              <a:avLst/>
              <a:gdLst>
                <a:gd name="connsiteX0" fmla="*/ 0 w 2921430"/>
                <a:gd name="connsiteY0" fmla="*/ 0 h 1604074"/>
                <a:gd name="connsiteX1" fmla="*/ 1146874 w 2921430"/>
                <a:gd name="connsiteY1" fmla="*/ 1604074 h 1604074"/>
                <a:gd name="connsiteX2" fmla="*/ 2921430 w 2921430"/>
                <a:gd name="connsiteY2" fmla="*/ 1596325 h 1604074"/>
                <a:gd name="connsiteX3" fmla="*/ 0 w 2921430"/>
                <a:gd name="connsiteY3" fmla="*/ 0 h 1604074"/>
              </a:gdLst>
              <a:ahLst/>
              <a:cxnLst>
                <a:cxn ang="0">
                  <a:pos x="connsiteX0" y="connsiteY0"/>
                </a:cxn>
                <a:cxn ang="0">
                  <a:pos x="connsiteX1" y="connsiteY1"/>
                </a:cxn>
                <a:cxn ang="0">
                  <a:pos x="connsiteX2" y="connsiteY2"/>
                </a:cxn>
                <a:cxn ang="0">
                  <a:pos x="connsiteX3" y="connsiteY3"/>
                </a:cxn>
              </a:cxnLst>
              <a:rect l="l" t="t" r="r" b="b"/>
              <a:pathLst>
                <a:path w="2921430" h="1604074">
                  <a:moveTo>
                    <a:pt x="0" y="0"/>
                  </a:moveTo>
                  <a:lnTo>
                    <a:pt x="1146874" y="1604074"/>
                  </a:lnTo>
                  <a:lnTo>
                    <a:pt x="2921430" y="1596325"/>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30" name="TextBox 29">
              <a:extLst>
                <a:ext uri="{FF2B5EF4-FFF2-40B4-BE49-F238E27FC236}">
                  <a16:creationId xmlns:a16="http://schemas.microsoft.com/office/drawing/2014/main" id="{D84F1AF0-7E5A-C012-76AE-F1BB23F4EAF5}"/>
                </a:ext>
              </a:extLst>
            </p:cNvPr>
            <p:cNvSpPr txBox="1"/>
            <p:nvPr/>
          </p:nvSpPr>
          <p:spPr>
            <a:xfrm>
              <a:off x="1704129" y="51436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A</a:t>
              </a:r>
            </a:p>
          </p:txBody>
        </p:sp>
        <p:sp>
          <p:nvSpPr>
            <p:cNvPr id="31" name="TextBox 30">
              <a:extLst>
                <a:ext uri="{FF2B5EF4-FFF2-40B4-BE49-F238E27FC236}">
                  <a16:creationId xmlns:a16="http://schemas.microsoft.com/office/drawing/2014/main" id="{F6BFE329-816A-56E3-EFD2-1FECF4C6B42C}"/>
                </a:ext>
              </a:extLst>
            </p:cNvPr>
            <p:cNvSpPr txBox="1"/>
            <p:nvPr/>
          </p:nvSpPr>
          <p:spPr>
            <a:xfrm>
              <a:off x="4489921" y="530444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B</a:t>
              </a:r>
            </a:p>
          </p:txBody>
        </p:sp>
        <p:sp>
          <p:nvSpPr>
            <p:cNvPr id="32" name="TextBox 31">
              <a:extLst>
                <a:ext uri="{FF2B5EF4-FFF2-40B4-BE49-F238E27FC236}">
                  <a16:creationId xmlns:a16="http://schemas.microsoft.com/office/drawing/2014/main" id="{C8D0F1AA-72A4-FD77-F96F-9C7EAE119C74}"/>
                </a:ext>
              </a:extLst>
            </p:cNvPr>
            <p:cNvSpPr txBox="1"/>
            <p:nvPr/>
          </p:nvSpPr>
          <p:spPr>
            <a:xfrm>
              <a:off x="7705290" y="52735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C</a:t>
              </a:r>
            </a:p>
          </p:txBody>
        </p:sp>
        <p:sp>
          <p:nvSpPr>
            <p:cNvPr id="33" name="TextBox 32">
              <a:extLst>
                <a:ext uri="{FF2B5EF4-FFF2-40B4-BE49-F238E27FC236}">
                  <a16:creationId xmlns:a16="http://schemas.microsoft.com/office/drawing/2014/main" id="{AAE9E8CA-CD42-A838-A302-813643EF93DE}"/>
                </a:ext>
              </a:extLst>
            </p:cNvPr>
            <p:cNvSpPr txBox="1"/>
            <p:nvPr/>
          </p:nvSpPr>
          <p:spPr>
            <a:xfrm>
              <a:off x="9928056" y="52735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solidFill>
                    <a:schemeClr val="bg1"/>
                  </a:solidFill>
                </a:rPr>
                <a:t>D</a:t>
              </a:r>
            </a:p>
          </p:txBody>
        </p:sp>
      </p:gr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 decimals on a number line</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0" name="Picture 69" descr="A number line with unlabelled markings.">
            <a:extLst>
              <a:ext uri="{FF2B5EF4-FFF2-40B4-BE49-F238E27FC236}">
                <a16:creationId xmlns:a16="http://schemas.microsoft.com/office/drawing/2014/main" id="{AF84BD38-5133-081C-A0CD-9D5BD9D955D5}"/>
              </a:ext>
            </a:extLst>
          </p:cNvPr>
          <p:cNvPicPr>
            <a:picLocks noChangeAspect="1"/>
          </p:cNvPicPr>
          <p:nvPr/>
        </p:nvPicPr>
        <p:blipFill>
          <a:blip r:embed="rId4"/>
          <a:stretch>
            <a:fillRect/>
          </a:stretch>
        </p:blipFill>
        <p:spPr>
          <a:xfrm>
            <a:off x="680281" y="3090815"/>
            <a:ext cx="10831437" cy="676369"/>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(3)</a:t>
            </a:r>
          </a:p>
        </p:txBody>
      </p:sp>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p:txBody>
          <a:bodyPr/>
          <a:lstStyle/>
          <a:p>
            <a:pPr algn="ctr"/>
            <a:r>
              <a:rPr lang="en-AU" sz="4400" dirty="0"/>
              <a:t>Which shows </a:t>
            </a:r>
            <a:r>
              <a:rPr lang="en-AU" sz="4400" b="1" dirty="0"/>
              <a:t>184 353 rounded </a:t>
            </a:r>
            <a:r>
              <a:rPr lang="en-AU" sz="4400" dirty="0"/>
              <a:t>to the </a:t>
            </a:r>
          </a:p>
          <a:p>
            <a:pPr algn="ctr"/>
            <a:r>
              <a:rPr lang="en-AU" sz="4400" b="1" dirty="0"/>
              <a:t>nearest hundred</a:t>
            </a:r>
            <a:r>
              <a:rPr lang="en-AU" sz="4400" dirty="0"/>
              <a:t>?</a:t>
            </a:r>
            <a:endParaRPr lang="en-US" sz="4400" dirty="0"/>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Box 6">
            <a:extLst>
              <a:ext uri="{FF2B5EF4-FFF2-40B4-BE49-F238E27FC236}">
                <a16:creationId xmlns:a16="http://schemas.microsoft.com/office/drawing/2014/main" id="{ABEF71C9-2776-292B-55F7-01A3E30C0D23}"/>
              </a:ext>
            </a:extLst>
          </p:cNvPr>
          <p:cNvSpPr txBox="1"/>
          <p:nvPr/>
        </p:nvSpPr>
        <p:spPr>
          <a:xfrm>
            <a:off x="348000" y="4517708"/>
            <a:ext cx="11625694" cy="769441"/>
          </a:xfrm>
          <a:prstGeom prst="rect">
            <a:avLst/>
          </a:prstGeom>
          <a:noFill/>
        </p:spPr>
        <p:txBody>
          <a:bodyPr wrap="square">
            <a:spAutoFit/>
          </a:bodyPr>
          <a:lstStyle/>
          <a:p>
            <a:r>
              <a:rPr lang="en-AU" sz="4400" dirty="0"/>
              <a:t>184 400       184 440       184 300      185 000 </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2FCF425-9BEB-A900-0E9B-7A48093935E5}"/>
              </a:ext>
            </a:extLst>
          </p:cNvPr>
          <p:cNvSpPr txBox="1"/>
          <p:nvPr/>
        </p:nvSpPr>
        <p:spPr>
          <a:xfrm>
            <a:off x="530377" y="1110552"/>
            <a:ext cx="10805781" cy="5045164"/>
          </a:xfrm>
          <a:prstGeom prst="rect">
            <a:avLst/>
          </a:prstGeom>
          <a:noFill/>
        </p:spPr>
        <p:txBody>
          <a:bodyPr wrap="square">
            <a:spAutoFit/>
          </a:bodyPr>
          <a:lstStyle/>
          <a:p>
            <a:pPr algn="ctr">
              <a:lnSpc>
                <a:spcPct val="150000"/>
              </a:lnSpc>
            </a:pPr>
            <a:r>
              <a:rPr lang="en-AU" sz="4400" dirty="0"/>
              <a:t>When 123 is recorded using </a:t>
            </a:r>
            <a:r>
              <a:rPr lang="en-AU" sz="4400" b="1" dirty="0"/>
              <a:t>standard partitioning</a:t>
            </a:r>
            <a:r>
              <a:rPr lang="en-AU" sz="4400" dirty="0"/>
              <a:t> it is</a:t>
            </a:r>
          </a:p>
          <a:p>
            <a:pPr algn="ctr">
              <a:lnSpc>
                <a:spcPct val="150000"/>
              </a:lnSpc>
            </a:pPr>
            <a:r>
              <a:rPr lang="en-AU" sz="4400" b="1" dirty="0"/>
              <a:t>100 + 20 + 3</a:t>
            </a:r>
            <a:r>
              <a:rPr lang="en-AU" sz="4400" dirty="0"/>
              <a:t>.</a:t>
            </a:r>
          </a:p>
          <a:p>
            <a:pPr algn="ctr">
              <a:lnSpc>
                <a:spcPct val="150000"/>
              </a:lnSpc>
            </a:pPr>
            <a:r>
              <a:rPr lang="en-AU" sz="4400" b="1" dirty="0"/>
              <a:t>Record </a:t>
            </a:r>
            <a:r>
              <a:rPr lang="en-AU" sz="4400" dirty="0"/>
              <a:t>the decimal number </a:t>
            </a:r>
            <a:r>
              <a:rPr lang="en-AU" sz="4400" b="1" dirty="0"/>
              <a:t>5.429 </a:t>
            </a:r>
            <a:r>
              <a:rPr lang="en-AU" sz="4400" dirty="0"/>
              <a:t>using </a:t>
            </a:r>
            <a:r>
              <a:rPr lang="en-AU" sz="4400" b="1" dirty="0"/>
              <a:t>standard partitioning</a:t>
            </a:r>
            <a:r>
              <a:rPr lang="en-AU" sz="4400" dirty="0"/>
              <a:t>.</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6959744-E0DA-FB03-9C8E-DA8A345C0925}"/>
              </a:ext>
            </a:extLst>
          </p:cNvPr>
          <p:cNvSpPr txBox="1"/>
          <p:nvPr/>
        </p:nvSpPr>
        <p:spPr>
          <a:xfrm>
            <a:off x="1446" y="1184223"/>
            <a:ext cx="11844978" cy="1446550"/>
          </a:xfrm>
          <a:prstGeom prst="rect">
            <a:avLst/>
          </a:prstGeom>
          <a:noFill/>
        </p:spPr>
        <p:txBody>
          <a:bodyPr wrap="square" lIns="91440" tIns="45720" rIns="91440" bIns="45720" anchor="t">
            <a:spAutoFit/>
          </a:bodyPr>
          <a:lstStyle/>
          <a:p>
            <a:pPr algn="ctr"/>
            <a:r>
              <a:rPr lang="en-US" sz="4400" dirty="0">
                <a:latin typeface="Arial"/>
                <a:cs typeface="Arial"/>
              </a:rPr>
              <a:t>Record the missing </a:t>
            </a:r>
            <a:r>
              <a:rPr lang="en-US" sz="4400" b="1" dirty="0">
                <a:latin typeface="Arial"/>
                <a:cs typeface="Arial"/>
              </a:rPr>
              <a:t>equivalent</a:t>
            </a:r>
            <a:r>
              <a:rPr lang="en-US" sz="4400" dirty="0">
                <a:latin typeface="Arial"/>
                <a:cs typeface="Arial"/>
              </a:rPr>
              <a:t> </a:t>
            </a:r>
            <a:r>
              <a:rPr lang="en-US" sz="4400" b="1" dirty="0">
                <a:latin typeface="Arial"/>
                <a:cs typeface="Arial"/>
              </a:rPr>
              <a:t>benchmark</a:t>
            </a:r>
            <a:r>
              <a:rPr lang="en-US" sz="4400" dirty="0">
                <a:latin typeface="Arial"/>
                <a:cs typeface="Arial"/>
              </a:rPr>
              <a:t> fractions, decimals and percentages.</a:t>
            </a:r>
            <a:endParaRPr lang="en-US" sz="4400" dirty="0">
              <a:cs typeface="Arial"/>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DFA5B36A-3CCB-3EC5-6287-334DC4D90C96}"/>
                  </a:ext>
                </a:extLst>
              </p:cNvPr>
              <p:cNvGraphicFramePr>
                <a:graphicFrameLocks noGrp="1"/>
              </p:cNvGraphicFramePr>
              <p:nvPr>
                <p:extLst>
                  <p:ext uri="{D42A27DB-BD31-4B8C-83A1-F6EECF244321}">
                    <p14:modId xmlns:p14="http://schemas.microsoft.com/office/powerpoint/2010/main" val="4138499269"/>
                  </p:ext>
                </p:extLst>
              </p:nvPr>
            </p:nvGraphicFramePr>
            <p:xfrm>
              <a:off x="1932940" y="3156066"/>
              <a:ext cx="8127999" cy="3043428"/>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079526720"/>
                        </a:ext>
                      </a:extLst>
                    </a:gridCol>
                    <a:gridCol w="2709333">
                      <a:extLst>
                        <a:ext uri="{9D8B030D-6E8A-4147-A177-3AD203B41FA5}">
                          <a16:colId xmlns:a16="http://schemas.microsoft.com/office/drawing/2014/main" val="1095840947"/>
                        </a:ext>
                      </a:extLst>
                    </a:gridCol>
                    <a:gridCol w="2709333">
                      <a:extLst>
                        <a:ext uri="{9D8B030D-6E8A-4147-A177-3AD203B41FA5}">
                          <a16:colId xmlns:a16="http://schemas.microsoft.com/office/drawing/2014/main" val="2506569629"/>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2800" b="1" dirty="0">
                              <a:latin typeface="+mn-lt"/>
                            </a:rPr>
                            <a:t>Fraction</a:t>
                          </a:r>
                          <a:br>
                            <a:rPr lang="en-AU" sz="1200" b="1" dirty="0">
                              <a:latin typeface="+mn-lt"/>
                            </a:rPr>
                          </a:br>
                          <a:endParaRPr lang="en-AU" sz="1200" b="1" dirty="0">
                            <a:latin typeface="+mn-lt"/>
                          </a:endParaRPr>
                        </a:p>
                      </a:txBody>
                      <a:tcPr/>
                    </a:tc>
                    <a:tc>
                      <a:txBody>
                        <a:bodyPr/>
                        <a:lstStyle/>
                        <a:p>
                          <a:pPr algn="ctr"/>
                          <a:r>
                            <a:rPr lang="en-AU" sz="2800" b="1" dirty="0">
                              <a:latin typeface="+mn-lt"/>
                            </a:rPr>
                            <a:t>Decimal</a:t>
                          </a:r>
                        </a:p>
                      </a:txBody>
                      <a:tcPr/>
                    </a:tc>
                    <a:tc>
                      <a:txBody>
                        <a:bodyPr/>
                        <a:lstStyle/>
                        <a:p>
                          <a:pPr algn="ctr"/>
                          <a:r>
                            <a:rPr lang="en-AU" sz="2800" b="1" dirty="0">
                              <a:latin typeface="+mn-lt"/>
                            </a:rPr>
                            <a:t>Percentage</a:t>
                          </a:r>
                        </a:p>
                      </a:txBody>
                      <a:tcPr/>
                    </a:tc>
                    <a:extLst>
                      <a:ext uri="{0D108BD9-81ED-4DB2-BD59-A6C34878D82A}">
                        <a16:rowId xmlns:a16="http://schemas.microsoft.com/office/drawing/2014/main" val="347285560"/>
                      </a:ext>
                    </a:extLst>
                  </a:tr>
                  <a:tr h="370840">
                    <a:tc>
                      <a:txBody>
                        <a:bodyPr/>
                        <a:lstStyle/>
                        <a:p>
                          <a:pPr/>
                          <a14:m>
                            <m:oMathPara xmlns:m="http://schemas.openxmlformats.org/officeDocument/2006/math">
                              <m:oMathParaPr>
                                <m:jc m:val="centerGroup"/>
                              </m:oMathParaPr>
                              <m:oMath xmlns:m="http://schemas.openxmlformats.org/officeDocument/2006/math">
                                <m:f>
                                  <m:fPr>
                                    <m:ctrlPr>
                                      <a:rPr lang="en-AU" sz="1800" b="1" i="1" smtClean="0">
                                        <a:latin typeface="Cambria Math" panose="02040503050406030204" pitchFamily="18" charset="0"/>
                                      </a:rPr>
                                    </m:ctrlPr>
                                  </m:fPr>
                                  <m:num>
                                    <m:r>
                                      <a:rPr lang="en-AU" sz="1800" b="1" i="1" smtClean="0">
                                        <a:latin typeface="Cambria Math" panose="02040503050406030204" pitchFamily="18" charset="0"/>
                                      </a:rPr>
                                      <m:t>𝟏</m:t>
                                    </m:r>
                                  </m:num>
                                  <m:den>
                                    <m:r>
                                      <a:rPr lang="en-AU" sz="1800" b="1" i="1" smtClean="0">
                                        <a:latin typeface="Cambria Math" panose="02040503050406030204" pitchFamily="18" charset="0"/>
                                      </a:rPr>
                                      <m:t>𝟒</m:t>
                                    </m:r>
                                  </m:den>
                                </m:f>
                              </m:oMath>
                            </m:oMathPara>
                          </a14:m>
                          <a:endParaRPr lang="en-AU" dirty="0">
                            <a:latin typeface="+mn-lt"/>
                          </a:endParaRPr>
                        </a:p>
                      </a:txBody>
                      <a:tcPr/>
                    </a:tc>
                    <a:tc>
                      <a:txBody>
                        <a:bodyPr/>
                        <a:lstStyle/>
                        <a:p>
                          <a:pPr algn="ctr"/>
                          <a:endParaRPr lang="en-AU" sz="3200" dirty="0">
                            <a:latin typeface="+mn-lt"/>
                          </a:endParaRPr>
                        </a:p>
                      </a:txBody>
                      <a:tcPr/>
                    </a:tc>
                    <a:tc>
                      <a:txBody>
                        <a:bodyPr/>
                        <a:lstStyle/>
                        <a:p>
                          <a:pPr algn="ctr"/>
                          <a:endParaRPr lang="en-AU" sz="3200" dirty="0">
                            <a:latin typeface="+mn-lt"/>
                          </a:endParaRPr>
                        </a:p>
                      </a:txBody>
                      <a:tcPr/>
                    </a:tc>
                    <a:extLst>
                      <a:ext uri="{0D108BD9-81ED-4DB2-BD59-A6C34878D82A}">
                        <a16:rowId xmlns:a16="http://schemas.microsoft.com/office/drawing/2014/main" val="2224110458"/>
                      </a:ext>
                    </a:extLst>
                  </a:tr>
                  <a:tr h="370840">
                    <a:tc>
                      <a:txBody>
                        <a:bodyPr/>
                        <a:lstStyle/>
                        <a:p>
                          <a:endParaRPr lang="en-AU" dirty="0">
                            <a:latin typeface="+mn-lt"/>
                          </a:endParaRPr>
                        </a:p>
                      </a:txBody>
                      <a:tcPr/>
                    </a:tc>
                    <a:tc>
                      <a:txBody>
                        <a:bodyPr/>
                        <a:lstStyle/>
                        <a:p>
                          <a:pPr algn="ctr"/>
                          <a:endParaRPr lang="en-AU" sz="3200" dirty="0">
                            <a:latin typeface="+mn-lt"/>
                          </a:endParaRPr>
                        </a:p>
                      </a:txBody>
                      <a:tcPr/>
                    </a:tc>
                    <a:tc>
                      <a:txBody>
                        <a:bodyPr/>
                        <a:lstStyle/>
                        <a:p>
                          <a:pPr algn="ctr"/>
                          <a:r>
                            <a:rPr lang="en-AU" sz="3200" dirty="0">
                              <a:latin typeface="+mn-lt"/>
                            </a:rPr>
                            <a:t>50%</a:t>
                          </a:r>
                        </a:p>
                      </a:txBody>
                      <a:tcPr/>
                    </a:tc>
                    <a:extLst>
                      <a:ext uri="{0D108BD9-81ED-4DB2-BD59-A6C34878D82A}">
                        <a16:rowId xmlns:a16="http://schemas.microsoft.com/office/drawing/2014/main" val="4070161578"/>
                      </a:ext>
                    </a:extLst>
                  </a:tr>
                  <a:tr h="370840">
                    <a:tc>
                      <a:txBody>
                        <a:bodyPr/>
                        <a:lstStyle/>
                        <a:p>
                          <a:endParaRPr lang="en-AU" dirty="0">
                            <a:latin typeface="+mn-lt"/>
                          </a:endParaRPr>
                        </a:p>
                      </a:txBody>
                      <a:tcPr/>
                    </a:tc>
                    <a:tc>
                      <a:txBody>
                        <a:bodyPr/>
                        <a:lstStyle/>
                        <a:p>
                          <a:pPr algn="ctr"/>
                          <a:r>
                            <a:rPr lang="en-AU" sz="3200" dirty="0">
                              <a:latin typeface="+mn-lt"/>
                            </a:rPr>
                            <a:t>0.75</a:t>
                          </a:r>
                        </a:p>
                      </a:txBody>
                      <a:tcPr/>
                    </a:tc>
                    <a:tc>
                      <a:txBody>
                        <a:bodyPr/>
                        <a:lstStyle/>
                        <a:p>
                          <a:pPr algn="ctr"/>
                          <a:endParaRPr lang="en-AU" sz="3200" dirty="0">
                            <a:latin typeface="+mn-lt"/>
                          </a:endParaRPr>
                        </a:p>
                      </a:txBody>
                      <a:tcPr/>
                    </a:tc>
                    <a:extLst>
                      <a:ext uri="{0D108BD9-81ED-4DB2-BD59-A6C34878D82A}">
                        <a16:rowId xmlns:a16="http://schemas.microsoft.com/office/drawing/2014/main" val="3345259628"/>
                      </a:ext>
                    </a:extLst>
                  </a:tr>
                  <a:tr h="370840">
                    <a:tc>
                      <a:txBody>
                        <a:bodyPr/>
                        <a:lstStyle/>
                        <a:p>
                          <a:endParaRPr lang="en-AU" dirty="0">
                            <a:latin typeface="+mn-lt"/>
                          </a:endParaRPr>
                        </a:p>
                      </a:txBody>
                      <a:tcPr/>
                    </a:tc>
                    <a:tc>
                      <a:txBody>
                        <a:bodyPr/>
                        <a:lstStyle/>
                        <a:p>
                          <a:pPr algn="ctr"/>
                          <a:endParaRPr lang="en-AU" sz="3200">
                            <a:latin typeface="+mn-lt"/>
                          </a:endParaRPr>
                        </a:p>
                      </a:txBody>
                      <a:tcPr/>
                    </a:tc>
                    <a:tc>
                      <a:txBody>
                        <a:bodyPr/>
                        <a:lstStyle/>
                        <a:p>
                          <a:pPr algn="ctr"/>
                          <a:r>
                            <a:rPr lang="en-AU" sz="3200" dirty="0">
                              <a:latin typeface="+mn-lt"/>
                            </a:rPr>
                            <a:t>100%</a:t>
                          </a:r>
                        </a:p>
                      </a:txBody>
                      <a:tcPr/>
                    </a:tc>
                    <a:extLst>
                      <a:ext uri="{0D108BD9-81ED-4DB2-BD59-A6C34878D82A}">
                        <a16:rowId xmlns:a16="http://schemas.microsoft.com/office/drawing/2014/main" val="1684336768"/>
                      </a:ext>
                    </a:extLst>
                  </a:tr>
                </a:tbl>
              </a:graphicData>
            </a:graphic>
          </p:graphicFrame>
        </mc:Choice>
        <mc:Fallback xmlns="">
          <p:graphicFrame>
            <p:nvGraphicFramePr>
              <p:cNvPr id="7" name="Table 6">
                <a:extLst>
                  <a:ext uri="{FF2B5EF4-FFF2-40B4-BE49-F238E27FC236}">
                    <a16:creationId xmlns:a16="http://schemas.microsoft.com/office/drawing/2014/main" id="{DFA5B36A-3CCB-3EC5-6287-334DC4D90C96}"/>
                  </a:ext>
                </a:extLst>
              </p:cNvPr>
              <p:cNvGraphicFramePr>
                <a:graphicFrameLocks noGrp="1"/>
              </p:cNvGraphicFramePr>
              <p:nvPr>
                <p:extLst>
                  <p:ext uri="{D42A27DB-BD31-4B8C-83A1-F6EECF244321}">
                    <p14:modId xmlns:p14="http://schemas.microsoft.com/office/powerpoint/2010/main" val="4138499269"/>
                  </p:ext>
                </p:extLst>
              </p:nvPr>
            </p:nvGraphicFramePr>
            <p:xfrm>
              <a:off x="1932940" y="3156066"/>
              <a:ext cx="8127999" cy="3043428"/>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079526720"/>
                        </a:ext>
                      </a:extLst>
                    </a:gridCol>
                    <a:gridCol w="2709333">
                      <a:extLst>
                        <a:ext uri="{9D8B030D-6E8A-4147-A177-3AD203B41FA5}">
                          <a16:colId xmlns:a16="http://schemas.microsoft.com/office/drawing/2014/main" val="1095840947"/>
                        </a:ext>
                      </a:extLst>
                    </a:gridCol>
                    <a:gridCol w="2709333">
                      <a:extLst>
                        <a:ext uri="{9D8B030D-6E8A-4147-A177-3AD203B41FA5}">
                          <a16:colId xmlns:a16="http://schemas.microsoft.com/office/drawing/2014/main" val="2506569629"/>
                        </a:ext>
                      </a:extLst>
                    </a:gridCol>
                  </a:tblGrid>
                  <a:tr h="7010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2800" b="1" dirty="0">
                              <a:latin typeface="+mn-lt"/>
                            </a:rPr>
                            <a:t>Fraction</a:t>
                          </a:r>
                          <a:br>
                            <a:rPr lang="en-AU" sz="1200" b="1" dirty="0">
                              <a:latin typeface="+mn-lt"/>
                            </a:rPr>
                          </a:br>
                          <a:endParaRPr lang="en-AU" sz="1200" b="1" dirty="0">
                            <a:latin typeface="+mn-lt"/>
                          </a:endParaRPr>
                        </a:p>
                      </a:txBody>
                      <a:tcPr/>
                    </a:tc>
                    <a:tc>
                      <a:txBody>
                        <a:bodyPr/>
                        <a:lstStyle/>
                        <a:p>
                          <a:pPr algn="ctr"/>
                          <a:r>
                            <a:rPr lang="en-AU" sz="2800" b="1" dirty="0">
                              <a:latin typeface="+mn-lt"/>
                            </a:rPr>
                            <a:t>Decimal</a:t>
                          </a:r>
                        </a:p>
                      </a:txBody>
                      <a:tcPr/>
                    </a:tc>
                    <a:tc>
                      <a:txBody>
                        <a:bodyPr/>
                        <a:lstStyle/>
                        <a:p>
                          <a:pPr algn="ctr"/>
                          <a:r>
                            <a:rPr lang="en-AU" sz="2800" b="1" dirty="0">
                              <a:latin typeface="+mn-lt"/>
                            </a:rPr>
                            <a:t>Percentage</a:t>
                          </a:r>
                        </a:p>
                      </a:txBody>
                      <a:tcPr/>
                    </a:tc>
                    <a:extLst>
                      <a:ext uri="{0D108BD9-81ED-4DB2-BD59-A6C34878D82A}">
                        <a16:rowId xmlns:a16="http://schemas.microsoft.com/office/drawing/2014/main" val="347285560"/>
                      </a:ext>
                    </a:extLst>
                  </a:tr>
                  <a:tr h="605028">
                    <a:tc>
                      <a:txBody>
                        <a:bodyPr/>
                        <a:lstStyle/>
                        <a:p>
                          <a:endParaRPr lang="en-US"/>
                        </a:p>
                      </a:txBody>
                      <a:tcPr>
                        <a:blipFill>
                          <a:blip r:embed="rId4"/>
                          <a:stretch>
                            <a:fillRect l="-225" t="-125000" r="-200225" b="-318000"/>
                          </a:stretch>
                        </a:blipFill>
                      </a:tcPr>
                    </a:tc>
                    <a:tc>
                      <a:txBody>
                        <a:bodyPr/>
                        <a:lstStyle/>
                        <a:p>
                          <a:pPr algn="ctr"/>
                          <a:endParaRPr lang="en-AU" sz="3200" dirty="0">
                            <a:latin typeface="+mn-lt"/>
                          </a:endParaRPr>
                        </a:p>
                      </a:txBody>
                      <a:tcPr/>
                    </a:tc>
                    <a:tc>
                      <a:txBody>
                        <a:bodyPr/>
                        <a:lstStyle/>
                        <a:p>
                          <a:pPr algn="ctr"/>
                          <a:endParaRPr lang="en-AU" sz="3200" dirty="0">
                            <a:latin typeface="+mn-lt"/>
                          </a:endParaRPr>
                        </a:p>
                      </a:txBody>
                      <a:tcPr/>
                    </a:tc>
                    <a:extLst>
                      <a:ext uri="{0D108BD9-81ED-4DB2-BD59-A6C34878D82A}">
                        <a16:rowId xmlns:a16="http://schemas.microsoft.com/office/drawing/2014/main" val="2224110458"/>
                      </a:ext>
                    </a:extLst>
                  </a:tr>
                  <a:tr h="579120">
                    <a:tc>
                      <a:txBody>
                        <a:bodyPr/>
                        <a:lstStyle/>
                        <a:p>
                          <a:endParaRPr lang="en-AU" dirty="0">
                            <a:latin typeface="+mn-lt"/>
                          </a:endParaRPr>
                        </a:p>
                      </a:txBody>
                      <a:tcPr/>
                    </a:tc>
                    <a:tc>
                      <a:txBody>
                        <a:bodyPr/>
                        <a:lstStyle/>
                        <a:p>
                          <a:pPr algn="ctr"/>
                          <a:endParaRPr lang="en-AU" sz="3200" dirty="0">
                            <a:latin typeface="+mn-lt"/>
                          </a:endParaRPr>
                        </a:p>
                      </a:txBody>
                      <a:tcPr/>
                    </a:tc>
                    <a:tc>
                      <a:txBody>
                        <a:bodyPr/>
                        <a:lstStyle/>
                        <a:p>
                          <a:pPr algn="ctr"/>
                          <a:r>
                            <a:rPr lang="en-AU" sz="3200" dirty="0">
                              <a:latin typeface="+mn-lt"/>
                            </a:rPr>
                            <a:t>50%</a:t>
                          </a:r>
                        </a:p>
                      </a:txBody>
                      <a:tcPr/>
                    </a:tc>
                    <a:extLst>
                      <a:ext uri="{0D108BD9-81ED-4DB2-BD59-A6C34878D82A}">
                        <a16:rowId xmlns:a16="http://schemas.microsoft.com/office/drawing/2014/main" val="4070161578"/>
                      </a:ext>
                    </a:extLst>
                  </a:tr>
                  <a:tr h="579120">
                    <a:tc>
                      <a:txBody>
                        <a:bodyPr/>
                        <a:lstStyle/>
                        <a:p>
                          <a:endParaRPr lang="en-AU" dirty="0">
                            <a:latin typeface="+mn-lt"/>
                          </a:endParaRPr>
                        </a:p>
                      </a:txBody>
                      <a:tcPr/>
                    </a:tc>
                    <a:tc>
                      <a:txBody>
                        <a:bodyPr/>
                        <a:lstStyle/>
                        <a:p>
                          <a:pPr algn="ctr"/>
                          <a:r>
                            <a:rPr lang="en-AU" sz="3200" dirty="0">
                              <a:latin typeface="+mn-lt"/>
                            </a:rPr>
                            <a:t>0.75</a:t>
                          </a:r>
                        </a:p>
                      </a:txBody>
                      <a:tcPr/>
                    </a:tc>
                    <a:tc>
                      <a:txBody>
                        <a:bodyPr/>
                        <a:lstStyle/>
                        <a:p>
                          <a:pPr algn="ctr"/>
                          <a:endParaRPr lang="en-AU" sz="3200" dirty="0">
                            <a:latin typeface="+mn-lt"/>
                          </a:endParaRPr>
                        </a:p>
                      </a:txBody>
                      <a:tcPr/>
                    </a:tc>
                    <a:extLst>
                      <a:ext uri="{0D108BD9-81ED-4DB2-BD59-A6C34878D82A}">
                        <a16:rowId xmlns:a16="http://schemas.microsoft.com/office/drawing/2014/main" val="3345259628"/>
                      </a:ext>
                    </a:extLst>
                  </a:tr>
                  <a:tr h="579120">
                    <a:tc>
                      <a:txBody>
                        <a:bodyPr/>
                        <a:lstStyle/>
                        <a:p>
                          <a:endParaRPr lang="en-AU" dirty="0">
                            <a:latin typeface="+mn-lt"/>
                          </a:endParaRPr>
                        </a:p>
                      </a:txBody>
                      <a:tcPr/>
                    </a:tc>
                    <a:tc>
                      <a:txBody>
                        <a:bodyPr/>
                        <a:lstStyle/>
                        <a:p>
                          <a:pPr algn="ctr"/>
                          <a:endParaRPr lang="en-AU" sz="3200">
                            <a:latin typeface="+mn-lt"/>
                          </a:endParaRPr>
                        </a:p>
                      </a:txBody>
                      <a:tcPr/>
                    </a:tc>
                    <a:tc>
                      <a:txBody>
                        <a:bodyPr/>
                        <a:lstStyle/>
                        <a:p>
                          <a:pPr algn="ctr"/>
                          <a:r>
                            <a:rPr lang="en-AU" sz="3200" dirty="0">
                              <a:latin typeface="+mn-lt"/>
                            </a:rPr>
                            <a:t>100%</a:t>
                          </a:r>
                        </a:p>
                      </a:txBody>
                      <a:tcPr/>
                    </a:tc>
                    <a:extLst>
                      <a:ext uri="{0D108BD9-81ED-4DB2-BD59-A6C34878D82A}">
                        <a16:rowId xmlns:a16="http://schemas.microsoft.com/office/drawing/2014/main" val="1684336768"/>
                      </a:ext>
                    </a:extLst>
                  </a:tr>
                </a:tbl>
              </a:graphicData>
            </a:graphic>
          </p:graphicFrame>
        </mc:Fallback>
      </mc:AlternateContent>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F3F743A-0079-59C2-73FF-BCE11971BD78}"/>
              </a:ext>
            </a:extLst>
          </p:cNvPr>
          <p:cNvSpPr txBox="1"/>
          <p:nvPr/>
        </p:nvSpPr>
        <p:spPr>
          <a:xfrm>
            <a:off x="485045" y="788512"/>
            <a:ext cx="10805781" cy="4029501"/>
          </a:xfrm>
          <a:prstGeom prst="rect">
            <a:avLst/>
          </a:prstGeom>
          <a:noFill/>
        </p:spPr>
        <p:txBody>
          <a:bodyPr wrap="square">
            <a:spAutoFit/>
          </a:bodyPr>
          <a:lstStyle/>
          <a:p>
            <a:pPr>
              <a:lnSpc>
                <a:spcPct val="150000"/>
              </a:lnSpc>
            </a:pPr>
            <a:r>
              <a:rPr lang="en-AU" sz="4400" dirty="0"/>
              <a:t>Record the letter for each </a:t>
            </a:r>
            <a:r>
              <a:rPr lang="en-AU" sz="4400" b="1" dirty="0"/>
              <a:t>type</a:t>
            </a:r>
            <a:r>
              <a:rPr lang="en-AU" sz="4400" dirty="0"/>
              <a:t> of </a:t>
            </a:r>
            <a:r>
              <a:rPr lang="en-AU" sz="4400" b="1" dirty="0"/>
              <a:t>angle</a:t>
            </a:r>
            <a:r>
              <a:rPr lang="en-AU" sz="4400" dirty="0"/>
              <a:t>:</a:t>
            </a:r>
          </a:p>
          <a:p>
            <a:pPr marL="571500" indent="-571500">
              <a:lnSpc>
                <a:spcPct val="150000"/>
              </a:lnSpc>
              <a:buFont typeface="Arial" panose="020B0604020202020204" pitchFamily="34" charset="0"/>
              <a:buChar char="•"/>
            </a:pPr>
            <a:r>
              <a:rPr lang="en-AU" sz="4400" dirty="0"/>
              <a:t>acute</a:t>
            </a:r>
          </a:p>
          <a:p>
            <a:pPr marL="571500" indent="-571500">
              <a:lnSpc>
                <a:spcPct val="150000"/>
              </a:lnSpc>
              <a:buFont typeface="Arial" panose="020B0604020202020204" pitchFamily="34" charset="0"/>
              <a:buChar char="•"/>
            </a:pPr>
            <a:r>
              <a:rPr lang="en-AU" sz="4400" dirty="0"/>
              <a:t>obtuse</a:t>
            </a:r>
          </a:p>
          <a:p>
            <a:pPr marL="571500" indent="-571500">
              <a:lnSpc>
                <a:spcPct val="150000"/>
              </a:lnSpc>
              <a:buFont typeface="Arial" panose="020B0604020202020204" pitchFamily="34" charset="0"/>
              <a:buChar char="•"/>
            </a:pPr>
            <a:r>
              <a:rPr lang="en-AU" sz="4400" dirty="0"/>
              <a:t>reflex</a:t>
            </a:r>
          </a:p>
        </p:txBody>
      </p:sp>
      <p:grpSp>
        <p:nvGrpSpPr>
          <p:cNvPr id="18" name="Group 17" descr="A star with 3 angles identified. Angle A is obtuse, angle B is acute and angle C is reflex.">
            <a:extLst>
              <a:ext uri="{FF2B5EF4-FFF2-40B4-BE49-F238E27FC236}">
                <a16:creationId xmlns:a16="http://schemas.microsoft.com/office/drawing/2014/main" id="{5DED43B9-AE9E-0777-47B0-86ADE0E9AA57}"/>
              </a:ext>
            </a:extLst>
          </p:cNvPr>
          <p:cNvGrpSpPr/>
          <p:nvPr/>
        </p:nvGrpSpPr>
        <p:grpSpPr>
          <a:xfrm>
            <a:off x="4701807" y="1828801"/>
            <a:ext cx="7602488" cy="5029200"/>
            <a:chOff x="4334132" y="1184223"/>
            <a:chExt cx="5500964" cy="3564006"/>
          </a:xfrm>
        </p:grpSpPr>
        <p:grpSp>
          <p:nvGrpSpPr>
            <p:cNvPr id="10" name="Group 9">
              <a:extLst>
                <a:ext uri="{FF2B5EF4-FFF2-40B4-BE49-F238E27FC236}">
                  <a16:creationId xmlns:a16="http://schemas.microsoft.com/office/drawing/2014/main" id="{D6EC1223-5D71-2F62-2852-CFB407795F32}"/>
                </a:ext>
              </a:extLst>
            </p:cNvPr>
            <p:cNvGrpSpPr/>
            <p:nvPr/>
          </p:nvGrpSpPr>
          <p:grpSpPr>
            <a:xfrm>
              <a:off x="5006340" y="1184223"/>
              <a:ext cx="3642360" cy="3564006"/>
              <a:chOff x="5006340" y="1184223"/>
              <a:chExt cx="3642360" cy="3564006"/>
            </a:xfrm>
          </p:grpSpPr>
          <p:sp>
            <p:nvSpPr>
              <p:cNvPr id="5" name="Star: 5 Points 4">
                <a:extLst>
                  <a:ext uri="{FF2B5EF4-FFF2-40B4-BE49-F238E27FC236}">
                    <a16:creationId xmlns:a16="http://schemas.microsoft.com/office/drawing/2014/main" id="{91ABF2DC-93CB-0542-55BD-9DF1B38A3A79}"/>
                  </a:ext>
                </a:extLst>
              </p:cNvPr>
              <p:cNvSpPr/>
              <p:nvPr/>
            </p:nvSpPr>
            <p:spPr>
              <a:xfrm>
                <a:off x="5006340" y="1184223"/>
                <a:ext cx="3642360" cy="3268112"/>
              </a:xfrm>
              <a:prstGeom prst="star5">
                <a:avLst/>
              </a:prstGeom>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p>
            </p:txBody>
          </p:sp>
          <p:sp>
            <p:nvSpPr>
              <p:cNvPr id="7" name="Arc 6">
                <a:extLst>
                  <a:ext uri="{FF2B5EF4-FFF2-40B4-BE49-F238E27FC236}">
                    <a16:creationId xmlns:a16="http://schemas.microsoft.com/office/drawing/2014/main" id="{4F7E24D7-62B6-EB4A-5E2D-76D7EBB3A65E}"/>
                  </a:ext>
                </a:extLst>
              </p:cNvPr>
              <p:cNvSpPr/>
              <p:nvPr/>
            </p:nvSpPr>
            <p:spPr>
              <a:xfrm rot="21093888">
                <a:off x="6963068" y="2150563"/>
                <a:ext cx="591789" cy="557198"/>
              </a:xfrm>
              <a:prstGeom prst="arc">
                <a:avLst>
                  <a:gd name="adj1" fmla="val 15590330"/>
                  <a:gd name="adj2" fmla="val 465909"/>
                </a:avLst>
              </a:prstGeom>
              <a:solidFill>
                <a:schemeClr val="tx2"/>
              </a:solidFill>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8" name="Arc 7">
                <a:extLst>
                  <a:ext uri="{FF2B5EF4-FFF2-40B4-BE49-F238E27FC236}">
                    <a16:creationId xmlns:a16="http://schemas.microsoft.com/office/drawing/2014/main" id="{605C15B2-F409-047D-E93A-636DDA995180}"/>
                  </a:ext>
                </a:extLst>
              </p:cNvPr>
              <p:cNvSpPr/>
              <p:nvPr/>
            </p:nvSpPr>
            <p:spPr>
              <a:xfrm rot="18845601">
                <a:off x="5838173" y="2917235"/>
                <a:ext cx="591789" cy="557198"/>
              </a:xfrm>
              <a:prstGeom prst="arc">
                <a:avLst>
                  <a:gd name="adj1" fmla="val 15590330"/>
                  <a:gd name="adj2" fmla="val 9247869"/>
                </a:avLst>
              </a:prstGeom>
              <a:solidFill>
                <a:schemeClr val="tx2"/>
              </a:solidFill>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9" name="Arc 8">
                <a:extLst>
                  <a:ext uri="{FF2B5EF4-FFF2-40B4-BE49-F238E27FC236}">
                    <a16:creationId xmlns:a16="http://schemas.microsoft.com/office/drawing/2014/main" id="{98735131-D107-3AEA-D186-1D01FB4BDBD6}"/>
                  </a:ext>
                </a:extLst>
              </p:cNvPr>
              <p:cNvSpPr/>
              <p:nvPr/>
            </p:nvSpPr>
            <p:spPr>
              <a:xfrm rot="6401469">
                <a:off x="7650420" y="4173736"/>
                <a:ext cx="591789" cy="557198"/>
              </a:xfrm>
              <a:prstGeom prst="arc">
                <a:avLst>
                  <a:gd name="adj1" fmla="val 6565587"/>
                  <a:gd name="adj2" fmla="val 8669585"/>
                </a:avLst>
              </a:prstGeom>
              <a:solidFill>
                <a:schemeClr val="tx2"/>
              </a:solidFill>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grpSp>
        <p:sp>
          <p:nvSpPr>
            <p:cNvPr id="13" name="TextBox 12">
              <a:extLst>
                <a:ext uri="{FF2B5EF4-FFF2-40B4-BE49-F238E27FC236}">
                  <a16:creationId xmlns:a16="http://schemas.microsoft.com/office/drawing/2014/main" id="{BB971222-0DF2-55CA-62D7-C5451B176952}"/>
                </a:ext>
              </a:extLst>
            </p:cNvPr>
            <p:cNvSpPr txBox="1"/>
            <p:nvPr/>
          </p:nvSpPr>
          <p:spPr>
            <a:xfrm>
              <a:off x="7284713" y="1668551"/>
              <a:ext cx="2017606" cy="615219"/>
            </a:xfrm>
            <a:prstGeom prst="rect">
              <a:avLst/>
            </a:prstGeom>
            <a:noFill/>
          </p:spPr>
          <p:txBody>
            <a:bodyPr wrap="square">
              <a:spAutoFit/>
            </a:bodyPr>
            <a:lstStyle/>
            <a:p>
              <a:r>
                <a:rPr lang="en-AU" sz="3600" dirty="0"/>
                <a:t>A</a:t>
              </a:r>
            </a:p>
          </p:txBody>
        </p:sp>
        <p:sp>
          <p:nvSpPr>
            <p:cNvPr id="15" name="TextBox 14">
              <a:extLst>
                <a:ext uri="{FF2B5EF4-FFF2-40B4-BE49-F238E27FC236}">
                  <a16:creationId xmlns:a16="http://schemas.microsoft.com/office/drawing/2014/main" id="{B299FCC4-1D55-D426-6871-0E8F8ACBEC0E}"/>
                </a:ext>
              </a:extLst>
            </p:cNvPr>
            <p:cNvSpPr txBox="1"/>
            <p:nvPr/>
          </p:nvSpPr>
          <p:spPr>
            <a:xfrm>
              <a:off x="7817490" y="3870800"/>
              <a:ext cx="2017606" cy="615219"/>
            </a:xfrm>
            <a:prstGeom prst="rect">
              <a:avLst/>
            </a:prstGeom>
            <a:noFill/>
          </p:spPr>
          <p:txBody>
            <a:bodyPr wrap="square">
              <a:spAutoFit/>
            </a:bodyPr>
            <a:lstStyle/>
            <a:p>
              <a:r>
                <a:rPr lang="en-AU" sz="3600" dirty="0"/>
                <a:t> B</a:t>
              </a:r>
            </a:p>
          </p:txBody>
        </p:sp>
        <p:sp>
          <p:nvSpPr>
            <p:cNvPr id="16" name="TextBox 15">
              <a:extLst>
                <a:ext uri="{FF2B5EF4-FFF2-40B4-BE49-F238E27FC236}">
                  <a16:creationId xmlns:a16="http://schemas.microsoft.com/office/drawing/2014/main" id="{EA85465E-19E8-0440-B526-0470CBCE4A1B}"/>
                </a:ext>
              </a:extLst>
            </p:cNvPr>
            <p:cNvSpPr txBox="1"/>
            <p:nvPr/>
          </p:nvSpPr>
          <p:spPr>
            <a:xfrm>
              <a:off x="4334132" y="3011799"/>
              <a:ext cx="2017606" cy="615219"/>
            </a:xfrm>
            <a:prstGeom prst="rect">
              <a:avLst/>
            </a:prstGeom>
            <a:noFill/>
          </p:spPr>
          <p:txBody>
            <a:bodyPr wrap="square">
              <a:spAutoFit/>
            </a:bodyPr>
            <a:lstStyle/>
            <a:p>
              <a:r>
                <a:rPr lang="en-AU" sz="3600" dirty="0"/>
                <a:t>             C</a:t>
              </a:r>
            </a:p>
          </p:txBody>
        </p:sp>
      </p:gr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0ADECE29-BC4C-4B6E-25DD-759067565129}"/>
              </a:ext>
            </a:extLst>
          </p:cNvPr>
          <p:cNvSpPr txBox="1">
            <a:spLocks/>
          </p:cNvSpPr>
          <p:nvPr/>
        </p:nvSpPr>
        <p:spPr>
          <a:xfrm>
            <a:off x="246024" y="87851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Both parks have the same </a:t>
            </a:r>
            <a:r>
              <a:rPr lang="en-AU" sz="4400" b="1" dirty="0"/>
              <a:t>area</a:t>
            </a:r>
            <a:r>
              <a:rPr lang="en-AU" sz="4400" dirty="0"/>
              <a:t>. What could the </a:t>
            </a:r>
            <a:r>
              <a:rPr lang="en-AU" sz="4400" b="1" dirty="0"/>
              <a:t>dimensions</a:t>
            </a:r>
            <a:r>
              <a:rPr lang="en-AU" sz="4400" dirty="0"/>
              <a:t> of the second park be?</a:t>
            </a:r>
            <a:endParaRPr lang="en-US" sz="4400" dirty="0"/>
          </a:p>
        </p:txBody>
      </p:sp>
      <p:grpSp>
        <p:nvGrpSpPr>
          <p:cNvPr id="15" name="Group 14" descr="2 rectangles with the same area. The first has dimensions of 9m x 6m. The dimensions of the second rectangle are unknown.">
            <a:extLst>
              <a:ext uri="{FF2B5EF4-FFF2-40B4-BE49-F238E27FC236}">
                <a16:creationId xmlns:a16="http://schemas.microsoft.com/office/drawing/2014/main" id="{099F2CED-0EB8-21EC-5DA1-1AC243693323}"/>
              </a:ext>
            </a:extLst>
          </p:cNvPr>
          <p:cNvGrpSpPr/>
          <p:nvPr/>
        </p:nvGrpSpPr>
        <p:grpSpPr>
          <a:xfrm>
            <a:off x="1144604" y="3329186"/>
            <a:ext cx="10099417" cy="3168814"/>
            <a:chOff x="1144604" y="3329186"/>
            <a:chExt cx="10099417" cy="3168814"/>
          </a:xfrm>
        </p:grpSpPr>
        <p:grpSp>
          <p:nvGrpSpPr>
            <p:cNvPr id="11" name="Group 10">
              <a:extLst>
                <a:ext uri="{FF2B5EF4-FFF2-40B4-BE49-F238E27FC236}">
                  <a16:creationId xmlns:a16="http://schemas.microsoft.com/office/drawing/2014/main" id="{8CB533A8-3567-61C1-B1F9-FC883E753546}"/>
                </a:ext>
              </a:extLst>
            </p:cNvPr>
            <p:cNvGrpSpPr/>
            <p:nvPr/>
          </p:nvGrpSpPr>
          <p:grpSpPr>
            <a:xfrm>
              <a:off x="1144604" y="3329186"/>
              <a:ext cx="4042569" cy="3168814"/>
              <a:chOff x="7081432" y="3564613"/>
              <a:chExt cx="4042569" cy="3168814"/>
            </a:xfrm>
          </p:grpSpPr>
          <p:sp>
            <p:nvSpPr>
              <p:cNvPr id="5" name="Rectangle 4">
                <a:extLst>
                  <a:ext uri="{FF2B5EF4-FFF2-40B4-BE49-F238E27FC236}">
                    <a16:creationId xmlns:a16="http://schemas.microsoft.com/office/drawing/2014/main" id="{9BCC1376-CA60-99FB-1852-A8BF5502C761}"/>
                  </a:ext>
                </a:extLst>
              </p:cNvPr>
              <p:cNvSpPr/>
              <p:nvPr/>
            </p:nvSpPr>
            <p:spPr>
              <a:xfrm rot="5400000">
                <a:off x="6837615" y="3808430"/>
                <a:ext cx="2604445" cy="2116811"/>
              </a:xfrm>
              <a:prstGeom prst="rect">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707510C3-5969-3E7B-25F4-006749041631}"/>
                  </a:ext>
                </a:extLst>
              </p:cNvPr>
              <p:cNvSpPr txBox="1"/>
              <p:nvPr/>
            </p:nvSpPr>
            <p:spPr>
              <a:xfrm>
                <a:off x="7355887" y="6271762"/>
                <a:ext cx="2268561" cy="461665"/>
              </a:xfrm>
              <a:prstGeom prst="rect">
                <a:avLst/>
              </a:prstGeom>
              <a:noFill/>
            </p:spPr>
            <p:txBody>
              <a:bodyPr wrap="square">
                <a:spAutoFit/>
              </a:bodyPr>
              <a:lstStyle/>
              <a:p>
                <a:r>
                  <a:rPr lang="en-AU" dirty="0"/>
                  <a:t>width = 6m</a:t>
                </a:r>
              </a:p>
            </p:txBody>
          </p:sp>
          <p:sp>
            <p:nvSpPr>
              <p:cNvPr id="10" name="TextBox 9">
                <a:extLst>
                  <a:ext uri="{FF2B5EF4-FFF2-40B4-BE49-F238E27FC236}">
                    <a16:creationId xmlns:a16="http://schemas.microsoft.com/office/drawing/2014/main" id="{16B62B68-AC5F-0AF6-4842-A41E691F4660}"/>
                  </a:ext>
                </a:extLst>
              </p:cNvPr>
              <p:cNvSpPr txBox="1"/>
              <p:nvPr/>
            </p:nvSpPr>
            <p:spPr>
              <a:xfrm>
                <a:off x="9329339" y="4101617"/>
                <a:ext cx="1794662" cy="461665"/>
              </a:xfrm>
              <a:prstGeom prst="rect">
                <a:avLst/>
              </a:prstGeom>
              <a:noFill/>
            </p:spPr>
            <p:txBody>
              <a:bodyPr wrap="square">
                <a:spAutoFit/>
              </a:bodyPr>
              <a:lstStyle/>
              <a:p>
                <a:r>
                  <a:rPr lang="en-AU" dirty="0"/>
                  <a:t>length = 9m</a:t>
                </a:r>
              </a:p>
            </p:txBody>
          </p:sp>
        </p:grpSp>
        <p:grpSp>
          <p:nvGrpSpPr>
            <p:cNvPr id="14" name="Group 13">
              <a:extLst>
                <a:ext uri="{FF2B5EF4-FFF2-40B4-BE49-F238E27FC236}">
                  <a16:creationId xmlns:a16="http://schemas.microsoft.com/office/drawing/2014/main" id="{778A59AB-0E81-79B4-6C64-FCF04D09A849}"/>
                </a:ext>
              </a:extLst>
            </p:cNvPr>
            <p:cNvGrpSpPr/>
            <p:nvPr/>
          </p:nvGrpSpPr>
          <p:grpSpPr>
            <a:xfrm>
              <a:off x="5543634" y="4364066"/>
              <a:ext cx="5700387" cy="1860178"/>
              <a:chOff x="5543634" y="4228504"/>
              <a:chExt cx="5700387" cy="1860178"/>
            </a:xfrm>
          </p:grpSpPr>
          <p:sp>
            <p:nvSpPr>
              <p:cNvPr id="7" name="Rectangle 6">
                <a:extLst>
                  <a:ext uri="{FF2B5EF4-FFF2-40B4-BE49-F238E27FC236}">
                    <a16:creationId xmlns:a16="http://schemas.microsoft.com/office/drawing/2014/main" id="{D05D8B9E-8A14-72DE-5B79-44C4E98BADBC}"/>
                  </a:ext>
                </a:extLst>
              </p:cNvPr>
              <p:cNvSpPr/>
              <p:nvPr/>
            </p:nvSpPr>
            <p:spPr>
              <a:xfrm rot="16200000">
                <a:off x="8485322" y="2663175"/>
                <a:ext cx="1193370" cy="4324028"/>
              </a:xfrm>
              <a:prstGeom prst="rect">
                <a:avLst/>
              </a:prstGeom>
              <a:solidFill>
                <a:srgbClr val="00B05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9F8EBA2B-86D7-4BB3-F28E-550F02A0286E}"/>
                  </a:ext>
                </a:extLst>
              </p:cNvPr>
              <p:cNvSpPr txBox="1"/>
              <p:nvPr/>
            </p:nvSpPr>
            <p:spPr>
              <a:xfrm>
                <a:off x="7947726" y="5627017"/>
                <a:ext cx="2268561" cy="461665"/>
              </a:xfrm>
              <a:prstGeom prst="rect">
                <a:avLst/>
              </a:prstGeom>
              <a:noFill/>
            </p:spPr>
            <p:txBody>
              <a:bodyPr wrap="square">
                <a:spAutoFit/>
              </a:bodyPr>
              <a:lstStyle/>
              <a:p>
                <a:r>
                  <a:rPr lang="en-AU" dirty="0"/>
                  <a:t>length = ?</a:t>
                </a:r>
              </a:p>
            </p:txBody>
          </p:sp>
          <p:sp>
            <p:nvSpPr>
              <p:cNvPr id="13" name="TextBox 12">
                <a:extLst>
                  <a:ext uri="{FF2B5EF4-FFF2-40B4-BE49-F238E27FC236}">
                    <a16:creationId xmlns:a16="http://schemas.microsoft.com/office/drawing/2014/main" id="{E20A3FD7-0E74-FD15-B500-2B0EB0192659}"/>
                  </a:ext>
                </a:extLst>
              </p:cNvPr>
              <p:cNvSpPr txBox="1"/>
              <p:nvPr/>
            </p:nvSpPr>
            <p:spPr>
              <a:xfrm>
                <a:off x="5543634" y="4831948"/>
                <a:ext cx="1439080" cy="461665"/>
              </a:xfrm>
              <a:prstGeom prst="rect">
                <a:avLst/>
              </a:prstGeom>
              <a:noFill/>
            </p:spPr>
            <p:txBody>
              <a:bodyPr wrap="square">
                <a:spAutoFit/>
              </a:bodyPr>
              <a:lstStyle/>
              <a:p>
                <a:r>
                  <a:rPr lang="en-AU" dirty="0"/>
                  <a:t>width = ?</a:t>
                </a:r>
              </a:p>
            </p:txBody>
          </p:sp>
        </p:grpSp>
      </p:gr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t>Activity 5 – place value to millions</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Freeform 5" descr="An image of a city next to which is population data for 7 major world cities: Shanghai, Delhi, Melbourne, Sydney, Dhaka, Sao Paulo, Tokyo.">
            <a:extLst>
              <a:ext uri="{FF2B5EF4-FFF2-40B4-BE49-F238E27FC236}">
                <a16:creationId xmlns:a16="http://schemas.microsoft.com/office/drawing/2014/main" id="{19F4AB29-606F-0B4A-BDA8-CA03143049BE}"/>
              </a:ext>
            </a:extLst>
          </p:cNvPr>
          <p:cNvSpPr/>
          <p:nvPr/>
        </p:nvSpPr>
        <p:spPr>
          <a:xfrm>
            <a:off x="7101525" y="2464243"/>
            <a:ext cx="4365478" cy="2684769"/>
          </a:xfrm>
          <a:custGeom>
            <a:avLst/>
            <a:gdLst/>
            <a:ahLst/>
            <a:cxnLst/>
            <a:rect l="l" t="t" r="r" b="b"/>
            <a:pathLst>
              <a:path w="4810110" h="2958218">
                <a:moveTo>
                  <a:pt x="0" y="0"/>
                </a:moveTo>
                <a:lnTo>
                  <a:pt x="4810110" y="0"/>
                </a:lnTo>
                <a:lnTo>
                  <a:pt x="4810110" y="2958218"/>
                </a:lnTo>
                <a:lnTo>
                  <a:pt x="0" y="2958218"/>
                </a:lnTo>
                <a:lnTo>
                  <a:pt x="0" y="0"/>
                </a:lnTo>
                <a:close/>
              </a:path>
            </a:pathLst>
          </a:custGeom>
          <a:blipFill>
            <a:blip r:embed="rId4"/>
            <a:stretch>
              <a:fillRect/>
            </a:stretch>
          </a:blipFill>
        </p:spPr>
        <p:txBody>
          <a:bodyPr/>
          <a:lstStyle/>
          <a:p>
            <a:endParaRPr lang="en-AU"/>
          </a:p>
        </p:txBody>
      </p:sp>
      <p:graphicFrame>
        <p:nvGraphicFramePr>
          <p:cNvPr id="8" name="Table 7">
            <a:extLst>
              <a:ext uri="{FF2B5EF4-FFF2-40B4-BE49-F238E27FC236}">
                <a16:creationId xmlns:a16="http://schemas.microsoft.com/office/drawing/2014/main" id="{67752F6F-D2FE-C075-BE5F-27EFC9D56A92}"/>
              </a:ext>
            </a:extLst>
          </p:cNvPr>
          <p:cNvGraphicFramePr>
            <a:graphicFrameLocks noGrp="1"/>
          </p:cNvGraphicFramePr>
          <p:nvPr>
            <p:extLst>
              <p:ext uri="{D42A27DB-BD31-4B8C-83A1-F6EECF244321}">
                <p14:modId xmlns:p14="http://schemas.microsoft.com/office/powerpoint/2010/main" val="3180838550"/>
              </p:ext>
            </p:extLst>
          </p:nvPr>
        </p:nvGraphicFramePr>
        <p:xfrm>
          <a:off x="1127806" y="1358704"/>
          <a:ext cx="5271567" cy="4895848"/>
        </p:xfrm>
        <a:graphic>
          <a:graphicData uri="http://schemas.openxmlformats.org/drawingml/2006/table">
            <a:tbl>
              <a:tblPr firstRow="1"/>
              <a:tblGrid>
                <a:gridCol w="1607300">
                  <a:extLst>
                    <a:ext uri="{9D8B030D-6E8A-4147-A177-3AD203B41FA5}">
                      <a16:colId xmlns:a16="http://schemas.microsoft.com/office/drawing/2014/main" val="2994751284"/>
                    </a:ext>
                  </a:extLst>
                </a:gridCol>
                <a:gridCol w="1857932">
                  <a:extLst>
                    <a:ext uri="{9D8B030D-6E8A-4147-A177-3AD203B41FA5}">
                      <a16:colId xmlns:a16="http://schemas.microsoft.com/office/drawing/2014/main" val="2696175978"/>
                    </a:ext>
                  </a:extLst>
                </a:gridCol>
                <a:gridCol w="1806335">
                  <a:extLst>
                    <a:ext uri="{9D8B030D-6E8A-4147-A177-3AD203B41FA5}">
                      <a16:colId xmlns:a16="http://schemas.microsoft.com/office/drawing/2014/main" val="2588735931"/>
                    </a:ext>
                  </a:extLst>
                </a:gridCol>
              </a:tblGrid>
              <a:tr h="611981">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Name</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Country</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a:solidFill>
                            <a:schemeClr val="bg1"/>
                          </a:solidFill>
                          <a:latin typeface="+mn-lt"/>
                          <a:ea typeface="Canva Student Font"/>
                          <a:cs typeface="Canva Student Font"/>
                          <a:sym typeface="Canva Student Font"/>
                        </a:rPr>
                        <a:t>Population</a:t>
                      </a:r>
                      <a:endParaRPr lang="en-US" sz="1100" b="1">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228461894"/>
                  </a:ext>
                </a:extLst>
              </a:tr>
              <a:tr h="611981">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Shanghai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China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a:solidFill>
                            <a:srgbClr val="000000"/>
                          </a:solidFill>
                          <a:latin typeface="+mn-lt"/>
                          <a:ea typeface="Canva Student Font"/>
                          <a:cs typeface="Canva Student Font"/>
                          <a:sym typeface="Canva Student Font"/>
                        </a:rPr>
                        <a:t>28 516 000</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441505"/>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Delhi</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India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32 065 000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3529710"/>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Melbourne</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Australia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 5 031 000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299326"/>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Sydney</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Australia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5 297 000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039046"/>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Dhaka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Bangladesh</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22 478 000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6443263"/>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Sao Paulo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Brazil</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22 429 000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2893208"/>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Tokyo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Japan</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37 274 000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9041301"/>
                  </a:ext>
                </a:extLst>
              </a:tr>
            </a:tbl>
          </a:graphicData>
        </a:graphic>
      </p:graphicFrame>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p:txBody>
          <a:bodyPr/>
          <a:lstStyle/>
          <a:p>
            <a:pPr algn="ctr"/>
            <a:r>
              <a:rPr lang="en-AU" sz="4400" dirty="0"/>
              <a:t>5 461 793 </a:t>
            </a:r>
            <a:r>
              <a:rPr lang="en-AU" sz="4400" b="1" dirty="0"/>
              <a:t>rounded </a:t>
            </a:r>
            <a:r>
              <a:rPr lang="en-AU" sz="4400" dirty="0"/>
              <a:t>to the </a:t>
            </a:r>
            <a:r>
              <a:rPr lang="en-AU" sz="4400" b="1" dirty="0"/>
              <a:t>nearest million </a:t>
            </a:r>
          </a:p>
          <a:p>
            <a:pPr algn="ctr"/>
            <a:r>
              <a:rPr lang="en-AU" sz="4400" dirty="0"/>
              <a:t>is 5 million.</a:t>
            </a:r>
            <a:endParaRPr lang="en-US" sz="4400" dirty="0"/>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6468043-4576-E8CF-B9F4-079186979DAD}"/>
              </a:ext>
            </a:extLst>
          </p:cNvPr>
          <p:cNvSpPr txBox="1"/>
          <p:nvPr/>
        </p:nvSpPr>
        <p:spPr>
          <a:xfrm>
            <a:off x="693109" y="2302912"/>
            <a:ext cx="10805781" cy="1998176"/>
          </a:xfrm>
          <a:prstGeom prst="rect">
            <a:avLst/>
          </a:prstGeom>
          <a:noFill/>
        </p:spPr>
        <p:txBody>
          <a:bodyPr wrap="square">
            <a:spAutoFit/>
          </a:bodyPr>
          <a:lstStyle/>
          <a:p>
            <a:pPr algn="ctr">
              <a:lnSpc>
                <a:spcPct val="150000"/>
              </a:lnSpc>
            </a:pPr>
            <a:r>
              <a:rPr lang="en-AU" sz="4400" dirty="0"/>
              <a:t>Write the number that is </a:t>
            </a:r>
          </a:p>
          <a:p>
            <a:pPr algn="ctr">
              <a:lnSpc>
                <a:spcPct val="150000"/>
              </a:lnSpc>
            </a:pPr>
            <a:r>
              <a:rPr lang="en-AU" sz="4400" b="1" dirty="0"/>
              <a:t>100 times larger </a:t>
            </a:r>
            <a:r>
              <a:rPr lang="en-AU" sz="4400" dirty="0"/>
              <a:t>than </a:t>
            </a:r>
            <a:r>
              <a:rPr lang="en-AU" sz="4400" b="1" dirty="0"/>
              <a:t>5.429</a:t>
            </a:r>
            <a:endParaRPr lang="en-AU" sz="4400" dirty="0"/>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4" name="Table 3">
            <a:extLst>
              <a:ext uri="{FF2B5EF4-FFF2-40B4-BE49-F238E27FC236}">
                <a16:creationId xmlns:a16="http://schemas.microsoft.com/office/drawing/2014/main" id="{EEAE0143-EABF-692A-FBD3-DBEB3CFF0CCC}"/>
              </a:ext>
            </a:extLst>
          </p:cNvPr>
          <p:cNvGraphicFramePr>
            <a:graphicFrameLocks noGrp="1"/>
          </p:cNvGraphicFramePr>
          <p:nvPr>
            <p:extLst>
              <p:ext uri="{D42A27DB-BD31-4B8C-83A1-F6EECF244321}">
                <p14:modId xmlns:p14="http://schemas.microsoft.com/office/powerpoint/2010/main" val="846170637"/>
              </p:ext>
            </p:extLst>
          </p:nvPr>
        </p:nvGraphicFramePr>
        <p:xfrm>
          <a:off x="1813386" y="3812879"/>
          <a:ext cx="8913882" cy="1828800"/>
        </p:xfrm>
        <a:graphic>
          <a:graphicData uri="http://schemas.openxmlformats.org/drawingml/2006/table">
            <a:tbl>
              <a:tblPr firstRow="1" bandRow="1">
                <a:tableStyleId>{5940675A-B579-460E-94D1-54222C63F5DA}</a:tableStyleId>
              </a:tblPr>
              <a:tblGrid>
                <a:gridCol w="2216195">
                  <a:extLst>
                    <a:ext uri="{9D8B030D-6E8A-4147-A177-3AD203B41FA5}">
                      <a16:colId xmlns:a16="http://schemas.microsoft.com/office/drawing/2014/main" val="1079526720"/>
                    </a:ext>
                  </a:extLst>
                </a:gridCol>
                <a:gridCol w="2550631">
                  <a:extLst>
                    <a:ext uri="{9D8B030D-6E8A-4147-A177-3AD203B41FA5}">
                      <a16:colId xmlns:a16="http://schemas.microsoft.com/office/drawing/2014/main" val="1095840947"/>
                    </a:ext>
                  </a:extLst>
                </a:gridCol>
                <a:gridCol w="2073528">
                  <a:extLst>
                    <a:ext uri="{9D8B030D-6E8A-4147-A177-3AD203B41FA5}">
                      <a16:colId xmlns:a16="http://schemas.microsoft.com/office/drawing/2014/main" val="2506569629"/>
                    </a:ext>
                  </a:extLst>
                </a:gridCol>
                <a:gridCol w="2073528">
                  <a:extLst>
                    <a:ext uri="{9D8B030D-6E8A-4147-A177-3AD203B41FA5}">
                      <a16:colId xmlns:a16="http://schemas.microsoft.com/office/drawing/2014/main" val="3496195844"/>
                    </a:ext>
                  </a:extLst>
                </a:gridCol>
              </a:tblGrid>
              <a:tr h="370840">
                <a:tc>
                  <a:txBody>
                    <a:bodyPr/>
                    <a:lstStyle/>
                    <a:p>
                      <a:pPr algn="ctr"/>
                      <a:r>
                        <a:rPr lang="en-AU" sz="2400" b="1" dirty="0">
                          <a:latin typeface="+mn-lt"/>
                        </a:rPr>
                        <a:t>Ticket price</a:t>
                      </a:r>
                    </a:p>
                  </a:txBody>
                  <a:tcPr anchor="ctr"/>
                </a:tc>
                <a:tc>
                  <a:txBody>
                    <a:bodyPr/>
                    <a:lstStyle/>
                    <a:p>
                      <a:pPr algn="ctr"/>
                      <a:r>
                        <a:rPr lang="en-AU" sz="2400" b="1" dirty="0">
                          <a:latin typeface="+mn-lt"/>
                        </a:rPr>
                        <a:t>Bronze member discount</a:t>
                      </a:r>
                    </a:p>
                  </a:txBody>
                  <a:tcPr anchor="ctr"/>
                </a:tc>
                <a:tc>
                  <a:txBody>
                    <a:bodyPr/>
                    <a:lstStyle/>
                    <a:p>
                      <a:pPr algn="ctr"/>
                      <a:r>
                        <a:rPr lang="en-AU" sz="2400" b="1" dirty="0">
                          <a:latin typeface="+mn-lt"/>
                        </a:rPr>
                        <a:t>Silver member discount</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2400" b="1" dirty="0">
                          <a:latin typeface="+mn-lt"/>
                        </a:rPr>
                        <a:t>Gold member discount</a:t>
                      </a:r>
                    </a:p>
                  </a:txBody>
                  <a:tcPr anchor="ctr"/>
                </a:tc>
                <a:extLst>
                  <a:ext uri="{0D108BD9-81ED-4DB2-BD59-A6C34878D82A}">
                    <a16:rowId xmlns:a16="http://schemas.microsoft.com/office/drawing/2014/main" val="347285560"/>
                  </a:ext>
                </a:extLst>
              </a:tr>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600" dirty="0">
                          <a:latin typeface="+mn-lt"/>
                        </a:rPr>
                        <a:t>$60.00</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600" dirty="0">
                          <a:latin typeface="+mn-lt"/>
                        </a:rPr>
                        <a:t>20%</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600" dirty="0">
                          <a:latin typeface="+mn-lt"/>
                        </a:rPr>
                        <a:t>30%</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600" dirty="0">
                          <a:latin typeface="+mn-lt"/>
                        </a:rPr>
                        <a:t>40%</a:t>
                      </a:r>
                    </a:p>
                  </a:txBody>
                  <a:tcPr anchor="ctr"/>
                </a:tc>
                <a:extLst>
                  <a:ext uri="{0D108BD9-81ED-4DB2-BD59-A6C34878D82A}">
                    <a16:rowId xmlns:a16="http://schemas.microsoft.com/office/drawing/2014/main" val="2224110458"/>
                  </a:ext>
                </a:extLst>
              </a:tr>
            </a:tbl>
          </a:graphicData>
        </a:graphic>
      </p:graphicFrame>
      <p:sp>
        <p:nvSpPr>
          <p:cNvPr id="5" name="TextBox 4">
            <a:extLst>
              <a:ext uri="{FF2B5EF4-FFF2-40B4-BE49-F238E27FC236}">
                <a16:creationId xmlns:a16="http://schemas.microsoft.com/office/drawing/2014/main" id="{CF815CDA-7C21-E6B0-F594-F124A04F27E5}"/>
              </a:ext>
            </a:extLst>
          </p:cNvPr>
          <p:cNvSpPr txBox="1"/>
          <p:nvPr/>
        </p:nvSpPr>
        <p:spPr>
          <a:xfrm>
            <a:off x="952189" y="1184223"/>
            <a:ext cx="10805781" cy="1998176"/>
          </a:xfrm>
          <a:prstGeom prst="rect">
            <a:avLst/>
          </a:prstGeom>
          <a:noFill/>
        </p:spPr>
        <p:txBody>
          <a:bodyPr wrap="square">
            <a:spAutoFit/>
          </a:bodyPr>
          <a:lstStyle/>
          <a:p>
            <a:pPr algn="ctr">
              <a:lnSpc>
                <a:spcPct val="150000"/>
              </a:lnSpc>
            </a:pPr>
            <a:r>
              <a:rPr lang="en-AU" sz="4400" dirty="0"/>
              <a:t>Lucas is a </a:t>
            </a:r>
            <a:r>
              <a:rPr lang="en-AU" sz="4400" b="1" dirty="0"/>
              <a:t>silver member </a:t>
            </a:r>
            <a:r>
              <a:rPr lang="en-AU" sz="4400" dirty="0"/>
              <a:t>of the football club. How much will </a:t>
            </a:r>
            <a:r>
              <a:rPr lang="en-AU" sz="4400" b="1" dirty="0"/>
              <a:t>2 tickets </a:t>
            </a:r>
            <a:r>
              <a:rPr lang="en-AU" sz="4400" dirty="0"/>
              <a:t>cost? </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94837" y="453672"/>
            <a:ext cx="10367268" cy="545601"/>
          </a:xfrm>
        </p:spPr>
        <p:txBody>
          <a:bodyPr/>
          <a:lstStyle/>
          <a:p>
            <a:r>
              <a:rPr lang="en-AU" dirty="0"/>
              <a:t>Short response </a:t>
            </a:r>
            <a:r>
              <a:rPr lang="en-AU" dirty="0">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E033251-AF18-766F-8ECA-8FD882249092}"/>
              </a:ext>
            </a:extLst>
          </p:cNvPr>
          <p:cNvSpPr txBox="1"/>
          <p:nvPr/>
        </p:nvSpPr>
        <p:spPr>
          <a:xfrm>
            <a:off x="678219" y="1281244"/>
            <a:ext cx="10805781" cy="4737387"/>
          </a:xfrm>
          <a:prstGeom prst="rect">
            <a:avLst/>
          </a:prstGeom>
          <a:noFill/>
        </p:spPr>
        <p:txBody>
          <a:bodyPr wrap="square">
            <a:spAutoFit/>
          </a:bodyPr>
          <a:lstStyle/>
          <a:p>
            <a:pPr fontAlgn="base"/>
            <a:r>
              <a:rPr lang="en-AU" sz="4400" b="1" dirty="0"/>
              <a:t>Draw</a:t>
            </a:r>
            <a:r>
              <a:rPr lang="en-AU" sz="4400" dirty="0"/>
              <a:t> the following on your whiteboard:</a:t>
            </a:r>
          </a:p>
          <a:p>
            <a:pPr fontAlgn="base"/>
            <a:endParaRPr lang="en-AU" dirty="0"/>
          </a:p>
          <a:p>
            <a:pPr marL="342900" indent="-342900" algn="ctr" fontAlgn="base">
              <a:buFont typeface="Arial" panose="020B0604020202020204" pitchFamily="34" charset="0"/>
              <a:buChar char="•"/>
            </a:pPr>
            <a:r>
              <a:rPr lang="en-AU" sz="4400" dirty="0"/>
              <a:t>an </a:t>
            </a:r>
            <a:r>
              <a:rPr lang="en-AU" sz="4400" b="1" dirty="0"/>
              <a:t>acute angle </a:t>
            </a:r>
          </a:p>
          <a:p>
            <a:pPr marL="342900" indent="-342900" algn="ctr" fontAlgn="base">
              <a:buFont typeface="Arial" panose="020B0604020202020204" pitchFamily="34" charset="0"/>
              <a:buChar char="•"/>
            </a:pPr>
            <a:r>
              <a:rPr lang="en-AU" sz="4400" dirty="0"/>
              <a:t>a </a:t>
            </a:r>
            <a:r>
              <a:rPr lang="en-AU" sz="4400" b="1" dirty="0"/>
              <a:t>reflex angle </a:t>
            </a:r>
          </a:p>
          <a:p>
            <a:pPr marL="342900" indent="-342900" algn="ctr" fontAlgn="base">
              <a:buFont typeface="Arial" panose="020B0604020202020204" pitchFamily="34" charset="0"/>
              <a:buChar char="•"/>
            </a:pPr>
            <a:r>
              <a:rPr lang="en-AU" sz="4400" dirty="0"/>
              <a:t>a </a:t>
            </a:r>
            <a:r>
              <a:rPr lang="en-AU" sz="4400" b="1" dirty="0"/>
              <a:t>right angle </a:t>
            </a:r>
          </a:p>
          <a:p>
            <a:pPr marL="342900" indent="-342900" algn="ctr" fontAlgn="base">
              <a:buFont typeface="Arial" panose="020B0604020202020204" pitchFamily="34" charset="0"/>
              <a:buChar char="•"/>
            </a:pPr>
            <a:r>
              <a:rPr lang="en-AU" sz="4400" b="1" dirty="0"/>
              <a:t>perpendicular lines</a:t>
            </a:r>
          </a:p>
          <a:p>
            <a:pPr algn="ctr">
              <a:lnSpc>
                <a:spcPct val="150000"/>
              </a:lnSpc>
            </a:pPr>
            <a:endParaRPr lang="en-AU" sz="4400" dirty="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F5381A1-D136-0B3A-A7E0-1CCEB4909D79}"/>
              </a:ext>
            </a:extLst>
          </p:cNvPr>
          <p:cNvSpPr txBox="1"/>
          <p:nvPr/>
        </p:nvSpPr>
        <p:spPr>
          <a:xfrm>
            <a:off x="678219" y="1922081"/>
            <a:ext cx="10805781" cy="3013838"/>
          </a:xfrm>
          <a:prstGeom prst="rect">
            <a:avLst/>
          </a:prstGeom>
          <a:noFill/>
        </p:spPr>
        <p:txBody>
          <a:bodyPr wrap="square">
            <a:spAutoFit/>
          </a:bodyPr>
          <a:lstStyle/>
          <a:p>
            <a:pPr algn="ctr">
              <a:lnSpc>
                <a:spcPct val="150000"/>
              </a:lnSpc>
            </a:pPr>
            <a:r>
              <a:rPr lang="en-AU" sz="4400" dirty="0"/>
              <a:t>Which is </a:t>
            </a:r>
            <a:r>
              <a:rPr lang="en-AU" sz="4400" b="1" dirty="0"/>
              <a:t>heavier:</a:t>
            </a:r>
            <a:endParaRPr lang="en-AU" sz="4400" dirty="0"/>
          </a:p>
          <a:p>
            <a:pPr algn="ctr">
              <a:lnSpc>
                <a:spcPct val="150000"/>
              </a:lnSpc>
            </a:pPr>
            <a:r>
              <a:rPr lang="en-AU" sz="4400" b="1" dirty="0"/>
              <a:t>0.08 kg</a:t>
            </a:r>
            <a:r>
              <a:rPr lang="en-AU" sz="4400" dirty="0"/>
              <a:t> or </a:t>
            </a:r>
            <a:r>
              <a:rPr lang="en-AU" sz="4400" b="1" dirty="0"/>
              <a:t>75 grams</a:t>
            </a:r>
            <a:r>
              <a:rPr lang="en-AU" sz="4400" dirty="0"/>
              <a:t>?</a:t>
            </a:r>
          </a:p>
          <a:p>
            <a:pPr algn="ctr">
              <a:lnSpc>
                <a:spcPct val="150000"/>
              </a:lnSpc>
            </a:pPr>
            <a:r>
              <a:rPr lang="en-AU" sz="4400" dirty="0"/>
              <a:t>Be prepared to </a:t>
            </a:r>
            <a:r>
              <a:rPr lang="en-AU" sz="4400" b="1" dirty="0"/>
              <a:t>share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t>Activity 6 – place value to billions (1)</a:t>
            </a: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a:extLst>
              <a:ext uri="{FF2B5EF4-FFF2-40B4-BE49-F238E27FC236}">
                <a16:creationId xmlns:a16="http://schemas.microsoft.com/office/drawing/2014/main" id="{E707C358-DE79-A162-7877-EF4A02E099E3}"/>
              </a:ext>
            </a:extLst>
          </p:cNvPr>
          <p:cNvGraphicFramePr>
            <a:graphicFrameLocks noGrp="1"/>
          </p:cNvGraphicFramePr>
          <p:nvPr>
            <p:extLst>
              <p:ext uri="{D42A27DB-BD31-4B8C-83A1-F6EECF244321}">
                <p14:modId xmlns:p14="http://schemas.microsoft.com/office/powerpoint/2010/main" val="464670056"/>
              </p:ext>
            </p:extLst>
          </p:nvPr>
        </p:nvGraphicFramePr>
        <p:xfrm>
          <a:off x="360000" y="1226963"/>
          <a:ext cx="5271567" cy="4895848"/>
        </p:xfrm>
        <a:graphic>
          <a:graphicData uri="http://schemas.openxmlformats.org/drawingml/2006/table">
            <a:tbl>
              <a:tblPr firstRow="1"/>
              <a:tblGrid>
                <a:gridCol w="1607300">
                  <a:extLst>
                    <a:ext uri="{9D8B030D-6E8A-4147-A177-3AD203B41FA5}">
                      <a16:colId xmlns:a16="http://schemas.microsoft.com/office/drawing/2014/main" val="20000"/>
                    </a:ext>
                  </a:extLst>
                </a:gridCol>
                <a:gridCol w="1857932">
                  <a:extLst>
                    <a:ext uri="{9D8B030D-6E8A-4147-A177-3AD203B41FA5}">
                      <a16:colId xmlns:a16="http://schemas.microsoft.com/office/drawing/2014/main" val="20001"/>
                    </a:ext>
                  </a:extLst>
                </a:gridCol>
                <a:gridCol w="1806335">
                  <a:extLst>
                    <a:ext uri="{9D8B030D-6E8A-4147-A177-3AD203B41FA5}">
                      <a16:colId xmlns:a16="http://schemas.microsoft.com/office/drawing/2014/main" val="20002"/>
                    </a:ext>
                  </a:extLst>
                </a:gridCol>
              </a:tblGrid>
              <a:tr h="611981">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Name</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Country</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a:solidFill>
                            <a:schemeClr val="bg1"/>
                          </a:solidFill>
                          <a:latin typeface="+mn-lt"/>
                          <a:ea typeface="Canva Student Font"/>
                          <a:cs typeface="Canva Student Font"/>
                          <a:sym typeface="Canva Student Font"/>
                        </a:rPr>
                        <a:t>Population</a:t>
                      </a:r>
                      <a:endParaRPr lang="en-US" sz="1100" b="1">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611981">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Shanghai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China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a:solidFill>
                            <a:srgbClr val="000000"/>
                          </a:solidFill>
                          <a:latin typeface="+mn-lt"/>
                          <a:ea typeface="Canva Student Font"/>
                          <a:cs typeface="Canva Student Font"/>
                          <a:sym typeface="Canva Student Font"/>
                        </a:rPr>
                        <a:t>28 516 000</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Delhi</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India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32 065 000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Melbourne</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Australia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 5 031 000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Sydney</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Australia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5 297 000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Dhaka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Bangladesh</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22 478 000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Sao Paulo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Brazil</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22 429 000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Tokyo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Japan</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37 274 000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5" name="Table 6">
            <a:extLst>
              <a:ext uri="{FF2B5EF4-FFF2-40B4-BE49-F238E27FC236}">
                <a16:creationId xmlns:a16="http://schemas.microsoft.com/office/drawing/2014/main" id="{7302570F-3D71-66B3-A107-86BFB572CC5D}"/>
              </a:ext>
            </a:extLst>
          </p:cNvPr>
          <p:cNvGraphicFramePr>
            <a:graphicFrameLocks noGrp="1"/>
          </p:cNvGraphicFramePr>
          <p:nvPr>
            <p:extLst>
              <p:ext uri="{D42A27DB-BD31-4B8C-83A1-F6EECF244321}">
                <p14:modId xmlns:p14="http://schemas.microsoft.com/office/powerpoint/2010/main" val="233399977"/>
              </p:ext>
            </p:extLst>
          </p:nvPr>
        </p:nvGraphicFramePr>
        <p:xfrm>
          <a:off x="5905843" y="1226963"/>
          <a:ext cx="5938157" cy="4895848"/>
        </p:xfrm>
        <a:graphic>
          <a:graphicData uri="http://schemas.openxmlformats.org/drawingml/2006/table">
            <a:tbl>
              <a:tblPr firstRow="1"/>
              <a:tblGrid>
                <a:gridCol w="1737011">
                  <a:extLst>
                    <a:ext uri="{9D8B030D-6E8A-4147-A177-3AD203B41FA5}">
                      <a16:colId xmlns:a16="http://schemas.microsoft.com/office/drawing/2014/main" val="20000"/>
                    </a:ext>
                  </a:extLst>
                </a:gridCol>
                <a:gridCol w="2030483">
                  <a:extLst>
                    <a:ext uri="{9D8B030D-6E8A-4147-A177-3AD203B41FA5}">
                      <a16:colId xmlns:a16="http://schemas.microsoft.com/office/drawing/2014/main" val="20001"/>
                    </a:ext>
                  </a:extLst>
                </a:gridCol>
                <a:gridCol w="2170663">
                  <a:extLst>
                    <a:ext uri="{9D8B030D-6E8A-4147-A177-3AD203B41FA5}">
                      <a16:colId xmlns:a16="http://schemas.microsoft.com/office/drawing/2014/main" val="20002"/>
                    </a:ext>
                  </a:extLst>
                </a:gridCol>
              </a:tblGrid>
              <a:tr h="588383">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Name</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Country</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000" b="1" dirty="0">
                          <a:solidFill>
                            <a:schemeClr val="bg1"/>
                          </a:solidFill>
                          <a:latin typeface="+mn-lt"/>
                          <a:ea typeface="Canva Student Font"/>
                          <a:cs typeface="Canva Student Font"/>
                          <a:sym typeface="Canva Student Font"/>
                        </a:rPr>
                        <a:t>Population (m)</a:t>
                      </a:r>
                      <a:endParaRPr lang="en-US" sz="105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88660">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Shanghai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China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28.5</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8383">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Delhi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India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32.1</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Melbourne</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 5.0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89967">
                <a:tc>
                  <a:txBody>
                    <a:bodyPr/>
                    <a:lstStyle/>
                    <a:p>
                      <a:pPr algn="l">
                        <a:lnSpc>
                          <a:spcPts val="3219"/>
                        </a:lnSpc>
                        <a:defRPr/>
                      </a:pPr>
                      <a:r>
                        <a:rPr lang="en-US" sz="2299">
                          <a:solidFill>
                            <a:srgbClr val="000000"/>
                          </a:solidFill>
                          <a:latin typeface="+mn-lt"/>
                          <a:ea typeface="Canva Student Font"/>
                          <a:cs typeface="Canva Student Font"/>
                          <a:sym typeface="Canva Student Font"/>
                        </a:rPr>
                        <a:t>Sydney</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5.3</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Dhaka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Bangladesh</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22.5</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Sao Paulo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Brazil</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22.4</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75306">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Tokyo</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Japan</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37.3</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BD460-C36D-9780-1F7A-347D7A718B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325033-503F-72E0-491C-AD4B61274DC3}"/>
              </a:ext>
            </a:extLst>
          </p:cNvPr>
          <p:cNvSpPr>
            <a:spLocks noGrp="1"/>
          </p:cNvSpPr>
          <p:nvPr>
            <p:ph type="title"/>
          </p:nvPr>
        </p:nvSpPr>
        <p:spPr>
          <a:xfrm>
            <a:off x="360000" y="360000"/>
            <a:ext cx="10367268" cy="545601"/>
          </a:xfrm>
        </p:spPr>
        <p:txBody>
          <a:bodyPr/>
          <a:lstStyle/>
          <a:p>
            <a:r>
              <a:rPr lang="en-AU" dirty="0"/>
              <a:t>Activity 6 – place value to billions (2)</a:t>
            </a:r>
          </a:p>
        </p:txBody>
      </p:sp>
      <p:sp>
        <p:nvSpPr>
          <p:cNvPr id="2" name="Slide Number Placeholder 1">
            <a:extLst>
              <a:ext uri="{FF2B5EF4-FFF2-40B4-BE49-F238E27FC236}">
                <a16:creationId xmlns:a16="http://schemas.microsoft.com/office/drawing/2014/main" id="{05C4D427-15A7-4246-0208-F2653F1261D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4" name="Picture 3" descr="image of a head with cogs turning inside">
            <a:extLst>
              <a:ext uri="{FF2B5EF4-FFF2-40B4-BE49-F238E27FC236}">
                <a16:creationId xmlns:a16="http://schemas.microsoft.com/office/drawing/2014/main" id="{2323FDE5-4B8A-563E-F34A-C53B6BD688B7}"/>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7" name="Table 6">
            <a:extLst>
              <a:ext uri="{FF2B5EF4-FFF2-40B4-BE49-F238E27FC236}">
                <a16:creationId xmlns:a16="http://schemas.microsoft.com/office/drawing/2014/main" id="{952AF9CC-8220-B02F-91A6-D2C01451A85B}"/>
              </a:ext>
            </a:extLst>
          </p:cNvPr>
          <p:cNvGraphicFramePr>
            <a:graphicFrameLocks noGrp="1"/>
          </p:cNvGraphicFramePr>
          <p:nvPr>
            <p:extLst>
              <p:ext uri="{D42A27DB-BD31-4B8C-83A1-F6EECF244321}">
                <p14:modId xmlns:p14="http://schemas.microsoft.com/office/powerpoint/2010/main" val="3282779539"/>
              </p:ext>
            </p:extLst>
          </p:nvPr>
        </p:nvGraphicFramePr>
        <p:xfrm>
          <a:off x="359998" y="1240663"/>
          <a:ext cx="10764002" cy="4987036"/>
        </p:xfrm>
        <a:graphic>
          <a:graphicData uri="http://schemas.openxmlformats.org/drawingml/2006/table">
            <a:tbl>
              <a:tblPr firstRow="1"/>
              <a:tblGrid>
                <a:gridCol w="5477818">
                  <a:extLst>
                    <a:ext uri="{9D8B030D-6E8A-4147-A177-3AD203B41FA5}">
                      <a16:colId xmlns:a16="http://schemas.microsoft.com/office/drawing/2014/main" val="1509038786"/>
                    </a:ext>
                  </a:extLst>
                </a:gridCol>
                <a:gridCol w="2718355">
                  <a:extLst>
                    <a:ext uri="{9D8B030D-6E8A-4147-A177-3AD203B41FA5}">
                      <a16:colId xmlns:a16="http://schemas.microsoft.com/office/drawing/2014/main" val="3161701944"/>
                    </a:ext>
                  </a:extLst>
                </a:gridCol>
                <a:gridCol w="2567829">
                  <a:extLst>
                    <a:ext uri="{9D8B030D-6E8A-4147-A177-3AD203B41FA5}">
                      <a16:colId xmlns:a16="http://schemas.microsoft.com/office/drawing/2014/main" val="3359293662"/>
                    </a:ext>
                  </a:extLst>
                </a:gridCol>
              </a:tblGrid>
              <a:tr h="578866">
                <a:tc>
                  <a:txBody>
                    <a:bodyPr/>
                    <a:lstStyle/>
                    <a:p>
                      <a:pPr>
                        <a:lnSpc>
                          <a:spcPct val="107000"/>
                        </a:lnSpc>
                        <a:spcBef>
                          <a:spcPts val="1200"/>
                        </a:spcBef>
                        <a:spcAft>
                          <a:spcPts val="800"/>
                        </a:spcAft>
                        <a:buNone/>
                      </a:pPr>
                      <a:r>
                        <a:rPr lang="en-AU" sz="2800" b="1" dirty="0">
                          <a:solidFill>
                            <a:srgbClr val="FFFFFF"/>
                          </a:solidFill>
                          <a:effectLst/>
                          <a:latin typeface="+mn-lt"/>
                          <a:ea typeface="Calibri" panose="020F0502020204030204" pitchFamily="34" charset="0"/>
                          <a:cs typeface="Arial" panose="020B0604020202020204" pitchFamily="34" charset="0"/>
                        </a:rPr>
                        <a:t>Name of organisation</a:t>
                      </a:r>
                      <a:endParaRPr lang="en-AU" sz="2800" dirty="0">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38100" cap="flat" cmpd="sng" algn="ctr">
                      <a:solidFill>
                        <a:srgbClr val="D7153A"/>
                      </a:solidFill>
                      <a:prstDash val="solid"/>
                      <a:round/>
                      <a:headEnd type="none" w="med" len="med"/>
                      <a:tailEnd type="none" w="med" len="med"/>
                    </a:lnB>
                    <a:solidFill>
                      <a:srgbClr val="002664"/>
                    </a:solidFill>
                  </a:tcPr>
                </a:tc>
                <a:tc>
                  <a:txBody>
                    <a:bodyPr/>
                    <a:lstStyle/>
                    <a:p>
                      <a:pPr>
                        <a:lnSpc>
                          <a:spcPct val="107000"/>
                        </a:lnSpc>
                        <a:spcBef>
                          <a:spcPts val="1200"/>
                        </a:spcBef>
                        <a:spcAft>
                          <a:spcPts val="800"/>
                        </a:spcAft>
                        <a:buNone/>
                      </a:pPr>
                      <a:r>
                        <a:rPr lang="en-AU" sz="2800" b="1">
                          <a:solidFill>
                            <a:srgbClr val="FFFFFF"/>
                          </a:solidFill>
                          <a:effectLst/>
                          <a:latin typeface="+mn-lt"/>
                          <a:ea typeface="Calibri" panose="020F0502020204030204" pitchFamily="34" charset="0"/>
                          <a:cs typeface="Arial" panose="020B0604020202020204" pitchFamily="34" charset="0"/>
                        </a:rPr>
                        <a:t>Budget</a:t>
                      </a:r>
                      <a:endParaRPr lang="en-AU" sz="2800">
                        <a:effectLst/>
                        <a:latin typeface="+mn-lt"/>
                        <a:ea typeface="Calibri" panose="020F0502020204030204" pitchFamily="34" charset="0"/>
                        <a:cs typeface="Arial" panose="020B0604020202020204" pitchFamily="34" charset="0"/>
                      </a:endParaRPr>
                    </a:p>
                  </a:txBody>
                  <a:tcPr marL="68580" marR="68580" marT="0" marB="0" anchor="ctr">
                    <a:lnL>
                      <a:noFill/>
                    </a:lnL>
                    <a:lnR>
                      <a:noFill/>
                    </a:lnR>
                    <a:lnT>
                      <a:noFill/>
                    </a:lnT>
                    <a:lnB w="38100" cap="flat" cmpd="sng" algn="ctr">
                      <a:solidFill>
                        <a:srgbClr val="D7153A"/>
                      </a:solidFill>
                      <a:prstDash val="solid"/>
                      <a:round/>
                      <a:headEnd type="none" w="med" len="med"/>
                      <a:tailEnd type="none" w="med" len="med"/>
                    </a:lnB>
                    <a:solidFill>
                      <a:srgbClr val="002664"/>
                    </a:solidFill>
                  </a:tcPr>
                </a:tc>
                <a:tc>
                  <a:txBody>
                    <a:bodyPr/>
                    <a:lstStyle/>
                    <a:p>
                      <a:pPr>
                        <a:lnSpc>
                          <a:spcPct val="107000"/>
                        </a:lnSpc>
                        <a:spcBef>
                          <a:spcPts val="1200"/>
                        </a:spcBef>
                        <a:spcAft>
                          <a:spcPts val="800"/>
                        </a:spcAft>
                        <a:buNone/>
                      </a:pPr>
                      <a:r>
                        <a:rPr lang="en-AU" sz="2800" b="1">
                          <a:solidFill>
                            <a:srgbClr val="FFFFFF"/>
                          </a:solidFill>
                          <a:effectLst/>
                          <a:latin typeface="+mn-lt"/>
                          <a:ea typeface="Calibri" panose="020F0502020204030204" pitchFamily="34" charset="0"/>
                          <a:cs typeface="Arial" panose="020B0604020202020204" pitchFamily="34" charset="0"/>
                        </a:rPr>
                        <a:t>Details</a:t>
                      </a:r>
                      <a:endParaRPr lang="en-AU" sz="2800">
                        <a:effectLst/>
                        <a:latin typeface="+mn-lt"/>
                        <a:ea typeface="Calibri" panose="020F0502020204030204" pitchFamily="34" charset="0"/>
                        <a:cs typeface="Arial" panose="020B0604020202020204" pitchFamily="34"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38100" cap="flat" cmpd="sng" algn="ctr">
                      <a:solidFill>
                        <a:srgbClr val="D7153A"/>
                      </a:solidFill>
                      <a:prstDash val="solid"/>
                      <a:round/>
                      <a:headEnd type="none" w="med" len="med"/>
                      <a:tailEnd type="none" w="med" len="med"/>
                    </a:lnB>
                    <a:solidFill>
                      <a:srgbClr val="002664"/>
                    </a:solidFill>
                  </a:tcPr>
                </a:tc>
                <a:extLst>
                  <a:ext uri="{0D108BD9-81ED-4DB2-BD59-A6C34878D82A}">
                    <a16:rowId xmlns:a16="http://schemas.microsoft.com/office/drawing/2014/main" val="3126870226"/>
                  </a:ext>
                </a:extLst>
              </a:tr>
              <a:tr h="881634">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United Nations (UN)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D7153A"/>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$3.07 billion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D7153A"/>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a:effectLst/>
                          <a:latin typeface="+mn-lt"/>
                          <a:ea typeface="Calibri" panose="020F0502020204030204" pitchFamily="34" charset="0"/>
                          <a:cs typeface="Arial" panose="020B0604020202020204" pitchFamily="34" charset="0"/>
                        </a:rPr>
                        <a:t>(2020-2021 regular budget)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D7153A"/>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4592768"/>
                  </a:ext>
                </a:extLst>
              </a:tr>
              <a:tr h="881634">
                <a:tc>
                  <a:txBody>
                    <a:bodyPr/>
                    <a:lstStyle/>
                    <a:p>
                      <a:pPr>
                        <a:lnSpc>
                          <a:spcPct val="107000"/>
                        </a:lnSpc>
                        <a:spcBef>
                          <a:spcPts val="1200"/>
                        </a:spcBef>
                        <a:spcAft>
                          <a:spcPts val="800"/>
                        </a:spcAft>
                        <a:buNone/>
                      </a:pPr>
                      <a:r>
                        <a:rPr lang="en-AU" sz="2800">
                          <a:effectLst/>
                          <a:latin typeface="+mn-lt"/>
                          <a:ea typeface="Calibri" panose="020F0502020204030204" pitchFamily="34" charset="0"/>
                          <a:cs typeface="Arial" panose="020B0604020202020204" pitchFamily="34" charset="0"/>
                        </a:rPr>
                        <a:t>National Institute of Health (NIH)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$42 billion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(2021)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1735293"/>
                  </a:ext>
                </a:extLst>
              </a:tr>
              <a:tr h="881634">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World Health Organisation (WHO)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$4.8 billion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(2020-2021 biennium)</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469158"/>
                  </a:ext>
                </a:extLst>
              </a:tr>
              <a:tr h="881634">
                <a:tc>
                  <a:txBody>
                    <a:bodyPr/>
                    <a:lstStyle/>
                    <a:p>
                      <a:pPr marL="0" lvl="0" indent="0">
                        <a:lnSpc>
                          <a:spcPct val="150000"/>
                        </a:lnSpc>
                        <a:spcBef>
                          <a:spcPts val="1200"/>
                        </a:spcBef>
                        <a:spcAft>
                          <a:spcPts val="600"/>
                        </a:spcAft>
                        <a:buFont typeface="Courier New" panose="02070309020205020404" pitchFamily="49" charset="0"/>
                        <a:buNone/>
                      </a:pPr>
                      <a:r>
                        <a:rPr lang="en-AU" sz="2800" dirty="0">
                          <a:effectLst/>
                          <a:latin typeface="+mn-lt"/>
                          <a:ea typeface="Calibri" panose="020F0502020204030204" pitchFamily="34" charset="0"/>
                          <a:cs typeface="Times New Roman" panose="02020603050405020304" pitchFamily="18" charset="0"/>
                        </a:rPr>
                        <a:t>Coca-Cola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a:effectLst/>
                          <a:latin typeface="+mn-lt"/>
                          <a:ea typeface="Calibri" panose="020F0502020204030204" pitchFamily="34" charset="0"/>
                          <a:cs typeface="Arial" panose="020B0604020202020204" pitchFamily="34" charset="0"/>
                        </a:rPr>
                        <a:t>$38.7 billion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(2020 total revenue)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4849316"/>
                  </a:ext>
                </a:extLst>
              </a:tr>
              <a:tr h="881634">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NASA (National Aeronautics and Space Administration)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a:effectLst/>
                          <a:latin typeface="+mn-lt"/>
                          <a:ea typeface="Calibri" panose="020F0502020204030204" pitchFamily="34" charset="0"/>
                          <a:cs typeface="Arial" panose="020B0604020202020204" pitchFamily="34" charset="0"/>
                        </a:rPr>
                        <a:t>$23.3 billion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Bef>
                          <a:spcPts val="1200"/>
                        </a:spcBef>
                        <a:spcAft>
                          <a:spcPts val="800"/>
                        </a:spcAft>
                        <a:buNone/>
                      </a:pPr>
                      <a:r>
                        <a:rPr lang="en-AU" sz="2800" dirty="0">
                          <a:effectLst/>
                          <a:latin typeface="+mn-lt"/>
                          <a:ea typeface="Calibri" panose="020F0502020204030204" pitchFamily="34" charset="0"/>
                          <a:cs typeface="Arial" panose="020B0604020202020204" pitchFamily="34" charset="0"/>
                        </a:rPr>
                        <a:t>(2021)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2053348"/>
                  </a:ext>
                </a:extLst>
              </a:tr>
            </a:tbl>
          </a:graphicData>
        </a:graphic>
      </p:graphicFrame>
    </p:spTree>
    <p:extLst>
      <p:ext uri="{BB962C8B-B14F-4D97-AF65-F5344CB8AC3E}">
        <p14:creationId xmlns:p14="http://schemas.microsoft.com/office/powerpoint/2010/main" val="196825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0674C-5B03-98FC-310B-BB63294773C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p>
        </p:txBody>
      </p:sp>
      <p:sp>
        <p:nvSpPr>
          <p:cNvPr id="14" name="Text Placeholder 13">
            <a:extLst>
              <a:ext uri="{FF2B5EF4-FFF2-40B4-BE49-F238E27FC236}">
                <a16:creationId xmlns:a16="http://schemas.microsoft.com/office/drawing/2014/main" id="{AA11334F-1845-E708-AB18-7FCB93CE3329}"/>
              </a:ext>
            </a:extLst>
          </p:cNvPr>
          <p:cNvSpPr>
            <a:spLocks noGrp="1"/>
          </p:cNvSpPr>
          <p:nvPr>
            <p:ph type="body" sz="quarter" idx="27"/>
          </p:nvPr>
        </p:nvSpPr>
        <p:spPr>
          <a:xfrm>
            <a:off x="2583306" y="5656321"/>
            <a:ext cx="7530850" cy="641396"/>
          </a:xfrm>
        </p:spPr>
        <p:txBody>
          <a:bodyPr anchor="ctr"/>
          <a:lstStyle/>
          <a:p>
            <a:r>
              <a:rPr lang="en-US" sz="3600" dirty="0"/>
              <a:t>6 861 583,   6 471 883,   5 461 837</a:t>
            </a:r>
          </a:p>
        </p:txBody>
      </p:sp>
      <p:sp>
        <p:nvSpPr>
          <p:cNvPr id="15" name="Text Placeholder 14">
            <a:extLst>
              <a:ext uri="{FF2B5EF4-FFF2-40B4-BE49-F238E27FC236}">
                <a16:creationId xmlns:a16="http://schemas.microsoft.com/office/drawing/2014/main" id="{63F2F355-954E-44CF-4ECF-7CD3C57CE1C0}"/>
              </a:ext>
            </a:extLst>
          </p:cNvPr>
          <p:cNvSpPr>
            <a:spLocks noGrp="1"/>
          </p:cNvSpPr>
          <p:nvPr>
            <p:ph type="body" sz="quarter" idx="28"/>
          </p:nvPr>
        </p:nvSpPr>
        <p:spPr>
          <a:xfrm>
            <a:off x="474481" y="711654"/>
            <a:ext cx="11243037" cy="754243"/>
          </a:xfrm>
        </p:spPr>
        <p:txBody>
          <a:bodyPr/>
          <a:lstStyle/>
          <a:p>
            <a:pPr algn="ctr"/>
            <a:r>
              <a:rPr lang="en-US" sz="4400" dirty="0"/>
              <a:t>Which shows the numbers arranged</a:t>
            </a:r>
            <a:br>
              <a:rPr lang="en-US" sz="4400" dirty="0"/>
            </a:br>
            <a:r>
              <a:rPr lang="en-US" sz="4400" dirty="0"/>
              <a:t> in </a:t>
            </a:r>
            <a:r>
              <a:rPr lang="en-US" sz="4400" b="1" dirty="0"/>
              <a:t>descending </a:t>
            </a:r>
            <a:r>
              <a:rPr lang="en-US" sz="4400" dirty="0"/>
              <a:t>order?</a:t>
            </a:r>
          </a:p>
        </p:txBody>
      </p:sp>
      <p:sp>
        <p:nvSpPr>
          <p:cNvPr id="16" name="Text Placeholder 15">
            <a:extLst>
              <a:ext uri="{FF2B5EF4-FFF2-40B4-BE49-F238E27FC236}">
                <a16:creationId xmlns:a16="http://schemas.microsoft.com/office/drawing/2014/main" id="{92C95EDB-DE45-91C1-57A8-4D7305326D0D}"/>
              </a:ext>
            </a:extLst>
          </p:cNvPr>
          <p:cNvSpPr>
            <a:spLocks noGrp="1"/>
          </p:cNvSpPr>
          <p:nvPr>
            <p:ph type="body" sz="quarter" idx="29"/>
          </p:nvPr>
        </p:nvSpPr>
        <p:spPr>
          <a:xfrm>
            <a:off x="2583306" y="4806268"/>
            <a:ext cx="7530850" cy="641396"/>
          </a:xfrm>
        </p:spPr>
        <p:txBody>
          <a:bodyPr anchor="ctr"/>
          <a:lstStyle/>
          <a:p>
            <a:r>
              <a:rPr lang="en-US" sz="3600" dirty="0"/>
              <a:t>5 861 583,   6 471 883,   7 461 837</a:t>
            </a:r>
          </a:p>
        </p:txBody>
      </p:sp>
      <p:sp>
        <p:nvSpPr>
          <p:cNvPr id="17" name="Text Placeholder 16">
            <a:extLst>
              <a:ext uri="{FF2B5EF4-FFF2-40B4-BE49-F238E27FC236}">
                <a16:creationId xmlns:a16="http://schemas.microsoft.com/office/drawing/2014/main" id="{29A4E7C9-5ADB-F023-46E3-7F1A450E28B3}"/>
              </a:ext>
            </a:extLst>
          </p:cNvPr>
          <p:cNvSpPr>
            <a:spLocks noGrp="1"/>
          </p:cNvSpPr>
          <p:nvPr>
            <p:ph type="body" sz="quarter" idx="30"/>
          </p:nvPr>
        </p:nvSpPr>
        <p:spPr>
          <a:xfrm>
            <a:off x="2583306" y="3956215"/>
            <a:ext cx="7530850" cy="641396"/>
          </a:xfrm>
        </p:spPr>
        <p:txBody>
          <a:bodyPr anchor="ctr"/>
          <a:lstStyle/>
          <a:p>
            <a:r>
              <a:rPr lang="en-US" sz="3600" dirty="0"/>
              <a:t>7 461 583,   7 471 883,   5 461 837</a:t>
            </a:r>
          </a:p>
        </p:txBody>
      </p:sp>
      <p:sp>
        <p:nvSpPr>
          <p:cNvPr id="18" name="Text Placeholder 17">
            <a:extLst>
              <a:ext uri="{FF2B5EF4-FFF2-40B4-BE49-F238E27FC236}">
                <a16:creationId xmlns:a16="http://schemas.microsoft.com/office/drawing/2014/main" id="{6DCA7DBF-5599-1A3D-C39E-54412033284F}"/>
              </a:ext>
            </a:extLst>
          </p:cNvPr>
          <p:cNvSpPr>
            <a:spLocks noGrp="1"/>
          </p:cNvSpPr>
          <p:nvPr>
            <p:ph type="body" sz="quarter" idx="31"/>
          </p:nvPr>
        </p:nvSpPr>
        <p:spPr>
          <a:xfrm>
            <a:off x="2583306" y="3108302"/>
            <a:ext cx="7530850" cy="641396"/>
          </a:xfrm>
        </p:spPr>
        <p:txBody>
          <a:bodyPr anchor="ctr"/>
          <a:lstStyle/>
          <a:p>
            <a:r>
              <a:rPr lang="en-US" sz="3600" dirty="0"/>
              <a:t>5 861 583,   6 471 883,   7 461 837</a:t>
            </a:r>
          </a:p>
        </p:txBody>
      </p:sp>
      <p:sp>
        <p:nvSpPr>
          <p:cNvPr id="9" name="TextBox 8">
            <a:extLst>
              <a:ext uri="{FF2B5EF4-FFF2-40B4-BE49-F238E27FC236}">
                <a16:creationId xmlns:a16="http://schemas.microsoft.com/office/drawing/2014/main" id="{793EDF41-C42C-8273-E2DE-8E4910A00103}"/>
              </a:ext>
            </a:extLst>
          </p:cNvPr>
          <p:cNvSpPr txBox="1"/>
          <p:nvPr/>
        </p:nvSpPr>
        <p:spPr>
          <a:xfrm>
            <a:off x="1908346" y="30596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509AD87B-945E-EF0D-EE5D-D963ACE5480B}"/>
              </a:ext>
            </a:extLst>
          </p:cNvPr>
          <p:cNvSpPr txBox="1"/>
          <p:nvPr/>
        </p:nvSpPr>
        <p:spPr>
          <a:xfrm>
            <a:off x="1908345" y="39075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19288423-CD91-9472-E346-D2D0ECB4C75C}"/>
              </a:ext>
            </a:extLst>
          </p:cNvPr>
          <p:cNvSpPr txBox="1"/>
          <p:nvPr/>
        </p:nvSpPr>
        <p:spPr>
          <a:xfrm>
            <a:off x="1908343" y="56076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7A633D74-C65F-E185-EA4B-C6135BC39C93}"/>
              </a:ext>
            </a:extLst>
          </p:cNvPr>
          <p:cNvSpPr txBox="1"/>
          <p:nvPr/>
        </p:nvSpPr>
        <p:spPr>
          <a:xfrm>
            <a:off x="1908344" y="47576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14B8BC39-67FB-C657-188E-31701D36017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1A1AE37-CCFB-1481-2EAF-60350ABBFB77}"/>
              </a:ext>
            </a:extLst>
          </p:cNvPr>
          <p:cNvSpPr txBox="1">
            <a:spLocks/>
          </p:cNvSpPr>
          <p:nvPr/>
        </p:nvSpPr>
        <p:spPr>
          <a:xfrm>
            <a:off x="474481" y="1451852"/>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Kieran is </a:t>
            </a:r>
            <a:r>
              <a:rPr lang="en-AU" sz="4400" b="1" dirty="0"/>
              <a:t>measuring</a:t>
            </a:r>
            <a:r>
              <a:rPr lang="en-AU" sz="4400" dirty="0"/>
              <a:t> the growth of a plant in Science. Last week it was </a:t>
            </a:r>
            <a:r>
              <a:rPr lang="en-AU" sz="4400" b="1" dirty="0"/>
              <a:t>12.72 cm </a:t>
            </a:r>
            <a:r>
              <a:rPr lang="en-AU" sz="4400" dirty="0"/>
              <a:t>tall. </a:t>
            </a:r>
          </a:p>
          <a:p>
            <a:pPr algn="ctr"/>
            <a:r>
              <a:rPr lang="en-AU" sz="4400" dirty="0"/>
              <a:t>It has grown another </a:t>
            </a:r>
            <a:r>
              <a:rPr lang="en-AU" sz="4400" b="1" dirty="0"/>
              <a:t>1.35 cm</a:t>
            </a:r>
            <a:r>
              <a:rPr lang="en-AU" sz="4400" dirty="0"/>
              <a:t>. </a:t>
            </a:r>
            <a:br>
              <a:rPr lang="en-AU" sz="4400" dirty="0"/>
            </a:br>
            <a:r>
              <a:rPr lang="en-AU" sz="4400" dirty="0"/>
              <a:t>How tall is the plant now?</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6D51C3DE-7A90-1E4C-71A7-FC066E41920B}"/>
              </a:ext>
            </a:extLst>
          </p:cNvPr>
          <p:cNvSpPr txBox="1">
            <a:spLocks/>
          </p:cNvSpPr>
          <p:nvPr/>
        </p:nvSpPr>
        <p:spPr>
          <a:xfrm>
            <a:off x="360000" y="1066841"/>
            <a:ext cx="11243037" cy="626440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dirty="0"/>
              <a:t>Write</a:t>
            </a:r>
            <a:r>
              <a:rPr lang="en-AU" sz="3600" dirty="0"/>
              <a:t> a </a:t>
            </a:r>
            <a:r>
              <a:rPr lang="en-AU" sz="3600" b="1" dirty="0"/>
              <a:t>number sentence </a:t>
            </a:r>
            <a:r>
              <a:rPr lang="en-AU" sz="3600" dirty="0"/>
              <a:t>to show your understanding of the following multiplicative properties:</a:t>
            </a:r>
          </a:p>
          <a:p>
            <a:pPr marL="571500" indent="-571500" algn="ctr">
              <a:buFont typeface="Arial" panose="020B0604020202020204" pitchFamily="34" charset="0"/>
              <a:buChar char="•"/>
            </a:pPr>
            <a:r>
              <a:rPr lang="en-AU" sz="3600" dirty="0"/>
              <a:t>commutative</a:t>
            </a:r>
          </a:p>
          <a:p>
            <a:pPr marL="571500" indent="-571500" algn="ctr">
              <a:buFont typeface="Arial" panose="020B0604020202020204" pitchFamily="34" charset="0"/>
              <a:buChar char="•"/>
            </a:pPr>
            <a:r>
              <a:rPr lang="en-AU" sz="3600" dirty="0"/>
              <a:t>associative</a:t>
            </a:r>
          </a:p>
          <a:p>
            <a:pPr marL="571500" indent="-571500" algn="ctr">
              <a:buFont typeface="Arial" panose="020B0604020202020204" pitchFamily="34" charset="0"/>
              <a:buChar char="•"/>
            </a:pPr>
            <a:r>
              <a:rPr lang="en-AU" sz="3600" dirty="0"/>
              <a:t>distributive </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4" name="Group 2" descr="A protractor measuring a 180 degree angle.">
            <a:extLst>
              <a:ext uri="{FF2B5EF4-FFF2-40B4-BE49-F238E27FC236}">
                <a16:creationId xmlns:a16="http://schemas.microsoft.com/office/drawing/2014/main" id="{CCF7D74F-1D11-AF6E-DEC2-FE5AF0234143}"/>
              </a:ext>
            </a:extLst>
          </p:cNvPr>
          <p:cNvGrpSpPr/>
          <p:nvPr/>
        </p:nvGrpSpPr>
        <p:grpSpPr>
          <a:xfrm>
            <a:off x="3854335" y="3936251"/>
            <a:ext cx="4111793" cy="2561749"/>
            <a:chOff x="0" y="0"/>
            <a:chExt cx="3453913" cy="1977352"/>
          </a:xfrm>
        </p:grpSpPr>
        <p:sp>
          <p:nvSpPr>
            <p:cNvPr id="5" name="Freeform 3">
              <a:extLst>
                <a:ext uri="{FF2B5EF4-FFF2-40B4-BE49-F238E27FC236}">
                  <a16:creationId xmlns:a16="http://schemas.microsoft.com/office/drawing/2014/main" id="{7CB4E99E-73D5-FADF-009C-E1F1501E0D2D}"/>
                </a:ext>
              </a:extLst>
            </p:cNvPr>
            <p:cNvSpPr/>
            <p:nvPr/>
          </p:nvSpPr>
          <p:spPr>
            <a:xfrm>
              <a:off x="0" y="0"/>
              <a:ext cx="3453913" cy="1843526"/>
            </a:xfrm>
            <a:custGeom>
              <a:avLst/>
              <a:gdLst/>
              <a:ahLst/>
              <a:cxnLst/>
              <a:rect l="l" t="t" r="r" b="b"/>
              <a:pathLst>
                <a:path w="3453913" h="1843526">
                  <a:moveTo>
                    <a:pt x="0" y="0"/>
                  </a:moveTo>
                  <a:lnTo>
                    <a:pt x="3453913" y="0"/>
                  </a:lnTo>
                  <a:lnTo>
                    <a:pt x="3453913" y="1843526"/>
                  </a:lnTo>
                  <a:lnTo>
                    <a:pt x="0" y="18435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AutoShape 4">
              <a:extLst>
                <a:ext uri="{FF2B5EF4-FFF2-40B4-BE49-F238E27FC236}">
                  <a16:creationId xmlns:a16="http://schemas.microsoft.com/office/drawing/2014/main" id="{54AA0D8A-B770-6D1C-F2D7-0DF39C7AA018}"/>
                </a:ext>
              </a:extLst>
            </p:cNvPr>
            <p:cNvSpPr/>
            <p:nvPr/>
          </p:nvSpPr>
          <p:spPr>
            <a:xfrm flipV="1">
              <a:off x="517709" y="1722917"/>
              <a:ext cx="2415282" cy="0"/>
            </a:xfrm>
            <a:prstGeom prst="line">
              <a:avLst/>
            </a:prstGeom>
            <a:ln w="25400" cap="flat">
              <a:solidFill>
                <a:srgbClr val="D7153A"/>
              </a:solidFill>
              <a:prstDash val="solid"/>
              <a:headEnd type="none" w="sm" len="sm"/>
              <a:tailEnd type="none" w="sm" len="sm"/>
            </a:ln>
          </p:spPr>
          <p:txBody>
            <a:bodyPr/>
            <a:lstStyle/>
            <a:p>
              <a:endParaRPr lang="en-AU"/>
            </a:p>
          </p:txBody>
        </p:sp>
        <p:sp>
          <p:nvSpPr>
            <p:cNvPr id="8" name="Freeform 5">
              <a:extLst>
                <a:ext uri="{FF2B5EF4-FFF2-40B4-BE49-F238E27FC236}">
                  <a16:creationId xmlns:a16="http://schemas.microsoft.com/office/drawing/2014/main" id="{BF692CC0-5388-C227-BBE3-F1436A1BF1AC}"/>
                </a:ext>
              </a:extLst>
            </p:cNvPr>
            <p:cNvSpPr/>
            <p:nvPr/>
          </p:nvSpPr>
          <p:spPr>
            <a:xfrm rot="-6850274">
              <a:off x="1382247" y="911055"/>
              <a:ext cx="689419" cy="1066800"/>
            </a:xfrm>
            <a:custGeom>
              <a:avLst/>
              <a:gdLst/>
              <a:ahLst/>
              <a:cxnLst/>
              <a:rect l="l" t="t" r="r" b="b"/>
              <a:pathLst>
                <a:path w="689419" h="1066800">
                  <a:moveTo>
                    <a:pt x="0" y="0"/>
                  </a:moveTo>
                  <a:lnTo>
                    <a:pt x="689419" y="0"/>
                  </a:lnTo>
                  <a:lnTo>
                    <a:pt x="689419" y="1066800"/>
                  </a:lnTo>
                  <a:lnTo>
                    <a:pt x="0" y="1066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grpSp>
      <p:sp>
        <p:nvSpPr>
          <p:cNvPr id="9" name="Text Placeholder 5">
            <a:extLst>
              <a:ext uri="{FF2B5EF4-FFF2-40B4-BE49-F238E27FC236}">
                <a16:creationId xmlns:a16="http://schemas.microsoft.com/office/drawing/2014/main" id="{F50ABA16-B5A7-CA97-E63E-0F6A7443A91C}"/>
              </a:ext>
            </a:extLst>
          </p:cNvPr>
          <p:cNvSpPr txBox="1">
            <a:spLocks/>
          </p:cNvSpPr>
          <p:nvPr/>
        </p:nvSpPr>
        <p:spPr>
          <a:xfrm>
            <a:off x="474481" y="121628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Jules </a:t>
            </a:r>
            <a:r>
              <a:rPr lang="en-AU" sz="4400" b="1" dirty="0"/>
              <a:t>measured</a:t>
            </a:r>
            <a:r>
              <a:rPr lang="en-AU" sz="4400" dirty="0"/>
              <a:t> the angle to be 180°. </a:t>
            </a:r>
          </a:p>
          <a:p>
            <a:pPr algn="ctr"/>
            <a:r>
              <a:rPr lang="en-AU" sz="4400" dirty="0"/>
              <a:t>What is the </a:t>
            </a:r>
            <a:r>
              <a:rPr lang="en-AU" sz="4400" b="1" dirty="0"/>
              <a:t>name</a:t>
            </a:r>
            <a:r>
              <a:rPr lang="en-AU" sz="4400" dirty="0"/>
              <a:t> of the </a:t>
            </a:r>
            <a:r>
              <a:rPr lang="en-AU" sz="4400" b="1" dirty="0"/>
              <a:t>angle</a:t>
            </a:r>
            <a:r>
              <a:rPr lang="en-AU" sz="4400" dirty="0"/>
              <a:t>? </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7BEAD0F4-D892-821C-0A94-2DAB9B6E861F}"/>
              </a:ext>
            </a:extLst>
          </p:cNvPr>
          <p:cNvSpPr txBox="1">
            <a:spLocks/>
          </p:cNvSpPr>
          <p:nvPr/>
        </p:nvSpPr>
        <p:spPr>
          <a:xfrm>
            <a:off x="474481" y="88177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Sandra went to bed at 11:15 pm.</a:t>
            </a:r>
          </a:p>
          <a:p>
            <a:pPr algn="ctr"/>
            <a:r>
              <a:rPr lang="en-AU" sz="4400" b="1" dirty="0"/>
              <a:t>Convert</a:t>
            </a:r>
            <a:r>
              <a:rPr lang="en-AU" sz="4400" dirty="0"/>
              <a:t> this to </a:t>
            </a:r>
            <a:r>
              <a:rPr lang="en-AU" sz="4400" b="1" dirty="0"/>
              <a:t>24-hour time</a:t>
            </a:r>
            <a:r>
              <a:rPr lang="en-AU" sz="4400" dirty="0"/>
              <a:t>.</a:t>
            </a:r>
          </a:p>
        </p:txBody>
      </p:sp>
      <p:grpSp>
        <p:nvGrpSpPr>
          <p:cNvPr id="5" name="Group 4" descr="An analog clock showing 11:15.">
            <a:extLst>
              <a:ext uri="{FF2B5EF4-FFF2-40B4-BE49-F238E27FC236}">
                <a16:creationId xmlns:a16="http://schemas.microsoft.com/office/drawing/2014/main" id="{6ADCBA56-D618-DE24-CD72-694BD2724A03}"/>
              </a:ext>
            </a:extLst>
          </p:cNvPr>
          <p:cNvGrpSpPr/>
          <p:nvPr/>
        </p:nvGrpSpPr>
        <p:grpSpPr>
          <a:xfrm>
            <a:off x="4182132" y="3270259"/>
            <a:ext cx="3480202" cy="3501941"/>
            <a:chOff x="577340" y="61417"/>
            <a:chExt cx="1890858" cy="1890857"/>
          </a:xfrm>
        </p:grpSpPr>
        <p:sp>
          <p:nvSpPr>
            <p:cNvPr id="7" name="Freeform 5">
              <a:extLst>
                <a:ext uri="{FF2B5EF4-FFF2-40B4-BE49-F238E27FC236}">
                  <a16:creationId xmlns:a16="http://schemas.microsoft.com/office/drawing/2014/main" id="{81A9D18B-1F60-1127-BDAC-2167B5D83141}"/>
                </a:ext>
              </a:extLst>
            </p:cNvPr>
            <p:cNvSpPr/>
            <p:nvPr/>
          </p:nvSpPr>
          <p:spPr>
            <a:xfrm>
              <a:off x="577340" y="61417"/>
              <a:ext cx="1890858" cy="1890857"/>
            </a:xfrm>
            <a:custGeom>
              <a:avLst/>
              <a:gdLst/>
              <a:ahLst/>
              <a:cxnLst/>
              <a:rect l="l" t="t" r="r" b="b"/>
              <a:pathLst>
                <a:path w="2521144" h="2521144">
                  <a:moveTo>
                    <a:pt x="0" y="0"/>
                  </a:moveTo>
                  <a:lnTo>
                    <a:pt x="2521144" y="0"/>
                  </a:lnTo>
                  <a:lnTo>
                    <a:pt x="2521144" y="2521144"/>
                  </a:lnTo>
                  <a:lnTo>
                    <a:pt x="0" y="25211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6">
              <a:extLst>
                <a:ext uri="{FF2B5EF4-FFF2-40B4-BE49-F238E27FC236}">
                  <a16:creationId xmlns:a16="http://schemas.microsoft.com/office/drawing/2014/main" id="{3DDF3FAA-82D2-23BB-11B9-D5B45E42D272}"/>
                </a:ext>
              </a:extLst>
            </p:cNvPr>
            <p:cNvSpPr/>
            <p:nvPr/>
          </p:nvSpPr>
          <p:spPr>
            <a:xfrm>
              <a:off x="1518218" y="976312"/>
              <a:ext cx="679693" cy="56083"/>
            </a:xfrm>
            <a:custGeom>
              <a:avLst/>
              <a:gdLst/>
              <a:ahLst/>
              <a:cxnLst/>
              <a:rect l="l" t="t" r="r" b="b"/>
              <a:pathLst>
                <a:path w="679693" h="56083">
                  <a:moveTo>
                    <a:pt x="0" y="0"/>
                  </a:moveTo>
                  <a:lnTo>
                    <a:pt x="679693" y="0"/>
                  </a:lnTo>
                  <a:lnTo>
                    <a:pt x="679693" y="56084"/>
                  </a:lnTo>
                  <a:lnTo>
                    <a:pt x="0" y="56084"/>
                  </a:lnTo>
                  <a:lnTo>
                    <a:pt x="0" y="0"/>
                  </a:lnTo>
                  <a:close/>
                </a:path>
              </a:pathLst>
            </a:custGeom>
            <a:blipFill>
              <a:blip r:embed="rId6"/>
              <a:stretch>
                <a:fillRect l="-6560" t="-99999" r="-207774"/>
              </a:stretch>
            </a:blipFill>
          </p:spPr>
          <p:txBody>
            <a:bodyPr/>
            <a:lstStyle/>
            <a:p>
              <a:endParaRPr lang="en-AU"/>
            </a:p>
          </p:txBody>
        </p:sp>
        <p:sp>
          <p:nvSpPr>
            <p:cNvPr id="9" name="Freeform 7">
              <a:extLst>
                <a:ext uri="{FF2B5EF4-FFF2-40B4-BE49-F238E27FC236}">
                  <a16:creationId xmlns:a16="http://schemas.microsoft.com/office/drawing/2014/main" id="{D6FAF29D-85A2-C1C9-14C3-7FA345427A8D}"/>
                </a:ext>
              </a:extLst>
            </p:cNvPr>
            <p:cNvSpPr/>
            <p:nvPr/>
          </p:nvSpPr>
          <p:spPr>
            <a:xfrm rot="-6467203">
              <a:off x="1221525" y="768084"/>
              <a:ext cx="462075" cy="47727"/>
            </a:xfrm>
            <a:custGeom>
              <a:avLst/>
              <a:gdLst/>
              <a:ahLst/>
              <a:cxnLst/>
              <a:rect l="l" t="t" r="r" b="b"/>
              <a:pathLst>
                <a:path w="462075" h="47727">
                  <a:moveTo>
                    <a:pt x="0" y="0"/>
                  </a:moveTo>
                  <a:lnTo>
                    <a:pt x="462075" y="0"/>
                  </a:lnTo>
                  <a:lnTo>
                    <a:pt x="462075" y="47727"/>
                  </a:lnTo>
                  <a:lnTo>
                    <a:pt x="0" y="47727"/>
                  </a:lnTo>
                  <a:lnTo>
                    <a:pt x="0" y="0"/>
                  </a:lnTo>
                  <a:close/>
                </a:path>
              </a:pathLst>
            </a:custGeom>
            <a:blipFill>
              <a:blip r:embed="rId6"/>
              <a:stretch>
                <a:fillRect l="-5262" t="-28154" r="-146869"/>
              </a:stretch>
            </a:blipFill>
          </p:spPr>
          <p:txBody>
            <a:bodyPr/>
            <a:lstStyle/>
            <a:p>
              <a:endParaRPr lang="en-AU"/>
            </a:p>
          </p:txBody>
        </p:sp>
      </p:gr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dirty="0"/>
              <a:t>Activity 7 – rounding numbers to millions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7" name="Table 6">
            <a:extLst>
              <a:ext uri="{FF2B5EF4-FFF2-40B4-BE49-F238E27FC236}">
                <a16:creationId xmlns:a16="http://schemas.microsoft.com/office/drawing/2014/main" id="{6B9A2315-9689-B5DE-D6F6-75EDD3213041}"/>
              </a:ext>
            </a:extLst>
          </p:cNvPr>
          <p:cNvGraphicFramePr>
            <a:graphicFrameLocks noGrp="1"/>
          </p:cNvGraphicFramePr>
          <p:nvPr>
            <p:extLst>
              <p:ext uri="{D42A27DB-BD31-4B8C-83A1-F6EECF244321}">
                <p14:modId xmlns:p14="http://schemas.microsoft.com/office/powerpoint/2010/main" val="531933990"/>
              </p:ext>
            </p:extLst>
          </p:nvPr>
        </p:nvGraphicFramePr>
        <p:xfrm>
          <a:off x="360000" y="1226963"/>
          <a:ext cx="5271567" cy="4895848"/>
        </p:xfrm>
        <a:graphic>
          <a:graphicData uri="http://schemas.openxmlformats.org/drawingml/2006/table">
            <a:tbl>
              <a:tblPr firstRow="1"/>
              <a:tblGrid>
                <a:gridCol w="1607300">
                  <a:extLst>
                    <a:ext uri="{9D8B030D-6E8A-4147-A177-3AD203B41FA5}">
                      <a16:colId xmlns:a16="http://schemas.microsoft.com/office/drawing/2014/main" val="20000"/>
                    </a:ext>
                  </a:extLst>
                </a:gridCol>
                <a:gridCol w="1857932">
                  <a:extLst>
                    <a:ext uri="{9D8B030D-6E8A-4147-A177-3AD203B41FA5}">
                      <a16:colId xmlns:a16="http://schemas.microsoft.com/office/drawing/2014/main" val="20001"/>
                    </a:ext>
                  </a:extLst>
                </a:gridCol>
                <a:gridCol w="1806335">
                  <a:extLst>
                    <a:ext uri="{9D8B030D-6E8A-4147-A177-3AD203B41FA5}">
                      <a16:colId xmlns:a16="http://schemas.microsoft.com/office/drawing/2014/main" val="20002"/>
                    </a:ext>
                  </a:extLst>
                </a:gridCol>
              </a:tblGrid>
              <a:tr h="611981">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Name</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Country</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a:solidFill>
                            <a:schemeClr val="bg1"/>
                          </a:solidFill>
                          <a:latin typeface="+mn-lt"/>
                          <a:ea typeface="Canva Student Font"/>
                          <a:cs typeface="Canva Student Font"/>
                          <a:sym typeface="Canva Student Font"/>
                        </a:rPr>
                        <a:t>Population</a:t>
                      </a:r>
                      <a:endParaRPr lang="en-US" sz="1100" b="1">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611981">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Shanghai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China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a:solidFill>
                            <a:srgbClr val="000000"/>
                          </a:solidFill>
                          <a:latin typeface="+mn-lt"/>
                          <a:ea typeface="Canva Student Font"/>
                          <a:cs typeface="Canva Student Font"/>
                          <a:sym typeface="Canva Student Font"/>
                        </a:rPr>
                        <a:t>28 516 000</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Delhi</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India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32 065 000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Melbourne</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Australia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 5 031 000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Sydney</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5 297 000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Dhaka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Bangladesh</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22 478 000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Sao Paulo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Brazil</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22 429 000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Tokyo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Japan</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37 274 000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8" name="Table 6">
            <a:extLst>
              <a:ext uri="{FF2B5EF4-FFF2-40B4-BE49-F238E27FC236}">
                <a16:creationId xmlns:a16="http://schemas.microsoft.com/office/drawing/2014/main" id="{7AA8B5BC-71CA-FBB2-3944-2FB780A8DA4A}"/>
              </a:ext>
            </a:extLst>
          </p:cNvPr>
          <p:cNvGraphicFramePr>
            <a:graphicFrameLocks noGrp="1"/>
          </p:cNvGraphicFramePr>
          <p:nvPr>
            <p:extLst>
              <p:ext uri="{D42A27DB-BD31-4B8C-83A1-F6EECF244321}">
                <p14:modId xmlns:p14="http://schemas.microsoft.com/office/powerpoint/2010/main" val="1760616445"/>
              </p:ext>
            </p:extLst>
          </p:nvPr>
        </p:nvGraphicFramePr>
        <p:xfrm>
          <a:off x="5905843" y="1226963"/>
          <a:ext cx="5938157" cy="4895848"/>
        </p:xfrm>
        <a:graphic>
          <a:graphicData uri="http://schemas.openxmlformats.org/drawingml/2006/table">
            <a:tbl>
              <a:tblPr firstRow="1"/>
              <a:tblGrid>
                <a:gridCol w="1737011">
                  <a:extLst>
                    <a:ext uri="{9D8B030D-6E8A-4147-A177-3AD203B41FA5}">
                      <a16:colId xmlns:a16="http://schemas.microsoft.com/office/drawing/2014/main" val="20000"/>
                    </a:ext>
                  </a:extLst>
                </a:gridCol>
                <a:gridCol w="2030483">
                  <a:extLst>
                    <a:ext uri="{9D8B030D-6E8A-4147-A177-3AD203B41FA5}">
                      <a16:colId xmlns:a16="http://schemas.microsoft.com/office/drawing/2014/main" val="20001"/>
                    </a:ext>
                  </a:extLst>
                </a:gridCol>
                <a:gridCol w="2170663">
                  <a:extLst>
                    <a:ext uri="{9D8B030D-6E8A-4147-A177-3AD203B41FA5}">
                      <a16:colId xmlns:a16="http://schemas.microsoft.com/office/drawing/2014/main" val="20002"/>
                    </a:ext>
                  </a:extLst>
                </a:gridCol>
              </a:tblGrid>
              <a:tr h="588383">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Name</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Country</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000" b="1" dirty="0">
                          <a:solidFill>
                            <a:schemeClr val="bg1"/>
                          </a:solidFill>
                          <a:latin typeface="+mn-lt"/>
                          <a:ea typeface="Canva Student Font"/>
                          <a:cs typeface="Canva Student Font"/>
                          <a:sym typeface="Canva Student Font"/>
                        </a:rPr>
                        <a:t>Population (m)</a:t>
                      </a:r>
                      <a:endParaRPr lang="en-US" sz="105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88660">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Shanghai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China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28.5</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8383">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Delhi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India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32.1</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Melbourne</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 5.0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89967">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Sydney</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5.3</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Dhaka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Bangladesh</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22.5</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Sao Paulo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Brazil</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22.4</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75306">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Tokyo</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Japan</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37.3</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1" y="2493524"/>
            <a:ext cx="11243037" cy="893226"/>
          </a:xfrm>
        </p:spPr>
        <p:txBody>
          <a:bodyPr/>
          <a:lstStyle/>
          <a:p>
            <a:pPr algn="ctr"/>
            <a:r>
              <a:rPr lang="en-AU" sz="4400" dirty="0"/>
              <a:t>1000 </a:t>
            </a:r>
            <a:r>
              <a:rPr lang="en-AU" sz="4400" b="1" dirty="0"/>
              <a:t>thousands</a:t>
            </a:r>
            <a:r>
              <a:rPr lang="en-AU" sz="4400" dirty="0"/>
              <a:t> is 1 </a:t>
            </a:r>
            <a:r>
              <a:rPr lang="en-AU" sz="4400" b="1" dirty="0"/>
              <a:t>million</a:t>
            </a:r>
            <a:r>
              <a:rPr lang="en-AU" sz="4400" dirty="0"/>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53E12CA5-2906-3700-6FE0-137A3FF40ED5}"/>
              </a:ext>
            </a:extLst>
          </p:cNvPr>
          <p:cNvSpPr txBox="1">
            <a:spLocks/>
          </p:cNvSpPr>
          <p:nvPr/>
        </p:nvSpPr>
        <p:spPr>
          <a:xfrm>
            <a:off x="360000" y="1668559"/>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What are </a:t>
            </a:r>
            <a:r>
              <a:rPr lang="en-AU" sz="4400" b="1" dirty="0"/>
              <a:t>2 decimal numbers </a:t>
            </a:r>
            <a:r>
              <a:rPr lang="en-AU" sz="4400" dirty="0"/>
              <a:t>that can be </a:t>
            </a:r>
          </a:p>
          <a:p>
            <a:pPr algn="ctr"/>
            <a:r>
              <a:rPr lang="en-AU" sz="4400" dirty="0"/>
              <a:t>found between </a:t>
            </a:r>
            <a:r>
              <a:rPr lang="en-AU" sz="4400" b="1" dirty="0"/>
              <a:t>1.406</a:t>
            </a:r>
            <a:r>
              <a:rPr lang="en-AU" sz="4400" dirty="0"/>
              <a:t> and </a:t>
            </a:r>
            <a:r>
              <a:rPr lang="en-AU" sz="4400" b="1" dirty="0"/>
              <a:t>1.411. </a:t>
            </a:r>
          </a:p>
          <a:p>
            <a:pPr algn="ctr"/>
            <a:r>
              <a:rPr lang="en-AU" sz="4400" b="1" dirty="0"/>
              <a:t>Show your answer </a:t>
            </a:r>
            <a:r>
              <a:rPr lang="en-AU" sz="4400" dirty="0"/>
              <a:t>on a number line.</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D51BF536-5F14-B0EC-518E-18DFBC6B33C9}"/>
              </a:ext>
            </a:extLst>
          </p:cNvPr>
          <p:cNvSpPr txBox="1">
            <a:spLocks/>
          </p:cNvSpPr>
          <p:nvPr/>
        </p:nvSpPr>
        <p:spPr>
          <a:xfrm>
            <a:off x="474481" y="1320044"/>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Record</a:t>
            </a:r>
            <a:r>
              <a:rPr lang="en-AU" sz="4400" dirty="0"/>
              <a:t> these divisions as fractions:</a:t>
            </a:r>
          </a:p>
          <a:p>
            <a:pPr marL="571500" indent="-571500">
              <a:buFont typeface="Arial" panose="020B0604020202020204" pitchFamily="34" charset="0"/>
              <a:buChar char="•"/>
            </a:pPr>
            <a:r>
              <a:rPr lang="en-AU" sz="4400" dirty="0"/>
              <a:t>3 divided by 2</a:t>
            </a:r>
          </a:p>
          <a:p>
            <a:pPr marL="571500" indent="-571500">
              <a:buFont typeface="Arial" panose="020B0604020202020204" pitchFamily="34" charset="0"/>
              <a:buChar char="•"/>
            </a:pPr>
            <a:r>
              <a:rPr lang="en-AU" sz="4400" dirty="0"/>
              <a:t>4 divided by 8</a:t>
            </a:r>
          </a:p>
          <a:p>
            <a:pPr marL="571500" indent="-571500">
              <a:buFont typeface="Arial" panose="020B0604020202020204" pitchFamily="34" charset="0"/>
              <a:buChar char="•"/>
            </a:pPr>
            <a:r>
              <a:rPr lang="en-AU" sz="4400" dirty="0"/>
              <a:t>8 divided by 8 </a:t>
            </a:r>
          </a:p>
          <a:p>
            <a:pPr marL="571500" indent="-571500">
              <a:buFont typeface="Arial" panose="020B0604020202020204" pitchFamily="34" charset="0"/>
              <a:buChar char="•"/>
            </a:pPr>
            <a:endParaRPr lang="en-AU" sz="4400" dirty="0"/>
          </a:p>
          <a:p>
            <a:pPr algn="ctr"/>
            <a:endParaRPr lang="en-AU" sz="4400" dirty="0"/>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2" name="Text Placeholder 17">
            <a:extLst>
              <a:ext uri="{FF2B5EF4-FFF2-40B4-BE49-F238E27FC236}">
                <a16:creationId xmlns:a16="http://schemas.microsoft.com/office/drawing/2014/main" id="{AC567305-4B00-AF17-83C3-9D930B1E83C1}"/>
              </a:ext>
            </a:extLst>
          </p:cNvPr>
          <p:cNvSpPr txBox="1">
            <a:spLocks/>
          </p:cNvSpPr>
          <p:nvPr/>
        </p:nvSpPr>
        <p:spPr>
          <a:xfrm>
            <a:off x="360000" y="2108186"/>
            <a:ext cx="10898111" cy="348385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The students </a:t>
            </a:r>
            <a:r>
              <a:rPr lang="en-US" sz="4400" b="1" dirty="0"/>
              <a:t>arrived at</a:t>
            </a:r>
            <a:r>
              <a:rPr lang="en-US" sz="4400" dirty="0"/>
              <a:t> school at </a:t>
            </a:r>
            <a:r>
              <a:rPr lang="en-US" sz="4400" b="1" dirty="0"/>
              <a:t>08:45am </a:t>
            </a:r>
            <a:r>
              <a:rPr lang="en-US" sz="4400" dirty="0"/>
              <a:t>and </a:t>
            </a:r>
            <a:r>
              <a:rPr lang="en-US" sz="4400" b="1" dirty="0"/>
              <a:t>left </a:t>
            </a:r>
            <a:r>
              <a:rPr lang="en-US" sz="4400" dirty="0"/>
              <a:t>at </a:t>
            </a:r>
            <a:r>
              <a:rPr lang="en-US" sz="4400" b="1" dirty="0"/>
              <a:t>15:15 hours</a:t>
            </a:r>
            <a:r>
              <a:rPr lang="en-US" sz="4400" dirty="0"/>
              <a:t>. </a:t>
            </a:r>
          </a:p>
          <a:p>
            <a:pPr algn="ctr"/>
            <a:r>
              <a:rPr lang="en-US" sz="4400" b="1" dirty="0"/>
              <a:t>How long </a:t>
            </a:r>
            <a:r>
              <a:rPr lang="en-US" sz="4400" dirty="0"/>
              <a:t>were students at school?</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 Placeholder 5">
            <a:extLst>
              <a:ext uri="{FF2B5EF4-FFF2-40B4-BE49-F238E27FC236}">
                <a16:creationId xmlns:a16="http://schemas.microsoft.com/office/drawing/2014/main" id="{094FCD54-FCF1-CDBA-C3E3-60CA54D89B54}"/>
              </a:ext>
            </a:extLst>
          </p:cNvPr>
          <p:cNvSpPr txBox="1">
            <a:spLocks/>
          </p:cNvSpPr>
          <p:nvPr/>
        </p:nvSpPr>
        <p:spPr>
          <a:xfrm>
            <a:off x="462415" y="78827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Lochie’s dog woke him up during</a:t>
            </a:r>
            <a:br>
              <a:rPr lang="en-AU" sz="4400" dirty="0"/>
            </a:br>
            <a:r>
              <a:rPr lang="en-AU" sz="4400" dirty="0"/>
              <a:t>the night. What was the time? </a:t>
            </a:r>
            <a:br>
              <a:rPr lang="en-AU" sz="4400" dirty="0"/>
            </a:br>
            <a:r>
              <a:rPr lang="en-AU" sz="4400" b="1" dirty="0"/>
              <a:t>Convert</a:t>
            </a:r>
            <a:r>
              <a:rPr lang="en-AU" sz="4400" dirty="0"/>
              <a:t> this to </a:t>
            </a:r>
            <a:r>
              <a:rPr lang="en-AU" sz="4400" b="1" dirty="0"/>
              <a:t>24-hour time</a:t>
            </a:r>
            <a:r>
              <a:rPr lang="en-AU" sz="4400" dirty="0"/>
              <a:t>.</a:t>
            </a:r>
          </a:p>
        </p:txBody>
      </p:sp>
      <p:grpSp>
        <p:nvGrpSpPr>
          <p:cNvPr id="17" name="Group 16">
            <a:extLst>
              <a:ext uri="{FF2B5EF4-FFF2-40B4-BE49-F238E27FC236}">
                <a16:creationId xmlns:a16="http://schemas.microsoft.com/office/drawing/2014/main" id="{CDC28590-4164-03BA-67F0-1F28496A7926}"/>
              </a:ext>
            </a:extLst>
          </p:cNvPr>
          <p:cNvGrpSpPr/>
          <p:nvPr/>
        </p:nvGrpSpPr>
        <p:grpSpPr>
          <a:xfrm>
            <a:off x="4671333" y="3890075"/>
            <a:ext cx="2703134" cy="2705458"/>
            <a:chOff x="4893618" y="3502041"/>
            <a:chExt cx="1890858" cy="1890857"/>
          </a:xfrm>
        </p:grpSpPr>
        <p:sp>
          <p:nvSpPr>
            <p:cNvPr id="14" name="Freeform 5">
              <a:extLst>
                <a:ext uri="{FF2B5EF4-FFF2-40B4-BE49-F238E27FC236}">
                  <a16:creationId xmlns:a16="http://schemas.microsoft.com/office/drawing/2014/main" id="{DE5F26C4-6D42-8BE1-16E4-65984F8105F7}"/>
                </a:ext>
              </a:extLst>
            </p:cNvPr>
            <p:cNvSpPr/>
            <p:nvPr/>
          </p:nvSpPr>
          <p:spPr>
            <a:xfrm>
              <a:off x="4893618" y="3502041"/>
              <a:ext cx="1890858" cy="1890857"/>
            </a:xfrm>
            <a:custGeom>
              <a:avLst/>
              <a:gdLst/>
              <a:ahLst/>
              <a:cxnLst/>
              <a:rect l="l" t="t" r="r" b="b"/>
              <a:pathLst>
                <a:path w="2521144" h="2521144">
                  <a:moveTo>
                    <a:pt x="0" y="0"/>
                  </a:moveTo>
                  <a:lnTo>
                    <a:pt x="2521144" y="0"/>
                  </a:lnTo>
                  <a:lnTo>
                    <a:pt x="2521144" y="2521144"/>
                  </a:lnTo>
                  <a:lnTo>
                    <a:pt x="0" y="25211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Freeform 6">
              <a:extLst>
                <a:ext uri="{FF2B5EF4-FFF2-40B4-BE49-F238E27FC236}">
                  <a16:creationId xmlns:a16="http://schemas.microsoft.com/office/drawing/2014/main" id="{DA5F9488-1B86-818F-8470-A0844A51EADA}"/>
                </a:ext>
              </a:extLst>
            </p:cNvPr>
            <p:cNvSpPr/>
            <p:nvPr/>
          </p:nvSpPr>
          <p:spPr>
            <a:xfrm rot="17831995">
              <a:off x="5672428" y="4115016"/>
              <a:ext cx="679693" cy="56083"/>
            </a:xfrm>
            <a:custGeom>
              <a:avLst/>
              <a:gdLst/>
              <a:ahLst/>
              <a:cxnLst/>
              <a:rect l="l" t="t" r="r" b="b"/>
              <a:pathLst>
                <a:path w="679693" h="56083">
                  <a:moveTo>
                    <a:pt x="0" y="0"/>
                  </a:moveTo>
                  <a:lnTo>
                    <a:pt x="679693" y="0"/>
                  </a:lnTo>
                  <a:lnTo>
                    <a:pt x="679693" y="56084"/>
                  </a:lnTo>
                  <a:lnTo>
                    <a:pt x="0" y="56084"/>
                  </a:lnTo>
                  <a:lnTo>
                    <a:pt x="0" y="0"/>
                  </a:lnTo>
                  <a:close/>
                </a:path>
              </a:pathLst>
            </a:custGeom>
            <a:blipFill>
              <a:blip r:embed="rId6"/>
              <a:stretch>
                <a:fillRect l="-6560" t="-99999" r="-207774"/>
              </a:stretch>
            </a:blipFill>
          </p:spPr>
          <p:txBody>
            <a:bodyPr/>
            <a:lstStyle/>
            <a:p>
              <a:endParaRPr lang="en-AU"/>
            </a:p>
          </p:txBody>
        </p:sp>
        <p:sp>
          <p:nvSpPr>
            <p:cNvPr id="16" name="Freeform 7">
              <a:extLst>
                <a:ext uri="{FF2B5EF4-FFF2-40B4-BE49-F238E27FC236}">
                  <a16:creationId xmlns:a16="http://schemas.microsoft.com/office/drawing/2014/main" id="{6DB13167-878E-2733-7A54-41110C726B4D}"/>
                </a:ext>
              </a:extLst>
            </p:cNvPr>
            <p:cNvSpPr/>
            <p:nvPr/>
          </p:nvSpPr>
          <p:spPr>
            <a:xfrm rot="5724438">
              <a:off x="5616436" y="4191348"/>
              <a:ext cx="462075" cy="47727"/>
            </a:xfrm>
            <a:custGeom>
              <a:avLst/>
              <a:gdLst/>
              <a:ahLst/>
              <a:cxnLst/>
              <a:rect l="l" t="t" r="r" b="b"/>
              <a:pathLst>
                <a:path w="462075" h="47727">
                  <a:moveTo>
                    <a:pt x="0" y="0"/>
                  </a:moveTo>
                  <a:lnTo>
                    <a:pt x="462075" y="0"/>
                  </a:lnTo>
                  <a:lnTo>
                    <a:pt x="462075" y="47727"/>
                  </a:lnTo>
                  <a:lnTo>
                    <a:pt x="0" y="47727"/>
                  </a:lnTo>
                  <a:lnTo>
                    <a:pt x="0" y="0"/>
                  </a:lnTo>
                  <a:close/>
                </a:path>
              </a:pathLst>
            </a:custGeom>
            <a:blipFill>
              <a:blip r:embed="rId6"/>
              <a:stretch>
                <a:fillRect l="-5262" t="-28154" r="-146869"/>
              </a:stretch>
            </a:blipFill>
          </p:spPr>
          <p:txBody>
            <a:bodyPr/>
            <a:lstStyle/>
            <a:p>
              <a:endParaRPr lang="en-AU"/>
            </a:p>
          </p:txBody>
        </p:sp>
      </p:gr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rounding numbers to compare (1)</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24B19929-948E-0DEF-D44D-9C8E006E172B}"/>
              </a:ext>
            </a:extLst>
          </p:cNvPr>
          <p:cNvGraphicFramePr>
            <a:graphicFrameLocks noGrp="1"/>
          </p:cNvGraphicFramePr>
          <p:nvPr>
            <p:extLst>
              <p:ext uri="{D42A27DB-BD31-4B8C-83A1-F6EECF244321}">
                <p14:modId xmlns:p14="http://schemas.microsoft.com/office/powerpoint/2010/main" val="3573952266"/>
              </p:ext>
            </p:extLst>
          </p:nvPr>
        </p:nvGraphicFramePr>
        <p:xfrm>
          <a:off x="360000" y="1226963"/>
          <a:ext cx="5271567" cy="4895848"/>
        </p:xfrm>
        <a:graphic>
          <a:graphicData uri="http://schemas.openxmlformats.org/drawingml/2006/table">
            <a:tbl>
              <a:tblPr firstRow="1"/>
              <a:tblGrid>
                <a:gridCol w="1607300">
                  <a:extLst>
                    <a:ext uri="{9D8B030D-6E8A-4147-A177-3AD203B41FA5}">
                      <a16:colId xmlns:a16="http://schemas.microsoft.com/office/drawing/2014/main" val="20000"/>
                    </a:ext>
                  </a:extLst>
                </a:gridCol>
                <a:gridCol w="1857932">
                  <a:extLst>
                    <a:ext uri="{9D8B030D-6E8A-4147-A177-3AD203B41FA5}">
                      <a16:colId xmlns:a16="http://schemas.microsoft.com/office/drawing/2014/main" val="20001"/>
                    </a:ext>
                  </a:extLst>
                </a:gridCol>
                <a:gridCol w="1806335">
                  <a:extLst>
                    <a:ext uri="{9D8B030D-6E8A-4147-A177-3AD203B41FA5}">
                      <a16:colId xmlns:a16="http://schemas.microsoft.com/office/drawing/2014/main" val="20002"/>
                    </a:ext>
                  </a:extLst>
                </a:gridCol>
              </a:tblGrid>
              <a:tr h="611981">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Name</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Country</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a:solidFill>
                            <a:schemeClr val="bg1"/>
                          </a:solidFill>
                          <a:latin typeface="+mn-lt"/>
                          <a:ea typeface="Canva Student Font"/>
                          <a:cs typeface="Canva Student Font"/>
                          <a:sym typeface="Canva Student Font"/>
                        </a:rPr>
                        <a:t>Population</a:t>
                      </a:r>
                      <a:endParaRPr lang="en-US" sz="1100" b="1">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611981">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Shanghai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China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a:solidFill>
                            <a:srgbClr val="000000"/>
                          </a:solidFill>
                          <a:latin typeface="+mn-lt"/>
                          <a:ea typeface="Canva Student Font"/>
                          <a:cs typeface="Canva Student Font"/>
                          <a:sym typeface="Canva Student Font"/>
                        </a:rPr>
                        <a:t>28 516 000</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Delhi</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India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32 065 000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Melbourne</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Australia</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 5 031 000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Sydney</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5 297 000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Dhaka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Bangladesh</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22 478 000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Sao Paulo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Brazil</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22 429 000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1981">
                <a:tc>
                  <a:txBody>
                    <a:bodyPr/>
                    <a:lstStyle/>
                    <a:p>
                      <a:pPr algn="l">
                        <a:lnSpc>
                          <a:spcPts val="3219"/>
                        </a:lnSpc>
                        <a:defRPr/>
                      </a:pPr>
                      <a:r>
                        <a:rPr lang="en-US" sz="2299">
                          <a:solidFill>
                            <a:srgbClr val="000000"/>
                          </a:solidFill>
                          <a:latin typeface="+mn-lt"/>
                          <a:ea typeface="Canva Student Font"/>
                          <a:cs typeface="Canva Student Font"/>
                          <a:sym typeface="Canva Student Font"/>
                        </a:rPr>
                        <a:t>Tokyo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Japan</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37 274 000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7" name="Table 6">
            <a:extLst>
              <a:ext uri="{FF2B5EF4-FFF2-40B4-BE49-F238E27FC236}">
                <a16:creationId xmlns:a16="http://schemas.microsoft.com/office/drawing/2014/main" id="{D6578536-093F-C9E6-8CF4-BA2B4FE4782E}"/>
              </a:ext>
            </a:extLst>
          </p:cNvPr>
          <p:cNvGraphicFramePr>
            <a:graphicFrameLocks noGrp="1"/>
          </p:cNvGraphicFramePr>
          <p:nvPr>
            <p:extLst>
              <p:ext uri="{D42A27DB-BD31-4B8C-83A1-F6EECF244321}">
                <p14:modId xmlns:p14="http://schemas.microsoft.com/office/powerpoint/2010/main" val="543905475"/>
              </p:ext>
            </p:extLst>
          </p:nvPr>
        </p:nvGraphicFramePr>
        <p:xfrm>
          <a:off x="5905843" y="1226963"/>
          <a:ext cx="5938157" cy="4895848"/>
        </p:xfrm>
        <a:graphic>
          <a:graphicData uri="http://schemas.openxmlformats.org/drawingml/2006/table">
            <a:tbl>
              <a:tblPr firstRow="1"/>
              <a:tblGrid>
                <a:gridCol w="1737011">
                  <a:extLst>
                    <a:ext uri="{9D8B030D-6E8A-4147-A177-3AD203B41FA5}">
                      <a16:colId xmlns:a16="http://schemas.microsoft.com/office/drawing/2014/main" val="20000"/>
                    </a:ext>
                  </a:extLst>
                </a:gridCol>
                <a:gridCol w="2030483">
                  <a:extLst>
                    <a:ext uri="{9D8B030D-6E8A-4147-A177-3AD203B41FA5}">
                      <a16:colId xmlns:a16="http://schemas.microsoft.com/office/drawing/2014/main" val="20001"/>
                    </a:ext>
                  </a:extLst>
                </a:gridCol>
                <a:gridCol w="2170663">
                  <a:extLst>
                    <a:ext uri="{9D8B030D-6E8A-4147-A177-3AD203B41FA5}">
                      <a16:colId xmlns:a16="http://schemas.microsoft.com/office/drawing/2014/main" val="20002"/>
                    </a:ext>
                  </a:extLst>
                </a:gridCol>
              </a:tblGrid>
              <a:tr h="588383">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Name</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299" b="1" dirty="0">
                          <a:solidFill>
                            <a:schemeClr val="bg1"/>
                          </a:solidFill>
                          <a:latin typeface="+mn-lt"/>
                          <a:ea typeface="Canva Student Font"/>
                          <a:cs typeface="Canva Student Font"/>
                          <a:sym typeface="Canva Student Font"/>
                        </a:rPr>
                        <a:t>Country</a:t>
                      </a:r>
                      <a:endParaRPr lang="en-US" sz="110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tc>
                  <a:txBody>
                    <a:bodyPr/>
                    <a:lstStyle/>
                    <a:p>
                      <a:pPr algn="ctr">
                        <a:lnSpc>
                          <a:spcPts val="3219"/>
                        </a:lnSpc>
                        <a:defRPr/>
                      </a:pPr>
                      <a:r>
                        <a:rPr lang="en-US" sz="2000" b="1" dirty="0">
                          <a:solidFill>
                            <a:schemeClr val="bg1"/>
                          </a:solidFill>
                          <a:latin typeface="+mn-lt"/>
                          <a:ea typeface="Canva Student Font"/>
                          <a:cs typeface="Canva Student Font"/>
                          <a:sym typeface="Canva Student Font"/>
                        </a:rPr>
                        <a:t>Population (m)</a:t>
                      </a:r>
                      <a:endParaRPr lang="en-US" sz="1050" b="1" dirty="0">
                        <a:solidFill>
                          <a:schemeClr val="bg1"/>
                        </a:solidFill>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88660">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Shanghai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China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28.5</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8383">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Delhi</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India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32.1</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Melbourne</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 5.0</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89967">
                <a:tc>
                  <a:txBody>
                    <a:bodyPr/>
                    <a:lstStyle/>
                    <a:p>
                      <a:pPr algn="l">
                        <a:lnSpc>
                          <a:spcPts val="3219"/>
                        </a:lnSpc>
                        <a:defRPr/>
                      </a:pPr>
                      <a:r>
                        <a:rPr lang="en-US" sz="2299">
                          <a:solidFill>
                            <a:srgbClr val="000000"/>
                          </a:solidFill>
                          <a:latin typeface="+mn-lt"/>
                          <a:ea typeface="Canva Student Font"/>
                          <a:cs typeface="Canva Student Font"/>
                          <a:sym typeface="Canva Student Font"/>
                        </a:rPr>
                        <a:t>Sydney</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Australia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5.3</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Dhaka</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Bangladesh</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22.5</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88383">
                <a:tc>
                  <a:txBody>
                    <a:bodyPr/>
                    <a:lstStyle/>
                    <a:p>
                      <a:pPr algn="l">
                        <a:lnSpc>
                          <a:spcPts val="3219"/>
                        </a:lnSpc>
                        <a:defRPr/>
                      </a:pPr>
                      <a:r>
                        <a:rPr lang="en-US" sz="2299">
                          <a:solidFill>
                            <a:srgbClr val="000000"/>
                          </a:solidFill>
                          <a:latin typeface="+mn-lt"/>
                          <a:ea typeface="Canva Student Font"/>
                          <a:cs typeface="Canva Student Font"/>
                          <a:sym typeface="Canva Student Font"/>
                        </a:rPr>
                        <a:t>Sao Paulo</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Brazil</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22.4</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75306">
                <a:tc>
                  <a:txBody>
                    <a:bodyPr/>
                    <a:lstStyle/>
                    <a:p>
                      <a:pPr algn="l">
                        <a:lnSpc>
                          <a:spcPts val="3219"/>
                        </a:lnSpc>
                        <a:defRPr/>
                      </a:pPr>
                      <a:r>
                        <a:rPr lang="en-US" sz="2299" dirty="0">
                          <a:solidFill>
                            <a:srgbClr val="000000"/>
                          </a:solidFill>
                          <a:latin typeface="+mn-lt"/>
                          <a:ea typeface="Canva Student Font"/>
                          <a:cs typeface="Canva Student Font"/>
                          <a:sym typeface="Canva Student Font"/>
                        </a:rPr>
                        <a:t>Tokyo</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3219"/>
                        </a:lnSpc>
                        <a:defRPr/>
                      </a:pPr>
                      <a:r>
                        <a:rPr lang="en-US" sz="2299">
                          <a:solidFill>
                            <a:srgbClr val="000000"/>
                          </a:solidFill>
                          <a:latin typeface="+mn-lt"/>
                          <a:ea typeface="Canva Student Font"/>
                          <a:cs typeface="Canva Student Font"/>
                          <a:sym typeface="Canva Student Font"/>
                        </a:rPr>
                        <a:t>Japan</a:t>
                      </a:r>
                      <a:endParaRPr lang="en-US" sz="110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r">
                        <a:lnSpc>
                          <a:spcPts val="3219"/>
                        </a:lnSpc>
                        <a:defRPr/>
                      </a:pPr>
                      <a:r>
                        <a:rPr lang="en-US" sz="2299" dirty="0">
                          <a:solidFill>
                            <a:srgbClr val="000000"/>
                          </a:solidFill>
                          <a:latin typeface="+mn-lt"/>
                          <a:ea typeface="Canva Student Font"/>
                          <a:cs typeface="Canva Student Font"/>
                          <a:sym typeface="Canva Student Font"/>
                        </a:rPr>
                        <a:t>37.3</a:t>
                      </a:r>
                      <a:endParaRPr lang="en-US" sz="1100" dirty="0">
                        <a:latin typeface="+mn-lt"/>
                      </a:endParaRPr>
                    </a:p>
                  </a:txBody>
                  <a:tcPr marL="104775" marR="104775" marT="104775" marB="1047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E1B2A-3B1C-C009-9672-5FCB3ECC2C3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661D607-8E7F-5E8B-366B-6962292CDCAA}"/>
              </a:ext>
            </a:extLst>
          </p:cNvPr>
          <p:cNvSpPr>
            <a:spLocks noGrp="1"/>
          </p:cNvSpPr>
          <p:nvPr>
            <p:ph type="title"/>
          </p:nvPr>
        </p:nvSpPr>
        <p:spPr>
          <a:xfrm>
            <a:off x="360000" y="360000"/>
            <a:ext cx="10367268" cy="545601"/>
          </a:xfrm>
        </p:spPr>
        <p:txBody>
          <a:bodyPr/>
          <a:lstStyle/>
          <a:p>
            <a:r>
              <a:rPr lang="en-AU" dirty="0"/>
              <a:t>Activity 8 – rounding numbers to compare (2)</a:t>
            </a:r>
          </a:p>
        </p:txBody>
      </p:sp>
      <p:sp>
        <p:nvSpPr>
          <p:cNvPr id="2" name="Slide Number Placeholder 1">
            <a:extLst>
              <a:ext uri="{FF2B5EF4-FFF2-40B4-BE49-F238E27FC236}">
                <a16:creationId xmlns:a16="http://schemas.microsoft.com/office/drawing/2014/main" id="{D93D9B00-5EEB-D898-24F7-341C847577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pic>
        <p:nvPicPr>
          <p:cNvPr id="4" name="Picture 3" descr="image of a head with cogs turning inside">
            <a:extLst>
              <a:ext uri="{FF2B5EF4-FFF2-40B4-BE49-F238E27FC236}">
                <a16:creationId xmlns:a16="http://schemas.microsoft.com/office/drawing/2014/main" id="{09925001-1361-8D62-F0D3-4BFD5462A96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 Placeholder 4">
            <a:extLst>
              <a:ext uri="{FF2B5EF4-FFF2-40B4-BE49-F238E27FC236}">
                <a16:creationId xmlns:a16="http://schemas.microsoft.com/office/drawing/2014/main" id="{AB8275AA-28C4-5F0E-A469-7354869C6F0F}"/>
              </a:ext>
            </a:extLst>
          </p:cNvPr>
          <p:cNvSpPr txBox="1">
            <a:spLocks/>
          </p:cNvSpPr>
          <p:nvPr/>
        </p:nvSpPr>
        <p:spPr>
          <a:xfrm>
            <a:off x="360000" y="1146048"/>
            <a:ext cx="11484000" cy="522887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200"/>
              </a:spcBef>
              <a:spcAft>
                <a:spcPts val="600"/>
              </a:spcAft>
            </a:pPr>
            <a:r>
              <a:rPr lang="en-AU" sz="3200" b="1" dirty="0">
                <a:latin typeface="+mn-lt"/>
                <a:ea typeface="Calibri" panose="020F0502020204030204" pitchFamily="34" charset="0"/>
                <a:cs typeface="Times New Roman" panose="02020603050405020304" pitchFamily="18" charset="0"/>
              </a:rPr>
              <a:t>Local Government Area (LGA) populations</a:t>
            </a:r>
          </a:p>
          <a:p>
            <a:pPr>
              <a:spcBef>
                <a:spcPts val="1200"/>
              </a:spcBef>
              <a:spcAft>
                <a:spcPts val="600"/>
              </a:spcAft>
            </a:pPr>
            <a:r>
              <a:rPr lang="en-AU" sz="3200" b="1" dirty="0">
                <a:latin typeface="+mn-lt"/>
                <a:ea typeface="Calibri" panose="020F0502020204030204" pitchFamily="34" charset="0"/>
                <a:cs typeface="Times New Roman" panose="02020603050405020304" pitchFamily="18" charset="0"/>
              </a:rPr>
              <a:t>Sydney City LGA: </a:t>
            </a:r>
            <a:r>
              <a:rPr lang="en-AU" sz="3200" dirty="0">
                <a:latin typeface="+mn-lt"/>
                <a:ea typeface="Calibri" panose="020F0502020204030204" pitchFamily="34" charset="0"/>
                <a:cs typeface="Times New Roman" panose="02020603050405020304" pitchFamily="18" charset="0"/>
              </a:rPr>
              <a:t>Approximately 250,000 residents</a:t>
            </a:r>
          </a:p>
          <a:p>
            <a:pPr>
              <a:spcBef>
                <a:spcPts val="1200"/>
              </a:spcBef>
              <a:spcAft>
                <a:spcPts val="600"/>
              </a:spcAft>
            </a:pPr>
            <a:r>
              <a:rPr lang="en-AU" sz="3200" b="1" dirty="0">
                <a:latin typeface="+mn-lt"/>
                <a:ea typeface="Calibri" panose="020F0502020204030204" pitchFamily="34" charset="0"/>
                <a:cs typeface="Times New Roman" panose="02020603050405020304" pitchFamily="18" charset="0"/>
              </a:rPr>
              <a:t>Woollahra LGA: </a:t>
            </a:r>
            <a:r>
              <a:rPr lang="en-AU" sz="3200" dirty="0">
                <a:latin typeface="+mn-lt"/>
                <a:ea typeface="Calibri" panose="020F0502020204030204" pitchFamily="34" charset="0"/>
                <a:cs typeface="Times New Roman" panose="02020603050405020304" pitchFamily="18" charset="0"/>
              </a:rPr>
              <a:t>Around 60,000 residents</a:t>
            </a:r>
          </a:p>
          <a:p>
            <a:pPr>
              <a:spcBef>
                <a:spcPts val="1200"/>
              </a:spcBef>
              <a:spcAft>
                <a:spcPts val="600"/>
              </a:spcAft>
            </a:pPr>
            <a:r>
              <a:rPr lang="en-AU" sz="3200" b="1" dirty="0">
                <a:latin typeface="+mn-lt"/>
                <a:ea typeface="Calibri" panose="020F0502020204030204" pitchFamily="34" charset="0"/>
                <a:cs typeface="Times New Roman" panose="02020603050405020304" pitchFamily="18" charset="0"/>
              </a:rPr>
              <a:t>Parramatta LGA: </a:t>
            </a:r>
            <a:r>
              <a:rPr lang="en-AU" sz="3200" dirty="0">
                <a:latin typeface="+mn-lt"/>
                <a:ea typeface="Calibri" panose="020F0502020204030204" pitchFamily="34" charset="0"/>
                <a:cs typeface="Times New Roman" panose="02020603050405020304" pitchFamily="18" charset="0"/>
              </a:rPr>
              <a:t>About 250,000 residents</a:t>
            </a:r>
          </a:p>
          <a:p>
            <a:pPr>
              <a:spcBef>
                <a:spcPts val="1200"/>
              </a:spcBef>
              <a:spcAft>
                <a:spcPts val="600"/>
              </a:spcAft>
            </a:pPr>
            <a:r>
              <a:rPr lang="en-AU" sz="3200" b="1" dirty="0">
                <a:latin typeface="+mn-lt"/>
                <a:ea typeface="Calibri" panose="020F0502020204030204" pitchFamily="34" charset="0"/>
                <a:cs typeface="Times New Roman" panose="02020603050405020304" pitchFamily="18" charset="0"/>
              </a:rPr>
              <a:t>Northern Beaches LGA: </a:t>
            </a:r>
            <a:r>
              <a:rPr lang="en-AU" sz="3200" dirty="0">
                <a:latin typeface="+mn-lt"/>
                <a:ea typeface="Calibri" panose="020F0502020204030204" pitchFamily="34" charset="0"/>
                <a:cs typeface="Times New Roman" panose="02020603050405020304" pitchFamily="18" charset="0"/>
              </a:rPr>
              <a:t>Approximately 250,000 residents</a:t>
            </a:r>
          </a:p>
          <a:p>
            <a:pPr>
              <a:spcBef>
                <a:spcPts val="1200"/>
              </a:spcBef>
              <a:spcAft>
                <a:spcPts val="600"/>
              </a:spcAft>
            </a:pPr>
            <a:r>
              <a:rPr lang="en-AU" sz="3200" b="1" dirty="0">
                <a:latin typeface="+mn-lt"/>
                <a:ea typeface="Calibri" panose="020F0502020204030204" pitchFamily="34" charset="0"/>
                <a:cs typeface="Times New Roman" panose="02020603050405020304" pitchFamily="18" charset="0"/>
              </a:rPr>
              <a:t>Canterbury-Bankstown LGA: </a:t>
            </a:r>
            <a:r>
              <a:rPr lang="en-AU" sz="3200" dirty="0">
                <a:latin typeface="+mn-lt"/>
                <a:ea typeface="Calibri" panose="020F0502020204030204" pitchFamily="34" charset="0"/>
                <a:cs typeface="Times New Roman" panose="02020603050405020304" pitchFamily="18" charset="0"/>
              </a:rPr>
              <a:t>Around 360,000 residents. </a:t>
            </a:r>
          </a:p>
          <a:p>
            <a:endParaRPr lang="en-AU" dirty="0"/>
          </a:p>
        </p:txBody>
      </p:sp>
    </p:spTree>
    <p:extLst>
      <p:ext uri="{BB962C8B-B14F-4D97-AF65-F5344CB8AC3E}">
        <p14:creationId xmlns:p14="http://schemas.microsoft.com/office/powerpoint/2010/main" val="251853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dirty="0">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1</a:t>
            </a:r>
            <a:endParaRPr sz="1600" kern="0" dirty="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similar to both objects</a:t>
            </a:r>
            <a:endParaRPr sz="1600" kern="0" dirty="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2</a:t>
            </a:r>
            <a:endParaRPr sz="1600" kern="0" dirty="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65</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dirty="0">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dirty="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Definition </a:t>
            </a:r>
            <a:endParaRPr sz="2000" dirty="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dirty="0">
                <a:latin typeface="+mj-lt"/>
                <a:ea typeface="Calibri"/>
                <a:cs typeface="Arial" panose="020B0604020202020204" pitchFamily="34" charset="0"/>
                <a:sym typeface="Calibri"/>
              </a:rPr>
              <a:t>Facts/Characteristics</a:t>
            </a:r>
            <a:endParaRPr sz="2000" dirty="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dirty="0">
                <a:latin typeface="+mj-lt"/>
                <a:ea typeface="Calibri"/>
                <a:cs typeface="Arial" panose="020B0604020202020204" pitchFamily="34" charset="0"/>
                <a:sym typeface="Calibri"/>
              </a:rPr>
              <a:t>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Non-examples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dirty="0">
                <a:latin typeface="+mj-lt"/>
                <a:ea typeface="Calibri"/>
                <a:cs typeface="Arial" panose="020B0604020202020204" pitchFamily="34" charset="0"/>
                <a:sym typeface="Calibri"/>
              </a:rPr>
              <a:t>Word, term, concept</a:t>
            </a:r>
            <a:endParaRPr dirty="0">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66</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dirty="0">
                <a:latin typeface="+mj-lt"/>
                <a:cs typeface="Arial" panose="020B0604020202020204" pitchFamily="34" charset="0"/>
                <a:sym typeface="Montserrat"/>
              </a:rPr>
              <a:t>Subject</a:t>
            </a:r>
            <a:endParaRPr sz="2000" b="1" dirty="0">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dirty="0">
                <a:solidFill>
                  <a:srgbClr val="000000"/>
                </a:solidFill>
                <a:cs typeface="Arial" panose="020B0604020202020204" pitchFamily="34" charset="0"/>
                <a:sym typeface="Montserrat Medium"/>
              </a:rPr>
              <a:t>Idea</a:t>
            </a:r>
            <a:endParaRPr sz="1400" dirty="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dirty="0">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1</a:t>
            </a:r>
            <a:endParaRPr dirty="0">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dirty="0">
                <a:ea typeface="Calibri"/>
                <a:cs typeface="Arial" panose="020B0604020202020204" pitchFamily="34" charset="0"/>
                <a:sym typeface="Calibri"/>
              </a:rPr>
              <a:t>Word</a:t>
            </a:r>
            <a:endParaRPr sz="2000" dirty="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2</a:t>
            </a:r>
            <a:endParaRPr dirty="0">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dirty="0">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dirty="0"/>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70</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71</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t>Multiple choice </a:t>
            </a:r>
            <a:r>
              <a:rPr lang="en-US" dirty="0">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mj-lt"/>
              </a:rPr>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spcBef>
                <a:spcPts val="1200"/>
              </a:spcBef>
              <a:spcAft>
                <a:spcPts val="600"/>
              </a:spcAft>
            </a:pPr>
            <a:r>
              <a:rPr lang="en-AU" u="sng" dirty="0">
                <a:solidFill>
                  <a:srgbClr val="2F5496"/>
                </a:solidFill>
                <a:ea typeface="Calibri" panose="020F0502020204030204" pitchFamily="34" charset="0"/>
                <a:hlinkClick r:id="rId6"/>
              </a:rPr>
              <a:t>Mathematics K–10 Syllabus</a:t>
            </a:r>
            <a:r>
              <a:rPr lang="en-AU" dirty="0">
                <a:ea typeface="Calibri" panose="020F0502020204030204" pitchFamily="34" charset="0"/>
              </a:rPr>
              <a:t> © NSW Education Standards Authority (NESA) for and on behalf of the Crown in right of the State of New South Wales, 2022.</a:t>
            </a:r>
          </a:p>
          <a:p>
            <a:r>
              <a:rPr lang="en-AU" dirty="0">
                <a:cs typeface="Arial"/>
                <a:hlinkClick r:id="rId7"/>
              </a:rPr>
              <a:t>National Numeracy Learning Progression </a:t>
            </a:r>
            <a:r>
              <a:rPr lang="en-AU" dirty="0">
                <a:cs typeface="Arial"/>
              </a:rPr>
              <a:t>© Australian Curriculum, Assessment and Reporting Authority (ACARA) 2010 to present, unless otherwise indicated. This material was downloaded from the </a:t>
            </a:r>
            <a:r>
              <a:rPr lang="en-AU" dirty="0">
                <a:cs typeface="Arial"/>
                <a:hlinkClick r:id="rId8"/>
              </a:rPr>
              <a:t>Australian Curriculum </a:t>
            </a:r>
            <a:r>
              <a:rPr lang="en-AU" dirty="0">
                <a:cs typeface="Arial"/>
              </a:rPr>
              <a:t>website (National Numeracy Learning Progression) (accessed 21 August 2025) and was not modified.</a:t>
            </a:r>
          </a:p>
          <a:p>
            <a:pPr fontAlgn="base"/>
            <a:r>
              <a:rPr lang="en-AU" dirty="0"/>
              <a:t>Askew M (2016) A Practical Guide to Transforming Primary Mathematics: Activities and tasks that really work, Routledge, London and New York.</a:t>
            </a:r>
            <a:endParaRPr lang="en-US" dirty="0"/>
          </a:p>
          <a:p>
            <a:pPr fontAlgn="base"/>
            <a:r>
              <a:rPr lang="en-AU" dirty="0"/>
              <a:t>Chin A (2015) </a:t>
            </a:r>
            <a:r>
              <a:rPr lang="en-AU" u="sng" dirty="0">
                <a:hlinkClick r:id="rId9"/>
              </a:rPr>
              <a:t>Make 100, 1000, 10, 1: Adding and subtracting using place value [PDF 1.10 MB], </a:t>
            </a:r>
            <a:r>
              <a:rPr lang="en-AU" dirty="0"/>
              <a:t>Anita Chin Mathematics Consultancy, accessed 28 June 2023.</a:t>
            </a:r>
            <a:endParaRPr lang="en-US" dirty="0"/>
          </a:p>
          <a:p>
            <a:pPr fontAlgn="base"/>
            <a:r>
              <a:rPr lang="en-AU" dirty="0"/>
              <a:t>Commonwealth of Australia (2021) ‘</a:t>
            </a:r>
            <a:r>
              <a:rPr lang="en-AU" u="sng" dirty="0">
                <a:hlinkClick r:id="rId10"/>
              </a:rPr>
              <a:t>Population in local government areas</a:t>
            </a:r>
            <a:r>
              <a:rPr lang="en-AU" dirty="0"/>
              <a:t>’, Population Dashboards, Department of The Treasury: Centre for Population website, accessed 18 May 2023.</a:t>
            </a:r>
            <a:endParaRPr lang="en-US" dirty="0"/>
          </a:p>
          <a:p>
            <a:pPr fontAlgn="base"/>
            <a:r>
              <a:rPr lang="en-AU" dirty="0"/>
              <a:t>Clarke D and Roche A (2014) Engaging Maths: 25 Favourite Lessons, 2nd </a:t>
            </a:r>
            <a:r>
              <a:rPr lang="en-AU" dirty="0" err="1"/>
              <a:t>edn</a:t>
            </a:r>
            <a:r>
              <a:rPr lang="en-AU" dirty="0"/>
              <a:t>, Mathematics Teaching and Learning Centre, Australian Catholic University and Catholic Education office.</a:t>
            </a:r>
            <a:endParaRPr lang="en-US"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72</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B2FA-99AB-EFDD-13CE-D0700A3FF6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F7FF1E-E2D7-DA3A-2487-A8FD0B9098A3}"/>
              </a:ext>
            </a:extLst>
          </p:cNvPr>
          <p:cNvSpPr>
            <a:spLocks noGrp="1"/>
          </p:cNvSpPr>
          <p:nvPr>
            <p:ph type="title"/>
          </p:nvPr>
        </p:nvSpPr>
        <p:spPr/>
        <p:txBody>
          <a:bodyPr/>
          <a:lstStyle/>
          <a:p>
            <a:r>
              <a:rPr lang="en-AU" dirty="0">
                <a:latin typeface="+mj-lt"/>
              </a:rPr>
              <a:t>References</a:t>
            </a:r>
            <a:r>
              <a:rPr lang="en-AU" dirty="0"/>
              <a:t> (2)</a:t>
            </a:r>
            <a:endParaRPr lang="en-AU" dirty="0">
              <a:latin typeface="+mj-lt"/>
            </a:endParaRPr>
          </a:p>
        </p:txBody>
      </p:sp>
      <p:sp>
        <p:nvSpPr>
          <p:cNvPr id="6" name="TextBox 5">
            <a:extLst>
              <a:ext uri="{FF2B5EF4-FFF2-40B4-BE49-F238E27FC236}">
                <a16:creationId xmlns:a16="http://schemas.microsoft.com/office/drawing/2014/main" id="{54ABCAE3-C01C-B51C-B2F9-7064D2EB7993}"/>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EBB079CB-05C3-7CEB-655B-E9AA2CD12F34}"/>
              </a:ext>
            </a:extLst>
          </p:cNvPr>
          <p:cNvSpPr>
            <a:spLocks noGrp="1"/>
          </p:cNvSpPr>
          <p:nvPr>
            <p:ph idx="1"/>
          </p:nvPr>
        </p:nvSpPr>
        <p:spPr/>
        <p:txBody>
          <a:bodyPr/>
          <a:lstStyle/>
          <a:p>
            <a:pPr fontAlgn="base"/>
            <a:r>
              <a:rPr lang="en-AU" dirty="0"/>
              <a:t>Hall J (n.d.) </a:t>
            </a:r>
            <a:r>
              <a:rPr lang="en-AU" u="sng" dirty="0">
                <a:hlinkClick r:id="rId6"/>
              </a:rPr>
              <a:t>‘Place Value Counters’, </a:t>
            </a:r>
            <a:r>
              <a:rPr lang="en-AU" dirty="0"/>
              <a:t>Manipulatives, MathsBot.com, accessed 18 May 2023.</a:t>
            </a:r>
            <a:r>
              <a:rPr lang="en-US" dirty="0"/>
              <a:t>​</a:t>
            </a:r>
          </a:p>
          <a:p>
            <a:pPr fontAlgn="base"/>
            <a:r>
              <a:rPr lang="en-US" dirty="0" err="1"/>
              <a:t>Multistopwatch</a:t>
            </a:r>
            <a:r>
              <a:rPr lang="en-US" dirty="0"/>
              <a:t> (n.d.) </a:t>
            </a:r>
            <a:r>
              <a:rPr lang="en-US" i="1" u="sng" dirty="0" err="1">
                <a:hlinkClick r:id="rId7"/>
              </a:rPr>
              <a:t>Multistopwatch</a:t>
            </a:r>
            <a:r>
              <a:rPr lang="en-US" dirty="0"/>
              <a:t> [website], accessed 20 December 2024.</a:t>
            </a:r>
            <a:r>
              <a:rPr lang="en-AU" dirty="0"/>
              <a:t>​</a:t>
            </a:r>
          </a:p>
          <a:p>
            <a:pPr fontAlgn="base"/>
            <a:r>
              <a:rPr lang="en-AU" dirty="0"/>
              <a:t>Stacey K, Steinle V, Marston K, Chambers D, Varughese N (2011) ‘</a:t>
            </a:r>
            <a:r>
              <a:rPr lang="en-AU" u="sng" dirty="0">
                <a:hlinkClick r:id="rId8"/>
              </a:rPr>
              <a:t>Number Slides</a:t>
            </a:r>
            <a:r>
              <a:rPr lang="en-AU" dirty="0"/>
              <a:t>’, Teaching Number in the Middle Years: For teachers of students aged 8 to 15, University of Melbourne website, accessed 19 May 2023.</a:t>
            </a:r>
            <a:endParaRPr lang="en-US" dirty="0"/>
          </a:p>
          <a:p>
            <a:pPr fontAlgn="base"/>
            <a:r>
              <a:rPr lang="en-AU" dirty="0"/>
              <a:t>State of New South Wales (Department of Education) (2023) ‘</a:t>
            </a:r>
            <a:r>
              <a:rPr lang="en-AU" u="sng" dirty="0">
                <a:hlinkClick r:id="rId9"/>
              </a:rPr>
              <a:t>Mathematics K-6 resources</a:t>
            </a:r>
            <a:r>
              <a:rPr lang="en-AU" dirty="0"/>
              <a:t>’, Mathematics curriculum resources K-12, NSW Department of Education website, accessed 18 May 2023.</a:t>
            </a:r>
            <a:endParaRPr lang="en-US" dirty="0"/>
          </a:p>
          <a:p>
            <a:pPr fontAlgn="base"/>
            <a:r>
              <a:rPr lang="en-AU" dirty="0"/>
              <a:t>State of New South Wales (Department of Education) (2023) ‘</a:t>
            </a:r>
            <a:r>
              <a:rPr lang="en-AU" u="sng" dirty="0">
                <a:hlinkClick r:id="rId10"/>
              </a:rPr>
              <a:t>Find results: NSWPSSA Records</a:t>
            </a:r>
            <a:r>
              <a:rPr lang="en-AU" dirty="0"/>
              <a:t>’, Representative sport: Event information, NSW School Sport Unit website, accessed 18 May 2023.</a:t>
            </a:r>
            <a:endParaRPr lang="en-US" dirty="0"/>
          </a:p>
        </p:txBody>
      </p:sp>
      <p:sp>
        <p:nvSpPr>
          <p:cNvPr id="2" name="Slide Number Placeholder 1">
            <a:extLst>
              <a:ext uri="{FF2B5EF4-FFF2-40B4-BE49-F238E27FC236}">
                <a16:creationId xmlns:a16="http://schemas.microsoft.com/office/drawing/2014/main" id="{8CE16C29-CDA4-1CD6-CB2D-6439D63D2F09}"/>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73</a:t>
            </a:fld>
            <a:endParaRPr lang="en-AU"/>
          </a:p>
        </p:txBody>
      </p:sp>
    </p:spTree>
    <p:extLst>
      <p:ext uri="{BB962C8B-B14F-4D97-AF65-F5344CB8AC3E}">
        <p14:creationId xmlns:p14="http://schemas.microsoft.com/office/powerpoint/2010/main" val="3121933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FCE38-4BF1-3720-10AD-D86EF26360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775E53-0A9E-0FEE-3C0C-E8AAA9CB4BB2}"/>
              </a:ext>
            </a:extLst>
          </p:cNvPr>
          <p:cNvSpPr>
            <a:spLocks noGrp="1"/>
          </p:cNvSpPr>
          <p:nvPr>
            <p:ph type="title"/>
          </p:nvPr>
        </p:nvSpPr>
        <p:spPr/>
        <p:txBody>
          <a:bodyPr/>
          <a:lstStyle/>
          <a:p>
            <a:r>
              <a:rPr lang="en-AU" dirty="0">
                <a:latin typeface="+mj-lt"/>
              </a:rPr>
              <a:t>References</a:t>
            </a:r>
            <a:r>
              <a:rPr lang="en-AU" dirty="0"/>
              <a:t> (3)</a:t>
            </a:r>
            <a:endParaRPr lang="en-AU" dirty="0">
              <a:latin typeface="+mj-lt"/>
            </a:endParaRPr>
          </a:p>
        </p:txBody>
      </p:sp>
      <p:sp>
        <p:nvSpPr>
          <p:cNvPr id="6" name="TextBox 5">
            <a:extLst>
              <a:ext uri="{FF2B5EF4-FFF2-40B4-BE49-F238E27FC236}">
                <a16:creationId xmlns:a16="http://schemas.microsoft.com/office/drawing/2014/main" id="{17728BFA-2B9D-0F79-65EE-3A1D26CDBD0D}"/>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829916E6-3018-E9B3-857D-B32E4ECD0A47}"/>
              </a:ext>
            </a:extLst>
          </p:cNvPr>
          <p:cNvSpPr>
            <a:spLocks noGrp="1"/>
          </p:cNvSpPr>
          <p:nvPr>
            <p:ph idx="1"/>
          </p:nvPr>
        </p:nvSpPr>
        <p:spPr/>
        <p:txBody>
          <a:bodyPr/>
          <a:lstStyle/>
          <a:p>
            <a:pPr fontAlgn="base"/>
            <a:r>
              <a:rPr lang="en-AU" dirty="0"/>
              <a:t>University of Cambridge (Faculty of Mathematics) (n.d.) </a:t>
            </a:r>
            <a:r>
              <a:rPr lang="en-AU" u="sng" dirty="0">
                <a:hlinkClick r:id="rId6"/>
              </a:rPr>
              <a:t>Roman Numerals </a:t>
            </a:r>
            <a:r>
              <a:rPr lang="en-AU" dirty="0"/>
              <a:t>[PDF 64.98 KB] NRICH website, accessed 18 May 2023.</a:t>
            </a:r>
            <a:endParaRPr lang="en-US" dirty="0"/>
          </a:p>
          <a:p>
            <a:pPr fontAlgn="base"/>
            <a:r>
              <a:rPr lang="en-AU" dirty="0"/>
              <a:t>Worldometers.info (n.d.) </a:t>
            </a:r>
            <a:r>
              <a:rPr lang="en-AU" u="sng" dirty="0" err="1">
                <a:hlinkClick r:id="rId6"/>
              </a:rPr>
              <a:t>Worldometer</a:t>
            </a:r>
            <a:r>
              <a:rPr lang="en-AU" dirty="0"/>
              <a:t> [website], accessed 18 May 2023.</a:t>
            </a:r>
            <a:endParaRPr lang="en-US" dirty="0"/>
          </a:p>
        </p:txBody>
      </p:sp>
      <p:sp>
        <p:nvSpPr>
          <p:cNvPr id="2" name="Slide Number Placeholder 1">
            <a:extLst>
              <a:ext uri="{FF2B5EF4-FFF2-40B4-BE49-F238E27FC236}">
                <a16:creationId xmlns:a16="http://schemas.microsoft.com/office/drawing/2014/main" id="{35DB8399-3247-127F-ED03-29050AF91B35}"/>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74</a:t>
            </a:fld>
            <a:endParaRPr lang="en-AU"/>
          </a:p>
        </p:txBody>
      </p:sp>
    </p:spTree>
    <p:extLst>
      <p:ext uri="{BB962C8B-B14F-4D97-AF65-F5344CB8AC3E}">
        <p14:creationId xmlns:p14="http://schemas.microsoft.com/office/powerpoint/2010/main" val="177066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SharedWithUsers xmlns="60129b06-f64b-40a8-96e2-c5b2f86112b1">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http://purl.org/dc/elements/1.1/"/>
    <ds:schemaRef ds:uri="http://schemas.openxmlformats.org/package/2006/metadata/core-properties"/>
    <ds:schemaRef ds:uri="60129b06-f64b-40a8-96e2-c5b2f86112b1"/>
    <ds:schemaRef ds:uri="http://purl.org/dc/term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7e763d47-3c66-4c58-9425-1477fd3ccd1e"/>
    <ds:schemaRef ds:uri="http://purl.org/dc/dcmitype/"/>
  </ds:schemaRefs>
</ds:datastoreItem>
</file>

<file path=customXml/itemProps2.xml><?xml version="1.0" encoding="utf-8"?>
<ds:datastoreItem xmlns:ds="http://schemas.openxmlformats.org/officeDocument/2006/customXml" ds:itemID="{C56A09E9-1462-453D-83EB-A89844E8CE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763d47-3c66-4c58-9425-1477fd3ccd1e"/>
    <ds:schemaRef ds:uri="60129b06-f64b-40a8-96e2-c5b2f86112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Mathematics-stage 3-unit 21-review</Template>
  <TotalTime>2056</TotalTime>
  <Words>8481</Words>
  <Application>Microsoft Office PowerPoint</Application>
  <PresentationFormat>Widescreen</PresentationFormat>
  <Paragraphs>1120</Paragraphs>
  <Slides>75</Slides>
  <Notes>75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75</vt:i4>
      </vt:variant>
    </vt:vector>
  </HeadingPairs>
  <TitlesOfParts>
    <vt:vector size="86" baseType="lpstr">
      <vt:lpstr>Courier New</vt:lpstr>
      <vt:lpstr>Wingdings</vt:lpstr>
      <vt:lpstr>Times New Roman</vt:lpstr>
      <vt:lpstr>Calibri</vt:lpstr>
      <vt:lpstr>Montserrat</vt:lpstr>
      <vt:lpstr>Arial</vt:lpstr>
      <vt:lpstr>Public Sans</vt:lpstr>
      <vt:lpstr>Public Sans Light</vt:lpstr>
      <vt:lpstr>Cambria Math</vt:lpstr>
      <vt:lpstr>Canva Student Font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comparing decimals (1)</vt:lpstr>
      <vt:lpstr>Activity 1 – comparing decimals (2)</vt:lpstr>
      <vt:lpstr>Review of learning 2</vt:lpstr>
      <vt:lpstr>True or false (1)</vt:lpstr>
      <vt:lpstr>Short response (5)</vt:lpstr>
      <vt:lpstr>Short response (6)</vt:lpstr>
      <vt:lpstr>Short response (7)</vt:lpstr>
      <vt:lpstr>Short response (8)</vt:lpstr>
      <vt:lpstr>Activity 2 – decimal place value to hundredths (1)</vt:lpstr>
      <vt:lpstr>Activity 2 – decimal place value to hundredths (2)</vt:lpstr>
      <vt:lpstr>Review of learning 3</vt:lpstr>
      <vt:lpstr>Multiple choice (2)</vt:lpstr>
      <vt:lpstr>Short response (9)</vt:lpstr>
      <vt:lpstr>Short response (10)</vt:lpstr>
      <vt:lpstr>Short response (11)</vt:lpstr>
      <vt:lpstr>Short response (12)</vt:lpstr>
      <vt:lpstr>Activity 3 – decimal place value to thousandths (1)</vt:lpstr>
      <vt:lpstr>Activity 3 – decimal place value to thousandths (2)</vt:lpstr>
      <vt:lpstr>Review of learning 4</vt:lpstr>
      <vt:lpstr>True or false (2)</vt:lpstr>
      <vt:lpstr>Short response (13)</vt:lpstr>
      <vt:lpstr>Short response (14)</vt:lpstr>
      <vt:lpstr>Short response (15)</vt:lpstr>
      <vt:lpstr>Short response (16)</vt:lpstr>
      <vt:lpstr>Activity 4 – decimals on a number line</vt:lpstr>
      <vt:lpstr>Review of learning 5</vt:lpstr>
      <vt:lpstr>Multiple choice (3)</vt:lpstr>
      <vt:lpstr>Short response (17)</vt:lpstr>
      <vt:lpstr>Short response (18)</vt:lpstr>
      <vt:lpstr>Short response (19)</vt:lpstr>
      <vt:lpstr>Short response (20)</vt:lpstr>
      <vt:lpstr>Activity 5 – place value to millions</vt:lpstr>
      <vt:lpstr>Review of learning 6</vt:lpstr>
      <vt:lpstr>True or false (3)</vt:lpstr>
      <vt:lpstr>Short response (21)</vt:lpstr>
      <vt:lpstr>Short response (22)</vt:lpstr>
      <vt:lpstr>Short response (23)</vt:lpstr>
      <vt:lpstr>Short response (24)</vt:lpstr>
      <vt:lpstr>Activity 6 – place value to billions (1)</vt:lpstr>
      <vt:lpstr>Activity 6 – place value to billions (2)</vt:lpstr>
      <vt:lpstr>Review of learning 7</vt:lpstr>
      <vt:lpstr>Multiple choice (4)</vt:lpstr>
      <vt:lpstr>Short response (25)</vt:lpstr>
      <vt:lpstr>Short response (26)</vt:lpstr>
      <vt:lpstr>Short response (27)</vt:lpstr>
      <vt:lpstr>Short response (28)</vt:lpstr>
      <vt:lpstr>Activity 7 – rounding numbers to millions</vt:lpstr>
      <vt:lpstr>Review of learning 8</vt:lpstr>
      <vt:lpstr>True or false (4)</vt:lpstr>
      <vt:lpstr>Short response (29)</vt:lpstr>
      <vt:lpstr>Short response (30)</vt:lpstr>
      <vt:lpstr>Short response (31)</vt:lpstr>
      <vt:lpstr>Short response (32)</vt:lpstr>
      <vt:lpstr>Activity 8 – rounding numbers to compare (1)</vt:lpstr>
      <vt:lpstr>Activity 8 – rounding numbers to compare (2)</vt:lpstr>
      <vt:lpstr>Double Venn diagram</vt:lpstr>
      <vt:lpstr>Frayer</vt:lpstr>
      <vt:lpstr>Spider map</vt:lpstr>
      <vt:lpstr>Cline</vt:lpstr>
      <vt:lpstr>Compare and contrast</vt:lpstr>
      <vt:lpstr>Multiple choice (5)</vt:lpstr>
      <vt:lpstr>Multiple choice (6)</vt:lpstr>
      <vt:lpstr>References (1)</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Phil HOLLINS (Phil Hollins)</dc:creator>
  <cp:keywords/>
  <dc:description/>
  <cp:lastModifiedBy>Daniel Archer</cp:lastModifiedBy>
  <cp:revision>2</cp:revision>
  <dcterms:created xsi:type="dcterms:W3CDTF">2025-08-26T22:09:43Z</dcterms:created>
  <dcterms:modified xsi:type="dcterms:W3CDTF">2025-10-23T23:09:14Z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Order">
    <vt:r8>2238400</vt:r8>
  </property>
  <property fmtid="{D5CDD505-2E9C-101B-9397-08002B2CF9AE}" pid="11" name="xd_Signature">
    <vt:bool>false</vt:bool>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ies>
</file>