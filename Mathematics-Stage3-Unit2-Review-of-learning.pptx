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67F9_6AFDD587.xml" ContentType="application/vnd.ms-powerpoint.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647" r:id="rId20"/>
    <p:sldId id="26591" r:id="rId21"/>
    <p:sldId id="26592" r:id="rId22"/>
    <p:sldId id="26593" r:id="rId23"/>
    <p:sldId id="26596" r:id="rId24"/>
    <p:sldId id="26597" r:id="rId25"/>
    <p:sldId id="26598" r:id="rId26"/>
    <p:sldId id="26599" r:id="rId27"/>
    <p:sldId id="26646"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648" r:id="rId64"/>
    <p:sldId id="26393" r:id="rId65"/>
    <p:sldId id="26387" r:id="rId66"/>
    <p:sldId id="26395" r:id="rId67"/>
    <p:sldId id="26391" r:id="rId68"/>
    <p:sldId id="26402" r:id="rId69"/>
    <p:sldId id="26507" r:id="rId70"/>
    <p:sldId id="26510" r:id="rId71"/>
    <p:sldId id="360"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panose="020B0604020202020204" charset="0"/>
      <p:regular r:id="rId77"/>
      <p:bold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647"/>
            <p14:sldId id="26591"/>
          </p14:sldIdLst>
        </p14:section>
        <p14:section name="Review of learning 3" id="{6F5E1C19-5255-4FF7-A3CD-4549F7EF69B2}">
          <p14:sldIdLst>
            <p14:sldId id="26592"/>
            <p14:sldId id="26593"/>
            <p14:sldId id="26596"/>
            <p14:sldId id="26597"/>
            <p14:sldId id="26598"/>
            <p14:sldId id="26599"/>
            <p14:sldId id="26646"/>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 id="26648"/>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296633BD-748C-EB42-3D69-7BCCC94AE320}" name="Stacey Smith" initials="SS" userId="S::Stacey.Smith26@det.nsw.edu.au::42e92087-8652-410d-bbce-29a6a03d4399" providerId="AD"/>
  <p188:author id="{5972FAC3-091E-3EDD-B7B8-2278C9E49957}" name="Catherine Myson-Foehner" initials="" userId="S::Catherine.MysonFoehner@det.nsw.edu.au::891dc2f7-e425-43ec-b475-e3627fce77f5"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33096A-E317-4F0F-AEBA-BCE805A0CA86}" v="6" dt="2025-10-24T01:30:18.744"/>
    <p1510:client id="{A0902993-CA1B-4DA6-A6CB-209583D1351B}" v="721" dt="2025-10-24T03:36:18.87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424" y="3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comments/modernComment_67F9_6AFDD587.xml><?xml version="1.0" encoding="utf-8"?>
<p188:cmLst xmlns:a="http://schemas.openxmlformats.org/drawingml/2006/main" xmlns:r="http://schemas.openxmlformats.org/officeDocument/2006/relationships" xmlns:p188="http://schemas.microsoft.com/office/powerpoint/2018/8/main">
  <p188:cm id="{41C8D6EC-FFB7-44DC-A62E-AE4A7959AD66}" authorId="{FD7747EE-57F8-CAC5-7CAF-C637FBE93789}" status="resolved" created="2025-10-24T01:08:57.268" complete="100000">
    <ac:txMkLst xmlns:ac="http://schemas.microsoft.com/office/drawing/2013/main/command">
      <pc:docMk xmlns:pc="http://schemas.microsoft.com/office/powerpoint/2013/main/command"/>
      <pc:sldMk xmlns:pc="http://schemas.microsoft.com/office/powerpoint/2013/main/command" cId="1795020167" sldId="26617"/>
      <ac:spMk id="5" creationId="{BB8A7584-C709-BE3E-0A6F-250E43EE47B1}"/>
      <ac:txMk cp="171" len="5">
        <ac:context len="202" hash="4170112914"/>
      </ac:txMk>
    </ac:txMkLst>
    <p188:pos x="7066313" y="3936371"/>
    <p188:txBody>
      <a:bodyPr/>
      <a:lstStyle/>
      <a:p>
        <a:r>
          <a:rPr lang="en-AU"/>
          <a:t>Liquid? Or shall we change them both to water?</a:t>
        </a:r>
      </a:p>
    </p188:txBody>
    <p188:extLst>
      <p:ext xmlns:p="http://schemas.openxmlformats.org/presentationml/2006/main" uri="{57CB4572-C831-44C2-8A1C-0ADB6CCDFE69}">
        <p223:reactions xmlns:p223="http://schemas.microsoft.com/office/powerpoint/2022/03/main">
          <p223:rxn type="👍">
            <p223:instance time="2025-10-24T03:36:17.323" authorId="{95D16B7D-CADB-F2BF-AC29-D680545C75EE}"/>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2</a:t>
            </a:r>
          </a:p>
          <a:p>
            <a:pPr marL="285750" indent="-285750">
              <a:buFont typeface="Arial" panose="020B0604020202020204" pitchFamily="34" charset="0"/>
              <a:buChar char="•"/>
            </a:pPr>
            <a:r>
              <a:rPr lang="en-AU"/>
              <a:t>Stage 3 Year A Unit 1</a:t>
            </a:r>
          </a:p>
          <a:p>
            <a:pPr marL="285750" indent="-285750">
              <a:buFont typeface="Arial" panose="020B0604020202020204" pitchFamily="34" charset="0"/>
              <a:buChar char="•"/>
            </a:pPr>
            <a:r>
              <a:rPr lang="en-AU"/>
              <a:t>Stage 2 Year B Unit 40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 </a:t>
            </a:r>
            <a:r>
              <a:rPr lang="en-AU">
                <a:latin typeface="Arial"/>
                <a:cs typeface="Arial"/>
              </a:rPr>
              <a:t>(</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Length </a:t>
            </a:r>
            <a:r>
              <a:rPr lang="en-AU">
                <a:latin typeface="Arial"/>
                <a:cs typeface="Arial"/>
              </a:rPr>
              <a:t>(</a:t>
            </a:r>
            <a:r>
              <a:rPr lang="en-AU" b="1">
                <a:latin typeface="Arial"/>
                <a:cs typeface="Arial"/>
              </a:rPr>
              <a:t>Note</a:t>
            </a:r>
            <a:r>
              <a:rPr lang="en-AU" b="0">
                <a:latin typeface="Arial"/>
                <a:cs typeface="Arial"/>
              </a:rPr>
              <a:t>: Stage 2 content is reviewed)</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B </a:t>
            </a:r>
            <a:r>
              <a:rPr lang="en-AU">
                <a:latin typeface="Arial"/>
                <a:cs typeface="Arial"/>
              </a:rPr>
              <a:t>(</a:t>
            </a:r>
            <a:r>
              <a:rPr lang="en-AU" b="1">
                <a:latin typeface="Arial"/>
                <a:cs typeface="Arial"/>
              </a:rPr>
              <a:t>Note</a:t>
            </a:r>
            <a:r>
              <a:rPr lang="en-AU" b="0">
                <a:latin typeface="Arial"/>
                <a:cs typeface="Arial"/>
              </a:rPr>
              <a:t>: Stage 2 content is reviewed)</a:t>
            </a:r>
            <a:endParaRPr lang="en-AU" sz="1600" b="0" kern="1200">
              <a:solidFill>
                <a:schemeClr val="tx1"/>
              </a:solidFill>
              <a:effectLst/>
              <a:latin typeface="Arial" panose="020B0604020202020204" pitchFamily="34" charset="0"/>
              <a:ea typeface="+mn-ea"/>
              <a:cs typeface="Arial" panose="020B0604020202020204" pitchFamily="34" charset="0"/>
            </a:endParaRPr>
          </a:p>
          <a:p>
            <a:endParaRPr lang="en-AU"/>
          </a:p>
          <a:p>
            <a:r>
              <a:rPr lang="en-AU" b="1"/>
              <a:t>Ordering numbers</a:t>
            </a:r>
          </a:p>
          <a:p>
            <a:endParaRPr lang="en-AU" b="1"/>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Observe students and regroup as a class. Ask:</a:t>
            </a:r>
          </a:p>
          <a:p>
            <a:pPr marL="342900" lvl="0" indent="-342900">
              <a:lnSpc>
                <a:spcPct val="150000"/>
              </a:lnSpc>
              <a:spcBef>
                <a:spcPts val="1200"/>
              </a:spcBef>
              <a:spcAft>
                <a:spcPts val="600"/>
              </a:spcAft>
              <a:buFont typeface="Symbol" panose="05050102010706020507" pitchFamily="18" charset="2"/>
              <a:buChar char=""/>
            </a:pPr>
            <a:r>
              <a:rPr lang="en-AU" sz="1600">
                <a:effectLst/>
                <a:latin typeface="Arial" panose="020B0604020202020204" pitchFamily="34" charset="0"/>
                <a:ea typeface="Calibri" panose="020F0502020204030204" pitchFamily="34" charset="0"/>
              </a:rPr>
              <a:t>What was your least number of moves?</a:t>
            </a:r>
          </a:p>
          <a:p>
            <a:pPr marL="342900" lvl="0" indent="-342900">
              <a:lnSpc>
                <a:spcPct val="150000"/>
              </a:lnSpc>
              <a:spcBef>
                <a:spcPts val="1200"/>
              </a:spcBef>
              <a:spcAft>
                <a:spcPts val="600"/>
              </a:spcAft>
              <a:buFont typeface="Symbol" panose="05050102010706020507" pitchFamily="18" charset="2"/>
              <a:buChar char=""/>
            </a:pPr>
            <a:r>
              <a:rPr lang="en-AU" sz="1600">
                <a:effectLst/>
                <a:latin typeface="Arial" panose="020B0604020202020204" pitchFamily="34" charset="0"/>
                <a:ea typeface="Calibri" panose="020F0502020204030204" pitchFamily="34" charset="0"/>
              </a:rPr>
              <a:t>What strategies did you use for ordering your numbers?</a:t>
            </a:r>
          </a:p>
          <a:p>
            <a:pPr marL="342900" lvl="0" indent="-342900">
              <a:lnSpc>
                <a:spcPct val="150000"/>
              </a:lnSpc>
              <a:spcBef>
                <a:spcPts val="1200"/>
              </a:spcBef>
              <a:spcAft>
                <a:spcPts val="600"/>
              </a:spcAft>
              <a:buFont typeface="Symbol" panose="05050102010706020507" pitchFamily="18" charset="2"/>
              <a:buChar char=""/>
            </a:pPr>
            <a:r>
              <a:rPr lang="en-AU" sz="1600">
                <a:effectLst/>
                <a:latin typeface="Arial" panose="020B0604020202020204" pitchFamily="34" charset="0"/>
                <a:ea typeface="Calibri" panose="020F0502020204030204" pitchFamily="34" charset="0"/>
              </a:rPr>
              <a:t>How would you place the numbers in descending order?</a:t>
            </a:r>
          </a:p>
          <a:p>
            <a:pPr marL="342900" lvl="0" indent="-342900">
              <a:lnSpc>
                <a:spcPct val="150000"/>
              </a:lnSpc>
              <a:spcBef>
                <a:spcPts val="1200"/>
              </a:spcBef>
              <a:spcAft>
                <a:spcPts val="600"/>
              </a:spcAft>
              <a:buFont typeface="Symbol" panose="05050102010706020507" pitchFamily="18" charset="2"/>
              <a:buChar char=""/>
            </a:pPr>
            <a:r>
              <a:rPr lang="en-AU" sz="1600">
                <a:effectLst/>
                <a:latin typeface="Arial" panose="020B0604020202020204" pitchFamily="34" charset="0"/>
                <a:ea typeface="Calibri" panose="020F0502020204030204" pitchFamily="34" charset="0"/>
              </a:rPr>
              <a:t>Were presented with any challenges? How did you overcome them? </a:t>
            </a:r>
          </a:p>
          <a:p>
            <a:pPr marL="342900" lvl="0" indent="-342900">
              <a:lnSpc>
                <a:spcPct val="150000"/>
              </a:lnSpc>
              <a:spcBef>
                <a:spcPts val="1200"/>
              </a:spcBef>
              <a:spcAft>
                <a:spcPts val="600"/>
              </a:spcAft>
              <a:buFont typeface="Symbol" panose="05050102010706020507" pitchFamily="18" charset="2"/>
              <a:buChar char=""/>
            </a:pP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startAt="2"/>
            </a:pPr>
            <a:r>
              <a:rPr lang="en-AU" sz="1600">
                <a:effectLst/>
                <a:latin typeface="Arial" panose="020B0604020202020204" pitchFamily="34" charset="0"/>
                <a:ea typeface="Calibri" panose="020F0502020204030204" pitchFamily="34" charset="0"/>
              </a:rPr>
              <a:t>Repeat the process with 6-digit numbers.</a:t>
            </a:r>
          </a:p>
          <a:p>
            <a:pPr marL="342900" lvl="0" indent="-342900">
              <a:lnSpc>
                <a:spcPct val="150000"/>
              </a:lnSpc>
              <a:spcBef>
                <a:spcPts val="1200"/>
              </a:spcBef>
              <a:spcAft>
                <a:spcPts val="600"/>
              </a:spcAft>
              <a:buFont typeface="+mj-lt"/>
              <a:buAutoNum type="arabicPeriod" startAt="2"/>
            </a:pPr>
            <a:r>
              <a:rPr lang="en-AU" sz="1600">
                <a:effectLst/>
                <a:latin typeface="Arial" panose="020B0604020202020204" pitchFamily="34" charset="0"/>
                <a:ea typeface="Calibri" panose="020F0502020204030204" pitchFamily="34" charset="0"/>
              </a:rPr>
              <a:t>The level of difficulty can change by increasing or decreasing the digits.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57ABC-6241-ABAB-A12E-D81D2DB46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90208-20A7-C9E0-B9F7-509A953F6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D9E7D-EC63-B385-0D8E-E3CEF7B1DB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706727-EADF-369B-B565-A03216A26C6E}"/>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873445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 </a:t>
            </a:r>
            <a:r>
              <a:rPr lang="en-AU">
                <a:latin typeface="Arial"/>
                <a:cs typeface="Arial"/>
              </a:rPr>
              <a:t>(</a:t>
            </a:r>
            <a:r>
              <a:rPr lang="en-AU" b="1">
                <a:latin typeface="Arial"/>
                <a:cs typeface="Arial"/>
              </a:rPr>
              <a:t>Note</a:t>
            </a:r>
            <a:r>
              <a:rPr lang="en-AU" b="0">
                <a:latin typeface="Arial"/>
                <a:cs typeface="Arial"/>
              </a:rPr>
              <a:t>: Stage 2 content is reviewed)</a:t>
            </a:r>
            <a:endParaRPr lang="en-AU"/>
          </a:p>
          <a:p>
            <a:endParaRPr lang="en-AU"/>
          </a:p>
          <a:p>
            <a:r>
              <a:rPr lang="en-AU" b="1"/>
              <a:t>Rounding numbers</a:t>
            </a:r>
          </a:p>
          <a:p>
            <a:r>
              <a:rPr lang="en-AU" b="0"/>
              <a:t>This resource corresponds to Resource 15 in Stage 3 Year A Unit 2. </a:t>
            </a:r>
          </a:p>
          <a:p>
            <a:endParaRPr lang="en-AU" b="0"/>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Provide students with five 0–9 dice and </a:t>
            </a:r>
            <a:r>
              <a:rPr lang="en-AU" sz="1600">
                <a:effectLst/>
                <a:highlight>
                  <a:srgbClr val="FFFF00"/>
                </a:highlight>
                <a:latin typeface="Arial" panose="020B0604020202020204" pitchFamily="34" charset="0"/>
                <a:ea typeface="Calibri" panose="020F0502020204030204" pitchFamily="34" charset="0"/>
              </a:rPr>
              <a:t>Resource 15 – rounding record</a:t>
            </a:r>
            <a:r>
              <a:rPr lang="en-AU" sz="16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roll the dice and create a 5-digit number. </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record the number and repeat the process until there are seven 5-digit numbers.</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all the numbers to the nearest 10, nearest 100 and nearest 1000.</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Once finished, students swap </a:t>
            </a:r>
            <a:r>
              <a:rPr lang="en-AU" sz="1600">
                <a:effectLst/>
                <a:highlight>
                  <a:srgbClr val="FFFF00"/>
                </a:highlight>
                <a:latin typeface="Arial" panose="020B0604020202020204" pitchFamily="34" charset="0"/>
                <a:ea typeface="Calibri" panose="020F0502020204030204" pitchFamily="34" charset="0"/>
              </a:rPr>
              <a:t>Resource 15 – rounding record</a:t>
            </a:r>
            <a:r>
              <a:rPr lang="en-AU" sz="1600">
                <a:effectLst/>
                <a:latin typeface="Arial" panose="020B0604020202020204" pitchFamily="34" charset="0"/>
                <a:ea typeface="Calibri" panose="020F0502020204030204" pitchFamily="34" charset="0"/>
              </a:rPr>
              <a:t> with a partner and check each other's answers.</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Regroup as a class and ask:</a:t>
            </a:r>
          </a:p>
          <a:p>
            <a:pPr marL="342900" lvl="0" indent="-342900">
              <a:lnSpc>
                <a:spcPct val="150000"/>
              </a:lnSpc>
              <a:spcBef>
                <a:spcPts val="1200"/>
              </a:spcBef>
              <a:spcAft>
                <a:spcPts val="600"/>
              </a:spcAft>
              <a:buFont typeface="Courier New" panose="02070309020205020404" pitchFamily="49" charset="0"/>
              <a:buChar char="o"/>
              <a:tabLst>
                <a:tab pos="408305" algn="l"/>
              </a:tabLst>
            </a:pPr>
            <a:r>
              <a:rPr lang="en-AU" sz="1600">
                <a:effectLst/>
                <a:latin typeface="Arial" panose="020B0604020202020204" pitchFamily="34" charset="0"/>
                <a:ea typeface="Calibri" panose="020F0502020204030204" pitchFamily="34" charset="0"/>
                <a:cs typeface="Times New Roman" panose="02020603050405020304" pitchFamily="18" charset="0"/>
              </a:rPr>
              <a:t>Why do we round numbers?</a:t>
            </a:r>
          </a:p>
          <a:p>
            <a:pPr marL="342900" lvl="0" indent="-342900">
              <a:lnSpc>
                <a:spcPct val="150000"/>
              </a:lnSpc>
              <a:spcBef>
                <a:spcPts val="1200"/>
              </a:spcBef>
              <a:spcAft>
                <a:spcPts val="600"/>
              </a:spcAft>
              <a:buFont typeface="Courier New" panose="02070309020205020404" pitchFamily="49" charset="0"/>
              <a:buChar char="o"/>
              <a:tabLst>
                <a:tab pos="408305" algn="l"/>
              </a:tabLst>
            </a:pPr>
            <a:r>
              <a:rPr lang="en-AU" sz="1600">
                <a:effectLst/>
                <a:latin typeface="Arial" panose="020B0604020202020204" pitchFamily="34" charset="0"/>
                <a:ea typeface="Calibri" panose="020F0502020204030204" pitchFamily="34" charset="0"/>
                <a:cs typeface="Times New Roman" panose="02020603050405020304" pitchFamily="18" charset="0"/>
              </a:rPr>
              <a:t>How would you explain rounding to someone else?</a:t>
            </a:r>
          </a:p>
          <a:p>
            <a:pPr marL="342900" lvl="0" indent="-342900">
              <a:lnSpc>
                <a:spcPct val="150000"/>
              </a:lnSpc>
              <a:spcBef>
                <a:spcPts val="1200"/>
              </a:spcBef>
              <a:spcAft>
                <a:spcPts val="600"/>
              </a:spcAft>
              <a:buFont typeface="Courier New" panose="02070309020205020404" pitchFamily="49" charset="0"/>
              <a:buChar char="o"/>
              <a:tabLst>
                <a:tab pos="408305" algn="l"/>
              </a:tabLst>
            </a:pPr>
            <a:r>
              <a:rPr lang="en-AU" sz="1600">
                <a:effectLst/>
                <a:latin typeface="Arial" panose="020B0604020202020204" pitchFamily="34" charset="0"/>
                <a:ea typeface="Calibri" panose="020F0502020204030204" pitchFamily="34" charset="0"/>
                <a:cs typeface="Times New Roman" panose="02020603050405020304" pitchFamily="18" charset="0"/>
              </a:rPr>
              <a:t>Can you provide examples of real-life situations where rounding is commonly used?</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 (</a:t>
            </a:r>
            <a:r>
              <a:rPr lang="en-AU" b="1">
                <a:highlight>
                  <a:srgbClr val="FFFF00"/>
                </a:highlight>
                <a:latin typeface="Arial"/>
                <a:cs typeface="Arial"/>
              </a:rPr>
              <a:t>Note</a:t>
            </a:r>
            <a:r>
              <a:rPr lang="en-AU" b="0">
                <a:highlight>
                  <a:srgbClr val="FFFF00"/>
                </a:highlight>
                <a:latin typeface="Arial"/>
                <a:cs typeface="Arial"/>
              </a:rPr>
              <a:t>: Stage 2 content is reviewed)</a:t>
            </a:r>
            <a:endParaRPr lang="en-AU" sz="1600" i="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Area </a:t>
            </a:r>
            <a:r>
              <a:rPr lang="en-AU">
                <a:latin typeface="Arial"/>
                <a:cs typeface="Arial"/>
              </a:rPr>
              <a:t>(</a:t>
            </a:r>
            <a:r>
              <a:rPr lang="en-AU" b="1">
                <a:latin typeface="Arial"/>
                <a:cs typeface="Arial"/>
              </a:rPr>
              <a:t>Note</a:t>
            </a:r>
            <a:r>
              <a:rPr lang="en-AU" b="0">
                <a:latin typeface="Arial"/>
                <a:cs typeface="Arial"/>
              </a:rPr>
              <a:t>: Stage 2 content is reviewed)</a:t>
            </a:r>
            <a:r>
              <a:rPr lang="en-AU"/>
              <a:t>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C5DA1-0743-7DBF-174F-167BADB95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DF3D4-3AA5-5EA3-19DF-7D8F5ABE5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DA834-99CA-B126-B924-0DBB0D2A96E7}"/>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 </a:t>
            </a:r>
            <a:r>
              <a:rPr lang="en-AU">
                <a:latin typeface="Arial"/>
                <a:cs typeface="Arial"/>
              </a:rPr>
              <a:t>(</a:t>
            </a:r>
            <a:r>
              <a:rPr lang="en-AU" b="1">
                <a:latin typeface="Arial"/>
                <a:cs typeface="Arial"/>
              </a:rPr>
              <a:t>Note</a:t>
            </a:r>
            <a:r>
              <a:rPr lang="en-AU" b="0">
                <a:latin typeface="Arial"/>
                <a:cs typeface="Arial"/>
              </a:rPr>
              <a:t>: Stage 2 content is reviewed)</a:t>
            </a:r>
            <a:endParaRPr lang="en-AU"/>
          </a:p>
          <a:p>
            <a:endParaRPr lang="en-AU"/>
          </a:p>
          <a:p>
            <a:r>
              <a:rPr lang="en-AU" b="1"/>
              <a:t>Rounding numbers game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Resource 16 and Resource 17 in Stage 3 Year A Unit 2. </a:t>
            </a:r>
          </a:p>
          <a:p>
            <a:endParaRPr lang="en-AU" b="1"/>
          </a:p>
          <a:p>
            <a:pPr>
              <a:lnSpc>
                <a:spcPct val="150000"/>
              </a:lnSpc>
              <a:spcBef>
                <a:spcPts val="1200"/>
              </a:spcBef>
              <a:spcAft>
                <a:spcPts val="600"/>
              </a:spcAft>
            </a:pPr>
            <a:r>
              <a:rPr lang="en-AU" sz="1600">
                <a:effectLst/>
                <a:latin typeface="Arial" panose="020B0604020202020204" pitchFamily="34" charset="0"/>
                <a:ea typeface="Calibri" panose="020F0502020204030204" pitchFamily="34" charset="0"/>
              </a:rPr>
              <a:t>This activity is an adaptation of ‘</a:t>
            </a:r>
            <a:r>
              <a:rPr lang="en-AU" sz="1600" i="1">
                <a:effectLst/>
                <a:latin typeface="Arial" panose="020B0604020202020204" pitchFamily="34" charset="0"/>
                <a:ea typeface="Calibri" panose="020F0502020204030204" pitchFamily="34" charset="0"/>
              </a:rPr>
              <a:t>Reasoned rounding’</a:t>
            </a:r>
            <a:r>
              <a:rPr lang="en-AU" sz="1600">
                <a:effectLst/>
                <a:latin typeface="Arial" panose="020B0604020202020204" pitchFamily="34" charset="0"/>
                <a:ea typeface="Calibri" panose="020F0502020204030204" pitchFamily="34" charset="0"/>
              </a:rPr>
              <a:t> from NRICH by University of Cambridge.</a:t>
            </a:r>
          </a:p>
          <a:p>
            <a:endParaRPr lang="en-AU"/>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Provide pairs with five 0–9 dice and </a:t>
            </a:r>
            <a:r>
              <a:rPr lang="en-AU" sz="1600">
                <a:effectLst/>
                <a:highlight>
                  <a:srgbClr val="FFFF00"/>
                </a:highlight>
                <a:latin typeface="Arial" panose="020B0604020202020204" pitchFamily="34" charset="0"/>
                <a:ea typeface="Calibri" panose="020F0502020204030204" pitchFamily="34" charset="0"/>
              </a:rPr>
              <a:t>Resource 16 – rounding game</a:t>
            </a:r>
            <a:r>
              <a:rPr lang="en-AU" sz="1600">
                <a:effectLst/>
                <a:latin typeface="Arial" panose="020B0604020202020204" pitchFamily="34" charset="0"/>
                <a:ea typeface="Calibri" panose="020F0502020204030204" pitchFamily="34" charset="0"/>
              </a:rPr>
              <a:t> and </a:t>
            </a:r>
            <a:r>
              <a:rPr lang="en-AU" sz="1600">
                <a:effectLst/>
                <a:highlight>
                  <a:srgbClr val="FFFF00"/>
                </a:highlight>
                <a:latin typeface="Arial" panose="020B0604020202020204" pitchFamily="34" charset="0"/>
                <a:ea typeface="Calibri" panose="020F0502020204030204" pitchFamily="34" charset="0"/>
              </a:rPr>
              <a:t>Resource 17 – rounding cards in Stage 3 Year A Unit 2</a:t>
            </a:r>
            <a:r>
              <a:rPr lang="en-AU" sz="1600">
                <a:effectLst/>
                <a:latin typeface="Arial" panose="020B0604020202020204" pitchFamily="34" charset="0"/>
                <a:ea typeface="Calibri" panose="020F0502020204030204" pitchFamily="34" charset="0"/>
              </a:rPr>
              <a:t>. Place the cards face down in a pile.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Player 1 rolls the dice and creates a 5-digit number. After making their number, they select a card from the pile.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Player 1 rounds their number to the nearest 10, 100 or 1000 according to their selected card.</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Player 1 finds the matching circle on </a:t>
            </a:r>
            <a:r>
              <a:rPr lang="en-AU" sz="1600">
                <a:effectLst/>
                <a:highlight>
                  <a:srgbClr val="FFFF00"/>
                </a:highlight>
                <a:latin typeface="Arial" panose="020B0604020202020204" pitchFamily="34" charset="0"/>
                <a:ea typeface="Calibri" panose="020F0502020204030204" pitchFamily="34" charset="0"/>
              </a:rPr>
              <a:t>Resource 20 – rounding game in Stage 3 Year A unit 3</a:t>
            </a:r>
            <a:r>
              <a:rPr lang="en-AU" sz="1600">
                <a:effectLst/>
                <a:latin typeface="Arial" panose="020B0604020202020204" pitchFamily="34" charset="0"/>
                <a:ea typeface="Calibri" panose="020F0502020204030204" pitchFamily="34" charset="0"/>
              </a:rPr>
              <a:t> and records their 5-digit number in one of the spaces in that circle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Player 2 has their turn and the process is repeated.</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When a circle is complete, this scores a point for the player who wrote the second number in. (Even if the first number was written in by the other player.)</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The winner is the player who scores the most points after a suitable amount of time.</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2B3A8127-95A8-E6FC-0C70-FDF01EF34A72}"/>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6357908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Represents numbers A </a:t>
            </a:r>
            <a:r>
              <a:rPr lang="en-AU">
                <a:latin typeface="Arial"/>
                <a:cs typeface="Arial"/>
              </a:rPr>
              <a:t>(</a:t>
            </a:r>
            <a:r>
              <a:rPr lang="en-AU" b="1">
                <a:latin typeface="Arial"/>
                <a:cs typeface="Arial"/>
              </a:rPr>
              <a:t>Note</a:t>
            </a:r>
            <a:r>
              <a:rPr lang="en-AU" b="0">
                <a:latin typeface="Arial"/>
                <a:cs typeface="Arial"/>
              </a:rPr>
              <a:t>: Stage 2 content is reviewed)</a:t>
            </a:r>
            <a:endParaRPr lang="en-AU" sz="1600" b="0" kern="1200">
              <a:solidFill>
                <a:schemeClr val="tx1"/>
              </a:solidFill>
              <a:effectLst/>
              <a:latin typeface="Arial" panose="020B0604020202020204" pitchFamily="34" charset="0"/>
              <a:ea typeface="+mn-ea"/>
              <a:cs typeface="Arial" panose="020B0604020202020204" pitchFamily="34" charset="0"/>
            </a:endParaRPr>
          </a:p>
          <a:p>
            <a:endParaRPr lang="en-AU"/>
          </a:p>
          <a:p>
            <a:r>
              <a:rPr lang="en-AU" b="1"/>
              <a:t>Place value game</a:t>
            </a:r>
          </a:p>
          <a:p>
            <a:r>
              <a:rPr lang="en-AU" b="0"/>
              <a:t>This resource corresponds to Figure 23 – sample gameboard in Stage 3 Year A Unit 2. </a:t>
            </a:r>
          </a:p>
          <a:p>
            <a:endParaRPr lang="en-AU" b="1"/>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600">
                <a:effectLst/>
                <a:latin typeface="Arial" panose="020B0604020202020204" pitchFamily="34" charset="0"/>
                <a:ea typeface="Calibri" panose="020F0502020204030204" pitchFamily="34" charset="0"/>
              </a:rPr>
              <a:t>This lesson is an adaptation of ‘</a:t>
            </a:r>
            <a:r>
              <a:rPr lang="en-AU" sz="1600" i="1">
                <a:effectLst/>
                <a:latin typeface="Arial" panose="020B0604020202020204" pitchFamily="34" charset="0"/>
                <a:ea typeface="Calibri" panose="020F0502020204030204" pitchFamily="34" charset="0"/>
              </a:rPr>
              <a:t>The place value game</a:t>
            </a:r>
            <a:r>
              <a:rPr lang="en-AU" sz="1600">
                <a:effectLst/>
                <a:latin typeface="Arial" panose="020B0604020202020204" pitchFamily="34" charset="0"/>
                <a:ea typeface="Calibri" panose="020F0502020204030204" pitchFamily="34" charset="0"/>
              </a:rPr>
              <a:t>’ from Mathematics K-6 resources by State of New South Wales (Department of Education).</a:t>
            </a:r>
          </a:p>
          <a:p>
            <a:pPr marL="342900" lvl="0" indent="-342900">
              <a:lnSpc>
                <a:spcPct val="150000"/>
              </a:lnSpc>
              <a:spcBef>
                <a:spcPts val="1200"/>
              </a:spcBef>
              <a:spcAft>
                <a:spcPts val="600"/>
              </a:spcAft>
              <a:buFont typeface="+mj-lt"/>
              <a:buAutoNum type="arabicPeriod"/>
            </a:pP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The aim of the game is to position 6-digit numbers in sequence on a gameboard.</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Provide pairs with six 0–9-sided dice and </a:t>
            </a:r>
            <a:r>
              <a:rPr lang="en-AU" sz="1600">
                <a:effectLst/>
                <a:highlight>
                  <a:srgbClr val="FFFF00"/>
                </a:highlight>
                <a:latin typeface="Arial" panose="020B0604020202020204" pitchFamily="34" charset="0"/>
                <a:ea typeface="Calibri" panose="020F0502020204030204" pitchFamily="34" charset="0"/>
              </a:rPr>
              <a:t>Resource 18 – place value game</a:t>
            </a:r>
            <a:r>
              <a:rPr lang="en-AU" sz="1600">
                <a:effectLst/>
                <a:latin typeface="Arial" panose="020B0604020202020204" pitchFamily="34" charset="0"/>
                <a:ea typeface="Calibri" panose="020F0502020204030204" pitchFamily="34" charset="0"/>
              </a:rPr>
              <a:t> for each player.</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roll the dice and create a 6-digit number. For example, 1, 5, 6, 6, 2 and a 9 could be recorded as 156 629, 692 615, 296 156, 165 269 and so on. Players record their chosen number in the most appropriate position between 100 000 and 999 999 on the gameboard. </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If numbers cannot be placed, students miss their turn. Play continues until all boxes are filled.</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a:effectLst/>
                <a:latin typeface="Arial" panose="020B0604020202020204" pitchFamily="34" charset="0"/>
                <a:ea typeface="Calibri" panose="020F0502020204030204" pitchFamily="34" charset="0"/>
              </a:rPr>
              <a:t>Note</a:t>
            </a:r>
            <a:r>
              <a:rPr lang="en-AU" sz="1600">
                <a:effectLst/>
                <a:latin typeface="Arial" panose="020B0604020202020204" pitchFamily="34" charset="0"/>
                <a:ea typeface="Calibri" panose="020F0502020204030204" pitchFamily="34" charset="0"/>
              </a:rPr>
              <a:t>: the game can also be played as whole class. Use dice that have a zero as it is important to understand that the zero is a placeholder and does not have a value. Using a reusable sleeve for the gameboard will allow students to play multiple games.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 (</a:t>
            </a:r>
            <a:r>
              <a:rPr lang="en-AU" b="1">
                <a:latin typeface="Arial"/>
                <a:cs typeface="Arial"/>
              </a:rPr>
              <a:t>Note</a:t>
            </a:r>
            <a:r>
              <a:rPr lang="en-AU" b="0">
                <a:latin typeface="Arial"/>
                <a:cs typeface="Arial"/>
              </a:rPr>
              <a:t>: Stage 2 content is reviewed)</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Volume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 </a:t>
                </a:r>
                <a:r>
                  <a:rPr lang="en-AU">
                    <a:latin typeface="Arial"/>
                    <a:cs typeface="Arial"/>
                  </a:rPr>
                  <a:t>(</a:t>
                </a:r>
                <a:r>
                  <a:rPr lang="en-AU" b="1">
                    <a:latin typeface="Arial"/>
                    <a:cs typeface="Arial"/>
                  </a:rPr>
                  <a:t>Note</a:t>
                </a:r>
                <a:r>
                  <a:rPr lang="en-AU" b="0">
                    <a:latin typeface="Arial"/>
                    <a:cs typeface="Arial"/>
                  </a:rPr>
                  <a:t>: Stage 2 content is reviewed)</a:t>
                </a:r>
                <a:endParaRPr lang="en-AU"/>
              </a:p>
              <a:p>
                <a:endParaRPr lang="en-AU"/>
              </a:p>
              <a:p>
                <a:r>
                  <a:rPr lang="en-AU" b="1"/>
                  <a:t>Representing fractions</a:t>
                </a:r>
              </a:p>
              <a:p>
                <a:r>
                  <a:rPr lang="en-AU" b="0"/>
                  <a:t>This resource corresponds to Resource 19 and Resource 20 in Stage 3 Year A Unit 2. </a:t>
                </a:r>
              </a:p>
              <a:p>
                <a:endParaRPr lang="en-AU" b="1"/>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600">
                    <a:effectLst/>
                    <a:latin typeface="Arial" panose="020B0604020202020204" pitchFamily="34" charset="0"/>
                    <a:ea typeface="Calibri" panose="020F0502020204030204" pitchFamily="34" charset="0"/>
                  </a:rPr>
                  <a:t>This activity is an adaptation of ‘</a:t>
                </a:r>
                <a:r>
                  <a:rPr lang="en-AU" sz="1600" i="1">
                    <a:effectLst/>
                    <a:latin typeface="Arial" panose="020B0604020202020204" pitchFamily="34" charset="0"/>
                    <a:ea typeface="Calibri" panose="020F0502020204030204" pitchFamily="34" charset="0"/>
                  </a:rPr>
                  <a:t>Colour in fractions</a:t>
                </a:r>
                <a:r>
                  <a:rPr lang="en-AU" sz="1600">
                    <a:effectLst/>
                    <a:latin typeface="Arial" panose="020B0604020202020204" pitchFamily="34" charset="0"/>
                    <a:ea typeface="Calibri" panose="020F0502020204030204" pitchFamily="34" charset="0"/>
                  </a:rPr>
                  <a:t>’ from K-6 Mathematics resources by State of New South Wales (Department of Education). </a:t>
                </a:r>
              </a:p>
              <a:p>
                <a:pPr marL="342900" lvl="0" indent="-342900">
                  <a:lnSpc>
                    <a:spcPct val="150000"/>
                  </a:lnSpc>
                  <a:spcBef>
                    <a:spcPts val="1200"/>
                  </a:spcBef>
                  <a:spcAft>
                    <a:spcPts val="600"/>
                  </a:spcAft>
                  <a:buFont typeface="+mj-lt"/>
                  <a:buAutoNum type="arabicPeriod"/>
                </a:pPr>
                <a:endParaRPr lang="en-AU" sz="1600">
                  <a:effectLst/>
                  <a:latin typeface="Arial" panose="020B0604020202020204" pitchFamily="34" charset="0"/>
                  <a:ea typeface="Calibri" panose="020F050202020403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one die labelled 1, 2, 2, 3, 3, 4 in one colour and another die labelled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2</m:t>
                        </m:r>
                      </m:den>
                    </m:f>
                  </m:oMath>
                </a14:m>
                <a:r>
                  <a:rPr lang="en-AU" sz="1600" kern="1200">
                    <a:solidFill>
                      <a:schemeClr val="tx1"/>
                    </a:solidFill>
                    <a:effectLst/>
                    <a:latin typeface="Arial" panose="020B0604020202020204" pitchFamily="34" charset="0"/>
                    <a:ea typeface="+mn-ea"/>
                    <a:cs typeface="Arial" panose="020B0604020202020204" pitchFamily="34" charset="0"/>
                  </a:rPr>
                  <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3</m:t>
                        </m:r>
                      </m:den>
                    </m:f>
                  </m:oMath>
                </a14:m>
                <a:r>
                  <a:rPr lang="en-AU" sz="1600" kern="1200">
                    <a:solidFill>
                      <a:schemeClr val="tx1"/>
                    </a:solidFill>
                    <a:effectLst/>
                    <a:latin typeface="Arial" panose="020B0604020202020204" pitchFamily="34" charset="0"/>
                    <a:ea typeface="+mn-ea"/>
                    <a:cs typeface="Arial" panose="020B0604020202020204" pitchFamily="34" charset="0"/>
                  </a:rPr>
                  <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6</m:t>
                        </m:r>
                      </m:den>
                    </m:f>
                  </m:oMath>
                </a14:m>
                <a:r>
                  <a:rPr lang="en-AU" sz="1600" kern="1200">
                    <a:solidFill>
                      <a:schemeClr val="tx1"/>
                    </a:solidFill>
                    <a:effectLst/>
                    <a:latin typeface="Arial" panose="020B0604020202020204" pitchFamily="34" charset="0"/>
                    <a:ea typeface="+mn-ea"/>
                    <a:cs typeface="Arial" panose="020B0604020202020204" pitchFamily="34" charset="0"/>
                  </a:rPr>
                  <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8</m:t>
                        </m:r>
                      </m:den>
                    </m:f>
                  </m:oMath>
                </a14:m>
                <a:r>
                  <a:rPr lang="en-AU" sz="1600" kern="1200">
                    <a:solidFill>
                      <a:schemeClr val="tx1"/>
                    </a:solidFill>
                    <a:effectLst/>
                    <a:latin typeface="Arial" panose="020B0604020202020204" pitchFamily="34" charset="0"/>
                    <a:ea typeface="+mn-ea"/>
                    <a:cs typeface="Arial" panose="020B0604020202020204" pitchFamily="34" charset="0"/>
                  </a:rPr>
                  <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12</m:t>
                        </m:r>
                      </m:den>
                    </m:f>
                  </m:oMath>
                </a14:m>
                <a:r>
                  <a:rPr lang="en-AU" sz="1600" kern="1200">
                    <a:solidFill>
                      <a:schemeClr val="tx1"/>
                    </a:solidFill>
                    <a:effectLst/>
                    <a:latin typeface="Arial" panose="020B0604020202020204" pitchFamily="34" charset="0"/>
                    <a:ea typeface="+mn-ea"/>
                    <a:cs typeface="Arial" panose="020B0604020202020204" pitchFamily="34" charset="0"/>
                  </a:rPr>
                  <a:t> in another colour or use Resource 19 </a:t>
                </a:r>
                <a:r>
                  <a:rPr lang="en-AU"/>
                  <a:t>– spinners.</a:t>
                </a:r>
                <a:r>
                  <a:rPr lang="en-AU" sz="1600" kern="1200">
                    <a:solidFill>
                      <a:schemeClr val="tx1"/>
                    </a:solidFill>
                    <a:effectLst/>
                    <a:latin typeface="Arial" panose="020B0604020202020204" pitchFamily="34" charset="0"/>
                    <a:ea typeface="+mn-ea"/>
                    <a:cs typeface="Arial" panose="020B0604020202020204" pitchFamily="34" charset="0"/>
                  </a:rPr>
                  <a:t>  Also provide students with Resource 20 </a:t>
                </a:r>
                <a:r>
                  <a:rPr lang="en-AU"/>
                  <a:t>– fraction wall </a:t>
                </a:r>
                <a:r>
                  <a:rPr lang="en-AU" sz="1600" kern="1200">
                    <a:solidFill>
                      <a:schemeClr val="tx1"/>
                    </a:solidFill>
                    <a:effectLst/>
                    <a:latin typeface="Arial" panose="020B0604020202020204" pitchFamily="34" charset="0"/>
                    <a:ea typeface="+mn-ea"/>
                    <a:cs typeface="Arial" panose="020B0604020202020204" pitchFamily="34" charset="0"/>
                  </a:rPr>
                  <a:t>and coloured pencils or markers.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take turns to throw both dice or have a spin on their spinners. Students make a fraction, using the first die or spinner as the numerator. Students then colour the equivalent of the fraction.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For each roll or spin, students should use a different colour pencil or marker. If a player is unable to use their turn, they ‘pass’.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take turns to roll or spin and make fractions, marking them on their fraction wall. If the fraction rolled or its equivalence cannot be shaded, that player misses a turn. This becomes more frequent later in the game.</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Players are not allowed to break up a ‘brick’ on the fraction wall. </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To finish the game, a player must have had 18 turns or have filled their wall. A larger fraction is not acceptable to finish.</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The first player to colour in their whole wall is the winner. They should encourage the other player to keep filling their fraction wall or make the greatest number of wholes.</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If after 18 turns neither player has coloured in their whole wall, the player with the greatest number wins.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 </a:t>
                </a:r>
                <a:r>
                  <a:rPr lang="en-AU">
                    <a:latin typeface="Arial"/>
                    <a:cs typeface="Arial"/>
                  </a:rPr>
                  <a:t>(</a:t>
                </a:r>
                <a:r>
                  <a:rPr lang="en-AU" b="1">
                    <a:latin typeface="Arial"/>
                    <a:cs typeface="Arial"/>
                  </a:rPr>
                  <a:t>Note</a:t>
                </a:r>
                <a:r>
                  <a:rPr lang="en-AU" b="0">
                    <a:latin typeface="Arial"/>
                    <a:cs typeface="Arial"/>
                  </a:rPr>
                  <a:t>: Stage 2 content is reviewed)</a:t>
                </a:r>
                <a:endParaRPr lang="en-AU"/>
              </a:p>
              <a:p>
                <a:endParaRPr lang="en-AU"/>
              </a:p>
              <a:p>
                <a:r>
                  <a:rPr lang="en-AU" b="1"/>
                  <a:t>Representing fractions</a:t>
                </a:r>
              </a:p>
              <a:p>
                <a:r>
                  <a:rPr lang="en-AU" b="0"/>
                  <a:t>This resource corresponds to Resource 19 and Resource 20 in Stage 3 Year A Unit 2. </a:t>
                </a:r>
              </a:p>
              <a:p>
                <a:endParaRPr lang="en-AU" b="1"/>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600">
                    <a:effectLst/>
                    <a:latin typeface="Arial" panose="020B0604020202020204" pitchFamily="34" charset="0"/>
                    <a:ea typeface="Calibri" panose="020F0502020204030204" pitchFamily="34" charset="0"/>
                  </a:rPr>
                  <a:t>This activity is an adaptation of ‘</a:t>
                </a:r>
                <a:r>
                  <a:rPr lang="en-AU" sz="1600" i="1">
                    <a:effectLst/>
                    <a:latin typeface="Arial" panose="020B0604020202020204" pitchFamily="34" charset="0"/>
                    <a:ea typeface="Calibri" panose="020F0502020204030204" pitchFamily="34" charset="0"/>
                  </a:rPr>
                  <a:t>Colour in fractions</a:t>
                </a:r>
                <a:r>
                  <a:rPr lang="en-AU" sz="1600">
                    <a:effectLst/>
                    <a:latin typeface="Arial" panose="020B0604020202020204" pitchFamily="34" charset="0"/>
                    <a:ea typeface="Calibri" panose="020F0502020204030204" pitchFamily="34" charset="0"/>
                  </a:rPr>
                  <a:t>’ from K-6 Mathematics resources by State of New South Wales (Department of Education). </a:t>
                </a:r>
              </a:p>
              <a:p>
                <a:pPr marL="342900" lvl="0" indent="-342900">
                  <a:lnSpc>
                    <a:spcPct val="150000"/>
                  </a:lnSpc>
                  <a:spcBef>
                    <a:spcPts val="1200"/>
                  </a:spcBef>
                  <a:spcAft>
                    <a:spcPts val="600"/>
                  </a:spcAft>
                  <a:buFont typeface="+mj-lt"/>
                  <a:buAutoNum type="arabicPeriod"/>
                </a:pPr>
                <a:endParaRPr lang="en-AU" sz="1600">
                  <a:effectLst/>
                  <a:latin typeface="Arial" panose="020B0604020202020204" pitchFamily="34" charset="0"/>
                  <a:ea typeface="Calibri" panose="020F050202020403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one die labelled 1, 2, 2, 3, 3, 4 in one colour and another die labelled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1/3</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1/6</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1/8</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1/12</a:t>
                </a:r>
                <a:r>
                  <a:rPr lang="en-AU" sz="1600" kern="1200">
                    <a:solidFill>
                      <a:schemeClr val="tx1"/>
                    </a:solidFill>
                    <a:effectLst/>
                    <a:latin typeface="Arial" panose="020B0604020202020204" pitchFamily="34" charset="0"/>
                    <a:ea typeface="+mn-ea"/>
                    <a:cs typeface="Arial" panose="020B0604020202020204" pitchFamily="34" charset="0"/>
                  </a:rPr>
                  <a:t> in another colour or use Resource 19 </a:t>
                </a:r>
                <a:r>
                  <a:rPr lang="en-AU"/>
                  <a:t>– spinners.</a:t>
                </a:r>
                <a:r>
                  <a:rPr lang="en-AU" sz="1600" kern="1200">
                    <a:solidFill>
                      <a:schemeClr val="tx1"/>
                    </a:solidFill>
                    <a:effectLst/>
                    <a:latin typeface="Arial" panose="020B0604020202020204" pitchFamily="34" charset="0"/>
                    <a:ea typeface="+mn-ea"/>
                    <a:cs typeface="Arial" panose="020B0604020202020204" pitchFamily="34" charset="0"/>
                  </a:rPr>
                  <a:t>  Also provide students with Resource 20 </a:t>
                </a:r>
                <a:r>
                  <a:rPr lang="en-AU"/>
                  <a:t>– fraction wall </a:t>
                </a:r>
                <a:r>
                  <a:rPr lang="en-AU" sz="1600" kern="1200">
                    <a:solidFill>
                      <a:schemeClr val="tx1"/>
                    </a:solidFill>
                    <a:effectLst/>
                    <a:latin typeface="Arial" panose="020B0604020202020204" pitchFamily="34" charset="0"/>
                    <a:ea typeface="+mn-ea"/>
                    <a:cs typeface="Arial" panose="020B0604020202020204" pitchFamily="34" charset="0"/>
                  </a:rPr>
                  <a:t>and coloured pencils or markers.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take turns to throw both dice or have a spin on their spinners. Students make a fraction, using the first die or spinner as the numerator. Students then colour the equivalent of the fraction.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For each roll or spin, students should use a different colour pencil or marker. If a player is unable to use their turn, they ‘pass’.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take turns to roll or spin and make fractions, marking them on their fraction wall. If the fraction rolled or its equivalence cannot be shaded, that player misses a turn. This becomes more frequent later in the game.</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Players are not allowed to break up a ‘brick’ on the fraction wall. </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To finish the game, a player must have had 18 turns or have filled their wall. A larger fraction is not acceptable to finish.</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The first player to colour in their whole wall is the winner. They should encourage the other player to keep filling their fraction wall or make the greatest number of wholes.</a:t>
                </a:r>
              </a:p>
              <a:p>
                <a:pPr marL="342900" lvl="0" indent="-342900">
                  <a:buFont typeface="+mj-lt"/>
                  <a:buAutoNum type="arabicPeriod"/>
                </a:pPr>
                <a:r>
                  <a:rPr lang="en-AU" sz="1600">
                    <a:effectLst/>
                    <a:latin typeface="Arial" panose="020B0604020202020204" pitchFamily="34" charset="0"/>
                    <a:ea typeface="Calibri" panose="020F0502020204030204" pitchFamily="34" charset="0"/>
                  </a:rPr>
                  <a:t>If after 18 turns neither player has coloured in their whole wall, the player with the greatest number wins.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Volume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 </a:t>
            </a:r>
            <a:r>
              <a:rPr lang="en-AU">
                <a:latin typeface="Arial"/>
                <a:cs typeface="Arial"/>
              </a:rPr>
              <a:t>(</a:t>
            </a:r>
            <a:r>
              <a:rPr lang="en-AU" b="1">
                <a:latin typeface="Arial"/>
                <a:cs typeface="Arial"/>
              </a:rPr>
              <a:t>Note</a:t>
            </a:r>
            <a:r>
              <a:rPr lang="en-AU" b="0">
                <a:latin typeface="Arial"/>
                <a:cs typeface="Arial"/>
              </a:rPr>
              <a:t>: Stage 2 content is reviewed)</a:t>
            </a:r>
            <a:endParaRPr lang="en-AU"/>
          </a:p>
          <a:p>
            <a:endParaRPr lang="en-AU"/>
          </a:p>
          <a:p>
            <a:r>
              <a:rPr lang="en-AU" b="1"/>
              <a:t>Fractions on a number line</a:t>
            </a:r>
          </a:p>
          <a:p>
            <a:r>
              <a:rPr lang="en-AU" b="0"/>
              <a:t>This resource corresponds to Resource 25 in Stage 3 Year A Unit 2. </a:t>
            </a:r>
          </a:p>
          <a:p>
            <a:endParaRPr lang="en-AU" b="1"/>
          </a:p>
          <a:p>
            <a:pPr marL="342900" lvl="0" indent="-342900">
              <a:lnSpc>
                <a:spcPct val="150000"/>
              </a:lnSpc>
              <a:spcBef>
                <a:spcPts val="1200"/>
              </a:spcBef>
              <a:spcAft>
                <a:spcPts val="600"/>
              </a:spcAft>
              <a:buFont typeface="+mj-lt"/>
              <a:buAutoNum type="arabicPeriod"/>
              <a:tabLst>
                <a:tab pos="228600" algn="l"/>
              </a:tabLst>
            </a:pPr>
            <a:r>
              <a:rPr lang="en-AU" sz="1600">
                <a:effectLst/>
                <a:latin typeface="Arial" panose="020B0604020202020204" pitchFamily="34" charset="0"/>
                <a:ea typeface="Calibri" panose="020F0502020204030204" pitchFamily="34" charset="0"/>
              </a:rPr>
              <a:t>Explain Nicole is walking to school and the 3 number lines represent the distance she has travelled. </a:t>
            </a:r>
          </a:p>
          <a:p>
            <a:pPr marL="342900" lvl="0" indent="-342900">
              <a:lnSpc>
                <a:spcPct val="150000"/>
              </a:lnSpc>
              <a:spcBef>
                <a:spcPts val="1200"/>
              </a:spcBef>
              <a:spcAft>
                <a:spcPts val="600"/>
              </a:spcAft>
              <a:buFont typeface="+mj-lt"/>
              <a:buAutoNum type="arabicPeriod"/>
              <a:tabLst>
                <a:tab pos="228600" algn="l"/>
              </a:tabLst>
            </a:pPr>
            <a:r>
              <a:rPr lang="en-AU" sz="16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Symbol" panose="05050102010706020507" pitchFamily="18" charset="2"/>
              <a:buChar char="-"/>
              <a:tabLst>
                <a:tab pos="408305" algn="l"/>
                <a:tab pos="457200" algn="l"/>
              </a:tabLst>
            </a:pPr>
            <a:r>
              <a:rPr lang="en-AU" sz="1600">
                <a:effectLst/>
                <a:latin typeface="Arial" panose="020B0604020202020204" pitchFamily="34" charset="0"/>
                <a:ea typeface="Calibri" panose="020F0502020204030204" pitchFamily="34" charset="0"/>
              </a:rPr>
              <a:t>How far has Nicole gone?</a:t>
            </a:r>
          </a:p>
          <a:p>
            <a:pPr marL="342900" lvl="0" indent="-342900">
              <a:lnSpc>
                <a:spcPct val="150000"/>
              </a:lnSpc>
              <a:spcBef>
                <a:spcPts val="1200"/>
              </a:spcBef>
              <a:spcAft>
                <a:spcPts val="600"/>
              </a:spcAft>
              <a:buFont typeface="Symbol" panose="05050102010706020507" pitchFamily="18" charset="2"/>
              <a:buChar char="-"/>
              <a:tabLst>
                <a:tab pos="408305" algn="l"/>
                <a:tab pos="457200" algn="l"/>
              </a:tabLst>
            </a:pPr>
            <a:r>
              <a:rPr lang="en-AU" sz="1600">
                <a:effectLst/>
                <a:latin typeface="Arial" panose="020B0604020202020204" pitchFamily="34" charset="0"/>
                <a:ea typeface="Calibri" panose="020F0502020204030204" pitchFamily="34" charset="0"/>
              </a:rPr>
              <a:t>How do you know?</a:t>
            </a:r>
          </a:p>
          <a:p>
            <a:pPr marL="342900" lvl="0" indent="-342900">
              <a:lnSpc>
                <a:spcPct val="150000"/>
              </a:lnSpc>
              <a:spcBef>
                <a:spcPts val="1200"/>
              </a:spcBef>
              <a:spcAft>
                <a:spcPts val="600"/>
              </a:spcAft>
              <a:buFont typeface="Symbol" panose="05050102010706020507" pitchFamily="18" charset="2"/>
              <a:buChar char="-"/>
              <a:tabLst>
                <a:tab pos="408305" algn="l"/>
                <a:tab pos="457200" algn="l"/>
              </a:tabLst>
            </a:pPr>
            <a:r>
              <a:rPr lang="en-AU" sz="1600">
                <a:effectLst/>
                <a:latin typeface="Arial" panose="020B0604020202020204" pitchFamily="34" charset="0"/>
                <a:ea typeface="Calibri" panose="020F0502020204030204" pitchFamily="34" charset="0"/>
              </a:rPr>
              <a:t>What parts of the number line helped you answer the questions?</a:t>
            </a:r>
          </a:p>
          <a:p>
            <a:pPr marL="342900" lvl="0" indent="-342900">
              <a:lnSpc>
                <a:spcPct val="150000"/>
              </a:lnSpc>
              <a:spcBef>
                <a:spcPts val="1200"/>
              </a:spcBef>
              <a:spcAft>
                <a:spcPts val="600"/>
              </a:spcAft>
              <a:buFont typeface="Symbol" panose="05050102010706020507" pitchFamily="18" charset="2"/>
              <a:buChar char="-"/>
              <a:tabLst>
                <a:tab pos="408305" algn="l"/>
                <a:tab pos="457200" algn="l"/>
              </a:tabLst>
            </a:pPr>
            <a:r>
              <a:rPr lang="en-AU" sz="1600">
                <a:effectLst/>
                <a:latin typeface="Arial" panose="020B0604020202020204" pitchFamily="34" charset="0"/>
                <a:ea typeface="Calibri" panose="020F0502020204030204" pitchFamily="34" charset="0"/>
              </a:rPr>
              <a:t>Which number line represents the furthest distance travelled? How do you know?</a:t>
            </a:r>
          </a:p>
          <a:p>
            <a:pPr marL="342900" lvl="0" indent="-342900">
              <a:lnSpc>
                <a:spcPct val="150000"/>
              </a:lnSpc>
              <a:spcBef>
                <a:spcPts val="1200"/>
              </a:spcBef>
              <a:spcAft>
                <a:spcPts val="600"/>
              </a:spcAft>
              <a:buFont typeface="Symbol" panose="05050102010706020507" pitchFamily="18" charset="2"/>
              <a:buChar char="-"/>
              <a:tabLst>
                <a:tab pos="408305" algn="l"/>
                <a:tab pos="457200" algn="l"/>
              </a:tabLst>
            </a:pPr>
            <a:r>
              <a:rPr lang="en-AU" sz="1600">
                <a:effectLst/>
                <a:latin typeface="Arial" panose="020B0604020202020204" pitchFamily="34" charset="0"/>
                <a:ea typeface="Calibri" panose="020F0502020204030204" pitchFamily="34" charset="0"/>
              </a:rPr>
              <a:t>How far as a fraction does Nicole need to travel to get to school on each number line? (Determine the complement fractional part of each number line).</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rPr>
              <a:t>3.      Students record the fractions and reasoning on an individual whiteboard. </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 (</a:t>
            </a:r>
            <a:r>
              <a:rPr lang="en-AU" b="1">
                <a:latin typeface="Arial"/>
                <a:cs typeface="Arial"/>
              </a:rPr>
              <a:t>Note</a:t>
            </a:r>
            <a:r>
              <a:rPr lang="en-AU" b="0">
                <a:latin typeface="Arial"/>
                <a:cs typeface="Arial"/>
              </a:rPr>
              <a:t>: Stage 2 content is reviewed)</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 </a:t>
            </a:r>
            <a:r>
              <a:rPr lang="en-AU">
                <a:latin typeface="Arial"/>
                <a:cs typeface="Arial"/>
              </a:rPr>
              <a:t>(</a:t>
            </a:r>
            <a:r>
              <a:rPr lang="en-AU" b="1">
                <a:latin typeface="Arial"/>
                <a:cs typeface="Arial"/>
              </a:rPr>
              <a:t>Note</a:t>
            </a:r>
            <a:r>
              <a:rPr lang="en-AU" b="0">
                <a:latin typeface="Arial"/>
                <a:cs typeface="Arial"/>
              </a:rPr>
              <a:t>: Stage 2 content is reviewed)</a:t>
            </a:r>
            <a:endParaRPr lang="en-AU"/>
          </a:p>
          <a:p>
            <a:endParaRPr lang="en-AU"/>
          </a:p>
          <a:p>
            <a:r>
              <a:rPr lang="en-AU" b="1"/>
              <a:t>Complementary fractions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22 in Stage 3 Year A Unit 2. </a:t>
            </a:r>
          </a:p>
          <a:p>
            <a:endParaRPr lang="en-AU" b="1"/>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Read the following scenario: during a soccer game, each player on the team placed their drink bottle along the sideline. As the game went on, some players drank more water than others. The fraction shown below each player’s name tells you how much water is left in their drink bottle.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Ask students to shade and label the fraction on the number line for each drink bottle.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Explain that a complementary fraction is the fractional part needed to complete the whole. In this scenario, the complementary fraction is the amount of water that was consumed throughout the game.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Ask students to label the complementary fraction for each drink bottle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 (</a:t>
            </a:r>
            <a:r>
              <a:rPr lang="en-AU" b="1">
                <a:latin typeface="Arial"/>
                <a:cs typeface="Arial"/>
              </a:rPr>
              <a:t>Note</a:t>
            </a:r>
            <a:r>
              <a:rPr lang="en-AU" b="0">
                <a:latin typeface="Arial"/>
                <a:cs typeface="Arial"/>
              </a:rPr>
              <a:t>: Stage 2 content is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 (</a:t>
            </a:r>
            <a:r>
              <a:rPr lang="en-AU" b="1"/>
              <a:t>Note</a:t>
            </a:r>
            <a:r>
              <a:rPr lang="en-AU" b="0"/>
              <a:t>: Stage 2 content is reviewed)</a:t>
            </a:r>
            <a:endParaRPr lang="en-AU"/>
          </a:p>
          <a:p>
            <a:endParaRPr lang="en-AU"/>
          </a:p>
          <a:p>
            <a:r>
              <a:rPr lang="en-AU" b="1"/>
              <a:t>Modelling fractions with fraction strips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23 and resource 24 in Stage 3 Year A Unit 2. </a:t>
            </a:r>
          </a:p>
          <a:p>
            <a:endParaRPr lang="en-AU" b="1"/>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Present the following problem: Tim has folded his paper into 2 equal parts. Yani has folded his paper into 4 equal parts. Rocco has folded his paper into 3 equal parts.</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Explain that the strips of paper represent one whole. Provide each student with strips of paper and ask them to explain who has the shortest and longest strip of paper. </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can justify their reasoning by modelling each partition and comparing the whole strip. Discuss the complementary fractional part needed to complete the whole for each child </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Display </a:t>
            </a:r>
            <a:r>
              <a:rPr lang="en-AU" sz="1600">
                <a:effectLst/>
                <a:highlight>
                  <a:srgbClr val="FFFF00"/>
                </a:highlight>
                <a:latin typeface="Arial" panose="020B0604020202020204" pitchFamily="34" charset="0"/>
                <a:ea typeface="Calibri" panose="020F0502020204030204" pitchFamily="34" charset="0"/>
              </a:rPr>
              <a:t>Resource 24 – answer strips. </a:t>
            </a: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turn and talk and discuss their responses in comparison to </a:t>
            </a:r>
            <a:r>
              <a:rPr lang="en-AU" sz="1600">
                <a:effectLst/>
                <a:highlight>
                  <a:srgbClr val="FFFF00"/>
                </a:highlight>
                <a:latin typeface="Arial" panose="020B0604020202020204" pitchFamily="34" charset="0"/>
                <a:ea typeface="Calibri" panose="020F0502020204030204" pitchFamily="34" charset="0"/>
              </a:rPr>
              <a:t>Resource 28 – answer strips in Stage 3 Year A unit 2. </a:t>
            </a:r>
            <a:r>
              <a:rPr lang="en-AU" sz="1600">
                <a:effectLst/>
                <a:latin typeface="Arial" panose="020B0604020202020204" pitchFamily="34" charset="0"/>
                <a:ea typeface="Calibri" panose="020F0502020204030204" pitchFamily="34" charset="0"/>
              </a:rPr>
              <a:t>.</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6FE1-F6F4-E7CC-3782-7D934B9D3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82D74-5305-B80E-15F5-E5CCA0761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F10E5-591B-9709-9EB3-9F2FFB567913}"/>
              </a:ext>
            </a:extLst>
          </p:cNvPr>
          <p:cNvSpPr>
            <a:spLocks noGrp="1"/>
          </p:cNvSpPr>
          <p:nvPr>
            <p:ph type="body" idx="1"/>
          </p:nvPr>
        </p:nvSpPr>
        <p:spPr/>
        <p:txBody>
          <a:bodyPr/>
          <a:lstStyle/>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turn and talk and discuss their responses in comparison to </a:t>
            </a:r>
            <a:r>
              <a:rPr lang="en-AU" sz="1600">
                <a:effectLst/>
                <a:highlight>
                  <a:srgbClr val="FFFF00"/>
                </a:highlight>
                <a:latin typeface="Arial" panose="020B0604020202020204" pitchFamily="34" charset="0"/>
                <a:ea typeface="Calibri" panose="020F0502020204030204" pitchFamily="34" charset="0"/>
              </a:rPr>
              <a:t>Resource 24 – answer strips.</a:t>
            </a:r>
            <a:endParaRPr lang="en-AU" sz="1600">
              <a:effectLst/>
              <a:latin typeface="Arial" panose="020B0604020202020204" pitchFamily="34" charset="0"/>
              <a:ea typeface="Calibri" panose="020F0502020204030204" pitchFamily="34" charset="0"/>
            </a:endParaRPr>
          </a:p>
          <a:p>
            <a:pPr marL="342900" indent="-342900">
              <a:buFont typeface="+mj-lt"/>
              <a:buAutoNum type="arabicPeriod"/>
            </a:pPr>
            <a:endParaRPr lang="en-AU" b="0"/>
          </a:p>
          <a:p>
            <a:r>
              <a:rPr lang="en-AU" b="1"/>
              <a:t> </a:t>
            </a:r>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B2307292-5281-E03A-9850-F4EE1D02C4D7}"/>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8977995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microsoft.com/office/2018/10/relationships/comments" Target="../comments/modernComment_67F9_6AFDD587.xml"/><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8.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8.png"/><Relationship Id="rId7"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33.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3" Type="http://schemas.openxmlformats.org/officeDocument/2006/relationships/image" Target="../media/image8.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4.jpeg"/><Relationship Id="rId9" Type="http://schemas.openxmlformats.org/officeDocument/2006/relationships/image" Target="../media/image40.png"/><Relationship Id="rId14" Type="http://schemas.openxmlformats.org/officeDocument/2006/relationships/image" Target="../media/image45.sv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australiancurriculum.edu.au/resources/national-literacy-and-numeracy-learning-progressions/version-3-of-national-literacy-and-numeracy-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2.</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a:t>
            </a:r>
          </a:p>
        </p:txBody>
      </p:sp>
      <p:pic>
        <p:nvPicPr>
          <p:cNvPr id="5" name="Picture Placeholder 4" descr="A row of dice on a blue background&#10;&#10;.">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Blue circle 1 with light blue rectangle with title 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Blue circle 2 with light blue rectangle with title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2</a:t>
              </a:r>
              <a:endParaRPr lang="en-AU">
                <a:solidFill>
                  <a:schemeClr val="accent1"/>
                </a:solidFill>
                <a:latin typeface="+mj-lt"/>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Blue circle 3 with light blue rectangle with title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3</a:t>
              </a:r>
              <a:endParaRPr lang="en-AU">
                <a:solidFill>
                  <a:schemeClr val="accent1"/>
                </a:solidFill>
                <a:latin typeface="+mj-lt"/>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Blue circle 4 with light blue rectangle with title 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4</a:t>
              </a:r>
              <a:endParaRPr lang="en-AU">
                <a:solidFill>
                  <a:schemeClr val="accent1"/>
                </a:solidFill>
                <a:latin typeface="+mj-lt"/>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Blue circle 5 with light blue rectangle with title 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5</a:t>
              </a:r>
              <a:endParaRPr lang="en-AU">
                <a:solidFill>
                  <a:schemeClr val="accent1"/>
                </a:solidFill>
                <a:latin typeface="+mj-lt"/>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Blue circle 6 with light blue rectangle with title Review of learning 6">
            <a:extLst>
              <a:ext uri="{FF2B5EF4-FFF2-40B4-BE49-F238E27FC236}">
                <a16:creationId xmlns:a16="http://schemas.microsoft.com/office/drawing/2014/main" id="{98348D52-CA50-F15C-B472-B152337D805F}"/>
              </a:ext>
            </a:extLst>
          </p:cNvPr>
          <p:cNvGrpSpPr/>
          <p:nvPr/>
        </p:nvGrpSpPr>
        <p:grpSpPr>
          <a:xfrm>
            <a:off x="6096000" y="2353801"/>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6</a:t>
              </a:r>
              <a:endParaRPr lang="en-AU">
                <a:solidFill>
                  <a:schemeClr val="accent1"/>
                </a:solidFill>
                <a:latin typeface="+mj-lt"/>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Blue circle 7 with light blue rectangle with title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7</a:t>
              </a:r>
              <a:endParaRPr lang="en-AU">
                <a:solidFill>
                  <a:schemeClr val="accent1"/>
                </a:solidFill>
                <a:latin typeface="+mj-lt"/>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Blue circle 8 with light blue rectangle with title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8</a:t>
              </a:r>
              <a:endParaRPr lang="en-AU">
                <a:solidFill>
                  <a:schemeClr val="accent1"/>
                </a:solidFill>
                <a:latin typeface="+mj-lt"/>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474481" y="1130910"/>
            <a:ext cx="11243037" cy="893226"/>
          </a:xfrm>
        </p:spPr>
        <p:txBody>
          <a:bodyPr/>
          <a:lstStyle/>
          <a:p>
            <a:pPr algn="ctr"/>
            <a:r>
              <a:rPr lang="en-AU" sz="4000"/>
              <a:t>Which of the following are in ascending order?</a:t>
            </a:r>
            <a:endParaRPr lang="en-US" sz="4000"/>
          </a:p>
        </p:txBody>
      </p:sp>
      <p:sp>
        <p:nvSpPr>
          <p:cNvPr id="13" name="TextBox 12">
            <a:extLst>
              <a:ext uri="{FF2B5EF4-FFF2-40B4-BE49-F238E27FC236}">
                <a16:creationId xmlns:a16="http://schemas.microsoft.com/office/drawing/2014/main" id="{4C2B239C-948B-8750-AA2E-6EF1061E43A4}"/>
              </a:ext>
            </a:extLst>
          </p:cNvPr>
          <p:cNvSpPr txBox="1"/>
          <p:nvPr/>
        </p:nvSpPr>
        <p:spPr>
          <a:xfrm>
            <a:off x="1966117" y="24059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 Placeholder 17">
            <a:extLst>
              <a:ext uri="{FF2B5EF4-FFF2-40B4-BE49-F238E27FC236}">
                <a16:creationId xmlns:a16="http://schemas.microsoft.com/office/drawing/2014/main" id="{FBABEA3F-98DF-D4F0-C90E-7E535DBD248C}"/>
              </a:ext>
            </a:extLst>
          </p:cNvPr>
          <p:cNvSpPr txBox="1">
            <a:spLocks/>
          </p:cNvSpPr>
          <p:nvPr/>
        </p:nvSpPr>
        <p:spPr>
          <a:xfrm>
            <a:off x="2954308" y="2350570"/>
            <a:ext cx="8169692"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48 379,  46 208,  43 752</a:t>
            </a:r>
            <a:endParaRPr lang="en-US" sz="4000">
              <a:cs typeface="Arial"/>
            </a:endParaRPr>
          </a:p>
        </p:txBody>
      </p:sp>
      <p:sp>
        <p:nvSpPr>
          <p:cNvPr id="14" name="TextBox 13">
            <a:extLst>
              <a:ext uri="{FF2B5EF4-FFF2-40B4-BE49-F238E27FC236}">
                <a16:creationId xmlns:a16="http://schemas.microsoft.com/office/drawing/2014/main" id="{DB173231-D22C-AC30-1203-E882DB83B025}"/>
              </a:ext>
            </a:extLst>
          </p:cNvPr>
          <p:cNvSpPr txBox="1"/>
          <p:nvPr/>
        </p:nvSpPr>
        <p:spPr>
          <a:xfrm>
            <a:off x="1975835" y="34851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 Placeholder 16">
            <a:extLst>
              <a:ext uri="{FF2B5EF4-FFF2-40B4-BE49-F238E27FC236}">
                <a16:creationId xmlns:a16="http://schemas.microsoft.com/office/drawing/2014/main" id="{77EA4ED7-9F48-F19B-3C7F-9EEE6DA15FED}"/>
              </a:ext>
            </a:extLst>
          </p:cNvPr>
          <p:cNvSpPr txBox="1">
            <a:spLocks/>
          </p:cNvSpPr>
          <p:nvPr/>
        </p:nvSpPr>
        <p:spPr>
          <a:xfrm>
            <a:off x="2954308" y="3345882"/>
            <a:ext cx="8425996"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41 625,  43 752,  46 208</a:t>
            </a:r>
            <a:endParaRPr lang="en-US" sz="4000">
              <a:cs typeface="Arial"/>
            </a:endParaRPr>
          </a:p>
        </p:txBody>
      </p:sp>
      <p:sp>
        <p:nvSpPr>
          <p:cNvPr id="16" name="TextBox 15">
            <a:extLst>
              <a:ext uri="{FF2B5EF4-FFF2-40B4-BE49-F238E27FC236}">
                <a16:creationId xmlns:a16="http://schemas.microsoft.com/office/drawing/2014/main" id="{F75FD453-A6DA-D703-BC20-969137C8DA77}"/>
              </a:ext>
            </a:extLst>
          </p:cNvPr>
          <p:cNvSpPr txBox="1"/>
          <p:nvPr/>
        </p:nvSpPr>
        <p:spPr>
          <a:xfrm>
            <a:off x="1975837" y="4419732"/>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6" name="Text Placeholder 15">
            <a:extLst>
              <a:ext uri="{FF2B5EF4-FFF2-40B4-BE49-F238E27FC236}">
                <a16:creationId xmlns:a16="http://schemas.microsoft.com/office/drawing/2014/main" id="{8CA3F83F-D272-874D-DE11-011440708048}"/>
              </a:ext>
            </a:extLst>
          </p:cNvPr>
          <p:cNvSpPr txBox="1">
            <a:spLocks/>
          </p:cNvSpPr>
          <p:nvPr/>
        </p:nvSpPr>
        <p:spPr>
          <a:xfrm>
            <a:off x="2954308" y="4350459"/>
            <a:ext cx="8169692"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43 752,  41 625,  46 208 </a:t>
            </a:r>
            <a:endParaRPr lang="en-US" sz="4000"/>
          </a:p>
        </p:txBody>
      </p:sp>
      <p:sp>
        <p:nvSpPr>
          <p:cNvPr id="15" name="TextBox 14">
            <a:extLst>
              <a:ext uri="{FF2B5EF4-FFF2-40B4-BE49-F238E27FC236}">
                <a16:creationId xmlns:a16="http://schemas.microsoft.com/office/drawing/2014/main" id="{4AAEB233-E79D-8509-A0B1-256894CD2933}"/>
              </a:ext>
            </a:extLst>
          </p:cNvPr>
          <p:cNvSpPr txBox="1"/>
          <p:nvPr/>
        </p:nvSpPr>
        <p:spPr>
          <a:xfrm>
            <a:off x="1985360" y="54989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5" name="Text Placeholder 13">
            <a:extLst>
              <a:ext uri="{FF2B5EF4-FFF2-40B4-BE49-F238E27FC236}">
                <a16:creationId xmlns:a16="http://schemas.microsoft.com/office/drawing/2014/main" id="{CC46158E-ED51-5799-D445-A60C08BEBCF9}"/>
              </a:ext>
            </a:extLst>
          </p:cNvPr>
          <p:cNvSpPr txBox="1">
            <a:spLocks/>
          </p:cNvSpPr>
          <p:nvPr/>
        </p:nvSpPr>
        <p:spPr>
          <a:xfrm>
            <a:off x="2960166" y="5370856"/>
            <a:ext cx="8420137"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41 625,  46 208,  43 752</a:t>
            </a:r>
            <a:endParaRPr lang="en-US" sz="4000" i="1"/>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468F190-CF2E-DF74-B09A-6F80B967C7E2}"/>
              </a:ext>
            </a:extLst>
          </p:cNvPr>
          <p:cNvSpPr txBox="1"/>
          <p:nvPr/>
        </p:nvSpPr>
        <p:spPr>
          <a:xfrm>
            <a:off x="559837" y="1076782"/>
            <a:ext cx="11047445" cy="3337580"/>
          </a:xfrm>
          <a:prstGeom prst="rect">
            <a:avLst/>
          </a:prstGeom>
          <a:noFill/>
        </p:spPr>
        <p:txBody>
          <a:bodyPr wrap="square">
            <a:spAutoFit/>
          </a:bodyPr>
          <a:lstStyle/>
          <a:p>
            <a:pPr algn="ctr">
              <a:lnSpc>
                <a:spcPct val="150000"/>
              </a:lnSpc>
            </a:pPr>
            <a:r>
              <a:rPr lang="en-AU" sz="4400"/>
              <a:t>Arrange these numbers in </a:t>
            </a:r>
          </a:p>
          <a:p>
            <a:pPr algn="ctr">
              <a:lnSpc>
                <a:spcPct val="150000"/>
              </a:lnSpc>
            </a:pPr>
            <a:r>
              <a:rPr lang="en-AU" sz="4400" b="1"/>
              <a:t>descending order:</a:t>
            </a:r>
            <a:endParaRPr lang="en-AU" sz="4400"/>
          </a:p>
          <a:p>
            <a:pPr algn="ctr">
              <a:lnSpc>
                <a:spcPct val="150000"/>
              </a:lnSpc>
            </a:pPr>
            <a:r>
              <a:rPr lang="en-AU" sz="6000"/>
              <a:t>48 275, 52 194, 49 836, 51 420</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5A6A2F3-0462-A130-66E5-369D7FF00EC5}"/>
              </a:ext>
            </a:extLst>
          </p:cNvPr>
          <p:cNvSpPr txBox="1"/>
          <p:nvPr/>
        </p:nvSpPr>
        <p:spPr>
          <a:xfrm>
            <a:off x="2626392" y="1520785"/>
            <a:ext cx="7081284" cy="4185761"/>
          </a:xfrm>
          <a:prstGeom prst="rect">
            <a:avLst/>
          </a:prstGeom>
          <a:noFill/>
        </p:spPr>
        <p:txBody>
          <a:bodyPr wrap="square">
            <a:spAutoFit/>
          </a:bodyPr>
          <a:lstStyle/>
          <a:p>
            <a:pPr algn="ctr">
              <a:lnSpc>
                <a:spcPct val="150000"/>
              </a:lnSpc>
            </a:pPr>
            <a:r>
              <a:rPr lang="en-AU" sz="4400"/>
              <a:t>Use </a:t>
            </a:r>
            <a:r>
              <a:rPr lang="en-AU" sz="4400" b="1"/>
              <a:t>place value</a:t>
            </a:r>
            <a:r>
              <a:rPr lang="en-AU" sz="4400"/>
              <a:t> to record </a:t>
            </a:r>
            <a:r>
              <a:rPr lang="en-AU" sz="6000"/>
              <a:t>318 905  </a:t>
            </a:r>
          </a:p>
          <a:p>
            <a:pPr algn="ctr">
              <a:lnSpc>
                <a:spcPct val="150000"/>
              </a:lnSpc>
            </a:pPr>
            <a:r>
              <a:rPr lang="en-AU" sz="4400"/>
              <a:t>in </a:t>
            </a:r>
            <a:r>
              <a:rPr lang="en-AU" sz="4400" b="1"/>
              <a:t>expanded notation.</a:t>
            </a:r>
          </a:p>
          <a:p>
            <a:pPr algn="ctr"/>
            <a:endParaRPr lang="en-AU" sz="440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63C3919-A396-C968-E6AD-7E55AEEFD34C}"/>
              </a:ext>
            </a:extLst>
          </p:cNvPr>
          <p:cNvSpPr txBox="1"/>
          <p:nvPr/>
        </p:nvSpPr>
        <p:spPr>
          <a:xfrm>
            <a:off x="1188549" y="1414249"/>
            <a:ext cx="9814902" cy="4029501"/>
          </a:xfrm>
          <a:prstGeom prst="rect">
            <a:avLst/>
          </a:prstGeom>
          <a:noFill/>
        </p:spPr>
        <p:txBody>
          <a:bodyPr wrap="square">
            <a:spAutoFit/>
          </a:bodyPr>
          <a:lstStyle/>
          <a:p>
            <a:pPr algn="ctr">
              <a:lnSpc>
                <a:spcPct val="150000"/>
              </a:lnSpc>
            </a:pPr>
            <a:r>
              <a:rPr lang="en-AU" sz="4400" b="1"/>
              <a:t>Partition</a:t>
            </a:r>
            <a:r>
              <a:rPr lang="en-AU" sz="4400"/>
              <a:t> 254 307 in a </a:t>
            </a:r>
            <a:r>
              <a:rPr lang="en-AU" sz="4400" b="1"/>
              <a:t>non-standard form</a:t>
            </a:r>
            <a:r>
              <a:rPr lang="en-AU" sz="4400"/>
              <a:t>.</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 </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3DEE8AC-D01B-0880-29B6-E231B5665E27}"/>
              </a:ext>
            </a:extLst>
          </p:cNvPr>
          <p:cNvSpPr txBox="1"/>
          <p:nvPr/>
        </p:nvSpPr>
        <p:spPr>
          <a:xfrm>
            <a:off x="1733107" y="1386242"/>
            <a:ext cx="9297369" cy="4029501"/>
          </a:xfrm>
          <a:prstGeom prst="rect">
            <a:avLst/>
          </a:prstGeom>
          <a:noFill/>
        </p:spPr>
        <p:txBody>
          <a:bodyPr wrap="square">
            <a:spAutoFit/>
          </a:bodyPr>
          <a:lstStyle/>
          <a:p>
            <a:pPr algn="ctr">
              <a:lnSpc>
                <a:spcPct val="150000"/>
              </a:lnSpc>
            </a:pPr>
            <a:r>
              <a:rPr lang="en-AU" sz="4400"/>
              <a:t>A pencil is </a:t>
            </a:r>
            <a:r>
              <a:rPr lang="en-AU" sz="4400" b="1"/>
              <a:t>11 and a half </a:t>
            </a:r>
            <a:r>
              <a:rPr lang="en-AU" sz="4400"/>
              <a:t>centimetres long.</a:t>
            </a:r>
            <a:r>
              <a:rPr lang="en-AU" sz="4400" b="1"/>
              <a:t> </a:t>
            </a:r>
            <a:br>
              <a:rPr lang="en-AU" sz="4400"/>
            </a:br>
            <a:r>
              <a:rPr lang="en-AU" sz="4400"/>
              <a:t>Record the </a:t>
            </a:r>
            <a:r>
              <a:rPr lang="en-AU" sz="4400" b="1"/>
              <a:t>length</a:t>
            </a:r>
            <a:r>
              <a:rPr lang="en-AU" sz="4400"/>
              <a:t> of the pencil using </a:t>
            </a:r>
            <a:r>
              <a:rPr lang="en-AU" sz="4400" b="1"/>
              <a:t>millimetres (mm).</a:t>
            </a:r>
            <a:endParaRPr lang="en-AU" sz="4400"/>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ordering numbers</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Freeform 2" descr="Yellow sticky note with the number 64 758">
            <a:extLst>
              <a:ext uri="{FF2B5EF4-FFF2-40B4-BE49-F238E27FC236}">
                <a16:creationId xmlns:a16="http://schemas.microsoft.com/office/drawing/2014/main" id="{3CB84F92-328B-1CFB-C22F-031A5B79ABE2}"/>
              </a:ext>
            </a:extLst>
          </p:cNvPr>
          <p:cNvSpPr/>
          <p:nvPr/>
        </p:nvSpPr>
        <p:spPr>
          <a:xfrm>
            <a:off x="702485" y="2470232"/>
            <a:ext cx="2358990" cy="2588818"/>
          </a:xfrm>
          <a:custGeom>
            <a:avLst/>
            <a:gdLst/>
            <a:ahLst/>
            <a:cxnLst/>
            <a:rect l="l" t="t" r="r" b="b"/>
            <a:pathLst>
              <a:path w="2074565" h="2079764">
                <a:moveTo>
                  <a:pt x="0" y="0"/>
                </a:moveTo>
                <a:lnTo>
                  <a:pt x="2074565" y="0"/>
                </a:lnTo>
                <a:lnTo>
                  <a:pt x="2074565" y="2079765"/>
                </a:lnTo>
                <a:lnTo>
                  <a:pt x="0" y="2079765"/>
                </a:lnTo>
                <a:lnTo>
                  <a:pt x="0" y="0"/>
                </a:lnTo>
                <a:close/>
              </a:path>
            </a:pathLst>
          </a:custGeom>
          <a:blipFill>
            <a:blip r:embed="rId4"/>
            <a:stretch>
              <a:fillRect/>
            </a:stretch>
          </a:blipFill>
        </p:spPr>
        <p:txBody>
          <a:bodyPr/>
          <a:lstStyle/>
          <a:p>
            <a:endParaRPr lang="en-AU" sz="2800">
              <a:latin typeface="Arial" panose="020B0604020202020204" pitchFamily="34" charset="0"/>
              <a:cs typeface="Arial" panose="020B0604020202020204" pitchFamily="34" charset="0"/>
            </a:endParaRPr>
          </a:p>
        </p:txBody>
      </p:sp>
      <p:sp>
        <p:nvSpPr>
          <p:cNvPr id="9" name="TextBox 6">
            <a:extLst>
              <a:ext uri="{FF2B5EF4-FFF2-40B4-BE49-F238E27FC236}">
                <a16:creationId xmlns:a16="http://schemas.microsoft.com/office/drawing/2014/main" id="{25FD4603-472C-8342-5FAC-D97332902329}"/>
              </a:ext>
            </a:extLst>
          </p:cNvPr>
          <p:cNvSpPr txBox="1"/>
          <p:nvPr/>
        </p:nvSpPr>
        <p:spPr>
          <a:xfrm>
            <a:off x="833985" y="3265056"/>
            <a:ext cx="2099215" cy="792076"/>
          </a:xfrm>
          <a:prstGeom prst="rect">
            <a:avLst/>
          </a:prstGeom>
        </p:spPr>
        <p:txBody>
          <a:bodyPr wrap="square" lIns="0" tIns="0" rIns="0" bIns="0" rtlCol="0" anchor="t">
            <a:spAutoFit/>
          </a:bodyPr>
          <a:lstStyle/>
          <a:p>
            <a:pPr algn="ctr">
              <a:lnSpc>
                <a:spcPts val="6907"/>
              </a:lnSpc>
              <a:spcBef>
                <a:spcPct val="0"/>
              </a:spcBef>
            </a:pPr>
            <a:r>
              <a:rPr lang="en-US" sz="4000">
                <a:solidFill>
                  <a:srgbClr val="000000"/>
                </a:solidFill>
                <a:latin typeface="Arial" panose="020B0604020202020204" pitchFamily="34" charset="0"/>
                <a:ea typeface="Dekko"/>
                <a:cs typeface="Arial" panose="020B0604020202020204" pitchFamily="34" charset="0"/>
                <a:sym typeface="Dekko"/>
              </a:rPr>
              <a:t>64 758 </a:t>
            </a:r>
          </a:p>
        </p:txBody>
      </p:sp>
      <p:sp>
        <p:nvSpPr>
          <p:cNvPr id="5" name="Freeform 3" descr="Yellow sticky note with the number 75 124">
            <a:extLst>
              <a:ext uri="{FF2B5EF4-FFF2-40B4-BE49-F238E27FC236}">
                <a16:creationId xmlns:a16="http://schemas.microsoft.com/office/drawing/2014/main" id="{732A9684-F8E1-358A-951E-836D86763241}"/>
              </a:ext>
            </a:extLst>
          </p:cNvPr>
          <p:cNvSpPr/>
          <p:nvPr/>
        </p:nvSpPr>
        <p:spPr>
          <a:xfrm>
            <a:off x="3497439" y="2470232"/>
            <a:ext cx="2344316" cy="2572713"/>
          </a:xfrm>
          <a:custGeom>
            <a:avLst/>
            <a:gdLst/>
            <a:ahLst/>
            <a:cxnLst/>
            <a:rect l="l" t="t" r="r" b="b"/>
            <a:pathLst>
              <a:path w="2061659" h="2066826">
                <a:moveTo>
                  <a:pt x="0" y="0"/>
                </a:moveTo>
                <a:lnTo>
                  <a:pt x="2061660" y="0"/>
                </a:lnTo>
                <a:lnTo>
                  <a:pt x="2061660" y="2066826"/>
                </a:lnTo>
                <a:lnTo>
                  <a:pt x="0" y="2066826"/>
                </a:lnTo>
                <a:lnTo>
                  <a:pt x="0" y="0"/>
                </a:lnTo>
                <a:close/>
              </a:path>
            </a:pathLst>
          </a:custGeom>
          <a:blipFill>
            <a:blip r:embed="rId4"/>
            <a:stretch>
              <a:fillRect/>
            </a:stretch>
          </a:blipFill>
        </p:spPr>
        <p:txBody>
          <a:bodyPr/>
          <a:lstStyle/>
          <a:p>
            <a:endParaRPr lang="en-AU" sz="2800">
              <a:latin typeface="Arial" panose="020B0604020202020204" pitchFamily="34" charset="0"/>
              <a:cs typeface="Arial" panose="020B0604020202020204" pitchFamily="34" charset="0"/>
            </a:endParaRPr>
          </a:p>
        </p:txBody>
      </p:sp>
      <p:sp>
        <p:nvSpPr>
          <p:cNvPr id="10" name="TextBox 7">
            <a:extLst>
              <a:ext uri="{FF2B5EF4-FFF2-40B4-BE49-F238E27FC236}">
                <a16:creationId xmlns:a16="http://schemas.microsoft.com/office/drawing/2014/main" id="{4A4052CB-F9D1-93CF-4EA1-B6376A46CC3F}"/>
              </a:ext>
            </a:extLst>
          </p:cNvPr>
          <p:cNvSpPr txBox="1"/>
          <p:nvPr/>
        </p:nvSpPr>
        <p:spPr>
          <a:xfrm>
            <a:off x="3719030" y="3265056"/>
            <a:ext cx="1901134" cy="780406"/>
          </a:xfrm>
          <a:prstGeom prst="rect">
            <a:avLst/>
          </a:prstGeom>
        </p:spPr>
        <p:txBody>
          <a:bodyPr wrap="square" lIns="0" tIns="0" rIns="0" bIns="0" rtlCol="0" anchor="t">
            <a:spAutoFit/>
          </a:bodyPr>
          <a:lstStyle/>
          <a:p>
            <a:pPr algn="ctr">
              <a:lnSpc>
                <a:spcPts val="6907"/>
              </a:lnSpc>
              <a:spcBef>
                <a:spcPct val="0"/>
              </a:spcBef>
            </a:pPr>
            <a:r>
              <a:rPr lang="en-US" sz="4000">
                <a:solidFill>
                  <a:srgbClr val="000000"/>
                </a:solidFill>
                <a:latin typeface="Arial" panose="020B0604020202020204" pitchFamily="34" charset="0"/>
                <a:ea typeface="Dekko"/>
                <a:cs typeface="Arial" panose="020B0604020202020204" pitchFamily="34" charset="0"/>
                <a:sym typeface="Dekko"/>
              </a:rPr>
              <a:t>75 124 </a:t>
            </a:r>
          </a:p>
        </p:txBody>
      </p:sp>
      <p:sp>
        <p:nvSpPr>
          <p:cNvPr id="7" name="Freeform 4" descr="Yellow sticky note with the number 70 192">
            <a:extLst>
              <a:ext uri="{FF2B5EF4-FFF2-40B4-BE49-F238E27FC236}">
                <a16:creationId xmlns:a16="http://schemas.microsoft.com/office/drawing/2014/main" id="{A16D277F-E7F9-2AE1-6949-AFB1424A43A5}"/>
              </a:ext>
            </a:extLst>
          </p:cNvPr>
          <p:cNvSpPr/>
          <p:nvPr/>
        </p:nvSpPr>
        <p:spPr>
          <a:xfrm>
            <a:off x="6387333" y="2470232"/>
            <a:ext cx="2344315" cy="2572713"/>
          </a:xfrm>
          <a:custGeom>
            <a:avLst/>
            <a:gdLst/>
            <a:ahLst/>
            <a:cxnLst/>
            <a:rect l="l" t="t" r="r" b="b"/>
            <a:pathLst>
              <a:path w="2061659" h="2066826">
                <a:moveTo>
                  <a:pt x="0" y="0"/>
                </a:moveTo>
                <a:lnTo>
                  <a:pt x="2061659" y="0"/>
                </a:lnTo>
                <a:lnTo>
                  <a:pt x="2061659" y="2066826"/>
                </a:lnTo>
                <a:lnTo>
                  <a:pt x="0" y="2066826"/>
                </a:lnTo>
                <a:lnTo>
                  <a:pt x="0" y="0"/>
                </a:lnTo>
                <a:close/>
              </a:path>
            </a:pathLst>
          </a:custGeom>
          <a:blipFill>
            <a:blip r:embed="rId4"/>
            <a:stretch>
              <a:fillRect/>
            </a:stretch>
          </a:blipFill>
        </p:spPr>
        <p:txBody>
          <a:bodyPr/>
          <a:lstStyle/>
          <a:p>
            <a:endParaRPr lang="en-AU" sz="2800">
              <a:latin typeface="Arial" panose="020B0604020202020204" pitchFamily="34" charset="0"/>
              <a:cs typeface="Arial" panose="020B0604020202020204" pitchFamily="34" charset="0"/>
            </a:endParaRPr>
          </a:p>
        </p:txBody>
      </p:sp>
      <p:sp>
        <p:nvSpPr>
          <p:cNvPr id="11" name="TextBox 8">
            <a:extLst>
              <a:ext uri="{FF2B5EF4-FFF2-40B4-BE49-F238E27FC236}">
                <a16:creationId xmlns:a16="http://schemas.microsoft.com/office/drawing/2014/main" id="{1AB28BF3-2DDA-CEA0-73E2-178FC08BF60F}"/>
              </a:ext>
            </a:extLst>
          </p:cNvPr>
          <p:cNvSpPr txBox="1"/>
          <p:nvPr/>
        </p:nvSpPr>
        <p:spPr>
          <a:xfrm>
            <a:off x="6572397" y="3217751"/>
            <a:ext cx="2006581" cy="780406"/>
          </a:xfrm>
          <a:prstGeom prst="rect">
            <a:avLst/>
          </a:prstGeom>
        </p:spPr>
        <p:txBody>
          <a:bodyPr wrap="square" lIns="0" tIns="0" rIns="0" bIns="0" rtlCol="0" anchor="t">
            <a:spAutoFit/>
          </a:bodyPr>
          <a:lstStyle/>
          <a:p>
            <a:pPr algn="ctr">
              <a:lnSpc>
                <a:spcPts val="6907"/>
              </a:lnSpc>
              <a:spcBef>
                <a:spcPct val="0"/>
              </a:spcBef>
            </a:pPr>
            <a:r>
              <a:rPr lang="en-US" sz="4000">
                <a:solidFill>
                  <a:srgbClr val="000000"/>
                </a:solidFill>
                <a:latin typeface="Arial" panose="020B0604020202020204" pitchFamily="34" charset="0"/>
                <a:ea typeface="Dekko"/>
                <a:cs typeface="Arial" panose="020B0604020202020204" pitchFamily="34" charset="0"/>
                <a:sym typeface="Dekko"/>
              </a:rPr>
              <a:t>70 192 </a:t>
            </a:r>
          </a:p>
        </p:txBody>
      </p:sp>
      <p:sp>
        <p:nvSpPr>
          <p:cNvPr id="8" name="Freeform 5" descr="Yellow sticky note with the number 99 413">
            <a:extLst>
              <a:ext uri="{FF2B5EF4-FFF2-40B4-BE49-F238E27FC236}">
                <a16:creationId xmlns:a16="http://schemas.microsoft.com/office/drawing/2014/main" id="{19B48347-06F7-8539-9503-EBAD2D3381F6}"/>
              </a:ext>
            </a:extLst>
          </p:cNvPr>
          <p:cNvSpPr/>
          <p:nvPr/>
        </p:nvSpPr>
        <p:spPr>
          <a:xfrm>
            <a:off x="9122687" y="2470232"/>
            <a:ext cx="2344316" cy="2572713"/>
          </a:xfrm>
          <a:custGeom>
            <a:avLst/>
            <a:gdLst/>
            <a:ahLst/>
            <a:cxnLst/>
            <a:rect l="l" t="t" r="r" b="b"/>
            <a:pathLst>
              <a:path w="2061659" h="2066826">
                <a:moveTo>
                  <a:pt x="0" y="0"/>
                </a:moveTo>
                <a:lnTo>
                  <a:pt x="2061659" y="0"/>
                </a:lnTo>
                <a:lnTo>
                  <a:pt x="2061659" y="2066826"/>
                </a:lnTo>
                <a:lnTo>
                  <a:pt x="0" y="2066826"/>
                </a:lnTo>
                <a:lnTo>
                  <a:pt x="0" y="0"/>
                </a:lnTo>
                <a:close/>
              </a:path>
            </a:pathLst>
          </a:custGeom>
          <a:blipFill>
            <a:blip r:embed="rId4"/>
            <a:stretch>
              <a:fillRect/>
            </a:stretch>
          </a:blipFill>
        </p:spPr>
        <p:txBody>
          <a:bodyPr/>
          <a:lstStyle/>
          <a:p>
            <a:endParaRPr lang="en-AU" sz="2800">
              <a:latin typeface="Arial" panose="020B0604020202020204" pitchFamily="34" charset="0"/>
              <a:cs typeface="Arial" panose="020B0604020202020204" pitchFamily="34" charset="0"/>
            </a:endParaRPr>
          </a:p>
        </p:txBody>
      </p:sp>
      <p:sp>
        <p:nvSpPr>
          <p:cNvPr id="12" name="TextBox 9">
            <a:extLst>
              <a:ext uri="{FF2B5EF4-FFF2-40B4-BE49-F238E27FC236}">
                <a16:creationId xmlns:a16="http://schemas.microsoft.com/office/drawing/2014/main" id="{94F9BD63-9C44-AEAD-1EE1-5DAE24954F06}"/>
              </a:ext>
            </a:extLst>
          </p:cNvPr>
          <p:cNvSpPr txBox="1"/>
          <p:nvPr/>
        </p:nvSpPr>
        <p:spPr>
          <a:xfrm>
            <a:off x="9421087" y="3265056"/>
            <a:ext cx="1966671" cy="780406"/>
          </a:xfrm>
          <a:prstGeom prst="rect">
            <a:avLst/>
          </a:prstGeom>
        </p:spPr>
        <p:txBody>
          <a:bodyPr wrap="square" lIns="0" tIns="0" rIns="0" bIns="0" rtlCol="0" anchor="t">
            <a:spAutoFit/>
          </a:bodyPr>
          <a:lstStyle/>
          <a:p>
            <a:pPr algn="ctr">
              <a:lnSpc>
                <a:spcPts val="6907"/>
              </a:lnSpc>
              <a:spcBef>
                <a:spcPct val="0"/>
              </a:spcBef>
            </a:pPr>
            <a:r>
              <a:rPr lang="en-US" sz="4000">
                <a:solidFill>
                  <a:srgbClr val="000000"/>
                </a:solidFill>
                <a:latin typeface="Arial" panose="020B0604020202020204" pitchFamily="34" charset="0"/>
                <a:ea typeface="Dekko"/>
                <a:cs typeface="Arial" panose="020B0604020202020204" pitchFamily="34" charset="0"/>
                <a:sym typeface="Dekko"/>
              </a:rPr>
              <a:t>99 413 </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222298"/>
            <a:ext cx="11243037" cy="2216400"/>
          </a:xfrm>
        </p:spPr>
        <p:txBody>
          <a:bodyPr/>
          <a:lstStyle/>
          <a:p>
            <a:pPr algn="ctr"/>
            <a:r>
              <a:rPr lang="en-AU" sz="4400"/>
              <a:t>The number </a:t>
            </a:r>
            <a:r>
              <a:rPr lang="en-AU" sz="4400" b="1"/>
              <a:t>46 827</a:t>
            </a:r>
            <a:r>
              <a:rPr lang="en-AU" sz="4400"/>
              <a:t> rounded to the nearest thousand is </a:t>
            </a:r>
            <a:r>
              <a:rPr lang="en-AU" sz="4400" b="1"/>
              <a:t>47 000.</a:t>
            </a:r>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4088623294"/>
              </p:ext>
            </p:extLst>
          </p:nvPr>
        </p:nvGraphicFramePr>
        <p:xfrm>
          <a:off x="2362594" y="407032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96F2E42-D3F7-5F55-080D-73D969013719}"/>
              </a:ext>
            </a:extLst>
          </p:cNvPr>
          <p:cNvSpPr txBox="1"/>
          <p:nvPr/>
        </p:nvSpPr>
        <p:spPr>
          <a:xfrm>
            <a:off x="422835" y="1090749"/>
            <a:ext cx="11346330" cy="5045164"/>
          </a:xfrm>
          <a:prstGeom prst="rect">
            <a:avLst/>
          </a:prstGeom>
          <a:noFill/>
        </p:spPr>
        <p:txBody>
          <a:bodyPr wrap="square">
            <a:spAutoFit/>
          </a:bodyPr>
          <a:lstStyle/>
          <a:p>
            <a:pPr algn="ctr">
              <a:lnSpc>
                <a:spcPct val="150000"/>
              </a:lnSpc>
            </a:pPr>
            <a:r>
              <a:rPr lang="en-AU" sz="4400"/>
              <a:t>865 472 can be partitioned in multiple ways.</a:t>
            </a:r>
            <a:br>
              <a:rPr lang="en-AU" sz="4400"/>
            </a:br>
            <a:r>
              <a:rPr lang="en-AU" sz="4400"/>
              <a:t>Record how to </a:t>
            </a:r>
            <a:r>
              <a:rPr lang="en-AU" sz="4400" b="1"/>
              <a:t>partition</a:t>
            </a:r>
            <a:r>
              <a:rPr lang="en-AU" sz="4400"/>
              <a:t> in </a:t>
            </a:r>
            <a:r>
              <a:rPr lang="en-AU" sz="4400" b="1"/>
              <a:t>standard form</a:t>
            </a:r>
            <a:r>
              <a:rPr lang="en-AU" sz="4400"/>
              <a:t> and </a:t>
            </a:r>
            <a:r>
              <a:rPr lang="en-AU" sz="4400" b="1"/>
              <a:t>non-standard form</a:t>
            </a:r>
            <a:r>
              <a:rPr lang="en-AU" sz="4400"/>
              <a:t>.</a:t>
            </a:r>
            <a:br>
              <a:rPr lang="en-AU" sz="4400"/>
            </a:br>
            <a:r>
              <a:rPr lang="en-AU" sz="4400"/>
              <a:t>Explain why both partitions represent the same number.</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D77F335-4BE4-0315-2BF9-C6FFBFB11DB2}"/>
              </a:ext>
            </a:extLst>
          </p:cNvPr>
          <p:cNvSpPr txBox="1"/>
          <p:nvPr/>
        </p:nvSpPr>
        <p:spPr>
          <a:xfrm>
            <a:off x="858644" y="1617496"/>
            <a:ext cx="10474712" cy="4029501"/>
          </a:xfrm>
          <a:prstGeom prst="rect">
            <a:avLst/>
          </a:prstGeom>
          <a:noFill/>
        </p:spPr>
        <p:txBody>
          <a:bodyPr wrap="square">
            <a:spAutoFit/>
          </a:bodyPr>
          <a:lstStyle/>
          <a:p>
            <a:pPr algn="ctr">
              <a:lnSpc>
                <a:spcPct val="150000"/>
              </a:lnSpc>
              <a:buNone/>
            </a:pPr>
            <a:r>
              <a:rPr lang="en-AU" sz="4400"/>
              <a:t>Write the following number in </a:t>
            </a:r>
            <a:r>
              <a:rPr lang="en-AU" sz="4400" b="1"/>
              <a:t>digits</a:t>
            </a:r>
            <a:r>
              <a:rPr lang="en-AU" sz="4400"/>
              <a:t>:</a:t>
            </a:r>
          </a:p>
          <a:p>
            <a:pPr algn="ctr">
              <a:lnSpc>
                <a:spcPct val="150000"/>
              </a:lnSpc>
              <a:buNone/>
            </a:pPr>
            <a:endParaRPr lang="en-AU" sz="4400"/>
          </a:p>
          <a:p>
            <a:pPr algn="ctr">
              <a:lnSpc>
                <a:spcPct val="150000"/>
              </a:lnSpc>
              <a:buNone/>
            </a:pPr>
            <a:r>
              <a:rPr lang="en-AU" sz="4400"/>
              <a:t>Six million, two hundred and eight thousand, four hundred and fifteen.</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CA22329-D948-4043-B57D-6F9F1E50D779}"/>
              </a:ext>
            </a:extLst>
          </p:cNvPr>
          <p:cNvSpPr txBox="1"/>
          <p:nvPr/>
        </p:nvSpPr>
        <p:spPr>
          <a:xfrm>
            <a:off x="1397620" y="1184223"/>
            <a:ext cx="9396760" cy="4029501"/>
          </a:xfrm>
          <a:prstGeom prst="rect">
            <a:avLst/>
          </a:prstGeom>
          <a:noFill/>
        </p:spPr>
        <p:txBody>
          <a:bodyPr wrap="square">
            <a:spAutoFit/>
          </a:bodyPr>
          <a:lstStyle/>
          <a:p>
            <a:pPr algn="ctr">
              <a:lnSpc>
                <a:spcPct val="150000"/>
              </a:lnSpc>
            </a:pPr>
            <a:r>
              <a:rPr lang="en-AU" sz="4400" b="1"/>
              <a:t>Partition</a:t>
            </a:r>
            <a:r>
              <a:rPr lang="en-AU" sz="4400"/>
              <a:t> 731 408 using</a:t>
            </a:r>
            <a:r>
              <a:rPr lang="en-AU" sz="4400" b="1"/>
              <a:t> non-standard </a:t>
            </a:r>
            <a:r>
              <a:rPr lang="en-AU" sz="4400"/>
              <a:t>form. </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 </a:t>
            </a:r>
            <a:endParaRPr lang="en-AU" sz="2800"/>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9EB75-BBB0-2E05-EDAB-FD2A3537BFE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49435C0-E72D-31A9-47A8-4F01B2FBB5E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4597AA47-44AA-1B9B-A085-0D99E570840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46E0E2F-797A-7FC3-7E81-34849206504A}"/>
              </a:ext>
            </a:extLst>
          </p:cNvPr>
          <p:cNvSpPr txBox="1"/>
          <p:nvPr/>
        </p:nvSpPr>
        <p:spPr>
          <a:xfrm>
            <a:off x="912366" y="1184223"/>
            <a:ext cx="10367268" cy="1998176"/>
          </a:xfrm>
          <a:prstGeom prst="rect">
            <a:avLst/>
          </a:prstGeom>
          <a:noFill/>
        </p:spPr>
        <p:txBody>
          <a:bodyPr wrap="square">
            <a:spAutoFit/>
          </a:bodyPr>
          <a:lstStyle/>
          <a:p>
            <a:pPr>
              <a:lnSpc>
                <a:spcPct val="150000"/>
              </a:lnSpc>
            </a:pPr>
            <a:r>
              <a:rPr lang="en-AU" sz="4400"/>
              <a:t>Describe this acute angle </a:t>
            </a:r>
            <a:r>
              <a:rPr lang="en-AU" sz="4400" b="1"/>
              <a:t>compared</a:t>
            </a:r>
            <a:r>
              <a:rPr lang="en-AU" sz="4400"/>
              <a:t> to a </a:t>
            </a:r>
            <a:r>
              <a:rPr lang="en-AU" sz="4400" b="1"/>
              <a:t>quarter turn</a:t>
            </a:r>
            <a:r>
              <a:rPr lang="en-AU" sz="4400"/>
              <a:t>. </a:t>
            </a:r>
          </a:p>
        </p:txBody>
      </p:sp>
      <p:sp>
        <p:nvSpPr>
          <p:cNvPr id="2" name="Slide Number Placeholder 1">
            <a:extLst>
              <a:ext uri="{FF2B5EF4-FFF2-40B4-BE49-F238E27FC236}">
                <a16:creationId xmlns:a16="http://schemas.microsoft.com/office/drawing/2014/main" id="{B8F51D43-3021-CA3D-AFA8-B4A0D8266799}"/>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7" name="Picture 6">
            <a:extLst>
              <a:ext uri="{FF2B5EF4-FFF2-40B4-BE49-F238E27FC236}">
                <a16:creationId xmlns:a16="http://schemas.microsoft.com/office/drawing/2014/main" id="{220E4965-3B81-5D58-6B68-3642CE0B7BB2}"/>
              </a:ext>
            </a:extLst>
          </p:cNvPr>
          <p:cNvPicPr>
            <a:picLocks noChangeAspect="1"/>
          </p:cNvPicPr>
          <p:nvPr/>
        </p:nvPicPr>
        <p:blipFill>
          <a:blip r:embed="rId4"/>
          <a:stretch>
            <a:fillRect/>
          </a:stretch>
        </p:blipFill>
        <p:spPr>
          <a:xfrm>
            <a:off x="3863558" y="3334530"/>
            <a:ext cx="4897671" cy="2995809"/>
          </a:xfrm>
          <a:prstGeom prst="rect">
            <a:avLst/>
          </a:prstGeom>
        </p:spPr>
      </p:pic>
    </p:spTree>
    <p:extLst>
      <p:ext uri="{BB962C8B-B14F-4D97-AF65-F5344CB8AC3E}">
        <p14:creationId xmlns:p14="http://schemas.microsoft.com/office/powerpoint/2010/main" val="195944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rounding numbers</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table titled Rounding with four rows of numbers and columns for Number, Nearest 10, Nearest 100, and Nearest 1000.&#10;&#10;Row 1: Number 44 928, Nearest 1000 = 45 000, other cells blank.&#10;&#10;Row 2: Number 57 361, Nearest 100 = 57 400, other cells blank.&#10;&#10;Row 3: Number 68 450, Nearest 1000 = 69 000, other cells blank.&#10;&#10;Row 4: Number 87 821, Nearest 10 = 87 820, other cells blank.">
            <a:extLst>
              <a:ext uri="{FF2B5EF4-FFF2-40B4-BE49-F238E27FC236}">
                <a16:creationId xmlns:a16="http://schemas.microsoft.com/office/drawing/2014/main" id="{DA9334E9-8C1A-2179-1EBC-029F2B85D647}"/>
              </a:ext>
            </a:extLst>
          </p:cNvPr>
          <p:cNvPicPr>
            <a:picLocks noChangeAspect="1"/>
          </p:cNvPicPr>
          <p:nvPr/>
        </p:nvPicPr>
        <p:blipFill>
          <a:blip r:embed="rId4"/>
          <a:stretch>
            <a:fillRect/>
          </a:stretch>
        </p:blipFill>
        <p:spPr>
          <a:xfrm>
            <a:off x="828359" y="1097258"/>
            <a:ext cx="10535282" cy="4984205"/>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123441"/>
            <a:ext cx="11243037" cy="893226"/>
          </a:xfrm>
        </p:spPr>
        <p:txBody>
          <a:bodyPr/>
          <a:lstStyle/>
          <a:p>
            <a:pPr algn="ctr"/>
            <a:r>
              <a:rPr lang="en-AU" sz="4000" b="1"/>
              <a:t>Round</a:t>
            </a:r>
            <a:r>
              <a:rPr lang="en-AU" sz="4000"/>
              <a:t> 48 726 to the nearest </a:t>
            </a:r>
            <a:r>
              <a:rPr lang="en-AU" sz="4000" b="1"/>
              <a:t>ten thousand</a:t>
            </a:r>
            <a:r>
              <a:rPr lang="en-AU" sz="4000"/>
              <a:t>.</a:t>
            </a:r>
            <a:endParaRPr lang="en-US" sz="4000"/>
          </a:p>
        </p:txBody>
      </p:sp>
      <p:sp>
        <p:nvSpPr>
          <p:cNvPr id="13" name="TextBox 12">
            <a:extLst>
              <a:ext uri="{FF2B5EF4-FFF2-40B4-BE49-F238E27FC236}">
                <a16:creationId xmlns:a16="http://schemas.microsoft.com/office/drawing/2014/main" id="{47044652-AC3F-8675-2A1E-300AAEC11D92}"/>
              </a:ext>
            </a:extLst>
          </p:cNvPr>
          <p:cNvSpPr txBox="1"/>
          <p:nvPr/>
        </p:nvSpPr>
        <p:spPr>
          <a:xfrm>
            <a:off x="914728" y="266640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 Placeholder 17">
            <a:extLst>
              <a:ext uri="{FF2B5EF4-FFF2-40B4-BE49-F238E27FC236}">
                <a16:creationId xmlns:a16="http://schemas.microsoft.com/office/drawing/2014/main" id="{718D4175-FB5D-45EE-5031-FD91FDA1E002}"/>
              </a:ext>
            </a:extLst>
          </p:cNvPr>
          <p:cNvSpPr txBox="1">
            <a:spLocks/>
          </p:cNvSpPr>
          <p:nvPr/>
        </p:nvSpPr>
        <p:spPr>
          <a:xfrm>
            <a:off x="1902919" y="2610988"/>
            <a:ext cx="459193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40 000</a:t>
            </a:r>
            <a:endParaRPr lang="en-US" sz="4000">
              <a:cs typeface="Arial"/>
            </a:endParaRPr>
          </a:p>
        </p:txBody>
      </p:sp>
      <p:sp>
        <p:nvSpPr>
          <p:cNvPr id="14" name="TextBox 13">
            <a:extLst>
              <a:ext uri="{FF2B5EF4-FFF2-40B4-BE49-F238E27FC236}">
                <a16:creationId xmlns:a16="http://schemas.microsoft.com/office/drawing/2014/main" id="{EEC8A9B9-B396-996C-118B-A4DE28AB7E32}"/>
              </a:ext>
            </a:extLst>
          </p:cNvPr>
          <p:cNvSpPr txBox="1"/>
          <p:nvPr/>
        </p:nvSpPr>
        <p:spPr>
          <a:xfrm>
            <a:off x="924446" y="37455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 Placeholder 16">
            <a:extLst>
              <a:ext uri="{FF2B5EF4-FFF2-40B4-BE49-F238E27FC236}">
                <a16:creationId xmlns:a16="http://schemas.microsoft.com/office/drawing/2014/main" id="{B409BED6-E60D-4922-B2ED-2752129E6C68}"/>
              </a:ext>
            </a:extLst>
          </p:cNvPr>
          <p:cNvSpPr txBox="1">
            <a:spLocks/>
          </p:cNvSpPr>
          <p:nvPr/>
        </p:nvSpPr>
        <p:spPr>
          <a:xfrm>
            <a:off x="1902919" y="3606300"/>
            <a:ext cx="4505666"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48 000</a:t>
            </a:r>
            <a:endParaRPr lang="en-US" sz="4000">
              <a:cs typeface="Arial"/>
            </a:endParaRPr>
          </a:p>
        </p:txBody>
      </p:sp>
      <p:sp>
        <p:nvSpPr>
          <p:cNvPr id="16" name="TextBox 15">
            <a:extLst>
              <a:ext uri="{FF2B5EF4-FFF2-40B4-BE49-F238E27FC236}">
                <a16:creationId xmlns:a16="http://schemas.microsoft.com/office/drawing/2014/main" id="{8F0F968C-656A-982A-9F80-3FDE91C01A7E}"/>
              </a:ext>
            </a:extLst>
          </p:cNvPr>
          <p:cNvSpPr txBox="1"/>
          <p:nvPr/>
        </p:nvSpPr>
        <p:spPr>
          <a:xfrm>
            <a:off x="924448" y="4680150"/>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6" name="Text Placeholder 15">
            <a:extLst>
              <a:ext uri="{FF2B5EF4-FFF2-40B4-BE49-F238E27FC236}">
                <a16:creationId xmlns:a16="http://schemas.microsoft.com/office/drawing/2014/main" id="{DD24E19D-0C65-0DCF-F32E-119799FCF27F}"/>
              </a:ext>
            </a:extLst>
          </p:cNvPr>
          <p:cNvSpPr txBox="1">
            <a:spLocks/>
          </p:cNvSpPr>
          <p:nvPr/>
        </p:nvSpPr>
        <p:spPr>
          <a:xfrm>
            <a:off x="1902919" y="4610877"/>
            <a:ext cx="459193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50 000</a:t>
            </a:r>
            <a:endParaRPr lang="en-US" sz="4000"/>
          </a:p>
        </p:txBody>
      </p:sp>
      <p:sp>
        <p:nvSpPr>
          <p:cNvPr id="15" name="TextBox 14">
            <a:extLst>
              <a:ext uri="{FF2B5EF4-FFF2-40B4-BE49-F238E27FC236}">
                <a16:creationId xmlns:a16="http://schemas.microsoft.com/office/drawing/2014/main" id="{8E83C164-E407-2B00-E433-C62098DAA142}"/>
              </a:ext>
            </a:extLst>
          </p:cNvPr>
          <p:cNvSpPr txBox="1"/>
          <p:nvPr/>
        </p:nvSpPr>
        <p:spPr>
          <a:xfrm>
            <a:off x="933971"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5" name="Text Placeholder 13">
            <a:extLst>
              <a:ext uri="{FF2B5EF4-FFF2-40B4-BE49-F238E27FC236}">
                <a16:creationId xmlns:a16="http://schemas.microsoft.com/office/drawing/2014/main" id="{C2052835-4E0D-684E-096E-4360C52C8B2F}"/>
              </a:ext>
            </a:extLst>
          </p:cNvPr>
          <p:cNvSpPr txBox="1">
            <a:spLocks/>
          </p:cNvSpPr>
          <p:nvPr/>
        </p:nvSpPr>
        <p:spPr>
          <a:xfrm>
            <a:off x="1908778" y="5631274"/>
            <a:ext cx="4586071"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a:t>48 700</a:t>
            </a:r>
            <a:endParaRPr lang="en-US" sz="4000" i="1"/>
          </a:p>
        </p:txBody>
      </p:sp>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a:xfrm>
            <a:off x="11030801" y="6272670"/>
            <a:ext cx="720000" cy="180000"/>
          </a:xfrm>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5FFCE15-8929-2B07-C86E-465EB226F4FB}"/>
              </a:ext>
            </a:extLst>
          </p:cNvPr>
          <p:cNvSpPr txBox="1"/>
          <p:nvPr/>
        </p:nvSpPr>
        <p:spPr>
          <a:xfrm>
            <a:off x="954260" y="1539897"/>
            <a:ext cx="10529740" cy="4398833"/>
          </a:xfrm>
          <a:prstGeom prst="rect">
            <a:avLst/>
          </a:prstGeom>
          <a:noFill/>
        </p:spPr>
        <p:txBody>
          <a:bodyPr wrap="square">
            <a:spAutoFit/>
          </a:bodyPr>
          <a:lstStyle/>
          <a:p>
            <a:pPr algn="ctr">
              <a:lnSpc>
                <a:spcPct val="150000"/>
              </a:lnSpc>
              <a:buNone/>
            </a:pPr>
            <a:r>
              <a:rPr lang="en-AU" sz="4400"/>
              <a:t>Find the total of </a:t>
            </a:r>
          </a:p>
          <a:p>
            <a:pPr algn="ctr">
              <a:lnSpc>
                <a:spcPct val="150000"/>
              </a:lnSpc>
              <a:buNone/>
            </a:pPr>
            <a:r>
              <a:rPr lang="en-AU" sz="6000"/>
              <a:t>4 326 + 258</a:t>
            </a:r>
          </a:p>
          <a:p>
            <a:pPr algn="ctr">
              <a:lnSpc>
                <a:spcPct val="150000"/>
              </a:lnSpc>
              <a:buNone/>
            </a:pPr>
            <a:endParaRPr lang="en-AU" sz="4400"/>
          </a:p>
          <a:p>
            <a:pPr algn="ctr">
              <a:lnSpc>
                <a:spcPct val="150000"/>
              </a:lnSpc>
              <a:buNone/>
            </a:pP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F5CDA63-0032-557D-EF79-CA6888234D21}"/>
              </a:ext>
            </a:extLst>
          </p:cNvPr>
          <p:cNvSpPr txBox="1"/>
          <p:nvPr/>
        </p:nvSpPr>
        <p:spPr>
          <a:xfrm>
            <a:off x="1125701" y="1748410"/>
            <a:ext cx="10221952" cy="3013838"/>
          </a:xfrm>
          <a:prstGeom prst="rect">
            <a:avLst/>
          </a:prstGeom>
          <a:noFill/>
        </p:spPr>
        <p:txBody>
          <a:bodyPr wrap="square">
            <a:spAutoFit/>
          </a:bodyPr>
          <a:lstStyle/>
          <a:p>
            <a:pPr algn="ctr">
              <a:lnSpc>
                <a:spcPct val="150000"/>
              </a:lnSpc>
            </a:pPr>
            <a:r>
              <a:rPr lang="en-AU" sz="4400"/>
              <a:t>Record different ways to </a:t>
            </a:r>
            <a:r>
              <a:rPr lang="en-AU" sz="4400" b="1"/>
              <a:t>partition</a:t>
            </a:r>
            <a:r>
              <a:rPr lang="en-AU" sz="4400"/>
              <a:t> the number 34 327 416 in </a:t>
            </a:r>
            <a:r>
              <a:rPr lang="en-AU" sz="4400" b="1"/>
              <a:t>non-standard form</a:t>
            </a:r>
            <a:r>
              <a:rPr lang="en-AU" sz="4400"/>
              <a:t>.</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33BE1A1-7E1A-5CCF-FCD7-5C88186E6DE1}"/>
              </a:ext>
            </a:extLst>
          </p:cNvPr>
          <p:cNvSpPr txBox="1"/>
          <p:nvPr/>
        </p:nvSpPr>
        <p:spPr>
          <a:xfrm>
            <a:off x="799171" y="1352531"/>
            <a:ext cx="10593658" cy="4594912"/>
          </a:xfrm>
          <a:prstGeom prst="rect">
            <a:avLst/>
          </a:prstGeom>
          <a:noFill/>
        </p:spPr>
        <p:txBody>
          <a:bodyPr wrap="square">
            <a:spAutoFit/>
          </a:bodyPr>
          <a:lstStyle/>
          <a:p>
            <a:pPr algn="ctr">
              <a:lnSpc>
                <a:spcPct val="150000"/>
              </a:lnSpc>
              <a:buNone/>
            </a:pPr>
            <a:r>
              <a:rPr lang="en-AU" sz="4000"/>
              <a:t>Place the following on a </a:t>
            </a:r>
            <a:r>
              <a:rPr lang="en-AU" sz="4000" b="1"/>
              <a:t>number line</a:t>
            </a:r>
            <a:r>
              <a:rPr lang="en-AU" sz="4000"/>
              <a:t>. </a:t>
            </a:r>
          </a:p>
          <a:p>
            <a:pPr marL="571500" indent="-571500" algn="ctr">
              <a:lnSpc>
                <a:spcPct val="150000"/>
              </a:lnSpc>
              <a:buFont typeface="Arial" panose="020B0604020202020204" pitchFamily="34" charset="0"/>
              <a:buChar char="•"/>
            </a:pPr>
            <a:r>
              <a:rPr lang="en-AU" sz="4000"/>
              <a:t>2.46</a:t>
            </a:r>
          </a:p>
          <a:p>
            <a:pPr marL="571500" indent="-571500" algn="ctr">
              <a:lnSpc>
                <a:spcPct val="150000"/>
              </a:lnSpc>
              <a:buFont typeface="Arial" panose="020B0604020202020204" pitchFamily="34" charset="0"/>
              <a:buChar char="•"/>
            </a:pPr>
            <a:r>
              <a:rPr lang="en-AU" sz="4000"/>
              <a:t>1.32</a:t>
            </a:r>
          </a:p>
          <a:p>
            <a:pPr marL="571500" indent="-571500" algn="ctr">
              <a:lnSpc>
                <a:spcPct val="150000"/>
              </a:lnSpc>
              <a:buFont typeface="Arial" panose="020B0604020202020204" pitchFamily="34" charset="0"/>
              <a:buChar char="•"/>
            </a:pPr>
            <a:r>
              <a:rPr lang="en-AU" sz="4000"/>
              <a:t>2.08</a:t>
            </a:r>
          </a:p>
          <a:p>
            <a:pPr algn="ctr">
              <a:lnSpc>
                <a:spcPct val="150000"/>
              </a:lnSpc>
            </a:pPr>
            <a:r>
              <a:rPr lang="en-AU" sz="4000" b="1"/>
              <a:t>Communicate</a:t>
            </a:r>
            <a:r>
              <a:rPr lang="en-AU" sz="4000"/>
              <a:t> your </a:t>
            </a:r>
            <a:r>
              <a:rPr lang="en-AU" sz="4000" b="1"/>
              <a:t>reasoning</a:t>
            </a:r>
            <a:r>
              <a:rPr lang="en-AU" sz="4000"/>
              <a:t>. </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A82D0E83-FBFC-FCA7-EFEC-DB0B81F40B86}"/>
              </a:ext>
            </a:extLst>
          </p:cNvPr>
          <p:cNvSpPr txBox="1"/>
          <p:nvPr/>
        </p:nvSpPr>
        <p:spPr>
          <a:xfrm>
            <a:off x="862361" y="905601"/>
            <a:ext cx="10467278" cy="5518242"/>
          </a:xfrm>
          <a:prstGeom prst="rect">
            <a:avLst/>
          </a:prstGeom>
          <a:noFill/>
        </p:spPr>
        <p:txBody>
          <a:bodyPr wrap="square">
            <a:spAutoFit/>
          </a:bodyPr>
          <a:lstStyle/>
          <a:p>
            <a:pPr algn="ctr">
              <a:lnSpc>
                <a:spcPct val="150000"/>
              </a:lnSpc>
            </a:pPr>
            <a:r>
              <a:rPr lang="en-AU" sz="4000"/>
              <a:t>A rectangle is drawn onto </a:t>
            </a:r>
            <a:r>
              <a:rPr lang="en-AU" sz="4000" b="1"/>
              <a:t>square-centimetre</a:t>
            </a:r>
            <a:r>
              <a:rPr lang="en-AU" sz="4000"/>
              <a:t> paper. The rectangle covers </a:t>
            </a:r>
            <a:r>
              <a:rPr lang="en-AU" sz="4000" b="1"/>
              <a:t>5 rows</a:t>
            </a:r>
            <a:r>
              <a:rPr lang="en-AU" sz="4000"/>
              <a:t> and </a:t>
            </a:r>
            <a:r>
              <a:rPr lang="en-AU" sz="4000" b="1"/>
              <a:t>7 columns</a:t>
            </a:r>
            <a:r>
              <a:rPr lang="en-AU" sz="4000"/>
              <a:t> of squares.</a:t>
            </a:r>
            <a:br>
              <a:rPr lang="en-AU" sz="4000"/>
            </a:br>
            <a:r>
              <a:rPr lang="en-AU" sz="4000"/>
              <a:t>Calculate the </a:t>
            </a:r>
            <a:r>
              <a:rPr lang="en-AU" sz="4000" b="1"/>
              <a:t>area</a:t>
            </a:r>
            <a:r>
              <a:rPr lang="en-AU" sz="4000"/>
              <a:t> of the rectangle in </a:t>
            </a:r>
            <a:r>
              <a:rPr lang="en-AU" sz="4000" b="1"/>
              <a:t>square centimetres.</a:t>
            </a:r>
            <a:endParaRPr lang="en-AU" sz="4000"/>
          </a:p>
          <a:p>
            <a:pPr algn="ctr">
              <a:lnSpc>
                <a:spcPct val="150000"/>
              </a:lnSpc>
            </a:pPr>
            <a:r>
              <a:rPr lang="en-AU" sz="4000" b="1"/>
              <a:t>Communicate</a:t>
            </a:r>
            <a:r>
              <a:rPr lang="en-AU" sz="4000"/>
              <a:t> your </a:t>
            </a:r>
            <a:r>
              <a:rPr lang="en-AU" sz="4000" b="1"/>
              <a:t>reasoning</a:t>
            </a:r>
            <a:r>
              <a:rPr lang="en-AU" sz="4000"/>
              <a:t>. </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1FEA-4057-5AA3-21E9-2C77A5A0893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B339DEB-5A50-C2D9-ED26-223BCCA14CE3}"/>
              </a:ext>
            </a:extLst>
          </p:cNvPr>
          <p:cNvSpPr>
            <a:spLocks noGrp="1"/>
          </p:cNvSpPr>
          <p:nvPr>
            <p:ph type="title"/>
          </p:nvPr>
        </p:nvSpPr>
        <p:spPr>
          <a:xfrm>
            <a:off x="360000" y="360000"/>
            <a:ext cx="10367268" cy="545601"/>
          </a:xfrm>
        </p:spPr>
        <p:txBody>
          <a:bodyPr/>
          <a:lstStyle/>
          <a:p>
            <a:r>
              <a:rPr lang="en-AU"/>
              <a:t>Activity 3 – rounding numbers game</a:t>
            </a:r>
          </a:p>
        </p:txBody>
      </p:sp>
      <p:sp>
        <p:nvSpPr>
          <p:cNvPr id="2" name="Slide Number Placeholder 1">
            <a:extLst>
              <a:ext uri="{FF2B5EF4-FFF2-40B4-BE49-F238E27FC236}">
                <a16:creationId xmlns:a16="http://schemas.microsoft.com/office/drawing/2014/main" id="{B8E6D198-F468-A9FF-DEC5-C628AFC215C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D5373DF4-AF42-8AD6-0261-9ED7091ED49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8" name="Picture 97">
            <a:extLst>
              <a:ext uri="{FF2B5EF4-FFF2-40B4-BE49-F238E27FC236}">
                <a16:creationId xmlns:a16="http://schemas.microsoft.com/office/drawing/2014/main" id="{3D6898B5-7808-03C2-ED5B-3F5F83ADF9B4}"/>
              </a:ext>
            </a:extLst>
          </p:cNvPr>
          <p:cNvPicPr>
            <a:picLocks noChangeAspect="1"/>
          </p:cNvPicPr>
          <p:nvPr/>
        </p:nvPicPr>
        <p:blipFill>
          <a:blip r:embed="rId4"/>
          <a:stretch>
            <a:fillRect/>
          </a:stretch>
        </p:blipFill>
        <p:spPr>
          <a:xfrm>
            <a:off x="3542697" y="1083167"/>
            <a:ext cx="3930852" cy="55628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9661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p:txBody>
          <a:bodyPr/>
          <a:lstStyle/>
          <a:p>
            <a:pPr algn="ctr"/>
            <a:r>
              <a:rPr lang="en-AU" sz="5400"/>
              <a:t>34 256,  42 183,  50 324,  58 762 </a:t>
            </a:r>
          </a:p>
          <a:p>
            <a:pPr algn="ctr"/>
            <a:r>
              <a:rPr lang="en-AU" sz="4400"/>
              <a:t>are arranged in </a:t>
            </a:r>
            <a:r>
              <a:rPr lang="en-AU" sz="4400" b="1"/>
              <a:t>ascending order</a:t>
            </a:r>
            <a:r>
              <a:rPr lang="en-AU" sz="4400"/>
              <a:t>.</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654968118"/>
              </p:ext>
            </p:extLst>
          </p:nvPr>
        </p:nvGraphicFramePr>
        <p:xfrm>
          <a:off x="2442980" y="433882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3414064-8E20-CF79-F301-59ADC5DCFD34}"/>
              </a:ext>
            </a:extLst>
          </p:cNvPr>
          <p:cNvSpPr txBox="1"/>
          <p:nvPr/>
        </p:nvSpPr>
        <p:spPr>
          <a:xfrm>
            <a:off x="451693" y="1071035"/>
            <a:ext cx="10832562" cy="5075941"/>
          </a:xfrm>
          <a:prstGeom prst="rect">
            <a:avLst/>
          </a:prstGeom>
          <a:noFill/>
        </p:spPr>
        <p:txBody>
          <a:bodyPr wrap="square">
            <a:spAutoFit/>
          </a:bodyPr>
          <a:lstStyle/>
          <a:p>
            <a:pPr algn="ctr">
              <a:lnSpc>
                <a:spcPct val="150000"/>
              </a:lnSpc>
            </a:pPr>
            <a:r>
              <a:rPr lang="en-AU" sz="4400"/>
              <a:t>Use an </a:t>
            </a:r>
            <a:r>
              <a:rPr lang="en-AU" sz="4400" b="1"/>
              <a:t>efficient mental strategy</a:t>
            </a:r>
            <a:r>
              <a:rPr lang="en-AU" sz="4400"/>
              <a:t> to solve </a:t>
            </a:r>
            <a:r>
              <a:rPr lang="en-AU" sz="6000"/>
              <a:t>7025 </a:t>
            </a:r>
            <a:r>
              <a:rPr lang="en-AU" sz="6000">
                <a:latin typeface="Cambria Math" panose="02040503050406030204" pitchFamily="18" charset="0"/>
                <a:ea typeface="Cambria Math" panose="02040503050406030204" pitchFamily="18" charset="0"/>
              </a:rPr>
              <a:t>−</a:t>
            </a:r>
            <a:r>
              <a:rPr lang="en-AU" sz="6000"/>
              <a:t> 4897</a:t>
            </a:r>
          </a:p>
          <a:p>
            <a:pPr algn="ctr">
              <a:lnSpc>
                <a:spcPct val="150000"/>
              </a:lnSpc>
            </a:pPr>
            <a:r>
              <a:rPr lang="en-AU" sz="4400"/>
              <a:t>Which </a:t>
            </a:r>
            <a:r>
              <a:rPr lang="en-AU" sz="4400" b="1"/>
              <a:t>strategy</a:t>
            </a:r>
            <a:r>
              <a:rPr lang="en-AU" sz="4400"/>
              <a:t> did you use? </a:t>
            </a:r>
          </a:p>
          <a:p>
            <a:endParaRPr lang="en-AU" sz="4400"/>
          </a:p>
          <a:p>
            <a:pPr algn="ctr">
              <a:lnSpc>
                <a:spcPct val="150000"/>
              </a:lnSpc>
            </a:pPr>
            <a:r>
              <a:rPr lang="en-AU" sz="4400" b="1"/>
              <a:t>Communicate</a:t>
            </a:r>
            <a:r>
              <a:rPr lang="en-AU" sz="4400"/>
              <a:t> your </a:t>
            </a:r>
            <a:r>
              <a:rPr lang="en-AU" sz="4400" b="1"/>
              <a:t>reasoning</a:t>
            </a:r>
            <a:r>
              <a:rPr lang="en-AU" sz="4400"/>
              <a:t>. </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42BF4AE-A2CD-BD8E-15A3-29C3AF60AB97}"/>
              </a:ext>
            </a:extLst>
          </p:cNvPr>
          <p:cNvSpPr txBox="1"/>
          <p:nvPr/>
        </p:nvSpPr>
        <p:spPr>
          <a:xfrm>
            <a:off x="1058963" y="905601"/>
            <a:ext cx="10653131" cy="6614824"/>
          </a:xfrm>
          <a:prstGeom prst="rect">
            <a:avLst/>
          </a:prstGeom>
          <a:noFill/>
        </p:spPr>
        <p:txBody>
          <a:bodyPr wrap="square">
            <a:spAutoFit/>
          </a:bodyPr>
          <a:lstStyle/>
          <a:p>
            <a:pPr algn="ctr">
              <a:lnSpc>
                <a:spcPct val="150000"/>
              </a:lnSpc>
            </a:pPr>
            <a:r>
              <a:rPr lang="en-AU" sz="4400" b="1"/>
              <a:t>Partition</a:t>
            </a:r>
            <a:r>
              <a:rPr lang="en-AU" sz="4400"/>
              <a:t> the </a:t>
            </a:r>
            <a:r>
              <a:rPr lang="en-AU" sz="4400" b="1"/>
              <a:t>decimal</a:t>
            </a:r>
            <a:r>
              <a:rPr lang="en-AU" sz="4400"/>
              <a:t> 4.326 using </a:t>
            </a:r>
          </a:p>
          <a:p>
            <a:pPr algn="ctr">
              <a:lnSpc>
                <a:spcPct val="150000"/>
              </a:lnSpc>
            </a:pPr>
            <a:r>
              <a:rPr lang="en-AU" sz="4400" b="1"/>
              <a:t>place value.</a:t>
            </a:r>
            <a:br>
              <a:rPr lang="en-AU" sz="4400"/>
            </a:br>
            <a:endParaRPr lang="en-AU"/>
          </a:p>
          <a:p>
            <a:pPr algn="ctr">
              <a:lnSpc>
                <a:spcPct val="150000"/>
              </a:lnSpc>
            </a:pPr>
            <a:r>
              <a:rPr lang="en-AU" sz="4400"/>
              <a:t>Explain what the </a:t>
            </a:r>
            <a:r>
              <a:rPr lang="en-AU" sz="4400" b="1"/>
              <a:t>digits represent </a:t>
            </a:r>
            <a:r>
              <a:rPr lang="en-AU" sz="4400"/>
              <a:t>in </a:t>
            </a:r>
          </a:p>
          <a:p>
            <a:pPr algn="ctr">
              <a:lnSpc>
                <a:spcPct val="150000"/>
              </a:lnSpc>
            </a:pPr>
            <a:r>
              <a:rPr lang="en-AU" sz="4400"/>
              <a:t>ones, tenths, hundredths, and thousandths.</a:t>
            </a:r>
            <a:br>
              <a:rPr lang="en-AU" sz="4400"/>
            </a:br>
            <a:endParaRPr lang="en-AU" sz="4400"/>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801BDCD7-06A0-9141-D2A9-446E23280E71}"/>
              </a:ext>
            </a:extLst>
          </p:cNvPr>
          <p:cNvSpPr txBox="1"/>
          <p:nvPr/>
        </p:nvSpPr>
        <p:spPr>
          <a:xfrm>
            <a:off x="914400" y="1414249"/>
            <a:ext cx="10571356" cy="4029501"/>
          </a:xfrm>
          <a:prstGeom prst="rect">
            <a:avLst/>
          </a:prstGeom>
          <a:noFill/>
        </p:spPr>
        <p:txBody>
          <a:bodyPr wrap="square">
            <a:spAutoFit/>
          </a:bodyPr>
          <a:lstStyle/>
          <a:p>
            <a:pPr algn="ctr">
              <a:lnSpc>
                <a:spcPct val="150000"/>
              </a:lnSpc>
            </a:pPr>
            <a:r>
              <a:rPr lang="en-AU" sz="4400"/>
              <a:t>Sophie ran 1.46 km and Ella ran 1.39 km.</a:t>
            </a:r>
            <a:br>
              <a:rPr lang="en-AU" sz="4400"/>
            </a:br>
            <a:endParaRPr lang="en-AU" sz="4400"/>
          </a:p>
          <a:p>
            <a:pPr algn="ctr">
              <a:lnSpc>
                <a:spcPct val="150000"/>
              </a:lnSpc>
            </a:pPr>
            <a:r>
              <a:rPr lang="en-AU" sz="4400"/>
              <a:t>Who ran the </a:t>
            </a:r>
            <a:r>
              <a:rPr lang="en-AU" sz="4400" b="1"/>
              <a:t>greater distance </a:t>
            </a:r>
            <a:r>
              <a:rPr lang="en-AU" sz="4400"/>
              <a:t>and </a:t>
            </a:r>
            <a:r>
              <a:rPr lang="en-AU" sz="4400" b="1"/>
              <a:t>by how much</a:t>
            </a:r>
            <a:r>
              <a:rPr lang="en-AU" sz="4400"/>
              <a:t>?</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Three different nets of a cube are shown, each made up of six connected squares with dotted outlines.&#10;&#10;Net A: A vertical strip of four squares with one square attached to the left of the second square and another square attached to the right of the third square.&#10;&#10;Net B: A vertical strip of five squares with one square attached to the right of the middle square.&#10;&#10;Net C: A vertical strip of four squares with one square attached to the left of the second square and another square attached to the right of the second square.">
            <a:extLst>
              <a:ext uri="{FF2B5EF4-FFF2-40B4-BE49-F238E27FC236}">
                <a16:creationId xmlns:a16="http://schemas.microsoft.com/office/drawing/2014/main" id="{BE76DE84-3284-A7B2-DF79-46CF3150740D}"/>
              </a:ext>
            </a:extLst>
          </p:cNvPr>
          <p:cNvPicPr>
            <a:picLocks noChangeAspect="1"/>
          </p:cNvPicPr>
          <p:nvPr/>
        </p:nvPicPr>
        <p:blipFill>
          <a:blip r:embed="rId4"/>
          <a:stretch>
            <a:fillRect/>
          </a:stretch>
        </p:blipFill>
        <p:spPr>
          <a:xfrm>
            <a:off x="5167958" y="1669751"/>
            <a:ext cx="6778018" cy="3518497"/>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C8E67D4E-8220-1257-5EBD-7187162FF157}"/>
              </a:ext>
            </a:extLst>
          </p:cNvPr>
          <p:cNvSpPr txBox="1"/>
          <p:nvPr/>
        </p:nvSpPr>
        <p:spPr>
          <a:xfrm>
            <a:off x="246024" y="1184223"/>
            <a:ext cx="4825706" cy="5148910"/>
          </a:xfrm>
          <a:prstGeom prst="rect">
            <a:avLst/>
          </a:prstGeom>
          <a:noFill/>
        </p:spPr>
        <p:txBody>
          <a:bodyPr wrap="square">
            <a:spAutoFit/>
          </a:bodyPr>
          <a:lstStyle/>
          <a:p>
            <a:pPr algn="ctr">
              <a:lnSpc>
                <a:spcPct val="150000"/>
              </a:lnSpc>
            </a:pPr>
            <a:r>
              <a:rPr lang="en-AU" sz="4000"/>
              <a:t>Which </a:t>
            </a:r>
            <a:r>
              <a:rPr lang="en-AU" sz="4000" b="1"/>
              <a:t>nets</a:t>
            </a:r>
            <a:r>
              <a:rPr lang="en-AU" sz="4000"/>
              <a:t> can be folded to make a </a:t>
            </a:r>
            <a:r>
              <a:rPr lang="en-AU" sz="4000" b="1"/>
              <a:t>rectangular prism</a:t>
            </a:r>
            <a:r>
              <a:rPr lang="en-AU" sz="4000"/>
              <a:t>?</a:t>
            </a:r>
          </a:p>
          <a:p>
            <a:pPr algn="ctr">
              <a:lnSpc>
                <a:spcPct val="150000"/>
              </a:lnSpc>
            </a:pPr>
            <a:endParaRPr lang="en-AU"/>
          </a:p>
          <a:p>
            <a:pPr algn="ctr">
              <a:lnSpc>
                <a:spcPct val="150000"/>
              </a:lnSpc>
            </a:pPr>
            <a:r>
              <a:rPr lang="en-AU" sz="4000" b="1"/>
              <a:t>Communicate</a:t>
            </a:r>
            <a:r>
              <a:rPr lang="en-AU" sz="4000"/>
              <a:t> your </a:t>
            </a:r>
            <a:r>
              <a:rPr lang="en-AU" sz="4000" b="1"/>
              <a:t>reasoning</a:t>
            </a:r>
            <a:r>
              <a:rPr lang="en-AU" sz="4000"/>
              <a:t>. </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place value game</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a:extLst>
              <a:ext uri="{FF2B5EF4-FFF2-40B4-BE49-F238E27FC236}">
                <a16:creationId xmlns:a16="http://schemas.microsoft.com/office/drawing/2014/main" id="{06D26871-42A0-40BD-EDC9-7FC1217445B6}"/>
              </a:ext>
            </a:extLst>
          </p:cNvPr>
          <p:cNvPicPr>
            <a:picLocks noChangeAspect="1"/>
          </p:cNvPicPr>
          <p:nvPr/>
        </p:nvPicPr>
        <p:blipFill>
          <a:blip r:embed="rId4"/>
          <a:stretch>
            <a:fillRect/>
          </a:stretch>
        </p:blipFill>
        <p:spPr>
          <a:xfrm>
            <a:off x="2632004" y="1232353"/>
            <a:ext cx="6927992" cy="48697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935317"/>
                <a:ext cx="11484000" cy="893226"/>
              </a:xfrm>
            </p:spPr>
            <p:txBody>
              <a:bodyPr/>
              <a:lstStyle/>
              <a:p>
                <a:pPr algn="ctr">
                  <a:lnSpc>
                    <a:spcPct val="100000"/>
                  </a:lnSpc>
                  <a:spcAft>
                    <a:spcPts val="2400"/>
                  </a:spcAft>
                </a:pPr>
                <a:r>
                  <a:rPr lang="en-AU" sz="4400"/>
                  <a:t>A fraction strip is divided into </a:t>
                </a:r>
                <a:r>
                  <a:rPr lang="en-AU" sz="4400" b="1"/>
                  <a:t>8 equal parts</a:t>
                </a:r>
                <a:r>
                  <a:rPr lang="en-AU" sz="4400"/>
                  <a:t>. </a:t>
                </a:r>
              </a:p>
              <a:p>
                <a:pPr algn="ctr">
                  <a:lnSpc>
                    <a:spcPct val="100000"/>
                  </a:lnSpc>
                  <a:spcAft>
                    <a:spcPts val="2400"/>
                  </a:spcAft>
                </a:pPr>
                <a14:m>
                  <m:oMath xmlns:m="http://schemas.openxmlformats.org/officeDocument/2006/math">
                    <m:f>
                      <m:fPr>
                        <m:ctrlPr>
                          <a:rPr kumimoji="0" lang="en-AU" sz="4800" b="1" i="1" u="none" strike="noStrike" kern="1200" cap="none" spc="0" normalizeH="0" baseline="0" noProof="0" smtClean="0">
                            <a:ln>
                              <a:noFill/>
                            </a:ln>
                            <a:solidFill>
                              <a:srgbClr val="22272B"/>
                            </a:solidFill>
                            <a:effectLst/>
                            <a:uLnTx/>
                            <a:uFillTx/>
                            <a:latin typeface="Cambria Math" panose="02040503050406030204" pitchFamily="18" charset="0"/>
                            <a:cs typeface="+mn-cs"/>
                          </a:rPr>
                        </m:ctrlPr>
                      </m:fPr>
                      <m:num>
                        <m:r>
                          <a:rPr kumimoji="0" lang="en-AU" sz="4800" b="1" i="1" u="none" strike="noStrike" kern="1200" cap="none" spc="0" normalizeH="0" baseline="0" noProof="0" smtClean="0">
                            <a:ln>
                              <a:noFill/>
                            </a:ln>
                            <a:solidFill>
                              <a:srgbClr val="22272B"/>
                            </a:solidFill>
                            <a:effectLst/>
                            <a:uLnTx/>
                            <a:uFillTx/>
                            <a:latin typeface="Cambria Math" panose="02040503050406030204" pitchFamily="18" charset="0"/>
                            <a:cs typeface="+mn-cs"/>
                          </a:rPr>
                          <m:t>𝟓</m:t>
                        </m:r>
                      </m:num>
                      <m:den>
                        <m:r>
                          <a:rPr kumimoji="0" lang="en-AU" sz="4800" b="1" i="1" u="none" strike="noStrike" kern="1200" cap="none" spc="0" normalizeH="0" baseline="0" noProof="0" smtClean="0">
                            <a:ln>
                              <a:noFill/>
                            </a:ln>
                            <a:solidFill>
                              <a:srgbClr val="22272B"/>
                            </a:solidFill>
                            <a:effectLst/>
                            <a:uLnTx/>
                            <a:uFillTx/>
                            <a:latin typeface="Cambria Math" panose="02040503050406030204" pitchFamily="18" charset="0"/>
                            <a:cs typeface="+mn-cs"/>
                          </a:rPr>
                          <m:t>𝟖</m:t>
                        </m:r>
                      </m:den>
                    </m:f>
                  </m:oMath>
                </a14:m>
                <a:r>
                  <a:rPr lang="en-AU" sz="4800" b="1"/>
                  <a:t> </a:t>
                </a:r>
                <a:r>
                  <a:rPr lang="en-AU" sz="4400"/>
                  <a:t>of the strip is shaded. Which fraction of the </a:t>
                </a:r>
              </a:p>
              <a:p>
                <a:pPr algn="ctr">
                  <a:lnSpc>
                    <a:spcPct val="100000"/>
                  </a:lnSpc>
                  <a:spcAft>
                    <a:spcPts val="2400"/>
                  </a:spcAft>
                </a:pPr>
                <a:r>
                  <a:rPr lang="en-AU" sz="4400"/>
                  <a:t>strip needs to be shaded to make one </a:t>
                </a:r>
                <a:r>
                  <a:rPr lang="en-AU" sz="4400" b="1"/>
                  <a:t>whole?</a:t>
                </a:r>
                <a:endParaRPr lang="en-US" sz="4400"/>
              </a:p>
            </p:txBody>
          </p:sp>
        </mc:Choice>
        <mc:Fallback xmlns="">
          <p:sp>
            <p:nvSpPr>
              <p:cNvPr id="18" name="Text Placeholder 17">
                <a:extLst>
                  <a:ext uri="{FF2B5EF4-FFF2-40B4-BE49-F238E27FC236}">
                    <a16:creationId xmlns:a16="http://schemas.microsoft.com/office/drawing/2014/main" id="{E180F3B1-ACC7-4559-EA73-174DB17A0983}"/>
                  </a:ext>
                </a:extLst>
              </p:cNvPr>
              <p:cNvSpPr>
                <a:spLocks noGrp="1" noRot="1" noChangeAspect="1" noMove="1" noResize="1" noEditPoints="1" noAdjustHandles="1" noChangeArrowheads="1" noChangeShapeType="1" noTextEdit="1"/>
              </p:cNvSpPr>
              <p:nvPr>
                <p:ph type="body" sz="quarter" idx="24"/>
              </p:nvPr>
            </p:nvSpPr>
            <p:spPr>
              <a:xfrm>
                <a:off x="360000" y="935317"/>
                <a:ext cx="11484000" cy="893226"/>
              </a:xfrm>
              <a:blipFill>
                <a:blip r:embed="rId4"/>
                <a:stretch>
                  <a:fillRect l="-2813" t="-19728" r="-2866" b="-2741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5987614-4C0A-2A9E-9682-19ECEC144C32}"/>
                  </a:ext>
                </a:extLst>
              </p:cNvPr>
              <p:cNvGraphicFramePr>
                <a:graphicFrameLocks noGrp="1"/>
              </p:cNvGraphicFramePr>
              <p:nvPr>
                <p:extLst>
                  <p:ext uri="{D42A27DB-BD31-4B8C-83A1-F6EECF244321}">
                    <p14:modId xmlns:p14="http://schemas.microsoft.com/office/powerpoint/2010/main" val="2639560224"/>
                  </p:ext>
                </p:extLst>
              </p:nvPr>
            </p:nvGraphicFramePr>
            <p:xfrm>
              <a:off x="572708" y="4426598"/>
              <a:ext cx="10551292" cy="20596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rPr>
                                    </m:ctrlPr>
                                  </m:fPr>
                                  <m:num>
                                    <m:r>
                                      <a:rPr lang="en-AU" sz="4000" b="0" i="1" smtClean="0">
                                        <a:latin typeface="Cambria Math" panose="02040503050406030204" pitchFamily="18" charset="0"/>
                                      </a:rPr>
                                      <m:t>2</m:t>
                                    </m:r>
                                  </m:num>
                                  <m:den>
                                    <m:r>
                                      <a:rPr lang="en-AU" sz="4000" b="0" i="1" smtClean="0">
                                        <a:latin typeface="Cambria Math" panose="02040503050406030204" pitchFamily="18" charset="0"/>
                                      </a:rPr>
                                      <m:t>8</m:t>
                                    </m:r>
                                  </m:den>
                                </m:f>
                              </m:oMath>
                            </m:oMathPara>
                          </a14:m>
                          <a:endParaRPr lang="en-AU" sz="4000">
                            <a:latin typeface="+mn-lt"/>
                            <a:cs typeface="Arial" panose="020B0604020202020204" pitchFamily="34" charset="0"/>
                          </a:endParaRP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rPr>
                                    </m:ctrlPr>
                                  </m:fPr>
                                  <m:num>
                                    <m:r>
                                      <a:rPr lang="en-AU" sz="4000" b="0" i="1" smtClean="0">
                                        <a:latin typeface="Cambria Math" panose="02040503050406030204" pitchFamily="18" charset="0"/>
                                      </a:rPr>
                                      <m:t>3</m:t>
                                    </m:r>
                                  </m:num>
                                  <m:den>
                                    <m:r>
                                      <a:rPr lang="en-AU" sz="4000" b="0" i="1" smtClean="0">
                                        <a:latin typeface="Cambria Math" panose="02040503050406030204" pitchFamily="18" charset="0"/>
                                      </a:rPr>
                                      <m:t>8</m:t>
                                    </m:r>
                                  </m:den>
                                </m:f>
                              </m:oMath>
                            </m:oMathPara>
                          </a14:m>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rPr>
                                    </m:ctrlPr>
                                  </m:fPr>
                                  <m:num>
                                    <m:r>
                                      <a:rPr lang="en-AU" sz="4000" b="0" i="1" smtClean="0">
                                        <a:latin typeface="Cambria Math" panose="02040503050406030204" pitchFamily="18" charset="0"/>
                                      </a:rPr>
                                      <m:t>1</m:t>
                                    </m:r>
                                  </m:num>
                                  <m:den>
                                    <m:r>
                                      <a:rPr lang="en-AU" sz="4000" b="0" i="1" smtClean="0">
                                        <a:latin typeface="Cambria Math" panose="02040503050406030204" pitchFamily="18" charset="0"/>
                                      </a:rPr>
                                      <m:t>4</m:t>
                                    </m:r>
                                  </m:den>
                                </m:f>
                              </m:oMath>
                            </m:oMathPara>
                          </a14:m>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rPr>
                                    </m:ctrlPr>
                                  </m:fPr>
                                  <m:num>
                                    <m:r>
                                      <a:rPr lang="en-AU" sz="4000" b="0" i="1" smtClean="0">
                                        <a:latin typeface="Cambria Math" panose="02040503050406030204" pitchFamily="18" charset="0"/>
                                      </a:rPr>
                                      <m:t>1</m:t>
                                    </m:r>
                                  </m:num>
                                  <m:den>
                                    <m:r>
                                      <a:rPr lang="en-AU" sz="4000" b="0" i="1" smtClean="0">
                                        <a:latin typeface="Cambria Math" panose="02040503050406030204" pitchFamily="18" charset="0"/>
                                      </a:rPr>
                                      <m:t>2</m:t>
                                    </m:r>
                                  </m:den>
                                </m:f>
                              </m:oMath>
                            </m:oMathPara>
                          </a14:m>
                          <a:endParaRPr lang="en-AU" sz="4000">
                            <a:latin typeface="+mn-lt"/>
                            <a:cs typeface="Aria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5" name="Table 4">
                <a:extLst>
                  <a:ext uri="{FF2B5EF4-FFF2-40B4-BE49-F238E27FC236}">
                    <a16:creationId xmlns:a16="http://schemas.microsoft.com/office/drawing/2014/main" id="{D5987614-4C0A-2A9E-9682-19ECEC144C32}"/>
                  </a:ext>
                </a:extLst>
              </p:cNvPr>
              <p:cNvGraphicFramePr>
                <a:graphicFrameLocks noGrp="1"/>
              </p:cNvGraphicFramePr>
              <p:nvPr>
                <p:extLst>
                  <p:ext uri="{D42A27DB-BD31-4B8C-83A1-F6EECF244321}">
                    <p14:modId xmlns:p14="http://schemas.microsoft.com/office/powerpoint/2010/main" val="2639560224"/>
                  </p:ext>
                </p:extLst>
              </p:nvPr>
            </p:nvGraphicFramePr>
            <p:xfrm>
              <a:off x="572708" y="4426598"/>
              <a:ext cx="10551292" cy="20596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236726">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t="-77941" r="-3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100000" t="-77941" r="-2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200000" t="-77941"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300000" t="-77941"/>
                          </a:stretch>
                        </a:blipFill>
                      </a:tcPr>
                    </a:tc>
                    <a:extLst>
                      <a:ext uri="{0D108BD9-81ED-4DB2-BD59-A6C34878D82A}">
                        <a16:rowId xmlns:a16="http://schemas.microsoft.com/office/drawing/2014/main" val="505300166"/>
                      </a:ext>
                    </a:extLst>
                  </a:tr>
                </a:tbl>
              </a:graphicData>
            </a:graphic>
          </p:graphicFrame>
        </mc:Fallback>
      </mc:AlternateContent>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26FBF36-1D07-435F-149D-E8EC7D3730D0}"/>
              </a:ext>
            </a:extLst>
          </p:cNvPr>
          <p:cNvSpPr txBox="1"/>
          <p:nvPr/>
        </p:nvSpPr>
        <p:spPr>
          <a:xfrm>
            <a:off x="709162" y="1414249"/>
            <a:ext cx="10774838" cy="4398833"/>
          </a:xfrm>
          <a:prstGeom prst="rect">
            <a:avLst/>
          </a:prstGeom>
          <a:noFill/>
        </p:spPr>
        <p:txBody>
          <a:bodyPr wrap="square">
            <a:spAutoFit/>
          </a:bodyPr>
          <a:lstStyle/>
          <a:p>
            <a:pPr algn="ctr">
              <a:lnSpc>
                <a:spcPct val="150000"/>
              </a:lnSpc>
              <a:buNone/>
            </a:pPr>
            <a:r>
              <a:rPr lang="en-AU" sz="4400"/>
              <a:t>Use an </a:t>
            </a:r>
            <a:r>
              <a:rPr lang="en-AU" sz="4400" b="1"/>
              <a:t>efficient mental strategy</a:t>
            </a:r>
            <a:r>
              <a:rPr lang="en-AU" sz="4400"/>
              <a:t> to solve </a:t>
            </a:r>
            <a:r>
              <a:rPr lang="en-AU" sz="6000"/>
              <a:t>678 </a:t>
            </a:r>
            <a:r>
              <a:rPr lang="en-AU" sz="6000">
                <a:latin typeface="Cambria Math" panose="02040503050406030204" pitchFamily="18" charset="0"/>
                <a:ea typeface="Cambria Math" panose="02040503050406030204" pitchFamily="18" charset="0"/>
              </a:rPr>
              <a:t>−</a:t>
            </a:r>
            <a:r>
              <a:rPr lang="en-AU" sz="6000"/>
              <a:t> 121 </a:t>
            </a:r>
            <a:r>
              <a:rPr lang="en-AU" sz="6000">
                <a:latin typeface="Cambria Math" panose="02040503050406030204" pitchFamily="18" charset="0"/>
                <a:ea typeface="Cambria Math" panose="02040503050406030204" pitchFamily="18" charset="0"/>
              </a:rPr>
              <a:t>−</a:t>
            </a:r>
            <a:r>
              <a:rPr lang="en-AU" sz="6000"/>
              <a:t> 22</a:t>
            </a:r>
          </a:p>
          <a:p>
            <a:pPr algn="ctr">
              <a:lnSpc>
                <a:spcPct val="150000"/>
              </a:lnSpc>
              <a:buNone/>
            </a:pPr>
            <a:r>
              <a:rPr lang="en-AU" sz="4400"/>
              <a:t>Which </a:t>
            </a:r>
            <a:r>
              <a:rPr lang="en-AU" sz="4400" b="1"/>
              <a:t>strategy</a:t>
            </a:r>
            <a:r>
              <a:rPr lang="en-AU" sz="4400"/>
              <a:t> did you use?</a:t>
            </a:r>
          </a:p>
          <a:p>
            <a:pPr algn="ctr">
              <a:lnSpc>
                <a:spcPct val="150000"/>
              </a:lnSpc>
              <a:buNone/>
            </a:pPr>
            <a:r>
              <a:rPr lang="en-AU" sz="4400" b="1"/>
              <a:t>Explain</a:t>
            </a:r>
            <a:r>
              <a:rPr lang="en-AU" sz="4400"/>
              <a:t> your </a:t>
            </a:r>
            <a:r>
              <a:rPr lang="en-AU" sz="4400" b="1"/>
              <a:t>reasoning</a:t>
            </a:r>
            <a:r>
              <a:rPr lang="en-AU" sz="4400"/>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3AF03C2-7492-A116-4933-70A07E79AD5B}"/>
              </a:ext>
            </a:extLst>
          </p:cNvPr>
          <p:cNvSpPr txBox="1"/>
          <p:nvPr/>
        </p:nvSpPr>
        <p:spPr>
          <a:xfrm>
            <a:off x="1058963" y="905601"/>
            <a:ext cx="10653131" cy="6614824"/>
          </a:xfrm>
          <a:prstGeom prst="rect">
            <a:avLst/>
          </a:prstGeom>
          <a:noFill/>
        </p:spPr>
        <p:txBody>
          <a:bodyPr wrap="square">
            <a:spAutoFit/>
          </a:bodyPr>
          <a:lstStyle/>
          <a:p>
            <a:pPr algn="ctr">
              <a:lnSpc>
                <a:spcPct val="150000"/>
              </a:lnSpc>
            </a:pPr>
            <a:r>
              <a:rPr lang="en-AU" sz="4400" b="1"/>
              <a:t>Partition</a:t>
            </a:r>
            <a:r>
              <a:rPr lang="en-AU" sz="4400"/>
              <a:t> the </a:t>
            </a:r>
            <a:r>
              <a:rPr lang="en-AU" sz="4400" b="1"/>
              <a:t>decimal</a:t>
            </a:r>
            <a:r>
              <a:rPr lang="en-AU" sz="4400"/>
              <a:t> 2.306 using </a:t>
            </a:r>
          </a:p>
          <a:p>
            <a:pPr algn="ctr">
              <a:lnSpc>
                <a:spcPct val="150000"/>
              </a:lnSpc>
            </a:pPr>
            <a:r>
              <a:rPr lang="en-AU" sz="4400" b="1"/>
              <a:t>place value.</a:t>
            </a:r>
            <a:br>
              <a:rPr lang="en-AU" sz="4400"/>
            </a:br>
            <a:endParaRPr lang="en-AU"/>
          </a:p>
          <a:p>
            <a:pPr algn="ctr">
              <a:lnSpc>
                <a:spcPct val="150000"/>
              </a:lnSpc>
            </a:pPr>
            <a:r>
              <a:rPr lang="en-AU" sz="4400"/>
              <a:t>Explain what the </a:t>
            </a:r>
            <a:r>
              <a:rPr lang="en-AU" sz="4400" b="1"/>
              <a:t>digits represent </a:t>
            </a:r>
            <a:r>
              <a:rPr lang="en-AU" sz="4400"/>
              <a:t>in </a:t>
            </a:r>
          </a:p>
          <a:p>
            <a:pPr algn="ctr">
              <a:lnSpc>
                <a:spcPct val="150000"/>
              </a:lnSpc>
            </a:pPr>
            <a:r>
              <a:rPr lang="en-AU" sz="4400"/>
              <a:t>ones, tenths, hundredths, and thousandths.</a:t>
            </a:r>
            <a:br>
              <a:rPr lang="en-AU" sz="4400"/>
            </a:br>
            <a:endParaRPr lang="en-AU" sz="44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4D7B47B-0459-D168-C5B5-CEA0B1C154B4}"/>
              </a:ext>
            </a:extLst>
          </p:cNvPr>
          <p:cNvSpPr txBox="1"/>
          <p:nvPr/>
        </p:nvSpPr>
        <p:spPr>
          <a:xfrm>
            <a:off x="1116733" y="1016718"/>
            <a:ext cx="10367267" cy="5414496"/>
          </a:xfrm>
          <a:prstGeom prst="rect">
            <a:avLst/>
          </a:prstGeom>
          <a:noFill/>
        </p:spPr>
        <p:txBody>
          <a:bodyPr wrap="square">
            <a:spAutoFit/>
          </a:bodyPr>
          <a:lstStyle/>
          <a:p>
            <a:pPr algn="ctr">
              <a:lnSpc>
                <a:spcPct val="150000"/>
              </a:lnSpc>
            </a:pPr>
            <a:r>
              <a:rPr lang="en-AU" sz="4400" b="1"/>
              <a:t>Use</a:t>
            </a:r>
            <a:r>
              <a:rPr lang="en-AU" sz="4400"/>
              <a:t> and </a:t>
            </a:r>
            <a:r>
              <a:rPr lang="en-AU" sz="4400" b="1"/>
              <a:t>compare</a:t>
            </a:r>
            <a:r>
              <a:rPr lang="en-AU" sz="4400"/>
              <a:t> the </a:t>
            </a:r>
            <a:r>
              <a:rPr lang="en-AU" sz="4400" b="1"/>
              <a:t>efficiency</a:t>
            </a:r>
            <a:r>
              <a:rPr lang="en-AU" sz="4400"/>
              <a:t> of 2 different strategies to solve</a:t>
            </a:r>
          </a:p>
          <a:p>
            <a:pPr algn="ctr">
              <a:lnSpc>
                <a:spcPct val="150000"/>
              </a:lnSpc>
            </a:pPr>
            <a:r>
              <a:rPr lang="en-AU" sz="6000"/>
              <a:t>27 + 13 + 20</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4"/>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B8A7584-C709-BE3E-0A6F-250E43EE47B1}"/>
              </a:ext>
            </a:extLst>
          </p:cNvPr>
          <p:cNvSpPr txBox="1"/>
          <p:nvPr/>
        </p:nvSpPr>
        <p:spPr>
          <a:xfrm>
            <a:off x="455364" y="979758"/>
            <a:ext cx="11281271" cy="5518242"/>
          </a:xfrm>
          <a:prstGeom prst="rect">
            <a:avLst/>
          </a:prstGeom>
          <a:noFill/>
        </p:spPr>
        <p:txBody>
          <a:bodyPr wrap="square">
            <a:spAutoFit/>
          </a:bodyPr>
          <a:lstStyle/>
          <a:p>
            <a:pPr algn="ctr">
              <a:lnSpc>
                <a:spcPct val="150000"/>
              </a:lnSpc>
              <a:buNone/>
            </a:pPr>
            <a:r>
              <a:rPr lang="en-AU" sz="4000"/>
              <a:t>Write the </a:t>
            </a:r>
            <a:r>
              <a:rPr lang="en-AU" sz="4000" b="1"/>
              <a:t>capacity</a:t>
            </a:r>
            <a:r>
              <a:rPr lang="en-AU" sz="4000"/>
              <a:t> of each container using the </a:t>
            </a:r>
            <a:r>
              <a:rPr lang="en-AU" sz="4000" b="1"/>
              <a:t>abbreviation</a:t>
            </a:r>
            <a:r>
              <a:rPr lang="en-AU" sz="4000"/>
              <a:t> for </a:t>
            </a:r>
            <a:r>
              <a:rPr lang="en-AU" sz="4000" b="1"/>
              <a:t>litres</a:t>
            </a:r>
            <a:r>
              <a:rPr lang="en-AU" sz="4000"/>
              <a:t>:</a:t>
            </a:r>
          </a:p>
          <a:p>
            <a:pPr marL="1790670" lvl="2" indent="-571500">
              <a:lnSpc>
                <a:spcPct val="150000"/>
              </a:lnSpc>
              <a:buFont typeface="Arial" panose="020B0604020202020204" pitchFamily="34" charset="0"/>
              <a:buChar char="•"/>
            </a:pPr>
            <a:r>
              <a:rPr lang="en-AU" sz="4000"/>
              <a:t>A tank holds twenty-three litres of water.</a:t>
            </a:r>
          </a:p>
          <a:p>
            <a:pPr marL="1790670" lvl="2" indent="-571500">
              <a:lnSpc>
                <a:spcPct val="150000"/>
              </a:lnSpc>
              <a:buFont typeface="Arial" panose="020B0604020202020204" pitchFamily="34" charset="0"/>
              <a:buChar char="•"/>
            </a:pPr>
            <a:r>
              <a:rPr lang="en-AU" sz="4000"/>
              <a:t>A bottle holds five litres of water.</a:t>
            </a:r>
          </a:p>
          <a:p>
            <a:pPr algn="ctr">
              <a:lnSpc>
                <a:spcPct val="150000"/>
              </a:lnSpc>
            </a:pPr>
            <a:r>
              <a:rPr lang="en-AU" sz="4000"/>
              <a:t>How many </a:t>
            </a:r>
            <a:r>
              <a:rPr lang="en-AU" sz="4000" b="1"/>
              <a:t>litres</a:t>
            </a:r>
            <a:r>
              <a:rPr lang="en-AU" sz="4000"/>
              <a:t> of water do they hold </a:t>
            </a:r>
            <a:r>
              <a:rPr lang="en-AU" sz="4000" b="1"/>
              <a:t>altogether</a:t>
            </a:r>
            <a:r>
              <a:rPr lang="en-AU" sz="4000"/>
              <a: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representing fractions</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Two hexagonal spinners. One has numbers 1,2,2,3,3,4. Second spinner has halves, thirds, fourths/quarters, sixths, eighths, twelfths&#10;">
            <a:extLst>
              <a:ext uri="{FF2B5EF4-FFF2-40B4-BE49-F238E27FC236}">
                <a16:creationId xmlns:a16="http://schemas.microsoft.com/office/drawing/2014/main" id="{B738186B-B6F1-BF71-2F32-17A758AD71FF}"/>
              </a:ext>
            </a:extLst>
          </p:cNvPr>
          <p:cNvGrpSpPr/>
          <p:nvPr/>
        </p:nvGrpSpPr>
        <p:grpSpPr>
          <a:xfrm>
            <a:off x="3688821" y="1097258"/>
            <a:ext cx="4814357" cy="2425312"/>
            <a:chOff x="800271" y="1246469"/>
            <a:chExt cx="10189585" cy="4733787"/>
          </a:xfrm>
        </p:grpSpPr>
        <p:grpSp>
          <p:nvGrpSpPr>
            <p:cNvPr id="5" name="Group 2">
              <a:extLst>
                <a:ext uri="{FF2B5EF4-FFF2-40B4-BE49-F238E27FC236}">
                  <a16:creationId xmlns:a16="http://schemas.microsoft.com/office/drawing/2014/main" id="{6AAD791B-3C8E-3923-6ACE-FFFBEC8E5ECA}"/>
                </a:ext>
              </a:extLst>
            </p:cNvPr>
            <p:cNvGrpSpPr/>
            <p:nvPr/>
          </p:nvGrpSpPr>
          <p:grpSpPr>
            <a:xfrm>
              <a:off x="6098606" y="1377267"/>
              <a:ext cx="4891250" cy="4352507"/>
              <a:chOff x="59" y="0"/>
              <a:chExt cx="6120000" cy="5293863"/>
            </a:xfrm>
          </p:grpSpPr>
          <p:sp>
            <p:nvSpPr>
              <p:cNvPr id="36" name="Freeform 3">
                <a:extLst>
                  <a:ext uri="{FF2B5EF4-FFF2-40B4-BE49-F238E27FC236}">
                    <a16:creationId xmlns:a16="http://schemas.microsoft.com/office/drawing/2014/main" id="{6405DBF0-810E-33B1-A64B-8B7CB1087E97}"/>
                  </a:ext>
                </a:extLst>
              </p:cNvPr>
              <p:cNvSpPr/>
              <p:nvPr/>
            </p:nvSpPr>
            <p:spPr>
              <a:xfrm>
                <a:off x="59" y="0"/>
                <a:ext cx="6120000" cy="5293800"/>
              </a:xfrm>
              <a:custGeom>
                <a:avLst/>
                <a:gdLst/>
                <a:ahLst/>
                <a:cxnLst/>
                <a:rect l="l" t="t" r="r" b="b"/>
                <a:pathLst>
                  <a:path w="6120000" h="5293800">
                    <a:moveTo>
                      <a:pt x="0" y="0"/>
                    </a:moveTo>
                    <a:lnTo>
                      <a:pt x="6120000" y="0"/>
                    </a:lnTo>
                    <a:lnTo>
                      <a:pt x="6120000" y="5293800"/>
                    </a:lnTo>
                    <a:lnTo>
                      <a:pt x="0" y="5293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1200">
                  <a:latin typeface="Edu NSW ACT Foundation" panose="020B0604020202020204" charset="0"/>
                </a:endParaRPr>
              </a:p>
            </p:txBody>
          </p:sp>
          <p:sp>
            <p:nvSpPr>
              <p:cNvPr id="37" name="AutoShape 4">
                <a:extLst>
                  <a:ext uri="{FF2B5EF4-FFF2-40B4-BE49-F238E27FC236}">
                    <a16:creationId xmlns:a16="http://schemas.microsoft.com/office/drawing/2014/main" id="{19E6776A-EDC3-D30F-769F-FE96ED40DFBB}"/>
                  </a:ext>
                </a:extLst>
              </p:cNvPr>
              <p:cNvSpPr/>
              <p:nvPr/>
            </p:nvSpPr>
            <p:spPr>
              <a:xfrm>
                <a:off x="1548943" y="19113"/>
                <a:ext cx="3012673" cy="5274750"/>
              </a:xfrm>
              <a:prstGeom prst="line">
                <a:avLst/>
              </a:prstGeom>
              <a:ln w="38100" cap="flat">
                <a:solidFill>
                  <a:srgbClr val="000000"/>
                </a:solidFill>
                <a:prstDash val="solid"/>
                <a:headEnd type="none" w="sm" len="sm"/>
                <a:tailEnd type="none" w="sm" len="sm"/>
              </a:ln>
            </p:spPr>
            <p:txBody>
              <a:bodyPr/>
              <a:lstStyle/>
              <a:p>
                <a:endParaRPr lang="en-AU" sz="1200">
                  <a:latin typeface="Edu NSW ACT Foundation" panose="020B0604020202020204" charset="0"/>
                </a:endParaRPr>
              </a:p>
            </p:txBody>
          </p:sp>
          <p:sp>
            <p:nvSpPr>
              <p:cNvPr id="38" name="AutoShape 5">
                <a:extLst>
                  <a:ext uri="{FF2B5EF4-FFF2-40B4-BE49-F238E27FC236}">
                    <a16:creationId xmlns:a16="http://schemas.microsoft.com/office/drawing/2014/main" id="{1BBFE59A-55CA-B89E-59E8-D82609920FCD}"/>
                  </a:ext>
                </a:extLst>
              </p:cNvPr>
              <p:cNvSpPr/>
              <p:nvPr/>
            </p:nvSpPr>
            <p:spPr>
              <a:xfrm flipV="1">
                <a:off x="1532401" y="19113"/>
                <a:ext cx="3045757" cy="5265148"/>
              </a:xfrm>
              <a:prstGeom prst="line">
                <a:avLst/>
              </a:prstGeom>
              <a:ln w="38100" cap="flat">
                <a:solidFill>
                  <a:srgbClr val="000000"/>
                </a:solidFill>
                <a:prstDash val="solid"/>
                <a:headEnd type="none" w="sm" len="sm"/>
                <a:tailEnd type="none" w="sm" len="sm"/>
              </a:ln>
            </p:spPr>
            <p:txBody>
              <a:bodyPr/>
              <a:lstStyle/>
              <a:p>
                <a:endParaRPr lang="en-AU" sz="1200">
                  <a:latin typeface="Edu NSW ACT Foundation" panose="020B0604020202020204" charset="0"/>
                </a:endParaRPr>
              </a:p>
            </p:txBody>
          </p:sp>
          <p:sp>
            <p:nvSpPr>
              <p:cNvPr id="39" name="AutoShape 6">
                <a:extLst>
                  <a:ext uri="{FF2B5EF4-FFF2-40B4-BE49-F238E27FC236}">
                    <a16:creationId xmlns:a16="http://schemas.microsoft.com/office/drawing/2014/main" id="{BE3ED8E9-7977-4692-E6C0-D66F7E2A74F4}"/>
                  </a:ext>
                </a:extLst>
              </p:cNvPr>
              <p:cNvSpPr/>
              <p:nvPr/>
            </p:nvSpPr>
            <p:spPr>
              <a:xfrm flipV="1">
                <a:off x="59" y="2646900"/>
                <a:ext cx="6120000" cy="19113"/>
              </a:xfrm>
              <a:prstGeom prst="line">
                <a:avLst/>
              </a:prstGeom>
              <a:ln w="38100" cap="flat">
                <a:solidFill>
                  <a:srgbClr val="000000"/>
                </a:solidFill>
                <a:prstDash val="solid"/>
                <a:headEnd type="none" w="sm" len="sm"/>
                <a:tailEnd type="none" w="sm" len="sm"/>
              </a:ln>
            </p:spPr>
            <p:txBody>
              <a:bodyPr/>
              <a:lstStyle/>
              <a:p>
                <a:endParaRPr lang="en-AU" sz="1200">
                  <a:latin typeface="Edu NSW ACT Foundation" panose="020B0604020202020204" charset="0"/>
                </a:endParaRPr>
              </a:p>
            </p:txBody>
          </p:sp>
        </p:grpSp>
        <p:grpSp>
          <p:nvGrpSpPr>
            <p:cNvPr id="7" name="Group 7">
              <a:extLst>
                <a:ext uri="{FF2B5EF4-FFF2-40B4-BE49-F238E27FC236}">
                  <a16:creationId xmlns:a16="http://schemas.microsoft.com/office/drawing/2014/main" id="{12806BAC-CB37-254C-913E-5332E21E9F74}"/>
                </a:ext>
              </a:extLst>
            </p:cNvPr>
            <p:cNvGrpSpPr/>
            <p:nvPr/>
          </p:nvGrpSpPr>
          <p:grpSpPr>
            <a:xfrm>
              <a:off x="800271" y="1377267"/>
              <a:ext cx="4891250" cy="4352507"/>
              <a:chOff x="59" y="0"/>
              <a:chExt cx="6120001" cy="5293863"/>
            </a:xfrm>
          </p:grpSpPr>
          <p:sp>
            <p:nvSpPr>
              <p:cNvPr id="26" name="Freeform 8">
                <a:extLst>
                  <a:ext uri="{FF2B5EF4-FFF2-40B4-BE49-F238E27FC236}">
                    <a16:creationId xmlns:a16="http://schemas.microsoft.com/office/drawing/2014/main" id="{570A1194-2C34-DE30-3FAC-76DFAA3A48AA}"/>
                  </a:ext>
                </a:extLst>
              </p:cNvPr>
              <p:cNvSpPr/>
              <p:nvPr/>
            </p:nvSpPr>
            <p:spPr>
              <a:xfrm>
                <a:off x="59" y="0"/>
                <a:ext cx="6120001" cy="5293801"/>
              </a:xfrm>
              <a:custGeom>
                <a:avLst/>
                <a:gdLst/>
                <a:ahLst/>
                <a:cxnLst/>
                <a:rect l="l" t="t" r="r" b="b"/>
                <a:pathLst>
                  <a:path w="6120000" h="5293800">
                    <a:moveTo>
                      <a:pt x="0" y="0"/>
                    </a:moveTo>
                    <a:lnTo>
                      <a:pt x="6120000" y="0"/>
                    </a:lnTo>
                    <a:lnTo>
                      <a:pt x="6120000" y="5293800"/>
                    </a:lnTo>
                    <a:lnTo>
                      <a:pt x="0" y="5293800"/>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sz="1600">
                  <a:latin typeface="Edu NSW ACT Foundation" panose="020B0604020202020204" charset="0"/>
                </a:endParaRPr>
              </a:p>
            </p:txBody>
          </p:sp>
          <p:sp>
            <p:nvSpPr>
              <p:cNvPr id="27" name="AutoShape 9">
                <a:extLst>
                  <a:ext uri="{FF2B5EF4-FFF2-40B4-BE49-F238E27FC236}">
                    <a16:creationId xmlns:a16="http://schemas.microsoft.com/office/drawing/2014/main" id="{CF03551B-D4C6-CDE4-1DB9-AAB221F457CE}"/>
                  </a:ext>
                </a:extLst>
              </p:cNvPr>
              <p:cNvSpPr/>
              <p:nvPr/>
            </p:nvSpPr>
            <p:spPr>
              <a:xfrm>
                <a:off x="1548943" y="19113"/>
                <a:ext cx="3012673" cy="5274750"/>
              </a:xfrm>
              <a:prstGeom prst="line">
                <a:avLst/>
              </a:prstGeom>
              <a:ln w="38100" cap="flat">
                <a:solidFill>
                  <a:srgbClr val="000000"/>
                </a:solidFill>
                <a:prstDash val="solid"/>
                <a:headEnd type="none" w="sm" len="sm"/>
                <a:tailEnd type="none" w="sm" len="sm"/>
              </a:ln>
            </p:spPr>
            <p:txBody>
              <a:bodyPr/>
              <a:lstStyle/>
              <a:p>
                <a:endParaRPr lang="en-AU" sz="1200">
                  <a:latin typeface="Edu NSW ACT Foundation" panose="020B0604020202020204" charset="0"/>
                </a:endParaRPr>
              </a:p>
            </p:txBody>
          </p:sp>
          <p:sp>
            <p:nvSpPr>
              <p:cNvPr id="28" name="AutoShape 10">
                <a:extLst>
                  <a:ext uri="{FF2B5EF4-FFF2-40B4-BE49-F238E27FC236}">
                    <a16:creationId xmlns:a16="http://schemas.microsoft.com/office/drawing/2014/main" id="{3C87D014-6A0F-44E2-F1F8-C6DADB922B0B}"/>
                  </a:ext>
                </a:extLst>
              </p:cNvPr>
              <p:cNvSpPr/>
              <p:nvPr/>
            </p:nvSpPr>
            <p:spPr>
              <a:xfrm flipV="1">
                <a:off x="1532401" y="19113"/>
                <a:ext cx="3045757" cy="5265148"/>
              </a:xfrm>
              <a:prstGeom prst="line">
                <a:avLst/>
              </a:prstGeom>
              <a:ln w="38100" cap="flat">
                <a:solidFill>
                  <a:srgbClr val="000000"/>
                </a:solidFill>
                <a:prstDash val="solid"/>
                <a:headEnd type="none" w="sm" len="sm"/>
                <a:tailEnd type="none" w="sm" len="sm"/>
              </a:ln>
            </p:spPr>
            <p:txBody>
              <a:bodyPr/>
              <a:lstStyle/>
              <a:p>
                <a:endParaRPr lang="en-AU" sz="1200">
                  <a:latin typeface="Edu NSW ACT Foundation" panose="020B0604020202020204" charset="0"/>
                </a:endParaRPr>
              </a:p>
            </p:txBody>
          </p:sp>
          <p:sp>
            <p:nvSpPr>
              <p:cNvPr id="29" name="AutoShape 11">
                <a:extLst>
                  <a:ext uri="{FF2B5EF4-FFF2-40B4-BE49-F238E27FC236}">
                    <a16:creationId xmlns:a16="http://schemas.microsoft.com/office/drawing/2014/main" id="{DD1DFB4E-ADBF-9A27-B1EA-CDD9C9564DFD}"/>
                  </a:ext>
                </a:extLst>
              </p:cNvPr>
              <p:cNvSpPr/>
              <p:nvPr/>
            </p:nvSpPr>
            <p:spPr>
              <a:xfrm flipV="1">
                <a:off x="59" y="2646900"/>
                <a:ext cx="6120000" cy="19113"/>
              </a:xfrm>
              <a:prstGeom prst="line">
                <a:avLst/>
              </a:prstGeom>
              <a:ln w="38100" cap="flat">
                <a:solidFill>
                  <a:srgbClr val="000000"/>
                </a:solidFill>
                <a:prstDash val="solid"/>
                <a:headEnd type="none" w="sm" len="sm"/>
                <a:tailEnd type="none" w="sm" len="sm"/>
              </a:ln>
            </p:spPr>
            <p:txBody>
              <a:bodyPr/>
              <a:lstStyle/>
              <a:p>
                <a:endParaRPr lang="en-AU" sz="1200">
                  <a:latin typeface="Edu NSW ACT Foundation" panose="020B0604020202020204" charset="0"/>
                </a:endParaRPr>
              </a:p>
            </p:txBody>
          </p:sp>
          <p:sp>
            <p:nvSpPr>
              <p:cNvPr id="30" name="TextBox 12">
                <a:extLst>
                  <a:ext uri="{FF2B5EF4-FFF2-40B4-BE49-F238E27FC236}">
                    <a16:creationId xmlns:a16="http://schemas.microsoft.com/office/drawing/2014/main" id="{F7311045-A5A8-75F4-D662-516E96436ADD}"/>
                  </a:ext>
                </a:extLst>
              </p:cNvPr>
              <p:cNvSpPr txBox="1"/>
              <p:nvPr/>
            </p:nvSpPr>
            <p:spPr>
              <a:xfrm>
                <a:off x="1123635" y="970644"/>
                <a:ext cx="562038" cy="1130268"/>
              </a:xfrm>
              <a:prstGeom prst="rect">
                <a:avLst/>
              </a:prstGeom>
            </p:spPr>
            <p:txBody>
              <a:bodyPr wrap="square" lIns="0" tIns="0" rIns="0" bIns="0" rtlCol="0" anchor="t">
                <a:spAutoFit/>
              </a:bodyPr>
              <a:lstStyle/>
              <a:p>
                <a:pPr algn="ctr">
                  <a:lnSpc>
                    <a:spcPts val="4742"/>
                  </a:lnSpc>
                </a:pPr>
                <a:r>
                  <a:rPr lang="en-US" sz="1600">
                    <a:solidFill>
                      <a:srgbClr val="000000"/>
                    </a:solidFill>
                    <a:latin typeface="Edu NSW ACT Foundation" panose="020B0604020202020204" charset="0"/>
                    <a:ea typeface="Canva Sans"/>
                    <a:cs typeface="Canva Sans"/>
                    <a:sym typeface="Canva Sans"/>
                  </a:rPr>
                  <a:t>1</a:t>
                </a:r>
              </a:p>
            </p:txBody>
          </p:sp>
          <p:sp>
            <p:nvSpPr>
              <p:cNvPr id="31" name="TextBox 13">
                <a:extLst>
                  <a:ext uri="{FF2B5EF4-FFF2-40B4-BE49-F238E27FC236}">
                    <a16:creationId xmlns:a16="http://schemas.microsoft.com/office/drawing/2014/main" id="{AF716461-5B48-FA7C-DD28-5762D4B67120}"/>
                  </a:ext>
                </a:extLst>
              </p:cNvPr>
              <p:cNvSpPr txBox="1"/>
              <p:nvPr/>
            </p:nvSpPr>
            <p:spPr>
              <a:xfrm>
                <a:off x="1360406" y="2749098"/>
                <a:ext cx="363129" cy="1130268"/>
              </a:xfrm>
              <a:prstGeom prst="rect">
                <a:avLst/>
              </a:prstGeom>
            </p:spPr>
            <p:txBody>
              <a:bodyPr wrap="square" lIns="0" tIns="0" rIns="0" bIns="0" rtlCol="0" anchor="t">
                <a:spAutoFit/>
              </a:bodyPr>
              <a:lstStyle/>
              <a:p>
                <a:pPr algn="ctr">
                  <a:lnSpc>
                    <a:spcPts val="4742"/>
                  </a:lnSpc>
                </a:pPr>
                <a:r>
                  <a:rPr lang="en-US" sz="1600">
                    <a:solidFill>
                      <a:srgbClr val="000000"/>
                    </a:solidFill>
                    <a:latin typeface="Edu NSW ACT Foundation" panose="020B0604020202020204" charset="0"/>
                    <a:ea typeface="Canva Sans"/>
                    <a:cs typeface="Canva Sans"/>
                    <a:sym typeface="Canva Sans"/>
                  </a:rPr>
                  <a:t>2</a:t>
                </a:r>
              </a:p>
            </p:txBody>
          </p:sp>
          <p:sp>
            <p:nvSpPr>
              <p:cNvPr id="32" name="TextBox 14">
                <a:extLst>
                  <a:ext uri="{FF2B5EF4-FFF2-40B4-BE49-F238E27FC236}">
                    <a16:creationId xmlns:a16="http://schemas.microsoft.com/office/drawing/2014/main" id="{E6017839-6E44-2278-433E-1DC10AD349A5}"/>
                  </a:ext>
                </a:extLst>
              </p:cNvPr>
              <p:cNvSpPr txBox="1"/>
              <p:nvPr/>
            </p:nvSpPr>
            <p:spPr>
              <a:xfrm>
                <a:off x="2810394" y="3368184"/>
                <a:ext cx="581183" cy="1130268"/>
              </a:xfrm>
              <a:prstGeom prst="rect">
                <a:avLst/>
              </a:prstGeom>
            </p:spPr>
            <p:txBody>
              <a:bodyPr wrap="square" lIns="0" tIns="0" rIns="0" bIns="0" rtlCol="0" anchor="t">
                <a:spAutoFit/>
              </a:bodyPr>
              <a:lstStyle/>
              <a:p>
                <a:pPr algn="ctr">
                  <a:lnSpc>
                    <a:spcPts val="4742"/>
                  </a:lnSpc>
                </a:pPr>
                <a:r>
                  <a:rPr lang="en-US" sz="1600">
                    <a:solidFill>
                      <a:srgbClr val="000000"/>
                    </a:solidFill>
                    <a:latin typeface="Edu NSW ACT Foundation" panose="020B0604020202020204" charset="0"/>
                    <a:ea typeface="Canva Sans"/>
                    <a:cs typeface="Canva Sans"/>
                    <a:sym typeface="Canva Sans"/>
                  </a:rPr>
                  <a:t>3</a:t>
                </a:r>
              </a:p>
            </p:txBody>
          </p:sp>
          <p:sp>
            <p:nvSpPr>
              <p:cNvPr id="33" name="TextBox 15">
                <a:extLst>
                  <a:ext uri="{FF2B5EF4-FFF2-40B4-BE49-F238E27FC236}">
                    <a16:creationId xmlns:a16="http://schemas.microsoft.com/office/drawing/2014/main" id="{4A014264-2DF2-1E09-3BD4-40E37775133A}"/>
                  </a:ext>
                </a:extLst>
              </p:cNvPr>
              <p:cNvSpPr txBox="1"/>
              <p:nvPr/>
            </p:nvSpPr>
            <p:spPr>
              <a:xfrm>
                <a:off x="4427785" y="2750397"/>
                <a:ext cx="393779" cy="1130268"/>
              </a:xfrm>
              <a:prstGeom prst="rect">
                <a:avLst/>
              </a:prstGeom>
            </p:spPr>
            <p:txBody>
              <a:bodyPr wrap="square" lIns="0" tIns="0" rIns="0" bIns="0" rtlCol="0" anchor="t">
                <a:spAutoFit/>
              </a:bodyPr>
              <a:lstStyle/>
              <a:p>
                <a:pPr algn="ctr">
                  <a:lnSpc>
                    <a:spcPts val="4742"/>
                  </a:lnSpc>
                </a:pPr>
                <a:r>
                  <a:rPr lang="en-US" sz="1600">
                    <a:solidFill>
                      <a:srgbClr val="000000"/>
                    </a:solidFill>
                    <a:latin typeface="Edu NSW ACT Foundation" panose="020B0604020202020204" charset="0"/>
                    <a:ea typeface="Canva Sans"/>
                    <a:cs typeface="Canva Sans"/>
                    <a:sym typeface="Canva Sans"/>
                  </a:rPr>
                  <a:t>2</a:t>
                </a:r>
              </a:p>
            </p:txBody>
          </p:sp>
          <p:sp>
            <p:nvSpPr>
              <p:cNvPr id="34" name="TextBox 16">
                <a:extLst>
                  <a:ext uri="{FF2B5EF4-FFF2-40B4-BE49-F238E27FC236}">
                    <a16:creationId xmlns:a16="http://schemas.microsoft.com/office/drawing/2014/main" id="{398E6E5D-CAAB-60CE-7D4E-EC2A70CEF011}"/>
                  </a:ext>
                </a:extLst>
              </p:cNvPr>
              <p:cNvSpPr txBox="1"/>
              <p:nvPr/>
            </p:nvSpPr>
            <p:spPr>
              <a:xfrm>
                <a:off x="2810394" y="75067"/>
                <a:ext cx="406815" cy="1130268"/>
              </a:xfrm>
              <a:prstGeom prst="rect">
                <a:avLst/>
              </a:prstGeom>
            </p:spPr>
            <p:txBody>
              <a:bodyPr wrap="square" lIns="0" tIns="0" rIns="0" bIns="0" rtlCol="0" anchor="t">
                <a:spAutoFit/>
              </a:bodyPr>
              <a:lstStyle/>
              <a:p>
                <a:pPr algn="ctr">
                  <a:lnSpc>
                    <a:spcPts val="4742"/>
                  </a:lnSpc>
                </a:pPr>
                <a:r>
                  <a:rPr lang="en-US" sz="1600">
                    <a:solidFill>
                      <a:srgbClr val="000000"/>
                    </a:solidFill>
                    <a:latin typeface="Edu NSW ACT Foundation" panose="020B0604020202020204" charset="0"/>
                    <a:ea typeface="Canva Sans"/>
                    <a:cs typeface="Canva Sans"/>
                    <a:sym typeface="Canva Sans"/>
                  </a:rPr>
                  <a:t>3</a:t>
                </a:r>
              </a:p>
            </p:txBody>
          </p:sp>
          <p:sp>
            <p:nvSpPr>
              <p:cNvPr id="35" name="TextBox 17">
                <a:extLst>
                  <a:ext uri="{FF2B5EF4-FFF2-40B4-BE49-F238E27FC236}">
                    <a16:creationId xmlns:a16="http://schemas.microsoft.com/office/drawing/2014/main" id="{CD13DE51-1C2B-EBF2-D024-5DD735799377}"/>
                  </a:ext>
                </a:extLst>
              </p:cNvPr>
              <p:cNvSpPr txBox="1"/>
              <p:nvPr/>
            </p:nvSpPr>
            <p:spPr>
              <a:xfrm>
                <a:off x="4409018" y="941944"/>
                <a:ext cx="574427" cy="1130268"/>
              </a:xfrm>
              <a:prstGeom prst="rect">
                <a:avLst/>
              </a:prstGeom>
            </p:spPr>
            <p:txBody>
              <a:bodyPr wrap="square" lIns="0" tIns="0" rIns="0" bIns="0" rtlCol="0" anchor="t">
                <a:spAutoFit/>
              </a:bodyPr>
              <a:lstStyle/>
              <a:p>
                <a:pPr algn="ctr">
                  <a:lnSpc>
                    <a:spcPts val="4742"/>
                  </a:lnSpc>
                </a:pPr>
                <a:r>
                  <a:rPr lang="en-US" sz="1600">
                    <a:solidFill>
                      <a:srgbClr val="000000"/>
                    </a:solidFill>
                    <a:latin typeface="Edu NSW ACT Foundation" panose="020B0604020202020204" charset="0"/>
                    <a:ea typeface="Canva Sans"/>
                    <a:cs typeface="Canva Sans"/>
                    <a:sym typeface="Canva Sans"/>
                  </a:rPr>
                  <a:t>4</a:t>
                </a:r>
              </a:p>
            </p:txBody>
          </p:sp>
        </p:grpSp>
        <p:sp>
          <p:nvSpPr>
            <p:cNvPr id="8" name="TextBox 19">
              <a:extLst>
                <a:ext uri="{FF2B5EF4-FFF2-40B4-BE49-F238E27FC236}">
                  <a16:creationId xmlns:a16="http://schemas.microsoft.com/office/drawing/2014/main" id="{D74E7F6A-1EE5-3F11-D1F0-DB6CC4277116}"/>
                </a:ext>
              </a:extLst>
            </p:cNvPr>
            <p:cNvSpPr txBox="1"/>
            <p:nvPr/>
          </p:nvSpPr>
          <p:spPr>
            <a:xfrm>
              <a:off x="8271324" y="1246469"/>
              <a:ext cx="943413" cy="907107"/>
            </a:xfrm>
            <a:prstGeom prst="rect">
              <a:avLst/>
            </a:prstGeom>
          </p:spPr>
          <p:txBody>
            <a:bodyPr wrap="square" lIns="0" tIns="0" rIns="0" bIns="0" rtlCol="0" anchor="t">
              <a:spAutoFit/>
            </a:bodyPr>
            <a:lstStyle/>
            <a:p>
              <a:pPr algn="just">
                <a:lnSpc>
                  <a:spcPts val="4742"/>
                </a:lnSpc>
              </a:pPr>
              <a:r>
                <a:rPr lang="en-US" sz="1200">
                  <a:solidFill>
                    <a:srgbClr val="000000"/>
                  </a:solidFill>
                  <a:latin typeface="Edu NSW ACT Foundation" panose="020B0604020202020204" charset="0"/>
                  <a:ea typeface="Canva Student Font"/>
                  <a:cs typeface="Canva Student Font"/>
                  <a:sym typeface="Canva Student Font"/>
                </a:rPr>
                <a:t>halves</a:t>
              </a:r>
            </a:p>
          </p:txBody>
        </p:sp>
        <p:sp>
          <p:nvSpPr>
            <p:cNvPr id="9" name="TextBox 22">
              <a:extLst>
                <a:ext uri="{FF2B5EF4-FFF2-40B4-BE49-F238E27FC236}">
                  <a16:creationId xmlns:a16="http://schemas.microsoft.com/office/drawing/2014/main" id="{2EEDAAFD-5A6B-A949-99DD-22903B54BF39}"/>
                </a:ext>
              </a:extLst>
            </p:cNvPr>
            <p:cNvSpPr txBox="1"/>
            <p:nvPr/>
          </p:nvSpPr>
          <p:spPr>
            <a:xfrm rot="3656195">
              <a:off x="9959484" y="2349759"/>
              <a:ext cx="893224" cy="938637"/>
            </a:xfrm>
            <a:prstGeom prst="rect">
              <a:avLst/>
            </a:prstGeom>
          </p:spPr>
          <p:txBody>
            <a:bodyPr wrap="square" lIns="0" tIns="0" rIns="0" bIns="0" rtlCol="0" anchor="t">
              <a:spAutoFit/>
            </a:bodyPr>
            <a:lstStyle/>
            <a:p>
              <a:pPr algn="just">
                <a:lnSpc>
                  <a:spcPts val="4742"/>
                </a:lnSpc>
              </a:pPr>
              <a:r>
                <a:rPr lang="en-US" sz="1200">
                  <a:solidFill>
                    <a:srgbClr val="000000"/>
                  </a:solidFill>
                  <a:latin typeface="Edu NSW ACT Foundation" panose="020B0604020202020204" charset="0"/>
                  <a:ea typeface="Canva Student Font"/>
                  <a:cs typeface="Canva Student Font"/>
                  <a:sym typeface="Canva Student Font"/>
                </a:rPr>
                <a:t>thirds</a:t>
              </a:r>
            </a:p>
          </p:txBody>
        </p:sp>
        <p:sp>
          <p:nvSpPr>
            <p:cNvPr id="10" name="TextBox 24">
              <a:extLst>
                <a:ext uri="{FF2B5EF4-FFF2-40B4-BE49-F238E27FC236}">
                  <a16:creationId xmlns:a16="http://schemas.microsoft.com/office/drawing/2014/main" id="{9DDF8D84-923C-2C32-4718-50263B44C332}"/>
                </a:ext>
              </a:extLst>
            </p:cNvPr>
            <p:cNvSpPr txBox="1"/>
            <p:nvPr/>
          </p:nvSpPr>
          <p:spPr>
            <a:xfrm rot="7186826">
              <a:off x="9246075" y="4333923"/>
              <a:ext cx="1942615" cy="741114"/>
            </a:xfrm>
            <a:prstGeom prst="rect">
              <a:avLst/>
            </a:prstGeom>
          </p:spPr>
          <p:txBody>
            <a:bodyPr wrap="square" lIns="0" tIns="0" rIns="0" bIns="0" rtlCol="0" anchor="t">
              <a:spAutoFit/>
            </a:bodyPr>
            <a:lstStyle/>
            <a:p>
              <a:pPr algn="just">
                <a:lnSpc>
                  <a:spcPts val="3342"/>
                </a:lnSpc>
              </a:pPr>
              <a:r>
                <a:rPr lang="en-US" sz="1100">
                  <a:solidFill>
                    <a:srgbClr val="000000"/>
                  </a:solidFill>
                  <a:latin typeface="Edu NSW ACT Foundation" panose="020B0604020202020204" charset="0"/>
                  <a:ea typeface="Canva Student Font"/>
                  <a:cs typeface="Canva Student Font"/>
                  <a:sym typeface="Canva Student Font"/>
                </a:rPr>
                <a:t>fourths /quarters</a:t>
              </a:r>
            </a:p>
          </p:txBody>
        </p:sp>
        <p:sp>
          <p:nvSpPr>
            <p:cNvPr id="11" name="TextBox 27">
              <a:extLst>
                <a:ext uri="{FF2B5EF4-FFF2-40B4-BE49-F238E27FC236}">
                  <a16:creationId xmlns:a16="http://schemas.microsoft.com/office/drawing/2014/main" id="{A34716BB-3954-9B6C-6489-B8295C6562B2}"/>
                </a:ext>
              </a:extLst>
            </p:cNvPr>
            <p:cNvSpPr txBox="1"/>
            <p:nvPr/>
          </p:nvSpPr>
          <p:spPr>
            <a:xfrm rot="10800000">
              <a:off x="7869400" y="5073149"/>
              <a:ext cx="962818" cy="907107"/>
            </a:xfrm>
            <a:prstGeom prst="rect">
              <a:avLst/>
            </a:prstGeom>
          </p:spPr>
          <p:txBody>
            <a:bodyPr wrap="square" lIns="0" tIns="0" rIns="0" bIns="0" rtlCol="0" anchor="t">
              <a:spAutoFit/>
            </a:bodyPr>
            <a:lstStyle/>
            <a:p>
              <a:pPr algn="just">
                <a:lnSpc>
                  <a:spcPts val="4742"/>
                </a:lnSpc>
              </a:pPr>
              <a:r>
                <a:rPr lang="en-US" sz="1200">
                  <a:solidFill>
                    <a:srgbClr val="000000"/>
                  </a:solidFill>
                  <a:latin typeface="Edu NSW ACT Foundation" panose="020B0604020202020204" charset="0"/>
                  <a:ea typeface="Canva Student Font"/>
                  <a:cs typeface="Canva Student Font"/>
                  <a:sym typeface="Canva Student Font"/>
                </a:rPr>
                <a:t>sixths</a:t>
              </a:r>
            </a:p>
          </p:txBody>
        </p:sp>
        <p:sp>
          <p:nvSpPr>
            <p:cNvPr id="12" name="TextBox 33">
              <a:extLst>
                <a:ext uri="{FF2B5EF4-FFF2-40B4-BE49-F238E27FC236}">
                  <a16:creationId xmlns:a16="http://schemas.microsoft.com/office/drawing/2014/main" id="{FB167AEB-EA5A-8219-89D7-55681FAB40ED}"/>
                </a:ext>
              </a:extLst>
            </p:cNvPr>
            <p:cNvSpPr txBox="1"/>
            <p:nvPr/>
          </p:nvSpPr>
          <p:spPr>
            <a:xfrm rot="17905217">
              <a:off x="6317661" y="1917517"/>
              <a:ext cx="1355240" cy="938637"/>
            </a:xfrm>
            <a:prstGeom prst="rect">
              <a:avLst/>
            </a:prstGeom>
          </p:spPr>
          <p:txBody>
            <a:bodyPr lIns="0" tIns="0" rIns="0" bIns="0" rtlCol="0" anchor="t">
              <a:spAutoFit/>
            </a:bodyPr>
            <a:lstStyle/>
            <a:p>
              <a:pPr algn="just">
                <a:lnSpc>
                  <a:spcPts val="4742"/>
                </a:lnSpc>
              </a:pPr>
              <a:r>
                <a:rPr lang="en-US" sz="1200">
                  <a:solidFill>
                    <a:srgbClr val="000000"/>
                  </a:solidFill>
                  <a:latin typeface="Edu NSW ACT Foundation" panose="020B0604020202020204" charset="0"/>
                  <a:ea typeface="Canva Student Font"/>
                  <a:cs typeface="Canva Student Font"/>
                  <a:sym typeface="Canva Student Font"/>
                </a:rPr>
                <a:t>twelfths</a:t>
              </a:r>
            </a:p>
          </p:txBody>
        </p:sp>
        <p:sp>
          <p:nvSpPr>
            <p:cNvPr id="13" name="TextBox 30">
              <a:extLst>
                <a:ext uri="{FF2B5EF4-FFF2-40B4-BE49-F238E27FC236}">
                  <a16:creationId xmlns:a16="http://schemas.microsoft.com/office/drawing/2014/main" id="{748D183D-F423-11CD-27A2-848E4A71E0CC}"/>
                </a:ext>
              </a:extLst>
            </p:cNvPr>
            <p:cNvSpPr txBox="1"/>
            <p:nvPr/>
          </p:nvSpPr>
          <p:spPr>
            <a:xfrm rot="14427961">
              <a:off x="6162014" y="3848893"/>
              <a:ext cx="1106295" cy="938637"/>
            </a:xfrm>
            <a:prstGeom prst="rect">
              <a:avLst/>
            </a:prstGeom>
          </p:spPr>
          <p:txBody>
            <a:bodyPr wrap="square" lIns="0" tIns="0" rIns="0" bIns="0" rtlCol="0" anchor="t">
              <a:spAutoFit/>
            </a:bodyPr>
            <a:lstStyle/>
            <a:p>
              <a:pPr algn="just">
                <a:lnSpc>
                  <a:spcPts val="4742"/>
                </a:lnSpc>
              </a:pPr>
              <a:r>
                <a:rPr lang="en-US" sz="1200">
                  <a:solidFill>
                    <a:srgbClr val="000000"/>
                  </a:solidFill>
                  <a:latin typeface="Edu NSW ACT Foundation" panose="020B0604020202020204" charset="0"/>
                  <a:ea typeface="Canva Student Font"/>
                  <a:cs typeface="Canva Student Font"/>
                  <a:sym typeface="Canva Student Font"/>
                </a:rPr>
                <a:t>eighths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2A54674-95BA-3632-F92A-D2BEBC5C8F8B}"/>
                    </a:ext>
                  </a:extLst>
                </p:cNvPr>
                <p:cNvSpPr txBox="1"/>
                <p:nvPr/>
              </p:nvSpPr>
              <p:spPr>
                <a:xfrm rot="18156631">
                  <a:off x="7093044" y="2923673"/>
                  <a:ext cx="914400" cy="252663"/>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AU" sz="1200" i="1" smtClean="0">
                            <a:latin typeface="Cambria Math" panose="02040503050406030204" pitchFamily="18" charset="0"/>
                            <a:ea typeface="Cambria Math" panose="02040503050406030204" pitchFamily="18" charset="0"/>
                          </a:rPr>
                          <m:t>−</m:t>
                        </m:r>
                      </m:oMath>
                    </m:oMathPara>
                  </a14:m>
                  <a:endParaRPr lang="en-AU" sz="1200"/>
                </a:p>
              </p:txBody>
            </p:sp>
          </mc:Choice>
          <mc:Fallback xmlns="">
            <p:sp>
              <p:nvSpPr>
                <p:cNvPr id="14" name="TextBox 13">
                  <a:extLst>
                    <a:ext uri="{FF2B5EF4-FFF2-40B4-BE49-F238E27FC236}">
                      <a16:creationId xmlns:a16="http://schemas.microsoft.com/office/drawing/2014/main" id="{72A54674-95BA-3632-F92A-D2BEBC5C8F8B}"/>
                    </a:ext>
                  </a:extLst>
                </p:cNvPr>
                <p:cNvSpPr txBox="1">
                  <a:spLocks noRot="1" noChangeAspect="1" noMove="1" noResize="1" noEditPoints="1" noAdjustHandles="1" noChangeArrowheads="1" noChangeShapeType="1" noTextEdit="1"/>
                </p:cNvSpPr>
                <p:nvPr/>
              </p:nvSpPr>
              <p:spPr>
                <a:xfrm rot="18156631">
                  <a:off x="7093044" y="2923673"/>
                  <a:ext cx="914400" cy="2526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A398BD6-F423-2427-526D-37B1A188D7EE}"/>
                    </a:ext>
                  </a:extLst>
                </p:cNvPr>
                <p:cNvSpPr txBox="1"/>
                <p:nvPr/>
              </p:nvSpPr>
              <p:spPr>
                <a:xfrm>
                  <a:off x="8099257" y="2269957"/>
                  <a:ext cx="914400" cy="252663"/>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AU" sz="1200" i="1" smtClean="0">
                            <a:latin typeface="Cambria Math" panose="02040503050406030204" pitchFamily="18" charset="0"/>
                            <a:ea typeface="Cambria Math" panose="02040503050406030204" pitchFamily="18" charset="0"/>
                          </a:rPr>
                          <m:t>−</m:t>
                        </m:r>
                      </m:oMath>
                    </m:oMathPara>
                  </a14:m>
                  <a:endParaRPr lang="en-AU" sz="1200"/>
                </a:p>
              </p:txBody>
            </p:sp>
          </mc:Choice>
          <mc:Fallback xmlns="">
            <p:sp>
              <p:nvSpPr>
                <p:cNvPr id="15" name="TextBox 14">
                  <a:extLst>
                    <a:ext uri="{FF2B5EF4-FFF2-40B4-BE49-F238E27FC236}">
                      <a16:creationId xmlns:a16="http://schemas.microsoft.com/office/drawing/2014/main" id="{3A398BD6-F423-2427-526D-37B1A188D7EE}"/>
                    </a:ext>
                  </a:extLst>
                </p:cNvPr>
                <p:cNvSpPr txBox="1">
                  <a:spLocks noRot="1" noChangeAspect="1" noMove="1" noResize="1" noEditPoints="1" noAdjustHandles="1" noChangeArrowheads="1" noChangeShapeType="1" noTextEdit="1"/>
                </p:cNvSpPr>
                <p:nvPr/>
              </p:nvSpPr>
              <p:spPr>
                <a:xfrm>
                  <a:off x="8099257" y="2269957"/>
                  <a:ext cx="914400" cy="252663"/>
                </a:xfrm>
                <a:prstGeom prst="rect">
                  <a:avLst/>
                </a:prstGeom>
                <a:blipFill>
                  <a:blip r:embed="rId8"/>
                  <a:stretch>
                    <a:fillRect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B6D2B3-BE1A-E0CF-9072-FFF2BA087661}"/>
                    </a:ext>
                  </a:extLst>
                </p:cNvPr>
                <p:cNvSpPr txBox="1"/>
                <p:nvPr/>
              </p:nvSpPr>
              <p:spPr>
                <a:xfrm>
                  <a:off x="8095246" y="4600072"/>
                  <a:ext cx="914400" cy="252663"/>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AU" sz="1200" i="1" smtClean="0">
                            <a:latin typeface="Cambria Math" panose="02040503050406030204" pitchFamily="18" charset="0"/>
                            <a:ea typeface="Cambria Math" panose="02040503050406030204" pitchFamily="18" charset="0"/>
                          </a:rPr>
                          <m:t>−</m:t>
                        </m:r>
                      </m:oMath>
                    </m:oMathPara>
                  </a14:m>
                  <a:endParaRPr lang="en-AU" sz="1200"/>
                </a:p>
              </p:txBody>
            </p:sp>
          </mc:Choice>
          <mc:Fallback xmlns="">
            <p:sp>
              <p:nvSpPr>
                <p:cNvPr id="16" name="TextBox 15">
                  <a:extLst>
                    <a:ext uri="{FF2B5EF4-FFF2-40B4-BE49-F238E27FC236}">
                      <a16:creationId xmlns:a16="http://schemas.microsoft.com/office/drawing/2014/main" id="{CDB6D2B3-BE1A-E0CF-9072-FFF2BA087661}"/>
                    </a:ext>
                  </a:extLst>
                </p:cNvPr>
                <p:cNvSpPr txBox="1">
                  <a:spLocks noRot="1" noChangeAspect="1" noMove="1" noResize="1" noEditPoints="1" noAdjustHandles="1" noChangeArrowheads="1" noChangeShapeType="1" noTextEdit="1"/>
                </p:cNvSpPr>
                <p:nvPr/>
              </p:nvSpPr>
              <p:spPr>
                <a:xfrm>
                  <a:off x="8095246" y="4600072"/>
                  <a:ext cx="914400" cy="252663"/>
                </a:xfrm>
                <a:prstGeom prst="rect">
                  <a:avLst/>
                </a:prstGeom>
                <a:blipFill>
                  <a:blip r:embed="rId9"/>
                  <a:stretch>
                    <a:fillRect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C9FF130-0277-5F4E-ACFD-E47E67096A64}"/>
                    </a:ext>
                  </a:extLst>
                </p:cNvPr>
                <p:cNvSpPr txBox="1"/>
                <p:nvPr/>
              </p:nvSpPr>
              <p:spPr>
                <a:xfrm rot="18089695">
                  <a:off x="9133973" y="4074694"/>
                  <a:ext cx="914400" cy="252663"/>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AU" sz="1200" i="1" smtClean="0">
                            <a:latin typeface="Cambria Math" panose="02040503050406030204" pitchFamily="18" charset="0"/>
                            <a:ea typeface="Cambria Math" panose="02040503050406030204" pitchFamily="18" charset="0"/>
                          </a:rPr>
                          <m:t>−</m:t>
                        </m:r>
                      </m:oMath>
                    </m:oMathPara>
                  </a14:m>
                  <a:endParaRPr lang="en-AU" sz="1200"/>
                </a:p>
              </p:txBody>
            </p:sp>
          </mc:Choice>
          <mc:Fallback xmlns="">
            <p:sp>
              <p:nvSpPr>
                <p:cNvPr id="17" name="TextBox 16">
                  <a:extLst>
                    <a:ext uri="{FF2B5EF4-FFF2-40B4-BE49-F238E27FC236}">
                      <a16:creationId xmlns:a16="http://schemas.microsoft.com/office/drawing/2014/main" id="{3C9FF130-0277-5F4E-ACFD-E47E67096A64}"/>
                    </a:ext>
                  </a:extLst>
                </p:cNvPr>
                <p:cNvSpPr txBox="1">
                  <a:spLocks noRot="1" noChangeAspect="1" noMove="1" noResize="1" noEditPoints="1" noAdjustHandles="1" noChangeArrowheads="1" noChangeShapeType="1" noTextEdit="1"/>
                </p:cNvSpPr>
                <p:nvPr/>
              </p:nvSpPr>
              <p:spPr>
                <a:xfrm rot="18089695">
                  <a:off x="9133973" y="4074694"/>
                  <a:ext cx="914400" cy="25266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1C614A5-B605-BE69-30C3-85EFABABCBF6}"/>
                    </a:ext>
                  </a:extLst>
                </p:cNvPr>
                <p:cNvSpPr txBox="1"/>
                <p:nvPr/>
              </p:nvSpPr>
              <p:spPr>
                <a:xfrm rot="3664883">
                  <a:off x="9069805" y="2855494"/>
                  <a:ext cx="914400" cy="252663"/>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AU" sz="1200" i="1" smtClean="0">
                            <a:latin typeface="Cambria Math" panose="02040503050406030204" pitchFamily="18" charset="0"/>
                            <a:ea typeface="Cambria Math" panose="02040503050406030204" pitchFamily="18" charset="0"/>
                          </a:rPr>
                          <m:t>−</m:t>
                        </m:r>
                      </m:oMath>
                    </m:oMathPara>
                  </a14:m>
                  <a:endParaRPr lang="en-AU" sz="1200"/>
                </a:p>
              </p:txBody>
            </p:sp>
          </mc:Choice>
          <mc:Fallback xmlns="">
            <p:sp>
              <p:nvSpPr>
                <p:cNvPr id="18" name="TextBox 17">
                  <a:extLst>
                    <a:ext uri="{FF2B5EF4-FFF2-40B4-BE49-F238E27FC236}">
                      <a16:creationId xmlns:a16="http://schemas.microsoft.com/office/drawing/2014/main" id="{D1C614A5-B605-BE69-30C3-85EFABABCBF6}"/>
                    </a:ext>
                  </a:extLst>
                </p:cNvPr>
                <p:cNvSpPr txBox="1">
                  <a:spLocks noRot="1" noChangeAspect="1" noMove="1" noResize="1" noEditPoints="1" noAdjustHandles="1" noChangeArrowheads="1" noChangeShapeType="1" noTextEdit="1"/>
                </p:cNvSpPr>
                <p:nvPr/>
              </p:nvSpPr>
              <p:spPr>
                <a:xfrm rot="3664883">
                  <a:off x="9069805" y="2855494"/>
                  <a:ext cx="914400" cy="25266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CC06E61-A625-84C4-8C7E-D7EEAAEAD41B}"/>
                    </a:ext>
                  </a:extLst>
                </p:cNvPr>
                <p:cNvSpPr txBox="1"/>
                <p:nvPr/>
              </p:nvSpPr>
              <p:spPr>
                <a:xfrm rot="3664883">
                  <a:off x="7176832" y="3970418"/>
                  <a:ext cx="914400" cy="252663"/>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AU" sz="1200" i="1" smtClean="0">
                            <a:latin typeface="Cambria Math" panose="02040503050406030204" pitchFamily="18" charset="0"/>
                            <a:ea typeface="Cambria Math" panose="02040503050406030204" pitchFamily="18" charset="0"/>
                          </a:rPr>
                          <m:t>−</m:t>
                        </m:r>
                      </m:oMath>
                    </m:oMathPara>
                  </a14:m>
                  <a:endParaRPr lang="en-AU" sz="1200"/>
                </a:p>
              </p:txBody>
            </p:sp>
          </mc:Choice>
          <mc:Fallback xmlns="">
            <p:sp>
              <p:nvSpPr>
                <p:cNvPr id="19" name="TextBox 18">
                  <a:extLst>
                    <a:ext uri="{FF2B5EF4-FFF2-40B4-BE49-F238E27FC236}">
                      <a16:creationId xmlns:a16="http://schemas.microsoft.com/office/drawing/2014/main" id="{0CC06E61-A625-84C4-8C7E-D7EEAAEAD41B}"/>
                    </a:ext>
                  </a:extLst>
                </p:cNvPr>
                <p:cNvSpPr txBox="1">
                  <a:spLocks noRot="1" noChangeAspect="1" noMove="1" noResize="1" noEditPoints="1" noAdjustHandles="1" noChangeArrowheads="1" noChangeShapeType="1" noTextEdit="1"/>
                </p:cNvSpPr>
                <p:nvPr/>
              </p:nvSpPr>
              <p:spPr>
                <a:xfrm rot="3664883">
                  <a:off x="7176832" y="3970418"/>
                  <a:ext cx="914400" cy="252663"/>
                </a:xfrm>
                <a:prstGeom prst="rect">
                  <a:avLst/>
                </a:prstGeom>
                <a:blipFill>
                  <a:blip r:embed="rId12"/>
                  <a:stretch>
                    <a:fillRect/>
                  </a:stretch>
                </a:blipFill>
              </p:spPr>
              <p:txBody>
                <a:bodyPr/>
                <a:lstStyle/>
                <a:p>
                  <a:r>
                    <a:rPr lang="en-US">
                      <a:noFill/>
                    </a:rPr>
                    <a:t> </a:t>
                  </a:r>
                </a:p>
              </p:txBody>
            </p:sp>
          </mc:Fallback>
        </mc:AlternateContent>
        <p:sp>
          <p:nvSpPr>
            <p:cNvPr id="20" name="TextBox 12">
              <a:extLst>
                <a:ext uri="{FF2B5EF4-FFF2-40B4-BE49-F238E27FC236}">
                  <a16:creationId xmlns:a16="http://schemas.microsoft.com/office/drawing/2014/main" id="{5D606B68-2158-262D-9606-CBB5723D738F}"/>
                </a:ext>
              </a:extLst>
            </p:cNvPr>
            <p:cNvSpPr txBox="1"/>
            <p:nvPr/>
          </p:nvSpPr>
          <p:spPr>
            <a:xfrm rot="18022185">
              <a:off x="7313790" y="2773676"/>
              <a:ext cx="602701" cy="710640"/>
            </a:xfrm>
            <a:prstGeom prst="rect">
              <a:avLst/>
            </a:prstGeom>
          </p:spPr>
          <p:txBody>
            <a:bodyPr wrap="square" lIns="0" tIns="0" rIns="0" bIns="0" rtlCol="0" anchor="t">
              <a:spAutoFit/>
            </a:bodyPr>
            <a:lstStyle/>
            <a:p>
              <a:pPr algn="ctr"/>
              <a:r>
                <a:rPr lang="en-US" sz="1200">
                  <a:solidFill>
                    <a:srgbClr val="000000"/>
                  </a:solidFill>
                  <a:latin typeface="Edu NSW ACT Foundation" panose="020B0604020202020204" charset="0"/>
                  <a:ea typeface="Canva Sans"/>
                  <a:cs typeface="Canva Sans"/>
                  <a:sym typeface="Canva Sans"/>
                </a:rPr>
                <a:t>*</a:t>
              </a:r>
            </a:p>
            <a:p>
              <a:pPr algn="ctr"/>
              <a:r>
                <a:rPr lang="en-US" sz="1200">
                  <a:solidFill>
                    <a:srgbClr val="000000"/>
                  </a:solidFill>
                  <a:latin typeface="Edu NSW ACT Foundation" panose="020B0604020202020204" charset="0"/>
                  <a:ea typeface="Canva Sans"/>
                  <a:cs typeface="Canva Sans"/>
                  <a:sym typeface="Canva Sans"/>
                </a:rPr>
                <a:t>12</a:t>
              </a:r>
            </a:p>
          </p:txBody>
        </p:sp>
        <p:sp>
          <p:nvSpPr>
            <p:cNvPr id="21" name="TextBox 12">
              <a:extLst>
                <a:ext uri="{FF2B5EF4-FFF2-40B4-BE49-F238E27FC236}">
                  <a16:creationId xmlns:a16="http://schemas.microsoft.com/office/drawing/2014/main" id="{2A6C55E3-D361-68E9-A1ED-AF09A789E85F}"/>
                </a:ext>
              </a:extLst>
            </p:cNvPr>
            <p:cNvSpPr txBox="1"/>
            <p:nvPr/>
          </p:nvSpPr>
          <p:spPr>
            <a:xfrm>
              <a:off x="8247815" y="2161432"/>
              <a:ext cx="602701" cy="686769"/>
            </a:xfrm>
            <a:prstGeom prst="rect">
              <a:avLst/>
            </a:prstGeom>
          </p:spPr>
          <p:txBody>
            <a:bodyPr wrap="square" lIns="0" tIns="0" rIns="0" bIns="0" rtlCol="0" anchor="t">
              <a:spAutoFit/>
            </a:bodyPr>
            <a:lstStyle/>
            <a:p>
              <a:pPr algn="ctr"/>
              <a:r>
                <a:rPr lang="en-US" sz="1200">
                  <a:solidFill>
                    <a:srgbClr val="000000"/>
                  </a:solidFill>
                  <a:latin typeface="Edu NSW ACT Foundation" panose="020B0604020202020204" charset="0"/>
                  <a:ea typeface="Canva Sans"/>
                  <a:cs typeface="Canva Sans"/>
                  <a:sym typeface="Canva Sans"/>
                </a:rPr>
                <a:t>*</a:t>
              </a:r>
            </a:p>
            <a:p>
              <a:pPr algn="ctr"/>
              <a:r>
                <a:rPr lang="en-US" sz="1200">
                  <a:solidFill>
                    <a:srgbClr val="000000"/>
                  </a:solidFill>
                  <a:latin typeface="Edu NSW ACT Foundation" panose="020B0604020202020204" charset="0"/>
                  <a:ea typeface="Canva Sans"/>
                  <a:cs typeface="Canva Sans"/>
                  <a:sym typeface="Canva Sans"/>
                </a:rPr>
                <a:t>2</a:t>
              </a:r>
            </a:p>
          </p:txBody>
        </p:sp>
        <p:sp>
          <p:nvSpPr>
            <p:cNvPr id="22" name="TextBox 12">
              <a:extLst>
                <a:ext uri="{FF2B5EF4-FFF2-40B4-BE49-F238E27FC236}">
                  <a16:creationId xmlns:a16="http://schemas.microsoft.com/office/drawing/2014/main" id="{77E24985-B169-4D11-41C4-546D92B77D67}"/>
                </a:ext>
              </a:extLst>
            </p:cNvPr>
            <p:cNvSpPr txBox="1"/>
            <p:nvPr/>
          </p:nvSpPr>
          <p:spPr>
            <a:xfrm rot="4167535">
              <a:off x="9146602" y="2681436"/>
              <a:ext cx="602701" cy="710640"/>
            </a:xfrm>
            <a:prstGeom prst="rect">
              <a:avLst/>
            </a:prstGeom>
          </p:spPr>
          <p:txBody>
            <a:bodyPr wrap="square" lIns="0" tIns="0" rIns="0" bIns="0" rtlCol="0" anchor="t">
              <a:spAutoFit/>
            </a:bodyPr>
            <a:lstStyle/>
            <a:p>
              <a:pPr algn="ctr"/>
              <a:r>
                <a:rPr lang="en-US" sz="1200">
                  <a:solidFill>
                    <a:srgbClr val="000000"/>
                  </a:solidFill>
                  <a:latin typeface="Edu NSW ACT Foundation" panose="020B0604020202020204" charset="0"/>
                  <a:ea typeface="Canva Sans"/>
                  <a:cs typeface="Canva Sans"/>
                  <a:sym typeface="Canva Sans"/>
                </a:rPr>
                <a:t>*</a:t>
              </a:r>
            </a:p>
            <a:p>
              <a:pPr algn="ctr"/>
              <a:r>
                <a:rPr lang="en-US" sz="1200">
                  <a:solidFill>
                    <a:srgbClr val="000000"/>
                  </a:solidFill>
                  <a:latin typeface="Edu NSW ACT Foundation" panose="020B0604020202020204" charset="0"/>
                  <a:ea typeface="Canva Sans"/>
                  <a:cs typeface="Canva Sans"/>
                  <a:sym typeface="Canva Sans"/>
                </a:rPr>
                <a:t>3</a:t>
              </a:r>
            </a:p>
          </p:txBody>
        </p:sp>
        <p:sp>
          <p:nvSpPr>
            <p:cNvPr id="23" name="TextBox 12">
              <a:extLst>
                <a:ext uri="{FF2B5EF4-FFF2-40B4-BE49-F238E27FC236}">
                  <a16:creationId xmlns:a16="http://schemas.microsoft.com/office/drawing/2014/main" id="{C2228652-4610-26B2-9EA2-62C509A6D6C5}"/>
                </a:ext>
              </a:extLst>
            </p:cNvPr>
            <p:cNvSpPr txBox="1"/>
            <p:nvPr/>
          </p:nvSpPr>
          <p:spPr>
            <a:xfrm rot="14441892">
              <a:off x="7353183" y="3715867"/>
              <a:ext cx="602700" cy="710640"/>
            </a:xfrm>
            <a:prstGeom prst="rect">
              <a:avLst/>
            </a:prstGeom>
          </p:spPr>
          <p:txBody>
            <a:bodyPr wrap="square" lIns="0" tIns="0" rIns="0" bIns="0" rtlCol="0" anchor="t">
              <a:spAutoFit/>
            </a:bodyPr>
            <a:lstStyle/>
            <a:p>
              <a:pPr algn="ctr"/>
              <a:r>
                <a:rPr lang="en-US" sz="1200">
                  <a:solidFill>
                    <a:srgbClr val="000000"/>
                  </a:solidFill>
                  <a:latin typeface="Edu NSW ACT Foundation" panose="020B0604020202020204" charset="0"/>
                  <a:ea typeface="Canva Sans"/>
                  <a:cs typeface="Canva Sans"/>
                  <a:sym typeface="Canva Sans"/>
                </a:rPr>
                <a:t>*</a:t>
              </a:r>
            </a:p>
            <a:p>
              <a:pPr algn="ctr"/>
              <a:r>
                <a:rPr lang="en-US" sz="1200">
                  <a:solidFill>
                    <a:srgbClr val="000000"/>
                  </a:solidFill>
                  <a:latin typeface="Edu NSW ACT Foundation" panose="020B0604020202020204" charset="0"/>
                  <a:ea typeface="Canva Sans"/>
                  <a:cs typeface="Canva Sans"/>
                  <a:sym typeface="Canva Sans"/>
                </a:rPr>
                <a:t>8</a:t>
              </a:r>
            </a:p>
          </p:txBody>
        </p:sp>
        <p:sp>
          <p:nvSpPr>
            <p:cNvPr id="24" name="TextBox 12">
              <a:extLst>
                <a:ext uri="{FF2B5EF4-FFF2-40B4-BE49-F238E27FC236}">
                  <a16:creationId xmlns:a16="http://schemas.microsoft.com/office/drawing/2014/main" id="{38ABF365-C73C-F645-42B3-D73FA1F02628}"/>
                </a:ext>
              </a:extLst>
            </p:cNvPr>
            <p:cNvSpPr txBox="1"/>
            <p:nvPr/>
          </p:nvSpPr>
          <p:spPr>
            <a:xfrm rot="10800000">
              <a:off x="8256264" y="4341697"/>
              <a:ext cx="602701" cy="686769"/>
            </a:xfrm>
            <a:prstGeom prst="rect">
              <a:avLst/>
            </a:prstGeom>
          </p:spPr>
          <p:txBody>
            <a:bodyPr wrap="square" lIns="0" tIns="0" rIns="0" bIns="0" rtlCol="0" anchor="t">
              <a:spAutoFit/>
            </a:bodyPr>
            <a:lstStyle/>
            <a:p>
              <a:pPr algn="ctr"/>
              <a:r>
                <a:rPr lang="en-US" sz="1200">
                  <a:solidFill>
                    <a:srgbClr val="000000"/>
                  </a:solidFill>
                  <a:latin typeface="Edu NSW ACT Foundation" panose="020B0604020202020204" charset="0"/>
                  <a:ea typeface="Canva Sans"/>
                  <a:cs typeface="Canva Sans"/>
                  <a:sym typeface="Canva Sans"/>
                </a:rPr>
                <a:t>*</a:t>
              </a:r>
            </a:p>
            <a:p>
              <a:pPr algn="ctr"/>
              <a:r>
                <a:rPr lang="en-US" sz="1200">
                  <a:solidFill>
                    <a:srgbClr val="000000"/>
                  </a:solidFill>
                  <a:latin typeface="Edu NSW ACT Foundation" panose="020B0604020202020204" charset="0"/>
                  <a:ea typeface="Canva Sans"/>
                  <a:cs typeface="Canva Sans"/>
                  <a:sym typeface="Canva Sans"/>
                </a:rPr>
                <a:t>6</a:t>
              </a:r>
            </a:p>
          </p:txBody>
        </p:sp>
        <p:sp>
          <p:nvSpPr>
            <p:cNvPr id="25" name="TextBox 12">
              <a:extLst>
                <a:ext uri="{FF2B5EF4-FFF2-40B4-BE49-F238E27FC236}">
                  <a16:creationId xmlns:a16="http://schemas.microsoft.com/office/drawing/2014/main" id="{58F81D75-6BB7-06FB-3065-EF46EC4D8575}"/>
                </a:ext>
              </a:extLst>
            </p:cNvPr>
            <p:cNvSpPr txBox="1"/>
            <p:nvPr/>
          </p:nvSpPr>
          <p:spPr>
            <a:xfrm rot="7397837">
              <a:off x="9250878" y="3832458"/>
              <a:ext cx="602701" cy="710640"/>
            </a:xfrm>
            <a:prstGeom prst="rect">
              <a:avLst/>
            </a:prstGeom>
          </p:spPr>
          <p:txBody>
            <a:bodyPr wrap="square" lIns="0" tIns="0" rIns="0" bIns="0" rtlCol="0" anchor="t">
              <a:spAutoFit/>
            </a:bodyPr>
            <a:lstStyle/>
            <a:p>
              <a:pPr algn="ctr"/>
              <a:r>
                <a:rPr lang="en-US" sz="1200">
                  <a:solidFill>
                    <a:srgbClr val="000000"/>
                  </a:solidFill>
                  <a:latin typeface="Edu NSW ACT Foundation" panose="020B0604020202020204" charset="0"/>
                  <a:ea typeface="Canva Sans"/>
                  <a:cs typeface="Canva Sans"/>
                  <a:sym typeface="Canva Sans"/>
                </a:rPr>
                <a:t>*</a:t>
              </a:r>
            </a:p>
            <a:p>
              <a:pPr algn="ctr"/>
              <a:r>
                <a:rPr lang="en-US" sz="1200">
                  <a:solidFill>
                    <a:srgbClr val="000000"/>
                  </a:solidFill>
                  <a:latin typeface="Edu NSW ACT Foundation" panose="020B0604020202020204" charset="0"/>
                  <a:ea typeface="Canva Sans"/>
                  <a:cs typeface="Canva Sans"/>
                  <a:sym typeface="Canva Sans"/>
                </a:rPr>
                <a:t>4</a:t>
              </a:r>
            </a:p>
          </p:txBody>
        </p:sp>
      </p:grpSp>
      <p:pic>
        <p:nvPicPr>
          <p:cNvPr id="42" name="Picture 41" descr="Blank fractions wall. ">
            <a:extLst>
              <a:ext uri="{FF2B5EF4-FFF2-40B4-BE49-F238E27FC236}">
                <a16:creationId xmlns:a16="http://schemas.microsoft.com/office/drawing/2014/main" id="{769ABF14-25CD-1033-06C3-68CB4C039530}"/>
              </a:ext>
            </a:extLst>
          </p:cNvPr>
          <p:cNvPicPr>
            <a:picLocks noChangeAspect="1"/>
          </p:cNvPicPr>
          <p:nvPr/>
        </p:nvPicPr>
        <p:blipFill>
          <a:blip r:embed="rId13"/>
          <a:stretch>
            <a:fillRect/>
          </a:stretch>
        </p:blipFill>
        <p:spPr>
          <a:xfrm>
            <a:off x="3473495" y="3899051"/>
            <a:ext cx="5245010" cy="2727405"/>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588962" y="868329"/>
                <a:ext cx="11243037" cy="2981680"/>
              </a:xfrm>
            </p:spPr>
            <p:txBody>
              <a:bodyPr/>
              <a:lstStyle/>
              <a:p>
                <a:pPr algn="ctr"/>
                <a:r>
                  <a:rPr lang="en-AU" sz="4400"/>
                  <a:t>If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3</m:t>
                        </m:r>
                      </m:num>
                      <m:den>
                        <m:r>
                          <a:rPr lang="en-AU" sz="4400" b="0" i="1" smtClean="0">
                            <a:latin typeface="Cambria Math" panose="02040503050406030204" pitchFamily="18" charset="0"/>
                          </a:rPr>
                          <m:t>4</m:t>
                        </m:r>
                      </m:den>
                    </m:f>
                  </m:oMath>
                </a14:m>
                <a:r>
                  <a:rPr lang="en-AU" sz="4400"/>
                  <a:t> of a fraction strip is shaded, the </a:t>
                </a:r>
                <a:r>
                  <a:rPr lang="en-AU" sz="4400" b="1"/>
                  <a:t>complementary fraction </a:t>
                </a:r>
                <a:r>
                  <a:rPr lang="en-AU" sz="4400"/>
                  <a:t>needed to make one whole is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4</m:t>
                        </m:r>
                      </m:den>
                    </m:f>
                  </m:oMath>
                </a14:m>
                <a:r>
                  <a:rPr lang="en-AU" sz="4400"/>
                  <a:t>.</a:t>
                </a:r>
              </a:p>
            </p:txBody>
          </p:sp>
        </mc:Choice>
        <mc:Fallback xmlns="">
          <p:sp>
            <p:nvSpPr>
              <p:cNvPr id="6" name="Text Placeholder 5">
                <a:extLst>
                  <a:ext uri="{FF2B5EF4-FFF2-40B4-BE49-F238E27FC236}">
                    <a16:creationId xmlns:a16="http://schemas.microsoft.com/office/drawing/2014/main" id="{B4E45FD3-3CB9-7929-21B5-6CF9A37684C0}"/>
                  </a:ext>
                </a:extLst>
              </p:cNvPr>
              <p:cNvSpPr>
                <a:spLocks noGrp="1" noRot="1" noChangeAspect="1" noMove="1" noResize="1" noEditPoints="1" noAdjustHandles="1" noChangeArrowheads="1" noChangeShapeType="1" noTextEdit="1"/>
              </p:cNvSpPr>
              <p:nvPr>
                <p:ph type="body" sz="quarter" idx="22"/>
              </p:nvPr>
            </p:nvSpPr>
            <p:spPr>
              <a:xfrm>
                <a:off x="588962" y="868329"/>
                <a:ext cx="11243037" cy="2981680"/>
              </a:xfrm>
              <a:blipFill>
                <a:blip r:embed="rId4"/>
                <a:stretch>
                  <a:fillRect r="-1030" b="-31020"/>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33F4A4E-F81B-E2B0-48EB-BD8C1F9E82D3}"/>
              </a:ext>
            </a:extLst>
          </p:cNvPr>
          <p:cNvSpPr txBox="1"/>
          <p:nvPr/>
        </p:nvSpPr>
        <p:spPr>
          <a:xfrm>
            <a:off x="246024" y="1169038"/>
            <a:ext cx="11699952" cy="5045164"/>
          </a:xfrm>
          <a:prstGeom prst="rect">
            <a:avLst/>
          </a:prstGeom>
          <a:noFill/>
        </p:spPr>
        <p:txBody>
          <a:bodyPr wrap="square">
            <a:spAutoFit/>
          </a:bodyPr>
          <a:lstStyle/>
          <a:p>
            <a:pPr algn="ctr">
              <a:lnSpc>
                <a:spcPct val="150000"/>
              </a:lnSpc>
              <a:buNone/>
            </a:pPr>
            <a:r>
              <a:rPr lang="en-AU" sz="4400"/>
              <a:t>Amira says, “To solve 4267 + 358, I </a:t>
            </a:r>
            <a:r>
              <a:rPr lang="en-AU" sz="4400" b="1"/>
              <a:t>added </a:t>
            </a:r>
            <a:r>
              <a:rPr lang="en-AU" sz="4400"/>
              <a:t>4267 + 360 and then </a:t>
            </a:r>
            <a:r>
              <a:rPr lang="en-AU" sz="4400" b="1"/>
              <a:t>subtracted</a:t>
            </a:r>
            <a:r>
              <a:rPr lang="en-AU" sz="4400"/>
              <a:t> 2.”</a:t>
            </a:r>
          </a:p>
          <a:p>
            <a:pPr algn="ctr">
              <a:lnSpc>
                <a:spcPct val="150000"/>
              </a:lnSpc>
              <a:buNone/>
            </a:pPr>
            <a:r>
              <a:rPr lang="en-AU" sz="4400"/>
              <a:t>Which </a:t>
            </a:r>
            <a:r>
              <a:rPr lang="en-AU" sz="4400" b="1"/>
              <a:t>strategy</a:t>
            </a:r>
            <a:r>
              <a:rPr lang="en-AU" sz="4400"/>
              <a:t> is Amira using?</a:t>
            </a:r>
            <a:br>
              <a:rPr lang="en-AU" sz="4400"/>
            </a:br>
            <a:r>
              <a:rPr lang="en-AU" sz="4400"/>
              <a:t>Is this an </a:t>
            </a:r>
            <a:r>
              <a:rPr lang="en-AU" sz="4400" b="1"/>
              <a:t>efficient</a:t>
            </a:r>
            <a:r>
              <a:rPr lang="en-AU" sz="4400"/>
              <a:t> way to solve the problem?</a:t>
            </a:r>
          </a:p>
          <a:p>
            <a:pPr algn="ctr">
              <a:lnSpc>
                <a:spcPct val="150000"/>
              </a:lnSpc>
              <a:buNone/>
            </a:pPr>
            <a:r>
              <a:rPr lang="en-AU" sz="4400" b="1"/>
              <a:t>Explain</a:t>
            </a:r>
            <a:r>
              <a:rPr lang="en-AU" sz="4400"/>
              <a:t> your </a:t>
            </a:r>
            <a:r>
              <a:rPr lang="en-AU" sz="4400" b="1"/>
              <a:t>reasoning</a:t>
            </a:r>
            <a:r>
              <a:rPr lang="en-AU" sz="4400"/>
              <a:t>.  </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0A6501B-C22F-CD6F-2FD9-FF0CD5D42057}"/>
              </a:ext>
            </a:extLst>
          </p:cNvPr>
          <p:cNvSpPr txBox="1"/>
          <p:nvPr/>
        </p:nvSpPr>
        <p:spPr>
          <a:xfrm>
            <a:off x="1156908" y="1803382"/>
            <a:ext cx="9878183" cy="3013838"/>
          </a:xfrm>
          <a:prstGeom prst="rect">
            <a:avLst/>
          </a:prstGeom>
          <a:noFill/>
        </p:spPr>
        <p:txBody>
          <a:bodyPr wrap="square">
            <a:spAutoFit/>
          </a:bodyPr>
          <a:lstStyle/>
          <a:p>
            <a:pPr algn="ctr">
              <a:lnSpc>
                <a:spcPct val="150000"/>
              </a:lnSpc>
            </a:pPr>
            <a:r>
              <a:rPr lang="en-AU" sz="4400"/>
              <a:t>What is the </a:t>
            </a:r>
            <a:r>
              <a:rPr lang="en-AU" sz="4400" b="1"/>
              <a:t>product</a:t>
            </a:r>
            <a:r>
              <a:rPr lang="en-AU" sz="4400"/>
              <a:t> of 8 and 7?</a:t>
            </a:r>
            <a:br>
              <a:rPr lang="en-AU" sz="4400"/>
            </a:br>
            <a:r>
              <a:rPr lang="en-AU" sz="4400"/>
              <a:t>Explain what the word </a:t>
            </a:r>
            <a:r>
              <a:rPr lang="en-AU" sz="4400" b="1"/>
              <a:t>product</a:t>
            </a:r>
            <a:r>
              <a:rPr lang="en-AU" sz="4400"/>
              <a:t> means in your answer.</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8B70748-C115-FC2A-7FE7-11AC551E6FC4}"/>
              </a:ext>
            </a:extLst>
          </p:cNvPr>
          <p:cNvSpPr txBox="1"/>
          <p:nvPr/>
        </p:nvSpPr>
        <p:spPr>
          <a:xfrm>
            <a:off x="912366" y="1184223"/>
            <a:ext cx="10367267" cy="4583499"/>
          </a:xfrm>
          <a:prstGeom prst="rect">
            <a:avLst/>
          </a:prstGeom>
          <a:noFill/>
        </p:spPr>
        <p:txBody>
          <a:bodyPr wrap="square">
            <a:spAutoFit/>
          </a:bodyPr>
          <a:lstStyle/>
          <a:p>
            <a:pPr algn="ctr">
              <a:lnSpc>
                <a:spcPct val="150000"/>
              </a:lnSpc>
            </a:pPr>
            <a:r>
              <a:rPr lang="en-AU" sz="4400"/>
              <a:t>Liam buys a bike and a helmet for $425. The bike costs $392. </a:t>
            </a:r>
          </a:p>
          <a:p>
            <a:pPr algn="ctr">
              <a:lnSpc>
                <a:spcPct val="150000"/>
              </a:lnSpc>
            </a:pPr>
            <a:r>
              <a:rPr lang="en-AU" sz="4400"/>
              <a:t>How much is the helmet?</a:t>
            </a:r>
          </a:p>
          <a:p>
            <a:pPr algn="ctr">
              <a:lnSpc>
                <a:spcPct val="150000"/>
              </a:lnSpc>
            </a:pPr>
            <a:endParaRPr lang="en-AU"/>
          </a:p>
          <a:p>
            <a:pPr algn="ctr">
              <a:lnSpc>
                <a:spcPct val="150000"/>
              </a:lnSpc>
            </a:pP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F4D2E64-9038-963C-370C-0DCFCBA5C6F6}"/>
              </a:ext>
            </a:extLst>
          </p:cNvPr>
          <p:cNvSpPr txBox="1"/>
          <p:nvPr/>
        </p:nvSpPr>
        <p:spPr>
          <a:xfrm>
            <a:off x="669072" y="905601"/>
            <a:ext cx="10601093" cy="5045164"/>
          </a:xfrm>
          <a:prstGeom prst="rect">
            <a:avLst/>
          </a:prstGeom>
          <a:noFill/>
        </p:spPr>
        <p:txBody>
          <a:bodyPr wrap="square">
            <a:spAutoFit/>
          </a:bodyPr>
          <a:lstStyle/>
          <a:p>
            <a:pPr algn="ctr">
              <a:lnSpc>
                <a:spcPct val="150000"/>
              </a:lnSpc>
              <a:buNone/>
            </a:pPr>
            <a:r>
              <a:rPr lang="en-AU" sz="4400"/>
              <a:t>Object A is built with </a:t>
            </a:r>
            <a:r>
              <a:rPr lang="en-AU" sz="4400" b="1"/>
              <a:t>12 cubic-centimetre blocks</a:t>
            </a:r>
            <a:r>
              <a:rPr lang="en-AU" sz="4400"/>
              <a:t>. Object B is built with </a:t>
            </a:r>
            <a:r>
              <a:rPr lang="en-AU" sz="4400" b="1"/>
              <a:t>15 cubic-centimetre blocks</a:t>
            </a:r>
            <a:r>
              <a:rPr lang="en-AU" sz="4400"/>
              <a:t>.</a:t>
            </a:r>
          </a:p>
          <a:p>
            <a:pPr algn="ctr">
              <a:lnSpc>
                <a:spcPct val="150000"/>
              </a:lnSpc>
              <a:buNone/>
            </a:pPr>
            <a:r>
              <a:rPr lang="en-AU" sz="4400"/>
              <a:t>Which object has the </a:t>
            </a:r>
            <a:r>
              <a:rPr lang="en-AU" sz="4400" b="1"/>
              <a:t>greater volume</a:t>
            </a:r>
            <a:r>
              <a:rPr lang="en-AU" sz="4400"/>
              <a:t>, and by how many </a:t>
            </a:r>
            <a:r>
              <a:rPr lang="en-AU" sz="4400" b="1"/>
              <a:t>cubic centimetres</a:t>
            </a:r>
            <a:r>
              <a:rPr lang="en-AU" sz="4400"/>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fractions on a number line</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Three lines A, B and C with zero to one. Line B has a halfway mark and Line C is divided into thirds. An arrow indicates 'Nicole's distance at different points along the line">
            <a:extLst>
              <a:ext uri="{FF2B5EF4-FFF2-40B4-BE49-F238E27FC236}">
                <a16:creationId xmlns:a16="http://schemas.microsoft.com/office/drawing/2014/main" id="{807D7AF4-86D1-229C-39AF-E61425012C6A}"/>
              </a:ext>
            </a:extLst>
          </p:cNvPr>
          <p:cNvGrpSpPr/>
          <p:nvPr/>
        </p:nvGrpSpPr>
        <p:grpSpPr>
          <a:xfrm>
            <a:off x="2511355" y="820992"/>
            <a:ext cx="7491721" cy="5716838"/>
            <a:chOff x="303297" y="818684"/>
            <a:chExt cx="7491721" cy="6067854"/>
          </a:xfrm>
        </p:grpSpPr>
        <p:sp>
          <p:nvSpPr>
            <p:cNvPr id="5" name="AutoShape 2">
              <a:extLst>
                <a:ext uri="{FF2B5EF4-FFF2-40B4-BE49-F238E27FC236}">
                  <a16:creationId xmlns:a16="http://schemas.microsoft.com/office/drawing/2014/main" id="{24EFA0A2-050F-4DE2-E884-FDC64CA74B09}"/>
                </a:ext>
              </a:extLst>
            </p:cNvPr>
            <p:cNvSpPr/>
            <p:nvPr/>
          </p:nvSpPr>
          <p:spPr>
            <a:xfrm flipV="1">
              <a:off x="1875795" y="1830024"/>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7" name="AutoShape 3">
              <a:extLst>
                <a:ext uri="{FF2B5EF4-FFF2-40B4-BE49-F238E27FC236}">
                  <a16:creationId xmlns:a16="http://schemas.microsoft.com/office/drawing/2014/main" id="{8F1F2627-31CF-7359-8AE6-7216650FF284}"/>
                </a:ext>
              </a:extLst>
            </p:cNvPr>
            <p:cNvSpPr/>
            <p:nvPr/>
          </p:nvSpPr>
          <p:spPr>
            <a:xfrm>
              <a:off x="1324247" y="2057144"/>
              <a:ext cx="6366151" cy="0"/>
            </a:xfrm>
            <a:prstGeom prst="line">
              <a:avLst/>
            </a:prstGeom>
            <a:ln w="38100" cap="flat">
              <a:solidFill>
                <a:srgbClr val="000000"/>
              </a:solidFill>
              <a:prstDash val="solid"/>
              <a:headEnd type="arrow" w="med" len="sm"/>
              <a:tailEnd type="arrow" w="med" len="sm"/>
            </a:ln>
          </p:spPr>
          <p:txBody>
            <a:bodyPr/>
            <a:lstStyle/>
            <a:p>
              <a:endParaRPr lang="en-AU">
                <a:latin typeface="Edu NSW ACT Foundation" pitchFamily="2" charset="0"/>
              </a:endParaRPr>
            </a:p>
          </p:txBody>
        </p:sp>
        <p:sp>
          <p:nvSpPr>
            <p:cNvPr id="8" name="AutoShape 4">
              <a:extLst>
                <a:ext uri="{FF2B5EF4-FFF2-40B4-BE49-F238E27FC236}">
                  <a16:creationId xmlns:a16="http://schemas.microsoft.com/office/drawing/2014/main" id="{C1539AE0-ED9B-F7CB-6B17-F3B53AB9E0FF}"/>
                </a:ext>
              </a:extLst>
            </p:cNvPr>
            <p:cNvSpPr/>
            <p:nvPr/>
          </p:nvSpPr>
          <p:spPr>
            <a:xfrm flipH="1" flipV="1">
              <a:off x="7194540" y="1830024"/>
              <a:ext cx="993"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 name="AutoShape 5">
              <a:extLst>
                <a:ext uri="{FF2B5EF4-FFF2-40B4-BE49-F238E27FC236}">
                  <a16:creationId xmlns:a16="http://schemas.microsoft.com/office/drawing/2014/main" id="{4B4093D9-A605-0330-4DD1-C3966BE01357}"/>
                </a:ext>
              </a:extLst>
            </p:cNvPr>
            <p:cNvSpPr/>
            <p:nvPr/>
          </p:nvSpPr>
          <p:spPr>
            <a:xfrm flipV="1">
              <a:off x="1879947" y="3717375"/>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0" name="AutoShape 6" descr="Three lines A, B and C with zero to one. Line B has a halfway mark and Line C is divided into thirds. An arrow indicates 'Nicole's distance at different points along the line">
              <a:extLst>
                <a:ext uri="{FF2B5EF4-FFF2-40B4-BE49-F238E27FC236}">
                  <a16:creationId xmlns:a16="http://schemas.microsoft.com/office/drawing/2014/main" id="{47E29679-6847-4DB6-49B6-3F7A0E9D1357}"/>
                </a:ext>
              </a:extLst>
            </p:cNvPr>
            <p:cNvSpPr/>
            <p:nvPr/>
          </p:nvSpPr>
          <p:spPr>
            <a:xfrm>
              <a:off x="1324247" y="3934735"/>
              <a:ext cx="6366151" cy="0"/>
            </a:xfrm>
            <a:prstGeom prst="line">
              <a:avLst/>
            </a:prstGeom>
            <a:ln w="38100" cap="flat">
              <a:solidFill>
                <a:srgbClr val="000000"/>
              </a:solidFill>
              <a:prstDash val="solid"/>
              <a:headEnd type="arrow" w="med" len="sm"/>
              <a:tailEnd type="arrow" w="med" len="sm"/>
            </a:ln>
          </p:spPr>
          <p:txBody>
            <a:bodyPr/>
            <a:lstStyle/>
            <a:p>
              <a:endParaRPr lang="en-AU">
                <a:latin typeface="Edu NSW ACT Foundation" pitchFamily="2" charset="0"/>
              </a:endParaRPr>
            </a:p>
          </p:txBody>
        </p:sp>
        <p:sp>
          <p:nvSpPr>
            <p:cNvPr id="11" name="AutoShape 7">
              <a:extLst>
                <a:ext uri="{FF2B5EF4-FFF2-40B4-BE49-F238E27FC236}">
                  <a16:creationId xmlns:a16="http://schemas.microsoft.com/office/drawing/2014/main" id="{E9C0913C-26EF-8317-0043-F1B242BBB0D2}"/>
                </a:ext>
              </a:extLst>
            </p:cNvPr>
            <p:cNvSpPr/>
            <p:nvPr/>
          </p:nvSpPr>
          <p:spPr>
            <a:xfrm flipH="1" flipV="1">
              <a:off x="7198692" y="3717375"/>
              <a:ext cx="993"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2" name="AutoShape 8">
              <a:extLst>
                <a:ext uri="{FF2B5EF4-FFF2-40B4-BE49-F238E27FC236}">
                  <a16:creationId xmlns:a16="http://schemas.microsoft.com/office/drawing/2014/main" id="{58CBB699-6EC0-A49F-C036-2D4BBBB14BF7}"/>
                </a:ext>
              </a:extLst>
            </p:cNvPr>
            <p:cNvSpPr/>
            <p:nvPr/>
          </p:nvSpPr>
          <p:spPr>
            <a:xfrm flipV="1">
              <a:off x="1879947" y="5504529"/>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3" name="AutoShape 9">
              <a:extLst>
                <a:ext uri="{FF2B5EF4-FFF2-40B4-BE49-F238E27FC236}">
                  <a16:creationId xmlns:a16="http://schemas.microsoft.com/office/drawing/2014/main" id="{BFD14293-8A11-8575-3932-D4753CACB889}"/>
                </a:ext>
              </a:extLst>
            </p:cNvPr>
            <p:cNvSpPr/>
            <p:nvPr/>
          </p:nvSpPr>
          <p:spPr>
            <a:xfrm flipV="1">
              <a:off x="1324247" y="5750392"/>
              <a:ext cx="6366151" cy="33276"/>
            </a:xfrm>
            <a:prstGeom prst="line">
              <a:avLst/>
            </a:prstGeom>
            <a:ln w="38100" cap="flat">
              <a:solidFill>
                <a:srgbClr val="000000"/>
              </a:solidFill>
              <a:prstDash val="solid"/>
              <a:headEnd type="arrow" w="med" len="sm"/>
              <a:tailEnd type="arrow" w="med" len="sm"/>
            </a:ln>
          </p:spPr>
          <p:txBody>
            <a:bodyPr/>
            <a:lstStyle/>
            <a:p>
              <a:endParaRPr lang="en-AU">
                <a:latin typeface="Edu NSW ACT Foundation" pitchFamily="2" charset="0"/>
              </a:endParaRPr>
            </a:p>
          </p:txBody>
        </p:sp>
        <p:sp>
          <p:nvSpPr>
            <p:cNvPr id="14" name="AutoShape 10">
              <a:extLst>
                <a:ext uri="{FF2B5EF4-FFF2-40B4-BE49-F238E27FC236}">
                  <a16:creationId xmlns:a16="http://schemas.microsoft.com/office/drawing/2014/main" id="{28EBE7A7-5E25-45F5-6CA7-22A9A0EAB96F}"/>
                </a:ext>
              </a:extLst>
            </p:cNvPr>
            <p:cNvSpPr/>
            <p:nvPr/>
          </p:nvSpPr>
          <p:spPr>
            <a:xfrm flipV="1">
              <a:off x="7199685" y="5504529"/>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5" name="AutoShape 11">
              <a:extLst>
                <a:ext uri="{FF2B5EF4-FFF2-40B4-BE49-F238E27FC236}">
                  <a16:creationId xmlns:a16="http://schemas.microsoft.com/office/drawing/2014/main" id="{9F5114F2-47CB-8718-2873-8B12051426FE}"/>
                </a:ext>
              </a:extLst>
            </p:cNvPr>
            <p:cNvSpPr/>
            <p:nvPr/>
          </p:nvSpPr>
          <p:spPr>
            <a:xfrm flipV="1">
              <a:off x="3653193" y="5504529"/>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6" name="AutoShape 12">
              <a:extLst>
                <a:ext uri="{FF2B5EF4-FFF2-40B4-BE49-F238E27FC236}">
                  <a16:creationId xmlns:a16="http://schemas.microsoft.com/office/drawing/2014/main" id="{DBAD2306-C694-BA0E-0986-5F85B247093E}"/>
                </a:ext>
              </a:extLst>
            </p:cNvPr>
            <p:cNvSpPr/>
            <p:nvPr/>
          </p:nvSpPr>
          <p:spPr>
            <a:xfrm flipV="1">
              <a:off x="5426439" y="5504529"/>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7" name="Freeform 13">
              <a:extLst>
                <a:ext uri="{FF2B5EF4-FFF2-40B4-BE49-F238E27FC236}">
                  <a16:creationId xmlns:a16="http://schemas.microsoft.com/office/drawing/2014/main" id="{37C8922A-BE68-0C29-1615-23FA69D7E38C}"/>
                </a:ext>
              </a:extLst>
            </p:cNvPr>
            <p:cNvSpPr/>
            <p:nvPr/>
          </p:nvSpPr>
          <p:spPr>
            <a:xfrm rot="-5400000">
              <a:off x="3318134" y="2323473"/>
              <a:ext cx="662587" cy="132517"/>
            </a:xfrm>
            <a:custGeom>
              <a:avLst/>
              <a:gdLst/>
              <a:ahLst/>
              <a:cxnLst/>
              <a:rect l="l" t="t" r="r" b="b"/>
              <a:pathLst>
                <a:path w="662587" h="132517">
                  <a:moveTo>
                    <a:pt x="0" y="0"/>
                  </a:moveTo>
                  <a:lnTo>
                    <a:pt x="662587" y="0"/>
                  </a:lnTo>
                  <a:lnTo>
                    <a:pt x="662587" y="132517"/>
                  </a:lnTo>
                  <a:lnTo>
                    <a:pt x="0" y="132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itchFamily="2" charset="0"/>
              </a:endParaRPr>
            </a:p>
          </p:txBody>
        </p:sp>
        <p:sp>
          <p:nvSpPr>
            <p:cNvPr id="18" name="Freeform 14">
              <a:extLst>
                <a:ext uri="{FF2B5EF4-FFF2-40B4-BE49-F238E27FC236}">
                  <a16:creationId xmlns:a16="http://schemas.microsoft.com/office/drawing/2014/main" id="{20AAF35E-5AE7-1FEF-08DA-2416C63A6A8E}"/>
                </a:ext>
              </a:extLst>
            </p:cNvPr>
            <p:cNvSpPr/>
            <p:nvPr/>
          </p:nvSpPr>
          <p:spPr>
            <a:xfrm rot="-5400000">
              <a:off x="2881587" y="4195879"/>
              <a:ext cx="656093" cy="131219"/>
            </a:xfrm>
            <a:custGeom>
              <a:avLst/>
              <a:gdLst/>
              <a:ahLst/>
              <a:cxnLst/>
              <a:rect l="l" t="t" r="r" b="b"/>
              <a:pathLst>
                <a:path w="656093" h="131219">
                  <a:moveTo>
                    <a:pt x="0" y="0"/>
                  </a:moveTo>
                  <a:lnTo>
                    <a:pt x="656092" y="0"/>
                  </a:lnTo>
                  <a:lnTo>
                    <a:pt x="656092" y="131219"/>
                  </a:lnTo>
                  <a:lnTo>
                    <a:pt x="0" y="131219"/>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latin typeface="Edu NSW ACT Foundation" pitchFamily="2" charset="0"/>
              </a:endParaRPr>
            </a:p>
          </p:txBody>
        </p:sp>
        <p:sp>
          <p:nvSpPr>
            <p:cNvPr id="19" name="Freeform 15">
              <a:extLst>
                <a:ext uri="{FF2B5EF4-FFF2-40B4-BE49-F238E27FC236}">
                  <a16:creationId xmlns:a16="http://schemas.microsoft.com/office/drawing/2014/main" id="{EDEFBE41-B315-D559-6782-9F7D50B39309}"/>
                </a:ext>
              </a:extLst>
            </p:cNvPr>
            <p:cNvSpPr/>
            <p:nvPr/>
          </p:nvSpPr>
          <p:spPr>
            <a:xfrm rot="-5400000">
              <a:off x="2438523" y="6046105"/>
              <a:ext cx="656093" cy="131219"/>
            </a:xfrm>
            <a:custGeom>
              <a:avLst/>
              <a:gdLst/>
              <a:ahLst/>
              <a:cxnLst/>
              <a:rect l="l" t="t" r="r" b="b"/>
              <a:pathLst>
                <a:path w="656093" h="131219">
                  <a:moveTo>
                    <a:pt x="0" y="0"/>
                  </a:moveTo>
                  <a:lnTo>
                    <a:pt x="656093" y="0"/>
                  </a:lnTo>
                  <a:lnTo>
                    <a:pt x="656093" y="131219"/>
                  </a:lnTo>
                  <a:lnTo>
                    <a:pt x="0" y="131219"/>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latin typeface="Edu NSW ACT Foundation" pitchFamily="2" charset="0"/>
              </a:endParaRPr>
            </a:p>
          </p:txBody>
        </p:sp>
        <p:sp>
          <p:nvSpPr>
            <p:cNvPr id="20" name="Freeform 16">
              <a:extLst>
                <a:ext uri="{FF2B5EF4-FFF2-40B4-BE49-F238E27FC236}">
                  <a16:creationId xmlns:a16="http://schemas.microsoft.com/office/drawing/2014/main" id="{2E63C3ED-B3F2-DF25-4410-5A34C1D9F83B}"/>
                </a:ext>
              </a:extLst>
            </p:cNvPr>
            <p:cNvSpPr/>
            <p:nvPr/>
          </p:nvSpPr>
          <p:spPr>
            <a:xfrm>
              <a:off x="1449440" y="1028788"/>
              <a:ext cx="815278" cy="683815"/>
            </a:xfrm>
            <a:custGeom>
              <a:avLst/>
              <a:gdLst/>
              <a:ahLst/>
              <a:cxnLst/>
              <a:rect l="l" t="t" r="r" b="b"/>
              <a:pathLst>
                <a:path w="815278" h="683815">
                  <a:moveTo>
                    <a:pt x="0" y="0"/>
                  </a:moveTo>
                  <a:lnTo>
                    <a:pt x="815278" y="0"/>
                  </a:lnTo>
                  <a:lnTo>
                    <a:pt x="815278" y="683815"/>
                  </a:lnTo>
                  <a:lnTo>
                    <a:pt x="0" y="683815"/>
                  </a:lnTo>
                  <a:lnTo>
                    <a:pt x="0" y="0"/>
                  </a:lnTo>
                  <a:close/>
                </a:path>
              </a:pathLst>
            </a:custGeom>
            <a:blipFill>
              <a:blip r:embed="rId7"/>
              <a:stretch>
                <a:fillRect/>
              </a:stretch>
            </a:blipFill>
          </p:spPr>
          <p:txBody>
            <a:bodyPr/>
            <a:lstStyle/>
            <a:p>
              <a:endParaRPr lang="en-AU">
                <a:latin typeface="Edu NSW ACT Foundation" pitchFamily="2" charset="0"/>
              </a:endParaRPr>
            </a:p>
          </p:txBody>
        </p:sp>
        <p:sp>
          <p:nvSpPr>
            <p:cNvPr id="21" name="Freeform 17">
              <a:extLst>
                <a:ext uri="{FF2B5EF4-FFF2-40B4-BE49-F238E27FC236}">
                  <a16:creationId xmlns:a16="http://schemas.microsoft.com/office/drawing/2014/main" id="{A170FF4D-FC31-9F22-18D0-1AB1D32A7B2C}"/>
                </a:ext>
              </a:extLst>
            </p:cNvPr>
            <p:cNvSpPr/>
            <p:nvPr/>
          </p:nvSpPr>
          <p:spPr>
            <a:xfrm>
              <a:off x="6642449" y="818684"/>
              <a:ext cx="1152569" cy="863379"/>
            </a:xfrm>
            <a:custGeom>
              <a:avLst/>
              <a:gdLst/>
              <a:ahLst/>
              <a:cxnLst/>
              <a:rect l="l" t="t" r="r" b="b"/>
              <a:pathLst>
                <a:path w="1152569" h="863379">
                  <a:moveTo>
                    <a:pt x="0" y="0"/>
                  </a:moveTo>
                  <a:lnTo>
                    <a:pt x="1152569" y="0"/>
                  </a:lnTo>
                  <a:lnTo>
                    <a:pt x="1152569" y="863379"/>
                  </a:lnTo>
                  <a:lnTo>
                    <a:pt x="0" y="8633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latin typeface="Edu NSW ACT Foundation" pitchFamily="2" charset="0"/>
              </a:endParaRPr>
            </a:p>
          </p:txBody>
        </p:sp>
        <p:sp>
          <p:nvSpPr>
            <p:cNvPr id="22" name="TextBox 18">
              <a:extLst>
                <a:ext uri="{FF2B5EF4-FFF2-40B4-BE49-F238E27FC236}">
                  <a16:creationId xmlns:a16="http://schemas.microsoft.com/office/drawing/2014/main" id="{9A4EE8FA-65F8-67CA-985B-FFCC0CFD4DD6}"/>
                </a:ext>
              </a:extLst>
            </p:cNvPr>
            <p:cNvSpPr txBox="1"/>
            <p:nvPr/>
          </p:nvSpPr>
          <p:spPr>
            <a:xfrm>
              <a:off x="1778140" y="2436078"/>
              <a:ext cx="206133" cy="575479"/>
            </a:xfrm>
            <a:prstGeom prst="rect">
              <a:avLst/>
            </a:prstGeom>
          </p:spPr>
          <p:txBody>
            <a:bodyPr lIns="0" tIns="0" rIns="0" bIns="0" rtlCol="0" anchor="t">
              <a:spAutoFit/>
            </a:bodyPr>
            <a:lstStyle/>
            <a:p>
              <a:pPr algn="ctr">
                <a:lnSpc>
                  <a:spcPts val="4896"/>
                </a:lnSpc>
              </a:pPr>
              <a:r>
                <a:rPr lang="en-US" sz="3497">
                  <a:solidFill>
                    <a:srgbClr val="000000"/>
                  </a:solidFill>
                  <a:latin typeface="Edu NSW ACT Foundation" pitchFamily="2" charset="0"/>
                  <a:ea typeface="Canva Student Font"/>
                  <a:cs typeface="Canva Student Font"/>
                  <a:sym typeface="Canva Student Font"/>
                </a:rPr>
                <a:t>0</a:t>
              </a:r>
            </a:p>
          </p:txBody>
        </p:sp>
        <p:sp>
          <p:nvSpPr>
            <p:cNvPr id="23" name="TextBox 19">
              <a:extLst>
                <a:ext uri="{FF2B5EF4-FFF2-40B4-BE49-F238E27FC236}">
                  <a16:creationId xmlns:a16="http://schemas.microsoft.com/office/drawing/2014/main" id="{DF6F5339-DF7B-E201-E7D0-7CC9228EE434}"/>
                </a:ext>
              </a:extLst>
            </p:cNvPr>
            <p:cNvSpPr txBox="1"/>
            <p:nvPr/>
          </p:nvSpPr>
          <p:spPr>
            <a:xfrm>
              <a:off x="2880285" y="2839743"/>
              <a:ext cx="1552015" cy="329899"/>
            </a:xfrm>
            <a:prstGeom prst="rect">
              <a:avLst/>
            </a:prstGeom>
          </p:spPr>
          <p:txBody>
            <a:bodyPr wrap="square" lIns="0" tIns="0" rIns="0" bIns="0" rtlCol="0" anchor="t">
              <a:spAutoFit/>
            </a:bodyPr>
            <a:lstStyle/>
            <a:p>
              <a:pPr algn="ctr">
                <a:lnSpc>
                  <a:spcPts val="2846"/>
                </a:lnSpc>
              </a:pPr>
              <a:r>
                <a:rPr lang="en-US" sz="2033">
                  <a:solidFill>
                    <a:srgbClr val="000000"/>
                  </a:solidFill>
                  <a:latin typeface="Edu NSW ACT Foundation" pitchFamily="2" charset="0"/>
                  <a:ea typeface="Canva Student Font"/>
                  <a:cs typeface="Canva Student Font"/>
                  <a:sym typeface="Canva Student Font"/>
                </a:rPr>
                <a:t>Nicole's distance </a:t>
              </a:r>
            </a:p>
          </p:txBody>
        </p:sp>
        <p:sp>
          <p:nvSpPr>
            <p:cNvPr id="24" name="TextBox 20">
              <a:extLst>
                <a:ext uri="{FF2B5EF4-FFF2-40B4-BE49-F238E27FC236}">
                  <a16:creationId xmlns:a16="http://schemas.microsoft.com/office/drawing/2014/main" id="{2F4F25D4-0F7A-B067-480D-1695B7BD754F}"/>
                </a:ext>
              </a:extLst>
            </p:cNvPr>
            <p:cNvSpPr txBox="1"/>
            <p:nvPr/>
          </p:nvSpPr>
          <p:spPr>
            <a:xfrm>
              <a:off x="7180533" y="2436078"/>
              <a:ext cx="76403" cy="575479"/>
            </a:xfrm>
            <a:prstGeom prst="rect">
              <a:avLst/>
            </a:prstGeom>
          </p:spPr>
          <p:txBody>
            <a:bodyPr lIns="0" tIns="0" rIns="0" bIns="0" rtlCol="0" anchor="t">
              <a:spAutoFit/>
            </a:bodyPr>
            <a:lstStyle/>
            <a:p>
              <a:pPr algn="ctr">
                <a:lnSpc>
                  <a:spcPts val="4896"/>
                </a:lnSpc>
              </a:pPr>
              <a:r>
                <a:rPr lang="en-US" sz="3497">
                  <a:solidFill>
                    <a:srgbClr val="000000"/>
                  </a:solidFill>
                  <a:latin typeface="Edu NSW ACT Foundation" pitchFamily="2" charset="0"/>
                  <a:ea typeface="Canva Student Font"/>
                  <a:cs typeface="Canva Student Font"/>
                  <a:sym typeface="Canva Student Font"/>
                </a:rPr>
                <a:t>1</a:t>
              </a:r>
            </a:p>
          </p:txBody>
        </p:sp>
        <p:sp>
          <p:nvSpPr>
            <p:cNvPr id="25" name="TextBox 21">
              <a:extLst>
                <a:ext uri="{FF2B5EF4-FFF2-40B4-BE49-F238E27FC236}">
                  <a16:creationId xmlns:a16="http://schemas.microsoft.com/office/drawing/2014/main" id="{E20C2740-A935-32E7-26EC-3AB02731DC58}"/>
                </a:ext>
              </a:extLst>
            </p:cNvPr>
            <p:cNvSpPr txBox="1"/>
            <p:nvPr/>
          </p:nvSpPr>
          <p:spPr>
            <a:xfrm>
              <a:off x="1754013" y="4284397"/>
              <a:ext cx="206133" cy="575479"/>
            </a:xfrm>
            <a:prstGeom prst="rect">
              <a:avLst/>
            </a:prstGeom>
          </p:spPr>
          <p:txBody>
            <a:bodyPr lIns="0" tIns="0" rIns="0" bIns="0" rtlCol="0" anchor="t">
              <a:spAutoFit/>
            </a:bodyPr>
            <a:lstStyle/>
            <a:p>
              <a:pPr algn="ctr">
                <a:lnSpc>
                  <a:spcPts val="4896"/>
                </a:lnSpc>
              </a:pPr>
              <a:r>
                <a:rPr lang="en-US" sz="3497">
                  <a:solidFill>
                    <a:srgbClr val="000000"/>
                  </a:solidFill>
                  <a:latin typeface="Edu NSW ACT Foundation" pitchFamily="2" charset="0"/>
                  <a:ea typeface="Canva Student Font"/>
                  <a:cs typeface="Canva Student Font"/>
                  <a:sym typeface="Canva Student Font"/>
                </a:rPr>
                <a:t>0</a:t>
              </a:r>
            </a:p>
          </p:txBody>
        </p:sp>
        <p:sp>
          <p:nvSpPr>
            <p:cNvPr id="26" name="TextBox 22">
              <a:extLst>
                <a:ext uri="{FF2B5EF4-FFF2-40B4-BE49-F238E27FC236}">
                  <a16:creationId xmlns:a16="http://schemas.microsoft.com/office/drawing/2014/main" id="{8D5DE888-33F2-53F6-F268-5A9CB4B8D15D}"/>
                </a:ext>
              </a:extLst>
            </p:cNvPr>
            <p:cNvSpPr txBox="1"/>
            <p:nvPr/>
          </p:nvSpPr>
          <p:spPr>
            <a:xfrm>
              <a:off x="1729887" y="6132717"/>
              <a:ext cx="206133" cy="575479"/>
            </a:xfrm>
            <a:prstGeom prst="rect">
              <a:avLst/>
            </a:prstGeom>
          </p:spPr>
          <p:txBody>
            <a:bodyPr lIns="0" tIns="0" rIns="0" bIns="0" rtlCol="0" anchor="t">
              <a:spAutoFit/>
            </a:bodyPr>
            <a:lstStyle/>
            <a:p>
              <a:pPr algn="ctr">
                <a:lnSpc>
                  <a:spcPts val="4896"/>
                </a:lnSpc>
              </a:pPr>
              <a:r>
                <a:rPr lang="en-US" sz="3497">
                  <a:solidFill>
                    <a:srgbClr val="000000"/>
                  </a:solidFill>
                  <a:latin typeface="Edu NSW ACT Foundation" pitchFamily="2" charset="0"/>
                  <a:ea typeface="Canva Student Font"/>
                  <a:cs typeface="Canva Student Font"/>
                  <a:sym typeface="Canva Student Font"/>
                </a:rPr>
                <a:t>0</a:t>
              </a:r>
            </a:p>
          </p:txBody>
        </p:sp>
        <p:sp>
          <p:nvSpPr>
            <p:cNvPr id="27" name="TextBox 23">
              <a:extLst>
                <a:ext uri="{FF2B5EF4-FFF2-40B4-BE49-F238E27FC236}">
                  <a16:creationId xmlns:a16="http://schemas.microsoft.com/office/drawing/2014/main" id="{B6FF116F-5AE3-33EB-00B5-5C9200C0E3FD}"/>
                </a:ext>
              </a:extLst>
            </p:cNvPr>
            <p:cNvSpPr txBox="1"/>
            <p:nvPr/>
          </p:nvSpPr>
          <p:spPr>
            <a:xfrm>
              <a:off x="7142332" y="4284397"/>
              <a:ext cx="76403" cy="575479"/>
            </a:xfrm>
            <a:prstGeom prst="rect">
              <a:avLst/>
            </a:prstGeom>
          </p:spPr>
          <p:txBody>
            <a:bodyPr lIns="0" tIns="0" rIns="0" bIns="0" rtlCol="0" anchor="t">
              <a:spAutoFit/>
            </a:bodyPr>
            <a:lstStyle/>
            <a:p>
              <a:pPr algn="ctr">
                <a:lnSpc>
                  <a:spcPts val="4896"/>
                </a:lnSpc>
              </a:pPr>
              <a:r>
                <a:rPr lang="en-US" sz="3497">
                  <a:solidFill>
                    <a:srgbClr val="000000"/>
                  </a:solidFill>
                  <a:latin typeface="Edu NSW ACT Foundation" pitchFamily="2" charset="0"/>
                  <a:ea typeface="Canva Student Font"/>
                  <a:cs typeface="Canva Student Font"/>
                  <a:sym typeface="Canva Student Font"/>
                </a:rPr>
                <a:t>1</a:t>
              </a:r>
            </a:p>
          </p:txBody>
        </p:sp>
        <p:sp>
          <p:nvSpPr>
            <p:cNvPr id="28" name="TextBox 24">
              <a:extLst>
                <a:ext uri="{FF2B5EF4-FFF2-40B4-BE49-F238E27FC236}">
                  <a16:creationId xmlns:a16="http://schemas.microsoft.com/office/drawing/2014/main" id="{7F165197-ED07-1136-4184-86D4F061799B}"/>
                </a:ext>
              </a:extLst>
            </p:cNvPr>
            <p:cNvSpPr txBox="1"/>
            <p:nvPr/>
          </p:nvSpPr>
          <p:spPr>
            <a:xfrm>
              <a:off x="7161483" y="6132717"/>
              <a:ext cx="76403" cy="575479"/>
            </a:xfrm>
            <a:prstGeom prst="rect">
              <a:avLst/>
            </a:prstGeom>
          </p:spPr>
          <p:txBody>
            <a:bodyPr lIns="0" tIns="0" rIns="0" bIns="0" rtlCol="0" anchor="t">
              <a:spAutoFit/>
            </a:bodyPr>
            <a:lstStyle/>
            <a:p>
              <a:pPr algn="ctr">
                <a:lnSpc>
                  <a:spcPts val="4896"/>
                </a:lnSpc>
              </a:pPr>
              <a:r>
                <a:rPr lang="en-US" sz="3497">
                  <a:solidFill>
                    <a:srgbClr val="000000"/>
                  </a:solidFill>
                  <a:latin typeface="Edu NSW ACT Foundation" pitchFamily="2" charset="0"/>
                  <a:ea typeface="Canva Student Font"/>
                  <a:cs typeface="Canva Student Font"/>
                  <a:sym typeface="Canva Student Font"/>
                </a:rPr>
                <a:t>1</a:t>
              </a:r>
            </a:p>
          </p:txBody>
        </p:sp>
        <p:sp>
          <p:nvSpPr>
            <p:cNvPr id="29" name="TextBox 25">
              <a:extLst>
                <a:ext uri="{FF2B5EF4-FFF2-40B4-BE49-F238E27FC236}">
                  <a16:creationId xmlns:a16="http://schemas.microsoft.com/office/drawing/2014/main" id="{A80E50FB-93D1-5F38-71F3-1F0C7F08B986}"/>
                </a:ext>
              </a:extLst>
            </p:cNvPr>
            <p:cNvSpPr txBox="1"/>
            <p:nvPr/>
          </p:nvSpPr>
          <p:spPr>
            <a:xfrm>
              <a:off x="2650563" y="4607829"/>
              <a:ext cx="1705537" cy="329899"/>
            </a:xfrm>
            <a:prstGeom prst="rect">
              <a:avLst/>
            </a:prstGeom>
          </p:spPr>
          <p:txBody>
            <a:bodyPr wrap="square" lIns="0" tIns="0" rIns="0" bIns="0" rtlCol="0" anchor="t">
              <a:spAutoFit/>
            </a:bodyPr>
            <a:lstStyle/>
            <a:p>
              <a:pPr algn="ctr">
                <a:lnSpc>
                  <a:spcPts val="2846"/>
                </a:lnSpc>
              </a:pPr>
              <a:r>
                <a:rPr lang="en-US" sz="2033">
                  <a:solidFill>
                    <a:srgbClr val="000000"/>
                  </a:solidFill>
                  <a:latin typeface="Edu NSW ACT Foundation" pitchFamily="2" charset="0"/>
                  <a:ea typeface="Canva Student Font"/>
                  <a:cs typeface="Canva Student Font"/>
                  <a:sym typeface="Canva Student Font"/>
                </a:rPr>
                <a:t>Nicole's distance </a:t>
              </a:r>
            </a:p>
          </p:txBody>
        </p:sp>
        <p:sp>
          <p:nvSpPr>
            <p:cNvPr id="30" name="TextBox 26">
              <a:extLst>
                <a:ext uri="{FF2B5EF4-FFF2-40B4-BE49-F238E27FC236}">
                  <a16:creationId xmlns:a16="http://schemas.microsoft.com/office/drawing/2014/main" id="{D35914DF-DEDF-2C7F-670B-647CC457B473}"/>
                </a:ext>
              </a:extLst>
            </p:cNvPr>
            <p:cNvSpPr txBox="1"/>
            <p:nvPr/>
          </p:nvSpPr>
          <p:spPr>
            <a:xfrm>
              <a:off x="2109668" y="6536383"/>
              <a:ext cx="1677773" cy="350155"/>
            </a:xfrm>
            <a:prstGeom prst="rect">
              <a:avLst/>
            </a:prstGeom>
          </p:spPr>
          <p:txBody>
            <a:bodyPr wrap="square" lIns="0" tIns="0" rIns="0" bIns="0" rtlCol="0" anchor="t">
              <a:spAutoFit/>
            </a:bodyPr>
            <a:lstStyle/>
            <a:p>
              <a:pPr algn="ctr">
                <a:lnSpc>
                  <a:spcPts val="2846"/>
                </a:lnSpc>
              </a:pPr>
              <a:r>
                <a:rPr lang="en-US" sz="2033">
                  <a:solidFill>
                    <a:srgbClr val="000000"/>
                  </a:solidFill>
                  <a:latin typeface="Edu NSW ACT Foundation" pitchFamily="2" charset="0"/>
                  <a:ea typeface="Canva Student Font"/>
                  <a:cs typeface="Canva Student Font"/>
                  <a:sym typeface="Canva Student Font"/>
                </a:rPr>
                <a:t>Nicole's distance </a:t>
              </a:r>
            </a:p>
          </p:txBody>
        </p:sp>
        <p:sp>
          <p:nvSpPr>
            <p:cNvPr id="31" name="TextBox 27">
              <a:extLst>
                <a:ext uri="{FF2B5EF4-FFF2-40B4-BE49-F238E27FC236}">
                  <a16:creationId xmlns:a16="http://schemas.microsoft.com/office/drawing/2014/main" id="{AE7554D6-269B-9DB9-8F3F-3B398AF5A8C3}"/>
                </a:ext>
              </a:extLst>
            </p:cNvPr>
            <p:cNvSpPr txBox="1"/>
            <p:nvPr/>
          </p:nvSpPr>
          <p:spPr>
            <a:xfrm>
              <a:off x="352507" y="1447842"/>
              <a:ext cx="284311" cy="881652"/>
            </a:xfrm>
            <a:prstGeom prst="rect">
              <a:avLst/>
            </a:prstGeom>
          </p:spPr>
          <p:txBody>
            <a:bodyPr lIns="0" tIns="0" rIns="0" bIns="0" rtlCol="0" anchor="t">
              <a:spAutoFit/>
            </a:bodyPr>
            <a:lstStyle/>
            <a:p>
              <a:pPr algn="ctr">
                <a:lnSpc>
                  <a:spcPts val="7533"/>
                </a:lnSpc>
              </a:pPr>
              <a:r>
                <a:rPr lang="en-US" sz="5381">
                  <a:solidFill>
                    <a:srgbClr val="000000"/>
                  </a:solidFill>
                  <a:latin typeface="Edu NSW ACT Foundation" pitchFamily="2" charset="0"/>
                  <a:ea typeface="Canva Student Font"/>
                  <a:cs typeface="Canva Student Font"/>
                  <a:sym typeface="Canva Student Font"/>
                </a:rPr>
                <a:t>A</a:t>
              </a:r>
            </a:p>
          </p:txBody>
        </p:sp>
        <p:sp>
          <p:nvSpPr>
            <p:cNvPr id="32" name="TextBox 28">
              <a:extLst>
                <a:ext uri="{FF2B5EF4-FFF2-40B4-BE49-F238E27FC236}">
                  <a16:creationId xmlns:a16="http://schemas.microsoft.com/office/drawing/2014/main" id="{3F48BA05-A49C-F3E3-47C0-96D8D6EDC8C9}"/>
                </a:ext>
              </a:extLst>
            </p:cNvPr>
            <p:cNvSpPr txBox="1"/>
            <p:nvPr/>
          </p:nvSpPr>
          <p:spPr>
            <a:xfrm>
              <a:off x="303297" y="3432673"/>
              <a:ext cx="333520" cy="881652"/>
            </a:xfrm>
            <a:prstGeom prst="rect">
              <a:avLst/>
            </a:prstGeom>
          </p:spPr>
          <p:txBody>
            <a:bodyPr lIns="0" tIns="0" rIns="0" bIns="0" rtlCol="0" anchor="t">
              <a:spAutoFit/>
            </a:bodyPr>
            <a:lstStyle/>
            <a:p>
              <a:pPr algn="ctr">
                <a:lnSpc>
                  <a:spcPts val="7533"/>
                </a:lnSpc>
              </a:pPr>
              <a:r>
                <a:rPr lang="en-US" sz="5381">
                  <a:solidFill>
                    <a:srgbClr val="000000"/>
                  </a:solidFill>
                  <a:latin typeface="Edu NSW ACT Foundation" pitchFamily="2" charset="0"/>
                  <a:ea typeface="Canva Student Font"/>
                  <a:cs typeface="Canva Student Font"/>
                  <a:sym typeface="Canva Student Font"/>
                </a:rPr>
                <a:t>B</a:t>
              </a:r>
            </a:p>
          </p:txBody>
        </p:sp>
        <p:sp>
          <p:nvSpPr>
            <p:cNvPr id="33" name="TextBox 29">
              <a:extLst>
                <a:ext uri="{FF2B5EF4-FFF2-40B4-BE49-F238E27FC236}">
                  <a16:creationId xmlns:a16="http://schemas.microsoft.com/office/drawing/2014/main" id="{FDE06601-5731-6B07-C3E4-2656F0FB38A0}"/>
                </a:ext>
              </a:extLst>
            </p:cNvPr>
            <p:cNvSpPr txBox="1"/>
            <p:nvPr/>
          </p:nvSpPr>
          <p:spPr>
            <a:xfrm>
              <a:off x="372305" y="5229280"/>
              <a:ext cx="293924" cy="881652"/>
            </a:xfrm>
            <a:prstGeom prst="rect">
              <a:avLst/>
            </a:prstGeom>
          </p:spPr>
          <p:txBody>
            <a:bodyPr lIns="0" tIns="0" rIns="0" bIns="0" rtlCol="0" anchor="t">
              <a:spAutoFit/>
            </a:bodyPr>
            <a:lstStyle/>
            <a:p>
              <a:pPr algn="ctr">
                <a:lnSpc>
                  <a:spcPts val="7533"/>
                </a:lnSpc>
              </a:pPr>
              <a:r>
                <a:rPr lang="en-US" sz="5381">
                  <a:solidFill>
                    <a:srgbClr val="000000"/>
                  </a:solidFill>
                  <a:latin typeface="Edu NSW ACT Foundation" pitchFamily="2" charset="0"/>
                  <a:ea typeface="Canva Student Font"/>
                  <a:cs typeface="Canva Student Font"/>
                  <a:sym typeface="Canva Student Font"/>
                </a:rPr>
                <a:t>C</a:t>
              </a:r>
            </a:p>
          </p:txBody>
        </p:sp>
        <p:sp>
          <p:nvSpPr>
            <p:cNvPr id="34" name="AutoShape 30">
              <a:extLst>
                <a:ext uri="{FF2B5EF4-FFF2-40B4-BE49-F238E27FC236}">
                  <a16:creationId xmlns:a16="http://schemas.microsoft.com/office/drawing/2014/main" id="{69206B74-E111-169A-34E4-374FACED9F4A}"/>
                </a:ext>
              </a:extLst>
            </p:cNvPr>
            <p:cNvSpPr/>
            <p:nvPr/>
          </p:nvSpPr>
          <p:spPr>
            <a:xfrm flipV="1">
              <a:off x="4539319" y="3717375"/>
              <a:ext cx="0" cy="510767"/>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gr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1494465" y="905601"/>
                <a:ext cx="9203070" cy="3508481"/>
              </a:xfrm>
            </p:spPr>
            <p:txBody>
              <a:bodyPr/>
              <a:lstStyle/>
              <a:p>
                <a:pPr algn="ctr"/>
                <a:r>
                  <a:rPr lang="en-AU" sz="4000"/>
                  <a:t>If </a:t>
                </a:r>
                <a14:m>
                  <m:oMath xmlns:m="http://schemas.openxmlformats.org/officeDocument/2006/math">
                    <m:f>
                      <m:fPr>
                        <m:ctrlPr>
                          <a:rPr lang="en-AU" sz="4000" i="1">
                            <a:latin typeface="Cambria Math" panose="02040503050406030204" pitchFamily="18" charset="0"/>
                          </a:rPr>
                        </m:ctrlPr>
                      </m:fPr>
                      <m:num>
                        <m:r>
                          <a:rPr lang="en-AU" sz="4000" b="0" i="1" smtClean="0">
                            <a:latin typeface="Cambria Math" panose="02040503050406030204" pitchFamily="18" charset="0"/>
                          </a:rPr>
                          <m:t>2</m:t>
                        </m:r>
                      </m:num>
                      <m:den>
                        <m:r>
                          <a:rPr lang="en-AU" sz="4000" b="0" i="1" smtClean="0">
                            <a:latin typeface="Cambria Math" panose="02040503050406030204" pitchFamily="18" charset="0"/>
                          </a:rPr>
                          <m:t>3</m:t>
                        </m:r>
                      </m:den>
                    </m:f>
                  </m:oMath>
                </a14:m>
                <a:r>
                  <a:rPr lang="en-AU" sz="4000"/>
                  <a:t> of a fraction strip is shaded, what </a:t>
                </a:r>
                <a:r>
                  <a:rPr lang="en-AU" sz="4000" b="1"/>
                  <a:t>complementary fraction </a:t>
                </a:r>
                <a:r>
                  <a:rPr lang="en-AU" sz="4000"/>
                  <a:t>is needed to make one whole?</a:t>
                </a:r>
              </a:p>
            </p:txBody>
          </p:sp>
        </mc:Choice>
        <mc:Fallback xmlns="">
          <p:sp>
            <p:nvSpPr>
              <p:cNvPr id="18" name="Text Placeholder 17">
                <a:extLst>
                  <a:ext uri="{FF2B5EF4-FFF2-40B4-BE49-F238E27FC236}">
                    <a16:creationId xmlns:a16="http://schemas.microsoft.com/office/drawing/2014/main" id="{9E5118E7-BD4E-1C6F-9677-4C0228A02948}"/>
                  </a:ext>
                </a:extLst>
              </p:cNvPr>
              <p:cNvSpPr>
                <a:spLocks noGrp="1" noRot="1" noChangeAspect="1" noMove="1" noResize="1" noEditPoints="1" noAdjustHandles="1" noChangeArrowheads="1" noChangeShapeType="1" noTextEdit="1"/>
              </p:cNvSpPr>
              <p:nvPr>
                <p:ph type="body" sz="quarter" idx="24"/>
              </p:nvPr>
            </p:nvSpPr>
            <p:spPr>
              <a:xfrm>
                <a:off x="1494465" y="905601"/>
                <a:ext cx="9203070" cy="3508481"/>
              </a:xfrm>
              <a:blipFill>
                <a:blip r:embed="rId4"/>
                <a:stretch>
                  <a:fillRect l="-397" r="-2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B35BCD9-3606-D748-75E0-5B74B5340AB5}"/>
                  </a:ext>
                </a:extLst>
              </p:cNvPr>
              <p:cNvGraphicFramePr>
                <a:graphicFrameLocks noGrp="1"/>
              </p:cNvGraphicFramePr>
              <p:nvPr>
                <p:extLst>
                  <p:ext uri="{D42A27DB-BD31-4B8C-83A1-F6EECF244321}">
                    <p14:modId xmlns:p14="http://schemas.microsoft.com/office/powerpoint/2010/main" val="2460552475"/>
                  </p:ext>
                </p:extLst>
              </p:nvPr>
            </p:nvGraphicFramePr>
            <p:xfrm>
              <a:off x="572708" y="4587673"/>
              <a:ext cx="10551292" cy="20596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1</m:t>
                                    </m:r>
                                  </m:num>
                                  <m:den>
                                    <m:r>
                                      <a:rPr lang="en-AU" sz="4000" b="0" i="1" smtClean="0">
                                        <a:latin typeface="Cambria Math" panose="02040503050406030204" pitchFamily="18" charset="0"/>
                                        <a:cs typeface="Arial"/>
                                      </a:rPr>
                                      <m:t>2</m:t>
                                    </m:r>
                                  </m:den>
                                </m:f>
                              </m:oMath>
                            </m:oMathPara>
                          </a14:m>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1</m:t>
                                    </m:r>
                                  </m:num>
                                  <m:den>
                                    <m:r>
                                      <a:rPr lang="en-AU" sz="4000" b="0" i="1" smtClean="0">
                                        <a:latin typeface="Cambria Math" panose="02040503050406030204" pitchFamily="18" charset="0"/>
                                        <a:cs typeface="Arial"/>
                                      </a:rPr>
                                      <m:t>3</m:t>
                                    </m:r>
                                  </m:den>
                                </m:f>
                              </m:oMath>
                            </m:oMathPara>
                          </a14:m>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2</m:t>
                                    </m:r>
                                  </m:num>
                                  <m:den>
                                    <m:r>
                                      <a:rPr lang="en-AU" sz="4000" b="0" i="1" smtClean="0">
                                        <a:latin typeface="Cambria Math" panose="02040503050406030204" pitchFamily="18" charset="0"/>
                                        <a:cs typeface="Arial"/>
                                      </a:rPr>
                                      <m:t>3</m:t>
                                    </m:r>
                                  </m:den>
                                </m:f>
                              </m:oMath>
                            </m:oMathPara>
                          </a14:m>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3</m:t>
                                    </m:r>
                                  </m:num>
                                  <m:den>
                                    <m:r>
                                      <a:rPr lang="en-AU" sz="4000" b="0" i="1" smtClean="0">
                                        <a:latin typeface="Cambria Math" panose="02040503050406030204" pitchFamily="18" charset="0"/>
                                        <a:cs typeface="Arial"/>
                                      </a:rPr>
                                      <m:t>3</m:t>
                                    </m:r>
                                  </m:den>
                                </m:f>
                              </m:oMath>
                            </m:oMathPara>
                          </a14:m>
                          <a:endParaRPr lang="en-AU" sz="4000">
                            <a:latin typeface="+mn-lt"/>
                            <a:cs typeface="Aria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5" name="Table 4">
                <a:extLst>
                  <a:ext uri="{FF2B5EF4-FFF2-40B4-BE49-F238E27FC236}">
                    <a16:creationId xmlns:a16="http://schemas.microsoft.com/office/drawing/2014/main" id="{EB35BCD9-3606-D748-75E0-5B74B5340AB5}"/>
                  </a:ext>
                </a:extLst>
              </p:cNvPr>
              <p:cNvGraphicFramePr>
                <a:graphicFrameLocks noGrp="1"/>
              </p:cNvGraphicFramePr>
              <p:nvPr>
                <p:extLst>
                  <p:ext uri="{D42A27DB-BD31-4B8C-83A1-F6EECF244321}">
                    <p14:modId xmlns:p14="http://schemas.microsoft.com/office/powerpoint/2010/main" val="2460552475"/>
                  </p:ext>
                </p:extLst>
              </p:nvPr>
            </p:nvGraphicFramePr>
            <p:xfrm>
              <a:off x="572708" y="4587673"/>
              <a:ext cx="10551292" cy="20596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236726">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t="-77451" r="-3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100000" t="-77451" r="-2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200000" t="-77451"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300000" t="-77451"/>
                          </a:stretch>
                        </a:blipFill>
                      </a:tcPr>
                    </a:tc>
                    <a:extLst>
                      <a:ext uri="{0D108BD9-81ED-4DB2-BD59-A6C34878D82A}">
                        <a16:rowId xmlns:a16="http://schemas.microsoft.com/office/drawing/2014/main" val="505300166"/>
                      </a:ext>
                    </a:extLst>
                  </a:tr>
                </a:tbl>
              </a:graphicData>
            </a:graphic>
          </p:graphicFrame>
        </mc:Fallback>
      </mc:AlternateContent>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36D18E2-7A6C-3105-0951-62BA51C6EB40}"/>
              </a:ext>
            </a:extLst>
          </p:cNvPr>
          <p:cNvSpPr txBox="1"/>
          <p:nvPr/>
        </p:nvSpPr>
        <p:spPr>
          <a:xfrm>
            <a:off x="991967" y="1440850"/>
            <a:ext cx="10492033" cy="3458896"/>
          </a:xfrm>
          <a:prstGeom prst="rect">
            <a:avLst/>
          </a:prstGeom>
          <a:noFill/>
        </p:spPr>
        <p:txBody>
          <a:bodyPr wrap="square">
            <a:spAutoFit/>
          </a:bodyPr>
          <a:lstStyle/>
          <a:p>
            <a:pPr algn="ctr">
              <a:lnSpc>
                <a:spcPct val="150000"/>
              </a:lnSpc>
              <a:buNone/>
            </a:pPr>
            <a:r>
              <a:rPr lang="en-AU" sz="4400"/>
              <a:t>Record your calculations using a </a:t>
            </a:r>
            <a:r>
              <a:rPr lang="en-AU" sz="4400" b="1"/>
              <a:t>vertical algorithm</a:t>
            </a:r>
            <a:endParaRPr lang="en-AU" sz="4400"/>
          </a:p>
          <a:p>
            <a:pPr algn="ctr">
              <a:lnSpc>
                <a:spcPct val="150000"/>
              </a:lnSpc>
              <a:buNone/>
            </a:pPr>
            <a:r>
              <a:rPr lang="en-AU" sz="6000"/>
              <a:t>4 215 </a:t>
            </a:r>
            <a:r>
              <a:rPr lang="en-AU" sz="6000">
                <a:latin typeface="Cambria Math" panose="02040503050406030204" pitchFamily="18" charset="0"/>
                <a:ea typeface="Cambria Math" panose="02040503050406030204" pitchFamily="18" charset="0"/>
              </a:rPr>
              <a:t>−</a:t>
            </a:r>
            <a:r>
              <a:rPr lang="en-AU" sz="6000"/>
              <a:t> 387</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1FCCFF0-964F-25AE-0433-3D4935440B5B}"/>
              </a:ext>
            </a:extLst>
          </p:cNvPr>
          <p:cNvSpPr txBox="1"/>
          <p:nvPr/>
        </p:nvSpPr>
        <p:spPr>
          <a:xfrm>
            <a:off x="756732" y="1339758"/>
            <a:ext cx="10367268" cy="4398833"/>
          </a:xfrm>
          <a:prstGeom prst="rect">
            <a:avLst/>
          </a:prstGeom>
          <a:noFill/>
        </p:spPr>
        <p:txBody>
          <a:bodyPr wrap="square">
            <a:spAutoFit/>
          </a:bodyPr>
          <a:lstStyle/>
          <a:p>
            <a:pPr algn="ctr">
              <a:lnSpc>
                <a:spcPct val="150000"/>
              </a:lnSpc>
              <a:buNone/>
            </a:pPr>
            <a:r>
              <a:rPr lang="en-AU" sz="4400"/>
              <a:t>Use an </a:t>
            </a:r>
            <a:r>
              <a:rPr lang="en-AU" sz="4400" b="1"/>
              <a:t>efficient strategy</a:t>
            </a:r>
            <a:r>
              <a:rPr lang="en-AU" sz="4400"/>
              <a:t> to solve:</a:t>
            </a:r>
          </a:p>
          <a:p>
            <a:pPr algn="ctr">
              <a:lnSpc>
                <a:spcPct val="150000"/>
              </a:lnSpc>
              <a:buNone/>
            </a:pPr>
            <a:r>
              <a:rPr lang="en-AU" sz="6000"/>
              <a:t>7 × 42</a:t>
            </a:r>
          </a:p>
          <a:p>
            <a:pPr algn="ctr">
              <a:lnSpc>
                <a:spcPct val="150000"/>
              </a:lnSpc>
              <a:buNone/>
            </a:pPr>
            <a:r>
              <a:rPr lang="en-AU" sz="4400"/>
              <a:t>Explain which </a:t>
            </a:r>
            <a:r>
              <a:rPr lang="en-AU" sz="4400" b="1"/>
              <a:t>strategy</a:t>
            </a:r>
            <a:r>
              <a:rPr lang="en-AU" sz="4400"/>
              <a:t> you chose and why it was </a:t>
            </a:r>
            <a:r>
              <a:rPr lang="en-AU" sz="4400" b="1"/>
              <a:t>efficient</a:t>
            </a:r>
            <a:r>
              <a:rPr lang="en-AU" sz="4400"/>
              <a: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CA14D1B-ABE7-6BF6-F607-DD2AE6FECC7A}"/>
              </a:ext>
            </a:extLst>
          </p:cNvPr>
          <p:cNvSpPr txBox="1"/>
          <p:nvPr/>
        </p:nvSpPr>
        <p:spPr>
          <a:xfrm>
            <a:off x="1002813" y="1184223"/>
            <a:ext cx="10367268" cy="5045164"/>
          </a:xfrm>
          <a:prstGeom prst="rect">
            <a:avLst/>
          </a:prstGeom>
          <a:noFill/>
        </p:spPr>
        <p:txBody>
          <a:bodyPr wrap="square">
            <a:spAutoFit/>
          </a:bodyPr>
          <a:lstStyle/>
          <a:p>
            <a:pPr algn="ctr">
              <a:lnSpc>
                <a:spcPct val="150000"/>
              </a:lnSpc>
            </a:pPr>
            <a:r>
              <a:rPr lang="en-AU" sz="4400">
                <a:latin typeface="Arial" panose="020B0604020202020204" pitchFamily="34" charset="0"/>
                <a:ea typeface="Calibri" panose="020F0502020204030204" pitchFamily="34" charset="0"/>
              </a:rPr>
              <a:t>Record how you s</a:t>
            </a:r>
            <a:r>
              <a:rPr lang="en-AU" sz="4400"/>
              <a:t>olve 30 × 4 using </a:t>
            </a:r>
            <a:r>
              <a:rPr lang="en-AU" sz="4400" b="1"/>
              <a:t>place value</a:t>
            </a:r>
            <a:r>
              <a:rPr lang="en-AU" sz="4400"/>
              <a:t> or the </a:t>
            </a:r>
            <a:r>
              <a:rPr lang="en-AU" sz="4400" b="1"/>
              <a:t>associative property</a:t>
            </a:r>
            <a:r>
              <a:rPr lang="en-AU" sz="4400"/>
              <a:t>.</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 </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AB61007-D289-E57C-C1B0-41DCABB15C86}"/>
              </a:ext>
            </a:extLst>
          </p:cNvPr>
          <p:cNvSpPr txBox="1"/>
          <p:nvPr/>
        </p:nvSpPr>
        <p:spPr>
          <a:xfrm>
            <a:off x="1715386" y="1593208"/>
            <a:ext cx="8761228" cy="4029501"/>
          </a:xfrm>
          <a:prstGeom prst="rect">
            <a:avLst/>
          </a:prstGeom>
          <a:noFill/>
        </p:spPr>
        <p:txBody>
          <a:bodyPr wrap="square">
            <a:spAutoFit/>
          </a:bodyPr>
          <a:lstStyle/>
          <a:p>
            <a:pPr algn="ctr">
              <a:lnSpc>
                <a:spcPct val="150000"/>
              </a:lnSpc>
            </a:pPr>
            <a:r>
              <a:rPr lang="en-AU" sz="4400"/>
              <a:t>How many </a:t>
            </a:r>
            <a:r>
              <a:rPr lang="en-AU" sz="4400" b="1"/>
              <a:t>minutes</a:t>
            </a:r>
            <a:r>
              <a:rPr lang="en-AU" sz="4400"/>
              <a:t> are in </a:t>
            </a:r>
            <a:r>
              <a:rPr lang="en-AU" sz="4400" b="1"/>
              <a:t>2 and a half </a:t>
            </a:r>
            <a:r>
              <a:rPr lang="en-AU" sz="4400"/>
              <a:t>hours?</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 </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complementary fractions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5 drinks bottles on the sideline (all have vertical number lines 0-1. The first is Brody 1/4, second is Alby 3/8, the third is Jacob 2/3, The fourth is Jayden 7/8 and the last is Flynn 2/4.">
            <a:extLst>
              <a:ext uri="{FF2B5EF4-FFF2-40B4-BE49-F238E27FC236}">
                <a16:creationId xmlns:a16="http://schemas.microsoft.com/office/drawing/2014/main" id="{BBCF4890-6465-3C80-2E56-3C2A5ECFC4F7}"/>
              </a:ext>
            </a:extLst>
          </p:cNvPr>
          <p:cNvGrpSpPr/>
          <p:nvPr/>
        </p:nvGrpSpPr>
        <p:grpSpPr>
          <a:xfrm>
            <a:off x="1535837" y="1038688"/>
            <a:ext cx="9756559" cy="5657312"/>
            <a:chOff x="1535837" y="1038688"/>
            <a:chExt cx="9756559" cy="5657312"/>
          </a:xfrm>
        </p:grpSpPr>
        <p:sp>
          <p:nvSpPr>
            <p:cNvPr id="5" name="Freeform 2">
              <a:extLst>
                <a:ext uri="{FF2B5EF4-FFF2-40B4-BE49-F238E27FC236}">
                  <a16:creationId xmlns:a16="http://schemas.microsoft.com/office/drawing/2014/main" id="{384E1614-4486-3B61-152B-A7C35F517C13}"/>
                </a:ext>
              </a:extLst>
            </p:cNvPr>
            <p:cNvSpPr/>
            <p:nvPr/>
          </p:nvSpPr>
          <p:spPr>
            <a:xfrm>
              <a:off x="1535837" y="1038688"/>
              <a:ext cx="9080475" cy="5657312"/>
            </a:xfrm>
            <a:custGeom>
              <a:avLst/>
              <a:gdLst/>
              <a:ahLst/>
              <a:cxnLst/>
              <a:rect l="l" t="t" r="r" b="b"/>
              <a:pathLst>
                <a:path w="10737278" h="7409333">
                  <a:moveTo>
                    <a:pt x="0" y="0"/>
                  </a:moveTo>
                  <a:lnTo>
                    <a:pt x="10737278" y="0"/>
                  </a:lnTo>
                  <a:lnTo>
                    <a:pt x="10737278" y="7409333"/>
                  </a:lnTo>
                  <a:lnTo>
                    <a:pt x="0" y="7409333"/>
                  </a:lnTo>
                  <a:lnTo>
                    <a:pt x="0" y="0"/>
                  </a:lnTo>
                  <a:close/>
                </a:path>
              </a:pathLst>
            </a:custGeom>
            <a:blipFill>
              <a:blip r:embed="rId4"/>
              <a:stretch>
                <a:fillRect t="-13444" b="-31471"/>
              </a:stretch>
            </a:blipFill>
          </p:spPr>
          <p:txBody>
            <a:bodyPr/>
            <a:lstStyle/>
            <a:p>
              <a:endParaRPr lang="en-AU"/>
            </a:p>
          </p:txBody>
        </p:sp>
        <p:sp>
          <p:nvSpPr>
            <p:cNvPr id="7" name="Freeform 3">
              <a:extLst>
                <a:ext uri="{FF2B5EF4-FFF2-40B4-BE49-F238E27FC236}">
                  <a16:creationId xmlns:a16="http://schemas.microsoft.com/office/drawing/2014/main" id="{93DDB141-11F5-1C1C-5911-BC660B09FD2F}"/>
                </a:ext>
              </a:extLst>
            </p:cNvPr>
            <p:cNvSpPr/>
            <p:nvPr/>
          </p:nvSpPr>
          <p:spPr>
            <a:xfrm>
              <a:off x="7353267" y="1726948"/>
              <a:ext cx="1073254" cy="2908505"/>
            </a:xfrm>
            <a:custGeom>
              <a:avLst/>
              <a:gdLst/>
              <a:ahLst/>
              <a:cxnLst/>
              <a:rect l="l" t="t" r="r" b="b"/>
              <a:pathLst>
                <a:path w="1269078" h="3566495">
                  <a:moveTo>
                    <a:pt x="0" y="0"/>
                  </a:moveTo>
                  <a:lnTo>
                    <a:pt x="1269078" y="0"/>
                  </a:lnTo>
                  <a:lnTo>
                    <a:pt x="1269078" y="3566495"/>
                  </a:lnTo>
                  <a:lnTo>
                    <a:pt x="0" y="35664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8" name="Freeform 4">
              <a:extLst>
                <a:ext uri="{FF2B5EF4-FFF2-40B4-BE49-F238E27FC236}">
                  <a16:creationId xmlns:a16="http://schemas.microsoft.com/office/drawing/2014/main" id="{D387957D-2468-77D6-84F5-DCD5FE030434}"/>
                </a:ext>
              </a:extLst>
            </p:cNvPr>
            <p:cNvSpPr/>
            <p:nvPr/>
          </p:nvSpPr>
          <p:spPr>
            <a:xfrm>
              <a:off x="3863096" y="1646205"/>
              <a:ext cx="1162464" cy="2989248"/>
            </a:xfrm>
            <a:custGeom>
              <a:avLst/>
              <a:gdLst/>
              <a:ahLst/>
              <a:cxnLst/>
              <a:rect l="l" t="t" r="r" b="b"/>
              <a:pathLst>
                <a:path w="1374564" h="3665505">
                  <a:moveTo>
                    <a:pt x="0" y="0"/>
                  </a:moveTo>
                  <a:lnTo>
                    <a:pt x="1374564" y="0"/>
                  </a:lnTo>
                  <a:lnTo>
                    <a:pt x="1374564" y="3665505"/>
                  </a:lnTo>
                  <a:lnTo>
                    <a:pt x="0" y="36655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9" name="Freeform 5">
              <a:extLst>
                <a:ext uri="{FF2B5EF4-FFF2-40B4-BE49-F238E27FC236}">
                  <a16:creationId xmlns:a16="http://schemas.microsoft.com/office/drawing/2014/main" id="{AAB463AC-1E15-17CD-B5E2-35DAD44ECB96}"/>
                </a:ext>
              </a:extLst>
            </p:cNvPr>
            <p:cNvSpPr/>
            <p:nvPr/>
          </p:nvSpPr>
          <p:spPr>
            <a:xfrm>
              <a:off x="2167128" y="1726948"/>
              <a:ext cx="1365702" cy="2878582"/>
            </a:xfrm>
            <a:custGeom>
              <a:avLst/>
              <a:gdLst/>
              <a:ahLst/>
              <a:cxnLst/>
              <a:rect l="l" t="t" r="r" b="b"/>
              <a:pathLst>
                <a:path w="1614885" h="3529803">
                  <a:moveTo>
                    <a:pt x="0" y="0"/>
                  </a:moveTo>
                  <a:lnTo>
                    <a:pt x="1614885" y="0"/>
                  </a:lnTo>
                  <a:lnTo>
                    <a:pt x="1614885" y="3529803"/>
                  </a:lnTo>
                  <a:lnTo>
                    <a:pt x="0" y="352980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10" name="Freeform 6">
              <a:extLst>
                <a:ext uri="{FF2B5EF4-FFF2-40B4-BE49-F238E27FC236}">
                  <a16:creationId xmlns:a16="http://schemas.microsoft.com/office/drawing/2014/main" id="{8E50BAB7-44A8-8F95-8D64-6C020EBE6CB9}"/>
                </a:ext>
              </a:extLst>
            </p:cNvPr>
            <p:cNvSpPr/>
            <p:nvPr/>
          </p:nvSpPr>
          <p:spPr>
            <a:xfrm rot="19003147">
              <a:off x="8225241" y="1758119"/>
              <a:ext cx="3067155" cy="2765421"/>
            </a:xfrm>
            <a:custGeom>
              <a:avLst/>
              <a:gdLst/>
              <a:ahLst/>
              <a:cxnLst/>
              <a:rect l="l" t="t" r="r" b="b"/>
              <a:pathLst>
                <a:path w="3626781" h="3391041">
                  <a:moveTo>
                    <a:pt x="0" y="0"/>
                  </a:moveTo>
                  <a:lnTo>
                    <a:pt x="3626782" y="0"/>
                  </a:lnTo>
                  <a:lnTo>
                    <a:pt x="3626782" y="3391041"/>
                  </a:lnTo>
                  <a:lnTo>
                    <a:pt x="0" y="33910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AU"/>
            </a:p>
          </p:txBody>
        </p:sp>
        <p:sp>
          <p:nvSpPr>
            <p:cNvPr id="11" name="Freeform 7">
              <a:extLst>
                <a:ext uri="{FF2B5EF4-FFF2-40B4-BE49-F238E27FC236}">
                  <a16:creationId xmlns:a16="http://schemas.microsoft.com/office/drawing/2014/main" id="{F4E20D91-801D-29D5-255B-26A57DC88D2E}"/>
                </a:ext>
              </a:extLst>
            </p:cNvPr>
            <p:cNvSpPr/>
            <p:nvPr/>
          </p:nvSpPr>
          <p:spPr>
            <a:xfrm>
              <a:off x="5135862" y="1849305"/>
              <a:ext cx="1689378" cy="2837283"/>
            </a:xfrm>
            <a:custGeom>
              <a:avLst/>
              <a:gdLst/>
              <a:ahLst/>
              <a:cxnLst/>
              <a:rect l="l" t="t" r="r" b="b"/>
              <a:pathLst>
                <a:path w="1997618" h="3479160">
                  <a:moveTo>
                    <a:pt x="0" y="0"/>
                  </a:moveTo>
                  <a:lnTo>
                    <a:pt x="1997618" y="0"/>
                  </a:lnTo>
                  <a:lnTo>
                    <a:pt x="1997618" y="3479161"/>
                  </a:lnTo>
                  <a:lnTo>
                    <a:pt x="0" y="347916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AU"/>
            </a:p>
          </p:txBody>
        </p:sp>
        <p:grpSp>
          <p:nvGrpSpPr>
            <p:cNvPr id="12" name="Group 8">
              <a:extLst>
                <a:ext uri="{FF2B5EF4-FFF2-40B4-BE49-F238E27FC236}">
                  <a16:creationId xmlns:a16="http://schemas.microsoft.com/office/drawing/2014/main" id="{F4F7C31C-27BE-F43E-F547-3689F326EA96}"/>
                </a:ext>
              </a:extLst>
            </p:cNvPr>
            <p:cNvGrpSpPr/>
            <p:nvPr/>
          </p:nvGrpSpPr>
          <p:grpSpPr>
            <a:xfrm>
              <a:off x="5780125" y="2241202"/>
              <a:ext cx="980444" cy="2381803"/>
              <a:chOff x="0" y="-47625"/>
              <a:chExt cx="407991" cy="1027826"/>
            </a:xfrm>
          </p:grpSpPr>
          <p:sp>
            <p:nvSpPr>
              <p:cNvPr id="83" name="Freeform 9">
                <a:extLst>
                  <a:ext uri="{FF2B5EF4-FFF2-40B4-BE49-F238E27FC236}">
                    <a16:creationId xmlns:a16="http://schemas.microsoft.com/office/drawing/2014/main" id="{B7D43CE7-C842-DF3D-8227-287C7BD9C704}"/>
                  </a:ext>
                </a:extLst>
              </p:cNvPr>
              <p:cNvSpPr/>
              <p:nvPr/>
            </p:nvSpPr>
            <p:spPr>
              <a:xfrm>
                <a:off x="0" y="0"/>
                <a:ext cx="407991" cy="980201"/>
              </a:xfrm>
              <a:custGeom>
                <a:avLst/>
                <a:gdLst/>
                <a:ahLst/>
                <a:cxnLst/>
                <a:rect l="l" t="t" r="r" b="b"/>
                <a:pathLst>
                  <a:path w="407991" h="980201">
                    <a:moveTo>
                      <a:pt x="193659" y="0"/>
                    </a:moveTo>
                    <a:lnTo>
                      <a:pt x="214332" y="0"/>
                    </a:lnTo>
                    <a:cubicBezTo>
                      <a:pt x="321287" y="0"/>
                      <a:pt x="407991" y="86704"/>
                      <a:pt x="407991" y="193659"/>
                    </a:cubicBezTo>
                    <a:lnTo>
                      <a:pt x="407991" y="786542"/>
                    </a:lnTo>
                    <a:cubicBezTo>
                      <a:pt x="407991" y="837904"/>
                      <a:pt x="387588" y="887162"/>
                      <a:pt x="351270" y="923480"/>
                    </a:cubicBezTo>
                    <a:cubicBezTo>
                      <a:pt x="314952" y="959798"/>
                      <a:pt x="265694" y="980201"/>
                      <a:pt x="214332" y="980201"/>
                    </a:cubicBezTo>
                    <a:lnTo>
                      <a:pt x="193659" y="980201"/>
                    </a:lnTo>
                    <a:cubicBezTo>
                      <a:pt x="142298" y="980201"/>
                      <a:pt x="93040" y="959798"/>
                      <a:pt x="56721" y="923480"/>
                    </a:cubicBezTo>
                    <a:cubicBezTo>
                      <a:pt x="20403" y="887162"/>
                      <a:pt x="0" y="837904"/>
                      <a:pt x="0" y="786542"/>
                    </a:cubicBezTo>
                    <a:lnTo>
                      <a:pt x="0" y="193659"/>
                    </a:lnTo>
                    <a:cubicBezTo>
                      <a:pt x="0" y="142298"/>
                      <a:pt x="20403" y="93040"/>
                      <a:pt x="56721" y="56721"/>
                    </a:cubicBezTo>
                    <a:cubicBezTo>
                      <a:pt x="93040" y="20403"/>
                      <a:pt x="142298" y="0"/>
                      <a:pt x="193659" y="0"/>
                    </a:cubicBezTo>
                    <a:close/>
                  </a:path>
                </a:pathLst>
              </a:custGeom>
              <a:solidFill>
                <a:srgbClr val="FFFFFF"/>
              </a:solidFill>
            </p:spPr>
            <p:txBody>
              <a:bodyPr/>
              <a:lstStyle/>
              <a:p>
                <a:endParaRPr lang="en-AU"/>
              </a:p>
            </p:txBody>
          </p:sp>
          <p:sp>
            <p:nvSpPr>
              <p:cNvPr id="84" name="TextBox 10">
                <a:extLst>
                  <a:ext uri="{FF2B5EF4-FFF2-40B4-BE49-F238E27FC236}">
                    <a16:creationId xmlns:a16="http://schemas.microsoft.com/office/drawing/2014/main" id="{D8922657-5394-71FB-DA1A-63181680875B}"/>
                  </a:ext>
                </a:extLst>
              </p:cNvPr>
              <p:cNvSpPr txBox="1"/>
              <p:nvPr/>
            </p:nvSpPr>
            <p:spPr>
              <a:xfrm>
                <a:off x="0" y="-47625"/>
                <a:ext cx="407991" cy="1027826"/>
              </a:xfrm>
              <a:prstGeom prst="rect">
                <a:avLst/>
              </a:prstGeom>
            </p:spPr>
            <p:txBody>
              <a:bodyPr lIns="51732" tIns="51732" rIns="51732" bIns="51732" rtlCol="0" anchor="ctr"/>
              <a:lstStyle/>
              <a:p>
                <a:pPr algn="ctr">
                  <a:lnSpc>
                    <a:spcPts val="2686"/>
                  </a:lnSpc>
                </a:pPr>
                <a:endParaRPr/>
              </a:p>
            </p:txBody>
          </p:sp>
        </p:grpSp>
        <p:sp>
          <p:nvSpPr>
            <p:cNvPr id="13" name="AutoShape 11">
              <a:extLst>
                <a:ext uri="{FF2B5EF4-FFF2-40B4-BE49-F238E27FC236}">
                  <a16:creationId xmlns:a16="http://schemas.microsoft.com/office/drawing/2014/main" id="{071CB937-E69C-42A4-E101-3D2E76059B5D}"/>
                </a:ext>
              </a:extLst>
            </p:cNvPr>
            <p:cNvSpPr/>
            <p:nvPr/>
          </p:nvSpPr>
          <p:spPr>
            <a:xfrm flipV="1">
              <a:off x="1535837" y="5119508"/>
              <a:ext cx="9080475" cy="0"/>
            </a:xfrm>
            <a:prstGeom prst="line">
              <a:avLst/>
            </a:prstGeom>
            <a:ln w="209550" cap="flat">
              <a:solidFill>
                <a:srgbClr val="FFFFFF"/>
              </a:solidFill>
              <a:prstDash val="solid"/>
              <a:headEnd type="none" w="sm" len="sm"/>
              <a:tailEnd type="none" w="sm" len="sm"/>
            </a:ln>
          </p:spPr>
          <p:txBody>
            <a:bodyPr/>
            <a:lstStyle/>
            <a:p>
              <a:endParaRPr lang="en-AU"/>
            </a:p>
          </p:txBody>
        </p:sp>
        <p:sp>
          <p:nvSpPr>
            <p:cNvPr id="14" name="AutoShape 12">
              <a:extLst>
                <a:ext uri="{FF2B5EF4-FFF2-40B4-BE49-F238E27FC236}">
                  <a16:creationId xmlns:a16="http://schemas.microsoft.com/office/drawing/2014/main" id="{FCFCA0A9-1F29-FFD2-4E78-ADC64245CDF8}"/>
                </a:ext>
              </a:extLst>
            </p:cNvPr>
            <p:cNvSpPr/>
            <p:nvPr/>
          </p:nvSpPr>
          <p:spPr>
            <a:xfrm flipV="1">
              <a:off x="1804973" y="2337340"/>
              <a:ext cx="0" cy="2268191"/>
            </a:xfrm>
            <a:prstGeom prst="line">
              <a:avLst/>
            </a:prstGeom>
            <a:ln w="66675" cap="flat">
              <a:solidFill>
                <a:srgbClr val="000000"/>
              </a:solidFill>
              <a:prstDash val="solid"/>
              <a:headEnd type="none" w="sm" len="sm"/>
              <a:tailEnd type="none" w="sm" len="sm"/>
            </a:ln>
          </p:spPr>
          <p:txBody>
            <a:bodyPr/>
            <a:lstStyle/>
            <a:p>
              <a:endParaRPr lang="en-AU"/>
            </a:p>
          </p:txBody>
        </p:sp>
        <p:sp>
          <p:nvSpPr>
            <p:cNvPr id="15" name="AutoShape 13">
              <a:extLst>
                <a:ext uri="{FF2B5EF4-FFF2-40B4-BE49-F238E27FC236}">
                  <a16:creationId xmlns:a16="http://schemas.microsoft.com/office/drawing/2014/main" id="{BACCBE0A-12A1-2FB1-154B-2E348BDBED41}"/>
                </a:ext>
              </a:extLst>
            </p:cNvPr>
            <p:cNvSpPr/>
            <p:nvPr/>
          </p:nvSpPr>
          <p:spPr>
            <a:xfrm flipV="1">
              <a:off x="1670432" y="2337340"/>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16" name="AutoShape 14">
              <a:extLst>
                <a:ext uri="{FF2B5EF4-FFF2-40B4-BE49-F238E27FC236}">
                  <a16:creationId xmlns:a16="http://schemas.microsoft.com/office/drawing/2014/main" id="{6DD1994C-1231-6393-A5AF-A52CAD394FA0}"/>
                </a:ext>
              </a:extLst>
            </p:cNvPr>
            <p:cNvSpPr/>
            <p:nvPr/>
          </p:nvSpPr>
          <p:spPr>
            <a:xfrm>
              <a:off x="1670432" y="4632717"/>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17" name="TextBox 15">
              <a:extLst>
                <a:ext uri="{FF2B5EF4-FFF2-40B4-BE49-F238E27FC236}">
                  <a16:creationId xmlns:a16="http://schemas.microsoft.com/office/drawing/2014/main" id="{72615145-24FD-BFE6-5A7C-A2BD68B88F73}"/>
                </a:ext>
              </a:extLst>
            </p:cNvPr>
            <p:cNvSpPr txBox="1"/>
            <p:nvPr/>
          </p:nvSpPr>
          <p:spPr>
            <a:xfrm>
              <a:off x="1862161" y="4440078"/>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0</a:t>
              </a:r>
            </a:p>
          </p:txBody>
        </p:sp>
        <p:sp>
          <p:nvSpPr>
            <p:cNvPr id="18" name="TextBox 16">
              <a:extLst>
                <a:ext uri="{FF2B5EF4-FFF2-40B4-BE49-F238E27FC236}">
                  <a16:creationId xmlns:a16="http://schemas.microsoft.com/office/drawing/2014/main" id="{19F45A12-090C-03B7-EAE6-8AAB2F475001}"/>
                </a:ext>
              </a:extLst>
            </p:cNvPr>
            <p:cNvSpPr txBox="1"/>
            <p:nvPr/>
          </p:nvSpPr>
          <p:spPr>
            <a:xfrm>
              <a:off x="1812249" y="2144700"/>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1</a:t>
              </a:r>
            </a:p>
          </p:txBody>
        </p:sp>
        <p:grpSp>
          <p:nvGrpSpPr>
            <p:cNvPr id="19" name="Group 17">
              <a:extLst>
                <a:ext uri="{FF2B5EF4-FFF2-40B4-BE49-F238E27FC236}">
                  <a16:creationId xmlns:a16="http://schemas.microsoft.com/office/drawing/2014/main" id="{0D361E0B-F832-62D0-2FBC-2B6E355577FF}"/>
                </a:ext>
              </a:extLst>
            </p:cNvPr>
            <p:cNvGrpSpPr/>
            <p:nvPr/>
          </p:nvGrpSpPr>
          <p:grpSpPr>
            <a:xfrm>
              <a:off x="2225095" y="5234663"/>
              <a:ext cx="1042097" cy="1328580"/>
              <a:chOff x="0" y="-47625"/>
              <a:chExt cx="441606" cy="583849"/>
            </a:xfrm>
          </p:grpSpPr>
          <p:sp>
            <p:nvSpPr>
              <p:cNvPr id="81" name="Freeform 18">
                <a:extLst>
                  <a:ext uri="{FF2B5EF4-FFF2-40B4-BE49-F238E27FC236}">
                    <a16:creationId xmlns:a16="http://schemas.microsoft.com/office/drawing/2014/main" id="{29D41F69-E643-1328-AA9F-DD7FA4ADA039}"/>
                  </a:ext>
                </a:extLst>
              </p:cNvPr>
              <p:cNvSpPr/>
              <p:nvPr/>
            </p:nvSpPr>
            <p:spPr>
              <a:xfrm>
                <a:off x="0" y="0"/>
                <a:ext cx="441606" cy="536224"/>
              </a:xfrm>
              <a:custGeom>
                <a:avLst/>
                <a:gdLst/>
                <a:ahLst/>
                <a:cxnLst/>
                <a:rect l="l" t="t" r="r" b="b"/>
                <a:pathLst>
                  <a:path w="441606" h="536224">
                    <a:moveTo>
                      <a:pt x="0" y="0"/>
                    </a:moveTo>
                    <a:lnTo>
                      <a:pt x="441606" y="0"/>
                    </a:lnTo>
                    <a:lnTo>
                      <a:pt x="441606" y="536224"/>
                    </a:lnTo>
                    <a:lnTo>
                      <a:pt x="0" y="536224"/>
                    </a:lnTo>
                    <a:close/>
                  </a:path>
                </a:pathLst>
              </a:custGeom>
              <a:solidFill>
                <a:srgbClr val="FFFFFF"/>
              </a:solidFill>
            </p:spPr>
            <p:txBody>
              <a:bodyPr/>
              <a:lstStyle/>
              <a:p>
                <a:endParaRPr lang="en-AU"/>
              </a:p>
            </p:txBody>
          </p:sp>
          <p:sp>
            <p:nvSpPr>
              <p:cNvPr id="82" name="TextBox 19">
                <a:extLst>
                  <a:ext uri="{FF2B5EF4-FFF2-40B4-BE49-F238E27FC236}">
                    <a16:creationId xmlns:a16="http://schemas.microsoft.com/office/drawing/2014/main" id="{9916BF7E-7F4A-B96D-81CF-F55126E20D0E}"/>
                  </a:ext>
                </a:extLst>
              </p:cNvPr>
              <p:cNvSpPr txBox="1"/>
              <p:nvPr/>
            </p:nvSpPr>
            <p:spPr>
              <a:xfrm>
                <a:off x="0" y="-47625"/>
                <a:ext cx="441606" cy="583849"/>
              </a:xfrm>
              <a:prstGeom prst="rect">
                <a:avLst/>
              </a:prstGeom>
            </p:spPr>
            <p:txBody>
              <a:bodyPr lIns="50800" tIns="50800" rIns="50800" bIns="50800" rtlCol="0" anchor="ctr"/>
              <a:lstStyle/>
              <a:p>
                <a:pPr algn="ctr">
                  <a:lnSpc>
                    <a:spcPts val="2686"/>
                  </a:lnSpc>
                </a:pPr>
                <a:endParaRPr/>
              </a:p>
              <a:p>
                <a:pPr algn="ctr">
                  <a:lnSpc>
                    <a:spcPts val="2686"/>
                  </a:lnSpc>
                </a:pPr>
                <a:endParaRPr/>
              </a:p>
            </p:txBody>
          </p:sp>
        </p:grpSp>
        <p:sp>
          <p:nvSpPr>
            <p:cNvPr id="20" name="TextBox 20">
              <a:extLst>
                <a:ext uri="{FF2B5EF4-FFF2-40B4-BE49-F238E27FC236}">
                  <a16:creationId xmlns:a16="http://schemas.microsoft.com/office/drawing/2014/main" id="{AEB6670A-09E5-B133-2C5F-19ABBE6AE383}"/>
                </a:ext>
              </a:extLst>
            </p:cNvPr>
            <p:cNvSpPr txBox="1"/>
            <p:nvPr/>
          </p:nvSpPr>
          <p:spPr>
            <a:xfrm>
              <a:off x="2986943" y="5387622"/>
              <a:ext cx="37003" cy="327718"/>
            </a:xfrm>
            <a:prstGeom prst="rect">
              <a:avLst/>
            </a:prstGeom>
          </p:spPr>
          <p:txBody>
            <a:bodyPr lIns="0" tIns="0" rIns="0" bIns="0" rtlCol="0" anchor="t">
              <a:spAutoFit/>
            </a:bodyPr>
            <a:lstStyle/>
            <a:p>
              <a:pPr algn="ctr">
                <a:lnSpc>
                  <a:spcPts val="2801"/>
                </a:lnSpc>
                <a:spcBef>
                  <a:spcPct val="0"/>
                </a:spcBef>
              </a:pPr>
              <a:r>
                <a:rPr lang="en-US" sz="2001">
                  <a:solidFill>
                    <a:srgbClr val="000000"/>
                  </a:solidFill>
                  <a:latin typeface="Arial" panose="020B0604020202020204" pitchFamily="34" charset="0"/>
                  <a:ea typeface="Canva Student Font"/>
                  <a:cs typeface="Arial" panose="020B0604020202020204" pitchFamily="34" charset="0"/>
                  <a:sym typeface="Canva Student Font"/>
                </a:rPr>
                <a:t>1</a:t>
              </a:r>
            </a:p>
          </p:txBody>
        </p:sp>
        <p:sp>
          <p:nvSpPr>
            <p:cNvPr id="21" name="AutoShape 21">
              <a:extLst>
                <a:ext uri="{FF2B5EF4-FFF2-40B4-BE49-F238E27FC236}">
                  <a16:creationId xmlns:a16="http://schemas.microsoft.com/office/drawing/2014/main" id="{AC6A7777-7C0C-3F16-8243-4272C1B63AAC}"/>
                </a:ext>
              </a:extLst>
            </p:cNvPr>
            <p:cNvSpPr/>
            <p:nvPr/>
          </p:nvSpPr>
          <p:spPr>
            <a:xfrm>
              <a:off x="2924361" y="5672196"/>
              <a:ext cx="171752" cy="0"/>
            </a:xfrm>
            <a:prstGeom prst="line">
              <a:avLst/>
            </a:prstGeom>
            <a:ln w="1905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22" name="TextBox 22">
              <a:extLst>
                <a:ext uri="{FF2B5EF4-FFF2-40B4-BE49-F238E27FC236}">
                  <a16:creationId xmlns:a16="http://schemas.microsoft.com/office/drawing/2014/main" id="{C1EB9694-0B96-ECE7-0A3A-44B0881DFB2F}"/>
                </a:ext>
              </a:extLst>
            </p:cNvPr>
            <p:cNvSpPr txBox="1"/>
            <p:nvPr/>
          </p:nvSpPr>
          <p:spPr>
            <a:xfrm>
              <a:off x="2933596" y="5669304"/>
              <a:ext cx="143698" cy="257956"/>
            </a:xfrm>
            <a:prstGeom prst="rect">
              <a:avLst/>
            </a:prstGeom>
          </p:spPr>
          <p:txBody>
            <a:bodyPr lIns="0" tIns="0" rIns="0" bIns="0" rtlCol="0" anchor="t">
              <a:spAutoFit/>
            </a:bodyPr>
            <a:lstStyle/>
            <a:p>
              <a:pPr algn="ctr">
                <a:lnSpc>
                  <a:spcPts val="2222"/>
                </a:lnSpc>
                <a:spcBef>
                  <a:spcPct val="0"/>
                </a:spcBef>
              </a:pPr>
              <a:r>
                <a:rPr lang="en-US" sz="1587">
                  <a:solidFill>
                    <a:srgbClr val="000000"/>
                  </a:solidFill>
                  <a:latin typeface="Arial" panose="020B0604020202020204" pitchFamily="34" charset="0"/>
                  <a:ea typeface="Canva Student Font"/>
                  <a:cs typeface="Arial" panose="020B0604020202020204" pitchFamily="34" charset="0"/>
                  <a:sym typeface="Canva Student Font"/>
                </a:rPr>
                <a:t>4</a:t>
              </a:r>
            </a:p>
          </p:txBody>
        </p:sp>
        <p:grpSp>
          <p:nvGrpSpPr>
            <p:cNvPr id="23" name="Group 23">
              <a:extLst>
                <a:ext uri="{FF2B5EF4-FFF2-40B4-BE49-F238E27FC236}">
                  <a16:creationId xmlns:a16="http://schemas.microsoft.com/office/drawing/2014/main" id="{A7C0F4FC-3B91-7EA2-8B83-6EA7B0905307}"/>
                </a:ext>
              </a:extLst>
            </p:cNvPr>
            <p:cNvGrpSpPr/>
            <p:nvPr/>
          </p:nvGrpSpPr>
          <p:grpSpPr>
            <a:xfrm>
              <a:off x="3923279" y="5234663"/>
              <a:ext cx="1042097" cy="1328580"/>
              <a:chOff x="0" y="-47625"/>
              <a:chExt cx="441606" cy="583849"/>
            </a:xfrm>
          </p:grpSpPr>
          <p:sp>
            <p:nvSpPr>
              <p:cNvPr id="79" name="Freeform 24">
                <a:extLst>
                  <a:ext uri="{FF2B5EF4-FFF2-40B4-BE49-F238E27FC236}">
                    <a16:creationId xmlns:a16="http://schemas.microsoft.com/office/drawing/2014/main" id="{35CAD844-13F3-7CC4-ECA4-F896DF321076}"/>
                  </a:ext>
                </a:extLst>
              </p:cNvPr>
              <p:cNvSpPr/>
              <p:nvPr/>
            </p:nvSpPr>
            <p:spPr>
              <a:xfrm>
                <a:off x="0" y="0"/>
                <a:ext cx="441606" cy="536224"/>
              </a:xfrm>
              <a:custGeom>
                <a:avLst/>
                <a:gdLst/>
                <a:ahLst/>
                <a:cxnLst/>
                <a:rect l="l" t="t" r="r" b="b"/>
                <a:pathLst>
                  <a:path w="441606" h="536224">
                    <a:moveTo>
                      <a:pt x="0" y="0"/>
                    </a:moveTo>
                    <a:lnTo>
                      <a:pt x="441606" y="0"/>
                    </a:lnTo>
                    <a:lnTo>
                      <a:pt x="441606" y="536224"/>
                    </a:lnTo>
                    <a:lnTo>
                      <a:pt x="0" y="536224"/>
                    </a:lnTo>
                    <a:close/>
                  </a:path>
                </a:pathLst>
              </a:custGeom>
              <a:solidFill>
                <a:srgbClr val="FFFFFF"/>
              </a:solidFill>
            </p:spPr>
            <p:txBody>
              <a:bodyPr/>
              <a:lstStyle/>
              <a:p>
                <a:endParaRPr lang="en-AU"/>
              </a:p>
            </p:txBody>
          </p:sp>
          <p:sp>
            <p:nvSpPr>
              <p:cNvPr id="80" name="TextBox 25">
                <a:extLst>
                  <a:ext uri="{FF2B5EF4-FFF2-40B4-BE49-F238E27FC236}">
                    <a16:creationId xmlns:a16="http://schemas.microsoft.com/office/drawing/2014/main" id="{02137150-1ED5-A7A1-AEAC-0194F7C0A2F8}"/>
                  </a:ext>
                </a:extLst>
              </p:cNvPr>
              <p:cNvSpPr txBox="1"/>
              <p:nvPr/>
            </p:nvSpPr>
            <p:spPr>
              <a:xfrm>
                <a:off x="0" y="-47625"/>
                <a:ext cx="441606" cy="583849"/>
              </a:xfrm>
              <a:prstGeom prst="rect">
                <a:avLst/>
              </a:prstGeom>
            </p:spPr>
            <p:txBody>
              <a:bodyPr lIns="50800" tIns="50800" rIns="50800" bIns="50800" rtlCol="0" anchor="ctr"/>
              <a:lstStyle/>
              <a:p>
                <a:pPr algn="ctr">
                  <a:lnSpc>
                    <a:spcPts val="2686"/>
                  </a:lnSpc>
                </a:pPr>
                <a:endParaRPr/>
              </a:p>
              <a:p>
                <a:pPr algn="ctr">
                  <a:lnSpc>
                    <a:spcPts val="2686"/>
                  </a:lnSpc>
                </a:pPr>
                <a:endParaRPr/>
              </a:p>
            </p:txBody>
          </p:sp>
        </p:grpSp>
        <p:sp>
          <p:nvSpPr>
            <p:cNvPr id="24" name="TextBox 26">
              <a:extLst>
                <a:ext uri="{FF2B5EF4-FFF2-40B4-BE49-F238E27FC236}">
                  <a16:creationId xmlns:a16="http://schemas.microsoft.com/office/drawing/2014/main" id="{10449CE6-DBC6-EA9E-6C03-E8826A498223}"/>
                </a:ext>
              </a:extLst>
            </p:cNvPr>
            <p:cNvSpPr txBox="1"/>
            <p:nvPr/>
          </p:nvSpPr>
          <p:spPr>
            <a:xfrm>
              <a:off x="4041275" y="5451624"/>
              <a:ext cx="317176"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Alby</a:t>
              </a:r>
            </a:p>
          </p:txBody>
        </p:sp>
        <p:sp>
          <p:nvSpPr>
            <p:cNvPr id="25" name="AutoShape 27">
              <a:extLst>
                <a:ext uri="{FF2B5EF4-FFF2-40B4-BE49-F238E27FC236}">
                  <a16:creationId xmlns:a16="http://schemas.microsoft.com/office/drawing/2014/main" id="{15D296AC-B033-0890-F635-93C6EAE092F7}"/>
                </a:ext>
              </a:extLst>
            </p:cNvPr>
            <p:cNvSpPr/>
            <p:nvPr/>
          </p:nvSpPr>
          <p:spPr>
            <a:xfrm flipV="1">
              <a:off x="3611314" y="2337340"/>
              <a:ext cx="0" cy="2268191"/>
            </a:xfrm>
            <a:prstGeom prst="line">
              <a:avLst/>
            </a:prstGeom>
            <a:ln w="66675" cap="flat">
              <a:solidFill>
                <a:srgbClr val="000000"/>
              </a:solidFill>
              <a:prstDash val="solid"/>
              <a:headEnd type="none" w="sm" len="sm"/>
              <a:tailEnd type="none" w="sm" len="sm"/>
            </a:ln>
          </p:spPr>
          <p:txBody>
            <a:bodyPr/>
            <a:lstStyle/>
            <a:p>
              <a:endParaRPr lang="en-AU"/>
            </a:p>
          </p:txBody>
        </p:sp>
        <p:sp>
          <p:nvSpPr>
            <p:cNvPr id="26" name="AutoShape 28">
              <a:extLst>
                <a:ext uri="{FF2B5EF4-FFF2-40B4-BE49-F238E27FC236}">
                  <a16:creationId xmlns:a16="http://schemas.microsoft.com/office/drawing/2014/main" id="{0E95F25E-83D2-B14B-A970-7EC7336A6F33}"/>
                </a:ext>
              </a:extLst>
            </p:cNvPr>
            <p:cNvSpPr/>
            <p:nvPr/>
          </p:nvSpPr>
          <p:spPr>
            <a:xfrm flipV="1">
              <a:off x="3476773" y="2337340"/>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27" name="AutoShape 29">
              <a:extLst>
                <a:ext uri="{FF2B5EF4-FFF2-40B4-BE49-F238E27FC236}">
                  <a16:creationId xmlns:a16="http://schemas.microsoft.com/office/drawing/2014/main" id="{4636F2C6-2084-AA5E-9511-54C945AA0E1E}"/>
                </a:ext>
              </a:extLst>
            </p:cNvPr>
            <p:cNvSpPr/>
            <p:nvPr/>
          </p:nvSpPr>
          <p:spPr>
            <a:xfrm>
              <a:off x="3476773" y="4632717"/>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28" name="TextBox 30">
              <a:extLst>
                <a:ext uri="{FF2B5EF4-FFF2-40B4-BE49-F238E27FC236}">
                  <a16:creationId xmlns:a16="http://schemas.microsoft.com/office/drawing/2014/main" id="{A459E0EB-2C15-A1DA-8B91-E0CA10A2B9DB}"/>
                </a:ext>
              </a:extLst>
            </p:cNvPr>
            <p:cNvSpPr txBox="1"/>
            <p:nvPr/>
          </p:nvSpPr>
          <p:spPr>
            <a:xfrm>
              <a:off x="3668502" y="4440078"/>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0</a:t>
              </a:r>
            </a:p>
          </p:txBody>
        </p:sp>
        <p:sp>
          <p:nvSpPr>
            <p:cNvPr id="29" name="TextBox 31">
              <a:extLst>
                <a:ext uri="{FF2B5EF4-FFF2-40B4-BE49-F238E27FC236}">
                  <a16:creationId xmlns:a16="http://schemas.microsoft.com/office/drawing/2014/main" id="{B5D27422-B5C3-F077-B118-A923E2E6E986}"/>
                </a:ext>
              </a:extLst>
            </p:cNvPr>
            <p:cNvSpPr txBox="1"/>
            <p:nvPr/>
          </p:nvSpPr>
          <p:spPr>
            <a:xfrm>
              <a:off x="3618590" y="2144700"/>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1</a:t>
              </a:r>
            </a:p>
          </p:txBody>
        </p:sp>
        <p:sp>
          <p:nvSpPr>
            <p:cNvPr id="30" name="AutoShape 32">
              <a:extLst>
                <a:ext uri="{FF2B5EF4-FFF2-40B4-BE49-F238E27FC236}">
                  <a16:creationId xmlns:a16="http://schemas.microsoft.com/office/drawing/2014/main" id="{1E2D0C60-4207-900C-4A8A-FA8A17FB56AE}"/>
                </a:ext>
              </a:extLst>
            </p:cNvPr>
            <p:cNvSpPr/>
            <p:nvPr/>
          </p:nvSpPr>
          <p:spPr>
            <a:xfrm flipV="1">
              <a:off x="5354679" y="2337340"/>
              <a:ext cx="0" cy="2268191"/>
            </a:xfrm>
            <a:prstGeom prst="line">
              <a:avLst/>
            </a:prstGeom>
            <a:ln w="66675" cap="flat">
              <a:solidFill>
                <a:srgbClr val="000000"/>
              </a:solidFill>
              <a:prstDash val="solid"/>
              <a:headEnd type="none" w="sm" len="sm"/>
              <a:tailEnd type="none" w="sm" len="sm"/>
            </a:ln>
          </p:spPr>
          <p:txBody>
            <a:bodyPr/>
            <a:lstStyle/>
            <a:p>
              <a:endParaRPr lang="en-AU"/>
            </a:p>
          </p:txBody>
        </p:sp>
        <p:sp>
          <p:nvSpPr>
            <p:cNvPr id="31" name="AutoShape 33">
              <a:extLst>
                <a:ext uri="{FF2B5EF4-FFF2-40B4-BE49-F238E27FC236}">
                  <a16:creationId xmlns:a16="http://schemas.microsoft.com/office/drawing/2014/main" id="{BFC26268-D4B5-3753-C4F8-8252EFA2593B}"/>
                </a:ext>
              </a:extLst>
            </p:cNvPr>
            <p:cNvSpPr/>
            <p:nvPr/>
          </p:nvSpPr>
          <p:spPr>
            <a:xfrm flipV="1">
              <a:off x="5220138" y="2337340"/>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32" name="AutoShape 34">
              <a:extLst>
                <a:ext uri="{FF2B5EF4-FFF2-40B4-BE49-F238E27FC236}">
                  <a16:creationId xmlns:a16="http://schemas.microsoft.com/office/drawing/2014/main" id="{39D5EDE4-E233-C829-53D5-9950E6CC50B9}"/>
                </a:ext>
              </a:extLst>
            </p:cNvPr>
            <p:cNvSpPr/>
            <p:nvPr/>
          </p:nvSpPr>
          <p:spPr>
            <a:xfrm>
              <a:off x="5220138" y="4632717"/>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33" name="TextBox 35">
              <a:extLst>
                <a:ext uri="{FF2B5EF4-FFF2-40B4-BE49-F238E27FC236}">
                  <a16:creationId xmlns:a16="http://schemas.microsoft.com/office/drawing/2014/main" id="{B36BE793-492D-D9E7-12DD-35C2C4765B72}"/>
                </a:ext>
              </a:extLst>
            </p:cNvPr>
            <p:cNvSpPr txBox="1"/>
            <p:nvPr/>
          </p:nvSpPr>
          <p:spPr>
            <a:xfrm>
              <a:off x="5411866" y="4440078"/>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0</a:t>
              </a:r>
            </a:p>
          </p:txBody>
        </p:sp>
        <p:sp>
          <p:nvSpPr>
            <p:cNvPr id="34" name="TextBox 36">
              <a:extLst>
                <a:ext uri="{FF2B5EF4-FFF2-40B4-BE49-F238E27FC236}">
                  <a16:creationId xmlns:a16="http://schemas.microsoft.com/office/drawing/2014/main" id="{2353FA18-EBAA-5960-EA7F-25FAADF6794A}"/>
                </a:ext>
              </a:extLst>
            </p:cNvPr>
            <p:cNvSpPr txBox="1"/>
            <p:nvPr/>
          </p:nvSpPr>
          <p:spPr>
            <a:xfrm>
              <a:off x="5361955" y="2144700"/>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1</a:t>
              </a:r>
            </a:p>
          </p:txBody>
        </p:sp>
        <p:sp>
          <p:nvSpPr>
            <p:cNvPr id="35" name="AutoShape 37">
              <a:extLst>
                <a:ext uri="{FF2B5EF4-FFF2-40B4-BE49-F238E27FC236}">
                  <a16:creationId xmlns:a16="http://schemas.microsoft.com/office/drawing/2014/main" id="{5142C023-C9D6-F97B-F46E-3452DE6AC1A2}"/>
                </a:ext>
              </a:extLst>
            </p:cNvPr>
            <p:cNvSpPr/>
            <p:nvPr/>
          </p:nvSpPr>
          <p:spPr>
            <a:xfrm flipV="1">
              <a:off x="7126434" y="2310075"/>
              <a:ext cx="0" cy="2268191"/>
            </a:xfrm>
            <a:prstGeom prst="line">
              <a:avLst/>
            </a:prstGeom>
            <a:ln w="66675" cap="flat">
              <a:solidFill>
                <a:srgbClr val="000000"/>
              </a:solidFill>
              <a:prstDash val="solid"/>
              <a:headEnd type="none" w="sm" len="sm"/>
              <a:tailEnd type="none" w="sm" len="sm"/>
            </a:ln>
          </p:spPr>
          <p:txBody>
            <a:bodyPr/>
            <a:lstStyle/>
            <a:p>
              <a:endParaRPr lang="en-AU"/>
            </a:p>
          </p:txBody>
        </p:sp>
        <p:sp>
          <p:nvSpPr>
            <p:cNvPr id="36" name="AutoShape 38">
              <a:extLst>
                <a:ext uri="{FF2B5EF4-FFF2-40B4-BE49-F238E27FC236}">
                  <a16:creationId xmlns:a16="http://schemas.microsoft.com/office/drawing/2014/main" id="{E4DCE7A2-C9F6-A28F-934C-52C16B2BC05C}"/>
                </a:ext>
              </a:extLst>
            </p:cNvPr>
            <p:cNvSpPr/>
            <p:nvPr/>
          </p:nvSpPr>
          <p:spPr>
            <a:xfrm flipV="1">
              <a:off x="6991893" y="2310075"/>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37" name="AutoShape 39">
              <a:extLst>
                <a:ext uri="{FF2B5EF4-FFF2-40B4-BE49-F238E27FC236}">
                  <a16:creationId xmlns:a16="http://schemas.microsoft.com/office/drawing/2014/main" id="{68E4C887-7307-42D0-6396-9C9C0856D6F5}"/>
                </a:ext>
              </a:extLst>
            </p:cNvPr>
            <p:cNvSpPr/>
            <p:nvPr/>
          </p:nvSpPr>
          <p:spPr>
            <a:xfrm>
              <a:off x="6991893" y="4605452"/>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38" name="TextBox 40">
              <a:extLst>
                <a:ext uri="{FF2B5EF4-FFF2-40B4-BE49-F238E27FC236}">
                  <a16:creationId xmlns:a16="http://schemas.microsoft.com/office/drawing/2014/main" id="{9AEFE7CA-7E0C-EFCD-5FCD-5E439B345465}"/>
                </a:ext>
              </a:extLst>
            </p:cNvPr>
            <p:cNvSpPr txBox="1"/>
            <p:nvPr/>
          </p:nvSpPr>
          <p:spPr>
            <a:xfrm>
              <a:off x="7183621" y="4412813"/>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0</a:t>
              </a:r>
            </a:p>
          </p:txBody>
        </p:sp>
        <p:sp>
          <p:nvSpPr>
            <p:cNvPr id="39" name="TextBox 41">
              <a:extLst>
                <a:ext uri="{FF2B5EF4-FFF2-40B4-BE49-F238E27FC236}">
                  <a16:creationId xmlns:a16="http://schemas.microsoft.com/office/drawing/2014/main" id="{4303F032-51ED-6D11-676B-69FACA0F756C}"/>
                </a:ext>
              </a:extLst>
            </p:cNvPr>
            <p:cNvSpPr txBox="1"/>
            <p:nvPr/>
          </p:nvSpPr>
          <p:spPr>
            <a:xfrm>
              <a:off x="7133710" y="2117435"/>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1</a:t>
              </a:r>
            </a:p>
          </p:txBody>
        </p:sp>
        <p:sp>
          <p:nvSpPr>
            <p:cNvPr id="40" name="AutoShape 42">
              <a:extLst>
                <a:ext uri="{FF2B5EF4-FFF2-40B4-BE49-F238E27FC236}">
                  <a16:creationId xmlns:a16="http://schemas.microsoft.com/office/drawing/2014/main" id="{525850E0-87CD-F006-F39C-75DCFA2C7839}"/>
                </a:ext>
              </a:extLst>
            </p:cNvPr>
            <p:cNvSpPr/>
            <p:nvPr/>
          </p:nvSpPr>
          <p:spPr>
            <a:xfrm flipV="1">
              <a:off x="8673836" y="2337340"/>
              <a:ext cx="0" cy="2268191"/>
            </a:xfrm>
            <a:prstGeom prst="line">
              <a:avLst/>
            </a:prstGeom>
            <a:ln w="66675" cap="flat">
              <a:solidFill>
                <a:srgbClr val="000000"/>
              </a:solidFill>
              <a:prstDash val="solid"/>
              <a:headEnd type="none" w="sm" len="sm"/>
              <a:tailEnd type="none" w="sm" len="sm"/>
            </a:ln>
          </p:spPr>
          <p:txBody>
            <a:bodyPr/>
            <a:lstStyle/>
            <a:p>
              <a:endParaRPr lang="en-AU"/>
            </a:p>
          </p:txBody>
        </p:sp>
        <p:sp>
          <p:nvSpPr>
            <p:cNvPr id="41" name="AutoShape 43">
              <a:extLst>
                <a:ext uri="{FF2B5EF4-FFF2-40B4-BE49-F238E27FC236}">
                  <a16:creationId xmlns:a16="http://schemas.microsoft.com/office/drawing/2014/main" id="{C48A093D-FFA3-1E6A-94C5-8332A912219B}"/>
                </a:ext>
              </a:extLst>
            </p:cNvPr>
            <p:cNvSpPr/>
            <p:nvPr/>
          </p:nvSpPr>
          <p:spPr>
            <a:xfrm flipV="1">
              <a:off x="8539295" y="2337340"/>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42" name="AutoShape 44">
              <a:extLst>
                <a:ext uri="{FF2B5EF4-FFF2-40B4-BE49-F238E27FC236}">
                  <a16:creationId xmlns:a16="http://schemas.microsoft.com/office/drawing/2014/main" id="{A5CB9055-8DA2-09BF-2E18-C998E3C28FF0}"/>
                </a:ext>
              </a:extLst>
            </p:cNvPr>
            <p:cNvSpPr/>
            <p:nvPr/>
          </p:nvSpPr>
          <p:spPr>
            <a:xfrm>
              <a:off x="8539295" y="4632717"/>
              <a:ext cx="269082" cy="0"/>
            </a:xfrm>
            <a:prstGeom prst="line">
              <a:avLst/>
            </a:prstGeom>
            <a:ln w="66675" cap="flat">
              <a:solidFill>
                <a:srgbClr val="000000"/>
              </a:solidFill>
              <a:prstDash val="solid"/>
              <a:headEnd type="none" w="sm" len="sm"/>
              <a:tailEnd type="none" w="sm" len="sm"/>
            </a:ln>
          </p:spPr>
          <p:txBody>
            <a:bodyPr/>
            <a:lstStyle/>
            <a:p>
              <a:endParaRPr lang="en-AU"/>
            </a:p>
          </p:txBody>
        </p:sp>
        <p:sp>
          <p:nvSpPr>
            <p:cNvPr id="43" name="TextBox 45">
              <a:extLst>
                <a:ext uri="{FF2B5EF4-FFF2-40B4-BE49-F238E27FC236}">
                  <a16:creationId xmlns:a16="http://schemas.microsoft.com/office/drawing/2014/main" id="{5D870FDA-339D-7C6D-F0C9-EFA85FEB29FD}"/>
                </a:ext>
              </a:extLst>
            </p:cNvPr>
            <p:cNvSpPr txBox="1"/>
            <p:nvPr/>
          </p:nvSpPr>
          <p:spPr>
            <a:xfrm>
              <a:off x="8731023" y="4440078"/>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0</a:t>
              </a:r>
            </a:p>
          </p:txBody>
        </p:sp>
        <p:sp>
          <p:nvSpPr>
            <p:cNvPr id="44" name="TextBox 46">
              <a:extLst>
                <a:ext uri="{FF2B5EF4-FFF2-40B4-BE49-F238E27FC236}">
                  <a16:creationId xmlns:a16="http://schemas.microsoft.com/office/drawing/2014/main" id="{58FBAA2E-7F9C-01D6-D527-253ABE6829B7}"/>
                </a:ext>
              </a:extLst>
            </p:cNvPr>
            <p:cNvSpPr txBox="1"/>
            <p:nvPr/>
          </p:nvSpPr>
          <p:spPr>
            <a:xfrm>
              <a:off x="8681112" y="2144700"/>
              <a:ext cx="362934" cy="397738"/>
            </a:xfrm>
            <a:prstGeom prst="rect">
              <a:avLst/>
            </a:prstGeom>
          </p:spPr>
          <p:txBody>
            <a:bodyPr lIns="0" tIns="0" rIns="0" bIns="0" rtlCol="0" anchor="t">
              <a:spAutoFit/>
            </a:bodyPr>
            <a:lstStyle/>
            <a:p>
              <a:pPr algn="ctr">
                <a:lnSpc>
                  <a:spcPts val="3359"/>
                </a:lnSpc>
              </a:pPr>
              <a:r>
                <a:rPr lang="en-US" sz="2400" b="1">
                  <a:solidFill>
                    <a:srgbClr val="000000"/>
                  </a:solidFill>
                  <a:latin typeface="Public Sans" pitchFamily="2" charset="0"/>
                  <a:ea typeface="Public Sans Semi-Bold"/>
                  <a:cs typeface="Public Sans Semi-Bold"/>
                  <a:sym typeface="Public Sans Semi-Bold"/>
                </a:rPr>
                <a:t>1</a:t>
              </a:r>
            </a:p>
          </p:txBody>
        </p:sp>
        <p:sp>
          <p:nvSpPr>
            <p:cNvPr id="45" name="TextBox 47">
              <a:extLst>
                <a:ext uri="{FF2B5EF4-FFF2-40B4-BE49-F238E27FC236}">
                  <a16:creationId xmlns:a16="http://schemas.microsoft.com/office/drawing/2014/main" id="{51BCD74E-3B0B-8BAB-1C95-6AA84E2A1A8E}"/>
                </a:ext>
              </a:extLst>
            </p:cNvPr>
            <p:cNvSpPr txBox="1"/>
            <p:nvPr/>
          </p:nvSpPr>
          <p:spPr>
            <a:xfrm>
              <a:off x="2315904" y="5451624"/>
              <a:ext cx="491748"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Brody:</a:t>
              </a:r>
            </a:p>
          </p:txBody>
        </p:sp>
        <p:grpSp>
          <p:nvGrpSpPr>
            <p:cNvPr id="46" name="Group 48">
              <a:extLst>
                <a:ext uri="{FF2B5EF4-FFF2-40B4-BE49-F238E27FC236}">
                  <a16:creationId xmlns:a16="http://schemas.microsoft.com/office/drawing/2014/main" id="{3E40E11D-36E6-836B-73D1-9BA3916990C3}"/>
                </a:ext>
              </a:extLst>
            </p:cNvPr>
            <p:cNvGrpSpPr/>
            <p:nvPr/>
          </p:nvGrpSpPr>
          <p:grpSpPr>
            <a:xfrm>
              <a:off x="4654211" y="5396452"/>
              <a:ext cx="171752" cy="499245"/>
              <a:chOff x="0" y="-38100"/>
              <a:chExt cx="270786" cy="816252"/>
            </a:xfrm>
          </p:grpSpPr>
          <p:sp>
            <p:nvSpPr>
              <p:cNvPr id="76" name="TextBox 49">
                <a:extLst>
                  <a:ext uri="{FF2B5EF4-FFF2-40B4-BE49-F238E27FC236}">
                    <a16:creationId xmlns:a16="http://schemas.microsoft.com/office/drawing/2014/main" id="{7C8D84CD-DCF0-DA8C-CF18-F1BEC60F3B36}"/>
                  </a:ext>
                </a:extLst>
              </p:cNvPr>
              <p:cNvSpPr txBox="1"/>
              <p:nvPr/>
            </p:nvSpPr>
            <p:spPr>
              <a:xfrm>
                <a:off x="106223" y="-38100"/>
                <a:ext cx="58341" cy="401832"/>
              </a:xfrm>
              <a:prstGeom prst="rect">
                <a:avLst/>
              </a:prstGeom>
            </p:spPr>
            <p:txBody>
              <a:bodyPr lIns="0" tIns="0" rIns="0" bIns="0" rtlCol="0" anchor="t">
                <a:spAutoFit/>
              </a:bodyPr>
              <a:lstStyle/>
              <a:p>
                <a:pPr algn="ctr">
                  <a:lnSpc>
                    <a:spcPts val="2101"/>
                  </a:lnSpc>
                  <a:spcBef>
                    <a:spcPct val="0"/>
                  </a:spcBef>
                </a:pPr>
                <a:r>
                  <a:rPr lang="en-US" sz="1501">
                    <a:solidFill>
                      <a:srgbClr val="000000"/>
                    </a:solidFill>
                    <a:latin typeface="Arial" panose="020B0604020202020204" pitchFamily="34" charset="0"/>
                    <a:ea typeface="Canva Student Font"/>
                    <a:cs typeface="Arial" panose="020B0604020202020204" pitchFamily="34" charset="0"/>
                    <a:sym typeface="Canva Student Font"/>
                  </a:rPr>
                  <a:t>3</a:t>
                </a:r>
              </a:p>
            </p:txBody>
          </p:sp>
          <p:sp>
            <p:nvSpPr>
              <p:cNvPr id="77" name="AutoShape 50">
                <a:extLst>
                  <a:ext uri="{FF2B5EF4-FFF2-40B4-BE49-F238E27FC236}">
                    <a16:creationId xmlns:a16="http://schemas.microsoft.com/office/drawing/2014/main" id="{224246D4-799A-7E3E-01B6-5EF9A4F664AB}"/>
                  </a:ext>
                </a:extLst>
              </p:cNvPr>
              <p:cNvSpPr/>
              <p:nvPr/>
            </p:nvSpPr>
            <p:spPr>
              <a:xfrm>
                <a:off x="0" y="349132"/>
                <a:ext cx="270786" cy="0"/>
              </a:xfrm>
              <a:prstGeom prst="line">
                <a:avLst/>
              </a:prstGeom>
              <a:ln w="25400" cap="flat">
                <a:solidFill>
                  <a:srgbClr val="000000"/>
                </a:solidFill>
                <a:prstDash val="solid"/>
                <a:headEnd type="none" w="sm" len="sm"/>
                <a:tailEnd type="none" w="sm" len="sm"/>
              </a:ln>
            </p:spPr>
            <p:txBody>
              <a:bodyPr/>
              <a:lstStyle/>
              <a:p>
                <a:endParaRPr lang="en-AU"/>
              </a:p>
            </p:txBody>
          </p:sp>
          <p:sp>
            <p:nvSpPr>
              <p:cNvPr id="78" name="TextBox 51">
                <a:extLst>
                  <a:ext uri="{FF2B5EF4-FFF2-40B4-BE49-F238E27FC236}">
                    <a16:creationId xmlns:a16="http://schemas.microsoft.com/office/drawing/2014/main" id="{8CF07B0D-DC98-F093-7DD5-47AB53E817C6}"/>
                  </a:ext>
                </a:extLst>
              </p:cNvPr>
              <p:cNvSpPr txBox="1"/>
              <p:nvPr/>
            </p:nvSpPr>
            <p:spPr>
              <a:xfrm>
                <a:off x="22115" y="356401"/>
                <a:ext cx="226557" cy="421751"/>
              </a:xfrm>
              <a:prstGeom prst="rect">
                <a:avLst/>
              </a:prstGeom>
            </p:spPr>
            <p:txBody>
              <a:bodyPr lIns="0" tIns="0" rIns="0" bIns="0" rtlCol="0" anchor="t">
                <a:spAutoFit/>
              </a:bodyPr>
              <a:lstStyle/>
              <a:p>
                <a:pPr algn="ctr">
                  <a:lnSpc>
                    <a:spcPts val="2222"/>
                  </a:lnSpc>
                  <a:spcBef>
                    <a:spcPct val="0"/>
                  </a:spcBef>
                </a:pPr>
                <a:r>
                  <a:rPr lang="en-US" sz="1587">
                    <a:solidFill>
                      <a:srgbClr val="000000"/>
                    </a:solidFill>
                    <a:latin typeface="Arial" panose="020B0604020202020204" pitchFamily="34" charset="0"/>
                    <a:ea typeface="Canva Student Font"/>
                    <a:cs typeface="Arial" panose="020B0604020202020204" pitchFamily="34" charset="0"/>
                    <a:sym typeface="Canva Student Font"/>
                  </a:rPr>
                  <a:t>8</a:t>
                </a:r>
              </a:p>
            </p:txBody>
          </p:sp>
        </p:grpSp>
        <p:sp>
          <p:nvSpPr>
            <p:cNvPr id="47" name="TextBox 52">
              <a:extLst>
                <a:ext uri="{FF2B5EF4-FFF2-40B4-BE49-F238E27FC236}">
                  <a16:creationId xmlns:a16="http://schemas.microsoft.com/office/drawing/2014/main" id="{67F34501-44B6-89E4-5BCD-496451698283}"/>
                </a:ext>
              </a:extLst>
            </p:cNvPr>
            <p:cNvSpPr txBox="1"/>
            <p:nvPr/>
          </p:nvSpPr>
          <p:spPr>
            <a:xfrm>
              <a:off x="2261793" y="5831470"/>
              <a:ext cx="951653"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Complement:</a:t>
              </a:r>
            </a:p>
          </p:txBody>
        </p:sp>
        <p:sp>
          <p:nvSpPr>
            <p:cNvPr id="48" name="TextBox 53">
              <a:extLst>
                <a:ext uri="{FF2B5EF4-FFF2-40B4-BE49-F238E27FC236}">
                  <a16:creationId xmlns:a16="http://schemas.microsoft.com/office/drawing/2014/main" id="{622B2C3E-CC4E-13A5-4959-703378125949}"/>
                </a:ext>
              </a:extLst>
            </p:cNvPr>
            <p:cNvSpPr txBox="1"/>
            <p:nvPr/>
          </p:nvSpPr>
          <p:spPr>
            <a:xfrm>
              <a:off x="3968501" y="5831470"/>
              <a:ext cx="951653"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Complement:</a:t>
              </a:r>
            </a:p>
          </p:txBody>
        </p:sp>
        <p:grpSp>
          <p:nvGrpSpPr>
            <p:cNvPr id="49" name="Group 54">
              <a:extLst>
                <a:ext uri="{FF2B5EF4-FFF2-40B4-BE49-F238E27FC236}">
                  <a16:creationId xmlns:a16="http://schemas.microsoft.com/office/drawing/2014/main" id="{B9929057-A6E8-0544-E82D-D666D8441EBF}"/>
                </a:ext>
              </a:extLst>
            </p:cNvPr>
            <p:cNvGrpSpPr/>
            <p:nvPr/>
          </p:nvGrpSpPr>
          <p:grpSpPr>
            <a:xfrm>
              <a:off x="5674238" y="5234663"/>
              <a:ext cx="1042097" cy="1328580"/>
              <a:chOff x="0" y="-47625"/>
              <a:chExt cx="441606" cy="583849"/>
            </a:xfrm>
          </p:grpSpPr>
          <p:sp>
            <p:nvSpPr>
              <p:cNvPr id="74" name="Freeform 55">
                <a:extLst>
                  <a:ext uri="{FF2B5EF4-FFF2-40B4-BE49-F238E27FC236}">
                    <a16:creationId xmlns:a16="http://schemas.microsoft.com/office/drawing/2014/main" id="{3C91D74E-9AD2-E73B-404A-FC3A5C5FC2CB}"/>
                  </a:ext>
                </a:extLst>
              </p:cNvPr>
              <p:cNvSpPr/>
              <p:nvPr/>
            </p:nvSpPr>
            <p:spPr>
              <a:xfrm>
                <a:off x="0" y="0"/>
                <a:ext cx="441606" cy="536224"/>
              </a:xfrm>
              <a:custGeom>
                <a:avLst/>
                <a:gdLst/>
                <a:ahLst/>
                <a:cxnLst/>
                <a:rect l="l" t="t" r="r" b="b"/>
                <a:pathLst>
                  <a:path w="441606" h="536224">
                    <a:moveTo>
                      <a:pt x="0" y="0"/>
                    </a:moveTo>
                    <a:lnTo>
                      <a:pt x="441606" y="0"/>
                    </a:lnTo>
                    <a:lnTo>
                      <a:pt x="441606" y="536224"/>
                    </a:lnTo>
                    <a:lnTo>
                      <a:pt x="0" y="536224"/>
                    </a:lnTo>
                    <a:close/>
                  </a:path>
                </a:pathLst>
              </a:custGeom>
              <a:solidFill>
                <a:srgbClr val="FFFFFF"/>
              </a:solidFill>
            </p:spPr>
            <p:txBody>
              <a:bodyPr/>
              <a:lstStyle/>
              <a:p>
                <a:endParaRPr lang="en-AU"/>
              </a:p>
            </p:txBody>
          </p:sp>
          <p:sp>
            <p:nvSpPr>
              <p:cNvPr id="75" name="TextBox 56">
                <a:extLst>
                  <a:ext uri="{FF2B5EF4-FFF2-40B4-BE49-F238E27FC236}">
                    <a16:creationId xmlns:a16="http://schemas.microsoft.com/office/drawing/2014/main" id="{620B6239-47D2-DFAE-6B7A-6F8810C4F17A}"/>
                  </a:ext>
                </a:extLst>
              </p:cNvPr>
              <p:cNvSpPr txBox="1"/>
              <p:nvPr/>
            </p:nvSpPr>
            <p:spPr>
              <a:xfrm>
                <a:off x="0" y="-47625"/>
                <a:ext cx="441606" cy="583849"/>
              </a:xfrm>
              <a:prstGeom prst="rect">
                <a:avLst/>
              </a:prstGeom>
            </p:spPr>
            <p:txBody>
              <a:bodyPr lIns="50800" tIns="50800" rIns="50800" bIns="50800" rtlCol="0" anchor="ctr"/>
              <a:lstStyle/>
              <a:p>
                <a:pPr algn="ctr">
                  <a:lnSpc>
                    <a:spcPts val="2686"/>
                  </a:lnSpc>
                </a:pPr>
                <a:endParaRPr/>
              </a:p>
              <a:p>
                <a:pPr algn="ctr">
                  <a:lnSpc>
                    <a:spcPts val="2686"/>
                  </a:lnSpc>
                </a:pPr>
                <a:endParaRPr/>
              </a:p>
            </p:txBody>
          </p:sp>
        </p:grpSp>
        <p:grpSp>
          <p:nvGrpSpPr>
            <p:cNvPr id="50" name="Group 57">
              <a:extLst>
                <a:ext uri="{FF2B5EF4-FFF2-40B4-BE49-F238E27FC236}">
                  <a16:creationId xmlns:a16="http://schemas.microsoft.com/office/drawing/2014/main" id="{D51ABF66-A3D1-9A67-23F7-34B4D6AFAD58}"/>
                </a:ext>
              </a:extLst>
            </p:cNvPr>
            <p:cNvGrpSpPr/>
            <p:nvPr/>
          </p:nvGrpSpPr>
          <p:grpSpPr>
            <a:xfrm>
              <a:off x="6374825" y="5403158"/>
              <a:ext cx="171752" cy="499245"/>
              <a:chOff x="-22114" y="-38100"/>
              <a:chExt cx="270786" cy="816252"/>
            </a:xfrm>
          </p:grpSpPr>
          <p:sp>
            <p:nvSpPr>
              <p:cNvPr id="71" name="TextBox 58">
                <a:extLst>
                  <a:ext uri="{FF2B5EF4-FFF2-40B4-BE49-F238E27FC236}">
                    <a16:creationId xmlns:a16="http://schemas.microsoft.com/office/drawing/2014/main" id="{5C18649C-F576-ECE9-7CD6-66B7A581CF93}"/>
                  </a:ext>
                </a:extLst>
              </p:cNvPr>
              <p:cNvSpPr txBox="1"/>
              <p:nvPr/>
            </p:nvSpPr>
            <p:spPr>
              <a:xfrm>
                <a:off x="106223" y="-38100"/>
                <a:ext cx="58341" cy="401832"/>
              </a:xfrm>
              <a:prstGeom prst="rect">
                <a:avLst/>
              </a:prstGeom>
            </p:spPr>
            <p:txBody>
              <a:bodyPr lIns="0" tIns="0" rIns="0" bIns="0" rtlCol="0" anchor="t">
                <a:spAutoFit/>
              </a:bodyPr>
              <a:lstStyle/>
              <a:p>
                <a:pPr algn="ctr">
                  <a:lnSpc>
                    <a:spcPts val="2101"/>
                  </a:lnSpc>
                  <a:spcBef>
                    <a:spcPct val="0"/>
                  </a:spcBef>
                </a:pPr>
                <a:r>
                  <a:rPr lang="en-US" sz="1501">
                    <a:solidFill>
                      <a:srgbClr val="000000"/>
                    </a:solidFill>
                    <a:latin typeface="Arial" panose="020B0604020202020204" pitchFamily="34" charset="0"/>
                    <a:ea typeface="Canva Student Font"/>
                    <a:cs typeface="Arial" panose="020B0604020202020204" pitchFamily="34" charset="0"/>
                    <a:sym typeface="Canva Student Font"/>
                  </a:rPr>
                  <a:t>2</a:t>
                </a:r>
              </a:p>
            </p:txBody>
          </p:sp>
          <p:sp>
            <p:nvSpPr>
              <p:cNvPr id="72" name="AutoShape 59">
                <a:extLst>
                  <a:ext uri="{FF2B5EF4-FFF2-40B4-BE49-F238E27FC236}">
                    <a16:creationId xmlns:a16="http://schemas.microsoft.com/office/drawing/2014/main" id="{59420036-E4BA-DC84-901F-C0955919CF18}"/>
                  </a:ext>
                </a:extLst>
              </p:cNvPr>
              <p:cNvSpPr/>
              <p:nvPr/>
            </p:nvSpPr>
            <p:spPr>
              <a:xfrm>
                <a:off x="-22114" y="352768"/>
                <a:ext cx="270786" cy="0"/>
              </a:xfrm>
              <a:prstGeom prst="line">
                <a:avLst/>
              </a:prstGeom>
              <a:ln w="25400" cap="flat">
                <a:solidFill>
                  <a:srgbClr val="000000"/>
                </a:solidFill>
                <a:prstDash val="solid"/>
                <a:headEnd type="none" w="sm" len="sm"/>
                <a:tailEnd type="none" w="sm" len="sm"/>
              </a:ln>
            </p:spPr>
            <p:txBody>
              <a:bodyPr/>
              <a:lstStyle/>
              <a:p>
                <a:endParaRPr lang="en-AU"/>
              </a:p>
            </p:txBody>
          </p:sp>
          <p:sp>
            <p:nvSpPr>
              <p:cNvPr id="73" name="TextBox 60">
                <a:extLst>
                  <a:ext uri="{FF2B5EF4-FFF2-40B4-BE49-F238E27FC236}">
                    <a16:creationId xmlns:a16="http://schemas.microsoft.com/office/drawing/2014/main" id="{5FB49822-73B4-6901-B29A-017621B22CA4}"/>
                  </a:ext>
                </a:extLst>
              </p:cNvPr>
              <p:cNvSpPr txBox="1"/>
              <p:nvPr/>
            </p:nvSpPr>
            <p:spPr>
              <a:xfrm>
                <a:off x="22115" y="356401"/>
                <a:ext cx="226557" cy="421751"/>
              </a:xfrm>
              <a:prstGeom prst="rect">
                <a:avLst/>
              </a:prstGeom>
            </p:spPr>
            <p:txBody>
              <a:bodyPr lIns="0" tIns="0" rIns="0" bIns="0" rtlCol="0" anchor="t">
                <a:spAutoFit/>
              </a:bodyPr>
              <a:lstStyle/>
              <a:p>
                <a:pPr algn="ctr">
                  <a:lnSpc>
                    <a:spcPts val="2222"/>
                  </a:lnSpc>
                  <a:spcBef>
                    <a:spcPct val="0"/>
                  </a:spcBef>
                </a:pPr>
                <a:r>
                  <a:rPr lang="en-US" sz="1587">
                    <a:solidFill>
                      <a:srgbClr val="000000"/>
                    </a:solidFill>
                    <a:latin typeface="Arial" panose="020B0604020202020204" pitchFamily="34" charset="0"/>
                    <a:ea typeface="Canva Student Font"/>
                    <a:cs typeface="Arial" panose="020B0604020202020204" pitchFamily="34" charset="0"/>
                    <a:sym typeface="Canva Student Font"/>
                  </a:rPr>
                  <a:t>3</a:t>
                </a:r>
              </a:p>
            </p:txBody>
          </p:sp>
        </p:grpSp>
        <p:sp>
          <p:nvSpPr>
            <p:cNvPr id="51" name="TextBox 61">
              <a:extLst>
                <a:ext uri="{FF2B5EF4-FFF2-40B4-BE49-F238E27FC236}">
                  <a16:creationId xmlns:a16="http://schemas.microsoft.com/office/drawing/2014/main" id="{D95CD876-3388-C6BC-C8B1-17A6E72A3C31}"/>
                </a:ext>
              </a:extLst>
            </p:cNvPr>
            <p:cNvSpPr txBox="1"/>
            <p:nvPr/>
          </p:nvSpPr>
          <p:spPr>
            <a:xfrm>
              <a:off x="5795067" y="5451624"/>
              <a:ext cx="464899" cy="361381"/>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Jacob</a:t>
              </a:r>
            </a:p>
          </p:txBody>
        </p:sp>
        <p:sp>
          <p:nvSpPr>
            <p:cNvPr id="52" name="TextBox 62">
              <a:extLst>
                <a:ext uri="{FF2B5EF4-FFF2-40B4-BE49-F238E27FC236}">
                  <a16:creationId xmlns:a16="http://schemas.microsoft.com/office/drawing/2014/main" id="{FE6521EF-DA8C-B445-4806-44AA19884283}"/>
                </a:ext>
              </a:extLst>
            </p:cNvPr>
            <p:cNvSpPr txBox="1"/>
            <p:nvPr/>
          </p:nvSpPr>
          <p:spPr>
            <a:xfrm>
              <a:off x="5719460" y="5831470"/>
              <a:ext cx="951653"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Complement:</a:t>
              </a:r>
            </a:p>
          </p:txBody>
        </p:sp>
        <p:grpSp>
          <p:nvGrpSpPr>
            <p:cNvPr id="53" name="Group 63">
              <a:extLst>
                <a:ext uri="{FF2B5EF4-FFF2-40B4-BE49-F238E27FC236}">
                  <a16:creationId xmlns:a16="http://schemas.microsoft.com/office/drawing/2014/main" id="{E4806C3F-67BF-43FD-50D5-BA6A80803ACE}"/>
                </a:ext>
              </a:extLst>
            </p:cNvPr>
            <p:cNvGrpSpPr/>
            <p:nvPr/>
          </p:nvGrpSpPr>
          <p:grpSpPr>
            <a:xfrm>
              <a:off x="7473530" y="5234663"/>
              <a:ext cx="1042097" cy="1328580"/>
              <a:chOff x="0" y="-47625"/>
              <a:chExt cx="441606" cy="583849"/>
            </a:xfrm>
          </p:grpSpPr>
          <p:sp>
            <p:nvSpPr>
              <p:cNvPr id="69" name="Freeform 64">
                <a:extLst>
                  <a:ext uri="{FF2B5EF4-FFF2-40B4-BE49-F238E27FC236}">
                    <a16:creationId xmlns:a16="http://schemas.microsoft.com/office/drawing/2014/main" id="{A640BE6D-7DED-4511-EF25-735C1D54074A}"/>
                  </a:ext>
                </a:extLst>
              </p:cNvPr>
              <p:cNvSpPr/>
              <p:nvPr/>
            </p:nvSpPr>
            <p:spPr>
              <a:xfrm>
                <a:off x="0" y="0"/>
                <a:ext cx="441606" cy="536224"/>
              </a:xfrm>
              <a:custGeom>
                <a:avLst/>
                <a:gdLst/>
                <a:ahLst/>
                <a:cxnLst/>
                <a:rect l="l" t="t" r="r" b="b"/>
                <a:pathLst>
                  <a:path w="441606" h="536224">
                    <a:moveTo>
                      <a:pt x="0" y="0"/>
                    </a:moveTo>
                    <a:lnTo>
                      <a:pt x="441606" y="0"/>
                    </a:lnTo>
                    <a:lnTo>
                      <a:pt x="441606" y="536224"/>
                    </a:lnTo>
                    <a:lnTo>
                      <a:pt x="0" y="536224"/>
                    </a:lnTo>
                    <a:close/>
                  </a:path>
                </a:pathLst>
              </a:custGeom>
              <a:solidFill>
                <a:srgbClr val="FFFFFF"/>
              </a:solidFill>
            </p:spPr>
            <p:txBody>
              <a:bodyPr/>
              <a:lstStyle/>
              <a:p>
                <a:endParaRPr lang="en-AU"/>
              </a:p>
            </p:txBody>
          </p:sp>
          <p:sp>
            <p:nvSpPr>
              <p:cNvPr id="70" name="TextBox 65">
                <a:extLst>
                  <a:ext uri="{FF2B5EF4-FFF2-40B4-BE49-F238E27FC236}">
                    <a16:creationId xmlns:a16="http://schemas.microsoft.com/office/drawing/2014/main" id="{AC45F15F-8C7D-AEC3-E4CD-F6C359052AAC}"/>
                  </a:ext>
                </a:extLst>
              </p:cNvPr>
              <p:cNvSpPr txBox="1"/>
              <p:nvPr/>
            </p:nvSpPr>
            <p:spPr>
              <a:xfrm>
                <a:off x="0" y="-47625"/>
                <a:ext cx="441606" cy="583849"/>
              </a:xfrm>
              <a:prstGeom prst="rect">
                <a:avLst/>
              </a:prstGeom>
            </p:spPr>
            <p:txBody>
              <a:bodyPr lIns="50800" tIns="50800" rIns="50800" bIns="50800" rtlCol="0" anchor="ctr"/>
              <a:lstStyle/>
              <a:p>
                <a:pPr algn="ctr">
                  <a:lnSpc>
                    <a:spcPts val="2686"/>
                  </a:lnSpc>
                </a:pPr>
                <a:endParaRPr/>
              </a:p>
              <a:p>
                <a:pPr algn="ctr">
                  <a:lnSpc>
                    <a:spcPts val="2686"/>
                  </a:lnSpc>
                </a:pPr>
                <a:endParaRPr/>
              </a:p>
            </p:txBody>
          </p:sp>
        </p:grpSp>
        <p:sp>
          <p:nvSpPr>
            <p:cNvPr id="54" name="TextBox 66">
              <a:extLst>
                <a:ext uri="{FF2B5EF4-FFF2-40B4-BE49-F238E27FC236}">
                  <a16:creationId xmlns:a16="http://schemas.microsoft.com/office/drawing/2014/main" id="{EC82A6F2-7F16-2F03-20D1-0E1A13A990B0}"/>
                </a:ext>
              </a:extLst>
            </p:cNvPr>
            <p:cNvSpPr txBox="1"/>
            <p:nvPr/>
          </p:nvSpPr>
          <p:spPr>
            <a:xfrm>
              <a:off x="7546027" y="5451624"/>
              <a:ext cx="562226" cy="361381"/>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Jayden</a:t>
              </a:r>
            </a:p>
          </p:txBody>
        </p:sp>
        <p:sp>
          <p:nvSpPr>
            <p:cNvPr id="55" name="TextBox 67">
              <a:extLst>
                <a:ext uri="{FF2B5EF4-FFF2-40B4-BE49-F238E27FC236}">
                  <a16:creationId xmlns:a16="http://schemas.microsoft.com/office/drawing/2014/main" id="{462ED88A-D215-BB0C-0D01-FA7CA7726984}"/>
                </a:ext>
              </a:extLst>
            </p:cNvPr>
            <p:cNvSpPr txBox="1"/>
            <p:nvPr/>
          </p:nvSpPr>
          <p:spPr>
            <a:xfrm>
              <a:off x="7518752" y="5831470"/>
              <a:ext cx="951653"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Complement:</a:t>
              </a:r>
            </a:p>
          </p:txBody>
        </p:sp>
        <p:grpSp>
          <p:nvGrpSpPr>
            <p:cNvPr id="56" name="Group 68">
              <a:extLst>
                <a:ext uri="{FF2B5EF4-FFF2-40B4-BE49-F238E27FC236}">
                  <a16:creationId xmlns:a16="http://schemas.microsoft.com/office/drawing/2014/main" id="{B641CE6C-C285-EE5C-3DCA-E962ADCE6458}"/>
                </a:ext>
              </a:extLst>
            </p:cNvPr>
            <p:cNvGrpSpPr/>
            <p:nvPr/>
          </p:nvGrpSpPr>
          <p:grpSpPr>
            <a:xfrm>
              <a:off x="8223112" y="5403158"/>
              <a:ext cx="171752" cy="499245"/>
              <a:chOff x="-22114" y="-38100"/>
              <a:chExt cx="270786" cy="816252"/>
            </a:xfrm>
          </p:grpSpPr>
          <p:sp>
            <p:nvSpPr>
              <p:cNvPr id="66" name="TextBox 69">
                <a:extLst>
                  <a:ext uri="{FF2B5EF4-FFF2-40B4-BE49-F238E27FC236}">
                    <a16:creationId xmlns:a16="http://schemas.microsoft.com/office/drawing/2014/main" id="{8A464124-CC6F-1789-111F-E10F58CC8DD6}"/>
                  </a:ext>
                </a:extLst>
              </p:cNvPr>
              <p:cNvSpPr txBox="1"/>
              <p:nvPr/>
            </p:nvSpPr>
            <p:spPr>
              <a:xfrm>
                <a:off x="106223" y="-38100"/>
                <a:ext cx="58341" cy="401832"/>
              </a:xfrm>
              <a:prstGeom prst="rect">
                <a:avLst/>
              </a:prstGeom>
            </p:spPr>
            <p:txBody>
              <a:bodyPr lIns="0" tIns="0" rIns="0" bIns="0" rtlCol="0" anchor="t">
                <a:spAutoFit/>
              </a:bodyPr>
              <a:lstStyle/>
              <a:p>
                <a:pPr algn="ctr">
                  <a:lnSpc>
                    <a:spcPts val="2101"/>
                  </a:lnSpc>
                  <a:spcBef>
                    <a:spcPct val="0"/>
                  </a:spcBef>
                </a:pPr>
                <a:r>
                  <a:rPr lang="en-US" sz="1501">
                    <a:solidFill>
                      <a:srgbClr val="000000"/>
                    </a:solidFill>
                    <a:latin typeface="Arial" panose="020B0604020202020204" pitchFamily="34" charset="0"/>
                    <a:ea typeface="Canva Student Font"/>
                    <a:cs typeface="Arial" panose="020B0604020202020204" pitchFamily="34" charset="0"/>
                    <a:sym typeface="Canva Student Font"/>
                  </a:rPr>
                  <a:t>7</a:t>
                </a:r>
              </a:p>
            </p:txBody>
          </p:sp>
          <p:sp>
            <p:nvSpPr>
              <p:cNvPr id="67" name="AutoShape 70">
                <a:extLst>
                  <a:ext uri="{FF2B5EF4-FFF2-40B4-BE49-F238E27FC236}">
                    <a16:creationId xmlns:a16="http://schemas.microsoft.com/office/drawing/2014/main" id="{019B638D-43AF-1664-338F-E4E5C0AB6260}"/>
                  </a:ext>
                </a:extLst>
              </p:cNvPr>
              <p:cNvSpPr/>
              <p:nvPr/>
            </p:nvSpPr>
            <p:spPr>
              <a:xfrm>
                <a:off x="-22114" y="373181"/>
                <a:ext cx="270786" cy="0"/>
              </a:xfrm>
              <a:prstGeom prst="line">
                <a:avLst/>
              </a:prstGeom>
              <a:ln w="254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68" name="TextBox 71">
                <a:extLst>
                  <a:ext uri="{FF2B5EF4-FFF2-40B4-BE49-F238E27FC236}">
                    <a16:creationId xmlns:a16="http://schemas.microsoft.com/office/drawing/2014/main" id="{1B09C881-110D-4DB7-A346-A5E13A268AEC}"/>
                  </a:ext>
                </a:extLst>
              </p:cNvPr>
              <p:cNvSpPr txBox="1"/>
              <p:nvPr/>
            </p:nvSpPr>
            <p:spPr>
              <a:xfrm>
                <a:off x="22115" y="356401"/>
                <a:ext cx="226557" cy="421751"/>
              </a:xfrm>
              <a:prstGeom prst="rect">
                <a:avLst/>
              </a:prstGeom>
            </p:spPr>
            <p:txBody>
              <a:bodyPr lIns="0" tIns="0" rIns="0" bIns="0" rtlCol="0" anchor="t">
                <a:spAutoFit/>
              </a:bodyPr>
              <a:lstStyle/>
              <a:p>
                <a:pPr algn="ctr">
                  <a:lnSpc>
                    <a:spcPts val="2222"/>
                  </a:lnSpc>
                  <a:spcBef>
                    <a:spcPct val="0"/>
                  </a:spcBef>
                </a:pPr>
                <a:r>
                  <a:rPr lang="en-US" sz="1587">
                    <a:solidFill>
                      <a:srgbClr val="000000"/>
                    </a:solidFill>
                    <a:latin typeface="Arial" panose="020B0604020202020204" pitchFamily="34" charset="0"/>
                    <a:ea typeface="Canva Student Font"/>
                    <a:cs typeface="Arial" panose="020B0604020202020204" pitchFamily="34" charset="0"/>
                    <a:sym typeface="Canva Student Font"/>
                  </a:rPr>
                  <a:t>8</a:t>
                </a:r>
              </a:p>
            </p:txBody>
          </p:sp>
        </p:grpSp>
        <p:grpSp>
          <p:nvGrpSpPr>
            <p:cNvPr id="57" name="Group 72">
              <a:extLst>
                <a:ext uri="{FF2B5EF4-FFF2-40B4-BE49-F238E27FC236}">
                  <a16:creationId xmlns:a16="http://schemas.microsoft.com/office/drawing/2014/main" id="{F3173710-D152-6076-E224-ED5B42BA9917}"/>
                </a:ext>
              </a:extLst>
            </p:cNvPr>
            <p:cNvGrpSpPr/>
            <p:nvPr/>
          </p:nvGrpSpPr>
          <p:grpSpPr>
            <a:xfrm>
              <a:off x="9272821" y="5234663"/>
              <a:ext cx="1042097" cy="1328580"/>
              <a:chOff x="0" y="-47625"/>
              <a:chExt cx="441606" cy="583849"/>
            </a:xfrm>
          </p:grpSpPr>
          <p:sp>
            <p:nvSpPr>
              <p:cNvPr id="64" name="Freeform 73">
                <a:extLst>
                  <a:ext uri="{FF2B5EF4-FFF2-40B4-BE49-F238E27FC236}">
                    <a16:creationId xmlns:a16="http://schemas.microsoft.com/office/drawing/2014/main" id="{014E6225-855B-D680-FE46-EDBD157C3DC5}"/>
                  </a:ext>
                </a:extLst>
              </p:cNvPr>
              <p:cNvSpPr/>
              <p:nvPr/>
            </p:nvSpPr>
            <p:spPr>
              <a:xfrm>
                <a:off x="0" y="0"/>
                <a:ext cx="441606" cy="536224"/>
              </a:xfrm>
              <a:custGeom>
                <a:avLst/>
                <a:gdLst/>
                <a:ahLst/>
                <a:cxnLst/>
                <a:rect l="l" t="t" r="r" b="b"/>
                <a:pathLst>
                  <a:path w="441606" h="536224">
                    <a:moveTo>
                      <a:pt x="0" y="0"/>
                    </a:moveTo>
                    <a:lnTo>
                      <a:pt x="441606" y="0"/>
                    </a:lnTo>
                    <a:lnTo>
                      <a:pt x="441606" y="536224"/>
                    </a:lnTo>
                    <a:lnTo>
                      <a:pt x="0" y="536224"/>
                    </a:lnTo>
                    <a:close/>
                  </a:path>
                </a:pathLst>
              </a:custGeom>
              <a:solidFill>
                <a:srgbClr val="FFFFFF"/>
              </a:solidFill>
            </p:spPr>
            <p:txBody>
              <a:bodyPr/>
              <a:lstStyle/>
              <a:p>
                <a:endParaRPr lang="en-AU"/>
              </a:p>
            </p:txBody>
          </p:sp>
          <p:sp>
            <p:nvSpPr>
              <p:cNvPr id="65" name="TextBox 74">
                <a:extLst>
                  <a:ext uri="{FF2B5EF4-FFF2-40B4-BE49-F238E27FC236}">
                    <a16:creationId xmlns:a16="http://schemas.microsoft.com/office/drawing/2014/main" id="{D7BE723C-68F5-CDAD-0FCB-461809CA0220}"/>
                  </a:ext>
                </a:extLst>
              </p:cNvPr>
              <p:cNvSpPr txBox="1"/>
              <p:nvPr/>
            </p:nvSpPr>
            <p:spPr>
              <a:xfrm>
                <a:off x="0" y="-47625"/>
                <a:ext cx="441606" cy="583849"/>
              </a:xfrm>
              <a:prstGeom prst="rect">
                <a:avLst/>
              </a:prstGeom>
            </p:spPr>
            <p:txBody>
              <a:bodyPr lIns="50800" tIns="50800" rIns="50800" bIns="50800" rtlCol="0" anchor="ctr"/>
              <a:lstStyle/>
              <a:p>
                <a:pPr algn="ctr">
                  <a:lnSpc>
                    <a:spcPts val="2686"/>
                  </a:lnSpc>
                </a:pPr>
                <a:endParaRPr/>
              </a:p>
              <a:p>
                <a:pPr algn="ctr">
                  <a:lnSpc>
                    <a:spcPts val="2686"/>
                  </a:lnSpc>
                </a:pPr>
                <a:endParaRPr/>
              </a:p>
            </p:txBody>
          </p:sp>
        </p:grpSp>
        <p:sp>
          <p:nvSpPr>
            <p:cNvPr id="58" name="TextBox 75">
              <a:extLst>
                <a:ext uri="{FF2B5EF4-FFF2-40B4-BE49-F238E27FC236}">
                  <a16:creationId xmlns:a16="http://schemas.microsoft.com/office/drawing/2014/main" id="{B47EE700-469E-9AAA-8D44-6776946EF233}"/>
                </a:ext>
              </a:extLst>
            </p:cNvPr>
            <p:cNvSpPr txBox="1"/>
            <p:nvPr/>
          </p:nvSpPr>
          <p:spPr>
            <a:xfrm>
              <a:off x="9345318" y="5451624"/>
              <a:ext cx="562226" cy="361381"/>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Flynn</a:t>
              </a:r>
            </a:p>
          </p:txBody>
        </p:sp>
        <p:grpSp>
          <p:nvGrpSpPr>
            <p:cNvPr id="59" name="Group 76">
              <a:extLst>
                <a:ext uri="{FF2B5EF4-FFF2-40B4-BE49-F238E27FC236}">
                  <a16:creationId xmlns:a16="http://schemas.microsoft.com/office/drawing/2014/main" id="{3AFF7C79-1200-1E01-F792-5690FC9906D3}"/>
                </a:ext>
              </a:extLst>
            </p:cNvPr>
            <p:cNvGrpSpPr/>
            <p:nvPr/>
          </p:nvGrpSpPr>
          <p:grpSpPr>
            <a:xfrm>
              <a:off x="10022403" y="5403158"/>
              <a:ext cx="171752" cy="499246"/>
              <a:chOff x="-22114" y="-38100"/>
              <a:chExt cx="270786" cy="816252"/>
            </a:xfrm>
          </p:grpSpPr>
          <p:sp>
            <p:nvSpPr>
              <p:cNvPr id="61" name="TextBox 77">
                <a:extLst>
                  <a:ext uri="{FF2B5EF4-FFF2-40B4-BE49-F238E27FC236}">
                    <a16:creationId xmlns:a16="http://schemas.microsoft.com/office/drawing/2014/main" id="{99DE3185-B3B5-8C00-66F4-242ED8162C7F}"/>
                  </a:ext>
                </a:extLst>
              </p:cNvPr>
              <p:cNvSpPr txBox="1"/>
              <p:nvPr/>
            </p:nvSpPr>
            <p:spPr>
              <a:xfrm>
                <a:off x="106223" y="-38100"/>
                <a:ext cx="58341" cy="401832"/>
              </a:xfrm>
              <a:prstGeom prst="rect">
                <a:avLst/>
              </a:prstGeom>
            </p:spPr>
            <p:txBody>
              <a:bodyPr lIns="0" tIns="0" rIns="0" bIns="0" rtlCol="0" anchor="t">
                <a:spAutoFit/>
              </a:bodyPr>
              <a:lstStyle/>
              <a:p>
                <a:pPr algn="ctr">
                  <a:lnSpc>
                    <a:spcPts val="2101"/>
                  </a:lnSpc>
                  <a:spcBef>
                    <a:spcPct val="0"/>
                  </a:spcBef>
                </a:pPr>
                <a:r>
                  <a:rPr lang="en-US" sz="1501">
                    <a:solidFill>
                      <a:srgbClr val="000000"/>
                    </a:solidFill>
                    <a:latin typeface="Arial" panose="020B0604020202020204" pitchFamily="34" charset="0"/>
                    <a:ea typeface="Canva Student Font"/>
                    <a:cs typeface="Arial" panose="020B0604020202020204" pitchFamily="34" charset="0"/>
                    <a:sym typeface="Canva Student Font"/>
                  </a:rPr>
                  <a:t>2</a:t>
                </a:r>
              </a:p>
            </p:txBody>
          </p:sp>
          <p:sp>
            <p:nvSpPr>
              <p:cNvPr id="62" name="AutoShape 78">
                <a:extLst>
                  <a:ext uri="{FF2B5EF4-FFF2-40B4-BE49-F238E27FC236}">
                    <a16:creationId xmlns:a16="http://schemas.microsoft.com/office/drawing/2014/main" id="{005D8990-BCEF-353F-A14E-38AAAF9AA689}"/>
                  </a:ext>
                </a:extLst>
              </p:cNvPr>
              <p:cNvSpPr/>
              <p:nvPr/>
            </p:nvSpPr>
            <p:spPr>
              <a:xfrm>
                <a:off x="-22114" y="397041"/>
                <a:ext cx="270786" cy="0"/>
              </a:xfrm>
              <a:prstGeom prst="line">
                <a:avLst/>
              </a:prstGeom>
              <a:ln w="25400" cap="flat">
                <a:solidFill>
                  <a:srgbClr val="000000"/>
                </a:solidFill>
                <a:prstDash val="solid"/>
                <a:headEnd type="none" w="sm" len="sm"/>
                <a:tailEnd type="none" w="sm" len="sm"/>
              </a:ln>
            </p:spPr>
            <p:txBody>
              <a:bodyPr/>
              <a:lstStyle/>
              <a:p>
                <a:endParaRPr lang="en-AU"/>
              </a:p>
            </p:txBody>
          </p:sp>
          <p:sp>
            <p:nvSpPr>
              <p:cNvPr id="63" name="TextBox 79">
                <a:extLst>
                  <a:ext uri="{FF2B5EF4-FFF2-40B4-BE49-F238E27FC236}">
                    <a16:creationId xmlns:a16="http://schemas.microsoft.com/office/drawing/2014/main" id="{6BE054A7-7AD2-28F0-3BF6-3F2F734AA960}"/>
                  </a:ext>
                </a:extLst>
              </p:cNvPr>
              <p:cNvSpPr txBox="1"/>
              <p:nvPr/>
            </p:nvSpPr>
            <p:spPr>
              <a:xfrm>
                <a:off x="22115" y="356401"/>
                <a:ext cx="226557" cy="421751"/>
              </a:xfrm>
              <a:prstGeom prst="rect">
                <a:avLst/>
              </a:prstGeom>
            </p:spPr>
            <p:txBody>
              <a:bodyPr lIns="0" tIns="0" rIns="0" bIns="0" rtlCol="0" anchor="t">
                <a:spAutoFit/>
              </a:bodyPr>
              <a:lstStyle/>
              <a:p>
                <a:pPr algn="ctr">
                  <a:lnSpc>
                    <a:spcPts val="2222"/>
                  </a:lnSpc>
                  <a:spcBef>
                    <a:spcPct val="0"/>
                  </a:spcBef>
                </a:pPr>
                <a:r>
                  <a:rPr lang="en-US" sz="1587">
                    <a:solidFill>
                      <a:srgbClr val="000000"/>
                    </a:solidFill>
                    <a:latin typeface="Arial" panose="020B0604020202020204" pitchFamily="34" charset="0"/>
                    <a:ea typeface="Canva Student Font"/>
                    <a:cs typeface="Arial" panose="020B0604020202020204" pitchFamily="34" charset="0"/>
                    <a:sym typeface="Canva Student Font"/>
                  </a:rPr>
                  <a:t>4</a:t>
                </a:r>
              </a:p>
            </p:txBody>
          </p:sp>
        </p:grpSp>
        <p:sp>
          <p:nvSpPr>
            <p:cNvPr id="60" name="TextBox 80">
              <a:extLst>
                <a:ext uri="{FF2B5EF4-FFF2-40B4-BE49-F238E27FC236}">
                  <a16:creationId xmlns:a16="http://schemas.microsoft.com/office/drawing/2014/main" id="{2BECCB05-2F5A-11E1-0E4D-E1AF57FE0597}"/>
                </a:ext>
              </a:extLst>
            </p:cNvPr>
            <p:cNvSpPr txBox="1"/>
            <p:nvPr/>
          </p:nvSpPr>
          <p:spPr>
            <a:xfrm>
              <a:off x="9318043" y="5831470"/>
              <a:ext cx="951653" cy="355418"/>
            </a:xfrm>
            <a:prstGeom prst="rect">
              <a:avLst/>
            </a:prstGeom>
          </p:spPr>
          <p:txBody>
            <a:bodyPr lIns="0" tIns="0" rIns="0" bIns="0" rtlCol="0" anchor="t">
              <a:spAutoFit/>
            </a:bodyPr>
            <a:lstStyle/>
            <a:p>
              <a:pPr algn="ctr">
                <a:lnSpc>
                  <a:spcPts val="3219"/>
                </a:lnSpc>
              </a:pPr>
              <a:r>
                <a:rPr lang="en-US" sz="1600">
                  <a:solidFill>
                    <a:srgbClr val="000000"/>
                  </a:solidFill>
                  <a:latin typeface="Edu NSW ACT Foundation" pitchFamily="2" charset="0"/>
                  <a:ea typeface="Canva Student Font"/>
                  <a:cs typeface="Canva Student Font"/>
                  <a:sym typeface="Canva Student Font"/>
                </a:rPr>
                <a:t>Complement:</a:t>
              </a:r>
            </a:p>
          </p:txBody>
        </p:sp>
      </p:gr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968843"/>
                <a:ext cx="11243037" cy="4005829"/>
              </a:xfrm>
            </p:spPr>
            <p:txBody>
              <a:bodyPr/>
              <a:lstStyle/>
              <a:p>
                <a:pPr algn="ctr"/>
                <a:r>
                  <a:rPr lang="en-AU" sz="4400"/>
                  <a:t>On a </a:t>
                </a:r>
                <a:r>
                  <a:rPr lang="en-AU" sz="4400" b="1"/>
                  <a:t>number line </a:t>
                </a:r>
                <a:r>
                  <a:rPr lang="en-AU" sz="4400"/>
                  <a:t>from 0 to 1, if  </a:t>
                </a: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5</m:t>
                        </m:r>
                      </m:num>
                      <m:den>
                        <m:r>
                          <a:rPr lang="en-AU" sz="4400" b="0" i="1" smtClean="0">
                            <a:latin typeface="Cambria Math" panose="02040503050406030204" pitchFamily="18" charset="0"/>
                          </a:rPr>
                          <m:t>8</m:t>
                        </m:r>
                      </m:den>
                    </m:f>
                  </m:oMath>
                </a14:m>
                <a:r>
                  <a:rPr lang="en-AU" sz="4400"/>
                  <a:t>  is shaded, the </a:t>
                </a:r>
                <a:r>
                  <a:rPr lang="en-AU" sz="4400" b="1"/>
                  <a:t>complementary fraction </a:t>
                </a:r>
                <a:r>
                  <a:rPr lang="en-AU" sz="4400"/>
                  <a:t>needed to make </a:t>
                </a:r>
                <a:r>
                  <a:rPr lang="en-AU" sz="4400" b="1"/>
                  <a:t>one whole </a:t>
                </a:r>
                <a:r>
                  <a:rPr lang="en-AU" sz="4400"/>
                  <a:t>is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2</m:t>
                        </m:r>
                      </m:num>
                      <m:den>
                        <m:r>
                          <a:rPr lang="en-AU" sz="4400" i="1">
                            <a:latin typeface="Cambria Math" panose="02040503050406030204" pitchFamily="18" charset="0"/>
                          </a:rPr>
                          <m:t>8</m:t>
                        </m:r>
                      </m:den>
                    </m:f>
                  </m:oMath>
                </a14:m>
                <a:r>
                  <a:rPr lang="en-AU" sz="4400"/>
                  <a:t> .</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360001" y="968843"/>
                <a:ext cx="11243037" cy="4005829"/>
              </a:xfrm>
              <a:blipFill>
                <a:blip r:embed="rId4"/>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636726213"/>
              </p:ext>
            </p:extLst>
          </p:nvPr>
        </p:nvGraphicFramePr>
        <p:xfrm>
          <a:off x="2432095" y="514747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EB024EC-2583-3292-AF47-F7030D6B1D9D}"/>
              </a:ext>
            </a:extLst>
          </p:cNvPr>
          <p:cNvSpPr txBox="1"/>
          <p:nvPr/>
        </p:nvSpPr>
        <p:spPr>
          <a:xfrm>
            <a:off x="531628" y="1043825"/>
            <a:ext cx="10794698" cy="5045164"/>
          </a:xfrm>
          <a:prstGeom prst="rect">
            <a:avLst/>
          </a:prstGeom>
          <a:noFill/>
        </p:spPr>
        <p:txBody>
          <a:bodyPr wrap="square">
            <a:spAutoFit/>
          </a:bodyPr>
          <a:lstStyle/>
          <a:p>
            <a:pPr algn="ctr">
              <a:lnSpc>
                <a:spcPct val="150000"/>
              </a:lnSpc>
            </a:pPr>
            <a:r>
              <a:rPr lang="en-AU" sz="4400"/>
              <a:t>Luca has raised $4216 for charity. He spends $387 on advertising.</a:t>
            </a:r>
          </a:p>
          <a:p>
            <a:pPr algn="ctr">
              <a:lnSpc>
                <a:spcPct val="150000"/>
              </a:lnSpc>
            </a:pPr>
            <a:r>
              <a:rPr lang="en-AU" sz="4400"/>
              <a:t>How much money does Luca have left?</a:t>
            </a:r>
          </a:p>
          <a:p>
            <a:pPr algn="ctr">
              <a:lnSpc>
                <a:spcPct val="150000"/>
              </a:lnSpc>
            </a:pPr>
            <a:endParaRPr lang="en-AU" sz="4400"/>
          </a:p>
          <a:p>
            <a:pPr algn="ctr">
              <a:lnSpc>
                <a:spcPct val="150000"/>
              </a:lnSpc>
            </a:pPr>
            <a:r>
              <a:rPr lang="en-AU" sz="4400" b="1"/>
              <a:t>Communicate</a:t>
            </a:r>
            <a:r>
              <a:rPr lang="en-AU" sz="4400"/>
              <a:t> your </a:t>
            </a:r>
            <a:r>
              <a:rPr lang="en-AU" sz="4400" b="1"/>
              <a:t>strategy</a:t>
            </a:r>
            <a:r>
              <a:rPr lang="en-AU" sz="4400"/>
              <a:t>.</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229E3C2-57D3-E9FF-565C-DD47C6261ACD}"/>
              </a:ext>
            </a:extLst>
          </p:cNvPr>
          <p:cNvSpPr txBox="1"/>
          <p:nvPr/>
        </p:nvSpPr>
        <p:spPr>
          <a:xfrm>
            <a:off x="1212112" y="1381712"/>
            <a:ext cx="9911888" cy="4398833"/>
          </a:xfrm>
          <a:prstGeom prst="rect">
            <a:avLst/>
          </a:prstGeom>
          <a:noFill/>
        </p:spPr>
        <p:txBody>
          <a:bodyPr wrap="square">
            <a:spAutoFit/>
          </a:bodyPr>
          <a:lstStyle/>
          <a:p>
            <a:pPr algn="ctr">
              <a:lnSpc>
                <a:spcPct val="150000"/>
              </a:lnSpc>
              <a:buNone/>
            </a:pPr>
            <a:r>
              <a:rPr lang="en-AU" sz="4400"/>
              <a:t>Use an </a:t>
            </a:r>
            <a:r>
              <a:rPr lang="en-AU" sz="4400" b="1"/>
              <a:t>efficient strategy</a:t>
            </a:r>
            <a:r>
              <a:rPr lang="en-AU" sz="4400"/>
              <a:t> to solve:</a:t>
            </a:r>
          </a:p>
          <a:p>
            <a:pPr algn="ctr">
              <a:lnSpc>
                <a:spcPct val="150000"/>
              </a:lnSpc>
              <a:buNone/>
            </a:pPr>
            <a:r>
              <a:rPr lang="en-AU" sz="6000"/>
              <a:t>5 × 246</a:t>
            </a:r>
          </a:p>
          <a:p>
            <a:pPr algn="ctr">
              <a:lnSpc>
                <a:spcPct val="150000"/>
              </a:lnSpc>
              <a:buNone/>
            </a:pPr>
            <a:r>
              <a:rPr lang="en-AU" sz="4400"/>
              <a:t>Explain which </a:t>
            </a:r>
            <a:r>
              <a:rPr lang="en-AU" sz="4400" b="1"/>
              <a:t>strategy</a:t>
            </a:r>
            <a:r>
              <a:rPr lang="en-AU" sz="4400"/>
              <a:t> you chose and why it was </a:t>
            </a:r>
            <a:r>
              <a:rPr lang="en-AU" sz="4400" b="1"/>
              <a:t>efficient</a:t>
            </a:r>
            <a:r>
              <a:rPr lang="en-AU" sz="440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218F8E3-BDF5-2FBC-C416-666ECB34BC97}"/>
              </a:ext>
            </a:extLst>
          </p:cNvPr>
          <p:cNvSpPr txBox="1"/>
          <p:nvPr/>
        </p:nvSpPr>
        <p:spPr>
          <a:xfrm>
            <a:off x="1241502" y="1101504"/>
            <a:ext cx="9708995" cy="5414496"/>
          </a:xfrm>
          <a:prstGeom prst="rect">
            <a:avLst/>
          </a:prstGeom>
          <a:noFill/>
        </p:spPr>
        <p:txBody>
          <a:bodyPr wrap="square">
            <a:spAutoFit/>
          </a:bodyPr>
          <a:lstStyle/>
          <a:p>
            <a:pPr algn="ctr">
              <a:lnSpc>
                <a:spcPct val="150000"/>
              </a:lnSpc>
            </a:pPr>
            <a:r>
              <a:rPr lang="en-AU" sz="4400"/>
              <a:t>Complete the </a:t>
            </a:r>
            <a:r>
              <a:rPr lang="en-AU" sz="4400" b="1"/>
              <a:t>number sentence </a:t>
            </a:r>
          </a:p>
          <a:p>
            <a:pPr algn="ctr">
              <a:lnSpc>
                <a:spcPct val="150000"/>
              </a:lnSpc>
            </a:pPr>
            <a:r>
              <a:rPr lang="en-AU" sz="6000"/>
              <a:t>? × 6 = 48</a:t>
            </a:r>
          </a:p>
          <a:p>
            <a:pPr algn="ctr">
              <a:lnSpc>
                <a:spcPct val="150000"/>
              </a:lnSpc>
            </a:pPr>
            <a:r>
              <a:rPr lang="en-AU" sz="4400"/>
              <a:t>What </a:t>
            </a:r>
            <a:r>
              <a:rPr lang="en-AU" sz="4400" b="1"/>
              <a:t>strategies</a:t>
            </a:r>
            <a:r>
              <a:rPr lang="en-AU" sz="4400"/>
              <a:t> did you use to find the </a:t>
            </a:r>
            <a:r>
              <a:rPr lang="en-AU" sz="4400" b="1"/>
              <a:t>missing factor</a:t>
            </a:r>
            <a:r>
              <a:rPr lang="en-AU" sz="4400"/>
              <a:t>?</a:t>
            </a:r>
          </a:p>
          <a:p>
            <a:pPr algn="ctr">
              <a:lnSpc>
                <a:spcPct val="150000"/>
              </a:lnSpc>
            </a:pPr>
            <a:endParaRPr lang="en-AU" sz="440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C607AD1-5220-7C2E-8EDB-2B00CFA4A2AE}"/>
              </a:ext>
            </a:extLst>
          </p:cNvPr>
          <p:cNvSpPr txBox="1"/>
          <p:nvPr/>
        </p:nvSpPr>
        <p:spPr>
          <a:xfrm>
            <a:off x="1045396" y="1372666"/>
            <a:ext cx="10101208" cy="5045164"/>
          </a:xfrm>
          <a:prstGeom prst="rect">
            <a:avLst/>
          </a:prstGeom>
          <a:noFill/>
        </p:spPr>
        <p:txBody>
          <a:bodyPr wrap="square">
            <a:spAutoFit/>
          </a:bodyPr>
          <a:lstStyle/>
          <a:p>
            <a:pPr algn="ctr">
              <a:lnSpc>
                <a:spcPct val="150000"/>
              </a:lnSpc>
            </a:pPr>
            <a:r>
              <a:rPr lang="en-AU" sz="4400"/>
              <a:t>A swimming carnival begins at </a:t>
            </a:r>
            <a:r>
              <a:rPr lang="en-AU" sz="4400" b="1"/>
              <a:t>9:05 am</a:t>
            </a:r>
            <a:r>
              <a:rPr lang="en-AU" sz="4400"/>
              <a:t> and finishes at </a:t>
            </a:r>
            <a:r>
              <a:rPr lang="en-AU" sz="4400" b="1"/>
              <a:t>11:15 am</a:t>
            </a:r>
            <a:r>
              <a:rPr lang="en-AU" sz="4400"/>
              <a:t>.</a:t>
            </a:r>
          </a:p>
          <a:p>
            <a:pPr algn="ctr">
              <a:lnSpc>
                <a:spcPct val="150000"/>
              </a:lnSpc>
            </a:pPr>
            <a:endParaRPr lang="en-AU" sz="4400"/>
          </a:p>
          <a:p>
            <a:pPr algn="ctr">
              <a:lnSpc>
                <a:spcPct val="150000"/>
              </a:lnSpc>
            </a:pPr>
            <a:r>
              <a:rPr lang="en-AU" sz="4400"/>
              <a:t>Use </a:t>
            </a:r>
            <a:r>
              <a:rPr lang="en-AU" sz="4400" b="1"/>
              <a:t>minutes</a:t>
            </a:r>
            <a:r>
              <a:rPr lang="en-AU" sz="4400"/>
              <a:t> to describe the </a:t>
            </a:r>
            <a:r>
              <a:rPr lang="en-AU" sz="4400" b="1"/>
              <a:t>total duration </a:t>
            </a:r>
            <a:r>
              <a:rPr lang="en-AU" sz="4400"/>
              <a:t>of the carnival.</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59999" y="360000"/>
            <a:ext cx="10747003" cy="545601"/>
          </a:xfrm>
        </p:spPr>
        <p:txBody>
          <a:bodyPr/>
          <a:lstStyle/>
          <a:p>
            <a:r>
              <a:rPr lang="en-AU"/>
              <a:t>Activity 8 – modelling fractions with fraction strips (1) </a:t>
            </a:r>
            <a:r>
              <a:rPr lang="en-AU">
                <a:solidFill>
                  <a:schemeClr val="bg1"/>
                </a:solidFill>
              </a:rPr>
              <a:t>(1)</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7FAB733E-D425-8E7C-FDA6-334458C43AC6}"/>
              </a:ext>
            </a:extLst>
          </p:cNvPr>
          <p:cNvSpPr txBox="1"/>
          <p:nvPr/>
        </p:nvSpPr>
        <p:spPr>
          <a:xfrm>
            <a:off x="969907" y="1456192"/>
            <a:ext cx="10154093" cy="5149808"/>
          </a:xfrm>
          <a:prstGeom prst="rect">
            <a:avLst/>
          </a:prstGeom>
          <a:noFill/>
        </p:spPr>
        <p:txBody>
          <a:bodyPr wrap="square">
            <a:spAutoFit/>
          </a:bodyPr>
          <a:lstStyle/>
          <a:p>
            <a:pPr algn="ctr"/>
            <a:r>
              <a:rPr lang="en-AU">
                <a:effectLst/>
                <a:latin typeface="Edu NSW ACT Foundation" pitchFamily="2" charset="0"/>
                <a:ea typeface="Calibri" panose="020F0502020204030204" pitchFamily="34" charset="0"/>
              </a:rPr>
              <a:t>Tim has folded his paper into 2 equal parts. </a:t>
            </a:r>
            <a:r>
              <a:rPr lang="en-AU" err="1">
                <a:effectLst/>
                <a:latin typeface="Edu NSW ACT Foundation" pitchFamily="2" charset="0"/>
                <a:ea typeface="Calibri" panose="020F0502020204030204" pitchFamily="34" charset="0"/>
              </a:rPr>
              <a:t>Yani</a:t>
            </a:r>
            <a:r>
              <a:rPr lang="en-AU">
                <a:effectLst/>
                <a:latin typeface="Edu NSW ACT Foundation" pitchFamily="2" charset="0"/>
                <a:ea typeface="Calibri" panose="020F0502020204030204" pitchFamily="34" charset="0"/>
              </a:rPr>
              <a:t> has folded his paper into 4 equal parts. Rocco has folded his paper into 3 equal parts. </a:t>
            </a: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endParaRPr lang="en-AU">
              <a:latin typeface="Edu NSW ACT Foundation" pitchFamily="2" charset="0"/>
              <a:ea typeface="Calibri" panose="020F0502020204030204" pitchFamily="34" charset="0"/>
            </a:endParaRPr>
          </a:p>
          <a:p>
            <a:pPr algn="ctr">
              <a:lnSpc>
                <a:spcPct val="200000"/>
              </a:lnSpc>
            </a:pPr>
            <a:r>
              <a:rPr lang="en-AU">
                <a:latin typeface="Edu NSW ACT Foundation" pitchFamily="2" charset="0"/>
                <a:ea typeface="Calibri" panose="020F0502020204030204" pitchFamily="34" charset="0"/>
              </a:rPr>
              <a:t>Using strips of paper, explain w</a:t>
            </a:r>
            <a:r>
              <a:rPr lang="en-AU">
                <a:effectLst/>
                <a:latin typeface="Edu NSW ACT Foundation" pitchFamily="2" charset="0"/>
                <a:ea typeface="Calibri" panose="020F0502020204030204" pitchFamily="34" charset="0"/>
              </a:rPr>
              <a:t>ho has the shortest and longest strip of paper.</a:t>
            </a:r>
            <a:endParaRPr lang="en-AU">
              <a:latin typeface="Edu NSW ACT Foundation" pitchFamily="2" charset="0"/>
            </a:endParaRPr>
          </a:p>
        </p:txBody>
      </p:sp>
      <p:grpSp>
        <p:nvGrpSpPr>
          <p:cNvPr id="3" name="Group 2" descr="Tim, Yani and Rocco have pink strips of paper with 2 squares showing. A large blue square covers the rest.&#10;">
            <a:extLst>
              <a:ext uri="{FF2B5EF4-FFF2-40B4-BE49-F238E27FC236}">
                <a16:creationId xmlns:a16="http://schemas.microsoft.com/office/drawing/2014/main" id="{DED53A97-0E2E-0C87-0A59-C885075BAF72}"/>
              </a:ext>
            </a:extLst>
          </p:cNvPr>
          <p:cNvGrpSpPr/>
          <p:nvPr/>
        </p:nvGrpSpPr>
        <p:grpSpPr>
          <a:xfrm>
            <a:off x="3007242" y="2098895"/>
            <a:ext cx="6177515" cy="3864402"/>
            <a:chOff x="-244948" y="199868"/>
            <a:chExt cx="9296266" cy="6039515"/>
          </a:xfrm>
        </p:grpSpPr>
        <p:sp>
          <p:nvSpPr>
            <p:cNvPr id="5" name="Freeform 2">
              <a:extLst>
                <a:ext uri="{FF2B5EF4-FFF2-40B4-BE49-F238E27FC236}">
                  <a16:creationId xmlns:a16="http://schemas.microsoft.com/office/drawing/2014/main" id="{1D134A4E-87A0-F725-7050-EF60D378D8C3}"/>
                </a:ext>
              </a:extLst>
            </p:cNvPr>
            <p:cNvSpPr/>
            <p:nvPr/>
          </p:nvSpPr>
          <p:spPr>
            <a:xfrm>
              <a:off x="1268464" y="1160507"/>
              <a:ext cx="6406391" cy="1164798"/>
            </a:xfrm>
            <a:custGeom>
              <a:avLst/>
              <a:gdLst/>
              <a:ahLst/>
              <a:cxnLst/>
              <a:rect l="l" t="t" r="r" b="b"/>
              <a:pathLst>
                <a:path w="6406391" h="1164798">
                  <a:moveTo>
                    <a:pt x="0" y="0"/>
                  </a:moveTo>
                  <a:lnTo>
                    <a:pt x="6406391" y="0"/>
                  </a:lnTo>
                  <a:lnTo>
                    <a:pt x="6406391" y="1164798"/>
                  </a:lnTo>
                  <a:lnTo>
                    <a:pt x="0" y="11647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anose="020B0604020202020204" charset="0"/>
              </a:endParaRPr>
            </a:p>
          </p:txBody>
        </p:sp>
        <p:sp>
          <p:nvSpPr>
            <p:cNvPr id="7" name="AutoShape 3">
              <a:extLst>
                <a:ext uri="{FF2B5EF4-FFF2-40B4-BE49-F238E27FC236}">
                  <a16:creationId xmlns:a16="http://schemas.microsoft.com/office/drawing/2014/main" id="{E9A35C4D-A22C-D59A-2D29-56CC2A6D2243}"/>
                </a:ext>
              </a:extLst>
            </p:cNvPr>
            <p:cNvSpPr/>
            <p:nvPr/>
          </p:nvSpPr>
          <p:spPr>
            <a:xfrm flipV="1">
              <a:off x="2534540" y="1192794"/>
              <a:ext cx="0" cy="1132549"/>
            </a:xfrm>
            <a:prstGeom prst="line">
              <a:avLst/>
            </a:prstGeom>
            <a:ln w="38100" cap="flat">
              <a:solidFill>
                <a:srgbClr val="000000"/>
              </a:solidFill>
              <a:prstDash val="solid"/>
              <a:headEnd type="none" w="sm" len="sm"/>
              <a:tailEnd type="none" w="sm" len="sm"/>
            </a:ln>
          </p:spPr>
          <p:txBody>
            <a:bodyPr/>
            <a:lstStyle/>
            <a:p>
              <a:endParaRPr lang="en-AU">
                <a:latin typeface="Edu NSW ACT Foundation" panose="020B0604020202020204" charset="0"/>
              </a:endParaRPr>
            </a:p>
          </p:txBody>
        </p:sp>
        <p:sp>
          <p:nvSpPr>
            <p:cNvPr id="9" name="Freeform 4">
              <a:extLst>
                <a:ext uri="{FF2B5EF4-FFF2-40B4-BE49-F238E27FC236}">
                  <a16:creationId xmlns:a16="http://schemas.microsoft.com/office/drawing/2014/main" id="{F6AE77D5-4C48-4441-B32A-313CB4B2D4F0}"/>
                </a:ext>
              </a:extLst>
            </p:cNvPr>
            <p:cNvSpPr/>
            <p:nvPr/>
          </p:nvSpPr>
          <p:spPr>
            <a:xfrm>
              <a:off x="1268464" y="2937589"/>
              <a:ext cx="6406391" cy="1164798"/>
            </a:xfrm>
            <a:custGeom>
              <a:avLst/>
              <a:gdLst/>
              <a:ahLst/>
              <a:cxnLst/>
              <a:rect l="l" t="t" r="r" b="b"/>
              <a:pathLst>
                <a:path w="6406391" h="1164798">
                  <a:moveTo>
                    <a:pt x="0" y="0"/>
                  </a:moveTo>
                  <a:lnTo>
                    <a:pt x="6406391" y="0"/>
                  </a:lnTo>
                  <a:lnTo>
                    <a:pt x="6406391" y="1164798"/>
                  </a:lnTo>
                  <a:lnTo>
                    <a:pt x="0" y="11647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anose="020B0604020202020204" charset="0"/>
              </a:endParaRPr>
            </a:p>
          </p:txBody>
        </p:sp>
        <p:sp>
          <p:nvSpPr>
            <p:cNvPr id="10" name="Freeform 5">
              <a:extLst>
                <a:ext uri="{FF2B5EF4-FFF2-40B4-BE49-F238E27FC236}">
                  <a16:creationId xmlns:a16="http://schemas.microsoft.com/office/drawing/2014/main" id="{FCC6D0E9-9F45-6D08-7DCF-909ED1E340ED}"/>
                </a:ext>
              </a:extLst>
            </p:cNvPr>
            <p:cNvSpPr/>
            <p:nvPr/>
          </p:nvSpPr>
          <p:spPr>
            <a:xfrm>
              <a:off x="1268464" y="4750307"/>
              <a:ext cx="6406391" cy="1164798"/>
            </a:xfrm>
            <a:custGeom>
              <a:avLst/>
              <a:gdLst/>
              <a:ahLst/>
              <a:cxnLst/>
              <a:rect l="l" t="t" r="r" b="b"/>
              <a:pathLst>
                <a:path w="6406391" h="1164798">
                  <a:moveTo>
                    <a:pt x="0" y="0"/>
                  </a:moveTo>
                  <a:lnTo>
                    <a:pt x="6406391" y="0"/>
                  </a:lnTo>
                  <a:lnTo>
                    <a:pt x="6406391" y="1164799"/>
                  </a:lnTo>
                  <a:lnTo>
                    <a:pt x="0" y="116479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anose="020B0604020202020204" charset="0"/>
              </a:endParaRPr>
            </a:p>
          </p:txBody>
        </p:sp>
        <p:sp>
          <p:nvSpPr>
            <p:cNvPr id="11" name="Freeform 6">
              <a:extLst>
                <a:ext uri="{FF2B5EF4-FFF2-40B4-BE49-F238E27FC236}">
                  <a16:creationId xmlns:a16="http://schemas.microsoft.com/office/drawing/2014/main" id="{DBBF9BCE-7858-243E-E701-02ABCE5BD1F4}"/>
                </a:ext>
              </a:extLst>
            </p:cNvPr>
            <p:cNvSpPr/>
            <p:nvPr/>
          </p:nvSpPr>
          <p:spPr>
            <a:xfrm>
              <a:off x="3789454" y="977519"/>
              <a:ext cx="5261864" cy="5261864"/>
            </a:xfrm>
            <a:custGeom>
              <a:avLst/>
              <a:gdLst/>
              <a:ahLst/>
              <a:cxnLst/>
              <a:rect l="l" t="t" r="r" b="b"/>
              <a:pathLst>
                <a:path w="5261864" h="5261864">
                  <a:moveTo>
                    <a:pt x="0" y="0"/>
                  </a:moveTo>
                  <a:lnTo>
                    <a:pt x="5261864" y="0"/>
                  </a:lnTo>
                  <a:lnTo>
                    <a:pt x="5261864" y="5261864"/>
                  </a:lnTo>
                  <a:lnTo>
                    <a:pt x="0" y="5261864"/>
                  </a:lnTo>
                  <a:lnTo>
                    <a:pt x="0" y="0"/>
                  </a:lnTo>
                  <a:close/>
                </a:path>
              </a:pathLst>
            </a:custGeom>
            <a:blipFill>
              <a:blip r:embed="rId6"/>
              <a:stretch>
                <a:fillRect/>
              </a:stretch>
            </a:blipFill>
          </p:spPr>
          <p:txBody>
            <a:bodyPr/>
            <a:lstStyle/>
            <a:p>
              <a:endParaRPr lang="en-AU">
                <a:latin typeface="Edu NSW ACT Foundation" panose="020B0604020202020204" charset="0"/>
              </a:endParaRPr>
            </a:p>
          </p:txBody>
        </p:sp>
        <p:sp>
          <p:nvSpPr>
            <p:cNvPr id="12" name="TextBox 7">
              <a:extLst>
                <a:ext uri="{FF2B5EF4-FFF2-40B4-BE49-F238E27FC236}">
                  <a16:creationId xmlns:a16="http://schemas.microsoft.com/office/drawing/2014/main" id="{79EF0F19-D6EE-6505-8E70-28EDF22CA1B6}"/>
                </a:ext>
              </a:extLst>
            </p:cNvPr>
            <p:cNvSpPr txBox="1"/>
            <p:nvPr/>
          </p:nvSpPr>
          <p:spPr>
            <a:xfrm>
              <a:off x="-113925" y="199868"/>
              <a:ext cx="1678941" cy="1041728"/>
            </a:xfrm>
            <a:prstGeom prst="rect">
              <a:avLst/>
            </a:prstGeom>
          </p:spPr>
          <p:txBody>
            <a:bodyPr lIns="0" tIns="0" rIns="0" bIns="0" rtlCol="0" anchor="t">
              <a:spAutoFit/>
            </a:bodyPr>
            <a:lstStyle/>
            <a:p>
              <a:pPr algn="ctr">
                <a:lnSpc>
                  <a:spcPts val="5370"/>
                </a:lnSpc>
              </a:pPr>
              <a:r>
                <a:rPr lang="en-US">
                  <a:solidFill>
                    <a:srgbClr val="000000"/>
                  </a:solidFill>
                  <a:latin typeface="Edu NSW ACT Foundation" panose="020B0604020202020204" charset="0"/>
                  <a:ea typeface="Canva Student Font"/>
                  <a:cs typeface="Canva Student Font"/>
                  <a:sym typeface="Canva Student Font"/>
                </a:rPr>
                <a:t>Tim </a:t>
              </a:r>
            </a:p>
          </p:txBody>
        </p:sp>
        <p:sp>
          <p:nvSpPr>
            <p:cNvPr id="13" name="TextBox 8">
              <a:extLst>
                <a:ext uri="{FF2B5EF4-FFF2-40B4-BE49-F238E27FC236}">
                  <a16:creationId xmlns:a16="http://schemas.microsoft.com/office/drawing/2014/main" id="{79304029-E3FB-9F9C-D979-B69E01CE2CEA}"/>
                </a:ext>
              </a:extLst>
            </p:cNvPr>
            <p:cNvSpPr txBox="1"/>
            <p:nvPr/>
          </p:nvSpPr>
          <p:spPr>
            <a:xfrm>
              <a:off x="3996" y="2009055"/>
              <a:ext cx="1678941" cy="1041728"/>
            </a:xfrm>
            <a:prstGeom prst="rect">
              <a:avLst/>
            </a:prstGeom>
          </p:spPr>
          <p:txBody>
            <a:bodyPr lIns="0" tIns="0" rIns="0" bIns="0" rtlCol="0" anchor="t">
              <a:spAutoFit/>
            </a:bodyPr>
            <a:lstStyle/>
            <a:p>
              <a:pPr algn="ctr">
                <a:lnSpc>
                  <a:spcPts val="5370"/>
                </a:lnSpc>
              </a:pPr>
              <a:r>
                <a:rPr lang="en-US">
                  <a:solidFill>
                    <a:srgbClr val="000000"/>
                  </a:solidFill>
                  <a:latin typeface="Edu NSW ACT Foundation" panose="020B0604020202020204" charset="0"/>
                  <a:ea typeface="Canva Student Font"/>
                  <a:cs typeface="Canva Student Font"/>
                  <a:sym typeface="Canva Student Font"/>
                </a:rPr>
                <a:t>Yani</a:t>
              </a:r>
            </a:p>
          </p:txBody>
        </p:sp>
        <p:sp>
          <p:nvSpPr>
            <p:cNvPr id="14" name="TextBox 9">
              <a:extLst>
                <a:ext uri="{FF2B5EF4-FFF2-40B4-BE49-F238E27FC236}">
                  <a16:creationId xmlns:a16="http://schemas.microsoft.com/office/drawing/2014/main" id="{E9CE3F46-BF86-5401-2F58-EB6848B0A671}"/>
                </a:ext>
              </a:extLst>
            </p:cNvPr>
            <p:cNvSpPr txBox="1"/>
            <p:nvPr/>
          </p:nvSpPr>
          <p:spPr>
            <a:xfrm>
              <a:off x="-244948" y="3740829"/>
              <a:ext cx="1678941" cy="1041728"/>
            </a:xfrm>
            <a:prstGeom prst="rect">
              <a:avLst/>
            </a:prstGeom>
          </p:spPr>
          <p:txBody>
            <a:bodyPr lIns="0" tIns="0" rIns="0" bIns="0" rtlCol="0" anchor="t">
              <a:spAutoFit/>
            </a:bodyPr>
            <a:lstStyle/>
            <a:p>
              <a:pPr algn="ctr">
                <a:lnSpc>
                  <a:spcPts val="5370"/>
                </a:lnSpc>
              </a:pPr>
              <a:r>
                <a:rPr lang="en-US">
                  <a:solidFill>
                    <a:srgbClr val="000000"/>
                  </a:solidFill>
                  <a:latin typeface="Edu NSW ACT Foundation" panose="020B0604020202020204" charset="0"/>
                  <a:ea typeface="Canva Student Font"/>
                  <a:cs typeface="Canva Student Font"/>
                  <a:sym typeface="Canva Student Font"/>
                </a:rPr>
                <a:t>Rocco</a:t>
              </a:r>
            </a:p>
          </p:txBody>
        </p:sp>
        <p:sp>
          <p:nvSpPr>
            <p:cNvPr id="15" name="AutoShape 10">
              <a:extLst>
                <a:ext uri="{FF2B5EF4-FFF2-40B4-BE49-F238E27FC236}">
                  <a16:creationId xmlns:a16="http://schemas.microsoft.com/office/drawing/2014/main" id="{FA40055B-615A-A707-BDAF-1ED272CF6FFE}"/>
                </a:ext>
              </a:extLst>
            </p:cNvPr>
            <p:cNvSpPr/>
            <p:nvPr/>
          </p:nvSpPr>
          <p:spPr>
            <a:xfrm flipV="1">
              <a:off x="2534540" y="2937589"/>
              <a:ext cx="0" cy="1132549"/>
            </a:xfrm>
            <a:prstGeom prst="line">
              <a:avLst/>
            </a:prstGeom>
            <a:ln w="38100" cap="flat">
              <a:solidFill>
                <a:srgbClr val="000000"/>
              </a:solidFill>
              <a:prstDash val="solid"/>
              <a:headEnd type="none" w="sm" len="sm"/>
              <a:tailEnd type="none" w="sm" len="sm"/>
            </a:ln>
          </p:spPr>
          <p:txBody>
            <a:bodyPr/>
            <a:lstStyle/>
            <a:p>
              <a:endParaRPr lang="en-AU">
                <a:latin typeface="Edu NSW ACT Foundation" panose="020B0604020202020204" charset="0"/>
              </a:endParaRPr>
            </a:p>
          </p:txBody>
        </p:sp>
        <p:sp>
          <p:nvSpPr>
            <p:cNvPr id="16" name="AutoShape 11">
              <a:extLst>
                <a:ext uri="{FF2B5EF4-FFF2-40B4-BE49-F238E27FC236}">
                  <a16:creationId xmlns:a16="http://schemas.microsoft.com/office/drawing/2014/main" id="{61EFF0FC-C22C-30BE-446A-623049B1DAA3}"/>
                </a:ext>
              </a:extLst>
            </p:cNvPr>
            <p:cNvSpPr/>
            <p:nvPr/>
          </p:nvSpPr>
          <p:spPr>
            <a:xfrm flipV="1">
              <a:off x="2553590" y="4782557"/>
              <a:ext cx="0" cy="1132549"/>
            </a:xfrm>
            <a:prstGeom prst="line">
              <a:avLst/>
            </a:prstGeom>
            <a:ln w="38100" cap="flat">
              <a:solidFill>
                <a:srgbClr val="000000"/>
              </a:solidFill>
              <a:prstDash val="solid"/>
              <a:headEnd type="none" w="sm" len="sm"/>
              <a:tailEnd type="none" w="sm" len="sm"/>
            </a:ln>
          </p:spPr>
          <p:txBody>
            <a:bodyPr/>
            <a:lstStyle/>
            <a:p>
              <a:endParaRPr lang="en-AU">
                <a:latin typeface="Edu NSW ACT Foundation" panose="020B0604020202020204" charset="0"/>
              </a:endParaRPr>
            </a:p>
          </p:txBody>
        </p:sp>
      </p:gr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A84C6-1BB0-A434-14EA-B37E084F81F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ADBCD5-A6CA-1EBC-13A8-253F2E1D7302}"/>
              </a:ext>
            </a:extLst>
          </p:cNvPr>
          <p:cNvSpPr>
            <a:spLocks noGrp="1"/>
          </p:cNvSpPr>
          <p:nvPr>
            <p:ph type="title"/>
          </p:nvPr>
        </p:nvSpPr>
        <p:spPr>
          <a:xfrm>
            <a:off x="359999" y="360000"/>
            <a:ext cx="10747003" cy="545601"/>
          </a:xfrm>
        </p:spPr>
        <p:txBody>
          <a:bodyPr/>
          <a:lstStyle/>
          <a:p>
            <a:r>
              <a:rPr lang="en-AU"/>
              <a:t>Activity 8 – modelling fractions with fraction strips (2) </a:t>
            </a:r>
            <a:r>
              <a:rPr lang="en-AU">
                <a:solidFill>
                  <a:schemeClr val="bg1"/>
                </a:solidFill>
              </a:rPr>
              <a:t>(2)</a:t>
            </a:r>
          </a:p>
        </p:txBody>
      </p:sp>
      <p:sp>
        <p:nvSpPr>
          <p:cNvPr id="2" name="Slide Number Placeholder 1">
            <a:extLst>
              <a:ext uri="{FF2B5EF4-FFF2-40B4-BE49-F238E27FC236}">
                <a16:creationId xmlns:a16="http://schemas.microsoft.com/office/drawing/2014/main" id="{B05C86E2-BE87-54C3-7BB5-BF4EB8CE37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image of a head with cogs turning inside">
            <a:extLst>
              <a:ext uri="{FF2B5EF4-FFF2-40B4-BE49-F238E27FC236}">
                <a16:creationId xmlns:a16="http://schemas.microsoft.com/office/drawing/2014/main" id="{438B527E-7B5A-D39E-61C7-0AF4B44A7B47}"/>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8" name="Picture 17" descr="Answer strips showing that Tim has 2 pink squares, Yani has 4 pink squares and Rocco has 3 pink squares., Picture">
            <a:extLst>
              <a:ext uri="{FF2B5EF4-FFF2-40B4-BE49-F238E27FC236}">
                <a16:creationId xmlns:a16="http://schemas.microsoft.com/office/drawing/2014/main" id="{6AA9638F-2F9D-0CE5-F7D3-658D26269DA7}"/>
              </a:ext>
            </a:extLst>
          </p:cNvPr>
          <p:cNvPicPr>
            <a:picLocks noChangeAspect="1"/>
          </p:cNvPicPr>
          <p:nvPr/>
        </p:nvPicPr>
        <p:blipFill>
          <a:blip r:embed="rId4"/>
          <a:stretch>
            <a:fillRect/>
          </a:stretch>
        </p:blipFill>
        <p:spPr>
          <a:xfrm>
            <a:off x="3111331" y="1346834"/>
            <a:ext cx="6578938" cy="5169166"/>
          </a:xfrm>
          <a:prstGeom prst="rect">
            <a:avLst/>
          </a:prstGeom>
        </p:spPr>
      </p:pic>
    </p:spTree>
    <p:extLst>
      <p:ext uri="{BB962C8B-B14F-4D97-AF65-F5344CB8AC3E}">
        <p14:creationId xmlns:p14="http://schemas.microsoft.com/office/powerpoint/2010/main" val="40696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 uri="{C183D7F6-B498-43B3-948B-1728B52AA6E4}">
                <adec:decorative xmlns:adec="http://schemas.microsoft.com/office/drawing/2017/decorative" val="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 uri="{C183D7F6-B498-43B3-948B-1728B52AA6E4}">
                <adec:decorative xmlns:adec="http://schemas.microsoft.com/office/drawing/2017/decorative" val="1"/>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 uri="{C183D7F6-B498-43B3-948B-1728B52AA6E4}">
                <adec:decorative xmlns:adec="http://schemas.microsoft.com/office/drawing/2017/decorative" val="1"/>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 uri="{C183D7F6-B498-43B3-948B-1728B52AA6E4}">
                <adec:decorative xmlns:adec="http://schemas.microsoft.com/office/drawing/2017/decorative" val="1"/>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 uri="{C183D7F6-B498-43B3-948B-1728B52AA6E4}">
                <adec:decorative xmlns:adec="http://schemas.microsoft.com/office/drawing/2017/decorative" val="1"/>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a:extLst>
              <a:ext uri="{FF2B5EF4-FFF2-40B4-BE49-F238E27FC236}">
                <a16:creationId xmlns:a16="http://schemas.microsoft.com/office/drawing/2014/main" id="{407D636A-5897-673F-FD31-EE27AAB7F3C7}"/>
              </a:ext>
              <a:ext uri="{C183D7F6-B498-43B3-948B-1728B52AA6E4}">
                <adec:decorative xmlns:adec="http://schemas.microsoft.com/office/drawing/2017/decorative" val="1"/>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 uri="{C183D7F6-B498-43B3-948B-1728B52AA6E4}">
                <adec:decorative xmlns:adec="http://schemas.microsoft.com/office/drawing/2017/decorative" val="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 uri="{C183D7F6-B498-43B3-948B-1728B52AA6E4}">
                <adec:decorative xmlns:adec="http://schemas.microsoft.com/office/drawing/2017/decorative" val="1"/>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 uri="{C183D7F6-B498-43B3-948B-1728B52AA6E4}">
                <adec:decorative xmlns:adec="http://schemas.microsoft.com/office/drawing/2017/decorative" val="1"/>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 uri="{C183D7F6-B498-43B3-948B-1728B52AA6E4}">
                <adec:decorative xmlns:adec="http://schemas.microsoft.com/office/drawing/2017/decorative" val="1"/>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 uri="{C183D7F6-B498-43B3-948B-1728B52AA6E4}">
                <adec:decorative xmlns:adec="http://schemas.microsoft.com/office/drawing/2017/decorative" val="1"/>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 uri="{C183D7F6-B498-43B3-948B-1728B52AA6E4}">
                <adec:decorative xmlns:adec="http://schemas.microsoft.com/office/drawing/2017/decorative" val="1"/>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 uri="{C183D7F6-B498-43B3-948B-1728B52AA6E4}">
                <adec:decorative xmlns:adec="http://schemas.microsoft.com/office/drawing/2017/decorative" val="1"/>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 uri="{C183D7F6-B498-43B3-948B-1728B52AA6E4}">
                <adec:decorative xmlns:adec="http://schemas.microsoft.com/office/drawing/2017/decorative" val="1"/>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 uri="{C183D7F6-B498-43B3-948B-1728B52AA6E4}">
                <adec:decorative xmlns:adec="http://schemas.microsoft.com/office/drawing/2017/decorative" val="1"/>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 uri="{C183D7F6-B498-43B3-948B-1728B52AA6E4}">
                <adec:decorative xmlns:adec="http://schemas.microsoft.com/office/drawing/2017/decorative" val="1"/>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 uri="{C183D7F6-B498-43B3-948B-1728B52AA6E4}">
                <adec:decorative xmlns:adec="http://schemas.microsoft.com/office/drawing/2017/decorative" val="1"/>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 uri="{C183D7F6-B498-43B3-948B-1728B52AA6E4}">
                <adec:decorative xmlns:adec="http://schemas.microsoft.com/office/drawing/2017/decorative" val="1"/>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 uri="{C183D7F6-B498-43B3-948B-1728B52AA6E4}">
                <adec:decorative xmlns:adec="http://schemas.microsoft.com/office/drawing/2017/decorative" val="1"/>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fontAlgn="base"/>
            <a:r>
              <a:rPr lang="en-AU" u="sng">
                <a:hlinkClick r:id="rId6"/>
              </a:rPr>
              <a:t>Mathematics K–10 Syllabus</a:t>
            </a:r>
            <a:r>
              <a:rPr lang="en-AU"/>
              <a:t> © NSW Education Standards Authority (NESA) for and on behalf of the Crown in right of the State of New South Wales, 2022.</a:t>
            </a:r>
            <a:r>
              <a:rPr lang="en-US"/>
              <a:t>​</a:t>
            </a:r>
          </a:p>
          <a:p>
            <a:pPr fontAlgn="base"/>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22 July 2025) and was not modified.</a:t>
            </a:r>
            <a:endParaRPr lang="en-US"/>
          </a:p>
          <a:p>
            <a:pPr>
              <a:spcBef>
                <a:spcPts val="1200"/>
              </a:spcBef>
              <a:spcAft>
                <a:spcPts val="600"/>
              </a:spcAft>
            </a:pPr>
            <a:r>
              <a:rPr lang="en-AU">
                <a:latin typeface="Arial" panose="020B0604020202020204" pitchFamily="34" charset="0"/>
                <a:ea typeface="Calibri" panose="020F0502020204030204" pitchFamily="34" charset="0"/>
              </a:rPr>
              <a:t>Siemon D, Warren E, Beswick K, Faragher R, Miller J, Horne M, </a:t>
            </a:r>
            <a:r>
              <a:rPr lang="en-AU" err="1">
                <a:latin typeface="Arial" panose="020B0604020202020204" pitchFamily="34" charset="0"/>
                <a:ea typeface="Calibri" panose="020F0502020204030204" pitchFamily="34" charset="0"/>
              </a:rPr>
              <a:t>Jazby</a:t>
            </a:r>
            <a:r>
              <a:rPr lang="en-AU">
                <a:latin typeface="Arial" panose="020B0604020202020204" pitchFamily="34" charset="0"/>
                <a:ea typeface="Calibri" panose="020F0502020204030204" pitchFamily="34" charset="0"/>
              </a:rPr>
              <a:t> D, Breed M, Clark J and Brady K (2020) Teaching Mathematics: Foundations to Middle Years, 3rd edition, Oxford University Press Australia and New Zealand.</a:t>
            </a:r>
          </a:p>
          <a:p>
            <a:pPr>
              <a:spcBef>
                <a:spcPts val="1200"/>
              </a:spcBef>
              <a:spcAft>
                <a:spcPts val="600"/>
              </a:spcAft>
            </a:pPr>
            <a:r>
              <a:rPr lang="en-AU">
                <a:latin typeface="Arial" panose="020B0604020202020204" pitchFamily="34" charset="0"/>
                <a:ea typeface="Calibri" panose="020F0502020204030204" pitchFamily="34" charset="0"/>
              </a:rPr>
              <a:t>State of New South Wales (Department of Education) (n.d.) </a:t>
            </a:r>
            <a:r>
              <a:rPr lang="en-AU" i="1" u="sng">
                <a:solidFill>
                  <a:srgbClr val="2F5496"/>
                </a:solidFill>
                <a:latin typeface="Arial" panose="020B0604020202020204" pitchFamily="34" charset="0"/>
                <a:ea typeface="Calibri" panose="020F0502020204030204" pitchFamily="34" charset="0"/>
              </a:rPr>
              <a:t>Coordinating groups: Snake eyes</a:t>
            </a:r>
            <a:r>
              <a:rPr lang="en-AU" u="sng">
                <a:solidFill>
                  <a:srgbClr val="2F5496"/>
                </a:solidFill>
                <a:latin typeface="Arial" panose="020B0604020202020204" pitchFamily="34" charset="0"/>
                <a:ea typeface="Calibri" panose="020F0502020204030204" pitchFamily="34" charset="0"/>
              </a:rPr>
              <a:t> [PDF 8.0 MB]</a:t>
            </a:r>
            <a:r>
              <a:rPr lang="en-AU">
                <a:latin typeface="Arial" panose="020B0604020202020204" pitchFamily="34" charset="0"/>
                <a:ea typeface="Calibri" panose="020F0502020204030204" pitchFamily="34" charset="0"/>
              </a:rPr>
              <a:t>, Developing efficient numeracy strategies (DENS): Stage 2, NSW Department of Education, accessed 26 June 2023.</a:t>
            </a:r>
          </a:p>
          <a:p>
            <a:pPr>
              <a:spcBef>
                <a:spcPts val="1200"/>
              </a:spcBef>
              <a:spcAft>
                <a:spcPts val="600"/>
              </a:spcAft>
            </a:pPr>
            <a:r>
              <a:rPr lang="en-AU">
                <a:latin typeface="Arial" panose="020B0604020202020204" pitchFamily="34" charset="0"/>
                <a:ea typeface="Calibri" panose="020F0502020204030204" pitchFamily="34" charset="0"/>
              </a:rPr>
              <a:t>State of New South Wales (Department of Education) (2023) ‘Colour in fractions’, Mathematics K-6 resources, NSW Department of Education website, accessed 17 June 2025.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B3615B-DC9D-4F6A-A146-FF03B51F9350}">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Mathematics-stage 2-unit 4-review of learning</Template>
  <TotalTime>0</TotalTime>
  <Words>6375</Words>
  <Application>Microsoft Office PowerPoint</Application>
  <PresentationFormat>Widescreen</PresentationFormat>
  <Paragraphs>866</Paragraphs>
  <Slides>69</Slides>
  <Notes>69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69</vt:i4>
      </vt:variant>
    </vt:vector>
  </HeadingPairs>
  <TitlesOfParts>
    <vt:vector size="81" baseType="lpstr">
      <vt:lpstr>Montserrat</vt:lpstr>
      <vt:lpstr>Public Sans</vt:lpstr>
      <vt:lpstr>Courier New</vt:lpstr>
      <vt:lpstr>Wingdings</vt:lpstr>
      <vt:lpstr>Times New Roman</vt:lpstr>
      <vt:lpstr>Public Sans Light</vt:lpstr>
      <vt:lpstr>Calibri</vt:lpstr>
      <vt:lpstr>Symbol</vt:lpstr>
      <vt:lpstr>Arial</vt:lpstr>
      <vt:lpstr>Cambria Math</vt:lpstr>
      <vt:lpstr>Edu NSW ACT Foundation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ordering numbers</vt:lpstr>
      <vt:lpstr>Review of learning 2</vt:lpstr>
      <vt:lpstr>True or false (1)</vt:lpstr>
      <vt:lpstr>Short response (5)</vt:lpstr>
      <vt:lpstr>Short response (6)</vt:lpstr>
      <vt:lpstr>Short response (7)</vt:lpstr>
      <vt:lpstr>Short response (8)</vt:lpstr>
      <vt:lpstr>Activity 2 – rounding numbers</vt:lpstr>
      <vt:lpstr>Review of learning 3</vt:lpstr>
      <vt:lpstr>Multiple choice (2)</vt:lpstr>
      <vt:lpstr>Short response (9)</vt:lpstr>
      <vt:lpstr>Short response (10)</vt:lpstr>
      <vt:lpstr>Short response (11)</vt:lpstr>
      <vt:lpstr>Short response (12)</vt:lpstr>
      <vt:lpstr>Activity 3 – rounding numbers game</vt:lpstr>
      <vt:lpstr>Review of learning 4</vt:lpstr>
      <vt:lpstr>True or false (2)</vt:lpstr>
      <vt:lpstr>Short response (13)</vt:lpstr>
      <vt:lpstr>Short response (14)</vt:lpstr>
      <vt:lpstr>Short response (15)</vt:lpstr>
      <vt:lpstr>Short response (16)</vt:lpstr>
      <vt:lpstr>Activity 4 – place value game</vt:lpstr>
      <vt:lpstr>Review of learning 5</vt:lpstr>
      <vt:lpstr>Multiple choice (3)</vt:lpstr>
      <vt:lpstr>Short response (17)</vt:lpstr>
      <vt:lpstr>Short response (18)</vt:lpstr>
      <vt:lpstr>Short response (19)</vt:lpstr>
      <vt:lpstr>Short response (20)</vt:lpstr>
      <vt:lpstr>Activity 5 – representing fractions</vt:lpstr>
      <vt:lpstr>Review of learning 6</vt:lpstr>
      <vt:lpstr>True or false (3)</vt:lpstr>
      <vt:lpstr>Short response (21)</vt:lpstr>
      <vt:lpstr>Short response (22)</vt:lpstr>
      <vt:lpstr>Short response (23)</vt:lpstr>
      <vt:lpstr>Short response (24)</vt:lpstr>
      <vt:lpstr>Activity 6 – fractions on a number line</vt:lpstr>
      <vt:lpstr>Review of learning 7</vt:lpstr>
      <vt:lpstr>Multiple choice (4)</vt:lpstr>
      <vt:lpstr>Short response (25)</vt:lpstr>
      <vt:lpstr>Short response (26)</vt:lpstr>
      <vt:lpstr>Short response (27)</vt:lpstr>
      <vt:lpstr>Short response (28)</vt:lpstr>
      <vt:lpstr>Activity 7 – complementary fractions</vt:lpstr>
      <vt:lpstr>Review of learning 8</vt:lpstr>
      <vt:lpstr>True or false (4)</vt:lpstr>
      <vt:lpstr>Short response (29)</vt:lpstr>
      <vt:lpstr>Short response (30)</vt:lpstr>
      <vt:lpstr>Short response (31)</vt:lpstr>
      <vt:lpstr>Short response (32)</vt:lpstr>
      <vt:lpstr>Activity 8 – modelling fractions with fraction strips (1) (1)</vt:lpstr>
      <vt:lpstr>Activity 8 – modelling fractions with fraction strips (2) (2)</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Evelyn Plunkett</dc:creator>
  <cp:keywords/>
  <dc:description/>
  <cp:lastModifiedBy>Daniel Archer</cp:lastModifiedBy>
  <cp:revision>2</cp:revision>
  <dcterms:created xsi:type="dcterms:W3CDTF">2025-08-18T01:18:07Z</dcterms:created>
  <dcterms:modified xsi:type="dcterms:W3CDTF">2025-10-26T20:41:02Z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