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79" r:id="rId6"/>
    <p:sldId id="26359" r:id="rId7"/>
    <p:sldId id="271" r:id="rId8"/>
    <p:sldId id="26577" r:id="rId9"/>
    <p:sldId id="358" r:id="rId10"/>
    <p:sldId id="26580" r:id="rId11"/>
    <p:sldId id="26581" r:id="rId12"/>
    <p:sldId id="26647" r:id="rId13"/>
    <p:sldId id="26576" r:id="rId14"/>
    <p:sldId id="26583" r:id="rId15"/>
    <p:sldId id="26586" r:id="rId16"/>
    <p:sldId id="26587" r:id="rId17"/>
    <p:sldId id="26588" r:id="rId18"/>
    <p:sldId id="26589" r:id="rId19"/>
    <p:sldId id="26646" r:id="rId20"/>
    <p:sldId id="26591"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49" r:id="rId50"/>
    <p:sldId id="26648" r:id="rId51"/>
    <p:sldId id="26628" r:id="rId52"/>
    <p:sldId id="26629" r:id="rId53"/>
    <p:sldId id="26632" r:id="rId54"/>
    <p:sldId id="26633" r:id="rId55"/>
    <p:sldId id="26634" r:id="rId56"/>
    <p:sldId id="26635" r:id="rId57"/>
    <p:sldId id="26636" r:id="rId58"/>
    <p:sldId id="26637" r:id="rId59"/>
    <p:sldId id="26640" r:id="rId60"/>
    <p:sldId id="26641" r:id="rId61"/>
    <p:sldId id="26642" r:id="rId62"/>
    <p:sldId id="26643" r:id="rId63"/>
    <p:sldId id="26644" r:id="rId64"/>
    <p:sldId id="26645" r:id="rId65"/>
    <p:sldId id="26393" r:id="rId66"/>
    <p:sldId id="26387" r:id="rId67"/>
    <p:sldId id="26395" r:id="rId68"/>
    <p:sldId id="26391" r:id="rId69"/>
    <p:sldId id="26402" r:id="rId70"/>
    <p:sldId id="26507" r:id="rId71"/>
    <p:sldId id="26510" r:id="rId72"/>
    <p:sldId id="360" r:id="rId73"/>
    <p:sldId id="26650" r:id="rId74"/>
    <p:sldId id="361" r:id="rId75"/>
  </p:sldIdLst>
  <p:sldSz cx="12192000" cy="6858000"/>
  <p:notesSz cx="6858000" cy="9144000"/>
  <p:embeddedFontLst>
    <p:embeddedFont>
      <p:font typeface="Cambria Math" panose="02040503050406030204" pitchFamily="18" charset="0"/>
      <p:regular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647"/>
            <p14:sldId id="26576"/>
          </p14:sldIdLst>
        </p14:section>
        <p14:section name="Review of learning 2" id="{0AC6BBCB-7E49-46CE-B777-EFCDD4B60F91}">
          <p14:sldIdLst>
            <p14:sldId id="26583"/>
            <p14:sldId id="26586"/>
            <p14:sldId id="26587"/>
            <p14:sldId id="26588"/>
            <p14:sldId id="26589"/>
            <p14:sldId id="26646"/>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 id="26649"/>
            <p14:sldId id="26648"/>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65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A31E61-5FA0-40A9-A29D-7A23B94FA709}" v="3" dt="2025-11-30T22:26:01.08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24" autoAdjust="0"/>
    <p:restoredTop sz="74637" autoAdjust="0"/>
  </p:normalViewPr>
  <p:slideViewPr>
    <p:cSldViewPr snapToGrid="0">
      <p:cViewPr varScale="1">
        <p:scale>
          <a:sx n="73" d="100"/>
          <a:sy n="73" d="100"/>
        </p:scale>
        <p:origin x="888" y="40"/>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4</a:t>
            </a:r>
          </a:p>
          <a:p>
            <a:pPr marL="285750" indent="-285750">
              <a:buFont typeface="Arial" panose="020B0604020202020204" pitchFamily="34" charset="0"/>
              <a:buChar char="•"/>
            </a:pPr>
            <a:r>
              <a:rPr lang="en-AU"/>
              <a:t>Stage 3 Year A Unit 3</a:t>
            </a:r>
          </a:p>
          <a:p>
            <a:pPr marL="285750" indent="-285750">
              <a:buFont typeface="Arial" panose="020B0604020202020204" pitchFamily="34" charset="0"/>
              <a:buChar char="•"/>
            </a:pPr>
            <a:r>
              <a:rPr lang="en-AU"/>
              <a:t>Stage 3 Year A Unit 2</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C7D9-01C3-44E2-299D-5FCE70C83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BBCC9-C212-A27D-87AA-055A059416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B004B-6F4B-FCCA-C414-D019CEC014D8}"/>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 </a:t>
            </a:r>
            <a:r>
              <a:rPr lang="en-AU" sz="1600" b="0" i="0" kern="1200">
                <a:solidFill>
                  <a:schemeClr val="tx1"/>
                </a:solidFill>
                <a:effectLst/>
                <a:latin typeface="Arial" panose="020B0604020202020204" pitchFamily="34" charset="0"/>
                <a:ea typeface="+mn-ea"/>
                <a:cs typeface="Arial" panose="020B0604020202020204" pitchFamily="34" charset="0"/>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68634C3-887F-1211-A04F-9EA2C6049217}"/>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202222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a:p>
          <a:p>
            <a:r>
              <a:rPr lang="en-AU" b="1"/>
              <a:t>Activity 1 </a:t>
            </a:r>
            <a:r>
              <a:rPr lang="en-AU" b="0"/>
              <a:t>– </a:t>
            </a:r>
            <a:r>
              <a:rPr lang="en-AU" b="1"/>
              <a:t>Fraction number lines</a:t>
            </a:r>
          </a:p>
          <a:p>
            <a:r>
              <a:rPr lang="en-AU" b="0"/>
              <a:t>This resource corresponds to Resource 21 – funny fraction lines in Stage 3 Year A Unit 4.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do you notice about these funny fraction lines?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Do you think any of these fraction lines would be useful? Why or why not?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fraction line do you think would be the least useful and why?</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table below outlines stimulus prompts to generate conversation about the topic, along with anticipated responses from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Refer to example C in Resource 21 – funny fraction lines. Highlight the equally spaced parts representing tenths. Model a number line with the fractions placed correctly as </a:t>
            </a:r>
            <a:r>
              <a:rPr lang="en-AU" sz="1600" b="1" kern="1200">
                <a:solidFill>
                  <a:schemeClr val="tx1"/>
                </a:solidFill>
                <a:effectLst/>
                <a:latin typeface="Arial" panose="020B0604020202020204" pitchFamily="34" charset="0"/>
                <a:ea typeface="+mn-ea"/>
                <a:cs typeface="Arial" panose="020B0604020202020204" pitchFamily="34" charset="0"/>
              </a:rPr>
              <a:t>tenths on a number line</a:t>
            </a:r>
            <a:r>
              <a:rPr lang="en-AU" sz="1600" kern="1200">
                <a:solidFill>
                  <a:schemeClr val="tx1"/>
                </a:solidFill>
                <a:effectLst/>
                <a:latin typeface="Arial" panose="020B0604020202020204" pitchFamily="34" charset="0"/>
                <a:ea typeface="+mn-ea"/>
                <a:cs typeface="Arial" panose="020B0604020202020204" pitchFamily="34" charset="0"/>
              </a:rPr>
              <a:t>. Identify where the unit fraction one tenth is placed.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use individual whiteboards to place other known unit fractions on a number line.</a:t>
            </a:r>
          </a:p>
          <a:p>
            <a:pPr marL="285750" lvl="0" indent="-285750">
              <a:buFont typeface="Arial" panose="020B0604020202020204" pitchFamily="34" charset="0"/>
              <a:buChar char="•"/>
            </a:pPr>
            <a:r>
              <a:rPr lang="en-US" sz="1600" kern="1200">
                <a:solidFill>
                  <a:schemeClr val="tx1"/>
                </a:solidFill>
                <a:effectLst/>
                <a:latin typeface="Arial" panose="020B0604020202020204" pitchFamily="34" charset="0"/>
                <a:ea typeface="+mn-ea"/>
                <a:cs typeface="Arial" panose="020B0604020202020204" pitchFamily="34" charset="0"/>
              </a:rPr>
              <a:t>Ask students to use their number lines to compare the size of unit fractions. For example, explain how you know one quarter</a:t>
            </a:r>
            <a:r>
              <a:rPr lang="en-AU" sz="1600" kern="1200">
                <a:solidFill>
                  <a:schemeClr val="tx1"/>
                </a:solidFill>
                <a:effectLst/>
                <a:latin typeface="Arial" panose="020B0604020202020204" pitchFamily="34" charset="0"/>
                <a:ea typeface="+mn-ea"/>
                <a:cs typeface="Arial" panose="020B0604020202020204" pitchFamily="34" charset="0"/>
              </a:rPr>
              <a:t> is larger than one tenth.</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Additive relations A</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AC67A-0F68-1991-00F7-BB07DCDA2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E96B1-462E-6909-8BE9-589FB3DD5A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B3C85-5144-BF2E-F8CA-336E239123B8}"/>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605D01-E1F6-F3D1-34B9-F69A2FB62A6A}"/>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367742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b="1"/>
          </a:p>
          <a:p>
            <a:r>
              <a:rPr lang="en-AU" b="1"/>
              <a:t>Activity 2 </a:t>
            </a:r>
            <a:r>
              <a:rPr lang="en-AU" b="0"/>
              <a:t>–</a:t>
            </a:r>
            <a:r>
              <a:rPr lang="en-AU" b="1"/>
              <a:t> Number lines to represent fractions</a:t>
            </a:r>
          </a:p>
          <a:p>
            <a:r>
              <a:rPr lang="en-AU" b="0"/>
              <a:t>This resource corresponds to Resource 22 – finding fractions in Stage 3 Year A Unit 4.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are going to use a number line to order these fractions from smallest to largest.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fraction cards might you place first? Explain your thinking.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are the challenges of placing them all on the same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small groups with Resource 22 – finding fractions, pegs and string. Students place their fractions on the number line. Observe student strategies, supporting students to record zero and one on the number line first.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necessary, model using a half and a quarter as benchmark fractions to assist in placing other fractions on the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fractions were easiest to place and which were more challenging? Why?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 group any fractions to make them easier to place? For example, halves, quarters and eighths.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prove that one fifth is smaller than one half? Explain your thinking.</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Activity 3 – pattern block fractions</a:t>
            </a:r>
          </a:p>
          <a:p>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representing quantity fractions on the number line as numbers, rather than parts of a set of discrete items, relies on identifying ‘1’ as the abstract numerical unit that all numbers, including fractions, reference.</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a yellow hexagonal pattern block and state that for this task, the yellow hexagon represents one whole. One whole is always represented as ‘1’ on the number line.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pairs with a collection of pattern blocks and have them determine the fractional part of the red, blue and green blocks in relation to the yellow hexagon, one whole. (red = one half, blue = one third and green =one sixth).</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Model recording these fractions on a number line.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to place a blue block on top of a yellow block and a green block on a red block. Students think-pair-share what they notice and what they wonder about these fractional representations.</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Anticipated students’ responses:</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b="1" kern="1200" dirty="0">
                <a:solidFill>
                  <a:schemeClr val="tx1"/>
                </a:solidFill>
                <a:effectLst/>
                <a:latin typeface="Arial" panose="020B0604020202020204" pitchFamily="34" charset="0"/>
                <a:ea typeface="+mn-ea"/>
                <a:cs typeface="Arial" panose="020B0604020202020204" pitchFamily="34" charset="0"/>
              </a:rPr>
              <a:t>What did you notice </a:t>
            </a:r>
          </a:p>
          <a:p>
            <a:pPr lvl="0"/>
            <a:r>
              <a:rPr lang="en-AU" sz="1600" kern="1200" dirty="0">
                <a:solidFill>
                  <a:schemeClr val="tx1"/>
                </a:solidFill>
                <a:effectLst/>
                <a:latin typeface="Arial" panose="020B0604020202020204" pitchFamily="34" charset="0"/>
                <a:ea typeface="+mn-ea"/>
                <a:cs typeface="Arial" panose="020B0604020202020204" pitchFamily="34" charset="0"/>
              </a:rPr>
              <a:t>Both show one-third of a whole.</a:t>
            </a:r>
          </a:p>
          <a:p>
            <a:pPr lvl="0"/>
            <a:r>
              <a:rPr lang="en-AU" sz="1600" kern="1200" dirty="0">
                <a:solidFill>
                  <a:schemeClr val="tx1"/>
                </a:solidFill>
                <a:effectLst/>
                <a:latin typeface="Arial" panose="020B0604020202020204" pitchFamily="34" charset="0"/>
                <a:ea typeface="+mn-ea"/>
                <a:cs typeface="Arial" panose="020B0604020202020204" pitchFamily="34" charset="0"/>
              </a:rPr>
              <a:t>I can see each represents one-third of the whole block because if I had 3 blue rhombuses, I would cover the whole yellow block.</a:t>
            </a:r>
          </a:p>
          <a:p>
            <a:pPr lvl="0"/>
            <a:r>
              <a:rPr lang="en-AU" sz="1600" kern="1200" dirty="0">
                <a:solidFill>
                  <a:schemeClr val="tx1"/>
                </a:solidFill>
                <a:effectLst/>
                <a:latin typeface="Arial" panose="020B0604020202020204" pitchFamily="34" charset="0"/>
                <a:ea typeface="+mn-ea"/>
                <a:cs typeface="Arial" panose="020B0604020202020204" pitchFamily="34" charset="0"/>
              </a:rPr>
              <a:t>The third represented by the blue rhombus is larger than the third represented by the green triangle.</a:t>
            </a:r>
          </a:p>
          <a:p>
            <a:r>
              <a:rPr lang="en-AU" sz="1600" kern="1200" dirty="0">
                <a:solidFill>
                  <a:schemeClr val="tx1"/>
                </a:solidFill>
                <a:effectLst/>
                <a:latin typeface="Arial" panose="020B0604020202020204" pitchFamily="34" charset="0"/>
                <a:ea typeface="+mn-ea"/>
                <a:cs typeface="Arial" panose="020B0604020202020204" pitchFamily="34" charset="0"/>
              </a:rPr>
              <a:t>If I placed the blue rhombus in a different position on the yellow hexagon, or the green triangle in a different position on the red trapezium, it would still represent a third.</a:t>
            </a:r>
          </a:p>
          <a:p>
            <a:pPr marL="285750" indent="-285750">
              <a:buFont typeface="Arial" panose="020B0604020202020204" pitchFamily="34" charset="0"/>
              <a:buChar char="•"/>
            </a:pPr>
            <a:r>
              <a:rPr lang="en-AU" sz="1600" b="1" kern="1200" dirty="0">
                <a:solidFill>
                  <a:schemeClr val="tx1"/>
                </a:solidFill>
                <a:effectLst/>
                <a:latin typeface="Arial" panose="020B0604020202020204" pitchFamily="34" charset="0"/>
                <a:ea typeface="+mn-ea"/>
                <a:cs typeface="Arial" panose="020B0604020202020204" pitchFamily="34" charset="0"/>
              </a:rPr>
              <a:t>What did you wonder?</a:t>
            </a:r>
          </a:p>
          <a:p>
            <a:pPr lvl="0"/>
            <a:r>
              <a:rPr lang="en-AU" sz="1600" kern="1200" dirty="0">
                <a:solidFill>
                  <a:schemeClr val="tx1"/>
                </a:solidFill>
                <a:effectLst/>
                <a:latin typeface="Arial" panose="020B0604020202020204" pitchFamily="34" charset="0"/>
                <a:ea typeface="+mn-ea"/>
                <a:cs typeface="Arial" panose="020B0604020202020204" pitchFamily="34" charset="0"/>
              </a:rPr>
              <a:t>I wonder if these representations show equivalent fractions?</a:t>
            </a:r>
          </a:p>
          <a:p>
            <a:r>
              <a:rPr lang="en-AU" sz="1600" kern="1200" dirty="0">
                <a:solidFill>
                  <a:schemeClr val="tx1"/>
                </a:solidFill>
                <a:effectLst/>
                <a:latin typeface="Arial" panose="020B0604020202020204" pitchFamily="34" charset="0"/>
                <a:ea typeface="+mn-ea"/>
                <a:cs typeface="Arial" panose="020B0604020202020204" pitchFamily="34" charset="0"/>
              </a:rPr>
              <a:t>I wonder if I placed a blue rhombus on the red trapezium, would it still represent one-third of the whole?</a:t>
            </a:r>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B</a:t>
            </a: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 </a:t>
            </a:r>
            <a:r>
              <a:rPr lang="en-AU" sz="1600" b="0" i="0" kern="1200">
                <a:solidFill>
                  <a:schemeClr val="tx1"/>
                </a:solidFill>
                <a:effectLst/>
                <a:latin typeface="Arial" panose="020B0604020202020204" pitchFamily="34" charset="0"/>
                <a:ea typeface="+mn-ea"/>
                <a:cs typeface="Arial" panose="020B0604020202020204" pitchFamily="34" charset="0"/>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a:p>
          <a:p>
            <a:r>
              <a:rPr lang="en-AU" b="1"/>
              <a:t>Activity 4 – pattern block fractions challenge</a:t>
            </a:r>
          </a:p>
          <a:p>
            <a:pPr marL="285750" lvl="0" indent="-285750">
              <a:buFont typeface="Arial" panose="020B0604020202020204" pitchFamily="34" charset="0"/>
              <a:buChar char="•"/>
            </a:pPr>
            <a:r>
              <a:rPr lang="en-AU" sz="1600" b="0" kern="1200">
                <a:solidFill>
                  <a:schemeClr val="tx1"/>
                </a:solidFill>
                <a:effectLst/>
                <a:latin typeface="Arial" panose="020B0604020202020204" pitchFamily="34" charset="0"/>
                <a:ea typeface="+mn-ea"/>
                <a:cs typeface="Arial" panose="020B0604020202020204" pitchFamily="34" charset="0"/>
              </a:rPr>
              <a:t>Revise Activity 3 using a range of pattern blocks. Select a pattern block and explain that it represents one whole. Revise that one whole is always represented a</a:t>
            </a:r>
            <a:r>
              <a:rPr lang="en-AU" sz="1600" kern="1200">
                <a:solidFill>
                  <a:schemeClr val="tx1"/>
                </a:solidFill>
                <a:effectLst/>
                <a:latin typeface="Arial" panose="020B0604020202020204" pitchFamily="34" charset="0"/>
                <a:ea typeface="+mn-ea"/>
                <a:cs typeface="Arial" panose="020B0604020202020204" pitchFamily="34" charset="0"/>
              </a:rPr>
              <a:t>s one on the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a collection of pattern blocks. Explain the activity: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first student chooses a large pattern block to represent the whole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first student covers part of the shape with a smaller pattern block. This represents a fraction of the whole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second student covers the rest of the whole with different pattern blocks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student records this as a number sentence, using fractions with the same denominator (for example, 4-sixths plus one-third equals 4-sixths plus 2-sixths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together, students determine and record both fractional parts represented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these fractions on a number line, showing that they make a common whole.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repeat the activity.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b="1"/>
              <a:t>Activity 5 – factors and multiples game</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Factors and Multiples Game from NRICH by University of Cambridge.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the interactive game Factors and Multiples. Choose an even number less than 50 and cross it out on the grid. Then choose a number to cross out that is a factor or multiple of the first number.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Continue to play, modelling the language of factors and multiples. See how many numbers can be crossed out in the time available. Keep a record of this number as students will probably want to play this game multiple times.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Some students may enjoy the challenge of playing the game in pairs, with the last person able to cross out a number being the winner.</a:t>
            </a:r>
          </a:p>
          <a:p>
            <a:pPr marL="285750" indent="-285750">
              <a:buFont typeface="Arial" panose="020B0604020202020204" pitchFamily="34" charset="0"/>
              <a:buChar char="•"/>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b="1"/>
              <a:t>Activity 6 – 4 products in a row</a:t>
            </a:r>
          </a:p>
          <a:p>
            <a:r>
              <a:rPr lang="en-AU" b="0"/>
              <a:t>This resource corresponds to Resource 23 – ‘Product game’ in Stage 3 Year A Unit 4.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aim is to get 4 squares in a row vertically, horizontally, or diagonally by multiplying 2 numbers each time to find a product. Explain that the term </a:t>
            </a:r>
            <a:r>
              <a:rPr lang="en-AU" sz="1600" i="1" kern="1200">
                <a:solidFill>
                  <a:schemeClr val="tx1"/>
                </a:solidFill>
                <a:effectLst/>
                <a:latin typeface="Arial" panose="020B0604020202020204" pitchFamily="34" charset="0"/>
                <a:ea typeface="+mn-ea"/>
                <a:cs typeface="Arial" panose="020B0604020202020204" pitchFamily="34" charset="0"/>
              </a:rPr>
              <a:t>product</a:t>
            </a:r>
            <a:r>
              <a:rPr lang="en-AU" sz="1600" kern="1200">
                <a:solidFill>
                  <a:schemeClr val="tx1"/>
                </a:solidFill>
                <a:effectLst/>
                <a:latin typeface="Arial" panose="020B0604020202020204" pitchFamily="34" charset="0"/>
                <a:ea typeface="+mn-ea"/>
                <a:cs typeface="Arial" panose="020B0604020202020204" pitchFamily="34" charset="0"/>
              </a:rPr>
              <a:t> is used to describe the result (answer) of multiplying 2 or more numbers.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the game as Player 1 and the computer as Player 2.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To begin the game: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1 moves a marker (a green square) to a number in the factor list from 1–9 along the bottom of the screen.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2 moves the other marker (also a green square) to any number in the factor list. This includes the number marked by Player 1. Player 2 determines the product of the 2 marked numbers and colours them red.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1 moves a marker to another number and colours the new product blue.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take turns moving a marker. Each product is marked red or blue, depending on the player. Note, if a product is already coloured, the player does not get a square for that turn.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 continues until one player finds 4 products in a vertical, horizontal or diagonal row, or until all squares have been coloured.</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if there is no access to the interactive gameboard, play the game using Resource 23 – ‘Product game’ and transparent counters.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Distribute devices to students to play the game in pairs. Some students may enjoy playing a more challenging version of the game using Resource 24 – modified ‘Product game’ (see slide 46).</a:t>
            </a:r>
          </a:p>
          <a:p>
            <a:pPr marL="285750" lvl="0" indent="-285750">
              <a:buFont typeface="Arial" panose="020B0604020202020204" pitchFamily="34" charset="0"/>
              <a:buChar char="•"/>
            </a:pPr>
            <a:r>
              <a:rPr lang="en-AU" sz="1600" u="none" kern="1200">
                <a:solidFill>
                  <a:schemeClr val="tx1"/>
                </a:solidFill>
                <a:effectLst/>
                <a:latin typeface="Arial" panose="020B0604020202020204" pitchFamily="34" charset="0"/>
                <a:ea typeface="+mn-ea"/>
                <a:cs typeface="Arial" panose="020B0604020202020204" pitchFamily="34" charset="0"/>
              </a:rPr>
              <a:t>Display Resource 25  </a:t>
            </a:r>
            <a:r>
              <a:rPr lang="en-AU" sz="1600" kern="1200">
                <a:solidFill>
                  <a:schemeClr val="tx1"/>
                </a:solidFill>
                <a:effectLst/>
                <a:latin typeface="Arial" panose="020B0604020202020204" pitchFamily="34" charset="0"/>
                <a:ea typeface="+mn-ea"/>
                <a:cs typeface="Arial" panose="020B0604020202020204" pitchFamily="34" charset="0"/>
              </a:rPr>
              <a:t>– ‘Product game’ questions, for students to discuss as they finish their game (see slide 47).</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8CB77-5E46-CCDB-C5E0-93AED5C4A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16A87-F921-26F7-18D3-4EEB55A33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1A10C-933A-DC9F-6ADF-AB60EF7FA5BE}"/>
              </a:ext>
            </a:extLst>
          </p:cNvPr>
          <p:cNvSpPr>
            <a:spLocks noGrp="1"/>
          </p:cNvSpPr>
          <p:nvPr>
            <p:ph type="body" idx="1"/>
          </p:nvPr>
        </p:nvSpPr>
        <p:spPr/>
        <p:txBody>
          <a:bodyPr/>
          <a:lstStyle/>
          <a:p>
            <a:r>
              <a:rPr lang="en-AU" b="1"/>
              <a:t>Activity 6 – 4 products in a row (continued)</a:t>
            </a:r>
          </a:p>
          <a:p>
            <a:r>
              <a:rPr lang="en-AU" b="0"/>
              <a:t>This resource corresponds to Resource 24 – modified ‘Product game’ in Stage 3 Year A Unit 4 and provides a more challenging version of the game.</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C7E7A533-D9A2-2E83-9AA1-16474B417EAB}"/>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24157701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F9624-6380-B143-E12F-93644C8EC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20737-992F-4290-ECF4-C33A8714B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8CA44-A468-92F2-F09A-34B092D5CE24}"/>
              </a:ext>
            </a:extLst>
          </p:cNvPr>
          <p:cNvSpPr>
            <a:spLocks noGrp="1"/>
          </p:cNvSpPr>
          <p:nvPr>
            <p:ph type="body" idx="1"/>
          </p:nvPr>
        </p:nvSpPr>
        <p:spPr/>
        <p:txBody>
          <a:bodyPr/>
          <a:lstStyle/>
          <a:p>
            <a:r>
              <a:rPr lang="en-AU" b="1"/>
              <a:t>Activity 6 – 4 products in a row (continued)</a:t>
            </a:r>
          </a:p>
          <a:p>
            <a:r>
              <a:rPr lang="en-AU" b="0"/>
              <a:t>This resource corresponds to Resource 25 – modified ‘Product game’ questions in Stage 3 Year A Unit 4. </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2F64B614-A9F2-6158-F065-48276765551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835789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 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3D objects </a:t>
            </a:r>
            <a:r>
              <a:rPr lang="en-AU" sz="1600" b="0" i="0" kern="1200">
                <a:solidFill>
                  <a:schemeClr val="tx1"/>
                </a:solidFill>
                <a:effectLst/>
                <a:latin typeface="Arial" panose="020B0604020202020204" pitchFamily="34" charset="0"/>
                <a:ea typeface="+mn-ea"/>
                <a:cs typeface="Arial" panose="020B0604020202020204" pitchFamily="34" charset="0"/>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Activity 7 – improve your strategies</a:t>
            </a:r>
          </a:p>
          <a:p>
            <a:r>
              <a:rPr lang="en-AU" b="0"/>
              <a:t>This resource corresponds to Resource 25 – ‘Product Game’ questions in Stage 3 Year A Unit 4.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how to play the ‘Product Game’ from Activity 6.</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Use the questions on this slide to support students to improve the strategies they use to try and win the game.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play the game again, trying to improve their use of strategies.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students finish, ask them to explain how they tried to improve their strategies from the previous game. This includes discussing what worked, what didn’t and why.</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 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Two-dimensional spatial structure B: 2D shapes </a:t>
            </a:r>
            <a:r>
              <a:rPr lang="en-AU" sz="1600" b="0" i="0" kern="1200">
                <a:solidFill>
                  <a:schemeClr val="tx1"/>
                </a:solidFill>
                <a:effectLst/>
                <a:latin typeface="Arial" panose="020B0604020202020204" pitchFamily="34" charset="0"/>
                <a:ea typeface="+mn-ea"/>
                <a:cs typeface="Arial" panose="020B0604020202020204" pitchFamily="34" charset="0"/>
              </a:rPr>
              <a:t>(Note: Stage 2 content reviewed)</a:t>
            </a:r>
            <a:endParaRPr lang="en-AU" b="0"/>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a:p>
          <a:p>
            <a:r>
              <a:rPr lang="en-AU" b="1"/>
              <a:t>Activity 8 – product strategies</a:t>
            </a:r>
          </a:p>
          <a:p>
            <a:r>
              <a:rPr lang="en-AU" b="0"/>
              <a:t>This resource corresponds to Resource 24 – modified ‘Product game’ in Stage 3 Year A Unit 4.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the ‘Product Game’ from Activity 6. Review the strategies they used to pick a product to win the game or win the game in less moves.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copies of Resource 24 – modified ‘Product game’. Explain that this activity includes numbers up to 144.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they play, students aim to improve the strategies they use.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students finish, ask them to explain how they improved their strategies from the previous game. Discussing which strategies worked, which didn’t and why.</a:t>
            </a:r>
          </a:p>
          <a:p>
            <a:pPr marL="0" lvl="0" indent="0">
              <a:buFont typeface="Arial" panose="020B0604020202020204" pitchFamily="34" charset="0"/>
              <a:buNone/>
            </a:pPr>
            <a:br>
              <a:rPr lang="en-AU" sz="1600" kern="1200">
                <a:solidFill>
                  <a:schemeClr val="tx1"/>
                </a:solidFill>
                <a:effectLst/>
                <a:latin typeface="Arial" panose="020B0604020202020204" pitchFamily="34" charset="0"/>
                <a:ea typeface="+mn-ea"/>
                <a:cs typeface="Arial" panose="020B0604020202020204" pitchFamily="34" charset="0"/>
              </a:rPr>
            </a:br>
            <a:r>
              <a:rPr lang="en-AU" sz="1600" kern="1200">
                <a:solidFill>
                  <a:schemeClr val="tx1"/>
                </a:solidFill>
                <a:effectLst/>
                <a:latin typeface="Arial" panose="020B0604020202020204" pitchFamily="34" charset="0"/>
                <a:ea typeface="+mn-ea"/>
                <a:cs typeface="Arial" panose="020B0604020202020204" pitchFamily="34" charset="0"/>
              </a:rPr>
              <a:t> </a:t>
            </a:r>
          </a:p>
          <a:p>
            <a:pPr marL="285750" indent="-285750">
              <a:buFont typeface="Arial" panose="020B0604020202020204" pitchFamily="34" charset="0"/>
              <a:buChar char="•"/>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8898F-69C7-2A60-8087-F2FA4E83F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5A4F2-ABD7-6DA6-E600-D60805D58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0516E-6238-AEF7-09F3-7FA4EC8D0E4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3FDA7E8-C9C3-0041-B671-DA6C0D363D6E}"/>
              </a:ext>
            </a:extLst>
          </p:cNvPr>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7184038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8.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6.png"/><Relationship Id="rId7" Type="http://schemas.openxmlformats.org/officeDocument/2006/relationships/image" Target="../media/image31.sv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33.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hyperlink" Target="https://nrich.maths.org/5468" TargetMode="Externa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38.jpeg"/><Relationship Id="rId5" Type="http://schemas.openxmlformats.org/officeDocument/2006/relationships/hyperlink" Target="https://www.nctm.org/Classroom-Resources/Illuminations/Interactives/Product-Game/" TargetMode="Externa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hyperlink" Target="https://www.nctm.org/Classroom-Resources/Illuminations/Interactives/Product-Game/" TargetMode="Externa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4.png"/></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1.xml"/><Relationship Id="rId1" Type="http://schemas.openxmlformats.org/officeDocument/2006/relationships/slideLayout" Target="../slideLayouts/slideLayout4.xml"/><Relationship Id="rId6" Type="http://schemas.openxmlformats.org/officeDocument/2006/relationships/image" Target="../media/image48.jpeg"/><Relationship Id="rId5" Type="http://schemas.openxmlformats.org/officeDocument/2006/relationships/image" Target="../media/image43.png"/><Relationship Id="rId4" Type="http://schemas.openxmlformats.org/officeDocument/2006/relationships/hyperlink" Target="https://www.nctm.org/Classroom-Resources/Illuminations/Interactives/Product-Game/"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slide" Target="slide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5468" TargetMode="External"/><Relationship Id="rId5" Type="http://schemas.openxmlformats.org/officeDocument/2006/relationships/hyperlink" Target="https://curriculum.nsw.edu.au/" TargetMode="External"/><Relationship Id="rId10" Type="http://schemas.openxmlformats.org/officeDocument/2006/relationships/hyperlink" Target="https://resources.education.nsw.gov.au/detail/A-39"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urriculum.nsw.edu.au/learning-areas/mathematics/mathematics-k-10-2022/content/stage-3/fac8227f10?show=advice"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resources.education.nsw.gov.au/detail/A-39"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3 Year A Unit 4.</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4</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474481" y="1004387"/>
                <a:ext cx="11243037" cy="893226"/>
              </a:xfrm>
            </p:spPr>
            <p:txBody>
              <a:bodyPr/>
              <a:lstStyle/>
              <a:p>
                <a:pPr algn="ctr"/>
                <a:r>
                  <a:rPr lang="en-US" sz="3600" dirty="0"/>
                  <a:t>Delilah was asked to </a:t>
                </a:r>
                <a:r>
                  <a:rPr lang="en-US" sz="3600" b="1" dirty="0"/>
                  <a:t>order</a:t>
                </a:r>
                <a:r>
                  <a:rPr lang="en-US" sz="3600" dirty="0"/>
                  <a:t> the following </a:t>
                </a:r>
                <a:r>
                  <a:rPr lang="en-US" sz="3600" b="1" dirty="0"/>
                  <a:t>unit fractions </a:t>
                </a:r>
                <a:r>
                  <a:rPr lang="en-US" sz="3600" dirty="0"/>
                  <a:t>on a number line: </a:t>
                </a:r>
                <a14:m>
                  <m:oMath xmlns:m="http://schemas.openxmlformats.org/officeDocument/2006/math">
                    <m:f>
                      <m:fPr>
                        <m:ctrlPr>
                          <a:rPr lang="en-AU" sz="3600" i="1">
                            <a:latin typeface="Cambria Math" panose="02040503050406030204" pitchFamily="18" charset="0"/>
                          </a:rPr>
                        </m:ctrlPr>
                      </m:fPr>
                      <m:num>
                        <m:r>
                          <a:rPr lang="en-AU" sz="3600" i="1">
                            <a:latin typeface="Cambria Math" panose="02040503050406030204" pitchFamily="18" charset="0"/>
                          </a:rPr>
                          <m:t>1</m:t>
                        </m:r>
                      </m:num>
                      <m:den>
                        <m:r>
                          <a:rPr lang="en-AU" sz="3600" b="0" i="1" smtClean="0">
                            <a:latin typeface="Cambria Math" panose="02040503050406030204" pitchFamily="18" charset="0"/>
                          </a:rPr>
                          <m:t>6</m:t>
                        </m:r>
                      </m:den>
                    </m:f>
                  </m:oMath>
                </a14:m>
                <a:r>
                  <a:rPr lang="en-AU" sz="3600" dirty="0"/>
                  <a:t>, </a:t>
                </a:r>
                <a14:m>
                  <m:oMath xmlns:m="http://schemas.openxmlformats.org/officeDocument/2006/math">
                    <m:f>
                      <m:fPr>
                        <m:ctrlPr>
                          <a:rPr lang="en-AU" sz="3600" i="1">
                            <a:latin typeface="Cambria Math" panose="02040503050406030204" pitchFamily="18" charset="0"/>
                          </a:rPr>
                        </m:ctrlPr>
                      </m:fPr>
                      <m:num>
                        <m:r>
                          <a:rPr lang="en-AU" sz="3600" i="1">
                            <a:latin typeface="Cambria Math" panose="02040503050406030204" pitchFamily="18" charset="0"/>
                          </a:rPr>
                          <m:t>1</m:t>
                        </m:r>
                      </m:num>
                      <m:den>
                        <m:r>
                          <a:rPr lang="en-AU" sz="3600" i="1">
                            <a:latin typeface="Cambria Math" panose="02040503050406030204" pitchFamily="18" charset="0"/>
                          </a:rPr>
                          <m:t>10</m:t>
                        </m:r>
                      </m:den>
                    </m:f>
                  </m:oMath>
                </a14:m>
                <a:r>
                  <a:rPr lang="en-AU" sz="3600" dirty="0"/>
                  <a:t>, </a:t>
                </a:r>
                <a14:m>
                  <m:oMath xmlns:m="http://schemas.openxmlformats.org/officeDocument/2006/math">
                    <m:f>
                      <m:fPr>
                        <m:ctrlPr>
                          <a:rPr lang="en-AU" sz="3600" i="1">
                            <a:latin typeface="Cambria Math" panose="02040503050406030204" pitchFamily="18" charset="0"/>
                          </a:rPr>
                        </m:ctrlPr>
                      </m:fPr>
                      <m:num>
                        <m:r>
                          <a:rPr lang="en-AU" sz="3600" i="1">
                            <a:latin typeface="Cambria Math" panose="02040503050406030204" pitchFamily="18" charset="0"/>
                          </a:rPr>
                          <m:t>1</m:t>
                        </m:r>
                      </m:num>
                      <m:den>
                        <m:r>
                          <a:rPr lang="en-AU" sz="3600" b="0" i="1" smtClean="0">
                            <a:latin typeface="Cambria Math" panose="02040503050406030204" pitchFamily="18" charset="0"/>
                          </a:rPr>
                          <m:t>2</m:t>
                        </m:r>
                      </m:den>
                    </m:f>
                  </m:oMath>
                </a14:m>
                <a:r>
                  <a:rPr lang="en-AU" sz="3600" dirty="0"/>
                  <a:t>, </a:t>
                </a:r>
                <a14:m>
                  <m:oMath xmlns:m="http://schemas.openxmlformats.org/officeDocument/2006/math">
                    <m:f>
                      <m:fPr>
                        <m:ctrlPr>
                          <a:rPr lang="en-AU" sz="3600" i="1">
                            <a:latin typeface="Cambria Math" panose="02040503050406030204" pitchFamily="18" charset="0"/>
                          </a:rPr>
                        </m:ctrlPr>
                      </m:fPr>
                      <m:num>
                        <m:r>
                          <a:rPr lang="en-AU" sz="3600" i="1">
                            <a:latin typeface="Cambria Math" panose="02040503050406030204" pitchFamily="18" charset="0"/>
                          </a:rPr>
                          <m:t>1</m:t>
                        </m:r>
                      </m:num>
                      <m:den>
                        <m:r>
                          <a:rPr lang="en-AU" sz="3600" b="0" i="1" smtClean="0">
                            <a:latin typeface="Cambria Math" panose="02040503050406030204" pitchFamily="18" charset="0"/>
                          </a:rPr>
                          <m:t>8</m:t>
                        </m:r>
                      </m:den>
                    </m:f>
                    <m:r>
                      <a:rPr lang="en-AU" sz="3600" b="0" i="0" smtClean="0">
                        <a:latin typeface="Cambria Math" panose="02040503050406030204" pitchFamily="18" charset="0"/>
                      </a:rPr>
                      <m:t> </m:t>
                    </m:r>
                    <m:r>
                      <m:rPr>
                        <m:sty m:val="p"/>
                      </m:rPr>
                      <a:rPr lang="en-AU" sz="3600" b="0" i="0" smtClean="0">
                        <a:latin typeface="Cambria Math" panose="02040503050406030204" pitchFamily="18" charset="0"/>
                      </a:rPr>
                      <m:t>and</m:t>
                    </m:r>
                  </m:oMath>
                </a14:m>
                <a:r>
                  <a:rPr lang="en-AU" sz="3200" dirty="0"/>
                  <a:t> </a:t>
                </a:r>
                <a14:m>
                  <m:oMath xmlns:m="http://schemas.openxmlformats.org/officeDocument/2006/math">
                    <m:f>
                      <m:fPr>
                        <m:ctrlPr>
                          <a:rPr lang="en-AU" sz="3600" i="1">
                            <a:latin typeface="Cambria Math" panose="02040503050406030204" pitchFamily="18" charset="0"/>
                          </a:rPr>
                        </m:ctrlPr>
                      </m:fPr>
                      <m:num>
                        <m:r>
                          <a:rPr lang="en-AU" sz="3600" i="1">
                            <a:latin typeface="Cambria Math" panose="02040503050406030204" pitchFamily="18" charset="0"/>
                          </a:rPr>
                          <m:t>1</m:t>
                        </m:r>
                      </m:num>
                      <m:den>
                        <m:r>
                          <a:rPr lang="en-AU" sz="3600" b="0" i="1" smtClean="0">
                            <a:latin typeface="Cambria Math" panose="02040503050406030204" pitchFamily="18" charset="0"/>
                          </a:rPr>
                          <m:t>3</m:t>
                        </m:r>
                      </m:den>
                    </m:f>
                    <m:r>
                      <a:rPr lang="en-AU" sz="3600" b="0" i="0" smtClean="0">
                        <a:latin typeface="Cambria Math" panose="02040503050406030204" pitchFamily="18" charset="0"/>
                      </a:rPr>
                      <m:t>.</m:t>
                    </m:r>
                  </m:oMath>
                </a14:m>
                <a:endParaRPr lang="en-US" sz="5400" dirty="0"/>
              </a:p>
              <a:p>
                <a:pPr algn="ctr"/>
                <a:r>
                  <a:rPr lang="en-US" sz="3600" dirty="0"/>
                  <a:t>Which unit fraction should she order </a:t>
                </a:r>
                <a:r>
                  <a:rPr lang="en-US" sz="3600" b="1" dirty="0"/>
                  <a:t>closest</a:t>
                </a:r>
                <a:r>
                  <a:rPr lang="en-US" sz="3600" dirty="0"/>
                  <a:t> to </a:t>
                </a:r>
                <a:r>
                  <a:rPr lang="en-US" sz="3600" b="1" dirty="0"/>
                  <a:t>0</a:t>
                </a:r>
                <a:r>
                  <a:rPr lang="en-US" sz="3600" dirty="0"/>
                  <a:t>?</a:t>
                </a:r>
              </a:p>
            </p:txBody>
          </p:sp>
        </mc:Choice>
        <mc:Fallback xmlns="">
          <p:sp>
            <p:nvSpPr>
              <p:cNvPr id="18" name="Text Placeholder 17">
                <a:extLst>
                  <a:ext uri="{FF2B5EF4-FFF2-40B4-BE49-F238E27FC236}">
                    <a16:creationId xmlns:a16="http://schemas.microsoft.com/office/drawing/2014/main" id="{8CC6182B-05A0-DCFF-C12E-FB8272E0C6A8}"/>
                  </a:ext>
                </a:extLst>
              </p:cNvPr>
              <p:cNvSpPr>
                <a:spLocks noGrp="1" noRot="1" noChangeAspect="1" noMove="1" noResize="1" noEditPoints="1" noAdjustHandles="1" noChangeArrowheads="1" noChangeShapeType="1" noTextEdit="1"/>
              </p:cNvSpPr>
              <p:nvPr>
                <p:ph type="body" sz="quarter" idx="24"/>
              </p:nvPr>
            </p:nvSpPr>
            <p:spPr>
              <a:xfrm>
                <a:off x="474481" y="1004387"/>
                <a:ext cx="11243037" cy="893226"/>
              </a:xfrm>
              <a:blipFill>
                <a:blip r:embed="rId3"/>
                <a:stretch>
                  <a:fillRect l="-2278" r="-3200" b="-243836"/>
                </a:stretch>
              </a:blipFill>
            </p:spPr>
            <p:txBody>
              <a:bodyPr/>
              <a:lstStyle/>
              <a:p>
                <a:r>
                  <a:rPr lang="en-AU">
                    <a:noFill/>
                  </a:rPr>
                  <a:t> </a:t>
                </a:r>
              </a:p>
            </p:txBody>
          </p:sp>
        </mc:Fallback>
      </mc:AlternateContent>
      <p:sp>
        <p:nvSpPr>
          <p:cNvPr id="9" name="TextBox 8">
            <a:extLst>
              <a:ext uri="{FF2B5EF4-FFF2-40B4-BE49-F238E27FC236}">
                <a16:creationId xmlns:a16="http://schemas.microsoft.com/office/drawing/2014/main" id="{055D882C-AF43-C390-844D-CF785253532C}"/>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4"/>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4A1A4CE-60AE-697F-E7DB-BA4175C0A21A}"/>
                  </a:ext>
                </a:extLst>
              </p:cNvPr>
              <p:cNvSpPr txBox="1"/>
              <p:nvPr/>
            </p:nvSpPr>
            <p:spPr>
              <a:xfrm>
                <a:off x="1759208" y="5590810"/>
                <a:ext cx="529429" cy="9251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i="1">
                              <a:latin typeface="Cambria Math" panose="02040503050406030204" pitchFamily="18" charset="0"/>
                            </a:rPr>
                            <m:t>1</m:t>
                          </m:r>
                        </m:num>
                        <m:den>
                          <m:r>
                            <a:rPr lang="en-AU" sz="3200" b="0" i="1" smtClean="0">
                              <a:latin typeface="Cambria Math" panose="02040503050406030204" pitchFamily="18" charset="0"/>
                            </a:rPr>
                            <m:t>8</m:t>
                          </m:r>
                        </m:den>
                      </m:f>
                    </m:oMath>
                  </m:oMathPara>
                </a14:m>
                <a:endParaRPr lang="en-US" sz="4800" b="1"/>
              </a:p>
            </p:txBody>
          </p:sp>
        </mc:Choice>
        <mc:Fallback xmlns="">
          <p:sp>
            <p:nvSpPr>
              <p:cNvPr id="20" name="TextBox 19">
                <a:extLst>
                  <a:ext uri="{FF2B5EF4-FFF2-40B4-BE49-F238E27FC236}">
                    <a16:creationId xmlns:a16="http://schemas.microsoft.com/office/drawing/2014/main" id="{24A1A4CE-60AE-697F-E7DB-BA4175C0A21A}"/>
                  </a:ext>
                </a:extLst>
              </p:cNvPr>
              <p:cNvSpPr txBox="1">
                <a:spLocks noRot="1" noChangeAspect="1" noMove="1" noResize="1" noEditPoints="1" noAdjustHandles="1" noChangeArrowheads="1" noChangeShapeType="1" noTextEdit="1"/>
              </p:cNvSpPr>
              <p:nvPr/>
            </p:nvSpPr>
            <p:spPr>
              <a:xfrm>
                <a:off x="1759208" y="5590810"/>
                <a:ext cx="529429" cy="92519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C5315AA-40FF-CA29-CABD-5B63251D4CE1}"/>
                  </a:ext>
                </a:extLst>
              </p:cNvPr>
              <p:cNvSpPr txBox="1"/>
              <p:nvPr/>
            </p:nvSpPr>
            <p:spPr>
              <a:xfrm>
                <a:off x="4785450" y="5572810"/>
                <a:ext cx="529429" cy="9251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f>
                        <m:fPr>
                          <m:ctrlPr>
                            <a:rPr lang="en-AU" sz="3200" i="1">
                              <a:latin typeface="Cambria Math" panose="02040503050406030204" pitchFamily="18" charset="0"/>
                            </a:rPr>
                          </m:ctrlPr>
                        </m:fPr>
                        <m:num>
                          <m:r>
                            <a:rPr lang="en-AU" sz="3200" i="1">
                              <a:latin typeface="Cambria Math" panose="02040503050406030204" pitchFamily="18" charset="0"/>
                            </a:rPr>
                            <m:t>1</m:t>
                          </m:r>
                        </m:num>
                        <m:den>
                          <m:r>
                            <a:rPr lang="en-AU" sz="3200" i="1">
                              <a:latin typeface="Cambria Math" panose="02040503050406030204" pitchFamily="18" charset="0"/>
                            </a:rPr>
                            <m:t>6</m:t>
                          </m:r>
                        </m:den>
                      </m:f>
                    </m:oMath>
                  </m:oMathPara>
                </a14:m>
                <a:endParaRPr lang="en-US" sz="4800" b="1"/>
              </a:p>
            </p:txBody>
          </p:sp>
        </mc:Choice>
        <mc:Fallback xmlns="">
          <p:sp>
            <p:nvSpPr>
              <p:cNvPr id="21" name="TextBox 20">
                <a:extLst>
                  <a:ext uri="{FF2B5EF4-FFF2-40B4-BE49-F238E27FC236}">
                    <a16:creationId xmlns:a16="http://schemas.microsoft.com/office/drawing/2014/main" id="{EC5315AA-40FF-CA29-CABD-5B63251D4CE1}"/>
                  </a:ext>
                </a:extLst>
              </p:cNvPr>
              <p:cNvSpPr txBox="1">
                <a:spLocks noRot="1" noChangeAspect="1" noMove="1" noResize="1" noEditPoints="1" noAdjustHandles="1" noChangeArrowheads="1" noChangeShapeType="1" noTextEdit="1"/>
              </p:cNvSpPr>
              <p:nvPr/>
            </p:nvSpPr>
            <p:spPr>
              <a:xfrm>
                <a:off x="4785450" y="5572810"/>
                <a:ext cx="529429" cy="92519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8D922AE-7D1A-55DA-BF87-E6F17387E7B8}"/>
                  </a:ext>
                </a:extLst>
              </p:cNvPr>
              <p:cNvSpPr txBox="1"/>
              <p:nvPr/>
            </p:nvSpPr>
            <p:spPr>
              <a:xfrm>
                <a:off x="7811692" y="5592999"/>
                <a:ext cx="529429" cy="9251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i="1">
                              <a:latin typeface="Cambria Math" panose="02040503050406030204" pitchFamily="18" charset="0"/>
                            </a:rPr>
                            <m:t>1</m:t>
                          </m:r>
                        </m:num>
                        <m:den>
                          <m:r>
                            <a:rPr lang="en-AU" sz="3200" b="0" i="1" smtClean="0">
                              <a:latin typeface="Cambria Math" panose="02040503050406030204" pitchFamily="18" charset="0"/>
                            </a:rPr>
                            <m:t>3</m:t>
                          </m:r>
                        </m:den>
                      </m:f>
                    </m:oMath>
                  </m:oMathPara>
                </a14:m>
                <a:endParaRPr lang="en-US" sz="4800" b="1"/>
              </a:p>
            </p:txBody>
          </p:sp>
        </mc:Choice>
        <mc:Fallback xmlns="">
          <p:sp>
            <p:nvSpPr>
              <p:cNvPr id="22" name="TextBox 21">
                <a:extLst>
                  <a:ext uri="{FF2B5EF4-FFF2-40B4-BE49-F238E27FC236}">
                    <a16:creationId xmlns:a16="http://schemas.microsoft.com/office/drawing/2014/main" id="{C8D922AE-7D1A-55DA-BF87-E6F17387E7B8}"/>
                  </a:ext>
                </a:extLst>
              </p:cNvPr>
              <p:cNvSpPr txBox="1">
                <a:spLocks noRot="1" noChangeAspect="1" noMove="1" noResize="1" noEditPoints="1" noAdjustHandles="1" noChangeArrowheads="1" noChangeShapeType="1" noTextEdit="1"/>
              </p:cNvSpPr>
              <p:nvPr/>
            </p:nvSpPr>
            <p:spPr>
              <a:xfrm>
                <a:off x="7811692" y="5592999"/>
                <a:ext cx="529429" cy="92519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10C036B-0B34-7490-C473-DAB357A6B0E6}"/>
                  </a:ext>
                </a:extLst>
              </p:cNvPr>
              <p:cNvSpPr txBox="1"/>
              <p:nvPr/>
            </p:nvSpPr>
            <p:spPr>
              <a:xfrm>
                <a:off x="10786762" y="5572810"/>
                <a:ext cx="529429" cy="9251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i="1">
                              <a:latin typeface="Cambria Math" panose="02040503050406030204" pitchFamily="18" charset="0"/>
                            </a:rPr>
                            <m:t>1</m:t>
                          </m:r>
                        </m:num>
                        <m:den>
                          <m:r>
                            <a:rPr lang="en-AU" sz="3200" b="0" i="1" smtClean="0">
                              <a:latin typeface="Cambria Math" panose="02040503050406030204" pitchFamily="18" charset="0"/>
                            </a:rPr>
                            <m:t>10</m:t>
                          </m:r>
                        </m:den>
                      </m:f>
                    </m:oMath>
                  </m:oMathPara>
                </a14:m>
                <a:endParaRPr lang="en-US" sz="4800" b="1"/>
              </a:p>
            </p:txBody>
          </p:sp>
        </mc:Choice>
        <mc:Fallback xmlns="">
          <p:sp>
            <p:nvSpPr>
              <p:cNvPr id="23" name="TextBox 22">
                <a:extLst>
                  <a:ext uri="{FF2B5EF4-FFF2-40B4-BE49-F238E27FC236}">
                    <a16:creationId xmlns:a16="http://schemas.microsoft.com/office/drawing/2014/main" id="{E10C036B-0B34-7490-C473-DAB357A6B0E6}"/>
                  </a:ext>
                </a:extLst>
              </p:cNvPr>
              <p:cNvSpPr txBox="1">
                <a:spLocks noRot="1" noChangeAspect="1" noMove="1" noResize="1" noEditPoints="1" noAdjustHandles="1" noChangeArrowheads="1" noChangeShapeType="1" noTextEdit="1"/>
              </p:cNvSpPr>
              <p:nvPr/>
            </p:nvSpPr>
            <p:spPr>
              <a:xfrm>
                <a:off x="10786762" y="5572810"/>
                <a:ext cx="529429" cy="925190"/>
              </a:xfrm>
              <a:prstGeom prst="rect">
                <a:avLst/>
              </a:prstGeom>
              <a:blipFill>
                <a:blip r:embed="rId9"/>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25A4A64B-350E-B5FE-E53C-8C4C10B7BCB1}"/>
              </a:ext>
            </a:extLst>
          </p:cNvPr>
          <p:cNvPicPr>
            <a:picLocks noChangeAspect="1"/>
          </p:cNvPicPr>
          <p:nvPr/>
        </p:nvPicPr>
        <p:blipFill>
          <a:blip r:embed="rId10"/>
          <a:srcRect b="19486"/>
          <a:stretch>
            <a:fillRect/>
          </a:stretch>
        </p:blipFill>
        <p:spPr>
          <a:xfrm>
            <a:off x="3049931" y="4130841"/>
            <a:ext cx="6092135" cy="10669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E756537-7BED-878A-08F8-DC636471B6D9}"/>
                  </a:ext>
                </a:extLst>
              </p:cNvPr>
              <p:cNvSpPr txBox="1"/>
              <p:nvPr/>
            </p:nvSpPr>
            <p:spPr>
              <a:xfrm>
                <a:off x="696684" y="939949"/>
                <a:ext cx="11016685" cy="4866845"/>
              </a:xfrm>
              <a:prstGeom prst="rect">
                <a:avLst/>
              </a:prstGeom>
              <a:noFill/>
            </p:spPr>
            <p:txBody>
              <a:bodyPr wrap="square">
                <a:spAutoFit/>
              </a:bodyPr>
              <a:lstStyle/>
              <a:p>
                <a:pPr>
                  <a:spcAft>
                    <a:spcPts val="1200"/>
                  </a:spcAft>
                </a:pPr>
                <a:r>
                  <a:rPr lang="en-AU" sz="4400"/>
                  <a:t>3 friends share a cake. Emma gets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𝟏</m:t>
                        </m:r>
                      </m:num>
                      <m:den>
                        <m:r>
                          <a:rPr lang="en-AU" sz="4400" b="1" i="1" smtClean="0">
                            <a:latin typeface="Cambria Math" panose="02040503050406030204" pitchFamily="18" charset="0"/>
                          </a:rPr>
                          <m:t>𝟖</m:t>
                        </m:r>
                      </m:den>
                    </m:f>
                  </m:oMath>
                </a14:m>
                <a:r>
                  <a:rPr lang="en-AU" sz="4400" b="1"/>
                  <a:t> </a:t>
                </a:r>
                <a:r>
                  <a:rPr lang="en-AU" sz="4400"/>
                  <a:t>of the cake, Liam gets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𝟏</m:t>
                        </m:r>
                      </m:num>
                      <m:den>
                        <m:r>
                          <a:rPr lang="en-AU" sz="4400" b="1" i="1" smtClean="0">
                            <a:latin typeface="Cambria Math" panose="02040503050406030204" pitchFamily="18" charset="0"/>
                          </a:rPr>
                          <m:t>𝟐</m:t>
                        </m:r>
                      </m:den>
                    </m:f>
                  </m:oMath>
                </a14:m>
                <a:r>
                  <a:rPr lang="en-AU" sz="4400" b="1"/>
                  <a:t> </a:t>
                </a:r>
                <a:r>
                  <a:rPr lang="en-AU" sz="4400"/>
                  <a:t>of the cake and Stevie gets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𝟏</m:t>
                        </m:r>
                      </m:num>
                      <m:den>
                        <m:r>
                          <a:rPr lang="en-AU" sz="4400" b="1" i="1" smtClean="0">
                            <a:latin typeface="Cambria Math" panose="02040503050406030204" pitchFamily="18" charset="0"/>
                          </a:rPr>
                          <m:t>𝟒</m:t>
                        </m:r>
                      </m:den>
                    </m:f>
                  </m:oMath>
                </a14:m>
                <a:r>
                  <a:rPr lang="en-AU" sz="4400" b="1"/>
                  <a:t> </a:t>
                </a:r>
                <a:r>
                  <a:rPr lang="en-AU" sz="4400"/>
                  <a:t>of the cake.</a:t>
                </a:r>
              </a:p>
              <a:p>
                <a:endParaRPr lang="en-AU" sz="2200"/>
              </a:p>
              <a:p>
                <a:r>
                  <a:rPr lang="en-AU" sz="4400"/>
                  <a:t>Use a </a:t>
                </a:r>
                <a:r>
                  <a:rPr lang="en-AU" sz="4400" b="1"/>
                  <a:t>number line </a:t>
                </a:r>
                <a:r>
                  <a:rPr lang="en-AU" sz="4400"/>
                  <a:t>to </a:t>
                </a:r>
                <a:r>
                  <a:rPr lang="en-AU" sz="4400" b="1"/>
                  <a:t>order</a:t>
                </a:r>
                <a:r>
                  <a:rPr lang="en-AU" sz="4400"/>
                  <a:t> the size of each share.</a:t>
                </a:r>
              </a:p>
            </p:txBody>
          </p:sp>
        </mc:Choice>
        <mc:Fallback xmlns="">
          <p:sp>
            <p:nvSpPr>
              <p:cNvPr id="5" name="TextBox 4">
                <a:extLst>
                  <a:ext uri="{FF2B5EF4-FFF2-40B4-BE49-F238E27FC236}">
                    <a16:creationId xmlns:a16="http://schemas.microsoft.com/office/drawing/2014/main" id="{4E756537-7BED-878A-08F8-DC636471B6D9}"/>
                  </a:ext>
                </a:extLst>
              </p:cNvPr>
              <p:cNvSpPr txBox="1">
                <a:spLocks noRot="1" noChangeAspect="1" noMove="1" noResize="1" noEditPoints="1" noAdjustHandles="1" noChangeArrowheads="1" noChangeShapeType="1" noTextEdit="1"/>
              </p:cNvSpPr>
              <p:nvPr/>
            </p:nvSpPr>
            <p:spPr>
              <a:xfrm>
                <a:off x="696684" y="939949"/>
                <a:ext cx="11016685" cy="4866845"/>
              </a:xfrm>
              <a:prstGeom prst="rect">
                <a:avLst/>
              </a:prstGeom>
              <a:blipFill>
                <a:blip r:embed="rId4"/>
                <a:stretch>
                  <a:fillRect l="-2214" r="-1550" b="-488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89A16272-38B9-6958-0F9F-5EC0AB497C1E}"/>
              </a:ext>
            </a:extLst>
          </p:cNvPr>
          <p:cNvPicPr>
            <a:picLocks noChangeAspect="1"/>
          </p:cNvPicPr>
          <p:nvPr/>
        </p:nvPicPr>
        <p:blipFill>
          <a:blip r:embed="rId5"/>
          <a:srcRect b="19486"/>
          <a:stretch>
            <a:fillRect/>
          </a:stretch>
        </p:blipFill>
        <p:spPr>
          <a:xfrm>
            <a:off x="4421531" y="5449061"/>
            <a:ext cx="6092135" cy="10669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D9EA280-B6B4-D95F-1FCD-5634F909C08A}"/>
              </a:ext>
            </a:extLst>
          </p:cNvPr>
          <p:cNvSpPr txBox="1"/>
          <p:nvPr/>
        </p:nvSpPr>
        <p:spPr>
          <a:xfrm>
            <a:off x="792480" y="1184223"/>
            <a:ext cx="10607040" cy="2483318"/>
          </a:xfrm>
          <a:prstGeom prst="rect">
            <a:avLst/>
          </a:prstGeom>
          <a:noFill/>
        </p:spPr>
        <p:txBody>
          <a:bodyPr wrap="square" lIns="0" tIns="0" rIns="0" bIns="0" rtlCol="0">
            <a:noAutofit/>
          </a:bodyPr>
          <a:lstStyle/>
          <a:p>
            <a:pPr algn="ctr">
              <a:lnSpc>
                <a:spcPct val="150000"/>
              </a:lnSpc>
            </a:pPr>
            <a:r>
              <a:rPr lang="en-AU" sz="4400" b="1"/>
              <a:t>Record </a:t>
            </a:r>
            <a:r>
              <a:rPr lang="en-AU" sz="4400"/>
              <a:t>a</a:t>
            </a:r>
            <a:r>
              <a:rPr lang="en-AU" sz="4400" b="1"/>
              <a:t> measuring device </a:t>
            </a:r>
            <a:r>
              <a:rPr lang="en-AU" sz="4400"/>
              <a:t>suitable for measuring the </a:t>
            </a:r>
            <a:r>
              <a:rPr lang="en-AU" sz="4400" b="1"/>
              <a:t>length</a:t>
            </a:r>
            <a:r>
              <a:rPr lang="en-AU" sz="4400"/>
              <a:t> of a swimming pool, football field and school hall.</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a:t>
            </a:r>
          </a:p>
          <a:p>
            <a:pPr algn="ctr">
              <a:lnSpc>
                <a:spcPct val="150000"/>
              </a:lnSpc>
            </a:pPr>
            <a:endParaRPr lang="en-AU" sz="4000"/>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54E738C-79FB-C267-0479-BFC2FF315B5B}"/>
              </a:ext>
            </a:extLst>
          </p:cNvPr>
          <p:cNvSpPr txBox="1"/>
          <p:nvPr/>
        </p:nvSpPr>
        <p:spPr>
          <a:xfrm>
            <a:off x="2512193" y="1886552"/>
            <a:ext cx="7613583" cy="2569945"/>
          </a:xfrm>
          <a:prstGeom prst="rect">
            <a:avLst/>
          </a:prstGeom>
          <a:noFill/>
        </p:spPr>
        <p:txBody>
          <a:bodyPr wrap="square" lIns="0" tIns="0" rIns="0" bIns="0" rtlCol="0">
            <a:noAutofit/>
          </a:bodyPr>
          <a:lstStyle/>
          <a:p>
            <a:pPr algn="ctr">
              <a:lnSpc>
                <a:spcPct val="150000"/>
              </a:lnSpc>
            </a:pPr>
            <a:r>
              <a:rPr lang="en-AU" sz="4400"/>
              <a:t>Use </a:t>
            </a:r>
            <a:r>
              <a:rPr lang="en-AU" sz="4400" b="1"/>
              <a:t>partitioning</a:t>
            </a:r>
            <a:r>
              <a:rPr lang="en-AU" sz="4400"/>
              <a:t> to solve </a:t>
            </a:r>
          </a:p>
          <a:p>
            <a:pPr algn="ctr">
              <a:lnSpc>
                <a:spcPct val="150000"/>
              </a:lnSpc>
            </a:pPr>
            <a:r>
              <a:rPr lang="en-AU" sz="5400"/>
              <a:t>36 000 + 2 712 + 384</a:t>
            </a:r>
          </a:p>
          <a:p>
            <a:pPr algn="ctr">
              <a:lnSpc>
                <a:spcPct val="150000"/>
              </a:lnSpc>
            </a:pPr>
            <a:endParaRPr lang="en-AU" sz="4400"/>
          </a:p>
          <a:p>
            <a:pPr algn="l"/>
            <a:endParaRPr lang="en-AU" sz="1800"/>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23468-405B-2C56-96B4-DD03EC6F44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7CC263D-774A-9F46-218B-B7DFAF429C2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068FA323-88F8-4343-4A1E-69764AC4EA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D70DAEEC-3281-6CA8-BCEB-25EA1DF8122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FE8FA8D-F368-0A27-B23C-4A8F1F3CB60F}"/>
              </a:ext>
            </a:extLst>
          </p:cNvPr>
          <p:cNvSpPr txBox="1"/>
          <p:nvPr/>
        </p:nvSpPr>
        <p:spPr>
          <a:xfrm>
            <a:off x="115394" y="1184223"/>
            <a:ext cx="8535119" cy="1267399"/>
          </a:xfrm>
          <a:prstGeom prst="rect">
            <a:avLst/>
          </a:prstGeom>
          <a:noFill/>
        </p:spPr>
        <p:txBody>
          <a:bodyPr wrap="square" lIns="0" tIns="0" rIns="0" bIns="0" rtlCol="0">
            <a:noAutofit/>
          </a:bodyPr>
          <a:lstStyle/>
          <a:p>
            <a:pPr algn="ctr">
              <a:lnSpc>
                <a:spcPct val="150000"/>
              </a:lnSpc>
            </a:pPr>
            <a:r>
              <a:rPr lang="en-AU" sz="4400"/>
              <a:t>Sammy is facing </a:t>
            </a:r>
            <a:r>
              <a:rPr lang="en-AU" sz="4400" b="1"/>
              <a:t>East </a:t>
            </a:r>
            <a:r>
              <a:rPr lang="en-AU" sz="4400"/>
              <a:t>and makes a </a:t>
            </a:r>
            <a:r>
              <a:rPr lang="en-AU" sz="4400" b="1"/>
              <a:t>quarter turn </a:t>
            </a:r>
            <a:r>
              <a:rPr lang="en-AU" sz="4400"/>
              <a:t>to face </a:t>
            </a:r>
            <a:r>
              <a:rPr lang="en-AU" sz="4400" b="1"/>
              <a:t>North.</a:t>
            </a:r>
            <a:r>
              <a:rPr lang="en-AU" sz="4400"/>
              <a:t> </a:t>
            </a:r>
          </a:p>
          <a:p>
            <a:pPr algn="ctr">
              <a:lnSpc>
                <a:spcPct val="150000"/>
              </a:lnSpc>
            </a:pPr>
            <a:endParaRPr lang="en-AU" sz="2200"/>
          </a:p>
          <a:p>
            <a:pPr algn="ctr">
              <a:lnSpc>
                <a:spcPct val="150000"/>
              </a:lnSpc>
            </a:pPr>
            <a:r>
              <a:rPr lang="en-AU" sz="4400"/>
              <a:t>She is now facing </a:t>
            </a:r>
            <a:r>
              <a:rPr lang="en-AU" sz="4400" b="1"/>
              <a:t>North. How much </a:t>
            </a:r>
            <a:r>
              <a:rPr lang="en-AU" sz="4400"/>
              <a:t>does she need to </a:t>
            </a:r>
            <a:r>
              <a:rPr lang="en-AU" sz="4400" b="1"/>
              <a:t>turn</a:t>
            </a:r>
            <a:r>
              <a:rPr lang="en-AU" sz="4400"/>
              <a:t> to face </a:t>
            </a:r>
            <a:r>
              <a:rPr lang="en-AU" sz="4400" b="1"/>
              <a:t>South</a:t>
            </a:r>
            <a:r>
              <a:rPr lang="en-AU" sz="4400"/>
              <a:t>?</a:t>
            </a:r>
          </a:p>
        </p:txBody>
      </p:sp>
      <p:pic>
        <p:nvPicPr>
          <p:cNvPr id="7" name="Picture 6" descr="A compass showing north, east, south and west.">
            <a:extLst>
              <a:ext uri="{FF2B5EF4-FFF2-40B4-BE49-F238E27FC236}">
                <a16:creationId xmlns:a16="http://schemas.microsoft.com/office/drawing/2014/main" id="{DADFC4A0-E677-FE94-1D6A-8320046F20C9}"/>
              </a:ext>
            </a:extLst>
          </p:cNvPr>
          <p:cNvPicPr>
            <a:picLocks noChangeAspect="1"/>
          </p:cNvPicPr>
          <p:nvPr/>
        </p:nvPicPr>
        <p:blipFill>
          <a:blip r:embed="rId4"/>
          <a:srcRect l="71669" t="4652" r="5041" b="70640"/>
          <a:stretch>
            <a:fillRect/>
          </a:stretch>
        </p:blipFill>
        <p:spPr>
          <a:xfrm>
            <a:off x="8579638" y="2157800"/>
            <a:ext cx="3496968" cy="2542400"/>
          </a:xfrm>
          <a:prstGeom prst="rect">
            <a:avLst/>
          </a:prstGeom>
        </p:spPr>
      </p:pic>
    </p:spTree>
    <p:extLst>
      <p:ext uri="{BB962C8B-B14F-4D97-AF65-F5344CB8AC3E}">
        <p14:creationId xmlns:p14="http://schemas.microsoft.com/office/powerpoint/2010/main" val="3937866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fraction number lines</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4 fraction lines from zero to one, labelled A, B, C and D. Some of the fractions are incorrectly spaced along the lines. Students determine the useability of each fraction line.">
            <a:extLst>
              <a:ext uri="{FF2B5EF4-FFF2-40B4-BE49-F238E27FC236}">
                <a16:creationId xmlns:a16="http://schemas.microsoft.com/office/drawing/2014/main" id="{FED4BBEA-7D22-5D9A-093A-7C15D76B14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1869" y="1397950"/>
            <a:ext cx="7948262" cy="5100050"/>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1774709B-ADE0-E314-9E78-2A1F76BE7759}"/>
                  </a:ext>
                </a:extLst>
              </p:cNvPr>
              <p:cNvSpPr>
                <a:spLocks noGrp="1"/>
              </p:cNvSpPr>
              <p:nvPr>
                <p:ph type="body" sz="quarter" idx="22"/>
              </p:nvPr>
            </p:nvSpPr>
            <p:spPr>
              <a:xfrm>
                <a:off x="3715656" y="1599492"/>
                <a:ext cx="5162132" cy="893763"/>
              </a:xfrm>
            </p:spPr>
            <p:txBody>
              <a:bodyPr/>
              <a:lstStyle/>
              <a:p>
                <a14:m>
                  <m:oMath xmlns:m="http://schemas.openxmlformats.org/officeDocument/2006/math">
                    <m:f>
                      <m:fPr>
                        <m:ctrlPr>
                          <a:rPr lang="en-AU" sz="5400" i="1" smtClean="0">
                            <a:latin typeface="Cambria Math" panose="02040503050406030204" pitchFamily="18" charset="0"/>
                          </a:rPr>
                        </m:ctrlPr>
                      </m:fPr>
                      <m:num>
                        <m:r>
                          <a:rPr lang="en-AU" sz="5400" i="1">
                            <a:latin typeface="Cambria Math" panose="02040503050406030204" pitchFamily="18" charset="0"/>
                          </a:rPr>
                          <m:t>1</m:t>
                        </m:r>
                      </m:num>
                      <m:den>
                        <m:r>
                          <a:rPr lang="en-AU" sz="5400" i="1">
                            <a:latin typeface="Cambria Math" panose="02040503050406030204" pitchFamily="18" charset="0"/>
                          </a:rPr>
                          <m:t>6</m:t>
                        </m:r>
                      </m:den>
                    </m:f>
                    <m:r>
                      <a:rPr lang="en-AU" sz="5400" b="0" i="0" smtClean="0">
                        <a:latin typeface="Cambria Math" panose="02040503050406030204" pitchFamily="18" charset="0"/>
                      </a:rPr>
                      <m:t> </m:t>
                    </m:r>
                  </m:oMath>
                </a14:m>
                <a:r>
                  <a:rPr lang="en-AU" sz="4400" b="0" i="0">
                    <a:latin typeface="Cambria Math" panose="02040503050406030204" pitchFamily="18" charset="0"/>
                  </a:rPr>
                  <a:t> </a:t>
                </a:r>
                <a:r>
                  <a:rPr lang="en-AU" sz="4400" b="0" i="0">
                    <a:latin typeface="+mj-lt"/>
                  </a:rPr>
                  <a:t>is </a:t>
                </a:r>
                <a:r>
                  <a:rPr lang="en-AU" sz="4400" b="1" i="0">
                    <a:latin typeface="+mj-lt"/>
                  </a:rPr>
                  <a:t>greater</a:t>
                </a:r>
                <a:r>
                  <a:rPr lang="en-AU" sz="4400" b="0" i="0">
                    <a:latin typeface="+mj-lt"/>
                  </a:rPr>
                  <a:t> than </a:t>
                </a:r>
                <a14:m>
                  <m:oMath xmlns:m="http://schemas.openxmlformats.org/officeDocument/2006/math">
                    <m:f>
                      <m:fPr>
                        <m:ctrlPr>
                          <a:rPr lang="en-AU" sz="5400" i="1">
                            <a:latin typeface="Cambria Math" panose="02040503050406030204" pitchFamily="18" charset="0"/>
                          </a:rPr>
                        </m:ctrlPr>
                      </m:fPr>
                      <m:num>
                        <m:r>
                          <a:rPr lang="en-AU" sz="5400" i="1">
                            <a:latin typeface="Cambria Math" panose="02040503050406030204" pitchFamily="18" charset="0"/>
                          </a:rPr>
                          <m:t>1</m:t>
                        </m:r>
                      </m:num>
                      <m:den>
                        <m:r>
                          <a:rPr lang="en-AU" sz="5400" i="1">
                            <a:latin typeface="Cambria Math" panose="02040503050406030204" pitchFamily="18" charset="0"/>
                          </a:rPr>
                          <m:t>10</m:t>
                        </m:r>
                      </m:den>
                    </m:f>
                  </m:oMath>
                </a14:m>
                <a:endParaRPr lang="en-AU" sz="4400"/>
              </a:p>
            </p:txBody>
          </p:sp>
        </mc:Choice>
        <mc:Fallback xmlns="">
          <p:sp>
            <p:nvSpPr>
              <p:cNvPr id="8" name="Text Placeholder 5">
                <a:extLst>
                  <a:ext uri="{FF2B5EF4-FFF2-40B4-BE49-F238E27FC236}">
                    <a16:creationId xmlns:a16="http://schemas.microsoft.com/office/drawing/2014/main" id="{1774709B-ADE0-E314-9E78-2A1F76BE7759}"/>
                  </a:ext>
                </a:extLst>
              </p:cNvPr>
              <p:cNvSpPr>
                <a:spLocks noGrp="1" noRot="1" noChangeAspect="1" noMove="1" noResize="1" noEditPoints="1" noAdjustHandles="1" noChangeArrowheads="1" noChangeShapeType="1" noTextEdit="1"/>
              </p:cNvSpPr>
              <p:nvPr>
                <p:ph type="body" sz="quarter" idx="22"/>
              </p:nvPr>
            </p:nvSpPr>
            <p:spPr>
              <a:xfrm>
                <a:off x="3715656" y="1599492"/>
                <a:ext cx="5162132" cy="893763"/>
              </a:xfrm>
              <a:blipFill>
                <a:blip r:embed="rId4"/>
                <a:stretch>
                  <a:fillRect l="-118" b="-91837"/>
                </a:stretch>
              </a:blipFill>
            </p:spPr>
            <p:txBody>
              <a:bodyPr/>
              <a:lstStyle/>
              <a:p>
                <a:r>
                  <a:rPr lang="en-US">
                    <a:noFill/>
                  </a:rPr>
                  <a:t> </a:t>
                </a:r>
              </a:p>
            </p:txBody>
          </p:sp>
        </mc:Fallback>
      </mc:AlternateContent>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F56F561-F0DA-C230-BAB4-81C6DA7EDE0C}"/>
              </a:ext>
            </a:extLst>
          </p:cNvPr>
          <p:cNvSpPr txBox="1"/>
          <p:nvPr/>
        </p:nvSpPr>
        <p:spPr>
          <a:xfrm>
            <a:off x="282669" y="905601"/>
            <a:ext cx="11626662" cy="5189840"/>
          </a:xfrm>
          <a:prstGeom prst="rect">
            <a:avLst/>
          </a:prstGeom>
          <a:noFill/>
        </p:spPr>
        <p:txBody>
          <a:bodyPr wrap="square" lIns="0" tIns="0" rIns="0" bIns="0" rtlCol="0">
            <a:noAutofit/>
          </a:bodyPr>
          <a:lstStyle/>
          <a:p>
            <a:pPr algn="ctr">
              <a:lnSpc>
                <a:spcPct val="150000"/>
              </a:lnSpc>
            </a:pPr>
            <a:r>
              <a:rPr lang="en-AU" sz="4400" dirty="0"/>
              <a:t>Zali has placed fractions on a number line but has made </a:t>
            </a:r>
            <a:r>
              <a:rPr lang="en-AU" sz="4400" b="1" dirty="0"/>
              <a:t>mistakes</a:t>
            </a:r>
            <a:r>
              <a:rPr lang="en-AU" sz="4400" dirty="0"/>
              <a:t>.</a:t>
            </a:r>
            <a:endParaRPr lang="en-AU" sz="4400" b="1" dirty="0"/>
          </a:p>
          <a:p>
            <a:pPr algn="ctr">
              <a:lnSpc>
                <a:spcPct val="150000"/>
              </a:lnSpc>
            </a:pPr>
            <a:endParaRPr lang="en-AU" sz="2800" b="1" dirty="0"/>
          </a:p>
          <a:p>
            <a:pPr algn="ctr">
              <a:lnSpc>
                <a:spcPct val="150000"/>
              </a:lnSpc>
            </a:pPr>
            <a:endParaRPr lang="en-AU" sz="2800" b="1" dirty="0"/>
          </a:p>
          <a:p>
            <a:pPr algn="ctr">
              <a:lnSpc>
                <a:spcPct val="150000"/>
              </a:lnSpc>
            </a:pPr>
            <a:endParaRPr lang="en-AU" sz="2800" b="1" dirty="0"/>
          </a:p>
          <a:p>
            <a:pPr algn="ctr">
              <a:lnSpc>
                <a:spcPct val="150000"/>
              </a:lnSpc>
            </a:pPr>
            <a:r>
              <a:rPr lang="en-AU" sz="4400" b="1" dirty="0"/>
              <a:t>Identify</a:t>
            </a:r>
            <a:r>
              <a:rPr lang="en-AU" sz="4400" dirty="0"/>
              <a:t> Zali’s </a:t>
            </a:r>
            <a:r>
              <a:rPr lang="en-AU" sz="4400" b="1" dirty="0"/>
              <a:t>error</a:t>
            </a:r>
            <a:r>
              <a:rPr lang="en-AU" sz="4400" dirty="0"/>
              <a:t> and correctly order the fractions on a number line. </a:t>
            </a:r>
          </a:p>
        </p:txBody>
      </p:sp>
      <p:pic>
        <p:nvPicPr>
          <p:cNvPr id="7" name="Picture 6">
            <a:extLst>
              <a:ext uri="{FF2B5EF4-FFF2-40B4-BE49-F238E27FC236}">
                <a16:creationId xmlns:a16="http://schemas.microsoft.com/office/drawing/2014/main" id="{6816FF96-1B85-9428-94B6-3E643F1DBADB}"/>
              </a:ext>
            </a:extLst>
          </p:cNvPr>
          <p:cNvPicPr>
            <a:picLocks noChangeAspect="1"/>
          </p:cNvPicPr>
          <p:nvPr/>
        </p:nvPicPr>
        <p:blipFill>
          <a:blip r:embed="rId4"/>
          <a:stretch>
            <a:fillRect/>
          </a:stretch>
        </p:blipFill>
        <p:spPr>
          <a:xfrm>
            <a:off x="2810080" y="3085594"/>
            <a:ext cx="6571840" cy="17364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B7442D6-3B6D-3CD5-BCB7-331EFFDFA8F4}"/>
              </a:ext>
            </a:extLst>
          </p:cNvPr>
          <p:cNvSpPr txBox="1"/>
          <p:nvPr/>
        </p:nvSpPr>
        <p:spPr>
          <a:xfrm>
            <a:off x="981701" y="1472665"/>
            <a:ext cx="10048775" cy="1828800"/>
          </a:xfrm>
          <a:prstGeom prst="rect">
            <a:avLst/>
          </a:prstGeom>
          <a:noFill/>
        </p:spPr>
        <p:txBody>
          <a:bodyPr wrap="square" lIns="0" tIns="0" rIns="0" bIns="0" rtlCol="0">
            <a:noAutofit/>
          </a:bodyPr>
          <a:lstStyle/>
          <a:p>
            <a:pPr algn="ctr">
              <a:lnSpc>
                <a:spcPct val="150000"/>
              </a:lnSpc>
            </a:pPr>
            <a:r>
              <a:rPr lang="en-AU" sz="4400" b="1"/>
              <a:t>Estimate</a:t>
            </a:r>
            <a:r>
              <a:rPr lang="en-AU" sz="4400"/>
              <a:t> the </a:t>
            </a:r>
            <a:r>
              <a:rPr lang="en-AU" sz="4400" b="1"/>
              <a:t>length</a:t>
            </a:r>
            <a:r>
              <a:rPr lang="en-AU" sz="4400"/>
              <a:t> of the classroom using an </a:t>
            </a:r>
            <a:r>
              <a:rPr lang="en-AU" sz="4400" b="1"/>
              <a:t>appropriate unit.</a:t>
            </a:r>
          </a:p>
          <a:p>
            <a:pPr algn="ctr">
              <a:lnSpc>
                <a:spcPct val="150000"/>
              </a:lnSpc>
            </a:pPr>
            <a:endParaRPr lang="en-AU" sz="4400" b="1"/>
          </a:p>
          <a:p>
            <a:pPr algn="ctr">
              <a:lnSpc>
                <a:spcPct val="150000"/>
              </a:lnSpc>
            </a:pPr>
            <a:r>
              <a:rPr lang="en-AU" sz="4400" b="1"/>
              <a:t>Justify</a:t>
            </a:r>
            <a:r>
              <a:rPr lang="en-AU" sz="4400"/>
              <a:t> your </a:t>
            </a:r>
            <a:r>
              <a:rPr lang="en-AU" sz="4400" b="1"/>
              <a:t>estimation</a:t>
            </a:r>
            <a:r>
              <a:rPr lang="en-AU" sz="4400"/>
              <a:t> and choice of </a:t>
            </a:r>
            <a:r>
              <a:rPr lang="en-AU" sz="4400" b="1"/>
              <a:t>unit</a:t>
            </a:r>
            <a:r>
              <a:rPr lang="en-AU" sz="4400"/>
              <a:t>.</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12BD34E7-F2A2-2B7F-ACE2-734BAD73E87E}"/>
              </a:ext>
            </a:extLst>
          </p:cNvPr>
          <p:cNvSpPr txBox="1"/>
          <p:nvPr/>
        </p:nvSpPr>
        <p:spPr>
          <a:xfrm>
            <a:off x="638476" y="1405664"/>
            <a:ext cx="10915048" cy="3257264"/>
          </a:xfrm>
          <a:prstGeom prst="rect">
            <a:avLst/>
          </a:prstGeom>
          <a:noFill/>
        </p:spPr>
        <p:txBody>
          <a:bodyPr wrap="square" lIns="0" tIns="0" rIns="0" bIns="0" rtlCol="0">
            <a:noAutofit/>
          </a:bodyPr>
          <a:lstStyle/>
          <a:p>
            <a:pPr algn="ctr">
              <a:lnSpc>
                <a:spcPct val="150000"/>
              </a:lnSpc>
            </a:pPr>
            <a:r>
              <a:rPr lang="en-AU" sz="4400"/>
              <a:t>Would </a:t>
            </a:r>
            <a:r>
              <a:rPr lang="en-AU" sz="4400" b="1"/>
              <a:t>partitioning</a:t>
            </a:r>
            <a:r>
              <a:rPr lang="en-AU" sz="4400"/>
              <a:t> be an </a:t>
            </a:r>
            <a:r>
              <a:rPr lang="en-AU" sz="4400" b="1"/>
              <a:t>efficient</a:t>
            </a:r>
            <a:r>
              <a:rPr lang="en-AU" sz="4400"/>
              <a:t> strategy for solving</a:t>
            </a:r>
          </a:p>
          <a:p>
            <a:pPr algn="ctr">
              <a:lnSpc>
                <a:spcPct val="150000"/>
              </a:lnSpc>
            </a:pPr>
            <a:r>
              <a:rPr lang="en-AU" sz="4400"/>
              <a:t> </a:t>
            </a:r>
            <a:r>
              <a:rPr lang="en-AU" sz="5400"/>
              <a:t>4 005 – 3 998?</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E601C-98EC-92B8-ADE9-433D57CD22E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9F6248-6D24-59A6-B19E-F2E8485BCF5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DE9602D8-7C26-9CA4-A1A0-1ED44DB3B3F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AEEE95B7-6C82-EB1B-79A4-086D8D8815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2E0A203-B919-EDB6-567E-9758A30F41B5}"/>
              </a:ext>
            </a:extLst>
          </p:cNvPr>
          <p:cNvSpPr txBox="1"/>
          <p:nvPr/>
        </p:nvSpPr>
        <p:spPr>
          <a:xfrm>
            <a:off x="527456" y="1044507"/>
            <a:ext cx="11137087" cy="2733574"/>
          </a:xfrm>
          <a:prstGeom prst="rect">
            <a:avLst/>
          </a:prstGeom>
          <a:noFill/>
        </p:spPr>
        <p:txBody>
          <a:bodyPr wrap="square" lIns="0" tIns="0" rIns="0" bIns="0" rtlCol="0">
            <a:noAutofit/>
          </a:bodyPr>
          <a:lstStyle/>
          <a:p>
            <a:pPr algn="ctr">
              <a:lnSpc>
                <a:spcPct val="150000"/>
              </a:lnSpc>
            </a:pPr>
            <a:r>
              <a:rPr lang="en-AU" sz="4000"/>
              <a:t>Which </a:t>
            </a:r>
            <a:r>
              <a:rPr lang="en-AU" sz="4000" b="1"/>
              <a:t>side lengths are </a:t>
            </a:r>
            <a:r>
              <a:rPr lang="en-AU" sz="4000"/>
              <a:t>needed to calculate the </a:t>
            </a:r>
            <a:r>
              <a:rPr lang="en-AU" sz="4000" b="1"/>
              <a:t>perimeter</a:t>
            </a:r>
            <a:r>
              <a:rPr lang="en-AU" sz="4000"/>
              <a:t> of this shape?</a:t>
            </a:r>
          </a:p>
          <a:p>
            <a:pPr algn="ctr">
              <a:lnSpc>
                <a:spcPct val="150000"/>
              </a:lnSpc>
            </a:pPr>
            <a:r>
              <a:rPr lang="en-AU" sz="4000" b="1"/>
              <a:t>Explain</a:t>
            </a:r>
            <a:r>
              <a:rPr lang="en-AU" sz="4000"/>
              <a:t> your </a:t>
            </a:r>
            <a:r>
              <a:rPr lang="en-AU" sz="4000" b="1"/>
              <a:t>reasoning</a:t>
            </a:r>
            <a:r>
              <a:rPr lang="en-AU" sz="4000"/>
              <a:t>.</a:t>
            </a:r>
          </a:p>
          <a:p>
            <a:pPr algn="l"/>
            <a:endParaRPr lang="en-AU" sz="4400"/>
          </a:p>
          <a:p>
            <a:pPr algn="l"/>
            <a:endParaRPr lang="en-AU" sz="1800"/>
          </a:p>
          <a:p>
            <a:pPr algn="l"/>
            <a:endParaRPr lang="en-AU" sz="1800"/>
          </a:p>
        </p:txBody>
      </p:sp>
      <p:sp>
        <p:nvSpPr>
          <p:cNvPr id="5" name="Rectangle 4" descr="A blue rectangle.">
            <a:extLst>
              <a:ext uri="{FF2B5EF4-FFF2-40B4-BE49-F238E27FC236}">
                <a16:creationId xmlns:a16="http://schemas.microsoft.com/office/drawing/2014/main" id="{5C749BCA-9CE4-3447-1061-9DEFFBDFAC21}"/>
              </a:ext>
            </a:extLst>
          </p:cNvPr>
          <p:cNvSpPr/>
          <p:nvPr/>
        </p:nvSpPr>
        <p:spPr>
          <a:xfrm>
            <a:off x="3696100" y="4399692"/>
            <a:ext cx="4620126" cy="17893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8CBC39F0-DEFA-155D-4CE3-8F87122DBBF9}"/>
              </a:ext>
            </a:extLst>
          </p:cNvPr>
          <p:cNvSpPr txBox="1"/>
          <p:nvPr/>
        </p:nvSpPr>
        <p:spPr>
          <a:xfrm>
            <a:off x="2646947" y="5139891"/>
            <a:ext cx="1443789" cy="789272"/>
          </a:xfrm>
          <a:prstGeom prst="rect">
            <a:avLst/>
          </a:prstGeom>
          <a:noFill/>
        </p:spPr>
        <p:txBody>
          <a:bodyPr wrap="square" lIns="0" tIns="0" rIns="0" bIns="0" rtlCol="0">
            <a:noAutofit/>
          </a:bodyPr>
          <a:lstStyle/>
          <a:p>
            <a:pPr algn="l"/>
            <a:r>
              <a:rPr lang="en-AU" sz="1800"/>
              <a:t>side A</a:t>
            </a:r>
          </a:p>
        </p:txBody>
      </p:sp>
      <p:sp>
        <p:nvSpPr>
          <p:cNvPr id="8" name="TextBox 7">
            <a:extLst>
              <a:ext uri="{FF2B5EF4-FFF2-40B4-BE49-F238E27FC236}">
                <a16:creationId xmlns:a16="http://schemas.microsoft.com/office/drawing/2014/main" id="{7ABDB5B7-ED18-8403-E86C-C5FC86A69452}"/>
              </a:ext>
            </a:extLst>
          </p:cNvPr>
          <p:cNvSpPr txBox="1"/>
          <p:nvPr/>
        </p:nvSpPr>
        <p:spPr>
          <a:xfrm>
            <a:off x="8682614" y="5139891"/>
            <a:ext cx="1443789" cy="789272"/>
          </a:xfrm>
          <a:prstGeom prst="rect">
            <a:avLst/>
          </a:prstGeom>
          <a:noFill/>
        </p:spPr>
        <p:txBody>
          <a:bodyPr wrap="square" lIns="0" tIns="0" rIns="0" bIns="0" rtlCol="0">
            <a:noAutofit/>
          </a:bodyPr>
          <a:lstStyle/>
          <a:p>
            <a:pPr algn="l"/>
            <a:r>
              <a:rPr lang="en-AU" sz="1800"/>
              <a:t>side C</a:t>
            </a:r>
          </a:p>
        </p:txBody>
      </p:sp>
      <p:sp>
        <p:nvSpPr>
          <p:cNvPr id="9" name="TextBox 8">
            <a:extLst>
              <a:ext uri="{FF2B5EF4-FFF2-40B4-BE49-F238E27FC236}">
                <a16:creationId xmlns:a16="http://schemas.microsoft.com/office/drawing/2014/main" id="{F91151DA-1D1B-068D-AEF9-2146A030E8C4}"/>
              </a:ext>
            </a:extLst>
          </p:cNvPr>
          <p:cNvSpPr txBox="1"/>
          <p:nvPr/>
        </p:nvSpPr>
        <p:spPr>
          <a:xfrm>
            <a:off x="5831304" y="4037961"/>
            <a:ext cx="1443789" cy="789272"/>
          </a:xfrm>
          <a:prstGeom prst="rect">
            <a:avLst/>
          </a:prstGeom>
          <a:noFill/>
        </p:spPr>
        <p:txBody>
          <a:bodyPr wrap="square" lIns="0" tIns="0" rIns="0" bIns="0" rtlCol="0">
            <a:noAutofit/>
          </a:bodyPr>
          <a:lstStyle/>
          <a:p>
            <a:pPr algn="l"/>
            <a:r>
              <a:rPr lang="en-AU" sz="1800"/>
              <a:t>side B</a:t>
            </a:r>
          </a:p>
        </p:txBody>
      </p:sp>
      <p:sp>
        <p:nvSpPr>
          <p:cNvPr id="10" name="TextBox 9">
            <a:extLst>
              <a:ext uri="{FF2B5EF4-FFF2-40B4-BE49-F238E27FC236}">
                <a16:creationId xmlns:a16="http://schemas.microsoft.com/office/drawing/2014/main" id="{D2A250F0-5DA1-2B4E-4411-244E959A531A}"/>
              </a:ext>
            </a:extLst>
          </p:cNvPr>
          <p:cNvSpPr txBox="1"/>
          <p:nvPr/>
        </p:nvSpPr>
        <p:spPr>
          <a:xfrm>
            <a:off x="5710337" y="6301364"/>
            <a:ext cx="1443789" cy="789272"/>
          </a:xfrm>
          <a:prstGeom prst="rect">
            <a:avLst/>
          </a:prstGeom>
          <a:noFill/>
        </p:spPr>
        <p:txBody>
          <a:bodyPr wrap="square" lIns="0" tIns="0" rIns="0" bIns="0" rtlCol="0">
            <a:noAutofit/>
          </a:bodyPr>
          <a:lstStyle/>
          <a:p>
            <a:pPr algn="l"/>
            <a:r>
              <a:rPr lang="en-AU" sz="1800"/>
              <a:t>side D</a:t>
            </a:r>
          </a:p>
        </p:txBody>
      </p:sp>
    </p:spTree>
    <p:extLst>
      <p:ext uri="{BB962C8B-B14F-4D97-AF65-F5344CB8AC3E}">
        <p14:creationId xmlns:p14="http://schemas.microsoft.com/office/powerpoint/2010/main" val="299043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number lines to represent fractions</a:t>
            </a:r>
            <a:br>
              <a:rPr lang="en-AU" b="1"/>
            </a:br>
            <a:endParaRPr lang="en-AU"/>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number line marked 0 to 1.">
            <a:extLst>
              <a:ext uri="{FF2B5EF4-FFF2-40B4-BE49-F238E27FC236}">
                <a16:creationId xmlns:a16="http://schemas.microsoft.com/office/drawing/2014/main" id="{FDFAEE63-82B1-0BF8-C2A8-A339A0E61993}"/>
              </a:ext>
            </a:extLst>
          </p:cNvPr>
          <p:cNvPicPr>
            <a:picLocks noChangeAspect="1"/>
          </p:cNvPicPr>
          <p:nvPr/>
        </p:nvPicPr>
        <p:blipFill>
          <a:blip r:embed="rId4"/>
          <a:stretch>
            <a:fillRect/>
          </a:stretch>
        </p:blipFill>
        <p:spPr>
          <a:xfrm>
            <a:off x="0" y="2585748"/>
            <a:ext cx="12192000" cy="2033014"/>
          </a:xfrm>
          <a:prstGeom prst="rect">
            <a:avLst/>
          </a:prstGeom>
        </p:spPr>
      </p:pic>
      <p:pic>
        <p:nvPicPr>
          <p:cNvPr id="7" name="Picture 6" descr="Fraction cards showing on half, one third, one quarter, one fifth, one sixth, one eighth, one tenth in fraction notation.">
            <a:extLst>
              <a:ext uri="{FF2B5EF4-FFF2-40B4-BE49-F238E27FC236}">
                <a16:creationId xmlns:a16="http://schemas.microsoft.com/office/drawing/2014/main" id="{7A7C8519-D6E5-00D6-D222-CD606B5CDA1A}"/>
              </a:ext>
            </a:extLst>
          </p:cNvPr>
          <p:cNvPicPr>
            <a:picLocks noChangeAspect="1"/>
          </p:cNvPicPr>
          <p:nvPr/>
        </p:nvPicPr>
        <p:blipFill>
          <a:blip r:embed="rId5"/>
          <a:stretch>
            <a:fillRect/>
          </a:stretch>
        </p:blipFill>
        <p:spPr>
          <a:xfrm>
            <a:off x="942655" y="4708762"/>
            <a:ext cx="10306690" cy="1987238"/>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1263B-00F9-3026-CDD4-F14B3320EE4E}"/>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780667"/>
            <a:ext cx="10175920" cy="641396"/>
          </a:xfrm>
        </p:spPr>
        <p:txBody>
          <a:bodyPr anchor="ctr"/>
          <a:lstStyle/>
          <a:p>
            <a:r>
              <a:rPr lang="en-AU" sz="2800"/>
              <a:t>It depends on the size of the cakes.</a:t>
            </a:r>
            <a:endParaRPr lang="en-US" sz="2800"/>
          </a:p>
        </p:txBody>
      </p:sp>
      <mc:AlternateContent xmlns:mc="http://schemas.openxmlformats.org/markup-compatibility/2006" xmlns:a14="http://schemas.microsoft.com/office/drawing/2010/main">
        <mc:Choice Requires="a14">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980042"/>
                <a:ext cx="11243037" cy="754243"/>
              </a:xfrm>
            </p:spPr>
            <p:txBody>
              <a:bodyPr/>
              <a:lstStyle/>
              <a:p>
                <a:pPr algn="ctr"/>
                <a:r>
                  <a:rPr lang="en-AU" sz="3200"/>
                  <a:t>Emma ate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a:latin typeface="Cambria Math" panose="02040503050406030204" pitchFamily="18" charset="0"/>
                          </a:rPr>
                          <m:t>𝟔</m:t>
                        </m:r>
                      </m:den>
                    </m:f>
                  </m:oMath>
                </a14:m>
                <a:r>
                  <a:rPr lang="en-AU" sz="4000" b="1"/>
                  <a:t> </a:t>
                </a:r>
                <a:r>
                  <a:rPr lang="en-AU" sz="3200"/>
                  <a:t>of her cake and Jake ate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smtClean="0">
                            <a:latin typeface="Cambria Math" panose="02040503050406030204" pitchFamily="18" charset="0"/>
                          </a:rPr>
                          <m:t>𝟏𝟎</m:t>
                        </m:r>
                      </m:den>
                    </m:f>
                  </m:oMath>
                </a14:m>
                <a:r>
                  <a:rPr lang="en-AU" sz="3200" b="1"/>
                  <a:t> </a:t>
                </a:r>
                <a:r>
                  <a:rPr lang="en-AU" sz="3200"/>
                  <a:t>of his cake.</a:t>
                </a:r>
              </a:p>
              <a:p>
                <a:pPr algn="ctr"/>
                <a:r>
                  <a:rPr lang="en-AU" sz="3200"/>
                  <a:t> Who ate the </a:t>
                </a:r>
                <a:r>
                  <a:rPr lang="en-AU" sz="3200" b="1"/>
                  <a:t>larger</a:t>
                </a:r>
                <a:r>
                  <a:rPr lang="en-AU" sz="3200"/>
                  <a:t> portion?</a:t>
                </a:r>
                <a:endParaRPr lang="en-US" sz="3200"/>
              </a:p>
            </p:txBody>
          </p:sp>
        </mc:Choice>
        <mc:Fallback xmlns="">
          <p:sp>
            <p:nvSpPr>
              <p:cNvPr id="15" name="Text Placeholder 14">
                <a:extLst>
                  <a:ext uri="{FF2B5EF4-FFF2-40B4-BE49-F238E27FC236}">
                    <a16:creationId xmlns:a16="http://schemas.microsoft.com/office/drawing/2014/main" id="{9C7C84D9-7468-F57D-99F1-C58A56040A58}"/>
                  </a:ext>
                </a:extLst>
              </p:cNvPr>
              <p:cNvSpPr>
                <a:spLocks noGrp="1" noRot="1" noChangeAspect="1" noMove="1" noResize="1" noEditPoints="1" noAdjustHandles="1" noChangeArrowheads="1" noChangeShapeType="1" noTextEdit="1"/>
              </p:cNvSpPr>
              <p:nvPr>
                <p:ph type="body" sz="quarter" idx="28"/>
              </p:nvPr>
            </p:nvSpPr>
            <p:spPr>
              <a:xfrm>
                <a:off x="360000" y="980042"/>
                <a:ext cx="11243037" cy="754243"/>
              </a:xfrm>
              <a:blipFill>
                <a:blip r:embed="rId3"/>
                <a:stretch>
                  <a:fillRect b="-204065"/>
                </a:stretch>
              </a:blipFill>
            </p:spPr>
            <p:txBody>
              <a:bodyPr/>
              <a:lstStyle/>
              <a:p>
                <a:r>
                  <a:rPr lang="en-US">
                    <a:noFill/>
                  </a:rPr>
                  <a:t> </a:t>
                </a:r>
              </a:p>
            </p:txBody>
          </p:sp>
        </mc:Fallback>
      </mc:AlternateContent>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963431"/>
            <a:ext cx="10175920" cy="641396"/>
          </a:xfrm>
        </p:spPr>
        <p:txBody>
          <a:bodyPr anchor="ctr"/>
          <a:lstStyle/>
          <a:p>
            <a:r>
              <a:rPr lang="en-AU" sz="2800"/>
              <a:t>They ate the same amount because they both ate 1 slice.</a:t>
            </a:r>
            <a:endParaRPr lang="en-US" sz="2800"/>
          </a:p>
        </p:txBody>
      </p:sp>
      <mc:AlternateContent xmlns:mc="http://schemas.openxmlformats.org/markup-compatibility/2006" xmlns:a14="http://schemas.microsoft.com/office/drawing/2010/main">
        <mc:Choice Requires="a14">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4146195"/>
                <a:ext cx="10175920" cy="641396"/>
              </a:xfrm>
            </p:spPr>
            <p:txBody>
              <a:bodyPr anchor="ctr"/>
              <a:lstStyle/>
              <a:p>
                <a:r>
                  <a:rPr lang="en-AU" sz="2800"/>
                  <a:t>Jake ate the larger portion because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num>
                      <m:den>
                        <m:r>
                          <a:rPr lang="en-AU" sz="3200" b="1" i="1">
                            <a:latin typeface="Cambria Math" panose="02040503050406030204" pitchFamily="18" charset="0"/>
                          </a:rPr>
                          <m:t>𝟏𝟎</m:t>
                        </m:r>
                      </m:den>
                    </m:f>
                  </m:oMath>
                </a14:m>
                <a:r>
                  <a:rPr lang="en-AU" sz="3200"/>
                  <a:t> </a:t>
                </a:r>
                <a:r>
                  <a:rPr lang="en-AU" sz="2800"/>
                  <a:t>is greater than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num>
                      <m:den>
                        <m:r>
                          <a:rPr lang="en-AU" sz="3200" b="1" i="1">
                            <a:latin typeface="Cambria Math" panose="02040503050406030204" pitchFamily="18" charset="0"/>
                          </a:rPr>
                          <m:t>𝟔</m:t>
                        </m:r>
                      </m:den>
                    </m:f>
                  </m:oMath>
                </a14:m>
                <a:r>
                  <a:rPr lang="en-AU" sz="2800"/>
                  <a:t> </a:t>
                </a:r>
                <a:r>
                  <a:rPr lang="en-AU" sz="3600"/>
                  <a:t>.</a:t>
                </a:r>
                <a:endParaRPr lang="en-US" sz="3600"/>
              </a:p>
            </p:txBody>
          </p:sp>
        </mc:Choice>
        <mc:Fallback xmlns="">
          <p:sp>
            <p:nvSpPr>
              <p:cNvPr id="17" name="Text Placeholder 16">
                <a:extLst>
                  <a:ext uri="{FF2B5EF4-FFF2-40B4-BE49-F238E27FC236}">
                    <a16:creationId xmlns:a16="http://schemas.microsoft.com/office/drawing/2014/main" id="{2D36800D-CC3E-E3B5-7DCD-70D138BF62F0}"/>
                  </a:ext>
                </a:extLst>
              </p:cNvPr>
              <p:cNvSpPr>
                <a:spLocks noGrp="1" noRot="1" noChangeAspect="1" noMove="1" noResize="1" noEditPoints="1" noAdjustHandles="1" noChangeArrowheads="1" noChangeShapeType="1" noTextEdit="1"/>
              </p:cNvSpPr>
              <p:nvPr>
                <p:ph type="body" sz="quarter" idx="30"/>
              </p:nvPr>
            </p:nvSpPr>
            <p:spPr>
              <a:xfrm>
                <a:off x="1345520" y="4146195"/>
                <a:ext cx="10175920" cy="641396"/>
              </a:xfrm>
              <a:blipFill>
                <a:blip r:embed="rId4"/>
                <a:stretch>
                  <a:fillRect l="-2157"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308080" y="3356285"/>
                <a:ext cx="10175920" cy="641396"/>
              </a:xfrm>
            </p:spPr>
            <p:txBody>
              <a:bodyPr anchor="ctr"/>
              <a:lstStyle/>
              <a:p>
                <a:r>
                  <a:rPr lang="en-AU" sz="2800"/>
                  <a:t>Emma ate the larger portion because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num>
                      <m:den>
                        <m:r>
                          <a:rPr lang="en-AU" sz="3200" b="1" i="1">
                            <a:latin typeface="Cambria Math" panose="02040503050406030204" pitchFamily="18" charset="0"/>
                          </a:rPr>
                          <m:t>𝟔</m:t>
                        </m:r>
                      </m:den>
                    </m:f>
                  </m:oMath>
                </a14:m>
                <a:r>
                  <a:rPr lang="en-AU" sz="3200"/>
                  <a:t> </a:t>
                </a:r>
                <a:r>
                  <a:rPr lang="en-AU" sz="2800"/>
                  <a:t>is greater than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num>
                      <m:den>
                        <m:r>
                          <a:rPr lang="en-AU" sz="3200" b="1" i="1">
                            <a:latin typeface="Cambria Math" panose="02040503050406030204" pitchFamily="18" charset="0"/>
                          </a:rPr>
                          <m:t>𝟏𝟎</m:t>
                        </m:r>
                      </m:den>
                    </m:f>
                  </m:oMath>
                </a14:m>
                <a:r>
                  <a:rPr lang="en-AU" sz="2400" b="1"/>
                  <a:t> </a:t>
                </a:r>
                <a:r>
                  <a:rPr lang="en-AU" sz="3600"/>
                  <a:t>.</a:t>
                </a:r>
                <a:endParaRPr lang="en-US" sz="3600"/>
              </a:p>
            </p:txBody>
          </p:sp>
        </mc:Choice>
        <mc:Fallback xmlns="">
          <p:sp>
            <p:nvSpPr>
              <p:cNvPr id="18" name="Text Placeholder 17">
                <a:extLst>
                  <a:ext uri="{FF2B5EF4-FFF2-40B4-BE49-F238E27FC236}">
                    <a16:creationId xmlns:a16="http://schemas.microsoft.com/office/drawing/2014/main" id="{D2386B91-F85A-17DD-80EB-F20033E4EC06}"/>
                  </a:ext>
                </a:extLst>
              </p:cNvPr>
              <p:cNvSpPr>
                <a:spLocks noGrp="1" noRot="1" noChangeAspect="1" noMove="1" noResize="1" noEditPoints="1" noAdjustHandles="1" noChangeArrowheads="1" noChangeShapeType="1" noTextEdit="1"/>
              </p:cNvSpPr>
              <p:nvPr>
                <p:ph type="body" sz="quarter" idx="31"/>
              </p:nvPr>
            </p:nvSpPr>
            <p:spPr>
              <a:xfrm>
                <a:off x="1308080" y="3356285"/>
                <a:ext cx="10175920" cy="641396"/>
              </a:xfrm>
              <a:blipFill>
                <a:blip r:embed="rId5"/>
                <a:stretch>
                  <a:fillRect l="-2157" b="-5238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F91A42F4-D8C9-20A3-82EB-86FAD4D776A8}"/>
              </a:ext>
            </a:extLst>
          </p:cNvPr>
          <p:cNvSpPr txBox="1"/>
          <p:nvPr/>
        </p:nvSpPr>
        <p:spPr>
          <a:xfrm>
            <a:off x="670555" y="341356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CA9D5B15-A13C-EE8B-176F-3B4E3454A1A2}"/>
              </a:ext>
            </a:extLst>
          </p:cNvPr>
          <p:cNvSpPr txBox="1"/>
          <p:nvPr/>
        </p:nvSpPr>
        <p:spPr>
          <a:xfrm>
            <a:off x="670556" y="41689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9B8955CE-78C1-2F30-7505-4CA44A86BDFF}"/>
              </a:ext>
            </a:extLst>
          </p:cNvPr>
          <p:cNvSpPr txBox="1"/>
          <p:nvPr/>
        </p:nvSpPr>
        <p:spPr>
          <a:xfrm>
            <a:off x="670557" y="571303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B4746450-E4E2-359C-DFCA-0532E811BD1E}"/>
              </a:ext>
            </a:extLst>
          </p:cNvPr>
          <p:cNvSpPr txBox="1"/>
          <p:nvPr/>
        </p:nvSpPr>
        <p:spPr>
          <a:xfrm>
            <a:off x="670556" y="494097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6"/>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2DE879E-ABAE-4A76-0185-125D43C15476}"/>
                  </a:ext>
                </a:extLst>
              </p:cNvPr>
              <p:cNvSpPr txBox="1"/>
              <p:nvPr/>
            </p:nvSpPr>
            <p:spPr>
              <a:xfrm>
                <a:off x="816000" y="1184223"/>
                <a:ext cx="10560000" cy="4521174"/>
              </a:xfrm>
              <a:prstGeom prst="rect">
                <a:avLst/>
              </a:prstGeom>
              <a:noFill/>
            </p:spPr>
            <p:txBody>
              <a:bodyPr wrap="square">
                <a:spAutoFit/>
              </a:bodyPr>
              <a:lstStyle/>
              <a:p>
                <a:pPr algn="ctr">
                  <a:lnSpc>
                    <a:spcPct val="150000"/>
                  </a:lnSpc>
                </a:pPr>
                <a:r>
                  <a:rPr lang="en-AU" sz="3600" b="1"/>
                  <a:t>Record</a:t>
                </a:r>
                <a:r>
                  <a:rPr lang="en-AU" sz="3600"/>
                  <a:t> whether each fraction is </a:t>
                </a:r>
                <a:r>
                  <a:rPr lang="en-AU" sz="3600" b="1"/>
                  <a:t>less than</a:t>
                </a:r>
                <a:r>
                  <a:rPr lang="en-AU" sz="3600"/>
                  <a:t>, </a:t>
                </a:r>
                <a:r>
                  <a:rPr lang="en-AU" sz="3600" b="1"/>
                  <a:t>equal to</a:t>
                </a:r>
                <a:r>
                  <a:rPr lang="en-AU" sz="3600"/>
                  <a:t>, or </a:t>
                </a:r>
                <a:r>
                  <a:rPr lang="en-AU" sz="3600" b="1"/>
                  <a:t>greater than </a:t>
                </a:r>
                <a:r>
                  <a:rPr lang="en-AU" sz="3600"/>
                  <a:t>the </a:t>
                </a:r>
                <a:r>
                  <a:rPr lang="en-AU" sz="3600" b="1"/>
                  <a:t>benchmark</a:t>
                </a:r>
                <a:r>
                  <a:rPr lang="en-AU" sz="3600"/>
                  <a:t> of </a:t>
                </a:r>
                <a14:m>
                  <m:oMath xmlns:m="http://schemas.openxmlformats.org/officeDocument/2006/math">
                    <m:f>
                      <m:fPr>
                        <m:ctrlPr>
                          <a:rPr lang="en-AU" sz="5400" b="1" i="1">
                            <a:latin typeface="Cambria Math" panose="02040503050406030204" pitchFamily="18" charset="0"/>
                          </a:rPr>
                        </m:ctrlPr>
                      </m:fPr>
                      <m:num>
                        <m:r>
                          <a:rPr lang="en-AU" sz="5400" b="1" i="1">
                            <a:latin typeface="Cambria Math" panose="02040503050406030204" pitchFamily="18" charset="0"/>
                          </a:rPr>
                          <m:t>𝟏</m:t>
                        </m:r>
                      </m:num>
                      <m:den>
                        <m:r>
                          <a:rPr lang="en-AU" sz="5400" b="1" i="1" smtClean="0">
                            <a:latin typeface="Cambria Math" panose="02040503050406030204" pitchFamily="18" charset="0"/>
                          </a:rPr>
                          <m:t>𝟐</m:t>
                        </m:r>
                      </m:den>
                    </m:f>
                  </m:oMath>
                </a14:m>
                <a:endParaRPr lang="en-AU" sz="5400" b="0"/>
              </a:p>
              <a:p>
                <a:pPr algn="ctr">
                  <a:lnSpc>
                    <a:spcPct val="150000"/>
                  </a:lnSpc>
                </a:pPr>
                <a14:m>
                  <m:oMath xmlns:m="http://schemas.openxmlformats.org/officeDocument/2006/math">
                    <m:f>
                      <m:fPr>
                        <m:ctrlPr>
                          <a:rPr lang="en-AU" sz="6000" i="1">
                            <a:latin typeface="Cambria Math" panose="02040503050406030204" pitchFamily="18" charset="0"/>
                          </a:rPr>
                        </m:ctrlPr>
                      </m:fPr>
                      <m:num>
                        <m:r>
                          <a:rPr lang="en-AU" sz="6000" i="1">
                            <a:latin typeface="Cambria Math" panose="02040503050406030204" pitchFamily="18" charset="0"/>
                          </a:rPr>
                          <m:t>1</m:t>
                        </m:r>
                      </m:num>
                      <m:den>
                        <m:r>
                          <a:rPr lang="en-AU" sz="6000" b="0" i="1" smtClean="0">
                            <a:latin typeface="Cambria Math" panose="02040503050406030204" pitchFamily="18" charset="0"/>
                          </a:rPr>
                          <m:t>8</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i="1">
                            <a:latin typeface="Cambria Math" panose="02040503050406030204" pitchFamily="18" charset="0"/>
                          </a:rPr>
                          <m:t>1</m:t>
                        </m:r>
                      </m:num>
                      <m:den>
                        <m:r>
                          <a:rPr lang="en-AU" sz="6000" b="0" i="1" smtClean="0">
                            <a:latin typeface="Cambria Math" panose="02040503050406030204" pitchFamily="18" charset="0"/>
                          </a:rPr>
                          <m:t>2</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b="0" i="1" smtClean="0">
                            <a:latin typeface="Cambria Math" panose="02040503050406030204" pitchFamily="18" charset="0"/>
                          </a:rPr>
                          <m:t>1</m:t>
                        </m:r>
                      </m:num>
                      <m:den>
                        <m:r>
                          <a:rPr lang="en-AU" sz="6000" b="0" i="1" smtClean="0">
                            <a:latin typeface="Cambria Math" panose="02040503050406030204" pitchFamily="18" charset="0"/>
                          </a:rPr>
                          <m:t>6</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b="0" i="1" smtClean="0">
                            <a:latin typeface="Cambria Math" panose="02040503050406030204" pitchFamily="18" charset="0"/>
                          </a:rPr>
                          <m:t>2</m:t>
                        </m:r>
                      </m:num>
                      <m:den>
                        <m:r>
                          <a:rPr lang="en-AU" sz="6000" b="0" i="1" smtClean="0">
                            <a:latin typeface="Cambria Math" panose="02040503050406030204" pitchFamily="18" charset="0"/>
                          </a:rPr>
                          <m:t>3</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i="1">
                            <a:latin typeface="Cambria Math" panose="02040503050406030204" pitchFamily="18" charset="0"/>
                          </a:rPr>
                          <m:t>1</m:t>
                        </m:r>
                      </m:num>
                      <m:den>
                        <m:r>
                          <a:rPr lang="en-AU" sz="6000" b="0" i="1" smtClean="0">
                            <a:latin typeface="Cambria Math" panose="02040503050406030204" pitchFamily="18" charset="0"/>
                          </a:rPr>
                          <m:t>5</m:t>
                        </m:r>
                      </m:den>
                    </m:f>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b="0" i="1" smtClean="0">
                            <a:latin typeface="Cambria Math" panose="02040503050406030204" pitchFamily="18" charset="0"/>
                          </a:rPr>
                          <m:t>3</m:t>
                        </m:r>
                      </m:num>
                      <m:den>
                        <m:r>
                          <a:rPr lang="en-AU" sz="6000" b="0" i="1" smtClean="0">
                            <a:latin typeface="Cambria Math" panose="02040503050406030204" pitchFamily="18" charset="0"/>
                          </a:rPr>
                          <m:t>5</m:t>
                        </m:r>
                      </m:den>
                    </m:f>
                  </m:oMath>
                </a14:m>
                <a:endParaRPr lang="en-AU" sz="6000"/>
              </a:p>
            </p:txBody>
          </p:sp>
        </mc:Choice>
        <mc:Fallback xmlns="">
          <p:sp>
            <p:nvSpPr>
              <p:cNvPr id="5" name="TextBox 4">
                <a:extLst>
                  <a:ext uri="{FF2B5EF4-FFF2-40B4-BE49-F238E27FC236}">
                    <a16:creationId xmlns:a16="http://schemas.microsoft.com/office/drawing/2014/main" id="{12DE879E-ABAE-4A76-0185-125D43C15476}"/>
                  </a:ext>
                </a:extLst>
              </p:cNvPr>
              <p:cNvSpPr txBox="1">
                <a:spLocks noRot="1" noChangeAspect="1" noMove="1" noResize="1" noEditPoints="1" noAdjustHandles="1" noChangeArrowheads="1" noChangeShapeType="1" noTextEdit="1"/>
              </p:cNvSpPr>
              <p:nvPr/>
            </p:nvSpPr>
            <p:spPr>
              <a:xfrm>
                <a:off x="816000" y="1184223"/>
                <a:ext cx="10560000" cy="4521174"/>
              </a:xfrm>
              <a:prstGeom prst="rect">
                <a:avLst/>
              </a:prstGeom>
              <a:blipFill>
                <a:blip r:embed="rId4"/>
                <a:stretch>
                  <a:fillRect l="-462" r="-1501"/>
                </a:stretch>
              </a:blipFill>
            </p:spPr>
            <p:txBody>
              <a:bodyPr/>
              <a:lstStyle/>
              <a:p>
                <a:r>
                  <a:rPr lang="en-US">
                    <a:noFill/>
                  </a:rPr>
                  <a:t> </a:t>
                </a:r>
              </a:p>
            </p:txBody>
          </p:sp>
        </mc:Fallback>
      </mc:AlternateContent>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B18E672-0C67-DD3D-1E6A-FD7C5F6E8327}"/>
              </a:ext>
            </a:extLst>
          </p:cNvPr>
          <p:cNvSpPr txBox="1"/>
          <p:nvPr/>
        </p:nvSpPr>
        <p:spPr>
          <a:xfrm>
            <a:off x="629745" y="905601"/>
            <a:ext cx="10712918" cy="5691494"/>
          </a:xfrm>
          <a:prstGeom prst="rect">
            <a:avLst/>
          </a:prstGeom>
          <a:noFill/>
        </p:spPr>
        <p:txBody>
          <a:bodyPr wrap="square">
            <a:spAutoFit/>
          </a:bodyPr>
          <a:lstStyle/>
          <a:p>
            <a:pPr algn="ctr">
              <a:lnSpc>
                <a:spcPct val="150000"/>
              </a:lnSpc>
            </a:pPr>
            <a:r>
              <a:rPr lang="en-AU" sz="4000"/>
              <a:t>The teacher asks you to mark out a </a:t>
            </a:r>
            <a:r>
              <a:rPr lang="en-AU" sz="4000" b="1"/>
              <a:t>1 km </a:t>
            </a:r>
            <a:r>
              <a:rPr lang="en-AU" sz="4000"/>
              <a:t>running track.</a:t>
            </a:r>
          </a:p>
          <a:p>
            <a:pPr algn="ctr">
              <a:lnSpc>
                <a:spcPct val="150000"/>
              </a:lnSpc>
            </a:pPr>
            <a:br>
              <a:rPr lang="en-AU" sz="2200"/>
            </a:br>
            <a:r>
              <a:rPr lang="en-AU" sz="4000" b="1"/>
              <a:t>How many </a:t>
            </a:r>
            <a:r>
              <a:rPr lang="en-AU" sz="4000"/>
              <a:t>times will you need to measure </a:t>
            </a:r>
            <a:r>
              <a:rPr lang="en-AU" sz="4000" b="1"/>
              <a:t>100 metres </a:t>
            </a:r>
            <a:r>
              <a:rPr lang="en-AU" sz="4000"/>
              <a:t>to complete the </a:t>
            </a:r>
            <a:r>
              <a:rPr lang="en-AU" sz="4000" b="1"/>
              <a:t>1 km </a:t>
            </a:r>
            <a:r>
              <a:rPr lang="en-AU" sz="4000"/>
              <a:t>track? </a:t>
            </a:r>
          </a:p>
          <a:p>
            <a:pPr algn="ctr">
              <a:lnSpc>
                <a:spcPct val="150000"/>
              </a:lnSpc>
            </a:pPr>
            <a:endParaRPr lang="en-AU" sz="2200"/>
          </a:p>
          <a:p>
            <a:pPr algn="ctr">
              <a:lnSpc>
                <a:spcPct val="150000"/>
              </a:lnSpc>
            </a:pPr>
            <a:r>
              <a:rPr lang="en-AU" sz="4000" b="1"/>
              <a:t>Communicate</a:t>
            </a:r>
            <a:r>
              <a:rPr lang="en-AU" sz="4000"/>
              <a:t> your </a:t>
            </a:r>
            <a:r>
              <a:rPr lang="en-AU" sz="4000" b="1"/>
              <a:t>reasoning</a:t>
            </a:r>
            <a:r>
              <a:rPr lang="en-AU" sz="4000"/>
              <a:t>.</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8B1C1C4-DFD4-00B5-5AF7-FEE3853066D7}"/>
              </a:ext>
            </a:extLst>
          </p:cNvPr>
          <p:cNvSpPr txBox="1"/>
          <p:nvPr/>
        </p:nvSpPr>
        <p:spPr>
          <a:xfrm>
            <a:off x="1065600" y="1287379"/>
            <a:ext cx="10058400" cy="4283242"/>
          </a:xfrm>
          <a:prstGeom prst="rect">
            <a:avLst/>
          </a:prstGeom>
          <a:noFill/>
        </p:spPr>
        <p:txBody>
          <a:bodyPr wrap="square" lIns="0" tIns="0" rIns="0" bIns="0" rtlCol="0">
            <a:noAutofit/>
          </a:bodyPr>
          <a:lstStyle/>
          <a:p>
            <a:pPr lvl="0" algn="ctr">
              <a:lnSpc>
                <a:spcPct val="150000"/>
              </a:lnSpc>
            </a:pPr>
            <a:r>
              <a:rPr lang="en-AU" sz="4400" b="1"/>
              <a:t>Complete </a:t>
            </a:r>
            <a:r>
              <a:rPr lang="en-AU" sz="4400"/>
              <a:t>the sentence to explain the </a:t>
            </a:r>
            <a:r>
              <a:rPr lang="en-AU" sz="4400" b="1"/>
              <a:t>levelling strategy</a:t>
            </a:r>
            <a:r>
              <a:rPr lang="en-AU" sz="4400"/>
              <a:t>.</a:t>
            </a:r>
          </a:p>
          <a:p>
            <a:pPr lvl="0" algn="ctr">
              <a:lnSpc>
                <a:spcPct val="150000"/>
              </a:lnSpc>
            </a:pPr>
            <a:endParaRPr lang="en-AU" sz="4400"/>
          </a:p>
          <a:p>
            <a:pPr lvl="0" algn="ctr">
              <a:lnSpc>
                <a:spcPct val="150000"/>
              </a:lnSpc>
            </a:pPr>
            <a:r>
              <a:rPr lang="en-AU" sz="4400" b="1"/>
              <a:t>Levelling</a:t>
            </a:r>
            <a:r>
              <a:rPr lang="en-AU" sz="4400"/>
              <a:t> is when…</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BADCD82-A28D-63D9-5AAF-6479FEAB6363}"/>
              </a:ext>
            </a:extLst>
          </p:cNvPr>
          <p:cNvSpPr txBox="1"/>
          <p:nvPr/>
        </p:nvSpPr>
        <p:spPr>
          <a:xfrm>
            <a:off x="511604" y="762802"/>
            <a:ext cx="10367268" cy="2300438"/>
          </a:xfrm>
          <a:prstGeom prst="rect">
            <a:avLst/>
          </a:prstGeom>
          <a:noFill/>
        </p:spPr>
        <p:txBody>
          <a:bodyPr wrap="square" lIns="0" tIns="0" rIns="0" bIns="0" rtlCol="0">
            <a:noAutofit/>
          </a:bodyPr>
          <a:lstStyle/>
          <a:p>
            <a:pPr algn="ctr">
              <a:lnSpc>
                <a:spcPct val="150000"/>
              </a:lnSpc>
            </a:pPr>
            <a:r>
              <a:rPr lang="en-AU" sz="3600" dirty="0"/>
              <a:t>Describe any </a:t>
            </a:r>
            <a:r>
              <a:rPr lang="en-AU" sz="3600" b="1" dirty="0"/>
              <a:t>similarities or differences </a:t>
            </a:r>
            <a:r>
              <a:rPr lang="en-AU" sz="3600" dirty="0"/>
              <a:t>you notice between these 2 triangles focusing on their </a:t>
            </a:r>
            <a:r>
              <a:rPr lang="en-AU" sz="3600" b="1" dirty="0"/>
              <a:t>side lengths</a:t>
            </a:r>
            <a:r>
              <a:rPr lang="en-AU" sz="3600" dirty="0"/>
              <a:t>, </a:t>
            </a:r>
            <a:r>
              <a:rPr lang="en-AU" sz="3600" b="1" dirty="0"/>
              <a:t>angle measures</a:t>
            </a:r>
            <a:r>
              <a:rPr lang="en-AU" sz="3600" dirty="0"/>
              <a:t>, and </a:t>
            </a:r>
            <a:r>
              <a:rPr lang="en-AU" sz="3600" b="1" dirty="0"/>
              <a:t>lines of symmetry.</a:t>
            </a:r>
          </a:p>
        </p:txBody>
      </p:sp>
      <p:sp>
        <p:nvSpPr>
          <p:cNvPr id="5" name="Isosceles Triangle 4" descr="A blue equilateral triangle.">
            <a:extLst>
              <a:ext uri="{FF2B5EF4-FFF2-40B4-BE49-F238E27FC236}">
                <a16:creationId xmlns:a16="http://schemas.microsoft.com/office/drawing/2014/main" id="{1E7A0043-1B14-F4F8-9DDE-9F00164380D6}"/>
              </a:ext>
            </a:extLst>
          </p:cNvPr>
          <p:cNvSpPr/>
          <p:nvPr/>
        </p:nvSpPr>
        <p:spPr>
          <a:xfrm>
            <a:off x="1934992" y="4059455"/>
            <a:ext cx="2329314" cy="203574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Isosceles Triangle 7" descr="A blue isoceles triangle.">
            <a:extLst>
              <a:ext uri="{FF2B5EF4-FFF2-40B4-BE49-F238E27FC236}">
                <a16:creationId xmlns:a16="http://schemas.microsoft.com/office/drawing/2014/main" id="{804B6232-37CB-D116-A5C0-7520E576BC33}"/>
              </a:ext>
            </a:extLst>
          </p:cNvPr>
          <p:cNvSpPr/>
          <p:nvPr/>
        </p:nvSpPr>
        <p:spPr>
          <a:xfrm>
            <a:off x="7604272" y="3116179"/>
            <a:ext cx="1414914" cy="2979019"/>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9C8B0AE-69B8-DD8E-1D98-D4FF604AE003}"/>
              </a:ext>
            </a:extLst>
          </p:cNvPr>
          <p:cNvSpPr txBox="1"/>
          <p:nvPr/>
        </p:nvSpPr>
        <p:spPr>
          <a:xfrm>
            <a:off x="2165998" y="6217094"/>
            <a:ext cx="3089709" cy="545601"/>
          </a:xfrm>
          <a:prstGeom prst="rect">
            <a:avLst/>
          </a:prstGeom>
          <a:noFill/>
        </p:spPr>
        <p:txBody>
          <a:bodyPr wrap="square" lIns="0" tIns="0" rIns="0" bIns="0" rtlCol="0">
            <a:noAutofit/>
          </a:bodyPr>
          <a:lstStyle/>
          <a:p>
            <a:pPr algn="l"/>
            <a:r>
              <a:rPr lang="en-AU" sz="1800"/>
              <a:t>Equilateral triangle</a:t>
            </a:r>
          </a:p>
        </p:txBody>
      </p:sp>
      <p:sp>
        <p:nvSpPr>
          <p:cNvPr id="10" name="TextBox 9">
            <a:extLst>
              <a:ext uri="{FF2B5EF4-FFF2-40B4-BE49-F238E27FC236}">
                <a16:creationId xmlns:a16="http://schemas.microsoft.com/office/drawing/2014/main" id="{8E526E58-EC20-D831-63A4-B167BEDB957B}"/>
              </a:ext>
            </a:extLst>
          </p:cNvPr>
          <p:cNvSpPr txBox="1"/>
          <p:nvPr/>
        </p:nvSpPr>
        <p:spPr>
          <a:xfrm>
            <a:off x="7474331" y="6201830"/>
            <a:ext cx="3089709" cy="545601"/>
          </a:xfrm>
          <a:prstGeom prst="rect">
            <a:avLst/>
          </a:prstGeom>
          <a:noFill/>
        </p:spPr>
        <p:txBody>
          <a:bodyPr wrap="square" lIns="0" tIns="0" rIns="0" bIns="0" rtlCol="0">
            <a:noAutofit/>
          </a:bodyPr>
          <a:lstStyle/>
          <a:p>
            <a:pPr algn="l"/>
            <a:r>
              <a:rPr lang="en-AU" sz="1800"/>
              <a:t>Isosceles triangle</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pattern block fractions</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range of shape pattern blocks. From left to right these are a yellow hexagon labelled one whole, a red trapezium, a blue rhombus and a green equilateral triangle. ">
            <a:extLst>
              <a:ext uri="{FF2B5EF4-FFF2-40B4-BE49-F238E27FC236}">
                <a16:creationId xmlns:a16="http://schemas.microsoft.com/office/drawing/2014/main" id="{52F751C9-9F35-03F4-2268-1B9E82E184B9}"/>
              </a:ext>
            </a:extLst>
          </p:cNvPr>
          <p:cNvPicPr>
            <a:picLocks noChangeAspect="1"/>
          </p:cNvPicPr>
          <p:nvPr/>
        </p:nvPicPr>
        <p:blipFill>
          <a:blip r:embed="rId4"/>
          <a:stretch>
            <a:fillRect/>
          </a:stretch>
        </p:blipFill>
        <p:spPr>
          <a:xfrm>
            <a:off x="1690796" y="3345719"/>
            <a:ext cx="8766995" cy="1709063"/>
          </a:xfrm>
          <a:prstGeom prst="rect">
            <a:avLst/>
          </a:prstGeom>
        </p:spPr>
      </p:pic>
      <p:pic>
        <p:nvPicPr>
          <p:cNvPr id="7" name="Picture 6" descr="Fraction notation cards marked one sixth, one half, one third.">
            <a:extLst>
              <a:ext uri="{FF2B5EF4-FFF2-40B4-BE49-F238E27FC236}">
                <a16:creationId xmlns:a16="http://schemas.microsoft.com/office/drawing/2014/main" id="{D595E611-0B44-8B2A-BF42-7E84E87829C5}"/>
              </a:ext>
            </a:extLst>
          </p:cNvPr>
          <p:cNvPicPr>
            <a:picLocks noChangeAspect="1"/>
          </p:cNvPicPr>
          <p:nvPr/>
        </p:nvPicPr>
        <p:blipFill>
          <a:blip r:embed="rId5"/>
          <a:stretch>
            <a:fillRect/>
          </a:stretch>
        </p:blipFill>
        <p:spPr>
          <a:xfrm>
            <a:off x="4076639" y="5148937"/>
            <a:ext cx="3995311" cy="1709063"/>
          </a:xfrm>
          <a:prstGeom prst="rect">
            <a:avLst/>
          </a:prstGeom>
        </p:spPr>
      </p:pic>
      <p:pic>
        <p:nvPicPr>
          <p:cNvPr id="9" name="Picture 8" descr="A number line marked 0 to 1.">
            <a:extLst>
              <a:ext uri="{FF2B5EF4-FFF2-40B4-BE49-F238E27FC236}">
                <a16:creationId xmlns:a16="http://schemas.microsoft.com/office/drawing/2014/main" id="{22E2F1E8-86A8-63F0-D89F-86251B549083}"/>
              </a:ext>
            </a:extLst>
          </p:cNvPr>
          <p:cNvPicPr>
            <a:picLocks noChangeAspect="1"/>
          </p:cNvPicPr>
          <p:nvPr/>
        </p:nvPicPr>
        <p:blipFill>
          <a:blip r:embed="rId6"/>
          <a:stretch>
            <a:fillRect/>
          </a:stretch>
        </p:blipFill>
        <p:spPr>
          <a:xfrm>
            <a:off x="0" y="2273381"/>
            <a:ext cx="12192000" cy="2033014"/>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885817542"/>
              </p:ext>
            </p:extLst>
          </p:nvPr>
        </p:nvGraphicFramePr>
        <p:xfrm>
          <a:off x="2471198" y="593332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653144" y="876615"/>
            <a:ext cx="10470856" cy="893226"/>
          </a:xfrm>
        </p:spPr>
        <p:txBody>
          <a:bodyPr/>
          <a:lstStyle/>
          <a:p>
            <a:pPr algn="ctr"/>
            <a:r>
              <a:rPr lang="en-AU" sz="4400">
                <a:latin typeface="+mj-lt"/>
              </a:rPr>
              <a:t>If the yellow hexagon represents </a:t>
            </a:r>
            <a:r>
              <a:rPr lang="en-AU" sz="4400" b="1">
                <a:latin typeface="+mj-lt"/>
              </a:rPr>
              <a:t>the whole</a:t>
            </a:r>
            <a:r>
              <a:rPr lang="en-AU" sz="4400">
                <a:latin typeface="+mj-lt"/>
              </a:rPr>
              <a:t>, the red trapezium represents </a:t>
            </a:r>
            <a:r>
              <a:rPr lang="en-AU" sz="4400" b="1">
                <a:latin typeface="+mj-lt"/>
              </a:rPr>
              <a:t>half</a:t>
            </a:r>
            <a:r>
              <a:rPr lang="en-AU" sz="4400">
                <a:latin typeface="+mj-lt"/>
              </a:rPr>
              <a:t>.</a:t>
            </a:r>
          </a:p>
          <a:p>
            <a:endParaRPr lang="en-AU" sz="4400">
              <a:latin typeface="+mj-lt"/>
            </a:endParaRPr>
          </a:p>
        </p:txBody>
      </p:sp>
      <p:pic>
        <p:nvPicPr>
          <p:cNvPr id="16" name="Picture 15" descr="A yellow hexagon and a red trapezium. ">
            <a:extLst>
              <a:ext uri="{FF2B5EF4-FFF2-40B4-BE49-F238E27FC236}">
                <a16:creationId xmlns:a16="http://schemas.microsoft.com/office/drawing/2014/main" id="{DCC32328-3FD3-D970-A0F6-BD6859C64B3E}"/>
              </a:ext>
            </a:extLst>
          </p:cNvPr>
          <p:cNvPicPr>
            <a:picLocks noChangeAspect="1"/>
          </p:cNvPicPr>
          <p:nvPr/>
        </p:nvPicPr>
        <p:blipFill>
          <a:blip r:embed="rId4">
            <a:extLst>
              <a:ext uri="{28A0092B-C50C-407E-A947-70E740481C1C}">
                <a14:useLocalDpi xmlns:a14="http://schemas.microsoft.com/office/drawing/2010/main" val="0"/>
              </a:ext>
            </a:extLst>
          </a:blip>
          <a:srcRect l="4787" t="30476" r="28544" b="7513"/>
          <a:stretch>
            <a:fillRect/>
          </a:stretch>
        </p:blipFill>
        <p:spPr>
          <a:xfrm>
            <a:off x="3912106" y="3074504"/>
            <a:ext cx="4050382" cy="2728189"/>
          </a:xfrm>
          <a:prstGeom prst="rect">
            <a:avLst/>
          </a:prstGeom>
        </p:spPr>
      </p:pic>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C06F014-7C75-1CD7-E73C-15664C17DA3F}"/>
                  </a:ext>
                </a:extLst>
              </p:cNvPr>
              <p:cNvSpPr txBox="1"/>
              <p:nvPr/>
            </p:nvSpPr>
            <p:spPr>
              <a:xfrm>
                <a:off x="1799963" y="1778822"/>
                <a:ext cx="8195094" cy="2264228"/>
              </a:xfrm>
              <a:prstGeom prst="rect">
                <a:avLst/>
              </a:prstGeom>
              <a:noFill/>
            </p:spPr>
            <p:txBody>
              <a:bodyPr wrap="square" lIns="0" tIns="0" rIns="0" bIns="0" rtlCol="0">
                <a:noAutofit/>
              </a:bodyPr>
              <a:lstStyle/>
              <a:p>
                <a:pPr lvl="0" algn="ctr"/>
                <a:r>
                  <a:rPr lang="en-AU" sz="4400"/>
                  <a:t>Complete the number sentence.</a:t>
                </a:r>
              </a:p>
              <a:p>
                <a:pPr lvl="0" algn="ctr"/>
                <a:endParaRPr lang="en-AU" sz="4400"/>
              </a:p>
              <a:p>
                <a:pPr lvl="0" algn="ctr"/>
                <a14:m>
                  <m:oMath xmlns:m="http://schemas.openxmlformats.org/officeDocument/2006/math">
                    <m:f>
                      <m:fPr>
                        <m:ctrlPr>
                          <a:rPr lang="en-AU" sz="6600" i="1">
                            <a:latin typeface="Cambria Math" panose="02040503050406030204" pitchFamily="18" charset="0"/>
                          </a:rPr>
                        </m:ctrlPr>
                      </m:fPr>
                      <m:num>
                        <m:r>
                          <a:rPr lang="en-AU" sz="6600" b="0" i="1" smtClean="0">
                            <a:latin typeface="Cambria Math" panose="02040503050406030204" pitchFamily="18" charset="0"/>
                          </a:rPr>
                          <m:t>6</m:t>
                        </m:r>
                      </m:num>
                      <m:den>
                        <m:r>
                          <a:rPr lang="en-AU" sz="6600" b="0" i="1" smtClean="0">
                            <a:latin typeface="Cambria Math" panose="02040503050406030204" pitchFamily="18" charset="0"/>
                          </a:rPr>
                          <m:t>8</m:t>
                        </m:r>
                      </m:den>
                    </m:f>
                  </m:oMath>
                </a14:m>
                <a:r>
                  <a:rPr lang="en-AU" sz="6600"/>
                  <a:t> = </a:t>
                </a:r>
                <a14:m>
                  <m:oMath xmlns:m="http://schemas.openxmlformats.org/officeDocument/2006/math">
                    <m:f>
                      <m:fPr>
                        <m:ctrlPr>
                          <a:rPr lang="en-AU" sz="6600" i="1">
                            <a:latin typeface="Cambria Math" panose="02040503050406030204" pitchFamily="18" charset="0"/>
                          </a:rPr>
                        </m:ctrlPr>
                      </m:fPr>
                      <m:num>
                        <m:r>
                          <a:rPr lang="en-AU" sz="6600" i="1">
                            <a:latin typeface="Cambria Math" panose="02040503050406030204" pitchFamily="18" charset="0"/>
                          </a:rPr>
                          <m:t>1</m:t>
                        </m:r>
                      </m:num>
                      <m:den/>
                    </m:f>
                  </m:oMath>
                </a14:m>
                <a:endParaRPr lang="en-AU" sz="6600"/>
              </a:p>
            </p:txBody>
          </p:sp>
        </mc:Choice>
        <mc:Fallback xmlns="">
          <p:sp>
            <p:nvSpPr>
              <p:cNvPr id="4" name="TextBox 3">
                <a:extLst>
                  <a:ext uri="{FF2B5EF4-FFF2-40B4-BE49-F238E27FC236}">
                    <a16:creationId xmlns:a16="http://schemas.microsoft.com/office/drawing/2014/main" id="{6C06F014-7C75-1CD7-E73C-15664C17DA3F}"/>
                  </a:ext>
                </a:extLst>
              </p:cNvPr>
              <p:cNvSpPr txBox="1">
                <a:spLocks noRot="1" noChangeAspect="1" noMove="1" noResize="1" noEditPoints="1" noAdjustHandles="1" noChangeArrowheads="1" noChangeShapeType="1" noTextEdit="1"/>
              </p:cNvSpPr>
              <p:nvPr/>
            </p:nvSpPr>
            <p:spPr>
              <a:xfrm>
                <a:off x="1799963" y="1778822"/>
                <a:ext cx="8195094" cy="2264228"/>
              </a:xfrm>
              <a:prstGeom prst="rect">
                <a:avLst/>
              </a:prstGeom>
              <a:blipFill>
                <a:blip r:embed="rId4"/>
                <a:stretch>
                  <a:fillRect l="-2751" t="-7817" r="-2677" b="-34232"/>
                </a:stretch>
              </a:blipFill>
            </p:spPr>
            <p:txBody>
              <a:bodyPr/>
              <a:lstStyle/>
              <a:p>
                <a:r>
                  <a:rPr lang="en-US">
                    <a:noFill/>
                  </a:rPr>
                  <a:t> </a:t>
                </a:r>
              </a:p>
            </p:txBody>
          </p:sp>
        </mc:Fallback>
      </mc:AlternateContent>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1FFCCCB-DF04-8D4A-E9E8-B13CF2D7F5E8}"/>
              </a:ext>
            </a:extLst>
          </p:cNvPr>
          <p:cNvSpPr txBox="1"/>
          <p:nvPr/>
        </p:nvSpPr>
        <p:spPr>
          <a:xfrm>
            <a:off x="3030353" y="1340318"/>
            <a:ext cx="7421078" cy="2088682"/>
          </a:xfrm>
          <a:prstGeom prst="rect">
            <a:avLst/>
          </a:prstGeom>
          <a:noFill/>
        </p:spPr>
        <p:txBody>
          <a:bodyPr wrap="square" lIns="0" tIns="0" rIns="0" bIns="0" rtlCol="0">
            <a:noAutofit/>
          </a:bodyPr>
          <a:lstStyle/>
          <a:p>
            <a:pPr algn="l">
              <a:lnSpc>
                <a:spcPct val="150000"/>
              </a:lnSpc>
            </a:pPr>
            <a:r>
              <a:rPr lang="en-AU" sz="4400" b="1"/>
              <a:t>Complete</a:t>
            </a:r>
            <a:r>
              <a:rPr lang="en-AU" sz="4400"/>
              <a:t> the following:</a:t>
            </a:r>
          </a:p>
          <a:p>
            <a:pPr marL="571500" indent="-571500" algn="l">
              <a:lnSpc>
                <a:spcPct val="150000"/>
              </a:lnSpc>
              <a:buFont typeface="Arial" panose="020B0604020202020204" pitchFamily="34" charset="0"/>
              <a:buChar char="•"/>
            </a:pPr>
            <a:r>
              <a:rPr lang="en-AU" sz="4400"/>
              <a:t>1 km = </a:t>
            </a:r>
            <a:r>
              <a:rPr lang="en-AU" sz="4400">
                <a:solidFill>
                  <a:schemeClr val="accent2"/>
                </a:solidFill>
              </a:rPr>
              <a:t>?</a:t>
            </a:r>
            <a:r>
              <a:rPr lang="en-AU" sz="4400"/>
              <a:t> m</a:t>
            </a:r>
          </a:p>
          <a:p>
            <a:pPr marL="571500" indent="-571500" algn="l">
              <a:lnSpc>
                <a:spcPct val="150000"/>
              </a:lnSpc>
              <a:buFont typeface="Arial" panose="020B0604020202020204" pitchFamily="34" charset="0"/>
              <a:buChar char="•"/>
            </a:pPr>
            <a:r>
              <a:rPr lang="en-AU" sz="4400"/>
              <a:t>4 km = </a:t>
            </a:r>
            <a:r>
              <a:rPr lang="en-AU" sz="4400">
                <a:solidFill>
                  <a:schemeClr val="accent2"/>
                </a:solidFill>
              </a:rPr>
              <a:t>?</a:t>
            </a:r>
            <a:r>
              <a:rPr lang="en-AU" sz="4400"/>
              <a:t> m</a:t>
            </a:r>
          </a:p>
          <a:p>
            <a:pPr marL="571500" indent="-571500" algn="l">
              <a:lnSpc>
                <a:spcPct val="150000"/>
              </a:lnSpc>
              <a:buFont typeface="Arial" panose="020B0604020202020204" pitchFamily="34" charset="0"/>
              <a:buChar char="•"/>
            </a:pPr>
            <a:r>
              <a:rPr lang="en-AU" sz="4400"/>
              <a:t>2000 m = </a:t>
            </a:r>
            <a:r>
              <a:rPr lang="en-AU" sz="4400">
                <a:solidFill>
                  <a:schemeClr val="accent2"/>
                </a:solidFill>
              </a:rPr>
              <a:t>?</a:t>
            </a:r>
            <a:r>
              <a:rPr lang="en-AU" sz="4400"/>
              <a:t> km</a:t>
            </a:r>
          </a:p>
          <a:p>
            <a:pPr marL="571500" indent="-571500" algn="l">
              <a:lnSpc>
                <a:spcPct val="150000"/>
              </a:lnSpc>
              <a:buFont typeface="Arial" panose="020B0604020202020204" pitchFamily="34" charset="0"/>
              <a:buChar char="•"/>
            </a:pPr>
            <a:r>
              <a:rPr lang="en-AU" sz="4400"/>
              <a:t>5000m = </a:t>
            </a:r>
            <a:r>
              <a:rPr lang="en-AU" sz="4400">
                <a:solidFill>
                  <a:schemeClr val="accent2"/>
                </a:solidFill>
              </a:rPr>
              <a:t>?</a:t>
            </a:r>
            <a:r>
              <a:rPr lang="en-AU" sz="4400"/>
              <a:t> km</a:t>
            </a:r>
          </a:p>
          <a:p>
            <a:pPr algn="l"/>
            <a:endParaRPr lang="en-AU" sz="1800"/>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EEF4059-5FDF-B175-9AAD-D9D9116A35FB}"/>
              </a:ext>
            </a:extLst>
          </p:cNvPr>
          <p:cNvSpPr txBox="1"/>
          <p:nvPr/>
        </p:nvSpPr>
        <p:spPr>
          <a:xfrm>
            <a:off x="123012" y="936559"/>
            <a:ext cx="11945976" cy="4283242"/>
          </a:xfrm>
          <a:prstGeom prst="rect">
            <a:avLst/>
          </a:prstGeom>
          <a:noFill/>
        </p:spPr>
        <p:txBody>
          <a:bodyPr wrap="square" lIns="0" tIns="0" rIns="0" bIns="0" rtlCol="0">
            <a:noAutofit/>
          </a:bodyPr>
          <a:lstStyle/>
          <a:p>
            <a:pPr lvl="0" algn="ctr">
              <a:lnSpc>
                <a:spcPct val="150000"/>
              </a:lnSpc>
            </a:pPr>
            <a:r>
              <a:rPr lang="en-AU" sz="3200"/>
              <a:t>Havannah was asked to explain how she solved </a:t>
            </a:r>
            <a:r>
              <a:rPr lang="en-AU" sz="3200" b="1"/>
              <a:t>4998 + 955</a:t>
            </a:r>
            <a:r>
              <a:rPr lang="en-AU" sz="3200"/>
              <a:t>.</a:t>
            </a:r>
          </a:p>
          <a:p>
            <a:pPr lvl="0" algn="ctr">
              <a:lnSpc>
                <a:spcPct val="150000"/>
              </a:lnSpc>
            </a:pPr>
            <a:r>
              <a:rPr lang="en-AU" sz="3200" b="1"/>
              <a:t>Read</a:t>
            </a:r>
            <a:r>
              <a:rPr lang="en-AU" sz="3200"/>
              <a:t> her explanation and </a:t>
            </a:r>
            <a:r>
              <a:rPr lang="en-AU" sz="3200" b="1"/>
              <a:t>record</a:t>
            </a:r>
            <a:r>
              <a:rPr lang="en-AU" sz="3200"/>
              <a:t> the strategy she used.</a:t>
            </a:r>
          </a:p>
          <a:p>
            <a:pPr lvl="0" algn="ctr">
              <a:lnSpc>
                <a:spcPct val="150000"/>
              </a:lnSpc>
            </a:pPr>
            <a:endParaRPr lang="en-AU" sz="2800"/>
          </a:p>
          <a:p>
            <a:pPr lvl="0" algn="ctr">
              <a:lnSpc>
                <a:spcPct val="150000"/>
              </a:lnSpc>
            </a:pPr>
            <a:r>
              <a:rPr lang="en-AU" sz="3200">
                <a:solidFill>
                  <a:schemeClr val="accent1"/>
                </a:solidFill>
              </a:rPr>
              <a:t>“I had an addition number sentence and one of the numbers was close to 5000.</a:t>
            </a:r>
          </a:p>
          <a:p>
            <a:pPr lvl="0" algn="ctr">
              <a:lnSpc>
                <a:spcPct val="150000"/>
              </a:lnSpc>
            </a:pPr>
            <a:r>
              <a:rPr lang="en-AU" sz="3200">
                <a:solidFill>
                  <a:schemeClr val="accent1"/>
                </a:solidFill>
              </a:rPr>
              <a:t>So, I took 2 from 955 and added that to 4998 to make that 5000.</a:t>
            </a:r>
          </a:p>
          <a:p>
            <a:pPr lvl="0" algn="ctr">
              <a:lnSpc>
                <a:spcPct val="150000"/>
              </a:lnSpc>
            </a:pPr>
            <a:r>
              <a:rPr lang="en-AU" sz="3200">
                <a:solidFill>
                  <a:schemeClr val="accent1"/>
                </a:solidFill>
              </a:rPr>
              <a:t>That means 955 became 953.</a:t>
            </a:r>
          </a:p>
          <a:p>
            <a:pPr lvl="0" algn="ctr">
              <a:lnSpc>
                <a:spcPct val="150000"/>
              </a:lnSpc>
            </a:pPr>
            <a:r>
              <a:rPr lang="en-AU" sz="3200">
                <a:solidFill>
                  <a:schemeClr val="accent1"/>
                </a:solidFill>
              </a:rPr>
              <a:t>My number sentence became 5000 + 953 = 5 953”.</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94C03C6-C171-C4C9-5968-F06AF7351A15}"/>
              </a:ext>
            </a:extLst>
          </p:cNvPr>
          <p:cNvSpPr txBox="1"/>
          <p:nvPr/>
        </p:nvSpPr>
        <p:spPr>
          <a:xfrm>
            <a:off x="835363" y="1501541"/>
            <a:ext cx="10367268" cy="4225490"/>
          </a:xfrm>
          <a:prstGeom prst="rect">
            <a:avLst/>
          </a:prstGeom>
          <a:noFill/>
        </p:spPr>
        <p:txBody>
          <a:bodyPr wrap="square" lIns="0" tIns="0" rIns="0" bIns="0" rtlCol="0">
            <a:noAutofit/>
          </a:bodyPr>
          <a:lstStyle/>
          <a:p>
            <a:pPr algn="ctr">
              <a:lnSpc>
                <a:spcPct val="150000"/>
              </a:lnSpc>
            </a:pPr>
            <a:r>
              <a:rPr lang="en-AU" sz="3600"/>
              <a:t>Emilia said that rectangles with </a:t>
            </a:r>
            <a:r>
              <a:rPr lang="en-AU" sz="3600" b="1"/>
              <a:t>different side lengths </a:t>
            </a:r>
            <a:r>
              <a:rPr lang="en-AU" sz="3600"/>
              <a:t>can have the </a:t>
            </a:r>
            <a:r>
              <a:rPr lang="en-AU" sz="3600" b="1"/>
              <a:t>same area</a:t>
            </a:r>
            <a:r>
              <a:rPr lang="en-AU" sz="3600"/>
              <a:t>.</a:t>
            </a:r>
          </a:p>
          <a:p>
            <a:pPr algn="ctr">
              <a:lnSpc>
                <a:spcPct val="150000"/>
              </a:lnSpc>
            </a:pPr>
            <a:endParaRPr lang="en-AU" sz="3600"/>
          </a:p>
          <a:p>
            <a:pPr algn="ctr">
              <a:lnSpc>
                <a:spcPct val="150000"/>
              </a:lnSpc>
            </a:pPr>
            <a:r>
              <a:rPr lang="en-AU" sz="3600"/>
              <a:t>Prove her statement by </a:t>
            </a:r>
            <a:r>
              <a:rPr lang="en-AU" sz="3600" b="1"/>
              <a:t>recording</a:t>
            </a:r>
            <a:r>
              <a:rPr lang="en-AU" sz="3600"/>
              <a:t> the </a:t>
            </a:r>
            <a:r>
              <a:rPr lang="en-AU" sz="3600" b="1"/>
              <a:t>side lengths </a:t>
            </a:r>
            <a:r>
              <a:rPr lang="en-AU" sz="3600"/>
              <a:t>of 2 </a:t>
            </a:r>
            <a:r>
              <a:rPr lang="en-AU" sz="3600" b="1"/>
              <a:t>different</a:t>
            </a:r>
            <a:r>
              <a:rPr lang="en-AU" sz="3600"/>
              <a:t> rectangles with the </a:t>
            </a:r>
            <a:r>
              <a:rPr lang="en-AU" sz="3600" b="1"/>
              <a:t>same area. </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pattern block fractions challenge</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number line marked 0 to 1.">
            <a:extLst>
              <a:ext uri="{FF2B5EF4-FFF2-40B4-BE49-F238E27FC236}">
                <a16:creationId xmlns:a16="http://schemas.microsoft.com/office/drawing/2014/main" id="{5B42E7AA-444F-0CAD-8ECF-68A22C309B2F}"/>
              </a:ext>
            </a:extLst>
          </p:cNvPr>
          <p:cNvPicPr>
            <a:picLocks noChangeAspect="1"/>
          </p:cNvPicPr>
          <p:nvPr/>
        </p:nvPicPr>
        <p:blipFill>
          <a:blip r:embed="rId4"/>
          <a:stretch>
            <a:fillRect/>
          </a:stretch>
        </p:blipFill>
        <p:spPr>
          <a:xfrm>
            <a:off x="0" y="2273381"/>
            <a:ext cx="12192000" cy="2033014"/>
          </a:xfrm>
          <a:prstGeom prst="rect">
            <a:avLst/>
          </a:prstGeom>
        </p:spPr>
      </p:pic>
      <p:pic>
        <p:nvPicPr>
          <p:cNvPr id="7" name="Picture 6" descr="Fraction notation cards marked as one half, one third and one sixth.">
            <a:extLst>
              <a:ext uri="{FF2B5EF4-FFF2-40B4-BE49-F238E27FC236}">
                <a16:creationId xmlns:a16="http://schemas.microsoft.com/office/drawing/2014/main" id="{D4FC60E3-A61B-D9BD-5C7F-51CE67E396DB}"/>
              </a:ext>
            </a:extLst>
          </p:cNvPr>
          <p:cNvPicPr>
            <a:picLocks noChangeAspect="1"/>
          </p:cNvPicPr>
          <p:nvPr/>
        </p:nvPicPr>
        <p:blipFill>
          <a:blip r:embed="rId5"/>
          <a:stretch>
            <a:fillRect/>
          </a:stretch>
        </p:blipFill>
        <p:spPr>
          <a:xfrm>
            <a:off x="3814982" y="3026660"/>
            <a:ext cx="4562035" cy="1831413"/>
          </a:xfrm>
          <a:prstGeom prst="rect">
            <a:avLst/>
          </a:prstGeom>
        </p:spPr>
      </p:pic>
      <p:grpSp>
        <p:nvGrpSpPr>
          <p:cNvPr id="13" name="Group 12" descr="A red trapezium partly covered by a green equilateral triangle.">
            <a:extLst>
              <a:ext uri="{FF2B5EF4-FFF2-40B4-BE49-F238E27FC236}">
                <a16:creationId xmlns:a16="http://schemas.microsoft.com/office/drawing/2014/main" id="{BD015218-6C7D-0EDF-1EA0-654358F7A8DD}"/>
              </a:ext>
            </a:extLst>
          </p:cNvPr>
          <p:cNvGrpSpPr/>
          <p:nvPr/>
        </p:nvGrpSpPr>
        <p:grpSpPr>
          <a:xfrm>
            <a:off x="7820545" y="5731329"/>
            <a:ext cx="1593611" cy="702085"/>
            <a:chOff x="5139986" y="5657948"/>
            <a:chExt cx="1593611" cy="702085"/>
          </a:xfrm>
        </p:grpSpPr>
        <p:sp>
          <p:nvSpPr>
            <p:cNvPr id="14" name="Freeform 11">
              <a:extLst>
                <a:ext uri="{FF2B5EF4-FFF2-40B4-BE49-F238E27FC236}">
                  <a16:creationId xmlns:a16="http://schemas.microsoft.com/office/drawing/2014/main" id="{ECEF94BF-54B9-40A8-3F3D-C97801E8DCD5}"/>
                </a:ext>
              </a:extLst>
            </p:cNvPr>
            <p:cNvSpPr/>
            <p:nvPr/>
          </p:nvSpPr>
          <p:spPr>
            <a:xfrm>
              <a:off x="5139986" y="5657948"/>
              <a:ext cx="1593611" cy="702085"/>
            </a:xfrm>
            <a:custGeom>
              <a:avLst/>
              <a:gdLst/>
              <a:ahLst/>
              <a:cxnLst/>
              <a:rect l="l" t="t" r="r" b="b"/>
              <a:pathLst>
                <a:path w="1537387" h="662225">
                  <a:moveTo>
                    <a:pt x="0" y="0"/>
                  </a:moveTo>
                  <a:lnTo>
                    <a:pt x="1537387" y="0"/>
                  </a:lnTo>
                  <a:lnTo>
                    <a:pt x="1537387" y="662225"/>
                  </a:lnTo>
                  <a:lnTo>
                    <a:pt x="0" y="662225"/>
                  </a:lnTo>
                  <a:lnTo>
                    <a:pt x="0" y="0"/>
                  </a:lnTo>
                  <a:close/>
                </a:path>
              </a:pathLst>
            </a:custGeom>
            <a:blipFill>
              <a:blip r:embed="rId6">
                <a:extLst>
                  <a:ext uri="{96DAC541-7B7A-43D3-8B79-37D633B846F1}">
                    <asvg:svgBlip xmlns:asvg="http://schemas.microsoft.com/office/drawing/2016/SVG/main" r:embed="rId7"/>
                  </a:ext>
                </a:extLst>
              </a:blip>
              <a:stretch>
                <a:fillRect b="-101103"/>
              </a:stretch>
            </a:blipFill>
          </p:spPr>
          <p:txBody>
            <a:bodyPr/>
            <a:lstStyle/>
            <a:p>
              <a:endParaRPr lang="en-AU"/>
            </a:p>
          </p:txBody>
        </p:sp>
        <p:sp>
          <p:nvSpPr>
            <p:cNvPr id="15" name="Freeform 17">
              <a:extLst>
                <a:ext uri="{FF2B5EF4-FFF2-40B4-BE49-F238E27FC236}">
                  <a16:creationId xmlns:a16="http://schemas.microsoft.com/office/drawing/2014/main" id="{4E6E4263-4B94-25B2-538A-1AA501DCC63B}"/>
                </a:ext>
              </a:extLst>
            </p:cNvPr>
            <p:cNvSpPr/>
            <p:nvPr/>
          </p:nvSpPr>
          <p:spPr>
            <a:xfrm>
              <a:off x="5139986" y="5657948"/>
              <a:ext cx="805912" cy="702085"/>
            </a:xfrm>
            <a:custGeom>
              <a:avLst/>
              <a:gdLst/>
              <a:ahLst/>
              <a:cxnLst/>
              <a:rect l="l" t="t" r="r" b="b"/>
              <a:pathLst>
                <a:path w="865933" h="750115">
                  <a:moveTo>
                    <a:pt x="0" y="0"/>
                  </a:moveTo>
                  <a:lnTo>
                    <a:pt x="865934" y="0"/>
                  </a:lnTo>
                  <a:lnTo>
                    <a:pt x="865934" y="750114"/>
                  </a:lnTo>
                  <a:lnTo>
                    <a:pt x="0" y="75011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grpSp>
      <p:pic>
        <p:nvPicPr>
          <p:cNvPr id="21" name="Picture 20" descr="A yellow hexagon partly covered by a blue rhombus, labelled 1 whole.">
            <a:extLst>
              <a:ext uri="{FF2B5EF4-FFF2-40B4-BE49-F238E27FC236}">
                <a16:creationId xmlns:a16="http://schemas.microsoft.com/office/drawing/2014/main" id="{C5409571-4CC2-504E-BA06-91A44F8B1D01}"/>
              </a:ext>
            </a:extLst>
          </p:cNvPr>
          <p:cNvPicPr>
            <a:picLocks noChangeAspect="1"/>
          </p:cNvPicPr>
          <p:nvPr/>
        </p:nvPicPr>
        <p:blipFill>
          <a:blip r:embed="rId10"/>
          <a:stretch>
            <a:fillRect/>
          </a:stretch>
        </p:blipFill>
        <p:spPr>
          <a:xfrm>
            <a:off x="3595552" y="5409752"/>
            <a:ext cx="1551808" cy="1286248"/>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1490481" y="2436280"/>
            <a:ext cx="9211037" cy="893226"/>
          </a:xfrm>
        </p:spPr>
        <p:txBody>
          <a:bodyPr/>
          <a:lstStyle/>
          <a:p>
            <a:r>
              <a:rPr lang="en-US" sz="4400"/>
              <a:t>Which number is </a:t>
            </a:r>
            <a:r>
              <a:rPr lang="en-US" sz="4400" b="1"/>
              <a:t>not</a:t>
            </a:r>
            <a:r>
              <a:rPr lang="en-US" sz="4400"/>
              <a:t> a </a:t>
            </a:r>
            <a:r>
              <a:rPr lang="en-US" sz="4400" b="1"/>
              <a:t>factor</a:t>
            </a:r>
            <a:r>
              <a:rPr lang="en-US" sz="4400"/>
              <a:t> of 24?</a:t>
            </a:r>
          </a:p>
        </p:txBody>
      </p:sp>
      <p:sp>
        <p:nvSpPr>
          <p:cNvPr id="9" name="TextBox 8">
            <a:extLst>
              <a:ext uri="{FF2B5EF4-FFF2-40B4-BE49-F238E27FC236}">
                <a16:creationId xmlns:a16="http://schemas.microsoft.com/office/drawing/2014/main" id="{4E6EA9CC-6235-8807-420B-A4371AC418C0}"/>
              </a:ext>
            </a:extLst>
          </p:cNvPr>
          <p:cNvSpPr txBox="1"/>
          <p:nvPr/>
        </p:nvSpPr>
        <p:spPr>
          <a:xfrm>
            <a:off x="1361502" y="49575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AB24A3E-5574-D79C-6A0F-06D3F8A29BB1}"/>
              </a:ext>
            </a:extLst>
          </p:cNvPr>
          <p:cNvSpPr txBox="1"/>
          <p:nvPr/>
        </p:nvSpPr>
        <p:spPr>
          <a:xfrm>
            <a:off x="4383424" y="49575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391371" y="49575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387397" y="49575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866876A1-B8EF-C47C-E2E6-E8D0D15B5D85}"/>
              </a:ext>
            </a:extLst>
          </p:cNvPr>
          <p:cNvSpPr txBox="1"/>
          <p:nvPr/>
        </p:nvSpPr>
        <p:spPr>
          <a:xfrm>
            <a:off x="1417314" y="5793902"/>
            <a:ext cx="652832" cy="567283"/>
          </a:xfrm>
          <a:prstGeom prst="rect">
            <a:avLst/>
          </a:prstGeom>
          <a:noFill/>
        </p:spPr>
        <p:txBody>
          <a:bodyPr wrap="square" lIns="0" tIns="0" rIns="0" bIns="0" rtlCol="0">
            <a:noAutofit/>
          </a:bodyPr>
          <a:lstStyle/>
          <a:p>
            <a:pPr algn="l"/>
            <a:r>
              <a:rPr lang="en-AU" sz="4400"/>
              <a:t>8</a:t>
            </a:r>
          </a:p>
        </p:txBody>
      </p:sp>
      <p:sp>
        <p:nvSpPr>
          <p:cNvPr id="7" name="TextBox 6">
            <a:extLst>
              <a:ext uri="{FF2B5EF4-FFF2-40B4-BE49-F238E27FC236}">
                <a16:creationId xmlns:a16="http://schemas.microsoft.com/office/drawing/2014/main" id="{E3B57F56-C01B-5463-BEDD-01665C9F9885}"/>
              </a:ext>
            </a:extLst>
          </p:cNvPr>
          <p:cNvSpPr txBox="1"/>
          <p:nvPr/>
        </p:nvSpPr>
        <p:spPr>
          <a:xfrm>
            <a:off x="4399186" y="5793902"/>
            <a:ext cx="652832" cy="567283"/>
          </a:xfrm>
          <a:prstGeom prst="rect">
            <a:avLst/>
          </a:prstGeom>
          <a:noFill/>
        </p:spPr>
        <p:txBody>
          <a:bodyPr wrap="square" lIns="0" tIns="0" rIns="0" bIns="0" rtlCol="0">
            <a:noAutofit/>
          </a:bodyPr>
          <a:lstStyle/>
          <a:p>
            <a:pPr algn="l"/>
            <a:r>
              <a:rPr lang="en-AU" sz="4400"/>
              <a:t>6</a:t>
            </a:r>
          </a:p>
        </p:txBody>
      </p:sp>
      <p:sp>
        <p:nvSpPr>
          <p:cNvPr id="8" name="TextBox 7">
            <a:extLst>
              <a:ext uri="{FF2B5EF4-FFF2-40B4-BE49-F238E27FC236}">
                <a16:creationId xmlns:a16="http://schemas.microsoft.com/office/drawing/2014/main" id="{EFD02659-3810-B338-308E-D6A6123F678B}"/>
              </a:ext>
            </a:extLst>
          </p:cNvPr>
          <p:cNvSpPr txBox="1"/>
          <p:nvPr/>
        </p:nvSpPr>
        <p:spPr>
          <a:xfrm>
            <a:off x="7491255" y="5773656"/>
            <a:ext cx="652832" cy="567283"/>
          </a:xfrm>
          <a:prstGeom prst="rect">
            <a:avLst/>
          </a:prstGeom>
          <a:noFill/>
        </p:spPr>
        <p:txBody>
          <a:bodyPr wrap="square" lIns="0" tIns="0" rIns="0" bIns="0" rtlCol="0">
            <a:noAutofit/>
          </a:bodyPr>
          <a:lstStyle/>
          <a:p>
            <a:pPr algn="l"/>
            <a:r>
              <a:rPr lang="en-AU" sz="4400"/>
              <a:t>7</a:t>
            </a:r>
          </a:p>
        </p:txBody>
      </p:sp>
      <p:sp>
        <p:nvSpPr>
          <p:cNvPr id="13" name="TextBox 12">
            <a:extLst>
              <a:ext uri="{FF2B5EF4-FFF2-40B4-BE49-F238E27FC236}">
                <a16:creationId xmlns:a16="http://schemas.microsoft.com/office/drawing/2014/main" id="{BB2861D9-2A73-A8CD-3638-BBE93E8FAA7D}"/>
              </a:ext>
            </a:extLst>
          </p:cNvPr>
          <p:cNvSpPr txBox="1"/>
          <p:nvPr/>
        </p:nvSpPr>
        <p:spPr>
          <a:xfrm>
            <a:off x="10406329" y="5793902"/>
            <a:ext cx="652832" cy="567283"/>
          </a:xfrm>
          <a:prstGeom prst="rect">
            <a:avLst/>
          </a:prstGeom>
          <a:noFill/>
        </p:spPr>
        <p:txBody>
          <a:bodyPr wrap="square" lIns="0" tIns="0" rIns="0" bIns="0" rtlCol="0">
            <a:noAutofit/>
          </a:bodyPr>
          <a:lstStyle/>
          <a:p>
            <a:pPr algn="l"/>
            <a:r>
              <a:rPr lang="en-AU" sz="4400"/>
              <a:t>4</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EA09F7C-4C9B-2888-173C-44A40AAFB646}"/>
              </a:ext>
            </a:extLst>
          </p:cNvPr>
          <p:cNvSpPr txBox="1"/>
          <p:nvPr/>
        </p:nvSpPr>
        <p:spPr>
          <a:xfrm>
            <a:off x="246025" y="905601"/>
            <a:ext cx="11421368" cy="5518242"/>
          </a:xfrm>
          <a:prstGeom prst="rect">
            <a:avLst/>
          </a:prstGeom>
          <a:noFill/>
        </p:spPr>
        <p:txBody>
          <a:bodyPr wrap="square">
            <a:spAutoFit/>
          </a:bodyPr>
          <a:lstStyle/>
          <a:p>
            <a:pPr algn="ctr">
              <a:lnSpc>
                <a:spcPct val="150000"/>
              </a:lnSpc>
            </a:pPr>
            <a:r>
              <a:rPr lang="en-AU" sz="4000" dirty="0"/>
              <a:t>Luka cut a paper strip in </a:t>
            </a:r>
            <a:r>
              <a:rPr lang="en-AU" sz="4000" b="1" dirty="0"/>
              <a:t>half</a:t>
            </a:r>
            <a:r>
              <a:rPr lang="en-AU" sz="4000" dirty="0"/>
              <a:t>. </a:t>
            </a:r>
          </a:p>
          <a:p>
            <a:pPr algn="ctr">
              <a:lnSpc>
                <a:spcPct val="150000"/>
              </a:lnSpc>
            </a:pPr>
            <a:r>
              <a:rPr lang="en-AU" sz="4000" dirty="0"/>
              <a:t>Arlo cut a different paper strip </a:t>
            </a:r>
            <a:r>
              <a:rPr lang="en-AU" sz="4000" b="1" dirty="0"/>
              <a:t>in quarters</a:t>
            </a:r>
            <a:r>
              <a:rPr lang="en-AU" sz="4000" dirty="0"/>
              <a:t>. </a:t>
            </a:r>
          </a:p>
          <a:p>
            <a:pPr algn="ctr">
              <a:lnSpc>
                <a:spcPct val="150000"/>
              </a:lnSpc>
            </a:pPr>
            <a:r>
              <a:rPr lang="en-AU" sz="4000" dirty="0"/>
              <a:t>One of Arlo’s quarters is </a:t>
            </a:r>
            <a:r>
              <a:rPr lang="en-AU" sz="4000" b="1" dirty="0"/>
              <a:t>longer than </a:t>
            </a:r>
            <a:r>
              <a:rPr lang="en-AU" sz="4000" dirty="0"/>
              <a:t>Luka’s half.</a:t>
            </a:r>
          </a:p>
          <a:p>
            <a:pPr algn="ctr">
              <a:lnSpc>
                <a:spcPct val="150000"/>
              </a:lnSpc>
            </a:pPr>
            <a:r>
              <a:rPr lang="en-AU" sz="4000" b="1" dirty="0"/>
              <a:t>Draw</a:t>
            </a:r>
            <a:r>
              <a:rPr lang="en-AU" sz="4000" dirty="0"/>
              <a:t> a representation to show how this statement </a:t>
            </a:r>
            <a:r>
              <a:rPr lang="en-AU" sz="4000" b="1" dirty="0"/>
              <a:t>can be true</a:t>
            </a:r>
            <a:r>
              <a:rPr lang="en-AU" sz="4000" dirty="0"/>
              <a:t>.</a:t>
            </a:r>
          </a:p>
          <a:p>
            <a:pPr algn="ctr">
              <a:lnSpc>
                <a:spcPct val="150000"/>
              </a:lnSpc>
            </a:pPr>
            <a:r>
              <a:rPr lang="en-AU" sz="4000" b="1" dirty="0"/>
              <a:t>Communicate</a:t>
            </a:r>
            <a:r>
              <a:rPr lang="en-AU" sz="4000" dirty="0"/>
              <a:t> your </a:t>
            </a:r>
            <a:r>
              <a:rPr lang="en-AU" sz="4000" b="1" dirty="0"/>
              <a:t>reasoning.</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2A10695-3F7C-B354-959B-A45D6D3BFE06}"/>
              </a:ext>
            </a:extLst>
          </p:cNvPr>
          <p:cNvSpPr txBox="1"/>
          <p:nvPr/>
        </p:nvSpPr>
        <p:spPr>
          <a:xfrm>
            <a:off x="770022" y="1626670"/>
            <a:ext cx="10915048" cy="915500"/>
          </a:xfrm>
          <a:prstGeom prst="rect">
            <a:avLst/>
          </a:prstGeom>
          <a:noFill/>
        </p:spPr>
        <p:txBody>
          <a:bodyPr wrap="square" lIns="0" tIns="0" rIns="0" bIns="0" rtlCol="0">
            <a:noAutofit/>
          </a:bodyPr>
          <a:lstStyle/>
          <a:p>
            <a:pPr algn="l"/>
            <a:r>
              <a:rPr lang="en-AU" sz="4400" b="1"/>
              <a:t>Calculate </a:t>
            </a:r>
            <a:r>
              <a:rPr lang="en-AU" sz="4400"/>
              <a:t>the </a:t>
            </a:r>
            <a:r>
              <a:rPr lang="en-AU" sz="4400" b="1"/>
              <a:t>perimeter</a:t>
            </a:r>
            <a:r>
              <a:rPr lang="en-AU" sz="4400"/>
              <a:t> of these shapes.</a:t>
            </a:r>
          </a:p>
        </p:txBody>
      </p:sp>
      <p:sp>
        <p:nvSpPr>
          <p:cNvPr id="5" name="Right Triangle 4" descr="A blue scalene triangle.">
            <a:extLst>
              <a:ext uri="{FF2B5EF4-FFF2-40B4-BE49-F238E27FC236}">
                <a16:creationId xmlns:a16="http://schemas.microsoft.com/office/drawing/2014/main" id="{9572BEF7-FEAA-F685-8BFE-611D4BDFDA2F}"/>
              </a:ext>
            </a:extLst>
          </p:cNvPr>
          <p:cNvSpPr/>
          <p:nvPr/>
        </p:nvSpPr>
        <p:spPr>
          <a:xfrm>
            <a:off x="1915428" y="2820305"/>
            <a:ext cx="1915427" cy="2991051"/>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Single Corner Snipped 6" descr="A blue 5 sided shape.">
            <a:extLst>
              <a:ext uri="{FF2B5EF4-FFF2-40B4-BE49-F238E27FC236}">
                <a16:creationId xmlns:a16="http://schemas.microsoft.com/office/drawing/2014/main" id="{53448FA9-4274-1887-AB47-F7B7BDD15C78}"/>
              </a:ext>
            </a:extLst>
          </p:cNvPr>
          <p:cNvSpPr/>
          <p:nvPr/>
        </p:nvSpPr>
        <p:spPr>
          <a:xfrm>
            <a:off x="5727032" y="3965608"/>
            <a:ext cx="4052236" cy="1838426"/>
          </a:xfrm>
          <a:prstGeom prst="snip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A4AF0225-4E9D-28A3-3523-106F9E220441}"/>
              </a:ext>
            </a:extLst>
          </p:cNvPr>
          <p:cNvSpPr txBox="1"/>
          <p:nvPr/>
        </p:nvSpPr>
        <p:spPr>
          <a:xfrm>
            <a:off x="3089710" y="4277557"/>
            <a:ext cx="1106905" cy="414161"/>
          </a:xfrm>
          <a:prstGeom prst="rect">
            <a:avLst/>
          </a:prstGeom>
          <a:noFill/>
        </p:spPr>
        <p:txBody>
          <a:bodyPr wrap="square" lIns="0" tIns="0" rIns="0" bIns="0" rtlCol="0">
            <a:noAutofit/>
          </a:bodyPr>
          <a:lstStyle/>
          <a:p>
            <a:pPr algn="l"/>
            <a:r>
              <a:rPr lang="en-AU" sz="1800"/>
              <a:t>10 cm</a:t>
            </a:r>
          </a:p>
        </p:txBody>
      </p:sp>
      <p:sp>
        <p:nvSpPr>
          <p:cNvPr id="9" name="TextBox 8">
            <a:extLst>
              <a:ext uri="{FF2B5EF4-FFF2-40B4-BE49-F238E27FC236}">
                <a16:creationId xmlns:a16="http://schemas.microsoft.com/office/drawing/2014/main" id="{BB16CEE5-A04B-352F-8291-F3508BDA1509}"/>
              </a:ext>
            </a:extLst>
          </p:cNvPr>
          <p:cNvSpPr txBox="1"/>
          <p:nvPr/>
        </p:nvSpPr>
        <p:spPr>
          <a:xfrm>
            <a:off x="2452837" y="6004015"/>
            <a:ext cx="1106905" cy="414161"/>
          </a:xfrm>
          <a:prstGeom prst="rect">
            <a:avLst/>
          </a:prstGeom>
          <a:noFill/>
        </p:spPr>
        <p:txBody>
          <a:bodyPr wrap="square" lIns="0" tIns="0" rIns="0" bIns="0" rtlCol="0">
            <a:noAutofit/>
          </a:bodyPr>
          <a:lstStyle/>
          <a:p>
            <a:pPr algn="l"/>
            <a:r>
              <a:rPr lang="en-AU" sz="1800"/>
              <a:t>6 cm</a:t>
            </a:r>
          </a:p>
        </p:txBody>
      </p:sp>
      <p:sp>
        <p:nvSpPr>
          <p:cNvPr id="10" name="TextBox 9">
            <a:extLst>
              <a:ext uri="{FF2B5EF4-FFF2-40B4-BE49-F238E27FC236}">
                <a16:creationId xmlns:a16="http://schemas.microsoft.com/office/drawing/2014/main" id="{07DCEF15-E420-7A69-152D-082B2CA7F908}"/>
              </a:ext>
            </a:extLst>
          </p:cNvPr>
          <p:cNvSpPr txBox="1"/>
          <p:nvPr/>
        </p:nvSpPr>
        <p:spPr>
          <a:xfrm>
            <a:off x="7628022" y="3551447"/>
            <a:ext cx="1106905" cy="414161"/>
          </a:xfrm>
          <a:prstGeom prst="rect">
            <a:avLst/>
          </a:prstGeom>
          <a:noFill/>
        </p:spPr>
        <p:txBody>
          <a:bodyPr wrap="square" lIns="0" tIns="0" rIns="0" bIns="0" rtlCol="0">
            <a:noAutofit/>
          </a:bodyPr>
          <a:lstStyle/>
          <a:p>
            <a:pPr algn="l"/>
            <a:r>
              <a:rPr lang="en-AU" sz="1800"/>
              <a:t>9 cm</a:t>
            </a:r>
          </a:p>
        </p:txBody>
      </p:sp>
      <p:sp>
        <p:nvSpPr>
          <p:cNvPr id="11" name="TextBox 10">
            <a:extLst>
              <a:ext uri="{FF2B5EF4-FFF2-40B4-BE49-F238E27FC236}">
                <a16:creationId xmlns:a16="http://schemas.microsoft.com/office/drawing/2014/main" id="{5F61A605-1D2A-404D-7E94-8E2459DE1466}"/>
              </a:ext>
            </a:extLst>
          </p:cNvPr>
          <p:cNvSpPr txBox="1"/>
          <p:nvPr/>
        </p:nvSpPr>
        <p:spPr>
          <a:xfrm>
            <a:off x="1222409" y="4277558"/>
            <a:ext cx="1106905" cy="414161"/>
          </a:xfrm>
          <a:prstGeom prst="rect">
            <a:avLst/>
          </a:prstGeom>
          <a:noFill/>
        </p:spPr>
        <p:txBody>
          <a:bodyPr wrap="square" lIns="0" tIns="0" rIns="0" bIns="0" rtlCol="0">
            <a:noAutofit/>
          </a:bodyPr>
          <a:lstStyle/>
          <a:p>
            <a:pPr algn="l"/>
            <a:r>
              <a:rPr lang="en-AU" sz="1800"/>
              <a:t>8 cm</a:t>
            </a:r>
          </a:p>
        </p:txBody>
      </p:sp>
      <p:sp>
        <p:nvSpPr>
          <p:cNvPr id="12" name="TextBox 11">
            <a:extLst>
              <a:ext uri="{FF2B5EF4-FFF2-40B4-BE49-F238E27FC236}">
                <a16:creationId xmlns:a16="http://schemas.microsoft.com/office/drawing/2014/main" id="{43625015-1F85-DF3A-703B-9CD15D218558}"/>
              </a:ext>
            </a:extLst>
          </p:cNvPr>
          <p:cNvSpPr txBox="1"/>
          <p:nvPr/>
        </p:nvSpPr>
        <p:spPr>
          <a:xfrm>
            <a:off x="7424287" y="6004014"/>
            <a:ext cx="1106905" cy="414161"/>
          </a:xfrm>
          <a:prstGeom prst="rect">
            <a:avLst/>
          </a:prstGeom>
          <a:noFill/>
        </p:spPr>
        <p:txBody>
          <a:bodyPr wrap="square" lIns="0" tIns="0" rIns="0" bIns="0" rtlCol="0">
            <a:noAutofit/>
          </a:bodyPr>
          <a:lstStyle/>
          <a:p>
            <a:pPr algn="l"/>
            <a:r>
              <a:rPr lang="en-AU" sz="1800"/>
              <a:t>10 cm</a:t>
            </a:r>
          </a:p>
        </p:txBody>
      </p:sp>
      <p:sp>
        <p:nvSpPr>
          <p:cNvPr id="13" name="TextBox 12">
            <a:extLst>
              <a:ext uri="{FF2B5EF4-FFF2-40B4-BE49-F238E27FC236}">
                <a16:creationId xmlns:a16="http://schemas.microsoft.com/office/drawing/2014/main" id="{42BDEF95-524F-99D0-759A-0089D6FA562D}"/>
              </a:ext>
            </a:extLst>
          </p:cNvPr>
          <p:cNvSpPr txBox="1"/>
          <p:nvPr/>
        </p:nvSpPr>
        <p:spPr>
          <a:xfrm>
            <a:off x="9923571" y="4691719"/>
            <a:ext cx="1106905" cy="414161"/>
          </a:xfrm>
          <a:prstGeom prst="rect">
            <a:avLst/>
          </a:prstGeom>
          <a:noFill/>
        </p:spPr>
        <p:txBody>
          <a:bodyPr wrap="square" lIns="0" tIns="0" rIns="0" bIns="0" rtlCol="0">
            <a:noAutofit/>
          </a:bodyPr>
          <a:lstStyle/>
          <a:p>
            <a:pPr algn="l"/>
            <a:r>
              <a:rPr lang="en-AU" sz="1800"/>
              <a:t>4 cm</a:t>
            </a:r>
          </a:p>
        </p:txBody>
      </p:sp>
      <p:sp>
        <p:nvSpPr>
          <p:cNvPr id="14" name="TextBox 13">
            <a:extLst>
              <a:ext uri="{FF2B5EF4-FFF2-40B4-BE49-F238E27FC236}">
                <a16:creationId xmlns:a16="http://schemas.microsoft.com/office/drawing/2014/main" id="{1D507D1C-D140-3293-68B1-5A038B71E2A0}"/>
              </a:ext>
            </a:extLst>
          </p:cNvPr>
          <p:cNvSpPr txBox="1"/>
          <p:nvPr/>
        </p:nvSpPr>
        <p:spPr>
          <a:xfrm>
            <a:off x="4989095" y="4790541"/>
            <a:ext cx="1106905" cy="414161"/>
          </a:xfrm>
          <a:prstGeom prst="rect">
            <a:avLst/>
          </a:prstGeom>
          <a:noFill/>
        </p:spPr>
        <p:txBody>
          <a:bodyPr wrap="square" lIns="0" tIns="0" rIns="0" bIns="0" rtlCol="0">
            <a:noAutofit/>
          </a:bodyPr>
          <a:lstStyle/>
          <a:p>
            <a:pPr algn="l"/>
            <a:r>
              <a:rPr lang="en-AU" sz="1800"/>
              <a:t>5 cm</a:t>
            </a:r>
          </a:p>
        </p:txBody>
      </p:sp>
      <p:sp>
        <p:nvSpPr>
          <p:cNvPr id="15" name="TextBox 14">
            <a:extLst>
              <a:ext uri="{FF2B5EF4-FFF2-40B4-BE49-F238E27FC236}">
                <a16:creationId xmlns:a16="http://schemas.microsoft.com/office/drawing/2014/main" id="{F286D54F-D8E4-1DCE-E658-B4DE40125585}"/>
              </a:ext>
            </a:extLst>
          </p:cNvPr>
          <p:cNvSpPr txBox="1"/>
          <p:nvPr/>
        </p:nvSpPr>
        <p:spPr>
          <a:xfrm>
            <a:off x="9681323" y="3898370"/>
            <a:ext cx="1106905" cy="414161"/>
          </a:xfrm>
          <a:prstGeom prst="rect">
            <a:avLst/>
          </a:prstGeom>
          <a:noFill/>
        </p:spPr>
        <p:txBody>
          <a:bodyPr wrap="square" lIns="0" tIns="0" rIns="0" bIns="0" rtlCol="0">
            <a:noAutofit/>
          </a:bodyPr>
          <a:lstStyle/>
          <a:p>
            <a:pPr algn="l"/>
            <a:r>
              <a:rPr lang="en-AU" sz="1800"/>
              <a:t>1 cm</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5A21D10-66CA-3642-CF9E-0BF641721FC3}"/>
              </a:ext>
            </a:extLst>
          </p:cNvPr>
          <p:cNvSpPr txBox="1"/>
          <p:nvPr/>
        </p:nvSpPr>
        <p:spPr>
          <a:xfrm>
            <a:off x="816543" y="1048491"/>
            <a:ext cx="10558914" cy="3753852"/>
          </a:xfrm>
          <a:prstGeom prst="rect">
            <a:avLst/>
          </a:prstGeom>
          <a:noFill/>
        </p:spPr>
        <p:txBody>
          <a:bodyPr wrap="square" lIns="0" tIns="0" rIns="0" bIns="0" rtlCol="0">
            <a:noAutofit/>
          </a:bodyPr>
          <a:lstStyle/>
          <a:p>
            <a:pPr algn="ctr">
              <a:lnSpc>
                <a:spcPct val="150000"/>
              </a:lnSpc>
            </a:pPr>
            <a:r>
              <a:rPr lang="en-AU" sz="4400"/>
              <a:t>Use</a:t>
            </a:r>
            <a:r>
              <a:rPr lang="en-AU" sz="4400" b="1"/>
              <a:t> partitioning </a:t>
            </a:r>
            <a:r>
              <a:rPr lang="en-AU" sz="4400"/>
              <a:t>to</a:t>
            </a:r>
            <a:r>
              <a:rPr lang="en-AU" sz="4400" b="1"/>
              <a:t> </a:t>
            </a:r>
            <a:r>
              <a:rPr lang="en-AU" sz="4400"/>
              <a:t>solve:</a:t>
            </a:r>
          </a:p>
          <a:p>
            <a:pPr algn="ctr">
              <a:lnSpc>
                <a:spcPct val="150000"/>
              </a:lnSpc>
            </a:pPr>
            <a:endParaRPr lang="en-AU" sz="4400" b="1"/>
          </a:p>
          <a:p>
            <a:pPr algn="ctr">
              <a:lnSpc>
                <a:spcPct val="150000"/>
              </a:lnSpc>
            </a:pPr>
            <a:r>
              <a:rPr lang="en-AU" sz="5400"/>
              <a:t>2 245 + 328 + 48 =</a:t>
            </a:r>
          </a:p>
          <a:p>
            <a:pPr algn="ctr">
              <a:lnSpc>
                <a:spcPct val="150000"/>
              </a:lnSpc>
            </a:pPr>
            <a:endParaRPr lang="en-AU" sz="4400"/>
          </a:p>
          <a:p>
            <a:pPr algn="ctr">
              <a:lnSpc>
                <a:spcPct val="150000"/>
              </a:lnSpc>
            </a:pPr>
            <a:r>
              <a:rPr lang="en-AU" sz="4400" b="1"/>
              <a:t>Communicate </a:t>
            </a:r>
            <a:r>
              <a:rPr lang="en-AU" sz="4400"/>
              <a:t>your thinking.</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83F0F09B-C168-E63D-CC8C-46E4058D98B6}"/>
              </a:ext>
            </a:extLst>
          </p:cNvPr>
          <p:cNvSpPr txBox="1"/>
          <p:nvPr/>
        </p:nvSpPr>
        <p:spPr>
          <a:xfrm>
            <a:off x="519764" y="1501539"/>
            <a:ext cx="11324236" cy="4144661"/>
          </a:xfrm>
          <a:prstGeom prst="rect">
            <a:avLst/>
          </a:prstGeom>
          <a:noFill/>
        </p:spPr>
        <p:txBody>
          <a:bodyPr wrap="square">
            <a:spAutoFit/>
          </a:bodyPr>
          <a:lstStyle/>
          <a:p>
            <a:pPr algn="ctr">
              <a:lnSpc>
                <a:spcPct val="150000"/>
              </a:lnSpc>
              <a:buNone/>
            </a:pPr>
            <a:r>
              <a:rPr lang="en-AU" sz="3600" dirty="0"/>
              <a:t>The timetable says that Sasha’s train leaves the station at </a:t>
            </a:r>
            <a:r>
              <a:rPr lang="en-AU" sz="3600" b="1" dirty="0"/>
              <a:t>14:45</a:t>
            </a:r>
            <a:r>
              <a:rPr lang="en-AU" sz="3600" dirty="0"/>
              <a:t>.</a:t>
            </a:r>
          </a:p>
          <a:p>
            <a:pPr algn="ctr">
              <a:lnSpc>
                <a:spcPct val="150000"/>
              </a:lnSpc>
              <a:buNone/>
            </a:pPr>
            <a:r>
              <a:rPr lang="en-AU" sz="3600" dirty="0"/>
              <a:t>She wants to tell her friend the time in </a:t>
            </a:r>
            <a:r>
              <a:rPr lang="en-AU" sz="3600" b="1" dirty="0"/>
              <a:t>12-hour format</a:t>
            </a:r>
            <a:r>
              <a:rPr lang="en-AU" sz="3600" dirty="0"/>
              <a:t>.</a:t>
            </a:r>
          </a:p>
          <a:p>
            <a:pPr algn="ctr">
              <a:lnSpc>
                <a:spcPct val="150000"/>
              </a:lnSpc>
              <a:buNone/>
            </a:pPr>
            <a:endParaRPr lang="en-AU" sz="3600" dirty="0"/>
          </a:p>
          <a:p>
            <a:pPr algn="ctr">
              <a:lnSpc>
                <a:spcPct val="150000"/>
              </a:lnSpc>
              <a:buNone/>
            </a:pPr>
            <a:r>
              <a:rPr lang="en-AU" sz="3600" b="1" dirty="0"/>
              <a:t>Record</a:t>
            </a:r>
            <a:r>
              <a:rPr lang="en-AU" sz="3600" dirty="0"/>
              <a:t> the time she should tell her friend. </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factors and multiples game</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a:extLst>
              <a:ext uri="{FF2B5EF4-FFF2-40B4-BE49-F238E27FC236}">
                <a16:creationId xmlns:a16="http://schemas.microsoft.com/office/drawing/2014/main" id="{641D0DF4-CF30-3EFD-DEB5-C630E984148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17898" y="1766988"/>
            <a:ext cx="908383" cy="902286"/>
          </a:xfrm>
          <a:prstGeom prst="rect">
            <a:avLst/>
          </a:prstGeom>
        </p:spPr>
      </p:pic>
      <p:sp>
        <p:nvSpPr>
          <p:cNvPr id="7" name="TextBox 6">
            <a:extLst>
              <a:ext uri="{FF2B5EF4-FFF2-40B4-BE49-F238E27FC236}">
                <a16:creationId xmlns:a16="http://schemas.microsoft.com/office/drawing/2014/main" id="{12604E04-084C-64C9-222D-561684D46B29}"/>
              </a:ext>
            </a:extLst>
          </p:cNvPr>
          <p:cNvSpPr txBox="1"/>
          <p:nvPr/>
        </p:nvSpPr>
        <p:spPr>
          <a:xfrm>
            <a:off x="360000" y="2833692"/>
            <a:ext cx="3140007" cy="461665"/>
          </a:xfrm>
          <a:prstGeom prst="rect">
            <a:avLst/>
          </a:prstGeom>
          <a:noFill/>
        </p:spPr>
        <p:txBody>
          <a:bodyPr wrap="square">
            <a:spAutoFit/>
          </a:bodyPr>
          <a:lstStyle/>
          <a:p>
            <a:r>
              <a:rPr lang="en-AU" sz="2400" u="sng">
                <a:solidFill>
                  <a:srgbClr val="2F5496"/>
                </a:solidFill>
                <a:effectLst/>
                <a:latin typeface="Arial" panose="020B0604020202020204" pitchFamily="34" charset="0"/>
                <a:ea typeface="Arial" panose="020B0604020202020204" pitchFamily="34" charset="0"/>
                <a:hlinkClick r:id="rId5"/>
              </a:rPr>
              <a:t>Factors and Multiples</a:t>
            </a:r>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1378857" y="1625946"/>
            <a:ext cx="8969830" cy="893226"/>
          </a:xfrm>
        </p:spPr>
        <p:txBody>
          <a:bodyPr/>
          <a:lstStyle/>
          <a:p>
            <a:pPr algn="ctr"/>
            <a:r>
              <a:rPr lang="en-AU" sz="4400"/>
              <a:t>The numbers that are </a:t>
            </a:r>
            <a:r>
              <a:rPr lang="en-AU" sz="4400" b="1"/>
              <a:t>multiplied </a:t>
            </a:r>
            <a:r>
              <a:rPr lang="en-AU" sz="4400"/>
              <a:t>are called the </a:t>
            </a:r>
            <a:r>
              <a:rPr lang="en-AU" sz="4400" b="1"/>
              <a:t>product</a:t>
            </a:r>
            <a:r>
              <a:rPr lang="en-AU" sz="4400"/>
              <a:t>.</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6AFDE83-780F-8790-FCFE-F63DEC71AE86}"/>
                  </a:ext>
                </a:extLst>
              </p:cNvPr>
              <p:cNvSpPr txBox="1"/>
              <p:nvPr/>
            </p:nvSpPr>
            <p:spPr>
              <a:xfrm>
                <a:off x="489397" y="1779772"/>
                <a:ext cx="10766737" cy="2286000"/>
              </a:xfrm>
              <a:prstGeom prst="rect">
                <a:avLst/>
              </a:prstGeom>
              <a:noFill/>
            </p:spPr>
            <p:txBody>
              <a:bodyPr wrap="square" lIns="0" tIns="0" rIns="0" bIns="0" rtlCol="0">
                <a:noAutofit/>
              </a:bodyPr>
              <a:lstStyle/>
              <a:p>
                <a:pPr algn="ctr">
                  <a:lnSpc>
                    <a:spcPct val="150000"/>
                  </a:lnSpc>
                </a:pPr>
                <a:r>
                  <a:rPr lang="en-AU" sz="4400" b="1"/>
                  <a:t>Draw</a:t>
                </a:r>
                <a:r>
                  <a:rPr lang="en-AU" sz="4400"/>
                  <a:t> a </a:t>
                </a:r>
                <a:r>
                  <a:rPr lang="en-AU" sz="4400" b="1"/>
                  <a:t>bar model </a:t>
                </a:r>
                <a:r>
                  <a:rPr lang="en-AU" sz="4400"/>
                  <a:t>to represent and solve:</a:t>
                </a:r>
              </a:p>
              <a:p>
                <a:pPr algn="ctr">
                  <a:lnSpc>
                    <a:spcPct val="150000"/>
                  </a:lnSpc>
                </a:pPr>
                <a14:m>
                  <m:oMath xmlns:m="http://schemas.openxmlformats.org/officeDocument/2006/math">
                    <m:f>
                      <m:fPr>
                        <m:ctrlPr>
                          <a:rPr lang="en-AU" sz="6000" i="1">
                            <a:latin typeface="Cambria Math" panose="02040503050406030204" pitchFamily="18" charset="0"/>
                          </a:rPr>
                        </m:ctrlPr>
                      </m:fPr>
                      <m:num>
                        <m:r>
                          <a:rPr lang="en-AU" sz="6000" b="0" i="1" smtClean="0">
                            <a:latin typeface="Cambria Math" panose="02040503050406030204" pitchFamily="18" charset="0"/>
                          </a:rPr>
                          <m:t>4</m:t>
                        </m:r>
                      </m:num>
                      <m:den>
                        <m:r>
                          <a:rPr lang="en-AU" sz="6000" b="0" i="1" smtClean="0">
                            <a:latin typeface="Cambria Math" panose="02040503050406030204" pitchFamily="18" charset="0"/>
                          </a:rPr>
                          <m:t>6</m:t>
                        </m:r>
                      </m:den>
                    </m:f>
                    <m:r>
                      <m:rPr>
                        <m:nor/>
                      </m:rPr>
                      <a:rPr lang="en-AU" sz="6000">
                        <a:latin typeface="Cambria Math" panose="02040503050406030204" pitchFamily="18" charset="0"/>
                      </a:rPr>
                      <m:t> </m:t>
                    </m:r>
                  </m:oMath>
                </a14:m>
                <a:r>
                  <a:rPr lang="en-AU" sz="6000"/>
                  <a:t>+ </a:t>
                </a:r>
                <a14:m>
                  <m:oMath xmlns:m="http://schemas.openxmlformats.org/officeDocument/2006/math">
                    <m:f>
                      <m:fPr>
                        <m:ctrlPr>
                          <a:rPr lang="en-AU" sz="6000" i="1">
                            <a:latin typeface="Cambria Math" panose="02040503050406030204" pitchFamily="18" charset="0"/>
                          </a:rPr>
                        </m:ctrlPr>
                      </m:fPr>
                      <m:num>
                        <m:r>
                          <a:rPr lang="en-AU" sz="6000" b="0" i="1" smtClean="0">
                            <a:latin typeface="Cambria Math" panose="02040503050406030204" pitchFamily="18" charset="0"/>
                          </a:rPr>
                          <m:t>3</m:t>
                        </m:r>
                      </m:num>
                      <m:den>
                        <m:r>
                          <a:rPr lang="en-AU" sz="6000" b="0" i="1" smtClean="0">
                            <a:latin typeface="Cambria Math" panose="02040503050406030204" pitchFamily="18" charset="0"/>
                          </a:rPr>
                          <m:t>6</m:t>
                        </m:r>
                      </m:den>
                    </m:f>
                  </m:oMath>
                </a14:m>
                <a:endParaRPr lang="en-AU" sz="4400"/>
              </a:p>
            </p:txBody>
          </p:sp>
        </mc:Choice>
        <mc:Fallback xmlns="">
          <p:sp>
            <p:nvSpPr>
              <p:cNvPr id="4" name="TextBox 3">
                <a:extLst>
                  <a:ext uri="{FF2B5EF4-FFF2-40B4-BE49-F238E27FC236}">
                    <a16:creationId xmlns:a16="http://schemas.microsoft.com/office/drawing/2014/main" id="{46AFDE83-780F-8790-FCFE-F63DEC71AE86}"/>
                  </a:ext>
                </a:extLst>
              </p:cNvPr>
              <p:cNvSpPr txBox="1">
                <a:spLocks noRot="1" noChangeAspect="1" noMove="1" noResize="1" noEditPoints="1" noAdjustHandles="1" noChangeArrowheads="1" noChangeShapeType="1" noTextEdit="1"/>
              </p:cNvSpPr>
              <p:nvPr/>
            </p:nvSpPr>
            <p:spPr>
              <a:xfrm>
                <a:off x="489397" y="1779772"/>
                <a:ext cx="10766737" cy="2286000"/>
              </a:xfrm>
              <a:prstGeom prst="rect">
                <a:avLst/>
              </a:prstGeom>
              <a:blipFill>
                <a:blip r:embed="rId4"/>
                <a:stretch>
                  <a:fillRect l="-1925" r="-1925" b="-32533"/>
                </a:stretch>
              </a:blipFill>
            </p:spPr>
            <p:txBody>
              <a:bodyPr/>
              <a:lstStyle/>
              <a:p>
                <a:r>
                  <a:rPr lang="en-US">
                    <a:noFill/>
                  </a:rPr>
                  <a:t> </a:t>
                </a:r>
              </a:p>
            </p:txBody>
          </p:sp>
        </mc:Fallback>
      </mc:AlternateContent>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F97BF91-4C76-BA4A-207F-DC44A94F744A}"/>
              </a:ext>
            </a:extLst>
          </p:cNvPr>
          <p:cNvSpPr txBox="1"/>
          <p:nvPr/>
        </p:nvSpPr>
        <p:spPr>
          <a:xfrm>
            <a:off x="224853" y="1207490"/>
            <a:ext cx="11721124" cy="2637322"/>
          </a:xfrm>
          <a:prstGeom prst="rect">
            <a:avLst/>
          </a:prstGeom>
          <a:noFill/>
        </p:spPr>
        <p:txBody>
          <a:bodyPr wrap="square" lIns="0" tIns="0" rIns="0" bIns="0" rtlCol="0">
            <a:noAutofit/>
          </a:bodyPr>
          <a:lstStyle/>
          <a:p>
            <a:pPr algn="ctr">
              <a:lnSpc>
                <a:spcPct val="150000"/>
              </a:lnSpc>
            </a:pPr>
            <a:r>
              <a:rPr lang="en-AU" sz="4000"/>
              <a:t>Lizzy and Jakobi have built garden beds. </a:t>
            </a:r>
            <a:r>
              <a:rPr lang="en-AU" sz="4000" b="1"/>
              <a:t> </a:t>
            </a:r>
            <a:endParaRPr lang="en-AU" sz="4000"/>
          </a:p>
          <a:p>
            <a:pPr algn="ctr">
              <a:lnSpc>
                <a:spcPct val="150000"/>
              </a:lnSpc>
            </a:pPr>
            <a:r>
              <a:rPr lang="en-AU" sz="4000" b="1"/>
              <a:t>Both</a:t>
            </a:r>
            <a:r>
              <a:rPr lang="en-AU" sz="4000"/>
              <a:t> these garden beds have a </a:t>
            </a:r>
            <a:r>
              <a:rPr lang="en-AU" sz="4000" b="1"/>
              <a:t>perimeter</a:t>
            </a:r>
            <a:r>
              <a:rPr lang="en-AU" sz="4000"/>
              <a:t> of </a:t>
            </a:r>
            <a:r>
              <a:rPr lang="en-AU" sz="4000" b="1"/>
              <a:t>20 m.</a:t>
            </a:r>
          </a:p>
          <a:p>
            <a:pPr algn="ctr">
              <a:lnSpc>
                <a:spcPct val="150000"/>
              </a:lnSpc>
            </a:pPr>
            <a:r>
              <a:rPr lang="en-AU" sz="4000"/>
              <a:t>How is that possible? </a:t>
            </a:r>
            <a:r>
              <a:rPr lang="en-AU" sz="4000" b="1"/>
              <a:t>Explain</a:t>
            </a:r>
            <a:r>
              <a:rPr lang="en-AU" sz="4000"/>
              <a:t> your answer.</a:t>
            </a:r>
          </a:p>
          <a:p>
            <a:pPr algn="ctr">
              <a:lnSpc>
                <a:spcPct val="150000"/>
              </a:lnSpc>
            </a:pPr>
            <a:endParaRPr lang="en-AU" sz="3200" b="1"/>
          </a:p>
          <a:p>
            <a:pPr algn="ctr">
              <a:lnSpc>
                <a:spcPct val="150000"/>
              </a:lnSpc>
            </a:pPr>
            <a:endParaRPr lang="en-AU" b="1"/>
          </a:p>
          <a:p>
            <a:pPr>
              <a:lnSpc>
                <a:spcPct val="150000"/>
              </a:lnSpc>
            </a:pPr>
            <a:endParaRPr lang="en-AU"/>
          </a:p>
          <a:p>
            <a:pPr>
              <a:lnSpc>
                <a:spcPct val="150000"/>
              </a:lnSpc>
            </a:pPr>
            <a:endParaRPr lang="en-AU"/>
          </a:p>
          <a:p>
            <a:pPr algn="ctr">
              <a:lnSpc>
                <a:spcPct val="150000"/>
              </a:lnSpc>
            </a:pPr>
            <a:br>
              <a:rPr lang="en-AU"/>
            </a:br>
            <a:endParaRPr lang="en-AU"/>
          </a:p>
        </p:txBody>
      </p:sp>
      <p:pic>
        <p:nvPicPr>
          <p:cNvPr id="21" name="Picture 20">
            <a:extLst>
              <a:ext uri="{FF2B5EF4-FFF2-40B4-BE49-F238E27FC236}">
                <a16:creationId xmlns:a16="http://schemas.microsoft.com/office/drawing/2014/main" id="{D1FE36E3-5754-4E3E-8CD1-CB82F4783B83}"/>
              </a:ext>
            </a:extLst>
          </p:cNvPr>
          <p:cNvPicPr>
            <a:picLocks noChangeAspect="1"/>
          </p:cNvPicPr>
          <p:nvPr/>
        </p:nvPicPr>
        <p:blipFill>
          <a:blip r:embed="rId4"/>
          <a:stretch>
            <a:fillRect/>
          </a:stretch>
        </p:blipFill>
        <p:spPr>
          <a:xfrm>
            <a:off x="1092940" y="3886079"/>
            <a:ext cx="10189064" cy="2629921"/>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F8F5E68-69AD-2F25-E6E3-A0B01AD5BB41}"/>
              </a:ext>
            </a:extLst>
          </p:cNvPr>
          <p:cNvSpPr txBox="1"/>
          <p:nvPr/>
        </p:nvSpPr>
        <p:spPr>
          <a:xfrm>
            <a:off x="1903430" y="905601"/>
            <a:ext cx="8578515" cy="5633915"/>
          </a:xfrm>
          <a:prstGeom prst="rect">
            <a:avLst/>
          </a:prstGeom>
          <a:noFill/>
        </p:spPr>
        <p:txBody>
          <a:bodyPr wrap="square">
            <a:spAutoFit/>
          </a:bodyPr>
          <a:lstStyle/>
          <a:p>
            <a:pPr algn="ctr">
              <a:lnSpc>
                <a:spcPct val="150000"/>
              </a:lnSpc>
            </a:pPr>
            <a:r>
              <a:rPr lang="en-AU" sz="4800"/>
              <a:t>Use</a:t>
            </a:r>
            <a:r>
              <a:rPr lang="en-AU" sz="4800" b="1"/>
              <a:t> partitioning </a:t>
            </a:r>
            <a:r>
              <a:rPr lang="en-AU" sz="4800"/>
              <a:t>to</a:t>
            </a:r>
            <a:r>
              <a:rPr lang="en-AU" sz="4800" b="1"/>
              <a:t> </a:t>
            </a:r>
            <a:r>
              <a:rPr lang="en-AU" sz="4800"/>
              <a:t>solve</a:t>
            </a:r>
          </a:p>
          <a:p>
            <a:pPr algn="ctr">
              <a:lnSpc>
                <a:spcPct val="150000"/>
              </a:lnSpc>
            </a:pPr>
            <a:r>
              <a:rPr lang="en-AU" sz="4800"/>
              <a:t> </a:t>
            </a:r>
            <a:endParaRPr lang="en-AU" sz="4800" b="1"/>
          </a:p>
          <a:p>
            <a:pPr algn="ctr">
              <a:lnSpc>
                <a:spcPct val="150000"/>
              </a:lnSpc>
            </a:pPr>
            <a:r>
              <a:rPr lang="en-AU" sz="5400"/>
              <a:t>2 545 - 328 - 14 =</a:t>
            </a:r>
          </a:p>
          <a:p>
            <a:pPr algn="ctr">
              <a:lnSpc>
                <a:spcPct val="150000"/>
              </a:lnSpc>
            </a:pPr>
            <a:endParaRPr lang="en-AU" sz="4800"/>
          </a:p>
          <a:p>
            <a:pPr algn="ctr">
              <a:lnSpc>
                <a:spcPct val="150000"/>
              </a:lnSpc>
            </a:pPr>
            <a:r>
              <a:rPr lang="en-AU" sz="4800" b="1"/>
              <a:t>Communicate </a:t>
            </a:r>
            <a:r>
              <a:rPr lang="en-AU" sz="4800"/>
              <a:t>your thinking.</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9025669-CA71-C2EE-7E9D-FE319CF36F7C}"/>
              </a:ext>
            </a:extLst>
          </p:cNvPr>
          <p:cNvSpPr txBox="1"/>
          <p:nvPr/>
        </p:nvSpPr>
        <p:spPr>
          <a:xfrm>
            <a:off x="1166116" y="1925059"/>
            <a:ext cx="10151589" cy="3850105"/>
          </a:xfrm>
          <a:prstGeom prst="rect">
            <a:avLst/>
          </a:prstGeom>
          <a:noFill/>
        </p:spPr>
        <p:txBody>
          <a:bodyPr wrap="square" lIns="0" tIns="0" rIns="0" bIns="0" rtlCol="0">
            <a:noAutofit/>
          </a:bodyPr>
          <a:lstStyle/>
          <a:p>
            <a:pPr algn="ctr">
              <a:lnSpc>
                <a:spcPct val="150000"/>
              </a:lnSpc>
            </a:pPr>
            <a:r>
              <a:rPr lang="en-AU" sz="4400" b="1"/>
              <a:t>Explain</a:t>
            </a:r>
            <a:r>
              <a:rPr lang="en-AU" sz="4400"/>
              <a:t> why 24-hour time is used. </a:t>
            </a:r>
          </a:p>
          <a:p>
            <a:pPr algn="ctr">
              <a:lnSpc>
                <a:spcPct val="150000"/>
              </a:lnSpc>
            </a:pPr>
            <a:r>
              <a:rPr lang="en-AU" sz="4400"/>
              <a:t>Provide 2 </a:t>
            </a:r>
            <a:r>
              <a:rPr lang="en-AU" sz="4400" b="1"/>
              <a:t>real-life examples </a:t>
            </a:r>
            <a:r>
              <a:rPr lang="en-AU" sz="4400"/>
              <a:t>of where or when it is used.</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4 products in a row (1)</a:t>
            </a:r>
            <a:br>
              <a:rPr lang="en-AU" b="1">
                <a:solidFill>
                  <a:schemeClr val="bg1"/>
                </a:solidFill>
              </a:rPr>
            </a:br>
            <a:endParaRPr lang="en-AU">
              <a:solidFill>
                <a:schemeClr val="bg1"/>
              </a:solidFill>
            </a:endParaRP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0" name="Picture 9">
            <a:extLst>
              <a:ext uri="{FF2B5EF4-FFF2-40B4-BE49-F238E27FC236}">
                <a16:creationId xmlns:a16="http://schemas.microsoft.com/office/drawing/2014/main" id="{747B4B22-5ABF-8A54-B15A-1D7B9245788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26574" y="1518327"/>
            <a:ext cx="902286" cy="902286"/>
          </a:xfrm>
          <a:prstGeom prst="rect">
            <a:avLst/>
          </a:prstGeom>
        </p:spPr>
      </p:pic>
      <p:sp>
        <p:nvSpPr>
          <p:cNvPr id="12" name="TextBox 11">
            <a:extLst>
              <a:ext uri="{FF2B5EF4-FFF2-40B4-BE49-F238E27FC236}">
                <a16:creationId xmlns:a16="http://schemas.microsoft.com/office/drawing/2014/main" id="{2C50132B-5ED9-AEDC-4ED1-B4DFEE3A6FF1}"/>
              </a:ext>
            </a:extLst>
          </p:cNvPr>
          <p:cNvSpPr txBox="1"/>
          <p:nvPr/>
        </p:nvSpPr>
        <p:spPr>
          <a:xfrm>
            <a:off x="9516798" y="2682443"/>
            <a:ext cx="2310205" cy="461665"/>
          </a:xfrm>
          <a:prstGeom prst="rect">
            <a:avLst/>
          </a:prstGeom>
          <a:noFill/>
        </p:spPr>
        <p:txBody>
          <a:bodyPr wrap="square">
            <a:spAutoFit/>
          </a:bodyPr>
          <a:lstStyle/>
          <a:p>
            <a:r>
              <a:rPr lang="en-AU" sz="2400" u="sng">
                <a:solidFill>
                  <a:srgbClr val="2F5496"/>
                </a:solidFill>
                <a:effectLst/>
                <a:latin typeface="Arial" panose="020B0604020202020204" pitchFamily="34" charset="0"/>
                <a:ea typeface="Arial" panose="020B0604020202020204" pitchFamily="34" charset="0"/>
                <a:hlinkClick r:id="rId5"/>
              </a:rPr>
              <a:t>Product Game</a:t>
            </a:r>
            <a:endParaRPr lang="en-AU"/>
          </a:p>
        </p:txBody>
      </p:sp>
      <p:pic>
        <p:nvPicPr>
          <p:cNvPr id="9" name="Picture 8" descr="A close-up of a game">
            <a:extLst>
              <a:ext uri="{FF2B5EF4-FFF2-40B4-BE49-F238E27FC236}">
                <a16:creationId xmlns:a16="http://schemas.microsoft.com/office/drawing/2014/main" id="{DBA1C331-C9E6-0893-54F7-91CAD06571D1}"/>
              </a:ext>
            </a:extLst>
          </p:cNvPr>
          <p:cNvPicPr>
            <a:picLocks noChangeAspect="1"/>
          </p:cNvPicPr>
          <p:nvPr/>
        </p:nvPicPr>
        <p:blipFill>
          <a:blip r:embed="rId6">
            <a:extLst>
              <a:ext uri="{28A0092B-C50C-407E-A947-70E740481C1C}">
                <a14:useLocalDpi xmlns:a14="http://schemas.microsoft.com/office/drawing/2010/main" val="0"/>
              </a:ext>
            </a:extLst>
          </a:blip>
          <a:srcRect l="12547" t="7408" r="8664" b="6878"/>
          <a:stretch>
            <a:fillRect/>
          </a:stretch>
        </p:blipFill>
        <p:spPr>
          <a:xfrm>
            <a:off x="814798" y="1074753"/>
            <a:ext cx="6906803" cy="54412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CE7F4-C8F7-B777-0B37-1CBA39F1F31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22240DA-E8B8-8358-61EF-8790A77CC9E1}"/>
              </a:ext>
            </a:extLst>
          </p:cNvPr>
          <p:cNvSpPr>
            <a:spLocks noGrp="1"/>
          </p:cNvSpPr>
          <p:nvPr>
            <p:ph type="title"/>
          </p:nvPr>
        </p:nvSpPr>
        <p:spPr>
          <a:xfrm>
            <a:off x="360000" y="360000"/>
            <a:ext cx="10367268" cy="545601"/>
          </a:xfrm>
        </p:spPr>
        <p:txBody>
          <a:bodyPr/>
          <a:lstStyle/>
          <a:p>
            <a:r>
              <a:rPr lang="en-AU"/>
              <a:t>Activity 6 – 4 products in a row (2)</a:t>
            </a:r>
            <a:endParaRPr lang="en-AU">
              <a:solidFill>
                <a:schemeClr val="bg1"/>
              </a:solidFill>
            </a:endParaRPr>
          </a:p>
        </p:txBody>
      </p:sp>
      <p:sp>
        <p:nvSpPr>
          <p:cNvPr id="2" name="Slide Number Placeholder 1">
            <a:extLst>
              <a:ext uri="{FF2B5EF4-FFF2-40B4-BE49-F238E27FC236}">
                <a16:creationId xmlns:a16="http://schemas.microsoft.com/office/drawing/2014/main" id="{0C769943-BBF2-AD98-CD8C-D91F7D28A4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4" name="Picture 3" descr="image of a head with cogs turning inside">
            <a:extLst>
              <a:ext uri="{FF2B5EF4-FFF2-40B4-BE49-F238E27FC236}">
                <a16:creationId xmlns:a16="http://schemas.microsoft.com/office/drawing/2014/main" id="{9BC5D7B4-13B7-FFD3-B28B-EBA7F8D88C3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modified 'Product game' gameboard. It has a gameboard with different numbers ranging from 1 to 144 on it and a number line from 1 to 12 underneath.">
            <a:extLst>
              <a:ext uri="{FF2B5EF4-FFF2-40B4-BE49-F238E27FC236}">
                <a16:creationId xmlns:a16="http://schemas.microsoft.com/office/drawing/2014/main" id="{E4328A12-4FE2-21D1-1F67-237799680C61}"/>
              </a:ext>
            </a:extLst>
          </p:cNvPr>
          <p:cNvPicPr>
            <a:picLocks noChangeAspect="1"/>
          </p:cNvPicPr>
          <p:nvPr/>
        </p:nvPicPr>
        <p:blipFill>
          <a:blip r:embed="rId4"/>
          <a:stretch>
            <a:fillRect/>
          </a:stretch>
        </p:blipFill>
        <p:spPr>
          <a:xfrm>
            <a:off x="3980428" y="1569565"/>
            <a:ext cx="6603990" cy="4754873"/>
          </a:xfrm>
          <a:prstGeom prst="rect">
            <a:avLst/>
          </a:prstGeom>
          <a:ln>
            <a:noFill/>
          </a:ln>
          <a:effectLst>
            <a:outerShdw blurRad="292100" dist="139700" dir="2700000" algn="tl" rotWithShape="0">
              <a:srgbClr val="333333">
                <a:alpha val="65000"/>
              </a:srgbClr>
            </a:outerShdw>
          </a:effectLst>
        </p:spPr>
      </p:pic>
      <p:sp>
        <p:nvSpPr>
          <p:cNvPr id="7" name="Explosion: 14 Points 6">
            <a:extLst>
              <a:ext uri="{FF2B5EF4-FFF2-40B4-BE49-F238E27FC236}">
                <a16:creationId xmlns:a16="http://schemas.microsoft.com/office/drawing/2014/main" id="{552AE516-C246-CA29-CF46-3092870CF28C}"/>
              </a:ext>
            </a:extLst>
          </p:cNvPr>
          <p:cNvSpPr/>
          <p:nvPr/>
        </p:nvSpPr>
        <p:spPr>
          <a:xfrm>
            <a:off x="360000" y="2752824"/>
            <a:ext cx="3769238" cy="2050181"/>
          </a:xfrm>
          <a:prstGeom prst="irregularSeal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t>Challenge</a:t>
            </a:r>
          </a:p>
        </p:txBody>
      </p:sp>
    </p:spTree>
    <p:extLst>
      <p:ext uri="{BB962C8B-B14F-4D97-AF65-F5344CB8AC3E}">
        <p14:creationId xmlns:p14="http://schemas.microsoft.com/office/powerpoint/2010/main" val="1206847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99629-07FA-19DC-B46F-7FF7A3B92D8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B4EDCE4-2CA9-25C0-DA50-360252907357}"/>
              </a:ext>
            </a:extLst>
          </p:cNvPr>
          <p:cNvSpPr>
            <a:spLocks noGrp="1"/>
          </p:cNvSpPr>
          <p:nvPr>
            <p:ph type="title"/>
          </p:nvPr>
        </p:nvSpPr>
        <p:spPr>
          <a:xfrm>
            <a:off x="360000" y="360000"/>
            <a:ext cx="10367268" cy="545601"/>
          </a:xfrm>
        </p:spPr>
        <p:txBody>
          <a:bodyPr/>
          <a:lstStyle/>
          <a:p>
            <a:r>
              <a:rPr lang="en-AU"/>
              <a:t>Activity 6 – 4 products in a row (3)</a:t>
            </a:r>
            <a:br>
              <a:rPr lang="en-AU"/>
            </a:br>
            <a:endParaRPr lang="en-AU"/>
          </a:p>
        </p:txBody>
      </p:sp>
      <p:sp>
        <p:nvSpPr>
          <p:cNvPr id="2" name="Slide Number Placeholder 1">
            <a:extLst>
              <a:ext uri="{FF2B5EF4-FFF2-40B4-BE49-F238E27FC236}">
                <a16:creationId xmlns:a16="http://schemas.microsoft.com/office/drawing/2014/main" id="{74EB08CA-7224-D1DE-5036-07E215545D5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4" name="Picture 3" descr="image of a head with cogs turning inside">
            <a:extLst>
              <a:ext uri="{FF2B5EF4-FFF2-40B4-BE49-F238E27FC236}">
                <a16:creationId xmlns:a16="http://schemas.microsoft.com/office/drawing/2014/main" id="{0438300D-BFA9-6195-8DBE-1CFC9DCF38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Product game questions to stimulate thinking about strategies for the game.&#10;Questions include:&#10;Why did you pick number question mark as your first product to play?&#10;Is there a better product you could have placed on the board as your first move?&#10;Did you play more moves to defend or to get closer to winning? Could you make any moves that were both?&#10;What factor is your favourite, and why?&#10;What factors give the most play options? Why do you think this?&#10;What was your best move or strategy? Why?">
            <a:extLst>
              <a:ext uri="{FF2B5EF4-FFF2-40B4-BE49-F238E27FC236}">
                <a16:creationId xmlns:a16="http://schemas.microsoft.com/office/drawing/2014/main" id="{C9CEF497-E6F7-E6D5-248E-CC12C3F13CBA}"/>
              </a:ext>
            </a:extLst>
          </p:cNvPr>
          <p:cNvPicPr>
            <a:picLocks noChangeAspect="1"/>
          </p:cNvPicPr>
          <p:nvPr/>
        </p:nvPicPr>
        <p:blipFill>
          <a:blip r:embed="rId4"/>
          <a:stretch>
            <a:fillRect/>
          </a:stretch>
        </p:blipFill>
        <p:spPr>
          <a:xfrm>
            <a:off x="2175311" y="1097258"/>
            <a:ext cx="7203174" cy="5183461"/>
          </a:xfrm>
          <a:prstGeom prst="rect">
            <a:avLst/>
          </a:prstGeom>
        </p:spPr>
      </p:pic>
    </p:spTree>
    <p:extLst>
      <p:ext uri="{BB962C8B-B14F-4D97-AF65-F5344CB8AC3E}">
        <p14:creationId xmlns:p14="http://schemas.microsoft.com/office/powerpoint/2010/main" val="3407908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1967021" y="1910889"/>
            <a:ext cx="9156979" cy="893226"/>
          </a:xfrm>
        </p:spPr>
        <p:txBody>
          <a:bodyPr/>
          <a:lstStyle/>
          <a:p>
            <a:r>
              <a:rPr lang="en-US" sz="4400"/>
              <a:t>What is the </a:t>
            </a:r>
            <a:r>
              <a:rPr lang="en-US" sz="4400" b="1"/>
              <a:t>product</a:t>
            </a:r>
            <a:r>
              <a:rPr lang="en-US" sz="4400"/>
              <a:t> of 7 and 6?</a:t>
            </a:r>
          </a:p>
        </p:txBody>
      </p:sp>
      <p:sp>
        <p:nvSpPr>
          <p:cNvPr id="9" name="TextBox 8">
            <a:extLst>
              <a:ext uri="{FF2B5EF4-FFF2-40B4-BE49-F238E27FC236}">
                <a16:creationId xmlns:a16="http://schemas.microsoft.com/office/drawing/2014/main" id="{8B9CE09D-4912-352C-EDD3-2F5B22293E2B}"/>
              </a:ext>
            </a:extLst>
          </p:cNvPr>
          <p:cNvSpPr txBox="1"/>
          <p:nvPr/>
        </p:nvSpPr>
        <p:spPr>
          <a:xfrm>
            <a:off x="1474111" y="43766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720C9BD-206D-1246-CC58-B94DA2A9FDA7}"/>
              </a:ext>
            </a:extLst>
          </p:cNvPr>
          <p:cNvSpPr txBox="1"/>
          <p:nvPr/>
        </p:nvSpPr>
        <p:spPr>
          <a:xfrm>
            <a:off x="4478084" y="43766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486031" y="43766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482057" y="43766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15E86427-6128-4A51-728F-827974388F67}"/>
              </a:ext>
            </a:extLst>
          </p:cNvPr>
          <p:cNvSpPr txBox="1"/>
          <p:nvPr/>
        </p:nvSpPr>
        <p:spPr>
          <a:xfrm>
            <a:off x="1474111" y="5340330"/>
            <a:ext cx="652832" cy="567283"/>
          </a:xfrm>
          <a:prstGeom prst="rect">
            <a:avLst/>
          </a:prstGeom>
          <a:noFill/>
        </p:spPr>
        <p:txBody>
          <a:bodyPr wrap="square" lIns="0" tIns="0" rIns="0" bIns="0" rtlCol="0">
            <a:noAutofit/>
          </a:bodyPr>
          <a:lstStyle/>
          <a:p>
            <a:pPr algn="l"/>
            <a:r>
              <a:rPr lang="en-AU" sz="4400"/>
              <a:t>36</a:t>
            </a:r>
          </a:p>
        </p:txBody>
      </p:sp>
      <p:sp>
        <p:nvSpPr>
          <p:cNvPr id="6" name="TextBox 5">
            <a:extLst>
              <a:ext uri="{FF2B5EF4-FFF2-40B4-BE49-F238E27FC236}">
                <a16:creationId xmlns:a16="http://schemas.microsoft.com/office/drawing/2014/main" id="{A541C5D8-CCE0-D3C1-FD1B-01E77A1A16D5}"/>
              </a:ext>
            </a:extLst>
          </p:cNvPr>
          <p:cNvSpPr txBox="1"/>
          <p:nvPr/>
        </p:nvSpPr>
        <p:spPr>
          <a:xfrm>
            <a:off x="7269321" y="5340330"/>
            <a:ext cx="652832" cy="567283"/>
          </a:xfrm>
          <a:prstGeom prst="rect">
            <a:avLst/>
          </a:prstGeom>
          <a:noFill/>
        </p:spPr>
        <p:txBody>
          <a:bodyPr wrap="square" lIns="0" tIns="0" rIns="0" bIns="0" rtlCol="0">
            <a:noAutofit/>
          </a:bodyPr>
          <a:lstStyle/>
          <a:p>
            <a:pPr algn="l"/>
            <a:r>
              <a:rPr lang="en-AU" sz="4400"/>
              <a:t>58</a:t>
            </a:r>
          </a:p>
        </p:txBody>
      </p:sp>
      <p:sp>
        <p:nvSpPr>
          <p:cNvPr id="7" name="TextBox 6">
            <a:extLst>
              <a:ext uri="{FF2B5EF4-FFF2-40B4-BE49-F238E27FC236}">
                <a16:creationId xmlns:a16="http://schemas.microsoft.com/office/drawing/2014/main" id="{59C8EEDB-E3C6-7B32-FBA2-8CA68D8B9C45}"/>
              </a:ext>
            </a:extLst>
          </p:cNvPr>
          <p:cNvSpPr txBox="1"/>
          <p:nvPr/>
        </p:nvSpPr>
        <p:spPr>
          <a:xfrm>
            <a:off x="4380104" y="5340330"/>
            <a:ext cx="652832" cy="567283"/>
          </a:xfrm>
          <a:prstGeom prst="rect">
            <a:avLst/>
          </a:prstGeom>
          <a:noFill/>
        </p:spPr>
        <p:txBody>
          <a:bodyPr wrap="square" lIns="0" tIns="0" rIns="0" bIns="0" rtlCol="0">
            <a:noAutofit/>
          </a:bodyPr>
          <a:lstStyle/>
          <a:p>
            <a:pPr algn="l"/>
            <a:r>
              <a:rPr lang="en-AU" sz="4400"/>
              <a:t>42</a:t>
            </a:r>
          </a:p>
        </p:txBody>
      </p:sp>
      <p:sp>
        <p:nvSpPr>
          <p:cNvPr id="8" name="TextBox 7">
            <a:extLst>
              <a:ext uri="{FF2B5EF4-FFF2-40B4-BE49-F238E27FC236}">
                <a16:creationId xmlns:a16="http://schemas.microsoft.com/office/drawing/2014/main" id="{71142ADD-2321-E6F7-ACA2-A5D2F0B73A8B}"/>
              </a:ext>
            </a:extLst>
          </p:cNvPr>
          <p:cNvSpPr txBox="1"/>
          <p:nvPr/>
        </p:nvSpPr>
        <p:spPr>
          <a:xfrm>
            <a:off x="10388051" y="5361488"/>
            <a:ext cx="652832" cy="567283"/>
          </a:xfrm>
          <a:prstGeom prst="rect">
            <a:avLst/>
          </a:prstGeom>
          <a:noFill/>
        </p:spPr>
        <p:txBody>
          <a:bodyPr wrap="square" lIns="0" tIns="0" rIns="0" bIns="0" rtlCol="0">
            <a:noAutofit/>
          </a:bodyPr>
          <a:lstStyle/>
          <a:p>
            <a:pPr algn="l"/>
            <a:r>
              <a:rPr lang="en-AU" sz="4400"/>
              <a:t>45</a:t>
            </a:r>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75A96E3-D73B-9C40-51F4-1FFD505B54B5}"/>
                  </a:ext>
                </a:extLst>
              </p:cNvPr>
              <p:cNvSpPr txBox="1"/>
              <p:nvPr/>
            </p:nvSpPr>
            <p:spPr>
              <a:xfrm>
                <a:off x="571893" y="1692200"/>
                <a:ext cx="11048214" cy="2780907"/>
              </a:xfrm>
              <a:prstGeom prst="rect">
                <a:avLst/>
              </a:prstGeom>
              <a:noFill/>
            </p:spPr>
            <p:txBody>
              <a:bodyPr wrap="square" lIns="0" tIns="0" rIns="0" bIns="0" rtlCol="0">
                <a:noAutofit/>
              </a:bodyPr>
              <a:lstStyle/>
              <a:p>
                <a:pPr algn="ctr">
                  <a:lnSpc>
                    <a:spcPct val="150000"/>
                  </a:lnSpc>
                </a:pPr>
                <a:r>
                  <a:rPr lang="en-AU" sz="4000"/>
                  <a:t>Sofia ran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𝟒</m:t>
                        </m:r>
                      </m:num>
                      <m:den>
                        <m:r>
                          <a:rPr lang="en-AU" sz="4000" b="1" i="1" smtClean="0">
                            <a:latin typeface="Cambria Math" panose="02040503050406030204" pitchFamily="18" charset="0"/>
                          </a:rPr>
                          <m:t>𝟓</m:t>
                        </m:r>
                      </m:den>
                    </m:f>
                    <m:r>
                      <m:rPr>
                        <m:nor/>
                      </m:rPr>
                      <a:rPr lang="en-AU" sz="4000" b="1">
                        <a:latin typeface="Cambria Math" panose="02040503050406030204" pitchFamily="18" charset="0"/>
                      </a:rPr>
                      <m:t> </m:t>
                    </m:r>
                  </m:oMath>
                </a14:m>
                <a:r>
                  <a:rPr lang="en-AU" sz="4000"/>
                  <a:t>of the oval in the morning and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𝟐</m:t>
                        </m:r>
                      </m:num>
                      <m:den>
                        <m:r>
                          <a:rPr lang="en-AU" sz="4000" b="1" i="1" smtClean="0">
                            <a:latin typeface="Cambria Math" panose="02040503050406030204" pitchFamily="18" charset="0"/>
                          </a:rPr>
                          <m:t>𝟓</m:t>
                        </m:r>
                      </m:den>
                    </m:f>
                  </m:oMath>
                </a14:m>
                <a:r>
                  <a:rPr lang="en-AU" sz="4000" b="1"/>
                  <a:t> </a:t>
                </a:r>
                <a:r>
                  <a:rPr lang="en-AU" sz="4000"/>
                  <a:t>of the oval in the afternoon. </a:t>
                </a:r>
              </a:p>
              <a:p>
                <a:pPr algn="ctr">
                  <a:lnSpc>
                    <a:spcPct val="150000"/>
                  </a:lnSpc>
                </a:pPr>
                <a:endParaRPr lang="en-AU" sz="4000"/>
              </a:p>
              <a:p>
                <a:pPr algn="ctr">
                  <a:lnSpc>
                    <a:spcPct val="150000"/>
                  </a:lnSpc>
                </a:pPr>
                <a:r>
                  <a:rPr lang="en-AU" sz="4000"/>
                  <a:t>What </a:t>
                </a:r>
                <a:r>
                  <a:rPr lang="en-AU" sz="4000" b="1"/>
                  <a:t>fraction</a:t>
                </a:r>
                <a:r>
                  <a:rPr lang="en-AU" sz="4000"/>
                  <a:t> of the oval did she run in </a:t>
                </a:r>
                <a:r>
                  <a:rPr lang="en-AU" sz="4000" b="1"/>
                  <a:t>total</a:t>
                </a:r>
                <a:r>
                  <a:rPr lang="en-AU" sz="4000"/>
                  <a:t>?</a:t>
                </a:r>
              </a:p>
            </p:txBody>
          </p:sp>
        </mc:Choice>
        <mc:Fallback xmlns="">
          <p:sp>
            <p:nvSpPr>
              <p:cNvPr id="4" name="TextBox 3">
                <a:extLst>
                  <a:ext uri="{FF2B5EF4-FFF2-40B4-BE49-F238E27FC236}">
                    <a16:creationId xmlns:a16="http://schemas.microsoft.com/office/drawing/2014/main" id="{375A96E3-D73B-9C40-51F4-1FFD505B54B5}"/>
                  </a:ext>
                </a:extLst>
              </p:cNvPr>
              <p:cNvSpPr txBox="1">
                <a:spLocks noRot="1" noChangeAspect="1" noMove="1" noResize="1" noEditPoints="1" noAdjustHandles="1" noChangeArrowheads="1" noChangeShapeType="1" noTextEdit="1"/>
              </p:cNvSpPr>
              <p:nvPr/>
            </p:nvSpPr>
            <p:spPr>
              <a:xfrm>
                <a:off x="571893" y="1692200"/>
                <a:ext cx="11048214" cy="2780907"/>
              </a:xfrm>
              <a:prstGeom prst="rect">
                <a:avLst/>
              </a:prstGeom>
              <a:blipFill>
                <a:blip r:embed="rId4"/>
                <a:stretch>
                  <a:fillRect l="-331" r="-1545" b="-53070"/>
                </a:stretch>
              </a:blipFill>
            </p:spPr>
            <p:txBody>
              <a:bodyPr/>
              <a:lstStyle/>
              <a:p>
                <a:r>
                  <a:rPr lang="en-US">
                    <a:noFill/>
                  </a:rPr>
                  <a:t> </a:t>
                </a:r>
              </a:p>
            </p:txBody>
          </p:sp>
        </mc:Fallback>
      </mc:AlternateContent>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0705146-6CF2-8E30-6ED6-85F9166441FD}"/>
              </a:ext>
            </a:extLst>
          </p:cNvPr>
          <p:cNvSpPr txBox="1"/>
          <p:nvPr/>
        </p:nvSpPr>
        <p:spPr>
          <a:xfrm>
            <a:off x="842505" y="1184223"/>
            <a:ext cx="10641495" cy="3638350"/>
          </a:xfrm>
          <a:prstGeom prst="rect">
            <a:avLst/>
          </a:prstGeom>
          <a:noFill/>
        </p:spPr>
        <p:txBody>
          <a:bodyPr wrap="square" lIns="0" tIns="0" rIns="0" bIns="0" rtlCol="0">
            <a:noAutofit/>
          </a:bodyPr>
          <a:lstStyle/>
          <a:p>
            <a:pPr algn="l">
              <a:lnSpc>
                <a:spcPct val="150000"/>
              </a:lnSpc>
            </a:pPr>
            <a:r>
              <a:rPr lang="en-AU" sz="4400" b="1"/>
              <a:t>Convert</a:t>
            </a:r>
            <a:r>
              <a:rPr lang="en-AU" sz="4400"/>
              <a:t> the following to </a:t>
            </a:r>
            <a:r>
              <a:rPr lang="en-AU" sz="4400" b="1"/>
              <a:t>12-hour time</a:t>
            </a:r>
            <a:r>
              <a:rPr lang="en-AU" sz="4400"/>
              <a:t>:</a:t>
            </a:r>
          </a:p>
          <a:p>
            <a:pPr marL="285750" indent="-285750" algn="ctr">
              <a:lnSpc>
                <a:spcPct val="150000"/>
              </a:lnSpc>
              <a:buFont typeface="Arial" panose="020B0604020202020204" pitchFamily="34" charset="0"/>
              <a:buChar char="•"/>
            </a:pPr>
            <a:r>
              <a:rPr lang="en-AU" sz="4400"/>
              <a:t>18:00</a:t>
            </a:r>
          </a:p>
          <a:p>
            <a:pPr marL="285750" indent="-285750" algn="ctr">
              <a:lnSpc>
                <a:spcPct val="150000"/>
              </a:lnSpc>
              <a:buFont typeface="Arial" panose="020B0604020202020204" pitchFamily="34" charset="0"/>
              <a:buChar char="•"/>
            </a:pPr>
            <a:r>
              <a:rPr lang="en-AU" sz="4400"/>
              <a:t>06:00</a:t>
            </a:r>
          </a:p>
          <a:p>
            <a:pPr marL="285750" indent="-285750" algn="ctr">
              <a:lnSpc>
                <a:spcPct val="150000"/>
              </a:lnSpc>
              <a:buFont typeface="Arial" panose="020B0604020202020204" pitchFamily="34" charset="0"/>
              <a:buChar char="•"/>
            </a:pPr>
            <a:r>
              <a:rPr lang="en-AU" sz="4400"/>
              <a:t>12:00</a:t>
            </a:r>
          </a:p>
          <a:p>
            <a:pPr marL="285750" indent="-285750" algn="ctr">
              <a:lnSpc>
                <a:spcPct val="150000"/>
              </a:lnSpc>
              <a:buFont typeface="Arial" panose="020B0604020202020204" pitchFamily="34" charset="0"/>
              <a:buChar char="•"/>
            </a:pPr>
            <a:r>
              <a:rPr lang="en-AU" sz="4400"/>
              <a:t>21:00</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48D8A68-FCD1-D62F-146E-D03F62091B26}"/>
              </a:ext>
            </a:extLst>
          </p:cNvPr>
          <p:cNvSpPr txBox="1"/>
          <p:nvPr/>
        </p:nvSpPr>
        <p:spPr>
          <a:xfrm>
            <a:off x="348000" y="905601"/>
            <a:ext cx="11357810" cy="6026073"/>
          </a:xfrm>
          <a:prstGeom prst="rect">
            <a:avLst/>
          </a:prstGeom>
          <a:noFill/>
        </p:spPr>
        <p:txBody>
          <a:bodyPr wrap="square">
            <a:spAutoFit/>
          </a:bodyPr>
          <a:lstStyle/>
          <a:p>
            <a:pPr algn="ctr">
              <a:lnSpc>
                <a:spcPct val="150000"/>
              </a:lnSpc>
            </a:pPr>
            <a:r>
              <a:rPr lang="en-AU" sz="4000"/>
              <a:t>There were </a:t>
            </a:r>
            <a:r>
              <a:rPr lang="en-AU" sz="4000" b="1"/>
              <a:t>850 students </a:t>
            </a:r>
            <a:r>
              <a:rPr lang="en-AU" sz="4000"/>
              <a:t>at a school assembly.</a:t>
            </a:r>
          </a:p>
          <a:p>
            <a:pPr algn="ctr">
              <a:lnSpc>
                <a:spcPct val="150000"/>
              </a:lnSpc>
            </a:pPr>
            <a:r>
              <a:rPr lang="en-AU" sz="4000" b="1"/>
              <a:t>234 students left</a:t>
            </a:r>
            <a:r>
              <a:rPr lang="en-AU" sz="4000"/>
              <a:t> early to go to a sports event. </a:t>
            </a:r>
          </a:p>
          <a:p>
            <a:pPr algn="ctr">
              <a:lnSpc>
                <a:spcPct val="150000"/>
              </a:lnSpc>
            </a:pPr>
            <a:r>
              <a:rPr lang="en-AU" sz="4000"/>
              <a:t>Later, </a:t>
            </a:r>
            <a:r>
              <a:rPr lang="en-AU" sz="4000" b="1"/>
              <a:t>127 more </a:t>
            </a:r>
            <a:r>
              <a:rPr lang="en-AU" sz="4000"/>
              <a:t>students arrived from another grade.</a:t>
            </a:r>
          </a:p>
          <a:p>
            <a:pPr algn="ctr">
              <a:lnSpc>
                <a:spcPct val="150000"/>
              </a:lnSpc>
            </a:pPr>
            <a:endParaRPr lang="en-AU" sz="2200"/>
          </a:p>
          <a:p>
            <a:pPr algn="ctr">
              <a:lnSpc>
                <a:spcPct val="150000"/>
              </a:lnSpc>
            </a:pPr>
            <a:r>
              <a:rPr lang="en-AU" sz="4000" b="1"/>
              <a:t>How many </a:t>
            </a:r>
            <a:r>
              <a:rPr lang="en-AU" sz="4000"/>
              <a:t>students were at the assembly in the end?</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0EBC97F-3858-9604-7B9A-CA52BB73E1B9}"/>
              </a:ext>
            </a:extLst>
          </p:cNvPr>
          <p:cNvSpPr txBox="1"/>
          <p:nvPr/>
        </p:nvSpPr>
        <p:spPr>
          <a:xfrm>
            <a:off x="457028" y="2399096"/>
            <a:ext cx="11277943" cy="1029904"/>
          </a:xfrm>
          <a:prstGeom prst="rect">
            <a:avLst/>
          </a:prstGeom>
          <a:noFill/>
        </p:spPr>
        <p:txBody>
          <a:bodyPr wrap="square" lIns="0" tIns="0" rIns="0" bIns="0" rtlCol="0">
            <a:noAutofit/>
          </a:bodyPr>
          <a:lstStyle/>
          <a:p>
            <a:pPr algn="ctr">
              <a:lnSpc>
                <a:spcPct val="150000"/>
              </a:lnSpc>
            </a:pPr>
            <a:r>
              <a:rPr lang="en-AU" sz="4400" b="1"/>
              <a:t>Sketch </a:t>
            </a:r>
            <a:r>
              <a:rPr lang="en-AU" sz="4400"/>
              <a:t>a </a:t>
            </a:r>
            <a:r>
              <a:rPr lang="en-AU" sz="4400" b="1"/>
              <a:t>rectangular prism </a:t>
            </a:r>
            <a:r>
              <a:rPr lang="en-AU" sz="4400"/>
              <a:t>showing</a:t>
            </a:r>
            <a:r>
              <a:rPr lang="en-AU" sz="4400" b="1"/>
              <a:t> depth</a:t>
            </a:r>
            <a:r>
              <a:rPr lang="en-AU" sz="4400"/>
              <a:t>.</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improve your strategies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Product game questions to stimulate thinking about strategies for the game.&#10;Questions include:&#10;Why did you pick number question mark as your first product to play?&#10;Is there a better product you could have placed on the board as your first move?&#10;Did you play more moves to defend or to get closer to winning? Could you make any moves that were both?&#10;What factor is your favourite, and why?&#10;What factors give the most play options? Why do you think this?&#10;What was your best move or strategy? Why?">
            <a:extLst>
              <a:ext uri="{FF2B5EF4-FFF2-40B4-BE49-F238E27FC236}">
                <a16:creationId xmlns:a16="http://schemas.microsoft.com/office/drawing/2014/main" id="{F657A563-85E3-8C5B-7C6C-8349A1E38715}"/>
              </a:ext>
            </a:extLst>
          </p:cNvPr>
          <p:cNvPicPr>
            <a:picLocks noChangeAspect="1"/>
          </p:cNvPicPr>
          <p:nvPr/>
        </p:nvPicPr>
        <p:blipFill>
          <a:blip r:embed="rId4"/>
          <a:stretch>
            <a:fillRect/>
          </a:stretch>
        </p:blipFill>
        <p:spPr>
          <a:xfrm>
            <a:off x="2071572" y="1333951"/>
            <a:ext cx="7200000" cy="5182049"/>
          </a:xfrm>
          <a:prstGeom prst="rect">
            <a:avLst/>
          </a:prstGeom>
        </p:spPr>
      </p:pic>
      <p:pic>
        <p:nvPicPr>
          <p:cNvPr id="5" name="Picture 2" descr="A blue circle with white lines on it">
            <a:hlinkClick r:id="rId5"/>
            <a:extLst>
              <a:ext uri="{FF2B5EF4-FFF2-40B4-BE49-F238E27FC236}">
                <a16:creationId xmlns:a16="http://schemas.microsoft.com/office/drawing/2014/main" id="{ABE040A8-F0A3-C2F3-6C5F-1E55B6EE40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74976" y="1400777"/>
            <a:ext cx="904425" cy="9044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7AFC37-4ED9-A9CE-C5C7-DCD18E8A1261}"/>
              </a:ext>
            </a:extLst>
          </p:cNvPr>
          <p:cNvSpPr txBox="1"/>
          <p:nvPr/>
        </p:nvSpPr>
        <p:spPr>
          <a:xfrm>
            <a:off x="9693813" y="2420881"/>
            <a:ext cx="2310205" cy="461665"/>
          </a:xfrm>
          <a:prstGeom prst="rect">
            <a:avLst/>
          </a:prstGeom>
          <a:noFill/>
        </p:spPr>
        <p:txBody>
          <a:bodyPr wrap="square">
            <a:spAutoFit/>
          </a:bodyPr>
          <a:lstStyle/>
          <a:p>
            <a:r>
              <a:rPr lang="en-AU" sz="2400" u="sng">
                <a:solidFill>
                  <a:srgbClr val="2F5496"/>
                </a:solidFill>
                <a:effectLst/>
                <a:latin typeface="Arial" panose="020B0604020202020204" pitchFamily="34" charset="0"/>
                <a:ea typeface="Arial" panose="020B0604020202020204" pitchFamily="34" charset="0"/>
                <a:hlinkClick r:id="rId5"/>
              </a:rPr>
              <a:t>Product Game</a:t>
            </a:r>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197666855"/>
              </p:ext>
            </p:extLst>
          </p:nvPr>
        </p:nvGraphicFramePr>
        <p:xfrm>
          <a:off x="2557462" y="545457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1129727"/>
            <a:ext cx="11243037" cy="893226"/>
          </a:xfrm>
        </p:spPr>
        <p:txBody>
          <a:bodyPr/>
          <a:lstStyle/>
          <a:p>
            <a:pPr algn="ctr"/>
            <a:r>
              <a:rPr lang="en-AU" sz="4400" b="1"/>
              <a:t>Both</a:t>
            </a:r>
            <a:r>
              <a:rPr lang="en-AU" sz="4400"/>
              <a:t> these </a:t>
            </a:r>
            <a:r>
              <a:rPr lang="en-AU" sz="4400" b="1"/>
              <a:t>arrays</a:t>
            </a:r>
            <a:r>
              <a:rPr lang="en-AU" sz="4400"/>
              <a:t> model 24 as a </a:t>
            </a:r>
            <a:r>
              <a:rPr lang="en-AU" sz="4400" b="1"/>
              <a:t>product</a:t>
            </a:r>
            <a:r>
              <a:rPr lang="en-AU" sz="4400"/>
              <a:t>.</a:t>
            </a:r>
          </a:p>
        </p:txBody>
      </p:sp>
      <p:pic>
        <p:nvPicPr>
          <p:cNvPr id="23" name="Picture 22" descr="A line of blue dots&#10;&#10;AI-generated content may be incorrect.">
            <a:extLst>
              <a:ext uri="{FF2B5EF4-FFF2-40B4-BE49-F238E27FC236}">
                <a16:creationId xmlns:a16="http://schemas.microsoft.com/office/drawing/2014/main" id="{BF542D39-9B9D-9281-6037-F7D1C9E3E67A}"/>
              </a:ext>
            </a:extLst>
          </p:cNvPr>
          <p:cNvPicPr>
            <a:picLocks noChangeAspect="1"/>
          </p:cNvPicPr>
          <p:nvPr/>
        </p:nvPicPr>
        <p:blipFill>
          <a:blip r:embed="rId4">
            <a:extLst>
              <a:ext uri="{28A0092B-C50C-407E-A947-70E740481C1C}">
                <a14:useLocalDpi xmlns:a14="http://schemas.microsoft.com/office/drawing/2010/main" val="0"/>
              </a:ext>
            </a:extLst>
          </a:blip>
          <a:srcRect t="20656" b="55958"/>
          <a:stretch>
            <a:fillRect/>
          </a:stretch>
        </p:blipFill>
        <p:spPr>
          <a:xfrm>
            <a:off x="494422" y="3162765"/>
            <a:ext cx="6802468" cy="1152000"/>
          </a:xfrm>
          <a:prstGeom prst="rect">
            <a:avLst/>
          </a:prstGeom>
        </p:spPr>
      </p:pic>
      <p:pic>
        <p:nvPicPr>
          <p:cNvPr id="25" name="Picture 24" descr="A blue circles on a black background&#10;&#10;AI-generated content may be incorrect.">
            <a:extLst>
              <a:ext uri="{FF2B5EF4-FFF2-40B4-BE49-F238E27FC236}">
                <a16:creationId xmlns:a16="http://schemas.microsoft.com/office/drawing/2014/main" id="{FEF2DBF9-8C71-DDBC-7078-555E8779805F}"/>
              </a:ext>
            </a:extLst>
          </p:cNvPr>
          <p:cNvPicPr>
            <a:picLocks noChangeAspect="1"/>
          </p:cNvPicPr>
          <p:nvPr/>
        </p:nvPicPr>
        <p:blipFill>
          <a:blip r:embed="rId5">
            <a:extLst>
              <a:ext uri="{28A0092B-C50C-407E-A947-70E740481C1C}">
                <a14:useLocalDpi xmlns:a14="http://schemas.microsoft.com/office/drawing/2010/main" val="0"/>
              </a:ext>
            </a:extLst>
          </a:blip>
          <a:srcRect l="50006" b="10765"/>
          <a:stretch>
            <a:fillRect/>
          </a:stretch>
        </p:blipFill>
        <p:spPr>
          <a:xfrm>
            <a:off x="7982856" y="2162863"/>
            <a:ext cx="2438402" cy="3151804"/>
          </a:xfrm>
          <a:prstGeom prst="rect">
            <a:avLst/>
          </a:prstGeom>
        </p:spPr>
      </p:pic>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74220C7-2B55-B242-4D01-823294B9D635}"/>
                  </a:ext>
                </a:extLst>
              </p:cNvPr>
              <p:cNvSpPr txBox="1"/>
              <p:nvPr/>
            </p:nvSpPr>
            <p:spPr>
              <a:xfrm>
                <a:off x="683393" y="1518316"/>
                <a:ext cx="10681292" cy="3044858"/>
              </a:xfrm>
              <a:prstGeom prst="rect">
                <a:avLst/>
              </a:prstGeom>
              <a:noFill/>
            </p:spPr>
            <p:txBody>
              <a:bodyPr wrap="square" lIns="0" tIns="0" rIns="0" bIns="0" rtlCol="0">
                <a:noAutofit/>
              </a:bodyPr>
              <a:lstStyle/>
              <a:p>
                <a:pPr algn="ctr">
                  <a:lnSpc>
                    <a:spcPct val="150000"/>
                  </a:lnSpc>
                </a:pPr>
                <a:r>
                  <a:rPr lang="en-AU" sz="4400"/>
                  <a:t>Maya </a:t>
                </a:r>
                <a:r>
                  <a:rPr lang="en-AU" sz="4400" b="1"/>
                  <a:t>filled</a:t>
                </a:r>
                <a:r>
                  <a:rPr lang="en-AU" sz="4400"/>
                  <a:t>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𝟔</m:t>
                        </m:r>
                      </m:num>
                      <m:den>
                        <m:r>
                          <a:rPr lang="en-AU" sz="4400" b="1" i="1" smtClean="0">
                            <a:latin typeface="Cambria Math" panose="02040503050406030204" pitchFamily="18" charset="0"/>
                          </a:rPr>
                          <m:t>𝟏𝟎</m:t>
                        </m:r>
                      </m:den>
                    </m:f>
                  </m:oMath>
                </a14:m>
                <a:r>
                  <a:rPr lang="en-AU" sz="4400"/>
                  <a:t> of a water bottle. </a:t>
                </a:r>
              </a:p>
              <a:p>
                <a:pPr algn="ctr">
                  <a:lnSpc>
                    <a:spcPct val="150000"/>
                  </a:lnSpc>
                </a:pPr>
                <a:r>
                  <a:rPr lang="en-AU" sz="4400"/>
                  <a:t>She </a:t>
                </a:r>
                <a:r>
                  <a:rPr lang="en-AU" sz="4400" b="1"/>
                  <a:t>drank</a:t>
                </a:r>
                <a:r>
                  <a:rPr lang="en-AU" sz="4400"/>
                  <a:t>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𝟐</m:t>
                        </m:r>
                      </m:num>
                      <m:den>
                        <m:r>
                          <a:rPr lang="en-AU" sz="4400" b="1" i="1" smtClean="0">
                            <a:latin typeface="Cambria Math" panose="02040503050406030204" pitchFamily="18" charset="0"/>
                          </a:rPr>
                          <m:t>𝟏𝟎</m:t>
                        </m:r>
                      </m:den>
                    </m:f>
                  </m:oMath>
                </a14:m>
                <a:r>
                  <a:rPr lang="en-AU" sz="4400"/>
                  <a:t> of it during soccer practice.</a:t>
                </a:r>
              </a:p>
              <a:p>
                <a:pPr algn="ctr">
                  <a:lnSpc>
                    <a:spcPct val="150000"/>
                  </a:lnSpc>
                </a:pPr>
                <a:r>
                  <a:rPr lang="en-AU" sz="4400" b="1"/>
                  <a:t>How much </a:t>
                </a:r>
                <a:r>
                  <a:rPr lang="en-AU" sz="4400"/>
                  <a:t>water is left in the bottle?</a:t>
                </a:r>
              </a:p>
            </p:txBody>
          </p:sp>
        </mc:Choice>
        <mc:Fallback xmlns="">
          <p:sp>
            <p:nvSpPr>
              <p:cNvPr id="4" name="TextBox 3">
                <a:extLst>
                  <a:ext uri="{FF2B5EF4-FFF2-40B4-BE49-F238E27FC236}">
                    <a16:creationId xmlns:a16="http://schemas.microsoft.com/office/drawing/2014/main" id="{E74220C7-2B55-B242-4D01-823294B9D635}"/>
                  </a:ext>
                </a:extLst>
              </p:cNvPr>
              <p:cNvSpPr txBox="1">
                <a:spLocks noRot="1" noChangeAspect="1" noMove="1" noResize="1" noEditPoints="1" noAdjustHandles="1" noChangeArrowheads="1" noChangeShapeType="1" noTextEdit="1"/>
              </p:cNvSpPr>
              <p:nvPr/>
            </p:nvSpPr>
            <p:spPr>
              <a:xfrm>
                <a:off x="683393" y="1518316"/>
                <a:ext cx="10681292" cy="3044858"/>
              </a:xfrm>
              <a:prstGeom prst="rect">
                <a:avLst/>
              </a:prstGeom>
              <a:blipFill>
                <a:blip r:embed="rId4"/>
                <a:stretch>
                  <a:fillRect l="-742" r="-742" b="-35200"/>
                </a:stretch>
              </a:blipFill>
            </p:spPr>
            <p:txBody>
              <a:bodyPr/>
              <a:lstStyle/>
              <a:p>
                <a:r>
                  <a:rPr lang="en-US">
                    <a:noFill/>
                  </a:rPr>
                  <a:t> </a:t>
                </a:r>
              </a:p>
            </p:txBody>
          </p:sp>
        </mc:Fallback>
      </mc:AlternateContent>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F3F1732-3DF8-5A49-D2F1-0394F5A11281}"/>
              </a:ext>
            </a:extLst>
          </p:cNvPr>
          <p:cNvSpPr txBox="1"/>
          <p:nvPr/>
        </p:nvSpPr>
        <p:spPr>
          <a:xfrm>
            <a:off x="360001" y="1186313"/>
            <a:ext cx="11124000" cy="2242687"/>
          </a:xfrm>
          <a:prstGeom prst="rect">
            <a:avLst/>
          </a:prstGeom>
          <a:noFill/>
        </p:spPr>
        <p:txBody>
          <a:bodyPr wrap="square" lIns="0" tIns="0" rIns="0" bIns="0" rtlCol="0">
            <a:noAutofit/>
          </a:bodyPr>
          <a:lstStyle/>
          <a:p>
            <a:pPr lvl="0" algn="ctr">
              <a:lnSpc>
                <a:spcPct val="150000"/>
              </a:lnSpc>
            </a:pPr>
            <a:r>
              <a:rPr lang="en-AU" sz="4000" b="1"/>
              <a:t>Read</a:t>
            </a:r>
            <a:r>
              <a:rPr lang="en-AU" sz="4000"/>
              <a:t> the following times aloud using appropriate 24-hour time language:</a:t>
            </a:r>
          </a:p>
          <a:p>
            <a:pPr marL="571500" lvl="0" indent="-571500" algn="ctr">
              <a:lnSpc>
                <a:spcPct val="150000"/>
              </a:lnSpc>
              <a:buFont typeface="Arial" panose="020B0604020202020204" pitchFamily="34" charset="0"/>
              <a:buChar char="•"/>
            </a:pPr>
            <a:r>
              <a:rPr lang="en-AU" sz="4000"/>
              <a:t>08:00</a:t>
            </a:r>
          </a:p>
          <a:p>
            <a:pPr marL="571500" lvl="0" indent="-571500" algn="ctr">
              <a:lnSpc>
                <a:spcPct val="150000"/>
              </a:lnSpc>
              <a:buFont typeface="Arial" panose="020B0604020202020204" pitchFamily="34" charset="0"/>
              <a:buChar char="•"/>
            </a:pPr>
            <a:r>
              <a:rPr lang="en-AU" sz="4000"/>
              <a:t>16:00</a:t>
            </a:r>
          </a:p>
          <a:p>
            <a:pPr marL="571500" lvl="0" indent="-571500" algn="ctr">
              <a:lnSpc>
                <a:spcPct val="150000"/>
              </a:lnSpc>
              <a:buFont typeface="Arial" panose="020B0604020202020204" pitchFamily="34" charset="0"/>
              <a:buChar char="•"/>
            </a:pPr>
            <a:r>
              <a:rPr lang="en-AU" sz="4000"/>
              <a:t>23:30</a:t>
            </a:r>
          </a:p>
          <a:p>
            <a:pPr marL="571500" lvl="0" indent="-571500" algn="ctr">
              <a:lnSpc>
                <a:spcPct val="150000"/>
              </a:lnSpc>
              <a:buFont typeface="Arial" panose="020B0604020202020204" pitchFamily="34" charset="0"/>
              <a:buChar char="•"/>
            </a:pPr>
            <a:r>
              <a:rPr lang="en-AU" sz="4000"/>
              <a:t>13:40</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29116" y="175050"/>
            <a:ext cx="915500" cy="915500"/>
          </a:xfrm>
          <a:prstGeom prst="rect">
            <a:avLst/>
          </a:prstGeom>
        </p:spPr>
      </p:pic>
      <p:sp>
        <p:nvSpPr>
          <p:cNvPr id="5" name="TextBox 4">
            <a:extLst>
              <a:ext uri="{FF2B5EF4-FFF2-40B4-BE49-F238E27FC236}">
                <a16:creationId xmlns:a16="http://schemas.microsoft.com/office/drawing/2014/main" id="{1069A686-3B67-61DC-2C52-8D1283CD1175}"/>
              </a:ext>
            </a:extLst>
          </p:cNvPr>
          <p:cNvSpPr txBox="1"/>
          <p:nvPr/>
        </p:nvSpPr>
        <p:spPr>
          <a:xfrm>
            <a:off x="246024" y="785599"/>
            <a:ext cx="11597976" cy="5910401"/>
          </a:xfrm>
          <a:prstGeom prst="rect">
            <a:avLst/>
          </a:prstGeom>
          <a:noFill/>
        </p:spPr>
        <p:txBody>
          <a:bodyPr wrap="square">
            <a:spAutoFit/>
          </a:bodyPr>
          <a:lstStyle/>
          <a:p>
            <a:pPr algn="ctr">
              <a:lnSpc>
                <a:spcPct val="150000"/>
              </a:lnSpc>
              <a:buNone/>
            </a:pPr>
            <a:r>
              <a:rPr lang="en-AU" sz="3200"/>
              <a:t>A wildlife reserve is tracking the number of deer in an area of the forest.</a:t>
            </a:r>
          </a:p>
          <a:p>
            <a:pPr marL="457200" indent="-457200">
              <a:lnSpc>
                <a:spcPct val="150000"/>
              </a:lnSpc>
              <a:buFont typeface="Arial" panose="020B0604020202020204" pitchFamily="34" charset="0"/>
              <a:buChar char="•"/>
            </a:pPr>
            <a:r>
              <a:rPr lang="en-AU" sz="3200"/>
              <a:t>On Monday, rangers count </a:t>
            </a:r>
            <a:r>
              <a:rPr lang="en-AU" sz="3200" b="1"/>
              <a:t>462 deer</a:t>
            </a:r>
            <a:r>
              <a:rPr lang="en-AU" sz="3200"/>
              <a:t>.</a:t>
            </a:r>
          </a:p>
          <a:p>
            <a:pPr marL="457200" indent="-457200">
              <a:lnSpc>
                <a:spcPct val="150000"/>
              </a:lnSpc>
              <a:buFont typeface="Arial" panose="020B0604020202020204" pitchFamily="34" charset="0"/>
              <a:buChar char="•"/>
            </a:pPr>
            <a:r>
              <a:rPr lang="en-AU" sz="3200"/>
              <a:t>On Tuesday, they spot </a:t>
            </a:r>
            <a:r>
              <a:rPr lang="en-AU" sz="3200" b="1"/>
              <a:t>125 more deer</a:t>
            </a:r>
            <a:r>
              <a:rPr lang="en-AU" sz="3200"/>
              <a:t> that were not seen the day before.</a:t>
            </a:r>
          </a:p>
          <a:p>
            <a:pPr marL="457200" indent="-457200">
              <a:lnSpc>
                <a:spcPct val="150000"/>
              </a:lnSpc>
              <a:buFont typeface="Arial" panose="020B0604020202020204" pitchFamily="34" charset="0"/>
              <a:buChar char="•"/>
            </a:pPr>
            <a:r>
              <a:rPr lang="en-AU" sz="3200"/>
              <a:t>On Wednesday, </a:t>
            </a:r>
            <a:r>
              <a:rPr lang="en-AU" sz="3200" b="1"/>
              <a:t>89 deer</a:t>
            </a:r>
            <a:r>
              <a:rPr lang="en-AU" sz="3200"/>
              <a:t> are moved to a different part of the reserve.</a:t>
            </a:r>
          </a:p>
          <a:p>
            <a:pPr algn="ctr">
              <a:lnSpc>
                <a:spcPct val="150000"/>
              </a:lnSpc>
            </a:pPr>
            <a:r>
              <a:rPr lang="en-AU" sz="3200" b="1"/>
              <a:t>How many </a:t>
            </a:r>
            <a:r>
              <a:rPr lang="en-AU" sz="3200"/>
              <a:t>deer are in that area by the end of Wednesday?</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A5469F7C-C17F-4233-B156-2A9E17FA47CB}"/>
              </a:ext>
            </a:extLst>
          </p:cNvPr>
          <p:cNvSpPr txBox="1"/>
          <p:nvPr/>
        </p:nvSpPr>
        <p:spPr>
          <a:xfrm>
            <a:off x="0" y="905601"/>
            <a:ext cx="11632244" cy="4159251"/>
          </a:xfrm>
          <a:prstGeom prst="rect">
            <a:avLst/>
          </a:prstGeom>
          <a:noFill/>
        </p:spPr>
        <p:txBody>
          <a:bodyPr wrap="square" lIns="0" tIns="0" rIns="0" bIns="0" rtlCol="0">
            <a:noAutofit/>
          </a:bodyPr>
          <a:lstStyle/>
          <a:p>
            <a:pPr algn="ctr">
              <a:lnSpc>
                <a:spcPct val="150000"/>
              </a:lnSpc>
            </a:pPr>
            <a:r>
              <a:rPr lang="en-AU" sz="3500"/>
              <a:t>2 trapeziums can be </a:t>
            </a:r>
            <a:r>
              <a:rPr lang="en-AU" sz="3500" b="1"/>
              <a:t>combined</a:t>
            </a:r>
            <a:r>
              <a:rPr lang="en-AU" sz="3500"/>
              <a:t> to create a hexagon.</a:t>
            </a:r>
          </a:p>
          <a:p>
            <a:pPr algn="ctr">
              <a:lnSpc>
                <a:spcPct val="150000"/>
              </a:lnSpc>
            </a:pPr>
            <a:endParaRPr lang="en-AU" sz="4400"/>
          </a:p>
          <a:p>
            <a:pPr algn="ctr">
              <a:lnSpc>
                <a:spcPct val="150000"/>
              </a:lnSpc>
            </a:pPr>
            <a:endParaRPr lang="en-AU" sz="3500"/>
          </a:p>
          <a:p>
            <a:pPr algn="ctr">
              <a:lnSpc>
                <a:spcPct val="150000"/>
              </a:lnSpc>
            </a:pPr>
            <a:r>
              <a:rPr lang="en-AU" sz="3500" b="1"/>
              <a:t>Draw </a:t>
            </a:r>
            <a:r>
              <a:rPr lang="en-AU" sz="3500"/>
              <a:t>two or more </a:t>
            </a:r>
            <a:r>
              <a:rPr lang="en-AU" sz="3500" b="1"/>
              <a:t>2D shapes </a:t>
            </a:r>
            <a:r>
              <a:rPr lang="en-AU" sz="3500"/>
              <a:t>showing how they can be </a:t>
            </a:r>
            <a:r>
              <a:rPr lang="en-AU" sz="3500" b="1"/>
              <a:t>combined</a:t>
            </a:r>
            <a:r>
              <a:rPr lang="en-AU" sz="3500"/>
              <a:t> to create a </a:t>
            </a:r>
            <a:r>
              <a:rPr lang="en-AU" sz="3500" b="1"/>
              <a:t>new shape</a:t>
            </a:r>
            <a:r>
              <a:rPr lang="en-AU" sz="3500"/>
              <a:t>. </a:t>
            </a:r>
          </a:p>
          <a:p>
            <a:pPr algn="ctr">
              <a:lnSpc>
                <a:spcPct val="150000"/>
              </a:lnSpc>
            </a:pPr>
            <a:r>
              <a:rPr lang="en-AU" sz="3500" b="1"/>
              <a:t>Label</a:t>
            </a:r>
            <a:r>
              <a:rPr lang="en-AU" sz="3500"/>
              <a:t> the shapes you used and the </a:t>
            </a:r>
            <a:r>
              <a:rPr lang="en-AU" sz="3500" b="1"/>
              <a:t>new shape </a:t>
            </a:r>
            <a:r>
              <a:rPr lang="en-AU" sz="3500"/>
              <a:t>you formed.</a:t>
            </a:r>
          </a:p>
          <a:p>
            <a:pPr algn="l"/>
            <a:endParaRPr lang="en-AU" sz="1800"/>
          </a:p>
        </p:txBody>
      </p:sp>
      <p:pic>
        <p:nvPicPr>
          <p:cNvPr id="8" name="Picture 7" descr="A blue hexagon with white lines&#10;&#10;AI-generated content may be incorrect.">
            <a:extLst>
              <a:ext uri="{FF2B5EF4-FFF2-40B4-BE49-F238E27FC236}">
                <a16:creationId xmlns:a16="http://schemas.microsoft.com/office/drawing/2014/main" id="{EE31524F-4B5A-D7BD-89CF-5FE161CFEA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8984" y="1184223"/>
            <a:ext cx="4214031" cy="3051633"/>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product strategies</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2" descr="A blue circle with white lines on it">
            <a:hlinkClick r:id="rId4"/>
            <a:extLst>
              <a:ext uri="{FF2B5EF4-FFF2-40B4-BE49-F238E27FC236}">
                <a16:creationId xmlns:a16="http://schemas.microsoft.com/office/drawing/2014/main" id="{B7AC5A6B-0581-5E35-54E1-D53E6DBF16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92611" y="1535794"/>
            <a:ext cx="904425" cy="9044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D55E785-7294-A61E-822C-25A054B7DC7F}"/>
              </a:ext>
            </a:extLst>
          </p:cNvPr>
          <p:cNvSpPr txBox="1"/>
          <p:nvPr/>
        </p:nvSpPr>
        <p:spPr>
          <a:xfrm>
            <a:off x="9881795" y="2673483"/>
            <a:ext cx="2310205" cy="461665"/>
          </a:xfrm>
          <a:prstGeom prst="rect">
            <a:avLst/>
          </a:prstGeom>
          <a:noFill/>
        </p:spPr>
        <p:txBody>
          <a:bodyPr wrap="square">
            <a:spAutoFit/>
          </a:bodyPr>
          <a:lstStyle/>
          <a:p>
            <a:r>
              <a:rPr lang="en-AU" sz="2400" u="sng">
                <a:solidFill>
                  <a:srgbClr val="2F5496"/>
                </a:solidFill>
                <a:effectLst/>
                <a:latin typeface="Arial" panose="020B0604020202020204" pitchFamily="34" charset="0"/>
                <a:ea typeface="Arial" panose="020B0604020202020204" pitchFamily="34" charset="0"/>
                <a:hlinkClick r:id="rId4"/>
              </a:rPr>
              <a:t>Product Game</a:t>
            </a:r>
            <a:endParaRPr lang="en-AU"/>
          </a:p>
        </p:txBody>
      </p:sp>
      <p:pic>
        <p:nvPicPr>
          <p:cNvPr id="11" name="Picture 10" descr="Product game board. 6 by 6 grid with various numbers from 1 to 81 and a number line from 1 to 9 underneath.">
            <a:extLst>
              <a:ext uri="{FF2B5EF4-FFF2-40B4-BE49-F238E27FC236}">
                <a16:creationId xmlns:a16="http://schemas.microsoft.com/office/drawing/2014/main" id="{190A126D-36DF-324B-826B-45182A72E1E5}"/>
              </a:ext>
            </a:extLst>
          </p:cNvPr>
          <p:cNvPicPr>
            <a:picLocks noChangeAspect="1"/>
          </p:cNvPicPr>
          <p:nvPr/>
        </p:nvPicPr>
        <p:blipFill>
          <a:blip r:embed="rId6">
            <a:extLst>
              <a:ext uri="{28A0092B-C50C-407E-A947-70E740481C1C}">
                <a14:useLocalDpi xmlns:a14="http://schemas.microsoft.com/office/drawing/2010/main" val="0"/>
              </a:ext>
            </a:extLst>
          </a:blip>
          <a:srcRect l="9091" b="12310"/>
          <a:stretch>
            <a:fillRect/>
          </a:stretch>
        </p:blipFill>
        <p:spPr>
          <a:xfrm>
            <a:off x="522514" y="1028588"/>
            <a:ext cx="8113485" cy="56674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68</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
        <p:nvSpPr>
          <p:cNvPr id="5" name="Content Placeholder 3">
            <a:extLst>
              <a:ext uri="{FF2B5EF4-FFF2-40B4-BE49-F238E27FC236}">
                <a16:creationId xmlns:a16="http://schemas.microsoft.com/office/drawing/2014/main" id="{45268736-9EC5-7379-8E72-CF7C37D6EEFB}"/>
              </a:ext>
            </a:extLst>
          </p:cNvPr>
          <p:cNvSpPr txBox="1">
            <a:spLocks/>
          </p:cNvSpPr>
          <p:nvPr/>
        </p:nvSpPr>
        <p:spPr>
          <a:xfrm>
            <a:off x="555942" y="3358982"/>
            <a:ext cx="11484000" cy="313901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2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2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hlinkClick r:id="rId6"/>
              </a:rPr>
              <a:t>Mathematics K–10 Syllabus </a:t>
            </a:r>
            <a:r>
              <a:rPr lang="en-AU" dirty="0"/>
              <a:t>© NSW Education Standards Authority (NESA) for and on behalf of the Crown in right of the State of New South Wales, 2022.</a:t>
            </a:r>
          </a:p>
          <a:p>
            <a:pPr>
              <a:spcBef>
                <a:spcPts val="1200"/>
              </a:spcBef>
              <a:spcAft>
                <a:spcPts val="600"/>
              </a:spcAft>
            </a:pPr>
            <a:r>
              <a:rPr lang="en-AU" u="sng" dirty="0">
                <a:solidFill>
                  <a:srgbClr val="2F5496"/>
                </a:solidFill>
                <a:ea typeface="Calibri" panose="020F0502020204030204" pitchFamily="34" charset="0"/>
                <a:hlinkClick r:id="rId7"/>
              </a:rPr>
              <a:t>National Numeracy Learning Progression</a:t>
            </a:r>
            <a:r>
              <a:rPr lang="en-AU" dirty="0">
                <a:ea typeface="Calibri" panose="020F0502020204030204" pitchFamily="34" charset="0"/>
                <a:hlinkClick r:id="rId7"/>
              </a:rPr>
              <a:t> </a:t>
            </a:r>
            <a:r>
              <a:rPr lang="en-AU" dirty="0">
                <a:ea typeface="Calibri" panose="020F0502020204030204" pitchFamily="34" charset="0"/>
              </a:rPr>
              <a:t>© Australian Curriculum, Assessment and Reporting Authority (ACARA) 2010 to present, unless otherwise indicated. This material was downloaded from the </a:t>
            </a:r>
            <a:r>
              <a:rPr lang="en-AU" u="sng" dirty="0">
                <a:solidFill>
                  <a:srgbClr val="2F5496"/>
                </a:solidFill>
                <a:ea typeface="Calibri" panose="020F0502020204030204" pitchFamily="34" charset="0"/>
                <a:hlinkClick r:id="rId8"/>
              </a:rPr>
              <a:t>Australian Curriculum</a:t>
            </a:r>
            <a:r>
              <a:rPr lang="en-AU" dirty="0">
                <a:ea typeface="Calibri" panose="020F0502020204030204" pitchFamily="34" charset="0"/>
              </a:rPr>
              <a:t> website (National Numeracy Learning Progression) (accessed 28 August 2025) and was not modified.</a:t>
            </a:r>
          </a:p>
          <a:p>
            <a:r>
              <a:rPr lang="en-AU" dirty="0"/>
              <a:t>NSW Education Standards Authority (NESA) (2022) ‘</a:t>
            </a:r>
            <a:r>
              <a:rPr lang="en-AU" u="sng" dirty="0">
                <a:hlinkClick r:id="rId9"/>
              </a:rPr>
              <a:t>Teaching advice for Representing quantity fractions A</a:t>
            </a:r>
            <a:r>
              <a:rPr lang="en-AU" dirty="0"/>
              <a:t>’, </a:t>
            </a:r>
            <a:r>
              <a:rPr lang="en-AU" i="1" dirty="0"/>
              <a:t>Stage 3</a:t>
            </a:r>
            <a:r>
              <a:rPr lang="en-AU" dirty="0"/>
              <a:t>, NSW Curriculum website, accessed 13 October 2025.</a:t>
            </a:r>
          </a:p>
          <a:p>
            <a:r>
              <a:rPr lang="en-AU" dirty="0">
                <a:ea typeface="Calibri" panose="020F0502020204030204" pitchFamily="34" charset="0"/>
              </a:rPr>
              <a:t>State of New South Wales (Department of Education) (2023) </a:t>
            </a:r>
            <a:r>
              <a:rPr lang="en-AU" i="1" u="sng" dirty="0">
                <a:solidFill>
                  <a:srgbClr val="2F5496"/>
                </a:solidFill>
                <a:ea typeface="Calibri" panose="020F0502020204030204" pitchFamily="34" charset="0"/>
                <a:hlinkClick r:id="rId10"/>
              </a:rPr>
              <a:t>Equivalent number sentences</a:t>
            </a:r>
            <a:r>
              <a:rPr lang="en-AU" u="sng" dirty="0">
                <a:solidFill>
                  <a:srgbClr val="2F5496"/>
                </a:solidFill>
                <a:ea typeface="Calibri" panose="020F0502020204030204" pitchFamily="34" charset="0"/>
                <a:hlinkClick r:id="rId10"/>
              </a:rPr>
              <a:t>,</a:t>
            </a:r>
            <a:r>
              <a:rPr lang="en-AU" dirty="0">
                <a:ea typeface="Calibri" panose="020F0502020204030204" pitchFamily="34" charset="0"/>
              </a:rPr>
              <a:t> Universal Resource Hub website, accessed 26 June 2023.</a:t>
            </a:r>
            <a:endParaRPr lang="en-AU" dirty="0"/>
          </a:p>
          <a:p>
            <a:r>
              <a:rPr lang="en-AU" dirty="0"/>
              <a:t>University of Cambridge (n.d.) </a:t>
            </a:r>
            <a:r>
              <a:rPr lang="en-AU" i="1" u="sng" dirty="0">
                <a:hlinkClick r:id="rId11"/>
              </a:rPr>
              <a:t>Factors and multiples game</a:t>
            </a:r>
            <a:r>
              <a:rPr lang="en-AU" dirty="0"/>
              <a:t>, NRICH website, accessed 5 February 2024.</a:t>
            </a:r>
          </a:p>
          <a:p>
            <a:endParaRPr lang="en-AU" dirty="0"/>
          </a:p>
          <a:p>
            <a:r>
              <a:rPr lang="en-AU" dirty="0"/>
              <a:t> </a:t>
            </a:r>
          </a:p>
          <a:p>
            <a:endParaRPr lang="en-AU" dirty="0"/>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22720-0A07-C90F-2DE2-CA12B56AD6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BE3AA4-ECF1-E4AF-760E-7EC40BBA9E95}"/>
              </a:ext>
            </a:extLst>
          </p:cNvPr>
          <p:cNvSpPr>
            <a:spLocks noGrp="1"/>
          </p:cNvSpPr>
          <p:nvPr>
            <p:ph type="title"/>
          </p:nvPr>
        </p:nvSpPr>
        <p:spPr/>
        <p:txBody>
          <a:bodyPr/>
          <a:lstStyle/>
          <a:p>
            <a:r>
              <a:rPr lang="en-AU" dirty="0">
                <a:latin typeface="+mj-lt"/>
              </a:rPr>
              <a:t>References </a:t>
            </a:r>
            <a:r>
              <a:rPr lang="en-AU" dirty="0">
                <a:solidFill>
                  <a:schemeClr val="accent4"/>
                </a:solidFill>
                <a:latin typeface="+mj-lt"/>
              </a:rPr>
              <a:t>(2)</a:t>
            </a:r>
          </a:p>
        </p:txBody>
      </p:sp>
      <p:sp>
        <p:nvSpPr>
          <p:cNvPr id="6" name="TextBox 5">
            <a:extLst>
              <a:ext uri="{FF2B5EF4-FFF2-40B4-BE49-F238E27FC236}">
                <a16:creationId xmlns:a16="http://schemas.microsoft.com/office/drawing/2014/main" id="{BD1E2DCF-8AED-B882-2EE5-53A5A61E05CF}"/>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2" name="Slide Number Placeholder 1">
            <a:extLst>
              <a:ext uri="{FF2B5EF4-FFF2-40B4-BE49-F238E27FC236}">
                <a16:creationId xmlns:a16="http://schemas.microsoft.com/office/drawing/2014/main" id="{127DDC6A-AA91-CB9E-28EA-0FB6E5F4A0A2}"/>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
        <p:nvSpPr>
          <p:cNvPr id="4" name="Content Placeholder 3">
            <a:extLst>
              <a:ext uri="{FF2B5EF4-FFF2-40B4-BE49-F238E27FC236}">
                <a16:creationId xmlns:a16="http://schemas.microsoft.com/office/drawing/2014/main" id="{274DEEEE-F95D-892C-9932-7B54B1708EAC}"/>
              </a:ext>
            </a:extLst>
          </p:cNvPr>
          <p:cNvSpPr>
            <a:spLocks noGrp="1"/>
          </p:cNvSpPr>
          <p:nvPr>
            <p:ph idx="1"/>
          </p:nvPr>
        </p:nvSpPr>
        <p:spPr>
          <a:xfrm>
            <a:off x="453306" y="3429000"/>
            <a:ext cx="11484000" cy="2927351"/>
          </a:xfrm>
        </p:spPr>
        <p:txBody>
          <a:bodyPr/>
          <a:lstStyle/>
          <a:p>
            <a:pPr>
              <a:lnSpc>
                <a:spcPct val="150000"/>
              </a:lnSpc>
              <a:spcBef>
                <a:spcPts val="1200"/>
              </a:spcBef>
              <a:spcAft>
                <a:spcPts val="600"/>
              </a:spcAft>
            </a:pPr>
            <a:r>
              <a:rPr lang="en-AU" sz="1200" dirty="0">
                <a:effectLst/>
                <a:ea typeface="Calibri" panose="020F0502020204030204" pitchFamily="34" charset="0"/>
              </a:rPr>
              <a:t>New Zealand Ministry of Education (</a:t>
            </a:r>
            <a:r>
              <a:rPr lang="en-AU" sz="1200" dirty="0" err="1">
                <a:effectLst/>
                <a:ea typeface="Calibri" panose="020F0502020204030204" pitchFamily="34" charset="0"/>
              </a:rPr>
              <a:t>n.d</a:t>
            </a:r>
            <a:r>
              <a:rPr lang="en-AU" sz="1200" dirty="0">
                <a:effectLst/>
                <a:ea typeface="Calibri" panose="020F0502020204030204" pitchFamily="34" charset="0"/>
              </a:rPr>
              <a:t>) </a:t>
            </a:r>
            <a:r>
              <a:rPr lang="en-AU" sz="1200" i="1" u="sng" dirty="0">
                <a:solidFill>
                  <a:srgbClr val="2F5496"/>
                </a:solidFill>
                <a:effectLst/>
                <a:ea typeface="Calibri" panose="020F0502020204030204" pitchFamily="34" charset="0"/>
              </a:rPr>
              <a:t>Problems to solve</a:t>
            </a:r>
            <a:r>
              <a:rPr lang="en-AU" sz="1200" dirty="0">
                <a:effectLst/>
                <a:ea typeface="Calibri" panose="020F0502020204030204" pitchFamily="34" charset="0"/>
              </a:rPr>
              <a:t>, NZ Maths website, accessed 26 June 2023.</a:t>
            </a:r>
          </a:p>
          <a:p>
            <a:pPr>
              <a:lnSpc>
                <a:spcPct val="150000"/>
              </a:lnSpc>
              <a:spcBef>
                <a:spcPts val="1200"/>
              </a:spcBef>
              <a:spcAft>
                <a:spcPts val="600"/>
              </a:spcAft>
            </a:pPr>
            <a:r>
              <a:rPr lang="en-AU" sz="1200" dirty="0">
                <a:effectLst/>
                <a:ea typeface="Calibri" panose="020F0502020204030204" pitchFamily="34" charset="0"/>
              </a:rPr>
              <a:t>State of New South Wales (Department of Education) (2023) </a:t>
            </a:r>
            <a:r>
              <a:rPr lang="en-AU" sz="1200" i="1" u="sng" dirty="0">
                <a:solidFill>
                  <a:srgbClr val="2F5496"/>
                </a:solidFill>
                <a:effectLst/>
                <a:ea typeface="Calibri" panose="020F0502020204030204" pitchFamily="34" charset="0"/>
                <a:hlinkClick r:id="rId6"/>
              </a:rPr>
              <a:t>Equivalent number sentences</a:t>
            </a:r>
            <a:r>
              <a:rPr lang="en-AU" sz="1200" u="sng" dirty="0">
                <a:solidFill>
                  <a:srgbClr val="2F5496"/>
                </a:solidFill>
                <a:effectLst/>
                <a:ea typeface="Calibri" panose="020F0502020204030204" pitchFamily="34" charset="0"/>
                <a:hlinkClick r:id="rId6"/>
              </a:rPr>
              <a:t>,</a:t>
            </a:r>
            <a:r>
              <a:rPr lang="en-AU" sz="1200" dirty="0">
                <a:effectLst/>
                <a:ea typeface="Calibri" panose="020F0502020204030204" pitchFamily="34" charset="0"/>
              </a:rPr>
              <a:t> Universal Resource Hub website, accessed 26 June 2023.</a:t>
            </a:r>
          </a:p>
          <a:p>
            <a:pPr>
              <a:lnSpc>
                <a:spcPct val="150000"/>
              </a:lnSpc>
              <a:spcBef>
                <a:spcPts val="1200"/>
              </a:spcBef>
              <a:spcAft>
                <a:spcPts val="600"/>
              </a:spcAft>
            </a:pPr>
            <a:r>
              <a:rPr lang="en-AU" sz="1200" dirty="0">
                <a:effectLst/>
                <a:ea typeface="Calibri" panose="020F0502020204030204" pitchFamily="34" charset="0"/>
              </a:rPr>
              <a:t>Sullivan P (2018) </a:t>
            </a:r>
            <a:r>
              <a:rPr lang="en-AU" sz="1200" i="1" dirty="0">
                <a:effectLst/>
                <a:ea typeface="Calibri" panose="020F0502020204030204" pitchFamily="34" charset="0"/>
              </a:rPr>
              <a:t>Challenging Mathematical Tasks: Unlocking the potential of all students</a:t>
            </a:r>
            <a:r>
              <a:rPr lang="en-AU" sz="1200" dirty="0">
                <a:effectLst/>
                <a:ea typeface="Calibri" panose="020F0502020204030204" pitchFamily="34" charset="0"/>
              </a:rPr>
              <a:t>, Oxford University Press, Australia and New Zealand.</a:t>
            </a:r>
          </a:p>
          <a:p>
            <a:pPr>
              <a:lnSpc>
                <a:spcPct val="150000"/>
              </a:lnSpc>
              <a:spcBef>
                <a:spcPts val="1200"/>
              </a:spcBef>
              <a:spcAft>
                <a:spcPts val="600"/>
              </a:spcAft>
            </a:pPr>
            <a:r>
              <a:rPr lang="en-AU" sz="1200" dirty="0">
                <a:effectLst/>
                <a:ea typeface="Calibri" panose="020F0502020204030204" pitchFamily="34" charset="0"/>
              </a:rPr>
              <a:t>Sullivan P and Lilburn P (2017) </a:t>
            </a:r>
            <a:r>
              <a:rPr lang="en-AU" sz="1200" i="1" dirty="0">
                <a:effectLst/>
                <a:ea typeface="Calibri" panose="020F0502020204030204" pitchFamily="34" charset="0"/>
              </a:rPr>
              <a:t>Open-Ended Maths Activities</a:t>
            </a:r>
            <a:r>
              <a:rPr lang="en-AU" sz="1200" dirty="0">
                <a:effectLst/>
                <a:ea typeface="Calibri" panose="020F0502020204030204" pitchFamily="34" charset="0"/>
              </a:rPr>
              <a:t>, 2nd </a:t>
            </a:r>
            <a:r>
              <a:rPr lang="en-AU" sz="1200" dirty="0" err="1">
                <a:effectLst/>
                <a:ea typeface="Calibri" panose="020F0502020204030204" pitchFamily="34" charset="0"/>
              </a:rPr>
              <a:t>edn</a:t>
            </a:r>
            <a:r>
              <a:rPr lang="en-AU" sz="1200" dirty="0">
                <a:effectLst/>
                <a:ea typeface="Calibri" panose="020F0502020204030204" pitchFamily="34" charset="0"/>
              </a:rPr>
              <a:t>, Oxford University Press, Australia and New Zealand.</a:t>
            </a:r>
          </a:p>
        </p:txBody>
      </p:sp>
    </p:spTree>
    <p:extLst>
      <p:ext uri="{BB962C8B-B14F-4D97-AF65-F5344CB8AC3E}">
        <p14:creationId xmlns:p14="http://schemas.microsoft.com/office/powerpoint/2010/main" val="3855900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E00DA3D-9F99-458E-9DAB-0CE3DD324CEB}">
  <ds:schemaRefs>
    <ds:schemaRef ds:uri="http://schemas.microsoft.com/sharepoint/v3/contenttype/forms"/>
  </ds:schemaRefs>
</ds:datastoreItem>
</file>

<file path=customXml/itemProps2.xml><?xml version="1.0" encoding="utf-8"?>
<ds:datastoreItem xmlns:ds="http://schemas.openxmlformats.org/officeDocument/2006/customXml" ds:itemID="{9D190645-1DDA-4FBF-8D60-C26BE2A0E21B}"/>
</file>

<file path=customXml/itemProps3.xml><?xml version="1.0" encoding="utf-8"?>
<ds:datastoreItem xmlns:ds="http://schemas.openxmlformats.org/officeDocument/2006/customXml" ds:itemID="{92A79ED5-3D27-435D-B83C-BD2537F20B0A}">
  <ds:schemaRef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schemas.microsoft.com/office/infopath/2007/PartnerControls"/>
    <ds:schemaRef ds:uri="http://purl.org/dc/elements/1.1/"/>
    <ds:schemaRef ds:uri="http://purl.org/dc/terms/"/>
    <ds:schemaRef ds:uri="http://www.w3.org/XML/1998/namespace"/>
    <ds:schemaRef ds:uri="60129b06-f64b-40a8-96e2-c5b2f86112b1"/>
    <ds:schemaRef ds:uri="7e763d47-3c66-4c58-9425-1477fd3ccd1e"/>
  </ds:schemaRefs>
</ds:datastoreItem>
</file>

<file path=docProps/app.xml><?xml version="1.0" encoding="utf-8"?>
<Properties xmlns="http://schemas.openxmlformats.org/officeDocument/2006/extended-properties" xmlns:vt="http://schemas.openxmlformats.org/officeDocument/2006/docPropsVTypes">
  <Template>student-facing-primary-template-2025-v1-5</Template>
  <TotalTime>59</TotalTime>
  <Words>6604</Words>
  <Application>Microsoft Office PowerPoint</Application>
  <PresentationFormat>Widescreen</PresentationFormat>
  <Paragraphs>839</Paragraphs>
  <Slides>71</Slides>
  <Notes>71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71</vt:i4>
      </vt:variant>
    </vt:vector>
  </HeadingPairs>
  <TitlesOfParts>
    <vt:vector size="80" baseType="lpstr">
      <vt:lpstr>Public Sans Light</vt:lpstr>
      <vt:lpstr>Public Sans</vt:lpstr>
      <vt:lpstr>Wingdings</vt:lpstr>
      <vt:lpstr>Arial</vt:lpstr>
      <vt:lpstr>Times New Roman</vt:lpstr>
      <vt:lpstr>Montserrat</vt:lpstr>
      <vt:lpstr>Calibri</vt:lpstr>
      <vt:lpstr>Cambria Math</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fraction number lines</vt:lpstr>
      <vt:lpstr>Review of learning 2</vt:lpstr>
      <vt:lpstr>True or false (1)</vt:lpstr>
      <vt:lpstr>Short response (5)</vt:lpstr>
      <vt:lpstr>Short response (6)</vt:lpstr>
      <vt:lpstr>Short response (7)</vt:lpstr>
      <vt:lpstr>Short response (8)</vt:lpstr>
      <vt:lpstr>Activity 2 – number lines to represent fractions </vt:lpstr>
      <vt:lpstr>Review of learning 3</vt:lpstr>
      <vt:lpstr>Multiple choice (2)</vt:lpstr>
      <vt:lpstr>Short response (9)</vt:lpstr>
      <vt:lpstr>Short response (10)</vt:lpstr>
      <vt:lpstr>Short response (11)</vt:lpstr>
      <vt:lpstr>Short response (12)</vt:lpstr>
      <vt:lpstr>Activity 3 – pattern block fractions</vt:lpstr>
      <vt:lpstr>Review of learning 4</vt:lpstr>
      <vt:lpstr>True or false (2)</vt:lpstr>
      <vt:lpstr>Short response (13)</vt:lpstr>
      <vt:lpstr>Short response (14)</vt:lpstr>
      <vt:lpstr>Short response (15)</vt:lpstr>
      <vt:lpstr>Short response (16)</vt:lpstr>
      <vt:lpstr>Activity 4 – pattern block fractions challenge</vt:lpstr>
      <vt:lpstr>Review of learning 5</vt:lpstr>
      <vt:lpstr>Multiple choice (3)</vt:lpstr>
      <vt:lpstr>Short response (17)</vt:lpstr>
      <vt:lpstr>Short response (18)</vt:lpstr>
      <vt:lpstr>Short response (19)</vt:lpstr>
      <vt:lpstr>Short response (20)</vt:lpstr>
      <vt:lpstr>Activity 5 – factors and multiples game</vt:lpstr>
      <vt:lpstr>Review of learning 6</vt:lpstr>
      <vt:lpstr>True or false (3)</vt:lpstr>
      <vt:lpstr>Short response (21)</vt:lpstr>
      <vt:lpstr>Short response (22)</vt:lpstr>
      <vt:lpstr>Short response (23)</vt:lpstr>
      <vt:lpstr>Short response (24)</vt:lpstr>
      <vt:lpstr>Activity 6 – 4 products in a row (1) </vt:lpstr>
      <vt:lpstr>Activity 6 – 4 products in a row (2)</vt:lpstr>
      <vt:lpstr>Activity 6 – 4 products in a row (3) </vt:lpstr>
      <vt:lpstr>Review of learning 7</vt:lpstr>
      <vt:lpstr>Multiple choice (4)</vt:lpstr>
      <vt:lpstr>Short response (25)</vt:lpstr>
      <vt:lpstr>Short response (26)</vt:lpstr>
      <vt:lpstr>Short response (27)</vt:lpstr>
      <vt:lpstr>Short response (28)</vt:lpstr>
      <vt:lpstr>Activity 7 – improve your strategies</vt:lpstr>
      <vt:lpstr>Review of learning 8</vt:lpstr>
      <vt:lpstr>True or false (4)</vt:lpstr>
      <vt:lpstr>Short response (29)</vt:lpstr>
      <vt:lpstr>Short response (30)</vt:lpstr>
      <vt:lpstr>Short response (31)</vt:lpstr>
      <vt:lpstr>Short response (32)</vt:lpstr>
      <vt:lpstr>Activity 8 – product strategies</vt:lpstr>
      <vt:lpstr>Double Venn diagram</vt:lpstr>
      <vt:lpstr>Frayer</vt:lpstr>
      <vt:lpstr>Spider map</vt:lpstr>
      <vt:lpstr>Cline</vt:lpstr>
      <vt:lpstr>Compare and contrast</vt:lpstr>
      <vt:lpstr>Multiple choice (5)</vt:lpstr>
      <vt:lpstr>Multiple choice (6)</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2025-12-01T01:45:05Z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