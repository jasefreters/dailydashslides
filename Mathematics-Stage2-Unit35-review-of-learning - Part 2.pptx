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44"/>
  </p:notesMasterIdLst>
  <p:handoutMasterIdLst>
    <p:handoutMasterId r:id="rId45"/>
  </p:handoutMasterIdLst>
  <p:sldIdLst>
    <p:sldId id="26610" r:id="rId5"/>
    <p:sldId id="26611" r:id="rId6"/>
    <p:sldId id="26614" r:id="rId7"/>
    <p:sldId id="26653" r:id="rId8"/>
    <p:sldId id="26616" r:id="rId9"/>
    <p:sldId id="26617" r:id="rId10"/>
    <p:sldId id="26618" r:id="rId11"/>
    <p:sldId id="26650" r:id="rId12"/>
    <p:sldId id="26619" r:id="rId13"/>
    <p:sldId id="26622" r:id="rId14"/>
    <p:sldId id="26625" r:id="rId15"/>
    <p:sldId id="26624" r:id="rId16"/>
    <p:sldId id="26623" r:id="rId17"/>
    <p:sldId id="26626" r:id="rId18"/>
    <p:sldId id="26627" r:id="rId19"/>
    <p:sldId id="26628" r:id="rId20"/>
    <p:sldId id="26648" r:id="rId21"/>
    <p:sldId id="26632" r:id="rId22"/>
    <p:sldId id="26634" r:id="rId23"/>
    <p:sldId id="26633" r:id="rId24"/>
    <p:sldId id="26635" r:id="rId25"/>
    <p:sldId id="26636" r:id="rId26"/>
    <p:sldId id="26637" r:id="rId27"/>
    <p:sldId id="26640" r:id="rId28"/>
    <p:sldId id="26641" r:id="rId29"/>
    <p:sldId id="26642" r:id="rId30"/>
    <p:sldId id="26643" r:id="rId31"/>
    <p:sldId id="26644" r:id="rId32"/>
    <p:sldId id="26645" r:id="rId33"/>
    <p:sldId id="26393" r:id="rId34"/>
    <p:sldId id="26387" r:id="rId35"/>
    <p:sldId id="26395" r:id="rId36"/>
    <p:sldId id="26391" r:id="rId37"/>
    <p:sldId id="26402" r:id="rId38"/>
    <p:sldId id="26507" r:id="rId39"/>
    <p:sldId id="26649" r:id="rId40"/>
    <p:sldId id="360" r:id="rId41"/>
    <p:sldId id="26652" r:id="rId42"/>
    <p:sldId id="361" r:id="rId43"/>
  </p:sldIdLst>
  <p:sldSz cx="12192000" cy="6858000"/>
  <p:notesSz cx="6858000" cy="9144000"/>
  <p:embeddedFontLst>
    <p:embeddedFont>
      <p:font typeface="Montserrat" panose="00000500000000000000" charset="0"/>
      <p:regular r:id="rId46"/>
      <p:bold r:id="rId47"/>
      <p:italic r:id="rId48"/>
      <p:boldItalic r:id="rId49"/>
    </p:embeddedFont>
    <p:embeddedFont>
      <p:font typeface="Public Sans" panose="020B0604020202020204" charset="0"/>
      <p:regular r:id="rId50"/>
      <p:bold r:id="rId51"/>
      <p:italic r:id="rId52"/>
      <p:boldItalic r:id="rId53"/>
    </p:embeddedFont>
    <p:embeddedFont>
      <p:font typeface="Public Sans Light" panose="020B0604020202020204" charset="0"/>
      <p:regular r:id="rId54"/>
      <p:italic r:id="rId55"/>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ection>
        <p14:section name="Slide templates" id="{D5A8010D-981F-43AA-A0D6-182EC53CAA84}">
          <p14:sldIdLst/>
        </p14:section>
        <p14:section name="Review of learning 1" id="{4B1EDACC-5006-43DF-9D93-DE177A158796}">
          <p14:sldIdLst/>
        </p14:section>
        <p14:section name="Review of learning 2" id="{0AC6BBCB-7E49-46CE-B777-EFCDD4B60F91}">
          <p14:sldIdLst/>
        </p14:section>
        <p14:section name="Review of learning 3" id="{6F5E1C19-5255-4FF7-A3CD-4549F7EF69B2}">
          <p14:sldIdLst/>
        </p14:section>
        <p14:section name="Review of learning 4" id="{6EB8E1CE-ED7B-4635-88AB-9D1D052BB011}">
          <p14:sldIdLst/>
        </p14:section>
        <p14:section name="Review of learning 5" id="{E365C8CF-14E0-4F5A-BCE8-2E930DEEA864}">
          <p14:sldIdLst>
            <p14:sldId id="26610"/>
            <p14:sldId id="26611"/>
            <p14:sldId id="26614"/>
            <p14:sldId id="26653"/>
            <p14:sldId id="26616"/>
            <p14:sldId id="26617"/>
            <p14:sldId id="26618"/>
            <p14:sldId id="26650"/>
          </p14:sldIdLst>
        </p14:section>
        <p14:section name="Review of learning 6" id="{6721D3DC-F7BB-49CA-9E61-8454C104591D}">
          <p14:sldIdLst>
            <p14:sldId id="26619"/>
            <p14:sldId id="26622"/>
            <p14:sldId id="26625"/>
            <p14:sldId id="26624"/>
            <p14:sldId id="26623"/>
            <p14:sldId id="26626"/>
            <p14:sldId id="26627"/>
          </p14:sldIdLst>
        </p14:section>
        <p14:section name="Review of learning 7" id="{CF63834E-0BE9-495B-9761-037C836F185E}">
          <p14:sldIdLst>
            <p14:sldId id="26628"/>
            <p14:sldId id="26648"/>
            <p14:sldId id="26632"/>
            <p14:sldId id="26634"/>
            <p14:sldId id="26633"/>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26652"/>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7177351D-0273-191D-F776-806FD0E72AD9}" name="Sundren Naicker" initials="SN" userId="S::Sundren.Naicker@det.nsw.edu.au::a553bd6d-fc4b-4438-a461-744bbb36d97b" providerId="AD"/>
  <p188:author id="{8EAAFC52-5D86-6FE7-9D47-1FD3C7D0804D}" name="Lisa Kew" initials="LK" userId="S::LISA.JONES13@det.nsw.edu.au::687d7c21-e1c8-437d-b64b-4b01e8e7487e" providerId="AD"/>
  <p188:author id="{95D16B7D-CADB-F2BF-AC29-D680545C75EE}" name="Carrie Webeck" initials="CW" userId="S::CARRIE-ANN.WEBECK@det.nsw.edu.au::e5c4b697-ca15-4f3a-a906-1289ddc2fc07" providerId="AD"/>
  <p188:author id="{CC2CF4BE-5B9A-35CA-4C1B-CB063A10B965}" name="Sundren Naicker" initials="SN" userId="S::sundren.naicker@det.nsw.edu.au::a553bd6d-fc4b-4438-a461-744bbb36d97b" providerId="AD"/>
  <p188:author id="{FD7747EE-57F8-CAC5-7CAF-C637FBE93789}" name="Ayesha Ali Khan" initials=""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6CFD"/>
    <a:srgbClr val="FFA500"/>
    <a:srgbClr val="FFA600"/>
    <a:srgbClr val="EA9B0C"/>
    <a:srgbClr val="007A8A"/>
    <a:srgbClr val="9B6808"/>
    <a:srgbClr val="427B2D"/>
    <a:srgbClr val="B51458"/>
    <a:srgbClr val="00ACC2"/>
    <a:srgbClr val="64BB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498" autoAdjust="0"/>
  </p:normalViewPr>
  <p:slideViewPr>
    <p:cSldViewPr snapToGrid="0">
      <p:cViewPr varScale="1">
        <p:scale>
          <a:sx n="64" d="100"/>
          <a:sy n="64" d="100"/>
        </p:scale>
        <p:origin x="1397" y="58"/>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3" Type="http://schemas.openxmlformats.org/officeDocument/2006/relationships/font" Target="fonts/font8.fntdata"/><Relationship Id="rId58" Type="http://schemas.openxmlformats.org/officeDocument/2006/relationships/theme" Target="theme/theme1.xml"/><Relationship Id="rId5" Type="http://schemas.openxmlformats.org/officeDocument/2006/relationships/slide" Target="slides/slide1.xml"/><Relationship Id="rId61" Type="http://schemas.microsoft.com/office/2018/10/relationships/authors" Targe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3.fntdata"/><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font" Target="fonts/font6.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1.fntdata"/><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4.fntdata"/><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notesMaster" Target="notesMasters/notesMaster1.xml"/><Relationship Id="rId52" Type="http://schemas.openxmlformats.org/officeDocument/2006/relationships/font" Target="fonts/font7.fntdata"/><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on Fretwell" userId="236faa51-3e25-42ea-818b-3df7392b3740" providerId="ADAL" clId="{E13908BB-FCA8-48D3-AC32-E0FE8851F1D6}"/>
    <pc:docChg chg="delSld modSection">
      <pc:chgData name="Jason Fretwell" userId="236faa51-3e25-42ea-818b-3df7392b3740" providerId="ADAL" clId="{E13908BB-FCA8-48D3-AC32-E0FE8851F1D6}" dt="2026-10-20T08:02:36.060" v="0" actId="47"/>
      <pc:docMkLst>
        <pc:docMk/>
      </pc:docMkLst>
      <pc:sldChg chg="del">
        <pc:chgData name="Jason Fretwell" userId="236faa51-3e25-42ea-818b-3df7392b3740" providerId="ADAL" clId="{E13908BB-FCA8-48D3-AC32-E0FE8851F1D6}" dt="2026-10-20T08:02:36.060" v="0" actId="47"/>
        <pc:sldMkLst>
          <pc:docMk/>
          <pc:sldMk cId="2028193910" sldId="271"/>
        </pc:sldMkLst>
      </pc:sldChg>
      <pc:sldChg chg="del">
        <pc:chgData name="Jason Fretwell" userId="236faa51-3e25-42ea-818b-3df7392b3740" providerId="ADAL" clId="{E13908BB-FCA8-48D3-AC32-E0FE8851F1D6}" dt="2026-10-20T08:02:36.060" v="0" actId="47"/>
        <pc:sldMkLst>
          <pc:docMk/>
          <pc:sldMk cId="1063542861" sldId="358"/>
        </pc:sldMkLst>
      </pc:sldChg>
      <pc:sldChg chg="del">
        <pc:chgData name="Jason Fretwell" userId="236faa51-3e25-42ea-818b-3df7392b3740" providerId="ADAL" clId="{E13908BB-FCA8-48D3-AC32-E0FE8851F1D6}" dt="2026-10-20T08:02:36.060" v="0" actId="47"/>
        <pc:sldMkLst>
          <pc:docMk/>
          <pc:sldMk cId="2028568686" sldId="365"/>
        </pc:sldMkLst>
      </pc:sldChg>
      <pc:sldChg chg="del">
        <pc:chgData name="Jason Fretwell" userId="236faa51-3e25-42ea-818b-3df7392b3740" providerId="ADAL" clId="{E13908BB-FCA8-48D3-AC32-E0FE8851F1D6}" dt="2026-10-20T08:02:36.060" v="0" actId="47"/>
        <pc:sldMkLst>
          <pc:docMk/>
          <pc:sldMk cId="886162339" sldId="26359"/>
        </pc:sldMkLst>
      </pc:sldChg>
      <pc:sldChg chg="del">
        <pc:chgData name="Jason Fretwell" userId="236faa51-3e25-42ea-818b-3df7392b3740" providerId="ADAL" clId="{E13908BB-FCA8-48D3-AC32-E0FE8851F1D6}" dt="2026-10-20T08:02:36.060" v="0" actId="47"/>
        <pc:sldMkLst>
          <pc:docMk/>
          <pc:sldMk cId="1661965901" sldId="26505"/>
        </pc:sldMkLst>
      </pc:sldChg>
      <pc:sldChg chg="del">
        <pc:chgData name="Jason Fretwell" userId="236faa51-3e25-42ea-818b-3df7392b3740" providerId="ADAL" clId="{E13908BB-FCA8-48D3-AC32-E0FE8851F1D6}" dt="2026-10-20T08:02:36.060" v="0" actId="47"/>
        <pc:sldMkLst>
          <pc:docMk/>
          <pc:sldMk cId="3027897751" sldId="26576"/>
        </pc:sldMkLst>
      </pc:sldChg>
      <pc:sldChg chg="del">
        <pc:chgData name="Jason Fretwell" userId="236faa51-3e25-42ea-818b-3df7392b3740" providerId="ADAL" clId="{E13908BB-FCA8-48D3-AC32-E0FE8851F1D6}" dt="2026-10-20T08:02:36.060" v="0" actId="47"/>
        <pc:sldMkLst>
          <pc:docMk/>
          <pc:sldMk cId="2923217825" sldId="26580"/>
        </pc:sldMkLst>
      </pc:sldChg>
      <pc:sldChg chg="del">
        <pc:chgData name="Jason Fretwell" userId="236faa51-3e25-42ea-818b-3df7392b3740" providerId="ADAL" clId="{E13908BB-FCA8-48D3-AC32-E0FE8851F1D6}" dt="2026-10-20T08:02:36.060" v="0" actId="47"/>
        <pc:sldMkLst>
          <pc:docMk/>
          <pc:sldMk cId="1274309234" sldId="26581"/>
        </pc:sldMkLst>
      </pc:sldChg>
      <pc:sldChg chg="del">
        <pc:chgData name="Jason Fretwell" userId="236faa51-3e25-42ea-818b-3df7392b3740" providerId="ADAL" clId="{E13908BB-FCA8-48D3-AC32-E0FE8851F1D6}" dt="2026-10-20T08:02:36.060" v="0" actId="47"/>
        <pc:sldMkLst>
          <pc:docMk/>
          <pc:sldMk cId="2844644047" sldId="26582"/>
        </pc:sldMkLst>
      </pc:sldChg>
      <pc:sldChg chg="del">
        <pc:chgData name="Jason Fretwell" userId="236faa51-3e25-42ea-818b-3df7392b3740" providerId="ADAL" clId="{E13908BB-FCA8-48D3-AC32-E0FE8851F1D6}" dt="2026-10-20T08:02:36.060" v="0" actId="47"/>
        <pc:sldMkLst>
          <pc:docMk/>
          <pc:sldMk cId="1778144930" sldId="26583"/>
        </pc:sldMkLst>
      </pc:sldChg>
      <pc:sldChg chg="del">
        <pc:chgData name="Jason Fretwell" userId="236faa51-3e25-42ea-818b-3df7392b3740" providerId="ADAL" clId="{E13908BB-FCA8-48D3-AC32-E0FE8851F1D6}" dt="2026-10-20T08:02:36.060" v="0" actId="47"/>
        <pc:sldMkLst>
          <pc:docMk/>
          <pc:sldMk cId="509165051" sldId="26586"/>
        </pc:sldMkLst>
      </pc:sldChg>
      <pc:sldChg chg="del">
        <pc:chgData name="Jason Fretwell" userId="236faa51-3e25-42ea-818b-3df7392b3740" providerId="ADAL" clId="{E13908BB-FCA8-48D3-AC32-E0FE8851F1D6}" dt="2026-10-20T08:02:36.060" v="0" actId="47"/>
        <pc:sldMkLst>
          <pc:docMk/>
          <pc:sldMk cId="1446765878" sldId="26587"/>
        </pc:sldMkLst>
      </pc:sldChg>
      <pc:sldChg chg="del">
        <pc:chgData name="Jason Fretwell" userId="236faa51-3e25-42ea-818b-3df7392b3740" providerId="ADAL" clId="{E13908BB-FCA8-48D3-AC32-E0FE8851F1D6}" dt="2026-10-20T08:02:36.060" v="0" actId="47"/>
        <pc:sldMkLst>
          <pc:docMk/>
          <pc:sldMk cId="343141579" sldId="26589"/>
        </pc:sldMkLst>
      </pc:sldChg>
      <pc:sldChg chg="del">
        <pc:chgData name="Jason Fretwell" userId="236faa51-3e25-42ea-818b-3df7392b3740" providerId="ADAL" clId="{E13908BB-FCA8-48D3-AC32-E0FE8851F1D6}" dt="2026-10-20T08:02:36.060" v="0" actId="47"/>
        <pc:sldMkLst>
          <pc:docMk/>
          <pc:sldMk cId="484808914" sldId="26590"/>
        </pc:sldMkLst>
      </pc:sldChg>
      <pc:sldChg chg="del">
        <pc:chgData name="Jason Fretwell" userId="236faa51-3e25-42ea-818b-3df7392b3740" providerId="ADAL" clId="{E13908BB-FCA8-48D3-AC32-E0FE8851F1D6}" dt="2026-10-20T08:02:36.060" v="0" actId="47"/>
        <pc:sldMkLst>
          <pc:docMk/>
          <pc:sldMk cId="2639464257" sldId="26591"/>
        </pc:sldMkLst>
      </pc:sldChg>
      <pc:sldChg chg="del">
        <pc:chgData name="Jason Fretwell" userId="236faa51-3e25-42ea-818b-3df7392b3740" providerId="ADAL" clId="{E13908BB-FCA8-48D3-AC32-E0FE8851F1D6}" dt="2026-10-20T08:02:36.060" v="0" actId="47"/>
        <pc:sldMkLst>
          <pc:docMk/>
          <pc:sldMk cId="743924428" sldId="26592"/>
        </pc:sldMkLst>
      </pc:sldChg>
      <pc:sldChg chg="del">
        <pc:chgData name="Jason Fretwell" userId="236faa51-3e25-42ea-818b-3df7392b3740" providerId="ADAL" clId="{E13908BB-FCA8-48D3-AC32-E0FE8851F1D6}" dt="2026-10-20T08:02:36.060" v="0" actId="47"/>
        <pc:sldMkLst>
          <pc:docMk/>
          <pc:sldMk cId="833696366" sldId="26594"/>
        </pc:sldMkLst>
      </pc:sldChg>
      <pc:sldChg chg="del">
        <pc:chgData name="Jason Fretwell" userId="236faa51-3e25-42ea-818b-3df7392b3740" providerId="ADAL" clId="{E13908BB-FCA8-48D3-AC32-E0FE8851F1D6}" dt="2026-10-20T08:02:36.060" v="0" actId="47"/>
        <pc:sldMkLst>
          <pc:docMk/>
          <pc:sldMk cId="664817410" sldId="26596"/>
        </pc:sldMkLst>
      </pc:sldChg>
      <pc:sldChg chg="del">
        <pc:chgData name="Jason Fretwell" userId="236faa51-3e25-42ea-818b-3df7392b3740" providerId="ADAL" clId="{E13908BB-FCA8-48D3-AC32-E0FE8851F1D6}" dt="2026-10-20T08:02:36.060" v="0" actId="47"/>
        <pc:sldMkLst>
          <pc:docMk/>
          <pc:sldMk cId="1331896988" sldId="26598"/>
        </pc:sldMkLst>
      </pc:sldChg>
      <pc:sldChg chg="del">
        <pc:chgData name="Jason Fretwell" userId="236faa51-3e25-42ea-818b-3df7392b3740" providerId="ADAL" clId="{E13908BB-FCA8-48D3-AC32-E0FE8851F1D6}" dt="2026-10-20T08:02:36.060" v="0" actId="47"/>
        <pc:sldMkLst>
          <pc:docMk/>
          <pc:sldMk cId="2529001418" sldId="26599"/>
        </pc:sldMkLst>
      </pc:sldChg>
      <pc:sldChg chg="del">
        <pc:chgData name="Jason Fretwell" userId="236faa51-3e25-42ea-818b-3df7392b3740" providerId="ADAL" clId="{E13908BB-FCA8-48D3-AC32-E0FE8851F1D6}" dt="2026-10-20T08:02:36.060" v="0" actId="47"/>
        <pc:sldMkLst>
          <pc:docMk/>
          <pc:sldMk cId="1583710452" sldId="26600"/>
        </pc:sldMkLst>
      </pc:sldChg>
      <pc:sldChg chg="del">
        <pc:chgData name="Jason Fretwell" userId="236faa51-3e25-42ea-818b-3df7392b3740" providerId="ADAL" clId="{E13908BB-FCA8-48D3-AC32-E0FE8851F1D6}" dt="2026-10-20T08:02:36.060" v="0" actId="47"/>
        <pc:sldMkLst>
          <pc:docMk/>
          <pc:sldMk cId="2508436230" sldId="26601"/>
        </pc:sldMkLst>
      </pc:sldChg>
      <pc:sldChg chg="del">
        <pc:chgData name="Jason Fretwell" userId="236faa51-3e25-42ea-818b-3df7392b3740" providerId="ADAL" clId="{E13908BB-FCA8-48D3-AC32-E0FE8851F1D6}" dt="2026-10-20T08:02:36.060" v="0" actId="47"/>
        <pc:sldMkLst>
          <pc:docMk/>
          <pc:sldMk cId="1819478593" sldId="26604"/>
        </pc:sldMkLst>
      </pc:sldChg>
      <pc:sldChg chg="del">
        <pc:chgData name="Jason Fretwell" userId="236faa51-3e25-42ea-818b-3df7392b3740" providerId="ADAL" clId="{E13908BB-FCA8-48D3-AC32-E0FE8851F1D6}" dt="2026-10-20T08:02:36.060" v="0" actId="47"/>
        <pc:sldMkLst>
          <pc:docMk/>
          <pc:sldMk cId="2873544" sldId="26605"/>
        </pc:sldMkLst>
      </pc:sldChg>
      <pc:sldChg chg="del">
        <pc:chgData name="Jason Fretwell" userId="236faa51-3e25-42ea-818b-3df7392b3740" providerId="ADAL" clId="{E13908BB-FCA8-48D3-AC32-E0FE8851F1D6}" dt="2026-10-20T08:02:36.060" v="0" actId="47"/>
        <pc:sldMkLst>
          <pc:docMk/>
          <pc:sldMk cId="724378680" sldId="26606"/>
        </pc:sldMkLst>
      </pc:sldChg>
      <pc:sldChg chg="del">
        <pc:chgData name="Jason Fretwell" userId="236faa51-3e25-42ea-818b-3df7392b3740" providerId="ADAL" clId="{E13908BB-FCA8-48D3-AC32-E0FE8851F1D6}" dt="2026-10-20T08:02:36.060" v="0" actId="47"/>
        <pc:sldMkLst>
          <pc:docMk/>
          <pc:sldMk cId="1941853413" sldId="26607"/>
        </pc:sldMkLst>
      </pc:sldChg>
      <pc:sldChg chg="del">
        <pc:chgData name="Jason Fretwell" userId="236faa51-3e25-42ea-818b-3df7392b3740" providerId="ADAL" clId="{E13908BB-FCA8-48D3-AC32-E0FE8851F1D6}" dt="2026-10-20T08:02:36.060" v="0" actId="47"/>
        <pc:sldMkLst>
          <pc:docMk/>
          <pc:sldMk cId="270899637" sldId="26608"/>
        </pc:sldMkLst>
      </pc:sldChg>
      <pc:sldChg chg="del">
        <pc:chgData name="Jason Fretwell" userId="236faa51-3e25-42ea-818b-3df7392b3740" providerId="ADAL" clId="{E13908BB-FCA8-48D3-AC32-E0FE8851F1D6}" dt="2026-10-20T08:02:36.060" v="0" actId="47"/>
        <pc:sldMkLst>
          <pc:docMk/>
          <pc:sldMk cId="2412672620" sldId="26609"/>
        </pc:sldMkLst>
      </pc:sldChg>
      <pc:sldChg chg="del">
        <pc:chgData name="Jason Fretwell" userId="236faa51-3e25-42ea-818b-3df7392b3740" providerId="ADAL" clId="{E13908BB-FCA8-48D3-AC32-E0FE8851F1D6}" dt="2026-10-20T08:02:36.060" v="0" actId="47"/>
        <pc:sldMkLst>
          <pc:docMk/>
          <pc:sldMk cId="1286545772" sldId="26646"/>
        </pc:sldMkLst>
      </pc:sldChg>
      <pc:sldChg chg="del">
        <pc:chgData name="Jason Fretwell" userId="236faa51-3e25-42ea-818b-3df7392b3740" providerId="ADAL" clId="{E13908BB-FCA8-48D3-AC32-E0FE8851F1D6}" dt="2026-10-20T08:02:36.060" v="0" actId="47"/>
        <pc:sldMkLst>
          <pc:docMk/>
          <pc:sldMk cId="599780270" sldId="26655"/>
        </pc:sldMkLst>
      </pc:sldChg>
      <pc:sldChg chg="del">
        <pc:chgData name="Jason Fretwell" userId="236faa51-3e25-42ea-818b-3df7392b3740" providerId="ADAL" clId="{E13908BB-FCA8-48D3-AC32-E0FE8851F1D6}" dt="2026-10-20T08:02:36.060" v="0" actId="47"/>
        <pc:sldMkLst>
          <pc:docMk/>
          <pc:sldMk cId="3669260835" sldId="26657"/>
        </pc:sldMkLst>
      </pc:sldChg>
      <pc:sldMasterChg chg="delSldLayout">
        <pc:chgData name="Jason Fretwell" userId="236faa51-3e25-42ea-818b-3df7392b3740" providerId="ADAL" clId="{E13908BB-FCA8-48D3-AC32-E0FE8851F1D6}" dt="2026-10-20T08:02:36.060" v="0" actId="47"/>
        <pc:sldMasterMkLst>
          <pc:docMk/>
          <pc:sldMasterMk cId="4123316428" sldId="2147483660"/>
        </pc:sldMasterMkLst>
        <pc:sldLayoutChg chg="del">
          <pc:chgData name="Jason Fretwell" userId="236faa51-3e25-42ea-818b-3df7392b3740" providerId="ADAL" clId="{E13908BB-FCA8-48D3-AC32-E0FE8851F1D6}" dt="2026-10-20T08:02:36.060" v="0" actId="47"/>
          <pc:sldLayoutMkLst>
            <pc:docMk/>
            <pc:sldMasterMk cId="4123316428" sldId="2147483660"/>
            <pc:sldLayoutMk cId="2297222951" sldId="2147483747"/>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20/10/2026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20/10/2026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p>
          <a:p>
            <a:pPr>
              <a:defRPr/>
            </a:pPr>
            <a:endParaRPr lang="en-AU" b="1">
              <a:latin typeface="Arial"/>
              <a:cs typeface="Arial"/>
            </a:endParaRPr>
          </a:p>
          <a:p>
            <a:pPr>
              <a:defRPr/>
            </a:pPr>
            <a:r>
              <a:rPr lang="en-AU" b="0">
                <a:solidFill>
                  <a:srgbClr val="444444"/>
                </a:solidFill>
                <a:latin typeface="Arial"/>
                <a:cs typeface="Arial"/>
              </a:rPr>
              <a:t>Multiplicative relations A</a:t>
            </a:r>
            <a:endParaRPr lang="en-US" b="0">
              <a:solidFill>
                <a:srgbClr val="444444"/>
              </a:solidFill>
              <a:latin typeface="Arial"/>
              <a:cs typeface="Arial"/>
            </a:endParaRP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endParaRPr lang="en-AU" sz="1600" b="1">
              <a:solidFill>
                <a:srgbClr val="22272B"/>
              </a:solidFill>
              <a:ea typeface="Calibri" panose="020F0502020204030204" pitchFamily="34" charset="0"/>
            </a:endParaRPr>
          </a:p>
          <a:p>
            <a:r>
              <a:rPr lang="en-AU" sz="1600" b="0">
                <a:solidFill>
                  <a:srgbClr val="22272B"/>
                </a:solidFill>
                <a:ea typeface="Calibri" panose="020F0502020204030204" pitchFamily="34" charset="0"/>
              </a:rPr>
              <a:t>Additive relations A</a:t>
            </a:r>
            <a:endParaRPr lang="en-AU" b="0"/>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E4C7E-36FA-F205-725D-AA6F887357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DC0266-EFAD-F63A-C34F-FDB4A0A005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EA52B1-D951-EB5C-9749-62BBD6E31CD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291CE07-2E0B-01CC-6B51-6C98866E846A}"/>
              </a:ext>
            </a:extLst>
          </p:cNvPr>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1701292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endParaRPr lang="en-AU" sz="1600" b="1" i="0">
              <a:solidFill>
                <a:schemeClr val="tx1"/>
              </a:solidFill>
              <a:latin typeface="Arial" panose="020B0604020202020204" pitchFamily="34" charset="0"/>
              <a:cs typeface="Arial" panose="020B0604020202020204" pitchFamily="34" charset="0"/>
            </a:endParaRPr>
          </a:p>
          <a:p>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B</a:t>
            </a:r>
            <a:endParaRPr lang="en-AU" b="1"/>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Multiplicative relations A</a:t>
            </a:r>
          </a:p>
          <a:p>
            <a:endParaRPr lang="en-AU" dirty="0"/>
          </a:p>
          <a:p>
            <a:r>
              <a:rPr lang="en-AU" b="1" dirty="0"/>
              <a:t>Finding multiples</a:t>
            </a:r>
          </a:p>
          <a:p>
            <a:r>
              <a:rPr lang="en-AU" b="0" dirty="0"/>
              <a:t>This resource corresponds to Resource 13 – 100 grid and </a:t>
            </a:r>
            <a:r>
              <a:rPr lang="en-AU" sz="1600" u="none" kern="1200" dirty="0">
                <a:solidFill>
                  <a:schemeClr val="tx1"/>
                </a:solidFill>
                <a:effectLst/>
                <a:latin typeface="Arial" panose="020B0604020202020204" pitchFamily="34" charset="0"/>
                <a:ea typeface="+mn-ea"/>
                <a:cs typeface="Arial" panose="020B0604020202020204" pitchFamily="34" charset="0"/>
              </a:rPr>
              <a:t>Resource 14 – blank 100 grid </a:t>
            </a:r>
            <a:r>
              <a:rPr lang="en-AU" b="0" dirty="0"/>
              <a:t>in Stage 2 Year B Unit 35. </a:t>
            </a:r>
          </a:p>
          <a:p>
            <a:endParaRPr lang="en-AU" b="0" dirty="0"/>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Explain that this is a 100 grid with some numbers shaded in yellow, some in blue and some in green. Ask students:</a:t>
            </a:r>
          </a:p>
          <a:p>
            <a:pPr marL="0" lvl="0" indent="0">
              <a:buFont typeface="Arial" panose="020B0604020202020204" pitchFamily="34" charset="0"/>
              <a:buNone/>
            </a:pPr>
            <a:r>
              <a:rPr lang="en-AU" sz="1600" kern="1200" dirty="0">
                <a:solidFill>
                  <a:schemeClr val="tx1"/>
                </a:solidFill>
                <a:effectLst/>
                <a:latin typeface="Arial" panose="020B0604020202020204" pitchFamily="34" charset="0"/>
                <a:ea typeface="+mn-ea"/>
                <a:cs typeface="Arial" panose="020B0604020202020204" pitchFamily="34" charset="0"/>
              </a:rPr>
              <a:t>- What do all the colours shaded in yellow have in common?</a:t>
            </a:r>
          </a:p>
          <a:p>
            <a:pPr marL="0" lvl="0" indent="0">
              <a:buFont typeface="Arial" panose="020B0604020202020204" pitchFamily="34" charset="0"/>
              <a:buNone/>
            </a:pPr>
            <a:r>
              <a:rPr lang="en-AU" sz="1600" kern="1200" dirty="0">
                <a:solidFill>
                  <a:schemeClr val="tx1"/>
                </a:solidFill>
                <a:effectLst/>
                <a:latin typeface="Arial" panose="020B0604020202020204" pitchFamily="34" charset="0"/>
                <a:ea typeface="+mn-ea"/>
                <a:cs typeface="Arial" panose="020B0604020202020204" pitchFamily="34" charset="0"/>
              </a:rPr>
              <a:t>- What do you notice about all the numbers shaded in blue?</a:t>
            </a:r>
          </a:p>
          <a:p>
            <a:pPr marL="0" lvl="0" indent="0">
              <a:buFontTx/>
              <a:buNone/>
            </a:pPr>
            <a:r>
              <a:rPr lang="en-AU" sz="1600" b="0" i="0" kern="1200" dirty="0">
                <a:solidFill>
                  <a:schemeClr val="tx1"/>
                </a:solidFill>
                <a:effectLst/>
                <a:latin typeface="Arial" panose="020B0604020202020204" pitchFamily="34" charset="0"/>
                <a:ea typeface="+mn-ea"/>
                <a:cs typeface="Arial" panose="020B0604020202020204" pitchFamily="34" charset="0"/>
              </a:rPr>
              <a:t>- Why do you think some numbers are shaded in green?</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turn and talk to discuss their responses. (Yellow numbers are factors of 4, blue numbers are multiples of 5 and green numbers are multiples of both 4 and 5).</a:t>
            </a:r>
          </a:p>
          <a:p>
            <a:pPr marL="285750" lvl="0" indent="-285750">
              <a:buFont typeface="Arial" panose="020B0604020202020204" pitchFamily="34" charset="0"/>
              <a:buChar char="•"/>
            </a:pP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(next slide) Provide students with </a:t>
            </a:r>
            <a:r>
              <a:rPr lang="en-AU" sz="1600" u="none" kern="1200" dirty="0">
                <a:solidFill>
                  <a:schemeClr val="tx1"/>
                </a:solidFill>
                <a:effectLst/>
                <a:latin typeface="Arial" panose="020B0604020202020204" pitchFamily="34" charset="0"/>
                <a:ea typeface="+mn-ea"/>
                <a:cs typeface="Arial" panose="020B0604020202020204" pitchFamily="34" charset="0"/>
              </a:rPr>
              <a:t>Resource 14 – blank 100 grid. </a:t>
            </a:r>
            <a:r>
              <a:rPr lang="en-AU" sz="1600" kern="1200" dirty="0">
                <a:solidFill>
                  <a:schemeClr val="tx1"/>
                </a:solidFill>
                <a:effectLst/>
                <a:latin typeface="Arial" panose="020B0604020202020204" pitchFamily="34" charset="0"/>
                <a:ea typeface="+mn-ea"/>
                <a:cs typeface="Arial" panose="020B0604020202020204" pitchFamily="34" charset="0"/>
              </a:rPr>
              <a:t>Ask students to shade other multiples patterns on the grid using coloured pencils and describe to a partner.</a:t>
            </a:r>
          </a:p>
          <a:p>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BDDFF-4633-C188-4D83-55DF3D3AFA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6C287-0AC8-0CF4-1DCE-B877158F04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2AFC05-75C1-A01B-2159-F3C240B4112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Finding multiples</a:t>
            </a:r>
          </a:p>
          <a:p>
            <a:r>
              <a:rPr lang="en-AU" b="0"/>
              <a:t>This resource corresponds to Resource 14 – blank 100 grid in Stage 2 Year B Unit 35. </a:t>
            </a:r>
          </a:p>
          <a:p>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students with </a:t>
            </a:r>
            <a:r>
              <a:rPr lang="en-AU" sz="1600" u="none" kern="1200">
                <a:solidFill>
                  <a:schemeClr val="tx1"/>
                </a:solidFill>
                <a:effectLst/>
                <a:latin typeface="Arial" panose="020B0604020202020204" pitchFamily="34" charset="0"/>
                <a:ea typeface="+mn-ea"/>
                <a:cs typeface="Arial" panose="020B0604020202020204" pitchFamily="34" charset="0"/>
              </a:rPr>
              <a:t>Resource 14 – blank 100 grid. </a:t>
            </a:r>
            <a:r>
              <a:rPr lang="en-AU" sz="1600" kern="1200">
                <a:solidFill>
                  <a:schemeClr val="tx1"/>
                </a:solidFill>
                <a:effectLst/>
                <a:latin typeface="Arial" panose="020B0604020202020204" pitchFamily="34" charset="0"/>
                <a:ea typeface="+mn-ea"/>
                <a:cs typeface="Arial" panose="020B0604020202020204" pitchFamily="34" charset="0"/>
              </a:rPr>
              <a:t>Ask students to shade other multiples patterns on the grid using coloured pencils and describe to a partner.</a:t>
            </a:r>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F6D66946-97D4-C5FD-01C3-8F051A09714F}"/>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8538769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6)</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sz="1600" i="0" dirty="0">
                <a:solidFill>
                  <a:schemeClr val="tx1"/>
                </a:solidFill>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a:solidFill>
                  <a:srgbClr val="22272B"/>
                </a:solidFill>
                <a:ea typeface="Calibri" panose="020F0502020204030204" pitchFamily="34" charset="0"/>
              </a:rPr>
              <a:t>Multiplicative relations B</a:t>
            </a:r>
            <a:endParaRPr lang="en-AU" b="0"/>
          </a:p>
          <a:p>
            <a:endParaRPr lang="en-AU" b="1"/>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Non-spatial measure B</a:t>
            </a:r>
            <a:endParaRPr lang="en-AU" b="1"/>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Multiplicative relations A</a:t>
            </a:r>
          </a:p>
          <a:p>
            <a:endParaRPr lang="en-AU" dirty="0"/>
          </a:p>
          <a:p>
            <a:r>
              <a:rPr lang="en-AU" b="1" dirty="0"/>
              <a:t>Exploring arrays, multiplication and factors combinations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Sweets in a Box from NRICH by the University of Cambridge.</a:t>
            </a:r>
          </a:p>
          <a:p>
            <a:endParaRPr lang="en-AU" sz="1600" b="1" kern="1200" dirty="0">
              <a:solidFill>
                <a:schemeClr val="tx1"/>
              </a:solidFill>
              <a:effectLst/>
              <a:latin typeface="Arial" panose="020B0604020202020204" pitchFamily="34" charset="0"/>
              <a:ea typeface="+mn-ea"/>
              <a:cs typeface="Arial" panose="020B0604020202020204" pitchFamily="34" charset="0"/>
            </a:endParaRPr>
          </a:p>
          <a:p>
            <a:pPr marL="342900" lvl="0" indent="-34290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rPr>
              <a:t>In pairs, students use 36 counters as lollies to arrange in various-shaped gift boxes and discuss the patterns made.</a:t>
            </a:r>
          </a:p>
          <a:p>
            <a:pPr marL="342900" lvl="0" indent="-34290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rPr>
              <a:t>Students draw designs on grid paper and share ideas with the class.</a:t>
            </a:r>
          </a:p>
          <a:p>
            <a:pPr marL="342900" lvl="0" indent="-34290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rPr>
              <a:t>If time allows, encourage students to try different numbers of lollies such as 24 or 60 in each box.</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B2C2-56ED-F4C7-04D9-00C4FB5F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568A8-C088-49AE-3548-341C78A6B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8EBC4-5740-59C4-17D3-662AAFE4516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F1CC597E-188F-1091-E0DB-50B50F81B5D5}"/>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4318185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Multiplicative relations A</a:t>
            </a:r>
          </a:p>
          <a:p>
            <a:endParaRPr lang="en-AU"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1" kern="1200" dirty="0">
                <a:solidFill>
                  <a:schemeClr val="tx1"/>
                </a:solidFill>
                <a:effectLst/>
                <a:latin typeface="Arial" panose="020B0604020202020204" pitchFamily="34" charset="0"/>
                <a:ea typeface="+mn-ea"/>
                <a:cs typeface="Arial" panose="020B0604020202020204" pitchFamily="34" charset="0"/>
              </a:rPr>
              <a:t>Doubling and halving</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dirty="0"/>
              <a:t>This resource corresponds to </a:t>
            </a:r>
            <a:r>
              <a:rPr lang="en-AU" sz="1600" u="none" dirty="0">
                <a:solidFill>
                  <a:srgbClr val="2F5496"/>
                </a:solidFill>
                <a:effectLst/>
                <a:latin typeface="Arial" panose="020B0604020202020204" pitchFamily="34" charset="0"/>
                <a:ea typeface="Calibri" panose="020F0502020204030204" pitchFamily="34" charset="0"/>
              </a:rPr>
              <a:t>Resource 15 – spinner</a:t>
            </a:r>
            <a:r>
              <a:rPr lang="en-AU" sz="1600" u="none" dirty="0">
                <a:effectLst/>
                <a:latin typeface="Arial" panose="020B0604020202020204" pitchFamily="34" charset="0"/>
                <a:ea typeface="Calibri" panose="020F0502020204030204" pitchFamily="34" charset="0"/>
              </a:rPr>
              <a:t> </a:t>
            </a:r>
            <a:r>
              <a:rPr lang="en-AU" b="0" dirty="0"/>
              <a:t>in Stage 2 Year B Unit 35. </a:t>
            </a:r>
            <a:endParaRPr lang="en-AU" sz="1600" u="none" dirty="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u="none" dirty="0">
              <a:effectLst/>
              <a:latin typeface="Arial" panose="020B0604020202020204" pitchFamily="34" charset="0"/>
              <a:ea typeface="Calibri" panose="020F0502020204030204" pitchFamily="34" charset="0"/>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dirty="0">
                <a:effectLst/>
                <a:latin typeface="Arial" panose="020B0604020202020204" pitchFamily="34" charset="0"/>
                <a:ea typeface="Calibri" panose="020F0502020204030204" pitchFamily="34" charset="0"/>
              </a:rPr>
              <a:t>Provide pairs of students with </a:t>
            </a:r>
            <a:r>
              <a:rPr lang="en-AU" sz="1600" u="none" dirty="0">
                <a:solidFill>
                  <a:srgbClr val="2F5496"/>
                </a:solidFill>
                <a:effectLst/>
                <a:latin typeface="Arial" panose="020B0604020202020204" pitchFamily="34" charset="0"/>
                <a:ea typeface="Calibri" panose="020F0502020204030204" pitchFamily="34" charset="0"/>
              </a:rPr>
              <a:t>Resource 15 – spinner</a:t>
            </a:r>
            <a:r>
              <a:rPr lang="en-AU" sz="1600" u="none" dirty="0">
                <a:effectLst/>
                <a:latin typeface="Arial" panose="020B0604020202020204" pitchFamily="34" charset="0"/>
                <a:ea typeface="Calibri" panose="020F0502020204030204" pitchFamily="34" charset="0"/>
              </a:rPr>
              <a:t> </a:t>
            </a:r>
            <a:r>
              <a:rPr lang="en-AU" sz="1600" dirty="0">
                <a:effectLst/>
                <a:latin typeface="Arial" panose="020B0604020202020204" pitchFamily="34" charset="0"/>
                <a:ea typeface="Calibri" panose="020F0502020204030204" pitchFamily="34" charset="0"/>
              </a:rPr>
              <a:t>and grid paper or counters.</a:t>
            </a:r>
          </a:p>
          <a:p>
            <a:pPr marL="342900" lvl="0" indent="-34290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rPr>
              <a:t>Each student takes turns spinning the spinner and multiplying the number landed on by 2 to model ‘doubling’. Both students record the solutions in different ways. For example, if the spinner lands on 6, students record:</a:t>
            </a:r>
            <a:r>
              <a:rPr lang="en-AU" sz="1600" dirty="0">
                <a:effectLst/>
                <a:latin typeface="Arial" panose="020B0604020202020204" pitchFamily="34" charset="0"/>
                <a:ea typeface="Calibri" panose="020F0502020204030204" pitchFamily="34" charset="0"/>
                <a:cs typeface="Times New Roman" panose="02020603050405020304" pitchFamily="18" charset="0"/>
              </a:rPr>
              <a:t> </a:t>
            </a:r>
          </a:p>
          <a:p>
            <a:pPr marL="0" lvl="0" indent="0">
              <a:lnSpc>
                <a:spcPct val="150000"/>
              </a:lnSpc>
              <a:spcBef>
                <a:spcPts val="1200"/>
              </a:spcBef>
              <a:spcAft>
                <a:spcPts val="600"/>
              </a:spcAft>
              <a:buFont typeface="Arial" panose="020B0604020202020204" pitchFamily="34" charset="0"/>
              <a:buNone/>
            </a:pPr>
            <a:r>
              <a:rPr lang="en-AU" sz="1600" dirty="0">
                <a:effectLst/>
                <a:latin typeface="Arial" panose="020B0604020202020204" pitchFamily="34" charset="0"/>
                <a:ea typeface="Calibri" panose="020F0502020204030204" pitchFamily="34" charset="0"/>
                <a:cs typeface="Times New Roman" panose="02020603050405020304" pitchFamily="18" charset="0"/>
              </a:rPr>
              <a:t>- multiplication sentences (6 × 2 = 12, 2 × 6 = 12)</a:t>
            </a:r>
          </a:p>
          <a:p>
            <a:pPr marL="0" lvl="0" indent="0">
              <a:lnSpc>
                <a:spcPct val="150000"/>
              </a:lnSpc>
              <a:spcBef>
                <a:spcPts val="1200"/>
              </a:spcBef>
              <a:spcAft>
                <a:spcPts val="600"/>
              </a:spcAft>
              <a:buFont typeface="Arial" panose="020B0604020202020204" pitchFamily="34" charset="0"/>
              <a:buNone/>
            </a:pPr>
            <a:r>
              <a:rPr lang="en-AU" sz="1600" dirty="0">
                <a:effectLst/>
                <a:latin typeface="Arial" panose="020B0604020202020204" pitchFamily="34" charset="0"/>
                <a:ea typeface="Calibri" panose="020F0502020204030204" pitchFamily="34" charset="0"/>
                <a:cs typeface="Times New Roman" panose="02020603050405020304" pitchFamily="18" charset="0"/>
              </a:rPr>
              <a:t>- groups (6 twos equal 12)</a:t>
            </a:r>
          </a:p>
          <a:p>
            <a:pPr marL="0" lvl="0" indent="0">
              <a:lnSpc>
                <a:spcPct val="150000"/>
              </a:lnSpc>
              <a:spcBef>
                <a:spcPts val="1200"/>
              </a:spcBef>
              <a:spcAft>
                <a:spcPts val="600"/>
              </a:spcAft>
              <a:buFont typeface="Arial" panose="020B0604020202020204" pitchFamily="34" charset="0"/>
              <a:buNone/>
            </a:pPr>
            <a:r>
              <a:rPr lang="en-AU" sz="1600" dirty="0">
                <a:effectLst/>
                <a:latin typeface="Arial" panose="020B0604020202020204" pitchFamily="34" charset="0"/>
                <a:ea typeface="Calibri" panose="020F0502020204030204" pitchFamily="34" charset="0"/>
                <a:cs typeface="Times New Roman" panose="02020603050405020304" pitchFamily="18" charset="0"/>
              </a:rPr>
              <a:t>- an array (by colouring 6 rows of 2 on the grid paper or modelling with counters).</a:t>
            </a:r>
          </a:p>
          <a:p>
            <a:pPr marL="285750" lvl="0" indent="-285750">
              <a:lnSpc>
                <a:spcPct val="150000"/>
              </a:lnSpc>
              <a:spcBef>
                <a:spcPts val="1200"/>
              </a:spcBef>
              <a:spcAft>
                <a:spcPts val="600"/>
              </a:spcAft>
              <a:buFont typeface="Arial" panose="020B0604020202020204" pitchFamily="34" charset="0"/>
              <a:buChar char="•"/>
            </a:pPr>
            <a:r>
              <a:rPr lang="en-AU" sz="1600" u="none" dirty="0">
                <a:solidFill>
                  <a:srgbClr val="2F5496"/>
                </a:solidFill>
                <a:effectLst/>
                <a:latin typeface="Arial" panose="020B0604020202020204" pitchFamily="34" charset="0"/>
                <a:ea typeface="Calibri" panose="020F0502020204030204" pitchFamily="34" charset="0"/>
              </a:rPr>
              <a:t>Play continues until each partner has 2 turns. The activity is then repeated, this time with students dividing the number rolled by 2 to model ‘division’.</a:t>
            </a:r>
            <a:r>
              <a:rPr lang="en-AU" sz="1050" u="none" dirty="0">
                <a:effectLst/>
                <a:latin typeface="Arial" panose="020B0604020202020204" pitchFamily="34" charset="0"/>
                <a:ea typeface="Calibri" panose="020F0502020204030204" pitchFamily="34" charset="0"/>
              </a:rPr>
              <a:t> </a:t>
            </a:r>
            <a:endParaRPr lang="en-AU" b="1" dirty="0"/>
          </a:p>
          <a:p>
            <a:pPr marL="342900" indent="-342900">
              <a:buFont typeface="+mj-lt"/>
              <a:buAutoNum type="arabicPeriod"/>
            </a:pPr>
            <a:endParaRPr lang="en-AU" dirty="0"/>
          </a:p>
          <a:p>
            <a:pPr marL="0" indent="0">
              <a:buFont typeface="+mj-lt"/>
              <a:buNone/>
            </a:pPr>
            <a:r>
              <a:rPr lang="en-AU" sz="1600" b="1" i="0" kern="1200" dirty="0">
                <a:solidFill>
                  <a:schemeClr val="tx1"/>
                </a:solidFill>
                <a:effectLst/>
                <a:latin typeface="Arial" panose="020B0604020202020204" pitchFamily="34" charset="0"/>
                <a:ea typeface="+mn-ea"/>
                <a:cs typeface="Arial" panose="020B0604020202020204" pitchFamily="34" charset="0"/>
              </a:rPr>
              <a:t>Note:</a:t>
            </a:r>
            <a:r>
              <a:rPr lang="en-AU" sz="1600" b="0" i="0" kern="1200" dirty="0">
                <a:solidFill>
                  <a:schemeClr val="tx1"/>
                </a:solidFill>
                <a:effectLst/>
                <a:latin typeface="Arial" panose="020B0604020202020204" pitchFamily="34" charset="0"/>
                <a:ea typeface="+mn-ea"/>
                <a:cs typeface="Arial" panose="020B0604020202020204" pitchFamily="34" charset="0"/>
              </a:rPr>
              <a:t> students can model the array for division by drawing a line or using an item such as a straw to show how the array is halved when the total is divided by 2. If an odd number is rolled, students may re-roll.</a:t>
            </a:r>
            <a:endParaRPr lang="en-AU" dirty="0"/>
          </a:p>
          <a:p>
            <a:endParaRPr lang="en-AU" dirty="0"/>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a:highlight>
                  <a:srgbClr val="FFFF00"/>
                </a:highlight>
                <a:latin typeface="Arial"/>
                <a:cs typeface="Arial"/>
              </a:rPr>
              <a:t>Multiplicative relations A</a:t>
            </a: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Multiplicative relations A</a:t>
            </a:r>
          </a:p>
          <a:p>
            <a:endParaRPr lang="en-AU" dirty="0"/>
          </a:p>
          <a:p>
            <a:r>
              <a:rPr lang="en-AU" sz="1600" b="1" kern="1200" dirty="0">
                <a:solidFill>
                  <a:schemeClr val="tx1"/>
                </a:solidFill>
                <a:effectLst/>
                <a:latin typeface="Arial" panose="020B0604020202020204" pitchFamily="34" charset="0"/>
                <a:ea typeface="+mn-ea"/>
                <a:cs typeface="Arial" panose="020B0604020202020204" pitchFamily="34" charset="0"/>
              </a:rPr>
              <a:t>Solving problems involving money</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b="1"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kern="1200" dirty="0">
                <a:solidFill>
                  <a:schemeClr val="tx1"/>
                </a:solidFill>
                <a:effectLst/>
                <a:latin typeface="Arial" panose="020B0604020202020204" pitchFamily="34" charset="0"/>
                <a:ea typeface="+mn-ea"/>
                <a:cs typeface="Arial" panose="020B0604020202020204" pitchFamily="34" charset="0"/>
              </a:rPr>
              <a:t>This image </a:t>
            </a:r>
            <a:r>
              <a:rPr lang="en-AU" b="0" dirty="0"/>
              <a:t>corresponds to Figure 16 – blank gameboard in Stage 2 Year B Unit 35.</a:t>
            </a:r>
            <a:endParaRPr lang="en-AU" sz="1600" b="1"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b="1"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Penny, Nickel, Dime from Maths for Love by Finkel. The aim of the activity is to use multiplication by 2, 5 and 10 to add coins to the total of $2.</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285750" lvl="0" indent="-285750">
              <a:lnSpc>
                <a:spcPct val="150000"/>
              </a:lnSpc>
              <a:spcBef>
                <a:spcPts val="1200"/>
              </a:spcBef>
              <a:spcAft>
                <a:spcPts val="600"/>
              </a:spcAft>
              <a:buFont typeface="Arial" panose="020B0604020202020204" pitchFamily="34" charset="0"/>
              <a:buChar char="•"/>
              <a:tabLst>
                <a:tab pos="228600" algn="l"/>
              </a:tabLst>
            </a:pPr>
            <a:r>
              <a:rPr lang="en-AU" sz="1600" dirty="0">
                <a:effectLst/>
                <a:latin typeface="Arial" panose="020B0604020202020204" pitchFamily="34" charset="0"/>
                <a:ea typeface="Calibri" panose="020F0502020204030204" pitchFamily="34" charset="0"/>
              </a:rPr>
              <a:t>Explain that when multiplying by 5 and by 20, multiplying by 10 is helpful because:</a:t>
            </a:r>
          </a:p>
          <a:p>
            <a:pPr marL="0" lvl="0" indent="0">
              <a:lnSpc>
                <a:spcPct val="150000"/>
              </a:lnSpc>
              <a:spcBef>
                <a:spcPts val="1200"/>
              </a:spcBef>
              <a:spcAft>
                <a:spcPts val="600"/>
              </a:spcAft>
              <a:buFont typeface="Arial" panose="020B0604020202020204" pitchFamily="34" charset="0"/>
              <a:buNone/>
            </a:pPr>
            <a:r>
              <a:rPr lang="en-AU" sz="1600" dirty="0">
                <a:effectLst/>
                <a:latin typeface="Arial" panose="020B0604020202020204" pitchFamily="34" charset="0"/>
                <a:ea typeface="Calibri" panose="020F0502020204030204" pitchFamily="34" charset="0"/>
                <a:cs typeface="Times New Roman" panose="02020603050405020304" pitchFamily="18" charset="0"/>
              </a:rPr>
              <a:t>- 5 is 10 ÷ 2 (or 5 is half of 10)</a:t>
            </a:r>
          </a:p>
          <a:p>
            <a:pPr marL="0" lvl="0" indent="0">
              <a:lnSpc>
                <a:spcPct val="150000"/>
              </a:lnSpc>
              <a:spcBef>
                <a:spcPts val="1200"/>
              </a:spcBef>
              <a:spcAft>
                <a:spcPts val="600"/>
              </a:spcAft>
              <a:buFont typeface="Arial" panose="020B0604020202020204" pitchFamily="34" charset="0"/>
              <a:buNone/>
            </a:pPr>
            <a:r>
              <a:rPr lang="en-AU" sz="1600" dirty="0">
                <a:effectLst/>
                <a:latin typeface="Arial" panose="020B0604020202020204" pitchFamily="34" charset="0"/>
                <a:ea typeface="Calibri" panose="020F0502020204030204" pitchFamily="34" charset="0"/>
                <a:cs typeface="Times New Roman" panose="02020603050405020304" pitchFamily="18" charset="0"/>
              </a:rPr>
              <a:t>- 20 is 10 × 2 (or 20 is double 10).</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rPr>
              <a:t>Provide an example of how multiplying by 10 can be used to multiply by 5 and 20, such as:</a:t>
            </a:r>
          </a:p>
          <a:p>
            <a:pPr marL="0" lvl="0" indent="0">
              <a:lnSpc>
                <a:spcPct val="150000"/>
              </a:lnSpc>
              <a:spcBef>
                <a:spcPts val="1200"/>
              </a:spcBef>
              <a:spcAft>
                <a:spcPts val="600"/>
              </a:spcAft>
              <a:buFont typeface="Arial" panose="020B0604020202020204" pitchFamily="34" charset="0"/>
              <a:buNone/>
            </a:pPr>
            <a:r>
              <a:rPr lang="en-AU" sz="1600" dirty="0">
                <a:effectLst/>
                <a:latin typeface="Arial" panose="020B0604020202020204" pitchFamily="34" charset="0"/>
                <a:ea typeface="Calibri" panose="020F0502020204030204" pitchFamily="34" charset="0"/>
                <a:cs typeface="Times New Roman" panose="02020603050405020304" pitchFamily="18" charset="0"/>
              </a:rPr>
              <a:t>- 6 × 10 = 60, so 6 × 5 = 6 × 10 ÷ 2 = 30</a:t>
            </a:r>
          </a:p>
          <a:p>
            <a:pPr marL="0" lvl="0" indent="0">
              <a:lnSpc>
                <a:spcPct val="150000"/>
              </a:lnSpc>
              <a:spcBef>
                <a:spcPts val="1200"/>
              </a:spcBef>
              <a:spcAft>
                <a:spcPts val="600"/>
              </a:spcAft>
              <a:buFont typeface="Arial" panose="020B0604020202020204" pitchFamily="34" charset="0"/>
              <a:buNone/>
            </a:pPr>
            <a:r>
              <a:rPr lang="en-AU" sz="1600" dirty="0">
                <a:effectLst/>
                <a:latin typeface="Arial" panose="020B0604020202020204" pitchFamily="34" charset="0"/>
                <a:ea typeface="Calibri" panose="020F0502020204030204" pitchFamily="34" charset="0"/>
                <a:cs typeface="Times New Roman" panose="02020603050405020304" pitchFamily="18" charset="0"/>
              </a:rPr>
              <a:t>- 6 × 20 = 6 × 10 × 2 = 120.</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rPr>
              <a:t>Link multiplication by 5, 10 and 20 to coins of those denominations.</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rPr>
              <a:t>Provide students with a dice and an individual whiteboard.</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rPr>
              <a:t>Students draw a table with columns labelled ‘5c’, ‘10c’ and ‘20c’ on their whiteboard.</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rPr>
              <a:t>In pairs, students take turns rolling a dice. Player 1 rolls the dice, then multiplies the number by 5c, 10c or 20c and records the total in the respective column. Encourage students to use multiplication facts. Player 2 then has a turn rolling the dice, then calculating and recording the total.</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rPr>
              <a:t>Each player rolls 6 times in total, choosing whether each number goes in the 5c, 10c or 20c column.</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rPr>
              <a:t>The winner is the player who comes closest to $2 without going over (see Figure 17 – completed gameboards in </a:t>
            </a:r>
            <a:r>
              <a:rPr lang="en-AU" b="0" dirty="0"/>
              <a:t>Stage 2 Year B Unit 35)</a:t>
            </a:r>
            <a:r>
              <a:rPr lang="en-AU" sz="1600" dirty="0">
                <a:effectLst/>
                <a:latin typeface="Arial" panose="020B0604020202020204" pitchFamily="34" charset="0"/>
                <a:ea typeface="Calibri" panose="020F0502020204030204" pitchFamily="34" charset="0"/>
              </a:rPr>
              <a:t>.</a:t>
            </a:r>
          </a:p>
          <a:p>
            <a:pPr marL="342900" lvl="0" indent="-342900">
              <a:lnSpc>
                <a:spcPct val="150000"/>
              </a:lnSpc>
              <a:spcBef>
                <a:spcPts val="1200"/>
              </a:spcBef>
              <a:spcAft>
                <a:spcPts val="600"/>
              </a:spcAft>
              <a:buFont typeface="+mj-lt"/>
              <a:buAutoNum type="arabicPeriod" startAt="5"/>
            </a:pPr>
            <a:endParaRPr lang="en-AU" sz="1600"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startAt="5"/>
            </a:pPr>
            <a:endParaRPr lang="en-AU" sz="1600" dirty="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kern="1200" dirty="0">
              <a:solidFill>
                <a:schemeClr val="tx1"/>
              </a:solidFill>
              <a:effectLst/>
              <a:latin typeface="Arial" panose="020B0604020202020204" pitchFamily="34" charset="0"/>
              <a:ea typeface="+mn-ea"/>
              <a:cs typeface="Arial" panose="020B0604020202020204" pitchFamily="34" charset="0"/>
            </a:endParaRP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ADB30-8303-EB80-832D-9C8AC20CEF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20A8C9-4996-974A-012D-B6609F6B68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718C7-2483-0A6B-D2A5-D27EA5F433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8403400D-696E-5EE8-6DA2-92B7249761AC}"/>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29047429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24" r:id="rId3"/>
    <p:sldLayoutId id="2147483751" r:id="rId4"/>
    <p:sldLayoutId id="2147483754" r:id="rId5"/>
    <p:sldLayoutId id="2147483752" r:id="rId6"/>
    <p:sldLayoutId id="2147483753" r:id="rId7"/>
    <p:sldLayoutId id="2147483723" r:id="rId8"/>
    <p:sldLayoutId id="2147483749" r:id="rId9"/>
    <p:sldLayoutId id="2147483746" r:id="rId10"/>
    <p:sldLayoutId id="2147483725" r:id="rId11"/>
    <p:sldLayoutId id="2147483743" r:id="rId12"/>
    <p:sldLayoutId id="2147483750" r:id="rId13"/>
    <p:sldLayoutId id="2147483744"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4.xml"/><Relationship Id="rId1" Type="http://schemas.openxmlformats.org/officeDocument/2006/relationships/slideLayout" Target="../slideLayouts/slideLayout10.xml"/><Relationship Id="rId5" Type="http://schemas.openxmlformats.org/officeDocument/2006/relationships/image" Target="../media/image22.svg"/><Relationship Id="rId4" Type="http://schemas.openxmlformats.org/officeDocument/2006/relationships/slide" Target="slide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www.australiancurriculum.edu.au/resources/national-literacy-and-numeracy-learning-progressions/version-3-of-national-literacy-and-numeracy-learning-progressions/" TargetMode="External"/><Relationship Id="rId12" Type="http://schemas.openxmlformats.org/officeDocument/2006/relationships/hyperlink" Target="https://education.nsw.gov.au/teaching-and-learning/curriculum/literacy-and-numeracy/teaching-and-learning-resources/numeracy/3-digit-numbers" TargetMode="External"/><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curriculum.nsw.edu.au/learning-areas/mathematics/mathematics-k-10-2022/teaching-and-learning" TargetMode="External"/><Relationship Id="rId5" Type="http://schemas.openxmlformats.org/officeDocument/2006/relationships/hyperlink" Target="https://curriculum.nsw.edu.au/" TargetMode="External"/><Relationship Id="rId10" Type="http://schemas.openxmlformats.org/officeDocument/2006/relationships/hyperlink" Target="https://mathforlove.com/lesson/penny-nickel-dime/"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resolve.edu.au/v84-sequences/bar-model-method-introduction" TargetMode="External"/></Relationships>
</file>

<file path=ppt/slides/_rels/slide38.xml.rels><?xml version="1.0" encoding="UTF-8" standalone="yes"?>
<Relationships xmlns="http://schemas.openxmlformats.org/package/2006/relationships"><Relationship Id="rId8" Type="http://schemas.openxmlformats.org/officeDocument/2006/relationships/hyperlink" Target="https://nrich.maths.org/problems/subtraction-surprise"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nrich.maths.org/13687" TargetMode="External"/><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hyperlink" Target="https://education.nsw.gov.au/teaching-and-learning/curriculum/mathematics/mathematics-curriculum-resources-k-12/thinking-mathematically-resources/mathematics-s3-lets-get-magical"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nrich.maths.org/84"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pic>
        <p:nvPicPr>
          <p:cNvPr id="4" name="Picture 3">
            <a:extLst>
              <a:ext uri="{FF2B5EF4-FFF2-40B4-BE49-F238E27FC236}">
                <a16:creationId xmlns:a16="http://schemas.microsoft.com/office/drawing/2014/main" id="{052C7F21-CF1B-B8E5-D48F-252B3A5306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360000" y="1522050"/>
            <a:ext cx="11243037" cy="2121595"/>
          </a:xfrm>
        </p:spPr>
        <p:txBody>
          <a:bodyPr/>
          <a:lstStyle/>
          <a:p>
            <a:pPr algn="ctr"/>
            <a:r>
              <a:rPr lang="en-US" sz="4400" dirty="0"/>
              <a:t>What is the </a:t>
            </a:r>
            <a:r>
              <a:rPr lang="en-US" sz="4400" b="1" dirty="0"/>
              <a:t>5</a:t>
            </a:r>
            <a:r>
              <a:rPr lang="en-US" sz="4400" b="1" baseline="30000" dirty="0"/>
              <a:t>th</a:t>
            </a:r>
            <a:r>
              <a:rPr lang="en-US" sz="4400" b="1" dirty="0"/>
              <a:t> term </a:t>
            </a:r>
            <a:r>
              <a:rPr lang="en-US" sz="4400" dirty="0"/>
              <a:t>in a sequence </a:t>
            </a:r>
            <a:r>
              <a:rPr lang="en-US" sz="4400" b="1" dirty="0"/>
              <a:t>starting with 3 </a:t>
            </a:r>
            <a:r>
              <a:rPr lang="en-US" sz="4400" dirty="0"/>
              <a:t>and </a:t>
            </a:r>
            <a:r>
              <a:rPr lang="en-US" sz="4400" b="1" dirty="0"/>
              <a:t>increasing by 5 </a:t>
            </a:r>
            <a:r>
              <a:rPr lang="en-US" sz="4400" dirty="0"/>
              <a:t>each step?</a:t>
            </a:r>
          </a:p>
        </p:txBody>
      </p:sp>
      <p:sp>
        <p:nvSpPr>
          <p:cNvPr id="9" name="TextBox 8">
            <a:extLst>
              <a:ext uri="{FF2B5EF4-FFF2-40B4-BE49-F238E27FC236}">
                <a16:creationId xmlns:a16="http://schemas.microsoft.com/office/drawing/2014/main" id="{4E6EA9CC-6235-8807-420B-A4371AC418C0}"/>
              </a:ext>
            </a:extLst>
          </p:cNvPr>
          <p:cNvSpPr txBox="1"/>
          <p:nvPr/>
        </p:nvSpPr>
        <p:spPr>
          <a:xfrm>
            <a:off x="1248816" y="458451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685D10FB-98ED-ACFA-52CA-5DF4C9F820F9}"/>
              </a:ext>
            </a:extLst>
          </p:cNvPr>
          <p:cNvSpPr txBox="1"/>
          <p:nvPr/>
        </p:nvSpPr>
        <p:spPr>
          <a:xfrm>
            <a:off x="1180088" y="5323182"/>
            <a:ext cx="914400" cy="914400"/>
          </a:xfrm>
          <a:prstGeom prst="rect">
            <a:avLst/>
          </a:prstGeom>
          <a:noFill/>
        </p:spPr>
        <p:txBody>
          <a:bodyPr wrap="none" lIns="0" tIns="0" rIns="0" bIns="0" rtlCol="0">
            <a:noAutofit/>
          </a:bodyPr>
          <a:lstStyle/>
          <a:p>
            <a:pPr algn="l"/>
            <a:r>
              <a:rPr lang="en-AU" sz="4000"/>
              <a:t>25</a:t>
            </a:r>
          </a:p>
        </p:txBody>
      </p:sp>
      <p:sp>
        <p:nvSpPr>
          <p:cNvPr id="10" name="TextBox 9">
            <a:extLst>
              <a:ext uri="{FF2B5EF4-FFF2-40B4-BE49-F238E27FC236}">
                <a16:creationId xmlns:a16="http://schemas.microsoft.com/office/drawing/2014/main" id="{4AB24A3E-5574-D79C-6A0F-06D3F8A29BB1}"/>
              </a:ext>
            </a:extLst>
          </p:cNvPr>
          <p:cNvSpPr txBox="1"/>
          <p:nvPr/>
        </p:nvSpPr>
        <p:spPr>
          <a:xfrm>
            <a:off x="4185334" y="458904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7" name="TextBox 6">
            <a:extLst>
              <a:ext uri="{FF2B5EF4-FFF2-40B4-BE49-F238E27FC236}">
                <a16:creationId xmlns:a16="http://schemas.microsoft.com/office/drawing/2014/main" id="{E77F2138-7425-5E17-99DD-E626C458133F}"/>
              </a:ext>
            </a:extLst>
          </p:cNvPr>
          <p:cNvSpPr txBox="1"/>
          <p:nvPr/>
        </p:nvSpPr>
        <p:spPr>
          <a:xfrm>
            <a:off x="4005541" y="5288441"/>
            <a:ext cx="811342" cy="707886"/>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AU" sz="4000">
                <a:solidFill>
                  <a:srgbClr val="22272B"/>
                </a:solidFill>
                <a:latin typeface="Arial" panose="020B0604020202020204"/>
              </a:rPr>
              <a:t>15</a:t>
            </a:r>
            <a:endParaRPr kumimoji="0" lang="en-AU" sz="4000" b="0" i="0" u="none" strike="noStrike" kern="1200" cap="none" spc="0" normalizeH="0" baseline="0" noProof="0">
              <a:ln>
                <a:noFill/>
              </a:ln>
              <a:solidFill>
                <a:srgbClr val="22272B"/>
              </a:solidFill>
              <a:effectLst/>
              <a:uLnTx/>
              <a:uFillTx/>
              <a:latin typeface="Arial" panose="020B0604020202020204"/>
              <a:ea typeface="+mn-ea"/>
              <a:cs typeface="+mn-cs"/>
            </a:endParaRPr>
          </a:p>
        </p:txBody>
      </p:sp>
      <p:sp>
        <p:nvSpPr>
          <p:cNvPr id="12" name="TextBox 11">
            <a:extLst>
              <a:ext uri="{FF2B5EF4-FFF2-40B4-BE49-F238E27FC236}">
                <a16:creationId xmlns:a16="http://schemas.microsoft.com/office/drawing/2014/main" id="{D92289C6-858E-E449-16B6-10640E9A4385}"/>
              </a:ext>
            </a:extLst>
          </p:cNvPr>
          <p:cNvSpPr txBox="1"/>
          <p:nvPr/>
        </p:nvSpPr>
        <p:spPr>
          <a:xfrm>
            <a:off x="7223035" y="458904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3" name="TextBox 12">
            <a:extLst>
              <a:ext uri="{FF2B5EF4-FFF2-40B4-BE49-F238E27FC236}">
                <a16:creationId xmlns:a16="http://schemas.microsoft.com/office/drawing/2014/main" id="{D511836F-9548-D83D-467D-7C036FF2E4E7}"/>
              </a:ext>
            </a:extLst>
          </p:cNvPr>
          <p:cNvSpPr txBox="1"/>
          <p:nvPr/>
        </p:nvSpPr>
        <p:spPr>
          <a:xfrm>
            <a:off x="7121852" y="5288441"/>
            <a:ext cx="811342" cy="707886"/>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AU" sz="4000">
                <a:solidFill>
                  <a:srgbClr val="22272B"/>
                </a:solidFill>
                <a:latin typeface="Arial" panose="020B0604020202020204"/>
              </a:rPr>
              <a:t>23</a:t>
            </a:r>
            <a:endParaRPr kumimoji="0" lang="en-AU" sz="4000" b="0" i="0" u="none" strike="noStrike" kern="1200" cap="none" spc="0" normalizeH="0" baseline="0" noProof="0">
              <a:ln>
                <a:noFill/>
              </a:ln>
              <a:solidFill>
                <a:srgbClr val="22272B"/>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C22AC239-77AC-A298-F7CD-0F89091EC017}"/>
              </a:ext>
            </a:extLst>
          </p:cNvPr>
          <p:cNvSpPr txBox="1"/>
          <p:nvPr/>
        </p:nvSpPr>
        <p:spPr>
          <a:xfrm>
            <a:off x="10260736" y="458451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5" name="TextBox 14">
            <a:extLst>
              <a:ext uri="{FF2B5EF4-FFF2-40B4-BE49-F238E27FC236}">
                <a16:creationId xmlns:a16="http://schemas.microsoft.com/office/drawing/2014/main" id="{757B2993-A5D3-DA25-DF46-1E5778FE6B03}"/>
              </a:ext>
            </a:extLst>
          </p:cNvPr>
          <p:cNvSpPr txBox="1"/>
          <p:nvPr/>
        </p:nvSpPr>
        <p:spPr>
          <a:xfrm>
            <a:off x="10119779" y="5288441"/>
            <a:ext cx="1194093" cy="707886"/>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4000" b="0" i="0" u="none" strike="noStrike" kern="1200" cap="none" spc="0" normalizeH="0" baseline="0" noProof="0">
                <a:ln>
                  <a:noFill/>
                </a:ln>
                <a:solidFill>
                  <a:srgbClr val="22272B"/>
                </a:solidFill>
                <a:effectLst/>
                <a:uLnTx/>
                <a:uFillTx/>
                <a:latin typeface="Arial" panose="020B0604020202020204"/>
                <a:ea typeface="+mn-ea"/>
                <a:cs typeface="+mn-cs"/>
              </a:rPr>
              <a:t>28</a:t>
            </a:r>
          </a:p>
        </p:txBody>
      </p:sp>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8E2EB99-B965-045B-44A7-15662D182C9C}"/>
              </a:ext>
            </a:extLst>
          </p:cNvPr>
          <p:cNvSpPr txBox="1"/>
          <p:nvPr/>
        </p:nvSpPr>
        <p:spPr>
          <a:xfrm>
            <a:off x="310318" y="1184223"/>
            <a:ext cx="11533682" cy="2630774"/>
          </a:xfrm>
          <a:prstGeom prst="rect">
            <a:avLst/>
          </a:prstGeom>
          <a:noFill/>
        </p:spPr>
        <p:txBody>
          <a:bodyPr wrap="none" lIns="0" tIns="0" rIns="0" bIns="0" rtlCol="0">
            <a:noAutofit/>
          </a:bodyPr>
          <a:lstStyle/>
          <a:p>
            <a:pPr algn="ctr">
              <a:lnSpc>
                <a:spcPct val="150000"/>
              </a:lnSpc>
            </a:pPr>
            <a:r>
              <a:rPr lang="en-AU" sz="3200" dirty="0"/>
              <a:t>Mario has </a:t>
            </a:r>
            <a:r>
              <a:rPr lang="en-AU" sz="3200" b="1" dirty="0"/>
              <a:t>160 coins</a:t>
            </a:r>
            <a:r>
              <a:rPr lang="en-AU" sz="3200" dirty="0"/>
              <a:t>. He </a:t>
            </a:r>
            <a:r>
              <a:rPr lang="en-AU" sz="3200" b="1" dirty="0"/>
              <a:t>loses 47 coins </a:t>
            </a:r>
            <a:r>
              <a:rPr lang="en-AU" sz="3200" dirty="0"/>
              <a:t>while running around. </a:t>
            </a:r>
          </a:p>
          <a:p>
            <a:pPr algn="ctr">
              <a:lnSpc>
                <a:spcPct val="150000"/>
              </a:lnSpc>
            </a:pPr>
            <a:r>
              <a:rPr lang="en-AU" sz="3200" dirty="0"/>
              <a:t>How many coins does he </a:t>
            </a:r>
            <a:r>
              <a:rPr lang="en-AU" sz="3200" b="1" dirty="0"/>
              <a:t>have left</a:t>
            </a:r>
            <a:r>
              <a:rPr lang="en-AU" sz="3200" dirty="0"/>
              <a:t>?</a:t>
            </a:r>
          </a:p>
          <a:p>
            <a:pPr algn="ctr">
              <a:lnSpc>
                <a:spcPct val="150000"/>
              </a:lnSpc>
            </a:pPr>
            <a:r>
              <a:rPr lang="en-AU" sz="3200" dirty="0"/>
              <a:t>Represent this problem using a </a:t>
            </a:r>
            <a:r>
              <a:rPr lang="en-AU" sz="3200" b="1" dirty="0"/>
              <a:t>bar model </a:t>
            </a:r>
            <a:r>
              <a:rPr lang="en-AU" sz="3200" dirty="0"/>
              <a:t>and a </a:t>
            </a:r>
            <a:r>
              <a:rPr lang="en-AU" sz="3200" b="1" dirty="0"/>
              <a:t>number line</a:t>
            </a:r>
            <a:r>
              <a:rPr lang="en-AU" sz="3200" dirty="0"/>
              <a:t>.</a:t>
            </a:r>
          </a:p>
        </p:txBody>
      </p:sp>
      <p:pic>
        <p:nvPicPr>
          <p:cNvPr id="7" name="Picture 6" descr="An example of a bar model and an empty number line are shown.">
            <a:extLst>
              <a:ext uri="{FF2B5EF4-FFF2-40B4-BE49-F238E27FC236}">
                <a16:creationId xmlns:a16="http://schemas.microsoft.com/office/drawing/2014/main" id="{61CAF79C-F4CF-8F07-2DC1-8924AE8C95EA}"/>
              </a:ext>
            </a:extLst>
          </p:cNvPr>
          <p:cNvPicPr>
            <a:picLocks noChangeAspect="1"/>
          </p:cNvPicPr>
          <p:nvPr/>
        </p:nvPicPr>
        <p:blipFill>
          <a:blip r:embed="rId4"/>
          <a:srcRect l="3074" t="14677" r="6273" b="55768"/>
          <a:stretch>
            <a:fillRect/>
          </a:stretch>
        </p:blipFill>
        <p:spPr>
          <a:xfrm>
            <a:off x="1344428" y="4064086"/>
            <a:ext cx="9686048" cy="2232660"/>
          </a:xfrm>
          <a:prstGeom prst="rect">
            <a:avLst/>
          </a:prstGeom>
          <a:effectLst/>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F6EAD-9FCD-2F6B-ED42-84E45730D80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DD0C2BB-94D6-038F-1C8E-4327770C784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5929F52C-FAF6-5E61-38FC-E39D9F512FC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792983F-D66D-CBFD-2B80-58586CBF7A41}"/>
              </a:ext>
            </a:extLst>
          </p:cNvPr>
          <p:cNvSpPr txBox="1"/>
          <p:nvPr/>
        </p:nvSpPr>
        <p:spPr>
          <a:xfrm>
            <a:off x="949828" y="1014110"/>
            <a:ext cx="10080648" cy="1661855"/>
          </a:xfrm>
          <a:prstGeom prst="rect">
            <a:avLst/>
          </a:prstGeom>
          <a:noFill/>
        </p:spPr>
        <p:txBody>
          <a:bodyPr wrap="none" lIns="0" tIns="0" rIns="0" bIns="0" rtlCol="0">
            <a:noAutofit/>
          </a:bodyPr>
          <a:lstStyle/>
          <a:p>
            <a:pPr algn="ctr">
              <a:lnSpc>
                <a:spcPct val="150000"/>
              </a:lnSpc>
            </a:pPr>
            <a:r>
              <a:rPr lang="en-AU" sz="4000" b="1" dirty="0"/>
              <a:t>Estimate</a:t>
            </a:r>
            <a:r>
              <a:rPr lang="en-AU" sz="4000" dirty="0"/>
              <a:t> the </a:t>
            </a:r>
            <a:r>
              <a:rPr lang="en-AU" sz="4000" b="1" dirty="0"/>
              <a:t>perimeter</a:t>
            </a:r>
            <a:r>
              <a:rPr lang="en-AU" sz="4000" dirty="0"/>
              <a:t> of the square</a:t>
            </a:r>
            <a:r>
              <a:rPr lang="en-AU" sz="3600" dirty="0"/>
              <a:t>.</a:t>
            </a:r>
          </a:p>
        </p:txBody>
      </p:sp>
      <p:pic>
        <p:nvPicPr>
          <p:cNvPr id="7" name="Picture 6" descr="Diagram of a square with one side labeled as 12 meters.">
            <a:extLst>
              <a:ext uri="{FF2B5EF4-FFF2-40B4-BE49-F238E27FC236}">
                <a16:creationId xmlns:a16="http://schemas.microsoft.com/office/drawing/2014/main" id="{9A444254-B04D-CDFC-8943-E16EE30B64D1}"/>
              </a:ext>
            </a:extLst>
          </p:cNvPr>
          <p:cNvPicPr>
            <a:picLocks noChangeAspect="1"/>
          </p:cNvPicPr>
          <p:nvPr/>
        </p:nvPicPr>
        <p:blipFill>
          <a:blip r:embed="rId4"/>
          <a:srcRect l="33655" t="21293" r="32787" b="25373"/>
          <a:stretch>
            <a:fillRect/>
          </a:stretch>
        </p:blipFill>
        <p:spPr>
          <a:xfrm>
            <a:off x="4603455" y="2154356"/>
            <a:ext cx="2985089" cy="3354314"/>
          </a:xfrm>
          <a:prstGeom prst="rect">
            <a:avLst/>
          </a:prstGeom>
        </p:spPr>
      </p:pic>
      <p:sp>
        <p:nvSpPr>
          <p:cNvPr id="2" name="Slide Number Placeholder 1">
            <a:extLst>
              <a:ext uri="{FF2B5EF4-FFF2-40B4-BE49-F238E27FC236}">
                <a16:creationId xmlns:a16="http://schemas.microsoft.com/office/drawing/2014/main" id="{48D6C875-0644-5C53-7924-958F100A340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a:t>
            </a:fld>
            <a:endParaRPr lang="en-AU"/>
          </a:p>
        </p:txBody>
      </p:sp>
      <p:sp>
        <p:nvSpPr>
          <p:cNvPr id="11" name="TextBox 10">
            <a:extLst>
              <a:ext uri="{FF2B5EF4-FFF2-40B4-BE49-F238E27FC236}">
                <a16:creationId xmlns:a16="http://schemas.microsoft.com/office/drawing/2014/main" id="{C8CE6FD0-F460-2C3E-7EB0-C1678DACB6FE}"/>
              </a:ext>
            </a:extLst>
          </p:cNvPr>
          <p:cNvSpPr txBox="1"/>
          <p:nvPr/>
        </p:nvSpPr>
        <p:spPr>
          <a:xfrm>
            <a:off x="2251209" y="5508670"/>
            <a:ext cx="8243887" cy="901593"/>
          </a:xfrm>
          <a:prstGeom prst="rect">
            <a:avLst/>
          </a:prstGeom>
          <a:noFill/>
        </p:spPr>
        <p:txBody>
          <a:bodyPr wrap="square">
            <a:spAutoFit/>
          </a:bodyPr>
          <a:lstStyle/>
          <a:p>
            <a:pPr algn="ctr">
              <a:lnSpc>
                <a:spcPct val="150000"/>
              </a:lnSpc>
            </a:pPr>
            <a:r>
              <a:rPr lang="en-AU" sz="4000" b="1" dirty="0">
                <a:solidFill>
                  <a:srgbClr val="22272B"/>
                </a:solidFill>
                <a:latin typeface="Arial" panose="020B0604020202020204"/>
              </a:rPr>
              <a:t>Communicate</a:t>
            </a:r>
            <a:r>
              <a:rPr lang="en-AU" sz="4000" dirty="0">
                <a:solidFill>
                  <a:srgbClr val="22272B"/>
                </a:solidFill>
                <a:latin typeface="Arial" panose="020B0604020202020204"/>
              </a:rPr>
              <a:t> your </a:t>
            </a:r>
            <a:r>
              <a:rPr lang="en-AU" sz="4000" b="1" dirty="0">
                <a:solidFill>
                  <a:srgbClr val="22272B"/>
                </a:solidFill>
                <a:latin typeface="Arial" panose="020B0604020202020204"/>
              </a:rPr>
              <a:t>reasoning</a:t>
            </a:r>
            <a:r>
              <a:rPr lang="en-AU" sz="4000" dirty="0">
                <a:solidFill>
                  <a:srgbClr val="22272B"/>
                </a:solidFill>
                <a:latin typeface="Arial" panose="020B0604020202020204"/>
              </a:rPr>
              <a:t>.</a:t>
            </a:r>
            <a:r>
              <a:rPr kumimoji="0" lang="en-AU" sz="2400" b="0" i="0" u="none" strike="noStrike" kern="1200" cap="none" spc="0" normalizeH="0" baseline="0" noProof="0" dirty="0">
                <a:ln>
                  <a:noFill/>
                </a:ln>
                <a:solidFill>
                  <a:srgbClr val="22272B"/>
                </a:solidFill>
                <a:effectLst/>
                <a:uLnTx/>
                <a:uFillTx/>
                <a:latin typeface="Arial" panose="020B0604020202020204"/>
                <a:ea typeface="+mn-ea"/>
                <a:cs typeface="+mn-cs"/>
              </a:rPr>
              <a:t>		</a:t>
            </a:r>
            <a:endParaRPr lang="en-AU" dirty="0"/>
          </a:p>
        </p:txBody>
      </p:sp>
    </p:spTree>
    <p:extLst>
      <p:ext uri="{BB962C8B-B14F-4D97-AF65-F5344CB8AC3E}">
        <p14:creationId xmlns:p14="http://schemas.microsoft.com/office/powerpoint/2010/main" val="2378322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2224CD9C-0FC8-5B96-540B-A50050478E72}"/>
              </a:ext>
            </a:extLst>
          </p:cNvPr>
          <p:cNvSpPr txBox="1"/>
          <p:nvPr/>
        </p:nvSpPr>
        <p:spPr>
          <a:xfrm>
            <a:off x="650406" y="1364959"/>
            <a:ext cx="10687720" cy="1604683"/>
          </a:xfrm>
          <a:prstGeom prst="rect">
            <a:avLst/>
          </a:prstGeom>
          <a:noFill/>
        </p:spPr>
        <p:txBody>
          <a:bodyPr wrap="square" lIns="0" tIns="0" rIns="0" bIns="0" rtlCol="0">
            <a:noAutofit/>
          </a:bodyPr>
          <a:lstStyle/>
          <a:p>
            <a:pPr lvl="0" algn="ctr">
              <a:lnSpc>
                <a:spcPct val="150000"/>
              </a:lnSpc>
            </a:pPr>
            <a:r>
              <a:rPr lang="en-AU" sz="3600" dirty="0"/>
              <a:t>Use the </a:t>
            </a:r>
            <a:r>
              <a:rPr lang="en-AU" sz="3600" b="1" dirty="0"/>
              <a:t>associative property </a:t>
            </a:r>
            <a:r>
              <a:rPr lang="en-AU" sz="3600" dirty="0"/>
              <a:t>to regroup the factors into </a:t>
            </a:r>
            <a:r>
              <a:rPr lang="en-AU" sz="3600" b="1" dirty="0"/>
              <a:t>multiples of 10 </a:t>
            </a:r>
            <a:r>
              <a:rPr lang="en-AU" sz="3600" dirty="0"/>
              <a:t>and record the </a:t>
            </a:r>
            <a:r>
              <a:rPr lang="en-AU" sz="3600" b="1" dirty="0"/>
              <a:t>totals.</a:t>
            </a:r>
          </a:p>
        </p:txBody>
      </p:sp>
      <p:sp>
        <p:nvSpPr>
          <p:cNvPr id="7" name="TextBox 8">
            <a:extLst>
              <a:ext uri="{FF2B5EF4-FFF2-40B4-BE49-F238E27FC236}">
                <a16:creationId xmlns:a16="http://schemas.microsoft.com/office/drawing/2014/main" id="{ABF2BE01-29FD-B7DA-8558-C829AFDE190F}"/>
              </a:ext>
            </a:extLst>
          </p:cNvPr>
          <p:cNvSpPr txBox="1"/>
          <p:nvPr/>
        </p:nvSpPr>
        <p:spPr>
          <a:xfrm>
            <a:off x="1756085" y="3429000"/>
            <a:ext cx="8476362" cy="2957541"/>
          </a:xfrm>
          <a:prstGeom prst="rect">
            <a:avLst/>
          </a:prstGeom>
          <a:noFill/>
        </p:spPr>
        <p:txBody>
          <a:bodyPr wrap="square">
            <a:spAutoFit/>
          </a:bodyPr>
          <a:lstStyle>
            <a:defPPr>
              <a:defRPr lang="en-US"/>
            </a:defPPr>
            <a:lvl1pPr marL="0" algn="l" defTabSz="609585" rtl="0" eaLnBrk="1" latinLnBrk="0" hangingPunct="1">
              <a:defRPr sz="2400" kern="1200">
                <a:solidFill>
                  <a:srgbClr val="22272B"/>
                </a:solidFill>
                <a:latin typeface="Arial" panose="020B0604020202020204"/>
              </a:defRPr>
            </a:lvl1pPr>
            <a:lvl2pPr marL="609585" algn="l" defTabSz="609585" rtl="0" eaLnBrk="1" latinLnBrk="0" hangingPunct="1">
              <a:defRPr sz="2400" kern="1200">
                <a:solidFill>
                  <a:srgbClr val="22272B"/>
                </a:solidFill>
                <a:latin typeface="Arial" panose="020B0604020202020204"/>
              </a:defRPr>
            </a:lvl2pPr>
            <a:lvl3pPr marL="1219170" algn="l" defTabSz="609585" rtl="0" eaLnBrk="1" latinLnBrk="0" hangingPunct="1">
              <a:defRPr sz="2400" kern="1200">
                <a:solidFill>
                  <a:srgbClr val="22272B"/>
                </a:solidFill>
                <a:latin typeface="Arial" panose="020B0604020202020204"/>
              </a:defRPr>
            </a:lvl3pPr>
            <a:lvl4pPr marL="1828754" algn="l" defTabSz="609585" rtl="0" eaLnBrk="1" latinLnBrk="0" hangingPunct="1">
              <a:defRPr sz="2400" kern="1200">
                <a:solidFill>
                  <a:srgbClr val="22272B"/>
                </a:solidFill>
                <a:latin typeface="Arial" panose="020B0604020202020204"/>
              </a:defRPr>
            </a:lvl4pPr>
            <a:lvl5pPr marL="2438339" algn="l" defTabSz="609585" rtl="0" eaLnBrk="1" latinLnBrk="0" hangingPunct="1">
              <a:defRPr sz="2400" kern="1200">
                <a:solidFill>
                  <a:srgbClr val="22272B"/>
                </a:solidFill>
                <a:latin typeface="Arial" panose="020B0604020202020204"/>
              </a:defRPr>
            </a:lvl5pPr>
            <a:lvl6pPr marL="3047924" algn="l" defTabSz="609585" rtl="0" eaLnBrk="1" latinLnBrk="0" hangingPunct="1">
              <a:defRPr sz="2400" kern="1200">
                <a:solidFill>
                  <a:srgbClr val="22272B"/>
                </a:solidFill>
                <a:latin typeface="Arial" panose="020B0604020202020204"/>
              </a:defRPr>
            </a:lvl6pPr>
            <a:lvl7pPr marL="3657509" algn="l" defTabSz="609585" rtl="0" eaLnBrk="1" latinLnBrk="0" hangingPunct="1">
              <a:defRPr sz="2400" kern="1200">
                <a:solidFill>
                  <a:srgbClr val="22272B"/>
                </a:solidFill>
                <a:latin typeface="Arial" panose="020B0604020202020204"/>
              </a:defRPr>
            </a:lvl7pPr>
            <a:lvl8pPr marL="4267093" algn="l" defTabSz="609585" rtl="0" eaLnBrk="1" latinLnBrk="0" hangingPunct="1">
              <a:defRPr sz="2400" kern="1200">
                <a:solidFill>
                  <a:srgbClr val="22272B"/>
                </a:solidFill>
                <a:latin typeface="Arial" panose="020B0604020202020204"/>
              </a:defRPr>
            </a:lvl8pPr>
            <a:lvl9pPr marL="4876678" algn="l" defTabSz="609585" rtl="0" eaLnBrk="1" latinLnBrk="0" hangingPunct="1">
              <a:defRPr sz="2400" kern="1200">
                <a:solidFill>
                  <a:srgbClr val="22272B"/>
                </a:solidFill>
                <a:latin typeface="Arial" panose="020B0604020202020204"/>
              </a:defRPr>
            </a:lvl9pPr>
          </a:lstStyle>
          <a:p>
            <a:pPr marL="742950" indent="-742950" algn="ctr">
              <a:lnSpc>
                <a:spcPct val="150000"/>
              </a:lnSpc>
              <a:spcBef>
                <a:spcPts val="1200"/>
              </a:spcBef>
              <a:spcAft>
                <a:spcPts val="600"/>
              </a:spcAft>
              <a:buFont typeface="+mj-lt"/>
              <a:buAutoNum type="alphaLcParenR"/>
            </a:pPr>
            <a:r>
              <a:rPr lang="en-AU" sz="3600" b="1" dirty="0">
                <a:latin typeface="Arial" panose="020B0604020202020204" pitchFamily="34" charset="0"/>
                <a:ea typeface="Calibri" panose="020F0502020204030204" pitchFamily="34" charset="0"/>
                <a:cs typeface="Times New Roman" panose="02020603050405020304" pitchFamily="18" charset="0"/>
              </a:rPr>
              <a:t>5 × 70 </a:t>
            </a:r>
            <a:r>
              <a:rPr lang="en-AU" sz="3600" dirty="0">
                <a:latin typeface="Arial" panose="020B0604020202020204" pitchFamily="34" charset="0"/>
                <a:ea typeface="Calibri" panose="020F0502020204030204" pitchFamily="34" charset="0"/>
                <a:cs typeface="Times New Roman" panose="02020603050405020304" pitchFamily="18" charset="0"/>
              </a:rPr>
              <a:t>= becomes </a:t>
            </a:r>
            <a:r>
              <a:rPr lang="en-AU" sz="3600" b="1" dirty="0">
                <a:latin typeface="Arial" panose="020B0604020202020204" pitchFamily="34" charset="0"/>
                <a:ea typeface="Calibri" panose="020F0502020204030204" pitchFamily="34" charset="0"/>
                <a:cs typeface="Times New Roman" panose="02020603050405020304" pitchFamily="18" charset="0"/>
              </a:rPr>
              <a:t>5 ×</a:t>
            </a:r>
            <a:r>
              <a:rPr lang="en-AU" sz="3600" dirty="0">
                <a:latin typeface="Arial" panose="020B0604020202020204" pitchFamily="34" charset="0"/>
                <a:ea typeface="Calibri" panose="020F0502020204030204" pitchFamily="34" charset="0"/>
                <a:cs typeface="Times New Roman" panose="02020603050405020304" pitchFamily="18" charset="0"/>
              </a:rPr>
              <a:t> (__ × __) =</a:t>
            </a:r>
          </a:p>
          <a:p>
            <a:pPr marL="742950" indent="-742950" algn="ctr">
              <a:lnSpc>
                <a:spcPct val="150000"/>
              </a:lnSpc>
              <a:spcBef>
                <a:spcPts val="1200"/>
              </a:spcBef>
              <a:spcAft>
                <a:spcPts val="600"/>
              </a:spcAft>
              <a:buFont typeface="+mj-lt"/>
              <a:buAutoNum type="alphaLcParenR"/>
            </a:pPr>
            <a:r>
              <a:rPr lang="en-AU" sz="3600" b="1" dirty="0">
                <a:latin typeface="Arial" panose="020B0604020202020204" pitchFamily="34" charset="0"/>
                <a:ea typeface="Calibri" panose="020F0502020204030204" pitchFamily="34" charset="0"/>
                <a:cs typeface="Times New Roman" panose="02020603050405020304" pitchFamily="18" charset="0"/>
              </a:rPr>
              <a:t>4 × 60 </a:t>
            </a:r>
            <a:r>
              <a:rPr lang="en-AU" sz="3600" dirty="0">
                <a:latin typeface="Arial" panose="020B0604020202020204" pitchFamily="34" charset="0"/>
                <a:ea typeface="Calibri" panose="020F0502020204030204" pitchFamily="34" charset="0"/>
                <a:cs typeface="Times New Roman" panose="02020603050405020304" pitchFamily="18" charset="0"/>
              </a:rPr>
              <a:t>= becomes </a:t>
            </a:r>
            <a:r>
              <a:rPr lang="en-AU" sz="3600" b="1" dirty="0">
                <a:latin typeface="Arial" panose="020B0604020202020204" pitchFamily="34" charset="0"/>
                <a:ea typeface="Calibri" panose="020F0502020204030204" pitchFamily="34" charset="0"/>
                <a:cs typeface="Times New Roman" panose="02020603050405020304" pitchFamily="18" charset="0"/>
              </a:rPr>
              <a:t>4 ×</a:t>
            </a:r>
            <a:r>
              <a:rPr lang="en-AU" sz="3600" dirty="0">
                <a:latin typeface="Arial" panose="020B0604020202020204" pitchFamily="34" charset="0"/>
                <a:ea typeface="Calibri" panose="020F0502020204030204" pitchFamily="34" charset="0"/>
                <a:cs typeface="Times New Roman" panose="02020603050405020304" pitchFamily="18" charset="0"/>
              </a:rPr>
              <a:t> (__ × __) =</a:t>
            </a:r>
          </a:p>
          <a:p>
            <a:pPr marL="742950" indent="-742950" algn="ctr">
              <a:lnSpc>
                <a:spcPct val="150000"/>
              </a:lnSpc>
              <a:spcBef>
                <a:spcPts val="1200"/>
              </a:spcBef>
              <a:spcAft>
                <a:spcPts val="600"/>
              </a:spcAft>
              <a:buFont typeface="+mj-lt"/>
              <a:buAutoNum type="alphaLcParenR"/>
            </a:pPr>
            <a:r>
              <a:rPr lang="en-AU" sz="3600" b="1" dirty="0">
                <a:latin typeface="Arial" panose="020B0604020202020204" pitchFamily="34" charset="0"/>
                <a:ea typeface="Calibri" panose="020F0502020204030204" pitchFamily="34" charset="0"/>
                <a:cs typeface="Times New Roman" panose="02020603050405020304" pitchFamily="18" charset="0"/>
              </a:rPr>
              <a:t>7 × 80 </a:t>
            </a:r>
            <a:r>
              <a:rPr lang="en-AU" sz="3600" dirty="0">
                <a:latin typeface="Arial" panose="020B0604020202020204" pitchFamily="34" charset="0"/>
                <a:ea typeface="Calibri" panose="020F0502020204030204" pitchFamily="34" charset="0"/>
                <a:cs typeface="Times New Roman" panose="02020603050405020304" pitchFamily="18" charset="0"/>
              </a:rPr>
              <a:t>= becomes </a:t>
            </a:r>
            <a:r>
              <a:rPr lang="en-AU" sz="3600" b="1" dirty="0">
                <a:latin typeface="Arial" panose="020B0604020202020204" pitchFamily="34" charset="0"/>
                <a:ea typeface="Calibri" panose="020F0502020204030204" pitchFamily="34" charset="0"/>
                <a:cs typeface="Times New Roman" panose="02020603050405020304" pitchFamily="18" charset="0"/>
              </a:rPr>
              <a:t>7 ×</a:t>
            </a:r>
            <a:r>
              <a:rPr lang="en-AU" sz="3600" dirty="0">
                <a:latin typeface="Arial" panose="020B0604020202020204" pitchFamily="34" charset="0"/>
                <a:ea typeface="Calibri" panose="020F0502020204030204" pitchFamily="34" charset="0"/>
                <a:cs typeface="Times New Roman" panose="02020603050405020304" pitchFamily="18" charset="0"/>
              </a:rPr>
              <a:t> (__ × __) =</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8148CD21-4D5C-E65D-E099-04AE2E2B777D}"/>
              </a:ext>
            </a:extLst>
          </p:cNvPr>
          <p:cNvSpPr txBox="1"/>
          <p:nvPr/>
        </p:nvSpPr>
        <p:spPr>
          <a:xfrm>
            <a:off x="409012" y="1437895"/>
            <a:ext cx="11434988" cy="718588"/>
          </a:xfrm>
          <a:prstGeom prst="rect">
            <a:avLst/>
          </a:prstGeom>
          <a:noFill/>
        </p:spPr>
        <p:txBody>
          <a:bodyPr wrap="none" lIns="0" tIns="0" rIns="0" bIns="0" rtlCol="0">
            <a:noAutofit/>
          </a:bodyPr>
          <a:lstStyle/>
          <a:p>
            <a:pPr algn="ctr"/>
            <a:r>
              <a:rPr lang="en-AU" sz="3600" dirty="0"/>
              <a:t>Order the capacities from </a:t>
            </a:r>
            <a:r>
              <a:rPr lang="en-AU" sz="3600" b="1" dirty="0"/>
              <a:t>lowest </a:t>
            </a:r>
            <a:r>
              <a:rPr lang="en-AU" sz="3600" dirty="0"/>
              <a:t>to</a:t>
            </a:r>
            <a:r>
              <a:rPr lang="en-AU" sz="3600" b="1" dirty="0"/>
              <a:t> highest</a:t>
            </a:r>
            <a:r>
              <a:rPr lang="en-AU" sz="3600" dirty="0"/>
              <a:t>.</a:t>
            </a:r>
          </a:p>
        </p:txBody>
      </p:sp>
      <p:pic>
        <p:nvPicPr>
          <p:cNvPr id="5" name="Picture 4" descr="Illustration showing four containers of different sizes and volumes, including a 330 mL can, a large blue bucket labelled 9000 mL, a red jug labelled 5500 mL, and a glass bottle with lemon design labelled 750 mL. The purpose is to compare container capacities.">
            <a:extLst>
              <a:ext uri="{FF2B5EF4-FFF2-40B4-BE49-F238E27FC236}">
                <a16:creationId xmlns:a16="http://schemas.microsoft.com/office/drawing/2014/main" id="{CF2B2B70-537F-3C2D-8FC8-9F60BA9C85B4}"/>
              </a:ext>
            </a:extLst>
          </p:cNvPr>
          <p:cNvPicPr>
            <a:picLocks noChangeAspect="1"/>
          </p:cNvPicPr>
          <p:nvPr/>
        </p:nvPicPr>
        <p:blipFill>
          <a:blip r:embed="rId4"/>
          <a:srcRect l="2855" t="9020" r="2953" b="3918"/>
          <a:stretch>
            <a:fillRect/>
          </a:stretch>
        </p:blipFill>
        <p:spPr>
          <a:xfrm>
            <a:off x="2603157" y="2850121"/>
            <a:ext cx="7239858" cy="3764117"/>
          </a:xfrm>
          <a:prstGeom prst="rect">
            <a:avLst/>
          </a:prstGeom>
          <a:effectLst/>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finding multiples (1)</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16" name="Picture 15" descr="A table displaying numbers 1 to 100 arranged in a 10x10 grid, with certain numbers highlighted in yellow and blue. Yellow highlights mark every fourth number, blue highlights mark every fifth number, and numbers with both colours: 20, 40, 60, 80 and 100.&#10;&#10;">
            <a:extLst>
              <a:ext uri="{FF2B5EF4-FFF2-40B4-BE49-F238E27FC236}">
                <a16:creationId xmlns:a16="http://schemas.microsoft.com/office/drawing/2014/main" id="{F79D8C6B-42EE-C11C-32FF-9635A87B9EFE}"/>
              </a:ext>
            </a:extLst>
          </p:cNvPr>
          <p:cNvPicPr>
            <a:picLocks noChangeAspect="1"/>
          </p:cNvPicPr>
          <p:nvPr/>
        </p:nvPicPr>
        <p:blipFill>
          <a:blip r:embed="rId4"/>
          <a:srcRect l="26388" t="27221" r="27775" b="27218"/>
          <a:stretch>
            <a:fillRect/>
          </a:stretch>
        </p:blipFill>
        <p:spPr>
          <a:xfrm>
            <a:off x="2039982" y="1046200"/>
            <a:ext cx="8112035" cy="5701150"/>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F063-E6E9-FD0A-395F-4173856FE7C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BF1F7AE-31A6-3F82-58B7-60D496F4880D}"/>
              </a:ext>
            </a:extLst>
          </p:cNvPr>
          <p:cNvSpPr>
            <a:spLocks noGrp="1"/>
          </p:cNvSpPr>
          <p:nvPr>
            <p:ph type="title"/>
          </p:nvPr>
        </p:nvSpPr>
        <p:spPr>
          <a:xfrm>
            <a:off x="360000" y="360000"/>
            <a:ext cx="10367268" cy="545601"/>
          </a:xfrm>
        </p:spPr>
        <p:txBody>
          <a:bodyPr/>
          <a:lstStyle/>
          <a:p>
            <a:r>
              <a:rPr lang="en-AU"/>
              <a:t>Activity 5 – finding multiples (2)</a:t>
            </a:r>
          </a:p>
        </p:txBody>
      </p:sp>
      <p:pic>
        <p:nvPicPr>
          <p:cNvPr id="4" name="Picture 3">
            <a:extLst>
              <a:ext uri="{FF2B5EF4-FFF2-40B4-BE49-F238E27FC236}">
                <a16:creationId xmlns:a16="http://schemas.microsoft.com/office/drawing/2014/main" id="{FDFF8F55-670C-F2AD-C446-1DC3845D4F5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Table displaying numbers 1 through 100 arranged in 10 rows and 10 columns.">
            <a:extLst>
              <a:ext uri="{FF2B5EF4-FFF2-40B4-BE49-F238E27FC236}">
                <a16:creationId xmlns:a16="http://schemas.microsoft.com/office/drawing/2014/main" id="{9F146B2C-4CBB-731F-DC8B-0E9825D00E7D}"/>
              </a:ext>
            </a:extLst>
          </p:cNvPr>
          <p:cNvPicPr>
            <a:picLocks noChangeAspect="1"/>
          </p:cNvPicPr>
          <p:nvPr/>
        </p:nvPicPr>
        <p:blipFill>
          <a:blip r:embed="rId4">
            <a:extLst>
              <a:ext uri="{28A0092B-C50C-407E-A947-70E740481C1C}">
                <a14:useLocalDpi xmlns:a14="http://schemas.microsoft.com/office/drawing/2010/main" val="0"/>
              </a:ext>
            </a:extLst>
          </a:blip>
          <a:srcRect l="14776" t="16000" r="15178" b="15194"/>
          <a:stretch>
            <a:fillRect/>
          </a:stretch>
        </p:blipFill>
        <p:spPr>
          <a:xfrm>
            <a:off x="1813248" y="905601"/>
            <a:ext cx="8408222" cy="5839727"/>
          </a:xfrm>
          <a:prstGeom prst="rect">
            <a:avLst/>
          </a:prstGeom>
        </p:spPr>
      </p:pic>
      <p:sp>
        <p:nvSpPr>
          <p:cNvPr id="2" name="Slide Number Placeholder 1">
            <a:extLst>
              <a:ext uri="{FF2B5EF4-FFF2-40B4-BE49-F238E27FC236}">
                <a16:creationId xmlns:a16="http://schemas.microsoft.com/office/drawing/2014/main" id="{A8AE517D-7D51-5D18-D4E4-8630D56683B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595248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474481" y="1610158"/>
            <a:ext cx="11243037" cy="893226"/>
          </a:xfrm>
        </p:spPr>
        <p:txBody>
          <a:bodyPr/>
          <a:lstStyle/>
          <a:p>
            <a:pPr algn="ctr"/>
            <a:r>
              <a:rPr lang="en-AU" sz="4000"/>
              <a:t>The coloured tiles are showing </a:t>
            </a:r>
            <a:r>
              <a:rPr lang="en-AU" sz="4000" b="1"/>
              <a:t>multiples of 3</a:t>
            </a:r>
            <a:r>
              <a:rPr lang="en-AU" sz="4000"/>
              <a:t>. </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3199759088"/>
              </p:ext>
            </p:extLst>
          </p:nvPr>
        </p:nvGraphicFramePr>
        <p:xfrm>
          <a:off x="255746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11" name="Picture 10">
            <a:extLst>
              <a:ext uri="{FF2B5EF4-FFF2-40B4-BE49-F238E27FC236}">
                <a16:creationId xmlns:a16="http://schemas.microsoft.com/office/drawing/2014/main" id="{F4DEB4FE-CED2-0A5E-A944-EA68C5B2732D}"/>
              </a:ext>
            </a:extLst>
          </p:cNvPr>
          <p:cNvPicPr>
            <a:picLocks noChangeAspect="1"/>
          </p:cNvPicPr>
          <p:nvPr/>
        </p:nvPicPr>
        <p:blipFill>
          <a:blip r:embed="rId4"/>
          <a:srcRect l="3048" t="25888" r="2818" b="63497"/>
          <a:stretch>
            <a:fillRect/>
          </a:stretch>
        </p:blipFill>
        <p:spPr>
          <a:xfrm>
            <a:off x="380463" y="3097104"/>
            <a:ext cx="11811537" cy="941725"/>
          </a:xfrm>
          <a:prstGeom prst="rect">
            <a:avLst/>
          </a:prstGeom>
        </p:spPr>
      </p:pic>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64B3E463-B889-13DE-7714-CC90D1EB8813}"/>
              </a:ext>
            </a:extLst>
          </p:cNvPr>
          <p:cNvSpPr txBox="1"/>
          <p:nvPr/>
        </p:nvSpPr>
        <p:spPr>
          <a:xfrm>
            <a:off x="1107076" y="1200658"/>
            <a:ext cx="10016924" cy="4974206"/>
          </a:xfrm>
          <a:prstGeom prst="rect">
            <a:avLst/>
          </a:prstGeom>
          <a:noFill/>
        </p:spPr>
        <p:txBody>
          <a:bodyPr wrap="square" lIns="0" tIns="0" rIns="0" bIns="0" rtlCol="0">
            <a:noAutofit/>
          </a:bodyPr>
          <a:lstStyle/>
          <a:p>
            <a:pPr algn="ctr">
              <a:lnSpc>
                <a:spcPct val="150000"/>
              </a:lnSpc>
              <a:spcBef>
                <a:spcPts val="1200"/>
              </a:spcBef>
              <a:spcAft>
                <a:spcPts val="1200"/>
              </a:spcAft>
            </a:pPr>
            <a:r>
              <a:rPr lang="en-AU" sz="4400" dirty="0"/>
              <a:t>Toby </a:t>
            </a:r>
            <a:r>
              <a:rPr lang="en-AU" sz="4400" b="1" dirty="0"/>
              <a:t>chose </a:t>
            </a:r>
            <a:r>
              <a:rPr lang="en-AU" sz="4400" dirty="0"/>
              <a:t>to use a </a:t>
            </a:r>
            <a:r>
              <a:rPr lang="en-AU" sz="4400" b="1" dirty="0"/>
              <a:t>vertical algorithm</a:t>
            </a:r>
            <a:r>
              <a:rPr lang="en-AU" sz="4400" dirty="0"/>
              <a:t> to solve </a:t>
            </a:r>
            <a:r>
              <a:rPr lang="en-AU" sz="4400" b="1" dirty="0"/>
              <a:t>800 – 7</a:t>
            </a:r>
            <a:r>
              <a:rPr lang="en-AU" sz="4400" dirty="0"/>
              <a:t>. </a:t>
            </a:r>
          </a:p>
          <a:p>
            <a:pPr algn="ctr">
              <a:lnSpc>
                <a:spcPct val="150000"/>
              </a:lnSpc>
              <a:spcBef>
                <a:spcPts val="1200"/>
              </a:spcBef>
              <a:spcAft>
                <a:spcPts val="1200"/>
              </a:spcAft>
            </a:pPr>
            <a:r>
              <a:rPr lang="en-AU" sz="4400" dirty="0"/>
              <a:t>Is this an </a:t>
            </a:r>
            <a:r>
              <a:rPr lang="en-AU" sz="4400" b="1" dirty="0"/>
              <a:t>efficient strategy</a:t>
            </a:r>
            <a:r>
              <a:rPr lang="en-AU" sz="4400" dirty="0"/>
              <a:t>?</a:t>
            </a:r>
          </a:p>
          <a:p>
            <a:pPr algn="ctr">
              <a:lnSpc>
                <a:spcPct val="150000"/>
              </a:lnSpc>
              <a:spcBef>
                <a:spcPts val="1200"/>
              </a:spcBef>
              <a:spcAft>
                <a:spcPts val="1200"/>
              </a:spcAft>
            </a:pPr>
            <a:r>
              <a:rPr lang="en-AU" sz="4400" b="1" dirty="0"/>
              <a:t>Communicate</a:t>
            </a:r>
            <a:r>
              <a:rPr lang="en-AU" sz="4400" dirty="0"/>
              <a:t> your </a:t>
            </a:r>
            <a:r>
              <a:rPr lang="en-AU" sz="4400" b="1" dirty="0"/>
              <a:t>reasoning</a:t>
            </a:r>
            <a:r>
              <a:rPr lang="en-AU" sz="4400" dirty="0"/>
              <a:t>.</a:t>
            </a:r>
          </a:p>
          <a:p>
            <a:pPr algn="l"/>
            <a:endParaRPr lang="en-AU" sz="4400" dirty="0"/>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11</a:t>
            </a:fld>
            <a:endParaRPr lang="en-AU"/>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E1791E42-2529-8C45-0DF1-D8CFD92DCE7B}"/>
              </a:ext>
            </a:extLst>
          </p:cNvPr>
          <p:cNvSpPr txBox="1"/>
          <p:nvPr/>
        </p:nvSpPr>
        <p:spPr>
          <a:xfrm>
            <a:off x="2240636" y="1322881"/>
            <a:ext cx="7984193" cy="2106119"/>
          </a:xfrm>
          <a:prstGeom prst="rect">
            <a:avLst/>
          </a:prstGeom>
          <a:noFill/>
        </p:spPr>
        <p:txBody>
          <a:bodyPr wrap="none" lIns="0" tIns="0" rIns="0" bIns="0" rtlCol="0">
            <a:noAutofit/>
          </a:bodyPr>
          <a:lstStyle/>
          <a:p>
            <a:pPr algn="ctr">
              <a:lnSpc>
                <a:spcPct val="150000"/>
              </a:lnSpc>
              <a:spcBef>
                <a:spcPts val="1200"/>
              </a:spcBef>
              <a:spcAft>
                <a:spcPts val="1200"/>
              </a:spcAft>
            </a:pPr>
            <a:r>
              <a:rPr lang="en-AU" sz="4400" dirty="0"/>
              <a:t>My dog Kara is </a:t>
            </a:r>
            <a:r>
              <a:rPr lang="en-AU" sz="4400" b="1" dirty="0"/>
              <a:t>850 mm </a:t>
            </a:r>
            <a:r>
              <a:rPr lang="en-AU" sz="4400" dirty="0"/>
              <a:t>tall. </a:t>
            </a:r>
          </a:p>
          <a:p>
            <a:pPr algn="ctr">
              <a:lnSpc>
                <a:spcPct val="150000"/>
              </a:lnSpc>
              <a:spcBef>
                <a:spcPts val="1200"/>
              </a:spcBef>
              <a:spcAft>
                <a:spcPts val="1200"/>
              </a:spcAft>
            </a:pPr>
            <a:r>
              <a:rPr lang="en-AU" sz="4400" dirty="0"/>
              <a:t>What is Kara’s height </a:t>
            </a:r>
            <a:r>
              <a:rPr lang="en-AU" sz="4400" b="1" dirty="0"/>
              <a:t>in centimetres</a:t>
            </a:r>
            <a:r>
              <a:rPr lang="en-AU" sz="4400" dirty="0"/>
              <a:t>?</a:t>
            </a:r>
          </a:p>
        </p:txBody>
      </p:sp>
      <p:pic>
        <p:nvPicPr>
          <p:cNvPr id="7" name="Picture 6">
            <a:extLst>
              <a:ext uri="{FF2B5EF4-FFF2-40B4-BE49-F238E27FC236}">
                <a16:creationId xmlns:a16="http://schemas.microsoft.com/office/drawing/2014/main" id="{6481FAC6-BD2E-33F0-0BDA-A5B954A04B77}"/>
              </a:ext>
              <a:ext uri="{C183D7F6-B498-43B3-948B-1728B52AA6E4}">
                <adec:decorative xmlns:adec="http://schemas.microsoft.com/office/drawing/2017/decorative" val="1"/>
              </a:ext>
            </a:extLst>
          </p:cNvPr>
          <p:cNvPicPr>
            <a:picLocks noChangeAspect="1"/>
          </p:cNvPicPr>
          <p:nvPr/>
        </p:nvPicPr>
        <p:blipFill>
          <a:blip r:embed="rId4"/>
          <a:srcRect l="27784" t="7986" r="25425" b="7704"/>
          <a:stretch>
            <a:fillRect/>
          </a:stretch>
        </p:blipFill>
        <p:spPr>
          <a:xfrm>
            <a:off x="1390441" y="4228092"/>
            <a:ext cx="1937280" cy="2467908"/>
          </a:xfrm>
          <a:prstGeom prst="rect">
            <a:avLst/>
          </a:prstGeom>
        </p:spPr>
      </p:pic>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9" name="TextBox 18">
            <a:extLst>
              <a:ext uri="{FF2B5EF4-FFF2-40B4-BE49-F238E27FC236}">
                <a16:creationId xmlns:a16="http://schemas.microsoft.com/office/drawing/2014/main" id="{5DF527FB-8006-79A9-7EB3-0A93D2A18C40}"/>
              </a:ext>
            </a:extLst>
          </p:cNvPr>
          <p:cNvSpPr txBox="1"/>
          <p:nvPr/>
        </p:nvSpPr>
        <p:spPr>
          <a:xfrm>
            <a:off x="1722304" y="905601"/>
            <a:ext cx="8747392" cy="764337"/>
          </a:xfrm>
          <a:prstGeom prst="rect">
            <a:avLst/>
          </a:prstGeom>
          <a:noFill/>
        </p:spPr>
        <p:txBody>
          <a:bodyPr wrap="square" lIns="0" tIns="0" rIns="0" bIns="0" rtlCol="0">
            <a:noAutofit/>
          </a:bodyPr>
          <a:lstStyle/>
          <a:p>
            <a:pPr algn="ctr">
              <a:lnSpc>
                <a:spcPct val="150000"/>
              </a:lnSpc>
            </a:pPr>
            <a:r>
              <a:rPr lang="en-AU" sz="4000" dirty="0"/>
              <a:t>Complete the number sentences:</a:t>
            </a:r>
          </a:p>
        </p:txBody>
      </p:sp>
      <p:sp>
        <p:nvSpPr>
          <p:cNvPr id="4" name="TextBox 3">
            <a:extLst>
              <a:ext uri="{FF2B5EF4-FFF2-40B4-BE49-F238E27FC236}">
                <a16:creationId xmlns:a16="http://schemas.microsoft.com/office/drawing/2014/main" id="{7970BC00-3A76-FFEB-81E4-C7400F64CE56}"/>
              </a:ext>
            </a:extLst>
          </p:cNvPr>
          <p:cNvSpPr txBox="1">
            <a:spLocks/>
          </p:cNvSpPr>
          <p:nvPr/>
        </p:nvSpPr>
        <p:spPr>
          <a:xfrm>
            <a:off x="4084180" y="2582897"/>
            <a:ext cx="2934159" cy="4617002"/>
          </a:xfrm>
          <a:prstGeom prst="rect">
            <a:avLst/>
          </a:prstGeom>
          <a:noFill/>
        </p:spPr>
        <p:txBody>
          <a:bodyPr wrap="none" lIns="0" tIns="0" rIns="0" bIns="0" rtlCol="0" anchor="t">
            <a:noAutofit/>
          </a:bodyPr>
          <a:lstStyle/>
          <a:p>
            <a:r>
              <a:rPr lang="en-AU" sz="4400" dirty="0">
                <a:solidFill>
                  <a:srgbClr val="146CFD"/>
                </a:solidFill>
              </a:rPr>
              <a:t>27 =      × 3 </a:t>
            </a:r>
          </a:p>
          <a:p>
            <a:endParaRPr lang="en-AU" sz="4400" dirty="0">
              <a:solidFill>
                <a:srgbClr val="146CFD"/>
              </a:solidFill>
            </a:endParaRPr>
          </a:p>
          <a:p>
            <a:r>
              <a:rPr lang="en-AU" sz="4400" dirty="0">
                <a:solidFill>
                  <a:srgbClr val="146CFD"/>
                </a:solidFill>
              </a:rPr>
              <a:t>27 </a:t>
            </a:r>
            <a:r>
              <a:rPr lang="en-US" sz="4400" dirty="0">
                <a:solidFill>
                  <a:srgbClr val="146CFD"/>
                </a:solidFill>
              </a:rPr>
              <a:t>÷ 3 = </a:t>
            </a:r>
            <a:r>
              <a:rPr lang="en-AU" sz="4400" dirty="0">
                <a:solidFill>
                  <a:srgbClr val="146CFD"/>
                </a:solidFill>
              </a:rPr>
              <a:t>     </a:t>
            </a:r>
          </a:p>
          <a:p>
            <a:endParaRPr lang="en-AU" sz="4000" dirty="0"/>
          </a:p>
          <a:p>
            <a:endParaRPr lang="en-AU" sz="4000" dirty="0"/>
          </a:p>
          <a:p>
            <a:endParaRPr lang="en-AU" sz="4000" dirty="0"/>
          </a:p>
          <a:p>
            <a:endParaRPr lang="en-AU" sz="4000" dirty="0"/>
          </a:p>
        </p:txBody>
      </p:sp>
      <p:sp>
        <p:nvSpPr>
          <p:cNvPr id="7" name="Rectangle 6">
            <a:extLst>
              <a:ext uri="{FF2B5EF4-FFF2-40B4-BE49-F238E27FC236}">
                <a16:creationId xmlns:a16="http://schemas.microsoft.com/office/drawing/2014/main" id="{F5FAF0BA-F0D9-F689-DC9B-D196684FDDFF}"/>
              </a:ext>
              <a:ext uri="{C183D7F6-B498-43B3-948B-1728B52AA6E4}">
                <adec:decorative xmlns:adec="http://schemas.microsoft.com/office/drawing/2017/decorative" val="1"/>
              </a:ext>
            </a:extLst>
          </p:cNvPr>
          <p:cNvSpPr/>
          <p:nvPr/>
        </p:nvSpPr>
        <p:spPr>
          <a:xfrm>
            <a:off x="5390540" y="2582897"/>
            <a:ext cx="605927" cy="545601"/>
          </a:xfrm>
          <a:prstGeom prst="rect">
            <a:avLst/>
          </a:prstGeom>
          <a:ln w="28575">
            <a:solidFill>
              <a:srgbClr val="146CFD"/>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5" name="Rectangle 4">
            <a:extLst>
              <a:ext uri="{FF2B5EF4-FFF2-40B4-BE49-F238E27FC236}">
                <a16:creationId xmlns:a16="http://schemas.microsoft.com/office/drawing/2014/main" id="{78CCBAD2-1BC0-5659-2488-3C7C431C0F36}"/>
              </a:ext>
              <a:ext uri="{C183D7F6-B498-43B3-948B-1728B52AA6E4}">
                <adec:decorative xmlns:adec="http://schemas.microsoft.com/office/drawing/2017/decorative" val="1"/>
              </a:ext>
            </a:extLst>
          </p:cNvPr>
          <p:cNvSpPr/>
          <p:nvPr/>
        </p:nvSpPr>
        <p:spPr>
          <a:xfrm>
            <a:off x="6412412" y="3905499"/>
            <a:ext cx="605927" cy="545601"/>
          </a:xfrm>
          <a:prstGeom prst="rect">
            <a:avLst/>
          </a:prstGeom>
          <a:ln w="28575">
            <a:solidFill>
              <a:srgbClr val="146CFD"/>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4BD0E702-2E8A-A552-A497-005EA3410A6D}"/>
              </a:ext>
            </a:extLst>
          </p:cNvPr>
          <p:cNvSpPr txBox="1"/>
          <p:nvPr/>
        </p:nvSpPr>
        <p:spPr>
          <a:xfrm>
            <a:off x="1422910" y="2618199"/>
            <a:ext cx="8694756" cy="2438401"/>
          </a:xfrm>
          <a:prstGeom prst="rect">
            <a:avLst/>
          </a:prstGeom>
          <a:noFill/>
        </p:spPr>
        <p:txBody>
          <a:bodyPr wrap="none" lIns="0" tIns="0" rIns="0" bIns="0" rtlCol="0">
            <a:noAutofit/>
          </a:bodyPr>
          <a:lstStyle/>
          <a:p>
            <a:pPr>
              <a:lnSpc>
                <a:spcPct val="150000"/>
              </a:lnSpc>
            </a:pPr>
            <a:endParaRPr lang="en-AU" sz="4400" dirty="0"/>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8" name="TextBox 7">
            <a:extLst>
              <a:ext uri="{FF2B5EF4-FFF2-40B4-BE49-F238E27FC236}">
                <a16:creationId xmlns:a16="http://schemas.microsoft.com/office/drawing/2014/main" id="{32AF0554-B503-0B03-65EE-971342A10D4C}"/>
              </a:ext>
            </a:extLst>
          </p:cNvPr>
          <p:cNvSpPr txBox="1"/>
          <p:nvPr/>
        </p:nvSpPr>
        <p:spPr>
          <a:xfrm>
            <a:off x="360000" y="1364405"/>
            <a:ext cx="11585976" cy="4441024"/>
          </a:xfrm>
          <a:prstGeom prst="rect">
            <a:avLst/>
          </a:prstGeom>
          <a:noFill/>
        </p:spPr>
        <p:txBody>
          <a:bodyPr wrap="square">
            <a:spAutoFit/>
          </a:bodyPr>
          <a:lstStyle/>
          <a:p>
            <a:pPr algn="ctr">
              <a:lnSpc>
                <a:spcPct val="150000"/>
              </a:lnSpc>
              <a:spcBef>
                <a:spcPts val="1200"/>
              </a:spcBef>
              <a:spcAft>
                <a:spcPts val="1200"/>
              </a:spcAft>
            </a:pPr>
            <a:r>
              <a:rPr lang="en-AU" sz="4000" dirty="0"/>
              <a:t>Record these times using </a:t>
            </a:r>
            <a:r>
              <a:rPr lang="en-AU" sz="4000" b="1" dirty="0"/>
              <a:t>am </a:t>
            </a:r>
            <a:r>
              <a:rPr lang="en-AU" sz="4000" dirty="0"/>
              <a:t>or</a:t>
            </a:r>
            <a:r>
              <a:rPr lang="en-AU" sz="4000" b="1" dirty="0"/>
              <a:t> pm notation:</a:t>
            </a:r>
          </a:p>
          <a:p>
            <a:pPr>
              <a:lnSpc>
                <a:spcPct val="150000"/>
              </a:lnSpc>
              <a:spcBef>
                <a:spcPts val="1200"/>
              </a:spcBef>
              <a:spcAft>
                <a:spcPts val="1200"/>
              </a:spcAft>
            </a:pPr>
            <a:r>
              <a:rPr lang="en-AU" sz="4000" dirty="0"/>
              <a:t>a) </a:t>
            </a:r>
            <a:r>
              <a:rPr lang="en-AU" sz="4000" b="1" dirty="0"/>
              <a:t>10 to 9 </a:t>
            </a:r>
            <a:r>
              <a:rPr lang="en-AU" sz="4000" dirty="0"/>
              <a:t>in the </a:t>
            </a:r>
            <a:r>
              <a:rPr lang="en-AU" sz="4000" b="1" dirty="0"/>
              <a:t>morning </a:t>
            </a:r>
          </a:p>
          <a:p>
            <a:pPr>
              <a:lnSpc>
                <a:spcPct val="150000"/>
              </a:lnSpc>
              <a:spcBef>
                <a:spcPts val="1200"/>
              </a:spcBef>
              <a:spcAft>
                <a:spcPts val="1200"/>
              </a:spcAft>
            </a:pPr>
            <a:r>
              <a:rPr lang="en-AU" sz="4000" dirty="0"/>
              <a:t>b) </a:t>
            </a:r>
            <a:r>
              <a:rPr lang="en-AU" sz="4000" b="1" dirty="0"/>
              <a:t>5 o’clock </a:t>
            </a:r>
            <a:r>
              <a:rPr lang="en-AU" sz="4000" dirty="0"/>
              <a:t>in the </a:t>
            </a:r>
            <a:r>
              <a:rPr lang="en-AU" sz="4000" b="1" dirty="0"/>
              <a:t>evening</a:t>
            </a:r>
            <a:r>
              <a:rPr lang="en-AU" sz="4000" dirty="0"/>
              <a:t> </a:t>
            </a:r>
          </a:p>
          <a:p>
            <a:pPr algn="ctr">
              <a:lnSpc>
                <a:spcPct val="150000"/>
              </a:lnSpc>
            </a:pPr>
            <a:endParaRPr lang="en-AU" sz="4000" b="1" dirty="0"/>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exploring arrays, multiplication and factors combinations</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F76CD452-BEBA-DD42-B8A0-67320E9E2A92}"/>
              </a:ext>
            </a:extLst>
          </p:cNvPr>
          <p:cNvSpPr txBox="1"/>
          <p:nvPr/>
        </p:nvSpPr>
        <p:spPr>
          <a:xfrm>
            <a:off x="375901" y="1522343"/>
            <a:ext cx="11108099" cy="4975657"/>
          </a:xfrm>
          <a:prstGeom prst="rect">
            <a:avLst/>
          </a:prstGeom>
          <a:noFill/>
        </p:spPr>
        <p:txBody>
          <a:bodyPr wrap="square">
            <a:spAutoFit/>
          </a:bodyPr>
          <a:lstStyle/>
          <a:p>
            <a:pPr algn="ctr">
              <a:lnSpc>
                <a:spcPct val="150000"/>
              </a:lnSpc>
            </a:pPr>
            <a:r>
              <a:rPr lang="en-AU" sz="3600" dirty="0"/>
              <a:t>A lolly manufacturer has decided to design some gift boxes for a new kind of lolly.</a:t>
            </a:r>
          </a:p>
          <a:p>
            <a:pPr algn="ctr">
              <a:lnSpc>
                <a:spcPct val="150000"/>
              </a:lnSpc>
            </a:pPr>
            <a:r>
              <a:rPr lang="en-AU" sz="3600" dirty="0"/>
              <a:t>Each box will contain 36 lollies placed in lines in a single layer in a geometric shape without gaps.</a:t>
            </a:r>
          </a:p>
          <a:p>
            <a:pPr algn="ctr">
              <a:lnSpc>
                <a:spcPct val="150000"/>
              </a:lnSpc>
            </a:pPr>
            <a:r>
              <a:rPr lang="en-AU" sz="3600" dirty="0"/>
              <a:t>Each line contains the same number of lollies.</a:t>
            </a:r>
          </a:p>
          <a:p>
            <a:pPr algn="ctr">
              <a:lnSpc>
                <a:spcPct val="150000"/>
              </a:lnSpc>
            </a:pPr>
            <a:r>
              <a:rPr lang="en-AU" sz="3600" dirty="0"/>
              <a:t>How many different shaped boxes can be designed?</a:t>
            </a:r>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B0F-EDB3-D42C-B9F0-90D9CE8D9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806A67-4A8B-CFA0-2639-260EFA3DE028}"/>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(4)</a:t>
            </a:r>
          </a:p>
        </p:txBody>
      </p:sp>
      <p:pic>
        <p:nvPicPr>
          <p:cNvPr id="4" name="Picture 3">
            <a:extLst>
              <a:ext uri="{FF2B5EF4-FFF2-40B4-BE49-F238E27FC236}">
                <a16:creationId xmlns:a16="http://schemas.microsoft.com/office/drawing/2014/main" id="{9E6DEC87-1992-0ACF-8BBC-408DC4F8B51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F4BCB582-8EFA-EA48-C6B2-3E84380A7733}"/>
              </a:ext>
            </a:extLst>
          </p:cNvPr>
          <p:cNvSpPr>
            <a:spLocks noGrp="1"/>
          </p:cNvSpPr>
          <p:nvPr>
            <p:ph type="body" sz="quarter" idx="28"/>
          </p:nvPr>
        </p:nvSpPr>
        <p:spPr>
          <a:xfrm>
            <a:off x="360000" y="759638"/>
            <a:ext cx="11243037" cy="1784812"/>
          </a:xfrm>
        </p:spPr>
        <p:txBody>
          <a:bodyPr/>
          <a:lstStyle/>
          <a:p>
            <a:pPr algn="ctr"/>
            <a:r>
              <a:rPr lang="en-US" sz="4400" b="1" dirty="0"/>
              <a:t>Double 12 </a:t>
            </a:r>
            <a:r>
              <a:rPr lang="en-US" sz="4400" dirty="0"/>
              <a:t>is the same as…</a:t>
            </a:r>
          </a:p>
          <a:p>
            <a:pPr algn="ctr"/>
            <a:r>
              <a:rPr lang="en-US" sz="4400" dirty="0"/>
              <a:t>You may choose </a:t>
            </a:r>
            <a:r>
              <a:rPr lang="en-US" sz="4400" b="1" dirty="0"/>
              <a:t>more than one</a:t>
            </a:r>
            <a:r>
              <a:rPr lang="en-US" sz="4400" dirty="0"/>
              <a:t> answer.</a:t>
            </a:r>
          </a:p>
          <a:p>
            <a:endParaRPr lang="en-US" sz="3600" dirty="0"/>
          </a:p>
          <a:p>
            <a:endParaRPr lang="en-US" sz="3600" dirty="0"/>
          </a:p>
        </p:txBody>
      </p:sp>
      <p:sp>
        <p:nvSpPr>
          <p:cNvPr id="9" name="B">
            <a:extLst>
              <a:ext uri="{FF2B5EF4-FFF2-40B4-BE49-F238E27FC236}">
                <a16:creationId xmlns:a16="http://schemas.microsoft.com/office/drawing/2014/main" id="{C9B406B5-1B1B-BC84-2596-01F05852F38E}"/>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31DF2179-CC68-4EE0-97E0-A4308D927550}"/>
              </a:ext>
            </a:extLst>
          </p:cNvPr>
          <p:cNvSpPr>
            <a:spLocks noGrp="1"/>
          </p:cNvSpPr>
          <p:nvPr>
            <p:ph type="body" sz="quarter" idx="31"/>
          </p:nvPr>
        </p:nvSpPr>
        <p:spPr>
          <a:xfrm>
            <a:off x="1345520" y="2778551"/>
            <a:ext cx="10175920" cy="641396"/>
          </a:xfrm>
        </p:spPr>
        <p:txBody>
          <a:bodyPr anchor="ctr"/>
          <a:lstStyle/>
          <a:p>
            <a:r>
              <a:rPr lang="en-US" sz="3600" dirty="0"/>
              <a:t>12 × 12</a:t>
            </a:r>
          </a:p>
        </p:txBody>
      </p:sp>
      <p:sp>
        <p:nvSpPr>
          <p:cNvPr id="10" name="B">
            <a:extLst>
              <a:ext uri="{FF2B5EF4-FFF2-40B4-BE49-F238E27FC236}">
                <a16:creationId xmlns:a16="http://schemas.microsoft.com/office/drawing/2014/main" id="{E50622FB-E2C3-695B-EB8A-A6DCC20CB21A}"/>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C73A00ED-7DB5-30D2-B4A9-C92DE2E894C8}"/>
              </a:ext>
            </a:extLst>
          </p:cNvPr>
          <p:cNvSpPr>
            <a:spLocks noGrp="1"/>
          </p:cNvSpPr>
          <p:nvPr>
            <p:ph type="body" sz="quarter" idx="30"/>
          </p:nvPr>
        </p:nvSpPr>
        <p:spPr>
          <a:xfrm>
            <a:off x="1345520" y="3626464"/>
            <a:ext cx="10175920" cy="641396"/>
          </a:xfrm>
        </p:spPr>
        <p:txBody>
          <a:bodyPr anchor="ctr"/>
          <a:lstStyle/>
          <a:p>
            <a:r>
              <a:rPr lang="en-US" sz="3600" dirty="0"/>
              <a:t>2 × 12</a:t>
            </a:r>
          </a:p>
        </p:txBody>
      </p:sp>
      <p:sp>
        <p:nvSpPr>
          <p:cNvPr id="12" name="C">
            <a:extLst>
              <a:ext uri="{FF2B5EF4-FFF2-40B4-BE49-F238E27FC236}">
                <a16:creationId xmlns:a16="http://schemas.microsoft.com/office/drawing/2014/main" id="{0C258EAC-2959-18FA-F510-CFBA4E15CEE5}"/>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4F46D482-F339-0F56-69AD-E717BD10B08B}"/>
              </a:ext>
            </a:extLst>
          </p:cNvPr>
          <p:cNvSpPr>
            <a:spLocks noGrp="1"/>
          </p:cNvSpPr>
          <p:nvPr>
            <p:ph type="body" sz="quarter" idx="29"/>
          </p:nvPr>
        </p:nvSpPr>
        <p:spPr>
          <a:xfrm>
            <a:off x="1345520" y="4476517"/>
            <a:ext cx="10175920" cy="641396"/>
          </a:xfrm>
        </p:spPr>
        <p:txBody>
          <a:bodyPr anchor="ctr"/>
          <a:lstStyle/>
          <a:p>
            <a:r>
              <a:rPr lang="en-US" sz="3600"/>
              <a:t>2 + 12</a:t>
            </a:r>
          </a:p>
        </p:txBody>
      </p:sp>
      <p:sp>
        <p:nvSpPr>
          <p:cNvPr id="11" name="D">
            <a:extLst>
              <a:ext uri="{FF2B5EF4-FFF2-40B4-BE49-F238E27FC236}">
                <a16:creationId xmlns:a16="http://schemas.microsoft.com/office/drawing/2014/main" id="{14776889-F079-73F7-28AB-FA54A997A57B}"/>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6A6EC998-9E5D-373F-B144-268EE2D0342A}"/>
              </a:ext>
            </a:extLst>
          </p:cNvPr>
          <p:cNvSpPr>
            <a:spLocks noGrp="1"/>
          </p:cNvSpPr>
          <p:nvPr>
            <p:ph type="body" sz="quarter" idx="27"/>
          </p:nvPr>
        </p:nvSpPr>
        <p:spPr>
          <a:xfrm>
            <a:off x="1345520" y="5326570"/>
            <a:ext cx="10175920" cy="641396"/>
          </a:xfrm>
        </p:spPr>
        <p:txBody>
          <a:bodyPr anchor="ctr"/>
          <a:lstStyle/>
          <a:p>
            <a:r>
              <a:rPr lang="en-US" sz="3600"/>
              <a:t>2 twelves</a:t>
            </a:r>
          </a:p>
        </p:txBody>
      </p:sp>
      <p:sp>
        <p:nvSpPr>
          <p:cNvPr id="2" name="Slide Number Placeholder 1">
            <a:extLst>
              <a:ext uri="{FF2B5EF4-FFF2-40B4-BE49-F238E27FC236}">
                <a16:creationId xmlns:a16="http://schemas.microsoft.com/office/drawing/2014/main" id="{EA003EA6-BD98-8C0D-720D-A89B6A010C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283678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4F709C77-6127-9921-1962-974EE26EA05C}"/>
              </a:ext>
            </a:extLst>
          </p:cNvPr>
          <p:cNvSpPr txBox="1"/>
          <p:nvPr/>
        </p:nvSpPr>
        <p:spPr>
          <a:xfrm>
            <a:off x="406505" y="1184223"/>
            <a:ext cx="11077495" cy="5010023"/>
          </a:xfrm>
          <a:prstGeom prst="rect">
            <a:avLst/>
          </a:prstGeom>
          <a:noFill/>
        </p:spPr>
        <p:txBody>
          <a:bodyPr wrap="none" lIns="0" tIns="0" rIns="0" bIns="0" rtlCol="0">
            <a:noAutofit/>
          </a:bodyPr>
          <a:lstStyle/>
          <a:p>
            <a:pPr algn="ctr">
              <a:lnSpc>
                <a:spcPct val="150000"/>
              </a:lnSpc>
            </a:pPr>
            <a:r>
              <a:rPr lang="en-AU" sz="4400" dirty="0"/>
              <a:t>Complete the algorithm by </a:t>
            </a:r>
            <a:r>
              <a:rPr lang="en-AU" sz="4400" b="1" dirty="0"/>
              <a:t>grouping units</a:t>
            </a:r>
            <a:r>
              <a:rPr lang="en-AU" sz="4400" dirty="0"/>
              <a:t>:</a:t>
            </a:r>
          </a:p>
          <a:p>
            <a:pPr algn="ctr"/>
            <a:endParaRPr lang="en-AU" sz="4400" dirty="0"/>
          </a:p>
          <a:p>
            <a:pPr algn="ctr"/>
            <a:r>
              <a:rPr lang="en-AU" sz="5400" dirty="0">
                <a:solidFill>
                  <a:srgbClr val="146CFD"/>
                </a:solidFill>
              </a:rPr>
              <a:t>    286 </a:t>
            </a:r>
          </a:p>
          <a:p>
            <a:pPr algn="ctr"/>
            <a:r>
              <a:rPr lang="en-AU" sz="5400" dirty="0">
                <a:solidFill>
                  <a:srgbClr val="146CFD"/>
                </a:solidFill>
              </a:rPr>
              <a:t>+ </a:t>
            </a:r>
            <a:r>
              <a:rPr lang="en-AU" sz="5400" u="sng" dirty="0">
                <a:solidFill>
                  <a:srgbClr val="146CFD"/>
                </a:solidFill>
              </a:rPr>
              <a:t>437</a:t>
            </a:r>
          </a:p>
          <a:p>
            <a:pPr algn="ctr">
              <a:lnSpc>
                <a:spcPct val="150000"/>
              </a:lnSpc>
            </a:pPr>
            <a:r>
              <a:rPr lang="en-AU" sz="4400" dirty="0"/>
              <a:t>           				</a:t>
            </a:r>
            <a:r>
              <a:rPr lang="en-AU" sz="4000" dirty="0"/>
              <a:t>		</a:t>
            </a:r>
            <a:endParaRPr lang="en-AU" sz="4000" u="sng" dirty="0"/>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18</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sp>
        <p:nvSpPr>
          <p:cNvPr id="5" name="TextBox 4">
            <a:extLst>
              <a:ext uri="{FF2B5EF4-FFF2-40B4-BE49-F238E27FC236}">
                <a16:creationId xmlns:a16="http://schemas.microsoft.com/office/drawing/2014/main" id="{B7BB2750-DACB-F91A-7210-99B99DD37DBB}"/>
              </a:ext>
            </a:extLst>
          </p:cNvPr>
          <p:cNvSpPr txBox="1"/>
          <p:nvPr/>
        </p:nvSpPr>
        <p:spPr>
          <a:xfrm>
            <a:off x="89002" y="1100318"/>
            <a:ext cx="11394998" cy="735501"/>
          </a:xfrm>
          <a:prstGeom prst="rect">
            <a:avLst/>
          </a:prstGeom>
          <a:noFill/>
        </p:spPr>
        <p:txBody>
          <a:bodyPr wrap="square" lIns="0" tIns="0" rIns="0" bIns="0" rtlCol="0">
            <a:noAutofit/>
          </a:bodyPr>
          <a:lstStyle/>
          <a:p>
            <a:pPr algn="ctr">
              <a:lnSpc>
                <a:spcPct val="150000"/>
              </a:lnSpc>
            </a:pPr>
            <a:r>
              <a:rPr lang="en-AU" sz="4400" dirty="0"/>
              <a:t>Convert these measurements to</a:t>
            </a:r>
            <a:r>
              <a:rPr lang="en-AU" sz="4400" b="1" dirty="0"/>
              <a:t> metres</a:t>
            </a:r>
            <a:r>
              <a:rPr lang="en-AU" sz="4400" dirty="0"/>
              <a:t>.</a:t>
            </a:r>
            <a:r>
              <a:rPr lang="en-AU" sz="4400" b="1" dirty="0"/>
              <a:t> </a:t>
            </a:r>
          </a:p>
          <a:p>
            <a:pPr algn="l"/>
            <a:endParaRPr lang="en-AU" sz="2800" dirty="0"/>
          </a:p>
        </p:txBody>
      </p:sp>
      <p:pic>
        <p:nvPicPr>
          <p:cNvPr id="7" name="Picture 6" descr="Image of a  whiteboard measuring 2 meters and 56 centimetres in length and B is a desk measuring 134 centimetres in length.">
            <a:extLst>
              <a:ext uri="{FF2B5EF4-FFF2-40B4-BE49-F238E27FC236}">
                <a16:creationId xmlns:a16="http://schemas.microsoft.com/office/drawing/2014/main" id="{DF38DC4C-08C7-89E5-FF85-2E3FE34A3FAE}"/>
              </a:ext>
            </a:extLst>
          </p:cNvPr>
          <p:cNvPicPr>
            <a:picLocks noChangeAspect="1"/>
          </p:cNvPicPr>
          <p:nvPr/>
        </p:nvPicPr>
        <p:blipFill>
          <a:blip r:embed="rId3"/>
          <a:srcRect l="7749" t="5154" r="5975" b="18121"/>
          <a:stretch>
            <a:fillRect/>
          </a:stretch>
        </p:blipFill>
        <p:spPr>
          <a:xfrm>
            <a:off x="2970275" y="2386584"/>
            <a:ext cx="6869287" cy="4219416"/>
          </a:xfrm>
          <a:prstGeom prst="rect">
            <a:avLst/>
          </a:prstGeom>
          <a:effectLst/>
        </p:spPr>
      </p:pic>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57666E52-8F66-5501-C6C1-574BA4FBB516}"/>
              </a:ext>
              <a:ext uri="{C183D7F6-B498-43B3-948B-1728B52AA6E4}">
                <adec:decorative xmlns:adec="http://schemas.microsoft.com/office/drawing/2017/decorative" val="1"/>
              </a:ext>
            </a:extLst>
          </p:cNvPr>
          <p:cNvSpPr txBox="1"/>
          <p:nvPr/>
        </p:nvSpPr>
        <p:spPr>
          <a:xfrm>
            <a:off x="2352438" y="2543146"/>
            <a:ext cx="583856" cy="769441"/>
          </a:xfrm>
          <a:prstGeom prst="rect">
            <a:avLst/>
          </a:prstGeom>
          <a:noFill/>
        </p:spPr>
        <p:txBody>
          <a:bodyPr wrap="square">
            <a:spAutoFit/>
          </a:bodyPr>
          <a:lstStyle/>
          <a:p>
            <a:r>
              <a:rPr lang="en-AU" sz="4400" b="1" dirty="0"/>
              <a:t>A</a:t>
            </a:r>
          </a:p>
        </p:txBody>
      </p:sp>
      <p:sp>
        <p:nvSpPr>
          <p:cNvPr id="9" name="TextBox 8">
            <a:extLst>
              <a:ext uri="{FF2B5EF4-FFF2-40B4-BE49-F238E27FC236}">
                <a16:creationId xmlns:a16="http://schemas.microsoft.com/office/drawing/2014/main" id="{183799A7-7131-B959-B3B0-05CAD3343C8E}"/>
              </a:ext>
              <a:ext uri="{C183D7F6-B498-43B3-948B-1728B52AA6E4}">
                <adec:decorative xmlns:adec="http://schemas.microsoft.com/office/drawing/2017/decorative" val="1"/>
              </a:ext>
            </a:extLst>
          </p:cNvPr>
          <p:cNvSpPr txBox="1"/>
          <p:nvPr/>
        </p:nvSpPr>
        <p:spPr>
          <a:xfrm>
            <a:off x="7138622" y="3801237"/>
            <a:ext cx="583856" cy="769441"/>
          </a:xfrm>
          <a:prstGeom prst="rect">
            <a:avLst/>
          </a:prstGeom>
          <a:noFill/>
        </p:spPr>
        <p:txBody>
          <a:bodyPr wrap="square">
            <a:spAutoFit/>
          </a:bodyPr>
          <a:lstStyle/>
          <a:p>
            <a:r>
              <a:rPr lang="en-AU" sz="4400" b="1" dirty="0"/>
              <a:t>B</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2588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2801F12-8DAA-C2C1-DA7F-A77D38FD0499}"/>
              </a:ext>
            </a:extLst>
          </p:cNvPr>
          <p:cNvSpPr txBox="1"/>
          <p:nvPr/>
        </p:nvSpPr>
        <p:spPr>
          <a:xfrm>
            <a:off x="513643" y="1320730"/>
            <a:ext cx="11164713" cy="4216539"/>
          </a:xfrm>
          <a:prstGeom prst="rect">
            <a:avLst/>
          </a:prstGeom>
          <a:noFill/>
        </p:spPr>
        <p:txBody>
          <a:bodyPr wrap="square" lIns="0" tIns="0" rIns="0" bIns="0" rtlCol="0" anchor="t">
            <a:spAutoFit/>
          </a:bodyPr>
          <a:lstStyle/>
          <a:p>
            <a:pPr>
              <a:lnSpc>
                <a:spcPct val="150000"/>
              </a:lnSpc>
              <a:spcBef>
                <a:spcPts val="1200"/>
              </a:spcBef>
              <a:spcAft>
                <a:spcPts val="600"/>
              </a:spcAft>
            </a:pPr>
            <a:r>
              <a:rPr lang="en-AU" sz="3200" dirty="0"/>
              <a:t>Farmer Taran plants a garden bed with carrots in </a:t>
            </a:r>
          </a:p>
          <a:p>
            <a:pPr>
              <a:lnSpc>
                <a:spcPct val="150000"/>
              </a:lnSpc>
              <a:spcBef>
                <a:spcPts val="1200"/>
              </a:spcBef>
              <a:spcAft>
                <a:spcPts val="600"/>
              </a:spcAft>
            </a:pPr>
            <a:r>
              <a:rPr lang="en-AU" sz="3200" b="1" dirty="0"/>
              <a:t>12 rows of 7 </a:t>
            </a:r>
            <a:r>
              <a:rPr lang="en-AU" sz="3200" dirty="0"/>
              <a:t>seedlings each.</a:t>
            </a:r>
            <a:endParaRPr lang="en-AU" sz="3200" dirty="0">
              <a:cs typeface="Arial"/>
            </a:endParaRPr>
          </a:p>
          <a:p>
            <a:pPr>
              <a:lnSpc>
                <a:spcPct val="150000"/>
              </a:lnSpc>
              <a:spcBef>
                <a:spcPts val="1200"/>
              </a:spcBef>
              <a:spcAft>
                <a:spcPts val="600"/>
              </a:spcAft>
            </a:pPr>
            <a:endParaRPr lang="en-AU" sz="3200" dirty="0">
              <a:cs typeface="Arial"/>
            </a:endParaRPr>
          </a:p>
          <a:p>
            <a:pPr>
              <a:lnSpc>
                <a:spcPct val="150000"/>
              </a:lnSpc>
              <a:spcBef>
                <a:spcPts val="1200"/>
              </a:spcBef>
              <a:spcAft>
                <a:spcPts val="600"/>
              </a:spcAft>
            </a:pPr>
            <a:r>
              <a:rPr lang="en-AU" sz="3200" dirty="0"/>
              <a:t>Record the problem as a </a:t>
            </a:r>
            <a:r>
              <a:rPr lang="en-AU" sz="3200" b="1" dirty="0"/>
              <a:t>number sentence </a:t>
            </a:r>
            <a:r>
              <a:rPr lang="en-AU" sz="3200" dirty="0"/>
              <a:t>and </a:t>
            </a:r>
            <a:r>
              <a:rPr lang="en-AU" sz="3200" b="1" dirty="0"/>
              <a:t>solve it</a:t>
            </a:r>
            <a:r>
              <a:rPr lang="en-AU" sz="3200" dirty="0"/>
              <a:t>.</a:t>
            </a:r>
          </a:p>
          <a:p>
            <a:r>
              <a:rPr lang="en-AU" sz="3200" dirty="0"/>
              <a:t> </a:t>
            </a:r>
          </a:p>
        </p:txBody>
      </p:sp>
      <p:pic>
        <p:nvPicPr>
          <p:cNvPr id="8" name="Picture 7" descr="Image of  7 carrots in a row.">
            <a:extLst>
              <a:ext uri="{FF2B5EF4-FFF2-40B4-BE49-F238E27FC236}">
                <a16:creationId xmlns:a16="http://schemas.microsoft.com/office/drawing/2014/main" id="{62EB7980-453F-C9A3-A18E-74BE67FF23E8}"/>
              </a:ext>
            </a:extLst>
          </p:cNvPr>
          <p:cNvPicPr>
            <a:picLocks noChangeAspect="1"/>
          </p:cNvPicPr>
          <p:nvPr/>
        </p:nvPicPr>
        <p:blipFill>
          <a:blip r:embed="rId4"/>
          <a:srcRect l="9453" t="5502" r="63742" b="86328"/>
          <a:stretch>
            <a:fillRect/>
          </a:stretch>
        </p:blipFill>
        <p:spPr>
          <a:xfrm>
            <a:off x="5926203" y="2581125"/>
            <a:ext cx="5197797" cy="1120140"/>
          </a:xfrm>
          <a:prstGeom prst="rect">
            <a:avLst/>
          </a:prstGeom>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B3B92DB8-09DA-9989-D804-C9013B400223}"/>
              </a:ext>
            </a:extLst>
          </p:cNvPr>
          <p:cNvSpPr txBox="1"/>
          <p:nvPr/>
        </p:nvSpPr>
        <p:spPr>
          <a:xfrm>
            <a:off x="1426366" y="1057119"/>
            <a:ext cx="9697634" cy="3018622"/>
          </a:xfrm>
          <a:prstGeom prst="rect">
            <a:avLst/>
          </a:prstGeom>
          <a:noFill/>
        </p:spPr>
        <p:txBody>
          <a:bodyPr wrap="square" lIns="0" tIns="0" rIns="0" bIns="0" rtlCol="0">
            <a:noAutofit/>
          </a:bodyPr>
          <a:lstStyle/>
          <a:p>
            <a:pPr algn="ctr">
              <a:lnSpc>
                <a:spcPct val="150000"/>
              </a:lnSpc>
            </a:pPr>
            <a:r>
              <a:rPr lang="en-AU" sz="4000" dirty="0"/>
              <a:t>I want to </a:t>
            </a:r>
            <a:r>
              <a:rPr lang="en-AU" sz="4000" b="1" dirty="0"/>
              <a:t>survey 60 </a:t>
            </a:r>
            <a:r>
              <a:rPr lang="en-AU" sz="4000" dirty="0"/>
              <a:t>Stage 2 students </a:t>
            </a:r>
            <a:r>
              <a:rPr lang="en-AU" sz="4000" b="1" dirty="0"/>
              <a:t>to find out </a:t>
            </a:r>
            <a:r>
              <a:rPr lang="en-AU" sz="4000" dirty="0"/>
              <a:t>what their favourite playground games are. What is the </a:t>
            </a:r>
            <a:r>
              <a:rPr lang="en-AU" sz="4000" b="1" dirty="0"/>
              <a:t>most efficient method </a:t>
            </a:r>
            <a:r>
              <a:rPr lang="en-AU" sz="4000" dirty="0"/>
              <a:t>to </a:t>
            </a:r>
            <a:r>
              <a:rPr lang="en-AU" sz="4000" b="1" dirty="0"/>
              <a:t>collect </a:t>
            </a:r>
            <a:r>
              <a:rPr lang="en-AU" sz="4000" dirty="0"/>
              <a:t>and </a:t>
            </a:r>
            <a:r>
              <a:rPr lang="en-AU" sz="4000" b="1" dirty="0"/>
              <a:t>record </a:t>
            </a:r>
            <a:r>
              <a:rPr lang="en-AU" sz="4000" dirty="0"/>
              <a:t>this data? </a:t>
            </a:r>
          </a:p>
          <a:p>
            <a:pPr algn="l"/>
            <a:endParaRPr lang="en-AU" dirty="0"/>
          </a:p>
        </p:txBody>
      </p:sp>
      <p:sp>
        <p:nvSpPr>
          <p:cNvPr id="8" name="TextBox 7">
            <a:extLst>
              <a:ext uri="{FF2B5EF4-FFF2-40B4-BE49-F238E27FC236}">
                <a16:creationId xmlns:a16="http://schemas.microsoft.com/office/drawing/2014/main" id="{07039F0F-9721-13F9-8B45-EBF30138CA09}"/>
              </a:ext>
            </a:extLst>
          </p:cNvPr>
          <p:cNvSpPr txBox="1"/>
          <p:nvPr/>
        </p:nvSpPr>
        <p:spPr>
          <a:xfrm>
            <a:off x="2463188" y="5898114"/>
            <a:ext cx="7562161" cy="707886"/>
          </a:xfrm>
          <a:prstGeom prst="rect">
            <a:avLst/>
          </a:prstGeom>
          <a:noFill/>
        </p:spPr>
        <p:txBody>
          <a:bodyPr wrap="square">
            <a:spAutoFit/>
          </a:bodyPr>
          <a:lstStyle/>
          <a:p>
            <a:pPr algn="ctr"/>
            <a:r>
              <a:rPr lang="en-AU" sz="4000" b="1"/>
              <a:t>Communicate </a:t>
            </a:r>
            <a:r>
              <a:rPr lang="en-AU" sz="4000"/>
              <a:t>your </a:t>
            </a:r>
            <a:r>
              <a:rPr lang="en-AU" sz="4000" b="1"/>
              <a:t>reasoning</a:t>
            </a:r>
            <a:r>
              <a:rPr lang="en-AU" sz="4000"/>
              <a:t>.</a:t>
            </a:r>
          </a:p>
        </p:txBody>
      </p:sp>
      <p:pic>
        <p:nvPicPr>
          <p:cNvPr id="7" name="Picture 6" descr="Collection of four simple data collection methods : a tally chart, a bar graph with five coloured bars in red, yellow, and blue, a pie chart divided into three segments and a clipboard with a table labelled &quot;Name&quot; and &quot;Favourite game&quot;.">
            <a:extLst>
              <a:ext uri="{FF2B5EF4-FFF2-40B4-BE49-F238E27FC236}">
                <a16:creationId xmlns:a16="http://schemas.microsoft.com/office/drawing/2014/main" id="{458E2BDB-87FE-ECED-647B-A9389CAE2EF1}"/>
              </a:ext>
            </a:extLst>
          </p:cNvPr>
          <p:cNvPicPr>
            <a:picLocks noChangeAspect="1"/>
          </p:cNvPicPr>
          <p:nvPr/>
        </p:nvPicPr>
        <p:blipFill>
          <a:blip r:embed="rId4"/>
          <a:srcRect l="13909" t="915" r="15362" b="2391"/>
          <a:stretch>
            <a:fillRect/>
          </a:stretch>
        </p:blipFill>
        <p:spPr>
          <a:xfrm>
            <a:off x="363672" y="4710621"/>
            <a:ext cx="1960887" cy="1895379"/>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doubling and halving</a:t>
            </a:r>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FBE3A525-7560-CB19-FAE8-94AA916DEEAE}"/>
              </a:ext>
            </a:extLst>
          </p:cNvPr>
          <p:cNvSpPr txBox="1"/>
          <p:nvPr/>
        </p:nvSpPr>
        <p:spPr>
          <a:xfrm>
            <a:off x="494203" y="1018859"/>
            <a:ext cx="10612800" cy="5133270"/>
          </a:xfrm>
          <a:prstGeom prst="rect">
            <a:avLst/>
          </a:prstGeom>
          <a:noFill/>
        </p:spPr>
        <p:txBody>
          <a:bodyPr wrap="square" lIns="0" tIns="0" rIns="0" bIns="0" rtlCol="0">
            <a:noAutofit/>
          </a:bodyPr>
          <a:lstStyle/>
          <a:p>
            <a:pPr algn="l">
              <a:lnSpc>
                <a:spcPct val="150000"/>
              </a:lnSpc>
              <a:spcBef>
                <a:spcPts val="600"/>
              </a:spcBef>
            </a:pPr>
            <a:r>
              <a:rPr lang="en-AU" sz="2200" dirty="0"/>
              <a:t>1.  Each student takes turns to spin the spinner and multiply the number picked by 2 to model ‘doubling’. </a:t>
            </a:r>
          </a:p>
          <a:p>
            <a:pPr marL="342900" indent="-342900" algn="l">
              <a:lnSpc>
                <a:spcPct val="150000"/>
              </a:lnSpc>
              <a:spcBef>
                <a:spcPts val="600"/>
              </a:spcBef>
              <a:buAutoNum type="arabicPeriod" startAt="2"/>
            </a:pPr>
            <a:r>
              <a:rPr lang="en-AU" sz="2200" dirty="0"/>
              <a:t>Both students record the solutions in the following ways. For example, if the spinner lands on 6, </a:t>
            </a:r>
          </a:p>
          <a:p>
            <a:pPr algn="l">
              <a:lnSpc>
                <a:spcPct val="150000"/>
              </a:lnSpc>
              <a:spcBef>
                <a:spcPts val="600"/>
              </a:spcBef>
            </a:pPr>
            <a:r>
              <a:rPr lang="en-AU" sz="2200" dirty="0"/>
              <a:t>     record as:</a:t>
            </a:r>
          </a:p>
          <a:p>
            <a:pPr marL="285750" indent="-285750">
              <a:lnSpc>
                <a:spcPct val="150000"/>
              </a:lnSpc>
              <a:spcBef>
                <a:spcPts val="600"/>
              </a:spcBef>
              <a:buFont typeface="Arial" panose="020B0604020202020204" pitchFamily="34" charset="0"/>
              <a:buChar char="•"/>
            </a:pPr>
            <a:r>
              <a:rPr lang="en-AU" sz="2200" dirty="0"/>
              <a:t> multiplication sentences (6 × 2 = 12, 2 × 6 = 12)</a:t>
            </a:r>
          </a:p>
          <a:p>
            <a:pPr marL="285750" indent="-285750" algn="l">
              <a:lnSpc>
                <a:spcPct val="150000"/>
              </a:lnSpc>
              <a:spcBef>
                <a:spcPts val="600"/>
              </a:spcBef>
              <a:buFont typeface="Arial" panose="020B0604020202020204" pitchFamily="34" charset="0"/>
              <a:buChar char="•"/>
            </a:pPr>
            <a:r>
              <a:rPr lang="en-AU" sz="2200" dirty="0"/>
              <a:t> groups (6 twos equal 12)</a:t>
            </a:r>
          </a:p>
          <a:p>
            <a:pPr marL="285750" indent="-285750" algn="l">
              <a:lnSpc>
                <a:spcPct val="150000"/>
              </a:lnSpc>
              <a:spcBef>
                <a:spcPts val="600"/>
              </a:spcBef>
              <a:buFont typeface="Arial" panose="020B0604020202020204" pitchFamily="34" charset="0"/>
              <a:buChar char="•"/>
            </a:pPr>
            <a:r>
              <a:rPr lang="en-AU" sz="2200" dirty="0"/>
              <a:t> an array (by colouring 6 rows of 2 on the grid paper or modelling with counters)</a:t>
            </a:r>
          </a:p>
          <a:p>
            <a:pPr marL="342900" indent="-342900" algn="l">
              <a:lnSpc>
                <a:spcPct val="150000"/>
              </a:lnSpc>
              <a:spcBef>
                <a:spcPts val="600"/>
              </a:spcBef>
              <a:buAutoNum type="arabicPeriod" startAt="3"/>
            </a:pPr>
            <a:r>
              <a:rPr lang="en-AU" sz="2200" dirty="0"/>
              <a:t>Play continues until each partner has two turns.</a:t>
            </a:r>
          </a:p>
          <a:p>
            <a:pPr marL="342900" indent="-342900" algn="l">
              <a:lnSpc>
                <a:spcPct val="150000"/>
              </a:lnSpc>
              <a:spcBef>
                <a:spcPts val="600"/>
              </a:spcBef>
              <a:buAutoNum type="arabicPeriod" startAt="3"/>
            </a:pPr>
            <a:r>
              <a:rPr lang="en-AU" sz="2200" dirty="0"/>
              <a:t>Repeat the game, this time dividing the number rolled by 2 to show division.</a:t>
            </a:r>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360001" y="2059597"/>
            <a:ext cx="11243037" cy="893226"/>
          </a:xfrm>
        </p:spPr>
        <p:txBody>
          <a:bodyPr/>
          <a:lstStyle/>
          <a:p>
            <a:pPr algn="ctr"/>
            <a:r>
              <a:rPr lang="en-AU" sz="4400" dirty="0"/>
              <a:t>Double 20 = 20 x 2</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3753666752"/>
              </p:ext>
            </p:extLst>
          </p:nvPr>
        </p:nvGraphicFramePr>
        <p:xfrm>
          <a:off x="2557462" y="4798403"/>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endParaRPr lang="en-US" sz="4400" b="1" kern="1200" dirty="0">
                        <a:solidFill>
                          <a:srgbClr val="146CFD"/>
                        </a:solidFill>
                        <a:latin typeface="+mn-lt"/>
                        <a:ea typeface="+mn-ea"/>
                        <a:cs typeface="Arial"/>
                      </a:endParaRP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endParaRPr lang="en-US" sz="4400" b="1" kern="1200" dirty="0">
                        <a:solidFill>
                          <a:srgbClr val="146CFD"/>
                        </a:solidFill>
                        <a:latin typeface="+mn-lt"/>
                        <a:ea typeface="+mn-ea"/>
                        <a:cs typeface="Arial"/>
                      </a:endParaRP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74309BE7-748E-544A-4D15-648DB45A453A}"/>
              </a:ext>
            </a:extLst>
          </p:cNvPr>
          <p:cNvSpPr txBox="1"/>
          <p:nvPr/>
        </p:nvSpPr>
        <p:spPr>
          <a:xfrm>
            <a:off x="451691" y="1253168"/>
            <a:ext cx="11270255" cy="5119279"/>
          </a:xfrm>
          <a:prstGeom prst="rect">
            <a:avLst/>
          </a:prstGeom>
          <a:noFill/>
        </p:spPr>
        <p:txBody>
          <a:bodyPr wrap="square" lIns="0" tIns="0" rIns="0" bIns="0" rtlCol="0">
            <a:noAutofit/>
          </a:bodyPr>
          <a:lstStyle/>
          <a:p>
            <a:pPr algn="ctr">
              <a:lnSpc>
                <a:spcPct val="150000"/>
              </a:lnSpc>
            </a:pPr>
            <a:r>
              <a:rPr lang="en-AU" sz="4400" dirty="0"/>
              <a:t>I have </a:t>
            </a:r>
            <a:r>
              <a:rPr lang="en-AU" sz="4400" b="1" dirty="0"/>
              <a:t>$10 to spend</a:t>
            </a:r>
            <a:r>
              <a:rPr lang="en-AU" sz="4400" dirty="0"/>
              <a:t>. I buy a chocolate bar for </a:t>
            </a:r>
            <a:r>
              <a:rPr lang="en-AU" sz="4400" b="1" dirty="0"/>
              <a:t>$2.50</a:t>
            </a:r>
            <a:r>
              <a:rPr lang="en-AU" sz="4400" dirty="0"/>
              <a:t>, a fruit bowl for </a:t>
            </a:r>
            <a:r>
              <a:rPr lang="en-AU" sz="4400" b="1" dirty="0"/>
              <a:t>$5.25 </a:t>
            </a:r>
            <a:r>
              <a:rPr lang="en-AU" sz="4400" dirty="0"/>
              <a:t>and</a:t>
            </a:r>
          </a:p>
          <a:p>
            <a:pPr algn="ctr">
              <a:lnSpc>
                <a:spcPct val="150000"/>
              </a:lnSpc>
            </a:pPr>
            <a:r>
              <a:rPr lang="en-AU" sz="4400" dirty="0"/>
              <a:t>a drink for </a:t>
            </a:r>
            <a:r>
              <a:rPr lang="en-AU" sz="4400" b="1" dirty="0"/>
              <a:t>$1.90</a:t>
            </a:r>
            <a:r>
              <a:rPr lang="en-AU" sz="4400" dirty="0"/>
              <a:t>. </a:t>
            </a:r>
          </a:p>
          <a:p>
            <a:pPr algn="ctr">
              <a:lnSpc>
                <a:spcPct val="150000"/>
              </a:lnSpc>
            </a:pPr>
            <a:r>
              <a:rPr lang="en-AU" sz="4400" dirty="0"/>
              <a:t>Do I </a:t>
            </a:r>
            <a:r>
              <a:rPr lang="en-AU" sz="4400" b="1" dirty="0"/>
              <a:t>have enough money </a:t>
            </a:r>
            <a:r>
              <a:rPr lang="en-AU" sz="4400" dirty="0"/>
              <a:t>to also buy a packet of chips for </a:t>
            </a:r>
            <a:r>
              <a:rPr lang="en-AU" sz="4400" b="1" dirty="0"/>
              <a:t>$2</a:t>
            </a:r>
            <a:r>
              <a:rPr lang="en-AU" sz="4400" dirty="0"/>
              <a:t>?</a:t>
            </a:r>
          </a:p>
          <a:p>
            <a:pPr algn="l"/>
            <a:endParaRPr lang="en-AU" sz="1800" dirty="0"/>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25</a:t>
            </a:fld>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C2BFC8B3-9FFA-D345-FCDE-5533C9C2CDC6}"/>
              </a:ext>
            </a:extLst>
          </p:cNvPr>
          <p:cNvSpPr txBox="1"/>
          <p:nvPr/>
        </p:nvSpPr>
        <p:spPr>
          <a:xfrm>
            <a:off x="739460" y="1109522"/>
            <a:ext cx="10768799" cy="3618997"/>
          </a:xfrm>
          <a:prstGeom prst="rect">
            <a:avLst/>
          </a:prstGeom>
          <a:noFill/>
        </p:spPr>
        <p:txBody>
          <a:bodyPr wrap="square" lIns="0" tIns="0" rIns="0" bIns="0" rtlCol="0">
            <a:noAutofit/>
          </a:bodyPr>
          <a:lstStyle/>
          <a:p>
            <a:pPr>
              <a:lnSpc>
                <a:spcPct val="150000"/>
              </a:lnSpc>
            </a:pPr>
            <a:r>
              <a:rPr lang="en-AU" sz="3600" dirty="0"/>
              <a:t>In a bean bag throwing competition, Tegan completed </a:t>
            </a:r>
            <a:r>
              <a:rPr lang="en-AU" sz="3600" b="1" dirty="0"/>
              <a:t>3 throws. Convert </a:t>
            </a:r>
            <a:r>
              <a:rPr lang="en-AU" sz="3600" dirty="0"/>
              <a:t>these measurements to </a:t>
            </a:r>
            <a:r>
              <a:rPr lang="en-AU" sz="3600" b="1" dirty="0"/>
              <a:t>metres: </a:t>
            </a:r>
          </a:p>
          <a:p>
            <a:pPr marL="742950" indent="-742950">
              <a:lnSpc>
                <a:spcPct val="150000"/>
              </a:lnSpc>
              <a:buFont typeface="+mj-lt"/>
              <a:buAutoNum type="alphaLcParenR"/>
            </a:pPr>
            <a:r>
              <a:rPr lang="en-AU" sz="3600" dirty="0"/>
              <a:t>265 centimetres </a:t>
            </a:r>
          </a:p>
          <a:p>
            <a:pPr marL="742950" indent="-742950">
              <a:lnSpc>
                <a:spcPct val="150000"/>
              </a:lnSpc>
              <a:buFont typeface="+mj-lt"/>
              <a:buAutoNum type="alphaLcParenR"/>
            </a:pPr>
            <a:r>
              <a:rPr lang="en-AU" sz="3600" dirty="0"/>
              <a:t>280 centimetres </a:t>
            </a:r>
          </a:p>
          <a:p>
            <a:pPr marL="742950" indent="-742950">
              <a:lnSpc>
                <a:spcPct val="150000"/>
              </a:lnSpc>
              <a:buFont typeface="+mj-lt"/>
              <a:buAutoNum type="alphaLcParenR"/>
            </a:pPr>
            <a:r>
              <a:rPr lang="en-AU" sz="3600" dirty="0"/>
              <a:t>190 centimetres</a:t>
            </a:r>
          </a:p>
        </p:txBody>
      </p:sp>
      <p:pic>
        <p:nvPicPr>
          <p:cNvPr id="7" name="Picture 6">
            <a:extLst>
              <a:ext uri="{FF2B5EF4-FFF2-40B4-BE49-F238E27FC236}">
                <a16:creationId xmlns:a16="http://schemas.microsoft.com/office/drawing/2014/main" id="{EC250475-A35F-69F6-46CD-521753FF9B73}"/>
              </a:ext>
              <a:ext uri="{C183D7F6-B498-43B3-948B-1728B52AA6E4}">
                <adec:decorative xmlns:adec="http://schemas.microsoft.com/office/drawing/2017/decorative" val="1"/>
              </a:ext>
            </a:extLst>
          </p:cNvPr>
          <p:cNvPicPr>
            <a:picLocks noChangeAspect="1"/>
          </p:cNvPicPr>
          <p:nvPr/>
        </p:nvPicPr>
        <p:blipFill>
          <a:blip r:embed="rId4"/>
          <a:srcRect l="24321" t="34973" r="29084" b="35519"/>
          <a:stretch>
            <a:fillRect/>
          </a:stretch>
        </p:blipFill>
        <p:spPr>
          <a:xfrm>
            <a:off x="6880848" y="3429000"/>
            <a:ext cx="4078396" cy="1826148"/>
          </a:xfrm>
          <a:prstGeom prst="rect">
            <a:avLst/>
          </a:prstGeom>
          <a:effectLst/>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4" name="TextBox 3">
            <a:extLst>
              <a:ext uri="{FF2B5EF4-FFF2-40B4-BE49-F238E27FC236}">
                <a16:creationId xmlns:a16="http://schemas.microsoft.com/office/drawing/2014/main" id="{109D5CB7-0890-B168-7AF5-50BEAFE60F6D}"/>
              </a:ext>
            </a:extLst>
          </p:cNvPr>
          <p:cNvSpPr txBox="1"/>
          <p:nvPr/>
        </p:nvSpPr>
        <p:spPr>
          <a:xfrm>
            <a:off x="360000" y="1225627"/>
            <a:ext cx="11484000" cy="4406746"/>
          </a:xfrm>
          <a:prstGeom prst="rect">
            <a:avLst/>
          </a:prstGeom>
          <a:noFill/>
        </p:spPr>
        <p:txBody>
          <a:bodyPr wrap="square" lIns="0" tIns="0" rIns="0" bIns="0" rtlCol="0">
            <a:noAutofit/>
          </a:bodyPr>
          <a:lstStyle/>
          <a:p>
            <a:pPr algn="ctr">
              <a:lnSpc>
                <a:spcPct val="150000"/>
              </a:lnSpc>
            </a:pPr>
            <a:r>
              <a:rPr lang="en-US" sz="4400" dirty="0">
                <a:cs typeface="Arial"/>
              </a:rPr>
              <a:t>There are </a:t>
            </a:r>
            <a:r>
              <a:rPr lang="en-US" sz="4400" b="1" dirty="0">
                <a:cs typeface="Arial"/>
              </a:rPr>
              <a:t>20 rows with 8 seats per row </a:t>
            </a:r>
            <a:r>
              <a:rPr lang="en-US" sz="4400" dirty="0">
                <a:cs typeface="Arial"/>
              </a:rPr>
              <a:t>in a</a:t>
            </a:r>
          </a:p>
          <a:p>
            <a:pPr algn="ctr">
              <a:lnSpc>
                <a:spcPct val="150000"/>
              </a:lnSpc>
            </a:pPr>
            <a:r>
              <a:rPr lang="en-US" sz="4400" dirty="0">
                <a:cs typeface="Arial"/>
              </a:rPr>
              <a:t>movie theatre. </a:t>
            </a:r>
          </a:p>
          <a:p>
            <a:pPr algn="ctr">
              <a:lnSpc>
                <a:spcPct val="150000"/>
              </a:lnSpc>
            </a:pPr>
            <a:r>
              <a:rPr lang="en-US" sz="4400" dirty="0">
                <a:cs typeface="Arial"/>
              </a:rPr>
              <a:t>Complete the related number sentences:</a:t>
            </a:r>
          </a:p>
          <a:p>
            <a:pPr algn="ctr">
              <a:lnSpc>
                <a:spcPct val="150000"/>
              </a:lnSpc>
            </a:pPr>
            <a:r>
              <a:rPr lang="en-US" sz="4400" dirty="0">
                <a:cs typeface="Arial"/>
              </a:rPr>
              <a:t>20 x 8 = </a:t>
            </a:r>
          </a:p>
          <a:p>
            <a:pPr algn="ctr">
              <a:lnSpc>
                <a:spcPct val="150000"/>
              </a:lnSpc>
            </a:pPr>
            <a:r>
              <a:rPr lang="en-US" sz="4400" dirty="0">
                <a:cs typeface="Arial"/>
              </a:rPr>
              <a:t>          ÷    = 20</a:t>
            </a:r>
          </a:p>
          <a:p>
            <a:pPr algn="l"/>
            <a:endParaRPr lang="en-AU" sz="3600" dirty="0"/>
          </a:p>
        </p:txBody>
      </p:sp>
      <p:sp>
        <p:nvSpPr>
          <p:cNvPr id="5" name="Rectangle 4">
            <a:extLst>
              <a:ext uri="{FF2B5EF4-FFF2-40B4-BE49-F238E27FC236}">
                <a16:creationId xmlns:a16="http://schemas.microsoft.com/office/drawing/2014/main" id="{6BB2CB31-8C3C-18F9-FEA3-61ADB4826660}"/>
              </a:ext>
            </a:extLst>
          </p:cNvPr>
          <p:cNvSpPr/>
          <p:nvPr/>
        </p:nvSpPr>
        <p:spPr>
          <a:xfrm>
            <a:off x="7160581" y="4454269"/>
            <a:ext cx="620973" cy="593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pic>
        <p:nvPicPr>
          <p:cNvPr id="8" name="Picture 7">
            <a:extLst>
              <a:ext uri="{FF2B5EF4-FFF2-40B4-BE49-F238E27FC236}">
                <a16:creationId xmlns:a16="http://schemas.microsoft.com/office/drawing/2014/main" id="{6D29F022-7A52-9049-06B7-250DB65ABC8C}"/>
              </a:ext>
            </a:extLst>
          </p:cNvPr>
          <p:cNvPicPr>
            <a:picLocks noChangeAspect="1"/>
          </p:cNvPicPr>
          <p:nvPr/>
        </p:nvPicPr>
        <p:blipFill>
          <a:blip r:embed="rId4"/>
          <a:stretch>
            <a:fillRect/>
          </a:stretch>
        </p:blipFill>
        <p:spPr>
          <a:xfrm>
            <a:off x="5182009" y="5549272"/>
            <a:ext cx="545909" cy="524913"/>
          </a:xfrm>
          <a:prstGeom prst="rect">
            <a:avLst/>
          </a:prstGeom>
        </p:spPr>
      </p:pic>
      <p:sp>
        <p:nvSpPr>
          <p:cNvPr id="9" name="Isosceles Triangle 8">
            <a:extLst>
              <a:ext uri="{FF2B5EF4-FFF2-40B4-BE49-F238E27FC236}">
                <a16:creationId xmlns:a16="http://schemas.microsoft.com/office/drawing/2014/main" id="{0E412719-AEFD-ECFC-7B9D-2F33F72BF1F8}"/>
              </a:ext>
            </a:extLst>
          </p:cNvPr>
          <p:cNvSpPr/>
          <p:nvPr/>
        </p:nvSpPr>
        <p:spPr>
          <a:xfrm>
            <a:off x="6201796" y="5549273"/>
            <a:ext cx="495869" cy="524913"/>
          </a:xfrm>
          <a:prstGeom prst="triangle">
            <a:avLst>
              <a:gd name="adj" fmla="val 5262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DD2263B-759B-2762-331C-9446A841F653}"/>
              </a:ext>
            </a:extLst>
          </p:cNvPr>
          <p:cNvSpPr txBox="1"/>
          <p:nvPr/>
        </p:nvSpPr>
        <p:spPr>
          <a:xfrm>
            <a:off x="360000" y="1096200"/>
            <a:ext cx="11677035" cy="1824421"/>
          </a:xfrm>
          <a:prstGeom prst="rect">
            <a:avLst/>
          </a:prstGeom>
          <a:noFill/>
        </p:spPr>
        <p:txBody>
          <a:bodyPr wrap="none" lIns="0" tIns="0" rIns="0" bIns="0" rtlCol="0">
            <a:noAutofit/>
          </a:bodyPr>
          <a:lstStyle/>
          <a:p>
            <a:pPr algn="ctr">
              <a:lnSpc>
                <a:spcPct val="150000"/>
              </a:lnSpc>
            </a:pPr>
            <a:r>
              <a:rPr lang="en-AU" sz="2800"/>
              <a:t>Sir </a:t>
            </a:r>
            <a:r>
              <a:rPr lang="en-AU" sz="2800" err="1"/>
              <a:t>Taxalot</a:t>
            </a:r>
            <a:r>
              <a:rPr lang="en-AU" sz="2800"/>
              <a:t> is travelling to 3 small villages to collect money for the king. </a:t>
            </a:r>
          </a:p>
          <a:p>
            <a:pPr algn="ctr">
              <a:lnSpc>
                <a:spcPct val="150000"/>
              </a:lnSpc>
            </a:pPr>
            <a:r>
              <a:rPr lang="en-AU" sz="2800"/>
              <a:t>The chart shows </a:t>
            </a:r>
            <a:r>
              <a:rPr lang="en-AU" sz="2800" b="1"/>
              <a:t>how many people </a:t>
            </a:r>
            <a:r>
              <a:rPr lang="en-AU" sz="2800"/>
              <a:t>have paid the tax.</a:t>
            </a:r>
          </a:p>
          <a:p>
            <a:pPr algn="ctr">
              <a:lnSpc>
                <a:spcPct val="150000"/>
              </a:lnSpc>
            </a:pPr>
            <a:r>
              <a:rPr lang="en-AU" sz="2800"/>
              <a:t>What is the </a:t>
            </a:r>
            <a:r>
              <a:rPr lang="en-AU" sz="2800" b="1"/>
              <a:t>total number </a:t>
            </a:r>
            <a:r>
              <a:rPr lang="en-AU" sz="2800"/>
              <a:t>of people visited?</a:t>
            </a:r>
          </a:p>
          <a:p>
            <a:pPr algn="ctr">
              <a:lnSpc>
                <a:spcPct val="150000"/>
              </a:lnSpc>
            </a:pPr>
            <a:r>
              <a:rPr lang="en-AU" sz="2800"/>
              <a:t> </a:t>
            </a:r>
          </a:p>
        </p:txBody>
      </p:sp>
      <p:pic>
        <p:nvPicPr>
          <p:cNvPr id="8" name="Picture 7" descr="Pictograph showing groups of people using colours: 7 red, 8 blue, and 9 purple figures arranged in three rows. A key at bottom left indicates each picture represents 10 people.">
            <a:extLst>
              <a:ext uri="{FF2B5EF4-FFF2-40B4-BE49-F238E27FC236}">
                <a16:creationId xmlns:a16="http://schemas.microsoft.com/office/drawing/2014/main" id="{F00764B9-E46C-C2EC-5929-E656783EA300}"/>
              </a:ext>
            </a:extLst>
          </p:cNvPr>
          <p:cNvPicPr>
            <a:picLocks noChangeAspect="1"/>
          </p:cNvPicPr>
          <p:nvPr/>
        </p:nvPicPr>
        <p:blipFill>
          <a:blip r:embed="rId4"/>
          <a:srcRect l="28520" t="13204" r="36234" b="32637"/>
          <a:stretch>
            <a:fillRect/>
          </a:stretch>
        </p:blipFill>
        <p:spPr>
          <a:xfrm>
            <a:off x="4541047" y="3317380"/>
            <a:ext cx="3109905" cy="3378620"/>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a:t>
            </a:r>
            <a:r>
              <a:rPr lang="en-AU" sz="3600">
                <a:effectLst/>
                <a:latin typeface="Arial" panose="020B0604020202020204" pitchFamily="34" charset="0"/>
                <a:ea typeface="Calibri" panose="020F0502020204030204" pitchFamily="34" charset="0"/>
              </a:rPr>
              <a:t>solving problems involving money</a:t>
            </a:r>
            <a:endParaRPr lang="en-AU"/>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A whiteboard showing six turns of a coin roll game, with columns labelled Turn, Roll, 5c, 10c, and 20c across the top. The table includes rows numbered 1 to 6 and a total row at the bottom.">
            <a:extLst>
              <a:ext uri="{FF2B5EF4-FFF2-40B4-BE49-F238E27FC236}">
                <a16:creationId xmlns:a16="http://schemas.microsoft.com/office/drawing/2014/main" id="{8FAE6E9C-37DE-D724-6C5D-60656DDA3FE9}"/>
              </a:ext>
            </a:extLst>
          </p:cNvPr>
          <p:cNvPicPr>
            <a:picLocks noChangeAspect="1"/>
          </p:cNvPicPr>
          <p:nvPr/>
        </p:nvPicPr>
        <p:blipFill>
          <a:blip r:embed="rId4"/>
          <a:srcRect l="9529" t="3322" r="9650" b="32416"/>
          <a:stretch>
            <a:fillRect/>
          </a:stretch>
        </p:blipFill>
        <p:spPr>
          <a:xfrm>
            <a:off x="1418427" y="1356073"/>
            <a:ext cx="8888168" cy="4996409"/>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30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31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a:t>
            </a:r>
            <a:r>
              <a:rPr lang="en-AU">
                <a:solidFill>
                  <a:schemeClr val="accent4"/>
                </a:solidFill>
                <a:latin typeface="+mj-lt"/>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pPr fontAlgn="base"/>
            <a:r>
              <a:rPr lang="en-AU" u="sng">
                <a:hlinkClick r:id="rId6"/>
              </a:rPr>
              <a:t>Mathematics K–10 Syllabus</a:t>
            </a:r>
            <a:r>
              <a:rPr lang="en-AU"/>
              <a:t> © NSW Education Standards Authority (NESA) for and on behalf of the Crown in right of the State of New South Wales, 2022. </a:t>
            </a:r>
          </a:p>
          <a:p>
            <a:pPr fontAlgn="base"/>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26 March 2026) and was not modified. </a:t>
            </a:r>
          </a:p>
          <a:p>
            <a:pPr fontAlgn="base"/>
            <a:r>
              <a:rPr lang="en-AU"/>
              <a:t>Australian Academy of Science (2022) ‘</a:t>
            </a:r>
            <a:r>
              <a:rPr lang="en-AU" u="sng">
                <a:hlinkClick r:id="rId9"/>
              </a:rPr>
              <a:t>Bar Model Method: Introduction</a:t>
            </a:r>
            <a:r>
              <a:rPr lang="en-AU"/>
              <a:t>’, </a:t>
            </a:r>
            <a:r>
              <a:rPr lang="en-AU" i="1"/>
              <a:t>Classic sequences for AC V8.4</a:t>
            </a:r>
            <a:r>
              <a:rPr lang="en-AU"/>
              <a:t>, </a:t>
            </a:r>
            <a:r>
              <a:rPr lang="en-AU" err="1"/>
              <a:t>reSolve</a:t>
            </a:r>
            <a:r>
              <a:rPr lang="en-AU"/>
              <a:t> website, accessed 26 March 2026. </a:t>
            </a:r>
          </a:p>
          <a:p>
            <a:pPr fontAlgn="base"/>
            <a:r>
              <a:rPr lang="en-AU"/>
              <a:t>Finkel D (2021) </a:t>
            </a:r>
            <a:r>
              <a:rPr lang="en-AU" i="1" u="sng">
                <a:hlinkClick r:id="rId10"/>
              </a:rPr>
              <a:t>Penny, Nickel, Dime</a:t>
            </a:r>
            <a:r>
              <a:rPr lang="en-AU"/>
              <a:t>, Math for Love website, accessed 26 March 2026. </a:t>
            </a:r>
          </a:p>
          <a:p>
            <a:pPr fontAlgn="base"/>
            <a:r>
              <a:rPr lang="en-AU"/>
              <a:t>NESA (New South Wales Education Standards Authority) (2022) ‘</a:t>
            </a:r>
            <a:r>
              <a:rPr lang="en-AU" u="sng">
                <a:hlinkClick r:id="rId11"/>
              </a:rPr>
              <a:t>Reasoning support in Mathematics K–6’</a:t>
            </a:r>
            <a:r>
              <a:rPr lang="en-AU"/>
              <a:t>, </a:t>
            </a:r>
            <a:r>
              <a:rPr lang="en-AU" i="1"/>
              <a:t>Mathematics K–10 Syllabus: Teaching and learning support</a:t>
            </a:r>
            <a:r>
              <a:rPr lang="en-AU"/>
              <a:t>, NESA website, accessed 26 March 2026.</a:t>
            </a:r>
          </a:p>
          <a:p>
            <a:pPr fontAlgn="base"/>
            <a:r>
              <a:rPr lang="en-AU"/>
              <a:t>State of New South Wales (Department of Education) (2023) </a:t>
            </a:r>
            <a:r>
              <a:rPr lang="en-AU" i="1" u="sng">
                <a:hlinkClick r:id="rId12"/>
              </a:rPr>
              <a:t>Flexible additive strategies – 3-digit numbers</a:t>
            </a:r>
            <a:r>
              <a:rPr lang="en-AU"/>
              <a:t>, NSW Department of Education website, accessed 26 March 2026. </a:t>
            </a:r>
          </a:p>
          <a:p>
            <a:endParaRPr lang="en-AU"/>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37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65E41-3533-7FBC-0633-0122EF6DBEC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699A1FD-9197-47FB-3AD7-CE4FCD8476CE}"/>
              </a:ext>
            </a:extLst>
          </p:cNvPr>
          <p:cNvSpPr>
            <a:spLocks noGrp="1"/>
          </p:cNvSpPr>
          <p:nvPr>
            <p:ph type="title"/>
          </p:nvPr>
        </p:nvSpPr>
        <p:spPr/>
        <p:txBody>
          <a:bodyPr/>
          <a:lstStyle/>
          <a:p>
            <a:r>
              <a:rPr lang="en-AU">
                <a:latin typeface="+mj-lt"/>
              </a:rPr>
              <a:t>References </a:t>
            </a:r>
            <a:r>
              <a:rPr lang="en-AU">
                <a:solidFill>
                  <a:schemeClr val="accent4"/>
                </a:solidFill>
                <a:latin typeface="+mj-lt"/>
              </a:rPr>
              <a:t>(2)</a:t>
            </a:r>
          </a:p>
        </p:txBody>
      </p:sp>
      <p:sp>
        <p:nvSpPr>
          <p:cNvPr id="6" name="TextBox 5">
            <a:extLst>
              <a:ext uri="{FF2B5EF4-FFF2-40B4-BE49-F238E27FC236}">
                <a16:creationId xmlns:a16="http://schemas.microsoft.com/office/drawing/2014/main" id="{D6D76B6B-8F3E-256F-7C3E-B015B1625DDF}"/>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58CB5B83-9F69-C4F5-BA40-932D4492E071}"/>
              </a:ext>
            </a:extLst>
          </p:cNvPr>
          <p:cNvSpPr>
            <a:spLocks noGrp="1"/>
          </p:cNvSpPr>
          <p:nvPr>
            <p:ph idx="1"/>
          </p:nvPr>
        </p:nvSpPr>
        <p:spPr/>
        <p:txBody>
          <a:bodyPr/>
          <a:lstStyle/>
          <a:p>
            <a:pPr fontAlgn="base"/>
            <a:r>
              <a:rPr lang="en-AU"/>
              <a:t>——(2026) ‘</a:t>
            </a:r>
            <a:r>
              <a:rPr lang="en-US" u="sng">
                <a:hlinkClick r:id="rId6"/>
              </a:rPr>
              <a:t>Let’s get magical</a:t>
            </a:r>
            <a:r>
              <a:rPr lang="en-AU"/>
              <a:t>’, </a:t>
            </a:r>
            <a:r>
              <a:rPr lang="en-AU" i="1"/>
              <a:t>Thinking mathematically resources</a:t>
            </a:r>
            <a:r>
              <a:rPr lang="en-AU"/>
              <a:t>, NSW Department of Education website, accessed 26 March 2026. </a:t>
            </a:r>
          </a:p>
          <a:p>
            <a:pPr fontAlgn="base"/>
            <a:r>
              <a:rPr lang="en-AU"/>
              <a:t>University of Cambridge (n.d.) </a:t>
            </a:r>
            <a:r>
              <a:rPr lang="en-AU" i="1" u="sng">
                <a:hlinkClick r:id="rId7"/>
              </a:rPr>
              <a:t>Pocket Money</a:t>
            </a:r>
            <a:r>
              <a:rPr lang="en-AU"/>
              <a:t>, NRICH website, accessed 26 March 2026. </a:t>
            </a:r>
          </a:p>
          <a:p>
            <a:pPr fontAlgn="base"/>
            <a:r>
              <a:rPr lang="en-AU"/>
              <a:t>——(n.d.) </a:t>
            </a:r>
            <a:r>
              <a:rPr lang="en-AU" i="1" u="sng">
                <a:hlinkClick r:id="rId8"/>
              </a:rPr>
              <a:t>Subtraction Surprise</a:t>
            </a:r>
            <a:r>
              <a:rPr lang="en-AU"/>
              <a:t>, NRICH website, accessed 26 March 2026. </a:t>
            </a:r>
          </a:p>
          <a:p>
            <a:pPr fontAlgn="base"/>
            <a:r>
              <a:rPr lang="en-AU"/>
              <a:t>——(n.d.) </a:t>
            </a:r>
            <a:r>
              <a:rPr lang="en-AU" i="1" u="sng">
                <a:hlinkClick r:id="rId9"/>
              </a:rPr>
              <a:t>Sweets in a Box</a:t>
            </a:r>
            <a:r>
              <a:rPr lang="en-AU"/>
              <a:t>, NRICH website, accessed 26 March 2026.  </a:t>
            </a:r>
          </a:p>
          <a:p>
            <a:endParaRPr lang="en-AU"/>
          </a:p>
        </p:txBody>
      </p:sp>
      <p:sp>
        <p:nvSpPr>
          <p:cNvPr id="2" name="Slide Number Placeholder 1">
            <a:extLst>
              <a:ext uri="{FF2B5EF4-FFF2-40B4-BE49-F238E27FC236}">
                <a16:creationId xmlns:a16="http://schemas.microsoft.com/office/drawing/2014/main" id="{4E5B0068-E0AD-EFBE-48CA-0CB3200E894C}"/>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38</a:t>
            </a:fld>
            <a:endParaRPr lang="en-AU"/>
          </a:p>
        </p:txBody>
      </p:sp>
    </p:spTree>
    <p:extLst>
      <p:ext uri="{BB962C8B-B14F-4D97-AF65-F5344CB8AC3E}">
        <p14:creationId xmlns:p14="http://schemas.microsoft.com/office/powerpoint/2010/main" val="1105098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CE555570-2BD4-426B-AA32-0A79CB6508A8}">
  <ds:schemaRefs>
    <ds:schemaRef ds:uri="http://schemas.microsoft.com/office/2006/documentManagement/types"/>
    <ds:schemaRef ds:uri="http://schemas.microsoft.com/office/infopath/2007/PartnerControls"/>
    <ds:schemaRef ds:uri="http://purl.org/dc/elements/1.1/"/>
    <ds:schemaRef ds:uri="http://purl.org/dc/dcmitype/"/>
    <ds:schemaRef ds:uri="http://www.w3.org/XML/1998/namespace"/>
    <ds:schemaRef ds:uri="7e763d47-3c66-4c58-9425-1477fd3ccd1e"/>
    <ds:schemaRef ds:uri="http://schemas.microsoft.com/office/2006/metadata/properties"/>
    <ds:schemaRef ds:uri="http://purl.org/dc/terms/"/>
    <ds:schemaRef ds:uri="http://schemas.openxmlformats.org/package/2006/metadata/core-properties"/>
    <ds:schemaRef ds:uri="60129b06-f64b-40a8-96e2-c5b2f86112b1"/>
    <ds:schemaRef ds:uri="http://schemas.microsoft.com/sharepoint/v3"/>
    <ds:schemaRef ds:uri="9983aa10-8768-4afe-b503-cad2303d02b1"/>
    <ds:schemaRef ds:uri="33c4fa9b-9104-422a-9d36-2aa3be9e17bc"/>
  </ds:schemaRefs>
</ds:datastoreItem>
</file>

<file path=customXml/itemProps3.xml><?xml version="1.0" encoding="utf-8"?>
<ds:datastoreItem xmlns:ds="http://schemas.openxmlformats.org/officeDocument/2006/customXml" ds:itemID="{2FA1A382-1E16-473D-A475-5F2B880135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983aa10-8768-4afe-b503-cad2303d02b1"/>
    <ds:schemaRef ds:uri="33c4fa9b-9104-422a-9d36-2aa3be9e17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11</TotalTime>
  <Words>3719</Words>
  <Application>Microsoft Office PowerPoint</Application>
  <PresentationFormat>Widescreen</PresentationFormat>
  <Paragraphs>451</Paragraphs>
  <Slides>39</Slides>
  <Notes>39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Public Sans</vt:lpstr>
      <vt:lpstr>Montserrat</vt:lpstr>
      <vt:lpstr>Public Sans Light</vt:lpstr>
      <vt:lpstr>Calibri</vt:lpstr>
      <vt:lpstr>Times New Roman</vt:lpstr>
      <vt:lpstr>Wingdings</vt:lpstr>
      <vt:lpstr>Arial</vt:lpstr>
      <vt:lpstr>NSWG Corporate</vt:lpstr>
      <vt:lpstr>Review of learning 5</vt:lpstr>
      <vt:lpstr>Multiple choice (3)</vt:lpstr>
      <vt:lpstr>Short response (17)</vt:lpstr>
      <vt:lpstr>Short response (18)</vt:lpstr>
      <vt:lpstr>Short response (19)</vt:lpstr>
      <vt:lpstr>Short response (20)</vt:lpstr>
      <vt:lpstr>Activity 5 – finding multiples (1)</vt:lpstr>
      <vt:lpstr>Activity 5 – finding multiples (2)</vt:lpstr>
      <vt:lpstr>Review of learning 6</vt:lpstr>
      <vt:lpstr>True or false (3)</vt:lpstr>
      <vt:lpstr>Short response (21)</vt:lpstr>
      <vt:lpstr>Short response (22)</vt:lpstr>
      <vt:lpstr>Short response (23)</vt:lpstr>
      <vt:lpstr>Short response (24)</vt:lpstr>
      <vt:lpstr>Activity 6 – exploring arrays, multiplication and factors combinations</vt:lpstr>
      <vt:lpstr>Review of learning 7</vt:lpstr>
      <vt:lpstr>Multiple choice (4)</vt:lpstr>
      <vt:lpstr>Short response (25)</vt:lpstr>
      <vt:lpstr>Short response (26)</vt:lpstr>
      <vt:lpstr>Short response (27)</vt:lpstr>
      <vt:lpstr>Short response (28)</vt:lpstr>
      <vt:lpstr>Activity 7 – doubling and halving</vt:lpstr>
      <vt:lpstr>Review of learning 8</vt:lpstr>
      <vt:lpstr>True or false (4)</vt:lpstr>
      <vt:lpstr>Short response (29)</vt:lpstr>
      <vt:lpstr>Short response (30)</vt:lpstr>
      <vt:lpstr>Short response (31)</vt:lpstr>
      <vt:lpstr>Short response (32)</vt:lpstr>
      <vt:lpstr>Activity 8 –  solving problems involving money</vt:lpstr>
      <vt:lpstr>Double Venn diagram</vt:lpstr>
      <vt:lpstr>Frayer</vt:lpstr>
      <vt:lpstr>Spider map</vt:lpstr>
      <vt:lpstr>Cline</vt:lpstr>
      <vt:lpstr>Compare and contrast</vt:lpstr>
      <vt:lpstr>Multiple choice (5)</vt:lpstr>
      <vt:lpstr>Multiple choice</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Jason Fretwell</cp:lastModifiedBy>
  <cp:revision>2</cp:revision>
  <dcterms:created xsi:type="dcterms:W3CDTF">2025-10-28T21:34:25Z</dcterms:created>
  <dcterms:modified xsi:type="dcterms:W3CDTF">2026-10-20T08:02:36Z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