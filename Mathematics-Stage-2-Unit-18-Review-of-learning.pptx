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5"/>
  </p:notesMasterIdLst>
  <p:handoutMasterIdLst>
    <p:handoutMasterId r:id="rId76"/>
  </p:handoutMasterIdLst>
  <p:sldIdLst>
    <p:sldId id="26511" r:id="rId5"/>
    <p:sldId id="26571" r:id="rId6"/>
    <p:sldId id="26359" r:id="rId7"/>
    <p:sldId id="271" r:id="rId8"/>
    <p:sldId id="26510" r:id="rId9"/>
    <p:sldId id="26508" r:id="rId10"/>
    <p:sldId id="26524" r:id="rId11"/>
    <p:sldId id="26525" r:id="rId12"/>
    <p:sldId id="26519" r:id="rId13"/>
    <p:sldId id="26522" r:id="rId14"/>
    <p:sldId id="26572" r:id="rId15"/>
    <p:sldId id="26512" r:id="rId16"/>
    <p:sldId id="26509" r:id="rId17"/>
    <p:sldId id="26523" r:id="rId18"/>
    <p:sldId id="26529" r:id="rId19"/>
    <p:sldId id="26530" r:id="rId20"/>
    <p:sldId id="26531" r:id="rId21"/>
    <p:sldId id="26532" r:id="rId22"/>
    <p:sldId id="26513" r:id="rId23"/>
    <p:sldId id="26534" r:id="rId24"/>
    <p:sldId id="26535" r:id="rId25"/>
    <p:sldId id="26528" r:id="rId26"/>
    <p:sldId id="26537" r:id="rId27"/>
    <p:sldId id="26536" r:id="rId28"/>
    <p:sldId id="26533" r:id="rId29"/>
    <p:sldId id="26514" r:id="rId30"/>
    <p:sldId id="26539" r:id="rId31"/>
    <p:sldId id="26540" r:id="rId32"/>
    <p:sldId id="26576" r:id="rId33"/>
    <p:sldId id="26541" r:id="rId34"/>
    <p:sldId id="26542" r:id="rId35"/>
    <p:sldId id="26543" r:id="rId36"/>
    <p:sldId id="26538" r:id="rId37"/>
    <p:sldId id="26515" r:id="rId38"/>
    <p:sldId id="26507" r:id="rId39"/>
    <p:sldId id="26546" r:id="rId40"/>
    <p:sldId id="26547" r:id="rId41"/>
    <p:sldId id="26548" r:id="rId42"/>
    <p:sldId id="26549" r:id="rId43"/>
    <p:sldId id="26573" r:id="rId44"/>
    <p:sldId id="26516" r:id="rId45"/>
    <p:sldId id="26550" r:id="rId46"/>
    <p:sldId id="26553" r:id="rId47"/>
    <p:sldId id="26554" r:id="rId48"/>
    <p:sldId id="26555" r:id="rId49"/>
    <p:sldId id="26556" r:id="rId50"/>
    <p:sldId id="26551" r:id="rId51"/>
    <p:sldId id="26517" r:id="rId52"/>
    <p:sldId id="26559" r:id="rId53"/>
    <p:sldId id="26560" r:id="rId54"/>
    <p:sldId id="26561" r:id="rId55"/>
    <p:sldId id="26574" r:id="rId56"/>
    <p:sldId id="26563" r:id="rId57"/>
    <p:sldId id="26558" r:id="rId58"/>
    <p:sldId id="26518" r:id="rId59"/>
    <p:sldId id="26564" r:id="rId60"/>
    <p:sldId id="26565" r:id="rId61"/>
    <p:sldId id="26567" r:id="rId62"/>
    <p:sldId id="26575" r:id="rId63"/>
    <p:sldId id="26568" r:id="rId64"/>
    <p:sldId id="26557" r:id="rId65"/>
    <p:sldId id="26393" r:id="rId66"/>
    <p:sldId id="26387" r:id="rId67"/>
    <p:sldId id="26395" r:id="rId68"/>
    <p:sldId id="26391" r:id="rId69"/>
    <p:sldId id="26402" r:id="rId70"/>
    <p:sldId id="26527" r:id="rId71"/>
    <p:sldId id="26545" r:id="rId72"/>
    <p:sldId id="360" r:id="rId73"/>
    <p:sldId id="361" r:id="rId74"/>
  </p:sldIdLst>
  <p:sldSz cx="12192000" cy="6858000"/>
  <p:notesSz cx="6858000" cy="9144000"/>
  <p:embeddedFontLst>
    <p:embeddedFont>
      <p:font typeface="Cambria Math" panose="02040503050406030204" pitchFamily="18" charset="0"/>
      <p:regular r:id="rId77"/>
    </p:embeddedFont>
    <p:embeddedFont>
      <p:font typeface="Edu NSW ACT Foundation" panose="020B0604020202020204" charset="0"/>
      <p:regular r:id="rId78"/>
      <p:bold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71"/>
            <p14:sldId id="26359"/>
            <p14:sldId id="271"/>
            <p14:sldId id="26510"/>
            <p14:sldId id="26508"/>
            <p14:sldId id="26524"/>
            <p14:sldId id="26525"/>
            <p14:sldId id="26519"/>
            <p14:sldId id="26522"/>
            <p14:sldId id="26572"/>
            <p14:sldId id="26512"/>
            <p14:sldId id="26509"/>
            <p14:sldId id="26523"/>
            <p14:sldId id="26529"/>
            <p14:sldId id="26530"/>
            <p14:sldId id="26531"/>
            <p14:sldId id="26532"/>
            <p14:sldId id="26513"/>
            <p14:sldId id="26534"/>
            <p14:sldId id="26535"/>
            <p14:sldId id="26528"/>
            <p14:sldId id="26537"/>
            <p14:sldId id="26536"/>
            <p14:sldId id="26533"/>
            <p14:sldId id="26514"/>
            <p14:sldId id="26539"/>
            <p14:sldId id="26540"/>
            <p14:sldId id="26576"/>
            <p14:sldId id="26541"/>
            <p14:sldId id="26542"/>
            <p14:sldId id="26543"/>
            <p14:sldId id="26538"/>
            <p14:sldId id="26515"/>
            <p14:sldId id="26507"/>
            <p14:sldId id="26546"/>
            <p14:sldId id="26547"/>
            <p14:sldId id="26548"/>
            <p14:sldId id="26549"/>
            <p14:sldId id="26573"/>
            <p14:sldId id="26516"/>
            <p14:sldId id="26550"/>
            <p14:sldId id="26553"/>
            <p14:sldId id="26554"/>
            <p14:sldId id="26555"/>
            <p14:sldId id="26556"/>
            <p14:sldId id="26551"/>
            <p14:sldId id="26517"/>
            <p14:sldId id="26559"/>
            <p14:sldId id="26560"/>
            <p14:sldId id="26561"/>
            <p14:sldId id="26574"/>
            <p14:sldId id="26563"/>
            <p14:sldId id="26558"/>
            <p14:sldId id="26518"/>
            <p14:sldId id="26564"/>
            <p14:sldId id="26565"/>
            <p14:sldId id="26567"/>
            <p14:sldId id="26575"/>
            <p14:sldId id="26568"/>
            <p14:sldId id="26557"/>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6E7E8"/>
    <a:srgbClr val="F6EFAD"/>
    <a:srgbClr val="E5D9F6"/>
    <a:srgbClr val="CDFFE4"/>
    <a:srgbClr val="FFFFD5"/>
    <a:srgbClr val="146CFD"/>
    <a:srgbClr val="002664"/>
    <a:srgbClr val="EA9B0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5840EE-3E35-4658-AEFC-90B2B9BDF7E0}" v="11" dt="2025-09-01T23:00:32.275"/>
    <p1510:client id="{698A3882-6540-424B-B719-F8720F3E0A35}" v="133" dt="2025-09-01T23:26:11.624"/>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5" Type="http://schemas.openxmlformats.org/officeDocument/2006/relationships/slide" Target="slides/slide1.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4.fntdata"/><Relationship Id="rId85" Type="http://schemas.openxmlformats.org/officeDocument/2006/relationships/font" Target="fonts/font9.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3/09/2025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3/09/2025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marR="0" lvl="0" indent="-285750" algn="l" defTabSz="1219170" rtl="0" eaLnBrk="1" fontAlgn="auto" latinLnBrk="0" hangingPunct="1">
              <a:lnSpc>
                <a:spcPct val="100000"/>
              </a:lnSpc>
              <a:spcBef>
                <a:spcPts val="0"/>
              </a:spcBef>
              <a:spcAft>
                <a:spcPts val="0"/>
              </a:spcAft>
              <a:buClrTx/>
              <a:buSzTx/>
              <a:buFont typeface="Arial,Sans-Serif"/>
              <a:buChar char="•"/>
              <a:tabLst/>
              <a:defRPr/>
            </a:pPr>
            <a:r>
              <a:rPr lang="en-AU" strike="noStrike">
                <a:solidFill>
                  <a:srgbClr val="000000"/>
                </a:solidFill>
                <a:latin typeface="Arial"/>
                <a:cs typeface="Arial"/>
              </a:rPr>
              <a:t>Stage 2 Year A Unit 18</a:t>
            </a:r>
            <a:endParaRPr lang="en-US" strike="noStrike">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17</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16</a:t>
            </a:r>
            <a:endParaRPr lang="en-US">
              <a:solidFill>
                <a:srgbClr val="444444"/>
              </a:solidFill>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br>
              <a:rPr lang="en-AU">
                <a:latin typeface="Arial"/>
                <a:cs typeface="Arial"/>
              </a:rPr>
            </a:br>
            <a:endParaRPr lang="en-US">
              <a:solidFill>
                <a:srgbClr val="444444"/>
              </a:solidFill>
              <a:latin typeface="Arial"/>
              <a:cs typeface="Arial"/>
            </a:endParaRPr>
          </a:p>
          <a:p>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A: Angles</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b="0">
                <a:solidFill>
                  <a:srgbClr val="000000"/>
                </a:solidFill>
                <a:latin typeface="Arial"/>
                <a:cs typeface="Arial"/>
              </a:rPr>
              <a:t>Additive relations A</a:t>
            </a:r>
            <a:endParaRPr lang="en-AU" b="0">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br>
              <a:rPr lang="en-US" b="1">
                <a:latin typeface="Arial"/>
                <a:ea typeface="Arial" panose="020B0604020202020204" pitchFamily="34" charset="0"/>
                <a:cs typeface="Arial"/>
              </a:rPr>
            </a:br>
            <a:r>
              <a:rPr lang="en-US" b="1">
                <a:latin typeface="Arial"/>
                <a:ea typeface="Arial" panose="020B0604020202020204" pitchFamily="34" charset="0"/>
                <a:cs typeface="Arial"/>
              </a:rPr>
              <a:t>Missing value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b="1">
              <a:latin typeface="Arial"/>
              <a:ea typeface="Arial" panose="020B0604020202020204" pitchFamily="34" charset="0"/>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latin typeface="Arial" panose="020B0604020202020204" pitchFamily="34" charset="0"/>
                <a:cs typeface="Arial" panose="020B0604020202020204" pitchFamily="34" charset="0"/>
              </a:rPr>
              <a:t>This resource corresponds to </a:t>
            </a:r>
            <a:r>
              <a:rPr lang="en-AU" sz="1600" b="1">
                <a:highlight>
                  <a:srgbClr val="FFFFFF"/>
                </a:highlight>
                <a:latin typeface="Arial" panose="020B0604020202020204" pitchFamily="34" charset="0"/>
              </a:rPr>
              <a:t>Resource 28 – additive strategies</a:t>
            </a:r>
            <a:r>
              <a:rPr lang="en-AU" sz="1600">
                <a:highlight>
                  <a:srgbClr val="FFFFFF"/>
                </a:highlight>
                <a:latin typeface="Arial" panose="020B0604020202020204" pitchFamily="34" charset="0"/>
              </a:rPr>
              <a:t>, </a:t>
            </a:r>
            <a:r>
              <a:rPr lang="en-AU" sz="1600" b="1" kern="1200">
                <a:solidFill>
                  <a:schemeClr val="tx1"/>
                </a:solidFill>
                <a:effectLst/>
                <a:highlight>
                  <a:srgbClr val="FFFFFF"/>
                </a:highlight>
                <a:latin typeface="Arial" panose="020B0604020202020204" pitchFamily="34" charset="0"/>
                <a:ea typeface="+mn-ea"/>
                <a:cs typeface="Arial" panose="020B0604020202020204" pitchFamily="34" charset="0"/>
              </a:rPr>
              <a:t>Resource 29 – word problem </a:t>
            </a:r>
            <a:r>
              <a:rPr lang="en-AU" sz="1600" kern="1200">
                <a:solidFill>
                  <a:schemeClr val="tx1"/>
                </a:solidFill>
                <a:effectLst/>
                <a:highlight>
                  <a:srgbClr val="FFFFFF"/>
                </a:highlight>
                <a:latin typeface="Arial" panose="020B0604020202020204" pitchFamily="34" charset="0"/>
                <a:ea typeface="+mn-ea"/>
                <a:cs typeface="Arial" panose="020B0604020202020204" pitchFamily="34" charset="0"/>
              </a:rPr>
              <a:t>and </a:t>
            </a:r>
            <a:r>
              <a:rPr lang="en-AU" sz="1600" b="1" kern="1200">
                <a:solidFill>
                  <a:schemeClr val="tx1"/>
                </a:solidFill>
                <a:effectLst/>
                <a:highlight>
                  <a:srgbClr val="FFFFFF"/>
                </a:highlight>
                <a:latin typeface="Arial" panose="020B0604020202020204" pitchFamily="34" charset="0"/>
                <a:ea typeface="+mn-ea"/>
                <a:cs typeface="Arial" panose="020B0604020202020204" pitchFamily="34" charset="0"/>
              </a:rPr>
              <a:t>Resource 30 – bar models </a:t>
            </a:r>
            <a:r>
              <a:rPr lang="en-AU" sz="1600">
                <a:latin typeface="Arial" panose="020B0604020202020204" pitchFamily="34" charset="0"/>
                <a:cs typeface="Arial" panose="020B0604020202020204" pitchFamily="34" charset="0"/>
              </a:rPr>
              <a:t>in Stage 2 Year A Unit 18. </a:t>
            </a:r>
            <a:endParaRPr lang="en-US" sz="1600" b="0" i="0">
              <a:solidFill>
                <a:srgbClr val="444444"/>
              </a:solidFill>
              <a:effectLst/>
              <a:highlight>
                <a:srgbClr val="F5F5F5"/>
              </a:highlight>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br>
              <a:rPr lang="en-US" b="1">
                <a:latin typeface="Arial"/>
                <a:ea typeface="Arial" panose="020B0604020202020204" pitchFamily="34" charset="0"/>
                <a:cs typeface="Arial"/>
              </a:rPr>
            </a:br>
            <a:r>
              <a:rPr lang="en-AU" b="1" u="none">
                <a:solidFill>
                  <a:schemeClr val="tx1"/>
                </a:solidFill>
              </a:rPr>
              <a:t>Notes: </a:t>
            </a:r>
            <a:r>
              <a:rPr lang="en-AU" sz="1600" b="0" i="0" u="none">
                <a:solidFill>
                  <a:schemeClr val="tx1"/>
                </a:solidFill>
                <a:effectLst/>
                <a:highlight>
                  <a:srgbClr val="FFFFFF"/>
                </a:highlight>
                <a:latin typeface="Arial" panose="020B0604020202020204" pitchFamily="34" charset="0"/>
              </a:rPr>
              <a:t>Students may wish to refer to </a:t>
            </a:r>
            <a:r>
              <a:rPr lang="en-AU" sz="1600">
                <a:highlight>
                  <a:srgbClr val="FFFFFF"/>
                </a:highlight>
                <a:latin typeface="Arial" panose="020B0604020202020204" pitchFamily="34" charset="0"/>
              </a:rPr>
              <a:t>Resource 28 – additive strategies</a:t>
            </a:r>
            <a:r>
              <a:rPr lang="en-AU" sz="1600" b="0" i="0" u="none">
                <a:effectLst/>
                <a:highlight>
                  <a:srgbClr val="FFFFFF"/>
                </a:highlight>
                <a:latin typeface="Arial" panose="020B0604020202020204" pitchFamily="34" charset="0"/>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u="none">
              <a:solidFill>
                <a:schemeClr val="tx1"/>
              </a:solidFill>
            </a:endParaRPr>
          </a:p>
          <a:p>
            <a:pPr marL="342900" lvl="0" indent="-342900">
              <a:buFont typeface="+mj-lt"/>
              <a:buAutoNum type="arabicPeriod"/>
            </a:pPr>
            <a:r>
              <a:rPr lang="en-AU" sz="1600" kern="1200">
                <a:solidFill>
                  <a:schemeClr val="tx1"/>
                </a:solidFill>
                <a:effectLst/>
                <a:latin typeface="+mn-lt"/>
                <a:ea typeface="+mn-ea"/>
                <a:cs typeface="+mn-cs"/>
              </a:rPr>
              <a:t>Display Resource 29 – word problem.</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turn and talk with a partner, discussing the strategies that could be used to find the missing value. Students may wish to refer to Resource 28 – additive strategies.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a bar model can be an effective representation to find missing values and to check solutions using inverse operations.</a:t>
            </a:r>
          </a:p>
          <a:p>
            <a:pPr marL="0" indent="0">
              <a:buFont typeface="+mj-lt"/>
              <a:buNone/>
            </a:pPr>
            <a:r>
              <a:rPr lang="en-AU" sz="1600" b="1" kern="1200">
                <a:solidFill>
                  <a:schemeClr val="tx1"/>
                </a:solidFill>
                <a:effectLst/>
                <a:latin typeface="Arial" panose="020B0604020202020204" pitchFamily="34" charset="0"/>
                <a:ea typeface="+mn-ea"/>
                <a:cs typeface="Arial" panose="020B0604020202020204" pitchFamily="34" charset="0"/>
              </a:rPr>
              <a:t>Definition – Inverse operation:</a:t>
            </a:r>
            <a:r>
              <a:rPr lang="en-AU" sz="1600" kern="1200">
                <a:solidFill>
                  <a:schemeClr val="tx1"/>
                </a:solidFill>
                <a:effectLst/>
                <a:latin typeface="Arial" panose="020B0604020202020204" pitchFamily="34" charset="0"/>
                <a:ea typeface="+mn-ea"/>
                <a:cs typeface="Arial" panose="020B0604020202020204" pitchFamily="34" charset="0"/>
              </a:rPr>
              <a:t> the operation that reverses the effect of another operation. Addition and subtraction are inverse operations. When you add 3 to 7 you get 10. If you then subtract 3, you get back to 7.</a:t>
            </a:r>
          </a:p>
          <a:p>
            <a:pPr marL="342900" lvl="0" indent="-342900">
              <a:buFont typeface="+mj-lt"/>
              <a:buAutoNum type="arabicPeriod" startAt="4"/>
            </a:pPr>
            <a:r>
              <a:rPr lang="en-AU" sz="1600" kern="1200">
                <a:solidFill>
                  <a:schemeClr val="tx1"/>
                </a:solidFill>
                <a:effectLst/>
                <a:latin typeface="Arial" panose="020B0604020202020204" pitchFamily="34" charset="0"/>
                <a:ea typeface="+mn-ea"/>
                <a:cs typeface="Arial" panose="020B0604020202020204" pitchFamily="34" charset="0"/>
              </a:rPr>
              <a:t>Demonstrate drawing a bar model on the board to represent the solution to Resource 29 – word problem.</a:t>
            </a:r>
          </a:p>
          <a:p>
            <a:pPr marL="342900" lvl="0" indent="-342900">
              <a:buFont typeface="+mj-lt"/>
              <a:buAutoNum type="arabicPeriod" startAt="4"/>
            </a:pPr>
            <a:r>
              <a:rPr lang="en-AU" sz="1600" kern="1200">
                <a:solidFill>
                  <a:schemeClr val="tx1"/>
                </a:solidFill>
                <a:effectLst/>
                <a:latin typeface="Arial" panose="020B0604020202020204" pitchFamily="34" charset="0"/>
                <a:ea typeface="+mn-ea"/>
                <a:cs typeface="Arial" panose="020B0604020202020204" pitchFamily="34" charset="0"/>
              </a:rPr>
              <a:t>Identify the related addition and subtraction number sentences that the bar model represents. Model thinking aloud, ‘If I know 39 + 19 = 58, then I know 58 − 19 = 39.’</a:t>
            </a:r>
          </a:p>
          <a:p>
            <a:pPr marL="342900" lvl="0" indent="-342900">
              <a:buFont typeface="+mj-lt"/>
              <a:buAutoNum type="arabicPeriod" startAt="4"/>
            </a:pPr>
            <a:r>
              <a:rPr lang="en-AU" sz="1600" kern="1200">
                <a:solidFill>
                  <a:schemeClr val="tx1"/>
                </a:solidFill>
                <a:effectLst/>
                <a:latin typeface="Arial" panose="020B0604020202020204" pitchFamily="34" charset="0"/>
                <a:ea typeface="+mn-ea"/>
                <a:cs typeface="Arial" panose="020B0604020202020204" pitchFamily="34" charset="0"/>
              </a:rPr>
              <a:t>Display Resource 30 – bar models. Students solve the problems and record the related addition and subtraction number sentences.</a:t>
            </a:r>
          </a:p>
          <a:p>
            <a:pPr marL="342900" lvl="0" indent="-342900">
              <a:buFont typeface="+mj-lt"/>
              <a:buAutoNum type="arabicPeriod" startAt="4"/>
            </a:pPr>
            <a:r>
              <a:rPr lang="en-AU" sz="1600" kern="1200">
                <a:solidFill>
                  <a:schemeClr val="tx1"/>
                </a:solidFill>
                <a:effectLst/>
                <a:latin typeface="Arial" panose="020B0604020202020204" pitchFamily="34" charset="0"/>
                <a:ea typeface="+mn-ea"/>
                <a:cs typeface="Arial" panose="020B0604020202020204" pitchFamily="34" charset="0"/>
              </a:rPr>
              <a:t>Regroup and check for understanding by asking students to share responses.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u="none">
              <a:solidFill>
                <a:schemeClr val="tx1"/>
              </a:solidFill>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1919126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31A53-CA86-6565-81A3-06FC61F3E0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FDA1A-7326-3AFB-FA32-1CC3A06A8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FE557-A159-63F4-4785-F55A1198D665}"/>
              </a:ext>
            </a:extLst>
          </p:cNvPr>
          <p:cNvSpPr>
            <a:spLocks noGrp="1"/>
          </p:cNvSpPr>
          <p:nvPr>
            <p:ph type="body" idx="1"/>
          </p:nvPr>
        </p:nvSpPr>
        <p:spPr/>
        <p:txBody>
          <a:bodyPr/>
          <a:lstStyle/>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Additive relations A</a:t>
            </a:r>
            <a:endParaRPr lang="en-AU" b="1">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br>
              <a:rPr lang="en-US" b="1">
                <a:latin typeface="Arial"/>
                <a:ea typeface="Arial" panose="020B0604020202020204" pitchFamily="34" charset="0"/>
                <a:cs typeface="Arial"/>
              </a:rPr>
            </a:br>
            <a:r>
              <a:rPr lang="en-US" b="1">
                <a:latin typeface="Arial"/>
                <a:ea typeface="Arial" panose="020B0604020202020204" pitchFamily="34" charset="0"/>
                <a:cs typeface="Arial"/>
              </a:rPr>
              <a:t>Missing value</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b="1">
              <a:latin typeface="Arial"/>
              <a:ea typeface="Arial" panose="020B0604020202020204" pitchFamily="34" charset="0"/>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latin typeface="Arial" panose="020B0604020202020204" pitchFamily="34" charset="0"/>
                <a:cs typeface="Arial" panose="020B0604020202020204" pitchFamily="34" charset="0"/>
              </a:rPr>
              <a:t>This resource corresponds to </a:t>
            </a:r>
            <a:r>
              <a:rPr lang="en-AU" sz="1600" b="1">
                <a:highlight>
                  <a:srgbClr val="FFFFFF"/>
                </a:highlight>
                <a:latin typeface="Arial" panose="020B0604020202020204" pitchFamily="34" charset="0"/>
              </a:rPr>
              <a:t>Resource 28 – additive strategies</a:t>
            </a:r>
            <a:r>
              <a:rPr lang="en-AU" sz="1600">
                <a:highlight>
                  <a:srgbClr val="FFFFFF"/>
                </a:highlight>
                <a:latin typeface="Arial" panose="020B0604020202020204" pitchFamily="34" charset="0"/>
              </a:rPr>
              <a:t>, </a:t>
            </a:r>
            <a:r>
              <a:rPr lang="en-AU" sz="1600" b="1" kern="1200">
                <a:solidFill>
                  <a:schemeClr val="tx1"/>
                </a:solidFill>
                <a:effectLst/>
                <a:highlight>
                  <a:srgbClr val="FFFFFF"/>
                </a:highlight>
                <a:latin typeface="Arial" panose="020B0604020202020204" pitchFamily="34" charset="0"/>
                <a:ea typeface="+mn-ea"/>
                <a:cs typeface="Arial" panose="020B0604020202020204" pitchFamily="34" charset="0"/>
              </a:rPr>
              <a:t>Resource 29 – word problem </a:t>
            </a:r>
            <a:r>
              <a:rPr lang="en-AU" sz="1600" kern="1200">
                <a:solidFill>
                  <a:schemeClr val="tx1"/>
                </a:solidFill>
                <a:effectLst/>
                <a:highlight>
                  <a:srgbClr val="FFFFFF"/>
                </a:highlight>
                <a:latin typeface="Arial" panose="020B0604020202020204" pitchFamily="34" charset="0"/>
                <a:ea typeface="+mn-ea"/>
                <a:cs typeface="Arial" panose="020B0604020202020204" pitchFamily="34" charset="0"/>
              </a:rPr>
              <a:t>and </a:t>
            </a:r>
            <a:r>
              <a:rPr lang="en-AU" sz="1600" b="1" kern="1200">
                <a:solidFill>
                  <a:schemeClr val="tx1"/>
                </a:solidFill>
                <a:effectLst/>
                <a:highlight>
                  <a:srgbClr val="FFFFFF"/>
                </a:highlight>
                <a:latin typeface="Arial" panose="020B0604020202020204" pitchFamily="34" charset="0"/>
                <a:ea typeface="+mn-ea"/>
                <a:cs typeface="Arial" panose="020B0604020202020204" pitchFamily="34" charset="0"/>
              </a:rPr>
              <a:t>Resource 30 – bar models </a:t>
            </a:r>
            <a:r>
              <a:rPr lang="en-AU" sz="1600">
                <a:latin typeface="Arial" panose="020B0604020202020204" pitchFamily="34" charset="0"/>
                <a:cs typeface="Arial" panose="020B0604020202020204" pitchFamily="34" charset="0"/>
              </a:rPr>
              <a:t>in Stage 2 Year A Unit 18. </a:t>
            </a:r>
            <a:endParaRPr lang="en-US" sz="1600" b="0" i="0">
              <a:solidFill>
                <a:srgbClr val="444444"/>
              </a:solidFill>
              <a:effectLst/>
              <a:highlight>
                <a:srgbClr val="F5F5F5"/>
              </a:highlight>
              <a:latin typeface="Arial" panose="020B0604020202020204" pitchFamily="34" charset="0"/>
              <a:cs typeface="Arial" panose="020B0604020202020204" pitchFamily="34" charset="0"/>
            </a:endParaRPr>
          </a:p>
          <a:p>
            <a:endParaRPr lang="en-AU"/>
          </a:p>
          <a:p>
            <a:r>
              <a:rPr lang="en-AU"/>
              <a:t>This task is continued from the previous slide.</a:t>
            </a:r>
          </a:p>
        </p:txBody>
      </p:sp>
      <p:sp>
        <p:nvSpPr>
          <p:cNvPr id="4" name="Slide Number Placeholder 3">
            <a:extLst>
              <a:ext uri="{FF2B5EF4-FFF2-40B4-BE49-F238E27FC236}">
                <a16:creationId xmlns:a16="http://schemas.microsoft.com/office/drawing/2014/main" id="{85F492E9-9354-E339-9C85-E15A69241A2B}"/>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26594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A</a:t>
            </a:r>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defRPr/>
            </a:pPr>
            <a:endParaRPr lang="en-AU">
              <a:solidFill>
                <a:srgbClr val="444444"/>
              </a:solidFil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p>
          <a:p>
            <a:pPr>
              <a:defRPr/>
            </a:pPr>
            <a:endParaRPr lang="en-AU" sz="1800">
              <a:latin typeface="Arial"/>
              <a:ea typeface="Calibri"/>
              <a:cs typeface="Arial"/>
            </a:endParaRPr>
          </a:p>
          <a:p>
            <a:pPr marL="0" lvl="0" indent="0">
              <a:lnSpc>
                <a:spcPct val="150000"/>
              </a:lnSpc>
              <a:spcBef>
                <a:spcPts val="1200"/>
              </a:spcBef>
              <a:spcAft>
                <a:spcPts val="600"/>
              </a:spcAft>
              <a:buFont typeface="+mj-lt"/>
              <a:buNone/>
            </a:pPr>
            <a:r>
              <a:rPr lang="en-AU" sz="1800" b="1">
                <a:latin typeface="Arial"/>
                <a:ea typeface="Calibri"/>
                <a:cs typeface="Arial"/>
              </a:rPr>
              <a:t>Number sentences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Record the numbers 28, 35, 14, 42, 21 on the 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use these numbers to identify as many related number sentences as possible.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how the number sentence 28 + 14 = 42 could be used to identify other related number sentences. For example, ‘Because I know 28 + 14 = 42, then I know 42 − 14 = 28.’</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Using only the numbers recorded on the board, students create as many number sentences as possible, recording their thinking on individual whiteboards.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discuss: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of your number sentences show that addition and subtraction are inverse operations?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of your number sentences show the commutative property?</a:t>
            </a:r>
          </a:p>
          <a:p>
            <a:pPr>
              <a:defRPr/>
            </a:pPr>
            <a:endParaRPr lang="en-AU" sz="1800">
              <a:effectLst/>
              <a:latin typeface="Arial" panose="020B060402020202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15371567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Additive relations A</a:t>
            </a:r>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C4833-1F85-A8D5-9DE7-AC27C1569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9529B-4C8D-A457-504B-4C8892750C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2F85EF-0FE7-E950-CE62-B1B65D09EDFC}"/>
              </a:ext>
            </a:extLst>
          </p:cNvPr>
          <p:cNvSpPr>
            <a:spLocks noGrp="1"/>
          </p:cNvSpPr>
          <p:nvPr>
            <p:ph type="body" idx="1"/>
          </p:nvPr>
        </p:nvSpPr>
        <p:spPr/>
        <p:txBody>
          <a:bodyPr/>
          <a:lstStyle/>
          <a:p>
            <a:pPr>
              <a:lnSpc>
                <a:spcPct val="150000"/>
              </a:lnSpc>
              <a:spcBef>
                <a:spcPts val="1200"/>
              </a:spcBef>
              <a:spcAft>
                <a:spcPts val="600"/>
              </a:spcAft>
              <a:defRPr/>
            </a:pPr>
            <a:r>
              <a:rPr lang="en-AU"/>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t>Syllabus focus area:</a:t>
            </a:r>
            <a:endParaRPr lang="en-US">
              <a:solidFill>
                <a:srgbClr val="444444"/>
              </a:solidFill>
            </a:endParaRPr>
          </a:p>
          <a:p>
            <a:pPr>
              <a:defRPr/>
            </a:pPr>
            <a:r>
              <a:rPr lang="en-AU"/>
              <a:t>Additive relations A</a:t>
            </a:r>
          </a:p>
          <a:p>
            <a:pPr>
              <a:defRPr/>
            </a:pPr>
            <a:endParaRPr lang="en-AU"/>
          </a:p>
          <a:p>
            <a:pPr>
              <a:defRPr/>
            </a:pPr>
            <a:r>
              <a:rPr lang="en-AU" b="1"/>
              <a:t>Missing values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latin typeface="Arial" panose="020B0604020202020204" pitchFamily="34" charset="0"/>
                <a:cs typeface="Arial" panose="020B0604020202020204" pitchFamily="34" charset="0"/>
              </a:rPr>
              <a:t>This resource corresponds to </a:t>
            </a:r>
            <a:r>
              <a:rPr lang="en-AU" sz="1600" b="1">
                <a:highlight>
                  <a:srgbClr val="FFFFFF"/>
                </a:highlight>
                <a:latin typeface="Arial" panose="020B0604020202020204" pitchFamily="34" charset="0"/>
              </a:rPr>
              <a:t>Resource 28 – additive strategies</a:t>
            </a:r>
            <a:r>
              <a:rPr lang="en-AU" sz="1600">
                <a:highlight>
                  <a:srgbClr val="FFFFFF"/>
                </a:highlight>
                <a:latin typeface="Arial" panose="020B0604020202020204" pitchFamily="34" charset="0"/>
              </a:rPr>
              <a:t> </a:t>
            </a:r>
            <a:r>
              <a:rPr lang="en-AU" sz="1600">
                <a:latin typeface="Arial" panose="020B0604020202020204" pitchFamily="34" charset="0"/>
                <a:cs typeface="Arial" panose="020B0604020202020204" pitchFamily="34" charset="0"/>
              </a:rPr>
              <a:t>in Stage 2 Year A Unit 18. </a:t>
            </a:r>
            <a:endParaRPr lang="en-US" sz="1600" b="0" i="0">
              <a:solidFill>
                <a:srgbClr val="444444"/>
              </a:solidFill>
              <a:effectLst/>
              <a:highlight>
                <a:srgbClr val="F5F5F5"/>
              </a:highlight>
              <a:latin typeface="Arial" panose="020B0604020202020204" pitchFamily="34" charset="0"/>
              <a:cs typeface="Arial" panose="020B0604020202020204" pitchFamily="34" charset="0"/>
            </a:endParaRPr>
          </a:p>
          <a:p>
            <a:pPr>
              <a:defRPr/>
            </a:pPr>
            <a:endParaRPr lang="en-AU" sz="1800">
              <a:latin typeface="Arial"/>
              <a:ea typeface="Calibri"/>
              <a:cs typeface="Aria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Record the following number sentences on the board and provide students with writing materials.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_ + 26 = 58</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19 + _ = 35</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84 − _ = 33</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194 = _ + 177</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168 − _ = 45.</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select 2 of the number sentences to solve and calculate the missing value by using a number line or bar model. Encourage students to check their solution by using the inverse operation.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swap whiteboards with a partner to check solutions and provide peer feedback, including checking solutions using the inverse operation.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share their recorded representations. Refer to Resource 28 – additive strategies to connect student recordings to strategies used. For example, for the number sentence 19 + _ = 35, a solution could use the strategies of inverse operation (knowing that 35 −19 = _ is the same as 19 + _ = 35) and constant difference (add one to both numbers = 36 − 20 = 16).</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Reflect on which strategies and representations were most effective for number sentences with missing values.</a:t>
            </a: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a:p>
            <a:pPr marL="0" lvl="0" indent="0">
              <a:buFont typeface="+mj-lt"/>
              <a:buNone/>
            </a:pPr>
            <a:endParaRPr lang="en-AU" sz="1600" kern="120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B370F8B-88BE-7ED7-009B-24265E51C367}"/>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21099544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33F42-B8F1-79C2-5747-0F1B12D77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DB5D4-EEDF-F86B-9F4D-E00B1FE1B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25FAB9-24C8-5814-0E1E-7339D99CC04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F23E6E4-B665-DCC5-7049-C1868CAD7B2F}"/>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5953016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Area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 Time</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solidFill>
                  <a:srgbClr val="000000"/>
                </a:solidFill>
              </a:rPr>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solidFill>
                  <a:srgbClr val="000000"/>
                </a:solidFill>
              </a:rPr>
              <a:t>Syllabus focus area:</a:t>
            </a:r>
            <a:endParaRPr lang="en-US">
              <a:solidFill>
                <a:srgbClr val="444444"/>
              </a:solidFill>
            </a:endParaRPr>
          </a:p>
          <a:p>
            <a:pPr>
              <a:defRPr/>
            </a:pPr>
            <a:r>
              <a:rPr lang="en-AU">
                <a:solidFill>
                  <a:srgbClr val="000000"/>
                </a:solidFill>
              </a:rPr>
              <a:t>Additive relations A</a:t>
            </a:r>
            <a:endParaRPr lang="en-AU"/>
          </a:p>
          <a:p>
            <a:pPr>
              <a:tabLst>
                <a:tab pos="228600" algn="l"/>
                <a:tab pos="859155" algn="l"/>
                <a:tab pos="859155" algn="l"/>
              </a:tabLst>
            </a:pPr>
            <a:endParaRPr lang="en-AU">
              <a:latin typeface="Arial"/>
              <a:ea typeface="Calibri" panose="020F0502020204030204" pitchFamily="34" charset="0"/>
              <a:cs typeface="Arial"/>
            </a:endParaRPr>
          </a:p>
          <a:p>
            <a:pPr>
              <a:tabLst>
                <a:tab pos="228600" algn="l"/>
                <a:tab pos="859155" algn="l"/>
                <a:tab pos="859155" algn="l"/>
              </a:tabLst>
            </a:pPr>
            <a:r>
              <a:rPr lang="en-AU" b="1">
                <a:latin typeface="Arial"/>
                <a:ea typeface="Calibri"/>
                <a:cs typeface="Arial"/>
              </a:rPr>
              <a:t>Part and whole</a:t>
            </a:r>
            <a:endParaRPr lang="en-AU" b="1">
              <a:latin typeface="Arial"/>
              <a:ea typeface="Calibri" panose="020F0502020204030204" pitchFamily="34" charset="0"/>
              <a:cs typeface="Aria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r>
              <a:rPr lang="en-AU" sz="1600" b="1" kern="1200">
                <a:solidFill>
                  <a:schemeClr val="tx1"/>
                </a:solidFill>
                <a:effectLst/>
                <a:latin typeface="Arial" panose="020B0604020202020204" pitchFamily="34" charset="0"/>
                <a:ea typeface="+mn-ea"/>
                <a:cs typeface="Arial" panose="020B0604020202020204" pitchFamily="34" charset="0"/>
              </a:rPr>
              <a:t>: </a:t>
            </a:r>
            <a:r>
              <a:rPr lang="en-AU" sz="1600" kern="1200">
                <a:solidFill>
                  <a:schemeClr val="tx1"/>
                </a:solidFill>
                <a:effectLst/>
                <a:latin typeface="Arial" panose="020B0604020202020204" pitchFamily="34" charset="0"/>
                <a:ea typeface="+mn-ea"/>
                <a:cs typeface="Arial" panose="020B0604020202020204" pitchFamily="34" charset="0"/>
              </a:rPr>
              <a:t>If 64 – 17 = 47, what is 64 – 47?</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Seek input from students by asking them to explain their thinking.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Model how to check subtraction using the inverse operation (addition). For example, to check that 64 – 17 = 47, use addition: 47 + 17 = 64. This confirms the subtraction is correct.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Draw a bar model on the board that represents the number 64 as a whole, with two smaller bars showing the parts 17 and 47.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 picture shows a large number (the whole) split into 2 smaller numbers (the parts). If one part and the whole are known, the missing part can be found.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to work in pairs to answer the following questions: </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whole is 82, one part is 56. What’s the missing part?</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75 – 29 = ? Can you check it using addition?</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38 + 19 = 57, how can we check it using subtraction?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as a class and discuss the following prompts: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find the missing number?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can you check if you’re right?</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opposite of subtraction?</a:t>
            </a:r>
            <a:endParaRPr lang="en-AU">
              <a:latin typeface="Arial"/>
              <a:ea typeface="Calibri" panose="020F0502020204030204" pitchFamily="34" charset="0"/>
              <a:cs typeface="Arial"/>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600477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Representing numbers using place value B :Whole numbers</a:t>
            </a: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Two-dimensional spatial structure A: Area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285AE-55A5-0409-B8AF-CBBD61E60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B3A2B-F0A3-FBA8-2E9C-A7FD2BB8B7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C6A0C-8590-F931-DD76-7E55499D5205}"/>
              </a:ext>
            </a:extLst>
          </p:cNvPr>
          <p:cNvSpPr>
            <a:spLocks noGrp="1"/>
          </p:cNvSpPr>
          <p:nvPr>
            <p:ph type="body" idx="1"/>
          </p:nvPr>
        </p:nvSpPr>
        <p:spPr/>
        <p:txBody>
          <a:bodyPr/>
          <a:lstStyle/>
          <a:p>
            <a:pPr defTabSz="914400">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defTabSz="914400">
              <a:lnSpc>
                <a:spcPct val="150000"/>
              </a:lnSpc>
              <a:spcBef>
                <a:spcPts val="1200"/>
              </a:spcBef>
              <a:spcAft>
                <a:spcPts val="600"/>
              </a:spcAft>
            </a:pPr>
            <a:endParaRPr lang="en-AU">
              <a:solidFill>
                <a:srgbClr val="444444"/>
              </a:solidFill>
            </a:endParaRPr>
          </a:p>
          <a:p>
            <a:pPr defTabSz="914400">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defTabSz="914400">
              <a:lnSpc>
                <a:spcPts val="1913"/>
              </a:lnSpc>
            </a:pPr>
            <a:endParaRPr lang="en-AU">
              <a:solidFill>
                <a:srgbClr val="444444"/>
              </a:solidFill>
            </a:endParaRPr>
          </a:p>
          <a:p>
            <a:pPr defTabSz="914400"/>
            <a:r>
              <a:rPr lang="en-AU" b="1">
                <a:latin typeface="Arial"/>
                <a:cs typeface="Arial"/>
              </a:rPr>
              <a:t>Syllabus focus area:</a:t>
            </a:r>
            <a:endParaRPr lang="en-US">
              <a:solidFill>
                <a:srgbClr val="444444"/>
              </a:solidFill>
              <a:latin typeface="Arial"/>
              <a:cs typeface="Arial"/>
            </a:endParaRPr>
          </a:p>
          <a:p>
            <a:pPr defTabSz="914400"/>
            <a:r>
              <a:rPr lang="en-AU">
                <a:solidFill>
                  <a:srgbClr val="000000"/>
                </a:solidFill>
                <a:latin typeface="Arial"/>
                <a:cs typeface="Arial"/>
              </a:rPr>
              <a:t>Representing numbers using place value B: Whole numbers</a:t>
            </a:r>
          </a:p>
          <a:p>
            <a:pPr defTabSz="914400"/>
            <a:endParaRPr lang="en-AU">
              <a:latin typeface="Arial"/>
              <a:ea typeface="Calibri"/>
              <a:cs typeface="Arial"/>
            </a:endParaRPr>
          </a:p>
          <a:p>
            <a:pPr defTabSz="914400"/>
            <a:r>
              <a:rPr lang="en-AU" b="1">
                <a:latin typeface="Arial"/>
                <a:ea typeface="Calibri"/>
                <a:cs typeface="Arial"/>
              </a:rPr>
              <a:t>Largest number wins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a:latin typeface="Arial" panose="020B0604020202020204" pitchFamily="34" charset="0"/>
                <a:cs typeface="Arial" panose="020B0604020202020204" pitchFamily="34" charset="0"/>
              </a:rPr>
              <a:t>This resource corresponds </a:t>
            </a:r>
            <a:r>
              <a:rPr lang="en-AU" sz="1800" b="0">
                <a:latin typeface="Arial" panose="020B0604020202020204" pitchFamily="34" charset="0"/>
                <a:cs typeface="Arial" panose="020B0604020202020204" pitchFamily="34" charset="0"/>
              </a:rPr>
              <a:t>to </a:t>
            </a:r>
            <a:r>
              <a:rPr lang="en-AU" sz="1800" b="1">
                <a:latin typeface="Arial" panose="020B0604020202020204" pitchFamily="34" charset="0"/>
                <a:cs typeface="Arial" panose="020B0604020202020204" pitchFamily="34" charset="0"/>
              </a:rPr>
              <a:t>Resource 31 – Place value cards </a:t>
            </a:r>
            <a:r>
              <a:rPr lang="en-AU" sz="1800">
                <a:latin typeface="Arial" panose="020B0604020202020204" pitchFamily="34" charset="0"/>
                <a:cs typeface="Arial" panose="020B0604020202020204" pitchFamily="34" charset="0"/>
              </a:rPr>
              <a:t>in Stage 2 Year A Unit 18. </a:t>
            </a:r>
            <a:endParaRPr lang="en-US" sz="1800" b="0" i="0">
              <a:solidFill>
                <a:srgbClr val="444444"/>
              </a:solidFill>
              <a:effectLst/>
              <a:highlight>
                <a:srgbClr val="F5F5F5"/>
              </a:highlight>
              <a:latin typeface="Arial" panose="020B0604020202020204" pitchFamily="34" charset="0"/>
              <a:cs typeface="Arial" panose="020B0604020202020204" pitchFamily="34" charset="0"/>
            </a:endParaRPr>
          </a:p>
          <a:p>
            <a:pPr defTabSz="914400"/>
            <a:endParaRPr lang="en-AU" sz="1800" b="1">
              <a:latin typeface="Arial"/>
              <a:ea typeface="Calibri"/>
              <a:cs typeface="Arial"/>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prepare Resource 31 – Place value cards prior to the lesson by printing and cutting one set per small group (3 to 4 students).</a:t>
            </a:r>
          </a:p>
          <a:p>
            <a:pPr lvl="0"/>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the rules of the game:</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aim of the game is to make the largest number.</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Randomly place cards from Resource 31 – Place value cards face down in the centre of the small group of players.</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take turns to roll a 9-sided die.</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After each roll, the player flips over a card and multiplies the number rolled by the value on the card. For example, if a 9 is rolled and the card flipped says ‘× 100’, it would become 900.</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until each player has had a turn.</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player with the largest number receives a point if they can read the number correctly.</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Shuffle cards after each round of play.</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player with the most points at the end of the game period, wins.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small groups (3 to 4 students) with a pre-prepared set of Resource 31 – Place value cards and a 9-sided dice to play the game. </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share reflections on how making the number 10, 100 or 1000 times as large, changes the place value of the digits.</a:t>
            </a:r>
          </a:p>
        </p:txBody>
      </p:sp>
      <p:sp>
        <p:nvSpPr>
          <p:cNvPr id="4" name="Slide Number Placeholder 3">
            <a:extLst>
              <a:ext uri="{FF2B5EF4-FFF2-40B4-BE49-F238E27FC236}">
                <a16:creationId xmlns:a16="http://schemas.microsoft.com/office/drawing/2014/main" id="{2B66936B-920E-2CC4-FFBD-EB232567347E}"/>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625976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:Whole numbers</a:t>
            </a: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3D objects</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Three-dimensional spatial structure A: 3D Objects</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lang="en-AU" b="1"/>
          </a:p>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a:solidFill>
                <a:srgbClr val="444444"/>
              </a:solidFill>
              <a:latin typeface="Arial"/>
              <a:cs typeface="Arial"/>
            </a:endParaRPr>
          </a:p>
          <a:p>
            <a:r>
              <a:rPr lang="en-AU">
                <a:solidFill>
                  <a:srgbClr val="000000"/>
                </a:solidFill>
                <a:latin typeface="Arial"/>
                <a:cs typeface="Arial"/>
              </a:rPr>
              <a:t>Representing numbers using place value B: Whole numbers</a:t>
            </a:r>
            <a:endParaRPr lang="en-AU">
              <a:solidFill>
                <a:srgbClr val="444444"/>
              </a:solidFill>
            </a:endParaRPr>
          </a:p>
          <a:p>
            <a:endParaRPr lang="en-AU">
              <a:solidFill>
                <a:srgbClr val="000000"/>
              </a:solidFill>
              <a:latin typeface="Arial"/>
              <a:cs typeface="Arial"/>
            </a:endParaRPr>
          </a:p>
          <a:p>
            <a:r>
              <a:rPr lang="en-AU" b="1">
                <a:solidFill>
                  <a:srgbClr val="000000"/>
                </a:solidFill>
                <a:latin typeface="Arial"/>
                <a:cs typeface="Arial"/>
              </a:rPr>
              <a:t>10 times larger</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a:latin typeface="Arial" panose="020B0604020202020204" pitchFamily="34" charset="0"/>
                <a:cs typeface="Arial" panose="020B0604020202020204" pitchFamily="34" charset="0"/>
              </a:rPr>
              <a:t>This resource corresponds to </a:t>
            </a:r>
            <a:r>
              <a:rPr lang="en-AU" sz="1600" b="1">
                <a:latin typeface="Arial" panose="020B0604020202020204" pitchFamily="34" charset="0"/>
                <a:cs typeface="Arial" panose="020B0604020202020204" pitchFamily="34" charset="0"/>
              </a:rPr>
              <a:t>Resource 32 – ten times larger </a:t>
            </a:r>
            <a:r>
              <a:rPr lang="en-AU" sz="1600">
                <a:latin typeface="Arial" panose="020B0604020202020204" pitchFamily="34" charset="0"/>
                <a:cs typeface="Arial" panose="020B0604020202020204" pitchFamily="34" charset="0"/>
              </a:rPr>
              <a:t>in Stage 2 Year A Unit 18. </a:t>
            </a:r>
            <a:endParaRPr lang="en-US" sz="1600" b="0" i="0">
              <a:solidFill>
                <a:srgbClr val="444444"/>
              </a:solidFill>
              <a:effectLst/>
              <a:highlight>
                <a:srgbClr val="F5F5F5"/>
              </a:highlight>
              <a:latin typeface="Arial" panose="020B0604020202020204" pitchFamily="34" charset="0"/>
              <a:cs typeface="Arial" panose="020B0604020202020204" pitchFamily="34" charset="0"/>
            </a:endParaRPr>
          </a:p>
          <a:p>
            <a:endParaRPr lang="en-AU" b="1">
              <a:solidFill>
                <a:srgbClr val="000000"/>
              </a:solidFill>
              <a:latin typeface="Arial"/>
              <a:cs typeface="Arial"/>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Provide pairs with Resource 32 – ten times larger and two 9-sided dice.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Pairs roll the dice and record the number rolled as a 2-digit number. For example, if a 6 and a 2 are rolled, the number 62 would be recorded.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the numbers that are 10, 100 and 1000 times larger than the number rolled.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Repeat the process to complete the table on Resource 32 – ten times larger.</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 </a:t>
            </a:r>
            <a:r>
              <a:rPr lang="en-AU" sz="1600" kern="1200">
                <a:solidFill>
                  <a:schemeClr val="tx1"/>
                </a:solidFill>
                <a:effectLst/>
                <a:latin typeface="Arial" panose="020B0604020202020204" pitchFamily="34" charset="0"/>
                <a:ea typeface="+mn-ea"/>
                <a:cs typeface="Arial" panose="020B0604020202020204" pitchFamily="34" charset="0"/>
              </a:rPr>
              <a:t>some students may appreciate further investigation using 3-digit numbers.</a:t>
            </a:r>
          </a:p>
        </p:txBody>
      </p:sp>
      <p:sp>
        <p:nvSpPr>
          <p:cNvPr id="4" name="Slide Number Placeholder 3"/>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3634266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4E1AA-AE86-2419-E2D4-2F289D4B1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B1A52-D738-FB15-6A68-894885BF7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58CA6-89FC-61BC-201C-3E8BC638A2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a:t>
            </a:r>
            <a:r>
              <a:rPr lang="en-AU">
                <a:latin typeface="Arial"/>
                <a:cs typeface="Arial"/>
              </a:rPr>
              <a:t>7</a:t>
            </a:r>
            <a:r>
              <a:rPr lang="en-AU" sz="1600" b="0" i="0">
                <a:solidFill>
                  <a:schemeClr val="tx1"/>
                </a:solidFill>
                <a:latin typeface="Arial"/>
                <a:cs typeface="Arial"/>
              </a:rPr>
              <a:t>)</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:Whole numbers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2E524-5D71-6633-0348-9CDDC581B714}"/>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7992859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791DD-D751-7C1E-3A16-3E53BDEE4E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DE193-8D8F-0193-C913-CAEC2F64B5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825C5F-B779-38B7-5ADC-F242F5A0668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A</a:t>
            </a: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0B8F899-276E-90B9-B313-89A57A3A2FCA}"/>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35271351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Geometric measure A: Length</a:t>
            </a:r>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Representing numbers using place value B: Whole numbers</a:t>
            </a:r>
            <a:endParaRPr lang="en-AU">
              <a:solidFill>
                <a:srgbClr val="444444"/>
              </a:solidFill>
              <a:latin typeface="Arial"/>
              <a:cs typeface="Arial"/>
            </a:endParaRPr>
          </a:p>
          <a:p>
            <a:pPr marL="285750" indent="-285750">
              <a:buFont typeface="Arial" panose="020F0302020204030204"/>
              <a:buChar char="•"/>
            </a:pPr>
            <a:endParaRPr lang="en-AU">
              <a:solidFill>
                <a:srgbClr val="444444"/>
              </a:solidFill>
            </a:endParaRPr>
          </a:p>
          <a:p>
            <a:pPr marL="285750" indent="-285750">
              <a:buFont typeface="Arial" panose="020F0302020204030204"/>
              <a:buChar char="•"/>
            </a:pPr>
            <a:endParaRPr lang="en-AU">
              <a:solidFill>
                <a:srgbClr val="444444"/>
              </a:solidFill>
            </a:endParaRPr>
          </a:p>
          <a:p>
            <a:pPr>
              <a:lnSpc>
                <a:spcPct val="150000"/>
              </a:lnSpc>
              <a:spcBef>
                <a:spcPts val="1200"/>
              </a:spcBef>
              <a:spcAft>
                <a:spcPts val="600"/>
              </a:spcAft>
            </a:pPr>
            <a:r>
              <a:rPr lang="en-AU" b="1">
                <a:latin typeface="Arial"/>
                <a:ea typeface="Calibri"/>
                <a:cs typeface="Arial"/>
              </a:rPr>
              <a:t>Truth detective</a:t>
            </a: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a:latin typeface="Arial" panose="020B0604020202020204" pitchFamily="34" charset="0"/>
                <a:cs typeface="Arial" panose="020B0604020202020204" pitchFamily="34" charset="0"/>
              </a:rPr>
              <a:t>This resource corresponds to </a:t>
            </a:r>
            <a:r>
              <a:rPr lang="en-AU" b="1">
                <a:latin typeface="Arial" panose="020B0604020202020204" pitchFamily="34" charset="0"/>
                <a:cs typeface="Arial" panose="020B0604020202020204" pitchFamily="34" charset="0"/>
              </a:rPr>
              <a:t>Resource 33 – truth detective </a:t>
            </a:r>
            <a:r>
              <a:rPr lang="en-AU">
                <a:latin typeface="Arial" panose="020B0604020202020204" pitchFamily="34" charset="0"/>
                <a:cs typeface="Arial" panose="020B0604020202020204" pitchFamily="34" charset="0"/>
              </a:rPr>
              <a:t>in Stage 2 Year A Unit 18. </a:t>
            </a:r>
            <a:endParaRPr lang="en-US" b="0" i="0">
              <a:solidFill>
                <a:srgbClr val="444444"/>
              </a:solidFill>
              <a:effectLst/>
              <a:highlight>
                <a:srgbClr val="F5F5F5"/>
              </a:highlight>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b="1">
              <a:ea typeface="Calibri"/>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Display Resource 33 – Truth detective. Explain that Detective Solve-it needs help identifying the true statement.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turn and talk with a partner to determine the true statement and justify their choice. Monitor and provide feedback on their understanding of how multiplying a number by 10, 100, or 1000 changes its place value.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Pairs create their own ‘truth detective’ scenarios involving numbers 10, 100 or 1000 times as large.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p:txBody>
      </p:sp>
      <p:sp>
        <p:nvSpPr>
          <p:cNvPr id="4" name="Slide Number Placeholder 3"/>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54</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388347486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Representing numbers using place value B :Whole numbers</a:t>
            </a: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Data A</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3E699-7014-C483-B165-B62A376C4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73FE9E-1480-88AB-9849-73CB1C7E2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F12DD-9D02-6C96-15B5-BB311F9F95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Partitioned fractions B</a:t>
            </a:r>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F3ADEB-77DF-CEE1-C1A5-7BB59422E132}"/>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323437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b="0" i="0" kern="1200">
                <a:solidFill>
                  <a:schemeClr val="tx1"/>
                </a:solidFill>
                <a:effectLst/>
                <a:latin typeface="Arial" panose="020B0604020202020204" pitchFamily="34" charset="0"/>
                <a:ea typeface="+mn-ea"/>
                <a:cs typeface="Arial" panose="020B0604020202020204" pitchFamily="34" charset="0"/>
              </a:rPr>
              <a:t>Non-spatial measure A: Time</a:t>
            </a:r>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B2DA-D00A-CEC7-928F-02C5CBFF5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E87F3-3012-0A7D-4C81-B6EEE31A0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0ABAC-F7EB-444D-ED88-8E17415C9E29}"/>
              </a:ext>
            </a:extLst>
          </p:cNvPr>
          <p:cNvSpPr>
            <a:spLocks noGrp="1"/>
          </p:cNvSpPr>
          <p:nvPr>
            <p:ph type="body" idx="1"/>
          </p:nvPr>
        </p:nvSpPr>
        <p:spPr/>
        <p:txBody>
          <a:bodyPr/>
          <a:lstStyle/>
          <a:p>
            <a:endParaRPr lang="en-AU" sz="1800">
              <a:latin typeface="Arial"/>
              <a:ea typeface="Calibri"/>
              <a:cs typeface="Arial"/>
            </a:endParaRPr>
          </a:p>
          <a:p>
            <a:pPr>
              <a:lnSpc>
                <a:spcPct val="150000"/>
              </a:lnSpc>
              <a:spcBef>
                <a:spcPts val="1200"/>
              </a:spcBef>
              <a:spcAft>
                <a:spcPts val="600"/>
              </a:spcAft>
            </a:pPr>
            <a:r>
              <a:rPr lang="en-AU">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latin typeface="Arial"/>
                <a:cs typeface="Arial"/>
              </a:rPr>
              <a:t>Syllabus focus area:</a:t>
            </a:r>
            <a:endParaRPr lang="en-US">
              <a:solidFill>
                <a:srgbClr val="444444"/>
              </a:solidFill>
              <a:latin typeface="Arial"/>
              <a:cs typeface="Arial"/>
            </a:endParaRPr>
          </a:p>
          <a:p>
            <a:r>
              <a:rPr lang="en-AU">
                <a:latin typeface="Arial"/>
                <a:cs typeface="Arial"/>
              </a:rPr>
              <a:t>Representing numbers using place value B: Whole numbers</a:t>
            </a:r>
            <a:endParaRPr lang="en-AU">
              <a:solidFill>
                <a:srgbClr val="444444"/>
              </a:solidFill>
              <a:latin typeface="Arial"/>
              <a:cs typeface="Arial"/>
            </a:endParaRPr>
          </a:p>
          <a:p>
            <a:endParaRPr lang="en-AU">
              <a:solidFill>
                <a:srgbClr val="444444"/>
              </a:solidFill>
            </a:endParaRPr>
          </a:p>
          <a:p>
            <a:pPr>
              <a:lnSpc>
                <a:spcPct val="150000"/>
              </a:lnSpc>
              <a:spcBef>
                <a:spcPts val="1200"/>
              </a:spcBef>
              <a:spcAft>
                <a:spcPts val="600"/>
              </a:spcAft>
            </a:pPr>
            <a:r>
              <a:rPr lang="en-AU" b="1">
                <a:latin typeface="Arial"/>
                <a:cs typeface="Arial"/>
              </a:rPr>
              <a:t>10 times larger</a:t>
            </a: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a:t>This resource corresponds to </a:t>
            </a:r>
            <a:r>
              <a:rPr lang="en-AU" sz="1600" b="1" kern="1200">
                <a:solidFill>
                  <a:schemeClr val="tx1"/>
                </a:solidFill>
                <a:effectLst/>
                <a:latin typeface="Arial" panose="020B0604020202020204" pitchFamily="34" charset="0"/>
                <a:ea typeface="+mn-ea"/>
                <a:cs typeface="Arial" panose="020B0604020202020204" pitchFamily="34" charset="0"/>
              </a:rPr>
              <a:t>Resource 31 – place value cards </a:t>
            </a:r>
            <a:r>
              <a:rPr lang="en-AU" sz="1600" kern="1200">
                <a:solidFill>
                  <a:schemeClr val="tx1"/>
                </a:solidFill>
                <a:effectLst/>
                <a:latin typeface="Arial" panose="020B0604020202020204" pitchFamily="34" charset="0"/>
                <a:ea typeface="+mn-ea"/>
                <a:cs typeface="Arial" panose="020B0604020202020204" pitchFamily="34" charset="0"/>
              </a:rPr>
              <a:t>and </a:t>
            </a:r>
            <a:r>
              <a:rPr lang="en-AU" b="1"/>
              <a:t>Resource 34 – number cards </a:t>
            </a:r>
            <a:r>
              <a:rPr lang="en-AU"/>
              <a:t>in Stage 2 Year A Unit 18. </a:t>
            </a:r>
            <a:endParaRPr lang="en-US" b="0" i="0">
              <a:solidFill>
                <a:srgbClr val="444444"/>
              </a:solidFill>
              <a:effectLst/>
              <a:highlight>
                <a:srgbClr val="F5F5F5"/>
              </a:highlight>
              <a:latin typeface="Calibri" panose="020F0502020204030204" pitchFamily="34" charset="0"/>
            </a:endParaRPr>
          </a:p>
          <a:p>
            <a:pPr>
              <a:lnSpc>
                <a:spcPct val="150000"/>
              </a:lnSpc>
              <a:spcBef>
                <a:spcPts val="1200"/>
              </a:spcBef>
              <a:spcAft>
                <a:spcPts val="600"/>
              </a:spcAft>
            </a:pPr>
            <a:endParaRPr lang="en-AU">
              <a:solidFill>
                <a:srgbClr val="444444"/>
              </a:solidFill>
              <a:latin typeface="Arial"/>
              <a:cs typeface="Arial"/>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prepare Resource 34 – Number cards prior to the lesson by printing and cutting one set per small group (3 to 4 students). Resource 31 – Place value cards can be utilised from DNS activity 5. </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the rules of the game: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work in pairs or small groups.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player draws one number card and one multiplier card.</a:t>
            </a:r>
          </a:p>
          <a:p>
            <a:pPr marL="1562070" lvl="2" indent="-34290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Example: </a:t>
            </a:r>
            <a:r>
              <a:rPr lang="en-AU" sz="1600" i="1" kern="1200">
                <a:solidFill>
                  <a:schemeClr val="tx1"/>
                </a:solidFill>
                <a:effectLst/>
                <a:latin typeface="Arial" panose="020B0604020202020204" pitchFamily="34" charset="0"/>
                <a:ea typeface="+mn-ea"/>
                <a:cs typeface="Arial" panose="020B0604020202020204" pitchFamily="34" charset="0"/>
              </a:rPr>
              <a:t>Number card: 76</a:t>
            </a:r>
            <a:r>
              <a:rPr lang="en-AU" sz="1600" kern="1200">
                <a:solidFill>
                  <a:schemeClr val="tx1"/>
                </a:solidFill>
                <a:effectLst/>
                <a:latin typeface="Arial" panose="020B0604020202020204" pitchFamily="34" charset="0"/>
                <a:ea typeface="+mn-ea"/>
                <a:cs typeface="Arial" panose="020B0604020202020204" pitchFamily="34" charset="0"/>
              </a:rPr>
              <a:t>, </a:t>
            </a:r>
            <a:r>
              <a:rPr lang="en-AU" sz="1600" i="1" kern="1200">
                <a:solidFill>
                  <a:schemeClr val="tx1"/>
                </a:solidFill>
                <a:effectLst/>
                <a:latin typeface="Arial" panose="020B0604020202020204" pitchFamily="34" charset="0"/>
                <a:ea typeface="+mn-ea"/>
                <a:cs typeface="Arial" panose="020B0604020202020204" pitchFamily="34" charset="0"/>
              </a:rPr>
              <a:t>Place value card: ×100</a:t>
            </a:r>
            <a:endParaRPr lang="en-AU" sz="1600" kern="1200">
              <a:solidFill>
                <a:schemeClr val="tx1"/>
              </a:solidFill>
              <a:effectLst/>
              <a:latin typeface="Arial" panose="020B0604020202020204" pitchFamily="34" charset="0"/>
              <a:ea typeface="+mn-ea"/>
              <a:cs typeface="Arial" panose="020B0604020202020204" pitchFamily="34" charset="0"/>
            </a:endParaRP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student multiplies the number (76 × 100 = 7 600).</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They then describe how the digits have changed position using place value language. For example, the 7 shifted from tens place to thousands place, and the 6 moved from ones place to hundreds place.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next player takes a turn.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as a class and check for understanding by asking: </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happened to the digits when you multiplied the number?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does multiplying by 1000 make the number bigger compared to multiplying by 10?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Remind students that multiplying by 10, 100, or 1000 does not change the digits themselves, but moves them to a different place, which changes their value.</a:t>
            </a:r>
          </a:p>
          <a:p>
            <a:pPr marL="342900" lvl="0" indent="-342900">
              <a:lnSpc>
                <a:spcPct val="150000"/>
              </a:lnSpc>
              <a:spcBef>
                <a:spcPts val="1200"/>
              </a:spcBef>
              <a:spcAft>
                <a:spcPts val="600"/>
              </a:spcAft>
              <a:buFont typeface="Symbol" panose="05050102010706020507" pitchFamily="18" charset="2"/>
              <a:buChar char=""/>
            </a:pPr>
            <a:endParaRPr lang="en-AU" sz="1600">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68EDC15E-18C1-4960-876B-ABB3A042E462}"/>
              </a:ext>
            </a:extLst>
          </p:cNvPr>
          <p:cNvSpPr>
            <a:spLocks noGrp="1"/>
          </p:cNvSpPr>
          <p:nvPr>
            <p:ph type="sldNum" sz="quarter" idx="5"/>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B07158C4-A119-4B78-9DE8-A50001BC31DC}" type="slidenum">
              <a:rPr kumimoji="0" lang="en-AU" sz="1200" b="0" i="0" u="none" strike="noStrike" kern="1200" cap="none" spc="0" normalizeH="0" baseline="0" noProof="0" smtClean="0">
                <a:ln>
                  <a:noFill/>
                </a:ln>
                <a:solidFill>
                  <a:prstClr val="black"/>
                </a:solidFill>
                <a:effectLst/>
                <a:uLnTx/>
                <a:uFillTx/>
                <a:latin typeface="Public Sans" pitchFamily="2" charset="0"/>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61</a:t>
            </a:fld>
            <a:endParaRPr kumimoji="0" lang="en-AU" sz="1200" b="0" i="0" u="none" strike="noStrike" kern="1200" cap="none" spc="0" normalizeH="0" baseline="0" noProof="0">
              <a:ln>
                <a:noFill/>
              </a:ln>
              <a:solidFill>
                <a:prstClr val="black"/>
              </a:solidFill>
              <a:effectLst/>
              <a:uLnTx/>
              <a:uFillTx/>
              <a:latin typeface="Public Sans" pitchFamily="2" charset="0"/>
              <a:ea typeface="+mn-ea"/>
              <a:cs typeface="+mn-cs"/>
            </a:endParaRPr>
          </a:p>
        </p:txBody>
      </p:sp>
    </p:spTree>
    <p:extLst>
      <p:ext uri="{BB962C8B-B14F-4D97-AF65-F5344CB8AC3E}">
        <p14:creationId xmlns:p14="http://schemas.microsoft.com/office/powerpoint/2010/main" val="7241353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8077151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9288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50" r:id="rId13"/>
    <p:sldLayoutId id="2147483744" r:id="rId14"/>
    <p:sldLayoutId id="2147483755"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8.xml"/><Relationship Id="rId3" Type="http://schemas.openxmlformats.org/officeDocument/2006/relationships/slide" Target="slide4.xml"/><Relationship Id="rId7" Type="http://schemas.openxmlformats.org/officeDocument/2006/relationships/slide" Target="slide41.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6.xml"/><Relationship Id="rId5" Type="http://schemas.openxmlformats.org/officeDocument/2006/relationships/slide" Target="slide19.xml"/><Relationship Id="rId10" Type="http://schemas.openxmlformats.org/officeDocument/2006/relationships/slide" Target="slide34.xml"/><Relationship Id="rId4" Type="http://schemas.openxmlformats.org/officeDocument/2006/relationships/slide" Target="slide12.xml"/><Relationship Id="rId9" Type="http://schemas.openxmlformats.org/officeDocument/2006/relationships/slide" Target="slide5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microsoft.com/office/2007/relationships/hdphoto" Target="../media/hdphoto1.wdp"/><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10.png"/><Relationship Id="rId7"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9.xml"/><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0.xml"/><Relationship Id="rId1" Type="http://schemas.openxmlformats.org/officeDocument/2006/relationships/slideLayout" Target="../slideLayouts/slideLayout7.xml"/><Relationship Id="rId5" Type="http://schemas.openxmlformats.org/officeDocument/2006/relationships/image" Target="../media/image44.svg"/><Relationship Id="rId4" Type="http://schemas.openxmlformats.org/officeDocument/2006/relationships/image" Target="../media/image43.png"/></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23.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6.xml"/><Relationship Id="rId1" Type="http://schemas.openxmlformats.org/officeDocument/2006/relationships/slideLayout" Target="../slideLayouts/slideLayout11.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slide" Target="slide6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8" Type="http://schemas.openxmlformats.org/officeDocument/2006/relationships/hyperlink" Target="https://curriculum.nsw.edu.au/learning-areas/mathematics/mathematics-k-10-2022/content/stage-2/face5c0f2c?show=advice" TargetMode="External"/><Relationship Id="rId13" Type="http://schemas.openxmlformats.org/officeDocument/2006/relationships/hyperlink" Target="https://curriculum.nsw.edu.au/" TargetMode="External"/><Relationship Id="rId3" Type="http://schemas.openxmlformats.org/officeDocument/2006/relationships/hyperlink" Target="https://curriculum.nsw.edu.au/learning-areas/mathematics/mathematics-k-10-2022/overview" TargetMode="External"/><Relationship Id="rId7" Type="http://schemas.openxmlformats.org/officeDocument/2006/relationships/hyperlink" Target="https://curriculum.nsw.edu.au/learning-areas/mathematics/mathematics-k-10-2022/glossary" TargetMode="External"/><Relationship Id="rId12" Type="http://schemas.openxmlformats.org/officeDocument/2006/relationships/hyperlink" Target="https://educationstandards.nsw.edu.au/wps/portal/nesa/home"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 Id="rId6" Type="http://schemas.openxmlformats.org/officeDocument/2006/relationships/hyperlink" Target="https://polypad.amplify.com/p" TargetMode="External"/><Relationship Id="rId11" Type="http://schemas.openxmlformats.org/officeDocument/2006/relationships/hyperlink" Target="https://educationstandards.nsw.edu.au/wps/portal/nesa/mini-footer/copyright" TargetMode="External"/><Relationship Id="rId5" Type="http://schemas.openxmlformats.org/officeDocument/2006/relationships/hyperlink" Target="http://www.australiancurriculum.edu.au/" TargetMode="External"/><Relationship Id="rId10" Type="http://schemas.openxmlformats.org/officeDocument/2006/relationships/hyperlink" Target="https://wheelofnames.com/" TargetMode="External"/><Relationship Id="rId4" Type="http://schemas.openxmlformats.org/officeDocument/2006/relationships/hyperlink" Target="https://education.nsw.gov.au/teaching-and-learning/curriculum/literacy-and-numeracy/resources-for-schools/learning-progressions" TargetMode="External"/><Relationship Id="rId9" Type="http://schemas.openxmlformats.org/officeDocument/2006/relationships/hyperlink" Target="https://curriculum.nsw.edu.au/learning-areas/mathematics/mathematics-k-10-2022/content/stage-2/fae1144fe0?show=advice" TargetMode="External"/></Relationships>
</file>

<file path=ppt/slides/_rels/slide70.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A Unit 18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18</a:t>
            </a:r>
          </a:p>
        </p:txBody>
      </p:sp>
      <p:pic>
        <p:nvPicPr>
          <p:cNvPr id="1026" name="Picture 2">
            <a:extLst>
              <a:ext uri="{FF2B5EF4-FFF2-40B4-BE49-F238E27FC236}">
                <a16:creationId xmlns:a16="http://schemas.microsoft.com/office/drawing/2014/main" id="{4C45AFD8-1A65-DE91-574E-A3BA8B7840B0}"/>
              </a:ext>
              <a:ext uri="{C183D7F6-B498-43B3-948B-1728B52AA6E4}">
                <adec:decorative xmlns:adec="http://schemas.microsoft.com/office/drawing/2017/decorative" val="1"/>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55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26" name="Title 2">
            <a:extLst>
              <a:ext uri="{FF2B5EF4-FFF2-40B4-BE49-F238E27FC236}">
                <a16:creationId xmlns:a16="http://schemas.microsoft.com/office/drawing/2014/main" id="{7659F212-1F70-2A01-C084-DC82F565D1F7}"/>
              </a:ext>
            </a:extLst>
          </p:cNvPr>
          <p:cNvSpPr>
            <a:spLocks noGrp="1"/>
          </p:cNvSpPr>
          <p:nvPr>
            <p:ph type="title"/>
          </p:nvPr>
        </p:nvSpPr>
        <p:spPr>
          <a:xfrm>
            <a:off x="360000" y="360000"/>
            <a:ext cx="11243038" cy="545601"/>
          </a:xfrm>
        </p:spPr>
        <p:txBody>
          <a:bodyPr/>
          <a:lstStyle/>
          <a:p>
            <a:r>
              <a:rPr lang="en-US"/>
              <a:t>Multiple choice</a:t>
            </a:r>
            <a:r>
              <a:rPr lang="en-US">
                <a:solidFill>
                  <a:schemeClr val="bg1"/>
                </a:solidFill>
              </a:rPr>
              <a:t> (1)</a:t>
            </a:r>
          </a:p>
        </p:txBody>
      </p:sp>
      <p:graphicFrame>
        <p:nvGraphicFramePr>
          <p:cNvPr id="28" name="Table 27">
            <a:extLst>
              <a:ext uri="{FF2B5EF4-FFF2-40B4-BE49-F238E27FC236}">
                <a16:creationId xmlns:a16="http://schemas.microsoft.com/office/drawing/2014/main" id="{374B797E-779E-6930-C8C4-1EE36E9CA87D}"/>
              </a:ext>
            </a:extLst>
          </p:cNvPr>
          <p:cNvGraphicFramePr>
            <a:graphicFrameLocks noGrp="1"/>
          </p:cNvGraphicFramePr>
          <p:nvPr>
            <p:extLst>
              <p:ext uri="{D42A27DB-BD31-4B8C-83A1-F6EECF244321}">
                <p14:modId xmlns:p14="http://schemas.microsoft.com/office/powerpoint/2010/main" val="2573253879"/>
              </p:ext>
            </p:extLst>
          </p:nvPr>
        </p:nvGraphicFramePr>
        <p:xfrm>
          <a:off x="572708" y="4426598"/>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28</a:t>
                      </a: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36</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38</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4000">
                          <a:latin typeface="+mn-lt"/>
                          <a:cs typeface="Arial"/>
                        </a:rPr>
                        <a:t>64</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29" name="Picture 28" descr="image of a finger selecting an option for a multiple choice or true and false">
            <a:extLst>
              <a:ext uri="{FF2B5EF4-FFF2-40B4-BE49-F238E27FC236}">
                <a16:creationId xmlns:a16="http://schemas.microsoft.com/office/drawing/2014/main" id="{8EE53352-4F14-7802-76C4-3FEC7ABDF5A3}"/>
              </a:ext>
            </a:extLst>
          </p:cNvPr>
          <p:cNvPicPr>
            <a:picLocks noChangeAspect="1"/>
          </p:cNvPicPr>
          <p:nvPr/>
        </p:nvPicPr>
        <p:blipFill>
          <a:blip r:embed="rId3"/>
          <a:stretch>
            <a:fillRect/>
          </a:stretch>
        </p:blipFill>
        <p:spPr>
          <a:xfrm>
            <a:off x="10807908" y="43303"/>
            <a:ext cx="1165786" cy="1140716"/>
          </a:xfrm>
          <a:prstGeom prst="rect">
            <a:avLst/>
          </a:prstGeom>
        </p:spPr>
      </p:pic>
      <p:grpSp>
        <p:nvGrpSpPr>
          <p:cNvPr id="37" name="Group 36" descr="Bar model for 36 + 28 = 64">
            <a:extLst>
              <a:ext uri="{FF2B5EF4-FFF2-40B4-BE49-F238E27FC236}">
                <a16:creationId xmlns:a16="http://schemas.microsoft.com/office/drawing/2014/main" id="{DF4F341D-AA0B-1843-8D08-AE92B7694957}"/>
              </a:ext>
            </a:extLst>
          </p:cNvPr>
          <p:cNvGrpSpPr/>
          <p:nvPr/>
        </p:nvGrpSpPr>
        <p:grpSpPr>
          <a:xfrm>
            <a:off x="2752213" y="2692973"/>
            <a:ext cx="6605919" cy="1203076"/>
            <a:chOff x="2095319" y="2225924"/>
            <a:chExt cx="7772400" cy="1275348"/>
          </a:xfrm>
        </p:grpSpPr>
        <p:sp>
          <p:nvSpPr>
            <p:cNvPr id="32" name="Rectangle 31">
              <a:extLst>
                <a:ext uri="{FF2B5EF4-FFF2-40B4-BE49-F238E27FC236}">
                  <a16:creationId xmlns:a16="http://schemas.microsoft.com/office/drawing/2014/main" id="{9AF45C53-91F3-D5F7-B4BF-D018A291E324}"/>
                </a:ext>
              </a:extLst>
            </p:cNvPr>
            <p:cNvSpPr/>
            <p:nvPr/>
          </p:nvSpPr>
          <p:spPr>
            <a:xfrm>
              <a:off x="2095319" y="2225924"/>
              <a:ext cx="7772400" cy="637674"/>
            </a:xfrm>
            <a:prstGeom prst="rect">
              <a:avLst/>
            </a:prstGeom>
            <a:solidFill>
              <a:srgbClr val="E5D9F6"/>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64</a:t>
              </a:r>
            </a:p>
          </p:txBody>
        </p:sp>
        <p:sp>
          <p:nvSpPr>
            <p:cNvPr id="33" name="Rectangle 32">
              <a:extLst>
                <a:ext uri="{FF2B5EF4-FFF2-40B4-BE49-F238E27FC236}">
                  <a16:creationId xmlns:a16="http://schemas.microsoft.com/office/drawing/2014/main" id="{375D36DC-C810-9F45-2A6D-7DAB335C5B3A}"/>
                </a:ext>
              </a:extLst>
            </p:cNvPr>
            <p:cNvSpPr/>
            <p:nvPr/>
          </p:nvSpPr>
          <p:spPr>
            <a:xfrm>
              <a:off x="2095319" y="2863598"/>
              <a:ext cx="5171755" cy="637674"/>
            </a:xfrm>
            <a:prstGeom prst="rect">
              <a:avLst/>
            </a:prstGeom>
            <a:solidFill>
              <a:srgbClr val="F6EFAD"/>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36</a:t>
              </a:r>
            </a:p>
          </p:txBody>
        </p:sp>
        <p:sp>
          <p:nvSpPr>
            <p:cNvPr id="34" name="Rectangle 33">
              <a:extLst>
                <a:ext uri="{FF2B5EF4-FFF2-40B4-BE49-F238E27FC236}">
                  <a16:creationId xmlns:a16="http://schemas.microsoft.com/office/drawing/2014/main" id="{1A295278-A2F7-D4DC-1C7B-4E110ABAB359}"/>
                </a:ext>
              </a:extLst>
            </p:cNvPr>
            <p:cNvSpPr/>
            <p:nvPr/>
          </p:nvSpPr>
          <p:spPr>
            <a:xfrm>
              <a:off x="7267075" y="2863598"/>
              <a:ext cx="2600644" cy="637674"/>
            </a:xfrm>
            <a:prstGeom prst="rect">
              <a:avLst/>
            </a:prstGeom>
            <a:solidFill>
              <a:srgbClr val="E6E7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28</a:t>
              </a:r>
            </a:p>
          </p:txBody>
        </p:sp>
      </p:grpSp>
      <p:sp>
        <p:nvSpPr>
          <p:cNvPr id="38" name="Text Placeholder 17">
            <a:extLst>
              <a:ext uri="{FF2B5EF4-FFF2-40B4-BE49-F238E27FC236}">
                <a16:creationId xmlns:a16="http://schemas.microsoft.com/office/drawing/2014/main" id="{8F6599EF-047D-B130-53BC-A50A95385167}"/>
              </a:ext>
            </a:extLst>
          </p:cNvPr>
          <p:cNvSpPr txBox="1">
            <a:spLocks/>
          </p:cNvSpPr>
          <p:nvPr/>
        </p:nvSpPr>
        <p:spPr>
          <a:xfrm>
            <a:off x="719546" y="1548488"/>
            <a:ext cx="10671255" cy="93068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If </a:t>
            </a:r>
            <a:r>
              <a:rPr lang="en-US" sz="4400" b="1">
                <a:latin typeface="Arial"/>
                <a:cs typeface="Arial"/>
              </a:rPr>
              <a:t>36 + 28 = 64</a:t>
            </a:r>
            <a:r>
              <a:rPr lang="en-US" sz="4400">
                <a:latin typeface="Arial"/>
                <a:cs typeface="Arial"/>
              </a:rPr>
              <a:t>, then what is </a:t>
            </a:r>
            <a:r>
              <a:rPr lang="en-US" sz="4400" b="1">
                <a:latin typeface="Arial"/>
                <a:cs typeface="Arial"/>
              </a:rPr>
              <a:t>64 – 28</a:t>
            </a:r>
            <a:r>
              <a:rPr lang="en-US" sz="4400">
                <a:latin typeface="Arial"/>
                <a:cs typeface="Arial"/>
              </a:rPr>
              <a:t>? </a:t>
            </a:r>
          </a:p>
          <a:p>
            <a:pPr algn="ctr"/>
            <a:endParaRPr lang="en-US"/>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 </a:t>
            </a:r>
            <a:r>
              <a:rPr lang="en-US">
                <a:solidFill>
                  <a:schemeClr val="bg1"/>
                </a:solidFill>
              </a:rPr>
              <a:t>(1)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60000" y="1283431"/>
            <a:ext cx="4542200" cy="5133359"/>
          </a:xfrm>
        </p:spPr>
        <p:txBody>
          <a:bodyPr/>
          <a:lstStyle/>
          <a:p>
            <a:pPr algn="ctr">
              <a:lnSpc>
                <a:spcPct val="100000"/>
              </a:lnSpc>
            </a:pPr>
            <a:r>
              <a:rPr lang="en-US" sz="3600" b="1">
                <a:latin typeface="Arial"/>
                <a:cs typeface="Arial"/>
              </a:rPr>
              <a:t>Identify</a:t>
            </a:r>
            <a:r>
              <a:rPr lang="en-US" sz="3600">
                <a:latin typeface="Arial"/>
                <a:cs typeface="Arial"/>
              </a:rPr>
              <a:t> the </a:t>
            </a:r>
            <a:r>
              <a:rPr lang="en-US" sz="3600" b="1">
                <a:latin typeface="Arial"/>
                <a:cs typeface="Arial"/>
              </a:rPr>
              <a:t>features</a:t>
            </a:r>
            <a:r>
              <a:rPr lang="en-US" sz="3600">
                <a:latin typeface="Arial"/>
                <a:cs typeface="Arial"/>
              </a:rPr>
              <a:t> of the graph:</a:t>
            </a:r>
          </a:p>
          <a:p>
            <a:pPr marL="571500" indent="-571500" algn="ctr">
              <a:lnSpc>
                <a:spcPct val="100000"/>
              </a:lnSpc>
              <a:buFont typeface="Arial" panose="020B0604020202020204" pitchFamily="34" charset="0"/>
              <a:buChar char="−"/>
            </a:pPr>
            <a:r>
              <a:rPr lang="en-US" sz="3600">
                <a:latin typeface="Arial"/>
                <a:cs typeface="Arial"/>
              </a:rPr>
              <a:t>title</a:t>
            </a:r>
          </a:p>
          <a:p>
            <a:pPr marL="571500" indent="-571500" algn="ctr">
              <a:lnSpc>
                <a:spcPct val="100000"/>
              </a:lnSpc>
              <a:buFont typeface="Arial" panose="020B0604020202020204" pitchFamily="34" charset="0"/>
              <a:buChar char="−"/>
            </a:pPr>
            <a:r>
              <a:rPr lang="en-US" sz="3600">
                <a:latin typeface="Arial"/>
                <a:cs typeface="Arial"/>
              </a:rPr>
              <a:t>x-axis</a:t>
            </a:r>
          </a:p>
          <a:p>
            <a:pPr marL="571500" indent="-571500" algn="ctr">
              <a:lnSpc>
                <a:spcPct val="100000"/>
              </a:lnSpc>
              <a:buFont typeface="Arial" panose="020B0604020202020204" pitchFamily="34" charset="0"/>
              <a:buChar char="−"/>
            </a:pPr>
            <a:r>
              <a:rPr lang="en-US" sz="3600">
                <a:latin typeface="Arial"/>
                <a:cs typeface="Arial"/>
              </a:rPr>
              <a:t>y-axis</a:t>
            </a:r>
          </a:p>
          <a:p>
            <a:pPr marL="571500" indent="-571500" algn="ctr">
              <a:lnSpc>
                <a:spcPct val="100000"/>
              </a:lnSpc>
              <a:buFont typeface="Arial" panose="020B0604020202020204" pitchFamily="34" charset="0"/>
              <a:buChar char="−"/>
            </a:pPr>
            <a:r>
              <a:rPr lang="en-US" sz="3600">
                <a:latin typeface="Arial"/>
                <a:cs typeface="Arial"/>
              </a:rPr>
              <a:t>categories</a:t>
            </a:r>
          </a:p>
          <a:p>
            <a:pPr marL="571500" indent="-571500" algn="ctr">
              <a:lnSpc>
                <a:spcPct val="100000"/>
              </a:lnSpc>
              <a:buFont typeface="Arial" panose="020B0604020202020204" pitchFamily="34" charset="0"/>
              <a:buChar char="−"/>
            </a:pPr>
            <a:r>
              <a:rPr lang="en-US" sz="3600">
                <a:latin typeface="Arial"/>
                <a:cs typeface="Arial"/>
              </a:rPr>
              <a:t>data</a:t>
            </a:r>
          </a:p>
          <a:p>
            <a:pPr marL="571500" indent="-571500" algn="ctr">
              <a:lnSpc>
                <a:spcPct val="100000"/>
              </a:lnSpc>
              <a:buFont typeface="Arial" panose="020B0604020202020204" pitchFamily="34" charset="0"/>
              <a:buChar char="−"/>
            </a:pPr>
            <a:r>
              <a:rPr lang="en-US" sz="3600">
                <a:latin typeface="Arial"/>
                <a:cs typeface="Arial"/>
              </a:rPr>
              <a:t>intervals</a:t>
            </a:r>
            <a:endParaRPr lang="en-US" sz="1600">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60B5CDFF-4A15-89C2-D24B-9A50E271EEC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4" name="Picture 3" descr="Column graph showing how students travel to school most days. Car is 12 students, bike is 3, walk is 4, public transport is 8, scooter is 3.">
            <a:extLst>
              <a:ext uri="{FF2B5EF4-FFF2-40B4-BE49-F238E27FC236}">
                <a16:creationId xmlns:a16="http://schemas.microsoft.com/office/drawing/2014/main" id="{7E3AEFBB-21E6-E357-58D0-03DCD6E0BEBC}"/>
              </a:ext>
            </a:extLst>
          </p:cNvPr>
          <p:cNvPicPr>
            <a:picLocks noChangeAspect="1"/>
          </p:cNvPicPr>
          <p:nvPr/>
        </p:nvPicPr>
        <p:blipFill>
          <a:blip r:embed="rId4">
            <a:extLst>
              <a:ext uri="{28A0092B-C50C-407E-A947-70E740481C1C}">
                <a14:useLocalDpi xmlns:a14="http://schemas.microsoft.com/office/drawing/2010/main"/>
              </a:ext>
            </a:extLst>
          </a:blip>
          <a:srcRect l="2326" t="4572" r="3490" b="2488"/>
          <a:stretch>
            <a:fillRect/>
          </a:stretch>
        </p:blipFill>
        <p:spPr>
          <a:xfrm>
            <a:off x="5095651" y="2036618"/>
            <a:ext cx="6835906" cy="4047663"/>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rPr>
              <a:t>(2)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1034218" y="1598128"/>
            <a:ext cx="10123564" cy="3873281"/>
          </a:xfrm>
        </p:spPr>
        <p:txBody>
          <a:bodyPr/>
          <a:lstStyle/>
          <a:p>
            <a:pPr algn="ctr">
              <a:lnSpc>
                <a:spcPct val="100000"/>
              </a:lnSpc>
            </a:pPr>
            <a:r>
              <a:rPr lang="en-AU" sz="4400">
                <a:latin typeface="Arial"/>
                <a:cs typeface="Arial"/>
              </a:rPr>
              <a:t>Create a </a:t>
            </a:r>
            <a:r>
              <a:rPr lang="en-AU" sz="4400" b="1">
                <a:latin typeface="Arial"/>
                <a:cs typeface="Arial"/>
              </a:rPr>
              <a:t>number pattern </a:t>
            </a:r>
            <a:r>
              <a:rPr lang="en-AU" sz="4400">
                <a:latin typeface="Arial"/>
                <a:cs typeface="Arial"/>
              </a:rPr>
              <a:t>using </a:t>
            </a:r>
            <a:r>
              <a:rPr lang="en-AU" sz="4400" b="1">
                <a:latin typeface="Arial"/>
                <a:cs typeface="Arial"/>
              </a:rPr>
              <a:t>multiples of 3</a:t>
            </a:r>
            <a:r>
              <a:rPr lang="en-AU" sz="4400">
                <a:latin typeface="Arial"/>
                <a:cs typeface="Arial"/>
              </a:rPr>
              <a:t>. </a:t>
            </a:r>
          </a:p>
          <a:p>
            <a:pPr algn="ctr">
              <a:lnSpc>
                <a:spcPct val="100000"/>
              </a:lnSpc>
            </a:pPr>
            <a:endParaRPr lang="en-AU" sz="4400">
              <a:latin typeface="Arial"/>
              <a:cs typeface="Arial"/>
            </a:endParaRPr>
          </a:p>
          <a:p>
            <a:pPr algn="ctr">
              <a:lnSpc>
                <a:spcPct val="100000"/>
              </a:lnSpc>
            </a:pPr>
            <a:r>
              <a:rPr lang="en-AU" sz="4400">
                <a:latin typeface="Arial"/>
                <a:cs typeface="Arial"/>
              </a:rPr>
              <a:t>Describe the pattern using </a:t>
            </a:r>
            <a:r>
              <a:rPr lang="en-AU" sz="4400" b="1">
                <a:latin typeface="Arial"/>
                <a:cs typeface="Arial"/>
              </a:rPr>
              <a:t>words</a:t>
            </a:r>
            <a:r>
              <a:rPr lang="en-AU" sz="4400">
                <a:latin typeface="Arial"/>
                <a:cs typeface="Arial"/>
              </a:rPr>
              <a:t>, </a:t>
            </a:r>
            <a:r>
              <a:rPr lang="en-AU" sz="4400" b="1">
                <a:latin typeface="Arial"/>
                <a:cs typeface="Arial"/>
              </a:rPr>
              <a:t>numbers</a:t>
            </a:r>
            <a:r>
              <a:rPr lang="en-AU" sz="4400">
                <a:latin typeface="Arial"/>
                <a:cs typeface="Arial"/>
              </a:rPr>
              <a:t> and </a:t>
            </a:r>
            <a:r>
              <a:rPr lang="en-AU" sz="4400" b="1">
                <a:latin typeface="Arial"/>
                <a:cs typeface="Arial"/>
              </a:rPr>
              <a:t>symbols</a:t>
            </a:r>
            <a:r>
              <a:rPr lang="en-AU" sz="4400">
                <a:latin typeface="Arial"/>
                <a:cs typeface="Arial"/>
              </a:rPr>
              <a:t>.</a:t>
            </a:r>
            <a:br>
              <a:rPr lang="en-US" sz="4400">
                <a:latin typeface="Arial"/>
                <a:cs typeface="Arial"/>
              </a:rPr>
            </a:br>
            <a:endParaRPr lang="en-US" sz="4400">
              <a:solidFill>
                <a:srgbClr val="22272B"/>
              </a:solidFill>
            </a:endParaRPr>
          </a:p>
          <a:p>
            <a:pPr>
              <a:lnSpc>
                <a:spcPct val="100000"/>
              </a:lnSpc>
            </a:pPr>
            <a:endParaRPr lang="en-US">
              <a:latin typeface="Arial"/>
              <a:cs typeface="Arial"/>
            </a:endParaRPr>
          </a:p>
        </p:txBody>
      </p:sp>
      <p:pic>
        <p:nvPicPr>
          <p:cNvPr id="14" name="Picture 13" descr="image of a clipboard with a pencil recording short answer responses">
            <a:extLst>
              <a:ext uri="{FF2B5EF4-FFF2-40B4-BE49-F238E27FC236}">
                <a16:creationId xmlns:a16="http://schemas.microsoft.com/office/drawing/2014/main" id="{7BB2949F-67D4-548C-6CCB-387B9E3F7EA4}"/>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rPr>
              <a:t>(3)</a:t>
            </a:r>
          </a:p>
        </p:txBody>
      </p:sp>
      <p:pic>
        <p:nvPicPr>
          <p:cNvPr id="4" name="Picture 3" descr="image of a clipboard with a pencil recording short answer responses">
            <a:extLst>
              <a:ext uri="{FF2B5EF4-FFF2-40B4-BE49-F238E27FC236}">
                <a16:creationId xmlns:a16="http://schemas.microsoft.com/office/drawing/2014/main" id="{FF142F24-A346-63B3-9C1B-1E3C7790562A}"/>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2" name="Picture Placeholder 10">
            <a:extLst>
              <a:ext uri="{FF2B5EF4-FFF2-40B4-BE49-F238E27FC236}">
                <a16:creationId xmlns:a16="http://schemas.microsoft.com/office/drawing/2014/main" id="{6B067E83-548A-5AAC-BDC8-E1031C5E3365}"/>
              </a:ext>
            </a:extLst>
          </p:cNvPr>
          <p:cNvSpPr txBox="1">
            <a:spLocks/>
          </p:cNvSpPr>
          <p:nvPr/>
        </p:nvSpPr>
        <p:spPr>
          <a:xfrm>
            <a:off x="600963" y="4625058"/>
            <a:ext cx="11243037" cy="78522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b="1">
                <a:latin typeface="Arial"/>
                <a:cs typeface="Arial"/>
              </a:rPr>
              <a:t>Name the fraction made.</a:t>
            </a:r>
          </a:p>
          <a:p>
            <a:pPr algn="ctr">
              <a:lnSpc>
                <a:spcPct val="100000"/>
              </a:lnSpc>
            </a:pPr>
            <a:r>
              <a:rPr lang="en-US" sz="4400" b="1">
                <a:latin typeface="Arial"/>
                <a:cs typeface="Arial"/>
              </a:rPr>
              <a:t> Communicate </a:t>
            </a:r>
            <a:r>
              <a:rPr lang="en-US" sz="4400">
                <a:latin typeface="Arial"/>
                <a:cs typeface="Arial"/>
              </a:rPr>
              <a:t>your</a:t>
            </a:r>
            <a:r>
              <a:rPr lang="en-US" sz="4400" b="1">
                <a:latin typeface="Arial"/>
                <a:cs typeface="Arial"/>
              </a:rPr>
              <a:t> </a:t>
            </a:r>
            <a:r>
              <a:rPr lang="en-US" sz="4400">
                <a:latin typeface="Arial"/>
                <a:cs typeface="Arial"/>
              </a:rPr>
              <a:t>reasoning.</a:t>
            </a:r>
          </a:p>
        </p:txBody>
      </p:sp>
      <p:pic>
        <p:nvPicPr>
          <p:cNvPr id="7" name="Picture 6" descr="Steps to fold a strip of paper into thirds.">
            <a:extLst>
              <a:ext uri="{FF2B5EF4-FFF2-40B4-BE49-F238E27FC236}">
                <a16:creationId xmlns:a16="http://schemas.microsoft.com/office/drawing/2014/main" id="{309E7B07-17F6-FDE9-4E23-B7EC5D113559}"/>
              </a:ext>
            </a:extLst>
          </p:cNvPr>
          <p:cNvPicPr>
            <a:picLocks noChangeAspect="1"/>
          </p:cNvPicPr>
          <p:nvPr/>
        </p:nvPicPr>
        <p:blipFill>
          <a:blip r:embed="rId4"/>
          <a:stretch>
            <a:fillRect/>
          </a:stretch>
        </p:blipFill>
        <p:spPr>
          <a:xfrm>
            <a:off x="360000" y="1827139"/>
            <a:ext cx="11030476" cy="2477433"/>
          </a:xfrm>
          <a:prstGeom prst="rect">
            <a:avLst/>
          </a:prstGeom>
          <a:ln>
            <a:noFill/>
          </a:ln>
          <a:effectLst/>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a:xfrm>
            <a:off x="360000" y="360000"/>
            <a:ext cx="10508297" cy="545601"/>
          </a:xfrm>
        </p:spPr>
        <p:txBody>
          <a:bodyPr/>
          <a:lstStyle/>
          <a:p>
            <a:r>
              <a:rPr lang="en-US">
                <a:latin typeface="Arial"/>
                <a:cs typeface="Arial"/>
              </a:rPr>
              <a:t>Short response </a:t>
            </a:r>
            <a:r>
              <a:rPr lang="en-US">
                <a:solidFill>
                  <a:schemeClr val="bg1"/>
                </a:solidFill>
              </a:rPr>
              <a:t>(4)</a:t>
            </a:r>
          </a:p>
        </p:txBody>
      </p:sp>
      <p:sp>
        <p:nvSpPr>
          <p:cNvPr id="12" name="Text Placeholder 11">
            <a:extLst>
              <a:ext uri="{FF2B5EF4-FFF2-40B4-BE49-F238E27FC236}">
                <a16:creationId xmlns:a16="http://schemas.microsoft.com/office/drawing/2014/main" id="{65C867D5-8CB8-739D-AB4F-83858803E2F0}"/>
              </a:ext>
            </a:extLst>
          </p:cNvPr>
          <p:cNvSpPr>
            <a:spLocks noGrp="1"/>
          </p:cNvSpPr>
          <p:nvPr>
            <p:ph type="body" sz="quarter" idx="22"/>
          </p:nvPr>
        </p:nvSpPr>
        <p:spPr>
          <a:xfrm>
            <a:off x="955567" y="2426799"/>
            <a:ext cx="10280865" cy="1792082"/>
          </a:xfrm>
        </p:spPr>
        <p:txBody>
          <a:bodyPr vert="horz" lIns="0" tIns="0" rIns="0" bIns="0" rtlCol="0" anchor="t">
            <a:noAutofit/>
          </a:bodyPr>
          <a:lstStyle/>
          <a:p>
            <a:pPr algn="ctr"/>
            <a:r>
              <a:rPr lang="en-US" sz="4400" b="1">
                <a:latin typeface="Arial"/>
                <a:cs typeface="Arial"/>
              </a:rPr>
              <a:t>Name </a:t>
            </a:r>
            <a:r>
              <a:rPr lang="en-US" sz="4400">
                <a:latin typeface="Arial"/>
                <a:cs typeface="Arial"/>
              </a:rPr>
              <a:t>the</a:t>
            </a:r>
            <a:r>
              <a:rPr lang="en-US" sz="4400" b="1">
                <a:latin typeface="Arial"/>
                <a:cs typeface="Arial"/>
              </a:rPr>
              <a:t> angle </a:t>
            </a:r>
            <a:r>
              <a:rPr lang="en-US" sz="4400">
                <a:latin typeface="Arial"/>
                <a:cs typeface="Arial"/>
              </a:rPr>
              <a:t>used to describe a </a:t>
            </a:r>
            <a:r>
              <a:rPr lang="en-US" sz="4400" b="1">
                <a:latin typeface="Arial"/>
                <a:cs typeface="Arial"/>
              </a:rPr>
              <a:t>quarter-turn</a:t>
            </a:r>
            <a:r>
              <a:rPr lang="en-US" sz="4400">
                <a:latin typeface="Arial"/>
                <a:cs typeface="Arial"/>
              </a:rPr>
              <a:t>.</a:t>
            </a:r>
            <a:endParaRPr lang="en-US" sz="4400"/>
          </a:p>
        </p:txBody>
      </p:sp>
      <p:pic>
        <p:nvPicPr>
          <p:cNvPr id="4" name="Picture 3" descr="image of a clipboard with a pencil recording short answer responses">
            <a:extLst>
              <a:ext uri="{FF2B5EF4-FFF2-40B4-BE49-F238E27FC236}">
                <a16:creationId xmlns:a16="http://schemas.microsoft.com/office/drawing/2014/main" id="{9AFF81D9-B035-9967-8700-C5F2EB26519C}"/>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p:txBody>
          <a:bodyPr/>
          <a:lstStyle/>
          <a:p>
            <a:r>
              <a:rPr lang="en-AU">
                <a:latin typeface="Arial"/>
                <a:cs typeface="Arial"/>
              </a:rPr>
              <a:t>Activity 1 – missing values </a:t>
            </a:r>
            <a:r>
              <a:rPr lang="en-AU">
                <a:solidFill>
                  <a:schemeClr val="bg1"/>
                </a:solidFill>
              </a:rPr>
              <a:t>(1)</a:t>
            </a:r>
          </a:p>
        </p:txBody>
      </p:sp>
      <p:pic>
        <p:nvPicPr>
          <p:cNvPr id="6" name="Picture 5" descr="image of a head with cogs turning inside">
            <a:extLst>
              <a:ext uri="{FF2B5EF4-FFF2-40B4-BE49-F238E27FC236}">
                <a16:creationId xmlns:a16="http://schemas.microsoft.com/office/drawing/2014/main" id="{FD9CB2FA-5D2D-5F87-87BC-91BD9E444679}"/>
              </a:ext>
            </a:extLst>
          </p:cNvPr>
          <p:cNvPicPr>
            <a:picLocks noChangeAspect="1"/>
          </p:cNvPicPr>
          <p:nvPr/>
        </p:nvPicPr>
        <p:blipFill>
          <a:blip r:embed="rId3"/>
          <a:stretch>
            <a:fillRect/>
          </a:stretch>
        </p:blipFill>
        <p:spPr>
          <a:xfrm>
            <a:off x="11107003" y="240894"/>
            <a:ext cx="720000" cy="856364"/>
          </a:xfrm>
          <a:prstGeom prst="rect">
            <a:avLst/>
          </a:prstGeom>
        </p:spPr>
      </p:pic>
      <p:sp>
        <p:nvSpPr>
          <p:cNvPr id="9" name="TextBox 4" descr="Question states: There are 58 students in Year 3. 39 of them spend lunch time on the oval playing ball games. The remaining students play under the COLA. ">
            <a:extLst>
              <a:ext uri="{FF2B5EF4-FFF2-40B4-BE49-F238E27FC236}">
                <a16:creationId xmlns:a16="http://schemas.microsoft.com/office/drawing/2014/main" id="{6025D338-6D46-BF8E-DD84-914993CBA184}"/>
              </a:ext>
            </a:extLst>
          </p:cNvPr>
          <p:cNvSpPr txBox="1"/>
          <p:nvPr/>
        </p:nvSpPr>
        <p:spPr>
          <a:xfrm>
            <a:off x="360000" y="1736549"/>
            <a:ext cx="11352539" cy="3077766"/>
          </a:xfrm>
          <a:prstGeom prst="rect">
            <a:avLst/>
          </a:prstGeom>
        </p:spPr>
        <p:txBody>
          <a:bodyPr wrap="square" lIns="0" tIns="0" rIns="0" bIns="0" rtlCol="0" anchor="t">
            <a:spAutoFit/>
          </a:bodyPr>
          <a:lstStyle/>
          <a:p>
            <a:pPr algn="ctr"/>
            <a:r>
              <a:rPr lang="en-US" sz="4000">
                <a:solidFill>
                  <a:srgbClr val="000000"/>
                </a:solidFill>
                <a:latin typeface="Arial" panose="020B0604020202020204" pitchFamily="34" charset="0"/>
                <a:ea typeface="Canva Student Font"/>
                <a:cs typeface="Arial" panose="020B0604020202020204" pitchFamily="34" charset="0"/>
                <a:sym typeface="Canva Student Font"/>
              </a:rPr>
              <a:t>There are 58 students in Year 3. 39 of them spend lunch time on the oval playing ball games. The remaining students play under the COLA. </a:t>
            </a:r>
          </a:p>
          <a:p>
            <a:pPr algn="ctr"/>
            <a:endParaRPr lang="en-US" sz="4000">
              <a:solidFill>
                <a:srgbClr val="000000"/>
              </a:solidFill>
              <a:latin typeface="Arial" panose="020B0604020202020204" pitchFamily="34" charset="0"/>
              <a:ea typeface="Canva Student Font"/>
              <a:cs typeface="Arial" panose="020B0604020202020204" pitchFamily="34" charset="0"/>
              <a:sym typeface="Canva Student Font"/>
            </a:endParaRPr>
          </a:p>
          <a:p>
            <a:pPr algn="ctr"/>
            <a:r>
              <a:rPr lang="en-US" sz="4000">
                <a:solidFill>
                  <a:srgbClr val="000000"/>
                </a:solidFill>
                <a:latin typeface="Arial" panose="020B0604020202020204" pitchFamily="34" charset="0"/>
                <a:ea typeface="Canva Student Font"/>
                <a:cs typeface="Arial" panose="020B0604020202020204" pitchFamily="34" charset="0"/>
                <a:sym typeface="Canva Student Font"/>
              </a:rPr>
              <a:t>How many students play under the COLA?  </a:t>
            </a:r>
          </a:p>
        </p:txBody>
      </p:sp>
      <p:sp>
        <p:nvSpPr>
          <p:cNvPr id="13" name="TextBox 12">
            <a:extLst>
              <a:ext uri="{FF2B5EF4-FFF2-40B4-BE49-F238E27FC236}">
                <a16:creationId xmlns:a16="http://schemas.microsoft.com/office/drawing/2014/main" id="{0CE2F535-0747-F1B5-5278-6B37A244523A}"/>
              </a:ext>
            </a:extLst>
          </p:cNvPr>
          <p:cNvSpPr txBox="1"/>
          <p:nvPr/>
        </p:nvSpPr>
        <p:spPr>
          <a:xfrm>
            <a:off x="274966" y="5703787"/>
            <a:ext cx="11642068" cy="1077218"/>
          </a:xfrm>
          <a:prstGeom prst="rect">
            <a:avLst/>
          </a:prstGeom>
          <a:noFill/>
        </p:spPr>
        <p:txBody>
          <a:bodyPr wrap="square">
            <a:spAutoFit/>
          </a:bodyPr>
          <a:lstStyle/>
          <a:p>
            <a:pPr algn="ctr"/>
            <a:r>
              <a:rPr lang="en-AU" sz="3200">
                <a:latin typeface="Arial" panose="020B0604020202020204" pitchFamily="34" charset="0"/>
                <a:ea typeface="Calibri" panose="020F0502020204030204" pitchFamily="34" charset="0"/>
                <a:cs typeface="Arial" panose="020B0604020202020204" pitchFamily="34" charset="0"/>
              </a:rPr>
              <a:t>Think-pair-share </a:t>
            </a:r>
            <a:r>
              <a:rPr lang="en-AU" sz="3200">
                <a:effectLst/>
                <a:latin typeface="Arial" panose="020B0604020202020204" pitchFamily="34" charset="0"/>
                <a:ea typeface="Calibri" panose="020F0502020204030204" pitchFamily="34" charset="0"/>
                <a:cs typeface="Arial" panose="020B0604020202020204" pitchFamily="34" charset="0"/>
              </a:rPr>
              <a:t>the strategies that could be used to find the missing value. </a:t>
            </a:r>
            <a:endParaRPr lang="en-AU" sz="3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2166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995F7-7029-35D6-4443-E2DF7BEAE4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4A3F6B-3865-033F-48B9-3C6D679F2F4B}"/>
              </a:ext>
            </a:extLst>
          </p:cNvPr>
          <p:cNvSpPr>
            <a:spLocks noGrp="1"/>
          </p:cNvSpPr>
          <p:nvPr>
            <p:ph type="sldNum" sz="quarter" idx="12"/>
          </p:nvPr>
        </p:nvSpPr>
        <p:spPr/>
        <p:txBody>
          <a:bodyPr/>
          <a:lstStyle/>
          <a:p>
            <a:fld id="{10A01DC5-1685-4615-8240-15192985C6A2}" type="slidenum">
              <a:rPr lang="en-AU" smtClean="0"/>
              <a:t>11</a:t>
            </a:fld>
            <a:endParaRPr lang="en-AU"/>
          </a:p>
        </p:txBody>
      </p:sp>
      <p:sp>
        <p:nvSpPr>
          <p:cNvPr id="3" name="Title 2">
            <a:extLst>
              <a:ext uri="{FF2B5EF4-FFF2-40B4-BE49-F238E27FC236}">
                <a16:creationId xmlns:a16="http://schemas.microsoft.com/office/drawing/2014/main" id="{01B81CBF-FBBE-3DD8-2E30-1A83E7BABE4E}"/>
              </a:ext>
            </a:extLst>
          </p:cNvPr>
          <p:cNvSpPr>
            <a:spLocks noGrp="1"/>
          </p:cNvSpPr>
          <p:nvPr>
            <p:ph type="title"/>
          </p:nvPr>
        </p:nvSpPr>
        <p:spPr>
          <a:xfrm>
            <a:off x="246812" y="181766"/>
            <a:ext cx="11484000" cy="545601"/>
          </a:xfrm>
        </p:spPr>
        <p:txBody>
          <a:bodyPr/>
          <a:lstStyle/>
          <a:p>
            <a:r>
              <a:rPr lang="en-AU"/>
              <a:t>Activity 1 – missing values </a:t>
            </a:r>
            <a:r>
              <a:rPr lang="en-AU">
                <a:solidFill>
                  <a:schemeClr val="bg1"/>
                </a:solidFill>
              </a:rPr>
              <a:t>(2) (2)</a:t>
            </a:r>
          </a:p>
        </p:txBody>
      </p:sp>
      <p:grpSp>
        <p:nvGrpSpPr>
          <p:cNvPr id="37" name="Group 36" descr="Bar model showing 56 plus something equals 77.">
            <a:extLst>
              <a:ext uri="{FF2B5EF4-FFF2-40B4-BE49-F238E27FC236}">
                <a16:creationId xmlns:a16="http://schemas.microsoft.com/office/drawing/2014/main" id="{81D1CB35-D735-6141-C130-F006CA238099}"/>
              </a:ext>
            </a:extLst>
          </p:cNvPr>
          <p:cNvGrpSpPr/>
          <p:nvPr/>
        </p:nvGrpSpPr>
        <p:grpSpPr>
          <a:xfrm>
            <a:off x="2967393" y="873969"/>
            <a:ext cx="5315812" cy="1142503"/>
            <a:chOff x="2975780" y="727367"/>
            <a:chExt cx="5315812" cy="1142503"/>
          </a:xfrm>
        </p:grpSpPr>
        <p:grpSp>
          <p:nvGrpSpPr>
            <p:cNvPr id="5" name="Group 2">
              <a:extLst>
                <a:ext uri="{FF2B5EF4-FFF2-40B4-BE49-F238E27FC236}">
                  <a16:creationId xmlns:a16="http://schemas.microsoft.com/office/drawing/2014/main" id="{97CFE48E-952B-B2DC-0714-0ECBAC21E72F}"/>
                </a:ext>
              </a:extLst>
            </p:cNvPr>
            <p:cNvGrpSpPr/>
            <p:nvPr/>
          </p:nvGrpSpPr>
          <p:grpSpPr>
            <a:xfrm>
              <a:off x="3453557" y="727367"/>
              <a:ext cx="4838035" cy="633762"/>
              <a:chOff x="0" y="-28575"/>
              <a:chExt cx="1610467" cy="211719"/>
            </a:xfrm>
          </p:grpSpPr>
          <p:sp>
            <p:nvSpPr>
              <p:cNvPr id="33" name="Freeform 3">
                <a:extLst>
                  <a:ext uri="{FF2B5EF4-FFF2-40B4-BE49-F238E27FC236}">
                    <a16:creationId xmlns:a16="http://schemas.microsoft.com/office/drawing/2014/main" id="{937B7AB3-AB45-BFB0-2931-B9A4CADBB761}"/>
                  </a:ext>
                </a:extLst>
              </p:cNvPr>
              <p:cNvSpPr/>
              <p:nvPr/>
            </p:nvSpPr>
            <p:spPr>
              <a:xfrm>
                <a:off x="0" y="0"/>
                <a:ext cx="1610467" cy="183144"/>
              </a:xfrm>
              <a:custGeom>
                <a:avLst/>
                <a:gdLst/>
                <a:ahLst/>
                <a:cxnLst/>
                <a:rect l="l" t="t" r="r" b="b"/>
                <a:pathLst>
                  <a:path w="1610467" h="183144">
                    <a:moveTo>
                      <a:pt x="0" y="0"/>
                    </a:moveTo>
                    <a:lnTo>
                      <a:pt x="1610467" y="0"/>
                    </a:lnTo>
                    <a:lnTo>
                      <a:pt x="1610467" y="183144"/>
                    </a:lnTo>
                    <a:lnTo>
                      <a:pt x="0" y="183144"/>
                    </a:lnTo>
                    <a:close/>
                  </a:path>
                </a:pathLst>
              </a:custGeom>
              <a:solidFill>
                <a:srgbClr val="E5D9F6"/>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34" name="TextBox 4">
                <a:extLst>
                  <a:ext uri="{FF2B5EF4-FFF2-40B4-BE49-F238E27FC236}">
                    <a16:creationId xmlns:a16="http://schemas.microsoft.com/office/drawing/2014/main" id="{F6D985AE-5CF9-30CB-0D30-BD3EC8ED78F4}"/>
                  </a:ext>
                </a:extLst>
              </p:cNvPr>
              <p:cNvSpPr txBox="1"/>
              <p:nvPr/>
            </p:nvSpPr>
            <p:spPr>
              <a:xfrm>
                <a:off x="0" y="-28575"/>
                <a:ext cx="1610467" cy="211719"/>
              </a:xfrm>
              <a:prstGeom prst="rect">
                <a:avLst/>
              </a:prstGeom>
            </p:spPr>
            <p:txBody>
              <a:bodyPr lIns="44255" tIns="44255" rIns="44255" bIns="44255" rtlCol="0" anchor="ctr"/>
              <a:lstStyle/>
              <a:p>
                <a:pPr algn="ctr">
                  <a:lnSpc>
                    <a:spcPts val="1959"/>
                  </a:lnSpc>
                </a:pPr>
                <a:r>
                  <a:rPr lang="en-US" sz="1600">
                    <a:solidFill>
                      <a:srgbClr val="000000"/>
                    </a:solidFill>
                    <a:latin typeface="Arial" panose="020B0604020202020204" pitchFamily="34" charset="0"/>
                    <a:ea typeface="League Spartan"/>
                    <a:cs typeface="Arial" panose="020B0604020202020204" pitchFamily="34" charset="0"/>
                    <a:sym typeface="League Spartan"/>
                  </a:rPr>
                  <a:t>77</a:t>
                </a:r>
              </a:p>
            </p:txBody>
          </p:sp>
        </p:grpSp>
        <p:grpSp>
          <p:nvGrpSpPr>
            <p:cNvPr id="6" name="Group 5">
              <a:extLst>
                <a:ext uri="{FF2B5EF4-FFF2-40B4-BE49-F238E27FC236}">
                  <a16:creationId xmlns:a16="http://schemas.microsoft.com/office/drawing/2014/main" id="{206B298B-B6B5-BF5C-F5FF-D3F5714142D2}"/>
                </a:ext>
              </a:extLst>
            </p:cNvPr>
            <p:cNvGrpSpPr/>
            <p:nvPr/>
          </p:nvGrpSpPr>
          <p:grpSpPr>
            <a:xfrm>
              <a:off x="3453557" y="1236108"/>
              <a:ext cx="3589510" cy="633762"/>
              <a:chOff x="0" y="-28575"/>
              <a:chExt cx="1194863" cy="211719"/>
            </a:xfrm>
          </p:grpSpPr>
          <p:sp>
            <p:nvSpPr>
              <p:cNvPr id="31" name="Freeform 6">
                <a:extLst>
                  <a:ext uri="{FF2B5EF4-FFF2-40B4-BE49-F238E27FC236}">
                    <a16:creationId xmlns:a16="http://schemas.microsoft.com/office/drawing/2014/main" id="{ED73BA2A-3DF1-2AA0-59A3-060300E313FD}"/>
                  </a:ext>
                </a:extLst>
              </p:cNvPr>
              <p:cNvSpPr/>
              <p:nvPr/>
            </p:nvSpPr>
            <p:spPr>
              <a:xfrm>
                <a:off x="0" y="0"/>
                <a:ext cx="1194863" cy="183144"/>
              </a:xfrm>
              <a:custGeom>
                <a:avLst/>
                <a:gdLst/>
                <a:ahLst/>
                <a:cxnLst/>
                <a:rect l="l" t="t" r="r" b="b"/>
                <a:pathLst>
                  <a:path w="1194863" h="183144">
                    <a:moveTo>
                      <a:pt x="0" y="0"/>
                    </a:moveTo>
                    <a:lnTo>
                      <a:pt x="1194863" y="0"/>
                    </a:lnTo>
                    <a:lnTo>
                      <a:pt x="1194863" y="183144"/>
                    </a:lnTo>
                    <a:lnTo>
                      <a:pt x="0" y="183144"/>
                    </a:lnTo>
                    <a:close/>
                  </a:path>
                </a:pathLst>
              </a:custGeom>
              <a:solidFill>
                <a:srgbClr val="F6EFAD"/>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32" name="TextBox 7">
                <a:extLst>
                  <a:ext uri="{FF2B5EF4-FFF2-40B4-BE49-F238E27FC236}">
                    <a16:creationId xmlns:a16="http://schemas.microsoft.com/office/drawing/2014/main" id="{99B2AA18-7011-405B-5399-9BEC517FD90A}"/>
                  </a:ext>
                </a:extLst>
              </p:cNvPr>
              <p:cNvSpPr txBox="1"/>
              <p:nvPr/>
            </p:nvSpPr>
            <p:spPr>
              <a:xfrm>
                <a:off x="0" y="-28575"/>
                <a:ext cx="1194863" cy="211719"/>
              </a:xfrm>
              <a:prstGeom prst="rect">
                <a:avLst/>
              </a:prstGeom>
            </p:spPr>
            <p:txBody>
              <a:bodyPr lIns="44255" tIns="44255" rIns="44255" bIns="44255" rtlCol="0" anchor="ctr"/>
              <a:lstStyle/>
              <a:p>
                <a:pPr algn="ctr">
                  <a:lnSpc>
                    <a:spcPts val="1959"/>
                  </a:lnSpc>
                </a:pPr>
                <a:r>
                  <a:rPr lang="en-US" sz="1600">
                    <a:solidFill>
                      <a:srgbClr val="000000"/>
                    </a:solidFill>
                    <a:latin typeface="Arial" panose="020B0604020202020204" pitchFamily="34" charset="0"/>
                    <a:ea typeface="League Spartan"/>
                    <a:cs typeface="Arial" panose="020B0604020202020204" pitchFamily="34" charset="0"/>
                    <a:sym typeface="League Spartan"/>
                  </a:rPr>
                  <a:t>56</a:t>
                </a:r>
              </a:p>
            </p:txBody>
          </p:sp>
        </p:grpSp>
        <p:grpSp>
          <p:nvGrpSpPr>
            <p:cNvPr id="7" name="Group 8">
              <a:extLst>
                <a:ext uri="{FF2B5EF4-FFF2-40B4-BE49-F238E27FC236}">
                  <a16:creationId xmlns:a16="http://schemas.microsoft.com/office/drawing/2014/main" id="{1150EB77-5C2C-3F47-8ACD-7C12922B4FA8}"/>
                </a:ext>
              </a:extLst>
            </p:cNvPr>
            <p:cNvGrpSpPr/>
            <p:nvPr/>
          </p:nvGrpSpPr>
          <p:grpSpPr>
            <a:xfrm>
              <a:off x="7004050" y="1236108"/>
              <a:ext cx="1287542" cy="633762"/>
              <a:chOff x="0" y="-28575"/>
              <a:chExt cx="428592" cy="211719"/>
            </a:xfrm>
          </p:grpSpPr>
          <p:sp>
            <p:nvSpPr>
              <p:cNvPr id="29" name="Freeform 9">
                <a:extLst>
                  <a:ext uri="{FF2B5EF4-FFF2-40B4-BE49-F238E27FC236}">
                    <a16:creationId xmlns:a16="http://schemas.microsoft.com/office/drawing/2014/main" id="{B54749AE-D52E-6EA1-87C5-4701A336ACD0}"/>
                  </a:ext>
                </a:extLst>
              </p:cNvPr>
              <p:cNvSpPr/>
              <p:nvPr/>
            </p:nvSpPr>
            <p:spPr>
              <a:xfrm>
                <a:off x="0" y="0"/>
                <a:ext cx="428592" cy="183144"/>
              </a:xfrm>
              <a:custGeom>
                <a:avLst/>
                <a:gdLst/>
                <a:ahLst/>
                <a:cxnLst/>
                <a:rect l="l" t="t" r="r" b="b"/>
                <a:pathLst>
                  <a:path w="428592" h="183144">
                    <a:moveTo>
                      <a:pt x="0" y="0"/>
                    </a:moveTo>
                    <a:lnTo>
                      <a:pt x="428592" y="0"/>
                    </a:lnTo>
                    <a:lnTo>
                      <a:pt x="428592" y="183144"/>
                    </a:lnTo>
                    <a:lnTo>
                      <a:pt x="0" y="183144"/>
                    </a:lnTo>
                    <a:close/>
                  </a:path>
                </a:pathLst>
              </a:custGeom>
              <a:solidFill>
                <a:srgbClr val="E6E7E8"/>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30" name="TextBox 10">
                <a:extLst>
                  <a:ext uri="{FF2B5EF4-FFF2-40B4-BE49-F238E27FC236}">
                    <a16:creationId xmlns:a16="http://schemas.microsoft.com/office/drawing/2014/main" id="{FD98275E-D6E8-E309-0F62-6E3BFFEACD39}"/>
                  </a:ext>
                </a:extLst>
              </p:cNvPr>
              <p:cNvSpPr txBox="1"/>
              <p:nvPr/>
            </p:nvSpPr>
            <p:spPr>
              <a:xfrm>
                <a:off x="0" y="-28575"/>
                <a:ext cx="428592" cy="211719"/>
              </a:xfrm>
              <a:prstGeom prst="rect">
                <a:avLst/>
              </a:prstGeom>
            </p:spPr>
            <p:txBody>
              <a:bodyPr lIns="44255" tIns="44255" rIns="44255" bIns="44255" rtlCol="0" anchor="ctr"/>
              <a:lstStyle/>
              <a:p>
                <a:pPr algn="ctr">
                  <a:lnSpc>
                    <a:spcPts val="1959"/>
                  </a:lnSpc>
                </a:pPr>
                <a:r>
                  <a:rPr lang="en-US" sz="1600">
                    <a:solidFill>
                      <a:srgbClr val="231F20"/>
                    </a:solidFill>
                    <a:latin typeface="Arial" panose="020B0604020202020204" pitchFamily="34" charset="0"/>
                    <a:ea typeface="League Spartan"/>
                    <a:cs typeface="Arial" panose="020B0604020202020204" pitchFamily="34" charset="0"/>
                    <a:sym typeface="League Spartan"/>
                  </a:rPr>
                  <a:t>?</a:t>
                </a:r>
              </a:p>
            </p:txBody>
          </p:sp>
        </p:grpSp>
        <p:sp>
          <p:nvSpPr>
            <p:cNvPr id="14" name="TextBox 29">
              <a:extLst>
                <a:ext uri="{FF2B5EF4-FFF2-40B4-BE49-F238E27FC236}">
                  <a16:creationId xmlns:a16="http://schemas.microsoft.com/office/drawing/2014/main" id="{6487F708-04EE-077B-2B1C-DE0DBE910CCB}"/>
                </a:ext>
              </a:extLst>
            </p:cNvPr>
            <p:cNvSpPr txBox="1"/>
            <p:nvPr/>
          </p:nvSpPr>
          <p:spPr>
            <a:xfrm>
              <a:off x="2975780" y="1176265"/>
              <a:ext cx="218398" cy="239040"/>
            </a:xfrm>
            <a:prstGeom prst="rect">
              <a:avLst/>
            </a:prstGeom>
          </p:spPr>
          <p:txBody>
            <a:bodyPr lIns="0" tIns="0" rIns="0" bIns="0" rtlCol="0" anchor="t">
              <a:spAutoFit/>
            </a:bodyPr>
            <a:lstStyle/>
            <a:p>
              <a:pPr algn="ctr">
                <a:lnSpc>
                  <a:spcPts val="1960"/>
                </a:lnSpc>
                <a:spcBef>
                  <a:spcPct val="0"/>
                </a:spcBef>
              </a:pPr>
              <a:r>
                <a:rPr lang="en-US" sz="1600">
                  <a:solidFill>
                    <a:srgbClr val="000000"/>
                  </a:solidFill>
                  <a:latin typeface="Arial" panose="020B0604020202020204" pitchFamily="34" charset="0"/>
                  <a:ea typeface="League Spartan"/>
                  <a:cs typeface="Arial" panose="020B0604020202020204" pitchFamily="34" charset="0"/>
                  <a:sym typeface="League Spartan"/>
                </a:rPr>
                <a:t>A.</a:t>
              </a:r>
            </a:p>
          </p:txBody>
        </p:sp>
      </p:grpSp>
      <p:grpSp>
        <p:nvGrpSpPr>
          <p:cNvPr id="38" name="Group 37" descr="Bar model showing 48 plus something equals 83.">
            <a:extLst>
              <a:ext uri="{FF2B5EF4-FFF2-40B4-BE49-F238E27FC236}">
                <a16:creationId xmlns:a16="http://schemas.microsoft.com/office/drawing/2014/main" id="{0AF301D7-E0A3-032E-020D-56E3C5527D51}"/>
              </a:ext>
            </a:extLst>
          </p:cNvPr>
          <p:cNvGrpSpPr/>
          <p:nvPr/>
        </p:nvGrpSpPr>
        <p:grpSpPr>
          <a:xfrm>
            <a:off x="2967393" y="2480297"/>
            <a:ext cx="5315812" cy="1142501"/>
            <a:chOff x="2975780" y="2518299"/>
            <a:chExt cx="5315812" cy="1142501"/>
          </a:xfrm>
        </p:grpSpPr>
        <p:grpSp>
          <p:nvGrpSpPr>
            <p:cNvPr id="8" name="Group 11">
              <a:extLst>
                <a:ext uri="{FF2B5EF4-FFF2-40B4-BE49-F238E27FC236}">
                  <a16:creationId xmlns:a16="http://schemas.microsoft.com/office/drawing/2014/main" id="{A04A8112-D841-FBB3-CE15-E30A292B7503}"/>
                </a:ext>
              </a:extLst>
            </p:cNvPr>
            <p:cNvGrpSpPr/>
            <p:nvPr/>
          </p:nvGrpSpPr>
          <p:grpSpPr>
            <a:xfrm>
              <a:off x="3453557" y="2518299"/>
              <a:ext cx="4838035" cy="633762"/>
              <a:chOff x="0" y="-28575"/>
              <a:chExt cx="1610467" cy="211719"/>
            </a:xfrm>
          </p:grpSpPr>
          <p:sp>
            <p:nvSpPr>
              <p:cNvPr id="27" name="Freeform 12">
                <a:extLst>
                  <a:ext uri="{FF2B5EF4-FFF2-40B4-BE49-F238E27FC236}">
                    <a16:creationId xmlns:a16="http://schemas.microsoft.com/office/drawing/2014/main" id="{D3ACCF7B-3B12-46C7-8EBA-B186FC1587BD}"/>
                  </a:ext>
                </a:extLst>
              </p:cNvPr>
              <p:cNvSpPr/>
              <p:nvPr/>
            </p:nvSpPr>
            <p:spPr>
              <a:xfrm>
                <a:off x="0" y="0"/>
                <a:ext cx="1610467" cy="183144"/>
              </a:xfrm>
              <a:custGeom>
                <a:avLst/>
                <a:gdLst/>
                <a:ahLst/>
                <a:cxnLst/>
                <a:rect l="l" t="t" r="r" b="b"/>
                <a:pathLst>
                  <a:path w="1610467" h="183144">
                    <a:moveTo>
                      <a:pt x="0" y="0"/>
                    </a:moveTo>
                    <a:lnTo>
                      <a:pt x="1610467" y="0"/>
                    </a:lnTo>
                    <a:lnTo>
                      <a:pt x="1610467" y="183144"/>
                    </a:lnTo>
                    <a:lnTo>
                      <a:pt x="0" y="183144"/>
                    </a:lnTo>
                    <a:close/>
                  </a:path>
                </a:pathLst>
              </a:custGeom>
              <a:solidFill>
                <a:srgbClr val="E5D9F6"/>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28" name="TextBox 13">
                <a:extLst>
                  <a:ext uri="{FF2B5EF4-FFF2-40B4-BE49-F238E27FC236}">
                    <a16:creationId xmlns:a16="http://schemas.microsoft.com/office/drawing/2014/main" id="{5BCC22FE-4BC2-9775-2F79-6D6A07544F3C}"/>
                  </a:ext>
                </a:extLst>
              </p:cNvPr>
              <p:cNvSpPr txBox="1"/>
              <p:nvPr/>
            </p:nvSpPr>
            <p:spPr>
              <a:xfrm>
                <a:off x="0" y="-28575"/>
                <a:ext cx="1610467" cy="211719"/>
              </a:xfrm>
              <a:prstGeom prst="rect">
                <a:avLst/>
              </a:prstGeom>
            </p:spPr>
            <p:txBody>
              <a:bodyPr lIns="44255" tIns="44255" rIns="44255" bIns="44255" rtlCol="0" anchor="ctr"/>
              <a:lstStyle/>
              <a:p>
                <a:pPr algn="ctr">
                  <a:lnSpc>
                    <a:spcPts val="1959"/>
                  </a:lnSpc>
                </a:pPr>
                <a:r>
                  <a:rPr lang="en-US" sz="1600">
                    <a:solidFill>
                      <a:srgbClr val="000000"/>
                    </a:solidFill>
                    <a:latin typeface="Arial" panose="020B0604020202020204" pitchFamily="34" charset="0"/>
                    <a:ea typeface="League Spartan"/>
                    <a:cs typeface="Arial" panose="020B0604020202020204" pitchFamily="34" charset="0"/>
                    <a:sym typeface="League Spartan"/>
                  </a:rPr>
                  <a:t>83</a:t>
                </a:r>
              </a:p>
            </p:txBody>
          </p:sp>
        </p:grpSp>
        <p:grpSp>
          <p:nvGrpSpPr>
            <p:cNvPr id="9" name="Group 14">
              <a:extLst>
                <a:ext uri="{FF2B5EF4-FFF2-40B4-BE49-F238E27FC236}">
                  <a16:creationId xmlns:a16="http://schemas.microsoft.com/office/drawing/2014/main" id="{5DB34FC3-8D21-49B8-B688-10D888AAE8C7}"/>
                </a:ext>
              </a:extLst>
            </p:cNvPr>
            <p:cNvGrpSpPr/>
            <p:nvPr/>
          </p:nvGrpSpPr>
          <p:grpSpPr>
            <a:xfrm>
              <a:off x="3453557" y="3027038"/>
              <a:ext cx="3148825" cy="633762"/>
              <a:chOff x="0" y="-28575"/>
              <a:chExt cx="1048169" cy="211719"/>
            </a:xfrm>
          </p:grpSpPr>
          <p:sp>
            <p:nvSpPr>
              <p:cNvPr id="25" name="Freeform 15">
                <a:extLst>
                  <a:ext uri="{FF2B5EF4-FFF2-40B4-BE49-F238E27FC236}">
                    <a16:creationId xmlns:a16="http://schemas.microsoft.com/office/drawing/2014/main" id="{36777A68-5116-9570-C0F9-9BB954FE0C87}"/>
                  </a:ext>
                </a:extLst>
              </p:cNvPr>
              <p:cNvSpPr/>
              <p:nvPr/>
            </p:nvSpPr>
            <p:spPr>
              <a:xfrm>
                <a:off x="0" y="0"/>
                <a:ext cx="1048169" cy="183144"/>
              </a:xfrm>
              <a:custGeom>
                <a:avLst/>
                <a:gdLst/>
                <a:ahLst/>
                <a:cxnLst/>
                <a:rect l="l" t="t" r="r" b="b"/>
                <a:pathLst>
                  <a:path w="1048169" h="183144">
                    <a:moveTo>
                      <a:pt x="0" y="0"/>
                    </a:moveTo>
                    <a:lnTo>
                      <a:pt x="1048169" y="0"/>
                    </a:lnTo>
                    <a:lnTo>
                      <a:pt x="1048169" y="183144"/>
                    </a:lnTo>
                    <a:lnTo>
                      <a:pt x="0" y="183144"/>
                    </a:lnTo>
                    <a:close/>
                  </a:path>
                </a:pathLst>
              </a:custGeom>
              <a:solidFill>
                <a:srgbClr val="F6EFAD"/>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26" name="TextBox 16">
                <a:extLst>
                  <a:ext uri="{FF2B5EF4-FFF2-40B4-BE49-F238E27FC236}">
                    <a16:creationId xmlns:a16="http://schemas.microsoft.com/office/drawing/2014/main" id="{83038940-867A-E6CA-0265-A3E0E9160FE8}"/>
                  </a:ext>
                </a:extLst>
              </p:cNvPr>
              <p:cNvSpPr txBox="1"/>
              <p:nvPr/>
            </p:nvSpPr>
            <p:spPr>
              <a:xfrm>
                <a:off x="0" y="-28575"/>
                <a:ext cx="1048169" cy="211719"/>
              </a:xfrm>
              <a:prstGeom prst="rect">
                <a:avLst/>
              </a:prstGeom>
            </p:spPr>
            <p:txBody>
              <a:bodyPr lIns="44255" tIns="44255" rIns="44255" bIns="44255" rtlCol="0" anchor="ctr"/>
              <a:lstStyle/>
              <a:p>
                <a:pPr algn="ctr">
                  <a:lnSpc>
                    <a:spcPts val="1959"/>
                  </a:lnSpc>
                </a:pPr>
                <a:r>
                  <a:rPr lang="en-US" sz="1600">
                    <a:solidFill>
                      <a:srgbClr val="000000"/>
                    </a:solidFill>
                    <a:latin typeface="Arial" panose="020B0604020202020204" pitchFamily="34" charset="0"/>
                    <a:ea typeface="League Spartan"/>
                    <a:cs typeface="Arial" panose="020B0604020202020204" pitchFamily="34" charset="0"/>
                    <a:sym typeface="League Spartan"/>
                  </a:rPr>
                  <a:t>48</a:t>
                </a:r>
              </a:p>
            </p:txBody>
          </p:sp>
        </p:grpSp>
        <p:grpSp>
          <p:nvGrpSpPr>
            <p:cNvPr id="10" name="Group 17">
              <a:extLst>
                <a:ext uri="{FF2B5EF4-FFF2-40B4-BE49-F238E27FC236}">
                  <a16:creationId xmlns:a16="http://schemas.microsoft.com/office/drawing/2014/main" id="{5D978028-C1AD-C40C-1F4D-B45EF3800D55}"/>
                </a:ext>
              </a:extLst>
            </p:cNvPr>
            <p:cNvGrpSpPr/>
            <p:nvPr/>
          </p:nvGrpSpPr>
          <p:grpSpPr>
            <a:xfrm>
              <a:off x="6471808" y="3027038"/>
              <a:ext cx="1819784" cy="633762"/>
              <a:chOff x="0" y="-28575"/>
              <a:chExt cx="605763" cy="211719"/>
            </a:xfrm>
          </p:grpSpPr>
          <p:sp>
            <p:nvSpPr>
              <p:cNvPr id="23" name="Freeform 18">
                <a:extLst>
                  <a:ext uri="{FF2B5EF4-FFF2-40B4-BE49-F238E27FC236}">
                    <a16:creationId xmlns:a16="http://schemas.microsoft.com/office/drawing/2014/main" id="{5D4108ED-9B69-ED16-D1F3-5ACF54B68F9A}"/>
                  </a:ext>
                </a:extLst>
              </p:cNvPr>
              <p:cNvSpPr/>
              <p:nvPr/>
            </p:nvSpPr>
            <p:spPr>
              <a:xfrm>
                <a:off x="0" y="0"/>
                <a:ext cx="605763" cy="183144"/>
              </a:xfrm>
              <a:custGeom>
                <a:avLst/>
                <a:gdLst/>
                <a:ahLst/>
                <a:cxnLst/>
                <a:rect l="l" t="t" r="r" b="b"/>
                <a:pathLst>
                  <a:path w="605763" h="183144">
                    <a:moveTo>
                      <a:pt x="0" y="0"/>
                    </a:moveTo>
                    <a:lnTo>
                      <a:pt x="605763" y="0"/>
                    </a:lnTo>
                    <a:lnTo>
                      <a:pt x="605763" y="183144"/>
                    </a:lnTo>
                    <a:lnTo>
                      <a:pt x="0" y="183144"/>
                    </a:lnTo>
                    <a:close/>
                  </a:path>
                </a:pathLst>
              </a:custGeom>
              <a:solidFill>
                <a:srgbClr val="E6E7E8"/>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24" name="TextBox 19">
                <a:extLst>
                  <a:ext uri="{FF2B5EF4-FFF2-40B4-BE49-F238E27FC236}">
                    <a16:creationId xmlns:a16="http://schemas.microsoft.com/office/drawing/2014/main" id="{71272049-E10D-2770-7B51-2B73105434F9}"/>
                  </a:ext>
                </a:extLst>
              </p:cNvPr>
              <p:cNvSpPr txBox="1"/>
              <p:nvPr/>
            </p:nvSpPr>
            <p:spPr>
              <a:xfrm>
                <a:off x="0" y="-28575"/>
                <a:ext cx="605763" cy="211719"/>
              </a:xfrm>
              <a:prstGeom prst="rect">
                <a:avLst/>
              </a:prstGeom>
            </p:spPr>
            <p:txBody>
              <a:bodyPr lIns="44255" tIns="44255" rIns="44255" bIns="44255" rtlCol="0" anchor="ctr"/>
              <a:lstStyle/>
              <a:p>
                <a:pPr algn="ctr">
                  <a:lnSpc>
                    <a:spcPts val="1959"/>
                  </a:lnSpc>
                </a:pPr>
                <a:r>
                  <a:rPr lang="en-US" sz="1600">
                    <a:solidFill>
                      <a:srgbClr val="231F20"/>
                    </a:solidFill>
                    <a:latin typeface="Arial" panose="020B0604020202020204" pitchFamily="34" charset="0"/>
                    <a:ea typeface="League Spartan"/>
                    <a:cs typeface="Arial" panose="020B0604020202020204" pitchFamily="34" charset="0"/>
                    <a:sym typeface="League Spartan"/>
                  </a:rPr>
                  <a:t>?</a:t>
                </a:r>
              </a:p>
            </p:txBody>
          </p:sp>
        </p:grpSp>
        <p:sp>
          <p:nvSpPr>
            <p:cNvPr id="15" name="TextBox 30">
              <a:extLst>
                <a:ext uri="{FF2B5EF4-FFF2-40B4-BE49-F238E27FC236}">
                  <a16:creationId xmlns:a16="http://schemas.microsoft.com/office/drawing/2014/main" id="{72779604-91CE-238A-8761-EB2C21D81CEF}"/>
                </a:ext>
              </a:extLst>
            </p:cNvPr>
            <p:cNvSpPr txBox="1"/>
            <p:nvPr/>
          </p:nvSpPr>
          <p:spPr>
            <a:xfrm>
              <a:off x="2975780" y="2967195"/>
              <a:ext cx="195601" cy="239040"/>
            </a:xfrm>
            <a:prstGeom prst="rect">
              <a:avLst/>
            </a:prstGeom>
          </p:spPr>
          <p:txBody>
            <a:bodyPr lIns="0" tIns="0" rIns="0" bIns="0" rtlCol="0" anchor="t">
              <a:spAutoFit/>
            </a:bodyPr>
            <a:lstStyle/>
            <a:p>
              <a:pPr algn="ctr">
                <a:lnSpc>
                  <a:spcPts val="1960"/>
                </a:lnSpc>
                <a:spcBef>
                  <a:spcPct val="0"/>
                </a:spcBef>
              </a:pPr>
              <a:r>
                <a:rPr lang="en-US" sz="1600">
                  <a:solidFill>
                    <a:srgbClr val="000000"/>
                  </a:solidFill>
                  <a:latin typeface="Arial" panose="020B0604020202020204" pitchFamily="34" charset="0"/>
                  <a:ea typeface="League Spartan"/>
                  <a:cs typeface="Arial" panose="020B0604020202020204" pitchFamily="34" charset="0"/>
                  <a:sym typeface="League Spartan"/>
                </a:rPr>
                <a:t>B.</a:t>
              </a:r>
            </a:p>
          </p:txBody>
        </p:sp>
      </p:grpSp>
      <p:grpSp>
        <p:nvGrpSpPr>
          <p:cNvPr id="39" name="Group 38" descr="Bar model showing 12 plus something equals 49.">
            <a:extLst>
              <a:ext uri="{FF2B5EF4-FFF2-40B4-BE49-F238E27FC236}">
                <a16:creationId xmlns:a16="http://schemas.microsoft.com/office/drawing/2014/main" id="{3D509F1D-5C5B-03D9-4A6B-3B777BA82248}"/>
              </a:ext>
            </a:extLst>
          </p:cNvPr>
          <p:cNvGrpSpPr/>
          <p:nvPr/>
        </p:nvGrpSpPr>
        <p:grpSpPr>
          <a:xfrm>
            <a:off x="2967393" y="4086624"/>
            <a:ext cx="5324199" cy="1142501"/>
            <a:chOff x="2967393" y="4309231"/>
            <a:chExt cx="5324199" cy="1142501"/>
          </a:xfrm>
        </p:grpSpPr>
        <p:grpSp>
          <p:nvGrpSpPr>
            <p:cNvPr id="11" name="Group 20">
              <a:extLst>
                <a:ext uri="{FF2B5EF4-FFF2-40B4-BE49-F238E27FC236}">
                  <a16:creationId xmlns:a16="http://schemas.microsoft.com/office/drawing/2014/main" id="{8145D254-4201-7183-892F-46F8D62CC7D8}"/>
                </a:ext>
              </a:extLst>
            </p:cNvPr>
            <p:cNvGrpSpPr/>
            <p:nvPr/>
          </p:nvGrpSpPr>
          <p:grpSpPr>
            <a:xfrm>
              <a:off x="3453557" y="4309231"/>
              <a:ext cx="4838035" cy="633762"/>
              <a:chOff x="0" y="-28575"/>
              <a:chExt cx="1610467" cy="211719"/>
            </a:xfrm>
          </p:grpSpPr>
          <p:sp>
            <p:nvSpPr>
              <p:cNvPr id="21" name="Freeform 21">
                <a:extLst>
                  <a:ext uri="{FF2B5EF4-FFF2-40B4-BE49-F238E27FC236}">
                    <a16:creationId xmlns:a16="http://schemas.microsoft.com/office/drawing/2014/main" id="{D8BD949F-993A-5E22-13F2-AA4718A7D35F}"/>
                  </a:ext>
                </a:extLst>
              </p:cNvPr>
              <p:cNvSpPr/>
              <p:nvPr/>
            </p:nvSpPr>
            <p:spPr>
              <a:xfrm>
                <a:off x="0" y="0"/>
                <a:ext cx="1610467" cy="183144"/>
              </a:xfrm>
              <a:custGeom>
                <a:avLst/>
                <a:gdLst/>
                <a:ahLst/>
                <a:cxnLst/>
                <a:rect l="l" t="t" r="r" b="b"/>
                <a:pathLst>
                  <a:path w="1610467" h="183144">
                    <a:moveTo>
                      <a:pt x="0" y="0"/>
                    </a:moveTo>
                    <a:lnTo>
                      <a:pt x="1610467" y="0"/>
                    </a:lnTo>
                    <a:lnTo>
                      <a:pt x="1610467" y="183144"/>
                    </a:lnTo>
                    <a:lnTo>
                      <a:pt x="0" y="183144"/>
                    </a:lnTo>
                    <a:close/>
                  </a:path>
                </a:pathLst>
              </a:custGeom>
              <a:solidFill>
                <a:srgbClr val="E5D9F6"/>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22" name="TextBox 22">
                <a:extLst>
                  <a:ext uri="{FF2B5EF4-FFF2-40B4-BE49-F238E27FC236}">
                    <a16:creationId xmlns:a16="http://schemas.microsoft.com/office/drawing/2014/main" id="{019B5C2E-4E1B-DC33-F145-DDA436899EFA}"/>
                  </a:ext>
                </a:extLst>
              </p:cNvPr>
              <p:cNvSpPr txBox="1"/>
              <p:nvPr/>
            </p:nvSpPr>
            <p:spPr>
              <a:xfrm>
                <a:off x="0" y="-28575"/>
                <a:ext cx="1610467" cy="211719"/>
              </a:xfrm>
              <a:prstGeom prst="rect">
                <a:avLst/>
              </a:prstGeom>
            </p:spPr>
            <p:txBody>
              <a:bodyPr lIns="44255" tIns="44255" rIns="44255" bIns="44255" rtlCol="0" anchor="ctr"/>
              <a:lstStyle/>
              <a:p>
                <a:pPr algn="ctr">
                  <a:lnSpc>
                    <a:spcPts val="1959"/>
                  </a:lnSpc>
                </a:pPr>
                <a:r>
                  <a:rPr lang="en-US" sz="1600">
                    <a:solidFill>
                      <a:srgbClr val="000000"/>
                    </a:solidFill>
                    <a:latin typeface="Arial" panose="020B0604020202020204" pitchFamily="34" charset="0"/>
                    <a:ea typeface="League Spartan"/>
                    <a:cs typeface="Arial" panose="020B0604020202020204" pitchFamily="34" charset="0"/>
                    <a:sym typeface="League Spartan"/>
                  </a:rPr>
                  <a:t>49</a:t>
                </a:r>
              </a:p>
            </p:txBody>
          </p:sp>
        </p:grpSp>
        <p:grpSp>
          <p:nvGrpSpPr>
            <p:cNvPr id="12" name="Group 23">
              <a:extLst>
                <a:ext uri="{FF2B5EF4-FFF2-40B4-BE49-F238E27FC236}">
                  <a16:creationId xmlns:a16="http://schemas.microsoft.com/office/drawing/2014/main" id="{3864289D-DD5E-2B09-76BD-6A23BBD415B1}"/>
                </a:ext>
              </a:extLst>
            </p:cNvPr>
            <p:cNvGrpSpPr/>
            <p:nvPr/>
          </p:nvGrpSpPr>
          <p:grpSpPr>
            <a:xfrm>
              <a:off x="3453557" y="4817970"/>
              <a:ext cx="1304477" cy="633762"/>
              <a:chOff x="0" y="-28575"/>
              <a:chExt cx="434229" cy="211719"/>
            </a:xfrm>
          </p:grpSpPr>
          <p:sp>
            <p:nvSpPr>
              <p:cNvPr id="19" name="Freeform 24">
                <a:extLst>
                  <a:ext uri="{FF2B5EF4-FFF2-40B4-BE49-F238E27FC236}">
                    <a16:creationId xmlns:a16="http://schemas.microsoft.com/office/drawing/2014/main" id="{03F2944F-6AA0-E77E-DEC1-60BF8A6CA89C}"/>
                  </a:ext>
                </a:extLst>
              </p:cNvPr>
              <p:cNvSpPr/>
              <p:nvPr/>
            </p:nvSpPr>
            <p:spPr>
              <a:xfrm>
                <a:off x="0" y="0"/>
                <a:ext cx="434229" cy="183144"/>
              </a:xfrm>
              <a:custGeom>
                <a:avLst/>
                <a:gdLst/>
                <a:ahLst/>
                <a:cxnLst/>
                <a:rect l="l" t="t" r="r" b="b"/>
                <a:pathLst>
                  <a:path w="434229" h="183144">
                    <a:moveTo>
                      <a:pt x="0" y="0"/>
                    </a:moveTo>
                    <a:lnTo>
                      <a:pt x="434229" y="0"/>
                    </a:lnTo>
                    <a:lnTo>
                      <a:pt x="434229" y="183144"/>
                    </a:lnTo>
                    <a:lnTo>
                      <a:pt x="0" y="183144"/>
                    </a:lnTo>
                    <a:close/>
                  </a:path>
                </a:pathLst>
              </a:custGeom>
              <a:solidFill>
                <a:srgbClr val="F6EFAD"/>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20" name="TextBox 25">
                <a:extLst>
                  <a:ext uri="{FF2B5EF4-FFF2-40B4-BE49-F238E27FC236}">
                    <a16:creationId xmlns:a16="http://schemas.microsoft.com/office/drawing/2014/main" id="{732976C7-834A-1D5A-BAE8-470E4D9534B7}"/>
                  </a:ext>
                </a:extLst>
              </p:cNvPr>
              <p:cNvSpPr txBox="1"/>
              <p:nvPr/>
            </p:nvSpPr>
            <p:spPr>
              <a:xfrm>
                <a:off x="0" y="-28575"/>
                <a:ext cx="434229" cy="211719"/>
              </a:xfrm>
              <a:prstGeom prst="rect">
                <a:avLst/>
              </a:prstGeom>
            </p:spPr>
            <p:txBody>
              <a:bodyPr lIns="44255" tIns="44255" rIns="44255" bIns="44255" rtlCol="0" anchor="ctr"/>
              <a:lstStyle/>
              <a:p>
                <a:pPr algn="ctr">
                  <a:lnSpc>
                    <a:spcPts val="1959"/>
                  </a:lnSpc>
                </a:pPr>
                <a:r>
                  <a:rPr lang="en-US" sz="1600">
                    <a:solidFill>
                      <a:srgbClr val="000000"/>
                    </a:solidFill>
                    <a:latin typeface="Arial" panose="020B0604020202020204" pitchFamily="34" charset="0"/>
                    <a:ea typeface="League Spartan"/>
                    <a:cs typeface="Arial" panose="020B0604020202020204" pitchFamily="34" charset="0"/>
                    <a:sym typeface="League Spartan"/>
                  </a:rPr>
                  <a:t>12</a:t>
                </a:r>
              </a:p>
            </p:txBody>
          </p:sp>
        </p:grpSp>
        <p:grpSp>
          <p:nvGrpSpPr>
            <p:cNvPr id="13" name="Group 26">
              <a:extLst>
                <a:ext uri="{FF2B5EF4-FFF2-40B4-BE49-F238E27FC236}">
                  <a16:creationId xmlns:a16="http://schemas.microsoft.com/office/drawing/2014/main" id="{5C7098FE-B83A-A2F1-9BF7-EC895254FF2A}"/>
                </a:ext>
              </a:extLst>
            </p:cNvPr>
            <p:cNvGrpSpPr/>
            <p:nvPr/>
          </p:nvGrpSpPr>
          <p:grpSpPr>
            <a:xfrm>
              <a:off x="4660104" y="4817970"/>
              <a:ext cx="3631488" cy="633762"/>
              <a:chOff x="0" y="-28575"/>
              <a:chExt cx="1208836" cy="211719"/>
            </a:xfrm>
          </p:grpSpPr>
          <p:sp>
            <p:nvSpPr>
              <p:cNvPr id="17" name="Freeform 27">
                <a:extLst>
                  <a:ext uri="{FF2B5EF4-FFF2-40B4-BE49-F238E27FC236}">
                    <a16:creationId xmlns:a16="http://schemas.microsoft.com/office/drawing/2014/main" id="{F18076CC-80E3-0990-D19F-25AF7E73BBB8}"/>
                  </a:ext>
                </a:extLst>
              </p:cNvPr>
              <p:cNvSpPr/>
              <p:nvPr/>
            </p:nvSpPr>
            <p:spPr>
              <a:xfrm>
                <a:off x="0" y="0"/>
                <a:ext cx="1208836" cy="183144"/>
              </a:xfrm>
              <a:custGeom>
                <a:avLst/>
                <a:gdLst/>
                <a:ahLst/>
                <a:cxnLst/>
                <a:rect l="l" t="t" r="r" b="b"/>
                <a:pathLst>
                  <a:path w="1208836" h="183144">
                    <a:moveTo>
                      <a:pt x="0" y="0"/>
                    </a:moveTo>
                    <a:lnTo>
                      <a:pt x="1208836" y="0"/>
                    </a:lnTo>
                    <a:lnTo>
                      <a:pt x="1208836" y="183144"/>
                    </a:lnTo>
                    <a:lnTo>
                      <a:pt x="0" y="183144"/>
                    </a:lnTo>
                    <a:close/>
                  </a:path>
                </a:pathLst>
              </a:custGeom>
              <a:solidFill>
                <a:srgbClr val="E6E7E8"/>
              </a:solidFill>
              <a:ln w="28575" cap="sq">
                <a:solidFill>
                  <a:srgbClr val="000000"/>
                </a:solidFill>
                <a:prstDash val="solid"/>
                <a:miter/>
              </a:ln>
            </p:spPr>
            <p:txBody>
              <a:bodyPr/>
              <a:lstStyle/>
              <a:p>
                <a:endParaRPr lang="en-AU" sz="1600">
                  <a:latin typeface="Arial" panose="020B0604020202020204" pitchFamily="34" charset="0"/>
                  <a:cs typeface="Arial" panose="020B0604020202020204" pitchFamily="34" charset="0"/>
                </a:endParaRPr>
              </a:p>
            </p:txBody>
          </p:sp>
          <p:sp>
            <p:nvSpPr>
              <p:cNvPr id="18" name="TextBox 28">
                <a:extLst>
                  <a:ext uri="{FF2B5EF4-FFF2-40B4-BE49-F238E27FC236}">
                    <a16:creationId xmlns:a16="http://schemas.microsoft.com/office/drawing/2014/main" id="{8FE53971-7813-98A3-4460-D689C602DEBA}"/>
                  </a:ext>
                </a:extLst>
              </p:cNvPr>
              <p:cNvSpPr txBox="1"/>
              <p:nvPr/>
            </p:nvSpPr>
            <p:spPr>
              <a:xfrm>
                <a:off x="0" y="-28575"/>
                <a:ext cx="1208836" cy="211719"/>
              </a:xfrm>
              <a:prstGeom prst="rect">
                <a:avLst/>
              </a:prstGeom>
            </p:spPr>
            <p:txBody>
              <a:bodyPr lIns="44255" tIns="44255" rIns="44255" bIns="44255" rtlCol="0" anchor="ctr"/>
              <a:lstStyle/>
              <a:p>
                <a:pPr algn="ctr">
                  <a:lnSpc>
                    <a:spcPts val="1959"/>
                  </a:lnSpc>
                </a:pPr>
                <a:r>
                  <a:rPr lang="en-US" sz="1600">
                    <a:solidFill>
                      <a:srgbClr val="231F20"/>
                    </a:solidFill>
                    <a:latin typeface="Arial" panose="020B0604020202020204" pitchFamily="34" charset="0"/>
                    <a:ea typeface="League Spartan"/>
                    <a:cs typeface="Arial" panose="020B0604020202020204" pitchFamily="34" charset="0"/>
                    <a:sym typeface="League Spartan"/>
                  </a:rPr>
                  <a:t>?</a:t>
                </a:r>
              </a:p>
            </p:txBody>
          </p:sp>
        </p:grpSp>
        <p:sp>
          <p:nvSpPr>
            <p:cNvPr id="16" name="TextBox 31">
              <a:extLst>
                <a:ext uri="{FF2B5EF4-FFF2-40B4-BE49-F238E27FC236}">
                  <a16:creationId xmlns:a16="http://schemas.microsoft.com/office/drawing/2014/main" id="{D02321CD-FE3F-D14D-BE7B-BD06995F4DB2}"/>
                </a:ext>
              </a:extLst>
            </p:cNvPr>
            <p:cNvSpPr txBox="1"/>
            <p:nvPr/>
          </p:nvSpPr>
          <p:spPr>
            <a:xfrm>
              <a:off x="2967393" y="4758127"/>
              <a:ext cx="212376" cy="239040"/>
            </a:xfrm>
            <a:prstGeom prst="rect">
              <a:avLst/>
            </a:prstGeom>
          </p:spPr>
          <p:txBody>
            <a:bodyPr lIns="0" tIns="0" rIns="0" bIns="0" rtlCol="0" anchor="t">
              <a:spAutoFit/>
            </a:bodyPr>
            <a:lstStyle/>
            <a:p>
              <a:pPr algn="ctr">
                <a:lnSpc>
                  <a:spcPts val="1960"/>
                </a:lnSpc>
                <a:spcBef>
                  <a:spcPct val="0"/>
                </a:spcBef>
              </a:pPr>
              <a:r>
                <a:rPr lang="en-US" sz="1600">
                  <a:solidFill>
                    <a:srgbClr val="000000"/>
                  </a:solidFill>
                  <a:latin typeface="Arial" panose="020B0604020202020204" pitchFamily="34" charset="0"/>
                  <a:ea typeface="League Spartan"/>
                  <a:cs typeface="Arial" panose="020B0604020202020204" pitchFamily="34" charset="0"/>
                  <a:sym typeface="League Spartan"/>
                </a:rPr>
                <a:t>C.</a:t>
              </a:r>
            </a:p>
          </p:txBody>
        </p:sp>
      </p:grpSp>
      <p:sp>
        <p:nvSpPr>
          <p:cNvPr id="36" name="TextBox 35">
            <a:extLst>
              <a:ext uri="{FF2B5EF4-FFF2-40B4-BE49-F238E27FC236}">
                <a16:creationId xmlns:a16="http://schemas.microsoft.com/office/drawing/2014/main" id="{E2EA8D72-E98F-5A2B-85A0-633D88CD6857}"/>
              </a:ext>
            </a:extLst>
          </p:cNvPr>
          <p:cNvSpPr txBox="1"/>
          <p:nvPr/>
        </p:nvSpPr>
        <p:spPr>
          <a:xfrm>
            <a:off x="563421" y="5599016"/>
            <a:ext cx="11065157" cy="1077218"/>
          </a:xfrm>
          <a:prstGeom prst="rect">
            <a:avLst/>
          </a:prstGeom>
          <a:noFill/>
        </p:spPr>
        <p:txBody>
          <a:bodyPr wrap="square">
            <a:spAutoFit/>
          </a:bodyPr>
          <a:lstStyle/>
          <a:p>
            <a:pPr lvl="0" algn="ctr">
              <a:spcBef>
                <a:spcPts val="1200"/>
              </a:spcBef>
              <a:spcAft>
                <a:spcPts val="600"/>
              </a:spcAft>
            </a:pPr>
            <a:r>
              <a:rPr lang="en-AU" sz="3200">
                <a:latin typeface="Arial" panose="020B0604020202020204" pitchFamily="34" charset="0"/>
                <a:ea typeface="Calibri" panose="020F0502020204030204" pitchFamily="34" charset="0"/>
              </a:rPr>
              <a:t>S</a:t>
            </a:r>
            <a:r>
              <a:rPr lang="en-AU" sz="3200">
                <a:effectLst/>
                <a:latin typeface="Arial" panose="020B0604020202020204" pitchFamily="34" charset="0"/>
                <a:ea typeface="Calibri" panose="020F0502020204030204" pitchFamily="34" charset="0"/>
              </a:rPr>
              <a:t>olve the problems and record the related addition and subtraction number sentences on a whiteboard.</a:t>
            </a:r>
          </a:p>
        </p:txBody>
      </p:sp>
      <p:pic>
        <p:nvPicPr>
          <p:cNvPr id="35" name="Picture 34" descr="image of a head with cogs turning inside">
            <a:extLst>
              <a:ext uri="{FF2B5EF4-FFF2-40B4-BE49-F238E27FC236}">
                <a16:creationId xmlns:a16="http://schemas.microsoft.com/office/drawing/2014/main" id="{F9387FC4-B119-EB86-0C49-9E2D18FC5A6B}"/>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940762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t>True or false </a:t>
            </a:r>
            <a:r>
              <a:rPr lang="en-US">
                <a:solidFill>
                  <a:schemeClr val="bg1"/>
                </a:solidFill>
              </a:rPr>
              <a:t>(1)</a:t>
            </a:r>
          </a:p>
        </p:txBody>
      </p:sp>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1015012" y="905601"/>
            <a:ext cx="10161976" cy="3133277"/>
          </a:xfrm>
        </p:spPr>
        <p:txBody>
          <a:bodyPr vert="horz" lIns="0" tIns="0" rIns="0" bIns="0" rtlCol="0" anchor="t">
            <a:noAutofit/>
          </a:bodyPr>
          <a:lstStyle/>
          <a:p>
            <a:pPr algn="ctr"/>
            <a:r>
              <a:rPr lang="en-US" sz="4000">
                <a:latin typeface="Arial"/>
                <a:cs typeface="Arial"/>
              </a:rPr>
              <a:t>Nat said that </a:t>
            </a:r>
            <a:r>
              <a:rPr lang="en-US" sz="4000" b="1">
                <a:latin typeface="Arial"/>
                <a:cs typeface="Arial"/>
              </a:rPr>
              <a:t>all </a:t>
            </a:r>
            <a:r>
              <a:rPr lang="en-US" sz="4000">
                <a:latin typeface="Arial"/>
                <a:cs typeface="Arial"/>
              </a:rPr>
              <a:t>these number sentences are </a:t>
            </a:r>
            <a:r>
              <a:rPr lang="en-US" sz="4000" b="1">
                <a:latin typeface="Arial"/>
                <a:cs typeface="Arial"/>
              </a:rPr>
              <a:t>correct</a:t>
            </a:r>
            <a:r>
              <a:rPr lang="en-US" sz="4000">
                <a:latin typeface="Arial"/>
                <a:cs typeface="Arial"/>
              </a:rPr>
              <a:t>. </a:t>
            </a:r>
          </a:p>
          <a:p>
            <a:pPr algn="ctr"/>
            <a:r>
              <a:rPr lang="en-US" sz="4000">
                <a:latin typeface="Arial"/>
                <a:cs typeface="Arial"/>
              </a:rPr>
              <a:t>53 + 25 = 78</a:t>
            </a:r>
          </a:p>
          <a:p>
            <a:pPr algn="ctr"/>
            <a:r>
              <a:rPr lang="en-US" sz="4000">
                <a:latin typeface="Arial"/>
                <a:cs typeface="Arial"/>
              </a:rPr>
              <a:t>78 – 53 = 25</a:t>
            </a:r>
          </a:p>
          <a:p>
            <a:pPr algn="ctr"/>
            <a:r>
              <a:rPr lang="en-US" sz="4000">
                <a:latin typeface="Arial"/>
                <a:cs typeface="Arial"/>
              </a:rPr>
              <a:t>78 + 25 = 53</a:t>
            </a:r>
            <a:endParaRPr lang="en-US" sz="4000"/>
          </a:p>
        </p:txBody>
      </p:sp>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652280602"/>
              </p:ext>
            </p:extLst>
          </p:nvPr>
        </p:nvGraphicFramePr>
        <p:xfrm>
          <a:off x="2557462" y="575632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87EDFC9E-A618-53A7-C204-54881B9AC2B6}"/>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402027" y="1528842"/>
            <a:ext cx="4959681" cy="4123912"/>
          </a:xfrm>
        </p:spPr>
        <p:txBody>
          <a:bodyPr/>
          <a:lstStyle/>
          <a:p>
            <a:pPr algn="ctr"/>
            <a:r>
              <a:rPr lang="en-US" sz="4400" b="1">
                <a:latin typeface="Arial"/>
                <a:cs typeface="Arial"/>
              </a:rPr>
              <a:t>Explain</a:t>
            </a:r>
            <a:r>
              <a:rPr lang="en-US" sz="4400">
                <a:latin typeface="Arial"/>
                <a:cs typeface="Arial"/>
              </a:rPr>
              <a:t> how using software helps to </a:t>
            </a:r>
            <a:r>
              <a:rPr lang="en-US" sz="4400" err="1">
                <a:latin typeface="Arial"/>
                <a:cs typeface="Arial"/>
              </a:rPr>
              <a:t>organise</a:t>
            </a:r>
            <a:r>
              <a:rPr lang="en-US" sz="4400">
                <a:latin typeface="Arial"/>
                <a:cs typeface="Arial"/>
              </a:rPr>
              <a:t> and display data.</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6AA7882-9128-F96D-36AE-AAE3C6433E5E}"/>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A column graph of 3B's house groups. Wombats 8 in blue, koalas 9 in red, Emus 7 in yellow and Kangaroos 4 in green. Horizontal axis labelled House groups and vertical axis labelled number of students">
            <a:extLst>
              <a:ext uri="{FF2B5EF4-FFF2-40B4-BE49-F238E27FC236}">
                <a16:creationId xmlns:a16="http://schemas.microsoft.com/office/drawing/2014/main" id="{67EBDD0A-F101-5609-472F-C0ED2C6D511B}"/>
              </a:ext>
            </a:extLst>
          </p:cNvPr>
          <p:cNvPicPr>
            <a:picLocks noChangeAspect="1"/>
          </p:cNvPicPr>
          <p:nvPr/>
        </p:nvPicPr>
        <p:blipFill>
          <a:blip r:embed="rId4">
            <a:extLst>
              <a:ext uri="{28A0092B-C50C-407E-A947-70E740481C1C}">
                <a14:useLocalDpi xmlns:a14="http://schemas.microsoft.com/office/drawing/2010/main" val="0"/>
              </a:ext>
            </a:extLst>
          </a:blip>
          <a:srcRect l="1415" t="2544" r="1390" b="3293"/>
          <a:stretch>
            <a:fillRect/>
          </a:stretch>
        </p:blipFill>
        <p:spPr bwMode="auto">
          <a:xfrm>
            <a:off x="5861916" y="1801091"/>
            <a:ext cx="5741122" cy="3851663"/>
          </a:xfrm>
          <a:prstGeom prst="rect">
            <a:avLst/>
          </a:prstGeom>
          <a:noFill/>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1333100" y="726473"/>
            <a:ext cx="8724276" cy="6249049"/>
          </a:xfrm>
        </p:spPr>
        <p:txBody>
          <a:bodyPr/>
          <a:lstStyle/>
          <a:p>
            <a:pPr algn="ctr"/>
            <a:r>
              <a:rPr lang="en-AU" sz="4400" b="1">
                <a:latin typeface="Arial"/>
                <a:cs typeface="Arial"/>
              </a:rPr>
              <a:t>Record </a:t>
            </a:r>
            <a:r>
              <a:rPr lang="en-AU" sz="4400">
                <a:latin typeface="Arial"/>
                <a:cs typeface="Arial"/>
              </a:rPr>
              <a:t>the </a:t>
            </a:r>
            <a:r>
              <a:rPr lang="en-AU" sz="4400" b="1">
                <a:latin typeface="Arial"/>
                <a:cs typeface="Arial"/>
              </a:rPr>
              <a:t>fact families </a:t>
            </a:r>
            <a:r>
              <a:rPr lang="en-AU" sz="4400">
                <a:latin typeface="Arial"/>
                <a:cs typeface="Arial"/>
              </a:rPr>
              <a:t>for the following:</a:t>
            </a:r>
            <a:br>
              <a:rPr lang="en-AU" sz="4400">
                <a:latin typeface="Arial"/>
                <a:cs typeface="Arial"/>
              </a:rPr>
            </a:br>
            <a:r>
              <a:rPr lang="en-AU" sz="4000" b="1">
                <a:latin typeface="Arial"/>
                <a:cs typeface="Arial"/>
              </a:rPr>
              <a:t>2 x 4</a:t>
            </a:r>
          </a:p>
          <a:p>
            <a:pPr algn="ctr"/>
            <a:r>
              <a:rPr lang="en-AU" sz="4000" b="1">
                <a:latin typeface="Arial"/>
                <a:cs typeface="Arial"/>
              </a:rPr>
              <a:t>2 x 5</a:t>
            </a:r>
          </a:p>
          <a:p>
            <a:pPr algn="ctr"/>
            <a:r>
              <a:rPr lang="en-AU" sz="4000" b="1">
                <a:latin typeface="Arial"/>
                <a:cs typeface="Arial"/>
              </a:rPr>
              <a:t>2 x 6</a:t>
            </a:r>
          </a:p>
          <a:p>
            <a:pPr algn="ctr"/>
            <a:r>
              <a:rPr lang="en-AU" sz="4000" b="1">
                <a:latin typeface="Arial"/>
                <a:cs typeface="Arial"/>
              </a:rPr>
              <a:t>2 x 7</a:t>
            </a:r>
            <a:endParaRPr lang="en-AU" sz="3600" b="1">
              <a:latin typeface="Arial"/>
              <a:cs typeface="Arial"/>
            </a:endParaRPr>
          </a:p>
        </p:txBody>
      </p:sp>
      <p:pic>
        <p:nvPicPr>
          <p:cNvPr id="12" name="Picture 11" descr="image of a clipboard with a pencil recording short answer responses">
            <a:extLst>
              <a:ext uri="{FF2B5EF4-FFF2-40B4-BE49-F238E27FC236}">
                <a16:creationId xmlns:a16="http://schemas.microsoft.com/office/drawing/2014/main" id="{9AA4C562-DA8B-AB67-B4B6-E448C50E15A7}"/>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rPr>
              <a:t>(7)</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291056" y="1900801"/>
                <a:ext cx="9609887" cy="3056398"/>
              </a:xfrm>
            </p:spPr>
            <p:txBody>
              <a:bodyPr/>
              <a:lstStyle/>
              <a:p>
                <a:pPr algn="ctr"/>
                <a:r>
                  <a:rPr lang="en-US" sz="4400" b="1">
                    <a:latin typeface="Arial"/>
                    <a:cs typeface="Arial"/>
                  </a:rPr>
                  <a:t>Record</a:t>
                </a:r>
                <a:r>
                  <a:rPr lang="en-US" sz="4400">
                    <a:latin typeface="Arial"/>
                    <a:cs typeface="Arial"/>
                  </a:rPr>
                  <a:t> the </a:t>
                </a:r>
                <a:r>
                  <a:rPr lang="en-US" sz="4400" b="1">
                    <a:latin typeface="Arial"/>
                    <a:cs typeface="Arial"/>
                  </a:rPr>
                  <a:t>fractions</a:t>
                </a:r>
                <a:r>
                  <a:rPr lang="en-US" sz="4400">
                    <a:latin typeface="Arial"/>
                    <a:cs typeface="Arial"/>
                  </a:rPr>
                  <a:t> that are part of the same </a:t>
                </a:r>
                <a:r>
                  <a:rPr lang="en-US" sz="4400" b="1">
                    <a:latin typeface="Arial"/>
                    <a:cs typeface="Arial"/>
                  </a:rPr>
                  <a:t>fraction family </a:t>
                </a:r>
                <a:r>
                  <a:rPr lang="en-US" sz="4400">
                    <a:latin typeface="Arial"/>
                    <a:cs typeface="Arial"/>
                  </a:rPr>
                  <a:t>as  </a:t>
                </a:r>
                <a14:m>
                  <m:oMath xmlns:m="http://schemas.openxmlformats.org/officeDocument/2006/math">
                    <m:f>
                      <m:fPr>
                        <m:ctrlPr>
                          <a:rPr lang="en-US" sz="5400" i="1" dirty="0" smtClean="0">
                            <a:latin typeface="Cambria Math" panose="02040503050406030204" pitchFamily="18" charset="0"/>
                            <a:cs typeface="Arial"/>
                          </a:rPr>
                        </m:ctrlPr>
                      </m:fPr>
                      <m:num>
                        <m:r>
                          <a:rPr lang="en-AU" sz="5400" b="0" i="1" dirty="0" smtClean="0">
                            <a:latin typeface="Cambria Math" panose="02040503050406030204" pitchFamily="18" charset="0"/>
                            <a:cs typeface="Arial"/>
                          </a:rPr>
                          <m:t>1</m:t>
                        </m:r>
                      </m:num>
                      <m:den>
                        <m:r>
                          <a:rPr lang="en-AU" sz="5400" b="0" i="1" dirty="0" smtClean="0">
                            <a:latin typeface="Cambria Math" panose="02040503050406030204" pitchFamily="18" charset="0"/>
                            <a:cs typeface="Arial"/>
                          </a:rPr>
                          <m:t>3</m:t>
                        </m:r>
                      </m:den>
                    </m:f>
                  </m:oMath>
                </a14:m>
                <a:r>
                  <a:rPr lang="en-US" sz="5400">
                    <a:latin typeface="Arial"/>
                    <a:cs typeface="Arial"/>
                  </a:rPr>
                  <a:t> </a:t>
                </a:r>
                <a:r>
                  <a:rPr lang="en-US" sz="4400">
                    <a:latin typeface="Arial"/>
                    <a:cs typeface="Arial"/>
                  </a:rPr>
                  <a:t>.</a:t>
                </a:r>
              </a:p>
              <a:p>
                <a:endParaRPr lang="en-US">
                  <a:latin typeface="Arial"/>
                  <a:cs typeface="Arial"/>
                </a:endParaRPr>
              </a:p>
            </p:txBody>
          </p:sp>
        </mc:Choice>
        <mc:Fallback xmlns="">
          <p:sp>
            <p:nvSpPr>
              <p:cNvPr id="11" name="Picture Placeholder 10">
                <a:extLst>
                  <a:ext uri="{FF2B5EF4-FFF2-40B4-BE49-F238E27FC236}">
                    <a16:creationId xmlns:a16="http://schemas.microsoft.com/office/drawing/2014/main" id="{E83C9D2F-076B-25AC-741C-C56ACEF8B118}"/>
                  </a:ext>
                </a:extLst>
              </p:cNvPr>
              <p:cNvSpPr>
                <a:spLocks noGrp="1" noRot="1" noChangeAspect="1" noMove="1" noResize="1" noEditPoints="1" noAdjustHandles="1" noChangeArrowheads="1" noChangeShapeType="1" noTextEdit="1"/>
              </p:cNvSpPr>
              <p:nvPr>
                <p:ph type="pic" sz="quarter" idx="21"/>
              </p:nvPr>
            </p:nvSpPr>
            <p:spPr>
              <a:xfrm>
                <a:off x="1291056" y="1900801"/>
                <a:ext cx="9609887" cy="3056398"/>
              </a:xfrm>
              <a:blipFill>
                <a:blip r:embed="rId3"/>
                <a:stretch>
                  <a:fillRect l="-1332" r="-2792"/>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878A31AB-6C94-1BFB-9B08-E66847EEC2BB}"/>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p:txBody>
          <a:bodyPr/>
          <a:lstStyle/>
          <a:p>
            <a:r>
              <a:rPr lang="en-US">
                <a:latin typeface="Arial"/>
                <a:cs typeface="Arial"/>
              </a:rPr>
              <a:t>Short response </a:t>
            </a:r>
            <a:r>
              <a:rPr lang="en-US">
                <a:solidFill>
                  <a:schemeClr val="bg1"/>
                </a:solidFill>
              </a:rPr>
              <a:t>(8)</a:t>
            </a:r>
          </a:p>
        </p:txBody>
      </p:sp>
      <p:sp>
        <p:nvSpPr>
          <p:cNvPr id="11" name="Picture Placeholder 10">
            <a:extLst>
              <a:ext uri="{FF2B5EF4-FFF2-40B4-BE49-F238E27FC236}">
                <a16:creationId xmlns:a16="http://schemas.microsoft.com/office/drawing/2014/main" id="{686F4CE3-1291-37C6-C630-AE7D9898FB44}"/>
              </a:ext>
            </a:extLst>
          </p:cNvPr>
          <p:cNvSpPr>
            <a:spLocks noGrp="1"/>
          </p:cNvSpPr>
          <p:nvPr>
            <p:ph type="pic" sz="quarter" idx="21"/>
          </p:nvPr>
        </p:nvSpPr>
        <p:spPr>
          <a:xfrm>
            <a:off x="699608" y="1809811"/>
            <a:ext cx="10710868" cy="1098281"/>
          </a:xfrm>
        </p:spPr>
        <p:txBody>
          <a:bodyPr/>
          <a:lstStyle/>
          <a:p>
            <a:pPr algn="ctr"/>
            <a:r>
              <a:rPr lang="en-US" sz="4400">
                <a:latin typeface="Arial"/>
                <a:cs typeface="Arial"/>
              </a:rPr>
              <a:t>The pond was measured as 235 cm long.</a:t>
            </a:r>
            <a:endParaRPr lang="en-US" sz="4400"/>
          </a:p>
        </p:txBody>
      </p:sp>
      <p:pic>
        <p:nvPicPr>
          <p:cNvPr id="4" name="Picture 3" descr="image of a clipboard with a pencil recording short answer responses">
            <a:extLst>
              <a:ext uri="{FF2B5EF4-FFF2-40B4-BE49-F238E27FC236}">
                <a16:creationId xmlns:a16="http://schemas.microsoft.com/office/drawing/2014/main" id="{9008FCB9-73D4-8BB4-C873-11DABD7754D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Picture Placeholder 10">
            <a:extLst>
              <a:ext uri="{FF2B5EF4-FFF2-40B4-BE49-F238E27FC236}">
                <a16:creationId xmlns:a16="http://schemas.microsoft.com/office/drawing/2014/main" id="{C9419D8F-9E6D-9D78-6F65-C2D4AEF624C0}"/>
              </a:ext>
            </a:extLst>
          </p:cNvPr>
          <p:cNvSpPr txBox="1">
            <a:spLocks/>
          </p:cNvSpPr>
          <p:nvPr/>
        </p:nvSpPr>
        <p:spPr>
          <a:xfrm>
            <a:off x="699608" y="3964368"/>
            <a:ext cx="10710868" cy="109828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b="1">
                <a:latin typeface="Arial"/>
                <a:cs typeface="Arial"/>
              </a:rPr>
              <a:t>Record</a:t>
            </a:r>
            <a:r>
              <a:rPr lang="en-US" sz="4400">
                <a:latin typeface="Arial"/>
                <a:cs typeface="Arial"/>
              </a:rPr>
              <a:t> its </a:t>
            </a:r>
            <a:r>
              <a:rPr lang="en-US" sz="4400" b="1">
                <a:latin typeface="Arial"/>
                <a:cs typeface="Arial"/>
              </a:rPr>
              <a:t>length</a:t>
            </a:r>
            <a:r>
              <a:rPr lang="en-US" sz="4400">
                <a:latin typeface="Arial"/>
                <a:cs typeface="Arial"/>
              </a:rPr>
              <a:t> in </a:t>
            </a:r>
            <a:r>
              <a:rPr lang="en-US" sz="4400" b="1" err="1">
                <a:latin typeface="Arial"/>
                <a:cs typeface="Arial"/>
              </a:rPr>
              <a:t>metres</a:t>
            </a:r>
            <a:r>
              <a:rPr lang="en-US" sz="4400">
                <a:latin typeface="Arial"/>
                <a:cs typeface="Arial"/>
              </a:rPr>
              <a:t> and </a:t>
            </a:r>
            <a:r>
              <a:rPr lang="en-US" sz="4400" b="1">
                <a:latin typeface="Arial"/>
                <a:cs typeface="Arial"/>
              </a:rPr>
              <a:t>centimetres</a:t>
            </a:r>
            <a:r>
              <a:rPr lang="en-US" sz="4400">
                <a:latin typeface="Arial"/>
                <a:cs typeface="Arial"/>
              </a:rPr>
              <a:t>?</a:t>
            </a:r>
            <a:endParaRPr lang="en-US" sz="4400"/>
          </a:p>
        </p:txBody>
      </p:sp>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2 – number sentences </a:t>
            </a:r>
          </a:p>
        </p:txBody>
      </p:sp>
      <p:pic>
        <p:nvPicPr>
          <p:cNvPr id="4" name="Picture 3" descr="image of a head with cogs turning inside">
            <a:extLst>
              <a:ext uri="{FF2B5EF4-FFF2-40B4-BE49-F238E27FC236}">
                <a16:creationId xmlns:a16="http://schemas.microsoft.com/office/drawing/2014/main" id="{7A1306BB-7902-319C-CF8F-A2DB61C77D2C}"/>
              </a:ext>
            </a:extLst>
          </p:cNvPr>
          <p:cNvPicPr>
            <a:picLocks noChangeAspect="1"/>
          </p:cNvPicPr>
          <p:nvPr/>
        </p:nvPicPr>
        <p:blipFill>
          <a:blip r:embed="rId3"/>
          <a:stretch>
            <a:fillRect/>
          </a:stretch>
        </p:blipFill>
        <p:spPr>
          <a:xfrm>
            <a:off x="11107003" y="240894"/>
            <a:ext cx="720000" cy="856364"/>
          </a:xfrm>
          <a:prstGeom prst="rect">
            <a:avLst/>
          </a:prstGeom>
        </p:spPr>
      </p:pic>
      <p:sp>
        <p:nvSpPr>
          <p:cNvPr id="8" name="TextBox 7">
            <a:extLst>
              <a:ext uri="{FF2B5EF4-FFF2-40B4-BE49-F238E27FC236}">
                <a16:creationId xmlns:a16="http://schemas.microsoft.com/office/drawing/2014/main" id="{BAF8B2BD-B0EC-6E2B-1556-CCE2DD729995}"/>
              </a:ext>
            </a:extLst>
          </p:cNvPr>
          <p:cNvSpPr txBox="1"/>
          <p:nvPr/>
        </p:nvSpPr>
        <p:spPr>
          <a:xfrm>
            <a:off x="597429" y="4846329"/>
            <a:ext cx="10996047" cy="1651671"/>
          </a:xfrm>
          <a:prstGeom prst="rect">
            <a:avLst/>
          </a:prstGeom>
          <a:noFill/>
        </p:spPr>
        <p:txBody>
          <a:bodyPr wrap="square">
            <a:spAutoFit/>
          </a:bodyPr>
          <a:lstStyle/>
          <a:p>
            <a:pPr lvl="0" algn="ctr">
              <a:lnSpc>
                <a:spcPct val="150000"/>
              </a:lnSpc>
              <a:spcBef>
                <a:spcPts val="1200"/>
              </a:spcBef>
              <a:spcAft>
                <a:spcPts val="600"/>
              </a:spcAft>
            </a:pPr>
            <a:r>
              <a:rPr lang="en-AU" sz="3600">
                <a:latin typeface="Arial" panose="020B0604020202020204" pitchFamily="34" charset="0"/>
                <a:ea typeface="Calibri" panose="020F0502020204030204" pitchFamily="34" charset="0"/>
              </a:rPr>
              <a:t>U</a:t>
            </a:r>
            <a:r>
              <a:rPr lang="en-AU" sz="3600">
                <a:effectLst/>
                <a:latin typeface="Arial" panose="020B0604020202020204" pitchFamily="34" charset="0"/>
                <a:ea typeface="Calibri" panose="020F0502020204030204" pitchFamily="34" charset="0"/>
              </a:rPr>
              <a:t>se these numbers to record as many related number sentences as possible.</a:t>
            </a:r>
          </a:p>
        </p:txBody>
      </p:sp>
      <p:sp>
        <p:nvSpPr>
          <p:cNvPr id="7" name="TextBox 6" descr="Numbers &#10;28&#10;35&#10;14&#10;42&#10;21">
            <a:extLst>
              <a:ext uri="{FF2B5EF4-FFF2-40B4-BE49-F238E27FC236}">
                <a16:creationId xmlns:a16="http://schemas.microsoft.com/office/drawing/2014/main" id="{01388904-7A73-D405-4E15-12883A688951}"/>
              </a:ext>
            </a:extLst>
          </p:cNvPr>
          <p:cNvSpPr txBox="1"/>
          <p:nvPr/>
        </p:nvSpPr>
        <p:spPr>
          <a:xfrm>
            <a:off x="1083904" y="2048806"/>
            <a:ext cx="1241431" cy="769441"/>
          </a:xfrm>
          <a:prstGeom prst="rect">
            <a:avLst/>
          </a:prstGeom>
          <a:noFill/>
        </p:spPr>
        <p:txBody>
          <a:bodyPr wrap="square">
            <a:spAutoFit/>
          </a:bodyPr>
          <a:lstStyle/>
          <a:p>
            <a:pPr algn="ctr"/>
            <a:r>
              <a:rPr lang="en-AU" sz="4400" b="0" i="0">
                <a:solidFill>
                  <a:srgbClr val="000000"/>
                </a:solidFill>
                <a:effectLst/>
                <a:latin typeface="Arial" panose="020B0604020202020204" pitchFamily="34" charset="0"/>
                <a:cs typeface="Arial" panose="020B0604020202020204" pitchFamily="34" charset="0"/>
              </a:rPr>
              <a:t>28</a:t>
            </a:r>
          </a:p>
        </p:txBody>
      </p:sp>
      <p:sp>
        <p:nvSpPr>
          <p:cNvPr id="5" name="TextBox 4" descr="Numbers &#10;28&#10;35&#10;14&#10;42&#10;21">
            <a:extLst>
              <a:ext uri="{FF2B5EF4-FFF2-40B4-BE49-F238E27FC236}">
                <a16:creationId xmlns:a16="http://schemas.microsoft.com/office/drawing/2014/main" id="{8DFE2CD4-461D-435C-1249-1272624E8EAB}"/>
              </a:ext>
            </a:extLst>
          </p:cNvPr>
          <p:cNvSpPr txBox="1"/>
          <p:nvPr/>
        </p:nvSpPr>
        <p:spPr>
          <a:xfrm>
            <a:off x="3279321" y="2048806"/>
            <a:ext cx="1241431" cy="769441"/>
          </a:xfrm>
          <a:prstGeom prst="rect">
            <a:avLst/>
          </a:prstGeom>
          <a:noFill/>
        </p:spPr>
        <p:txBody>
          <a:bodyPr wrap="square">
            <a:spAutoFit/>
          </a:bodyPr>
          <a:lstStyle/>
          <a:p>
            <a:pPr algn="ctr"/>
            <a:r>
              <a:rPr lang="en-AU" sz="4400" b="0" i="0">
                <a:solidFill>
                  <a:srgbClr val="000000"/>
                </a:solidFill>
                <a:effectLst/>
                <a:latin typeface="Arial" panose="020B0604020202020204" pitchFamily="34" charset="0"/>
                <a:cs typeface="Arial" panose="020B0604020202020204" pitchFamily="34" charset="0"/>
              </a:rPr>
              <a:t>35</a:t>
            </a:r>
          </a:p>
        </p:txBody>
      </p:sp>
      <p:sp>
        <p:nvSpPr>
          <p:cNvPr id="6" name="TextBox 5" descr="Numbers &#10;28&#10;35&#10;14&#10;42&#10;21">
            <a:extLst>
              <a:ext uri="{FF2B5EF4-FFF2-40B4-BE49-F238E27FC236}">
                <a16:creationId xmlns:a16="http://schemas.microsoft.com/office/drawing/2014/main" id="{B282ECEA-1258-6CBE-62BC-1AC41F664D6C}"/>
              </a:ext>
            </a:extLst>
          </p:cNvPr>
          <p:cNvSpPr txBox="1"/>
          <p:nvPr/>
        </p:nvSpPr>
        <p:spPr>
          <a:xfrm>
            <a:off x="5474738" y="2048806"/>
            <a:ext cx="1241431" cy="769441"/>
          </a:xfrm>
          <a:prstGeom prst="rect">
            <a:avLst/>
          </a:prstGeom>
          <a:noFill/>
        </p:spPr>
        <p:txBody>
          <a:bodyPr wrap="square">
            <a:spAutoFit/>
          </a:bodyPr>
          <a:lstStyle/>
          <a:p>
            <a:pPr algn="ctr"/>
            <a:r>
              <a:rPr lang="en-AU" sz="4400" b="0" i="0">
                <a:solidFill>
                  <a:srgbClr val="000000"/>
                </a:solidFill>
                <a:effectLst/>
                <a:latin typeface="Arial" panose="020B0604020202020204" pitchFamily="34" charset="0"/>
                <a:cs typeface="Arial" panose="020B0604020202020204" pitchFamily="34" charset="0"/>
              </a:rPr>
              <a:t>14</a:t>
            </a:r>
          </a:p>
        </p:txBody>
      </p:sp>
      <p:sp>
        <p:nvSpPr>
          <p:cNvPr id="9" name="TextBox 8" descr="Numbers &#10;28&#10;35&#10;14&#10;42&#10;21">
            <a:extLst>
              <a:ext uri="{FF2B5EF4-FFF2-40B4-BE49-F238E27FC236}">
                <a16:creationId xmlns:a16="http://schemas.microsoft.com/office/drawing/2014/main" id="{DFBFA9F1-83BF-65CF-E838-49B9FDF145E2}"/>
              </a:ext>
            </a:extLst>
          </p:cNvPr>
          <p:cNvSpPr txBox="1"/>
          <p:nvPr/>
        </p:nvSpPr>
        <p:spPr>
          <a:xfrm>
            <a:off x="7670155" y="2048806"/>
            <a:ext cx="1241431" cy="769441"/>
          </a:xfrm>
          <a:prstGeom prst="rect">
            <a:avLst/>
          </a:prstGeom>
          <a:noFill/>
        </p:spPr>
        <p:txBody>
          <a:bodyPr wrap="square">
            <a:spAutoFit/>
          </a:bodyPr>
          <a:lstStyle/>
          <a:p>
            <a:pPr algn="ctr"/>
            <a:r>
              <a:rPr lang="en-AU" sz="4400" b="0" i="0">
                <a:solidFill>
                  <a:srgbClr val="000000"/>
                </a:solidFill>
                <a:effectLst/>
                <a:latin typeface="Arial" panose="020B0604020202020204" pitchFamily="34" charset="0"/>
                <a:cs typeface="Arial" panose="020B0604020202020204" pitchFamily="34" charset="0"/>
              </a:rPr>
              <a:t>42</a:t>
            </a:r>
          </a:p>
        </p:txBody>
      </p:sp>
      <p:sp>
        <p:nvSpPr>
          <p:cNvPr id="10" name="TextBox 9" descr="Numbers &#10;28&#10;35&#10;14&#10;42&#10;21">
            <a:extLst>
              <a:ext uri="{FF2B5EF4-FFF2-40B4-BE49-F238E27FC236}">
                <a16:creationId xmlns:a16="http://schemas.microsoft.com/office/drawing/2014/main" id="{EA8B388F-3642-B39D-24FE-EFA2E826507C}"/>
              </a:ext>
            </a:extLst>
          </p:cNvPr>
          <p:cNvSpPr txBox="1"/>
          <p:nvPr/>
        </p:nvSpPr>
        <p:spPr>
          <a:xfrm>
            <a:off x="9865572" y="2048806"/>
            <a:ext cx="1241431" cy="769441"/>
          </a:xfrm>
          <a:prstGeom prst="rect">
            <a:avLst/>
          </a:prstGeom>
          <a:noFill/>
        </p:spPr>
        <p:txBody>
          <a:bodyPr wrap="square">
            <a:spAutoFit/>
          </a:bodyPr>
          <a:lstStyle/>
          <a:p>
            <a:pPr algn="ctr"/>
            <a:r>
              <a:rPr lang="en-AU" sz="4400" b="0" i="0">
                <a:solidFill>
                  <a:srgbClr val="000000"/>
                </a:solidFill>
                <a:effectLst/>
                <a:latin typeface="Arial" panose="020B0604020202020204" pitchFamily="34" charset="0"/>
                <a:cs typeface="Arial" panose="020B0604020202020204" pitchFamily="34" charset="0"/>
              </a:rPr>
              <a:t>21</a:t>
            </a:r>
            <a:endParaRPr lang="en-AU" sz="44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967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grpSp>
        <p:nvGrpSpPr>
          <p:cNvPr id="38" name="Group 37" descr="Bar model showing 124 equals 96 plus 28.">
            <a:extLst>
              <a:ext uri="{FF2B5EF4-FFF2-40B4-BE49-F238E27FC236}">
                <a16:creationId xmlns:a16="http://schemas.microsoft.com/office/drawing/2014/main" id="{72D9E029-1887-A9D3-5176-836F634FA3D9}"/>
              </a:ext>
            </a:extLst>
          </p:cNvPr>
          <p:cNvGrpSpPr/>
          <p:nvPr/>
        </p:nvGrpSpPr>
        <p:grpSpPr>
          <a:xfrm>
            <a:off x="845359" y="4728850"/>
            <a:ext cx="2409286" cy="837048"/>
            <a:chOff x="845359" y="4728850"/>
            <a:chExt cx="2409286" cy="837048"/>
          </a:xfrm>
        </p:grpSpPr>
        <p:sp>
          <p:nvSpPr>
            <p:cNvPr id="39" name="Rectangle 38">
              <a:extLst>
                <a:ext uri="{FF2B5EF4-FFF2-40B4-BE49-F238E27FC236}">
                  <a16:creationId xmlns:a16="http://schemas.microsoft.com/office/drawing/2014/main" id="{B58BF7E9-C0D9-E83C-07BC-326A7E9146F1}"/>
                </a:ext>
              </a:extLst>
            </p:cNvPr>
            <p:cNvSpPr/>
            <p:nvPr/>
          </p:nvSpPr>
          <p:spPr>
            <a:xfrm>
              <a:off x="845359" y="4728850"/>
              <a:ext cx="2409286" cy="418524"/>
            </a:xfrm>
            <a:prstGeom prst="rect">
              <a:avLst/>
            </a:prstGeom>
            <a:solidFill>
              <a:srgbClr val="E5D9F6"/>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124</a:t>
              </a:r>
            </a:p>
          </p:txBody>
        </p:sp>
        <p:sp>
          <p:nvSpPr>
            <p:cNvPr id="40" name="Rectangle 39">
              <a:extLst>
                <a:ext uri="{FF2B5EF4-FFF2-40B4-BE49-F238E27FC236}">
                  <a16:creationId xmlns:a16="http://schemas.microsoft.com/office/drawing/2014/main" id="{EF515A02-A460-3CF4-66E1-65077D067403}"/>
                </a:ext>
              </a:extLst>
            </p:cNvPr>
            <p:cNvSpPr/>
            <p:nvPr/>
          </p:nvSpPr>
          <p:spPr>
            <a:xfrm>
              <a:off x="845359" y="5147374"/>
              <a:ext cx="881841" cy="418524"/>
            </a:xfrm>
            <a:prstGeom prst="rect">
              <a:avLst/>
            </a:prstGeom>
            <a:solidFill>
              <a:srgbClr val="F6EFAD"/>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96</a:t>
              </a:r>
            </a:p>
          </p:txBody>
        </p:sp>
        <p:sp>
          <p:nvSpPr>
            <p:cNvPr id="41" name="Rectangle 40">
              <a:extLst>
                <a:ext uri="{FF2B5EF4-FFF2-40B4-BE49-F238E27FC236}">
                  <a16:creationId xmlns:a16="http://schemas.microsoft.com/office/drawing/2014/main" id="{BEB284DC-9177-CCB4-5787-1BAD82FAC06E}"/>
                </a:ext>
              </a:extLst>
            </p:cNvPr>
            <p:cNvSpPr/>
            <p:nvPr/>
          </p:nvSpPr>
          <p:spPr>
            <a:xfrm>
              <a:off x="1727200" y="5147374"/>
              <a:ext cx="1527445" cy="418524"/>
            </a:xfrm>
            <a:prstGeom prst="rect">
              <a:avLst/>
            </a:prstGeom>
            <a:solidFill>
              <a:srgbClr val="E6E7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28</a:t>
              </a:r>
            </a:p>
          </p:txBody>
        </p:sp>
      </p:grpSp>
      <p:grpSp>
        <p:nvGrpSpPr>
          <p:cNvPr id="42" name="Group 41" descr="Bar model showing 124 equals 28 plus 96.">
            <a:extLst>
              <a:ext uri="{FF2B5EF4-FFF2-40B4-BE49-F238E27FC236}">
                <a16:creationId xmlns:a16="http://schemas.microsoft.com/office/drawing/2014/main" id="{ADF4EEDB-4C8D-8791-480B-2921C92AB141}"/>
              </a:ext>
            </a:extLst>
          </p:cNvPr>
          <p:cNvGrpSpPr/>
          <p:nvPr/>
        </p:nvGrpSpPr>
        <p:grpSpPr>
          <a:xfrm>
            <a:off x="8746660" y="4728850"/>
            <a:ext cx="2409286" cy="837048"/>
            <a:chOff x="845359" y="4728850"/>
            <a:chExt cx="2409286" cy="837048"/>
          </a:xfrm>
        </p:grpSpPr>
        <p:sp>
          <p:nvSpPr>
            <p:cNvPr id="43" name="Rectangle 42">
              <a:extLst>
                <a:ext uri="{FF2B5EF4-FFF2-40B4-BE49-F238E27FC236}">
                  <a16:creationId xmlns:a16="http://schemas.microsoft.com/office/drawing/2014/main" id="{07BE7582-4F7F-08FD-43D2-12BE3A345DCA}"/>
                </a:ext>
              </a:extLst>
            </p:cNvPr>
            <p:cNvSpPr/>
            <p:nvPr/>
          </p:nvSpPr>
          <p:spPr>
            <a:xfrm>
              <a:off x="845359" y="4728850"/>
              <a:ext cx="2409286" cy="418524"/>
            </a:xfrm>
            <a:prstGeom prst="rect">
              <a:avLst/>
            </a:prstGeom>
            <a:solidFill>
              <a:srgbClr val="E5D9F6"/>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124</a:t>
              </a:r>
            </a:p>
          </p:txBody>
        </p:sp>
        <p:sp>
          <p:nvSpPr>
            <p:cNvPr id="44" name="Rectangle 43">
              <a:extLst>
                <a:ext uri="{FF2B5EF4-FFF2-40B4-BE49-F238E27FC236}">
                  <a16:creationId xmlns:a16="http://schemas.microsoft.com/office/drawing/2014/main" id="{7AD678CE-6E19-64F7-1A55-A857B9B617A2}"/>
                </a:ext>
              </a:extLst>
            </p:cNvPr>
            <p:cNvSpPr/>
            <p:nvPr/>
          </p:nvSpPr>
          <p:spPr>
            <a:xfrm>
              <a:off x="845359" y="5147374"/>
              <a:ext cx="881841" cy="418524"/>
            </a:xfrm>
            <a:prstGeom prst="rect">
              <a:avLst/>
            </a:prstGeom>
            <a:solidFill>
              <a:srgbClr val="F6EFAD"/>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28</a:t>
              </a:r>
            </a:p>
          </p:txBody>
        </p:sp>
        <p:sp>
          <p:nvSpPr>
            <p:cNvPr id="45" name="Rectangle 44">
              <a:extLst>
                <a:ext uri="{FF2B5EF4-FFF2-40B4-BE49-F238E27FC236}">
                  <a16:creationId xmlns:a16="http://schemas.microsoft.com/office/drawing/2014/main" id="{44CD4766-E17A-7E48-31AE-559C7132048A}"/>
                </a:ext>
              </a:extLst>
            </p:cNvPr>
            <p:cNvSpPr/>
            <p:nvPr/>
          </p:nvSpPr>
          <p:spPr>
            <a:xfrm>
              <a:off x="1727200" y="5147374"/>
              <a:ext cx="1527445" cy="418524"/>
            </a:xfrm>
            <a:prstGeom prst="rect">
              <a:avLst/>
            </a:prstGeom>
            <a:solidFill>
              <a:srgbClr val="E6E7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96</a:t>
              </a:r>
            </a:p>
          </p:txBody>
        </p:sp>
      </p:grpSp>
      <p:grpSp>
        <p:nvGrpSpPr>
          <p:cNvPr id="26" name="Group 25" descr="Bar model showing 96 equals 124 plus 28.">
            <a:extLst>
              <a:ext uri="{FF2B5EF4-FFF2-40B4-BE49-F238E27FC236}">
                <a16:creationId xmlns:a16="http://schemas.microsoft.com/office/drawing/2014/main" id="{DFFF7F68-7C60-174A-563F-73A88FB92064}"/>
              </a:ext>
            </a:extLst>
          </p:cNvPr>
          <p:cNvGrpSpPr/>
          <p:nvPr/>
        </p:nvGrpSpPr>
        <p:grpSpPr>
          <a:xfrm>
            <a:off x="3479126" y="4728850"/>
            <a:ext cx="2409286" cy="837048"/>
            <a:chOff x="845359" y="4728850"/>
            <a:chExt cx="2409286" cy="837048"/>
          </a:xfrm>
        </p:grpSpPr>
        <p:sp>
          <p:nvSpPr>
            <p:cNvPr id="27" name="Rectangle 26">
              <a:extLst>
                <a:ext uri="{FF2B5EF4-FFF2-40B4-BE49-F238E27FC236}">
                  <a16:creationId xmlns:a16="http://schemas.microsoft.com/office/drawing/2014/main" id="{E2026144-9B8D-94EE-3060-AC4CB2F0773D}"/>
                </a:ext>
              </a:extLst>
            </p:cNvPr>
            <p:cNvSpPr/>
            <p:nvPr/>
          </p:nvSpPr>
          <p:spPr>
            <a:xfrm>
              <a:off x="845359" y="4728850"/>
              <a:ext cx="2409286" cy="418524"/>
            </a:xfrm>
            <a:prstGeom prst="rect">
              <a:avLst/>
            </a:prstGeom>
            <a:solidFill>
              <a:srgbClr val="E5D9F6"/>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96</a:t>
              </a:r>
            </a:p>
          </p:txBody>
        </p:sp>
        <p:sp>
          <p:nvSpPr>
            <p:cNvPr id="28" name="Rectangle 27">
              <a:extLst>
                <a:ext uri="{FF2B5EF4-FFF2-40B4-BE49-F238E27FC236}">
                  <a16:creationId xmlns:a16="http://schemas.microsoft.com/office/drawing/2014/main" id="{011BD5D6-151F-FE85-AFED-7BF4A2AD480E}"/>
                </a:ext>
              </a:extLst>
            </p:cNvPr>
            <p:cNvSpPr/>
            <p:nvPr/>
          </p:nvSpPr>
          <p:spPr>
            <a:xfrm>
              <a:off x="845359" y="5147374"/>
              <a:ext cx="881841" cy="418524"/>
            </a:xfrm>
            <a:prstGeom prst="rect">
              <a:avLst/>
            </a:prstGeom>
            <a:solidFill>
              <a:srgbClr val="F6EFAD"/>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124</a:t>
              </a:r>
            </a:p>
          </p:txBody>
        </p:sp>
        <p:sp>
          <p:nvSpPr>
            <p:cNvPr id="29" name="Rectangle 28">
              <a:extLst>
                <a:ext uri="{FF2B5EF4-FFF2-40B4-BE49-F238E27FC236}">
                  <a16:creationId xmlns:a16="http://schemas.microsoft.com/office/drawing/2014/main" id="{411B9D22-250B-9B5B-F7A6-EAACC6490790}"/>
                </a:ext>
              </a:extLst>
            </p:cNvPr>
            <p:cNvSpPr/>
            <p:nvPr/>
          </p:nvSpPr>
          <p:spPr>
            <a:xfrm>
              <a:off x="1727200" y="5147374"/>
              <a:ext cx="1527445" cy="418524"/>
            </a:xfrm>
            <a:prstGeom prst="rect">
              <a:avLst/>
            </a:prstGeom>
            <a:solidFill>
              <a:srgbClr val="E6E7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28</a:t>
              </a:r>
            </a:p>
          </p:txBody>
        </p:sp>
      </p:grpSp>
      <p:grpSp>
        <p:nvGrpSpPr>
          <p:cNvPr id="30" name="Group 29" descr="Bar model showing 28 equals 96 plus 124.">
            <a:extLst>
              <a:ext uri="{FF2B5EF4-FFF2-40B4-BE49-F238E27FC236}">
                <a16:creationId xmlns:a16="http://schemas.microsoft.com/office/drawing/2014/main" id="{71605E6E-BC6C-731B-F2AC-B6A568652054}"/>
              </a:ext>
            </a:extLst>
          </p:cNvPr>
          <p:cNvGrpSpPr/>
          <p:nvPr/>
        </p:nvGrpSpPr>
        <p:grpSpPr>
          <a:xfrm>
            <a:off x="6112893" y="4728850"/>
            <a:ext cx="2409286" cy="837048"/>
            <a:chOff x="845359" y="4728850"/>
            <a:chExt cx="2409286" cy="837048"/>
          </a:xfrm>
        </p:grpSpPr>
        <p:sp>
          <p:nvSpPr>
            <p:cNvPr id="31" name="Rectangle 30">
              <a:extLst>
                <a:ext uri="{FF2B5EF4-FFF2-40B4-BE49-F238E27FC236}">
                  <a16:creationId xmlns:a16="http://schemas.microsoft.com/office/drawing/2014/main" id="{A65064F7-0DF4-E09F-855E-2ABF53DC2476}"/>
                </a:ext>
              </a:extLst>
            </p:cNvPr>
            <p:cNvSpPr/>
            <p:nvPr/>
          </p:nvSpPr>
          <p:spPr>
            <a:xfrm>
              <a:off x="845359" y="4728850"/>
              <a:ext cx="2409286" cy="418524"/>
            </a:xfrm>
            <a:prstGeom prst="rect">
              <a:avLst/>
            </a:prstGeom>
            <a:solidFill>
              <a:srgbClr val="E5D9F6"/>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28</a:t>
              </a:r>
            </a:p>
          </p:txBody>
        </p:sp>
        <p:sp>
          <p:nvSpPr>
            <p:cNvPr id="32" name="Rectangle 31">
              <a:extLst>
                <a:ext uri="{FF2B5EF4-FFF2-40B4-BE49-F238E27FC236}">
                  <a16:creationId xmlns:a16="http://schemas.microsoft.com/office/drawing/2014/main" id="{E4D8D0BB-9F20-7422-9FC2-8F02DF93D153}"/>
                </a:ext>
              </a:extLst>
            </p:cNvPr>
            <p:cNvSpPr/>
            <p:nvPr/>
          </p:nvSpPr>
          <p:spPr>
            <a:xfrm>
              <a:off x="845359" y="5147374"/>
              <a:ext cx="881841" cy="418524"/>
            </a:xfrm>
            <a:prstGeom prst="rect">
              <a:avLst/>
            </a:prstGeom>
            <a:solidFill>
              <a:srgbClr val="F6EFAD"/>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96</a:t>
              </a:r>
            </a:p>
          </p:txBody>
        </p:sp>
        <p:sp>
          <p:nvSpPr>
            <p:cNvPr id="33" name="Rectangle 32">
              <a:extLst>
                <a:ext uri="{FF2B5EF4-FFF2-40B4-BE49-F238E27FC236}">
                  <a16:creationId xmlns:a16="http://schemas.microsoft.com/office/drawing/2014/main" id="{87F4217D-6465-4E5B-14E3-A98665865594}"/>
                </a:ext>
              </a:extLst>
            </p:cNvPr>
            <p:cNvSpPr/>
            <p:nvPr/>
          </p:nvSpPr>
          <p:spPr>
            <a:xfrm>
              <a:off x="1727200" y="5147374"/>
              <a:ext cx="1527445" cy="418524"/>
            </a:xfrm>
            <a:prstGeom prst="rect">
              <a:avLst/>
            </a:prstGeom>
            <a:solidFill>
              <a:srgbClr val="E6E7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b="1">
                  <a:solidFill>
                    <a:srgbClr val="000000"/>
                  </a:solidFill>
                </a:rPr>
                <a:t>124</a:t>
              </a:r>
            </a:p>
          </p:txBody>
        </p:sp>
      </p:grpSp>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t>Multiple choice </a:t>
            </a:r>
            <a:r>
              <a:rPr lang="en-US">
                <a:solidFill>
                  <a:schemeClr val="bg1"/>
                </a:solidFill>
              </a:rPr>
              <a:t>(2)</a:t>
            </a: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471433" y="1028703"/>
            <a:ext cx="11249133" cy="982571"/>
          </a:xfrm>
        </p:spPr>
        <p:txBody>
          <a:bodyPr vert="horz" lIns="0" tIns="0" rIns="0" bIns="0" rtlCol="0" anchor="t">
            <a:noAutofit/>
          </a:bodyPr>
          <a:lstStyle/>
          <a:p>
            <a:pPr algn="ctr"/>
            <a:r>
              <a:rPr lang="en-US" sz="4400">
                <a:latin typeface="Arial"/>
                <a:cs typeface="Arial"/>
              </a:rPr>
              <a:t>124 = __ + 96</a:t>
            </a:r>
            <a:endParaRPr lang="en-US" sz="2000"/>
          </a:p>
        </p:txBody>
      </p:sp>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1724457326"/>
              </p:ext>
            </p:extLst>
          </p:nvPr>
        </p:nvGraphicFramePr>
        <p:xfrm>
          <a:off x="705873" y="3744616"/>
          <a:ext cx="10551292" cy="1524000"/>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AU" sz="4000">
                        <a:latin typeface="+mn-lt"/>
                        <a:cs typeface="Aria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5EA0110-8963-8FFF-008C-5572AAB946D2}"/>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4" name="Text Placeholder 17">
            <a:extLst>
              <a:ext uri="{FF2B5EF4-FFF2-40B4-BE49-F238E27FC236}">
                <a16:creationId xmlns:a16="http://schemas.microsoft.com/office/drawing/2014/main" id="{8E6F49A1-DEF5-9BC6-AC04-FD745A52E4EC}"/>
              </a:ext>
            </a:extLst>
          </p:cNvPr>
          <p:cNvSpPr txBox="1">
            <a:spLocks/>
          </p:cNvSpPr>
          <p:nvPr/>
        </p:nvSpPr>
        <p:spPr>
          <a:xfrm>
            <a:off x="471433" y="2276087"/>
            <a:ext cx="11249133" cy="982571"/>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a:latin typeface="Arial"/>
                <a:cs typeface="Arial"/>
              </a:rPr>
              <a:t>Which bar model correctly represents the number sentence?</a:t>
            </a:r>
            <a:endParaRPr lang="en-US" sz="2000"/>
          </a:p>
        </p:txBody>
      </p:sp>
      <p:sp>
        <p:nvSpPr>
          <p:cNvPr id="24" name="Text Placeholder 6">
            <a:extLst>
              <a:ext uri="{FF2B5EF4-FFF2-40B4-BE49-F238E27FC236}">
                <a16:creationId xmlns:a16="http://schemas.microsoft.com/office/drawing/2014/main" id="{3BE1B322-B35E-F1D1-E5BC-A58106B73A93}"/>
              </a:ext>
            </a:extLst>
          </p:cNvPr>
          <p:cNvSpPr txBox="1">
            <a:spLocks/>
          </p:cNvSpPr>
          <p:nvPr/>
        </p:nvSpPr>
        <p:spPr>
          <a:xfrm>
            <a:off x="470073" y="5776373"/>
            <a:ext cx="11243037" cy="8946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a:t>
            </a:r>
            <a:r>
              <a:rPr lang="en-US"/>
              <a:t> </a:t>
            </a:r>
            <a:r>
              <a:rPr lang="en-US">
                <a:solidFill>
                  <a:schemeClr val="bg1"/>
                </a:solidFill>
              </a:rPr>
              <a:t>(9)</a:t>
            </a:r>
          </a:p>
        </p:txBody>
      </p:sp>
      <p:pic>
        <p:nvPicPr>
          <p:cNvPr id="4" name="Picture 3" descr="image of a clipboard with a pencil recording short answer responses">
            <a:extLst>
              <a:ext uri="{FF2B5EF4-FFF2-40B4-BE49-F238E27FC236}">
                <a16:creationId xmlns:a16="http://schemas.microsoft.com/office/drawing/2014/main" id="{0BADCB8F-5A5A-827C-24CB-6A28E30A5102}"/>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a:extLst>
              <a:ext uri="{FF2B5EF4-FFF2-40B4-BE49-F238E27FC236}">
                <a16:creationId xmlns:a16="http://schemas.microsoft.com/office/drawing/2014/main" id="{BB98549D-7D4B-F409-37ED-5CE5CDD6ADE3}"/>
              </a:ext>
            </a:extLst>
          </p:cNvPr>
          <p:cNvPicPr>
            <a:picLocks noChangeAspect="1"/>
          </p:cNvPicPr>
          <p:nvPr/>
        </p:nvPicPr>
        <p:blipFill>
          <a:blip r:embed="rId4"/>
          <a:stretch>
            <a:fillRect/>
          </a:stretch>
        </p:blipFill>
        <p:spPr>
          <a:xfrm>
            <a:off x="5505262" y="2026208"/>
            <a:ext cx="6544970" cy="3464748"/>
          </a:xfrm>
          <a:prstGeom prst="rect">
            <a:avLst/>
          </a:prstGeom>
        </p:spPr>
      </p:pic>
      <p:sp>
        <p:nvSpPr>
          <p:cNvPr id="10" name="Picture Placeholder 10">
            <a:extLst>
              <a:ext uri="{FF2B5EF4-FFF2-40B4-BE49-F238E27FC236}">
                <a16:creationId xmlns:a16="http://schemas.microsoft.com/office/drawing/2014/main" id="{49CE2AF7-787A-09B2-9D6E-2AA29CFF847F}"/>
              </a:ext>
            </a:extLst>
          </p:cNvPr>
          <p:cNvSpPr>
            <a:spLocks noGrp="1"/>
          </p:cNvSpPr>
          <p:nvPr>
            <p:ph type="pic" sz="quarter" idx="21"/>
          </p:nvPr>
        </p:nvSpPr>
        <p:spPr>
          <a:xfrm>
            <a:off x="141768" y="1367043"/>
            <a:ext cx="5169767" cy="4950629"/>
          </a:xfrm>
        </p:spPr>
        <p:txBody>
          <a:bodyPr/>
          <a:lstStyle/>
          <a:p>
            <a:pPr algn="ctr">
              <a:lnSpc>
                <a:spcPct val="100000"/>
              </a:lnSpc>
              <a:spcAft>
                <a:spcPts val="600"/>
              </a:spcAft>
            </a:pPr>
            <a:r>
              <a:rPr lang="en-US" sz="4000" b="1">
                <a:latin typeface="Arial"/>
                <a:cs typeface="Arial"/>
              </a:rPr>
              <a:t>Record </a:t>
            </a:r>
            <a:r>
              <a:rPr lang="en-US" sz="4000">
                <a:latin typeface="Arial"/>
                <a:cs typeface="Arial"/>
              </a:rPr>
              <a:t>labels for these parts</a:t>
            </a:r>
            <a:r>
              <a:rPr lang="en-US" sz="4000" b="1">
                <a:latin typeface="Arial"/>
                <a:cs typeface="Arial"/>
              </a:rPr>
              <a:t> </a:t>
            </a:r>
            <a:r>
              <a:rPr lang="en-US" sz="4000">
                <a:latin typeface="Arial"/>
                <a:cs typeface="Arial"/>
              </a:rPr>
              <a:t>of a graph using the data in the table:</a:t>
            </a:r>
          </a:p>
          <a:p>
            <a:pPr marL="571500" indent="-571500" algn="ctr">
              <a:lnSpc>
                <a:spcPct val="100000"/>
              </a:lnSpc>
              <a:spcAft>
                <a:spcPts val="600"/>
              </a:spcAft>
              <a:buFont typeface="Arial" panose="020B0604020202020204" pitchFamily="34" charset="0"/>
              <a:buChar char="−"/>
            </a:pPr>
            <a:r>
              <a:rPr lang="en-US" sz="4000">
                <a:latin typeface="Arial"/>
                <a:cs typeface="Arial"/>
              </a:rPr>
              <a:t>title</a:t>
            </a:r>
          </a:p>
          <a:p>
            <a:pPr marL="571500" indent="-571500" algn="ctr">
              <a:lnSpc>
                <a:spcPct val="100000"/>
              </a:lnSpc>
              <a:spcAft>
                <a:spcPts val="600"/>
              </a:spcAft>
              <a:buFont typeface="Arial" panose="020B0604020202020204" pitchFamily="34" charset="0"/>
              <a:buChar char="−"/>
            </a:pPr>
            <a:r>
              <a:rPr lang="en-US" sz="4000">
                <a:latin typeface="Arial"/>
                <a:cs typeface="Arial"/>
              </a:rPr>
              <a:t>x-axis</a:t>
            </a:r>
          </a:p>
          <a:p>
            <a:pPr marL="571500" indent="-571500" algn="ctr">
              <a:lnSpc>
                <a:spcPct val="100000"/>
              </a:lnSpc>
              <a:spcAft>
                <a:spcPts val="600"/>
              </a:spcAft>
              <a:buFont typeface="Arial" panose="020B0604020202020204" pitchFamily="34" charset="0"/>
              <a:buChar char="−"/>
            </a:pPr>
            <a:r>
              <a:rPr lang="en-US" sz="4000">
                <a:latin typeface="Arial"/>
                <a:cs typeface="Arial"/>
              </a:rPr>
              <a:t>y-axis</a:t>
            </a:r>
          </a:p>
          <a:p>
            <a:pPr marL="571500" indent="-571500" algn="ctr">
              <a:lnSpc>
                <a:spcPct val="100000"/>
              </a:lnSpc>
              <a:spcAft>
                <a:spcPts val="600"/>
              </a:spcAft>
              <a:buFont typeface="Arial" panose="020B0604020202020204" pitchFamily="34" charset="0"/>
              <a:buChar char="−"/>
            </a:pPr>
            <a:r>
              <a:rPr lang="en-US" sz="4000">
                <a:latin typeface="Arial"/>
                <a:cs typeface="Arial"/>
              </a:rPr>
              <a:t>categories</a:t>
            </a:r>
          </a:p>
          <a:p>
            <a:pPr>
              <a:lnSpc>
                <a:spcPct val="100000"/>
              </a:lnSpc>
              <a:spcAft>
                <a:spcPts val="600"/>
              </a:spcAft>
            </a:pPr>
            <a:endParaRPr lang="en-US" sz="3200">
              <a:latin typeface="Arial"/>
              <a:cs typeface="Arial"/>
            </a:endParaRPr>
          </a:p>
        </p:txBody>
      </p:sp>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 </a:t>
            </a:r>
            <a:r>
              <a:rPr lang="en-US">
                <a:solidFill>
                  <a:schemeClr val="bg1"/>
                </a:solidFill>
              </a:rPr>
              <a:t>(10)</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240963" y="1275500"/>
            <a:ext cx="11243037" cy="2076455"/>
          </a:xfrm>
        </p:spPr>
        <p:txBody>
          <a:bodyPr/>
          <a:lstStyle/>
          <a:p>
            <a:pPr algn="ctr"/>
            <a:r>
              <a:rPr lang="en-AU" sz="4400">
                <a:latin typeface="Arial"/>
                <a:cs typeface="Arial"/>
              </a:rPr>
              <a:t>Use the </a:t>
            </a:r>
            <a:r>
              <a:rPr lang="en-AU" sz="4400" b="1">
                <a:latin typeface="Arial"/>
                <a:cs typeface="Arial"/>
              </a:rPr>
              <a:t>commutative property </a:t>
            </a:r>
            <a:r>
              <a:rPr lang="en-AU" sz="4400">
                <a:latin typeface="Arial"/>
                <a:cs typeface="Arial"/>
              </a:rPr>
              <a:t>to create fact families for the following:</a:t>
            </a:r>
            <a:br>
              <a:rPr lang="en-AU" sz="4400">
                <a:latin typeface="Arial"/>
                <a:cs typeface="Arial"/>
              </a:rPr>
            </a:br>
            <a:r>
              <a:rPr lang="en-AU" sz="4400" b="1">
                <a:latin typeface="Arial"/>
                <a:cs typeface="Arial"/>
              </a:rPr>
              <a:t>4 x 3</a:t>
            </a:r>
          </a:p>
          <a:p>
            <a:pPr algn="ctr"/>
            <a:r>
              <a:rPr lang="en-AU" sz="4400" b="1">
                <a:latin typeface="Arial"/>
                <a:cs typeface="Arial"/>
              </a:rPr>
              <a:t>4 x 6</a:t>
            </a:r>
          </a:p>
          <a:p>
            <a:pPr algn="ctr"/>
            <a:r>
              <a:rPr lang="en-AU" sz="4400" b="1">
                <a:latin typeface="Arial"/>
                <a:cs typeface="Arial"/>
              </a:rPr>
              <a:t>4 x 9</a:t>
            </a:r>
            <a:endParaRPr lang="en-AU"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E7CF1E4-4432-483B-E4F0-A7EDC0414F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rPr>
              <a:t>(11)</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673342" y="4359185"/>
            <a:ext cx="10048876" cy="2138815"/>
          </a:xfrm>
        </p:spPr>
        <p:txBody>
          <a:bodyPr/>
          <a:lstStyle/>
          <a:p>
            <a:pPr algn="ctr">
              <a:lnSpc>
                <a:spcPct val="100000"/>
              </a:lnSpc>
            </a:pPr>
            <a:r>
              <a:rPr lang="en-US" sz="4400" b="1">
                <a:latin typeface="Arial"/>
                <a:cs typeface="Arial"/>
              </a:rPr>
              <a:t>Name the fraction made.</a:t>
            </a:r>
          </a:p>
          <a:p>
            <a:pPr algn="ctr">
              <a:lnSpc>
                <a:spcPct val="100000"/>
              </a:lnSpc>
            </a:pPr>
            <a:r>
              <a:rPr lang="en-US" sz="4400" b="1">
                <a:latin typeface="Arial"/>
                <a:cs typeface="Arial"/>
              </a:rPr>
              <a:t> Communicate </a:t>
            </a:r>
            <a:r>
              <a:rPr lang="en-US" sz="4400">
                <a:latin typeface="Arial"/>
                <a:cs typeface="Arial"/>
              </a:rPr>
              <a:t>your</a:t>
            </a:r>
            <a:r>
              <a:rPr lang="en-US" sz="4400" b="1">
                <a:latin typeface="Arial"/>
                <a:cs typeface="Arial"/>
              </a:rPr>
              <a:t> </a:t>
            </a:r>
            <a:r>
              <a:rPr lang="en-US" sz="4400">
                <a:latin typeface="Arial"/>
                <a:cs typeface="Arial"/>
              </a:rPr>
              <a:t>reasoning</a:t>
            </a:r>
            <a:endParaRPr lang="en-US" sz="4400"/>
          </a:p>
        </p:txBody>
      </p:sp>
      <p:pic>
        <p:nvPicPr>
          <p:cNvPr id="4" name="Picture 3" descr="image of a clipboard with a pencil recording short answer responses">
            <a:extLst>
              <a:ext uri="{FF2B5EF4-FFF2-40B4-BE49-F238E27FC236}">
                <a16:creationId xmlns:a16="http://schemas.microsoft.com/office/drawing/2014/main" id="{B8D0C62D-183A-CACC-790E-F241DFF5E1EF}"/>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Instructions on folding fifths - 5 steps to fold. Step 1: Visualise quarters. Model shows strip divided into quarters. Step 2: Estimate one fifth as less than a quarter and fold. Bar model shows a quarter and a remaining length. There is a note that reads: 'Notice the dark orange part looks like a quarter of the remaining length'. Step 3: Check the remaining length will make three equal parts. Bar model shows the fold. Step 4: Fold remaining part in behind the folded part again. Bar model shows folds with an arrow pointing to half. Step 5: Open. Bar model shows 5 equal parts.">
            <a:extLst>
              <a:ext uri="{FF2B5EF4-FFF2-40B4-BE49-F238E27FC236}">
                <a16:creationId xmlns:a16="http://schemas.microsoft.com/office/drawing/2014/main" id="{F8D0C733-38CB-9376-4F56-BF1EF8C169BE}"/>
              </a:ext>
            </a:extLst>
          </p:cNvPr>
          <p:cNvPicPr>
            <a:picLocks noChangeAspect="1"/>
          </p:cNvPicPr>
          <p:nvPr/>
        </p:nvPicPr>
        <p:blipFill>
          <a:blip r:embed="rId4"/>
          <a:stretch>
            <a:fillRect/>
          </a:stretch>
        </p:blipFill>
        <p:spPr>
          <a:xfrm>
            <a:off x="542116" y="1379382"/>
            <a:ext cx="10824615" cy="2646067"/>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474481" y="1462845"/>
            <a:ext cx="11243037" cy="1009598"/>
          </a:xfrm>
        </p:spPr>
        <p:txBody>
          <a:bodyPr/>
          <a:lstStyle/>
          <a:p>
            <a:pPr algn="ctr"/>
            <a:r>
              <a:rPr lang="en-US" sz="4400" b="1">
                <a:latin typeface="Arial"/>
                <a:cs typeface="Arial"/>
              </a:rPr>
              <a:t>Name</a:t>
            </a:r>
            <a:r>
              <a:rPr lang="en-US" sz="4400">
                <a:latin typeface="Arial"/>
                <a:cs typeface="Arial"/>
              </a:rPr>
              <a:t> and </a:t>
            </a:r>
            <a:r>
              <a:rPr lang="en-US" sz="4400" b="1">
                <a:latin typeface="Arial"/>
                <a:cs typeface="Arial"/>
              </a:rPr>
              <a:t>describe</a:t>
            </a:r>
            <a:r>
              <a:rPr lang="en-US" sz="4400">
                <a:latin typeface="Arial"/>
                <a:cs typeface="Arial"/>
              </a:rPr>
              <a:t> these shapes.</a:t>
            </a:r>
          </a:p>
        </p:txBody>
      </p:sp>
      <p:pic>
        <p:nvPicPr>
          <p:cNvPr id="4" name="Picture 3" descr="image of a clipboard with a pencil recording short answer responses">
            <a:extLst>
              <a:ext uri="{FF2B5EF4-FFF2-40B4-BE49-F238E27FC236}">
                <a16:creationId xmlns:a16="http://schemas.microsoft.com/office/drawing/2014/main" id="{684B5940-5140-3FDA-A2C8-AEE3D94BCCEF}"/>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Picture Placeholder 10">
            <a:extLst>
              <a:ext uri="{FF2B5EF4-FFF2-40B4-BE49-F238E27FC236}">
                <a16:creationId xmlns:a16="http://schemas.microsoft.com/office/drawing/2014/main" id="{7CF187A0-C4EE-E156-3C7D-2C5F7BED0124}"/>
              </a:ext>
            </a:extLst>
          </p:cNvPr>
          <p:cNvSpPr txBox="1">
            <a:spLocks/>
          </p:cNvSpPr>
          <p:nvPr/>
        </p:nvSpPr>
        <p:spPr>
          <a:xfrm>
            <a:off x="474481" y="5227780"/>
            <a:ext cx="11243037" cy="100959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4400" b="1">
                <a:latin typeface="Arial"/>
                <a:cs typeface="Arial"/>
              </a:rPr>
              <a:t>Explain</a:t>
            </a:r>
            <a:r>
              <a:rPr lang="en-AU" sz="4400">
                <a:latin typeface="Arial"/>
                <a:cs typeface="Arial"/>
              </a:rPr>
              <a:t> how they are </a:t>
            </a:r>
            <a:r>
              <a:rPr lang="en-AU" sz="4400" b="1">
                <a:latin typeface="Arial"/>
                <a:cs typeface="Arial"/>
              </a:rPr>
              <a:t>similar</a:t>
            </a:r>
            <a:r>
              <a:rPr lang="en-AU" sz="4400">
                <a:latin typeface="Arial"/>
                <a:cs typeface="Arial"/>
              </a:rPr>
              <a:t> and how they are </a:t>
            </a:r>
            <a:r>
              <a:rPr lang="en-AU" sz="4400" b="1">
                <a:latin typeface="Arial"/>
                <a:cs typeface="Arial"/>
              </a:rPr>
              <a:t>different</a:t>
            </a:r>
            <a:r>
              <a:rPr lang="en-AU" sz="4400">
                <a:latin typeface="Arial"/>
                <a:cs typeface="Arial"/>
              </a:rPr>
              <a:t>.</a:t>
            </a:r>
            <a:endParaRPr lang="en-US" sz="4400">
              <a:latin typeface="Arial"/>
              <a:cs typeface="Arial"/>
            </a:endParaRPr>
          </a:p>
        </p:txBody>
      </p:sp>
      <p:grpSp>
        <p:nvGrpSpPr>
          <p:cNvPr id="18" name="Group 17" descr="3 shapes - a blue trapezium, a purple parallelogram and a red square.">
            <a:extLst>
              <a:ext uri="{FF2B5EF4-FFF2-40B4-BE49-F238E27FC236}">
                <a16:creationId xmlns:a16="http://schemas.microsoft.com/office/drawing/2014/main" id="{E7F2F579-EE60-96D0-5824-3D14901EE149}"/>
              </a:ext>
            </a:extLst>
          </p:cNvPr>
          <p:cNvGrpSpPr/>
          <p:nvPr/>
        </p:nvGrpSpPr>
        <p:grpSpPr>
          <a:xfrm>
            <a:off x="707154" y="2897134"/>
            <a:ext cx="10777691" cy="1905956"/>
            <a:chOff x="707154" y="2897134"/>
            <a:chExt cx="10777691" cy="1905956"/>
          </a:xfrm>
        </p:grpSpPr>
        <p:sp>
          <p:nvSpPr>
            <p:cNvPr id="5" name="Rectangle 4">
              <a:extLst>
                <a:ext uri="{FF2B5EF4-FFF2-40B4-BE49-F238E27FC236}">
                  <a16:creationId xmlns:a16="http://schemas.microsoft.com/office/drawing/2014/main" id="{14A85CD5-7D69-96BB-13CC-BA0E67AF2009}"/>
                </a:ext>
              </a:extLst>
            </p:cNvPr>
            <p:cNvSpPr/>
            <p:nvPr/>
          </p:nvSpPr>
          <p:spPr>
            <a:xfrm>
              <a:off x="707154" y="2897134"/>
              <a:ext cx="10777691" cy="1905956"/>
            </a:xfrm>
            <a:prstGeom prst="rect">
              <a:avLst/>
            </a:prstGeom>
            <a:solidFill>
              <a:schemeClr val="bg1"/>
            </a:solidFill>
            <a:ln w="2857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7" name="Group 16">
              <a:extLst>
                <a:ext uri="{FF2B5EF4-FFF2-40B4-BE49-F238E27FC236}">
                  <a16:creationId xmlns:a16="http://schemas.microsoft.com/office/drawing/2014/main" id="{940D1272-EDCE-EB06-2A3D-967D622CA336}"/>
                </a:ext>
              </a:extLst>
            </p:cNvPr>
            <p:cNvGrpSpPr/>
            <p:nvPr/>
          </p:nvGrpSpPr>
          <p:grpSpPr>
            <a:xfrm>
              <a:off x="1388307" y="3205513"/>
              <a:ext cx="9415384" cy="1283891"/>
              <a:chOff x="1206021" y="3205513"/>
              <a:chExt cx="9415384" cy="1283891"/>
            </a:xfrm>
          </p:grpSpPr>
          <p:grpSp>
            <p:nvGrpSpPr>
              <p:cNvPr id="7" name="Group 2">
                <a:extLst>
                  <a:ext uri="{FF2B5EF4-FFF2-40B4-BE49-F238E27FC236}">
                    <a16:creationId xmlns:a16="http://schemas.microsoft.com/office/drawing/2014/main" id="{43C3A9AD-13C8-CD17-A0B0-5169FB36B4C3}"/>
                  </a:ext>
                </a:extLst>
              </p:cNvPr>
              <p:cNvGrpSpPr/>
              <p:nvPr/>
            </p:nvGrpSpPr>
            <p:grpSpPr>
              <a:xfrm>
                <a:off x="5494078" y="3205513"/>
                <a:ext cx="1711855" cy="1283891"/>
                <a:chOff x="0" y="0"/>
                <a:chExt cx="812800" cy="609600"/>
              </a:xfrm>
            </p:grpSpPr>
            <p:sp>
              <p:nvSpPr>
                <p:cNvPr id="8" name="Freeform 3">
                  <a:extLst>
                    <a:ext uri="{FF2B5EF4-FFF2-40B4-BE49-F238E27FC236}">
                      <a16:creationId xmlns:a16="http://schemas.microsoft.com/office/drawing/2014/main" id="{BBCC9600-53B7-BF3F-09D6-3B81520EDCC2}"/>
                    </a:ext>
                  </a:extLst>
                </p:cNvPr>
                <p:cNvSpPr/>
                <p:nvPr/>
              </p:nvSpPr>
              <p:spPr>
                <a:xfrm>
                  <a:off x="0" y="0"/>
                  <a:ext cx="812800" cy="609600"/>
                </a:xfrm>
                <a:custGeom>
                  <a:avLst/>
                  <a:gdLst/>
                  <a:ahLst/>
                  <a:cxnLst/>
                  <a:rect l="l" t="t" r="r" b="b"/>
                  <a:pathLst>
                    <a:path w="812800" h="609600">
                      <a:moveTo>
                        <a:pt x="609600" y="0"/>
                      </a:moveTo>
                      <a:lnTo>
                        <a:pt x="0" y="0"/>
                      </a:lnTo>
                      <a:lnTo>
                        <a:pt x="203200" y="609600"/>
                      </a:lnTo>
                      <a:lnTo>
                        <a:pt x="812800" y="609600"/>
                      </a:lnTo>
                      <a:lnTo>
                        <a:pt x="609600" y="0"/>
                      </a:lnTo>
                      <a:close/>
                    </a:path>
                  </a:pathLst>
                </a:custGeom>
                <a:solidFill>
                  <a:srgbClr val="8C52FF"/>
                </a:solidFill>
              </p:spPr>
              <p:txBody>
                <a:bodyPr/>
                <a:lstStyle/>
                <a:p>
                  <a:endParaRPr lang="en-AU"/>
                </a:p>
              </p:txBody>
            </p:sp>
            <p:sp>
              <p:nvSpPr>
                <p:cNvPr id="9" name="TextBox 4">
                  <a:extLst>
                    <a:ext uri="{FF2B5EF4-FFF2-40B4-BE49-F238E27FC236}">
                      <a16:creationId xmlns:a16="http://schemas.microsoft.com/office/drawing/2014/main" id="{DF9525FB-D8D7-7F60-7E48-A6C8F69A93CB}"/>
                    </a:ext>
                  </a:extLst>
                </p:cNvPr>
                <p:cNvSpPr txBox="1"/>
                <p:nvPr/>
              </p:nvSpPr>
              <p:spPr>
                <a:xfrm>
                  <a:off x="101600" y="-38100"/>
                  <a:ext cx="609600" cy="647700"/>
                </a:xfrm>
                <a:prstGeom prst="rect">
                  <a:avLst/>
                </a:prstGeom>
              </p:spPr>
              <p:txBody>
                <a:bodyPr lIns="50800" tIns="50800" rIns="50800" bIns="50800" rtlCol="0" anchor="ctr"/>
                <a:lstStyle/>
                <a:p>
                  <a:pPr algn="ctr">
                    <a:lnSpc>
                      <a:spcPts val="2314"/>
                    </a:lnSpc>
                  </a:pPr>
                  <a:endParaRPr/>
                </a:p>
              </p:txBody>
            </p:sp>
          </p:grpSp>
          <p:grpSp>
            <p:nvGrpSpPr>
              <p:cNvPr id="10" name="Group 5">
                <a:extLst>
                  <a:ext uri="{FF2B5EF4-FFF2-40B4-BE49-F238E27FC236}">
                    <a16:creationId xmlns:a16="http://schemas.microsoft.com/office/drawing/2014/main" id="{C053D907-B3D9-74D0-8F17-464843E7A843}"/>
                  </a:ext>
                </a:extLst>
              </p:cNvPr>
              <p:cNvGrpSpPr/>
              <p:nvPr/>
            </p:nvGrpSpPr>
            <p:grpSpPr>
              <a:xfrm>
                <a:off x="9160716" y="3205513"/>
                <a:ext cx="1460689" cy="1283891"/>
                <a:chOff x="0" y="0"/>
                <a:chExt cx="693545" cy="609600"/>
              </a:xfrm>
            </p:grpSpPr>
            <p:sp>
              <p:nvSpPr>
                <p:cNvPr id="12" name="Freeform 6">
                  <a:extLst>
                    <a:ext uri="{FF2B5EF4-FFF2-40B4-BE49-F238E27FC236}">
                      <a16:creationId xmlns:a16="http://schemas.microsoft.com/office/drawing/2014/main" id="{94B296C7-7877-1D1D-EAC8-D22806291E79}"/>
                    </a:ext>
                  </a:extLst>
                </p:cNvPr>
                <p:cNvSpPr/>
                <p:nvPr/>
              </p:nvSpPr>
              <p:spPr>
                <a:xfrm>
                  <a:off x="0" y="0"/>
                  <a:ext cx="693545" cy="609600"/>
                </a:xfrm>
                <a:custGeom>
                  <a:avLst/>
                  <a:gdLst/>
                  <a:ahLst/>
                  <a:cxnLst/>
                  <a:rect l="l" t="t" r="r" b="b"/>
                  <a:pathLst>
                    <a:path w="693545" h="609600">
                      <a:moveTo>
                        <a:pt x="0" y="0"/>
                      </a:moveTo>
                      <a:lnTo>
                        <a:pt x="693545" y="0"/>
                      </a:lnTo>
                      <a:lnTo>
                        <a:pt x="693545" y="609600"/>
                      </a:lnTo>
                      <a:lnTo>
                        <a:pt x="0" y="609600"/>
                      </a:lnTo>
                      <a:close/>
                    </a:path>
                  </a:pathLst>
                </a:custGeom>
                <a:solidFill>
                  <a:srgbClr val="D7153A"/>
                </a:solidFill>
              </p:spPr>
              <p:txBody>
                <a:bodyPr/>
                <a:lstStyle/>
                <a:p>
                  <a:endParaRPr lang="en-AU"/>
                </a:p>
              </p:txBody>
            </p:sp>
            <p:sp>
              <p:nvSpPr>
                <p:cNvPr id="13" name="TextBox 7">
                  <a:extLst>
                    <a:ext uri="{FF2B5EF4-FFF2-40B4-BE49-F238E27FC236}">
                      <a16:creationId xmlns:a16="http://schemas.microsoft.com/office/drawing/2014/main" id="{6BBF3D7E-4114-9132-8161-B96296FC6C4C}"/>
                    </a:ext>
                  </a:extLst>
                </p:cNvPr>
                <p:cNvSpPr txBox="1"/>
                <p:nvPr/>
              </p:nvSpPr>
              <p:spPr>
                <a:xfrm>
                  <a:off x="0" y="-38100"/>
                  <a:ext cx="693545" cy="647700"/>
                </a:xfrm>
                <a:prstGeom prst="rect">
                  <a:avLst/>
                </a:prstGeom>
              </p:spPr>
              <p:txBody>
                <a:bodyPr lIns="50800" tIns="50800" rIns="50800" bIns="50800" rtlCol="0" anchor="ctr"/>
                <a:lstStyle/>
                <a:p>
                  <a:pPr algn="ctr">
                    <a:lnSpc>
                      <a:spcPts val="2314"/>
                    </a:lnSpc>
                  </a:pPr>
                  <a:endParaRPr/>
                </a:p>
              </p:txBody>
            </p:sp>
          </p:grpSp>
          <p:grpSp>
            <p:nvGrpSpPr>
              <p:cNvPr id="14" name="Group 8">
                <a:extLst>
                  <a:ext uri="{FF2B5EF4-FFF2-40B4-BE49-F238E27FC236}">
                    <a16:creationId xmlns:a16="http://schemas.microsoft.com/office/drawing/2014/main" id="{7F116563-8BC2-32D7-6097-0695D313D79B}"/>
                  </a:ext>
                </a:extLst>
              </p:cNvPr>
              <p:cNvGrpSpPr/>
              <p:nvPr/>
            </p:nvGrpSpPr>
            <p:grpSpPr>
              <a:xfrm>
                <a:off x="1206021" y="3205513"/>
                <a:ext cx="2333274" cy="1283891"/>
                <a:chOff x="0" y="0"/>
                <a:chExt cx="812800" cy="447246"/>
              </a:xfrm>
            </p:grpSpPr>
            <p:sp>
              <p:nvSpPr>
                <p:cNvPr id="15" name="Freeform 9">
                  <a:extLst>
                    <a:ext uri="{FF2B5EF4-FFF2-40B4-BE49-F238E27FC236}">
                      <a16:creationId xmlns:a16="http://schemas.microsoft.com/office/drawing/2014/main" id="{08BAA263-3182-06E9-EF68-C3486567F679}"/>
                    </a:ext>
                  </a:extLst>
                </p:cNvPr>
                <p:cNvSpPr/>
                <p:nvPr/>
              </p:nvSpPr>
              <p:spPr>
                <a:xfrm>
                  <a:off x="0" y="0"/>
                  <a:ext cx="812800" cy="447246"/>
                </a:xfrm>
                <a:custGeom>
                  <a:avLst/>
                  <a:gdLst/>
                  <a:ahLst/>
                  <a:cxnLst/>
                  <a:rect l="l" t="t" r="r" b="b"/>
                  <a:pathLst>
                    <a:path w="812800" h="447246">
                      <a:moveTo>
                        <a:pt x="203200" y="447246"/>
                      </a:moveTo>
                      <a:lnTo>
                        <a:pt x="609600" y="447246"/>
                      </a:lnTo>
                      <a:lnTo>
                        <a:pt x="812800" y="0"/>
                      </a:lnTo>
                      <a:lnTo>
                        <a:pt x="0" y="0"/>
                      </a:lnTo>
                      <a:lnTo>
                        <a:pt x="203200" y="447246"/>
                      </a:lnTo>
                      <a:close/>
                    </a:path>
                  </a:pathLst>
                </a:custGeom>
                <a:solidFill>
                  <a:srgbClr val="146CFD"/>
                </a:solidFill>
              </p:spPr>
              <p:txBody>
                <a:bodyPr/>
                <a:lstStyle/>
                <a:p>
                  <a:endParaRPr lang="en-AU"/>
                </a:p>
              </p:txBody>
            </p:sp>
            <p:sp>
              <p:nvSpPr>
                <p:cNvPr id="16" name="TextBox 10">
                  <a:extLst>
                    <a:ext uri="{FF2B5EF4-FFF2-40B4-BE49-F238E27FC236}">
                      <a16:creationId xmlns:a16="http://schemas.microsoft.com/office/drawing/2014/main" id="{8E1A255C-711F-E4AE-DE45-669249CDF953}"/>
                    </a:ext>
                  </a:extLst>
                </p:cNvPr>
                <p:cNvSpPr txBox="1"/>
                <p:nvPr/>
              </p:nvSpPr>
              <p:spPr>
                <a:xfrm>
                  <a:off x="127000" y="-38100"/>
                  <a:ext cx="558800" cy="485346"/>
                </a:xfrm>
                <a:prstGeom prst="rect">
                  <a:avLst/>
                </a:prstGeom>
              </p:spPr>
              <p:txBody>
                <a:bodyPr lIns="50800" tIns="50800" rIns="50800" bIns="50800" rtlCol="0" anchor="ctr"/>
                <a:lstStyle/>
                <a:p>
                  <a:pPr algn="ctr">
                    <a:lnSpc>
                      <a:spcPts val="2314"/>
                    </a:lnSpc>
                  </a:pPr>
                  <a:endParaRPr/>
                </a:p>
              </p:txBody>
            </p:sp>
          </p:grpSp>
        </p:grpSp>
      </p:grpSp>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CE83E-162B-B6C8-57BA-E14ADBD2B7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70124D-E74D-F87F-BBEC-902E70862F1C}"/>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25</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695B5D1B-7C0C-37AE-B03B-351DC5EF1723}"/>
              </a:ext>
            </a:extLst>
          </p:cNvPr>
          <p:cNvSpPr>
            <a:spLocks noGrp="1"/>
          </p:cNvSpPr>
          <p:nvPr>
            <p:ph type="title"/>
          </p:nvPr>
        </p:nvSpPr>
        <p:spPr>
          <a:xfrm>
            <a:off x="354000" y="445988"/>
            <a:ext cx="11484000" cy="545601"/>
          </a:xfrm>
        </p:spPr>
        <p:txBody>
          <a:bodyPr/>
          <a:lstStyle/>
          <a:p>
            <a:r>
              <a:rPr lang="en-AU">
                <a:latin typeface="Arial"/>
                <a:cs typeface="Arial"/>
              </a:rPr>
              <a:t>Activity 3 – missing values </a:t>
            </a:r>
            <a:r>
              <a:rPr lang="en-AU">
                <a:solidFill>
                  <a:schemeClr val="bg1"/>
                </a:solidFill>
              </a:rPr>
              <a:t>(3) </a:t>
            </a:r>
          </a:p>
        </p:txBody>
      </p:sp>
      <p:pic>
        <p:nvPicPr>
          <p:cNvPr id="4" name="Picture 3" descr="image of a head with cogs turning inside">
            <a:extLst>
              <a:ext uri="{FF2B5EF4-FFF2-40B4-BE49-F238E27FC236}">
                <a16:creationId xmlns:a16="http://schemas.microsoft.com/office/drawing/2014/main" id="{04FBAE01-76F7-7386-4896-0917BE2654A2}"/>
              </a:ext>
            </a:extLst>
          </p:cNvPr>
          <p:cNvPicPr>
            <a:picLocks noChangeAspect="1"/>
          </p:cNvPicPr>
          <p:nvPr/>
        </p:nvPicPr>
        <p:blipFill>
          <a:blip r:embed="rId3"/>
          <a:stretch>
            <a:fillRect/>
          </a:stretch>
        </p:blipFill>
        <p:spPr>
          <a:xfrm>
            <a:off x="11107003" y="240894"/>
            <a:ext cx="720000" cy="856364"/>
          </a:xfrm>
          <a:prstGeom prst="rect">
            <a:avLst/>
          </a:prstGeom>
        </p:spPr>
      </p:pic>
      <p:sp>
        <p:nvSpPr>
          <p:cNvPr id="7" name="TextBox 6" descr="_ + 26 = 58 &#10;19 + _ = 35 &#10;84 − _ = 33 &#10;194 = _ + 177&#10;168 − _ = 45 &#10;">
            <a:extLst>
              <a:ext uri="{FF2B5EF4-FFF2-40B4-BE49-F238E27FC236}">
                <a16:creationId xmlns:a16="http://schemas.microsoft.com/office/drawing/2014/main" id="{3C1D4384-FB89-7A24-E7AD-46E09FCB0D1F}"/>
              </a:ext>
            </a:extLst>
          </p:cNvPr>
          <p:cNvSpPr txBox="1"/>
          <p:nvPr/>
        </p:nvSpPr>
        <p:spPr>
          <a:xfrm>
            <a:off x="1287060" y="1858013"/>
            <a:ext cx="4130917" cy="3477875"/>
          </a:xfrm>
          <a:prstGeom prst="rect">
            <a:avLst/>
          </a:prstGeom>
          <a:noFill/>
        </p:spPr>
        <p:txBody>
          <a:bodyPr wrap="square">
            <a:spAutoFit/>
          </a:bodyPr>
          <a:lstStyle/>
          <a:p>
            <a:pPr algn="l" rtl="0" fontAlgn="base"/>
            <a:r>
              <a:rPr lang="en-AU" sz="4400" b="0" i="0">
                <a:solidFill>
                  <a:srgbClr val="000000"/>
                </a:solidFill>
                <a:effectLst/>
                <a:highlight>
                  <a:srgbClr val="FFFFFF"/>
                </a:highlight>
                <a:latin typeface="Arial" panose="020B0604020202020204" pitchFamily="34" charset="0"/>
              </a:rPr>
              <a:t>_ + 26 = 58 </a:t>
            </a:r>
          </a:p>
          <a:p>
            <a:pPr algn="l" rtl="0" fontAlgn="base"/>
            <a:endParaRPr lang="en-AU" sz="4400" b="0" i="0">
              <a:solidFill>
                <a:srgbClr val="000000"/>
              </a:solidFill>
              <a:effectLst/>
              <a:highlight>
                <a:srgbClr val="FFFFFF"/>
              </a:highlight>
              <a:latin typeface="Arial" panose="020B0604020202020204" pitchFamily="34" charset="0"/>
            </a:endParaRPr>
          </a:p>
          <a:p>
            <a:pPr algn="l" rtl="0" fontAlgn="base"/>
            <a:r>
              <a:rPr lang="en-AU" sz="4400" b="0" i="0">
                <a:solidFill>
                  <a:srgbClr val="000000"/>
                </a:solidFill>
                <a:effectLst/>
                <a:highlight>
                  <a:srgbClr val="FFFFFF"/>
                </a:highlight>
                <a:latin typeface="Arial" panose="020B0604020202020204" pitchFamily="34" charset="0"/>
              </a:rPr>
              <a:t>19 + _ = 35</a:t>
            </a:r>
          </a:p>
          <a:p>
            <a:pPr algn="l" rtl="0" fontAlgn="base"/>
            <a:endParaRPr lang="en-AU" sz="4400">
              <a:solidFill>
                <a:srgbClr val="000000"/>
              </a:solidFill>
              <a:highlight>
                <a:srgbClr val="FFFFFF"/>
              </a:highlight>
              <a:latin typeface="Arial" panose="020B0604020202020204" pitchFamily="34" charset="0"/>
            </a:endParaRPr>
          </a:p>
          <a:p>
            <a:pPr fontAlgn="base"/>
            <a:r>
              <a:rPr lang="en-AU" sz="4400">
                <a:solidFill>
                  <a:srgbClr val="000000"/>
                </a:solidFill>
                <a:highlight>
                  <a:srgbClr val="FFFFFF"/>
                </a:highlight>
                <a:latin typeface="Arial" panose="020B0604020202020204" pitchFamily="34" charset="0"/>
              </a:rPr>
              <a:t>84 − _ = 33 </a:t>
            </a:r>
          </a:p>
        </p:txBody>
      </p:sp>
      <p:sp>
        <p:nvSpPr>
          <p:cNvPr id="5" name="TextBox 4" descr="_ + 26 = 58 &#10;19 + _ = 35 &#10;84 − _ = 33 &#10;194 = _ + 177&#10;168 − _ = 45 &#10;">
            <a:extLst>
              <a:ext uri="{FF2B5EF4-FFF2-40B4-BE49-F238E27FC236}">
                <a16:creationId xmlns:a16="http://schemas.microsoft.com/office/drawing/2014/main" id="{7E9AF18C-9CF8-AC2F-48CC-4EF3CDD3CDD0}"/>
              </a:ext>
            </a:extLst>
          </p:cNvPr>
          <p:cNvSpPr txBox="1"/>
          <p:nvPr/>
        </p:nvSpPr>
        <p:spPr>
          <a:xfrm>
            <a:off x="6774025" y="1858013"/>
            <a:ext cx="4130917" cy="2123658"/>
          </a:xfrm>
          <a:prstGeom prst="rect">
            <a:avLst/>
          </a:prstGeom>
          <a:noFill/>
        </p:spPr>
        <p:txBody>
          <a:bodyPr wrap="square">
            <a:spAutoFit/>
          </a:bodyPr>
          <a:lstStyle/>
          <a:p>
            <a:pPr algn="l" rtl="0" fontAlgn="base"/>
            <a:r>
              <a:rPr lang="en-AU" sz="4400" b="0" i="0">
                <a:solidFill>
                  <a:srgbClr val="000000"/>
                </a:solidFill>
                <a:effectLst/>
                <a:highlight>
                  <a:srgbClr val="FFFFFF"/>
                </a:highlight>
                <a:latin typeface="Arial" panose="020B0604020202020204" pitchFamily="34" charset="0"/>
              </a:rPr>
              <a:t>194 = _ + 177</a:t>
            </a:r>
          </a:p>
          <a:p>
            <a:pPr algn="l" rtl="0" fontAlgn="base"/>
            <a:endParaRPr lang="en-AU" sz="4400">
              <a:solidFill>
                <a:srgbClr val="000000"/>
              </a:solidFill>
              <a:highlight>
                <a:srgbClr val="FFFFFF"/>
              </a:highlight>
              <a:latin typeface="Arial" panose="020B0604020202020204" pitchFamily="34" charset="0"/>
            </a:endParaRPr>
          </a:p>
          <a:p>
            <a:pPr fontAlgn="base"/>
            <a:r>
              <a:rPr lang="en-AU" sz="4400">
                <a:solidFill>
                  <a:srgbClr val="000000"/>
                </a:solidFill>
                <a:highlight>
                  <a:srgbClr val="FFFFFF"/>
                </a:highlight>
                <a:latin typeface="Arial" panose="020B0604020202020204" pitchFamily="34" charset="0"/>
              </a:rPr>
              <a:t>168 − _ = 45 </a:t>
            </a:r>
          </a:p>
        </p:txBody>
      </p:sp>
    </p:spTree>
    <p:extLst>
      <p:ext uri="{BB962C8B-B14F-4D97-AF65-F5344CB8AC3E}">
        <p14:creationId xmlns:p14="http://schemas.microsoft.com/office/powerpoint/2010/main" val="4258774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t>True or false </a:t>
            </a:r>
            <a:r>
              <a:rPr lang="en-US">
                <a:solidFill>
                  <a:schemeClr val="bg1"/>
                </a:solidFil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78" y="3412672"/>
            <a:ext cx="11243037" cy="1423578"/>
          </a:xfrm>
        </p:spPr>
        <p:txBody>
          <a:bodyPr vert="horz" lIns="0" tIns="0" rIns="0" bIns="0" rtlCol="0" anchor="t">
            <a:noAutofit/>
          </a:bodyPr>
          <a:lstStyle/>
          <a:p>
            <a:pPr algn="ctr"/>
            <a:r>
              <a:rPr lang="en-AU" sz="4400">
                <a:latin typeface="Arial"/>
                <a:cs typeface="Arial"/>
              </a:rPr>
              <a:t>The </a:t>
            </a:r>
            <a:r>
              <a:rPr lang="en-AU" sz="4400" b="1">
                <a:latin typeface="Arial"/>
                <a:cs typeface="Arial"/>
              </a:rPr>
              <a:t>missing</a:t>
            </a:r>
            <a:r>
              <a:rPr lang="en-AU" sz="4400">
                <a:latin typeface="Arial"/>
                <a:cs typeface="Arial"/>
              </a:rPr>
              <a:t> number in this bar model is </a:t>
            </a:r>
            <a:r>
              <a:rPr lang="en-AU" sz="4400" b="1">
                <a:latin typeface="Arial"/>
                <a:cs typeface="Arial"/>
              </a:rPr>
              <a:t>28</a:t>
            </a:r>
            <a:r>
              <a:rPr lang="en-AU" sz="4400">
                <a:latin typeface="Arial"/>
                <a:cs typeface="Arial"/>
              </a:rPr>
              <a:t>.</a:t>
            </a:r>
            <a:endParaRPr lang="en-US" sz="4400"/>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3484181655"/>
              </p:ext>
            </p:extLst>
          </p:nvPr>
        </p:nvGraphicFramePr>
        <p:xfrm>
          <a:off x="2442981" y="55769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4348276A-08AB-CAAE-2AF9-8F7FE9DCE3A5}"/>
              </a:ext>
            </a:extLst>
          </p:cNvPr>
          <p:cNvPicPr>
            <a:picLocks noChangeAspect="1"/>
          </p:cNvPicPr>
          <p:nvPr/>
        </p:nvPicPr>
        <p:blipFill>
          <a:blip r:embed="rId3"/>
          <a:stretch>
            <a:fillRect/>
          </a:stretch>
        </p:blipFill>
        <p:spPr>
          <a:xfrm>
            <a:off x="10807908" y="43303"/>
            <a:ext cx="1165786" cy="1140716"/>
          </a:xfrm>
          <a:prstGeom prst="rect">
            <a:avLst/>
          </a:prstGeom>
        </p:spPr>
      </p:pic>
      <p:grpSp>
        <p:nvGrpSpPr>
          <p:cNvPr id="12" name="Group 11" descr="A bar model showing 68 as the whole and 32 as one part with the other part unlabelled.">
            <a:extLst>
              <a:ext uri="{FF2B5EF4-FFF2-40B4-BE49-F238E27FC236}">
                <a16:creationId xmlns:a16="http://schemas.microsoft.com/office/drawing/2014/main" id="{7CCD4FE3-21FB-BC95-F554-190CC4D70A02}"/>
              </a:ext>
            </a:extLst>
          </p:cNvPr>
          <p:cNvGrpSpPr/>
          <p:nvPr/>
        </p:nvGrpSpPr>
        <p:grpSpPr>
          <a:xfrm>
            <a:off x="2793037" y="1484507"/>
            <a:ext cx="6605919" cy="1203076"/>
            <a:chOff x="2793039" y="1281163"/>
            <a:chExt cx="6605919" cy="1203076"/>
          </a:xfrm>
        </p:grpSpPr>
        <p:sp>
          <p:nvSpPr>
            <p:cNvPr id="9" name="Rectangle 8">
              <a:extLst>
                <a:ext uri="{FF2B5EF4-FFF2-40B4-BE49-F238E27FC236}">
                  <a16:creationId xmlns:a16="http://schemas.microsoft.com/office/drawing/2014/main" id="{422D5F89-032F-CFFE-4C95-5133F0F7666D}"/>
                </a:ext>
              </a:extLst>
            </p:cNvPr>
            <p:cNvSpPr/>
            <p:nvPr/>
          </p:nvSpPr>
          <p:spPr>
            <a:xfrm>
              <a:off x="2793039" y="1281163"/>
              <a:ext cx="6605919" cy="601538"/>
            </a:xfrm>
            <a:prstGeom prst="rect">
              <a:avLst/>
            </a:prstGeom>
            <a:solidFill>
              <a:srgbClr val="E5D9F6"/>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800" b="1">
                  <a:solidFill>
                    <a:srgbClr val="000000"/>
                  </a:solidFill>
                </a:rPr>
                <a:t>68</a:t>
              </a:r>
            </a:p>
          </p:txBody>
        </p:sp>
        <p:sp>
          <p:nvSpPr>
            <p:cNvPr id="10" name="Rectangle 9">
              <a:extLst>
                <a:ext uri="{FF2B5EF4-FFF2-40B4-BE49-F238E27FC236}">
                  <a16:creationId xmlns:a16="http://schemas.microsoft.com/office/drawing/2014/main" id="{C373FDD7-566D-B9CE-D7CD-42F69A403B15}"/>
                </a:ext>
              </a:extLst>
            </p:cNvPr>
            <p:cNvSpPr/>
            <p:nvPr/>
          </p:nvSpPr>
          <p:spPr>
            <a:xfrm>
              <a:off x="2793039" y="1882701"/>
              <a:ext cx="3683961" cy="601538"/>
            </a:xfrm>
            <a:prstGeom prst="rect">
              <a:avLst/>
            </a:prstGeom>
            <a:solidFill>
              <a:srgbClr val="F6EFAD"/>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2800" b="1">
                  <a:solidFill>
                    <a:srgbClr val="000000"/>
                  </a:solidFill>
                </a:rPr>
                <a:t>32</a:t>
              </a:r>
            </a:p>
          </p:txBody>
        </p:sp>
        <p:sp>
          <p:nvSpPr>
            <p:cNvPr id="11" name="Rectangle 10">
              <a:extLst>
                <a:ext uri="{FF2B5EF4-FFF2-40B4-BE49-F238E27FC236}">
                  <a16:creationId xmlns:a16="http://schemas.microsoft.com/office/drawing/2014/main" id="{CB0D46DC-F142-9B0F-31A4-C3202200F21F}"/>
                </a:ext>
              </a:extLst>
            </p:cNvPr>
            <p:cNvSpPr/>
            <p:nvPr/>
          </p:nvSpPr>
          <p:spPr>
            <a:xfrm>
              <a:off x="6477000" y="1882701"/>
              <a:ext cx="2921958" cy="601538"/>
            </a:xfrm>
            <a:prstGeom prst="rect">
              <a:avLst/>
            </a:prstGeom>
            <a:solidFill>
              <a:srgbClr val="E6E7E8"/>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b="1">
                <a:solidFill>
                  <a:srgbClr val="000000"/>
                </a:solidFill>
              </a:endParaRPr>
            </a:p>
          </p:txBody>
        </p:sp>
      </p:grpSp>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a:t>
            </a:r>
            <a:r>
              <a:rPr lang="en-US"/>
              <a:t> </a:t>
            </a:r>
            <a:r>
              <a:rPr lang="en-US">
                <a:solidFill>
                  <a:schemeClr val="bg1"/>
                </a:solidFill>
              </a:rPr>
              <a:t>(13)</a:t>
            </a:r>
          </a:p>
        </p:txBody>
      </p:sp>
      <p:pic>
        <p:nvPicPr>
          <p:cNvPr id="4" name="Picture 3" descr="image of a clipboard with a pencil recording short answer responses">
            <a:extLst>
              <a:ext uri="{FF2B5EF4-FFF2-40B4-BE49-F238E27FC236}">
                <a16:creationId xmlns:a16="http://schemas.microsoft.com/office/drawing/2014/main" id="{8630EBD8-CFDA-21D1-0781-2E0CE818F68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A line representing a scale with: impossible, unlikely, equally likely, likely and certain, marked and labelled at equal points on the scale. &#10;&#10;Five additional vocabulary cards are in  text boxes below. These say: less likely, possible, least likely, most likely and more likely.&#10;">
            <a:extLst>
              <a:ext uri="{FF2B5EF4-FFF2-40B4-BE49-F238E27FC236}">
                <a16:creationId xmlns:a16="http://schemas.microsoft.com/office/drawing/2014/main" id="{D5926C8A-32C7-4EA7-F5F3-B6A426357B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415" y="2507673"/>
            <a:ext cx="9821169" cy="4296811"/>
          </a:xfrm>
          <a:prstGeom prst="rect">
            <a:avLst/>
          </a:prstGeom>
        </p:spPr>
      </p:pic>
      <p:sp>
        <p:nvSpPr>
          <p:cNvPr id="9" name="TextBox 8">
            <a:extLst>
              <a:ext uri="{FF2B5EF4-FFF2-40B4-BE49-F238E27FC236}">
                <a16:creationId xmlns:a16="http://schemas.microsoft.com/office/drawing/2014/main" id="{262C841F-4DE0-95AB-EDB9-6DDE896B1BF4}"/>
              </a:ext>
            </a:extLst>
          </p:cNvPr>
          <p:cNvSpPr txBox="1"/>
          <p:nvPr/>
        </p:nvSpPr>
        <p:spPr>
          <a:xfrm>
            <a:off x="360000" y="1184223"/>
            <a:ext cx="10764000" cy="1323450"/>
          </a:xfrm>
          <a:prstGeom prst="rect">
            <a:avLst/>
          </a:prstGeom>
          <a:noFill/>
        </p:spPr>
        <p:txBody>
          <a:bodyPr wrap="square" lIns="0" tIns="0" rIns="0" bIns="0" rtlCol="0">
            <a:noAutofit/>
          </a:bodyPr>
          <a:lstStyle/>
          <a:p>
            <a:pPr algn="ctr"/>
            <a:r>
              <a:rPr lang="en-AU" sz="4000"/>
              <a:t>Draw a line to where the chance words go on the chance scale. </a:t>
            </a:r>
          </a:p>
        </p:txBody>
      </p:sp>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7E23D-7180-D0EF-16B1-9293A514D0D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9D69A4-3B62-28E3-2F9D-62EDCCE4683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24475839-FF3F-CFE3-F437-49FFF95CCEA2}"/>
              </a:ext>
            </a:extLst>
          </p:cNvPr>
          <p:cNvSpPr>
            <a:spLocks noGrp="1"/>
          </p:cNvSpPr>
          <p:nvPr>
            <p:ph type="title"/>
          </p:nvPr>
        </p:nvSpPr>
        <p:spPr/>
        <p:txBody>
          <a:bodyPr/>
          <a:lstStyle/>
          <a:p>
            <a:r>
              <a:rPr lang="en-US">
                <a:latin typeface="Arial"/>
                <a:cs typeface="Arial"/>
              </a:rPr>
              <a:t>Short response</a:t>
            </a:r>
            <a:r>
              <a:rPr lang="en-US"/>
              <a:t> </a:t>
            </a:r>
            <a:r>
              <a:rPr lang="en-US">
                <a:solidFill>
                  <a:schemeClr val="bg1"/>
                </a:solidFill>
              </a:rPr>
              <a:t>(13)</a:t>
            </a:r>
          </a:p>
        </p:txBody>
      </p:sp>
      <p:pic>
        <p:nvPicPr>
          <p:cNvPr id="4" name="Picture 3" descr="image of a clipboard with a pencil recording short answer responses">
            <a:extLst>
              <a:ext uri="{FF2B5EF4-FFF2-40B4-BE49-F238E27FC236}">
                <a16:creationId xmlns:a16="http://schemas.microsoft.com/office/drawing/2014/main" id="{32DC6F22-41E3-1F06-EA54-6704AAF520B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984E28C1-07AF-E80C-0A0E-BAFAC63242EE}"/>
              </a:ext>
            </a:extLst>
          </p:cNvPr>
          <p:cNvSpPr txBox="1"/>
          <p:nvPr/>
        </p:nvSpPr>
        <p:spPr>
          <a:xfrm>
            <a:off x="599519" y="4027100"/>
            <a:ext cx="10764000" cy="1323450"/>
          </a:xfrm>
          <a:prstGeom prst="rect">
            <a:avLst/>
          </a:prstGeom>
          <a:noFill/>
        </p:spPr>
        <p:txBody>
          <a:bodyPr wrap="square" lIns="0" tIns="0" rIns="0" bIns="0" rtlCol="0">
            <a:noAutofit/>
          </a:bodyPr>
          <a:lstStyle/>
          <a:p>
            <a:pPr algn="ctr"/>
            <a:r>
              <a:rPr lang="en-AU" sz="4000"/>
              <a:t>Write the following words in the correct position on the line.</a:t>
            </a:r>
          </a:p>
          <a:p>
            <a:pPr algn="ctr"/>
            <a:r>
              <a:rPr lang="en-AU" sz="4000"/>
              <a:t> </a:t>
            </a:r>
            <a:br>
              <a:rPr lang="en-AU" sz="4000"/>
            </a:br>
            <a:r>
              <a:rPr lang="en-AU" sz="4000" b="1"/>
              <a:t>Likely </a:t>
            </a:r>
            <a:r>
              <a:rPr lang="en-AU" sz="4000"/>
              <a:t>and </a:t>
            </a:r>
            <a:r>
              <a:rPr lang="en-AU" sz="4000" b="1"/>
              <a:t>Unlikely </a:t>
            </a:r>
            <a:r>
              <a:rPr lang="en-AU" sz="4000"/>
              <a:t> </a:t>
            </a:r>
          </a:p>
        </p:txBody>
      </p:sp>
      <p:cxnSp>
        <p:nvCxnSpPr>
          <p:cNvPr id="12" name="Straight Connector 11">
            <a:extLst>
              <a:ext uri="{FF2B5EF4-FFF2-40B4-BE49-F238E27FC236}">
                <a16:creationId xmlns:a16="http://schemas.microsoft.com/office/drawing/2014/main" id="{B4A9D631-F7CF-CB1C-B241-101C23021EB0}"/>
              </a:ext>
            </a:extLst>
          </p:cNvPr>
          <p:cNvCxnSpPr/>
          <p:nvPr/>
        </p:nvCxnSpPr>
        <p:spPr>
          <a:xfrm>
            <a:off x="2511972" y="2963917"/>
            <a:ext cx="721009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105F11D-6051-B8C6-E0EE-41F4DEDD1320}"/>
              </a:ext>
            </a:extLst>
          </p:cNvPr>
          <p:cNvSpPr txBox="1"/>
          <p:nvPr/>
        </p:nvSpPr>
        <p:spPr>
          <a:xfrm>
            <a:off x="2017987" y="3150481"/>
            <a:ext cx="2259724" cy="399384"/>
          </a:xfrm>
          <a:prstGeom prst="rect">
            <a:avLst/>
          </a:prstGeom>
          <a:noFill/>
        </p:spPr>
        <p:txBody>
          <a:bodyPr wrap="square" lIns="0" tIns="0" rIns="0" bIns="0" rtlCol="0">
            <a:noAutofit/>
          </a:bodyPr>
          <a:lstStyle/>
          <a:p>
            <a:pPr algn="l"/>
            <a:r>
              <a:rPr lang="en-AU" sz="1800" b="1"/>
              <a:t>Impossible</a:t>
            </a:r>
          </a:p>
        </p:txBody>
      </p:sp>
      <p:sp>
        <p:nvSpPr>
          <p:cNvPr id="14" name="TextBox 13">
            <a:extLst>
              <a:ext uri="{FF2B5EF4-FFF2-40B4-BE49-F238E27FC236}">
                <a16:creationId xmlns:a16="http://schemas.microsoft.com/office/drawing/2014/main" id="{0B9A6FD6-19BF-B3D5-3F2E-01998B1B92AF}"/>
              </a:ext>
            </a:extLst>
          </p:cNvPr>
          <p:cNvSpPr txBox="1"/>
          <p:nvPr/>
        </p:nvSpPr>
        <p:spPr>
          <a:xfrm>
            <a:off x="9224276" y="3150481"/>
            <a:ext cx="2259724" cy="399384"/>
          </a:xfrm>
          <a:prstGeom prst="rect">
            <a:avLst/>
          </a:prstGeom>
          <a:noFill/>
        </p:spPr>
        <p:txBody>
          <a:bodyPr wrap="square" lIns="0" tIns="0" rIns="0" bIns="0" rtlCol="0">
            <a:noAutofit/>
          </a:bodyPr>
          <a:lstStyle/>
          <a:p>
            <a:pPr algn="l"/>
            <a:r>
              <a:rPr lang="en-AU" sz="1800" b="1"/>
              <a:t>Certain</a:t>
            </a:r>
          </a:p>
        </p:txBody>
      </p:sp>
      <p:sp>
        <p:nvSpPr>
          <p:cNvPr id="15" name="TextBox 14">
            <a:extLst>
              <a:ext uri="{FF2B5EF4-FFF2-40B4-BE49-F238E27FC236}">
                <a16:creationId xmlns:a16="http://schemas.microsoft.com/office/drawing/2014/main" id="{8CE3CB16-36DF-27E4-0A6A-75BD771C20DE}"/>
              </a:ext>
            </a:extLst>
          </p:cNvPr>
          <p:cNvSpPr txBox="1"/>
          <p:nvPr/>
        </p:nvSpPr>
        <p:spPr>
          <a:xfrm>
            <a:off x="512400" y="1318196"/>
            <a:ext cx="10764000" cy="1323450"/>
          </a:xfrm>
          <a:prstGeom prst="rect">
            <a:avLst/>
          </a:prstGeom>
          <a:noFill/>
        </p:spPr>
        <p:txBody>
          <a:bodyPr wrap="square" lIns="0" tIns="0" rIns="0" bIns="0" rtlCol="0">
            <a:noAutofit/>
          </a:bodyPr>
          <a:lstStyle/>
          <a:p>
            <a:pPr algn="ctr"/>
            <a:r>
              <a:rPr lang="en-AU" sz="4000"/>
              <a:t>Draw the following line.  </a:t>
            </a:r>
          </a:p>
        </p:txBody>
      </p:sp>
    </p:spTree>
    <p:extLst>
      <p:ext uri="{BB962C8B-B14F-4D97-AF65-F5344CB8AC3E}">
        <p14:creationId xmlns:p14="http://schemas.microsoft.com/office/powerpoint/2010/main" val="2513081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 </a:t>
            </a:r>
            <a:r>
              <a:rPr lang="en-US">
                <a:solidFill>
                  <a:schemeClr val="bg1"/>
                </a:solidFill>
              </a:rPr>
              <a:t>(14)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6095999" y="1284247"/>
            <a:ext cx="5922885" cy="2229233"/>
          </a:xfrm>
        </p:spPr>
        <p:txBody>
          <a:bodyPr/>
          <a:lstStyle/>
          <a:p>
            <a:pPr algn="ctr"/>
            <a:r>
              <a:rPr lang="en-AU" sz="4400">
                <a:latin typeface="Arial"/>
                <a:cs typeface="Arial"/>
              </a:rPr>
              <a:t>This shape has been drawn on grid paper with </a:t>
            </a:r>
            <a:r>
              <a:rPr lang="en-AU" sz="4400" b="1">
                <a:latin typeface="Arial"/>
                <a:cs typeface="Arial"/>
              </a:rPr>
              <a:t>1 cm squares</a:t>
            </a:r>
            <a:r>
              <a:rPr lang="en-AU" sz="4400">
                <a:latin typeface="Arial"/>
                <a:cs typeface="Arial"/>
              </a:rPr>
              <a:t>.</a:t>
            </a: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1214CBC-B671-BA4C-E583-4EAEC31F1FE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A 4 x 8 rectangle on grid paper.">
            <a:extLst>
              <a:ext uri="{FF2B5EF4-FFF2-40B4-BE49-F238E27FC236}">
                <a16:creationId xmlns:a16="http://schemas.microsoft.com/office/drawing/2014/main" id="{804A922C-95FB-8D17-AD9F-6A2EEC9759C9}"/>
              </a:ext>
            </a:extLst>
          </p:cNvPr>
          <p:cNvPicPr>
            <a:picLocks noChangeAspect="1"/>
          </p:cNvPicPr>
          <p:nvPr/>
        </p:nvPicPr>
        <p:blipFill>
          <a:blip r:embed="rId4"/>
          <a:stretch>
            <a:fillRect/>
          </a:stretch>
        </p:blipFill>
        <p:spPr>
          <a:xfrm>
            <a:off x="502224" y="1433794"/>
            <a:ext cx="5431574" cy="3067630"/>
          </a:xfrm>
          <a:prstGeom prst="rect">
            <a:avLst/>
          </a:prstGeom>
          <a:effectLst>
            <a:outerShdw blurRad="50800" dist="38100" dir="2700000" algn="tl" rotWithShape="0">
              <a:prstClr val="black">
                <a:alpha val="40000"/>
              </a:prstClr>
            </a:outerShdw>
          </a:effectLst>
        </p:spPr>
      </p:pic>
      <p:sp>
        <p:nvSpPr>
          <p:cNvPr id="9" name="Picture Placeholder 10">
            <a:extLst>
              <a:ext uri="{FF2B5EF4-FFF2-40B4-BE49-F238E27FC236}">
                <a16:creationId xmlns:a16="http://schemas.microsoft.com/office/drawing/2014/main" id="{841EC740-DCBC-0B3D-86EC-2F4A3A74187A}"/>
              </a:ext>
            </a:extLst>
          </p:cNvPr>
          <p:cNvSpPr txBox="1">
            <a:spLocks/>
          </p:cNvSpPr>
          <p:nvPr/>
        </p:nvSpPr>
        <p:spPr>
          <a:xfrm>
            <a:off x="2088304" y="4860666"/>
            <a:ext cx="8015391" cy="70682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4400">
                <a:latin typeface="Arial"/>
                <a:cs typeface="Arial"/>
              </a:rPr>
              <a:t>What is the </a:t>
            </a:r>
            <a:r>
              <a:rPr lang="en-AU" sz="4400" b="1">
                <a:latin typeface="Arial"/>
                <a:cs typeface="Arial"/>
              </a:rPr>
              <a:t>area</a:t>
            </a:r>
            <a:r>
              <a:rPr lang="en-AU" sz="4400">
                <a:latin typeface="Arial"/>
                <a:cs typeface="Arial"/>
              </a:rPr>
              <a:t> of this shape?</a:t>
            </a:r>
          </a:p>
        </p:txBody>
      </p:sp>
      <p:sp>
        <p:nvSpPr>
          <p:cNvPr id="10" name="Picture Placeholder 10">
            <a:extLst>
              <a:ext uri="{FF2B5EF4-FFF2-40B4-BE49-F238E27FC236}">
                <a16:creationId xmlns:a16="http://schemas.microsoft.com/office/drawing/2014/main" id="{85FCB5D4-4666-E668-DAA1-2F423A647398}"/>
              </a:ext>
            </a:extLst>
          </p:cNvPr>
          <p:cNvSpPr txBox="1">
            <a:spLocks/>
          </p:cNvSpPr>
          <p:nvPr/>
        </p:nvSpPr>
        <p:spPr>
          <a:xfrm>
            <a:off x="1333786" y="5741672"/>
            <a:ext cx="9524428" cy="93461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Explain</a:t>
            </a:r>
            <a:r>
              <a:rPr lang="en-AU" sz="4400">
                <a:latin typeface="Arial"/>
                <a:cs typeface="Arial"/>
              </a:rPr>
              <a:t> how you know.</a:t>
            </a:r>
          </a:p>
        </p:txBody>
      </p:sp>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a:t>
            </a:r>
            <a:r>
              <a:rPr lang="en-US"/>
              <a:t> </a:t>
            </a:r>
            <a:r>
              <a:rPr lang="en-US">
                <a:solidFill>
                  <a:schemeClr val="bg1"/>
                </a:solidFill>
              </a:rPr>
              <a:t>(15)</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246024" y="912188"/>
                <a:ext cx="11243037" cy="1516460"/>
              </a:xfrm>
            </p:spPr>
            <p:txBody>
              <a:bodyPr/>
              <a:lstStyle/>
              <a:p>
                <a:pPr algn="ctr">
                  <a:lnSpc>
                    <a:spcPct val="100000"/>
                  </a:lnSpc>
                </a:pPr>
                <a:r>
                  <a:rPr lang="en-US" sz="4800" b="1">
                    <a:latin typeface="Arial"/>
                    <a:cs typeface="Arial"/>
                  </a:rPr>
                  <a:t>List</a:t>
                </a:r>
                <a:r>
                  <a:rPr lang="en-US" sz="4800">
                    <a:latin typeface="Arial"/>
                    <a:cs typeface="Arial"/>
                  </a:rPr>
                  <a:t> 3 equivalent fractions for a </a:t>
                </a:r>
                <a14:m>
                  <m:oMath xmlns:m="http://schemas.openxmlformats.org/officeDocument/2006/math">
                    <m:f>
                      <m:fPr>
                        <m:ctrlPr>
                          <a:rPr lang="en-US" sz="4800" i="1" smtClean="0">
                            <a:latin typeface="Cambria Math" panose="02040503050406030204" pitchFamily="18" charset="0"/>
                            <a:cs typeface="Arial"/>
                          </a:rPr>
                        </m:ctrlPr>
                      </m:fPr>
                      <m:num>
                        <m:r>
                          <a:rPr lang="en-AU" sz="4800" b="0" i="1" smtClean="0">
                            <a:latin typeface="Cambria Math" panose="02040503050406030204" pitchFamily="18" charset="0"/>
                            <a:cs typeface="Arial"/>
                          </a:rPr>
                          <m:t>1</m:t>
                        </m:r>
                      </m:num>
                      <m:den>
                        <m:r>
                          <a:rPr lang="en-AU" sz="4800" b="0" i="1" smtClean="0">
                            <a:latin typeface="Cambria Math" panose="02040503050406030204" pitchFamily="18" charset="0"/>
                            <a:cs typeface="Arial"/>
                          </a:rPr>
                          <m:t>2</m:t>
                        </m:r>
                      </m:den>
                    </m:f>
                  </m:oMath>
                </a14:m>
                <a:r>
                  <a:rPr lang="en-US" sz="4800">
                    <a:latin typeface="Arial"/>
                    <a:cs typeface="Arial"/>
                  </a:rPr>
                  <a:t> .</a:t>
                </a:r>
                <a:endParaRPr lang="en-US" sz="4800"/>
              </a:p>
            </p:txBody>
          </p:sp>
        </mc:Choice>
        <mc:Fallback xmlns="">
          <p:sp>
            <p:nvSpPr>
              <p:cNvPr id="11" name="Picture Placeholder 10">
                <a:extLst>
                  <a:ext uri="{FF2B5EF4-FFF2-40B4-BE49-F238E27FC236}">
                    <a16:creationId xmlns:a16="http://schemas.microsoft.com/office/drawing/2014/main" id="{352E0507-6E6B-EB8A-88E2-35DDFC075B74}"/>
                  </a:ext>
                </a:extLst>
              </p:cNvPr>
              <p:cNvSpPr>
                <a:spLocks noGrp="1" noRot="1" noChangeAspect="1" noMove="1" noResize="1" noEditPoints="1" noAdjustHandles="1" noChangeArrowheads="1" noChangeShapeType="1" noTextEdit="1"/>
              </p:cNvSpPr>
              <p:nvPr>
                <p:ph type="pic" sz="quarter" idx="21"/>
              </p:nvPr>
            </p:nvSpPr>
            <p:spPr>
              <a:xfrm>
                <a:off x="246024" y="912188"/>
                <a:ext cx="11243037" cy="1516460"/>
              </a:xfrm>
              <a:blipFill>
                <a:blip r:embed="rId3"/>
                <a:stretch>
                  <a:fillRect t="-4032"/>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5AE60A7A-7377-46D6-1913-99B349DCED23}"/>
              </a:ext>
            </a:extLst>
          </p:cNvPr>
          <p:cNvPicPr>
            <a:picLocks noChangeAspect="1"/>
          </p:cNvPicPr>
          <p:nvPr/>
        </p:nvPicPr>
        <p:blipFill>
          <a:blip r:embed="rId4"/>
          <a:stretch>
            <a:fillRect/>
          </a:stretch>
        </p:blipFill>
        <p:spPr>
          <a:xfrm>
            <a:off x="11030476" y="268723"/>
            <a:ext cx="915500" cy="915500"/>
          </a:xfrm>
          <a:prstGeom prst="rect">
            <a:avLst/>
          </a:prstGeom>
        </p:spPr>
      </p:pic>
      <p:pic>
        <p:nvPicPr>
          <p:cNvPr id="9" name="Picture 8" descr="Coloured fractional wall representing a whole, halves, thirds, quarters, fifths, sixths, eighths and tenths as separate coloured bars.  &#10;">
            <a:extLst>
              <a:ext uri="{FF2B5EF4-FFF2-40B4-BE49-F238E27FC236}">
                <a16:creationId xmlns:a16="http://schemas.microsoft.com/office/drawing/2014/main" id="{2CB27F98-2760-57D6-4561-B716E459F7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1236" y="2009896"/>
            <a:ext cx="4132666" cy="4488104"/>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32</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rPr>
              <a:t>(16)</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451139" y="1792756"/>
            <a:ext cx="11060759" cy="2146233"/>
          </a:xfrm>
        </p:spPr>
        <p:txBody>
          <a:bodyPr/>
          <a:lstStyle/>
          <a:p>
            <a:pPr algn="ctr"/>
            <a:r>
              <a:rPr lang="en-US" sz="4400" b="1">
                <a:latin typeface="Arial"/>
                <a:cs typeface="Arial"/>
              </a:rPr>
              <a:t>Describe</a:t>
            </a:r>
            <a:r>
              <a:rPr lang="en-US" sz="4400">
                <a:latin typeface="Arial"/>
                <a:cs typeface="Arial"/>
              </a:rPr>
              <a:t> 3 activities that take around </a:t>
            </a:r>
            <a:r>
              <a:rPr lang="en-US" sz="4400" b="1">
                <a:latin typeface="Arial"/>
                <a:cs typeface="Arial"/>
              </a:rPr>
              <a:t>20 minutes. </a:t>
            </a:r>
          </a:p>
          <a:p>
            <a:pPr algn="ctr"/>
            <a:r>
              <a:rPr lang="en-US" sz="4400">
                <a:latin typeface="Arial"/>
                <a:cs typeface="Arial"/>
              </a:rPr>
              <a:t>For example, recess is about 20 minutes</a:t>
            </a: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7930802-0D15-204B-8B8B-C39671389CD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4 – part and whole</a:t>
            </a:r>
          </a:p>
        </p:txBody>
      </p:sp>
      <p:pic>
        <p:nvPicPr>
          <p:cNvPr id="37" name="Picture 36" descr="image of a head with cogs turning inside">
            <a:extLst>
              <a:ext uri="{FF2B5EF4-FFF2-40B4-BE49-F238E27FC236}">
                <a16:creationId xmlns:a16="http://schemas.microsoft.com/office/drawing/2014/main" id="{A8A9B36F-AE3F-071C-A58E-9514E08F1D5A}"/>
              </a:ext>
            </a:extLst>
          </p:cNvPr>
          <p:cNvPicPr>
            <a:picLocks noChangeAspect="1"/>
          </p:cNvPicPr>
          <p:nvPr/>
        </p:nvPicPr>
        <p:blipFill>
          <a:blip r:embed="rId3"/>
          <a:stretch>
            <a:fillRect/>
          </a:stretch>
        </p:blipFill>
        <p:spPr>
          <a:xfrm>
            <a:off x="11107003" y="240894"/>
            <a:ext cx="720000" cy="856364"/>
          </a:xfrm>
          <a:prstGeom prst="rect">
            <a:avLst/>
          </a:prstGeom>
        </p:spPr>
      </p:pic>
      <p:sp>
        <p:nvSpPr>
          <p:cNvPr id="48" name="TextBox 47" descr="Numbers &#10;28&#10;35&#10;14&#10;42&#10;21">
            <a:extLst>
              <a:ext uri="{FF2B5EF4-FFF2-40B4-BE49-F238E27FC236}">
                <a16:creationId xmlns:a16="http://schemas.microsoft.com/office/drawing/2014/main" id="{883D5605-1AFC-F02A-2255-1F823963A71C}"/>
              </a:ext>
            </a:extLst>
          </p:cNvPr>
          <p:cNvSpPr txBox="1"/>
          <p:nvPr/>
        </p:nvSpPr>
        <p:spPr>
          <a:xfrm>
            <a:off x="0" y="1450188"/>
            <a:ext cx="12203843" cy="3293209"/>
          </a:xfrm>
          <a:prstGeom prst="rect">
            <a:avLst/>
          </a:prstGeom>
          <a:noFill/>
        </p:spPr>
        <p:txBody>
          <a:bodyPr wrap="square">
            <a:spAutoFit/>
          </a:bodyPr>
          <a:lstStyle/>
          <a:p>
            <a:pPr marL="457200" lvl="0" indent="-457200">
              <a:spcBef>
                <a:spcPts val="1200"/>
              </a:spcBef>
              <a:spcAft>
                <a:spcPts val="5400"/>
              </a:spcAft>
              <a:buFont typeface="Arial" panose="020B0604020202020204" pitchFamily="34" charset="0"/>
              <a:buChar char="•"/>
              <a:tabLst>
                <a:tab pos="228600" algn="l"/>
                <a:tab pos="630555" algn="l"/>
              </a:tabLst>
            </a:pPr>
            <a:r>
              <a:rPr lang="en-AU" sz="3600">
                <a:effectLst/>
                <a:latin typeface="Arial" panose="020B0604020202020204" pitchFamily="34" charset="0"/>
                <a:ea typeface="Calibri" panose="020F0502020204030204" pitchFamily="34" charset="0"/>
                <a:cs typeface="Arial" panose="020B0604020202020204" pitchFamily="34" charset="0"/>
              </a:rPr>
              <a:t>The whole is 82, one part is 56. What’s the missing part?</a:t>
            </a:r>
          </a:p>
          <a:p>
            <a:pPr marL="457200" lvl="0" indent="-457200">
              <a:spcBef>
                <a:spcPts val="1200"/>
              </a:spcBef>
              <a:spcAft>
                <a:spcPts val="5400"/>
              </a:spcAft>
              <a:buFont typeface="Arial" panose="020B0604020202020204" pitchFamily="34" charset="0"/>
              <a:buChar char="•"/>
              <a:tabLst>
                <a:tab pos="228600" algn="l"/>
                <a:tab pos="630555" algn="l"/>
              </a:tabLst>
            </a:pPr>
            <a:r>
              <a:rPr lang="en-AU" sz="3600">
                <a:effectLst/>
                <a:latin typeface="Arial" panose="020B0604020202020204" pitchFamily="34" charset="0"/>
                <a:ea typeface="Calibri" panose="020F0502020204030204" pitchFamily="34" charset="0"/>
                <a:cs typeface="Arial" panose="020B0604020202020204" pitchFamily="34" charset="0"/>
              </a:rPr>
              <a:t>75 – 29 = ? Can you check it using addition?</a:t>
            </a:r>
          </a:p>
          <a:p>
            <a:pPr marL="457200" lvl="0" indent="-457200">
              <a:spcAft>
                <a:spcPts val="5400"/>
              </a:spcAft>
              <a:buFont typeface="Arial" panose="020B0604020202020204" pitchFamily="34" charset="0"/>
              <a:buChar char="•"/>
              <a:tabLst>
                <a:tab pos="228600" algn="l"/>
                <a:tab pos="630555" algn="l"/>
              </a:tabLst>
            </a:pPr>
            <a:r>
              <a:rPr lang="en-AU" sz="3600">
                <a:effectLst/>
                <a:latin typeface="Arial" panose="020B0604020202020204" pitchFamily="34" charset="0"/>
                <a:ea typeface="Calibri" panose="020F0502020204030204" pitchFamily="34" charset="0"/>
                <a:cs typeface="Arial" panose="020B0604020202020204" pitchFamily="34" charset="0"/>
              </a:rPr>
              <a:t>If 38 + 19 = 57, how can we check it using subtraction?</a:t>
            </a:r>
          </a:p>
        </p:txBody>
      </p:sp>
      <p:grpSp>
        <p:nvGrpSpPr>
          <p:cNvPr id="6" name="Group 5" descr="Blank bar model">
            <a:extLst>
              <a:ext uri="{FF2B5EF4-FFF2-40B4-BE49-F238E27FC236}">
                <a16:creationId xmlns:a16="http://schemas.microsoft.com/office/drawing/2014/main" id="{E81BB510-4F52-3D87-E72F-6A7DA6445C6A}"/>
              </a:ext>
            </a:extLst>
          </p:cNvPr>
          <p:cNvGrpSpPr/>
          <p:nvPr/>
        </p:nvGrpSpPr>
        <p:grpSpPr>
          <a:xfrm>
            <a:off x="3614057" y="5287984"/>
            <a:ext cx="4963885" cy="1228016"/>
            <a:chOff x="5889303" y="5238786"/>
            <a:chExt cx="4963885" cy="1228016"/>
          </a:xfrm>
        </p:grpSpPr>
        <p:sp>
          <p:nvSpPr>
            <p:cNvPr id="4" name="Rectangle 3">
              <a:extLst>
                <a:ext uri="{FF2B5EF4-FFF2-40B4-BE49-F238E27FC236}">
                  <a16:creationId xmlns:a16="http://schemas.microsoft.com/office/drawing/2014/main" id="{E2D73EF0-68CE-39E8-C77F-3FAD6C8C2331}"/>
                </a:ext>
              </a:extLst>
            </p:cNvPr>
            <p:cNvSpPr/>
            <p:nvPr/>
          </p:nvSpPr>
          <p:spPr>
            <a:xfrm>
              <a:off x="5889303" y="5238786"/>
              <a:ext cx="4963885" cy="61400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a:extLst>
                <a:ext uri="{FF2B5EF4-FFF2-40B4-BE49-F238E27FC236}">
                  <a16:creationId xmlns:a16="http://schemas.microsoft.com/office/drawing/2014/main" id="{82532820-688A-AE4A-8324-F3294EAEC8C6}"/>
                </a:ext>
              </a:extLst>
            </p:cNvPr>
            <p:cNvSpPr/>
            <p:nvPr/>
          </p:nvSpPr>
          <p:spPr>
            <a:xfrm>
              <a:off x="5889303" y="5852794"/>
              <a:ext cx="4963885" cy="614008"/>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4261653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(3)</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470073" y="902332"/>
            <a:ext cx="11243037" cy="893226"/>
          </a:xfrm>
        </p:spPr>
        <p:txBody>
          <a:bodyPr vert="horz" lIns="0" tIns="0" rIns="0" bIns="0" rtlCol="0" anchor="t">
            <a:noAutofit/>
          </a:bodyPr>
          <a:lstStyle/>
          <a:p>
            <a:pPr algn="ctr"/>
            <a:r>
              <a:rPr lang="en-US" sz="4400">
                <a:latin typeface="Arial"/>
                <a:cs typeface="Arial"/>
              </a:rPr>
              <a:t>Which answer is correct?</a:t>
            </a:r>
            <a:endParaRPr lang="en-US" sz="4400"/>
          </a:p>
        </p:txBody>
      </p:sp>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3227296663"/>
              </p:ext>
            </p:extLst>
          </p:nvPr>
        </p:nvGraphicFramePr>
        <p:xfrm>
          <a:off x="353999" y="4351077"/>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8</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80</a:t>
                      </a:r>
                      <a:endParaRPr lang="en-US"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800</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latin typeface="+mn-lt"/>
                          <a:cs typeface="Arial"/>
                        </a:rPr>
                        <a:t>8000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F31D1F19-3C77-CBD3-78E2-B3C67CA06991}"/>
              </a:ext>
            </a:extLst>
          </p:cNvPr>
          <p:cNvPicPr>
            <a:picLocks noChangeAspect="1"/>
          </p:cNvPicPr>
          <p:nvPr/>
        </p:nvPicPr>
        <p:blipFill>
          <a:blip r:embed="rId3"/>
          <a:stretch>
            <a:fillRect/>
          </a:stretch>
        </p:blipFill>
        <p:spPr>
          <a:xfrm>
            <a:off x="10639184" y="43303"/>
            <a:ext cx="1334510" cy="1305812"/>
          </a:xfrm>
          <a:prstGeom prst="rect">
            <a:avLst/>
          </a:prstGeom>
        </p:spPr>
      </p:pic>
      <p:sp>
        <p:nvSpPr>
          <p:cNvPr id="11" name="Text Placeholder 6">
            <a:extLst>
              <a:ext uri="{FF2B5EF4-FFF2-40B4-BE49-F238E27FC236}">
                <a16:creationId xmlns:a16="http://schemas.microsoft.com/office/drawing/2014/main" id="{6C9798F7-F134-CE13-628E-C0865EF87FB5}"/>
              </a:ext>
            </a:extLst>
          </p:cNvPr>
          <p:cNvSpPr txBox="1">
            <a:spLocks/>
          </p:cNvSpPr>
          <p:nvPr/>
        </p:nvSpPr>
        <p:spPr>
          <a:xfrm>
            <a:off x="470073" y="5853863"/>
            <a:ext cx="11243037" cy="8946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pic>
        <p:nvPicPr>
          <p:cNvPr id="8" name="Picture 7" descr="A black dice showing the number 8">
            <a:extLst>
              <a:ext uri="{FF2B5EF4-FFF2-40B4-BE49-F238E27FC236}">
                <a16:creationId xmlns:a16="http://schemas.microsoft.com/office/drawing/2014/main" id="{137BCBCC-6247-8AC9-BF76-AAEBC8BD1064}"/>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37687" b="48107" l="67963" r="75809"/>
                    </a14:imgEffect>
                  </a14:imgLayer>
                </a14:imgProps>
              </a:ext>
              <a:ext uri="{28A0092B-C50C-407E-A947-70E740481C1C}">
                <a14:useLocalDpi xmlns:a14="http://schemas.microsoft.com/office/drawing/2010/main" val="0"/>
              </a:ext>
            </a:extLst>
          </a:blip>
          <a:srcRect l="66982" t="36384" r="23210" b="50591"/>
          <a:stretch>
            <a:fillRect/>
          </a:stretch>
        </p:blipFill>
        <p:spPr>
          <a:xfrm rot="18961896">
            <a:off x="3791987" y="2114042"/>
            <a:ext cx="1939318" cy="1820808"/>
          </a:xfrm>
          <a:prstGeom prst="rect">
            <a:avLst/>
          </a:prstGeom>
        </p:spPr>
      </p:pic>
      <p:sp>
        <p:nvSpPr>
          <p:cNvPr id="12" name="TextBox 11">
            <a:extLst>
              <a:ext uri="{FF2B5EF4-FFF2-40B4-BE49-F238E27FC236}">
                <a16:creationId xmlns:a16="http://schemas.microsoft.com/office/drawing/2014/main" id="{6DA71769-09F5-C25A-3940-BBD9AF694CD7}"/>
              </a:ext>
            </a:extLst>
          </p:cNvPr>
          <p:cNvSpPr txBox="1"/>
          <p:nvPr/>
        </p:nvSpPr>
        <p:spPr>
          <a:xfrm>
            <a:off x="5866738" y="2506923"/>
            <a:ext cx="4205295" cy="1287150"/>
          </a:xfrm>
          <a:prstGeom prst="rect">
            <a:avLst/>
          </a:prstGeom>
          <a:noFill/>
        </p:spPr>
        <p:txBody>
          <a:bodyPr wrap="square" lIns="0" tIns="0" rIns="0" bIns="0" rtlCol="0">
            <a:noAutofit/>
          </a:bodyPr>
          <a:lstStyle/>
          <a:p>
            <a:pPr algn="l"/>
            <a:r>
              <a:rPr lang="en-AU" sz="1800"/>
              <a:t> </a:t>
            </a:r>
            <a:r>
              <a:rPr lang="en-AU" sz="5400" b="1"/>
              <a:t>x 100</a:t>
            </a:r>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a:t>
            </a:r>
            <a:r>
              <a:rPr lang="en-US"/>
              <a:t> </a:t>
            </a:r>
            <a:r>
              <a:rPr lang="en-US">
                <a:solidFill>
                  <a:schemeClr val="bg1"/>
                </a:solidFill>
              </a:rPr>
              <a:t>(17)</a:t>
            </a:r>
          </a:p>
        </p:txBody>
      </p:sp>
      <p:pic>
        <p:nvPicPr>
          <p:cNvPr id="4" name="Picture 3" descr="image of a clipboard with a pencil recording short answer responses">
            <a:extLst>
              <a:ext uri="{FF2B5EF4-FFF2-40B4-BE49-F238E27FC236}">
                <a16:creationId xmlns:a16="http://schemas.microsoft.com/office/drawing/2014/main" id="{BB099BAB-328B-59D1-278A-FFBF494FA8C0}"/>
              </a:ext>
            </a:extLst>
          </p:cNvPr>
          <p:cNvPicPr>
            <a:picLocks noChangeAspect="1"/>
          </p:cNvPicPr>
          <p:nvPr/>
        </p:nvPicPr>
        <p:blipFill>
          <a:blip r:embed="rId3"/>
          <a:stretch>
            <a:fillRect/>
          </a:stretch>
        </p:blipFill>
        <p:spPr>
          <a:xfrm>
            <a:off x="11124000" y="162000"/>
            <a:ext cx="915500" cy="915500"/>
          </a:xfrm>
          <a:prstGeom prst="rect">
            <a:avLst/>
          </a:prstGeom>
        </p:spPr>
      </p:pic>
      <p:sp>
        <p:nvSpPr>
          <p:cNvPr id="7" name="Picture Placeholder 10">
            <a:extLst>
              <a:ext uri="{FF2B5EF4-FFF2-40B4-BE49-F238E27FC236}">
                <a16:creationId xmlns:a16="http://schemas.microsoft.com/office/drawing/2014/main" id="{C545E0AF-4E8F-5C2D-F26A-5CE652A056C9}"/>
              </a:ext>
            </a:extLst>
          </p:cNvPr>
          <p:cNvSpPr>
            <a:spLocks noGrp="1"/>
          </p:cNvSpPr>
          <p:nvPr>
            <p:ph type="pic" sz="quarter" idx="21"/>
          </p:nvPr>
        </p:nvSpPr>
        <p:spPr>
          <a:xfrm>
            <a:off x="470073" y="984235"/>
            <a:ext cx="11243037" cy="1440503"/>
          </a:xfrm>
        </p:spPr>
        <p:txBody>
          <a:bodyPr/>
          <a:lstStyle/>
          <a:p>
            <a:pPr algn="ctr">
              <a:lnSpc>
                <a:spcPct val="100000"/>
              </a:lnSpc>
              <a:spcAft>
                <a:spcPts val="600"/>
              </a:spcAft>
            </a:pPr>
            <a:r>
              <a:rPr lang="en-US" sz="4400">
                <a:latin typeface="Arial"/>
                <a:cs typeface="Arial"/>
              </a:rPr>
              <a:t>Which </a:t>
            </a:r>
            <a:r>
              <a:rPr lang="en-US" sz="4400" b="1">
                <a:latin typeface="Arial"/>
                <a:cs typeface="Arial"/>
              </a:rPr>
              <a:t>2</a:t>
            </a:r>
            <a:r>
              <a:rPr lang="en-US" sz="4400">
                <a:latin typeface="Arial"/>
                <a:cs typeface="Arial"/>
              </a:rPr>
              <a:t> spinners show an </a:t>
            </a:r>
            <a:r>
              <a:rPr lang="en-US" sz="4400" b="1">
                <a:latin typeface="Arial"/>
                <a:cs typeface="Arial"/>
              </a:rPr>
              <a:t>equally likely chance</a:t>
            </a:r>
            <a:r>
              <a:rPr lang="en-US" sz="4400">
                <a:latin typeface="Arial"/>
                <a:cs typeface="Arial"/>
              </a:rPr>
              <a:t> of an event occurring?</a:t>
            </a:r>
            <a:endParaRPr lang="en-US" sz="4400"/>
          </a:p>
          <a:p>
            <a:pPr>
              <a:lnSpc>
                <a:spcPct val="100000"/>
              </a:lnSpc>
              <a:spcAft>
                <a:spcPts val="600"/>
              </a:spcAft>
            </a:pPr>
            <a:endParaRPr lang="en-US">
              <a:latin typeface="Arial"/>
              <a:cs typeface="Arial"/>
            </a:endParaRPr>
          </a:p>
        </p:txBody>
      </p:sp>
      <p:pic>
        <p:nvPicPr>
          <p:cNvPr id="8" name="Picture 7" descr="4 spinners with the first two split into 4 equal part, the third split into 2 equal parts and the fourth split into 4 unequal parts">
            <a:extLst>
              <a:ext uri="{FF2B5EF4-FFF2-40B4-BE49-F238E27FC236}">
                <a16:creationId xmlns:a16="http://schemas.microsoft.com/office/drawing/2014/main" id="{1EB3A303-1345-CEAD-8576-EE000B6E9DFC}"/>
              </a:ext>
            </a:extLst>
          </p:cNvPr>
          <p:cNvPicPr>
            <a:picLocks noChangeAspect="1"/>
          </p:cNvPicPr>
          <p:nvPr/>
        </p:nvPicPr>
        <p:blipFill>
          <a:blip r:embed="rId4"/>
          <a:stretch>
            <a:fillRect/>
          </a:stretch>
        </p:blipFill>
        <p:spPr>
          <a:xfrm>
            <a:off x="644991" y="2973161"/>
            <a:ext cx="10642600" cy="2254788"/>
          </a:xfrm>
          <a:prstGeom prst="rect">
            <a:avLst/>
          </a:prstGeom>
        </p:spPr>
      </p:pic>
      <p:sp>
        <p:nvSpPr>
          <p:cNvPr id="9" name="Text Placeholder 6">
            <a:extLst>
              <a:ext uri="{FF2B5EF4-FFF2-40B4-BE49-F238E27FC236}">
                <a16:creationId xmlns:a16="http://schemas.microsoft.com/office/drawing/2014/main" id="{C233C83F-EC69-E5B4-7D8C-5877D50EAB96}"/>
              </a:ext>
            </a:extLst>
          </p:cNvPr>
          <p:cNvSpPr txBox="1">
            <a:spLocks/>
          </p:cNvSpPr>
          <p:nvPr/>
        </p:nvSpPr>
        <p:spPr>
          <a:xfrm>
            <a:off x="470073" y="5776373"/>
            <a:ext cx="11243037" cy="8946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graphicFrame>
        <p:nvGraphicFramePr>
          <p:cNvPr id="5" name="Table 4">
            <a:extLst>
              <a:ext uri="{FF2B5EF4-FFF2-40B4-BE49-F238E27FC236}">
                <a16:creationId xmlns:a16="http://schemas.microsoft.com/office/drawing/2014/main" id="{4C6D1C16-A796-2C8D-FA83-FBF7B14D659E}"/>
              </a:ext>
            </a:extLst>
          </p:cNvPr>
          <p:cNvGraphicFramePr>
            <a:graphicFrameLocks noGrp="1"/>
          </p:cNvGraphicFramePr>
          <p:nvPr>
            <p:extLst>
              <p:ext uri="{D42A27DB-BD31-4B8C-83A1-F6EECF244321}">
                <p14:modId xmlns:p14="http://schemas.microsoft.com/office/powerpoint/2010/main" val="576523829"/>
              </p:ext>
            </p:extLst>
          </p:nvPr>
        </p:nvGraphicFramePr>
        <p:xfrm>
          <a:off x="644990" y="5316741"/>
          <a:ext cx="10642600" cy="396240"/>
        </p:xfrm>
        <a:graphic>
          <a:graphicData uri="http://schemas.openxmlformats.org/drawingml/2006/table">
            <a:tbl>
              <a:tblPr firstRow="1" bandRow="1">
                <a:tableStyleId>{5A111915-BE36-4E01-A7E5-04B1672EAD32}</a:tableStyleId>
              </a:tblPr>
              <a:tblGrid>
                <a:gridCol w="2660650">
                  <a:extLst>
                    <a:ext uri="{9D8B030D-6E8A-4147-A177-3AD203B41FA5}">
                      <a16:colId xmlns:a16="http://schemas.microsoft.com/office/drawing/2014/main" val="924505970"/>
                    </a:ext>
                  </a:extLst>
                </a:gridCol>
                <a:gridCol w="2660650">
                  <a:extLst>
                    <a:ext uri="{9D8B030D-6E8A-4147-A177-3AD203B41FA5}">
                      <a16:colId xmlns:a16="http://schemas.microsoft.com/office/drawing/2014/main" val="1321913961"/>
                    </a:ext>
                  </a:extLst>
                </a:gridCol>
                <a:gridCol w="2660650">
                  <a:extLst>
                    <a:ext uri="{9D8B030D-6E8A-4147-A177-3AD203B41FA5}">
                      <a16:colId xmlns:a16="http://schemas.microsoft.com/office/drawing/2014/main" val="2062334234"/>
                    </a:ext>
                  </a:extLst>
                </a:gridCol>
                <a:gridCol w="2660650">
                  <a:extLst>
                    <a:ext uri="{9D8B030D-6E8A-4147-A177-3AD203B41FA5}">
                      <a16:colId xmlns:a16="http://schemas.microsoft.com/office/drawing/2014/main" val="3436974952"/>
                    </a:ext>
                  </a:extLst>
                </a:gridCol>
              </a:tblGrid>
              <a:tr h="370840">
                <a:tc>
                  <a:txBody>
                    <a:bodyPr/>
                    <a:lstStyle/>
                    <a:p>
                      <a:pPr algn="ctr"/>
                      <a:r>
                        <a:rPr lang="en-AU" sz="2000" b="0">
                          <a:solidFill>
                            <a:schemeClr val="tx1"/>
                          </a:solidFill>
                        </a:rPr>
                        <a:t> Spinner 1</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r>
                        <a:rPr lang="en-AU" sz="2000" b="0">
                          <a:solidFill>
                            <a:schemeClr val="tx1"/>
                          </a:solidFill>
                        </a:rPr>
                        <a:t>  Spinner 2</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r>
                        <a:rPr lang="en-AU" sz="2000" b="0">
                          <a:solidFill>
                            <a:schemeClr val="tx1"/>
                          </a:solidFill>
                        </a:rPr>
                        <a:t>     Spinner 3</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tc>
                  <a:txBody>
                    <a:bodyPr/>
                    <a:lstStyle/>
                    <a:p>
                      <a:pPr algn="ctr"/>
                      <a:r>
                        <a:rPr lang="en-AU" sz="2000" b="0">
                          <a:solidFill>
                            <a:schemeClr val="tx1"/>
                          </a:solidFill>
                        </a:rPr>
                        <a:t>Spinner 4</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7655219"/>
                  </a:ext>
                </a:extLst>
              </a:tr>
            </a:tbl>
          </a:graphicData>
        </a:graphic>
      </p:graphicFrame>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rPr>
              <a:t>(18)</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205102" y="1249537"/>
            <a:ext cx="6402654" cy="1041247"/>
          </a:xfrm>
        </p:spPr>
        <p:txBody>
          <a:bodyPr/>
          <a:lstStyle/>
          <a:p>
            <a:pPr algn="ctr">
              <a:spcAft>
                <a:spcPts val="1800"/>
              </a:spcAft>
            </a:pPr>
            <a:r>
              <a:rPr lang="en-US" sz="4000" b="1">
                <a:latin typeface="Arial"/>
                <a:cs typeface="Arial"/>
              </a:rPr>
              <a:t>Estimate</a:t>
            </a:r>
            <a:r>
              <a:rPr lang="en-US" sz="4000">
                <a:latin typeface="Arial"/>
                <a:cs typeface="Arial"/>
              </a:rPr>
              <a:t> which leaf would have the </a:t>
            </a:r>
            <a:r>
              <a:rPr lang="en-US" sz="4000" b="1">
                <a:latin typeface="Arial"/>
                <a:cs typeface="Arial"/>
              </a:rPr>
              <a:t>largest area</a:t>
            </a:r>
            <a:r>
              <a:rPr lang="en-US" sz="4000">
                <a:latin typeface="Arial"/>
                <a:cs typeface="Arial"/>
              </a:rPr>
              <a:t>.</a:t>
            </a:r>
          </a:p>
          <a:p>
            <a:pPr algn="ctr">
              <a:spcAft>
                <a:spcPts val="1800"/>
              </a:spcAft>
            </a:pPr>
            <a:r>
              <a:rPr lang="en-US" sz="4000" b="1">
                <a:latin typeface="Arial"/>
                <a:cs typeface="Arial"/>
              </a:rPr>
              <a:t>Explain</a:t>
            </a:r>
            <a:r>
              <a:rPr lang="en-US" sz="4000">
                <a:latin typeface="Arial"/>
                <a:cs typeface="Arial"/>
              </a:rPr>
              <a:t> how you know.</a:t>
            </a:r>
            <a:endParaRPr lang="en-US" sz="4000"/>
          </a:p>
          <a:p>
            <a:pPr algn="ctr">
              <a:spcAft>
                <a:spcPts val="1800"/>
              </a:spcAft>
            </a:pPr>
            <a:r>
              <a:rPr lang="en-US" sz="4000" b="1">
                <a:latin typeface="Arial"/>
                <a:cs typeface="Arial"/>
              </a:rPr>
              <a:t>Communicate</a:t>
            </a:r>
            <a:r>
              <a:rPr lang="en-US" sz="4000">
                <a:latin typeface="Arial"/>
                <a:cs typeface="Arial"/>
              </a:rPr>
              <a:t> how you could work it out.</a:t>
            </a:r>
            <a:endParaRPr lang="en-US" sz="4000"/>
          </a:p>
          <a:p>
            <a:pPr algn="ctr">
              <a:lnSpc>
                <a:spcPct val="100000"/>
              </a:lnSpc>
            </a:pPr>
            <a:endParaRPr lang="en-US" sz="4400"/>
          </a:p>
          <a:p>
            <a:endParaRPr lang="en-US">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FE345378-20FF-A172-6D0E-53FEDBC94114}"/>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5" name="Group 14" descr="2 different sized green leaves.">
            <a:extLst>
              <a:ext uri="{FF2B5EF4-FFF2-40B4-BE49-F238E27FC236}">
                <a16:creationId xmlns:a16="http://schemas.microsoft.com/office/drawing/2014/main" id="{E532BFD8-7E6E-60EB-242D-E1830D91E5A6}"/>
              </a:ext>
            </a:extLst>
          </p:cNvPr>
          <p:cNvGrpSpPr/>
          <p:nvPr/>
        </p:nvGrpSpPr>
        <p:grpSpPr>
          <a:xfrm>
            <a:off x="6471376" y="2057523"/>
            <a:ext cx="5601088" cy="3585177"/>
            <a:chOff x="509902" y="2696023"/>
            <a:chExt cx="5890898" cy="3584855"/>
          </a:xfrm>
        </p:grpSpPr>
        <p:sp>
          <p:nvSpPr>
            <p:cNvPr id="10" name="Rectangle 9">
              <a:extLst>
                <a:ext uri="{FF2B5EF4-FFF2-40B4-BE49-F238E27FC236}">
                  <a16:creationId xmlns:a16="http://schemas.microsoft.com/office/drawing/2014/main" id="{9701CCCD-D629-0430-AB87-416D933BCBFB}"/>
                </a:ext>
              </a:extLst>
            </p:cNvPr>
            <p:cNvSpPr/>
            <p:nvPr/>
          </p:nvSpPr>
          <p:spPr>
            <a:xfrm>
              <a:off x="509902" y="2696023"/>
              <a:ext cx="5890898" cy="3584855"/>
            </a:xfrm>
            <a:prstGeom prst="rect">
              <a:avLst/>
            </a:prstGeom>
            <a:solidFill>
              <a:schemeClr val="bg1"/>
            </a:solidFill>
            <a:ln w="28575">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a:extLst>
                <a:ext uri="{FF2B5EF4-FFF2-40B4-BE49-F238E27FC236}">
                  <a16:creationId xmlns:a16="http://schemas.microsoft.com/office/drawing/2014/main" id="{20A0716C-3237-E4A4-D862-3304B12D519B}"/>
                </a:ext>
              </a:extLst>
            </p:cNvPr>
            <p:cNvPicPr>
              <a:picLocks noChangeAspect="1"/>
            </p:cNvPicPr>
            <p:nvPr/>
          </p:nvPicPr>
          <p:blipFill>
            <a:blip r:embed="rId4"/>
            <a:srcRect l="5910" t="5570" r="7995"/>
            <a:stretch>
              <a:fillRect/>
            </a:stretch>
          </p:blipFill>
          <p:spPr>
            <a:xfrm>
              <a:off x="966983" y="2772076"/>
              <a:ext cx="4976736" cy="3432748"/>
            </a:xfrm>
            <a:prstGeom prst="rect">
              <a:avLst/>
            </a:prstGeom>
          </p:spPr>
        </p:pic>
      </p:grpSp>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rPr>
              <a:t>(19)</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9746C590-5EAE-E428-0D12-C870AC29AF8E}"/>
                  </a:ext>
                </a:extLst>
              </p:cNvPr>
              <p:cNvSpPr>
                <a:spLocks noGrp="1"/>
              </p:cNvSpPr>
              <p:nvPr>
                <p:ph type="pic" sz="quarter" idx="21"/>
              </p:nvPr>
            </p:nvSpPr>
            <p:spPr>
              <a:xfrm>
                <a:off x="207579" y="996878"/>
                <a:ext cx="10822897" cy="1559657"/>
              </a:xfrm>
            </p:spPr>
            <p:txBody>
              <a:bodyPr/>
              <a:lstStyle/>
              <a:p>
                <a:pPr algn="ctr">
                  <a:lnSpc>
                    <a:spcPct val="100000"/>
                  </a:lnSpc>
                </a:pPr>
                <a:r>
                  <a:rPr lang="en-US" sz="4800" b="1">
                    <a:latin typeface="Arial"/>
                    <a:cs typeface="Arial"/>
                  </a:rPr>
                  <a:t>List </a:t>
                </a:r>
                <a:r>
                  <a:rPr lang="en-US" sz="4800">
                    <a:latin typeface="Arial"/>
                    <a:cs typeface="Arial"/>
                  </a:rPr>
                  <a:t>an equivalent fraction for </a:t>
                </a:r>
                <a14:m>
                  <m:oMath xmlns:m="http://schemas.openxmlformats.org/officeDocument/2006/math">
                    <m:f>
                      <m:fPr>
                        <m:ctrlPr>
                          <a:rPr lang="en-US" sz="4800" i="1" smtClean="0">
                            <a:latin typeface="Cambria Math" panose="02040503050406030204" pitchFamily="18" charset="0"/>
                            <a:cs typeface="Arial"/>
                          </a:rPr>
                        </m:ctrlPr>
                      </m:fPr>
                      <m:num>
                        <m:r>
                          <a:rPr lang="en-AU" sz="4800" b="0" i="1" smtClean="0">
                            <a:latin typeface="Cambria Math" panose="02040503050406030204" pitchFamily="18" charset="0"/>
                            <a:cs typeface="Arial"/>
                          </a:rPr>
                          <m:t>2</m:t>
                        </m:r>
                      </m:num>
                      <m:den>
                        <m:r>
                          <a:rPr lang="en-AU" sz="4800" b="0" i="1" smtClean="0">
                            <a:latin typeface="Cambria Math" panose="02040503050406030204" pitchFamily="18" charset="0"/>
                            <a:cs typeface="Arial"/>
                          </a:rPr>
                          <m:t>3</m:t>
                        </m:r>
                      </m:den>
                    </m:f>
                  </m:oMath>
                </a14:m>
                <a:r>
                  <a:rPr lang="en-US" sz="4800">
                    <a:latin typeface="Arial"/>
                    <a:cs typeface="Arial"/>
                  </a:rPr>
                  <a:t> .</a:t>
                </a:r>
              </a:p>
            </p:txBody>
          </p:sp>
        </mc:Choice>
        <mc:Fallback xmlns="">
          <p:sp>
            <p:nvSpPr>
              <p:cNvPr id="11" name="Picture Placeholder 10">
                <a:extLst>
                  <a:ext uri="{FF2B5EF4-FFF2-40B4-BE49-F238E27FC236}">
                    <a16:creationId xmlns:a16="http://schemas.microsoft.com/office/drawing/2014/main" id="{9746C590-5EAE-E428-0D12-C870AC29AF8E}"/>
                  </a:ext>
                </a:extLst>
              </p:cNvPr>
              <p:cNvSpPr>
                <a:spLocks noGrp="1" noRot="1" noChangeAspect="1" noMove="1" noResize="1" noEditPoints="1" noAdjustHandles="1" noChangeArrowheads="1" noChangeShapeType="1" noTextEdit="1"/>
              </p:cNvSpPr>
              <p:nvPr>
                <p:ph type="pic" sz="quarter" idx="21"/>
              </p:nvPr>
            </p:nvSpPr>
            <p:spPr>
              <a:xfrm>
                <a:off x="207579" y="996878"/>
                <a:ext cx="10822897" cy="1559657"/>
              </a:xfrm>
              <a:blipFill>
                <a:blip r:embed="rId3"/>
                <a:stretch>
                  <a:fillRect t="-3922"/>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7DFD27BE-68F7-D289-2C28-ACC03945378F}"/>
              </a:ext>
            </a:extLst>
          </p:cNvPr>
          <p:cNvPicPr>
            <a:picLocks noChangeAspect="1"/>
          </p:cNvPicPr>
          <p:nvPr/>
        </p:nvPicPr>
        <p:blipFill>
          <a:blip r:embed="rId4"/>
          <a:stretch>
            <a:fillRect/>
          </a:stretch>
        </p:blipFill>
        <p:spPr>
          <a:xfrm>
            <a:off x="11030476" y="268723"/>
            <a:ext cx="915500" cy="915500"/>
          </a:xfrm>
          <a:prstGeom prst="rect">
            <a:avLst/>
          </a:prstGeom>
        </p:spPr>
      </p:pic>
      <p:pic>
        <p:nvPicPr>
          <p:cNvPr id="5" name="Picture 4" descr="Coloured fractional wall representing a whole, halves, thirds, quarters, fifths, sixths, eighths and tenths as separate coloured bars.  &#10;">
            <a:extLst>
              <a:ext uri="{FF2B5EF4-FFF2-40B4-BE49-F238E27FC236}">
                <a16:creationId xmlns:a16="http://schemas.microsoft.com/office/drawing/2014/main" id="{31B34859-5FC7-E6CC-0FDF-4936836338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54581" y="2207896"/>
            <a:ext cx="4132666" cy="4488104"/>
          </a:xfrm>
          <a:prstGeom prst="rect">
            <a:avLst/>
          </a:prstGeom>
        </p:spPr>
      </p:pic>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39</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1342070" y="2041680"/>
            <a:ext cx="9507859" cy="1507241"/>
          </a:xfrm>
        </p:spPr>
        <p:txBody>
          <a:bodyPr/>
          <a:lstStyle/>
          <a:p>
            <a:pPr algn="ctr"/>
            <a:r>
              <a:rPr lang="en-US" sz="4400" b="1">
                <a:latin typeface="Arial"/>
                <a:cs typeface="Arial"/>
              </a:rPr>
              <a:t>List</a:t>
            </a:r>
            <a:r>
              <a:rPr lang="en-US" sz="4400">
                <a:latin typeface="Arial"/>
                <a:cs typeface="Arial"/>
              </a:rPr>
              <a:t> 5 items t</a:t>
            </a:r>
            <a:r>
              <a:rPr lang="en-AU" sz="4400">
                <a:latin typeface="Arial"/>
                <a:cs typeface="Arial"/>
              </a:rPr>
              <a:t>hat each have a </a:t>
            </a:r>
            <a:r>
              <a:rPr lang="en-AU" sz="4400" b="1">
                <a:latin typeface="Arial"/>
                <a:cs typeface="Arial"/>
              </a:rPr>
              <a:t>mass</a:t>
            </a:r>
            <a:r>
              <a:rPr lang="en-AU" sz="4400">
                <a:latin typeface="Arial"/>
                <a:cs typeface="Arial"/>
              </a:rPr>
              <a:t> of about the same as </a:t>
            </a:r>
            <a:r>
              <a:rPr lang="en-AU" sz="4400" b="1">
                <a:latin typeface="Arial"/>
                <a:cs typeface="Arial"/>
              </a:rPr>
              <a:t>one kilogram</a:t>
            </a:r>
            <a:r>
              <a:rPr lang="en-AU" sz="4400">
                <a:latin typeface="Arial"/>
                <a:cs typeface="Arial"/>
              </a:rPr>
              <a:t>.</a:t>
            </a: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89697BB4-4FB9-C885-399C-CADFAFEEE3D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01107-4B82-147C-3613-7B589F2560F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D2DDCD-9D2E-4595-876B-6E4FEA6257C3}"/>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37823FC2-4148-ACDD-A9CE-59C74B424873}"/>
              </a:ext>
            </a:extLst>
          </p:cNvPr>
          <p:cNvSpPr>
            <a:spLocks noGrp="1"/>
          </p:cNvSpPr>
          <p:nvPr>
            <p:ph type="title"/>
          </p:nvPr>
        </p:nvSpPr>
        <p:spPr>
          <a:xfrm>
            <a:off x="360000" y="360000"/>
            <a:ext cx="11484000" cy="545601"/>
          </a:xfrm>
        </p:spPr>
        <p:txBody>
          <a:bodyPr/>
          <a:lstStyle/>
          <a:p>
            <a:r>
              <a:rPr lang="en-AU">
                <a:latin typeface="Arial"/>
                <a:cs typeface="Arial"/>
              </a:rPr>
              <a:t>Activity 5 – largest number wins</a:t>
            </a:r>
          </a:p>
        </p:txBody>
      </p:sp>
      <p:pic>
        <p:nvPicPr>
          <p:cNvPr id="5" name="Picture 4" descr="image of a head with cogs turning inside">
            <a:extLst>
              <a:ext uri="{FF2B5EF4-FFF2-40B4-BE49-F238E27FC236}">
                <a16:creationId xmlns:a16="http://schemas.microsoft.com/office/drawing/2014/main" id="{EAC0E1A4-8EB4-8803-B8A5-C175F861723E}"/>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Square cards arranged in an array of 6 columns and 4 rows. There are 2 columns of each value card: ×10, ×100 and ×1000.">
            <a:extLst>
              <a:ext uri="{FF2B5EF4-FFF2-40B4-BE49-F238E27FC236}">
                <a16:creationId xmlns:a16="http://schemas.microsoft.com/office/drawing/2014/main" id="{66C7FBC2-F214-F2A9-D7B0-D1879C671B1E}"/>
              </a:ext>
            </a:extLst>
          </p:cNvPr>
          <p:cNvPicPr>
            <a:picLocks noChangeAspect="1"/>
          </p:cNvPicPr>
          <p:nvPr/>
        </p:nvPicPr>
        <p:blipFill>
          <a:blip r:embed="rId4"/>
          <a:stretch>
            <a:fillRect/>
          </a:stretch>
        </p:blipFill>
        <p:spPr>
          <a:xfrm>
            <a:off x="2312894" y="1466748"/>
            <a:ext cx="6487658" cy="433445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022731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t>True or false </a:t>
            </a:r>
            <a:r>
              <a:rPr lang="en-US">
                <a:solidFill>
                  <a:schemeClr val="bg1"/>
                </a:solidFill>
              </a:rPr>
              <a:t>(3)</a:t>
            </a:r>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970103" y="5881043"/>
            <a:ext cx="11243037" cy="97883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1500219329"/>
              </p:ext>
            </p:extLst>
          </p:nvPr>
        </p:nvGraphicFramePr>
        <p:xfrm>
          <a:off x="2553053" y="498644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55D61279-F839-6A02-5B10-40DD79748FE7}"/>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4" name="TextBox 3">
            <a:extLst>
              <a:ext uri="{FF2B5EF4-FFF2-40B4-BE49-F238E27FC236}">
                <a16:creationId xmlns:a16="http://schemas.microsoft.com/office/drawing/2014/main" id="{13815F96-0636-54A5-AC58-E6A07E5410E2}"/>
              </a:ext>
            </a:extLst>
          </p:cNvPr>
          <p:cNvSpPr txBox="1"/>
          <p:nvPr/>
        </p:nvSpPr>
        <p:spPr>
          <a:xfrm>
            <a:off x="970103" y="877380"/>
            <a:ext cx="10513897" cy="2068642"/>
          </a:xfrm>
          <a:prstGeom prst="rect">
            <a:avLst/>
          </a:prstGeom>
          <a:noFill/>
        </p:spPr>
        <p:txBody>
          <a:bodyPr wrap="square" lIns="0" tIns="0" rIns="0" bIns="0" rtlCol="0">
            <a:noAutofit/>
          </a:bodyPr>
          <a:lstStyle/>
          <a:p>
            <a:pPr algn="ctr">
              <a:lnSpc>
                <a:spcPct val="150000"/>
              </a:lnSpc>
            </a:pPr>
            <a:r>
              <a:rPr lang="en-AU" sz="4400" b="1"/>
              <a:t>64 multiplied </a:t>
            </a:r>
            <a:r>
              <a:rPr lang="en-AU" sz="4400"/>
              <a:t>by:</a:t>
            </a:r>
          </a:p>
          <a:p>
            <a:pPr algn="ctr">
              <a:lnSpc>
                <a:spcPct val="150000"/>
              </a:lnSpc>
            </a:pPr>
            <a:r>
              <a:rPr lang="en-AU" sz="4400"/>
              <a:t> 10 is 640 </a:t>
            </a:r>
          </a:p>
          <a:p>
            <a:pPr algn="ctr">
              <a:lnSpc>
                <a:spcPct val="150000"/>
              </a:lnSpc>
            </a:pPr>
            <a:r>
              <a:rPr lang="en-AU" sz="4400"/>
              <a:t>100 is 6 400 </a:t>
            </a:r>
          </a:p>
          <a:p>
            <a:pPr algn="ctr">
              <a:lnSpc>
                <a:spcPct val="150000"/>
              </a:lnSpc>
            </a:pPr>
            <a:r>
              <a:rPr lang="en-AU" sz="4400"/>
              <a:t>1 000 is 64 000</a:t>
            </a:r>
          </a:p>
        </p:txBody>
      </p:sp>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 </a:t>
            </a:r>
            <a:r>
              <a:rPr lang="en-US">
                <a:solidFill>
                  <a:schemeClr val="bg1"/>
                </a:solidFill>
              </a:rPr>
              <a:t>(21)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94635"/>
            <a:ext cx="3851782" cy="4432092"/>
          </a:xfrm>
        </p:spPr>
        <p:txBody>
          <a:bodyPr/>
          <a:lstStyle/>
          <a:p>
            <a:pPr algn="ctr"/>
            <a:r>
              <a:rPr lang="en-US" sz="3600">
                <a:latin typeface="Arial"/>
                <a:cs typeface="Arial"/>
              </a:rPr>
              <a:t> </a:t>
            </a:r>
            <a:r>
              <a:rPr lang="en-US" sz="3600" b="1">
                <a:latin typeface="Arial"/>
                <a:cs typeface="Arial"/>
              </a:rPr>
              <a:t>List 3 </a:t>
            </a:r>
            <a:r>
              <a:rPr lang="en-US" sz="3600">
                <a:latin typeface="Arial"/>
                <a:cs typeface="Arial"/>
              </a:rPr>
              <a:t>things you know from the data in the column graph. </a:t>
            </a:r>
            <a:endParaRPr lang="en-US" sz="3600"/>
          </a:p>
          <a:p>
            <a:pPr algn="ctr"/>
            <a:endParaRPr lang="en-US" sz="3600"/>
          </a:p>
          <a:p>
            <a:endParaRPr lang="en-US" sz="1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FFC89052-219D-2803-0123-F3BA24E9962C}"/>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Horizontal column graph showing fun day options with swimming pool with 8 votes, ten pin bowling with 4 votes, ice skating with 4 votes, beach day with 10 votes and movies with 6 votes. ">
            <a:extLst>
              <a:ext uri="{FF2B5EF4-FFF2-40B4-BE49-F238E27FC236}">
                <a16:creationId xmlns:a16="http://schemas.microsoft.com/office/drawing/2014/main" id="{E24673B5-3940-028F-F259-E232AF31C9CF}"/>
              </a:ext>
            </a:extLst>
          </p:cNvPr>
          <p:cNvPicPr>
            <a:picLocks noChangeAspect="1"/>
          </p:cNvPicPr>
          <p:nvPr/>
        </p:nvPicPr>
        <p:blipFill>
          <a:blip r:embed="rId4" cstate="email">
            <a:extLst>
              <a:ext uri="{28A0092B-C50C-407E-A947-70E740481C1C}">
                <a14:useLocalDpi xmlns:a14="http://schemas.microsoft.com/office/drawing/2010/main"/>
              </a:ext>
            </a:extLst>
          </a:blip>
          <a:srcRect l="7642" r="27103" b="2922"/>
          <a:stretch>
            <a:fillRect/>
          </a:stretch>
        </p:blipFill>
        <p:spPr>
          <a:xfrm>
            <a:off x="4488873" y="1206854"/>
            <a:ext cx="6635127" cy="5152382"/>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rPr>
              <a:t>(22)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749508" y="1905603"/>
            <a:ext cx="10853530" cy="1379555"/>
          </a:xfrm>
        </p:spPr>
        <p:txBody>
          <a:bodyPr/>
          <a:lstStyle/>
          <a:p>
            <a:pPr algn="ctr"/>
            <a:r>
              <a:rPr lang="en-AU" sz="4400" b="1">
                <a:latin typeface="Arial"/>
                <a:cs typeface="Arial"/>
              </a:rPr>
              <a:t>Identify 3 differences </a:t>
            </a:r>
            <a:r>
              <a:rPr lang="en-AU" sz="4400">
                <a:latin typeface="Arial"/>
                <a:cs typeface="Arial"/>
              </a:rPr>
              <a:t>between a </a:t>
            </a:r>
            <a:r>
              <a:rPr lang="en-AU" sz="4400" b="1">
                <a:latin typeface="Arial"/>
                <a:cs typeface="Arial"/>
              </a:rPr>
              <a:t>pyramid </a:t>
            </a:r>
            <a:r>
              <a:rPr lang="en-AU" sz="4400">
                <a:latin typeface="Arial"/>
                <a:cs typeface="Arial"/>
              </a:rPr>
              <a:t>and a</a:t>
            </a:r>
            <a:r>
              <a:rPr lang="en-AU" sz="4400" b="1">
                <a:latin typeface="Arial"/>
                <a:cs typeface="Arial"/>
              </a:rPr>
              <a:t> cylinder</a:t>
            </a:r>
            <a:r>
              <a:rPr lang="en-AU" sz="4400">
                <a:latin typeface="Arial"/>
                <a:cs typeface="Arial"/>
              </a:rPr>
              <a:t>.</a:t>
            </a:r>
            <a:endParaRPr lang="en-US" sz="4400"/>
          </a:p>
          <a:p>
            <a:pPr>
              <a:lnSpc>
                <a:spcPct val="100000"/>
              </a:lnSpc>
            </a:pP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5C75FC3-3580-0C1D-8090-EC44658DAC9E}"/>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rPr>
              <a:t>(23)</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6096000" y="1322701"/>
            <a:ext cx="5507037" cy="1450479"/>
          </a:xfrm>
        </p:spPr>
        <p:txBody>
          <a:bodyPr/>
          <a:lstStyle/>
          <a:p>
            <a:pPr algn="ctr">
              <a:lnSpc>
                <a:spcPct val="100000"/>
              </a:lnSpc>
            </a:pPr>
            <a:r>
              <a:rPr lang="en-US" sz="4400" b="1">
                <a:latin typeface="Arial"/>
                <a:cs typeface="Arial"/>
              </a:rPr>
              <a:t>Identify equivalent fractions </a:t>
            </a:r>
            <a:r>
              <a:rPr lang="en-US" sz="4400">
                <a:latin typeface="Arial"/>
                <a:cs typeface="Arial"/>
              </a:rPr>
              <a:t>for:</a:t>
            </a:r>
            <a:endParaRPr lang="en-US" sz="4400"/>
          </a:p>
          <a:p>
            <a:pPr algn="ctr">
              <a:lnSpc>
                <a:spcPct val="100000"/>
              </a:lnSpc>
            </a:pPr>
            <a:endParaRPr lang="en-US" sz="4400"/>
          </a:p>
          <a:p>
            <a:pPr>
              <a:lnSpc>
                <a:spcPct val="100000"/>
              </a:lnSpc>
            </a:pPr>
            <a:endParaRPr lang="en-US"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0BD3A60-80E3-562B-92FB-07B4A07F11E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fraction wall.">
            <a:extLst>
              <a:ext uri="{FF2B5EF4-FFF2-40B4-BE49-F238E27FC236}">
                <a16:creationId xmlns:a16="http://schemas.microsoft.com/office/drawing/2014/main" id="{B5D3518C-FBB5-D292-5B73-6C53D24E974D}"/>
              </a:ext>
            </a:extLst>
          </p:cNvPr>
          <p:cNvPicPr>
            <a:picLocks noChangeAspect="1"/>
          </p:cNvPicPr>
          <p:nvPr/>
        </p:nvPicPr>
        <p:blipFill>
          <a:blip r:embed="rId4"/>
          <a:stretch>
            <a:fillRect/>
          </a:stretch>
        </p:blipFill>
        <p:spPr>
          <a:xfrm>
            <a:off x="740071" y="1210456"/>
            <a:ext cx="4823161" cy="517122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ECCD8B-740B-39A4-6FD4-CBA2495E6B80}"/>
                  </a:ext>
                </a:extLst>
              </p:cNvPr>
              <p:cNvSpPr txBox="1"/>
              <p:nvPr/>
            </p:nvSpPr>
            <p:spPr>
              <a:xfrm>
                <a:off x="8392318" y="3190280"/>
                <a:ext cx="914400" cy="116936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2</m:t>
                          </m:r>
                        </m:num>
                        <m:den>
                          <m:r>
                            <a:rPr lang="en-AU" sz="3600" b="0" i="1" smtClean="0">
                              <a:latin typeface="Cambria Math" panose="02040503050406030204" pitchFamily="18" charset="0"/>
                            </a:rPr>
                            <m:t>4</m:t>
                          </m:r>
                        </m:den>
                      </m:f>
                    </m:oMath>
                  </m:oMathPara>
                </a14:m>
                <a:endParaRPr lang="en-AU" sz="3600" b="0"/>
              </a:p>
            </p:txBody>
          </p:sp>
        </mc:Choice>
        <mc:Fallback xmlns="">
          <p:sp>
            <p:nvSpPr>
              <p:cNvPr id="9" name="TextBox 8">
                <a:extLst>
                  <a:ext uri="{FF2B5EF4-FFF2-40B4-BE49-F238E27FC236}">
                    <a16:creationId xmlns:a16="http://schemas.microsoft.com/office/drawing/2014/main" id="{63ECCD8B-740B-39A4-6FD4-CBA2495E6B80}"/>
                  </a:ext>
                </a:extLst>
              </p:cNvPr>
              <p:cNvSpPr txBox="1">
                <a:spLocks noRot="1" noChangeAspect="1" noMove="1" noResize="1" noEditPoints="1" noAdjustHandles="1" noChangeArrowheads="1" noChangeShapeType="1" noTextEdit="1"/>
              </p:cNvSpPr>
              <p:nvPr/>
            </p:nvSpPr>
            <p:spPr>
              <a:xfrm>
                <a:off x="8392318" y="3190280"/>
                <a:ext cx="914400" cy="116936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DA72C5E-9018-20D2-C933-8D91AE7714BD}"/>
                  </a:ext>
                </a:extLst>
              </p:cNvPr>
              <p:cNvSpPr txBox="1"/>
              <p:nvPr/>
            </p:nvSpPr>
            <p:spPr>
              <a:xfrm>
                <a:off x="8392318" y="4946627"/>
                <a:ext cx="914400" cy="116936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600" b="0" i="1" smtClean="0">
                              <a:latin typeface="Cambria Math" panose="02040503050406030204" pitchFamily="18" charset="0"/>
                            </a:rPr>
                          </m:ctrlPr>
                        </m:fPr>
                        <m:num>
                          <m:r>
                            <a:rPr lang="en-AU" sz="3600" b="0" i="1" smtClean="0">
                              <a:latin typeface="Cambria Math" panose="02040503050406030204" pitchFamily="18" charset="0"/>
                            </a:rPr>
                            <m:t>1</m:t>
                          </m:r>
                        </m:num>
                        <m:den>
                          <m:r>
                            <a:rPr lang="en-AU" sz="3600" b="0" i="1" smtClean="0">
                              <a:latin typeface="Cambria Math" panose="02040503050406030204" pitchFamily="18" charset="0"/>
                            </a:rPr>
                            <m:t>3</m:t>
                          </m:r>
                        </m:den>
                      </m:f>
                    </m:oMath>
                  </m:oMathPara>
                </a14:m>
                <a:endParaRPr lang="en-AU" sz="3600" b="0"/>
              </a:p>
            </p:txBody>
          </p:sp>
        </mc:Choice>
        <mc:Fallback xmlns="">
          <p:sp>
            <p:nvSpPr>
              <p:cNvPr id="10" name="TextBox 9">
                <a:extLst>
                  <a:ext uri="{FF2B5EF4-FFF2-40B4-BE49-F238E27FC236}">
                    <a16:creationId xmlns:a16="http://schemas.microsoft.com/office/drawing/2014/main" id="{0DA72C5E-9018-20D2-C933-8D91AE7714BD}"/>
                  </a:ext>
                </a:extLst>
              </p:cNvPr>
              <p:cNvSpPr txBox="1">
                <a:spLocks noRot="1" noChangeAspect="1" noMove="1" noResize="1" noEditPoints="1" noAdjustHandles="1" noChangeArrowheads="1" noChangeShapeType="1" noTextEdit="1"/>
              </p:cNvSpPr>
              <p:nvPr/>
            </p:nvSpPr>
            <p:spPr>
              <a:xfrm>
                <a:off x="8392318" y="4946627"/>
                <a:ext cx="914400" cy="116936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46</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360001" y="1164870"/>
            <a:ext cx="11243037" cy="799507"/>
          </a:xfrm>
        </p:spPr>
        <p:txBody>
          <a:bodyPr/>
          <a:lstStyle/>
          <a:p>
            <a:pPr algn="ctr"/>
            <a:r>
              <a:rPr lang="en-US" sz="4400">
                <a:latin typeface="Arial"/>
                <a:cs typeface="Arial"/>
              </a:rPr>
              <a:t>Which of these </a:t>
            </a:r>
            <a:r>
              <a:rPr lang="en-US" sz="4400" b="1">
                <a:latin typeface="Arial"/>
                <a:cs typeface="Arial"/>
              </a:rPr>
              <a:t>nets</a:t>
            </a:r>
            <a:r>
              <a:rPr lang="en-US" sz="4400">
                <a:latin typeface="Arial"/>
                <a:cs typeface="Arial"/>
              </a:rPr>
              <a:t> would make a </a:t>
            </a:r>
            <a:r>
              <a:rPr lang="en-US" sz="4400" b="1">
                <a:latin typeface="Arial"/>
                <a:cs typeface="Arial"/>
              </a:rPr>
              <a:t>cube</a:t>
            </a:r>
            <a:r>
              <a:rPr lang="en-US" sz="4400">
                <a:latin typeface="Arial"/>
                <a:cs typeface="Arial"/>
              </a:rPr>
              <a:t>?</a:t>
            </a:r>
            <a:endParaRPr lang="en-US" sz="4400"/>
          </a:p>
        </p:txBody>
      </p:sp>
      <p:pic>
        <p:nvPicPr>
          <p:cNvPr id="4" name="Picture 3" descr="image of a clipboard with a pencil recording short answer responses">
            <a:extLst>
              <a:ext uri="{FF2B5EF4-FFF2-40B4-BE49-F238E27FC236}">
                <a16:creationId xmlns:a16="http://schemas.microsoft.com/office/drawing/2014/main" id="{9413A593-D677-BE14-4F68-8ED6884EFE14}"/>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Nets of a triangular prism, rectangular prism and cube.">
            <a:extLst>
              <a:ext uri="{FF2B5EF4-FFF2-40B4-BE49-F238E27FC236}">
                <a16:creationId xmlns:a16="http://schemas.microsoft.com/office/drawing/2014/main" id="{5B610FE6-16BA-2A16-40C3-4C3027A880E6}"/>
              </a:ext>
            </a:extLst>
          </p:cNvPr>
          <p:cNvPicPr>
            <a:picLocks noChangeAspect="1"/>
          </p:cNvPicPr>
          <p:nvPr/>
        </p:nvPicPr>
        <p:blipFill>
          <a:blip r:embed="rId4"/>
          <a:srcRect l="3566"/>
          <a:stretch>
            <a:fillRect/>
          </a:stretch>
        </p:blipFill>
        <p:spPr>
          <a:xfrm>
            <a:off x="2098623" y="2385329"/>
            <a:ext cx="8824653" cy="2983489"/>
          </a:xfrm>
          <a:prstGeom prst="rect">
            <a:avLst/>
          </a:prstGeom>
        </p:spPr>
      </p:pic>
      <p:sp>
        <p:nvSpPr>
          <p:cNvPr id="8" name="Picture Placeholder 10">
            <a:extLst>
              <a:ext uri="{FF2B5EF4-FFF2-40B4-BE49-F238E27FC236}">
                <a16:creationId xmlns:a16="http://schemas.microsoft.com/office/drawing/2014/main" id="{796F1955-C624-1FE1-3101-67C547034F79}"/>
              </a:ext>
            </a:extLst>
          </p:cNvPr>
          <p:cNvSpPr txBox="1">
            <a:spLocks/>
          </p:cNvSpPr>
          <p:nvPr/>
        </p:nvSpPr>
        <p:spPr>
          <a:xfrm>
            <a:off x="360001" y="5789770"/>
            <a:ext cx="11243037" cy="799507"/>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Explain</a:t>
            </a:r>
            <a:r>
              <a:rPr lang="en-AU" sz="4400">
                <a:latin typeface="Arial"/>
                <a:cs typeface="Arial"/>
              </a:rPr>
              <a:t> your </a:t>
            </a:r>
            <a:r>
              <a:rPr lang="en-AU" sz="4400" b="1">
                <a:latin typeface="Arial"/>
                <a:cs typeface="Arial"/>
              </a:rPr>
              <a:t>reasoning</a:t>
            </a:r>
            <a:r>
              <a:rPr lang="en-AU" sz="4400">
                <a:latin typeface="Arial"/>
                <a:cs typeface="Arial"/>
              </a:rPr>
              <a:t>.</a:t>
            </a:r>
          </a:p>
        </p:txBody>
      </p:sp>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6 – ten times larger </a:t>
            </a:r>
          </a:p>
        </p:txBody>
      </p:sp>
      <p:pic>
        <p:nvPicPr>
          <p:cNvPr id="5" name="Picture 4" descr="image of a head with cogs turning inside">
            <a:extLst>
              <a:ext uri="{FF2B5EF4-FFF2-40B4-BE49-F238E27FC236}">
                <a16:creationId xmlns:a16="http://schemas.microsoft.com/office/drawing/2014/main" id="{F7AC7457-76E6-8D53-F23B-FA6A7DBB46C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 name="Picture 8" descr="A number rolled table with numbers. Left column has Roll 1 through to Roll 8. Second column is titled Number rolled, third column x10, fourth column x100, last column x1000. Example in teh forst row reads 62, then 620, 6200, and last column 62000. ">
            <a:extLst>
              <a:ext uri="{FF2B5EF4-FFF2-40B4-BE49-F238E27FC236}">
                <a16:creationId xmlns:a16="http://schemas.microsoft.com/office/drawing/2014/main" id="{3C0B72B8-8774-5E8A-21D9-7E44EC1430F6}"/>
              </a:ext>
            </a:extLst>
          </p:cNvPr>
          <p:cNvPicPr>
            <a:picLocks noChangeAspect="1"/>
          </p:cNvPicPr>
          <p:nvPr/>
        </p:nvPicPr>
        <p:blipFill>
          <a:blip r:embed="rId4"/>
          <a:stretch>
            <a:fillRect/>
          </a:stretch>
        </p:blipFill>
        <p:spPr>
          <a:xfrm>
            <a:off x="3004456" y="1184533"/>
            <a:ext cx="5697842" cy="523851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032192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DEC98-6E64-B27A-62A0-329A669AEC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4353F3-AFA1-F86F-DE0E-4EEDDC077D1C}"/>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E0021225-41F1-0C16-7955-7A20CE3F9226}"/>
              </a:ext>
            </a:extLst>
          </p:cNvPr>
          <p:cNvSpPr>
            <a:spLocks noGrp="1"/>
          </p:cNvSpPr>
          <p:nvPr>
            <p:ph type="title"/>
          </p:nvPr>
        </p:nvSpPr>
        <p:spPr/>
        <p:txBody>
          <a:bodyPr/>
          <a:lstStyle/>
          <a:p>
            <a:r>
              <a:rPr lang="en-US"/>
              <a:t>Multiple choice </a:t>
            </a:r>
            <a:r>
              <a:rPr lang="en-US">
                <a:solidFill>
                  <a:schemeClr val="bg1"/>
                </a:solidFill>
              </a:rPr>
              <a:t>(4)</a:t>
            </a:r>
          </a:p>
        </p:txBody>
      </p:sp>
      <p:pic>
        <p:nvPicPr>
          <p:cNvPr id="4" name="Picture 3" descr="image of a finger selecting an option for a multiple choice or true and false">
            <a:extLst>
              <a:ext uri="{FF2B5EF4-FFF2-40B4-BE49-F238E27FC236}">
                <a16:creationId xmlns:a16="http://schemas.microsoft.com/office/drawing/2014/main" id="{762B9242-51CC-E9FE-F0ED-48F177A9021B}"/>
              </a:ext>
            </a:extLst>
          </p:cNvPr>
          <p:cNvPicPr>
            <a:picLocks noChangeAspect="1"/>
          </p:cNvPicPr>
          <p:nvPr/>
        </p:nvPicPr>
        <p:blipFill>
          <a:blip r:embed="rId3"/>
          <a:stretch>
            <a:fillRect/>
          </a:stretch>
        </p:blipFill>
        <p:spPr>
          <a:xfrm>
            <a:off x="10807908" y="43303"/>
            <a:ext cx="1165786" cy="1140716"/>
          </a:xfrm>
          <a:prstGeom prst="rect">
            <a:avLst/>
          </a:prstGeom>
        </p:spPr>
      </p:pic>
      <p:graphicFrame>
        <p:nvGraphicFramePr>
          <p:cNvPr id="33" name="Table 32">
            <a:extLst>
              <a:ext uri="{FF2B5EF4-FFF2-40B4-BE49-F238E27FC236}">
                <a16:creationId xmlns:a16="http://schemas.microsoft.com/office/drawing/2014/main" id="{616EA5DB-30EC-6E74-4B47-1E012842EA51}"/>
              </a:ext>
            </a:extLst>
          </p:cNvPr>
          <p:cNvGraphicFramePr>
            <a:graphicFrameLocks noGrp="1"/>
          </p:cNvGraphicFramePr>
          <p:nvPr>
            <p:extLst>
              <p:ext uri="{D42A27DB-BD31-4B8C-83A1-F6EECF244321}">
                <p14:modId xmlns:p14="http://schemas.microsoft.com/office/powerpoint/2010/main" val="1722604874"/>
              </p:ext>
            </p:extLst>
          </p:nvPr>
        </p:nvGraphicFramePr>
        <p:xfrm>
          <a:off x="353999" y="4351077"/>
          <a:ext cx="11484000" cy="1504507"/>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6 ones</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6 tens</a:t>
                      </a:r>
                      <a:endParaRPr lang="en-US"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6 hundreds</a:t>
                      </a:r>
                      <a:endParaRPr lang="en-AU" sz="320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AU" sz="3200">
                          <a:latin typeface="+mn-lt"/>
                          <a:cs typeface="Arial"/>
                        </a:rPr>
                        <a:t>6 thousands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p:sp>
        <p:nvSpPr>
          <p:cNvPr id="34" name="Text Placeholder 6">
            <a:extLst>
              <a:ext uri="{FF2B5EF4-FFF2-40B4-BE49-F238E27FC236}">
                <a16:creationId xmlns:a16="http://schemas.microsoft.com/office/drawing/2014/main" id="{E28D3931-F7BD-E888-2EDF-A505366C9467}"/>
              </a:ext>
            </a:extLst>
          </p:cNvPr>
          <p:cNvSpPr txBox="1">
            <a:spLocks/>
          </p:cNvSpPr>
          <p:nvPr/>
        </p:nvSpPr>
        <p:spPr>
          <a:xfrm>
            <a:off x="470073" y="5853863"/>
            <a:ext cx="11243037" cy="8946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sp>
        <p:nvSpPr>
          <p:cNvPr id="35" name="Text Placeholder 6">
            <a:extLst>
              <a:ext uri="{FF2B5EF4-FFF2-40B4-BE49-F238E27FC236}">
                <a16:creationId xmlns:a16="http://schemas.microsoft.com/office/drawing/2014/main" id="{86D6EA07-BE10-9028-0407-61A6F8C5FCE3}"/>
              </a:ext>
            </a:extLst>
          </p:cNvPr>
          <p:cNvSpPr txBox="1">
            <a:spLocks/>
          </p:cNvSpPr>
          <p:nvPr/>
        </p:nvSpPr>
        <p:spPr>
          <a:xfrm>
            <a:off x="710999" y="1476310"/>
            <a:ext cx="4914348" cy="186415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latin typeface="Arial"/>
                <a:cs typeface="Arial"/>
              </a:rPr>
              <a:t>What is the value of the circled number?</a:t>
            </a:r>
            <a:endParaRPr lang="en-US" sz="4000"/>
          </a:p>
        </p:txBody>
      </p:sp>
      <p:grpSp>
        <p:nvGrpSpPr>
          <p:cNvPr id="37" name="Group 36" descr="Place value house showing 4 different numbers - 6, 60, 600, 6000.">
            <a:extLst>
              <a:ext uri="{FF2B5EF4-FFF2-40B4-BE49-F238E27FC236}">
                <a16:creationId xmlns:a16="http://schemas.microsoft.com/office/drawing/2014/main" id="{0161BA4F-2C45-422A-9A4C-8643127C2FED}"/>
              </a:ext>
            </a:extLst>
          </p:cNvPr>
          <p:cNvGrpSpPr/>
          <p:nvPr/>
        </p:nvGrpSpPr>
        <p:grpSpPr>
          <a:xfrm>
            <a:off x="6249147" y="1002416"/>
            <a:ext cx="5141654" cy="3346814"/>
            <a:chOff x="5982346" y="1000061"/>
            <a:chExt cx="5141654" cy="3346814"/>
          </a:xfrm>
        </p:grpSpPr>
        <p:pic>
          <p:nvPicPr>
            <p:cNvPr id="22" name="Picture 21">
              <a:extLst>
                <a:ext uri="{FF2B5EF4-FFF2-40B4-BE49-F238E27FC236}">
                  <a16:creationId xmlns:a16="http://schemas.microsoft.com/office/drawing/2014/main" id="{202640A6-C73C-B9EA-C23C-0744C34CE0A5}"/>
                </a:ext>
              </a:extLst>
            </p:cNvPr>
            <p:cNvPicPr>
              <a:picLocks noChangeAspect="1"/>
            </p:cNvPicPr>
            <p:nvPr/>
          </p:nvPicPr>
          <p:blipFill>
            <a:blip r:embed="rId4"/>
            <a:stretch>
              <a:fillRect/>
            </a:stretch>
          </p:blipFill>
          <p:spPr>
            <a:xfrm>
              <a:off x="5982346" y="1000061"/>
              <a:ext cx="5141654" cy="3346814"/>
            </a:xfrm>
            <a:prstGeom prst="rect">
              <a:avLst/>
            </a:prstGeom>
          </p:spPr>
        </p:pic>
        <p:sp>
          <p:nvSpPr>
            <p:cNvPr id="36" name="Oval 35">
              <a:extLst>
                <a:ext uri="{FF2B5EF4-FFF2-40B4-BE49-F238E27FC236}">
                  <a16:creationId xmlns:a16="http://schemas.microsoft.com/office/drawing/2014/main" id="{4720942E-FCAE-BDF0-5020-C8A46B525CBF}"/>
                </a:ext>
              </a:extLst>
            </p:cNvPr>
            <p:cNvSpPr/>
            <p:nvPr/>
          </p:nvSpPr>
          <p:spPr>
            <a:xfrm>
              <a:off x="8679051" y="3278160"/>
              <a:ext cx="557939" cy="557939"/>
            </a:xfrm>
            <a:prstGeom prst="ellipse">
              <a:avLst/>
            </a:prstGeom>
            <a:no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587296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rPr>
              <a:t>(25)</a:t>
            </a:r>
          </a:p>
        </p:txBody>
      </p:sp>
      <p:pic>
        <p:nvPicPr>
          <p:cNvPr id="4" name="Picture 3" descr="image of a clipboard with a pencil recording short answer responses">
            <a:extLst>
              <a:ext uri="{FF2B5EF4-FFF2-40B4-BE49-F238E27FC236}">
                <a16:creationId xmlns:a16="http://schemas.microsoft.com/office/drawing/2014/main" id="{0B2658E5-897D-F102-F9BC-10C464CD9E8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7" name="Picture 6" descr="A dot plot representing votes for pieces of playground equipment to be included in the park plan. A piece of masking tape lays horizontally at the top of the screen. Yellow rectangular sticky notes have been placed at equal points along the bottom of the masking tape line. Each sticky note has text with a piece of playground equipment recorded on it. Blue counters and red counters have been placed on top of the masking tape to create a dot plot. From left to right, they read: basketball court (4 blue counters and 4 red counters), skate/bike track, (7 blue counters and 4 red counters) twirly slide (0 blue counters and 1 red counter), rock climbing (2 blue counters and 8 red counters), round net swing (1 blue counters and 0 red counters), table tennis (1 blue counters and 2 red counters), flying fox (4 blue counters and 4 red counters), swinging bridge (0 counters), spider web tower (2 blue counters and 2 red counters) and ninja course (9 blue counters and 5 red counters).">
            <a:extLst>
              <a:ext uri="{FF2B5EF4-FFF2-40B4-BE49-F238E27FC236}">
                <a16:creationId xmlns:a16="http://schemas.microsoft.com/office/drawing/2014/main" id="{C17B5BC5-BD5D-D239-C1EA-04C4A0129F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309" y="996878"/>
            <a:ext cx="7403836" cy="5258611"/>
          </a:xfrm>
          <a:prstGeom prst="rect">
            <a:avLst/>
          </a:prstGeom>
        </p:spPr>
      </p:pic>
      <p:sp>
        <p:nvSpPr>
          <p:cNvPr id="8" name="TextBox 7">
            <a:extLst>
              <a:ext uri="{FF2B5EF4-FFF2-40B4-BE49-F238E27FC236}">
                <a16:creationId xmlns:a16="http://schemas.microsoft.com/office/drawing/2014/main" id="{6EFE8E8F-7625-FC91-F6E0-4121B7540282}"/>
              </a:ext>
            </a:extLst>
          </p:cNvPr>
          <p:cNvSpPr txBox="1"/>
          <p:nvPr/>
        </p:nvSpPr>
        <p:spPr>
          <a:xfrm>
            <a:off x="8174183" y="1496291"/>
            <a:ext cx="3771794" cy="4759198"/>
          </a:xfrm>
          <a:prstGeom prst="rect">
            <a:avLst/>
          </a:prstGeom>
          <a:noFill/>
          <a:ln>
            <a:solidFill>
              <a:schemeClr val="tx1"/>
            </a:solidFill>
          </a:ln>
        </p:spPr>
        <p:txBody>
          <a:bodyPr wrap="square" lIns="0" tIns="0" rIns="0" bIns="0" rtlCol="0">
            <a:noAutofit/>
          </a:bodyPr>
          <a:lstStyle/>
          <a:p>
            <a:pPr algn="l"/>
            <a:r>
              <a:rPr lang="en-AU" sz="2800"/>
              <a:t>Is the ninja course the most popular choice?</a:t>
            </a:r>
            <a:br>
              <a:rPr lang="en-AU" sz="2800"/>
            </a:br>
            <a:br>
              <a:rPr lang="en-AU" sz="2800"/>
            </a:br>
            <a:r>
              <a:rPr lang="en-AU" sz="2800"/>
              <a:t>What was the second most popular choice?</a:t>
            </a:r>
          </a:p>
          <a:p>
            <a:pPr algn="l"/>
            <a:endParaRPr lang="en-AU" sz="2800"/>
          </a:p>
          <a:p>
            <a:pPr algn="l"/>
            <a:r>
              <a:rPr lang="en-AU" sz="2800"/>
              <a:t>What was a choice that wasn’t the most popular but wasn’t the least popular? </a:t>
            </a:r>
          </a:p>
        </p:txBody>
      </p:sp>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rPr>
              <a:t>(26)</a:t>
            </a:r>
          </a:p>
        </p:txBody>
      </p:sp>
      <p:pic>
        <p:nvPicPr>
          <p:cNvPr id="4" name="Picture 3" descr="image of a clipboard with a pencil recording short answer responses">
            <a:extLst>
              <a:ext uri="{FF2B5EF4-FFF2-40B4-BE49-F238E27FC236}">
                <a16:creationId xmlns:a16="http://schemas.microsoft.com/office/drawing/2014/main" id="{03DE4DA9-4B9A-92DD-CA74-B2C1DDF4FB03}"/>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6" name="Group 8" descr="A prisim made from 2 layers of 12 centimetre cubes.">
            <a:extLst>
              <a:ext uri="{FF2B5EF4-FFF2-40B4-BE49-F238E27FC236}">
                <a16:creationId xmlns:a16="http://schemas.microsoft.com/office/drawing/2014/main" id="{2A83FC97-437D-6006-2962-B8508BE21185}"/>
              </a:ext>
            </a:extLst>
          </p:cNvPr>
          <p:cNvGrpSpPr/>
          <p:nvPr/>
        </p:nvGrpSpPr>
        <p:grpSpPr>
          <a:xfrm>
            <a:off x="1327972" y="2704566"/>
            <a:ext cx="3668588" cy="3316799"/>
            <a:chOff x="0" y="0"/>
            <a:chExt cx="6820471" cy="6166445"/>
          </a:xfrm>
        </p:grpSpPr>
        <p:sp>
          <p:nvSpPr>
            <p:cNvPr id="7" name="Freeform 9">
              <a:extLst>
                <a:ext uri="{FF2B5EF4-FFF2-40B4-BE49-F238E27FC236}">
                  <a16:creationId xmlns:a16="http://schemas.microsoft.com/office/drawing/2014/main" id="{C6485256-6971-6244-D3B9-933636F27955}"/>
                </a:ext>
              </a:extLst>
            </p:cNvPr>
            <p:cNvSpPr/>
            <p:nvPr/>
          </p:nvSpPr>
          <p:spPr>
            <a:xfrm>
              <a:off x="1950234" y="0"/>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10">
              <a:extLst>
                <a:ext uri="{FF2B5EF4-FFF2-40B4-BE49-F238E27FC236}">
                  <a16:creationId xmlns:a16="http://schemas.microsoft.com/office/drawing/2014/main" id="{3DE7E482-0609-AE31-020F-6627D1488E82}"/>
                </a:ext>
              </a:extLst>
            </p:cNvPr>
            <p:cNvSpPr/>
            <p:nvPr/>
          </p:nvSpPr>
          <p:spPr>
            <a:xfrm>
              <a:off x="2925351"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11">
              <a:extLst>
                <a:ext uri="{FF2B5EF4-FFF2-40B4-BE49-F238E27FC236}">
                  <a16:creationId xmlns:a16="http://schemas.microsoft.com/office/drawing/2014/main" id="{46B44249-A4A4-03B2-39BE-C0DB39BFA4DD}"/>
                </a:ext>
              </a:extLst>
            </p:cNvPr>
            <p:cNvSpPr/>
            <p:nvPr/>
          </p:nvSpPr>
          <p:spPr>
            <a:xfrm>
              <a:off x="975117" y="573867"/>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Freeform 12">
              <a:extLst>
                <a:ext uri="{FF2B5EF4-FFF2-40B4-BE49-F238E27FC236}">
                  <a16:creationId xmlns:a16="http://schemas.microsoft.com/office/drawing/2014/main" id="{D1BD0CE1-8CF3-7151-2C0E-C100E07261F9}"/>
                </a:ext>
              </a:extLst>
            </p:cNvPr>
            <p:cNvSpPr/>
            <p:nvPr/>
          </p:nvSpPr>
          <p:spPr>
            <a:xfrm>
              <a:off x="1950234" y="11319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2" name="Freeform 13">
              <a:extLst>
                <a:ext uri="{FF2B5EF4-FFF2-40B4-BE49-F238E27FC236}">
                  <a16:creationId xmlns:a16="http://schemas.microsoft.com/office/drawing/2014/main" id="{410E35C5-63F0-B329-13D1-FC5A4322A7B5}"/>
                </a:ext>
              </a:extLst>
            </p:cNvPr>
            <p:cNvSpPr/>
            <p:nvPr/>
          </p:nvSpPr>
          <p:spPr>
            <a:xfrm>
              <a:off x="2925351" y="169002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3" name="Freeform 14">
              <a:extLst>
                <a:ext uri="{FF2B5EF4-FFF2-40B4-BE49-F238E27FC236}">
                  <a16:creationId xmlns:a16="http://schemas.microsoft.com/office/drawing/2014/main" id="{B47A2B40-C7D1-DDC6-C483-CFCA3A3D2951}"/>
                </a:ext>
              </a:extLst>
            </p:cNvPr>
            <p:cNvSpPr/>
            <p:nvPr/>
          </p:nvSpPr>
          <p:spPr>
            <a:xfrm>
              <a:off x="1950234" y="0"/>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4" name="Freeform 15">
              <a:extLst>
                <a:ext uri="{FF2B5EF4-FFF2-40B4-BE49-F238E27FC236}">
                  <a16:creationId xmlns:a16="http://schemas.microsoft.com/office/drawing/2014/main" id="{414AC2CF-0BAB-7114-B97B-D80AE921EF0C}"/>
                </a:ext>
              </a:extLst>
            </p:cNvPr>
            <p:cNvSpPr/>
            <p:nvPr/>
          </p:nvSpPr>
          <p:spPr>
            <a:xfrm>
              <a:off x="2925351"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16">
              <a:extLst>
                <a:ext uri="{FF2B5EF4-FFF2-40B4-BE49-F238E27FC236}">
                  <a16:creationId xmlns:a16="http://schemas.microsoft.com/office/drawing/2014/main" id="{335899C2-13E0-A314-BBA2-39F6F74943F8}"/>
                </a:ext>
              </a:extLst>
            </p:cNvPr>
            <p:cNvSpPr/>
            <p:nvPr/>
          </p:nvSpPr>
          <p:spPr>
            <a:xfrm>
              <a:off x="0" y="11319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6" name="Freeform 17">
              <a:extLst>
                <a:ext uri="{FF2B5EF4-FFF2-40B4-BE49-F238E27FC236}">
                  <a16:creationId xmlns:a16="http://schemas.microsoft.com/office/drawing/2014/main" id="{3EF36D47-FA1A-9271-EB5B-C6766327849E}"/>
                </a:ext>
              </a:extLst>
            </p:cNvPr>
            <p:cNvSpPr/>
            <p:nvPr/>
          </p:nvSpPr>
          <p:spPr>
            <a:xfrm>
              <a:off x="975117" y="169002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7" name="Freeform 18">
              <a:extLst>
                <a:ext uri="{FF2B5EF4-FFF2-40B4-BE49-F238E27FC236}">
                  <a16:creationId xmlns:a16="http://schemas.microsoft.com/office/drawing/2014/main" id="{0CBEAAC4-8C44-B380-41EE-B75337A98EC9}"/>
                </a:ext>
              </a:extLst>
            </p:cNvPr>
            <p:cNvSpPr/>
            <p:nvPr/>
          </p:nvSpPr>
          <p:spPr>
            <a:xfrm>
              <a:off x="1950234" y="224810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8" name="Freeform 19">
              <a:extLst>
                <a:ext uri="{FF2B5EF4-FFF2-40B4-BE49-F238E27FC236}">
                  <a16:creationId xmlns:a16="http://schemas.microsoft.com/office/drawing/2014/main" id="{B667FBCD-DD58-967D-CD8A-A6085F860289}"/>
                </a:ext>
              </a:extLst>
            </p:cNvPr>
            <p:cNvSpPr/>
            <p:nvPr/>
          </p:nvSpPr>
          <p:spPr>
            <a:xfrm>
              <a:off x="975117"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Freeform 20">
              <a:extLst>
                <a:ext uri="{FF2B5EF4-FFF2-40B4-BE49-F238E27FC236}">
                  <a16:creationId xmlns:a16="http://schemas.microsoft.com/office/drawing/2014/main" id="{9AC45772-14C0-A5F4-E177-209BBB3CFC08}"/>
                </a:ext>
              </a:extLst>
            </p:cNvPr>
            <p:cNvSpPr/>
            <p:nvPr/>
          </p:nvSpPr>
          <p:spPr>
            <a:xfrm>
              <a:off x="1950234" y="111616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0" name="Freeform 21">
              <a:extLst>
                <a:ext uri="{FF2B5EF4-FFF2-40B4-BE49-F238E27FC236}">
                  <a16:creationId xmlns:a16="http://schemas.microsoft.com/office/drawing/2014/main" id="{FBA31E4F-421A-2186-F913-A4DFA9BE6A6E}"/>
                </a:ext>
              </a:extLst>
            </p:cNvPr>
            <p:cNvSpPr/>
            <p:nvPr/>
          </p:nvSpPr>
          <p:spPr>
            <a:xfrm>
              <a:off x="0" y="224810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1" name="Freeform 22">
              <a:extLst>
                <a:ext uri="{FF2B5EF4-FFF2-40B4-BE49-F238E27FC236}">
                  <a16:creationId xmlns:a16="http://schemas.microsoft.com/office/drawing/2014/main" id="{25AA16A8-B6A5-814F-BA90-AC5CA952000D}"/>
                </a:ext>
              </a:extLst>
            </p:cNvPr>
            <p:cNvSpPr/>
            <p:nvPr/>
          </p:nvSpPr>
          <p:spPr>
            <a:xfrm>
              <a:off x="975117" y="280618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2" name="Freeform 23">
              <a:extLst>
                <a:ext uri="{FF2B5EF4-FFF2-40B4-BE49-F238E27FC236}">
                  <a16:creationId xmlns:a16="http://schemas.microsoft.com/office/drawing/2014/main" id="{EBA58F4A-5D5C-93E0-8359-09F67ECDF3C6}"/>
                </a:ext>
              </a:extLst>
            </p:cNvPr>
            <p:cNvSpPr/>
            <p:nvPr/>
          </p:nvSpPr>
          <p:spPr>
            <a:xfrm>
              <a:off x="0" y="111616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3" name="Freeform 24">
              <a:extLst>
                <a:ext uri="{FF2B5EF4-FFF2-40B4-BE49-F238E27FC236}">
                  <a16:creationId xmlns:a16="http://schemas.microsoft.com/office/drawing/2014/main" id="{14424D0C-8783-77DB-918F-2E08EA498ADB}"/>
                </a:ext>
              </a:extLst>
            </p:cNvPr>
            <p:cNvSpPr/>
            <p:nvPr/>
          </p:nvSpPr>
          <p:spPr>
            <a:xfrm>
              <a:off x="975117" y="167424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4" name="Freeform 25">
              <a:extLst>
                <a:ext uri="{FF2B5EF4-FFF2-40B4-BE49-F238E27FC236}">
                  <a16:creationId xmlns:a16="http://schemas.microsoft.com/office/drawing/2014/main" id="{55526B5B-EB01-5882-9927-D1F309A658FB}"/>
                </a:ext>
              </a:extLst>
            </p:cNvPr>
            <p:cNvSpPr/>
            <p:nvPr/>
          </p:nvSpPr>
          <p:spPr>
            <a:xfrm>
              <a:off x="3895120" y="11121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5" name="Freeform 26">
              <a:extLst>
                <a:ext uri="{FF2B5EF4-FFF2-40B4-BE49-F238E27FC236}">
                  <a16:creationId xmlns:a16="http://schemas.microsoft.com/office/drawing/2014/main" id="{B27416DE-6C54-C548-9C9E-8DDC386B34EC}"/>
                </a:ext>
              </a:extLst>
            </p:cNvPr>
            <p:cNvSpPr/>
            <p:nvPr/>
          </p:nvSpPr>
          <p:spPr>
            <a:xfrm>
              <a:off x="4870237" y="167022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6" name="Freeform 27">
              <a:extLst>
                <a:ext uri="{FF2B5EF4-FFF2-40B4-BE49-F238E27FC236}">
                  <a16:creationId xmlns:a16="http://schemas.microsoft.com/office/drawing/2014/main" id="{EE7163C0-E0E7-9AFB-09C9-A09B34B30276}"/>
                </a:ext>
              </a:extLst>
            </p:cNvPr>
            <p:cNvSpPr/>
            <p:nvPr/>
          </p:nvSpPr>
          <p:spPr>
            <a:xfrm>
              <a:off x="2920003" y="1686015"/>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7" name="Freeform 28">
              <a:extLst>
                <a:ext uri="{FF2B5EF4-FFF2-40B4-BE49-F238E27FC236}">
                  <a16:creationId xmlns:a16="http://schemas.microsoft.com/office/drawing/2014/main" id="{D22BEBA6-8F67-595C-FDC8-8D5A199BF910}"/>
                </a:ext>
              </a:extLst>
            </p:cNvPr>
            <p:cNvSpPr/>
            <p:nvPr/>
          </p:nvSpPr>
          <p:spPr>
            <a:xfrm>
              <a:off x="3895120" y="224409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8" name="Freeform 29">
              <a:extLst>
                <a:ext uri="{FF2B5EF4-FFF2-40B4-BE49-F238E27FC236}">
                  <a16:creationId xmlns:a16="http://schemas.microsoft.com/office/drawing/2014/main" id="{92ED5001-F69F-43A1-B993-634E40E47050}"/>
                </a:ext>
              </a:extLst>
            </p:cNvPr>
            <p:cNvSpPr/>
            <p:nvPr/>
          </p:nvSpPr>
          <p:spPr>
            <a:xfrm>
              <a:off x="4870237" y="280217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9" name="Freeform 30">
              <a:extLst>
                <a:ext uri="{FF2B5EF4-FFF2-40B4-BE49-F238E27FC236}">
                  <a16:creationId xmlns:a16="http://schemas.microsoft.com/office/drawing/2014/main" id="{BA43E001-0495-E749-510E-2BDCA6A80081}"/>
                </a:ext>
              </a:extLst>
            </p:cNvPr>
            <p:cNvSpPr/>
            <p:nvPr/>
          </p:nvSpPr>
          <p:spPr>
            <a:xfrm>
              <a:off x="3895120" y="11121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0" name="Freeform 31">
              <a:extLst>
                <a:ext uri="{FF2B5EF4-FFF2-40B4-BE49-F238E27FC236}">
                  <a16:creationId xmlns:a16="http://schemas.microsoft.com/office/drawing/2014/main" id="{56C2DECD-7B03-DE12-842E-C249E8C7067F}"/>
                </a:ext>
              </a:extLst>
            </p:cNvPr>
            <p:cNvSpPr/>
            <p:nvPr/>
          </p:nvSpPr>
          <p:spPr>
            <a:xfrm>
              <a:off x="4870237" y="167022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1" name="Freeform 32">
              <a:extLst>
                <a:ext uri="{FF2B5EF4-FFF2-40B4-BE49-F238E27FC236}">
                  <a16:creationId xmlns:a16="http://schemas.microsoft.com/office/drawing/2014/main" id="{B88FCEEA-0683-CCFD-4DAC-7372248C25CA}"/>
                </a:ext>
              </a:extLst>
            </p:cNvPr>
            <p:cNvSpPr/>
            <p:nvPr/>
          </p:nvSpPr>
          <p:spPr>
            <a:xfrm>
              <a:off x="1944886" y="224409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2" name="Freeform 33">
              <a:extLst>
                <a:ext uri="{FF2B5EF4-FFF2-40B4-BE49-F238E27FC236}">
                  <a16:creationId xmlns:a16="http://schemas.microsoft.com/office/drawing/2014/main" id="{27DB8620-B7BD-5DDD-CB04-0BD879792A96}"/>
                </a:ext>
              </a:extLst>
            </p:cNvPr>
            <p:cNvSpPr/>
            <p:nvPr/>
          </p:nvSpPr>
          <p:spPr>
            <a:xfrm>
              <a:off x="2920003" y="280217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3" name="Freeform 34">
              <a:extLst>
                <a:ext uri="{FF2B5EF4-FFF2-40B4-BE49-F238E27FC236}">
                  <a16:creationId xmlns:a16="http://schemas.microsoft.com/office/drawing/2014/main" id="{99956E72-C845-B0E7-6A85-D7F39D268A2D}"/>
                </a:ext>
              </a:extLst>
            </p:cNvPr>
            <p:cNvSpPr/>
            <p:nvPr/>
          </p:nvSpPr>
          <p:spPr>
            <a:xfrm>
              <a:off x="3895120" y="3360256"/>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4" name="Freeform 35">
              <a:extLst>
                <a:ext uri="{FF2B5EF4-FFF2-40B4-BE49-F238E27FC236}">
                  <a16:creationId xmlns:a16="http://schemas.microsoft.com/office/drawing/2014/main" id="{95BA3493-A468-65AE-93E2-148C7FA64AC8}"/>
                </a:ext>
              </a:extLst>
            </p:cNvPr>
            <p:cNvSpPr/>
            <p:nvPr/>
          </p:nvSpPr>
          <p:spPr>
            <a:xfrm>
              <a:off x="2920003" y="167022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5" name="Freeform 36">
              <a:extLst>
                <a:ext uri="{FF2B5EF4-FFF2-40B4-BE49-F238E27FC236}">
                  <a16:creationId xmlns:a16="http://schemas.microsoft.com/office/drawing/2014/main" id="{1807BE91-8761-E596-24EE-248D399D98E5}"/>
                </a:ext>
              </a:extLst>
            </p:cNvPr>
            <p:cNvSpPr/>
            <p:nvPr/>
          </p:nvSpPr>
          <p:spPr>
            <a:xfrm>
              <a:off x="3895120" y="222830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6" name="Freeform 37">
              <a:extLst>
                <a:ext uri="{FF2B5EF4-FFF2-40B4-BE49-F238E27FC236}">
                  <a16:creationId xmlns:a16="http://schemas.microsoft.com/office/drawing/2014/main" id="{29D38BB5-FD8A-DA7B-3D3A-0050B7EA476B}"/>
                </a:ext>
              </a:extLst>
            </p:cNvPr>
            <p:cNvSpPr/>
            <p:nvPr/>
          </p:nvSpPr>
          <p:spPr>
            <a:xfrm>
              <a:off x="1944886" y="3360256"/>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7" name="Freeform 38">
              <a:extLst>
                <a:ext uri="{FF2B5EF4-FFF2-40B4-BE49-F238E27FC236}">
                  <a16:creationId xmlns:a16="http://schemas.microsoft.com/office/drawing/2014/main" id="{B2BE9494-1DF6-CB22-FDED-A7CE38ED219E}"/>
                </a:ext>
              </a:extLst>
            </p:cNvPr>
            <p:cNvSpPr/>
            <p:nvPr/>
          </p:nvSpPr>
          <p:spPr>
            <a:xfrm>
              <a:off x="2920003" y="3918337"/>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8" name="Freeform 39">
              <a:extLst>
                <a:ext uri="{FF2B5EF4-FFF2-40B4-BE49-F238E27FC236}">
                  <a16:creationId xmlns:a16="http://schemas.microsoft.com/office/drawing/2014/main" id="{047CB26A-D576-02BB-790E-D82809FB43ED}"/>
                </a:ext>
              </a:extLst>
            </p:cNvPr>
            <p:cNvSpPr/>
            <p:nvPr/>
          </p:nvSpPr>
          <p:spPr>
            <a:xfrm>
              <a:off x="1944887" y="2228309"/>
              <a:ext cx="1950234" cy="2248107"/>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9" name="Freeform 40">
              <a:extLst>
                <a:ext uri="{FF2B5EF4-FFF2-40B4-BE49-F238E27FC236}">
                  <a16:creationId xmlns:a16="http://schemas.microsoft.com/office/drawing/2014/main" id="{D368C58D-456F-67D5-13E8-1057FE4C9DA9}"/>
                </a:ext>
              </a:extLst>
            </p:cNvPr>
            <p:cNvSpPr/>
            <p:nvPr/>
          </p:nvSpPr>
          <p:spPr>
            <a:xfrm>
              <a:off x="2920003" y="278638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sp>
        <p:nvSpPr>
          <p:cNvPr id="41" name="Picture Placeholder 10">
            <a:extLst>
              <a:ext uri="{FF2B5EF4-FFF2-40B4-BE49-F238E27FC236}">
                <a16:creationId xmlns:a16="http://schemas.microsoft.com/office/drawing/2014/main" id="{73DCA266-7628-1644-FF2F-5BCDF96AC59C}"/>
              </a:ext>
            </a:extLst>
          </p:cNvPr>
          <p:cNvSpPr txBox="1">
            <a:spLocks/>
          </p:cNvSpPr>
          <p:nvPr/>
        </p:nvSpPr>
        <p:spPr>
          <a:xfrm>
            <a:off x="6964443" y="4362967"/>
            <a:ext cx="4866034" cy="68398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000">
                <a:latin typeface="Arial"/>
                <a:cs typeface="Arial"/>
              </a:rPr>
              <a:t>What is its </a:t>
            </a:r>
            <a:r>
              <a:rPr lang="en-US" sz="4000" b="1">
                <a:latin typeface="Arial"/>
                <a:cs typeface="Arial"/>
              </a:rPr>
              <a:t>volume?</a:t>
            </a:r>
            <a:endParaRPr lang="en-US" sz="4400"/>
          </a:p>
          <a:p>
            <a:pPr>
              <a:lnSpc>
                <a:spcPct val="100000"/>
              </a:lnSpc>
            </a:pPr>
            <a:endParaRPr lang="en-US">
              <a:latin typeface="Arial"/>
              <a:cs typeface="Arial"/>
            </a:endParaRPr>
          </a:p>
        </p:txBody>
      </p:sp>
      <p:sp>
        <p:nvSpPr>
          <p:cNvPr id="42" name="Picture Placeholder 10">
            <a:extLst>
              <a:ext uri="{FF2B5EF4-FFF2-40B4-BE49-F238E27FC236}">
                <a16:creationId xmlns:a16="http://schemas.microsoft.com/office/drawing/2014/main" id="{69A48114-7067-8F3D-F5DE-20A2374A2DC8}"/>
              </a:ext>
            </a:extLst>
          </p:cNvPr>
          <p:cNvSpPr txBox="1">
            <a:spLocks/>
          </p:cNvSpPr>
          <p:nvPr/>
        </p:nvSpPr>
        <p:spPr>
          <a:xfrm>
            <a:off x="7195440" y="5438719"/>
            <a:ext cx="4404041" cy="693858"/>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000">
                <a:latin typeface="Arial"/>
                <a:cs typeface="Arial"/>
              </a:rPr>
              <a:t>How do you know?</a:t>
            </a:r>
            <a:endParaRPr lang="en-US" sz="4400"/>
          </a:p>
          <a:p>
            <a:pPr algn="ctr">
              <a:lnSpc>
                <a:spcPct val="100000"/>
              </a:lnSpc>
            </a:pPr>
            <a:endParaRPr lang="en-US" sz="4400"/>
          </a:p>
          <a:p>
            <a:pPr>
              <a:lnSpc>
                <a:spcPct val="100000"/>
              </a:lnSpc>
            </a:pPr>
            <a:endParaRPr lang="en-US">
              <a:latin typeface="Arial"/>
              <a:cs typeface="Arial"/>
            </a:endParaRPr>
          </a:p>
        </p:txBody>
      </p:sp>
      <p:sp>
        <p:nvSpPr>
          <p:cNvPr id="43" name="Picture Placeholder 10">
            <a:extLst>
              <a:ext uri="{FF2B5EF4-FFF2-40B4-BE49-F238E27FC236}">
                <a16:creationId xmlns:a16="http://schemas.microsoft.com/office/drawing/2014/main" id="{2C421B3C-11D1-7361-1473-7CD47EB2D108}"/>
              </a:ext>
            </a:extLst>
          </p:cNvPr>
          <p:cNvSpPr txBox="1">
            <a:spLocks/>
          </p:cNvSpPr>
          <p:nvPr/>
        </p:nvSpPr>
        <p:spPr>
          <a:xfrm>
            <a:off x="6848945" y="2660458"/>
            <a:ext cx="5097031" cy="131074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000">
                <a:latin typeface="Arial"/>
                <a:cs typeface="Arial"/>
              </a:rPr>
              <a:t>How many </a:t>
            </a:r>
            <a:r>
              <a:rPr lang="en-US" sz="4000" b="1">
                <a:latin typeface="Arial"/>
                <a:cs typeface="Arial"/>
              </a:rPr>
              <a:t>layers </a:t>
            </a:r>
            <a:r>
              <a:rPr lang="en-US" sz="4000">
                <a:latin typeface="Arial"/>
                <a:cs typeface="Arial"/>
              </a:rPr>
              <a:t>does this </a:t>
            </a:r>
            <a:r>
              <a:rPr lang="en-US" sz="4000" b="1">
                <a:latin typeface="Arial"/>
                <a:cs typeface="Arial"/>
              </a:rPr>
              <a:t>prism </a:t>
            </a:r>
            <a:r>
              <a:rPr lang="en-US" sz="4000">
                <a:latin typeface="Arial"/>
                <a:cs typeface="Arial"/>
              </a:rPr>
              <a:t>have?</a:t>
            </a:r>
            <a:endParaRPr lang="en-US" sz="4400"/>
          </a:p>
          <a:p>
            <a:pPr>
              <a:lnSpc>
                <a:spcPct val="100000"/>
              </a:lnSpc>
            </a:pPr>
            <a:endParaRPr lang="en-US">
              <a:latin typeface="Arial"/>
              <a:cs typeface="Arial"/>
            </a:endParaRPr>
          </a:p>
        </p:txBody>
      </p:sp>
      <p:sp>
        <p:nvSpPr>
          <p:cNvPr id="46" name="Picture Placeholder 10">
            <a:extLst>
              <a:ext uri="{FF2B5EF4-FFF2-40B4-BE49-F238E27FC236}">
                <a16:creationId xmlns:a16="http://schemas.microsoft.com/office/drawing/2014/main" id="{354ECCBF-B9C1-E681-54D7-9540983F0E30}"/>
              </a:ext>
            </a:extLst>
          </p:cNvPr>
          <p:cNvSpPr txBox="1">
            <a:spLocks/>
          </p:cNvSpPr>
          <p:nvPr/>
        </p:nvSpPr>
        <p:spPr>
          <a:xfrm>
            <a:off x="474481" y="1230193"/>
            <a:ext cx="11243038" cy="119763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AU" sz="4000">
                <a:latin typeface="Arial"/>
                <a:cs typeface="Arial"/>
              </a:rPr>
              <a:t>This prism was made with </a:t>
            </a:r>
            <a:r>
              <a:rPr lang="en-AU" sz="4000" b="1">
                <a:latin typeface="Arial"/>
                <a:cs typeface="Arial"/>
              </a:rPr>
              <a:t>cubic centimetre </a:t>
            </a:r>
            <a:r>
              <a:rPr lang="en-AU" sz="4000">
                <a:latin typeface="Arial"/>
                <a:cs typeface="Arial"/>
              </a:rPr>
              <a:t>blocks.</a:t>
            </a:r>
            <a:endParaRPr lang="en-US">
              <a:latin typeface="Arial"/>
              <a:cs typeface="Arial"/>
            </a:endParaRPr>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62DC6-25E7-35C6-B727-376A8B0FA3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65C502-F91A-0941-B933-42694E420F05}"/>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41B54538-A027-1750-5F97-AB4383D909E0}"/>
              </a:ext>
            </a:extLst>
          </p:cNvPr>
          <p:cNvSpPr>
            <a:spLocks noGrp="1"/>
          </p:cNvSpPr>
          <p:nvPr>
            <p:ph type="title"/>
          </p:nvPr>
        </p:nvSpPr>
        <p:spPr/>
        <p:txBody>
          <a:bodyPr/>
          <a:lstStyle/>
          <a:p>
            <a:r>
              <a:rPr lang="en-US">
                <a:highlight>
                  <a:srgbClr val="FFFFFF"/>
                </a:highlight>
                <a:latin typeface="Arial"/>
                <a:cs typeface="Arial"/>
              </a:rPr>
              <a:t>Short response </a:t>
            </a:r>
            <a:r>
              <a:rPr lang="en-US">
                <a:solidFill>
                  <a:schemeClr val="bg1"/>
                </a:solidFill>
                <a:highlight>
                  <a:srgbClr val="FFFFFF"/>
                </a:highlight>
                <a:latin typeface="Arial"/>
                <a:cs typeface="Arial"/>
              </a:rPr>
              <a:t>(27)</a:t>
            </a:r>
            <a:endParaRPr lang="en-US">
              <a:solidFill>
                <a:schemeClr val="bg1"/>
              </a:solidFill>
              <a:highlight>
                <a:srgbClr val="FFFFFF"/>
              </a:highlight>
            </a:endParaRPr>
          </a:p>
        </p:txBody>
      </p:sp>
      <p:sp>
        <p:nvSpPr>
          <p:cNvPr id="6" name="Picture Placeholder 10">
            <a:extLst>
              <a:ext uri="{FF2B5EF4-FFF2-40B4-BE49-F238E27FC236}">
                <a16:creationId xmlns:a16="http://schemas.microsoft.com/office/drawing/2014/main" id="{5D42F7AF-0FC9-3ABF-51A3-6E5E367C466B}"/>
              </a:ext>
            </a:extLst>
          </p:cNvPr>
          <p:cNvSpPr txBox="1">
            <a:spLocks/>
          </p:cNvSpPr>
          <p:nvPr/>
        </p:nvSpPr>
        <p:spPr>
          <a:xfrm>
            <a:off x="360001" y="4001133"/>
            <a:ext cx="11243037" cy="136534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b="1">
                <a:latin typeface="Arial"/>
                <a:cs typeface="Arial"/>
              </a:rPr>
              <a:t>Record</a:t>
            </a:r>
            <a:r>
              <a:rPr lang="en-US" sz="4400">
                <a:latin typeface="Arial"/>
                <a:cs typeface="Arial"/>
              </a:rPr>
              <a:t> the </a:t>
            </a:r>
            <a:r>
              <a:rPr lang="en-US" sz="4400" b="1">
                <a:latin typeface="Arial"/>
                <a:cs typeface="Arial"/>
              </a:rPr>
              <a:t>fraction</a:t>
            </a:r>
            <a:r>
              <a:rPr lang="en-US" sz="4400">
                <a:latin typeface="Arial"/>
                <a:cs typeface="Arial"/>
              </a:rPr>
              <a:t> needed to make the </a:t>
            </a:r>
            <a:r>
              <a:rPr lang="en-US" sz="4400" b="1">
                <a:latin typeface="Arial"/>
                <a:cs typeface="Arial"/>
              </a:rPr>
              <a:t>whole</a:t>
            </a:r>
            <a:r>
              <a:rPr lang="en-US" sz="4400">
                <a:latin typeface="Arial"/>
                <a:cs typeface="Arial"/>
              </a:rPr>
              <a:t>. </a:t>
            </a:r>
          </a:p>
        </p:txBody>
      </p:sp>
      <p:sp>
        <p:nvSpPr>
          <p:cNvPr id="8" name="Picture Placeholder 10">
            <a:extLst>
              <a:ext uri="{FF2B5EF4-FFF2-40B4-BE49-F238E27FC236}">
                <a16:creationId xmlns:a16="http://schemas.microsoft.com/office/drawing/2014/main" id="{B47B57A8-B706-CF5A-5A85-89BB62B740EA}"/>
              </a:ext>
            </a:extLst>
          </p:cNvPr>
          <p:cNvSpPr txBox="1">
            <a:spLocks/>
          </p:cNvSpPr>
          <p:nvPr/>
        </p:nvSpPr>
        <p:spPr>
          <a:xfrm>
            <a:off x="971550" y="1647796"/>
            <a:ext cx="10152450" cy="1934734"/>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a:t>
            </a: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878768-C057-7840-C95F-99888E15088A}"/>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10" name="Group 9" descr="Number line between 0 and 1, marked into 4 sections, the first section is coloured and marked as a quarter.">
            <a:extLst>
              <a:ext uri="{FF2B5EF4-FFF2-40B4-BE49-F238E27FC236}">
                <a16:creationId xmlns:a16="http://schemas.microsoft.com/office/drawing/2014/main" id="{4958AC1C-8F99-CD58-0D01-A5A612262B71}"/>
              </a:ext>
            </a:extLst>
          </p:cNvPr>
          <p:cNvGrpSpPr/>
          <p:nvPr/>
        </p:nvGrpSpPr>
        <p:grpSpPr>
          <a:xfrm>
            <a:off x="1068000" y="1121439"/>
            <a:ext cx="9485120" cy="1934735"/>
            <a:chOff x="1068000" y="1121439"/>
            <a:chExt cx="9485120" cy="1934735"/>
          </a:xfrm>
        </p:grpSpPr>
        <p:sp>
          <p:nvSpPr>
            <p:cNvPr id="5" name="Rectangle 4">
              <a:extLst>
                <a:ext uri="{FF2B5EF4-FFF2-40B4-BE49-F238E27FC236}">
                  <a16:creationId xmlns:a16="http://schemas.microsoft.com/office/drawing/2014/main" id="{EA394428-1356-ACD9-C5F5-E650A3D0AF02}"/>
                </a:ext>
              </a:extLst>
            </p:cNvPr>
            <p:cNvSpPr/>
            <p:nvPr/>
          </p:nvSpPr>
          <p:spPr>
            <a:xfrm>
              <a:off x="1068000" y="1121439"/>
              <a:ext cx="9485120" cy="1934735"/>
            </a:xfrm>
            <a:prstGeom prst="rect">
              <a:avLst/>
            </a:prstGeom>
            <a:solidFill>
              <a:schemeClr val="bg1"/>
            </a:solidFill>
            <a:ln w="28575"/>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4B343788-3546-4DB7-5451-18517D84B092}"/>
                </a:ext>
              </a:extLst>
            </p:cNvPr>
            <p:cNvPicPr>
              <a:picLocks noChangeAspect="1"/>
            </p:cNvPicPr>
            <p:nvPr/>
          </p:nvPicPr>
          <p:blipFill>
            <a:blip r:embed="rId4"/>
            <a:stretch>
              <a:fillRect/>
            </a:stretch>
          </p:blipFill>
          <p:spPr>
            <a:xfrm>
              <a:off x="2191357" y="1229193"/>
              <a:ext cx="7238406" cy="1651348"/>
            </a:xfrm>
            <a:prstGeom prst="rect">
              <a:avLst/>
            </a:prstGeom>
          </p:spPr>
        </p:pic>
      </p:grpSp>
      <p:sp>
        <p:nvSpPr>
          <p:cNvPr id="12" name="Picture Placeholder 10">
            <a:extLst>
              <a:ext uri="{FF2B5EF4-FFF2-40B4-BE49-F238E27FC236}">
                <a16:creationId xmlns:a16="http://schemas.microsoft.com/office/drawing/2014/main" id="{3A9A14C6-9362-B7FA-5996-4A0E6155FE79}"/>
              </a:ext>
            </a:extLst>
          </p:cNvPr>
          <p:cNvSpPr txBox="1">
            <a:spLocks/>
          </p:cNvSpPr>
          <p:nvPr/>
        </p:nvSpPr>
        <p:spPr>
          <a:xfrm>
            <a:off x="474481" y="5873084"/>
            <a:ext cx="11243037" cy="78522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b="1">
                <a:latin typeface="Arial"/>
                <a:cs typeface="Arial"/>
              </a:rPr>
              <a:t>Communicate </a:t>
            </a:r>
            <a:r>
              <a:rPr lang="en-US" sz="4400">
                <a:latin typeface="Arial"/>
                <a:cs typeface="Arial"/>
              </a:rPr>
              <a:t>your</a:t>
            </a:r>
            <a:r>
              <a:rPr lang="en-US" sz="4400" b="1">
                <a:latin typeface="Arial"/>
                <a:cs typeface="Arial"/>
              </a:rPr>
              <a:t> reasoning</a:t>
            </a:r>
            <a:r>
              <a:rPr lang="en-US" sz="4400">
                <a:latin typeface="Arial"/>
                <a:cs typeface="Arial"/>
              </a:rPr>
              <a:t>.</a:t>
            </a:r>
          </a:p>
        </p:txBody>
      </p:sp>
    </p:spTree>
    <p:extLst>
      <p:ext uri="{BB962C8B-B14F-4D97-AF65-F5344CB8AC3E}">
        <p14:creationId xmlns:p14="http://schemas.microsoft.com/office/powerpoint/2010/main" val="352814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rPr>
              <a:t>(28)</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926552" y="2484744"/>
            <a:ext cx="10338896" cy="2730735"/>
          </a:xfrm>
        </p:spPr>
        <p:txBody>
          <a:bodyPr/>
          <a:lstStyle/>
          <a:p>
            <a:pPr algn="ctr"/>
            <a:r>
              <a:rPr lang="en-US" sz="4400">
                <a:latin typeface="Arial"/>
                <a:cs typeface="Arial"/>
              </a:rPr>
              <a:t>If the pencil is 63 mm long, how long is it in </a:t>
            </a:r>
            <a:r>
              <a:rPr lang="en-US" sz="4400" b="1">
                <a:latin typeface="Arial"/>
                <a:cs typeface="Arial"/>
              </a:rPr>
              <a:t>centimetres</a:t>
            </a:r>
            <a:r>
              <a:rPr lang="en-US" sz="4400">
                <a:latin typeface="Arial"/>
                <a:cs typeface="Arial"/>
              </a:rPr>
              <a:t> and </a:t>
            </a:r>
            <a:r>
              <a:rPr lang="en-US" sz="4400" b="1" err="1">
                <a:latin typeface="Arial"/>
                <a:cs typeface="Arial"/>
              </a:rPr>
              <a:t>millimetres</a:t>
            </a:r>
            <a:r>
              <a:rPr lang="en-US" sz="4400">
                <a:latin typeface="Arial"/>
                <a:cs typeface="Arial"/>
              </a:rPr>
              <a:t>?</a:t>
            </a:r>
            <a:endParaRPr lang="en-US" sz="4400"/>
          </a:p>
          <a:p>
            <a:pPr>
              <a:lnSpc>
                <a:spcPct val="100000"/>
              </a:lnSpc>
            </a:pPr>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4B75951C-A82E-F9E5-67E0-9214B5EB3E9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54</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latin typeface="Arial"/>
                <a:cs typeface="Arial"/>
              </a:rPr>
              <a:t>Activity 7 – truth detective</a:t>
            </a:r>
            <a:r>
              <a:rPr lang="en-AU">
                <a:solidFill>
                  <a:schemeClr val="bg1"/>
                </a:solidFill>
                <a:latin typeface="Arial"/>
                <a:cs typeface="Arial"/>
              </a:rPr>
              <a:t>(1)</a:t>
            </a:r>
          </a:p>
        </p:txBody>
      </p:sp>
      <p:pic>
        <p:nvPicPr>
          <p:cNvPr id="5" name="Picture 4" descr="image of a head with cogs turning inside">
            <a:extLst>
              <a:ext uri="{FF2B5EF4-FFF2-40B4-BE49-F238E27FC236}">
                <a16:creationId xmlns:a16="http://schemas.microsoft.com/office/drawing/2014/main" id="{C3FEAD58-BAD0-EE9D-1953-A11224A2C721}"/>
              </a:ext>
            </a:extLst>
          </p:cNvPr>
          <p:cNvPicPr>
            <a:picLocks noChangeAspect="1"/>
          </p:cNvPicPr>
          <p:nvPr/>
        </p:nvPicPr>
        <p:blipFill>
          <a:blip r:embed="rId3"/>
          <a:stretch>
            <a:fillRect/>
          </a:stretch>
        </p:blipFill>
        <p:spPr>
          <a:xfrm>
            <a:off x="11107003" y="240894"/>
            <a:ext cx="720000" cy="856364"/>
          </a:xfrm>
          <a:prstGeom prst="rect">
            <a:avLst/>
          </a:prstGeom>
        </p:spPr>
      </p:pic>
      <p:grpSp>
        <p:nvGrpSpPr>
          <p:cNvPr id="9" name="Group 8" descr="The heading banner contains an image of a male cartoon detective. To the right of the detective image is the heading, ‘Truth detective’. Underneath the heading banner, instruction text states: ‘Help Detective Solve-It identify the true statement. Be prepared to justify your choice.’ &#10;There are 3 choices, A, B and C as follows:&#10;A: ‘Alex has $285 in their bank account. Jesse has $2850 in his bank account. Jesse has 100 times as much money as Alex.’ &#10;B: ‘Kel made 165 friendship bracelets. Denise made 1650. Denise made 10 times more bracelets than Kel.’ &#10;C: ‘Warwick collected 152 trading cards. Paul collected 1520 trading cards. Paul has 1000 times the number of cards that Paul has.’ ">
            <a:extLst>
              <a:ext uri="{FF2B5EF4-FFF2-40B4-BE49-F238E27FC236}">
                <a16:creationId xmlns:a16="http://schemas.microsoft.com/office/drawing/2014/main" id="{55D416C8-DFB5-8E69-9367-9DA0F2D925ED}"/>
              </a:ext>
            </a:extLst>
          </p:cNvPr>
          <p:cNvGrpSpPr/>
          <p:nvPr/>
        </p:nvGrpSpPr>
        <p:grpSpPr>
          <a:xfrm>
            <a:off x="-1154243" y="-1214203"/>
            <a:ext cx="14240657" cy="7540053"/>
            <a:chOff x="-1114175" y="354135"/>
            <a:chExt cx="12565046" cy="6449865"/>
          </a:xfrm>
        </p:grpSpPr>
        <p:grpSp>
          <p:nvGrpSpPr>
            <p:cNvPr id="10" name="Group 2">
              <a:extLst>
                <a:ext uri="{FF2B5EF4-FFF2-40B4-BE49-F238E27FC236}">
                  <a16:creationId xmlns:a16="http://schemas.microsoft.com/office/drawing/2014/main" id="{54B26FEF-DD70-9854-E4AE-D850FC2E24E5}"/>
                </a:ext>
              </a:extLst>
            </p:cNvPr>
            <p:cNvGrpSpPr/>
            <p:nvPr/>
          </p:nvGrpSpPr>
          <p:grpSpPr>
            <a:xfrm>
              <a:off x="466592" y="3047309"/>
              <a:ext cx="3203473" cy="3756691"/>
              <a:chOff x="0" y="-28575"/>
              <a:chExt cx="965454" cy="1132181"/>
            </a:xfrm>
          </p:grpSpPr>
          <p:sp>
            <p:nvSpPr>
              <p:cNvPr id="37" name="Freeform 3">
                <a:extLst>
                  <a:ext uri="{FF2B5EF4-FFF2-40B4-BE49-F238E27FC236}">
                    <a16:creationId xmlns:a16="http://schemas.microsoft.com/office/drawing/2014/main" id="{648EB42C-2B32-20C2-2E97-A554C5B2E71A}"/>
                  </a:ext>
                </a:extLst>
              </p:cNvPr>
              <p:cNvSpPr/>
              <p:nvPr/>
            </p:nvSpPr>
            <p:spPr>
              <a:xfrm>
                <a:off x="0" y="0"/>
                <a:ext cx="965454" cy="1103606"/>
              </a:xfrm>
              <a:custGeom>
                <a:avLst/>
                <a:gdLst/>
                <a:ahLst/>
                <a:cxnLst/>
                <a:rect l="l" t="t" r="r" b="b"/>
                <a:pathLst>
                  <a:path w="965454" h="1103606">
                    <a:moveTo>
                      <a:pt x="0" y="0"/>
                    </a:moveTo>
                    <a:lnTo>
                      <a:pt x="965454" y="0"/>
                    </a:lnTo>
                    <a:lnTo>
                      <a:pt x="965454" y="1103606"/>
                    </a:lnTo>
                    <a:lnTo>
                      <a:pt x="0" y="1103606"/>
                    </a:lnTo>
                    <a:close/>
                  </a:path>
                </a:pathLst>
              </a:custGeom>
              <a:solidFill>
                <a:srgbClr val="000000">
                  <a:alpha val="0"/>
                </a:srgbClr>
              </a:solidFill>
              <a:ln w="28575" cap="sq">
                <a:solidFill>
                  <a:srgbClr val="000000"/>
                </a:solidFill>
                <a:prstDash val="solid"/>
                <a:miter/>
              </a:ln>
            </p:spPr>
            <p:txBody>
              <a:bodyPr/>
              <a:lstStyle/>
              <a:p>
                <a:endParaRPr lang="en-AU"/>
              </a:p>
            </p:txBody>
          </p:sp>
          <p:sp>
            <p:nvSpPr>
              <p:cNvPr id="38" name="TextBox 4">
                <a:extLst>
                  <a:ext uri="{FF2B5EF4-FFF2-40B4-BE49-F238E27FC236}">
                    <a16:creationId xmlns:a16="http://schemas.microsoft.com/office/drawing/2014/main" id="{3721AFF1-F5DF-76C9-FD69-C86BDAD953C7}"/>
                  </a:ext>
                </a:extLst>
              </p:cNvPr>
              <p:cNvSpPr txBox="1"/>
              <p:nvPr/>
            </p:nvSpPr>
            <p:spPr>
              <a:xfrm>
                <a:off x="0" y="-28575"/>
                <a:ext cx="965454" cy="1132181"/>
              </a:xfrm>
              <a:prstGeom prst="rect">
                <a:avLst/>
              </a:prstGeom>
            </p:spPr>
            <p:txBody>
              <a:bodyPr lIns="44255" tIns="44255" rIns="44255" bIns="44255" rtlCol="0" anchor="ctr"/>
              <a:lstStyle/>
              <a:p>
                <a:pPr algn="ctr">
                  <a:lnSpc>
                    <a:spcPts val="1959"/>
                  </a:lnSpc>
                </a:pPr>
                <a:endParaRPr/>
              </a:p>
            </p:txBody>
          </p:sp>
        </p:grpSp>
        <p:sp>
          <p:nvSpPr>
            <p:cNvPr id="11" name="Freeform 5">
              <a:extLst>
                <a:ext uri="{FF2B5EF4-FFF2-40B4-BE49-F238E27FC236}">
                  <a16:creationId xmlns:a16="http://schemas.microsoft.com/office/drawing/2014/main" id="{5E549ECE-F032-C688-6C9D-9B6BB1CAFE97}"/>
                </a:ext>
              </a:extLst>
            </p:cNvPr>
            <p:cNvSpPr/>
            <p:nvPr/>
          </p:nvSpPr>
          <p:spPr>
            <a:xfrm>
              <a:off x="1246455" y="5374490"/>
              <a:ext cx="1484190" cy="999919"/>
            </a:xfrm>
            <a:custGeom>
              <a:avLst/>
              <a:gdLst/>
              <a:ahLst/>
              <a:cxnLst/>
              <a:rect l="l" t="t" r="r" b="b"/>
              <a:pathLst>
                <a:path w="1534427" h="1077935">
                  <a:moveTo>
                    <a:pt x="0" y="0"/>
                  </a:moveTo>
                  <a:lnTo>
                    <a:pt x="1534427" y="0"/>
                  </a:lnTo>
                  <a:lnTo>
                    <a:pt x="1534427" y="1077935"/>
                  </a:lnTo>
                  <a:lnTo>
                    <a:pt x="0" y="1077935"/>
                  </a:lnTo>
                  <a:lnTo>
                    <a:pt x="0" y="0"/>
                  </a:lnTo>
                  <a:close/>
                </a:path>
              </a:pathLst>
            </a:custGeom>
            <a:blipFill>
              <a:blip r:embed="rId4"/>
              <a:stretch>
                <a:fillRect/>
              </a:stretch>
            </a:blipFill>
          </p:spPr>
          <p:txBody>
            <a:bodyPr/>
            <a:lstStyle/>
            <a:p>
              <a:endParaRPr lang="en-AU"/>
            </a:p>
          </p:txBody>
        </p:sp>
        <p:grpSp>
          <p:nvGrpSpPr>
            <p:cNvPr id="12" name="Group 11">
              <a:extLst>
                <a:ext uri="{FF2B5EF4-FFF2-40B4-BE49-F238E27FC236}">
                  <a16:creationId xmlns:a16="http://schemas.microsoft.com/office/drawing/2014/main" id="{ACBE9C6D-0186-D12A-6D2F-E71ED0ECF319}"/>
                </a:ext>
              </a:extLst>
            </p:cNvPr>
            <p:cNvGrpSpPr/>
            <p:nvPr/>
          </p:nvGrpSpPr>
          <p:grpSpPr>
            <a:xfrm>
              <a:off x="6786018" y="3047309"/>
              <a:ext cx="3149982" cy="3748455"/>
              <a:chOff x="0" y="-28575"/>
              <a:chExt cx="949333" cy="1129699"/>
            </a:xfrm>
          </p:grpSpPr>
          <p:sp>
            <p:nvSpPr>
              <p:cNvPr id="35" name="Freeform 7">
                <a:extLst>
                  <a:ext uri="{FF2B5EF4-FFF2-40B4-BE49-F238E27FC236}">
                    <a16:creationId xmlns:a16="http://schemas.microsoft.com/office/drawing/2014/main" id="{BC1F4B38-3914-6576-06BA-05A999756AEC}"/>
                  </a:ext>
                </a:extLst>
              </p:cNvPr>
              <p:cNvSpPr/>
              <p:nvPr/>
            </p:nvSpPr>
            <p:spPr>
              <a:xfrm>
                <a:off x="0" y="0"/>
                <a:ext cx="949333" cy="1101124"/>
              </a:xfrm>
              <a:custGeom>
                <a:avLst/>
                <a:gdLst/>
                <a:ahLst/>
                <a:cxnLst/>
                <a:rect l="l" t="t" r="r" b="b"/>
                <a:pathLst>
                  <a:path w="949333" h="1101124">
                    <a:moveTo>
                      <a:pt x="0" y="0"/>
                    </a:moveTo>
                    <a:lnTo>
                      <a:pt x="949333" y="0"/>
                    </a:lnTo>
                    <a:lnTo>
                      <a:pt x="949333" y="1101124"/>
                    </a:lnTo>
                    <a:lnTo>
                      <a:pt x="0" y="1101124"/>
                    </a:lnTo>
                    <a:close/>
                  </a:path>
                </a:pathLst>
              </a:custGeom>
              <a:solidFill>
                <a:srgbClr val="000000">
                  <a:alpha val="0"/>
                </a:srgbClr>
              </a:solidFill>
              <a:ln w="28575" cap="sq">
                <a:solidFill>
                  <a:srgbClr val="000000"/>
                </a:solidFill>
                <a:prstDash val="solid"/>
                <a:miter/>
              </a:ln>
            </p:spPr>
            <p:txBody>
              <a:bodyPr/>
              <a:lstStyle/>
              <a:p>
                <a:endParaRPr lang="en-AU"/>
              </a:p>
            </p:txBody>
          </p:sp>
          <p:sp>
            <p:nvSpPr>
              <p:cNvPr id="36" name="TextBox 8">
                <a:extLst>
                  <a:ext uri="{FF2B5EF4-FFF2-40B4-BE49-F238E27FC236}">
                    <a16:creationId xmlns:a16="http://schemas.microsoft.com/office/drawing/2014/main" id="{F09B35F6-9720-AB41-BC9F-729738B0B436}"/>
                  </a:ext>
                </a:extLst>
              </p:cNvPr>
              <p:cNvSpPr txBox="1"/>
              <p:nvPr/>
            </p:nvSpPr>
            <p:spPr>
              <a:xfrm>
                <a:off x="0" y="-28575"/>
                <a:ext cx="949333" cy="1129699"/>
              </a:xfrm>
              <a:prstGeom prst="rect">
                <a:avLst/>
              </a:prstGeom>
            </p:spPr>
            <p:txBody>
              <a:bodyPr lIns="44255" tIns="44255" rIns="44255" bIns="44255" rtlCol="0" anchor="ctr"/>
              <a:lstStyle/>
              <a:p>
                <a:pPr algn="ctr">
                  <a:lnSpc>
                    <a:spcPts val="1959"/>
                  </a:lnSpc>
                </a:pPr>
                <a:endParaRPr/>
              </a:p>
            </p:txBody>
          </p:sp>
        </p:grpSp>
        <p:sp>
          <p:nvSpPr>
            <p:cNvPr id="13" name="Freeform 9">
              <a:extLst>
                <a:ext uri="{FF2B5EF4-FFF2-40B4-BE49-F238E27FC236}">
                  <a16:creationId xmlns:a16="http://schemas.microsoft.com/office/drawing/2014/main" id="{A6FD5FEA-CECC-6EDE-7D69-3F5F02289926}"/>
                </a:ext>
              </a:extLst>
            </p:cNvPr>
            <p:cNvSpPr/>
            <p:nvPr/>
          </p:nvSpPr>
          <p:spPr>
            <a:xfrm>
              <a:off x="7944231" y="5847139"/>
              <a:ext cx="772457" cy="880097"/>
            </a:xfrm>
            <a:custGeom>
              <a:avLst/>
              <a:gdLst/>
              <a:ahLst/>
              <a:cxnLst/>
              <a:rect l="l" t="t" r="r" b="b"/>
              <a:pathLst>
                <a:path w="1005726" h="1057268">
                  <a:moveTo>
                    <a:pt x="0" y="0"/>
                  </a:moveTo>
                  <a:lnTo>
                    <a:pt x="1005726" y="0"/>
                  </a:lnTo>
                  <a:lnTo>
                    <a:pt x="1005726" y="1057268"/>
                  </a:lnTo>
                  <a:lnTo>
                    <a:pt x="0" y="105726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grpSp>
          <p:nvGrpSpPr>
            <p:cNvPr id="14" name="Group 10">
              <a:extLst>
                <a:ext uri="{FF2B5EF4-FFF2-40B4-BE49-F238E27FC236}">
                  <a16:creationId xmlns:a16="http://schemas.microsoft.com/office/drawing/2014/main" id="{E2BCC654-E882-1485-76C5-31CBCB096115}"/>
                </a:ext>
              </a:extLst>
            </p:cNvPr>
            <p:cNvGrpSpPr/>
            <p:nvPr/>
          </p:nvGrpSpPr>
          <p:grpSpPr>
            <a:xfrm>
              <a:off x="3651806" y="3047309"/>
              <a:ext cx="3182665" cy="3756691"/>
              <a:chOff x="0" y="-28575"/>
              <a:chExt cx="959183" cy="1132181"/>
            </a:xfrm>
          </p:grpSpPr>
          <p:sp>
            <p:nvSpPr>
              <p:cNvPr id="33" name="Freeform 11">
                <a:extLst>
                  <a:ext uri="{FF2B5EF4-FFF2-40B4-BE49-F238E27FC236}">
                    <a16:creationId xmlns:a16="http://schemas.microsoft.com/office/drawing/2014/main" id="{6B94DD8E-25F3-B96C-6D0B-7A95F659A1E1}"/>
                  </a:ext>
                </a:extLst>
              </p:cNvPr>
              <p:cNvSpPr/>
              <p:nvPr/>
            </p:nvSpPr>
            <p:spPr>
              <a:xfrm>
                <a:off x="9850" y="2482"/>
                <a:ext cx="949333" cy="1101124"/>
              </a:xfrm>
              <a:custGeom>
                <a:avLst/>
                <a:gdLst/>
                <a:ahLst/>
                <a:cxnLst/>
                <a:rect l="l" t="t" r="r" b="b"/>
                <a:pathLst>
                  <a:path w="949333" h="1101124">
                    <a:moveTo>
                      <a:pt x="0" y="0"/>
                    </a:moveTo>
                    <a:lnTo>
                      <a:pt x="949333" y="0"/>
                    </a:lnTo>
                    <a:lnTo>
                      <a:pt x="949333" y="1101124"/>
                    </a:lnTo>
                    <a:lnTo>
                      <a:pt x="0" y="1101124"/>
                    </a:lnTo>
                    <a:close/>
                  </a:path>
                </a:pathLst>
              </a:custGeom>
              <a:solidFill>
                <a:srgbClr val="000000">
                  <a:alpha val="0"/>
                </a:srgbClr>
              </a:solidFill>
              <a:ln w="28575" cap="sq">
                <a:solidFill>
                  <a:srgbClr val="000000"/>
                </a:solidFill>
                <a:prstDash val="solid"/>
                <a:miter/>
              </a:ln>
            </p:spPr>
            <p:txBody>
              <a:bodyPr/>
              <a:lstStyle/>
              <a:p>
                <a:endParaRPr lang="en-AU"/>
              </a:p>
            </p:txBody>
          </p:sp>
          <p:sp>
            <p:nvSpPr>
              <p:cNvPr id="34" name="TextBox 12">
                <a:extLst>
                  <a:ext uri="{FF2B5EF4-FFF2-40B4-BE49-F238E27FC236}">
                    <a16:creationId xmlns:a16="http://schemas.microsoft.com/office/drawing/2014/main" id="{A77E144F-9E2D-2C63-2181-65338A529A06}"/>
                  </a:ext>
                </a:extLst>
              </p:cNvPr>
              <p:cNvSpPr txBox="1"/>
              <p:nvPr/>
            </p:nvSpPr>
            <p:spPr>
              <a:xfrm>
                <a:off x="0" y="-28575"/>
                <a:ext cx="949333" cy="1129699"/>
              </a:xfrm>
              <a:prstGeom prst="rect">
                <a:avLst/>
              </a:prstGeom>
            </p:spPr>
            <p:txBody>
              <a:bodyPr lIns="44255" tIns="44255" rIns="44255" bIns="44255" rtlCol="0" anchor="ctr"/>
              <a:lstStyle/>
              <a:p>
                <a:pPr algn="ctr">
                  <a:lnSpc>
                    <a:spcPts val="1959"/>
                  </a:lnSpc>
                </a:pPr>
                <a:endParaRPr/>
              </a:p>
            </p:txBody>
          </p:sp>
        </p:grpSp>
        <p:sp>
          <p:nvSpPr>
            <p:cNvPr id="15" name="Freeform 13">
              <a:extLst>
                <a:ext uri="{FF2B5EF4-FFF2-40B4-BE49-F238E27FC236}">
                  <a16:creationId xmlns:a16="http://schemas.microsoft.com/office/drawing/2014/main" id="{B621817C-FA36-C751-5749-AB2413377CE2}"/>
                </a:ext>
              </a:extLst>
            </p:cNvPr>
            <p:cNvSpPr/>
            <p:nvPr/>
          </p:nvSpPr>
          <p:spPr>
            <a:xfrm>
              <a:off x="4660438" y="5228486"/>
              <a:ext cx="1015820" cy="1151791"/>
            </a:xfrm>
            <a:custGeom>
              <a:avLst/>
              <a:gdLst/>
              <a:ahLst/>
              <a:cxnLst/>
              <a:rect l="l" t="t" r="r" b="b"/>
              <a:pathLst>
                <a:path w="1099111" h="1380162">
                  <a:moveTo>
                    <a:pt x="0" y="0"/>
                  </a:moveTo>
                  <a:lnTo>
                    <a:pt x="1099111" y="0"/>
                  </a:lnTo>
                  <a:lnTo>
                    <a:pt x="1099111" y="1380162"/>
                  </a:lnTo>
                  <a:lnTo>
                    <a:pt x="0" y="138016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6" name="TextBox 14">
              <a:extLst>
                <a:ext uri="{FF2B5EF4-FFF2-40B4-BE49-F238E27FC236}">
                  <a16:creationId xmlns:a16="http://schemas.microsoft.com/office/drawing/2014/main" id="{FE4F5497-3E18-6AFD-C87F-58AEE2E1A397}"/>
                </a:ext>
              </a:extLst>
            </p:cNvPr>
            <p:cNvSpPr txBox="1"/>
            <p:nvPr/>
          </p:nvSpPr>
          <p:spPr>
            <a:xfrm>
              <a:off x="1260453" y="2602784"/>
              <a:ext cx="1708430" cy="703110"/>
            </a:xfrm>
            <a:prstGeom prst="rect">
              <a:avLst/>
            </a:prstGeom>
          </p:spPr>
          <p:txBody>
            <a:bodyPr lIns="0" tIns="0" rIns="0" bIns="0" rtlCol="0" anchor="t">
              <a:spAutoFit/>
            </a:bodyPr>
            <a:lstStyle/>
            <a:p>
              <a:pPr algn="ctr">
                <a:lnSpc>
                  <a:spcPts val="4472"/>
                </a:lnSpc>
                <a:spcBef>
                  <a:spcPct val="0"/>
                </a:spcBef>
              </a:pPr>
              <a:r>
                <a:rPr lang="en-US" sz="4969">
                  <a:solidFill>
                    <a:srgbClr val="000000"/>
                  </a:solidFill>
                  <a:latin typeface="Arial" panose="020B0604020202020204" pitchFamily="34" charset="0"/>
                  <a:ea typeface="Organic"/>
                  <a:cs typeface="Arial" panose="020B0604020202020204" pitchFamily="34" charset="0"/>
                  <a:sym typeface="Organic"/>
                </a:rPr>
                <a:t>A</a:t>
              </a:r>
            </a:p>
          </p:txBody>
        </p:sp>
        <p:sp>
          <p:nvSpPr>
            <p:cNvPr id="17" name="TextBox 15">
              <a:extLst>
                <a:ext uri="{FF2B5EF4-FFF2-40B4-BE49-F238E27FC236}">
                  <a16:creationId xmlns:a16="http://schemas.microsoft.com/office/drawing/2014/main" id="{C3F48CA8-FBCD-8216-2BC8-8BCE6F73C38C}"/>
                </a:ext>
              </a:extLst>
            </p:cNvPr>
            <p:cNvSpPr txBox="1"/>
            <p:nvPr/>
          </p:nvSpPr>
          <p:spPr>
            <a:xfrm>
              <a:off x="4373827" y="2602784"/>
              <a:ext cx="1708430" cy="703110"/>
            </a:xfrm>
            <a:prstGeom prst="rect">
              <a:avLst/>
            </a:prstGeom>
          </p:spPr>
          <p:txBody>
            <a:bodyPr lIns="0" tIns="0" rIns="0" bIns="0" rtlCol="0" anchor="t">
              <a:spAutoFit/>
            </a:bodyPr>
            <a:lstStyle/>
            <a:p>
              <a:pPr algn="ctr">
                <a:lnSpc>
                  <a:spcPts val="4472"/>
                </a:lnSpc>
                <a:spcBef>
                  <a:spcPct val="0"/>
                </a:spcBef>
              </a:pPr>
              <a:r>
                <a:rPr lang="en-US" sz="4969">
                  <a:solidFill>
                    <a:srgbClr val="000000"/>
                  </a:solidFill>
                  <a:latin typeface="Arial" panose="020B0604020202020204" pitchFamily="34" charset="0"/>
                  <a:ea typeface="Organic"/>
                  <a:cs typeface="Arial" panose="020B0604020202020204" pitchFamily="34" charset="0"/>
                  <a:sym typeface="Organic"/>
                </a:rPr>
                <a:t>B</a:t>
              </a:r>
            </a:p>
          </p:txBody>
        </p:sp>
        <p:sp>
          <p:nvSpPr>
            <p:cNvPr id="18" name="TextBox 16">
              <a:extLst>
                <a:ext uri="{FF2B5EF4-FFF2-40B4-BE49-F238E27FC236}">
                  <a16:creationId xmlns:a16="http://schemas.microsoft.com/office/drawing/2014/main" id="{021766A7-0F3B-8766-9ACF-C22A4A5F32FD}"/>
                </a:ext>
              </a:extLst>
            </p:cNvPr>
            <p:cNvSpPr txBox="1"/>
            <p:nvPr/>
          </p:nvSpPr>
          <p:spPr>
            <a:xfrm>
              <a:off x="7543392" y="2602784"/>
              <a:ext cx="1708430" cy="703110"/>
            </a:xfrm>
            <a:prstGeom prst="rect">
              <a:avLst/>
            </a:prstGeom>
          </p:spPr>
          <p:txBody>
            <a:bodyPr lIns="0" tIns="0" rIns="0" bIns="0" rtlCol="0" anchor="t">
              <a:spAutoFit/>
            </a:bodyPr>
            <a:lstStyle/>
            <a:p>
              <a:pPr algn="ctr">
                <a:lnSpc>
                  <a:spcPts val="4472"/>
                </a:lnSpc>
                <a:spcBef>
                  <a:spcPct val="0"/>
                </a:spcBef>
              </a:pPr>
              <a:r>
                <a:rPr lang="en-US" sz="4969">
                  <a:solidFill>
                    <a:srgbClr val="000000"/>
                  </a:solidFill>
                  <a:latin typeface="Arial" panose="020B0604020202020204" pitchFamily="34" charset="0"/>
                  <a:ea typeface="Organic"/>
                  <a:cs typeface="Arial" panose="020B0604020202020204" pitchFamily="34" charset="0"/>
                  <a:sym typeface="Organic"/>
                </a:rPr>
                <a:t>C</a:t>
              </a:r>
            </a:p>
          </p:txBody>
        </p:sp>
        <p:grpSp>
          <p:nvGrpSpPr>
            <p:cNvPr id="19" name="Group 17">
              <a:extLst>
                <a:ext uri="{FF2B5EF4-FFF2-40B4-BE49-F238E27FC236}">
                  <a16:creationId xmlns:a16="http://schemas.microsoft.com/office/drawing/2014/main" id="{1DB81EB4-C78A-FE09-97B1-FC7216E7F48E}"/>
                </a:ext>
              </a:extLst>
            </p:cNvPr>
            <p:cNvGrpSpPr/>
            <p:nvPr/>
          </p:nvGrpSpPr>
          <p:grpSpPr>
            <a:xfrm>
              <a:off x="466592" y="2258836"/>
              <a:ext cx="9469408" cy="918407"/>
              <a:chOff x="0" y="-28575"/>
              <a:chExt cx="2853865" cy="276787"/>
            </a:xfrm>
          </p:grpSpPr>
          <p:sp>
            <p:nvSpPr>
              <p:cNvPr id="31" name="Freeform 18">
                <a:extLst>
                  <a:ext uri="{FF2B5EF4-FFF2-40B4-BE49-F238E27FC236}">
                    <a16:creationId xmlns:a16="http://schemas.microsoft.com/office/drawing/2014/main" id="{0EF40157-75DD-C520-6C3D-28FE38D79786}"/>
                  </a:ext>
                </a:extLst>
              </p:cNvPr>
              <p:cNvSpPr/>
              <p:nvPr/>
            </p:nvSpPr>
            <p:spPr>
              <a:xfrm>
                <a:off x="0" y="0"/>
                <a:ext cx="2853865" cy="248212"/>
              </a:xfrm>
              <a:custGeom>
                <a:avLst/>
                <a:gdLst/>
                <a:ahLst/>
                <a:cxnLst/>
                <a:rect l="l" t="t" r="r" b="b"/>
                <a:pathLst>
                  <a:path w="2853865" h="248212">
                    <a:moveTo>
                      <a:pt x="0" y="0"/>
                    </a:moveTo>
                    <a:lnTo>
                      <a:pt x="2853865" y="0"/>
                    </a:lnTo>
                    <a:lnTo>
                      <a:pt x="2853865" y="248212"/>
                    </a:lnTo>
                    <a:lnTo>
                      <a:pt x="0" y="248212"/>
                    </a:lnTo>
                    <a:close/>
                  </a:path>
                </a:pathLst>
              </a:custGeom>
              <a:solidFill>
                <a:srgbClr val="000000">
                  <a:alpha val="0"/>
                </a:srgbClr>
              </a:solidFill>
              <a:ln w="28575" cap="sq">
                <a:solidFill>
                  <a:srgbClr val="000000"/>
                </a:solidFill>
                <a:prstDash val="solid"/>
                <a:miter/>
              </a:ln>
            </p:spPr>
            <p:txBody>
              <a:bodyPr/>
              <a:lstStyle/>
              <a:p>
                <a:endParaRPr lang="en-AU"/>
              </a:p>
            </p:txBody>
          </p:sp>
          <p:sp>
            <p:nvSpPr>
              <p:cNvPr id="32" name="TextBox 19">
                <a:extLst>
                  <a:ext uri="{FF2B5EF4-FFF2-40B4-BE49-F238E27FC236}">
                    <a16:creationId xmlns:a16="http://schemas.microsoft.com/office/drawing/2014/main" id="{EE7F0355-10FE-C4B4-A43A-E4CDF27E76D4}"/>
                  </a:ext>
                </a:extLst>
              </p:cNvPr>
              <p:cNvSpPr txBox="1"/>
              <p:nvPr/>
            </p:nvSpPr>
            <p:spPr>
              <a:xfrm>
                <a:off x="0" y="-28575"/>
                <a:ext cx="2853865" cy="276787"/>
              </a:xfrm>
              <a:prstGeom prst="rect">
                <a:avLst/>
              </a:prstGeom>
            </p:spPr>
            <p:txBody>
              <a:bodyPr lIns="44255" tIns="44255" rIns="44255" bIns="44255" rtlCol="0" anchor="ctr"/>
              <a:lstStyle/>
              <a:p>
                <a:pPr algn="ctr">
                  <a:lnSpc>
                    <a:spcPts val="1959"/>
                  </a:lnSpc>
                </a:pPr>
                <a:endParaRPr/>
              </a:p>
            </p:txBody>
          </p:sp>
        </p:grpSp>
        <p:grpSp>
          <p:nvGrpSpPr>
            <p:cNvPr id="20" name="Group 20">
              <a:extLst>
                <a:ext uri="{FF2B5EF4-FFF2-40B4-BE49-F238E27FC236}">
                  <a16:creationId xmlns:a16="http://schemas.microsoft.com/office/drawing/2014/main" id="{5FD1347E-EFF6-A761-A294-993E34CA77F0}"/>
                </a:ext>
              </a:extLst>
            </p:cNvPr>
            <p:cNvGrpSpPr/>
            <p:nvPr/>
          </p:nvGrpSpPr>
          <p:grpSpPr>
            <a:xfrm>
              <a:off x="3651806" y="2258836"/>
              <a:ext cx="3149982" cy="918407"/>
              <a:chOff x="0" y="-28575"/>
              <a:chExt cx="949333" cy="276787"/>
            </a:xfrm>
          </p:grpSpPr>
          <p:sp>
            <p:nvSpPr>
              <p:cNvPr id="29" name="Freeform 21">
                <a:extLst>
                  <a:ext uri="{FF2B5EF4-FFF2-40B4-BE49-F238E27FC236}">
                    <a16:creationId xmlns:a16="http://schemas.microsoft.com/office/drawing/2014/main" id="{0431A0CF-93A7-F7D1-402B-E0DA0F53C7BA}"/>
                  </a:ext>
                </a:extLst>
              </p:cNvPr>
              <p:cNvSpPr/>
              <p:nvPr/>
            </p:nvSpPr>
            <p:spPr>
              <a:xfrm>
                <a:off x="0" y="0"/>
                <a:ext cx="949333" cy="248212"/>
              </a:xfrm>
              <a:custGeom>
                <a:avLst/>
                <a:gdLst/>
                <a:ahLst/>
                <a:cxnLst/>
                <a:rect l="l" t="t" r="r" b="b"/>
                <a:pathLst>
                  <a:path w="949333" h="248212">
                    <a:moveTo>
                      <a:pt x="0" y="0"/>
                    </a:moveTo>
                    <a:lnTo>
                      <a:pt x="949333" y="0"/>
                    </a:lnTo>
                    <a:lnTo>
                      <a:pt x="949333" y="248212"/>
                    </a:lnTo>
                    <a:lnTo>
                      <a:pt x="0" y="248212"/>
                    </a:lnTo>
                    <a:close/>
                  </a:path>
                </a:pathLst>
              </a:custGeom>
              <a:solidFill>
                <a:srgbClr val="000000">
                  <a:alpha val="0"/>
                </a:srgbClr>
              </a:solidFill>
              <a:ln w="28575" cap="sq">
                <a:solidFill>
                  <a:srgbClr val="000000"/>
                </a:solidFill>
                <a:prstDash val="solid"/>
                <a:miter/>
              </a:ln>
            </p:spPr>
            <p:txBody>
              <a:bodyPr/>
              <a:lstStyle/>
              <a:p>
                <a:endParaRPr lang="en-AU"/>
              </a:p>
            </p:txBody>
          </p:sp>
          <p:sp>
            <p:nvSpPr>
              <p:cNvPr id="30" name="TextBox 22">
                <a:extLst>
                  <a:ext uri="{FF2B5EF4-FFF2-40B4-BE49-F238E27FC236}">
                    <a16:creationId xmlns:a16="http://schemas.microsoft.com/office/drawing/2014/main" id="{47DC6902-2945-79D7-9EFB-4CF9CA52D2AA}"/>
                  </a:ext>
                </a:extLst>
              </p:cNvPr>
              <p:cNvSpPr txBox="1"/>
              <p:nvPr/>
            </p:nvSpPr>
            <p:spPr>
              <a:xfrm>
                <a:off x="0" y="-28575"/>
                <a:ext cx="949333" cy="276787"/>
              </a:xfrm>
              <a:prstGeom prst="rect">
                <a:avLst/>
              </a:prstGeom>
            </p:spPr>
            <p:txBody>
              <a:bodyPr lIns="44255" tIns="44255" rIns="44255" bIns="44255" rtlCol="0" anchor="ctr"/>
              <a:lstStyle/>
              <a:p>
                <a:pPr algn="ctr">
                  <a:lnSpc>
                    <a:spcPts val="1959"/>
                  </a:lnSpc>
                </a:pPr>
                <a:endParaRPr/>
              </a:p>
            </p:txBody>
          </p:sp>
        </p:grpSp>
        <p:sp>
          <p:nvSpPr>
            <p:cNvPr id="22" name="TextBox 24">
              <a:extLst>
                <a:ext uri="{FF2B5EF4-FFF2-40B4-BE49-F238E27FC236}">
                  <a16:creationId xmlns:a16="http://schemas.microsoft.com/office/drawing/2014/main" id="{C5DF6C51-C94B-F906-0FD4-D82F6E3159B6}"/>
                </a:ext>
              </a:extLst>
            </p:cNvPr>
            <p:cNvSpPr txBox="1"/>
            <p:nvPr/>
          </p:nvSpPr>
          <p:spPr>
            <a:xfrm>
              <a:off x="570103" y="3186558"/>
              <a:ext cx="2994442" cy="1930511"/>
            </a:xfrm>
            <a:prstGeom prst="rect">
              <a:avLst/>
            </a:prstGeom>
          </p:spPr>
          <p:txBody>
            <a:bodyPr lIns="0" tIns="0" rIns="0" bIns="0" rtlCol="0" anchor="t">
              <a:spAutoFit/>
            </a:bodyPr>
            <a:lstStyle/>
            <a:p>
              <a:pPr algn="ctr">
                <a:lnSpc>
                  <a:spcPts val="2799"/>
                </a:lnSpc>
              </a:pPr>
              <a:r>
                <a:rPr lang="en-US" sz="1600">
                  <a:solidFill>
                    <a:srgbClr val="000000"/>
                  </a:solidFill>
                  <a:latin typeface="Edu NSW ACT Foundation" panose="020B0604020202020204" charset="0"/>
                  <a:ea typeface="Canva Student Font"/>
                  <a:cs typeface="Canva Student Font"/>
                  <a:sym typeface="Canva Student Font"/>
                </a:rPr>
                <a:t>Alex has $285 in their bank account.</a:t>
              </a:r>
            </a:p>
            <a:p>
              <a:pPr algn="ctr">
                <a:lnSpc>
                  <a:spcPts val="2799"/>
                </a:lnSpc>
              </a:pPr>
              <a:r>
                <a:rPr lang="en-US" sz="1600">
                  <a:solidFill>
                    <a:srgbClr val="000000"/>
                  </a:solidFill>
                  <a:latin typeface="Edu NSW ACT Foundation" panose="020B0604020202020204" charset="0"/>
                  <a:ea typeface="Canva Student Font"/>
                  <a:cs typeface="Canva Student Font"/>
                  <a:sym typeface="Canva Student Font"/>
                </a:rPr>
                <a:t>Jesse has $2850 in his bank account. </a:t>
              </a:r>
            </a:p>
            <a:p>
              <a:pPr algn="ctr">
                <a:lnSpc>
                  <a:spcPts val="1540"/>
                </a:lnSpc>
              </a:pPr>
              <a:endParaRPr lang="en-US" sz="1600">
                <a:solidFill>
                  <a:srgbClr val="000000"/>
                </a:solidFill>
                <a:latin typeface="Edu NSW ACT Foundation" panose="020B0604020202020204" charset="0"/>
                <a:ea typeface="Canva Student Font"/>
                <a:cs typeface="Canva Student Font"/>
                <a:sym typeface="Canva Student Font"/>
              </a:endParaRPr>
            </a:p>
            <a:p>
              <a:pPr algn="ctr">
                <a:lnSpc>
                  <a:spcPts val="2799"/>
                </a:lnSpc>
                <a:spcBef>
                  <a:spcPct val="0"/>
                </a:spcBef>
              </a:pPr>
              <a:r>
                <a:rPr lang="en-US" sz="1600">
                  <a:solidFill>
                    <a:srgbClr val="000000"/>
                  </a:solidFill>
                  <a:latin typeface="Edu NSW ACT Foundation" panose="020B0604020202020204" charset="0"/>
                  <a:ea typeface="Canva Student Font"/>
                  <a:cs typeface="Canva Student Font"/>
                  <a:sym typeface="Canva Student Font"/>
                </a:rPr>
                <a:t>Jesse has 100 times as much money as Alex.   </a:t>
              </a:r>
            </a:p>
          </p:txBody>
        </p:sp>
        <p:sp>
          <p:nvSpPr>
            <p:cNvPr id="23" name="TextBox 25">
              <a:extLst>
                <a:ext uri="{FF2B5EF4-FFF2-40B4-BE49-F238E27FC236}">
                  <a16:creationId xmlns:a16="http://schemas.microsoft.com/office/drawing/2014/main" id="{FC0656D6-AA62-9879-CC5C-FA9EF5B12BEF}"/>
                </a:ext>
              </a:extLst>
            </p:cNvPr>
            <p:cNvSpPr txBox="1"/>
            <p:nvPr/>
          </p:nvSpPr>
          <p:spPr>
            <a:xfrm>
              <a:off x="6918118" y="3233950"/>
              <a:ext cx="2769583" cy="2570270"/>
            </a:xfrm>
            <a:prstGeom prst="rect">
              <a:avLst/>
            </a:prstGeom>
          </p:spPr>
          <p:txBody>
            <a:bodyPr wrap="square" lIns="0" tIns="0" rIns="0" bIns="0" rtlCol="0" anchor="t">
              <a:spAutoFit/>
            </a:bodyPr>
            <a:lstStyle/>
            <a:p>
              <a:pPr algn="ctr">
                <a:lnSpc>
                  <a:spcPts val="2799"/>
                </a:lnSpc>
              </a:pPr>
              <a:r>
                <a:rPr lang="en-US" sz="1600">
                  <a:solidFill>
                    <a:srgbClr val="000000"/>
                  </a:solidFill>
                  <a:latin typeface="Edu NSW ACT Foundation" panose="020B0604020202020204" charset="0"/>
                  <a:ea typeface="Canva Student Font"/>
                  <a:cs typeface="Canva Student Font"/>
                  <a:sym typeface="Canva Student Font"/>
                </a:rPr>
                <a:t>Warrick collected 152 trading cards.</a:t>
              </a:r>
            </a:p>
            <a:p>
              <a:pPr algn="ctr">
                <a:lnSpc>
                  <a:spcPts val="2799"/>
                </a:lnSpc>
              </a:pPr>
              <a:r>
                <a:rPr lang="en-US" sz="1600">
                  <a:solidFill>
                    <a:srgbClr val="000000"/>
                  </a:solidFill>
                  <a:latin typeface="Edu NSW ACT Foundation" panose="020B0604020202020204" charset="0"/>
                  <a:ea typeface="Canva Student Font"/>
                  <a:cs typeface="Canva Student Font"/>
                  <a:sym typeface="Canva Student Font"/>
                </a:rPr>
                <a:t>Paul collected 1520 trading cards. </a:t>
              </a:r>
            </a:p>
            <a:p>
              <a:pPr algn="ctr">
                <a:lnSpc>
                  <a:spcPts val="2799"/>
                </a:lnSpc>
              </a:pPr>
              <a:endParaRPr lang="en-US" sz="1600">
                <a:solidFill>
                  <a:srgbClr val="000000"/>
                </a:solidFill>
                <a:latin typeface="Edu NSW ACT Foundation" panose="020B0604020202020204" charset="0"/>
                <a:ea typeface="Canva Student Font"/>
                <a:cs typeface="Canva Student Font"/>
                <a:sym typeface="Canva Student Font"/>
              </a:endParaRPr>
            </a:p>
            <a:p>
              <a:pPr algn="ctr">
                <a:lnSpc>
                  <a:spcPts val="2799"/>
                </a:lnSpc>
                <a:spcBef>
                  <a:spcPct val="0"/>
                </a:spcBef>
              </a:pPr>
              <a:r>
                <a:rPr lang="en-US" sz="1600">
                  <a:solidFill>
                    <a:srgbClr val="000000"/>
                  </a:solidFill>
                  <a:latin typeface="Edu NSW ACT Foundation" panose="020B0604020202020204" charset="0"/>
                  <a:ea typeface="Canva Student Font"/>
                  <a:cs typeface="Canva Student Font"/>
                  <a:sym typeface="Canva Student Font"/>
                </a:rPr>
                <a:t>Paul has 1000 times the number of cards that Warrick has.</a:t>
              </a:r>
            </a:p>
          </p:txBody>
        </p:sp>
        <p:sp>
          <p:nvSpPr>
            <p:cNvPr id="24" name="TextBox 26">
              <a:extLst>
                <a:ext uri="{FF2B5EF4-FFF2-40B4-BE49-F238E27FC236}">
                  <a16:creationId xmlns:a16="http://schemas.microsoft.com/office/drawing/2014/main" id="{0896051B-5C86-EE02-21C9-A242CA06F234}"/>
                </a:ext>
              </a:extLst>
            </p:cNvPr>
            <p:cNvSpPr txBox="1"/>
            <p:nvPr/>
          </p:nvSpPr>
          <p:spPr>
            <a:xfrm>
              <a:off x="3844588" y="3233950"/>
              <a:ext cx="2713414" cy="1696453"/>
            </a:xfrm>
            <a:prstGeom prst="rect">
              <a:avLst/>
            </a:prstGeom>
          </p:spPr>
          <p:txBody>
            <a:bodyPr lIns="0" tIns="0" rIns="0" bIns="0" rtlCol="0" anchor="t">
              <a:spAutoFit/>
            </a:bodyPr>
            <a:lstStyle/>
            <a:p>
              <a:pPr algn="ctr">
                <a:lnSpc>
                  <a:spcPts val="2799"/>
                </a:lnSpc>
              </a:pPr>
              <a:r>
                <a:rPr lang="en-US" sz="1600">
                  <a:solidFill>
                    <a:srgbClr val="000000"/>
                  </a:solidFill>
                  <a:latin typeface="Edu NSW ACT Foundation" panose="020B0604020202020204" charset="0"/>
                  <a:ea typeface="Canva Student Font"/>
                  <a:cs typeface="Canva Student Font"/>
                  <a:sym typeface="Canva Student Font"/>
                </a:rPr>
                <a:t>Kel made 165 friendship bracelets.</a:t>
              </a:r>
            </a:p>
            <a:p>
              <a:pPr algn="ctr">
                <a:lnSpc>
                  <a:spcPts val="2799"/>
                </a:lnSpc>
              </a:pPr>
              <a:r>
                <a:rPr lang="en-US" sz="1600">
                  <a:solidFill>
                    <a:srgbClr val="000000"/>
                  </a:solidFill>
                  <a:latin typeface="Edu NSW ACT Foundation" panose="020B0604020202020204" charset="0"/>
                  <a:ea typeface="Canva Student Font"/>
                  <a:cs typeface="Canva Student Font"/>
                  <a:sym typeface="Canva Student Font"/>
                </a:rPr>
                <a:t>Denise made 1650.</a:t>
              </a:r>
            </a:p>
            <a:p>
              <a:pPr algn="ctr">
                <a:lnSpc>
                  <a:spcPts val="2799"/>
                </a:lnSpc>
                <a:spcBef>
                  <a:spcPct val="0"/>
                </a:spcBef>
              </a:pPr>
              <a:r>
                <a:rPr lang="en-US" sz="1600">
                  <a:solidFill>
                    <a:srgbClr val="000000"/>
                  </a:solidFill>
                  <a:latin typeface="Edu NSW ACT Foundation" panose="020B0604020202020204" charset="0"/>
                  <a:ea typeface="Canva Student Font"/>
                  <a:cs typeface="Canva Student Font"/>
                  <a:sym typeface="Canva Student Font"/>
                </a:rPr>
                <a:t>Denise made 10 times more bracelets than Kel.</a:t>
              </a:r>
            </a:p>
          </p:txBody>
        </p:sp>
        <p:sp>
          <p:nvSpPr>
            <p:cNvPr id="26" name="TextBox 30">
              <a:extLst>
                <a:ext uri="{FF2B5EF4-FFF2-40B4-BE49-F238E27FC236}">
                  <a16:creationId xmlns:a16="http://schemas.microsoft.com/office/drawing/2014/main" id="{6F48BF92-6A55-3161-1643-D17468946322}"/>
                </a:ext>
              </a:extLst>
            </p:cNvPr>
            <p:cNvSpPr txBox="1"/>
            <p:nvPr/>
          </p:nvSpPr>
          <p:spPr>
            <a:xfrm>
              <a:off x="-1114175" y="354135"/>
              <a:ext cx="12565046" cy="993655"/>
            </a:xfrm>
            <a:prstGeom prst="rect">
              <a:avLst/>
            </a:prstGeom>
          </p:spPr>
          <p:txBody>
            <a:bodyPr wrap="square" lIns="0" tIns="0" rIns="0" bIns="0" rtlCol="0" anchor="t">
              <a:spAutoFit/>
            </a:bodyPr>
            <a:lstStyle/>
            <a:p>
              <a:pPr algn="ctr">
                <a:lnSpc>
                  <a:spcPts val="3359"/>
                </a:lnSpc>
                <a:spcBef>
                  <a:spcPct val="0"/>
                </a:spcBef>
              </a:pPr>
              <a:r>
                <a:rPr lang="en-AU" sz="1800">
                  <a:solidFill>
                    <a:srgbClr val="000000"/>
                  </a:solidFill>
                  <a:latin typeface="Arial" panose="020B0604020202020204" pitchFamily="34" charset="0"/>
                  <a:ea typeface="Canva Student Font"/>
                  <a:cs typeface="Arial" panose="020B0604020202020204" pitchFamily="34" charset="0"/>
                  <a:sym typeface="Canva Student Font"/>
                </a:rPr>
                <a:t>.</a:t>
              </a:r>
              <a:endParaRPr lang="en-US" sz="1800">
                <a:solidFill>
                  <a:srgbClr val="000000"/>
                </a:solidFill>
                <a:latin typeface="Arial" panose="020B0604020202020204" pitchFamily="34" charset="0"/>
                <a:ea typeface="Canva Student Font"/>
                <a:cs typeface="Arial" panose="020B0604020202020204" pitchFamily="34" charset="0"/>
                <a:sym typeface="Canva Student Font"/>
              </a:endParaRPr>
            </a:p>
            <a:p>
              <a:pPr algn="ctr">
                <a:lnSpc>
                  <a:spcPts val="3359"/>
                </a:lnSpc>
                <a:spcBef>
                  <a:spcPct val="0"/>
                </a:spcBef>
              </a:pPr>
              <a:endParaRPr lang="en-US" sz="1800">
                <a:solidFill>
                  <a:srgbClr val="000000"/>
                </a:solidFill>
                <a:latin typeface="Edu NSW ACT Foundation" panose="020B0604020202020204" charset="0"/>
                <a:ea typeface="Canva Student Font"/>
                <a:cs typeface="Canva Student Font"/>
                <a:sym typeface="Canva Student Font"/>
              </a:endParaRPr>
            </a:p>
          </p:txBody>
        </p:sp>
      </p:grpSp>
    </p:spTree>
    <p:extLst>
      <p:ext uri="{BB962C8B-B14F-4D97-AF65-F5344CB8AC3E}">
        <p14:creationId xmlns:p14="http://schemas.microsoft.com/office/powerpoint/2010/main" val="468503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t>True or false </a:t>
            </a:r>
            <a:r>
              <a:rPr lang="en-US">
                <a:solidFill>
                  <a:schemeClr val="bg1"/>
                </a:solidFill>
              </a:rPr>
              <a:t>(4)</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849059" y="1623090"/>
            <a:ext cx="10493881" cy="2128459"/>
          </a:xfrm>
        </p:spPr>
        <p:txBody>
          <a:bodyPr vert="horz" lIns="0" tIns="0" rIns="0" bIns="0" rtlCol="0" anchor="t">
            <a:noAutofit/>
          </a:bodyPr>
          <a:lstStyle/>
          <a:p>
            <a:pPr algn="ctr"/>
            <a:r>
              <a:rPr lang="en-US" sz="4400">
                <a:latin typeface="Arial"/>
                <a:cs typeface="Arial"/>
              </a:rPr>
              <a:t>When 96 is made 1000 times </a:t>
            </a:r>
            <a:r>
              <a:rPr lang="en-US" sz="4400" b="1">
                <a:latin typeface="Arial"/>
                <a:cs typeface="Arial"/>
              </a:rPr>
              <a:t>as large</a:t>
            </a:r>
            <a:r>
              <a:rPr lang="en-US" sz="4400">
                <a:latin typeface="Arial"/>
                <a:cs typeface="Arial"/>
              </a:rPr>
              <a:t>, it makes 9600. </a:t>
            </a:r>
            <a:endParaRPr lang="en-US" sz="4400" b="1"/>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3091131690"/>
              </p:ext>
            </p:extLst>
          </p:nvPr>
        </p:nvGraphicFramePr>
        <p:xfrm>
          <a:off x="2557461" y="476293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75557DD5-EF65-9FF3-3C88-C4692F9C2F2F}"/>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6">
            <a:extLst>
              <a:ext uri="{FF2B5EF4-FFF2-40B4-BE49-F238E27FC236}">
                <a16:creationId xmlns:a16="http://schemas.microsoft.com/office/drawing/2014/main" id="{7930F12B-0D1A-118D-3717-74151453ECCD}"/>
              </a:ext>
            </a:extLst>
          </p:cNvPr>
          <p:cNvSpPr txBox="1">
            <a:spLocks/>
          </p:cNvSpPr>
          <p:nvPr/>
        </p:nvSpPr>
        <p:spPr>
          <a:xfrm>
            <a:off x="470073" y="5853863"/>
            <a:ext cx="11243037" cy="8946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rPr>
              <a:t>(29)</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842012" y="800918"/>
            <a:ext cx="10507974" cy="1096871"/>
          </a:xfrm>
        </p:spPr>
        <p:txBody>
          <a:bodyPr/>
          <a:lstStyle/>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A2578A1-ADBB-72FE-B090-2577A9392D24}"/>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 Placeholder 6">
            <a:extLst>
              <a:ext uri="{FF2B5EF4-FFF2-40B4-BE49-F238E27FC236}">
                <a16:creationId xmlns:a16="http://schemas.microsoft.com/office/drawing/2014/main" id="{5C2917C5-72CC-E208-D586-F8FA5F922727}"/>
              </a:ext>
            </a:extLst>
          </p:cNvPr>
          <p:cNvSpPr txBox="1">
            <a:spLocks/>
          </p:cNvSpPr>
          <p:nvPr/>
        </p:nvSpPr>
        <p:spPr>
          <a:xfrm>
            <a:off x="470073" y="5904663"/>
            <a:ext cx="11243037" cy="8946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latin typeface="Arial"/>
                <a:cs typeface="Arial"/>
              </a:rPr>
              <a:t>Communicate</a:t>
            </a:r>
            <a:r>
              <a:rPr lang="en-US" sz="4000">
                <a:latin typeface="Arial"/>
                <a:cs typeface="Arial"/>
              </a:rPr>
              <a:t> your </a:t>
            </a:r>
            <a:r>
              <a:rPr lang="en-US" sz="4000" b="1">
                <a:latin typeface="Arial"/>
                <a:cs typeface="Arial"/>
              </a:rPr>
              <a:t>reasoning</a:t>
            </a:r>
            <a:r>
              <a:rPr lang="en-US" sz="4000">
                <a:latin typeface="Arial"/>
                <a:cs typeface="Arial"/>
              </a:rPr>
              <a:t>. </a:t>
            </a:r>
            <a:endParaRPr lang="en-US" sz="4000"/>
          </a:p>
        </p:txBody>
      </p:sp>
      <p:pic>
        <p:nvPicPr>
          <p:cNvPr id="8" name="Picture 7" descr="A column graph showing the playground equipment preference they would like to see in the new park. The y axis is numbered 0 to 45  and the x axis categories are giant slide, swings, sandpit, see-saw, spider web and trampoline.">
            <a:extLst>
              <a:ext uri="{FF2B5EF4-FFF2-40B4-BE49-F238E27FC236}">
                <a16:creationId xmlns:a16="http://schemas.microsoft.com/office/drawing/2014/main" id="{7E939845-ED74-8DB2-5A87-2AE1B5FA212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961" y="1468508"/>
            <a:ext cx="6573840" cy="4157533"/>
          </a:xfrm>
          <a:prstGeom prst="rect">
            <a:avLst/>
          </a:prstGeom>
          <a:noFill/>
          <a:ln>
            <a:noFill/>
          </a:ln>
        </p:spPr>
      </p:pic>
      <p:sp>
        <p:nvSpPr>
          <p:cNvPr id="5" name="TextBox 4">
            <a:extLst>
              <a:ext uri="{FF2B5EF4-FFF2-40B4-BE49-F238E27FC236}">
                <a16:creationId xmlns:a16="http://schemas.microsoft.com/office/drawing/2014/main" id="{5B689A22-F376-3012-53CA-7F5BD5AFB6D2}"/>
              </a:ext>
            </a:extLst>
          </p:cNvPr>
          <p:cNvSpPr txBox="1"/>
          <p:nvPr/>
        </p:nvSpPr>
        <p:spPr>
          <a:xfrm>
            <a:off x="7630712" y="1326824"/>
            <a:ext cx="4201286" cy="4759198"/>
          </a:xfrm>
          <a:prstGeom prst="rect">
            <a:avLst/>
          </a:prstGeom>
          <a:noFill/>
          <a:ln>
            <a:solidFill>
              <a:schemeClr val="tx1"/>
            </a:solidFill>
          </a:ln>
        </p:spPr>
        <p:txBody>
          <a:bodyPr wrap="square" lIns="0" tIns="0" rIns="0" bIns="0" rtlCol="0">
            <a:noAutofit/>
          </a:bodyPr>
          <a:lstStyle/>
          <a:p>
            <a:pPr algn="l"/>
            <a:r>
              <a:rPr lang="en-AU" sz="2800"/>
              <a:t>How many students selected the giant slide?</a:t>
            </a:r>
            <a:br>
              <a:rPr lang="en-AU" sz="2800"/>
            </a:br>
            <a:br>
              <a:rPr lang="en-AU" sz="2800"/>
            </a:br>
            <a:r>
              <a:rPr lang="en-AU" sz="2800"/>
              <a:t>How many more students selected the spider web compared to sandpit?</a:t>
            </a:r>
          </a:p>
          <a:p>
            <a:pPr algn="l"/>
            <a:endParaRPr lang="en-AU" sz="2800"/>
          </a:p>
          <a:p>
            <a:pPr algn="l"/>
            <a:r>
              <a:rPr lang="en-AU" sz="2800"/>
              <a:t>The least popular choice was the swings. True or false?</a:t>
            </a:r>
          </a:p>
        </p:txBody>
      </p:sp>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rPr>
              <a:t>(30)</a:t>
            </a:r>
          </a:p>
        </p:txBody>
      </p:sp>
      <p:sp>
        <p:nvSpPr>
          <p:cNvPr id="11" name="Picture Placeholder 10">
            <a:extLst>
              <a:ext uri="{FF2B5EF4-FFF2-40B4-BE49-F238E27FC236}">
                <a16:creationId xmlns:a16="http://schemas.microsoft.com/office/drawing/2014/main" id="{D23D2566-41DB-141E-5859-22E86591C65C}"/>
              </a:ext>
            </a:extLst>
          </p:cNvPr>
          <p:cNvSpPr>
            <a:spLocks noGrp="1"/>
          </p:cNvSpPr>
          <p:nvPr>
            <p:ph type="pic" sz="quarter" idx="21"/>
          </p:nvPr>
        </p:nvSpPr>
        <p:spPr>
          <a:xfrm>
            <a:off x="474481" y="1192692"/>
            <a:ext cx="11243037" cy="1054033"/>
          </a:xfrm>
        </p:spPr>
        <p:txBody>
          <a:bodyPr/>
          <a:lstStyle/>
          <a:p>
            <a:pPr algn="ctr"/>
            <a:r>
              <a:rPr lang="en-US" sz="4400">
                <a:latin typeface="Arial"/>
                <a:cs typeface="Arial"/>
              </a:rPr>
              <a:t>Which </a:t>
            </a:r>
            <a:r>
              <a:rPr lang="en-US" sz="4400" b="1">
                <a:latin typeface="Arial"/>
                <a:cs typeface="Arial"/>
              </a:rPr>
              <a:t>prism</a:t>
            </a:r>
            <a:r>
              <a:rPr lang="en-US" sz="4400">
                <a:latin typeface="Arial"/>
                <a:cs typeface="Arial"/>
              </a:rPr>
              <a:t> has the </a:t>
            </a:r>
            <a:r>
              <a:rPr lang="en-US" sz="4400" b="1">
                <a:latin typeface="Arial"/>
                <a:cs typeface="Arial"/>
              </a:rPr>
              <a:t>largest volume</a:t>
            </a:r>
            <a:r>
              <a:rPr lang="en-US" sz="4400">
                <a:latin typeface="Arial"/>
                <a:cs typeface="Arial"/>
              </a:rPr>
              <a:t>?</a:t>
            </a:r>
            <a:endParaRPr lang="en-US" sz="4400"/>
          </a:p>
          <a:p>
            <a:pPr algn="ctr"/>
            <a:endParaRPr lang="en-US" sz="4400">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96D03F5E-A893-89A8-C765-B38394489A2E}"/>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66" name="Group 65" descr="2 prisms - both made out of the same number of cubes. One prism is made of 2 layers of 12 cubes. The other prism is made of 4 layers of six cubes.">
            <a:extLst>
              <a:ext uri="{FF2B5EF4-FFF2-40B4-BE49-F238E27FC236}">
                <a16:creationId xmlns:a16="http://schemas.microsoft.com/office/drawing/2014/main" id="{11D70445-0D16-97C7-7DEF-2DD1701DF99E}"/>
              </a:ext>
            </a:extLst>
          </p:cNvPr>
          <p:cNvGrpSpPr/>
          <p:nvPr/>
        </p:nvGrpSpPr>
        <p:grpSpPr>
          <a:xfrm>
            <a:off x="1211872" y="3152627"/>
            <a:ext cx="5426711" cy="2684124"/>
            <a:chOff x="1211872" y="3152627"/>
            <a:chExt cx="5426711" cy="2684124"/>
          </a:xfrm>
        </p:grpSpPr>
        <p:grpSp>
          <p:nvGrpSpPr>
            <p:cNvPr id="6" name="Group 8">
              <a:extLst>
                <a:ext uri="{FF2B5EF4-FFF2-40B4-BE49-F238E27FC236}">
                  <a16:creationId xmlns:a16="http://schemas.microsoft.com/office/drawing/2014/main" id="{FC46DF8B-C974-6E30-71B1-CC502E2761D8}"/>
                </a:ext>
              </a:extLst>
            </p:cNvPr>
            <p:cNvGrpSpPr/>
            <p:nvPr/>
          </p:nvGrpSpPr>
          <p:grpSpPr>
            <a:xfrm>
              <a:off x="1211872" y="3883926"/>
              <a:ext cx="2032780" cy="1837849"/>
              <a:chOff x="0" y="0"/>
              <a:chExt cx="6820471" cy="6166445"/>
            </a:xfrm>
          </p:grpSpPr>
          <p:sp>
            <p:nvSpPr>
              <p:cNvPr id="7" name="Freeform 9">
                <a:extLst>
                  <a:ext uri="{FF2B5EF4-FFF2-40B4-BE49-F238E27FC236}">
                    <a16:creationId xmlns:a16="http://schemas.microsoft.com/office/drawing/2014/main" id="{690DE3A9-E53A-307C-5A92-6ACF3FBC00D8}"/>
                  </a:ext>
                </a:extLst>
              </p:cNvPr>
              <p:cNvSpPr/>
              <p:nvPr/>
            </p:nvSpPr>
            <p:spPr>
              <a:xfrm>
                <a:off x="1950234" y="0"/>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8" name="Freeform 10">
                <a:extLst>
                  <a:ext uri="{FF2B5EF4-FFF2-40B4-BE49-F238E27FC236}">
                    <a16:creationId xmlns:a16="http://schemas.microsoft.com/office/drawing/2014/main" id="{80FBCB1F-7FDA-D7F6-87B1-32C1F64F5153}"/>
                  </a:ext>
                </a:extLst>
              </p:cNvPr>
              <p:cNvSpPr/>
              <p:nvPr/>
            </p:nvSpPr>
            <p:spPr>
              <a:xfrm>
                <a:off x="2925351"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9" name="Freeform 11">
                <a:extLst>
                  <a:ext uri="{FF2B5EF4-FFF2-40B4-BE49-F238E27FC236}">
                    <a16:creationId xmlns:a16="http://schemas.microsoft.com/office/drawing/2014/main" id="{ED1CCD4C-6013-BB33-EB8D-CE3074A28170}"/>
                  </a:ext>
                </a:extLst>
              </p:cNvPr>
              <p:cNvSpPr/>
              <p:nvPr/>
            </p:nvSpPr>
            <p:spPr>
              <a:xfrm>
                <a:off x="975117" y="573867"/>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0" name="Freeform 12">
                <a:extLst>
                  <a:ext uri="{FF2B5EF4-FFF2-40B4-BE49-F238E27FC236}">
                    <a16:creationId xmlns:a16="http://schemas.microsoft.com/office/drawing/2014/main" id="{19B51C37-B80B-5D9F-952E-9926CBB699A8}"/>
                  </a:ext>
                </a:extLst>
              </p:cNvPr>
              <p:cNvSpPr/>
              <p:nvPr/>
            </p:nvSpPr>
            <p:spPr>
              <a:xfrm>
                <a:off x="1950234" y="11319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2" name="Freeform 13">
                <a:extLst>
                  <a:ext uri="{FF2B5EF4-FFF2-40B4-BE49-F238E27FC236}">
                    <a16:creationId xmlns:a16="http://schemas.microsoft.com/office/drawing/2014/main" id="{B632F652-E6E9-F063-B108-53938E290597}"/>
                  </a:ext>
                </a:extLst>
              </p:cNvPr>
              <p:cNvSpPr/>
              <p:nvPr/>
            </p:nvSpPr>
            <p:spPr>
              <a:xfrm>
                <a:off x="2925351" y="169002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3" name="Freeform 14">
                <a:extLst>
                  <a:ext uri="{FF2B5EF4-FFF2-40B4-BE49-F238E27FC236}">
                    <a16:creationId xmlns:a16="http://schemas.microsoft.com/office/drawing/2014/main" id="{DDE971B1-060F-E097-5F02-D7288ADDF31D}"/>
                  </a:ext>
                </a:extLst>
              </p:cNvPr>
              <p:cNvSpPr/>
              <p:nvPr/>
            </p:nvSpPr>
            <p:spPr>
              <a:xfrm>
                <a:off x="1950234" y="0"/>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4" name="Freeform 15">
                <a:extLst>
                  <a:ext uri="{FF2B5EF4-FFF2-40B4-BE49-F238E27FC236}">
                    <a16:creationId xmlns:a16="http://schemas.microsoft.com/office/drawing/2014/main" id="{1E632127-5D8F-7456-8CD1-3A27232E8CFA}"/>
                  </a:ext>
                </a:extLst>
              </p:cNvPr>
              <p:cNvSpPr/>
              <p:nvPr/>
            </p:nvSpPr>
            <p:spPr>
              <a:xfrm>
                <a:off x="2925351"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5" name="Freeform 16">
                <a:extLst>
                  <a:ext uri="{FF2B5EF4-FFF2-40B4-BE49-F238E27FC236}">
                    <a16:creationId xmlns:a16="http://schemas.microsoft.com/office/drawing/2014/main" id="{061ECF52-2971-A3BC-80BB-F839C8115B29}"/>
                  </a:ext>
                </a:extLst>
              </p:cNvPr>
              <p:cNvSpPr/>
              <p:nvPr/>
            </p:nvSpPr>
            <p:spPr>
              <a:xfrm>
                <a:off x="0" y="11319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6" name="Freeform 17">
                <a:extLst>
                  <a:ext uri="{FF2B5EF4-FFF2-40B4-BE49-F238E27FC236}">
                    <a16:creationId xmlns:a16="http://schemas.microsoft.com/office/drawing/2014/main" id="{37DF524D-C5BC-F0C9-8E41-8404F0FCFA88}"/>
                  </a:ext>
                </a:extLst>
              </p:cNvPr>
              <p:cNvSpPr/>
              <p:nvPr/>
            </p:nvSpPr>
            <p:spPr>
              <a:xfrm>
                <a:off x="975117" y="169002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7" name="Freeform 18">
                <a:extLst>
                  <a:ext uri="{FF2B5EF4-FFF2-40B4-BE49-F238E27FC236}">
                    <a16:creationId xmlns:a16="http://schemas.microsoft.com/office/drawing/2014/main" id="{125D18D4-036A-CF9D-DF37-2BA87D6ABF8B}"/>
                  </a:ext>
                </a:extLst>
              </p:cNvPr>
              <p:cNvSpPr/>
              <p:nvPr/>
            </p:nvSpPr>
            <p:spPr>
              <a:xfrm>
                <a:off x="1950234" y="224810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8" name="Freeform 19">
                <a:extLst>
                  <a:ext uri="{FF2B5EF4-FFF2-40B4-BE49-F238E27FC236}">
                    <a16:creationId xmlns:a16="http://schemas.microsoft.com/office/drawing/2014/main" id="{8F5E0A69-08A0-DCE7-0C7B-CEF0FFBE4DC6}"/>
                  </a:ext>
                </a:extLst>
              </p:cNvPr>
              <p:cNvSpPr/>
              <p:nvPr/>
            </p:nvSpPr>
            <p:spPr>
              <a:xfrm>
                <a:off x="975117"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19" name="Freeform 20">
                <a:extLst>
                  <a:ext uri="{FF2B5EF4-FFF2-40B4-BE49-F238E27FC236}">
                    <a16:creationId xmlns:a16="http://schemas.microsoft.com/office/drawing/2014/main" id="{840F1BBD-C727-14FB-9CE0-93C084BF26B2}"/>
                  </a:ext>
                </a:extLst>
              </p:cNvPr>
              <p:cNvSpPr/>
              <p:nvPr/>
            </p:nvSpPr>
            <p:spPr>
              <a:xfrm>
                <a:off x="1950234" y="111616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0" name="Freeform 21">
                <a:extLst>
                  <a:ext uri="{FF2B5EF4-FFF2-40B4-BE49-F238E27FC236}">
                    <a16:creationId xmlns:a16="http://schemas.microsoft.com/office/drawing/2014/main" id="{40216CB5-A8E1-AFE1-A1EC-2A706F127D3A}"/>
                  </a:ext>
                </a:extLst>
              </p:cNvPr>
              <p:cNvSpPr/>
              <p:nvPr/>
            </p:nvSpPr>
            <p:spPr>
              <a:xfrm>
                <a:off x="0" y="224810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1" name="Freeform 22">
                <a:extLst>
                  <a:ext uri="{FF2B5EF4-FFF2-40B4-BE49-F238E27FC236}">
                    <a16:creationId xmlns:a16="http://schemas.microsoft.com/office/drawing/2014/main" id="{A328CD62-759F-C896-60C6-6FCB8B6D39B1}"/>
                  </a:ext>
                </a:extLst>
              </p:cNvPr>
              <p:cNvSpPr/>
              <p:nvPr/>
            </p:nvSpPr>
            <p:spPr>
              <a:xfrm>
                <a:off x="975117" y="280618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2" name="Freeform 23">
                <a:extLst>
                  <a:ext uri="{FF2B5EF4-FFF2-40B4-BE49-F238E27FC236}">
                    <a16:creationId xmlns:a16="http://schemas.microsoft.com/office/drawing/2014/main" id="{D1D5E7B2-3E72-CF23-5B0E-16973F5E9726}"/>
                  </a:ext>
                </a:extLst>
              </p:cNvPr>
              <p:cNvSpPr/>
              <p:nvPr/>
            </p:nvSpPr>
            <p:spPr>
              <a:xfrm>
                <a:off x="0" y="111616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3" name="Freeform 24">
                <a:extLst>
                  <a:ext uri="{FF2B5EF4-FFF2-40B4-BE49-F238E27FC236}">
                    <a16:creationId xmlns:a16="http://schemas.microsoft.com/office/drawing/2014/main" id="{1BB30EDB-8B71-7050-0BAB-2D3CDFB00FB7}"/>
                  </a:ext>
                </a:extLst>
              </p:cNvPr>
              <p:cNvSpPr/>
              <p:nvPr/>
            </p:nvSpPr>
            <p:spPr>
              <a:xfrm>
                <a:off x="975117" y="167424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4" name="Freeform 25">
                <a:extLst>
                  <a:ext uri="{FF2B5EF4-FFF2-40B4-BE49-F238E27FC236}">
                    <a16:creationId xmlns:a16="http://schemas.microsoft.com/office/drawing/2014/main" id="{C359F9F9-7F46-01F2-1E92-BB29BCECF985}"/>
                  </a:ext>
                </a:extLst>
              </p:cNvPr>
              <p:cNvSpPr/>
              <p:nvPr/>
            </p:nvSpPr>
            <p:spPr>
              <a:xfrm>
                <a:off x="3895120" y="11121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5" name="Freeform 26">
                <a:extLst>
                  <a:ext uri="{FF2B5EF4-FFF2-40B4-BE49-F238E27FC236}">
                    <a16:creationId xmlns:a16="http://schemas.microsoft.com/office/drawing/2014/main" id="{CDDA5385-7465-AE47-0AE8-5CF05B338D64}"/>
                  </a:ext>
                </a:extLst>
              </p:cNvPr>
              <p:cNvSpPr/>
              <p:nvPr/>
            </p:nvSpPr>
            <p:spPr>
              <a:xfrm>
                <a:off x="4870237" y="167022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6" name="Freeform 27">
                <a:extLst>
                  <a:ext uri="{FF2B5EF4-FFF2-40B4-BE49-F238E27FC236}">
                    <a16:creationId xmlns:a16="http://schemas.microsoft.com/office/drawing/2014/main" id="{736FD701-03F9-69EC-7F63-B1985EDE75FA}"/>
                  </a:ext>
                </a:extLst>
              </p:cNvPr>
              <p:cNvSpPr/>
              <p:nvPr/>
            </p:nvSpPr>
            <p:spPr>
              <a:xfrm>
                <a:off x="2920003" y="1686015"/>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7" name="Freeform 28">
                <a:extLst>
                  <a:ext uri="{FF2B5EF4-FFF2-40B4-BE49-F238E27FC236}">
                    <a16:creationId xmlns:a16="http://schemas.microsoft.com/office/drawing/2014/main" id="{DF7E3744-2955-CCB0-3A44-541ADE992097}"/>
                  </a:ext>
                </a:extLst>
              </p:cNvPr>
              <p:cNvSpPr/>
              <p:nvPr/>
            </p:nvSpPr>
            <p:spPr>
              <a:xfrm>
                <a:off x="3895120" y="224409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8" name="Freeform 29">
                <a:extLst>
                  <a:ext uri="{FF2B5EF4-FFF2-40B4-BE49-F238E27FC236}">
                    <a16:creationId xmlns:a16="http://schemas.microsoft.com/office/drawing/2014/main" id="{4EF86964-BD9B-374C-1A93-4BFFD873D78B}"/>
                  </a:ext>
                </a:extLst>
              </p:cNvPr>
              <p:cNvSpPr/>
              <p:nvPr/>
            </p:nvSpPr>
            <p:spPr>
              <a:xfrm>
                <a:off x="4870237" y="280217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29" name="Freeform 30">
                <a:extLst>
                  <a:ext uri="{FF2B5EF4-FFF2-40B4-BE49-F238E27FC236}">
                    <a16:creationId xmlns:a16="http://schemas.microsoft.com/office/drawing/2014/main" id="{9DE70A3C-A3DB-63CF-607D-CD5A6FF66D17}"/>
                  </a:ext>
                </a:extLst>
              </p:cNvPr>
              <p:cNvSpPr/>
              <p:nvPr/>
            </p:nvSpPr>
            <p:spPr>
              <a:xfrm>
                <a:off x="3895120" y="11121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0" name="Freeform 31">
                <a:extLst>
                  <a:ext uri="{FF2B5EF4-FFF2-40B4-BE49-F238E27FC236}">
                    <a16:creationId xmlns:a16="http://schemas.microsoft.com/office/drawing/2014/main" id="{D83777DE-B757-19AD-D142-7EF8865FEC02}"/>
                  </a:ext>
                </a:extLst>
              </p:cNvPr>
              <p:cNvSpPr/>
              <p:nvPr/>
            </p:nvSpPr>
            <p:spPr>
              <a:xfrm>
                <a:off x="4870237" y="167022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1" name="Freeform 32">
                <a:extLst>
                  <a:ext uri="{FF2B5EF4-FFF2-40B4-BE49-F238E27FC236}">
                    <a16:creationId xmlns:a16="http://schemas.microsoft.com/office/drawing/2014/main" id="{4CDA0F71-55AB-CEEA-7F08-BF4C439A06AC}"/>
                  </a:ext>
                </a:extLst>
              </p:cNvPr>
              <p:cNvSpPr/>
              <p:nvPr/>
            </p:nvSpPr>
            <p:spPr>
              <a:xfrm>
                <a:off x="1944886" y="224409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2" name="Freeform 33">
                <a:extLst>
                  <a:ext uri="{FF2B5EF4-FFF2-40B4-BE49-F238E27FC236}">
                    <a16:creationId xmlns:a16="http://schemas.microsoft.com/office/drawing/2014/main" id="{B8CBD094-A10C-5058-A3CE-D98B39020FB4}"/>
                  </a:ext>
                </a:extLst>
              </p:cNvPr>
              <p:cNvSpPr/>
              <p:nvPr/>
            </p:nvSpPr>
            <p:spPr>
              <a:xfrm>
                <a:off x="2920003" y="280217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3" name="Freeform 34">
                <a:extLst>
                  <a:ext uri="{FF2B5EF4-FFF2-40B4-BE49-F238E27FC236}">
                    <a16:creationId xmlns:a16="http://schemas.microsoft.com/office/drawing/2014/main" id="{922791E6-E5DE-1C7B-90FB-767AC4A115F7}"/>
                  </a:ext>
                </a:extLst>
              </p:cNvPr>
              <p:cNvSpPr/>
              <p:nvPr/>
            </p:nvSpPr>
            <p:spPr>
              <a:xfrm>
                <a:off x="3895120" y="3360256"/>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4" name="Freeform 35">
                <a:extLst>
                  <a:ext uri="{FF2B5EF4-FFF2-40B4-BE49-F238E27FC236}">
                    <a16:creationId xmlns:a16="http://schemas.microsoft.com/office/drawing/2014/main" id="{7613FB8F-6CC1-A3C7-FB8B-E5849737B7EF}"/>
                  </a:ext>
                </a:extLst>
              </p:cNvPr>
              <p:cNvSpPr/>
              <p:nvPr/>
            </p:nvSpPr>
            <p:spPr>
              <a:xfrm>
                <a:off x="2920003" y="167022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5" name="Freeform 36">
                <a:extLst>
                  <a:ext uri="{FF2B5EF4-FFF2-40B4-BE49-F238E27FC236}">
                    <a16:creationId xmlns:a16="http://schemas.microsoft.com/office/drawing/2014/main" id="{8DE718DC-4E24-1B6C-BC88-2235BF12C1C0}"/>
                  </a:ext>
                </a:extLst>
              </p:cNvPr>
              <p:cNvSpPr/>
              <p:nvPr/>
            </p:nvSpPr>
            <p:spPr>
              <a:xfrm>
                <a:off x="3895120" y="222830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6" name="Freeform 37">
                <a:extLst>
                  <a:ext uri="{FF2B5EF4-FFF2-40B4-BE49-F238E27FC236}">
                    <a16:creationId xmlns:a16="http://schemas.microsoft.com/office/drawing/2014/main" id="{FB606B89-E5F0-C782-09F6-3321086153E9}"/>
                  </a:ext>
                </a:extLst>
              </p:cNvPr>
              <p:cNvSpPr/>
              <p:nvPr/>
            </p:nvSpPr>
            <p:spPr>
              <a:xfrm>
                <a:off x="1944886" y="3360256"/>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7" name="Freeform 38">
                <a:extLst>
                  <a:ext uri="{FF2B5EF4-FFF2-40B4-BE49-F238E27FC236}">
                    <a16:creationId xmlns:a16="http://schemas.microsoft.com/office/drawing/2014/main" id="{A69B50C6-58BE-876F-E40B-74F37816DC07}"/>
                  </a:ext>
                </a:extLst>
              </p:cNvPr>
              <p:cNvSpPr/>
              <p:nvPr/>
            </p:nvSpPr>
            <p:spPr>
              <a:xfrm>
                <a:off x="2920003" y="3918337"/>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8" name="Freeform 39">
                <a:extLst>
                  <a:ext uri="{FF2B5EF4-FFF2-40B4-BE49-F238E27FC236}">
                    <a16:creationId xmlns:a16="http://schemas.microsoft.com/office/drawing/2014/main" id="{8DB9A26E-1DC0-0352-0418-2A6ADEF02874}"/>
                  </a:ext>
                </a:extLst>
              </p:cNvPr>
              <p:cNvSpPr/>
              <p:nvPr/>
            </p:nvSpPr>
            <p:spPr>
              <a:xfrm>
                <a:off x="1944886" y="222830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39" name="Freeform 40">
                <a:extLst>
                  <a:ext uri="{FF2B5EF4-FFF2-40B4-BE49-F238E27FC236}">
                    <a16:creationId xmlns:a16="http://schemas.microsoft.com/office/drawing/2014/main" id="{D2BEA113-F4C3-6E6A-BF37-F37CE6E6F473}"/>
                  </a:ext>
                </a:extLst>
              </p:cNvPr>
              <p:cNvSpPr/>
              <p:nvPr/>
            </p:nvSpPr>
            <p:spPr>
              <a:xfrm>
                <a:off x="2920003" y="2786389"/>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nvGrpSpPr>
            <p:cNvPr id="40" name="Group 2">
              <a:extLst>
                <a:ext uri="{FF2B5EF4-FFF2-40B4-BE49-F238E27FC236}">
                  <a16:creationId xmlns:a16="http://schemas.microsoft.com/office/drawing/2014/main" id="{6B41136E-D41D-6597-4F20-CFFD6CEFDCF2}"/>
                </a:ext>
              </a:extLst>
            </p:cNvPr>
            <p:cNvGrpSpPr/>
            <p:nvPr/>
          </p:nvGrpSpPr>
          <p:grpSpPr>
            <a:xfrm>
              <a:off x="4857976" y="3152627"/>
              <a:ext cx="1780607" cy="2684124"/>
              <a:chOff x="0" y="0"/>
              <a:chExt cx="4850709" cy="7312064"/>
            </a:xfrm>
          </p:grpSpPr>
          <p:sp>
            <p:nvSpPr>
              <p:cNvPr id="41" name="Freeform 3">
                <a:extLst>
                  <a:ext uri="{FF2B5EF4-FFF2-40B4-BE49-F238E27FC236}">
                    <a16:creationId xmlns:a16="http://schemas.microsoft.com/office/drawing/2014/main" id="{8B64BA46-9497-B1FA-065B-8D05B6CDFAE4}"/>
                  </a:ext>
                </a:extLst>
              </p:cNvPr>
              <p:cNvSpPr/>
              <p:nvPr/>
            </p:nvSpPr>
            <p:spPr>
              <a:xfrm>
                <a:off x="1950234" y="3390403"/>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2" name="Freeform 4">
                <a:extLst>
                  <a:ext uri="{FF2B5EF4-FFF2-40B4-BE49-F238E27FC236}">
                    <a16:creationId xmlns:a16="http://schemas.microsoft.com/office/drawing/2014/main" id="{638975E0-7F06-AC77-829D-706BAB8B1B65}"/>
                  </a:ext>
                </a:extLst>
              </p:cNvPr>
              <p:cNvSpPr/>
              <p:nvPr/>
            </p:nvSpPr>
            <p:spPr>
              <a:xfrm>
                <a:off x="1950234" y="2258455"/>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3" name="Freeform 5">
                <a:extLst>
                  <a:ext uri="{FF2B5EF4-FFF2-40B4-BE49-F238E27FC236}">
                    <a16:creationId xmlns:a16="http://schemas.microsoft.com/office/drawing/2014/main" id="{4D3E3021-566D-3E0E-1802-3B7CD335FAE7}"/>
                  </a:ext>
                </a:extLst>
              </p:cNvPr>
              <p:cNvSpPr/>
              <p:nvPr/>
            </p:nvSpPr>
            <p:spPr>
              <a:xfrm>
                <a:off x="975117" y="3948483"/>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4" name="Freeform 6">
                <a:extLst>
                  <a:ext uri="{FF2B5EF4-FFF2-40B4-BE49-F238E27FC236}">
                    <a16:creationId xmlns:a16="http://schemas.microsoft.com/office/drawing/2014/main" id="{CCF36F6B-94D1-405E-306A-F102CDE65558}"/>
                  </a:ext>
                </a:extLst>
              </p:cNvPr>
              <p:cNvSpPr/>
              <p:nvPr/>
            </p:nvSpPr>
            <p:spPr>
              <a:xfrm>
                <a:off x="975117" y="2816535"/>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5" name="Freeform 7">
                <a:extLst>
                  <a:ext uri="{FF2B5EF4-FFF2-40B4-BE49-F238E27FC236}">
                    <a16:creationId xmlns:a16="http://schemas.microsoft.com/office/drawing/2014/main" id="{7DB7C7E6-2DD0-9C14-BA00-A3EB3C470125}"/>
                  </a:ext>
                </a:extLst>
              </p:cNvPr>
              <p:cNvSpPr/>
              <p:nvPr/>
            </p:nvSpPr>
            <p:spPr>
              <a:xfrm>
                <a:off x="0" y="4506563"/>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6" name="Freeform 8">
                <a:extLst>
                  <a:ext uri="{FF2B5EF4-FFF2-40B4-BE49-F238E27FC236}">
                    <a16:creationId xmlns:a16="http://schemas.microsoft.com/office/drawing/2014/main" id="{8502DC0B-2239-86A5-6678-83BE5EE8EFA8}"/>
                  </a:ext>
                </a:extLst>
              </p:cNvPr>
              <p:cNvSpPr/>
              <p:nvPr/>
            </p:nvSpPr>
            <p:spPr>
              <a:xfrm>
                <a:off x="0" y="337461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7" name="Freeform 9">
                <a:extLst>
                  <a:ext uri="{FF2B5EF4-FFF2-40B4-BE49-F238E27FC236}">
                    <a16:creationId xmlns:a16="http://schemas.microsoft.com/office/drawing/2014/main" id="{422BFA06-E92C-F327-EDB0-E95E32BFDAF8}"/>
                  </a:ext>
                </a:extLst>
              </p:cNvPr>
              <p:cNvSpPr/>
              <p:nvPr/>
            </p:nvSpPr>
            <p:spPr>
              <a:xfrm>
                <a:off x="2900475" y="3947795"/>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8" name="Freeform 10">
                <a:extLst>
                  <a:ext uri="{FF2B5EF4-FFF2-40B4-BE49-F238E27FC236}">
                    <a16:creationId xmlns:a16="http://schemas.microsoft.com/office/drawing/2014/main" id="{5BEBE8F6-051A-D5FE-5749-D2F1FA1F218F}"/>
                  </a:ext>
                </a:extLst>
              </p:cNvPr>
              <p:cNvSpPr/>
              <p:nvPr/>
            </p:nvSpPr>
            <p:spPr>
              <a:xfrm>
                <a:off x="2900475" y="2815847"/>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49" name="Freeform 11">
                <a:extLst>
                  <a:ext uri="{FF2B5EF4-FFF2-40B4-BE49-F238E27FC236}">
                    <a16:creationId xmlns:a16="http://schemas.microsoft.com/office/drawing/2014/main" id="{F39ABF27-FCBE-0B66-A5FA-4ABC7122711F}"/>
                  </a:ext>
                </a:extLst>
              </p:cNvPr>
              <p:cNvSpPr/>
              <p:nvPr/>
            </p:nvSpPr>
            <p:spPr>
              <a:xfrm>
                <a:off x="1925358" y="4505875"/>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0" name="Freeform 12">
                <a:extLst>
                  <a:ext uri="{FF2B5EF4-FFF2-40B4-BE49-F238E27FC236}">
                    <a16:creationId xmlns:a16="http://schemas.microsoft.com/office/drawing/2014/main" id="{5DFA32DC-58F3-B48A-EDFA-2B34FD6B745D}"/>
                  </a:ext>
                </a:extLst>
              </p:cNvPr>
              <p:cNvSpPr/>
              <p:nvPr/>
            </p:nvSpPr>
            <p:spPr>
              <a:xfrm>
                <a:off x="1925358" y="337392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1" name="Freeform 13">
                <a:extLst>
                  <a:ext uri="{FF2B5EF4-FFF2-40B4-BE49-F238E27FC236}">
                    <a16:creationId xmlns:a16="http://schemas.microsoft.com/office/drawing/2014/main" id="{1BD599A6-11E4-4694-857E-07EA2E0241FF}"/>
                  </a:ext>
                </a:extLst>
              </p:cNvPr>
              <p:cNvSpPr/>
              <p:nvPr/>
            </p:nvSpPr>
            <p:spPr>
              <a:xfrm>
                <a:off x="950241" y="5063956"/>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2" name="Freeform 14">
                <a:extLst>
                  <a:ext uri="{FF2B5EF4-FFF2-40B4-BE49-F238E27FC236}">
                    <a16:creationId xmlns:a16="http://schemas.microsoft.com/office/drawing/2014/main" id="{2BE13006-0889-2EFB-233A-DEDD9A32DD02}"/>
                  </a:ext>
                </a:extLst>
              </p:cNvPr>
              <p:cNvSpPr/>
              <p:nvPr/>
            </p:nvSpPr>
            <p:spPr>
              <a:xfrm>
                <a:off x="950241" y="393200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3" name="Freeform 15">
                <a:extLst>
                  <a:ext uri="{FF2B5EF4-FFF2-40B4-BE49-F238E27FC236}">
                    <a16:creationId xmlns:a16="http://schemas.microsoft.com/office/drawing/2014/main" id="{1A01D1A8-2492-5820-88A5-B5767C4B1454}"/>
                  </a:ext>
                </a:extLst>
              </p:cNvPr>
              <p:cNvSpPr/>
              <p:nvPr/>
            </p:nvSpPr>
            <p:spPr>
              <a:xfrm>
                <a:off x="1950234" y="113194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4" name="Freeform 16">
                <a:extLst>
                  <a:ext uri="{FF2B5EF4-FFF2-40B4-BE49-F238E27FC236}">
                    <a16:creationId xmlns:a16="http://schemas.microsoft.com/office/drawing/2014/main" id="{99702932-96F5-9188-825D-D1035900A8B4}"/>
                  </a:ext>
                </a:extLst>
              </p:cNvPr>
              <p:cNvSpPr/>
              <p:nvPr/>
            </p:nvSpPr>
            <p:spPr>
              <a:xfrm>
                <a:off x="1950234" y="0"/>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5" name="Freeform 17">
                <a:extLst>
                  <a:ext uri="{FF2B5EF4-FFF2-40B4-BE49-F238E27FC236}">
                    <a16:creationId xmlns:a16="http://schemas.microsoft.com/office/drawing/2014/main" id="{1F7DACD9-C4CF-8652-FEE8-63DB6138E07D}"/>
                  </a:ext>
                </a:extLst>
              </p:cNvPr>
              <p:cNvSpPr/>
              <p:nvPr/>
            </p:nvSpPr>
            <p:spPr>
              <a:xfrm>
                <a:off x="975117" y="1690028"/>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6" name="Freeform 18">
                <a:extLst>
                  <a:ext uri="{FF2B5EF4-FFF2-40B4-BE49-F238E27FC236}">
                    <a16:creationId xmlns:a16="http://schemas.microsoft.com/office/drawing/2014/main" id="{D1FC8019-8723-1494-A2B6-D1E663B88620}"/>
                  </a:ext>
                </a:extLst>
              </p:cNvPr>
              <p:cNvSpPr/>
              <p:nvPr/>
            </p:nvSpPr>
            <p:spPr>
              <a:xfrm>
                <a:off x="975117" y="55808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7" name="Freeform 19">
                <a:extLst>
                  <a:ext uri="{FF2B5EF4-FFF2-40B4-BE49-F238E27FC236}">
                    <a16:creationId xmlns:a16="http://schemas.microsoft.com/office/drawing/2014/main" id="{A3A31E4D-BB76-0BF5-3859-86C616B6EE58}"/>
                  </a:ext>
                </a:extLst>
              </p:cNvPr>
              <p:cNvSpPr/>
              <p:nvPr/>
            </p:nvSpPr>
            <p:spPr>
              <a:xfrm>
                <a:off x="0" y="2248108"/>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8" name="Freeform 20">
                <a:extLst>
                  <a:ext uri="{FF2B5EF4-FFF2-40B4-BE49-F238E27FC236}">
                    <a16:creationId xmlns:a16="http://schemas.microsoft.com/office/drawing/2014/main" id="{B6FCCFD7-0075-DDDF-CFF6-7EBF91D995BA}"/>
                  </a:ext>
                </a:extLst>
              </p:cNvPr>
              <p:cNvSpPr/>
              <p:nvPr/>
            </p:nvSpPr>
            <p:spPr>
              <a:xfrm>
                <a:off x="0" y="1116161"/>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59" name="Freeform 21">
                <a:extLst>
                  <a:ext uri="{FF2B5EF4-FFF2-40B4-BE49-F238E27FC236}">
                    <a16:creationId xmlns:a16="http://schemas.microsoft.com/office/drawing/2014/main" id="{56D4C0D6-FF64-DFFB-A488-1EA57C52AE10}"/>
                  </a:ext>
                </a:extLst>
              </p:cNvPr>
              <p:cNvSpPr/>
              <p:nvPr/>
            </p:nvSpPr>
            <p:spPr>
              <a:xfrm>
                <a:off x="2900475" y="1689340"/>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0" name="Freeform 22">
                <a:extLst>
                  <a:ext uri="{FF2B5EF4-FFF2-40B4-BE49-F238E27FC236}">
                    <a16:creationId xmlns:a16="http://schemas.microsoft.com/office/drawing/2014/main" id="{B5579CCC-A6F0-1B32-200C-FA2EF3E772BD}"/>
                  </a:ext>
                </a:extLst>
              </p:cNvPr>
              <p:cNvSpPr/>
              <p:nvPr/>
            </p:nvSpPr>
            <p:spPr>
              <a:xfrm>
                <a:off x="2900475" y="557392"/>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1" name="Freeform 23">
                <a:extLst>
                  <a:ext uri="{FF2B5EF4-FFF2-40B4-BE49-F238E27FC236}">
                    <a16:creationId xmlns:a16="http://schemas.microsoft.com/office/drawing/2014/main" id="{898F7923-8AF4-C9DB-D58B-B5D86A003993}"/>
                  </a:ext>
                </a:extLst>
              </p:cNvPr>
              <p:cNvSpPr/>
              <p:nvPr/>
            </p:nvSpPr>
            <p:spPr>
              <a:xfrm>
                <a:off x="1925358" y="224742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2" name="Freeform 24">
                <a:extLst>
                  <a:ext uri="{FF2B5EF4-FFF2-40B4-BE49-F238E27FC236}">
                    <a16:creationId xmlns:a16="http://schemas.microsoft.com/office/drawing/2014/main" id="{2354EE23-A347-0AB9-AF7C-4A81D7A75951}"/>
                  </a:ext>
                </a:extLst>
              </p:cNvPr>
              <p:cNvSpPr/>
              <p:nvPr/>
            </p:nvSpPr>
            <p:spPr>
              <a:xfrm>
                <a:off x="1925358" y="1115472"/>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3" name="Freeform 25">
                <a:extLst>
                  <a:ext uri="{FF2B5EF4-FFF2-40B4-BE49-F238E27FC236}">
                    <a16:creationId xmlns:a16="http://schemas.microsoft.com/office/drawing/2014/main" id="{4654B888-877D-D0E0-EB00-A67A693F031C}"/>
                  </a:ext>
                </a:extLst>
              </p:cNvPr>
              <p:cNvSpPr/>
              <p:nvPr/>
            </p:nvSpPr>
            <p:spPr>
              <a:xfrm>
                <a:off x="950241" y="2805500"/>
                <a:ext cx="1950234" cy="2248108"/>
              </a:xfrm>
              <a:custGeom>
                <a:avLst/>
                <a:gdLst/>
                <a:ahLst/>
                <a:cxnLst/>
                <a:rect l="l" t="t" r="r" b="b"/>
                <a:pathLst>
                  <a:path w="1950234" h="2248108">
                    <a:moveTo>
                      <a:pt x="0" y="0"/>
                    </a:moveTo>
                    <a:lnTo>
                      <a:pt x="1950234" y="0"/>
                    </a:lnTo>
                    <a:lnTo>
                      <a:pt x="1950234" y="2248109"/>
                    </a:lnTo>
                    <a:lnTo>
                      <a:pt x="0" y="22481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64" name="Freeform 26">
                <a:extLst>
                  <a:ext uri="{FF2B5EF4-FFF2-40B4-BE49-F238E27FC236}">
                    <a16:creationId xmlns:a16="http://schemas.microsoft.com/office/drawing/2014/main" id="{0D4FEA19-0A86-2152-17C6-9C9B536BB2AC}"/>
                  </a:ext>
                </a:extLst>
              </p:cNvPr>
              <p:cNvSpPr/>
              <p:nvPr/>
            </p:nvSpPr>
            <p:spPr>
              <a:xfrm>
                <a:off x="950241" y="1673553"/>
                <a:ext cx="1950234" cy="2248108"/>
              </a:xfrm>
              <a:custGeom>
                <a:avLst/>
                <a:gdLst/>
                <a:ahLst/>
                <a:cxnLst/>
                <a:rect l="l" t="t" r="r" b="b"/>
                <a:pathLst>
                  <a:path w="1950234" h="2248108">
                    <a:moveTo>
                      <a:pt x="0" y="0"/>
                    </a:moveTo>
                    <a:lnTo>
                      <a:pt x="1950234" y="0"/>
                    </a:lnTo>
                    <a:lnTo>
                      <a:pt x="1950234" y="2248108"/>
                    </a:lnTo>
                    <a:lnTo>
                      <a:pt x="0" y="22481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grpSp>
      </p:grpSp>
      <p:sp>
        <p:nvSpPr>
          <p:cNvPr id="65" name="Picture Placeholder 10">
            <a:extLst>
              <a:ext uri="{FF2B5EF4-FFF2-40B4-BE49-F238E27FC236}">
                <a16:creationId xmlns:a16="http://schemas.microsoft.com/office/drawing/2014/main" id="{5913F9B2-6F9A-6D32-EEBC-777FB7F679B1}"/>
              </a:ext>
            </a:extLst>
          </p:cNvPr>
          <p:cNvSpPr txBox="1">
            <a:spLocks/>
          </p:cNvSpPr>
          <p:nvPr/>
        </p:nvSpPr>
        <p:spPr>
          <a:xfrm>
            <a:off x="7766851" y="3652559"/>
            <a:ext cx="3724759" cy="139919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b="1">
                <a:latin typeface="Arial"/>
                <a:cs typeface="Arial"/>
              </a:rPr>
              <a:t>Communicate</a:t>
            </a:r>
            <a:r>
              <a:rPr lang="en-US" sz="4400">
                <a:latin typeface="Arial"/>
                <a:cs typeface="Arial"/>
              </a:rPr>
              <a:t> your </a:t>
            </a:r>
            <a:r>
              <a:rPr lang="en-US" sz="4400" b="1">
                <a:latin typeface="Arial"/>
                <a:cs typeface="Arial"/>
              </a:rPr>
              <a:t>reasoning.</a:t>
            </a:r>
            <a:endParaRPr lang="en-US" sz="4400" b="1"/>
          </a:p>
        </p:txBody>
      </p:sp>
      <p:sp>
        <p:nvSpPr>
          <p:cNvPr id="4" name="TextBox 3">
            <a:extLst>
              <a:ext uri="{FF2B5EF4-FFF2-40B4-BE49-F238E27FC236}">
                <a16:creationId xmlns:a16="http://schemas.microsoft.com/office/drawing/2014/main" id="{3D148496-31C7-59E8-9F5C-1429C01962BF}"/>
              </a:ext>
            </a:extLst>
          </p:cNvPr>
          <p:cNvSpPr txBox="1"/>
          <p:nvPr/>
        </p:nvSpPr>
        <p:spPr>
          <a:xfrm>
            <a:off x="4816829" y="3058833"/>
            <a:ext cx="1156138" cy="556314"/>
          </a:xfrm>
          <a:prstGeom prst="rect">
            <a:avLst/>
          </a:prstGeom>
          <a:noFill/>
        </p:spPr>
        <p:txBody>
          <a:bodyPr wrap="square" lIns="0" tIns="0" rIns="0" bIns="0" rtlCol="0">
            <a:noAutofit/>
          </a:bodyPr>
          <a:lstStyle/>
          <a:p>
            <a:pPr algn="l"/>
            <a:r>
              <a:rPr lang="en-AU" sz="1800" b="1"/>
              <a:t>b. </a:t>
            </a:r>
          </a:p>
        </p:txBody>
      </p:sp>
      <p:sp>
        <p:nvSpPr>
          <p:cNvPr id="67" name="TextBox 66">
            <a:extLst>
              <a:ext uri="{FF2B5EF4-FFF2-40B4-BE49-F238E27FC236}">
                <a16:creationId xmlns:a16="http://schemas.microsoft.com/office/drawing/2014/main" id="{FA0FD791-D9D4-3F10-6FE0-8702FBE7704D}"/>
              </a:ext>
            </a:extLst>
          </p:cNvPr>
          <p:cNvSpPr txBox="1"/>
          <p:nvPr/>
        </p:nvSpPr>
        <p:spPr>
          <a:xfrm>
            <a:off x="1508234" y="3519383"/>
            <a:ext cx="1156138" cy="556314"/>
          </a:xfrm>
          <a:prstGeom prst="rect">
            <a:avLst/>
          </a:prstGeom>
          <a:noFill/>
        </p:spPr>
        <p:txBody>
          <a:bodyPr wrap="square" lIns="0" tIns="0" rIns="0" bIns="0" rtlCol="0">
            <a:noAutofit/>
          </a:bodyPr>
          <a:lstStyle/>
          <a:p>
            <a:pPr algn="l"/>
            <a:r>
              <a:rPr lang="en-AU" sz="1800" b="1"/>
              <a:t>a. </a:t>
            </a:r>
          </a:p>
        </p:txBody>
      </p:sp>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4CA12-6A7F-C68A-77E3-D45299DF0CB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A1D7B5-397C-C4C8-B48B-DF75FDD7000B}"/>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DC921F8E-0F18-D2CE-D12D-A207D5FE0011}"/>
              </a:ext>
            </a:extLst>
          </p:cNvPr>
          <p:cNvSpPr>
            <a:spLocks noGrp="1"/>
          </p:cNvSpPr>
          <p:nvPr>
            <p:ph type="title"/>
          </p:nvPr>
        </p:nvSpPr>
        <p:spPr/>
        <p:txBody>
          <a:bodyPr/>
          <a:lstStyle/>
          <a:p>
            <a:r>
              <a:rPr lang="en-US">
                <a:latin typeface="Arial"/>
                <a:cs typeface="Arial"/>
              </a:rPr>
              <a:t>Short response </a:t>
            </a:r>
            <a:r>
              <a:rPr lang="en-US">
                <a:solidFill>
                  <a:schemeClr val="bg1"/>
                </a:solidFill>
              </a:rPr>
              <a:t>(31)</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749CC20F-6216-504F-15A6-4B2EB3F77F9C}"/>
                  </a:ext>
                </a:extLst>
              </p:cNvPr>
              <p:cNvSpPr>
                <a:spLocks noGrp="1"/>
              </p:cNvSpPr>
              <p:nvPr>
                <p:ph type="pic" sz="quarter" idx="21"/>
              </p:nvPr>
            </p:nvSpPr>
            <p:spPr>
              <a:xfrm>
                <a:off x="665357" y="1051831"/>
                <a:ext cx="11178643" cy="1356039"/>
              </a:xfrm>
            </p:spPr>
            <p:txBody>
              <a:bodyPr/>
              <a:lstStyle/>
              <a:p>
                <a:pPr algn="ctr">
                  <a:lnSpc>
                    <a:spcPct val="100000"/>
                  </a:lnSpc>
                </a:pPr>
                <a:r>
                  <a:rPr lang="en-US" sz="4400" b="1">
                    <a:latin typeface="Arial"/>
                    <a:cs typeface="Arial"/>
                  </a:rPr>
                  <a:t>Identify</a:t>
                </a:r>
                <a:r>
                  <a:rPr lang="en-US" sz="4400">
                    <a:latin typeface="Arial"/>
                    <a:cs typeface="Arial"/>
                  </a:rPr>
                  <a:t> </a:t>
                </a:r>
                <a:r>
                  <a:rPr lang="en-US" sz="4800">
                    <a:latin typeface="Arial"/>
                    <a:cs typeface="Arial"/>
                  </a:rPr>
                  <a:t> </a:t>
                </a:r>
                <a14:m>
                  <m:oMath xmlns:m="http://schemas.openxmlformats.org/officeDocument/2006/math">
                    <m:f>
                      <m:fPr>
                        <m:ctrlPr>
                          <a:rPr lang="en-US" sz="4800" i="1" smtClean="0">
                            <a:latin typeface="Cambria Math" panose="02040503050406030204" pitchFamily="18" charset="0"/>
                            <a:cs typeface="Arial"/>
                          </a:rPr>
                        </m:ctrlPr>
                      </m:fPr>
                      <m:num>
                        <m:r>
                          <a:rPr lang="en-AU" sz="4800" b="0" i="1" smtClean="0">
                            <a:latin typeface="Cambria Math" panose="02040503050406030204" pitchFamily="18" charset="0"/>
                            <a:cs typeface="Arial"/>
                          </a:rPr>
                          <m:t>1</m:t>
                        </m:r>
                      </m:num>
                      <m:den>
                        <m:r>
                          <a:rPr lang="en-AU" sz="4800" b="0" i="1" smtClean="0">
                            <a:latin typeface="Cambria Math" panose="02040503050406030204" pitchFamily="18" charset="0"/>
                            <a:cs typeface="Arial"/>
                          </a:rPr>
                          <m:t>2</m:t>
                        </m:r>
                      </m:den>
                    </m:f>
                  </m:oMath>
                </a14:m>
                <a:r>
                  <a:rPr lang="en-US" sz="4800">
                    <a:latin typeface="Arial"/>
                    <a:cs typeface="Arial"/>
                  </a:rPr>
                  <a:t> </a:t>
                </a:r>
                <a:r>
                  <a:rPr lang="en-US" sz="4400">
                    <a:latin typeface="Arial"/>
                    <a:cs typeface="Arial"/>
                  </a:rPr>
                  <a:t>on both number lines</a:t>
                </a:r>
                <a:endParaRPr lang="en-US" sz="4400"/>
              </a:p>
            </p:txBody>
          </p:sp>
        </mc:Choice>
        <mc:Fallback xmlns="">
          <p:sp>
            <p:nvSpPr>
              <p:cNvPr id="11" name="Picture Placeholder 10">
                <a:extLst>
                  <a:ext uri="{FF2B5EF4-FFF2-40B4-BE49-F238E27FC236}">
                    <a16:creationId xmlns:a16="http://schemas.microsoft.com/office/drawing/2014/main" id="{749CC20F-6216-504F-15A6-4B2EB3F77F9C}"/>
                  </a:ext>
                </a:extLst>
              </p:cNvPr>
              <p:cNvSpPr>
                <a:spLocks noGrp="1" noRot="1" noChangeAspect="1" noMove="1" noResize="1" noEditPoints="1" noAdjustHandles="1" noChangeArrowheads="1" noChangeShapeType="1" noTextEdit="1"/>
              </p:cNvSpPr>
              <p:nvPr>
                <p:ph type="pic" sz="quarter" idx="21"/>
              </p:nvPr>
            </p:nvSpPr>
            <p:spPr>
              <a:xfrm>
                <a:off x="665357" y="1051831"/>
                <a:ext cx="11178643" cy="1356039"/>
              </a:xfrm>
              <a:blipFill>
                <a:blip r:embed="rId3"/>
                <a:stretch>
                  <a:fillRect/>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7299288A-F3D8-CA00-951D-23DDA9EB61AA}"/>
              </a:ext>
            </a:extLst>
          </p:cNvPr>
          <p:cNvPicPr>
            <a:picLocks noChangeAspect="1"/>
          </p:cNvPicPr>
          <p:nvPr/>
        </p:nvPicPr>
        <p:blipFill>
          <a:blip r:embed="rId4"/>
          <a:stretch>
            <a:fillRect/>
          </a:stretch>
        </p:blipFill>
        <p:spPr>
          <a:xfrm>
            <a:off x="11030476" y="268723"/>
            <a:ext cx="915500" cy="915500"/>
          </a:xfrm>
          <a:prstGeom prst="rect">
            <a:avLst/>
          </a:prstGeom>
        </p:spPr>
      </p:pic>
      <p:sp>
        <p:nvSpPr>
          <p:cNvPr id="6" name="Picture Placeholder 10">
            <a:extLst>
              <a:ext uri="{FF2B5EF4-FFF2-40B4-BE49-F238E27FC236}">
                <a16:creationId xmlns:a16="http://schemas.microsoft.com/office/drawing/2014/main" id="{8702BA0C-2E94-1A18-6A8B-73A1069CFBCA}"/>
              </a:ext>
            </a:extLst>
          </p:cNvPr>
          <p:cNvSpPr txBox="1">
            <a:spLocks/>
          </p:cNvSpPr>
          <p:nvPr/>
        </p:nvSpPr>
        <p:spPr>
          <a:xfrm>
            <a:off x="506678" y="5964886"/>
            <a:ext cx="11178643" cy="731114"/>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b="1">
                <a:latin typeface="Arial"/>
                <a:cs typeface="Arial"/>
              </a:rPr>
              <a:t>Communicate</a:t>
            </a:r>
            <a:r>
              <a:rPr lang="en-US" sz="4400">
                <a:latin typeface="Arial"/>
                <a:cs typeface="Arial"/>
              </a:rPr>
              <a:t> your </a:t>
            </a:r>
            <a:r>
              <a:rPr lang="en-US" sz="4400" b="1">
                <a:latin typeface="Arial"/>
                <a:cs typeface="Arial"/>
              </a:rPr>
              <a:t>reasoning</a:t>
            </a:r>
            <a:r>
              <a:rPr lang="en-US" sz="4400">
                <a:latin typeface="Arial"/>
                <a:cs typeface="Arial"/>
              </a:rPr>
              <a:t>.</a:t>
            </a:r>
            <a:endParaRPr lang="en-US" sz="4400"/>
          </a:p>
        </p:txBody>
      </p:sp>
      <p:pic>
        <p:nvPicPr>
          <p:cNvPr id="5" name="Picture 4" descr="Two number lines.&#10;The first number line is marked with 0 and 1.&#10;The second number line is marked with 0 and 2.">
            <a:extLst>
              <a:ext uri="{FF2B5EF4-FFF2-40B4-BE49-F238E27FC236}">
                <a16:creationId xmlns:a16="http://schemas.microsoft.com/office/drawing/2014/main" id="{7223D1F0-F942-F868-7D45-80DC5D86F5E1}"/>
              </a:ext>
            </a:extLst>
          </p:cNvPr>
          <p:cNvPicPr>
            <a:picLocks noChangeAspect="1"/>
          </p:cNvPicPr>
          <p:nvPr/>
        </p:nvPicPr>
        <p:blipFill>
          <a:blip r:embed="rId5"/>
          <a:stretch>
            <a:fillRect/>
          </a:stretch>
        </p:blipFill>
        <p:spPr>
          <a:xfrm>
            <a:off x="2244436" y="2407870"/>
            <a:ext cx="7261910" cy="3100540"/>
          </a:xfrm>
          <a:prstGeom prst="rect">
            <a:avLst/>
          </a:prstGeom>
        </p:spPr>
      </p:pic>
    </p:spTree>
    <p:extLst>
      <p:ext uri="{BB962C8B-B14F-4D97-AF65-F5344CB8AC3E}">
        <p14:creationId xmlns:p14="http://schemas.microsoft.com/office/powerpoint/2010/main" val="423586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rPr>
              <a:t>(32)</a:t>
            </a:r>
          </a:p>
        </p:txBody>
      </p:sp>
      <p:sp>
        <p:nvSpPr>
          <p:cNvPr id="11" name="Picture Placeholder 10">
            <a:extLst>
              <a:ext uri="{FF2B5EF4-FFF2-40B4-BE49-F238E27FC236}">
                <a16:creationId xmlns:a16="http://schemas.microsoft.com/office/drawing/2014/main" id="{57DCC576-F92F-1793-E208-C0A079F57864}"/>
              </a:ext>
            </a:extLst>
          </p:cNvPr>
          <p:cNvSpPr>
            <a:spLocks noGrp="1"/>
          </p:cNvSpPr>
          <p:nvPr>
            <p:ph type="pic" sz="quarter" idx="21"/>
          </p:nvPr>
        </p:nvSpPr>
        <p:spPr>
          <a:xfrm>
            <a:off x="6096000" y="1962150"/>
            <a:ext cx="5575986" cy="1307930"/>
          </a:xfrm>
        </p:spPr>
        <p:txBody>
          <a:bodyPr/>
          <a:lstStyle/>
          <a:p>
            <a:pPr algn="ctr">
              <a:lnSpc>
                <a:spcPct val="100000"/>
              </a:lnSpc>
            </a:pPr>
            <a:r>
              <a:rPr lang="en-US" sz="4400">
                <a:latin typeface="Arial"/>
                <a:cs typeface="Arial"/>
              </a:rPr>
              <a:t>What </a:t>
            </a:r>
            <a:r>
              <a:rPr lang="en-US" sz="4400" b="1">
                <a:latin typeface="Arial"/>
                <a:cs typeface="Arial"/>
              </a:rPr>
              <a:t>time</a:t>
            </a:r>
            <a:r>
              <a:rPr lang="en-US" sz="4400">
                <a:latin typeface="Arial"/>
                <a:cs typeface="Arial"/>
              </a:rPr>
              <a:t> is shown on this </a:t>
            </a:r>
            <a:r>
              <a:rPr lang="en-US" sz="4400" b="1">
                <a:latin typeface="Arial"/>
                <a:cs typeface="Arial"/>
              </a:rPr>
              <a:t>clock</a:t>
            </a:r>
            <a:r>
              <a:rPr lang="en-US" sz="4400">
                <a:latin typeface="Arial"/>
                <a:cs typeface="Arial"/>
              </a:rPr>
              <a:t>?</a:t>
            </a:r>
          </a:p>
        </p:txBody>
      </p:sp>
      <p:pic>
        <p:nvPicPr>
          <p:cNvPr id="5" name="Picture 4" descr="image of a clipboard with a pencil recording short answer responses">
            <a:extLst>
              <a:ext uri="{FF2B5EF4-FFF2-40B4-BE49-F238E27FC236}">
                <a16:creationId xmlns:a16="http://schemas.microsoft.com/office/drawing/2014/main" id="{41CBD14D-6B43-D6D7-65E4-0BA5584EEAD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Freeform 4" descr="A clock face showing 3:45.">
            <a:extLst>
              <a:ext uri="{FF2B5EF4-FFF2-40B4-BE49-F238E27FC236}">
                <a16:creationId xmlns:a16="http://schemas.microsoft.com/office/drawing/2014/main" id="{5C66A439-9D24-69DA-A744-2A4C7D41672E}"/>
              </a:ext>
            </a:extLst>
          </p:cNvPr>
          <p:cNvSpPr/>
          <p:nvPr/>
        </p:nvSpPr>
        <p:spPr>
          <a:xfrm>
            <a:off x="1600082" y="2184476"/>
            <a:ext cx="3137585" cy="3140202"/>
          </a:xfrm>
          <a:custGeom>
            <a:avLst/>
            <a:gdLst/>
            <a:ahLst/>
            <a:cxnLst/>
            <a:rect l="l" t="t" r="r" b="b"/>
            <a:pathLst>
              <a:path w="4111371" h="4114800">
                <a:moveTo>
                  <a:pt x="0" y="0"/>
                </a:moveTo>
                <a:lnTo>
                  <a:pt x="4111371" y="0"/>
                </a:lnTo>
                <a:lnTo>
                  <a:pt x="411137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p>
        </p:txBody>
      </p:sp>
      <p:sp>
        <p:nvSpPr>
          <p:cNvPr id="7" name="Picture Placeholder 10">
            <a:extLst>
              <a:ext uri="{FF2B5EF4-FFF2-40B4-BE49-F238E27FC236}">
                <a16:creationId xmlns:a16="http://schemas.microsoft.com/office/drawing/2014/main" id="{8707AE35-38E4-3BBC-A057-F14890A4DC19}"/>
              </a:ext>
            </a:extLst>
          </p:cNvPr>
          <p:cNvSpPr txBox="1">
            <a:spLocks/>
          </p:cNvSpPr>
          <p:nvPr/>
        </p:nvSpPr>
        <p:spPr>
          <a:xfrm>
            <a:off x="6420963" y="4239075"/>
            <a:ext cx="4926059" cy="130793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pPr>
            <a:r>
              <a:rPr lang="en-US" sz="4400">
                <a:latin typeface="Arial"/>
                <a:cs typeface="Arial"/>
              </a:rPr>
              <a:t>How could it be </a:t>
            </a:r>
            <a:r>
              <a:rPr lang="en-US" sz="4400" b="1">
                <a:latin typeface="Arial"/>
                <a:cs typeface="Arial"/>
              </a:rPr>
              <a:t>read</a:t>
            </a:r>
            <a:r>
              <a:rPr lang="en-US" sz="4400">
                <a:latin typeface="Arial"/>
                <a:cs typeface="Arial"/>
              </a:rPr>
              <a:t> a </a:t>
            </a:r>
            <a:r>
              <a:rPr lang="en-US" sz="4400" b="1">
                <a:latin typeface="Arial"/>
                <a:cs typeface="Arial"/>
              </a:rPr>
              <a:t>different</a:t>
            </a:r>
            <a:r>
              <a:rPr lang="en-US" sz="4400">
                <a:latin typeface="Arial"/>
                <a:cs typeface="Arial"/>
              </a:rPr>
              <a:t> way?</a:t>
            </a:r>
          </a:p>
        </p:txBody>
      </p:sp>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678F2-4E06-253C-7FA4-41B04B22578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0FD35F-6187-C003-82CF-A82BC3DF3DA5}"/>
              </a:ext>
            </a:extLst>
          </p:cNvPr>
          <p:cNvSpPr>
            <a:spLocks noGrp="1"/>
          </p:cNvSpPr>
          <p:nvPr>
            <p:ph type="sldNum" sz="quarter" idx="12"/>
          </p:nvPr>
        </p:nvSpPr>
        <p:spPr/>
        <p:txBody>
          <a:bodyPr/>
          <a:lstStyle/>
          <a:p>
            <a:pPr marL="0" marR="0" lvl="0" indent="0" algn="r" defTabSz="609585" rtl="0" eaLnBrk="1" fontAlgn="auto" latinLnBrk="0" hangingPunct="1">
              <a:lnSpc>
                <a:spcPct val="100000"/>
              </a:lnSpc>
              <a:spcBef>
                <a:spcPts val="0"/>
              </a:spcBef>
              <a:spcAft>
                <a:spcPts val="0"/>
              </a:spcAft>
              <a:buClrTx/>
              <a:buSzTx/>
              <a:buFontTx/>
              <a:buNone/>
              <a:tabLst/>
              <a:defRPr/>
            </a:pPr>
            <a:fld id="{10A01DC5-1685-4615-8240-15192985C6A2}" type="slidenum">
              <a:rPr kumimoji="0" lang="en-AU" sz="1200" b="0" i="0" u="none" strike="noStrike" kern="1200" cap="none" spc="0" normalizeH="0" baseline="0" noProof="0" smtClean="0">
                <a:ln>
                  <a:noFill/>
                </a:ln>
                <a:solidFill>
                  <a:srgbClr val="22272B"/>
                </a:solidFill>
                <a:effectLst/>
                <a:uLnTx/>
                <a:uFillTx/>
                <a:latin typeface="Public Sans Light"/>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61</a:t>
            </a:fld>
            <a:endParaRPr kumimoji="0" lang="en-AU" sz="1200" b="0" i="0" u="none" strike="noStrike" kern="1200" cap="none" spc="0" normalizeH="0" baseline="0" noProof="0">
              <a:ln>
                <a:noFill/>
              </a:ln>
              <a:solidFill>
                <a:srgbClr val="22272B"/>
              </a:solidFill>
              <a:effectLst/>
              <a:uLnTx/>
              <a:uFillTx/>
              <a:latin typeface="Public Sans Light"/>
              <a:ea typeface="+mn-ea"/>
              <a:cs typeface="+mn-cs"/>
            </a:endParaRPr>
          </a:p>
        </p:txBody>
      </p:sp>
      <p:sp>
        <p:nvSpPr>
          <p:cNvPr id="3" name="Title 2">
            <a:extLst>
              <a:ext uri="{FF2B5EF4-FFF2-40B4-BE49-F238E27FC236}">
                <a16:creationId xmlns:a16="http://schemas.microsoft.com/office/drawing/2014/main" id="{44983AAD-3169-9F03-9285-FDCB0BC94F9E}"/>
              </a:ext>
            </a:extLst>
          </p:cNvPr>
          <p:cNvSpPr>
            <a:spLocks noGrp="1"/>
          </p:cNvSpPr>
          <p:nvPr>
            <p:ph type="title"/>
          </p:nvPr>
        </p:nvSpPr>
        <p:spPr>
          <a:xfrm>
            <a:off x="360000" y="360000"/>
            <a:ext cx="11484000" cy="545601"/>
          </a:xfrm>
        </p:spPr>
        <p:txBody>
          <a:bodyPr/>
          <a:lstStyle/>
          <a:p>
            <a:r>
              <a:rPr lang="en-AU">
                <a:latin typeface="Arial"/>
                <a:cs typeface="Arial"/>
              </a:rPr>
              <a:t>Activity 8 – slide it left</a:t>
            </a:r>
            <a:r>
              <a:rPr lang="en-AU">
                <a:solidFill>
                  <a:schemeClr val="bg1"/>
                </a:solidFill>
                <a:latin typeface="Arial"/>
                <a:cs typeface="Arial"/>
              </a:rPr>
              <a:t>(2)</a:t>
            </a:r>
          </a:p>
        </p:txBody>
      </p:sp>
      <p:pic>
        <p:nvPicPr>
          <p:cNvPr id="4" name="Picture 3" descr="image of a head with cogs turning inside">
            <a:extLst>
              <a:ext uri="{FF2B5EF4-FFF2-40B4-BE49-F238E27FC236}">
                <a16:creationId xmlns:a16="http://schemas.microsoft.com/office/drawing/2014/main" id="{87576929-8103-4A0A-E4C9-FC4E6E7607D7}"/>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8" name="Picture 7" descr="Square cards arranged in an array of 6 columns and 4 rows. There are 2 columns of each value card: ×10, ×100 and ×1000.">
            <a:extLst>
              <a:ext uri="{FF2B5EF4-FFF2-40B4-BE49-F238E27FC236}">
                <a16:creationId xmlns:a16="http://schemas.microsoft.com/office/drawing/2014/main" id="{7504629D-EFDE-0334-D07B-CEBA806885CA}"/>
              </a:ext>
            </a:extLst>
          </p:cNvPr>
          <p:cNvPicPr>
            <a:picLocks noChangeAspect="1"/>
          </p:cNvPicPr>
          <p:nvPr/>
        </p:nvPicPr>
        <p:blipFill>
          <a:blip r:embed="rId4"/>
          <a:stretch>
            <a:fillRect/>
          </a:stretch>
        </p:blipFill>
        <p:spPr>
          <a:xfrm>
            <a:off x="360000" y="1615951"/>
            <a:ext cx="5486371" cy="366548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0" name="Picture 9" descr="A group of white rectangular boxes with black numbers">
            <a:extLst>
              <a:ext uri="{FF2B5EF4-FFF2-40B4-BE49-F238E27FC236}">
                <a16:creationId xmlns:a16="http://schemas.microsoft.com/office/drawing/2014/main" id="{E3CB6101-A267-FF96-7B00-59248993616B}"/>
              </a:ext>
            </a:extLst>
          </p:cNvPr>
          <p:cNvPicPr>
            <a:picLocks noChangeAspect="1"/>
          </p:cNvPicPr>
          <p:nvPr/>
        </p:nvPicPr>
        <p:blipFill>
          <a:blip r:embed="rId5"/>
          <a:stretch>
            <a:fillRect/>
          </a:stretch>
        </p:blipFill>
        <p:spPr>
          <a:xfrm>
            <a:off x="6633275" y="1577213"/>
            <a:ext cx="5193728" cy="370422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398563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62</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67</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a:t>Multiple choice </a:t>
            </a:r>
            <a:r>
              <a:rPr lang="en-US">
                <a:solidFill>
                  <a:schemeClr val="bg1"/>
                </a:solidFill>
              </a:rPr>
              <a:t>(5)</a:t>
            </a:r>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68</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a:t>Multiple choice </a:t>
            </a:r>
            <a:r>
              <a:rPr lang="en-US">
                <a:solidFill>
                  <a:schemeClr val="bg1"/>
                </a:solidFill>
              </a:rPr>
              <a:t>(6)</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69</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a:xfrm>
            <a:off x="345623" y="3259541"/>
            <a:ext cx="11484000" cy="2927351"/>
          </a:xfrm>
        </p:spPr>
        <p:txBody>
          <a:bodyPr vert="horz" lIns="0" tIns="0" rIns="0" bIns="0" rtlCol="0" anchor="t">
            <a:noAutofit/>
          </a:bodyPr>
          <a:lstStyle/>
          <a:p>
            <a:pPr algn="l" rtl="0" fontAlgn="base"/>
            <a:r>
              <a:rPr lang="en-AU" sz="1100" b="0" i="0" u="sng" strike="noStrike">
                <a:solidFill>
                  <a:srgbClr val="2F5496"/>
                </a:solidFill>
                <a:effectLst/>
                <a:latin typeface="Arial"/>
                <a:cs typeface="Arial"/>
                <a:hlinkClick r:id="rId3"/>
              </a:rPr>
              <a:t>Mathematics K–10 Syllabus</a:t>
            </a:r>
            <a:r>
              <a:rPr lang="en-AU" sz="1100" b="0" i="0">
                <a:solidFill>
                  <a:srgbClr val="000000"/>
                </a:solidFill>
                <a:effectLst/>
                <a:latin typeface="Arial"/>
                <a:cs typeface="Arial"/>
              </a:rPr>
              <a:t> © NSW Education Standards Authority (NESA) for and on behalf of the Crown in right of the State of New South Wales, 2022. </a:t>
            </a:r>
          </a:p>
          <a:p>
            <a:r>
              <a:rPr lang="en-AU" sz="1100">
                <a:solidFill>
                  <a:srgbClr val="0F9ED5"/>
                </a:solidFill>
                <a:latin typeface="Arial"/>
                <a:cs typeface="Arial"/>
                <a:hlinkClick r:id="rId4"/>
              </a:rPr>
              <a:t>National Numeracy Learning Progression</a:t>
            </a:r>
            <a:r>
              <a:rPr lang="en-AU" sz="1100">
                <a:solidFill>
                  <a:srgbClr val="000000"/>
                </a:solidFill>
                <a:latin typeface="Arial"/>
                <a:cs typeface="Arial"/>
              </a:rPr>
              <a:t> </a:t>
            </a:r>
            <a:r>
              <a:rPr lang="en-AU" sz="1100" b="0" i="0">
                <a:solidFill>
                  <a:srgbClr val="000000"/>
                </a:solidFill>
                <a:effectLst/>
                <a:latin typeface="Arial"/>
                <a:cs typeface="Arial"/>
              </a:rPr>
              <a:t>© Australian Curriculum, Assessment and Reporting Authority (ACARA) 2010 to present, unless otherwise indicated. This material was downloaded from the </a:t>
            </a:r>
            <a:r>
              <a:rPr lang="en-AU" sz="1100" b="0" i="0" u="sng" strike="noStrike">
                <a:solidFill>
                  <a:srgbClr val="2F5496"/>
                </a:solidFill>
                <a:effectLst/>
                <a:latin typeface="Arial"/>
                <a:cs typeface="Arial"/>
                <a:hlinkClick r:id="rId5"/>
              </a:rPr>
              <a:t>Australian Curriculum</a:t>
            </a:r>
            <a:r>
              <a:rPr lang="en-AU" sz="1100" b="0" i="0">
                <a:solidFill>
                  <a:srgbClr val="000000"/>
                </a:solidFill>
                <a:effectLst/>
                <a:latin typeface="Arial"/>
                <a:cs typeface="Arial"/>
              </a:rPr>
              <a:t> website (National Numeracy Learning Progression) (accessed </a:t>
            </a:r>
            <a:r>
              <a:rPr lang="en-AU" sz="1100">
                <a:solidFill>
                  <a:srgbClr val="000000"/>
                </a:solidFill>
                <a:latin typeface="Arial"/>
                <a:cs typeface="Arial"/>
              </a:rPr>
              <a:t>20</a:t>
            </a:r>
            <a:r>
              <a:rPr lang="en-AU" sz="1100" b="0" i="0">
                <a:solidFill>
                  <a:srgbClr val="000000"/>
                </a:solidFill>
                <a:effectLst/>
                <a:latin typeface="Arial"/>
                <a:cs typeface="Arial"/>
              </a:rPr>
              <a:t> </a:t>
            </a:r>
            <a:r>
              <a:rPr lang="en-AU" sz="1100">
                <a:solidFill>
                  <a:srgbClr val="000000"/>
                </a:solidFill>
                <a:latin typeface="Arial"/>
                <a:cs typeface="Arial"/>
              </a:rPr>
              <a:t>May 2025</a:t>
            </a:r>
            <a:r>
              <a:rPr lang="en-AU" sz="1100" b="0" i="0">
                <a:solidFill>
                  <a:srgbClr val="000000"/>
                </a:solidFill>
                <a:effectLst/>
                <a:latin typeface="Arial"/>
                <a:cs typeface="Arial"/>
              </a:rPr>
              <a:t>) and was not modified. </a:t>
            </a:r>
            <a:endParaRPr lang="en-AU"/>
          </a:p>
          <a:p>
            <a:pPr algn="l" rtl="0" fontAlgn="base"/>
            <a:r>
              <a:rPr lang="en-AU" sz="1100" b="0" i="0">
                <a:solidFill>
                  <a:srgbClr val="000000"/>
                </a:solidFill>
                <a:effectLst/>
                <a:latin typeface="Arial"/>
                <a:cs typeface="Arial"/>
              </a:rPr>
              <a:t>Amplify Education (2024) </a:t>
            </a:r>
            <a:r>
              <a:rPr lang="en-AU" sz="1100" b="0" i="1" u="sng" strike="noStrike" err="1">
                <a:solidFill>
                  <a:srgbClr val="2F5496"/>
                </a:solidFill>
                <a:effectLst/>
                <a:latin typeface="Arial"/>
                <a:cs typeface="Arial"/>
                <a:hlinkClick r:id="rId6"/>
              </a:rPr>
              <a:t>Polypad</a:t>
            </a:r>
            <a:r>
              <a:rPr lang="en-AU" sz="1100" b="0" i="0">
                <a:solidFill>
                  <a:srgbClr val="000000"/>
                </a:solidFill>
                <a:effectLst/>
                <a:latin typeface="Arial"/>
                <a:cs typeface="Arial"/>
              </a:rPr>
              <a:t>, </a:t>
            </a:r>
            <a:r>
              <a:rPr lang="en-AU" sz="1100" b="0" i="0" err="1">
                <a:solidFill>
                  <a:srgbClr val="000000"/>
                </a:solidFill>
                <a:effectLst/>
                <a:latin typeface="Arial"/>
                <a:cs typeface="Arial"/>
              </a:rPr>
              <a:t>Polypad</a:t>
            </a:r>
            <a:r>
              <a:rPr lang="en-AU" sz="1100" b="0" i="0">
                <a:solidFill>
                  <a:srgbClr val="000000"/>
                </a:solidFill>
                <a:effectLst/>
                <a:latin typeface="Arial"/>
                <a:cs typeface="Arial"/>
              </a:rPr>
              <a:t> website, accessed 23 May 2025. </a:t>
            </a:r>
          </a:p>
          <a:p>
            <a:pPr fontAlgn="base"/>
            <a:r>
              <a:rPr lang="en-AU" sz="1100" b="0" i="0">
                <a:solidFill>
                  <a:srgbClr val="000000"/>
                </a:solidFill>
                <a:effectLst/>
                <a:latin typeface="Arial"/>
                <a:cs typeface="Arial"/>
              </a:rPr>
              <a:t>NESA (NSW Education Standards Authority) (2022a) ‘</a:t>
            </a:r>
            <a:r>
              <a:rPr lang="en-AU" sz="1100" b="0" i="0" u="sng" strike="noStrike">
                <a:solidFill>
                  <a:srgbClr val="2F5496"/>
                </a:solidFill>
                <a:effectLst/>
                <a:latin typeface="Arial"/>
                <a:cs typeface="Arial"/>
                <a:hlinkClick r:id="rId7"/>
              </a:rPr>
              <a:t>Glossary</a:t>
            </a:r>
            <a:r>
              <a:rPr lang="en-AU" sz="1100" b="0" i="0">
                <a:solidFill>
                  <a:srgbClr val="000000"/>
                </a:solidFill>
                <a:effectLst/>
                <a:latin typeface="Arial"/>
                <a:cs typeface="Arial"/>
              </a:rPr>
              <a:t>’, </a:t>
            </a:r>
            <a:r>
              <a:rPr lang="en-AU" sz="1100" b="0" i="1">
                <a:solidFill>
                  <a:srgbClr val="000000"/>
                </a:solidFill>
                <a:effectLst/>
                <a:latin typeface="Arial"/>
                <a:cs typeface="Arial"/>
              </a:rPr>
              <a:t>Mathematics K–10 Syllabus</a:t>
            </a:r>
            <a:r>
              <a:rPr lang="en-AU" sz="1100" b="0" i="0">
                <a:solidFill>
                  <a:srgbClr val="000000"/>
                </a:solidFill>
                <a:effectLst/>
                <a:latin typeface="Arial"/>
                <a:cs typeface="Arial"/>
              </a:rPr>
              <a:t>, NESA website, accessed </a:t>
            </a:r>
            <a:r>
              <a:rPr lang="en-AU" sz="1100">
                <a:solidFill>
                  <a:srgbClr val="000000"/>
                </a:solidFill>
                <a:latin typeface="Arial"/>
                <a:cs typeface="Arial"/>
              </a:rPr>
              <a:t>26</a:t>
            </a:r>
            <a:r>
              <a:rPr lang="en-AU" sz="1100" b="0" i="0">
                <a:solidFill>
                  <a:srgbClr val="000000"/>
                </a:solidFill>
                <a:effectLst/>
                <a:latin typeface="Arial"/>
                <a:cs typeface="Arial"/>
              </a:rPr>
              <a:t> </a:t>
            </a:r>
            <a:r>
              <a:rPr lang="en-AU" sz="1100">
                <a:solidFill>
                  <a:srgbClr val="000000"/>
                </a:solidFill>
                <a:latin typeface="Arial"/>
                <a:cs typeface="Arial"/>
              </a:rPr>
              <a:t>May</a:t>
            </a:r>
            <a:r>
              <a:rPr lang="en-AU" sz="1100" b="0" i="0">
                <a:solidFill>
                  <a:srgbClr val="000000"/>
                </a:solidFill>
                <a:effectLst/>
                <a:latin typeface="Arial"/>
                <a:cs typeface="Arial"/>
              </a:rPr>
              <a:t> 2025. </a:t>
            </a:r>
          </a:p>
          <a:p>
            <a:pPr fontAlgn="base"/>
            <a:r>
              <a:rPr lang="en-AU" sz="1100">
                <a:solidFill>
                  <a:srgbClr val="000000"/>
                </a:solidFill>
                <a:latin typeface="Arial"/>
                <a:cs typeface="Arial"/>
              </a:rPr>
              <a:t>NESA (2022b) ‘</a:t>
            </a:r>
            <a:r>
              <a:rPr lang="en-AU" sz="1100" u="sng">
                <a:solidFill>
                  <a:srgbClr val="2F5496"/>
                </a:solidFill>
                <a:latin typeface="Arial"/>
                <a:cs typeface="Arial"/>
                <a:hlinkClick r:id="rId8"/>
              </a:rPr>
              <a:t>Stage 2: Teaching advice for Chance B</a:t>
            </a:r>
            <a:r>
              <a:rPr lang="en-AU" sz="1100">
                <a:solidFill>
                  <a:srgbClr val="000000"/>
                </a:solidFill>
                <a:latin typeface="Arial"/>
                <a:cs typeface="Arial"/>
              </a:rPr>
              <a:t>’, </a:t>
            </a:r>
            <a:r>
              <a:rPr lang="en-AU" sz="1100" i="1">
                <a:solidFill>
                  <a:srgbClr val="000000"/>
                </a:solidFill>
                <a:latin typeface="Arial"/>
                <a:cs typeface="Arial"/>
              </a:rPr>
              <a:t>Mathematics K–10 Syllabus</a:t>
            </a:r>
            <a:r>
              <a:rPr lang="en-AU" sz="1100">
                <a:solidFill>
                  <a:srgbClr val="000000"/>
                </a:solidFill>
                <a:latin typeface="Arial"/>
                <a:cs typeface="Arial"/>
              </a:rPr>
              <a:t>, NESA website, accessed 21 May 2025. </a:t>
            </a:r>
          </a:p>
          <a:p>
            <a:pPr fontAlgn="base"/>
            <a:r>
              <a:rPr lang="en-AU" sz="1100">
                <a:effectLst/>
                <a:latin typeface="Arial"/>
                <a:ea typeface="Calibri"/>
                <a:cs typeface="Arial"/>
              </a:rPr>
              <a:t>NESA (2022b) ‘</a:t>
            </a:r>
            <a:r>
              <a:rPr lang="en-AU" sz="1100" u="sng">
                <a:solidFill>
                  <a:srgbClr val="2F5496"/>
                </a:solidFill>
                <a:effectLst/>
                <a:latin typeface="Arial"/>
                <a:ea typeface="Calibri"/>
                <a:cs typeface="Arial"/>
                <a:hlinkClick r:id="rId9"/>
              </a:rPr>
              <a:t>Stage 2: Teaching advice for Data A</a:t>
            </a:r>
            <a:r>
              <a:rPr lang="en-AU" sz="1100">
                <a:effectLst/>
                <a:latin typeface="Arial"/>
                <a:ea typeface="Calibri"/>
                <a:cs typeface="Arial"/>
              </a:rPr>
              <a:t>’, </a:t>
            </a:r>
            <a:r>
              <a:rPr lang="en-AU" sz="1100" i="1">
                <a:effectLst/>
                <a:latin typeface="Arial"/>
                <a:ea typeface="Calibri"/>
                <a:cs typeface="Arial"/>
              </a:rPr>
              <a:t>Mathematics K–10 Syllabus</a:t>
            </a:r>
            <a:r>
              <a:rPr lang="en-AU" sz="1100">
                <a:effectLst/>
                <a:latin typeface="Arial"/>
                <a:ea typeface="Calibri"/>
                <a:cs typeface="Arial"/>
              </a:rPr>
              <a:t>, NESA website, accessed 21 May 2025.</a:t>
            </a:r>
          </a:p>
          <a:p>
            <a:r>
              <a:rPr lang="en-AU" sz="1100" err="1">
                <a:solidFill>
                  <a:srgbClr val="000000"/>
                </a:solidFill>
                <a:latin typeface="Arial"/>
                <a:ea typeface="+mn-lt"/>
                <a:cs typeface="Arial"/>
              </a:rPr>
              <a:t>Tuohilampi</a:t>
            </a:r>
            <a:r>
              <a:rPr lang="en-AU" sz="1100">
                <a:solidFill>
                  <a:srgbClr val="000000"/>
                </a:solidFill>
                <a:latin typeface="Arial"/>
                <a:ea typeface="+mn-lt"/>
                <a:cs typeface="Arial"/>
              </a:rPr>
              <a:t> L (2022) </a:t>
            </a:r>
            <a:r>
              <a:rPr lang="en-AU" sz="1100" i="1">
                <a:solidFill>
                  <a:srgbClr val="000000"/>
                </a:solidFill>
                <a:latin typeface="Arial"/>
                <a:ea typeface="+mn-lt"/>
                <a:cs typeface="Arial"/>
              </a:rPr>
              <a:t>Seriously Fun Maths: The complete guide to motivational mathematics</a:t>
            </a:r>
            <a:r>
              <a:rPr lang="en-AU" sz="1100">
                <a:solidFill>
                  <a:srgbClr val="000000"/>
                </a:solidFill>
                <a:latin typeface="Arial"/>
                <a:ea typeface="+mn-lt"/>
                <a:cs typeface="Arial"/>
              </a:rPr>
              <a:t>, Amba Press, Melbourne.</a:t>
            </a:r>
            <a:endParaRPr lang="en-AU" sz="1100">
              <a:latin typeface="Arial"/>
              <a:cs typeface="Arial"/>
            </a:endParaRPr>
          </a:p>
          <a:p>
            <a:pPr algn="l"/>
            <a:r>
              <a:rPr lang="en-AU" sz="1100">
                <a:solidFill>
                  <a:srgbClr val="000000"/>
                </a:solidFill>
                <a:latin typeface="Arial"/>
                <a:cs typeface="Arial"/>
              </a:rPr>
              <a:t>wheelofnames</a:t>
            </a:r>
            <a:r>
              <a:rPr lang="en-AU" sz="1100" b="0" i="0">
                <a:solidFill>
                  <a:srgbClr val="000000"/>
                </a:solidFill>
                <a:effectLst/>
                <a:latin typeface="Arial"/>
                <a:cs typeface="Arial"/>
              </a:rPr>
              <a:t>.com (n.d.) </a:t>
            </a:r>
            <a:r>
              <a:rPr lang="en-AU" sz="1100" b="0" i="1" u="sng" strike="noStrike">
                <a:solidFill>
                  <a:srgbClr val="2F5496"/>
                </a:solidFill>
                <a:effectLst/>
                <a:latin typeface="Arial"/>
                <a:cs typeface="Arial"/>
                <a:hlinkClick r:id="rId10"/>
              </a:rPr>
              <a:t>Wheel of Names</a:t>
            </a:r>
            <a:r>
              <a:rPr lang="en-AU" sz="1100" b="0" i="0">
                <a:solidFill>
                  <a:srgbClr val="000000"/>
                </a:solidFill>
                <a:effectLst/>
                <a:latin typeface="Arial"/>
                <a:cs typeface="Arial"/>
              </a:rPr>
              <a:t> [website], accessed 26 May 2025. </a:t>
            </a:r>
            <a:endParaRPr lang="en-AU" sz="1100">
              <a:latin typeface="Arial"/>
              <a:cs typeface="Arial"/>
            </a:endParaRPr>
          </a:p>
          <a:p>
            <a:pPr algn="l" rtl="0" fontAlgn="base"/>
            <a:endParaRPr lang="en-AU" sz="1100" b="0" i="0">
              <a:solidFill>
                <a:srgbClr val="000000"/>
              </a:solidFill>
              <a:effectLst/>
              <a:latin typeface="Arial"/>
              <a:cs typeface="Arial"/>
            </a:endParaRP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1">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2">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13">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2" ma:contentTypeDescription="Create a new document." ma:contentTypeScope="" ma:versionID="05891fa245dabad90296fcda280daeb8">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e7d40734bf85537985a675388facd7f"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element name="MediaServiceBillingMetadata" ma:index="3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0129b06-f64b-40a8-96e2-c5b2f86112b1" xsi:nil="true"/>
    <lcf76f155ced4ddcb4097134ff3c332f xmlns="7e763d47-3c66-4c58-9425-1477fd3ccd1e">
      <Terms xmlns="http://schemas.microsoft.com/office/infopath/2007/PartnerControls"/>
    </lcf76f155ced4ddcb4097134ff3c332f>
    <Projectleadreview xmlns="7e763d47-3c66-4c58-9425-1477fd3ccd1e" xsi:nil="true"/>
    <Workstreamleadendorsement xmlns="7e763d47-3c66-4c58-9425-1477fd3ccd1e" xsi:nil="true"/>
    <Digitalsupport xmlns="7e763d47-3c66-4c58-9425-1477fd3ccd1e"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28361716-DEB0-4BCD-A5E9-5121F13A142A}">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24F4DA-5415-43D4-8474-C9BE68919175}">
  <ds:schemaRefs>
    <ds:schemaRef ds:uri="60129b06-f64b-40a8-96e2-c5b2f86112b1"/>
    <ds:schemaRef ds:uri="7e763d47-3c66-4c58-9425-1477fd3ccd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0</TotalTime>
  <Words>6522</Words>
  <Application>Microsoft Office PowerPoint</Application>
  <PresentationFormat>Widescreen</PresentationFormat>
  <Paragraphs>876</Paragraphs>
  <Slides>70</Slides>
  <Notes>70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70</vt:i4>
      </vt:variant>
    </vt:vector>
  </HeadingPairs>
  <TitlesOfParts>
    <vt:vector size="83" baseType="lpstr">
      <vt:lpstr>Calibri</vt:lpstr>
      <vt:lpstr>Courier New</vt:lpstr>
      <vt:lpstr>Edu NSW ACT Foundation</vt:lpstr>
      <vt:lpstr>Cambria Math</vt:lpstr>
      <vt:lpstr>Times New Roman</vt:lpstr>
      <vt:lpstr>Public Sans</vt:lpstr>
      <vt:lpstr>Wingdings</vt:lpstr>
      <vt:lpstr>Public Sans Light</vt:lpstr>
      <vt:lpstr>Symbol</vt:lpstr>
      <vt:lpstr>Arial</vt:lpstr>
      <vt:lpstr>Montserrat</vt:lpstr>
      <vt:lpstr>Arial,Sans-Serif</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missing values (1)</vt:lpstr>
      <vt:lpstr>Activity 1 – missing values (2) (2)</vt:lpstr>
      <vt:lpstr>Review of learning  2</vt:lpstr>
      <vt:lpstr>True or false (1)</vt:lpstr>
      <vt:lpstr>Short response (5)</vt:lpstr>
      <vt:lpstr>Short response (6)</vt:lpstr>
      <vt:lpstr>Short response (7)</vt:lpstr>
      <vt:lpstr>Short response (8)</vt:lpstr>
      <vt:lpstr>Activity 2 – number sentences </vt:lpstr>
      <vt:lpstr>Review of learning 3</vt:lpstr>
      <vt:lpstr>Multiple choice (2)</vt:lpstr>
      <vt:lpstr>Short response (9)</vt:lpstr>
      <vt:lpstr>Short response (10)</vt:lpstr>
      <vt:lpstr>Short response (11)</vt:lpstr>
      <vt:lpstr>Short response (12)</vt:lpstr>
      <vt:lpstr>Activity 3 – missing values (3) </vt:lpstr>
      <vt:lpstr>Review of learning 4</vt:lpstr>
      <vt:lpstr>True or false (2)</vt:lpstr>
      <vt:lpstr>Short response (13)</vt:lpstr>
      <vt:lpstr>Short response (13)</vt:lpstr>
      <vt:lpstr>Short response (14)</vt:lpstr>
      <vt:lpstr>Short response (15)</vt:lpstr>
      <vt:lpstr>Short response (16)</vt:lpstr>
      <vt:lpstr>Activity 4 – part and whole</vt:lpstr>
      <vt:lpstr>Review of learning 5</vt:lpstr>
      <vt:lpstr>Multiple choice (3)</vt:lpstr>
      <vt:lpstr>Short response (17)</vt:lpstr>
      <vt:lpstr>Short response (18)</vt:lpstr>
      <vt:lpstr>Short response (19)</vt:lpstr>
      <vt:lpstr>Short response (20)</vt:lpstr>
      <vt:lpstr>Activity 5 – largest number wins</vt:lpstr>
      <vt:lpstr>Review of learning 6</vt:lpstr>
      <vt:lpstr>True or false (3)</vt:lpstr>
      <vt:lpstr>Short response (21)</vt:lpstr>
      <vt:lpstr>Short response (22)</vt:lpstr>
      <vt:lpstr>Short response (23)</vt:lpstr>
      <vt:lpstr>Short response (24)</vt:lpstr>
      <vt:lpstr>Activity 6 – ten times larger </vt:lpstr>
      <vt:lpstr>Review of learning  7</vt:lpstr>
      <vt:lpstr>Multiple choice (4)</vt:lpstr>
      <vt:lpstr>Short response (25)</vt:lpstr>
      <vt:lpstr>Short response (26)</vt:lpstr>
      <vt:lpstr>Short response (27)</vt:lpstr>
      <vt:lpstr>Short response (28)</vt:lpstr>
      <vt:lpstr>Activity 7 – truth detective(1)</vt:lpstr>
      <vt:lpstr>Review of learning 8</vt:lpstr>
      <vt:lpstr>True or false (4)</vt:lpstr>
      <vt:lpstr>Short response (29)</vt:lpstr>
      <vt:lpstr>Short response (30)</vt:lpstr>
      <vt:lpstr>Short response (31)</vt:lpstr>
      <vt:lpstr>Short response (32)</vt:lpstr>
      <vt:lpstr>Activity 8 – slide it left(2)</vt:lpstr>
      <vt:lpstr>Double Venn diagram</vt:lpstr>
      <vt:lpstr>Frayer</vt:lpstr>
      <vt:lpstr>Spider map</vt:lpstr>
      <vt:lpstr>Cline</vt:lpstr>
      <vt:lpstr>Compare and contrast</vt:lpstr>
      <vt:lpstr>Multiple choice (5)</vt:lpstr>
      <vt:lpstr>Multiple choice (6)</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2025-09-03T02:54:56Z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