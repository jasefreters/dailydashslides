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7"/>
  </p:notesMasterIdLst>
  <p:handoutMasterIdLst>
    <p:handoutMasterId r:id="rId78"/>
  </p:handoutMasterIdLst>
  <p:sldIdLst>
    <p:sldId id="365" r:id="rId5"/>
    <p:sldId id="26505" r:id="rId6"/>
    <p:sldId id="26359" r:id="rId7"/>
    <p:sldId id="271" r:id="rId8"/>
    <p:sldId id="26646"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47" r:id="rId37"/>
    <p:sldId id="26614" r:id="rId38"/>
    <p:sldId id="26615" r:id="rId39"/>
    <p:sldId id="26616" r:id="rId40"/>
    <p:sldId id="26617" r:id="rId41"/>
    <p:sldId id="26618" r:id="rId42"/>
    <p:sldId id="26651" r:id="rId43"/>
    <p:sldId id="26619" r:id="rId44"/>
    <p:sldId id="26622" r:id="rId45"/>
    <p:sldId id="26623" r:id="rId46"/>
    <p:sldId id="26624" r:id="rId47"/>
    <p:sldId id="26625" r:id="rId48"/>
    <p:sldId id="26626" r:id="rId49"/>
    <p:sldId id="26627" r:id="rId50"/>
    <p:sldId id="26652" r:id="rId51"/>
    <p:sldId id="26628" r:id="rId52"/>
    <p:sldId id="26648" r:id="rId53"/>
    <p:sldId id="26632" r:id="rId54"/>
    <p:sldId id="26633" r:id="rId55"/>
    <p:sldId id="26634" r:id="rId56"/>
    <p:sldId id="26644" r:id="rId57"/>
    <p:sldId id="26636" r:id="rId58"/>
    <p:sldId id="26653" r:id="rId59"/>
    <p:sldId id="26637" r:id="rId60"/>
    <p:sldId id="26640" r:id="rId61"/>
    <p:sldId id="26641" r:id="rId62"/>
    <p:sldId id="26642" r:id="rId63"/>
    <p:sldId id="26643" r:id="rId64"/>
    <p:sldId id="26635" r:id="rId65"/>
    <p:sldId id="26645" r:id="rId66"/>
    <p:sldId id="26393" r:id="rId67"/>
    <p:sldId id="26387" r:id="rId68"/>
    <p:sldId id="26395" r:id="rId69"/>
    <p:sldId id="26391" r:id="rId70"/>
    <p:sldId id="26402" r:id="rId71"/>
    <p:sldId id="26507" r:id="rId72"/>
    <p:sldId id="26649" r:id="rId73"/>
    <p:sldId id="360" r:id="rId74"/>
    <p:sldId id="26650" r:id="rId75"/>
    <p:sldId id="361" r:id="rId76"/>
  </p:sldIdLst>
  <p:sldSz cx="12192000" cy="6858000"/>
  <p:notesSz cx="6858000" cy="9144000"/>
  <p:embeddedFontLs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646"/>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47"/>
            <p14:sldId id="26614"/>
            <p14:sldId id="26615"/>
            <p14:sldId id="26616"/>
            <p14:sldId id="26617"/>
            <p14:sldId id="26618"/>
            <p14:sldId id="26651"/>
          </p14:sldIdLst>
        </p14:section>
        <p14:section name="Review of learning 6" id="{6721D3DC-F7BB-49CA-9E61-8454C104591D}">
          <p14:sldIdLst>
            <p14:sldId id="26619"/>
            <p14:sldId id="26622"/>
            <p14:sldId id="26623"/>
            <p14:sldId id="26624"/>
            <p14:sldId id="26625"/>
            <p14:sldId id="26626"/>
            <p14:sldId id="26627"/>
            <p14:sldId id="26652"/>
          </p14:sldIdLst>
        </p14:section>
        <p14:section name="Review of learning 7" id="{CF63834E-0BE9-495B-9761-037C836F185E}">
          <p14:sldIdLst>
            <p14:sldId id="26628"/>
            <p14:sldId id="26648"/>
            <p14:sldId id="26632"/>
            <p14:sldId id="26633"/>
            <p14:sldId id="26634"/>
            <p14:sldId id="26644"/>
            <p14:sldId id="26636"/>
            <p14:sldId id="26653"/>
          </p14:sldIdLst>
        </p14:section>
        <p14:section name="Review of learning 8" id="{6FF8F7EC-803E-4F84-BA41-6B3ED673D597}">
          <p14:sldIdLst>
            <p14:sldId id="26637"/>
            <p14:sldId id="26640"/>
            <p14:sldId id="26641"/>
            <p14:sldId id="26642"/>
            <p14:sldId id="26643"/>
            <p14:sldId id="26635"/>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8EAAFC52-5D86-6FE7-9D47-1FD3C7D0804D}" name="Lisa Kew" initials="LK" userId="S::LISA.JONES13@det.nsw.edu.au::687d7c21-e1c8-437d-b64b-4b01e8e7487e"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6" d="100"/>
          <a:sy n="36" d="100"/>
        </p:scale>
        <p:origin x="520" y="48"/>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6.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1.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2.fntdata"/><Relationship Id="rId85" Type="http://schemas.openxmlformats.org/officeDocument/2006/relationships/font" Target="fonts/font7.fntdata"/><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handoutMaster" Target="handoutMasters/handoutMaster1.xml"/><Relationship Id="rId81" Type="http://schemas.openxmlformats.org/officeDocument/2006/relationships/font" Target="fonts/font3.fntdata"/><Relationship Id="rId86"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9.fntdata"/><Relationship Id="rId61" Type="http://schemas.openxmlformats.org/officeDocument/2006/relationships/slide" Target="slides/slide57.xml"/><Relationship Id="rId82" Type="http://schemas.openxmlformats.org/officeDocument/2006/relationships/font" Target="fonts/font4.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4/05/2026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A Unit 12</a:t>
            </a:r>
          </a:p>
          <a:p>
            <a:pPr marL="285750" indent="-285750">
              <a:buFont typeface="Arial" panose="020B0604020202020204" pitchFamily="34" charset="0"/>
              <a:buChar char="•"/>
            </a:pPr>
            <a:r>
              <a:rPr lang="en-AU"/>
              <a:t>Stage 2 Year A Unit 11</a:t>
            </a:r>
          </a:p>
          <a:p>
            <a:pPr marL="285750" indent="-285750">
              <a:buFont typeface="Arial" panose="020B0604020202020204" pitchFamily="34" charset="0"/>
              <a:buChar char="•"/>
            </a:pPr>
            <a:r>
              <a:rPr lang="en-AU"/>
              <a:t>Stage 2 Year A Unit 10</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(Stage 1 content reviewed)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Exploring multiples</a:t>
            </a:r>
          </a:p>
          <a:p>
            <a:r>
              <a:rPr lang="en-AU" b="0"/>
              <a:t>This image corresponds to Figure 6 – numbers in a box in Stage 2 Year A Unit 12. </a:t>
            </a:r>
          </a:p>
          <a:p>
            <a:pPr marL="342900" indent="-342900">
              <a:buFont typeface="+mj-lt"/>
              <a:buAutoNum type="arabicPeriod"/>
            </a:pPr>
            <a:endParaRPr lang="en-AU" b="0"/>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‘What’s in the Box?’ from NRICH by University of Cambridge.</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Pose the following scenario: I placed 4 numbers into a box. This box multiplied these numbers by another number and 4 new numbers came out. The new numbers that came out were 15, 35, 50 and 75. What 4 numbers did I place in the box to begin with? What is the rule in the box that is multiplying all 4 numbers?</a:t>
            </a:r>
          </a:p>
          <a:p>
            <a:pPr lvl="0"/>
            <a:r>
              <a:rPr lang="en-AU" sz="1600" kern="1200">
                <a:solidFill>
                  <a:schemeClr val="tx1"/>
                </a:solidFill>
                <a:effectLst/>
                <a:latin typeface="Arial" panose="020B0604020202020204" pitchFamily="34" charset="0"/>
                <a:ea typeface="+mn-ea"/>
                <a:cs typeface="Arial" panose="020B0604020202020204" pitchFamily="34" charset="0"/>
              </a:rPr>
              <a:t>2. Students Think-Pair-Share how they would solve this problem.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multiplication might have happened to each number inside the box to get the answers in the picture above?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Are there any other possibilities? How do you know?</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identify 4 more numbers to go into the box and determine what would come out?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can you check your answer using division?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generate a fact family triangle for each of the numbers?</a:t>
            </a:r>
          </a:p>
          <a:p>
            <a:pPr lvl="0"/>
            <a:r>
              <a:rPr lang="en-AU" sz="1600" kern="1200">
                <a:solidFill>
                  <a:schemeClr val="tx1"/>
                </a:solidFill>
                <a:effectLst/>
                <a:latin typeface="Arial" panose="020B0604020202020204" pitchFamily="34" charset="0"/>
                <a:ea typeface="+mn-ea"/>
                <a:cs typeface="Arial" panose="020B0604020202020204" pitchFamily="34" charset="0"/>
              </a:rPr>
              <a:t>3. In pairs, students choose their own set of 4 numbers that will be placed in the box along with a rule. Swap with another pair to solve the problem.</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Fact families</a:t>
            </a:r>
          </a:p>
          <a:p>
            <a:r>
              <a:rPr lang="en-AU" b="0"/>
              <a:t>This resource corresponds to Resource 11 – fact families and </a:t>
            </a:r>
            <a:r>
              <a:rPr lang="en-AU" sz="1600" kern="1200">
                <a:solidFill>
                  <a:schemeClr val="tx1"/>
                </a:solidFill>
                <a:effectLst/>
                <a:latin typeface="Arial" panose="020B0604020202020204" pitchFamily="34" charset="0"/>
                <a:ea typeface="+mn-ea"/>
                <a:cs typeface="Arial" panose="020B0604020202020204" pitchFamily="34" charset="0"/>
              </a:rPr>
              <a:t> Figure 7 – fact families </a:t>
            </a:r>
            <a:r>
              <a:rPr lang="en-AU" b="0"/>
              <a:t>in Stage 2 Year A Unit 12. </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Revise fact family triangles. Model how to write multiplication and division sentences (see Figure 7 – fact families).</a:t>
            </a:r>
          </a:p>
          <a:p>
            <a:pPr lvl="0"/>
            <a:r>
              <a:rPr lang="en-AU" sz="1600" kern="1200">
                <a:solidFill>
                  <a:schemeClr val="tx1"/>
                </a:solidFill>
                <a:effectLst/>
                <a:latin typeface="Arial" panose="020B0604020202020204" pitchFamily="34" charset="0"/>
                <a:ea typeface="+mn-ea"/>
                <a:cs typeface="Arial" panose="020B0604020202020204" pitchFamily="34" charset="0"/>
              </a:rPr>
              <a:t>2. Use arrays to prove the commutative property of multiplication. </a:t>
            </a: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emphasise that the number at the top of the triangle is the product of the 2 factors at the bottom of the triangle. For division, ensure students understand that the product of the fact family must be at the start of the sentence. Division is not commutative, so 2 ÷ 4 = 8 is not correct.</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create the fact families for the remaining triangles. </a:t>
            </a:r>
          </a:p>
          <a:p>
            <a:pPr lvl="0"/>
            <a:r>
              <a:rPr lang="en-AU" sz="1600" kern="1200">
                <a:solidFill>
                  <a:schemeClr val="tx1"/>
                </a:solidFill>
                <a:effectLst/>
                <a:latin typeface="Arial" panose="020B0604020202020204" pitchFamily="34" charset="0"/>
                <a:ea typeface="+mn-ea"/>
                <a:cs typeface="Arial" panose="020B0604020202020204" pitchFamily="34" charset="0"/>
              </a:rPr>
              <a:t>4. Share student responses and record student ideas.</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Using arrays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a:t>
            </a:r>
            <a:r>
              <a:rPr lang="en-AU" sz="1600" kern="1200">
                <a:solidFill>
                  <a:schemeClr val="tx1"/>
                </a:solidFill>
                <a:effectLst/>
                <a:latin typeface="Arial" panose="020B0604020202020204" pitchFamily="34" charset="0"/>
                <a:ea typeface="+mn-ea"/>
                <a:cs typeface="Arial" panose="020B0604020202020204" pitchFamily="34" charset="0"/>
              </a:rPr>
              <a:t>Figure 8 – multiplication and division facts in an array </a:t>
            </a:r>
            <a:r>
              <a:rPr lang="en-AU" b="0"/>
              <a:t>in Stage 2 Year A Unit 12.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Direct students' attention to the following numbers 8, 12, 24, 25, 30 and 35. </a:t>
            </a:r>
          </a:p>
          <a:p>
            <a:pPr lvl="0"/>
            <a:r>
              <a:rPr lang="en-AU" sz="1600" kern="1200">
                <a:solidFill>
                  <a:schemeClr val="tx1"/>
                </a:solidFill>
                <a:effectLst/>
                <a:latin typeface="Arial" panose="020B0604020202020204" pitchFamily="34" charset="0"/>
                <a:ea typeface="+mn-ea"/>
                <a:cs typeface="Arial" panose="020B0604020202020204" pitchFamily="34" charset="0"/>
              </a:rPr>
              <a:t>2. Students make an array to represent their chosen number. For example, 12 dots could be used to make arrays of one row of 12, 12 rows of one, 2 rows of 6, 6 rows of 2, 3 rows of 4 or 4 rows of 3.</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record the multiplication and division fact families. For example, 3 × 4 = 12, 4 × 3 = 12, 12 ÷ 3 = 4, 12 ÷ 4 = 3. Support students to use words rather than symbols if appropriate (see Figure 8 – multiplication and division facts). </a:t>
            </a:r>
          </a:p>
          <a:p>
            <a:pPr lvl="0"/>
            <a:r>
              <a:rPr lang="en-AU" sz="1600" kern="1200">
                <a:solidFill>
                  <a:schemeClr val="tx1"/>
                </a:solidFill>
                <a:effectLst/>
                <a:latin typeface="Arial" panose="020B0604020202020204" pitchFamily="34" charset="0"/>
                <a:ea typeface="+mn-ea"/>
                <a:cs typeface="Arial" panose="020B0604020202020204" pitchFamily="34" charset="0"/>
              </a:rPr>
              <a:t>4. Repeat the process using a different possible array for the same number of dots.</a:t>
            </a:r>
          </a:p>
          <a:p>
            <a:pPr lvl="0"/>
            <a:r>
              <a:rPr lang="en-AU" sz="1600" kern="1200">
                <a:solidFill>
                  <a:schemeClr val="tx1"/>
                </a:solidFill>
                <a:effectLst/>
                <a:latin typeface="Arial" panose="020B0604020202020204" pitchFamily="34" charset="0"/>
                <a:ea typeface="+mn-ea"/>
                <a:cs typeface="Arial" panose="020B0604020202020204" pitchFamily="34" charset="0"/>
              </a:rPr>
              <a:t>5. When all possibilities have been used, students select a new total and repeat the process.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Fact families and arrays</a:t>
            </a:r>
          </a:p>
          <a:p>
            <a:r>
              <a:rPr lang="en-AU" b="0"/>
              <a:t>This resource corresponds to Resource 12 – array matching in Stage 2 Year A Unit 12. </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Provide pairs of students with a set of cards each from </a:t>
            </a:r>
            <a:r>
              <a:rPr lang="en-AU" b="0"/>
              <a:t>Resource 12 – array matching</a:t>
            </a:r>
            <a:r>
              <a:rPr lang="en-AU" sz="1600" kern="1200">
                <a:solidFill>
                  <a:schemeClr val="tx1"/>
                </a:solidFill>
                <a:effectLst/>
                <a:latin typeface="Arial" panose="020B0604020202020204" pitchFamily="34" charset="0"/>
                <a:ea typeface="+mn-ea"/>
                <a:cs typeface="Arial" panose="020B0604020202020204" pitchFamily="34" charset="0"/>
              </a:rPr>
              <a:t>.</a:t>
            </a:r>
          </a:p>
          <a:p>
            <a:pPr lvl="0"/>
            <a:r>
              <a:rPr lang="en-AU" sz="1600" kern="1200">
                <a:solidFill>
                  <a:schemeClr val="tx1"/>
                </a:solidFill>
                <a:effectLst/>
                <a:latin typeface="Arial" panose="020B0604020202020204" pitchFamily="34" charset="0"/>
                <a:ea typeface="+mn-ea"/>
                <a:cs typeface="Arial" panose="020B0604020202020204" pitchFamily="34" charset="0"/>
              </a:rPr>
              <a:t>2. Students shuffle the cards and place them face down in an array formation.</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take turns to turn over 2 cards at a time to try and find a matching set of fact families to an array.</a:t>
            </a:r>
          </a:p>
          <a:p>
            <a:pPr lvl="0"/>
            <a:r>
              <a:rPr lang="en-AU" sz="1600" kern="1200">
                <a:solidFill>
                  <a:schemeClr val="tx1"/>
                </a:solidFill>
                <a:effectLst/>
                <a:latin typeface="Arial" panose="020B0604020202020204" pitchFamily="34" charset="0"/>
                <a:ea typeface="+mn-ea"/>
                <a:cs typeface="Arial" panose="020B0604020202020204" pitchFamily="34" charset="0"/>
              </a:rPr>
              <a:t>4. If students make a match, they get to keep the cards. If the set does not match, the cards get turned face down again.</a:t>
            </a:r>
          </a:p>
          <a:p>
            <a:pPr lvl="0"/>
            <a:r>
              <a:rPr lang="en-AU" sz="1600" kern="1200">
                <a:solidFill>
                  <a:schemeClr val="tx1"/>
                </a:solidFill>
                <a:effectLst/>
                <a:latin typeface="Arial" panose="020B0604020202020204" pitchFamily="34" charset="0"/>
                <a:ea typeface="+mn-ea"/>
                <a:cs typeface="Arial" panose="020B0604020202020204" pitchFamily="34" charset="0"/>
              </a:rPr>
              <a:t>5. Play continues until all sets have been matched.</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2720-0BC8-FA7F-BC47-1C78ADEAB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48631-F898-32A6-78A2-76AA2975D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E66D4-BAB0-850A-44DB-0959EA3E6EA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25E3C821-F7BD-A5FD-0747-F0B52FC6EDC5}"/>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8533541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Using partitioning to add</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b="0"/>
              <a:t>This resource corresponds to </a:t>
            </a:r>
            <a:r>
              <a:rPr lang="en-AU" sz="1600" kern="1200">
                <a:solidFill>
                  <a:schemeClr val="tx1"/>
                </a:solidFill>
                <a:effectLst/>
                <a:latin typeface="Arial" panose="020B0604020202020204" pitchFamily="34" charset="0"/>
                <a:ea typeface="+mn-ea"/>
                <a:cs typeface="Arial" panose="020B0604020202020204" pitchFamily="34" charset="0"/>
              </a:rPr>
              <a:t>Figure 9 – partitioning examples for 689 + 56 in Stage 2 Year A Unit 12</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Discuss standard and non-standard partitioning strategies to add the 2 numbers. </a:t>
            </a:r>
          </a:p>
          <a:p>
            <a:pPr lvl="0"/>
            <a:r>
              <a:rPr lang="en-AU" sz="1600" kern="1200">
                <a:solidFill>
                  <a:schemeClr val="tx1"/>
                </a:solidFill>
                <a:effectLst/>
                <a:latin typeface="Arial" panose="020B0604020202020204" pitchFamily="34" charset="0"/>
                <a:ea typeface="+mn-ea"/>
                <a:cs typeface="Arial" panose="020B0604020202020204" pitchFamily="34" charset="0"/>
              </a:rPr>
              <a:t>2. In pairs, students discuss and record strategies used to find a solution on individual whiteboards.</a:t>
            </a:r>
          </a:p>
          <a:p>
            <a:pPr lvl="0"/>
            <a:r>
              <a:rPr lang="en-AU" sz="1600" kern="1200">
                <a:solidFill>
                  <a:schemeClr val="tx1"/>
                </a:solidFill>
                <a:effectLst/>
                <a:latin typeface="Arial" panose="020B0604020202020204" pitchFamily="34" charset="0"/>
                <a:ea typeface="+mn-ea"/>
                <a:cs typeface="Arial" panose="020B0604020202020204" pitchFamily="34" charset="0"/>
              </a:rPr>
              <a:t>3. Select students to share with the class. Record an example on the board of using quantity values and of bridging to the decade (see Figure 9 – partitioning examples for 689 + 56).</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4. (next slide) Repeat with the equation 549 + 38 = _.</a:t>
            </a:r>
          </a:p>
          <a:p>
            <a:pPr lvl="0"/>
            <a:r>
              <a:rPr lang="en-AU" sz="1600" kern="1200">
                <a:solidFill>
                  <a:schemeClr val="tx1"/>
                </a:solidFill>
                <a:effectLst/>
                <a:latin typeface="Arial" panose="020B0604020202020204" pitchFamily="34" charset="0"/>
                <a:ea typeface="+mn-ea"/>
                <a:cs typeface="Arial" panose="020B0604020202020204" pitchFamily="34" charset="0"/>
              </a:rPr>
              <a:t>5.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partitioning strategy did you prefer to use?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strategy was more efficient in solving the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Are there other ways you can partition the number to solve the problem more efficiently?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917C2-9668-CA50-C26F-925992B7FE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037B6-0579-8DBC-DC12-DB1E57CAE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293212-01DC-B8A0-0B6A-AC43DB7AA3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Using partitioning to add</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to </a:t>
            </a:r>
            <a:r>
              <a:rPr lang="en-AU" sz="1600" kern="1200">
                <a:solidFill>
                  <a:schemeClr val="tx1"/>
                </a:solidFill>
                <a:effectLst/>
                <a:latin typeface="Arial" panose="020B0604020202020204" pitchFamily="34" charset="0"/>
                <a:ea typeface="+mn-ea"/>
                <a:cs typeface="Arial" panose="020B0604020202020204" pitchFamily="34" charset="0"/>
              </a:rPr>
              <a:t>Figure 9 – partitioning examples for 689 + 56 in Stage 2 Year A Unit 12</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Discuss standard and non-standard partitioning strategies to add the 2 numbers. </a:t>
            </a:r>
          </a:p>
          <a:p>
            <a:pPr lvl="0"/>
            <a:r>
              <a:rPr lang="en-AU" sz="1600" kern="1200">
                <a:solidFill>
                  <a:schemeClr val="tx1"/>
                </a:solidFill>
                <a:effectLst/>
                <a:latin typeface="Arial" panose="020B0604020202020204" pitchFamily="34" charset="0"/>
                <a:ea typeface="+mn-ea"/>
                <a:cs typeface="Arial" panose="020B0604020202020204" pitchFamily="34" charset="0"/>
              </a:rPr>
              <a:t>2. In pairs, students discuss and record strategies used to find a solution on individual whiteboards.</a:t>
            </a:r>
          </a:p>
          <a:p>
            <a:pPr lvl="0"/>
            <a:r>
              <a:rPr lang="en-AU" sz="1600" kern="1200">
                <a:solidFill>
                  <a:schemeClr val="tx1"/>
                </a:solidFill>
                <a:effectLst/>
                <a:latin typeface="Arial" panose="020B0604020202020204" pitchFamily="34" charset="0"/>
                <a:ea typeface="+mn-ea"/>
                <a:cs typeface="Arial" panose="020B0604020202020204" pitchFamily="34" charset="0"/>
              </a:rPr>
              <a:t>3. Select students to share with the class. Record an example on the board of using quantity values and of bridging to the decade (see Figure 9 – partitioning examples for 689 + 56).</a:t>
            </a:r>
          </a:p>
          <a:p>
            <a:pPr lvl="0"/>
            <a:r>
              <a:rPr lang="en-AU" sz="1600" kern="1200">
                <a:solidFill>
                  <a:schemeClr val="tx1"/>
                </a:solidFill>
                <a:effectLst/>
                <a:latin typeface="Arial" panose="020B0604020202020204" pitchFamily="34" charset="0"/>
                <a:ea typeface="+mn-ea"/>
                <a:cs typeface="Arial" panose="020B0604020202020204" pitchFamily="34" charset="0"/>
              </a:rPr>
              <a:t>4.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partitioning strategy did you prefer to use?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strategy was more efficient in solving the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Are there other ways you can partition the number to solve the problem more efficiently?</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9544E379-CD76-AAD8-1616-70BAF342C228}"/>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9675706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Using constant difference to subtract</a:t>
            </a:r>
          </a:p>
          <a:p>
            <a:endParaRPr lang="en-AU" b="1"/>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to </a:t>
            </a:r>
            <a:r>
              <a:rPr lang="en-AU" sz="1600" kern="1200">
                <a:solidFill>
                  <a:schemeClr val="tx1"/>
                </a:solidFill>
                <a:effectLst/>
                <a:latin typeface="Arial" panose="020B0604020202020204" pitchFamily="34" charset="0"/>
                <a:ea typeface="+mn-ea"/>
                <a:cs typeface="Arial" panose="020B0604020202020204" pitchFamily="34" charset="0"/>
              </a:rPr>
              <a:t>Resource 13 – 119 number chart and Figure 10 – constant difference 352 − 98 = in Stage 2 Year A Unit 12.</a:t>
            </a:r>
            <a:endParaRPr lang="en-AU" b="1"/>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‘Race to zero’ was played </a:t>
            </a:r>
            <a:r>
              <a:rPr lang="en-AU" sz="1600" b="0" kern="1200">
                <a:solidFill>
                  <a:schemeClr val="tx1"/>
                </a:solidFill>
                <a:effectLst/>
                <a:latin typeface="Arial" panose="020B0604020202020204" pitchFamily="34" charset="0"/>
                <a:ea typeface="+mn-ea"/>
                <a:cs typeface="Arial" panose="020B0604020202020204" pitchFamily="34" charset="0"/>
              </a:rPr>
              <a:t>in Stage 2 Year A Unit 2. Resources </a:t>
            </a:r>
            <a:r>
              <a:rPr lang="en-AU" sz="1600" kern="1200">
                <a:solidFill>
                  <a:schemeClr val="tx1"/>
                </a:solidFill>
                <a:effectLst/>
                <a:latin typeface="Arial" panose="020B0604020202020204" pitchFamily="34" charset="0"/>
                <a:ea typeface="+mn-ea"/>
                <a:cs typeface="Arial" panose="020B0604020202020204" pitchFamily="34" charset="0"/>
              </a:rPr>
              <a:t>for the game may already be printed.</a:t>
            </a:r>
          </a:p>
          <a:p>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Discuss how the numbers in the equation can be adjusted up or down to help solve the problem.</a:t>
            </a:r>
          </a:p>
          <a:p>
            <a:pPr lvl="0"/>
            <a:r>
              <a:rPr lang="en-AU" sz="1600" kern="1200">
                <a:solidFill>
                  <a:schemeClr val="tx1"/>
                </a:solidFill>
                <a:effectLst/>
                <a:latin typeface="Arial" panose="020B0604020202020204" pitchFamily="34" charset="0"/>
                <a:ea typeface="+mn-ea"/>
                <a:cs typeface="Arial" panose="020B0604020202020204" pitchFamily="34" charset="0"/>
              </a:rPr>
              <a:t>2. In pairs, students discuss strategies to adjust the numbers and record a solution on individual whiteboards.</a:t>
            </a:r>
          </a:p>
          <a:p>
            <a:pPr lvl="0"/>
            <a:r>
              <a:rPr lang="en-AU" sz="1600" kern="1200">
                <a:solidFill>
                  <a:schemeClr val="tx1"/>
                </a:solidFill>
                <a:effectLst/>
                <a:latin typeface="Arial" panose="020B0604020202020204" pitchFamily="34" charset="0"/>
                <a:ea typeface="+mn-ea"/>
                <a:cs typeface="Arial" panose="020B0604020202020204" pitchFamily="34" charset="0"/>
              </a:rPr>
              <a:t>3. Select students to share with the class. Record an example on the board and ensure students recognise that the constant difference strategy keeps the distance between the 2 numbers the same (see Figure 10 – constant difference 352 − 98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4. (next slide) Provide students with Resource 13 – 119 number chart to play ‘Race to zero’.</a:t>
            </a:r>
          </a:p>
          <a:p>
            <a:pPr lvl="0"/>
            <a:r>
              <a:rPr lang="en-AU" sz="1600" kern="1200">
                <a:solidFill>
                  <a:schemeClr val="tx1"/>
                </a:solidFill>
                <a:effectLst/>
                <a:latin typeface="Arial" panose="020B0604020202020204" pitchFamily="34" charset="0"/>
                <a:ea typeface="+mn-ea"/>
                <a:cs typeface="Arial" panose="020B0604020202020204" pitchFamily="34" charset="0"/>
              </a:rPr>
              <a:t>5. Explain that the goal is to be the first to reach zero. The rules of the game are as follows: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Start at 119 and subtract 2-digit numbers generated by rolling a dice.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Apply constant difference to solve (for example, 119 − 23 becomes 120 − 24), use writing materials to support problem solving.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your thinking to your partner. If agreed upon, move your counter toward zero.</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You must land exactly on zero. If the roll goes below zero, return to 25 for the next turn.</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D5895-15B5-325D-7F84-A5946DE35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C1891-78E0-844B-5479-3F51F330F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485F9-E16D-E62F-8AA9-92A3DC4B895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Using constant difference to subtract</a:t>
            </a:r>
          </a:p>
          <a:p>
            <a:r>
              <a:rPr lang="en-AU" b="0"/>
              <a:t>This resource corresponds to </a:t>
            </a:r>
            <a:r>
              <a:rPr lang="en-AU" sz="1600" kern="1200">
                <a:solidFill>
                  <a:schemeClr val="tx1"/>
                </a:solidFill>
                <a:effectLst/>
                <a:latin typeface="Arial" panose="020B0604020202020204" pitchFamily="34" charset="0"/>
                <a:ea typeface="+mn-ea"/>
                <a:cs typeface="Arial" panose="020B0604020202020204" pitchFamily="34" charset="0"/>
              </a:rPr>
              <a:t>Resource 13 – 119 number chart in Stage 2 Year A Unit 12. </a:t>
            </a:r>
            <a:endParaRPr lang="en-AU" b="1"/>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‘Race to zero’ was played in </a:t>
            </a:r>
            <a:r>
              <a:rPr lang="en-AU" sz="1600" b="0" kern="1200">
                <a:solidFill>
                  <a:schemeClr val="tx1"/>
                </a:solidFill>
                <a:effectLst/>
                <a:latin typeface="Arial" panose="020B0604020202020204" pitchFamily="34" charset="0"/>
                <a:ea typeface="+mn-ea"/>
                <a:cs typeface="Arial" panose="020B0604020202020204" pitchFamily="34" charset="0"/>
              </a:rPr>
              <a:t>Stage 2 Year A Unit 2</a:t>
            </a:r>
            <a:r>
              <a:rPr lang="en-AU" sz="1600" kern="1200">
                <a:solidFill>
                  <a:schemeClr val="tx1"/>
                </a:solidFill>
                <a:effectLst/>
                <a:latin typeface="Arial" panose="020B0604020202020204" pitchFamily="34" charset="0"/>
                <a:ea typeface="+mn-ea"/>
                <a:cs typeface="Arial" panose="020B0604020202020204" pitchFamily="34" charset="0"/>
              </a:rPr>
              <a:t>. Resources for the game may already be printed.</a:t>
            </a:r>
          </a:p>
          <a:p>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4. Provide students with Resource 13 – 119 number chart to play ‘Race to zero’.</a:t>
            </a:r>
          </a:p>
          <a:p>
            <a:pPr lvl="0"/>
            <a:r>
              <a:rPr lang="en-AU" sz="1600" kern="1200">
                <a:solidFill>
                  <a:schemeClr val="tx1"/>
                </a:solidFill>
                <a:effectLst/>
                <a:latin typeface="Arial" panose="020B0604020202020204" pitchFamily="34" charset="0"/>
                <a:ea typeface="+mn-ea"/>
                <a:cs typeface="Arial" panose="020B0604020202020204" pitchFamily="34" charset="0"/>
              </a:rPr>
              <a:t>5. Explain that the goal is to be the first to reach zero. The rules of the game are as follows: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Start at 119 and subtract 2-digit numbers generated by rolling a dice.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Apply constant difference to solve (for example, 119 − 23 becomes 120 − 24), use writing materials to support problem solving.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your thinking to your partner. If agreed upon, move your counter toward zero.</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You must land exactly on zero. If the roll goes below zero, return to 25 for the next turn.</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35C4104-2BAB-109B-DCE6-031830D9C414}"/>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2785110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Comparing additive strategies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In small groups, students solve the equation 314 + 96 using 3 different additive strategies.</a:t>
            </a:r>
          </a:p>
          <a:p>
            <a:pPr lvl="0"/>
            <a:r>
              <a:rPr lang="en-AU" sz="1600" kern="1200">
                <a:solidFill>
                  <a:schemeClr val="tx1"/>
                </a:solidFill>
                <a:effectLst/>
                <a:latin typeface="Arial" panose="020B0604020202020204" pitchFamily="34" charset="0"/>
                <a:ea typeface="+mn-ea"/>
                <a:cs typeface="Arial" panose="020B0604020202020204" pitchFamily="34" charset="0"/>
              </a:rPr>
              <a:t>2. Select groups to share with the class. Record an example of each strategy on the board.</a:t>
            </a:r>
          </a:p>
          <a:p>
            <a:pPr lvl="0"/>
            <a:r>
              <a:rPr lang="en-AU" sz="1600" kern="1200">
                <a:solidFill>
                  <a:schemeClr val="tx1"/>
                </a:solidFill>
                <a:effectLst/>
                <a:latin typeface="Arial" panose="020B0604020202020204" pitchFamily="34" charset="0"/>
                <a:ea typeface="+mn-ea"/>
                <a:cs typeface="Arial" panose="020B0604020202020204" pitchFamily="34" charset="0"/>
              </a:rPr>
              <a:t>3.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was the solution?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did you find most efficient?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did you find least efficient?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strategy is your personal favourite? Is it also your most efficient?</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4. (next slide) Repeat steps 1–3 with the equation 987 + 32 = _.</a:t>
            </a:r>
          </a:p>
          <a:p>
            <a:pPr lvl="0"/>
            <a:r>
              <a:rPr lang="en-AU" sz="1600" kern="1200">
                <a:solidFill>
                  <a:schemeClr val="tx1"/>
                </a:solidFill>
                <a:effectLst/>
                <a:latin typeface="Arial" panose="020B0604020202020204" pitchFamily="34" charset="0"/>
                <a:ea typeface="+mn-ea"/>
                <a:cs typeface="Arial" panose="020B0604020202020204" pitchFamily="34" charset="0"/>
              </a:rPr>
              <a:t>5. Discuss that the most effective strategy may vary; learning different methods gives students the flexibility to determine which is the fastest and/or most efficient for them.</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1A0DB-49ED-2ACD-E410-C30F47A235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C88E3-D316-A304-BF96-D6EF727DAC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C0E13-0F0C-320F-780A-486F8F0E0241}"/>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Comparing additive strategies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In small groups, students solve the equation 987 + 32 = _.using 3 different additive strategies.</a:t>
            </a:r>
          </a:p>
          <a:p>
            <a:pPr lvl="0"/>
            <a:r>
              <a:rPr lang="en-AU" sz="1600" kern="1200">
                <a:solidFill>
                  <a:schemeClr val="tx1"/>
                </a:solidFill>
                <a:effectLst/>
                <a:latin typeface="Arial" panose="020B0604020202020204" pitchFamily="34" charset="0"/>
                <a:ea typeface="+mn-ea"/>
                <a:cs typeface="Arial" panose="020B0604020202020204" pitchFamily="34" charset="0"/>
              </a:rPr>
              <a:t>2. Select groups to share with the class. Record an example of each strategy on the board.</a:t>
            </a:r>
          </a:p>
          <a:p>
            <a:pPr lvl="0"/>
            <a:r>
              <a:rPr lang="en-AU" sz="1600" kern="1200">
                <a:solidFill>
                  <a:schemeClr val="tx1"/>
                </a:solidFill>
                <a:effectLst/>
                <a:latin typeface="Arial" panose="020B0604020202020204" pitchFamily="34" charset="0"/>
                <a:ea typeface="+mn-ea"/>
                <a:cs typeface="Arial" panose="020B0604020202020204" pitchFamily="34" charset="0"/>
              </a:rPr>
              <a:t>3.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was the solution?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did you find most efficient?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strategy did you find least efficient?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strategy is your personal favourite? Is it also your most efficient?</a:t>
            </a:r>
          </a:p>
          <a:p>
            <a:pPr lvl="0"/>
            <a:r>
              <a:rPr lang="en-AU" sz="1600" kern="1200">
                <a:solidFill>
                  <a:schemeClr val="tx1"/>
                </a:solidFill>
                <a:effectLst/>
                <a:latin typeface="Arial" panose="020B0604020202020204" pitchFamily="34" charset="0"/>
                <a:ea typeface="+mn-ea"/>
                <a:cs typeface="Arial" panose="020B0604020202020204" pitchFamily="34" charset="0"/>
              </a:rPr>
              <a:t>4. Discuss that the most effective strategy may vary; learning different methods gives students the flexibility to determine which is the fastest and/or most efficient for them.</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62A4862D-85A3-FE26-CF35-8F12FCD08700}"/>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4842976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Comparing strategies for subtraction</a:t>
            </a:r>
          </a:p>
          <a:p>
            <a:endParaRPr lang="en-AU" b="0"/>
          </a:p>
          <a:p>
            <a:pPr lvl="0"/>
            <a:r>
              <a:rPr lang="en-AU" sz="1600" kern="1200">
                <a:solidFill>
                  <a:schemeClr val="tx1"/>
                </a:solidFill>
                <a:effectLst/>
                <a:latin typeface="Arial" panose="020B0604020202020204" pitchFamily="34" charset="0"/>
                <a:ea typeface="+mn-ea"/>
                <a:cs typeface="Arial" panose="020B0604020202020204" pitchFamily="34" charset="0"/>
              </a:rPr>
              <a:t>1. Provide pairs of students with a 9-sided dice. In pairs, students roll the dice to make a 3-digit and a 2-digit number.</a:t>
            </a:r>
          </a:p>
          <a:p>
            <a:pPr lvl="0"/>
            <a:r>
              <a:rPr lang="en-AU" sz="1600" kern="1200">
                <a:solidFill>
                  <a:schemeClr val="tx1"/>
                </a:solidFill>
                <a:effectLst/>
                <a:latin typeface="Arial" panose="020B0604020202020204" pitchFamily="34" charset="0"/>
                <a:ea typeface="+mn-ea"/>
                <a:cs typeface="Arial" panose="020B0604020202020204" pitchFamily="34" charset="0"/>
              </a:rPr>
              <a:t>2. Students use those 2 recorded numbers to create a subtraction number sentence. </a:t>
            </a:r>
          </a:p>
          <a:p>
            <a:pPr lvl="0"/>
            <a:r>
              <a:rPr lang="en-AU" sz="1600" kern="1200">
                <a:solidFill>
                  <a:schemeClr val="tx1"/>
                </a:solidFill>
                <a:effectLst/>
                <a:latin typeface="Arial" panose="020B0604020202020204" pitchFamily="34" charset="0"/>
                <a:ea typeface="+mn-ea"/>
                <a:cs typeface="Arial" panose="020B0604020202020204" pitchFamily="34" charset="0"/>
              </a:rPr>
              <a:t>3. Pairs solve the number sentence using 3 different additive strategies.</a:t>
            </a:r>
          </a:p>
          <a:p>
            <a:pPr lvl="0"/>
            <a:r>
              <a:rPr lang="en-AU" sz="1600" kern="1200">
                <a:solidFill>
                  <a:schemeClr val="tx1"/>
                </a:solidFill>
                <a:effectLst/>
                <a:latin typeface="Arial" panose="020B0604020202020204" pitchFamily="34" charset="0"/>
                <a:ea typeface="+mn-ea"/>
                <a:cs typeface="Arial" panose="020B0604020202020204" pitchFamily="34" charset="0"/>
              </a:rPr>
              <a:t>4. Students compare their strategies with another pair.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strategy was the most efficient?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Where did regrouping or non-standard partitioning help?</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Would the same strategy be efficient for different numbers?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there a strategy you have not used before, that you could use next time?</a:t>
            </a:r>
          </a:p>
          <a:p>
            <a:pPr lvl="0"/>
            <a:r>
              <a:rPr lang="en-AU" sz="1600" kern="1200">
                <a:solidFill>
                  <a:schemeClr val="tx1"/>
                </a:solidFill>
                <a:effectLst/>
                <a:latin typeface="Arial" panose="020B0604020202020204" pitchFamily="34" charset="0"/>
                <a:ea typeface="+mn-ea"/>
                <a:cs typeface="Arial" panose="020B0604020202020204" pitchFamily="34" charset="0"/>
              </a:rPr>
              <a:t>5. Repeat the process with a new set of dice rolls.</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E76CB-BBAC-CB86-FDB1-B2B7199AE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EE491-E46C-DBC3-D40A-59883B683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1064A7-AD02-6212-1991-73CDAEDA41FE}"/>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C4EB42C8-34C4-7F29-60D3-2AC2E0B77B21}"/>
              </a:ext>
            </a:extLst>
          </p:cNvPr>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323413966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72</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6.xml"/><Relationship Id="rId4" Type="http://schemas.openxmlformats.org/officeDocument/2006/relationships/slide" Target="slide11.xml"/><Relationship Id="rId9" Type="http://schemas.openxmlformats.org/officeDocument/2006/relationships/slide" Target="slide4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25.svg"/><Relationship Id="rId4" Type="http://schemas.openxmlformats.org/officeDocument/2006/relationships/image" Target="../media/image24.sv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 Id="rId5" Type="http://schemas.openxmlformats.org/officeDocument/2006/relationships/image" Target="../media/image38.svg"/><Relationship Id="rId4" Type="http://schemas.openxmlformats.org/officeDocument/2006/relationships/image" Target="../media/image37.svg"/></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4.xml"/><Relationship Id="rId6" Type="http://schemas.openxmlformats.org/officeDocument/2006/relationships/hyperlink" Target="https://chrome-extension/efaidnbmnnnibpcajpcglclefindmkaj/https:/education.nsw.gov.au/content/dam/main-education/teaching-and-learning/curriculum/key-learning-areas/mathematics/media/documents/mathematics-s2-race-to-zero-0-119-hundreds-chart.pdf" TargetMode="External"/><Relationship Id="rId5" Type="http://schemas.openxmlformats.org/officeDocument/2006/relationships/hyperlink" Target="https://education.nsw.gov.au/teaching-and-learning/curriculum/mathematics/mathematics-curriculum-resources-k-12/thinking-mathematically-resources/mathematics-s1-s2-race-to-zero-subtracting-tens-and-ones#:~:text=0%2D119%20hundreds%20chart%20for%20the%20gameboard%20(PDF%20138.4%20KB)" TargetMode="External"/><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image" Target="../media/image44.png"/></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2.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7.xml"/><Relationship Id="rId1" Type="http://schemas.openxmlformats.org/officeDocument/2006/relationships/slideLayout" Target="../slideLayouts/slideLayout11.xml"/><Relationship Id="rId5" Type="http://schemas.openxmlformats.org/officeDocument/2006/relationships/image" Target="../media/image50.svg"/><Relationship Id="rId4" Type="http://schemas.openxmlformats.org/officeDocument/2006/relationships/slide" Target="slide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70.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10" Type="http://schemas.openxmlformats.org/officeDocument/2006/relationships/hyperlink" Target="https://education.nsw.gov.au/teaching-and-learning/curriculum/literacy-and-numeracy/teaching-and-learning-resources/numeracy/understanding-units-of-measurement#:~:text=to%20Stage%201-,Stage%202%20to%20Stage%203,-A%20teaching%20resource"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toytheater.com/geoboard/"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71.xml"/><Relationship Id="rId1" Type="http://schemas.openxmlformats.org/officeDocument/2006/relationships/slideLayout" Target="../slideLayouts/slideLayout13.xml"/><Relationship Id="rId6" Type="http://schemas.openxmlformats.org/officeDocument/2006/relationships/hyperlink" Target="https://nrich.maths.org/5576"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t>This resource aligns to the learning in Stage 2 Year A Unit 12 and revisits content from earlier sample units.</a:t>
            </a:r>
            <a:r>
              <a:rPr lang="en-US" sz="1800"/>
              <a:t>​ </a:t>
            </a:r>
          </a:p>
          <a:p>
            <a:pPr marL="342900" indent="-342900">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12</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9BDCD778-E71A-A4F2-9CEF-2A78DFB28F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474481" y="929846"/>
            <a:ext cx="10649519" cy="754243"/>
          </a:xfrm>
        </p:spPr>
        <p:txBody>
          <a:bodyPr/>
          <a:lstStyle/>
          <a:p>
            <a:pPr algn="ctr"/>
            <a:r>
              <a:rPr lang="en-AU" sz="3400" dirty="0"/>
              <a:t>I have a set of numbers. When I multiplied each number in the set by </a:t>
            </a:r>
            <a:r>
              <a:rPr lang="en-AU" sz="3400" b="1" dirty="0"/>
              <a:t>4, </a:t>
            </a:r>
            <a:r>
              <a:rPr lang="en-AU" sz="3400" dirty="0"/>
              <a:t>the </a:t>
            </a:r>
            <a:r>
              <a:rPr lang="en-AU" sz="3400" b="1" dirty="0"/>
              <a:t>products</a:t>
            </a:r>
            <a:r>
              <a:rPr lang="en-AU" sz="3400" dirty="0"/>
              <a:t> were </a:t>
            </a:r>
            <a:r>
              <a:rPr lang="en-AU" sz="3400" b="1" dirty="0"/>
              <a:t>12</a:t>
            </a:r>
            <a:r>
              <a:rPr lang="en-AU" sz="3400" dirty="0"/>
              <a:t>, </a:t>
            </a:r>
            <a:r>
              <a:rPr lang="en-AU" sz="3400" b="1" dirty="0"/>
              <a:t>20</a:t>
            </a:r>
            <a:r>
              <a:rPr lang="en-AU" sz="3400" dirty="0"/>
              <a:t>, </a:t>
            </a:r>
            <a:r>
              <a:rPr lang="en-AU" sz="3400" b="1" dirty="0"/>
              <a:t>28</a:t>
            </a:r>
            <a:r>
              <a:rPr lang="en-AU" sz="3400" dirty="0"/>
              <a:t> and </a:t>
            </a:r>
            <a:r>
              <a:rPr lang="en-AU" sz="3400" b="1" dirty="0"/>
              <a:t>36</a:t>
            </a:r>
            <a:r>
              <a:rPr lang="en-AU" sz="3400" dirty="0"/>
              <a:t>. Which set of numbers were </a:t>
            </a:r>
            <a:r>
              <a:rPr lang="en-AU" sz="3400" b="1" dirty="0"/>
              <a:t>multiplied by 4</a:t>
            </a:r>
            <a:r>
              <a:rPr lang="en-AU" sz="3400" dirty="0"/>
              <a:t>?</a:t>
            </a:r>
            <a:endParaRPr lang="en-US" sz="3400" dirty="0"/>
          </a:p>
        </p:txBody>
      </p:sp>
      <p:sp>
        <p:nvSpPr>
          <p:cNvPr id="9" name="B">
            <a:extLst>
              <a:ext uri="{FF2B5EF4-FFF2-40B4-BE49-F238E27FC236}">
                <a16:creationId xmlns:a16="http://schemas.microsoft.com/office/drawing/2014/main" id="{2579E796-78E6-099B-1516-BE205CC4FACD}"/>
              </a:ext>
            </a:extLst>
          </p:cNvPr>
          <p:cNvSpPr txBox="1"/>
          <p:nvPr/>
        </p:nvSpPr>
        <p:spPr>
          <a:xfrm>
            <a:off x="670560" y="32758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45520" y="3275511"/>
            <a:ext cx="10175920" cy="641396"/>
          </a:xfrm>
        </p:spPr>
        <p:txBody>
          <a:bodyPr anchor="ctr"/>
          <a:lstStyle/>
          <a:p>
            <a:r>
              <a:rPr lang="en-US" sz="3600"/>
              <a:t>3, 5, 7, 9</a:t>
            </a:r>
          </a:p>
        </p:txBody>
      </p:sp>
      <p:sp>
        <p:nvSpPr>
          <p:cNvPr id="10" name="B">
            <a:extLst>
              <a:ext uri="{FF2B5EF4-FFF2-40B4-BE49-F238E27FC236}">
                <a16:creationId xmlns:a16="http://schemas.microsoft.com/office/drawing/2014/main" id="{04CBC687-138E-8135-BF08-A76285D998BD}"/>
              </a:ext>
            </a:extLst>
          </p:cNvPr>
          <p:cNvSpPr txBox="1"/>
          <p:nvPr/>
        </p:nvSpPr>
        <p:spPr>
          <a:xfrm>
            <a:off x="670559" y="412379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4078673"/>
            <a:ext cx="10175920" cy="641396"/>
          </a:xfrm>
        </p:spPr>
        <p:txBody>
          <a:bodyPr anchor="ctr"/>
          <a:lstStyle/>
          <a:p>
            <a:r>
              <a:rPr lang="en-US" sz="3600"/>
              <a:t>4, 6, 8, 10</a:t>
            </a:r>
          </a:p>
        </p:txBody>
      </p:sp>
      <p:sp>
        <p:nvSpPr>
          <p:cNvPr id="12" name="C">
            <a:extLst>
              <a:ext uri="{FF2B5EF4-FFF2-40B4-BE49-F238E27FC236}">
                <a16:creationId xmlns:a16="http://schemas.microsoft.com/office/drawing/2014/main" id="{C605E3A9-768F-B21E-1E87-27B06AEB3AF5}"/>
              </a:ext>
            </a:extLst>
          </p:cNvPr>
          <p:cNvSpPr txBox="1"/>
          <p:nvPr/>
        </p:nvSpPr>
        <p:spPr>
          <a:xfrm>
            <a:off x="670558" y="497384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4909408"/>
            <a:ext cx="10175920" cy="641396"/>
          </a:xfrm>
        </p:spPr>
        <p:txBody>
          <a:bodyPr anchor="ctr"/>
          <a:lstStyle/>
          <a:p>
            <a:r>
              <a:rPr lang="en-US" sz="3600"/>
              <a:t>2, 4, 6, 8</a:t>
            </a:r>
          </a:p>
        </p:txBody>
      </p:sp>
      <p:sp>
        <p:nvSpPr>
          <p:cNvPr id="11" name="D">
            <a:extLst>
              <a:ext uri="{FF2B5EF4-FFF2-40B4-BE49-F238E27FC236}">
                <a16:creationId xmlns:a16="http://schemas.microsoft.com/office/drawing/2014/main" id="{8EADE37E-99CA-3A50-524F-30E28DF3B7C4}"/>
              </a:ext>
            </a:extLst>
          </p:cNvPr>
          <p:cNvSpPr txBox="1"/>
          <p:nvPr/>
        </p:nvSpPr>
        <p:spPr>
          <a:xfrm>
            <a:off x="670557" y="582390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0" y="5751655"/>
            <a:ext cx="10175920" cy="641396"/>
          </a:xfrm>
        </p:spPr>
        <p:txBody>
          <a:bodyPr anchor="ctr"/>
          <a:lstStyle/>
          <a:p>
            <a:r>
              <a:rPr lang="en-US" sz="3600"/>
              <a:t>8, 12, 16, 20</a:t>
            </a:r>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4" name="TextBox 3">
            <a:extLst>
              <a:ext uri="{FF2B5EF4-FFF2-40B4-BE49-F238E27FC236}">
                <a16:creationId xmlns:a16="http://schemas.microsoft.com/office/drawing/2014/main" id="{CE9FC6A2-CEB6-FA96-B5D8-672344B86C3C}"/>
              </a:ext>
              <a:ext uri="{C183D7F6-B498-43B3-948B-1728B52AA6E4}">
                <adec:decorative xmlns:adec="http://schemas.microsoft.com/office/drawing/2017/decorative" val="0"/>
              </a:ext>
            </a:extLst>
          </p:cNvPr>
          <p:cNvSpPr txBox="1"/>
          <p:nvPr/>
        </p:nvSpPr>
        <p:spPr>
          <a:xfrm>
            <a:off x="467591" y="1184224"/>
            <a:ext cx="10562885" cy="636878"/>
          </a:xfrm>
          <a:prstGeom prst="rect">
            <a:avLst/>
          </a:prstGeom>
          <a:noFill/>
        </p:spPr>
        <p:txBody>
          <a:bodyPr wrap="square" lIns="0" tIns="0" rIns="0" bIns="0" rtlCol="0">
            <a:noAutofit/>
          </a:bodyPr>
          <a:lstStyle/>
          <a:p>
            <a:pPr algn="ctr"/>
            <a:r>
              <a:rPr lang="en-AU" sz="3600"/>
              <a:t>Match the description to the two-dimensional shape:</a:t>
            </a:r>
          </a:p>
        </p:txBody>
      </p:sp>
      <p:sp>
        <p:nvSpPr>
          <p:cNvPr id="5" name="TextBox 4">
            <a:extLst>
              <a:ext uri="{FF2B5EF4-FFF2-40B4-BE49-F238E27FC236}">
                <a16:creationId xmlns:a16="http://schemas.microsoft.com/office/drawing/2014/main" id="{1A104692-58A5-DF3D-78BE-B1B595131FAA}"/>
              </a:ext>
            </a:extLst>
          </p:cNvPr>
          <p:cNvSpPr txBox="1"/>
          <p:nvPr/>
        </p:nvSpPr>
        <p:spPr>
          <a:xfrm>
            <a:off x="467591" y="1821102"/>
            <a:ext cx="7618574" cy="3954862"/>
          </a:xfrm>
          <a:prstGeom prst="rect">
            <a:avLst/>
          </a:prstGeom>
          <a:noFill/>
        </p:spPr>
        <p:txBody>
          <a:bodyPr wrap="square" lIns="0" tIns="0" rIns="0" bIns="0" rtlCol="0">
            <a:noAutofit/>
          </a:bodyPr>
          <a:lstStyle/>
          <a:p>
            <a:pPr marL="514350" indent="-514350" algn="l">
              <a:lnSpc>
                <a:spcPct val="250000"/>
              </a:lnSpc>
              <a:spcBef>
                <a:spcPts val="1200"/>
              </a:spcBef>
              <a:spcAft>
                <a:spcPts val="600"/>
              </a:spcAft>
              <a:buFont typeface="+mj-lt"/>
              <a:buAutoNum type="alphaLcParenR"/>
            </a:pPr>
            <a:r>
              <a:rPr lang="en-AU" sz="3600"/>
              <a:t>A shape with </a:t>
            </a:r>
            <a:r>
              <a:rPr lang="en-AU" sz="3600" b="1"/>
              <a:t>3 straight sides</a:t>
            </a:r>
            <a:r>
              <a:rPr lang="en-AU" sz="3600"/>
              <a:t>.</a:t>
            </a:r>
          </a:p>
          <a:p>
            <a:pPr marL="514350" indent="-514350" algn="l">
              <a:lnSpc>
                <a:spcPct val="250000"/>
              </a:lnSpc>
              <a:spcBef>
                <a:spcPts val="1200"/>
              </a:spcBef>
              <a:spcAft>
                <a:spcPts val="600"/>
              </a:spcAft>
              <a:buFont typeface="+mj-lt"/>
              <a:buAutoNum type="alphaLcParenR"/>
            </a:pPr>
            <a:r>
              <a:rPr lang="en-AU" sz="3600"/>
              <a:t>A shape with </a:t>
            </a:r>
            <a:r>
              <a:rPr lang="en-AU" sz="3600" b="1"/>
              <a:t>5 straight sides</a:t>
            </a:r>
            <a:r>
              <a:rPr lang="en-AU" sz="3600"/>
              <a:t>.</a:t>
            </a:r>
          </a:p>
          <a:p>
            <a:pPr marL="514350" indent="-514350" algn="l">
              <a:lnSpc>
                <a:spcPct val="250000"/>
              </a:lnSpc>
              <a:spcBef>
                <a:spcPts val="1200"/>
              </a:spcBef>
              <a:spcAft>
                <a:spcPts val="600"/>
              </a:spcAft>
              <a:buFont typeface="+mj-lt"/>
              <a:buAutoNum type="alphaLcParenR"/>
            </a:pPr>
            <a:r>
              <a:rPr lang="en-AU" sz="3600"/>
              <a:t>A shape with </a:t>
            </a:r>
            <a:r>
              <a:rPr lang="en-AU" sz="3600" b="1"/>
              <a:t>6 straight sides</a:t>
            </a:r>
            <a:r>
              <a:rPr lang="en-AU" sz="3200"/>
              <a:t>.</a:t>
            </a:r>
          </a:p>
        </p:txBody>
      </p:sp>
      <p:sp>
        <p:nvSpPr>
          <p:cNvPr id="7" name="TextBox 6">
            <a:extLst>
              <a:ext uri="{FF2B5EF4-FFF2-40B4-BE49-F238E27FC236}">
                <a16:creationId xmlns:a16="http://schemas.microsoft.com/office/drawing/2014/main" id="{2359470F-8476-64BD-F4DD-B34662D39C5E}"/>
              </a:ext>
            </a:extLst>
          </p:cNvPr>
          <p:cNvSpPr txBox="1"/>
          <p:nvPr/>
        </p:nvSpPr>
        <p:spPr>
          <a:xfrm>
            <a:off x="8934354" y="1821242"/>
            <a:ext cx="2790055" cy="4416136"/>
          </a:xfrm>
          <a:prstGeom prst="rect">
            <a:avLst/>
          </a:prstGeom>
          <a:noFill/>
        </p:spPr>
        <p:txBody>
          <a:bodyPr wrap="square" lIns="0" tIns="0" rIns="0" bIns="0" rtlCol="0">
            <a:noAutofit/>
          </a:bodyPr>
          <a:lstStyle/>
          <a:p>
            <a:pPr marL="742950" indent="-742950">
              <a:lnSpc>
                <a:spcPct val="250000"/>
              </a:lnSpc>
              <a:spcBef>
                <a:spcPts val="1200"/>
              </a:spcBef>
              <a:spcAft>
                <a:spcPts val="600"/>
              </a:spcAft>
              <a:buFont typeface="+mj-lt"/>
              <a:buAutoNum type="arabicPeriod"/>
            </a:pPr>
            <a:r>
              <a:rPr lang="en-AU" sz="3600"/>
              <a:t>hexagon</a:t>
            </a:r>
          </a:p>
          <a:p>
            <a:pPr marL="742950" indent="-742950">
              <a:lnSpc>
                <a:spcPct val="250000"/>
              </a:lnSpc>
              <a:spcBef>
                <a:spcPts val="1200"/>
              </a:spcBef>
              <a:spcAft>
                <a:spcPts val="600"/>
              </a:spcAft>
              <a:buFont typeface="+mj-lt"/>
              <a:buAutoNum type="arabicPeriod"/>
            </a:pPr>
            <a:r>
              <a:rPr lang="en-AU" sz="3600"/>
              <a:t>triangle</a:t>
            </a:r>
          </a:p>
          <a:p>
            <a:pPr marL="742950" indent="-742950">
              <a:lnSpc>
                <a:spcPct val="250000"/>
              </a:lnSpc>
              <a:spcBef>
                <a:spcPts val="1200"/>
              </a:spcBef>
              <a:spcAft>
                <a:spcPts val="600"/>
              </a:spcAft>
              <a:buFont typeface="+mj-lt"/>
              <a:buAutoNum type="arabicPeriod"/>
            </a:pPr>
            <a:r>
              <a:rPr lang="en-AU" sz="3600"/>
              <a:t>pentagon</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2B186D65-75E8-0B8A-6FBE-A53B83AB5D3F}"/>
              </a:ext>
            </a:extLst>
          </p:cNvPr>
          <p:cNvSpPr txBox="1"/>
          <p:nvPr/>
        </p:nvSpPr>
        <p:spPr>
          <a:xfrm>
            <a:off x="82502" y="1652472"/>
            <a:ext cx="4848549" cy="4148809"/>
          </a:xfrm>
          <a:prstGeom prst="rect">
            <a:avLst/>
          </a:prstGeom>
          <a:noFill/>
        </p:spPr>
        <p:txBody>
          <a:bodyPr wrap="square" lIns="0" tIns="0" rIns="0" bIns="0" rtlCol="0">
            <a:noAutofit/>
          </a:bodyPr>
          <a:lstStyle/>
          <a:p>
            <a:pPr algn="ctr">
              <a:lnSpc>
                <a:spcPct val="150000"/>
              </a:lnSpc>
            </a:pPr>
            <a:r>
              <a:rPr lang="en-AU" sz="4000"/>
              <a:t>Sasha made </a:t>
            </a:r>
            <a:r>
              <a:rPr lang="en-AU" sz="4000" b="1"/>
              <a:t>2</a:t>
            </a:r>
            <a:r>
              <a:rPr lang="en-AU" sz="4000"/>
              <a:t> </a:t>
            </a:r>
            <a:r>
              <a:rPr lang="en-AU" sz="4000" b="1"/>
              <a:t>mistakes</a:t>
            </a:r>
            <a:r>
              <a:rPr lang="en-AU" sz="4000"/>
              <a:t>. </a:t>
            </a:r>
            <a:r>
              <a:rPr lang="en-AU" sz="4000" b="1"/>
              <a:t>Record</a:t>
            </a:r>
            <a:r>
              <a:rPr lang="en-AU" sz="4000"/>
              <a:t> the </a:t>
            </a:r>
            <a:r>
              <a:rPr lang="en-AU" sz="4000" b="1"/>
              <a:t>correct</a:t>
            </a:r>
            <a:r>
              <a:rPr lang="en-AU" sz="4000"/>
              <a:t> answers for these mistakes.</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8" name="Picture 7" descr="A think board with correct and incorrect representations for the number 12 804.&#10;1: Expanded notation: 10 000 + 2000 + 80 + 4. (incorrect and marked with a red cross)&#10;2. Word: twelve thousand and eighty four. (incorrect and marked with a red cross)&#10;3: Base-10 visuals. (correct)&#10;4: Place value houses. (correct)">
            <a:extLst>
              <a:ext uri="{FF2B5EF4-FFF2-40B4-BE49-F238E27FC236}">
                <a16:creationId xmlns:a16="http://schemas.microsoft.com/office/drawing/2014/main" id="{FFC6F980-C189-88E8-02EF-8B44F72E3460}"/>
              </a:ext>
            </a:extLst>
          </p:cNvPr>
          <p:cNvPicPr>
            <a:picLocks noChangeAspect="1"/>
          </p:cNvPicPr>
          <p:nvPr/>
        </p:nvPicPr>
        <p:blipFill>
          <a:blip r:embed="rId4"/>
          <a:stretch>
            <a:fillRect/>
          </a:stretch>
        </p:blipFill>
        <p:spPr>
          <a:xfrm>
            <a:off x="5058657" y="1419634"/>
            <a:ext cx="6785343" cy="475198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4" name="TextBox 3">
            <a:extLst>
              <a:ext uri="{FF2B5EF4-FFF2-40B4-BE49-F238E27FC236}">
                <a16:creationId xmlns:a16="http://schemas.microsoft.com/office/drawing/2014/main" id="{270C8154-BF63-C326-98CA-57E232C81B21}"/>
              </a:ext>
            </a:extLst>
          </p:cNvPr>
          <p:cNvSpPr txBox="1"/>
          <p:nvPr/>
        </p:nvSpPr>
        <p:spPr>
          <a:xfrm>
            <a:off x="467591" y="1049141"/>
            <a:ext cx="11256818" cy="2151259"/>
          </a:xfrm>
          <a:prstGeom prst="rect">
            <a:avLst/>
          </a:prstGeom>
          <a:noFill/>
        </p:spPr>
        <p:txBody>
          <a:bodyPr wrap="square" lIns="0" tIns="0" rIns="0" bIns="0" rtlCol="0">
            <a:noAutofit/>
          </a:bodyPr>
          <a:lstStyle/>
          <a:p>
            <a:pPr>
              <a:lnSpc>
                <a:spcPct val="150000"/>
              </a:lnSpc>
            </a:pPr>
            <a:r>
              <a:rPr lang="en-AU" sz="4400"/>
              <a:t>Identify these parts of the angle:</a:t>
            </a:r>
          </a:p>
          <a:p>
            <a:pPr marL="285750" indent="-285750">
              <a:lnSpc>
                <a:spcPct val="150000"/>
              </a:lnSpc>
              <a:buFont typeface="Arial" panose="020B0604020202020204" pitchFamily="34" charset="0"/>
              <a:buChar char="•"/>
            </a:pPr>
            <a:r>
              <a:rPr lang="en-AU" sz="4400"/>
              <a:t>arm</a:t>
            </a:r>
          </a:p>
          <a:p>
            <a:pPr marL="285750" indent="-285750">
              <a:lnSpc>
                <a:spcPct val="150000"/>
              </a:lnSpc>
              <a:buFont typeface="Arial" panose="020B0604020202020204" pitchFamily="34" charset="0"/>
              <a:buChar char="•"/>
            </a:pPr>
            <a:r>
              <a:rPr lang="en-AU" sz="4400"/>
              <a:t>vertex</a:t>
            </a:r>
          </a:p>
          <a:p>
            <a:pPr marL="285750" indent="-285750">
              <a:lnSpc>
                <a:spcPct val="150000"/>
              </a:lnSpc>
              <a:buFont typeface="Arial" panose="020B0604020202020204" pitchFamily="34" charset="0"/>
              <a:buChar char="•"/>
            </a:pPr>
            <a:r>
              <a:rPr lang="en-AU" sz="4400"/>
              <a:t>angle. </a:t>
            </a:r>
          </a:p>
        </p:txBody>
      </p:sp>
      <p:pic>
        <p:nvPicPr>
          <p:cNvPr id="8" name="Picture 7" descr="An angle with blank labels to fill in, including arms, angle and vertex.">
            <a:extLst>
              <a:ext uri="{FF2B5EF4-FFF2-40B4-BE49-F238E27FC236}">
                <a16:creationId xmlns:a16="http://schemas.microsoft.com/office/drawing/2014/main" id="{B84572A9-3037-73C7-4728-88D9812EA6F1}"/>
              </a:ext>
            </a:extLst>
          </p:cNvPr>
          <p:cNvPicPr>
            <a:picLocks noChangeAspect="1"/>
          </p:cNvPicPr>
          <p:nvPr/>
        </p:nvPicPr>
        <p:blipFill>
          <a:blip r:embed="rId4"/>
          <a:stretch>
            <a:fillRect/>
          </a:stretch>
        </p:blipFill>
        <p:spPr>
          <a:xfrm>
            <a:off x="4595594" y="2251379"/>
            <a:ext cx="5712480" cy="41429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C72FF3D-E484-0C25-277A-8D74750962C7}"/>
              </a:ext>
            </a:extLst>
          </p:cNvPr>
          <p:cNvSpPr txBox="1"/>
          <p:nvPr/>
        </p:nvSpPr>
        <p:spPr>
          <a:xfrm>
            <a:off x="360000" y="1044911"/>
            <a:ext cx="5513146" cy="5121931"/>
          </a:xfrm>
          <a:prstGeom prst="rect">
            <a:avLst/>
          </a:prstGeom>
          <a:noFill/>
        </p:spPr>
        <p:txBody>
          <a:bodyPr wrap="square" lIns="0" tIns="0" rIns="0" bIns="0" rtlCol="0">
            <a:noAutofit/>
          </a:bodyPr>
          <a:lstStyle/>
          <a:p>
            <a:pPr algn="ctr">
              <a:lnSpc>
                <a:spcPct val="150000"/>
              </a:lnSpc>
            </a:pPr>
            <a:r>
              <a:rPr lang="en-AU"/>
              <a:t>Record the landmark </a:t>
            </a:r>
            <a:r>
              <a:rPr lang="en-AU" b="1"/>
              <a:t>positions</a:t>
            </a:r>
            <a:r>
              <a:rPr lang="en-AU"/>
              <a:t>. Remember that some might cover </a:t>
            </a:r>
            <a:r>
              <a:rPr lang="en-AU" b="1"/>
              <a:t>more than one grid square </a:t>
            </a:r>
            <a:r>
              <a:rPr lang="en-AU"/>
              <a:t>on the map:</a:t>
            </a:r>
          </a:p>
          <a:p>
            <a:pPr marL="285750" indent="-285750">
              <a:lnSpc>
                <a:spcPct val="250000"/>
              </a:lnSpc>
              <a:buFont typeface="Arial" panose="020B0604020202020204" pitchFamily="34" charset="0"/>
              <a:buChar char="•"/>
            </a:pPr>
            <a:r>
              <a:rPr lang="en-AU"/>
              <a:t> </a:t>
            </a:r>
          </a:p>
          <a:p>
            <a:pPr marL="285750" indent="-285750">
              <a:lnSpc>
                <a:spcPct val="250000"/>
              </a:lnSpc>
              <a:buFont typeface="Arial" panose="020B0604020202020204" pitchFamily="34" charset="0"/>
              <a:buChar char="•"/>
            </a:pPr>
            <a:r>
              <a:rPr lang="en-AU"/>
              <a:t> </a:t>
            </a:r>
          </a:p>
          <a:p>
            <a:pPr marL="285750" indent="-285750">
              <a:lnSpc>
                <a:spcPct val="250000"/>
              </a:lnSpc>
              <a:buFont typeface="Arial" panose="020B0604020202020204" pitchFamily="34" charset="0"/>
              <a:buChar char="•"/>
            </a:pPr>
            <a:r>
              <a:rPr lang="en-AU"/>
              <a:t> </a:t>
            </a:r>
          </a:p>
          <a:p>
            <a:pPr marL="285750" indent="-285750">
              <a:lnSpc>
                <a:spcPct val="250000"/>
              </a:lnSpc>
              <a:buFont typeface="Arial" panose="020B0604020202020204" pitchFamily="34" charset="0"/>
              <a:buChar char="•"/>
            </a:pPr>
            <a:r>
              <a:rPr lang="en-AU"/>
              <a:t> </a:t>
            </a:r>
          </a:p>
          <a:p>
            <a:pPr algn="ctr">
              <a:lnSpc>
                <a:spcPct val="150000"/>
              </a:lnSpc>
            </a:pPr>
            <a:endParaRPr lang="en-AU"/>
          </a:p>
          <a:p>
            <a:pPr algn="l">
              <a:lnSpc>
                <a:spcPct val="150000"/>
              </a:lnSpc>
            </a:pPr>
            <a:endParaRPr lang="en-AU" sz="2600"/>
          </a:p>
        </p:txBody>
      </p:sp>
      <p:pic>
        <p:nvPicPr>
          <p:cNvPr id="20" name="Picture 19" descr="Image of pond on grid map.">
            <a:extLst>
              <a:ext uri="{FF2B5EF4-FFF2-40B4-BE49-F238E27FC236}">
                <a16:creationId xmlns:a16="http://schemas.microsoft.com/office/drawing/2014/main" id="{61253D0F-95D4-0DF1-2353-D0E657E3B0D6}"/>
              </a:ext>
            </a:extLst>
          </p:cNvPr>
          <p:cNvPicPr>
            <a:picLocks noChangeAspect="1"/>
          </p:cNvPicPr>
          <p:nvPr/>
        </p:nvPicPr>
        <p:blipFill>
          <a:blip r:embed="rId4"/>
          <a:stretch>
            <a:fillRect/>
          </a:stretch>
        </p:blipFill>
        <p:spPr>
          <a:xfrm>
            <a:off x="879057" y="3002353"/>
            <a:ext cx="608942" cy="426647"/>
          </a:xfrm>
          <a:prstGeom prst="rect">
            <a:avLst/>
          </a:prstGeom>
        </p:spPr>
      </p:pic>
      <p:pic>
        <p:nvPicPr>
          <p:cNvPr id="22" name="Picture 21" descr="Image of field on grid map.">
            <a:extLst>
              <a:ext uri="{FF2B5EF4-FFF2-40B4-BE49-F238E27FC236}">
                <a16:creationId xmlns:a16="http://schemas.microsoft.com/office/drawing/2014/main" id="{63729C6D-4C61-837F-6152-82228E0ACBFC}"/>
              </a:ext>
            </a:extLst>
          </p:cNvPr>
          <p:cNvPicPr>
            <a:picLocks noChangeAspect="1"/>
          </p:cNvPicPr>
          <p:nvPr/>
        </p:nvPicPr>
        <p:blipFill>
          <a:blip r:embed="rId5"/>
          <a:stretch>
            <a:fillRect/>
          </a:stretch>
        </p:blipFill>
        <p:spPr>
          <a:xfrm>
            <a:off x="1044855" y="3820845"/>
            <a:ext cx="443144" cy="651384"/>
          </a:xfrm>
          <a:prstGeom prst="rect">
            <a:avLst/>
          </a:prstGeom>
        </p:spPr>
      </p:pic>
      <p:pic>
        <p:nvPicPr>
          <p:cNvPr id="24" name="Picture 23" descr="Image of hospital on grid map.">
            <a:extLst>
              <a:ext uri="{FF2B5EF4-FFF2-40B4-BE49-F238E27FC236}">
                <a16:creationId xmlns:a16="http://schemas.microsoft.com/office/drawing/2014/main" id="{CE28A9C1-2716-E63E-4D43-E751B7BD9F75}"/>
              </a:ext>
            </a:extLst>
          </p:cNvPr>
          <p:cNvPicPr>
            <a:picLocks noChangeAspect="1"/>
          </p:cNvPicPr>
          <p:nvPr/>
        </p:nvPicPr>
        <p:blipFill>
          <a:blip r:embed="rId6"/>
          <a:stretch>
            <a:fillRect/>
          </a:stretch>
        </p:blipFill>
        <p:spPr>
          <a:xfrm>
            <a:off x="802193" y="4875337"/>
            <a:ext cx="928468" cy="523081"/>
          </a:xfrm>
          <a:prstGeom prst="rect">
            <a:avLst/>
          </a:prstGeom>
        </p:spPr>
      </p:pic>
      <p:pic>
        <p:nvPicPr>
          <p:cNvPr id="18" name="Picture 17" descr="Image on park from grid map.">
            <a:extLst>
              <a:ext uri="{FF2B5EF4-FFF2-40B4-BE49-F238E27FC236}">
                <a16:creationId xmlns:a16="http://schemas.microsoft.com/office/drawing/2014/main" id="{0919A7CD-E9D4-4065-9F0C-7D9DDA3DD7E2}"/>
              </a:ext>
            </a:extLst>
          </p:cNvPr>
          <p:cNvPicPr>
            <a:picLocks noChangeAspect="1"/>
          </p:cNvPicPr>
          <p:nvPr/>
        </p:nvPicPr>
        <p:blipFill>
          <a:blip r:embed="rId7"/>
          <a:stretch>
            <a:fillRect/>
          </a:stretch>
        </p:blipFill>
        <p:spPr>
          <a:xfrm>
            <a:off x="708000" y="5801526"/>
            <a:ext cx="1321502" cy="489445"/>
          </a:xfrm>
          <a:prstGeom prst="rect">
            <a:avLst/>
          </a:prstGeom>
        </p:spPr>
      </p:pic>
      <p:grpSp>
        <p:nvGrpSpPr>
          <p:cNvPr id="8" name="Group 7" descr="A map of a town with roads and a river running through (top left to bottom right).&#10;&#10;Landmarks are at the following grid references:&#10;A8: house&#10;A5-A6: bus stop&#10;C5: pond&#10;C6-E6: park&#10;E1-F1: hospital&#10;E7-F7: bridge&#10;E10: apple tree&#10;F5: house&#10;F9: house&#10;G6: house&#10;H4: house&#10;I8: house&#10;I6-I7 Field">
            <a:extLst>
              <a:ext uri="{FF2B5EF4-FFF2-40B4-BE49-F238E27FC236}">
                <a16:creationId xmlns:a16="http://schemas.microsoft.com/office/drawing/2014/main" id="{DFC72BD6-C4F6-9525-0250-388CDAC4DFDD}"/>
              </a:ext>
            </a:extLst>
          </p:cNvPr>
          <p:cNvGrpSpPr/>
          <p:nvPr/>
        </p:nvGrpSpPr>
        <p:grpSpPr>
          <a:xfrm>
            <a:off x="6326671" y="1149835"/>
            <a:ext cx="5619304" cy="5456165"/>
            <a:chOff x="5338677" y="905601"/>
            <a:chExt cx="5509022" cy="5456165"/>
          </a:xfrm>
        </p:grpSpPr>
        <p:sp>
          <p:nvSpPr>
            <p:cNvPr id="7" name="Rectangle 6">
              <a:extLst>
                <a:ext uri="{FF2B5EF4-FFF2-40B4-BE49-F238E27FC236}">
                  <a16:creationId xmlns:a16="http://schemas.microsoft.com/office/drawing/2014/main" id="{F5B27AF3-B911-4BEE-7A3E-3874CC6D691A}"/>
                </a:ext>
              </a:extLst>
            </p:cNvPr>
            <p:cNvSpPr/>
            <p:nvPr/>
          </p:nvSpPr>
          <p:spPr>
            <a:xfrm>
              <a:off x="9819409" y="905601"/>
              <a:ext cx="1028290" cy="87124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descr="A map of a town with roads and a river running through (top left to bottom right).&#10;&#10;Landmarks are at the following grid references:&#10;A8: house&#10;A5-A6: bus stop&#10;C5: pond&#10;C6-E6: park&#10;E1-F1: hospital&#10;E7-F7: bridge&#10;E10: apple tree&#10;F5: house&#10;F9: house&#10;G6: house&#10;H4: house&#10;I8: house&#10;I6-I7 Field">
              <a:extLst>
                <a:ext uri="{FF2B5EF4-FFF2-40B4-BE49-F238E27FC236}">
                  <a16:creationId xmlns:a16="http://schemas.microsoft.com/office/drawing/2014/main" id="{D39CD16B-FE42-14E4-35F1-B28B03FB1A4D}"/>
                </a:ext>
              </a:extLst>
            </p:cNvPr>
            <p:cNvPicPr>
              <a:picLocks noChangeAspect="1"/>
            </p:cNvPicPr>
            <p:nvPr/>
          </p:nvPicPr>
          <p:blipFill>
            <a:blip r:embed="rId8"/>
            <a:srcRect r="15955"/>
            <a:stretch>
              <a:fillRect/>
            </a:stretch>
          </p:blipFill>
          <p:spPr>
            <a:xfrm>
              <a:off x="5338677" y="961213"/>
              <a:ext cx="5056114" cy="5400553"/>
            </a:xfrm>
            <a:prstGeom prst="rect">
              <a:avLst/>
            </a:prstGeom>
          </p:spPr>
        </p:pic>
      </p:gr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exploring multiples</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extBox 2">
            <a:extLst>
              <a:ext uri="{FF2B5EF4-FFF2-40B4-BE49-F238E27FC236}">
                <a16:creationId xmlns:a16="http://schemas.microsoft.com/office/drawing/2014/main" id="{0874CB79-5440-4665-D230-3A3381A6A31F}"/>
              </a:ext>
            </a:extLst>
          </p:cNvPr>
          <p:cNvSpPr txBox="1"/>
          <p:nvPr/>
        </p:nvSpPr>
        <p:spPr>
          <a:xfrm>
            <a:off x="518002" y="1337408"/>
            <a:ext cx="6542555" cy="3353883"/>
          </a:xfrm>
          <a:prstGeom prst="rect">
            <a:avLst/>
          </a:prstGeom>
          <a:noFill/>
        </p:spPr>
        <p:txBody>
          <a:bodyPr wrap="square" lIns="0" tIns="0" rIns="0" bIns="0" rtlCol="0" anchor="t">
            <a:noAutofit/>
          </a:bodyPr>
          <a:lstStyle/>
          <a:p>
            <a:pPr algn="l">
              <a:lnSpc>
                <a:spcPct val="150000"/>
              </a:lnSpc>
            </a:pPr>
            <a:r>
              <a:rPr lang="en-AU" sz="2800">
                <a:latin typeface="Arial"/>
                <a:cs typeface="Arial"/>
              </a:rPr>
              <a:t>I placed 4 numbers into a box. This box multiplied these numbers by another number and 4 new numbers came out. The new numbers that came out were 15, 35, 50 and 75. </a:t>
            </a:r>
          </a:p>
        </p:txBody>
      </p:sp>
      <p:pic>
        <p:nvPicPr>
          <p:cNvPr id="5" name="Picture 4" descr="A box with 4 mystery numbers going in and the numbers 15, 35, 50 and 75 coming out the other side.">
            <a:extLst>
              <a:ext uri="{FF2B5EF4-FFF2-40B4-BE49-F238E27FC236}">
                <a16:creationId xmlns:a16="http://schemas.microsoft.com/office/drawing/2014/main" id="{7F28EFEE-A8FB-F9D9-7B24-830693780CB0}"/>
              </a:ext>
            </a:extLst>
          </p:cNvPr>
          <p:cNvPicPr>
            <a:picLocks noChangeAspect="1"/>
          </p:cNvPicPr>
          <p:nvPr/>
        </p:nvPicPr>
        <p:blipFill>
          <a:blip r:embed="rId4"/>
          <a:stretch>
            <a:fillRect/>
          </a:stretch>
        </p:blipFill>
        <p:spPr>
          <a:xfrm>
            <a:off x="7119724" y="1572019"/>
            <a:ext cx="4724276" cy="3026247"/>
          </a:xfrm>
          <a:prstGeom prst="rect">
            <a:avLst/>
          </a:prstGeom>
          <a:ln>
            <a:noFill/>
          </a:ln>
          <a:effectLst/>
        </p:spPr>
      </p:pic>
      <p:sp>
        <p:nvSpPr>
          <p:cNvPr id="10" name="TextBox 9">
            <a:extLst>
              <a:ext uri="{FF2B5EF4-FFF2-40B4-BE49-F238E27FC236}">
                <a16:creationId xmlns:a16="http://schemas.microsoft.com/office/drawing/2014/main" id="{97EC348E-FC17-3FEB-A419-FB60E7AA35D5}"/>
              </a:ext>
            </a:extLst>
          </p:cNvPr>
          <p:cNvSpPr txBox="1"/>
          <p:nvPr/>
        </p:nvSpPr>
        <p:spPr>
          <a:xfrm>
            <a:off x="518002" y="5264684"/>
            <a:ext cx="11099026" cy="954107"/>
          </a:xfrm>
          <a:prstGeom prst="rect">
            <a:avLst/>
          </a:prstGeom>
          <a:noFill/>
        </p:spPr>
        <p:txBody>
          <a:bodyPr wrap="square">
            <a:spAutoFit/>
          </a:bodyPr>
          <a:lstStyle/>
          <a:p>
            <a:pPr algn="ctr"/>
            <a:r>
              <a:rPr lang="en-AU" sz="2800">
                <a:latin typeface="Arial"/>
                <a:cs typeface="Arial"/>
              </a:rPr>
              <a:t>What 4 numbers did I place in the box to begin with? </a:t>
            </a:r>
          </a:p>
          <a:p>
            <a:pPr algn="ctr"/>
            <a:r>
              <a:rPr lang="en-AU" sz="2800">
                <a:latin typeface="Arial"/>
                <a:cs typeface="Arial"/>
              </a:rPr>
              <a:t>What is the rule in the box that is multiplying all 4 numbers? </a:t>
            </a:r>
            <a:endParaRPr lang="en-AU" sz="2800"/>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dirty="0"/>
              <a:t>True or false </a:t>
            </a:r>
            <a:r>
              <a:rPr lang="en-US" dirty="0">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0" y="1675051"/>
            <a:ext cx="8460807" cy="893226"/>
          </a:xfrm>
        </p:spPr>
        <p:txBody>
          <a:bodyPr/>
          <a:lstStyle/>
          <a:p>
            <a:pPr algn="ctr"/>
            <a:r>
              <a:rPr lang="en-AU" sz="4400" dirty="0"/>
              <a:t>The number sentence </a:t>
            </a:r>
            <a:r>
              <a:rPr lang="en-AU" sz="4400" b="1" dirty="0"/>
              <a:t>5 ÷ 6 = 30</a:t>
            </a:r>
            <a:r>
              <a:rPr lang="en-AU" sz="4400" dirty="0"/>
              <a:t> represents this </a:t>
            </a:r>
            <a:r>
              <a:rPr lang="en-AU" sz="4400" b="1" dirty="0"/>
              <a:t>fact family.</a:t>
            </a:r>
            <a:endParaRPr lang="en-AU" sz="4400" dirty="0"/>
          </a:p>
        </p:txBody>
      </p:sp>
      <p:pic>
        <p:nvPicPr>
          <p:cNvPr id="8" name="Picture 7" descr="Fact family triangle with 5, 6 and 30.">
            <a:extLst>
              <a:ext uri="{FF2B5EF4-FFF2-40B4-BE49-F238E27FC236}">
                <a16:creationId xmlns:a16="http://schemas.microsoft.com/office/drawing/2014/main" id="{DCAF4128-15F3-2608-1517-CB42A3B6F435}"/>
              </a:ext>
            </a:extLst>
          </p:cNvPr>
          <p:cNvPicPr>
            <a:picLocks noChangeAspect="1"/>
          </p:cNvPicPr>
          <p:nvPr/>
        </p:nvPicPr>
        <p:blipFill>
          <a:blip r:embed="rId4"/>
          <a:stretch>
            <a:fillRect/>
          </a:stretch>
        </p:blipFill>
        <p:spPr>
          <a:xfrm>
            <a:off x="9091520" y="1472405"/>
            <a:ext cx="2882174" cy="2655888"/>
          </a:xfrm>
          <a:prstGeom prst="rect">
            <a:avLst/>
          </a:prstGeom>
          <a:ln>
            <a:noFill/>
          </a:ln>
          <a:effectLst/>
        </p:spPr>
      </p:pic>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1023919945"/>
              </p:ext>
            </p:extLst>
          </p:nvPr>
        </p:nvGraphicFramePr>
        <p:xfrm>
          <a:off x="2557462" y="449802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 Placeholder 5">
            <a:extLst>
              <a:ext uri="{FF2B5EF4-FFF2-40B4-BE49-F238E27FC236}">
                <a16:creationId xmlns:a16="http://schemas.microsoft.com/office/drawing/2014/main" id="{7A4E401B-3217-9E5B-C532-49646A4E5A1E}"/>
              </a:ext>
            </a:extLst>
          </p:cNvPr>
          <p:cNvSpPr txBox="1">
            <a:spLocks/>
          </p:cNvSpPr>
          <p:nvPr/>
        </p:nvSpPr>
        <p:spPr>
          <a:xfrm>
            <a:off x="600963" y="5344356"/>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 </a:t>
            </a:r>
            <a:r>
              <a:rPr lang="en-AU" sz="4400"/>
              <a:t>your </a:t>
            </a:r>
            <a:r>
              <a:rPr lang="en-AU" sz="4400" b="1"/>
              <a:t>reasoning</a:t>
            </a:r>
            <a:r>
              <a:rPr lang="en-AU" sz="4400"/>
              <a:t>.</a:t>
            </a:r>
          </a:p>
        </p:txBody>
      </p:sp>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(5)</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10" name="Group 9" descr="Shape 1: rectangle">
            <a:extLst>
              <a:ext uri="{FF2B5EF4-FFF2-40B4-BE49-F238E27FC236}">
                <a16:creationId xmlns:a16="http://schemas.microsoft.com/office/drawing/2014/main" id="{E4E6171F-04E7-3AA4-4708-08AA40FF4B3A}"/>
              </a:ext>
            </a:extLst>
          </p:cNvPr>
          <p:cNvGrpSpPr/>
          <p:nvPr/>
        </p:nvGrpSpPr>
        <p:grpSpPr>
          <a:xfrm>
            <a:off x="1423555" y="1308915"/>
            <a:ext cx="3408218" cy="1424795"/>
            <a:chOff x="1423555" y="1184223"/>
            <a:chExt cx="3408218" cy="1424795"/>
          </a:xfrm>
        </p:grpSpPr>
        <p:sp>
          <p:nvSpPr>
            <p:cNvPr id="5" name="Rectangle 4">
              <a:extLst>
                <a:ext uri="{FF2B5EF4-FFF2-40B4-BE49-F238E27FC236}">
                  <a16:creationId xmlns:a16="http://schemas.microsoft.com/office/drawing/2014/main" id="{8E982CEF-4E95-4EF7-EBAE-9B160E570FF3}"/>
                </a:ext>
              </a:extLst>
            </p:cNvPr>
            <p:cNvSpPr/>
            <p:nvPr/>
          </p:nvSpPr>
          <p:spPr>
            <a:xfrm>
              <a:off x="1423555" y="1184223"/>
              <a:ext cx="3408218" cy="14247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B90709E5-F622-E2C0-EC68-6F0594D9F73B}"/>
                </a:ext>
              </a:extLst>
            </p:cNvPr>
            <p:cNvSpPr txBox="1"/>
            <p:nvPr/>
          </p:nvSpPr>
          <p:spPr>
            <a:xfrm>
              <a:off x="2130137" y="1672078"/>
              <a:ext cx="1995054" cy="675409"/>
            </a:xfrm>
            <a:prstGeom prst="rect">
              <a:avLst/>
            </a:prstGeom>
            <a:noFill/>
          </p:spPr>
          <p:txBody>
            <a:bodyPr wrap="square" lIns="0" tIns="0" rIns="0" bIns="0" rtlCol="0">
              <a:noAutofit/>
            </a:bodyPr>
            <a:lstStyle/>
            <a:p>
              <a:pPr algn="ctr"/>
              <a:r>
                <a:rPr lang="en-AU" sz="2800">
                  <a:solidFill>
                    <a:schemeClr val="bg1"/>
                  </a:solidFill>
                </a:rPr>
                <a:t>rectangle</a:t>
              </a:r>
            </a:p>
          </p:txBody>
        </p:sp>
      </p:grpSp>
      <p:grpSp>
        <p:nvGrpSpPr>
          <p:cNvPr id="11" name="Group 10" descr="Shape 2: trapezium">
            <a:extLst>
              <a:ext uri="{FF2B5EF4-FFF2-40B4-BE49-F238E27FC236}">
                <a16:creationId xmlns:a16="http://schemas.microsoft.com/office/drawing/2014/main" id="{ACABADEF-656B-D6B9-61A6-04992C881B82}"/>
              </a:ext>
            </a:extLst>
          </p:cNvPr>
          <p:cNvGrpSpPr/>
          <p:nvPr/>
        </p:nvGrpSpPr>
        <p:grpSpPr>
          <a:xfrm>
            <a:off x="7360229" y="1308915"/>
            <a:ext cx="2493819" cy="1424795"/>
            <a:chOff x="7360229" y="1184223"/>
            <a:chExt cx="2493819" cy="1424795"/>
          </a:xfrm>
        </p:grpSpPr>
        <p:sp>
          <p:nvSpPr>
            <p:cNvPr id="7" name="Trapezoid 6">
              <a:extLst>
                <a:ext uri="{FF2B5EF4-FFF2-40B4-BE49-F238E27FC236}">
                  <a16:creationId xmlns:a16="http://schemas.microsoft.com/office/drawing/2014/main" id="{A62DA8FA-F175-08BB-1C34-9943C5D9C453}"/>
                </a:ext>
              </a:extLst>
            </p:cNvPr>
            <p:cNvSpPr/>
            <p:nvPr/>
          </p:nvSpPr>
          <p:spPr>
            <a:xfrm>
              <a:off x="7360229" y="1184223"/>
              <a:ext cx="2493819" cy="1424795"/>
            </a:xfrm>
            <a:prstGeom prst="trapezoi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0E375409-D71F-1C0D-2F55-39098E299F07}"/>
                </a:ext>
              </a:extLst>
            </p:cNvPr>
            <p:cNvSpPr txBox="1"/>
            <p:nvPr/>
          </p:nvSpPr>
          <p:spPr>
            <a:xfrm>
              <a:off x="7609611" y="1672078"/>
              <a:ext cx="1995054" cy="675409"/>
            </a:xfrm>
            <a:prstGeom prst="rect">
              <a:avLst/>
            </a:prstGeom>
            <a:noFill/>
          </p:spPr>
          <p:txBody>
            <a:bodyPr wrap="square" lIns="0" tIns="0" rIns="0" bIns="0" rtlCol="0">
              <a:noAutofit/>
            </a:bodyPr>
            <a:lstStyle/>
            <a:p>
              <a:pPr algn="ctr"/>
              <a:r>
                <a:rPr lang="en-AU" sz="2800">
                  <a:solidFill>
                    <a:schemeClr val="bg1"/>
                  </a:solidFill>
                </a:rPr>
                <a:t>trapezium</a:t>
              </a:r>
            </a:p>
          </p:txBody>
        </p:sp>
      </p:grpSp>
      <p:sp>
        <p:nvSpPr>
          <p:cNvPr id="4" name="TextBox 3">
            <a:extLst>
              <a:ext uri="{FF2B5EF4-FFF2-40B4-BE49-F238E27FC236}">
                <a16:creationId xmlns:a16="http://schemas.microsoft.com/office/drawing/2014/main" id="{0DBE8E48-FE19-7FC1-2DF1-E7F649300919}"/>
              </a:ext>
            </a:extLst>
          </p:cNvPr>
          <p:cNvSpPr txBox="1"/>
          <p:nvPr/>
        </p:nvSpPr>
        <p:spPr>
          <a:xfrm>
            <a:off x="421364" y="3625673"/>
            <a:ext cx="11524612" cy="3228751"/>
          </a:xfrm>
          <a:prstGeom prst="rect">
            <a:avLst/>
          </a:prstGeom>
          <a:noFill/>
        </p:spPr>
        <p:txBody>
          <a:bodyPr wrap="square" lIns="0" tIns="0" rIns="0" bIns="0" rtlCol="0">
            <a:noAutofit/>
          </a:bodyPr>
          <a:lstStyle/>
          <a:p>
            <a:pPr marL="457200" indent="-457200" algn="l">
              <a:lnSpc>
                <a:spcPct val="150000"/>
              </a:lnSpc>
              <a:spcBef>
                <a:spcPts val="1200"/>
              </a:spcBef>
              <a:spcAft>
                <a:spcPts val="600"/>
              </a:spcAft>
              <a:buFont typeface="Arial" panose="020B0604020202020204" pitchFamily="34" charset="0"/>
              <a:buChar char="•"/>
            </a:pPr>
            <a:r>
              <a:rPr lang="en-AU" sz="3200"/>
              <a:t>How many </a:t>
            </a:r>
            <a:r>
              <a:rPr lang="en-AU" sz="3200" b="1"/>
              <a:t>sides</a:t>
            </a:r>
            <a:r>
              <a:rPr lang="en-AU" sz="3200"/>
              <a:t> does each shape have?</a:t>
            </a:r>
          </a:p>
          <a:p>
            <a:pPr marL="457200" indent="-457200" algn="l">
              <a:lnSpc>
                <a:spcPct val="150000"/>
              </a:lnSpc>
              <a:spcBef>
                <a:spcPts val="1200"/>
              </a:spcBef>
              <a:spcAft>
                <a:spcPts val="600"/>
              </a:spcAft>
              <a:buFont typeface="Arial" panose="020B0604020202020204" pitchFamily="34" charset="0"/>
              <a:buChar char="•"/>
            </a:pPr>
            <a:r>
              <a:rPr lang="en-AU" sz="3200"/>
              <a:t>How many sets of </a:t>
            </a:r>
            <a:r>
              <a:rPr lang="en-AU" sz="3200" b="1"/>
              <a:t>parallel sides </a:t>
            </a:r>
            <a:r>
              <a:rPr lang="en-AU" sz="3200"/>
              <a:t>does each shape have?</a:t>
            </a:r>
          </a:p>
          <a:p>
            <a:pPr marL="457200" indent="-457200" algn="l">
              <a:lnSpc>
                <a:spcPct val="150000"/>
              </a:lnSpc>
              <a:spcBef>
                <a:spcPts val="1200"/>
              </a:spcBef>
              <a:spcAft>
                <a:spcPts val="600"/>
              </a:spcAft>
              <a:buFont typeface="Arial" panose="020B0604020202020204" pitchFamily="34" charset="0"/>
              <a:buChar char="•"/>
            </a:pPr>
            <a:r>
              <a:rPr lang="en-AU" sz="3200"/>
              <a:t>Are both shapes </a:t>
            </a:r>
            <a:r>
              <a:rPr lang="en-AU" sz="3200" b="1"/>
              <a:t>quadrilaterals</a:t>
            </a:r>
            <a:r>
              <a:rPr lang="en-AU" sz="3200"/>
              <a:t>? </a:t>
            </a:r>
            <a:r>
              <a:rPr lang="en-AU" sz="3200" b="1"/>
              <a:t>Explain </a:t>
            </a:r>
            <a:r>
              <a:rPr lang="en-AU" sz="3200"/>
              <a:t>your answer.</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4" name="TextBox 3">
            <a:extLst>
              <a:ext uri="{FF2B5EF4-FFF2-40B4-BE49-F238E27FC236}">
                <a16:creationId xmlns:a16="http://schemas.microsoft.com/office/drawing/2014/main" id="{92277954-5D1D-1A2D-CCA3-C74D68E56EA6}"/>
              </a:ext>
            </a:extLst>
          </p:cNvPr>
          <p:cNvSpPr txBox="1"/>
          <p:nvPr/>
        </p:nvSpPr>
        <p:spPr>
          <a:xfrm>
            <a:off x="360000" y="905601"/>
            <a:ext cx="10764000" cy="4837158"/>
          </a:xfrm>
          <a:prstGeom prst="rect">
            <a:avLst/>
          </a:prstGeom>
          <a:noFill/>
        </p:spPr>
        <p:txBody>
          <a:bodyPr wrap="square">
            <a:spAutoFit/>
          </a:bodyPr>
          <a:lstStyle/>
          <a:p>
            <a:pPr lvl="0">
              <a:lnSpc>
                <a:spcPct val="150000"/>
              </a:lnSpc>
              <a:spcBef>
                <a:spcPts val="1200"/>
              </a:spcBef>
              <a:spcAft>
                <a:spcPts val="600"/>
              </a:spcAft>
            </a:pPr>
            <a:r>
              <a:rPr lang="en-AU" sz="3600">
                <a:latin typeface="Arial" panose="020B0604020202020204" pitchFamily="34" charset="0"/>
                <a:ea typeface="Calibri" panose="020F0502020204030204" pitchFamily="34" charset="0"/>
              </a:rPr>
              <a:t>For the </a:t>
            </a:r>
            <a:r>
              <a:rPr lang="en-AU" sz="3600" b="1">
                <a:latin typeface="Arial" panose="020B0604020202020204" pitchFamily="34" charset="0"/>
                <a:ea typeface="Calibri" panose="020F0502020204030204" pitchFamily="34" charset="0"/>
              </a:rPr>
              <a:t>number marked </a:t>
            </a:r>
            <a:r>
              <a:rPr lang="en-AU" sz="3600">
                <a:latin typeface="Arial" panose="020B0604020202020204" pitchFamily="34" charset="0"/>
                <a:ea typeface="Calibri" panose="020F0502020204030204" pitchFamily="34" charset="0"/>
              </a:rPr>
              <a:t>on the number line, </a:t>
            </a:r>
            <a:r>
              <a:rPr lang="en-AU" sz="3600" b="1">
                <a:latin typeface="Arial" panose="020B0604020202020204" pitchFamily="34" charset="0"/>
                <a:ea typeface="Calibri" panose="020F0502020204030204" pitchFamily="34" charset="0"/>
              </a:rPr>
              <a:t>record</a:t>
            </a:r>
            <a:r>
              <a:rPr lang="en-AU" sz="3600">
                <a:latin typeface="Arial" panose="020B0604020202020204" pitchFamily="34" charset="0"/>
                <a:ea typeface="Calibri" panose="020F0502020204030204" pitchFamily="34" charset="0"/>
              </a:rPr>
              <a:t> the </a:t>
            </a:r>
            <a:r>
              <a:rPr lang="en-AU" sz="3600" b="1">
                <a:latin typeface="Arial" panose="020B0604020202020204" pitchFamily="34" charset="0"/>
                <a:ea typeface="Calibri" panose="020F0502020204030204" pitchFamily="34" charset="0"/>
              </a:rPr>
              <a:t>nearest</a:t>
            </a:r>
            <a:r>
              <a:rPr lang="en-AU" sz="3600">
                <a:latin typeface="Arial" panose="020B0604020202020204" pitchFamily="34" charset="0"/>
                <a:ea typeface="Calibri" panose="020F0502020204030204" pitchFamily="34" charset="0"/>
              </a:rPr>
              <a:t>: </a:t>
            </a:r>
          </a:p>
          <a:p>
            <a:pPr lvl="0">
              <a:lnSpc>
                <a:spcPct val="150000"/>
              </a:lnSpc>
              <a:spcBef>
                <a:spcPts val="1200"/>
              </a:spcBef>
              <a:spcAft>
                <a:spcPts val="600"/>
              </a:spcAft>
            </a:pPr>
            <a:r>
              <a:rPr lang="en-AU" sz="3600" b="1">
                <a:solidFill>
                  <a:schemeClr val="accent2"/>
                </a:solidFill>
                <a:effectLst/>
                <a:latin typeface="Arial" panose="020B0604020202020204" pitchFamily="34" charset="0"/>
                <a:ea typeface="Calibri" panose="020F0502020204030204" pitchFamily="34" charset="0"/>
              </a:rPr>
              <a:t>a) thousand</a:t>
            </a:r>
          </a:p>
          <a:p>
            <a:pPr lvl="0">
              <a:lnSpc>
                <a:spcPct val="150000"/>
              </a:lnSpc>
              <a:spcBef>
                <a:spcPts val="1200"/>
              </a:spcBef>
              <a:spcAft>
                <a:spcPts val="600"/>
              </a:spcAft>
            </a:pPr>
            <a:r>
              <a:rPr lang="en-AU" sz="3600" b="1">
                <a:solidFill>
                  <a:srgbClr val="00B050"/>
                </a:solidFill>
                <a:latin typeface="Arial" panose="020B0604020202020204" pitchFamily="34" charset="0"/>
                <a:ea typeface="Calibri" panose="020F0502020204030204" pitchFamily="34" charset="0"/>
              </a:rPr>
              <a:t>b) ten thousand</a:t>
            </a:r>
          </a:p>
          <a:p>
            <a:pPr lvl="0">
              <a:lnSpc>
                <a:spcPct val="150000"/>
              </a:lnSpc>
              <a:spcBef>
                <a:spcPts val="1200"/>
              </a:spcBef>
              <a:spcAft>
                <a:spcPts val="600"/>
              </a:spcAft>
            </a:pPr>
            <a:r>
              <a:rPr lang="en-AU" sz="3600" b="1">
                <a:solidFill>
                  <a:srgbClr val="EE6314"/>
                </a:solidFill>
                <a:effectLst/>
                <a:latin typeface="Arial" panose="020B0604020202020204" pitchFamily="34" charset="0"/>
                <a:ea typeface="Calibri" panose="020F0502020204030204" pitchFamily="34" charset="0"/>
              </a:rPr>
              <a:t>c) hundred thousand</a:t>
            </a:r>
          </a:p>
        </p:txBody>
      </p:sp>
      <p:pic>
        <p:nvPicPr>
          <p:cNvPr id="8" name="Picture 7" descr="3 number lines with the following numbers marked:&#10;2580&#10;24 725&#10;232 989">
            <a:extLst>
              <a:ext uri="{FF2B5EF4-FFF2-40B4-BE49-F238E27FC236}">
                <a16:creationId xmlns:a16="http://schemas.microsoft.com/office/drawing/2014/main" id="{75276ECA-E30F-069C-659E-AB65C6A9FC62}"/>
              </a:ext>
            </a:extLst>
          </p:cNvPr>
          <p:cNvPicPr>
            <a:picLocks noChangeAspect="1"/>
          </p:cNvPicPr>
          <p:nvPr/>
        </p:nvPicPr>
        <p:blipFill>
          <a:blip r:embed="rId4"/>
          <a:stretch>
            <a:fillRect/>
          </a:stretch>
        </p:blipFill>
        <p:spPr>
          <a:xfrm>
            <a:off x="5254330" y="1821101"/>
            <a:ext cx="6229670" cy="480719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4" name="TextBox 3">
            <a:extLst>
              <a:ext uri="{FF2B5EF4-FFF2-40B4-BE49-F238E27FC236}">
                <a16:creationId xmlns:a16="http://schemas.microsoft.com/office/drawing/2014/main" id="{93ABEB0F-DA12-747C-B803-B054A856384B}"/>
              </a:ext>
            </a:extLst>
          </p:cNvPr>
          <p:cNvSpPr txBox="1"/>
          <p:nvPr/>
        </p:nvSpPr>
        <p:spPr>
          <a:xfrm>
            <a:off x="151656" y="1009642"/>
            <a:ext cx="11585976" cy="3637280"/>
          </a:xfrm>
          <a:prstGeom prst="rect">
            <a:avLst/>
          </a:prstGeom>
          <a:noFill/>
        </p:spPr>
        <p:txBody>
          <a:bodyPr wrap="square" lIns="0" tIns="0" rIns="0" bIns="0" rtlCol="0">
            <a:noAutofit/>
          </a:bodyPr>
          <a:lstStyle/>
          <a:p>
            <a:pPr algn="ctr">
              <a:lnSpc>
                <a:spcPct val="150000"/>
              </a:lnSpc>
            </a:pPr>
            <a:r>
              <a:rPr lang="en-AU" sz="4000" dirty="0"/>
              <a:t>Explain whether the </a:t>
            </a:r>
            <a:r>
              <a:rPr lang="en-AU" sz="4000" b="1" dirty="0"/>
              <a:t>length of the arms </a:t>
            </a:r>
            <a:r>
              <a:rPr lang="en-AU" sz="4000" dirty="0"/>
              <a:t>affects the </a:t>
            </a:r>
            <a:r>
              <a:rPr lang="en-AU" sz="4000" b="1" dirty="0"/>
              <a:t>size of the angle</a:t>
            </a:r>
            <a:r>
              <a:rPr lang="en-AU" sz="4000" dirty="0"/>
              <a:t>. </a:t>
            </a:r>
          </a:p>
          <a:p>
            <a:pPr algn="ctr">
              <a:lnSpc>
                <a:spcPct val="150000"/>
              </a:lnSpc>
            </a:pPr>
            <a:r>
              <a:rPr lang="en-AU" sz="4000" dirty="0"/>
              <a:t>Use these angles to </a:t>
            </a:r>
            <a:r>
              <a:rPr lang="en-AU" sz="4000" b="1" dirty="0"/>
              <a:t>support</a:t>
            </a:r>
            <a:r>
              <a:rPr lang="en-AU" sz="4000" dirty="0"/>
              <a:t> your </a:t>
            </a:r>
            <a:r>
              <a:rPr lang="en-AU" sz="4000" b="1" dirty="0"/>
              <a:t>explanation</a:t>
            </a:r>
            <a:r>
              <a:rPr lang="en-AU" sz="4000" dirty="0"/>
              <a:t>.</a:t>
            </a:r>
          </a:p>
        </p:txBody>
      </p:sp>
      <p:pic>
        <p:nvPicPr>
          <p:cNvPr id="8" name="Picture 7" descr="3 right angles with different length arms.">
            <a:extLst>
              <a:ext uri="{FF2B5EF4-FFF2-40B4-BE49-F238E27FC236}">
                <a16:creationId xmlns:a16="http://schemas.microsoft.com/office/drawing/2014/main" id="{D85D1B0C-790B-90BC-97AD-D9E15DDAA6C5}"/>
              </a:ext>
            </a:extLst>
          </p:cNvPr>
          <p:cNvPicPr>
            <a:picLocks noChangeAspect="1"/>
          </p:cNvPicPr>
          <p:nvPr/>
        </p:nvPicPr>
        <p:blipFill>
          <a:blip r:embed="rId4"/>
          <a:stretch>
            <a:fillRect/>
          </a:stretch>
        </p:blipFill>
        <p:spPr>
          <a:xfrm>
            <a:off x="3653890" y="3869094"/>
            <a:ext cx="4581507" cy="264690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3ED5C10-5D85-EDE5-FB8D-E8F0823BEF21}"/>
              </a:ext>
            </a:extLst>
          </p:cNvPr>
          <p:cNvSpPr txBox="1"/>
          <p:nvPr/>
        </p:nvSpPr>
        <p:spPr>
          <a:xfrm>
            <a:off x="297543" y="993771"/>
            <a:ext cx="11832000" cy="1132609"/>
          </a:xfrm>
          <a:prstGeom prst="rect">
            <a:avLst/>
          </a:prstGeom>
          <a:noFill/>
        </p:spPr>
        <p:txBody>
          <a:bodyPr wrap="square" lIns="0" tIns="0" rIns="0" bIns="0" rtlCol="0">
            <a:noAutofit/>
          </a:bodyPr>
          <a:lstStyle/>
          <a:p>
            <a:pPr algn="ctr">
              <a:lnSpc>
                <a:spcPct val="150000"/>
              </a:lnSpc>
            </a:pPr>
            <a:r>
              <a:rPr lang="en-AU" sz="2800"/>
              <a:t>These objects have been measured using a ruler.</a:t>
            </a:r>
          </a:p>
          <a:p>
            <a:pPr algn="ctr">
              <a:lnSpc>
                <a:spcPct val="150000"/>
              </a:lnSpc>
            </a:pPr>
            <a:r>
              <a:rPr lang="en-AU" sz="2800"/>
              <a:t>Record the lengths of the objects using the </a:t>
            </a:r>
            <a:r>
              <a:rPr lang="en-AU" sz="2800" b="1"/>
              <a:t>abbreviation for millimetres.</a:t>
            </a:r>
            <a:endParaRPr lang="en-AU" sz="2800"/>
          </a:p>
        </p:txBody>
      </p:sp>
      <p:sp>
        <p:nvSpPr>
          <p:cNvPr id="10" name="TextBox 9">
            <a:extLst>
              <a:ext uri="{FF2B5EF4-FFF2-40B4-BE49-F238E27FC236}">
                <a16:creationId xmlns:a16="http://schemas.microsoft.com/office/drawing/2014/main" id="{4857B5AC-68B6-8E66-DC85-ED93DA5BA6A3}"/>
              </a:ext>
            </a:extLst>
          </p:cNvPr>
          <p:cNvSpPr txBox="1"/>
          <p:nvPr/>
        </p:nvSpPr>
        <p:spPr>
          <a:xfrm>
            <a:off x="869260" y="3092005"/>
            <a:ext cx="768927" cy="924791"/>
          </a:xfrm>
          <a:prstGeom prst="rect">
            <a:avLst/>
          </a:prstGeom>
          <a:noFill/>
        </p:spPr>
        <p:txBody>
          <a:bodyPr wrap="square" lIns="0" tIns="0" rIns="0" bIns="0" rtlCol="0">
            <a:noAutofit/>
          </a:bodyPr>
          <a:lstStyle/>
          <a:p>
            <a:pPr algn="ctr"/>
            <a:r>
              <a:rPr lang="en-AU" sz="3000"/>
              <a:t>A.</a:t>
            </a:r>
          </a:p>
        </p:txBody>
      </p:sp>
      <p:pic>
        <p:nvPicPr>
          <p:cNvPr id="7" name="Picture 6" descr="An image of a 30 centimetre ruler measuring a pencil with a red line drawn to indicate the length less than 20 cm.">
            <a:extLst>
              <a:ext uri="{FF2B5EF4-FFF2-40B4-BE49-F238E27FC236}">
                <a16:creationId xmlns:a16="http://schemas.microsoft.com/office/drawing/2014/main" id="{05FCCEA9-D435-334A-A069-D721FAECC9CC}"/>
              </a:ext>
            </a:extLst>
          </p:cNvPr>
          <p:cNvPicPr>
            <a:picLocks noChangeAspect="1"/>
          </p:cNvPicPr>
          <p:nvPr/>
        </p:nvPicPr>
        <p:blipFill>
          <a:blip r:embed="rId4"/>
          <a:stretch>
            <a:fillRect/>
          </a:stretch>
        </p:blipFill>
        <p:spPr>
          <a:xfrm>
            <a:off x="1638187" y="2370994"/>
            <a:ext cx="9154391" cy="1825625"/>
          </a:xfrm>
          <a:prstGeom prst="rect">
            <a:avLst/>
          </a:prstGeom>
        </p:spPr>
      </p:pic>
      <p:sp>
        <p:nvSpPr>
          <p:cNvPr id="11" name="TextBox 10">
            <a:extLst>
              <a:ext uri="{FF2B5EF4-FFF2-40B4-BE49-F238E27FC236}">
                <a16:creationId xmlns:a16="http://schemas.microsoft.com/office/drawing/2014/main" id="{1A5BC11F-D69D-8DC1-0DA6-65EC67C96A0E}"/>
              </a:ext>
            </a:extLst>
          </p:cNvPr>
          <p:cNvSpPr txBox="1"/>
          <p:nvPr/>
        </p:nvSpPr>
        <p:spPr>
          <a:xfrm>
            <a:off x="869259" y="5394019"/>
            <a:ext cx="768927" cy="924791"/>
          </a:xfrm>
          <a:prstGeom prst="rect">
            <a:avLst/>
          </a:prstGeom>
          <a:noFill/>
        </p:spPr>
        <p:txBody>
          <a:bodyPr wrap="square" lIns="0" tIns="0" rIns="0" bIns="0" rtlCol="0">
            <a:noAutofit/>
          </a:bodyPr>
          <a:lstStyle/>
          <a:p>
            <a:pPr algn="ctr"/>
            <a:r>
              <a:rPr lang="en-AU" sz="3000"/>
              <a:t>B.</a:t>
            </a:r>
          </a:p>
        </p:txBody>
      </p:sp>
      <p:pic>
        <p:nvPicPr>
          <p:cNvPr id="9" name="Picture 8" descr="An image of a 30 centimetre ruler measuring a toy car with a red line drawn to indicate the length less than 10 cm.">
            <a:extLst>
              <a:ext uri="{FF2B5EF4-FFF2-40B4-BE49-F238E27FC236}">
                <a16:creationId xmlns:a16="http://schemas.microsoft.com/office/drawing/2014/main" id="{B6032D3D-003A-71CE-2679-D10204B0795F}"/>
              </a:ext>
            </a:extLst>
          </p:cNvPr>
          <p:cNvPicPr>
            <a:picLocks noChangeAspect="1"/>
          </p:cNvPicPr>
          <p:nvPr/>
        </p:nvPicPr>
        <p:blipFill>
          <a:blip r:embed="rId5"/>
          <a:stretch>
            <a:fillRect/>
          </a:stretch>
        </p:blipFill>
        <p:spPr>
          <a:xfrm>
            <a:off x="1596625" y="4135196"/>
            <a:ext cx="9233837" cy="2380804"/>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fact families</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3" name="Picture 2" descr="Five triangles with fact families. Triangle 1 has 20, 5 and 4. Triangle 2 has 12, 2 and 6.  Triangle 3 has 16, 2 and 8. Triangle 4 has 40, 5 and 8. Triangle 5 has 32 and 4. ">
            <a:extLst>
              <a:ext uri="{FF2B5EF4-FFF2-40B4-BE49-F238E27FC236}">
                <a16:creationId xmlns:a16="http://schemas.microsoft.com/office/drawing/2014/main" id="{93F4673B-9EA9-251F-AA67-4661CD5E84F1}"/>
              </a:ext>
            </a:extLst>
          </p:cNvPr>
          <p:cNvPicPr>
            <a:picLocks noChangeAspect="1"/>
          </p:cNvPicPr>
          <p:nvPr/>
        </p:nvPicPr>
        <p:blipFill>
          <a:blip r:embed="rId4"/>
          <a:stretch>
            <a:fillRect/>
          </a:stretch>
        </p:blipFill>
        <p:spPr>
          <a:xfrm>
            <a:off x="1180958" y="1097258"/>
            <a:ext cx="9338420" cy="5400742"/>
          </a:xfrm>
          <a:prstGeom prst="rect">
            <a:avLst/>
          </a:prstGeom>
          <a:ln>
            <a:noFill/>
          </a:ln>
          <a:effectLst/>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360000" y="1387363"/>
            <a:ext cx="7509857" cy="893226"/>
          </a:xfrm>
        </p:spPr>
        <p:txBody>
          <a:bodyPr/>
          <a:lstStyle/>
          <a:p>
            <a:pPr algn="ctr"/>
            <a:r>
              <a:rPr lang="en-AU" sz="3000"/>
              <a:t>Which </a:t>
            </a:r>
            <a:r>
              <a:rPr lang="en-AU" sz="3000" b="1"/>
              <a:t>number sentence </a:t>
            </a:r>
            <a:r>
              <a:rPr lang="en-AU" sz="3000"/>
              <a:t>represents the  the </a:t>
            </a:r>
            <a:r>
              <a:rPr lang="en-AU" sz="3000" b="1"/>
              <a:t>array </a:t>
            </a:r>
            <a:r>
              <a:rPr lang="en-AU" sz="3000"/>
              <a:t>displayed?</a:t>
            </a:r>
          </a:p>
          <a:p>
            <a:pPr algn="ctr">
              <a:spcAft>
                <a:spcPts val="0"/>
              </a:spcAft>
            </a:pPr>
            <a:r>
              <a:rPr lang="en-AU" sz="2800"/>
              <a:t>You </a:t>
            </a:r>
            <a:r>
              <a:rPr lang="en-AU" sz="2800" b="1"/>
              <a:t>may </a:t>
            </a:r>
            <a:r>
              <a:rPr lang="en-AU" sz="2800"/>
              <a:t>choose </a:t>
            </a:r>
            <a:r>
              <a:rPr lang="en-AU" sz="2800" b="1"/>
              <a:t>more than one </a:t>
            </a:r>
            <a:r>
              <a:rPr lang="en-AU" sz="2800"/>
              <a:t>answer.</a:t>
            </a:r>
            <a:endParaRPr lang="en-US" sz="2800"/>
          </a:p>
        </p:txBody>
      </p:sp>
      <p:grpSp>
        <p:nvGrpSpPr>
          <p:cNvPr id="34" name="Group 33" descr="An array of 24 arranged in 4 rows of 6.">
            <a:extLst>
              <a:ext uri="{FF2B5EF4-FFF2-40B4-BE49-F238E27FC236}">
                <a16:creationId xmlns:a16="http://schemas.microsoft.com/office/drawing/2014/main" id="{BCC30907-C54D-E159-E155-E0D50682466C}"/>
              </a:ext>
            </a:extLst>
          </p:cNvPr>
          <p:cNvGrpSpPr/>
          <p:nvPr/>
        </p:nvGrpSpPr>
        <p:grpSpPr>
          <a:xfrm>
            <a:off x="8106449" y="1515348"/>
            <a:ext cx="3284352" cy="2048431"/>
            <a:chOff x="3313821" y="1970853"/>
            <a:chExt cx="2909189" cy="1756693"/>
          </a:xfrm>
        </p:grpSpPr>
        <p:sp>
          <p:nvSpPr>
            <p:cNvPr id="5" name="Oval 4">
              <a:extLst>
                <a:ext uri="{FF2B5EF4-FFF2-40B4-BE49-F238E27FC236}">
                  <a16:creationId xmlns:a16="http://schemas.microsoft.com/office/drawing/2014/main" id="{2DDAC6DA-A05D-778C-F74A-9437CD71BE5D}"/>
                </a:ext>
              </a:extLst>
            </p:cNvPr>
            <p:cNvSpPr/>
            <p:nvPr/>
          </p:nvSpPr>
          <p:spPr>
            <a:xfrm>
              <a:off x="3313821" y="2917497"/>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 name="Oval 5">
              <a:extLst>
                <a:ext uri="{FF2B5EF4-FFF2-40B4-BE49-F238E27FC236}">
                  <a16:creationId xmlns:a16="http://schemas.microsoft.com/office/drawing/2014/main" id="{D12AD0BF-A93F-00C9-DE7A-9820B0B017BB}"/>
                </a:ext>
              </a:extLst>
            </p:cNvPr>
            <p:cNvSpPr/>
            <p:nvPr/>
          </p:nvSpPr>
          <p:spPr>
            <a:xfrm>
              <a:off x="5357837" y="3367233"/>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7" name="Oval 6">
              <a:extLst>
                <a:ext uri="{FF2B5EF4-FFF2-40B4-BE49-F238E27FC236}">
                  <a16:creationId xmlns:a16="http://schemas.microsoft.com/office/drawing/2014/main" id="{98460332-06DC-2AB0-9E10-493EED312467}"/>
                </a:ext>
              </a:extLst>
            </p:cNvPr>
            <p:cNvSpPr/>
            <p:nvPr/>
          </p:nvSpPr>
          <p:spPr>
            <a:xfrm>
              <a:off x="5357837" y="2901773"/>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8" name="Oval 7">
              <a:extLst>
                <a:ext uri="{FF2B5EF4-FFF2-40B4-BE49-F238E27FC236}">
                  <a16:creationId xmlns:a16="http://schemas.microsoft.com/office/drawing/2014/main" id="{1ED34739-182A-B1A5-B090-7A09AD087F75}"/>
                </a:ext>
              </a:extLst>
            </p:cNvPr>
            <p:cNvSpPr/>
            <p:nvPr/>
          </p:nvSpPr>
          <p:spPr>
            <a:xfrm>
              <a:off x="5357837" y="2436313"/>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CC61E076-8895-9886-AAFC-F4FB30A91BA5}"/>
                </a:ext>
              </a:extLst>
            </p:cNvPr>
            <p:cNvSpPr/>
            <p:nvPr/>
          </p:nvSpPr>
          <p:spPr>
            <a:xfrm>
              <a:off x="5349241" y="1970853"/>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4" name="Oval 13">
              <a:extLst>
                <a:ext uri="{FF2B5EF4-FFF2-40B4-BE49-F238E27FC236}">
                  <a16:creationId xmlns:a16="http://schemas.microsoft.com/office/drawing/2014/main" id="{51694932-06DB-2512-CB2A-B6B12029BFEC}"/>
                </a:ext>
              </a:extLst>
            </p:cNvPr>
            <p:cNvSpPr/>
            <p:nvPr/>
          </p:nvSpPr>
          <p:spPr>
            <a:xfrm>
              <a:off x="4846833" y="3389285"/>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5" name="Oval 14">
              <a:extLst>
                <a:ext uri="{FF2B5EF4-FFF2-40B4-BE49-F238E27FC236}">
                  <a16:creationId xmlns:a16="http://schemas.microsoft.com/office/drawing/2014/main" id="{D67E1CF5-DF8C-0CFA-310C-30C661B1DB20}"/>
                </a:ext>
              </a:extLst>
            </p:cNvPr>
            <p:cNvSpPr/>
            <p:nvPr/>
          </p:nvSpPr>
          <p:spPr>
            <a:xfrm>
              <a:off x="4846833" y="2921026"/>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6" name="Oval 15">
              <a:extLst>
                <a:ext uri="{FF2B5EF4-FFF2-40B4-BE49-F238E27FC236}">
                  <a16:creationId xmlns:a16="http://schemas.microsoft.com/office/drawing/2014/main" id="{EEF5184A-6E41-E8D1-2D41-998BFC279DAF}"/>
                </a:ext>
              </a:extLst>
            </p:cNvPr>
            <p:cNvSpPr/>
            <p:nvPr/>
          </p:nvSpPr>
          <p:spPr>
            <a:xfrm>
              <a:off x="4846833" y="2452766"/>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7" name="Oval 16">
              <a:extLst>
                <a:ext uri="{FF2B5EF4-FFF2-40B4-BE49-F238E27FC236}">
                  <a16:creationId xmlns:a16="http://schemas.microsoft.com/office/drawing/2014/main" id="{C92ED10A-7674-CC08-F638-EE39EBB77A1E}"/>
                </a:ext>
              </a:extLst>
            </p:cNvPr>
            <p:cNvSpPr/>
            <p:nvPr/>
          </p:nvSpPr>
          <p:spPr>
            <a:xfrm>
              <a:off x="4840386" y="1984506"/>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9" name="Oval 18">
              <a:extLst>
                <a:ext uri="{FF2B5EF4-FFF2-40B4-BE49-F238E27FC236}">
                  <a16:creationId xmlns:a16="http://schemas.microsoft.com/office/drawing/2014/main" id="{AE2177DF-AF7D-FF17-0CE6-78EC22F12C7F}"/>
                </a:ext>
              </a:extLst>
            </p:cNvPr>
            <p:cNvSpPr/>
            <p:nvPr/>
          </p:nvSpPr>
          <p:spPr>
            <a:xfrm>
              <a:off x="4335829" y="3389286"/>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AF9F5E51-143D-156E-8127-8769AFFDDCA1}"/>
                </a:ext>
              </a:extLst>
            </p:cNvPr>
            <p:cNvSpPr/>
            <p:nvPr/>
          </p:nvSpPr>
          <p:spPr>
            <a:xfrm>
              <a:off x="4335829" y="2921027"/>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1" name="Oval 20">
              <a:extLst>
                <a:ext uri="{FF2B5EF4-FFF2-40B4-BE49-F238E27FC236}">
                  <a16:creationId xmlns:a16="http://schemas.microsoft.com/office/drawing/2014/main" id="{071CD53A-C06F-EC23-9583-A41741C60573}"/>
                </a:ext>
              </a:extLst>
            </p:cNvPr>
            <p:cNvSpPr/>
            <p:nvPr/>
          </p:nvSpPr>
          <p:spPr>
            <a:xfrm>
              <a:off x="4335829" y="2452767"/>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2" name="Oval 21">
              <a:extLst>
                <a:ext uri="{FF2B5EF4-FFF2-40B4-BE49-F238E27FC236}">
                  <a16:creationId xmlns:a16="http://schemas.microsoft.com/office/drawing/2014/main" id="{BCBBC500-1B6A-924A-834E-0B8E1B449393}"/>
                </a:ext>
              </a:extLst>
            </p:cNvPr>
            <p:cNvSpPr/>
            <p:nvPr/>
          </p:nvSpPr>
          <p:spPr>
            <a:xfrm>
              <a:off x="4331531" y="1984507"/>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3" name="Oval 22">
              <a:extLst>
                <a:ext uri="{FF2B5EF4-FFF2-40B4-BE49-F238E27FC236}">
                  <a16:creationId xmlns:a16="http://schemas.microsoft.com/office/drawing/2014/main" id="{B1D8E98A-CB1F-FB70-F5BA-9BCC34392ADC}"/>
                </a:ext>
              </a:extLst>
            </p:cNvPr>
            <p:cNvSpPr/>
            <p:nvPr/>
          </p:nvSpPr>
          <p:spPr>
            <a:xfrm>
              <a:off x="3824825" y="3377099"/>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4" name="Oval 23">
              <a:extLst>
                <a:ext uri="{FF2B5EF4-FFF2-40B4-BE49-F238E27FC236}">
                  <a16:creationId xmlns:a16="http://schemas.microsoft.com/office/drawing/2014/main" id="{D906BF68-D8B4-79BA-6A9B-186922CA5373}"/>
                </a:ext>
              </a:extLst>
            </p:cNvPr>
            <p:cNvSpPr/>
            <p:nvPr/>
          </p:nvSpPr>
          <p:spPr>
            <a:xfrm>
              <a:off x="3824825" y="2908350"/>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5" name="Oval 24">
              <a:extLst>
                <a:ext uri="{FF2B5EF4-FFF2-40B4-BE49-F238E27FC236}">
                  <a16:creationId xmlns:a16="http://schemas.microsoft.com/office/drawing/2014/main" id="{1AC652B6-D60F-DAD8-FDEF-5FCA4D7AFE6F}"/>
                </a:ext>
              </a:extLst>
            </p:cNvPr>
            <p:cNvSpPr/>
            <p:nvPr/>
          </p:nvSpPr>
          <p:spPr>
            <a:xfrm>
              <a:off x="3824825" y="2439602"/>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6" name="Oval 25">
              <a:extLst>
                <a:ext uri="{FF2B5EF4-FFF2-40B4-BE49-F238E27FC236}">
                  <a16:creationId xmlns:a16="http://schemas.microsoft.com/office/drawing/2014/main" id="{47F52C9C-D059-6738-DC3B-C8DB6F582451}"/>
                </a:ext>
              </a:extLst>
            </p:cNvPr>
            <p:cNvSpPr/>
            <p:nvPr/>
          </p:nvSpPr>
          <p:spPr>
            <a:xfrm>
              <a:off x="3822676" y="1970854"/>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7" name="Oval 26">
              <a:extLst>
                <a:ext uri="{FF2B5EF4-FFF2-40B4-BE49-F238E27FC236}">
                  <a16:creationId xmlns:a16="http://schemas.microsoft.com/office/drawing/2014/main" id="{C4C2300C-F16D-5859-637A-35C3BF98EDB3}"/>
                </a:ext>
              </a:extLst>
            </p:cNvPr>
            <p:cNvSpPr/>
            <p:nvPr/>
          </p:nvSpPr>
          <p:spPr>
            <a:xfrm>
              <a:off x="3313821" y="3389287"/>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8" name="Oval 27">
              <a:extLst>
                <a:ext uri="{FF2B5EF4-FFF2-40B4-BE49-F238E27FC236}">
                  <a16:creationId xmlns:a16="http://schemas.microsoft.com/office/drawing/2014/main" id="{49EAD29B-4677-C8CA-82BF-8D197CB5AAAD}"/>
                </a:ext>
              </a:extLst>
            </p:cNvPr>
            <p:cNvSpPr/>
            <p:nvPr/>
          </p:nvSpPr>
          <p:spPr>
            <a:xfrm>
              <a:off x="3313821" y="2445707"/>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EF0FA3CC-81A1-5C1B-EBB9-ACF5452D8478}"/>
                </a:ext>
              </a:extLst>
            </p:cNvPr>
            <p:cNvSpPr/>
            <p:nvPr/>
          </p:nvSpPr>
          <p:spPr>
            <a:xfrm>
              <a:off x="3313821" y="1973918"/>
              <a:ext cx="354170" cy="338258"/>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0" name="Oval 29">
              <a:extLst>
                <a:ext uri="{FF2B5EF4-FFF2-40B4-BE49-F238E27FC236}">
                  <a16:creationId xmlns:a16="http://schemas.microsoft.com/office/drawing/2014/main" id="{FF44D223-7F51-D1F6-67E1-73484CA1DD63}"/>
                </a:ext>
              </a:extLst>
            </p:cNvPr>
            <p:cNvSpPr/>
            <p:nvPr/>
          </p:nvSpPr>
          <p:spPr>
            <a:xfrm>
              <a:off x="5868840" y="3380886"/>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1" name="Oval 30">
              <a:extLst>
                <a:ext uri="{FF2B5EF4-FFF2-40B4-BE49-F238E27FC236}">
                  <a16:creationId xmlns:a16="http://schemas.microsoft.com/office/drawing/2014/main" id="{AB9098A3-A8FD-A163-63C2-0F35221888D8}"/>
                </a:ext>
              </a:extLst>
            </p:cNvPr>
            <p:cNvSpPr/>
            <p:nvPr/>
          </p:nvSpPr>
          <p:spPr>
            <a:xfrm>
              <a:off x="5868840" y="2449966"/>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2" name="Oval 31">
              <a:extLst>
                <a:ext uri="{FF2B5EF4-FFF2-40B4-BE49-F238E27FC236}">
                  <a16:creationId xmlns:a16="http://schemas.microsoft.com/office/drawing/2014/main" id="{93A0DC22-0B30-74BD-F3B4-1F5C5DA7CC41}"/>
                </a:ext>
              </a:extLst>
            </p:cNvPr>
            <p:cNvSpPr/>
            <p:nvPr/>
          </p:nvSpPr>
          <p:spPr>
            <a:xfrm>
              <a:off x="5858096" y="1984506"/>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3" name="Oval 32">
              <a:extLst>
                <a:ext uri="{FF2B5EF4-FFF2-40B4-BE49-F238E27FC236}">
                  <a16:creationId xmlns:a16="http://schemas.microsoft.com/office/drawing/2014/main" id="{13A1B39D-991C-6811-AFAB-0738161EE169}"/>
                </a:ext>
              </a:extLst>
            </p:cNvPr>
            <p:cNvSpPr/>
            <p:nvPr/>
          </p:nvSpPr>
          <p:spPr>
            <a:xfrm>
              <a:off x="5868840" y="2915426"/>
              <a:ext cx="354170" cy="338259"/>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grpSp>
      <p:sp>
        <p:nvSpPr>
          <p:cNvPr id="9" name="TextBox 8">
            <a:extLst>
              <a:ext uri="{FF2B5EF4-FFF2-40B4-BE49-F238E27FC236}">
                <a16:creationId xmlns:a16="http://schemas.microsoft.com/office/drawing/2014/main" id="{AF13415D-5ABE-8CE1-9EF6-D83C6FF3BAC9}"/>
              </a:ext>
            </a:extLst>
          </p:cNvPr>
          <p:cNvSpPr txBox="1"/>
          <p:nvPr/>
        </p:nvSpPr>
        <p:spPr>
          <a:xfrm>
            <a:off x="1843153" y="40211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37" name="TextBox 36">
            <a:extLst>
              <a:ext uri="{FF2B5EF4-FFF2-40B4-BE49-F238E27FC236}">
                <a16:creationId xmlns:a16="http://schemas.microsoft.com/office/drawing/2014/main" id="{15A9DE32-1D33-40C1-7CB8-C73AD231B71E}"/>
              </a:ext>
            </a:extLst>
          </p:cNvPr>
          <p:cNvSpPr txBox="1"/>
          <p:nvPr/>
        </p:nvSpPr>
        <p:spPr>
          <a:xfrm>
            <a:off x="985296" y="4914043"/>
            <a:ext cx="2175382" cy="1901693"/>
          </a:xfrm>
          <a:prstGeom prst="rect">
            <a:avLst/>
          </a:prstGeom>
          <a:noFill/>
        </p:spPr>
        <p:txBody>
          <a:bodyPr wrap="square" lIns="0" tIns="0" rIns="0" bIns="0" rtlCol="0">
            <a:noAutofit/>
          </a:bodyPr>
          <a:lstStyle/>
          <a:p>
            <a:pPr algn="ctr">
              <a:lnSpc>
                <a:spcPct val="150000"/>
              </a:lnSpc>
            </a:pPr>
            <a:r>
              <a:rPr lang="en-AU" sz="3000"/>
              <a:t>4 × 6 = 24</a:t>
            </a:r>
          </a:p>
        </p:txBody>
      </p:sp>
      <p:sp>
        <p:nvSpPr>
          <p:cNvPr id="10" name="TextBox 9">
            <a:extLst>
              <a:ext uri="{FF2B5EF4-FFF2-40B4-BE49-F238E27FC236}">
                <a16:creationId xmlns:a16="http://schemas.microsoft.com/office/drawing/2014/main" id="{06BFC4FD-CDBD-E74C-2B4B-957276E8D806}"/>
              </a:ext>
            </a:extLst>
          </p:cNvPr>
          <p:cNvSpPr txBox="1"/>
          <p:nvPr/>
        </p:nvSpPr>
        <p:spPr>
          <a:xfrm>
            <a:off x="4464403" y="40291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40" name="TextBox 39">
            <a:extLst>
              <a:ext uri="{FF2B5EF4-FFF2-40B4-BE49-F238E27FC236}">
                <a16:creationId xmlns:a16="http://schemas.microsoft.com/office/drawing/2014/main" id="{0EBD8401-9167-323E-5E7F-66FB8B6A408D}"/>
              </a:ext>
            </a:extLst>
          </p:cNvPr>
          <p:cNvSpPr txBox="1"/>
          <p:nvPr/>
        </p:nvSpPr>
        <p:spPr>
          <a:xfrm>
            <a:off x="3641426" y="4894633"/>
            <a:ext cx="2175382" cy="1901693"/>
          </a:xfrm>
          <a:prstGeom prst="rect">
            <a:avLst/>
          </a:prstGeom>
          <a:noFill/>
        </p:spPr>
        <p:txBody>
          <a:bodyPr wrap="square" lIns="0" tIns="0" rIns="0" bIns="0" rtlCol="0">
            <a:noAutofit/>
          </a:bodyPr>
          <a:lstStyle/>
          <a:p>
            <a:pPr algn="ctr">
              <a:lnSpc>
                <a:spcPct val="150000"/>
              </a:lnSpc>
            </a:pPr>
            <a:r>
              <a:rPr lang="en-AU" sz="3000"/>
              <a:t>24 ÷ 8 = 3</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402613" y="40266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35" name="TextBox 34">
            <a:extLst>
              <a:ext uri="{FF2B5EF4-FFF2-40B4-BE49-F238E27FC236}">
                <a16:creationId xmlns:a16="http://schemas.microsoft.com/office/drawing/2014/main" id="{4846B579-1499-17B8-8F34-F6C00D643FDB}"/>
              </a:ext>
            </a:extLst>
          </p:cNvPr>
          <p:cNvSpPr txBox="1"/>
          <p:nvPr/>
        </p:nvSpPr>
        <p:spPr>
          <a:xfrm>
            <a:off x="6543358" y="4846969"/>
            <a:ext cx="2175382" cy="1901693"/>
          </a:xfrm>
          <a:prstGeom prst="rect">
            <a:avLst/>
          </a:prstGeom>
          <a:noFill/>
        </p:spPr>
        <p:txBody>
          <a:bodyPr wrap="square" lIns="0" tIns="0" rIns="0" bIns="0" rtlCol="0">
            <a:noAutofit/>
          </a:bodyPr>
          <a:lstStyle/>
          <a:p>
            <a:pPr algn="ctr">
              <a:lnSpc>
                <a:spcPct val="150000"/>
              </a:lnSpc>
            </a:pPr>
            <a:r>
              <a:rPr lang="en-AU" sz="3000"/>
              <a:t>2 × 12 = 24</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340823" y="40291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36" name="TextBox 35">
            <a:extLst>
              <a:ext uri="{FF2B5EF4-FFF2-40B4-BE49-F238E27FC236}">
                <a16:creationId xmlns:a16="http://schemas.microsoft.com/office/drawing/2014/main" id="{1CF452CE-4A61-657F-9F59-0C0F2FE6A590}"/>
              </a:ext>
            </a:extLst>
          </p:cNvPr>
          <p:cNvSpPr txBox="1"/>
          <p:nvPr/>
        </p:nvSpPr>
        <p:spPr>
          <a:xfrm>
            <a:off x="9445290" y="4839875"/>
            <a:ext cx="2175382" cy="1901693"/>
          </a:xfrm>
          <a:prstGeom prst="rect">
            <a:avLst/>
          </a:prstGeom>
          <a:noFill/>
        </p:spPr>
        <p:txBody>
          <a:bodyPr wrap="square" lIns="0" tIns="0" rIns="0" bIns="0" rtlCol="0">
            <a:noAutofit/>
          </a:bodyPr>
          <a:lstStyle/>
          <a:p>
            <a:pPr algn="ctr">
              <a:lnSpc>
                <a:spcPct val="150000"/>
              </a:lnSpc>
            </a:pPr>
            <a:r>
              <a:rPr lang="en-AU" sz="3000"/>
              <a:t>24 ÷ 4 = 6</a:t>
            </a:r>
          </a:p>
        </p:txBody>
      </p:sp>
      <p:sp>
        <p:nvSpPr>
          <p:cNvPr id="41" name="Text Placeholder 17">
            <a:extLst>
              <a:ext uri="{FF2B5EF4-FFF2-40B4-BE49-F238E27FC236}">
                <a16:creationId xmlns:a16="http://schemas.microsoft.com/office/drawing/2014/main" id="{C90FF4EA-1596-6948-B0BF-BBC10D676626}"/>
              </a:ext>
            </a:extLst>
          </p:cNvPr>
          <p:cNvSpPr txBox="1">
            <a:spLocks/>
          </p:cNvSpPr>
          <p:nvPr/>
        </p:nvSpPr>
        <p:spPr>
          <a:xfrm>
            <a:off x="1508956" y="5842418"/>
            <a:ext cx="9610196"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b="1"/>
              <a:t>Communicate</a:t>
            </a:r>
            <a:r>
              <a:rPr lang="en-AU" sz="4000"/>
              <a:t> your </a:t>
            </a:r>
            <a:r>
              <a:rPr lang="en-AU" sz="4000" b="1"/>
              <a:t>reasoning</a:t>
            </a:r>
            <a:r>
              <a:rPr lang="en-AU" sz="4000"/>
              <a:t>.</a:t>
            </a:r>
            <a:endParaRPr lang="en-US" sz="4000"/>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grpSp>
        <p:nvGrpSpPr>
          <p:cNvPr id="11" name="Group 10" descr="Shape 1: a square">
            <a:extLst>
              <a:ext uri="{FF2B5EF4-FFF2-40B4-BE49-F238E27FC236}">
                <a16:creationId xmlns:a16="http://schemas.microsoft.com/office/drawing/2014/main" id="{97EA4804-5857-FA10-EF15-2BCCED4495E4}"/>
              </a:ext>
            </a:extLst>
          </p:cNvPr>
          <p:cNvGrpSpPr/>
          <p:nvPr/>
        </p:nvGrpSpPr>
        <p:grpSpPr>
          <a:xfrm>
            <a:off x="1870364" y="1631373"/>
            <a:ext cx="1257300" cy="1184564"/>
            <a:chOff x="1870364" y="1631373"/>
            <a:chExt cx="1257300" cy="1184564"/>
          </a:xfrm>
        </p:grpSpPr>
        <p:sp>
          <p:nvSpPr>
            <p:cNvPr id="4" name="Rectangle 3" descr="Shape 1: square">
              <a:extLst>
                <a:ext uri="{FF2B5EF4-FFF2-40B4-BE49-F238E27FC236}">
                  <a16:creationId xmlns:a16="http://schemas.microsoft.com/office/drawing/2014/main" id="{22337E8E-4262-F60E-D2D0-2C64432D8B95}"/>
                </a:ext>
              </a:extLst>
            </p:cNvPr>
            <p:cNvSpPr/>
            <p:nvPr/>
          </p:nvSpPr>
          <p:spPr>
            <a:xfrm>
              <a:off x="1870364" y="1631373"/>
              <a:ext cx="1257300" cy="11845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E77C38FC-7F0B-E3F9-2ACB-7E8E1D6AAF83}"/>
                </a:ext>
              </a:extLst>
            </p:cNvPr>
            <p:cNvSpPr txBox="1"/>
            <p:nvPr/>
          </p:nvSpPr>
          <p:spPr>
            <a:xfrm>
              <a:off x="2016881" y="1994405"/>
              <a:ext cx="964265" cy="665019"/>
            </a:xfrm>
            <a:prstGeom prst="rect">
              <a:avLst/>
            </a:prstGeom>
            <a:noFill/>
          </p:spPr>
          <p:txBody>
            <a:bodyPr wrap="square" lIns="0" tIns="0" rIns="0" bIns="0" rtlCol="0">
              <a:noAutofit/>
            </a:bodyPr>
            <a:lstStyle/>
            <a:p>
              <a:pPr algn="ctr"/>
              <a:r>
                <a:rPr lang="en-AU">
                  <a:solidFill>
                    <a:schemeClr val="bg1"/>
                  </a:solidFill>
                </a:rPr>
                <a:t>square</a:t>
              </a:r>
            </a:p>
          </p:txBody>
        </p:sp>
      </p:grpSp>
      <p:grpSp>
        <p:nvGrpSpPr>
          <p:cNvPr id="12" name="Group 11" descr="Shape 2: trapezium">
            <a:extLst>
              <a:ext uri="{FF2B5EF4-FFF2-40B4-BE49-F238E27FC236}">
                <a16:creationId xmlns:a16="http://schemas.microsoft.com/office/drawing/2014/main" id="{95F4BB11-A218-C52B-528A-716BBEC57371}"/>
              </a:ext>
            </a:extLst>
          </p:cNvPr>
          <p:cNvGrpSpPr/>
          <p:nvPr/>
        </p:nvGrpSpPr>
        <p:grpSpPr>
          <a:xfrm>
            <a:off x="4761185" y="1631373"/>
            <a:ext cx="2506717" cy="1184564"/>
            <a:chOff x="5332268" y="1631373"/>
            <a:chExt cx="1527464" cy="1184564"/>
          </a:xfrm>
        </p:grpSpPr>
        <p:sp>
          <p:nvSpPr>
            <p:cNvPr id="5" name="Trapezoid 4">
              <a:extLst>
                <a:ext uri="{FF2B5EF4-FFF2-40B4-BE49-F238E27FC236}">
                  <a16:creationId xmlns:a16="http://schemas.microsoft.com/office/drawing/2014/main" id="{7ED0CA99-CD67-C94F-33DE-16112B5FAEA3}"/>
                </a:ext>
              </a:extLst>
            </p:cNvPr>
            <p:cNvSpPr/>
            <p:nvPr/>
          </p:nvSpPr>
          <p:spPr>
            <a:xfrm>
              <a:off x="5332268" y="1631373"/>
              <a:ext cx="1527464" cy="1184564"/>
            </a:xfrm>
            <a:prstGeom prst="trapezoi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91C70DB8-7F8D-F5F0-60A6-FC4CA6CE6C25}"/>
                </a:ext>
              </a:extLst>
            </p:cNvPr>
            <p:cNvSpPr txBox="1"/>
            <p:nvPr/>
          </p:nvSpPr>
          <p:spPr>
            <a:xfrm>
              <a:off x="5681941" y="1994405"/>
              <a:ext cx="893619" cy="665019"/>
            </a:xfrm>
            <a:prstGeom prst="rect">
              <a:avLst/>
            </a:prstGeom>
            <a:noFill/>
          </p:spPr>
          <p:txBody>
            <a:bodyPr wrap="square" lIns="0" tIns="0" rIns="0" bIns="0" rtlCol="0">
              <a:noAutofit/>
            </a:bodyPr>
            <a:lstStyle/>
            <a:p>
              <a:pPr algn="ctr"/>
              <a:r>
                <a:rPr lang="en-AU">
                  <a:solidFill>
                    <a:schemeClr val="bg1"/>
                  </a:solidFill>
                </a:rPr>
                <a:t>trapezium</a:t>
              </a:r>
            </a:p>
          </p:txBody>
        </p:sp>
      </p:grpSp>
      <p:grpSp>
        <p:nvGrpSpPr>
          <p:cNvPr id="13" name="Group 12" descr="Shape 3: rhombus">
            <a:extLst>
              <a:ext uri="{FF2B5EF4-FFF2-40B4-BE49-F238E27FC236}">
                <a16:creationId xmlns:a16="http://schemas.microsoft.com/office/drawing/2014/main" id="{A5C9EED4-D7E4-281B-DFC5-3947E762DD0A}"/>
              </a:ext>
            </a:extLst>
          </p:cNvPr>
          <p:cNvGrpSpPr/>
          <p:nvPr/>
        </p:nvGrpSpPr>
        <p:grpSpPr>
          <a:xfrm>
            <a:off x="8884227" y="1548245"/>
            <a:ext cx="2372352" cy="1267692"/>
            <a:chOff x="8884227" y="1548245"/>
            <a:chExt cx="1624832" cy="1267692"/>
          </a:xfrm>
        </p:grpSpPr>
        <p:sp>
          <p:nvSpPr>
            <p:cNvPr id="7" name="Parallelogram 6">
              <a:extLst>
                <a:ext uri="{FF2B5EF4-FFF2-40B4-BE49-F238E27FC236}">
                  <a16:creationId xmlns:a16="http://schemas.microsoft.com/office/drawing/2014/main" id="{D5B2DEE3-161D-771A-D849-0707F460E3B4}"/>
                </a:ext>
              </a:extLst>
            </p:cNvPr>
            <p:cNvSpPr/>
            <p:nvPr/>
          </p:nvSpPr>
          <p:spPr>
            <a:xfrm>
              <a:off x="8884227" y="1548245"/>
              <a:ext cx="1624832" cy="1267692"/>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E5AFCC53-CA8F-D5D6-C78C-E4E8A9A768B6}"/>
                </a:ext>
              </a:extLst>
            </p:cNvPr>
            <p:cNvSpPr txBox="1"/>
            <p:nvPr/>
          </p:nvSpPr>
          <p:spPr>
            <a:xfrm>
              <a:off x="9249833" y="1994405"/>
              <a:ext cx="893619" cy="520195"/>
            </a:xfrm>
            <a:prstGeom prst="rect">
              <a:avLst/>
            </a:prstGeom>
            <a:noFill/>
          </p:spPr>
          <p:txBody>
            <a:bodyPr wrap="square" lIns="0" tIns="0" rIns="0" bIns="0" rtlCol="0">
              <a:noAutofit/>
            </a:bodyPr>
            <a:lstStyle/>
            <a:p>
              <a:pPr algn="ctr"/>
              <a:r>
                <a:rPr lang="en-AU">
                  <a:solidFill>
                    <a:schemeClr val="bg1"/>
                  </a:solidFill>
                </a:rPr>
                <a:t>rhombus</a:t>
              </a:r>
            </a:p>
          </p:txBody>
        </p:sp>
      </p:grpSp>
      <p:sp>
        <p:nvSpPr>
          <p:cNvPr id="15" name="TextBox 14">
            <a:extLst>
              <a:ext uri="{FF2B5EF4-FFF2-40B4-BE49-F238E27FC236}">
                <a16:creationId xmlns:a16="http://schemas.microsoft.com/office/drawing/2014/main" id="{27B29710-AFE7-BB93-2161-CDD986D74D89}"/>
              </a:ext>
            </a:extLst>
          </p:cNvPr>
          <p:cNvSpPr txBox="1"/>
          <p:nvPr/>
        </p:nvSpPr>
        <p:spPr>
          <a:xfrm>
            <a:off x="479713" y="3429000"/>
            <a:ext cx="11364287" cy="2901896"/>
          </a:xfrm>
          <a:prstGeom prst="rect">
            <a:avLst/>
          </a:prstGeom>
          <a:noFill/>
        </p:spPr>
        <p:txBody>
          <a:bodyPr wrap="square" lIns="0" tIns="0" rIns="0" bIns="0" rtlCol="0">
            <a:noAutofit/>
          </a:bodyPr>
          <a:lstStyle/>
          <a:p>
            <a:pPr marL="457200" indent="-457200">
              <a:lnSpc>
                <a:spcPct val="150000"/>
              </a:lnSpc>
              <a:buFont typeface="Arial" panose="020B0604020202020204" pitchFamily="34" charset="0"/>
              <a:buChar char="•"/>
            </a:pPr>
            <a:r>
              <a:rPr lang="en-AU" sz="3200"/>
              <a:t>Which shapes have </a:t>
            </a:r>
            <a:r>
              <a:rPr lang="en-AU" sz="3200" b="1"/>
              <a:t>all sides equal</a:t>
            </a:r>
            <a:r>
              <a:rPr lang="en-AU" sz="3200"/>
              <a:t>?</a:t>
            </a:r>
          </a:p>
          <a:p>
            <a:pPr marL="457200" indent="-457200">
              <a:lnSpc>
                <a:spcPct val="150000"/>
              </a:lnSpc>
              <a:buFont typeface="Arial" panose="020B0604020202020204" pitchFamily="34" charset="0"/>
              <a:buChar char="•"/>
            </a:pPr>
            <a:r>
              <a:rPr lang="en-AU" sz="3200"/>
              <a:t>Which shapes have </a:t>
            </a:r>
            <a:r>
              <a:rPr lang="en-AU" sz="3200" b="1"/>
              <a:t>opposite sides parallel</a:t>
            </a:r>
            <a:r>
              <a:rPr lang="en-AU" sz="3200"/>
              <a:t>?</a:t>
            </a:r>
          </a:p>
          <a:p>
            <a:pPr marL="457200" indent="-457200">
              <a:lnSpc>
                <a:spcPct val="150000"/>
              </a:lnSpc>
              <a:buFont typeface="Arial" panose="020B0604020202020204" pitchFamily="34" charset="0"/>
              <a:buChar char="•"/>
            </a:pPr>
            <a:r>
              <a:rPr lang="en-AU" sz="3200"/>
              <a:t>Is a </a:t>
            </a:r>
            <a:r>
              <a:rPr lang="en-AU" sz="3200" b="1"/>
              <a:t>square</a:t>
            </a:r>
            <a:r>
              <a:rPr lang="en-AU" sz="3200"/>
              <a:t> also a </a:t>
            </a:r>
            <a:r>
              <a:rPr lang="en-AU" sz="3200" b="1"/>
              <a:t>parallelogram</a:t>
            </a:r>
            <a:r>
              <a:rPr lang="en-AU" sz="3200"/>
              <a:t>? </a:t>
            </a:r>
            <a:r>
              <a:rPr lang="en-AU" sz="3200" b="1"/>
              <a:t>Explain</a:t>
            </a:r>
            <a:r>
              <a:rPr lang="en-AU" sz="3200"/>
              <a:t> why or why not.</a:t>
            </a:r>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4" name="Text Placeholder 5">
            <a:extLst>
              <a:ext uri="{FF2B5EF4-FFF2-40B4-BE49-F238E27FC236}">
                <a16:creationId xmlns:a16="http://schemas.microsoft.com/office/drawing/2014/main" id="{8FEB7676-30F8-8CD9-A4C6-3880A55BB1E1}"/>
              </a:ext>
            </a:extLst>
          </p:cNvPr>
          <p:cNvSpPr txBox="1">
            <a:spLocks/>
          </p:cNvSpPr>
          <p:nvPr/>
        </p:nvSpPr>
        <p:spPr>
          <a:xfrm>
            <a:off x="1960794" y="1604610"/>
            <a:ext cx="8270412"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Record</a:t>
            </a:r>
          </a:p>
          <a:p>
            <a:pPr algn="ctr"/>
            <a:r>
              <a:rPr lang="en-AU" sz="5400" dirty="0">
                <a:solidFill>
                  <a:schemeClr val="accent2"/>
                </a:solidFill>
              </a:rPr>
              <a:t> </a:t>
            </a:r>
            <a:r>
              <a:rPr lang="en-AU" sz="5400" b="1" dirty="0">
                <a:solidFill>
                  <a:schemeClr val="accent2"/>
                </a:solidFill>
              </a:rPr>
              <a:t>894 397</a:t>
            </a:r>
          </a:p>
          <a:p>
            <a:pPr algn="ctr"/>
            <a:r>
              <a:rPr lang="en-AU" sz="4400" b="1" dirty="0">
                <a:solidFill>
                  <a:schemeClr val="accent2"/>
                </a:solidFill>
              </a:rPr>
              <a:t> </a:t>
            </a:r>
            <a:r>
              <a:rPr lang="en-AU" sz="4400" dirty="0"/>
              <a:t>in </a:t>
            </a:r>
            <a:r>
              <a:rPr lang="en-AU" sz="4400" b="1" dirty="0"/>
              <a:t>non-standard </a:t>
            </a:r>
            <a:r>
              <a:rPr lang="en-AU" sz="4400" dirty="0"/>
              <a:t>form</a:t>
            </a:r>
            <a:r>
              <a:rPr lang="en-AU" sz="4400" b="1" dirty="0"/>
              <a:t>.</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4" name="TextBox 3">
            <a:extLst>
              <a:ext uri="{FF2B5EF4-FFF2-40B4-BE49-F238E27FC236}">
                <a16:creationId xmlns:a16="http://schemas.microsoft.com/office/drawing/2014/main" id="{C9B5F595-B7FB-6180-770E-AEA83B88BBA2}"/>
              </a:ext>
            </a:extLst>
          </p:cNvPr>
          <p:cNvSpPr txBox="1"/>
          <p:nvPr/>
        </p:nvSpPr>
        <p:spPr>
          <a:xfrm>
            <a:off x="1171097" y="1588350"/>
            <a:ext cx="10146250" cy="3055268"/>
          </a:xfrm>
          <a:prstGeom prst="rect">
            <a:avLst/>
          </a:prstGeom>
          <a:noFill/>
        </p:spPr>
        <p:txBody>
          <a:bodyPr wrap="square" lIns="0" tIns="0" rIns="0" bIns="0" rtlCol="0">
            <a:noAutofit/>
          </a:bodyPr>
          <a:lstStyle/>
          <a:p>
            <a:pPr algn="ctr"/>
            <a:r>
              <a:rPr lang="en-AU" sz="4400"/>
              <a:t>Which </a:t>
            </a:r>
            <a:r>
              <a:rPr lang="en-AU" sz="4400" b="1"/>
              <a:t>angle </a:t>
            </a:r>
            <a:r>
              <a:rPr lang="en-AU" sz="4400"/>
              <a:t>is used to describe a </a:t>
            </a:r>
          </a:p>
          <a:p>
            <a:pPr algn="ctr"/>
            <a:r>
              <a:rPr lang="en-AU" sz="4400" b="1"/>
              <a:t>quarter-turn</a:t>
            </a:r>
            <a:r>
              <a:rPr lang="en-AU" sz="4400"/>
              <a:t>?</a:t>
            </a:r>
          </a:p>
          <a:p>
            <a:pPr algn="ctr"/>
            <a:endParaRPr lang="en-AU" sz="4400"/>
          </a:p>
          <a:p>
            <a:pPr algn="ctr"/>
            <a:endParaRPr lang="en-AU" sz="4400"/>
          </a:p>
          <a:p>
            <a:pPr algn="ctr"/>
            <a:r>
              <a:rPr lang="en-AU" sz="4400" b="1"/>
              <a:t>Explain</a:t>
            </a:r>
            <a:r>
              <a:rPr lang="en-AU" sz="4400"/>
              <a:t> why this angle is used to describe a </a:t>
            </a:r>
            <a:r>
              <a:rPr lang="en-AU" sz="4400" b="1"/>
              <a:t>quarter-turn</a:t>
            </a:r>
            <a:r>
              <a:rPr lang="en-AU" sz="4400"/>
              <a:t>.</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5" name="TextBox 4">
            <a:extLst>
              <a:ext uri="{FF2B5EF4-FFF2-40B4-BE49-F238E27FC236}">
                <a16:creationId xmlns:a16="http://schemas.microsoft.com/office/drawing/2014/main" id="{6E1EF7F0-3D93-29E2-F672-A412A1297D55}"/>
              </a:ext>
            </a:extLst>
          </p:cNvPr>
          <p:cNvSpPr txBox="1"/>
          <p:nvPr/>
        </p:nvSpPr>
        <p:spPr>
          <a:xfrm>
            <a:off x="467591" y="1184223"/>
            <a:ext cx="11256818" cy="2151259"/>
          </a:xfrm>
          <a:prstGeom prst="rect">
            <a:avLst/>
          </a:prstGeom>
          <a:noFill/>
        </p:spPr>
        <p:txBody>
          <a:bodyPr wrap="square" lIns="0" tIns="0" rIns="0" bIns="0" rtlCol="0">
            <a:noAutofit/>
          </a:bodyPr>
          <a:lstStyle/>
          <a:p>
            <a:pPr>
              <a:lnSpc>
                <a:spcPct val="150000"/>
              </a:lnSpc>
            </a:pPr>
            <a:r>
              <a:rPr lang="en-AU" sz="4400" dirty="0"/>
              <a:t>Draw the angle displayed. Label the drawn angle with the terms:</a:t>
            </a:r>
          </a:p>
          <a:p>
            <a:pPr marL="285750" indent="-285750">
              <a:lnSpc>
                <a:spcPct val="150000"/>
              </a:lnSpc>
              <a:buFont typeface="Arial" panose="020B0604020202020204" pitchFamily="34" charset="0"/>
              <a:buChar char="•"/>
            </a:pPr>
            <a:r>
              <a:rPr lang="en-AU" sz="4400" b="1" dirty="0"/>
              <a:t>arm</a:t>
            </a:r>
          </a:p>
          <a:p>
            <a:pPr marL="285750" indent="-285750">
              <a:lnSpc>
                <a:spcPct val="150000"/>
              </a:lnSpc>
              <a:buFont typeface="Arial" panose="020B0604020202020204" pitchFamily="34" charset="0"/>
              <a:buChar char="•"/>
            </a:pPr>
            <a:r>
              <a:rPr lang="en-AU" sz="4400" b="1" dirty="0"/>
              <a:t>vertex</a:t>
            </a:r>
          </a:p>
          <a:p>
            <a:pPr marL="285750" indent="-285750">
              <a:lnSpc>
                <a:spcPct val="150000"/>
              </a:lnSpc>
              <a:buFont typeface="Arial" panose="020B0604020202020204" pitchFamily="34" charset="0"/>
              <a:buChar char="•"/>
            </a:pPr>
            <a:r>
              <a:rPr lang="en-AU" sz="4400" b="1" dirty="0"/>
              <a:t>angle</a:t>
            </a:r>
            <a:r>
              <a:rPr lang="en-AU" sz="4400" dirty="0"/>
              <a:t>. </a:t>
            </a:r>
          </a:p>
        </p:txBody>
      </p:sp>
      <p:pic>
        <p:nvPicPr>
          <p:cNvPr id="7" name="Picture 6" descr="2 arms meeting at a vertex to form a right angle.">
            <a:extLst>
              <a:ext uri="{FF2B5EF4-FFF2-40B4-BE49-F238E27FC236}">
                <a16:creationId xmlns:a16="http://schemas.microsoft.com/office/drawing/2014/main" id="{A7D6BD80-9408-AB4C-2317-5462F0B2A20C}"/>
              </a:ext>
            </a:extLst>
          </p:cNvPr>
          <p:cNvPicPr>
            <a:picLocks noChangeAspect="1"/>
          </p:cNvPicPr>
          <p:nvPr/>
        </p:nvPicPr>
        <p:blipFill>
          <a:blip r:embed="rId4"/>
          <a:stretch>
            <a:fillRect/>
          </a:stretch>
        </p:blipFill>
        <p:spPr>
          <a:xfrm>
            <a:off x="6986191" y="2452255"/>
            <a:ext cx="3741077" cy="3741077"/>
          </a:xfrm>
          <a:prstGeom prst="rect">
            <a:avLst/>
          </a:prstGeom>
        </p:spPr>
      </p:pic>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using arrays</a:t>
            </a:r>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3" name="TextBox 2">
            <a:extLst>
              <a:ext uri="{FF2B5EF4-FFF2-40B4-BE49-F238E27FC236}">
                <a16:creationId xmlns:a16="http://schemas.microsoft.com/office/drawing/2014/main" id="{5D46300A-86D6-89BD-D8ED-435D2C6F83F1}"/>
              </a:ext>
            </a:extLst>
          </p:cNvPr>
          <p:cNvSpPr txBox="1"/>
          <p:nvPr/>
        </p:nvSpPr>
        <p:spPr>
          <a:xfrm>
            <a:off x="675409" y="1226128"/>
            <a:ext cx="10224654" cy="3501736"/>
          </a:xfrm>
          <a:prstGeom prst="rect">
            <a:avLst/>
          </a:prstGeom>
          <a:noFill/>
        </p:spPr>
        <p:txBody>
          <a:bodyPr wrap="square" lIns="0" tIns="0" rIns="0" bIns="0" rtlCol="0">
            <a:noAutofit/>
          </a:bodyPr>
          <a:lstStyle/>
          <a:p>
            <a:pPr>
              <a:lnSpc>
                <a:spcPct val="150000"/>
              </a:lnSpc>
            </a:pPr>
            <a:r>
              <a:rPr lang="en-AU" sz="3600">
                <a:latin typeface="Arial" panose="020B0604020202020204" pitchFamily="34" charset="0"/>
                <a:cs typeface="Arial" panose="020B0604020202020204" pitchFamily="34" charset="0"/>
              </a:rPr>
              <a:t>8</a:t>
            </a:r>
          </a:p>
          <a:p>
            <a:pPr>
              <a:lnSpc>
                <a:spcPct val="150000"/>
              </a:lnSpc>
            </a:pPr>
            <a:r>
              <a:rPr lang="en-AU" sz="3600">
                <a:latin typeface="Arial" panose="020B0604020202020204" pitchFamily="34" charset="0"/>
                <a:cs typeface="Arial" panose="020B0604020202020204" pitchFamily="34" charset="0"/>
              </a:rPr>
              <a:t>12</a:t>
            </a:r>
          </a:p>
          <a:p>
            <a:pPr>
              <a:lnSpc>
                <a:spcPct val="150000"/>
              </a:lnSpc>
            </a:pPr>
            <a:r>
              <a:rPr lang="en-AU" sz="3600">
                <a:latin typeface="Arial" panose="020B0604020202020204" pitchFamily="34" charset="0"/>
                <a:cs typeface="Arial" panose="020B0604020202020204" pitchFamily="34" charset="0"/>
              </a:rPr>
              <a:t>24</a:t>
            </a:r>
          </a:p>
          <a:p>
            <a:pPr>
              <a:lnSpc>
                <a:spcPct val="150000"/>
              </a:lnSpc>
            </a:pPr>
            <a:r>
              <a:rPr lang="en-AU" sz="3600">
                <a:latin typeface="Arial" panose="020B0604020202020204" pitchFamily="34" charset="0"/>
                <a:cs typeface="Arial" panose="020B0604020202020204" pitchFamily="34" charset="0"/>
              </a:rPr>
              <a:t>25</a:t>
            </a:r>
          </a:p>
          <a:p>
            <a:pPr>
              <a:lnSpc>
                <a:spcPct val="150000"/>
              </a:lnSpc>
            </a:pPr>
            <a:r>
              <a:rPr lang="en-AU" sz="3600">
                <a:latin typeface="Arial" panose="020B0604020202020204" pitchFamily="34" charset="0"/>
                <a:cs typeface="Arial" panose="020B0604020202020204" pitchFamily="34" charset="0"/>
              </a:rPr>
              <a:t>30</a:t>
            </a:r>
          </a:p>
          <a:p>
            <a:pPr>
              <a:lnSpc>
                <a:spcPct val="150000"/>
              </a:lnSpc>
            </a:pPr>
            <a:r>
              <a:rPr lang="en-AU" sz="3600">
                <a:latin typeface="Arial" panose="020B0604020202020204" pitchFamily="34" charset="0"/>
                <a:cs typeface="Arial" panose="020B0604020202020204" pitchFamily="34" charset="0"/>
              </a:rPr>
              <a:t>35</a:t>
            </a:r>
            <a:endParaRPr lang="en-AU" sz="3600"/>
          </a:p>
        </p:txBody>
      </p:sp>
      <p:sp>
        <p:nvSpPr>
          <p:cNvPr id="5" name="Oval 4" descr="yellow counter">
            <a:extLst>
              <a:ext uri="{FF2B5EF4-FFF2-40B4-BE49-F238E27FC236}">
                <a16:creationId xmlns:a16="http://schemas.microsoft.com/office/drawing/2014/main" id="{5E898D90-B650-7E93-9C86-BE594625C6A2}"/>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7" name="Oval 6" descr="yellow counter">
            <a:extLst>
              <a:ext uri="{FF2B5EF4-FFF2-40B4-BE49-F238E27FC236}">
                <a16:creationId xmlns:a16="http://schemas.microsoft.com/office/drawing/2014/main" id="{B1538D09-AFD3-9CF8-162C-4A1D7C437A31}"/>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8" name="Oval 7" descr="yellow counter">
            <a:extLst>
              <a:ext uri="{FF2B5EF4-FFF2-40B4-BE49-F238E27FC236}">
                <a16:creationId xmlns:a16="http://schemas.microsoft.com/office/drawing/2014/main" id="{5041DC4E-F283-55EE-5C89-46AF76E32853}"/>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9" name="Oval 8" descr="yellow counter">
            <a:extLst>
              <a:ext uri="{FF2B5EF4-FFF2-40B4-BE49-F238E27FC236}">
                <a16:creationId xmlns:a16="http://schemas.microsoft.com/office/drawing/2014/main" id="{32AB6210-7127-D0B2-8DEC-2217EA4A1A2D}"/>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0" name="Oval 9" descr="yellow counter">
            <a:extLst>
              <a:ext uri="{FF2B5EF4-FFF2-40B4-BE49-F238E27FC236}">
                <a16:creationId xmlns:a16="http://schemas.microsoft.com/office/drawing/2014/main" id="{9B9AED96-B9C0-5D02-4F03-57E91052D75B}"/>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1" name="Oval 10" descr="yellow counter">
            <a:extLst>
              <a:ext uri="{FF2B5EF4-FFF2-40B4-BE49-F238E27FC236}">
                <a16:creationId xmlns:a16="http://schemas.microsoft.com/office/drawing/2014/main" id="{D73C7C20-EF24-7791-FE91-727733AC89CF}"/>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2" name="Oval 11" descr="yellow counter">
            <a:extLst>
              <a:ext uri="{FF2B5EF4-FFF2-40B4-BE49-F238E27FC236}">
                <a16:creationId xmlns:a16="http://schemas.microsoft.com/office/drawing/2014/main" id="{E2BEB568-DF51-A6BD-182F-7023B5EFDFBC}"/>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3" name="Oval 12" descr="yellow counter">
            <a:extLst>
              <a:ext uri="{FF2B5EF4-FFF2-40B4-BE49-F238E27FC236}">
                <a16:creationId xmlns:a16="http://schemas.microsoft.com/office/drawing/2014/main" id="{2F51A0E1-B554-6F30-ADB7-1B7C45151C94}"/>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4" name="Oval 13" descr="yellow counter">
            <a:extLst>
              <a:ext uri="{FF2B5EF4-FFF2-40B4-BE49-F238E27FC236}">
                <a16:creationId xmlns:a16="http://schemas.microsoft.com/office/drawing/2014/main" id="{0C906308-C9F2-01B7-DF96-B5FB16E85F57}"/>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5" name="Oval 14" descr="yellow counter">
            <a:extLst>
              <a:ext uri="{FF2B5EF4-FFF2-40B4-BE49-F238E27FC236}">
                <a16:creationId xmlns:a16="http://schemas.microsoft.com/office/drawing/2014/main" id="{BD8599EF-D364-7981-B89F-60172B8812AA}"/>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6" name="Oval 15" descr="yellow counter">
            <a:extLst>
              <a:ext uri="{FF2B5EF4-FFF2-40B4-BE49-F238E27FC236}">
                <a16:creationId xmlns:a16="http://schemas.microsoft.com/office/drawing/2014/main" id="{1B086582-55E5-B86E-AFB0-DC24CB068D35}"/>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7" name="Oval 16" descr="yellow counter">
            <a:extLst>
              <a:ext uri="{FF2B5EF4-FFF2-40B4-BE49-F238E27FC236}">
                <a16:creationId xmlns:a16="http://schemas.microsoft.com/office/drawing/2014/main" id="{6CA2985B-9FFB-0BE4-B4A7-D68F32D0CFAF}"/>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8" name="Oval 17" descr="yellow counter">
            <a:extLst>
              <a:ext uri="{FF2B5EF4-FFF2-40B4-BE49-F238E27FC236}">
                <a16:creationId xmlns:a16="http://schemas.microsoft.com/office/drawing/2014/main" id="{7D36F9FE-1315-88CC-379E-D01189FC1DE0}"/>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9" name="Oval 18" descr="yellow counter">
            <a:extLst>
              <a:ext uri="{FF2B5EF4-FFF2-40B4-BE49-F238E27FC236}">
                <a16:creationId xmlns:a16="http://schemas.microsoft.com/office/drawing/2014/main" id="{6FCF1B41-EFE3-E6C9-8B1E-0AB198A87D50}"/>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0" name="Oval 19" descr="yellow counter">
            <a:extLst>
              <a:ext uri="{FF2B5EF4-FFF2-40B4-BE49-F238E27FC236}">
                <a16:creationId xmlns:a16="http://schemas.microsoft.com/office/drawing/2014/main" id="{1894532A-3A17-BB80-9FB4-088E6F74BD83}"/>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1" name="Oval 20" descr="yellow counter">
            <a:extLst>
              <a:ext uri="{FF2B5EF4-FFF2-40B4-BE49-F238E27FC236}">
                <a16:creationId xmlns:a16="http://schemas.microsoft.com/office/drawing/2014/main" id="{DBED6C1B-B809-116F-970F-503FD2D7E28B}"/>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2" name="Oval 21" descr="yellow counter">
            <a:extLst>
              <a:ext uri="{FF2B5EF4-FFF2-40B4-BE49-F238E27FC236}">
                <a16:creationId xmlns:a16="http://schemas.microsoft.com/office/drawing/2014/main" id="{98BA1F38-F542-4A2E-8198-32291A6B414D}"/>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3" name="Oval 22" descr="yellow counter">
            <a:extLst>
              <a:ext uri="{FF2B5EF4-FFF2-40B4-BE49-F238E27FC236}">
                <a16:creationId xmlns:a16="http://schemas.microsoft.com/office/drawing/2014/main" id="{BE3E4BB8-E2E8-E9E7-EB2C-FF0775884AF5}"/>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4" name="Oval 23" descr="yellow counter">
            <a:extLst>
              <a:ext uri="{FF2B5EF4-FFF2-40B4-BE49-F238E27FC236}">
                <a16:creationId xmlns:a16="http://schemas.microsoft.com/office/drawing/2014/main" id="{5C00D49A-EBD3-0FD9-F220-215C00B9B255}"/>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5" name="Oval 24" descr="yellow counter">
            <a:extLst>
              <a:ext uri="{FF2B5EF4-FFF2-40B4-BE49-F238E27FC236}">
                <a16:creationId xmlns:a16="http://schemas.microsoft.com/office/drawing/2014/main" id="{BE87E466-5DB6-6F56-DCDE-CE3246AF0A48}"/>
              </a:ext>
            </a:extLst>
          </p:cNvPr>
          <p:cNvSpPr/>
          <p:nvPr/>
        </p:nvSpPr>
        <p:spPr>
          <a:xfrm>
            <a:off x="11107003" y="1801729"/>
            <a:ext cx="660770" cy="650743"/>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6" name="Oval 25" descr="red counter">
            <a:extLst>
              <a:ext uri="{FF2B5EF4-FFF2-40B4-BE49-F238E27FC236}">
                <a16:creationId xmlns:a16="http://schemas.microsoft.com/office/drawing/2014/main" id="{0F96FA05-8B2F-B36A-3CF3-E4E7F208480B}"/>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7" name="Oval 26" descr="red counter">
            <a:extLst>
              <a:ext uri="{FF2B5EF4-FFF2-40B4-BE49-F238E27FC236}">
                <a16:creationId xmlns:a16="http://schemas.microsoft.com/office/drawing/2014/main" id="{CAEA5B9E-7C63-3C52-3E6F-0BB03DFF7FB7}"/>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8" name="Oval 27" descr="red counter">
            <a:extLst>
              <a:ext uri="{FF2B5EF4-FFF2-40B4-BE49-F238E27FC236}">
                <a16:creationId xmlns:a16="http://schemas.microsoft.com/office/drawing/2014/main" id="{51949FCA-8F26-7DCD-266C-8B13B7A09DF0}"/>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9" name="Oval 28" descr="red counter">
            <a:extLst>
              <a:ext uri="{FF2B5EF4-FFF2-40B4-BE49-F238E27FC236}">
                <a16:creationId xmlns:a16="http://schemas.microsoft.com/office/drawing/2014/main" id="{4B24EB47-FD79-DBF9-F1A2-B273004232B8}"/>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0" name="Oval 29" descr="red counter">
            <a:extLst>
              <a:ext uri="{FF2B5EF4-FFF2-40B4-BE49-F238E27FC236}">
                <a16:creationId xmlns:a16="http://schemas.microsoft.com/office/drawing/2014/main" id="{B81721B8-F5C6-4FD8-70AE-CDDA962144CD}"/>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1" name="Oval 30" descr="red counter">
            <a:extLst>
              <a:ext uri="{FF2B5EF4-FFF2-40B4-BE49-F238E27FC236}">
                <a16:creationId xmlns:a16="http://schemas.microsoft.com/office/drawing/2014/main" id="{F999EE4B-7BEA-C4F8-AC8F-64609EB621F1}"/>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2" name="Oval 31" descr="red counter">
            <a:extLst>
              <a:ext uri="{FF2B5EF4-FFF2-40B4-BE49-F238E27FC236}">
                <a16:creationId xmlns:a16="http://schemas.microsoft.com/office/drawing/2014/main" id="{E34373FF-57DE-CE09-028F-6AB296D545F8}"/>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3" name="Oval 32" descr="red counter">
            <a:extLst>
              <a:ext uri="{FF2B5EF4-FFF2-40B4-BE49-F238E27FC236}">
                <a16:creationId xmlns:a16="http://schemas.microsoft.com/office/drawing/2014/main" id="{31412DCF-86DF-2216-80B0-2B5C1288A0AE}"/>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4" name="Oval 33" descr="red counter">
            <a:extLst>
              <a:ext uri="{FF2B5EF4-FFF2-40B4-BE49-F238E27FC236}">
                <a16:creationId xmlns:a16="http://schemas.microsoft.com/office/drawing/2014/main" id="{A72EF9E3-1846-F086-8A8C-E2C847FF44AD}"/>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5" name="Oval 34" descr="red counter">
            <a:extLst>
              <a:ext uri="{FF2B5EF4-FFF2-40B4-BE49-F238E27FC236}">
                <a16:creationId xmlns:a16="http://schemas.microsoft.com/office/drawing/2014/main" id="{845D867B-69DD-66F2-3396-E0F968D9EE3A}"/>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6" name="Oval 35" descr="red counter">
            <a:extLst>
              <a:ext uri="{FF2B5EF4-FFF2-40B4-BE49-F238E27FC236}">
                <a16:creationId xmlns:a16="http://schemas.microsoft.com/office/drawing/2014/main" id="{EF3F3BCC-930C-340B-D23A-CB4888E12190}"/>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7" name="Oval 36" descr="red counter">
            <a:extLst>
              <a:ext uri="{FF2B5EF4-FFF2-40B4-BE49-F238E27FC236}">
                <a16:creationId xmlns:a16="http://schemas.microsoft.com/office/drawing/2014/main" id="{66303349-3238-6262-5A52-F140C4656850}"/>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8" name="Oval 37" descr="red counter">
            <a:extLst>
              <a:ext uri="{FF2B5EF4-FFF2-40B4-BE49-F238E27FC236}">
                <a16:creationId xmlns:a16="http://schemas.microsoft.com/office/drawing/2014/main" id="{E05DEA04-5C89-E4CB-D2E9-CC7B5916C106}"/>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9" name="Oval 38" descr="red counter">
            <a:extLst>
              <a:ext uri="{FF2B5EF4-FFF2-40B4-BE49-F238E27FC236}">
                <a16:creationId xmlns:a16="http://schemas.microsoft.com/office/drawing/2014/main" id="{59830891-0351-CAFF-554D-F85945AF509F}"/>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0" name="Oval 39" descr="red counter">
            <a:extLst>
              <a:ext uri="{FF2B5EF4-FFF2-40B4-BE49-F238E27FC236}">
                <a16:creationId xmlns:a16="http://schemas.microsoft.com/office/drawing/2014/main" id="{38B2E927-25E9-387E-B7F8-56DDF07AFE81}"/>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1" name="Oval 40" descr="red counter">
            <a:extLst>
              <a:ext uri="{FF2B5EF4-FFF2-40B4-BE49-F238E27FC236}">
                <a16:creationId xmlns:a16="http://schemas.microsoft.com/office/drawing/2014/main" id="{667C25B2-C1D4-164F-866C-76320697A8FE}"/>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2" name="Oval 41" descr="red counter">
            <a:extLst>
              <a:ext uri="{FF2B5EF4-FFF2-40B4-BE49-F238E27FC236}">
                <a16:creationId xmlns:a16="http://schemas.microsoft.com/office/drawing/2014/main" id="{0586E6D3-E5FC-60F3-5BAD-59C1E70B87FE}"/>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3" name="Oval 42" descr="red counter">
            <a:extLst>
              <a:ext uri="{FF2B5EF4-FFF2-40B4-BE49-F238E27FC236}">
                <a16:creationId xmlns:a16="http://schemas.microsoft.com/office/drawing/2014/main" id="{D92DA5E3-CF2A-DE4D-F325-5CD852D07CF2}"/>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4" name="Oval 43" descr="red counter">
            <a:extLst>
              <a:ext uri="{FF2B5EF4-FFF2-40B4-BE49-F238E27FC236}">
                <a16:creationId xmlns:a16="http://schemas.microsoft.com/office/drawing/2014/main" id="{FCF2E47F-6D60-28AA-9886-0FE1F0B72649}"/>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5" name="Oval 44" descr="red counter">
            <a:extLst>
              <a:ext uri="{FF2B5EF4-FFF2-40B4-BE49-F238E27FC236}">
                <a16:creationId xmlns:a16="http://schemas.microsoft.com/office/drawing/2014/main" id="{4820763D-4E8A-860C-79E6-FCC87488B321}"/>
              </a:ext>
            </a:extLst>
          </p:cNvPr>
          <p:cNvSpPr/>
          <p:nvPr/>
        </p:nvSpPr>
        <p:spPr>
          <a:xfrm>
            <a:off x="11116183" y="3123753"/>
            <a:ext cx="660770" cy="65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6" name="Oval 45" descr="blue counter">
            <a:extLst>
              <a:ext uri="{FF2B5EF4-FFF2-40B4-BE49-F238E27FC236}">
                <a16:creationId xmlns:a16="http://schemas.microsoft.com/office/drawing/2014/main" id="{672549E1-76A6-93BA-416D-99740DB2D336}"/>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7" name="Oval 46" descr="blue counter">
            <a:extLst>
              <a:ext uri="{FF2B5EF4-FFF2-40B4-BE49-F238E27FC236}">
                <a16:creationId xmlns:a16="http://schemas.microsoft.com/office/drawing/2014/main" id="{679EF527-EC89-3E43-BE3B-A2CA6539F532}"/>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8" name="Oval 47" descr="blue counter">
            <a:extLst>
              <a:ext uri="{FF2B5EF4-FFF2-40B4-BE49-F238E27FC236}">
                <a16:creationId xmlns:a16="http://schemas.microsoft.com/office/drawing/2014/main" id="{F4F19E95-47CA-D103-E9D3-2355DF587B64}"/>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9" name="Oval 48" descr="blue counter">
            <a:extLst>
              <a:ext uri="{FF2B5EF4-FFF2-40B4-BE49-F238E27FC236}">
                <a16:creationId xmlns:a16="http://schemas.microsoft.com/office/drawing/2014/main" id="{3DF18BEF-CCE0-5999-9724-C25EE5465823}"/>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0" name="Oval 49" descr="blue counter">
            <a:extLst>
              <a:ext uri="{FF2B5EF4-FFF2-40B4-BE49-F238E27FC236}">
                <a16:creationId xmlns:a16="http://schemas.microsoft.com/office/drawing/2014/main" id="{D63529CF-4EA2-50DC-07B8-5710DA6A8552}"/>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1" name="Oval 50" descr="blue counter">
            <a:extLst>
              <a:ext uri="{FF2B5EF4-FFF2-40B4-BE49-F238E27FC236}">
                <a16:creationId xmlns:a16="http://schemas.microsoft.com/office/drawing/2014/main" id="{86EBA869-77E0-7CA6-4E0A-19BC53196EE7}"/>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2" name="Oval 51" descr="blue counter">
            <a:extLst>
              <a:ext uri="{FF2B5EF4-FFF2-40B4-BE49-F238E27FC236}">
                <a16:creationId xmlns:a16="http://schemas.microsoft.com/office/drawing/2014/main" id="{00BD5D89-6EA4-B03A-F8A8-530BB0325AC1}"/>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3" name="Oval 52" descr="blue counter">
            <a:extLst>
              <a:ext uri="{FF2B5EF4-FFF2-40B4-BE49-F238E27FC236}">
                <a16:creationId xmlns:a16="http://schemas.microsoft.com/office/drawing/2014/main" id="{3E765066-2AB7-5FD2-3030-B821008407A3}"/>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4" name="Oval 53" descr="blue counter">
            <a:extLst>
              <a:ext uri="{FF2B5EF4-FFF2-40B4-BE49-F238E27FC236}">
                <a16:creationId xmlns:a16="http://schemas.microsoft.com/office/drawing/2014/main" id="{B3455F19-1AE6-8C5D-FAC0-4E796C4D1F9D}"/>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5" name="Oval 54" descr="blue counter">
            <a:extLst>
              <a:ext uri="{FF2B5EF4-FFF2-40B4-BE49-F238E27FC236}">
                <a16:creationId xmlns:a16="http://schemas.microsoft.com/office/drawing/2014/main" id="{D4CE30FD-9854-23AD-F1D3-5AF152112071}"/>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6" name="Oval 55" descr="blue counter">
            <a:extLst>
              <a:ext uri="{FF2B5EF4-FFF2-40B4-BE49-F238E27FC236}">
                <a16:creationId xmlns:a16="http://schemas.microsoft.com/office/drawing/2014/main" id="{2EFC2866-B0BF-754C-A436-4B80E417E23E}"/>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7" name="Oval 56" descr="blue counter">
            <a:extLst>
              <a:ext uri="{FF2B5EF4-FFF2-40B4-BE49-F238E27FC236}">
                <a16:creationId xmlns:a16="http://schemas.microsoft.com/office/drawing/2014/main" id="{AD47CC13-6669-13AC-5A0A-0F34EF76DD5F}"/>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8" name="Oval 57" descr="blue counter">
            <a:extLst>
              <a:ext uri="{FF2B5EF4-FFF2-40B4-BE49-F238E27FC236}">
                <a16:creationId xmlns:a16="http://schemas.microsoft.com/office/drawing/2014/main" id="{5CB8B70D-7000-EDCF-0770-49A0496018F6}"/>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9" name="Oval 58" descr="blue counter">
            <a:extLst>
              <a:ext uri="{FF2B5EF4-FFF2-40B4-BE49-F238E27FC236}">
                <a16:creationId xmlns:a16="http://schemas.microsoft.com/office/drawing/2014/main" id="{521385D5-C5E8-D2A2-45DC-25134494AAFB}"/>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0" name="Oval 59" descr="blue counter">
            <a:extLst>
              <a:ext uri="{FF2B5EF4-FFF2-40B4-BE49-F238E27FC236}">
                <a16:creationId xmlns:a16="http://schemas.microsoft.com/office/drawing/2014/main" id="{AC825901-86F3-1AF8-00C7-AEA51975868D}"/>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1" name="Oval 60" descr="blue counter">
            <a:extLst>
              <a:ext uri="{FF2B5EF4-FFF2-40B4-BE49-F238E27FC236}">
                <a16:creationId xmlns:a16="http://schemas.microsoft.com/office/drawing/2014/main" id="{5FA02E86-4A37-C3F9-F656-C5B2AE4EA2CF}"/>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2" name="Oval 61" descr="blue counter">
            <a:extLst>
              <a:ext uri="{FF2B5EF4-FFF2-40B4-BE49-F238E27FC236}">
                <a16:creationId xmlns:a16="http://schemas.microsoft.com/office/drawing/2014/main" id="{3B58DECA-9E57-4361-2417-7952F18C52F9}"/>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3" name="Oval 62" descr="blue counter">
            <a:extLst>
              <a:ext uri="{FF2B5EF4-FFF2-40B4-BE49-F238E27FC236}">
                <a16:creationId xmlns:a16="http://schemas.microsoft.com/office/drawing/2014/main" id="{77C25613-FDC7-16A2-F2D7-69C52A56E661}"/>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4" name="Oval 63" descr="blue counter">
            <a:extLst>
              <a:ext uri="{FF2B5EF4-FFF2-40B4-BE49-F238E27FC236}">
                <a16:creationId xmlns:a16="http://schemas.microsoft.com/office/drawing/2014/main" id="{4D733144-663B-6D44-5D38-1CDD06A3C813}"/>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65" name="Oval 64" descr="blue counter">
            <a:extLst>
              <a:ext uri="{FF2B5EF4-FFF2-40B4-BE49-F238E27FC236}">
                <a16:creationId xmlns:a16="http://schemas.microsoft.com/office/drawing/2014/main" id="{5A3FDC2E-0F9A-ED8B-6154-5BE687B32A9C}"/>
              </a:ext>
            </a:extLst>
          </p:cNvPr>
          <p:cNvSpPr/>
          <p:nvPr/>
        </p:nvSpPr>
        <p:spPr>
          <a:xfrm>
            <a:off x="11107003" y="4494504"/>
            <a:ext cx="660770" cy="65074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9" name="Text Placeholder 5">
            <a:extLst>
              <a:ext uri="{FF2B5EF4-FFF2-40B4-BE49-F238E27FC236}">
                <a16:creationId xmlns:a16="http://schemas.microsoft.com/office/drawing/2014/main" id="{1F74B9A4-EFE2-0CD1-0E45-27C87BBC65EB}"/>
              </a:ext>
            </a:extLst>
          </p:cNvPr>
          <p:cNvSpPr txBox="1">
            <a:spLocks/>
          </p:cNvSpPr>
          <p:nvPr/>
        </p:nvSpPr>
        <p:spPr>
          <a:xfrm>
            <a:off x="289152" y="1220951"/>
            <a:ext cx="11613694"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a:t>These are the related number sentences for this </a:t>
            </a:r>
            <a:r>
              <a:rPr lang="en-AU" sz="3200" b="1"/>
              <a:t>array.</a:t>
            </a:r>
            <a:endParaRPr lang="en-AU" sz="3800"/>
          </a:p>
        </p:txBody>
      </p:sp>
      <p:sp>
        <p:nvSpPr>
          <p:cNvPr id="46" name="TextBox 45">
            <a:extLst>
              <a:ext uri="{FF2B5EF4-FFF2-40B4-BE49-F238E27FC236}">
                <a16:creationId xmlns:a16="http://schemas.microsoft.com/office/drawing/2014/main" id="{3FF810EE-A709-287C-4C22-AFE5D10EB246}"/>
              </a:ext>
            </a:extLst>
          </p:cNvPr>
          <p:cNvSpPr txBox="1"/>
          <p:nvPr/>
        </p:nvSpPr>
        <p:spPr>
          <a:xfrm>
            <a:off x="34210" y="2236005"/>
            <a:ext cx="6098146" cy="2955746"/>
          </a:xfrm>
          <a:prstGeom prst="rect">
            <a:avLst/>
          </a:prstGeom>
          <a:noFill/>
        </p:spPr>
        <p:txBody>
          <a:bodyPr wrap="square">
            <a:spAutoFit/>
          </a:bodyPr>
          <a:lstStyle/>
          <a:p>
            <a:pPr algn="ctr">
              <a:lnSpc>
                <a:spcPct val="150000"/>
              </a:lnSpc>
            </a:pPr>
            <a:r>
              <a:rPr lang="en-AU" sz="3200"/>
              <a:t>5 × 7 = 35</a:t>
            </a:r>
          </a:p>
          <a:p>
            <a:pPr algn="ctr">
              <a:lnSpc>
                <a:spcPct val="150000"/>
              </a:lnSpc>
            </a:pPr>
            <a:r>
              <a:rPr lang="en-AU" sz="3200"/>
              <a:t>7 × 5 = 35</a:t>
            </a:r>
          </a:p>
          <a:p>
            <a:pPr algn="ctr">
              <a:lnSpc>
                <a:spcPct val="150000"/>
              </a:lnSpc>
            </a:pPr>
            <a:r>
              <a:rPr lang="en-AU" sz="3200"/>
              <a:t>35 ÷ 5 = 7</a:t>
            </a:r>
          </a:p>
          <a:p>
            <a:pPr algn="ctr">
              <a:lnSpc>
                <a:spcPct val="150000"/>
              </a:lnSpc>
            </a:pPr>
            <a:r>
              <a:rPr lang="en-AU" sz="3200"/>
              <a:t>35 ÷ 7 = 5</a:t>
            </a:r>
          </a:p>
        </p:txBody>
      </p:sp>
      <p:grpSp>
        <p:nvGrpSpPr>
          <p:cNvPr id="44" name="Group 43" descr="An array of 5 rows of 7.">
            <a:extLst>
              <a:ext uri="{FF2B5EF4-FFF2-40B4-BE49-F238E27FC236}">
                <a16:creationId xmlns:a16="http://schemas.microsoft.com/office/drawing/2014/main" id="{805F3B5C-DAEE-81FA-7BA6-B146AF6EA09F}"/>
              </a:ext>
            </a:extLst>
          </p:cNvPr>
          <p:cNvGrpSpPr/>
          <p:nvPr/>
        </p:nvGrpSpPr>
        <p:grpSpPr>
          <a:xfrm>
            <a:off x="6961214" y="2414648"/>
            <a:ext cx="3846694" cy="2598459"/>
            <a:chOff x="678052" y="2579605"/>
            <a:chExt cx="3846694" cy="2598459"/>
          </a:xfrm>
          <a:solidFill>
            <a:srgbClr val="C00000"/>
          </a:solidFill>
        </p:grpSpPr>
        <p:sp>
          <p:nvSpPr>
            <p:cNvPr id="6" name="Oval 5">
              <a:extLst>
                <a:ext uri="{FF2B5EF4-FFF2-40B4-BE49-F238E27FC236}">
                  <a16:creationId xmlns:a16="http://schemas.microsoft.com/office/drawing/2014/main" id="{0E744D65-B193-6FB9-E361-E971C374B2AD}"/>
                </a:ext>
              </a:extLst>
            </p:cNvPr>
            <p:cNvSpPr/>
            <p:nvPr/>
          </p:nvSpPr>
          <p:spPr>
            <a:xfrm>
              <a:off x="678052" y="3694099"/>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7" name="Oval 6">
              <a:extLst>
                <a:ext uri="{FF2B5EF4-FFF2-40B4-BE49-F238E27FC236}">
                  <a16:creationId xmlns:a16="http://schemas.microsoft.com/office/drawing/2014/main" id="{3312CA55-6EE3-4D82-EAD9-E4AD69FAA6C3}"/>
                </a:ext>
              </a:extLst>
            </p:cNvPr>
            <p:cNvSpPr/>
            <p:nvPr/>
          </p:nvSpPr>
          <p:spPr>
            <a:xfrm>
              <a:off x="2985657" y="4218525"/>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0" name="Oval 9">
              <a:extLst>
                <a:ext uri="{FF2B5EF4-FFF2-40B4-BE49-F238E27FC236}">
                  <a16:creationId xmlns:a16="http://schemas.microsoft.com/office/drawing/2014/main" id="{787553FC-B313-AD77-12CD-79F1EEA265A7}"/>
                </a:ext>
              </a:extLst>
            </p:cNvPr>
            <p:cNvSpPr/>
            <p:nvPr/>
          </p:nvSpPr>
          <p:spPr>
            <a:xfrm>
              <a:off x="2985657" y="3675764"/>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1" name="Oval 10">
              <a:extLst>
                <a:ext uri="{FF2B5EF4-FFF2-40B4-BE49-F238E27FC236}">
                  <a16:creationId xmlns:a16="http://schemas.microsoft.com/office/drawing/2014/main" id="{31BFBD26-E0C9-D964-782A-194C0000E093}"/>
                </a:ext>
              </a:extLst>
            </p:cNvPr>
            <p:cNvSpPr/>
            <p:nvPr/>
          </p:nvSpPr>
          <p:spPr>
            <a:xfrm>
              <a:off x="2985657" y="3133004"/>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ED9865AC-EE32-D7B3-E7D9-F4DBD83EE8BD}"/>
                </a:ext>
              </a:extLst>
            </p:cNvPr>
            <p:cNvSpPr/>
            <p:nvPr/>
          </p:nvSpPr>
          <p:spPr>
            <a:xfrm>
              <a:off x="2975953" y="2590243"/>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4" name="Oval 13">
              <a:extLst>
                <a:ext uri="{FF2B5EF4-FFF2-40B4-BE49-F238E27FC236}">
                  <a16:creationId xmlns:a16="http://schemas.microsoft.com/office/drawing/2014/main" id="{19408022-5073-AAD1-D831-65B216A224F0}"/>
                </a:ext>
              </a:extLst>
            </p:cNvPr>
            <p:cNvSpPr/>
            <p:nvPr/>
          </p:nvSpPr>
          <p:spPr>
            <a:xfrm>
              <a:off x="2408756" y="4244239"/>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5" name="Oval 14">
              <a:extLst>
                <a:ext uri="{FF2B5EF4-FFF2-40B4-BE49-F238E27FC236}">
                  <a16:creationId xmlns:a16="http://schemas.microsoft.com/office/drawing/2014/main" id="{EA8AC30D-1D20-3316-85C7-3C1E9A2D28E4}"/>
                </a:ext>
              </a:extLst>
            </p:cNvPr>
            <p:cNvSpPr/>
            <p:nvPr/>
          </p:nvSpPr>
          <p:spPr>
            <a:xfrm>
              <a:off x="2408756" y="3698214"/>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6" name="Oval 15">
              <a:extLst>
                <a:ext uri="{FF2B5EF4-FFF2-40B4-BE49-F238E27FC236}">
                  <a16:creationId xmlns:a16="http://schemas.microsoft.com/office/drawing/2014/main" id="{3F5F1FA4-C97F-D465-C89D-3FA89064A43E}"/>
                </a:ext>
              </a:extLst>
            </p:cNvPr>
            <p:cNvSpPr/>
            <p:nvPr/>
          </p:nvSpPr>
          <p:spPr>
            <a:xfrm>
              <a:off x="2408756" y="3152189"/>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7" name="Oval 16">
              <a:extLst>
                <a:ext uri="{FF2B5EF4-FFF2-40B4-BE49-F238E27FC236}">
                  <a16:creationId xmlns:a16="http://schemas.microsoft.com/office/drawing/2014/main" id="{107CC0E7-8F3C-08FC-C73F-6330CDA939BA}"/>
                </a:ext>
              </a:extLst>
            </p:cNvPr>
            <p:cNvSpPr/>
            <p:nvPr/>
          </p:nvSpPr>
          <p:spPr>
            <a:xfrm>
              <a:off x="2401478" y="2606163"/>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8" name="Oval 17">
              <a:extLst>
                <a:ext uri="{FF2B5EF4-FFF2-40B4-BE49-F238E27FC236}">
                  <a16:creationId xmlns:a16="http://schemas.microsoft.com/office/drawing/2014/main" id="{7A6BADA9-9C1D-FB8C-32AF-8F0B953EF00A}"/>
                </a:ext>
              </a:extLst>
            </p:cNvPr>
            <p:cNvSpPr/>
            <p:nvPr/>
          </p:nvSpPr>
          <p:spPr>
            <a:xfrm>
              <a:off x="1831855" y="4244240"/>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9" name="Oval 18">
              <a:extLst>
                <a:ext uri="{FF2B5EF4-FFF2-40B4-BE49-F238E27FC236}">
                  <a16:creationId xmlns:a16="http://schemas.microsoft.com/office/drawing/2014/main" id="{8A6F8B61-1595-0E4A-A926-3F4692C80D6E}"/>
                </a:ext>
              </a:extLst>
            </p:cNvPr>
            <p:cNvSpPr/>
            <p:nvPr/>
          </p:nvSpPr>
          <p:spPr>
            <a:xfrm>
              <a:off x="1831855" y="3698216"/>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E2C7BAA0-A781-95D8-6DE1-DF9226266E22}"/>
                </a:ext>
              </a:extLst>
            </p:cNvPr>
            <p:cNvSpPr/>
            <p:nvPr/>
          </p:nvSpPr>
          <p:spPr>
            <a:xfrm>
              <a:off x="1831855" y="3152190"/>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1" name="Oval 20">
              <a:extLst>
                <a:ext uri="{FF2B5EF4-FFF2-40B4-BE49-F238E27FC236}">
                  <a16:creationId xmlns:a16="http://schemas.microsoft.com/office/drawing/2014/main" id="{5AE484CC-DDA2-6624-1E92-A1B403516F70}"/>
                </a:ext>
              </a:extLst>
            </p:cNvPr>
            <p:cNvSpPr/>
            <p:nvPr/>
          </p:nvSpPr>
          <p:spPr>
            <a:xfrm>
              <a:off x="1827002" y="2606165"/>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2" name="Oval 21">
              <a:extLst>
                <a:ext uri="{FF2B5EF4-FFF2-40B4-BE49-F238E27FC236}">
                  <a16:creationId xmlns:a16="http://schemas.microsoft.com/office/drawing/2014/main" id="{CC17BCE4-D78E-5A0D-F910-65C75467A55D}"/>
                </a:ext>
              </a:extLst>
            </p:cNvPr>
            <p:cNvSpPr/>
            <p:nvPr/>
          </p:nvSpPr>
          <p:spPr>
            <a:xfrm>
              <a:off x="1254953" y="4230029"/>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3" name="Oval 22">
              <a:extLst>
                <a:ext uri="{FF2B5EF4-FFF2-40B4-BE49-F238E27FC236}">
                  <a16:creationId xmlns:a16="http://schemas.microsoft.com/office/drawing/2014/main" id="{13F30018-39ED-DF95-FBB5-29A575822774}"/>
                </a:ext>
              </a:extLst>
            </p:cNvPr>
            <p:cNvSpPr/>
            <p:nvPr/>
          </p:nvSpPr>
          <p:spPr>
            <a:xfrm>
              <a:off x="1254953" y="3683433"/>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4" name="Oval 23">
              <a:extLst>
                <a:ext uri="{FF2B5EF4-FFF2-40B4-BE49-F238E27FC236}">
                  <a16:creationId xmlns:a16="http://schemas.microsoft.com/office/drawing/2014/main" id="{869ACFFA-89B3-1E9F-AB08-41F4851FE047}"/>
                </a:ext>
              </a:extLst>
            </p:cNvPr>
            <p:cNvSpPr/>
            <p:nvPr/>
          </p:nvSpPr>
          <p:spPr>
            <a:xfrm>
              <a:off x="1254953" y="3136839"/>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5" name="Oval 24">
              <a:extLst>
                <a:ext uri="{FF2B5EF4-FFF2-40B4-BE49-F238E27FC236}">
                  <a16:creationId xmlns:a16="http://schemas.microsoft.com/office/drawing/2014/main" id="{CFF0A26B-49F3-A0C0-DDE0-2CB7F5531D64}"/>
                </a:ext>
              </a:extLst>
            </p:cNvPr>
            <p:cNvSpPr/>
            <p:nvPr/>
          </p:nvSpPr>
          <p:spPr>
            <a:xfrm>
              <a:off x="1252527" y="2590244"/>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6" name="Oval 25">
              <a:extLst>
                <a:ext uri="{FF2B5EF4-FFF2-40B4-BE49-F238E27FC236}">
                  <a16:creationId xmlns:a16="http://schemas.microsoft.com/office/drawing/2014/main" id="{F0920051-0344-5E35-253E-ED7BD3D6F57B}"/>
                </a:ext>
              </a:extLst>
            </p:cNvPr>
            <p:cNvSpPr/>
            <p:nvPr/>
          </p:nvSpPr>
          <p:spPr>
            <a:xfrm>
              <a:off x="678052" y="4244241"/>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7" name="Oval 26">
              <a:extLst>
                <a:ext uri="{FF2B5EF4-FFF2-40B4-BE49-F238E27FC236}">
                  <a16:creationId xmlns:a16="http://schemas.microsoft.com/office/drawing/2014/main" id="{DBFF8C67-3F7D-659F-8FFF-4BC4C3AA8C58}"/>
                </a:ext>
              </a:extLst>
            </p:cNvPr>
            <p:cNvSpPr/>
            <p:nvPr/>
          </p:nvSpPr>
          <p:spPr>
            <a:xfrm>
              <a:off x="678052" y="3143958"/>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8" name="Oval 27">
              <a:extLst>
                <a:ext uri="{FF2B5EF4-FFF2-40B4-BE49-F238E27FC236}">
                  <a16:creationId xmlns:a16="http://schemas.microsoft.com/office/drawing/2014/main" id="{8EFC0659-55FD-999E-7643-1986B5CE70D5}"/>
                </a:ext>
              </a:extLst>
            </p:cNvPr>
            <p:cNvSpPr/>
            <p:nvPr/>
          </p:nvSpPr>
          <p:spPr>
            <a:xfrm>
              <a:off x="678052" y="2593817"/>
              <a:ext cx="399843" cy="394434"/>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6DF50621-76E5-2824-7925-9BDB76A41EF3}"/>
                </a:ext>
              </a:extLst>
            </p:cNvPr>
            <p:cNvSpPr/>
            <p:nvPr/>
          </p:nvSpPr>
          <p:spPr>
            <a:xfrm>
              <a:off x="3562557" y="4234445"/>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0" name="Oval 29">
              <a:extLst>
                <a:ext uri="{FF2B5EF4-FFF2-40B4-BE49-F238E27FC236}">
                  <a16:creationId xmlns:a16="http://schemas.microsoft.com/office/drawing/2014/main" id="{3B4F2692-E405-C43B-E4FE-DC6A8E95FCA1}"/>
                </a:ext>
              </a:extLst>
            </p:cNvPr>
            <p:cNvSpPr/>
            <p:nvPr/>
          </p:nvSpPr>
          <p:spPr>
            <a:xfrm>
              <a:off x="3562557" y="3148924"/>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1" name="Oval 30">
              <a:extLst>
                <a:ext uri="{FF2B5EF4-FFF2-40B4-BE49-F238E27FC236}">
                  <a16:creationId xmlns:a16="http://schemas.microsoft.com/office/drawing/2014/main" id="{696293AF-6488-3BC4-6355-E695CDFE17A8}"/>
                </a:ext>
              </a:extLst>
            </p:cNvPr>
            <p:cNvSpPr/>
            <p:nvPr/>
          </p:nvSpPr>
          <p:spPr>
            <a:xfrm>
              <a:off x="3550428" y="2606163"/>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2" name="Oval 31">
              <a:extLst>
                <a:ext uri="{FF2B5EF4-FFF2-40B4-BE49-F238E27FC236}">
                  <a16:creationId xmlns:a16="http://schemas.microsoft.com/office/drawing/2014/main" id="{85655A1D-9478-2B10-06D7-2B73D1CB6D9A}"/>
                </a:ext>
              </a:extLst>
            </p:cNvPr>
            <p:cNvSpPr/>
            <p:nvPr/>
          </p:nvSpPr>
          <p:spPr>
            <a:xfrm>
              <a:off x="3562557" y="3691684"/>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3" name="Oval 32">
              <a:extLst>
                <a:ext uri="{FF2B5EF4-FFF2-40B4-BE49-F238E27FC236}">
                  <a16:creationId xmlns:a16="http://schemas.microsoft.com/office/drawing/2014/main" id="{DD3EF1D9-897B-37B9-9A0B-1308F7A55D77}"/>
                </a:ext>
              </a:extLst>
            </p:cNvPr>
            <p:cNvSpPr/>
            <p:nvPr/>
          </p:nvSpPr>
          <p:spPr>
            <a:xfrm>
              <a:off x="2985657" y="4757913"/>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4" name="Oval 33">
              <a:extLst>
                <a:ext uri="{FF2B5EF4-FFF2-40B4-BE49-F238E27FC236}">
                  <a16:creationId xmlns:a16="http://schemas.microsoft.com/office/drawing/2014/main" id="{F8E8AAD5-E03F-B370-E6B6-A0E85DCAB400}"/>
                </a:ext>
              </a:extLst>
            </p:cNvPr>
            <p:cNvSpPr/>
            <p:nvPr/>
          </p:nvSpPr>
          <p:spPr>
            <a:xfrm>
              <a:off x="2408756" y="4783627"/>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5" name="Oval 34">
              <a:extLst>
                <a:ext uri="{FF2B5EF4-FFF2-40B4-BE49-F238E27FC236}">
                  <a16:creationId xmlns:a16="http://schemas.microsoft.com/office/drawing/2014/main" id="{DDAAFF4C-0FF4-894D-07BD-38D9B6259F81}"/>
                </a:ext>
              </a:extLst>
            </p:cNvPr>
            <p:cNvSpPr/>
            <p:nvPr/>
          </p:nvSpPr>
          <p:spPr>
            <a:xfrm>
              <a:off x="1831855" y="4783628"/>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6" name="Oval 35">
              <a:extLst>
                <a:ext uri="{FF2B5EF4-FFF2-40B4-BE49-F238E27FC236}">
                  <a16:creationId xmlns:a16="http://schemas.microsoft.com/office/drawing/2014/main" id="{07ED2247-7586-D948-DD1E-4E66CFA1F5BE}"/>
                </a:ext>
              </a:extLst>
            </p:cNvPr>
            <p:cNvSpPr/>
            <p:nvPr/>
          </p:nvSpPr>
          <p:spPr>
            <a:xfrm>
              <a:off x="1254953" y="4769417"/>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7" name="Oval 36">
              <a:extLst>
                <a:ext uri="{FF2B5EF4-FFF2-40B4-BE49-F238E27FC236}">
                  <a16:creationId xmlns:a16="http://schemas.microsoft.com/office/drawing/2014/main" id="{1658EFA3-8DE8-539D-220F-D544E5A7235C}"/>
                </a:ext>
              </a:extLst>
            </p:cNvPr>
            <p:cNvSpPr/>
            <p:nvPr/>
          </p:nvSpPr>
          <p:spPr>
            <a:xfrm>
              <a:off x="678052" y="4783629"/>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8" name="Oval 37">
              <a:extLst>
                <a:ext uri="{FF2B5EF4-FFF2-40B4-BE49-F238E27FC236}">
                  <a16:creationId xmlns:a16="http://schemas.microsoft.com/office/drawing/2014/main" id="{20B0EAB5-5F7B-0291-68F5-A48F98BA2B93}"/>
                </a:ext>
              </a:extLst>
            </p:cNvPr>
            <p:cNvSpPr/>
            <p:nvPr/>
          </p:nvSpPr>
          <p:spPr>
            <a:xfrm>
              <a:off x="3562557" y="4773833"/>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FAD67345-3BFD-C8BA-4DBE-F417D158A732}"/>
                </a:ext>
              </a:extLst>
            </p:cNvPr>
            <p:cNvSpPr/>
            <p:nvPr/>
          </p:nvSpPr>
          <p:spPr>
            <a:xfrm>
              <a:off x="4124903" y="3679887"/>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BAAC20D0-0075-5657-7F53-DD4576C5708D}"/>
                </a:ext>
              </a:extLst>
            </p:cNvPr>
            <p:cNvSpPr/>
            <p:nvPr/>
          </p:nvSpPr>
          <p:spPr>
            <a:xfrm>
              <a:off x="4124903" y="4230029"/>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1" name="Oval 40">
              <a:extLst>
                <a:ext uri="{FF2B5EF4-FFF2-40B4-BE49-F238E27FC236}">
                  <a16:creationId xmlns:a16="http://schemas.microsoft.com/office/drawing/2014/main" id="{28818FFE-0044-E59A-2732-627F144C76F3}"/>
                </a:ext>
              </a:extLst>
            </p:cNvPr>
            <p:cNvSpPr/>
            <p:nvPr/>
          </p:nvSpPr>
          <p:spPr>
            <a:xfrm>
              <a:off x="4124903" y="3129746"/>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2" name="Oval 41">
              <a:extLst>
                <a:ext uri="{FF2B5EF4-FFF2-40B4-BE49-F238E27FC236}">
                  <a16:creationId xmlns:a16="http://schemas.microsoft.com/office/drawing/2014/main" id="{5430E88E-41A5-0995-4D6F-9AC80843D8EF}"/>
                </a:ext>
              </a:extLst>
            </p:cNvPr>
            <p:cNvSpPr/>
            <p:nvPr/>
          </p:nvSpPr>
          <p:spPr>
            <a:xfrm>
              <a:off x="4124903" y="2579605"/>
              <a:ext cx="399843" cy="394434"/>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43" name="Oval 42">
              <a:extLst>
                <a:ext uri="{FF2B5EF4-FFF2-40B4-BE49-F238E27FC236}">
                  <a16:creationId xmlns:a16="http://schemas.microsoft.com/office/drawing/2014/main" id="{939557AD-6126-FBC9-0701-A2B4181C186F}"/>
                </a:ext>
              </a:extLst>
            </p:cNvPr>
            <p:cNvSpPr/>
            <p:nvPr/>
          </p:nvSpPr>
          <p:spPr>
            <a:xfrm>
              <a:off x="4124903" y="4769417"/>
              <a:ext cx="399843" cy="394435"/>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gr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101811021"/>
              </p:ext>
            </p:extLst>
          </p:nvPr>
        </p:nvGraphicFramePr>
        <p:xfrm>
          <a:off x="2597578" y="5637049"/>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ED73215-A6B5-B9BD-5C51-2274B3A099AA}"/>
              </a:ext>
            </a:extLst>
          </p:cNvPr>
          <p:cNvSpPr txBox="1"/>
          <p:nvPr/>
        </p:nvSpPr>
        <p:spPr>
          <a:xfrm>
            <a:off x="360000" y="1184223"/>
            <a:ext cx="10670476" cy="1091386"/>
          </a:xfrm>
          <a:prstGeom prst="rect">
            <a:avLst/>
          </a:prstGeom>
          <a:noFill/>
        </p:spPr>
        <p:txBody>
          <a:bodyPr wrap="square" lIns="0" tIns="0" rIns="0" bIns="0" rtlCol="0">
            <a:noAutofit/>
          </a:bodyPr>
          <a:lstStyle/>
          <a:p>
            <a:pPr algn="ctr">
              <a:lnSpc>
                <a:spcPct val="150000"/>
              </a:lnSpc>
            </a:pPr>
            <a:r>
              <a:rPr lang="en-AU" sz="3600"/>
              <a:t>Match the number of </a:t>
            </a:r>
            <a:r>
              <a:rPr lang="en-AU" sz="3600" b="1"/>
              <a:t>lines of symmetry </a:t>
            </a:r>
            <a:r>
              <a:rPr lang="en-AU" sz="3600"/>
              <a:t>to the </a:t>
            </a:r>
            <a:r>
              <a:rPr lang="en-AU" sz="3600" b="1"/>
              <a:t>two-dimensional shapes </a:t>
            </a:r>
            <a:r>
              <a:rPr lang="en-AU" sz="3600"/>
              <a:t>shown.</a:t>
            </a:r>
          </a:p>
        </p:txBody>
      </p:sp>
      <p:sp>
        <p:nvSpPr>
          <p:cNvPr id="5" name="TextBox 4">
            <a:extLst>
              <a:ext uri="{FF2B5EF4-FFF2-40B4-BE49-F238E27FC236}">
                <a16:creationId xmlns:a16="http://schemas.microsoft.com/office/drawing/2014/main" id="{3C514682-969F-99AF-2D42-196EE49C3199}"/>
              </a:ext>
            </a:extLst>
          </p:cNvPr>
          <p:cNvSpPr txBox="1"/>
          <p:nvPr/>
        </p:nvSpPr>
        <p:spPr>
          <a:xfrm>
            <a:off x="348000" y="3036180"/>
            <a:ext cx="7439891" cy="3803073"/>
          </a:xfrm>
          <a:prstGeom prst="rect">
            <a:avLst/>
          </a:prstGeom>
          <a:noFill/>
        </p:spPr>
        <p:txBody>
          <a:bodyPr wrap="square" lIns="0" tIns="0" rIns="0" bIns="0" rtlCol="0">
            <a:noAutofit/>
          </a:bodyPr>
          <a:lstStyle/>
          <a:p>
            <a:pPr marL="342900" indent="-342900" algn="l">
              <a:lnSpc>
                <a:spcPct val="200000"/>
              </a:lnSpc>
              <a:buFont typeface="+mj-lt"/>
              <a:buAutoNum type="alphaLcParenR"/>
            </a:pPr>
            <a:r>
              <a:rPr lang="en-AU" sz="3600"/>
              <a:t> one line of symmetry</a:t>
            </a:r>
          </a:p>
          <a:p>
            <a:pPr marL="342900" indent="-342900" algn="l">
              <a:lnSpc>
                <a:spcPct val="200000"/>
              </a:lnSpc>
              <a:buFont typeface="+mj-lt"/>
              <a:buAutoNum type="alphaLcParenR"/>
            </a:pPr>
            <a:r>
              <a:rPr lang="en-AU" sz="3600"/>
              <a:t> 2 or more lines of symmetry</a:t>
            </a:r>
          </a:p>
          <a:p>
            <a:pPr marL="342900" indent="-342900" algn="l">
              <a:lnSpc>
                <a:spcPct val="200000"/>
              </a:lnSpc>
              <a:buFont typeface="+mj-lt"/>
              <a:buAutoNum type="alphaLcParenR"/>
            </a:pPr>
            <a:r>
              <a:rPr lang="en-AU" sz="3600"/>
              <a:t> no lines of symmetry.</a:t>
            </a:r>
          </a:p>
        </p:txBody>
      </p:sp>
      <p:sp>
        <p:nvSpPr>
          <p:cNvPr id="15" name="TextBox 14">
            <a:extLst>
              <a:ext uri="{FF2B5EF4-FFF2-40B4-BE49-F238E27FC236}">
                <a16:creationId xmlns:a16="http://schemas.microsoft.com/office/drawing/2014/main" id="{0312C32D-3D16-8702-D5AF-E037E591AB0D}"/>
              </a:ext>
            </a:extLst>
          </p:cNvPr>
          <p:cNvSpPr txBox="1"/>
          <p:nvPr/>
        </p:nvSpPr>
        <p:spPr>
          <a:xfrm>
            <a:off x="6765954" y="2987927"/>
            <a:ext cx="706582" cy="406364"/>
          </a:xfrm>
          <a:prstGeom prst="rect">
            <a:avLst/>
          </a:prstGeom>
          <a:noFill/>
        </p:spPr>
        <p:txBody>
          <a:bodyPr wrap="square" lIns="0" tIns="0" rIns="0" bIns="0" rtlCol="0">
            <a:noAutofit/>
          </a:bodyPr>
          <a:lstStyle/>
          <a:p>
            <a:pPr algn="ctr"/>
            <a:r>
              <a:rPr lang="en-AU" sz="3600"/>
              <a:t>1.</a:t>
            </a:r>
          </a:p>
        </p:txBody>
      </p:sp>
      <p:grpSp>
        <p:nvGrpSpPr>
          <p:cNvPr id="7" name="Group 3" descr="hexagon">
            <a:extLst>
              <a:ext uri="{FF2B5EF4-FFF2-40B4-BE49-F238E27FC236}">
                <a16:creationId xmlns:a16="http://schemas.microsoft.com/office/drawing/2014/main" id="{9C5B571B-4DE2-BBC9-9A13-6B7C24BD2490}"/>
              </a:ext>
            </a:extLst>
          </p:cNvPr>
          <p:cNvGrpSpPr/>
          <p:nvPr/>
        </p:nvGrpSpPr>
        <p:grpSpPr>
          <a:xfrm rot="-5400000">
            <a:off x="7288775" y="2930404"/>
            <a:ext cx="1292812" cy="1504363"/>
            <a:chOff x="0" y="0"/>
            <a:chExt cx="698500" cy="812800"/>
          </a:xfrm>
        </p:grpSpPr>
        <p:sp>
          <p:nvSpPr>
            <p:cNvPr id="8" name="Freeform 4">
              <a:extLst>
                <a:ext uri="{FF2B5EF4-FFF2-40B4-BE49-F238E27FC236}">
                  <a16:creationId xmlns:a16="http://schemas.microsoft.com/office/drawing/2014/main" id="{5811E4D7-0812-87A3-0254-E098625F0049}"/>
                </a:ext>
              </a:extLst>
            </p:cNvPr>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B8C1"/>
            </a:solidFill>
          </p:spPr>
          <p:txBody>
            <a:bodyPr/>
            <a:lstStyle/>
            <a:p>
              <a:endParaRPr lang="en-AU"/>
            </a:p>
          </p:txBody>
        </p:sp>
        <p:sp>
          <p:nvSpPr>
            <p:cNvPr id="9" name="TextBox 5">
              <a:extLst>
                <a:ext uri="{FF2B5EF4-FFF2-40B4-BE49-F238E27FC236}">
                  <a16:creationId xmlns:a16="http://schemas.microsoft.com/office/drawing/2014/main" id="{B59C41AF-61F7-B353-6C6E-3B55D621A6E7}"/>
                </a:ext>
              </a:extLst>
            </p:cNvPr>
            <p:cNvSpPr txBox="1"/>
            <p:nvPr/>
          </p:nvSpPr>
          <p:spPr>
            <a:xfrm>
              <a:off x="0" y="111125"/>
              <a:ext cx="698500" cy="561975"/>
            </a:xfrm>
            <a:prstGeom prst="rect">
              <a:avLst/>
            </a:prstGeom>
          </p:spPr>
          <p:txBody>
            <a:bodyPr lIns="50800" tIns="50800" rIns="50800" bIns="50800" rtlCol="0" anchor="ctr"/>
            <a:lstStyle/>
            <a:p>
              <a:pPr algn="ctr">
                <a:lnSpc>
                  <a:spcPts val="2149"/>
                </a:lnSpc>
              </a:pPr>
              <a:endParaRPr/>
            </a:p>
          </p:txBody>
        </p:sp>
      </p:grpSp>
      <p:sp>
        <p:nvSpPr>
          <p:cNvPr id="16" name="TextBox 15">
            <a:extLst>
              <a:ext uri="{FF2B5EF4-FFF2-40B4-BE49-F238E27FC236}">
                <a16:creationId xmlns:a16="http://schemas.microsoft.com/office/drawing/2014/main" id="{B5DF2D95-08C1-1321-56A9-68ADD1D5C3EA}"/>
              </a:ext>
            </a:extLst>
          </p:cNvPr>
          <p:cNvSpPr txBox="1"/>
          <p:nvPr/>
        </p:nvSpPr>
        <p:spPr>
          <a:xfrm>
            <a:off x="9643081" y="3973962"/>
            <a:ext cx="706582" cy="406364"/>
          </a:xfrm>
          <a:prstGeom prst="rect">
            <a:avLst/>
          </a:prstGeom>
          <a:noFill/>
        </p:spPr>
        <p:txBody>
          <a:bodyPr wrap="square" lIns="0" tIns="0" rIns="0" bIns="0" rtlCol="0">
            <a:noAutofit/>
          </a:bodyPr>
          <a:lstStyle/>
          <a:p>
            <a:pPr algn="ctr"/>
            <a:r>
              <a:rPr lang="en-AU" sz="3600"/>
              <a:t>2.</a:t>
            </a:r>
          </a:p>
        </p:txBody>
      </p:sp>
      <p:sp>
        <p:nvSpPr>
          <p:cNvPr id="13" name="Freeform 6" descr="parallelogram">
            <a:extLst>
              <a:ext uri="{FF2B5EF4-FFF2-40B4-BE49-F238E27FC236}">
                <a16:creationId xmlns:a16="http://schemas.microsoft.com/office/drawing/2014/main" id="{707CC3FE-263E-4CF3-C594-01C08C9F601C}"/>
              </a:ext>
            </a:extLst>
          </p:cNvPr>
          <p:cNvSpPr/>
          <p:nvPr/>
        </p:nvSpPr>
        <p:spPr>
          <a:xfrm>
            <a:off x="9168000" y="4455766"/>
            <a:ext cx="3024000" cy="963900"/>
          </a:xfrm>
          <a:custGeom>
            <a:avLst/>
            <a:gdLst/>
            <a:ahLst/>
            <a:cxnLst/>
            <a:rect l="l" t="t" r="r" b="b"/>
            <a:pathLst>
              <a:path w="3024000" h="963900">
                <a:moveTo>
                  <a:pt x="0" y="0"/>
                </a:moveTo>
                <a:lnTo>
                  <a:pt x="3024000" y="0"/>
                </a:lnTo>
                <a:lnTo>
                  <a:pt x="3024000" y="963900"/>
                </a:lnTo>
                <a:lnTo>
                  <a:pt x="0" y="9639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7" name="TextBox 16">
            <a:extLst>
              <a:ext uri="{FF2B5EF4-FFF2-40B4-BE49-F238E27FC236}">
                <a16:creationId xmlns:a16="http://schemas.microsoft.com/office/drawing/2014/main" id="{589C8AA3-BB9A-2B1A-A347-BBFF32D5AB3E}"/>
              </a:ext>
            </a:extLst>
          </p:cNvPr>
          <p:cNvSpPr txBox="1"/>
          <p:nvPr/>
        </p:nvSpPr>
        <p:spPr>
          <a:xfrm>
            <a:off x="7375887" y="5167470"/>
            <a:ext cx="706582" cy="406364"/>
          </a:xfrm>
          <a:prstGeom prst="rect">
            <a:avLst/>
          </a:prstGeom>
          <a:noFill/>
        </p:spPr>
        <p:txBody>
          <a:bodyPr wrap="square" lIns="0" tIns="0" rIns="0" bIns="0" rtlCol="0">
            <a:noAutofit/>
          </a:bodyPr>
          <a:lstStyle/>
          <a:p>
            <a:pPr algn="ctr"/>
            <a:r>
              <a:rPr lang="en-AU" sz="3600"/>
              <a:t>3.</a:t>
            </a:r>
          </a:p>
        </p:txBody>
      </p:sp>
      <p:sp>
        <p:nvSpPr>
          <p:cNvPr id="14" name="Freeform 2" descr="right-angled triangle">
            <a:extLst>
              <a:ext uri="{FF2B5EF4-FFF2-40B4-BE49-F238E27FC236}">
                <a16:creationId xmlns:a16="http://schemas.microsoft.com/office/drawing/2014/main" id="{99E793F8-46C7-4606-16A0-3D42E10A3F68}"/>
              </a:ext>
            </a:extLst>
          </p:cNvPr>
          <p:cNvSpPr/>
          <p:nvPr/>
        </p:nvSpPr>
        <p:spPr>
          <a:xfrm rot="-5400000">
            <a:off x="7119246" y="5274636"/>
            <a:ext cx="1361290" cy="1361290"/>
          </a:xfrm>
          <a:custGeom>
            <a:avLst/>
            <a:gdLst/>
            <a:ahLst/>
            <a:cxnLst/>
            <a:rect l="l" t="t" r="r" b="b"/>
            <a:pathLst>
              <a:path w="1361290" h="1361290">
                <a:moveTo>
                  <a:pt x="0" y="0"/>
                </a:moveTo>
                <a:lnTo>
                  <a:pt x="1361290" y="0"/>
                </a:lnTo>
                <a:lnTo>
                  <a:pt x="1361290" y="1361290"/>
                </a:lnTo>
                <a:lnTo>
                  <a:pt x="0" y="136129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4" name="TextBox 3">
            <a:extLst>
              <a:ext uri="{FF2B5EF4-FFF2-40B4-BE49-F238E27FC236}">
                <a16:creationId xmlns:a16="http://schemas.microsoft.com/office/drawing/2014/main" id="{6538EC51-75B4-ABA7-6C55-7B9CA9F38218}"/>
              </a:ext>
            </a:extLst>
          </p:cNvPr>
          <p:cNvSpPr txBox="1"/>
          <p:nvPr/>
        </p:nvSpPr>
        <p:spPr>
          <a:xfrm>
            <a:off x="503583" y="1250778"/>
            <a:ext cx="11105321" cy="1998176"/>
          </a:xfrm>
          <a:prstGeom prst="rect">
            <a:avLst/>
          </a:prstGeom>
          <a:noFill/>
        </p:spPr>
        <p:txBody>
          <a:bodyPr wrap="square">
            <a:sp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cs typeface="Times New Roman" panose="02020603050405020304" pitchFamily="18" charset="0"/>
              </a:rPr>
              <a:t>Record </a:t>
            </a:r>
            <a:r>
              <a:rPr lang="en-AU" sz="4400">
                <a:latin typeface="Arial" panose="020B0604020202020204" pitchFamily="34" charset="0"/>
                <a:ea typeface="Calibri" panose="020F0502020204030204" pitchFamily="34" charset="0"/>
                <a:cs typeface="Times New Roman" panose="02020603050405020304" pitchFamily="18" charset="0"/>
              </a:rPr>
              <a:t>the number </a:t>
            </a:r>
            <a:r>
              <a:rPr lang="en-AU" sz="4400" b="1">
                <a:latin typeface="Arial" panose="020B0604020202020204" pitchFamily="34" charset="0"/>
                <a:ea typeface="Calibri" panose="020F0502020204030204" pitchFamily="34" charset="0"/>
                <a:cs typeface="Times New Roman" panose="02020603050405020304" pitchFamily="18" charset="0"/>
              </a:rPr>
              <a:t>10, 100 </a:t>
            </a:r>
            <a:r>
              <a:rPr lang="en-AU" sz="4400">
                <a:latin typeface="Arial" panose="020B0604020202020204" pitchFamily="34" charset="0"/>
                <a:ea typeface="Calibri" panose="020F0502020204030204" pitchFamily="34" charset="0"/>
                <a:cs typeface="Times New Roman" panose="02020603050405020304" pitchFamily="18" charset="0"/>
              </a:rPr>
              <a:t>and </a:t>
            </a:r>
            <a:r>
              <a:rPr lang="en-AU" sz="4400" b="1">
                <a:latin typeface="Arial" panose="020B0604020202020204" pitchFamily="34" charset="0"/>
                <a:ea typeface="Calibri" panose="020F0502020204030204" pitchFamily="34" charset="0"/>
                <a:cs typeface="Times New Roman" panose="02020603050405020304" pitchFamily="18" charset="0"/>
              </a:rPr>
              <a:t>1000 times larger.</a:t>
            </a:r>
            <a:endParaRPr lang="en-AU" sz="4400" b="1">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7" name="Picture 6" descr="6 digit place value houses. The number 684 is recorded.">
            <a:extLst>
              <a:ext uri="{FF2B5EF4-FFF2-40B4-BE49-F238E27FC236}">
                <a16:creationId xmlns:a16="http://schemas.microsoft.com/office/drawing/2014/main" id="{16AC8D93-840C-0AC4-4D7A-D21D9C57BFA5}"/>
              </a:ext>
            </a:extLst>
          </p:cNvPr>
          <p:cNvPicPr>
            <a:picLocks noChangeAspect="1"/>
          </p:cNvPicPr>
          <p:nvPr/>
        </p:nvPicPr>
        <p:blipFill>
          <a:blip r:embed="rId4"/>
          <a:stretch>
            <a:fillRect/>
          </a:stretch>
        </p:blipFill>
        <p:spPr>
          <a:xfrm>
            <a:off x="3688790" y="3177000"/>
            <a:ext cx="4974464" cy="3429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4" name="TextBox 3">
            <a:extLst>
              <a:ext uri="{FF2B5EF4-FFF2-40B4-BE49-F238E27FC236}">
                <a16:creationId xmlns:a16="http://schemas.microsoft.com/office/drawing/2014/main" id="{375D3E5C-4ED1-DB43-4B84-DE32E5934E5C}"/>
              </a:ext>
            </a:extLst>
          </p:cNvPr>
          <p:cNvSpPr txBox="1"/>
          <p:nvPr/>
        </p:nvSpPr>
        <p:spPr>
          <a:xfrm>
            <a:off x="597388" y="1186526"/>
            <a:ext cx="10893355" cy="3699163"/>
          </a:xfrm>
          <a:prstGeom prst="rect">
            <a:avLst/>
          </a:prstGeom>
          <a:noFill/>
        </p:spPr>
        <p:txBody>
          <a:bodyPr wrap="square" lIns="0" tIns="0" rIns="0" bIns="0" rtlCol="0" anchor="t">
            <a:noAutofit/>
          </a:bodyPr>
          <a:lstStyle/>
          <a:p>
            <a:pPr algn="ctr">
              <a:lnSpc>
                <a:spcPct val="150000"/>
              </a:lnSpc>
            </a:pPr>
            <a:r>
              <a:rPr lang="en-AU" sz="4000"/>
              <a:t>Which of these activities have a </a:t>
            </a:r>
            <a:r>
              <a:rPr lang="en-AU" sz="4000" b="1"/>
              <a:t>duration</a:t>
            </a:r>
            <a:r>
              <a:rPr lang="en-AU" sz="4000"/>
              <a:t> of</a:t>
            </a:r>
            <a:endParaRPr lang="en-AU" sz="4000">
              <a:cs typeface="Arial"/>
            </a:endParaRPr>
          </a:p>
          <a:p>
            <a:pPr algn="ctr">
              <a:lnSpc>
                <a:spcPct val="150000"/>
              </a:lnSpc>
            </a:pPr>
            <a:r>
              <a:rPr lang="en-AU" sz="4000" b="1"/>
              <a:t>less than 1 minute</a:t>
            </a:r>
            <a:r>
              <a:rPr lang="en-AU" sz="4000"/>
              <a:t>?</a:t>
            </a:r>
            <a:endParaRPr lang="en-AU" sz="4000">
              <a:cs typeface="Arial"/>
            </a:endParaRPr>
          </a:p>
          <a:p>
            <a:pPr marL="742950" indent="-742950">
              <a:lnSpc>
                <a:spcPct val="150000"/>
              </a:lnSpc>
              <a:buFont typeface="+mj-lt"/>
              <a:buAutoNum type="alphaLcParenR"/>
            </a:pPr>
            <a:r>
              <a:rPr lang="en-AU" sz="4000"/>
              <a:t>tying your shoelaces</a:t>
            </a:r>
          </a:p>
          <a:p>
            <a:pPr marL="742950" indent="-742950">
              <a:lnSpc>
                <a:spcPct val="150000"/>
              </a:lnSpc>
              <a:buFont typeface="+mj-lt"/>
              <a:buAutoNum type="alphaLcParenR"/>
            </a:pPr>
            <a:r>
              <a:rPr lang="en-AU" sz="4000"/>
              <a:t>packing your lunchbox into your school bag</a:t>
            </a:r>
          </a:p>
          <a:p>
            <a:pPr marL="742950" indent="-742950">
              <a:lnSpc>
                <a:spcPct val="150000"/>
              </a:lnSpc>
              <a:buFont typeface="+mj-lt"/>
              <a:buAutoNum type="alphaLcParenR"/>
            </a:pPr>
            <a:r>
              <a:rPr lang="en-AU" sz="4000"/>
              <a:t>walking from the office to the classroom.</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D5B8B64C-3981-5985-85F1-BE42445CB6A5}"/>
              </a:ext>
            </a:extLst>
          </p:cNvPr>
          <p:cNvSpPr txBox="1"/>
          <p:nvPr/>
        </p:nvSpPr>
        <p:spPr>
          <a:xfrm>
            <a:off x="360000" y="997527"/>
            <a:ext cx="4322549" cy="5500473"/>
          </a:xfrm>
          <a:prstGeom prst="rect">
            <a:avLst/>
          </a:prstGeom>
          <a:noFill/>
        </p:spPr>
        <p:txBody>
          <a:bodyPr wrap="square" lIns="0" tIns="0" rIns="0" bIns="0" rtlCol="0">
            <a:noAutofit/>
          </a:bodyPr>
          <a:lstStyle/>
          <a:p>
            <a:pPr algn="l">
              <a:lnSpc>
                <a:spcPct val="150000"/>
              </a:lnSpc>
            </a:pPr>
            <a:r>
              <a:rPr lang="en-AU" sz="3200"/>
              <a:t>Record the grid references for:</a:t>
            </a:r>
          </a:p>
          <a:p>
            <a:pPr marL="285750" indent="-285750" algn="l">
              <a:lnSpc>
                <a:spcPct val="250000"/>
              </a:lnSpc>
              <a:buFont typeface="Arial" panose="020B0604020202020204" pitchFamily="34" charset="0"/>
              <a:buChar char="•"/>
            </a:pPr>
            <a:r>
              <a:rPr lang="en-AU" sz="3200"/>
              <a:t> </a:t>
            </a:r>
          </a:p>
          <a:p>
            <a:pPr marL="285750" indent="-285750" algn="l">
              <a:lnSpc>
                <a:spcPct val="250000"/>
              </a:lnSpc>
              <a:buFont typeface="Arial" panose="020B0604020202020204" pitchFamily="34" charset="0"/>
              <a:buChar char="•"/>
            </a:pPr>
            <a:r>
              <a:rPr lang="en-AU" sz="3200"/>
              <a:t> </a:t>
            </a:r>
          </a:p>
          <a:p>
            <a:pPr marL="285750" indent="-285750" algn="l">
              <a:lnSpc>
                <a:spcPct val="250000"/>
              </a:lnSpc>
              <a:buFont typeface="Arial" panose="020B0604020202020204" pitchFamily="34" charset="0"/>
              <a:buChar char="•"/>
            </a:pPr>
            <a:r>
              <a:rPr lang="en-AU" sz="3200"/>
              <a:t> </a:t>
            </a:r>
          </a:p>
        </p:txBody>
      </p:sp>
      <p:pic>
        <p:nvPicPr>
          <p:cNvPr id="9" name="Picture 8" descr="Image of 'Eggs' grid.">
            <a:extLst>
              <a:ext uri="{FF2B5EF4-FFF2-40B4-BE49-F238E27FC236}">
                <a16:creationId xmlns:a16="http://schemas.microsoft.com/office/drawing/2014/main" id="{B95A26E9-6CBD-E4B9-E0C7-EF18261C97BE}"/>
              </a:ext>
            </a:extLst>
          </p:cNvPr>
          <p:cNvPicPr>
            <a:picLocks noChangeAspect="1"/>
          </p:cNvPicPr>
          <p:nvPr/>
        </p:nvPicPr>
        <p:blipFill>
          <a:blip r:embed="rId4"/>
          <a:stretch>
            <a:fillRect/>
          </a:stretch>
        </p:blipFill>
        <p:spPr>
          <a:xfrm>
            <a:off x="1102048" y="2697458"/>
            <a:ext cx="858572" cy="88345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descr="Image of 'Lollies' grid.">
            <a:extLst>
              <a:ext uri="{FF2B5EF4-FFF2-40B4-BE49-F238E27FC236}">
                <a16:creationId xmlns:a16="http://schemas.microsoft.com/office/drawing/2014/main" id="{F2CC113A-03E3-D769-F9CF-13ABA1A08439}"/>
              </a:ext>
            </a:extLst>
          </p:cNvPr>
          <p:cNvPicPr>
            <a:picLocks noChangeAspect="1"/>
          </p:cNvPicPr>
          <p:nvPr/>
        </p:nvPicPr>
        <p:blipFill>
          <a:blip r:embed="rId5"/>
          <a:stretch>
            <a:fillRect/>
          </a:stretch>
        </p:blipFill>
        <p:spPr>
          <a:xfrm>
            <a:off x="1111873" y="4068606"/>
            <a:ext cx="858572" cy="882420"/>
          </a:xfrm>
          <a:prstGeom prst="rect">
            <a:avLst/>
          </a:prstGeom>
          <a:ln>
            <a:noFill/>
          </a:ln>
          <a:effectLst>
            <a:outerShdw blurRad="292100" dist="139700" dir="2700000" algn="tl" rotWithShape="0">
              <a:srgbClr val="333333">
                <a:alpha val="65000"/>
              </a:srgbClr>
            </a:outerShdw>
          </a:effectLst>
        </p:spPr>
      </p:pic>
      <p:pic>
        <p:nvPicPr>
          <p:cNvPr id="13" name="Picture 12" descr="Image of 'Deli' grids.">
            <a:extLst>
              <a:ext uri="{FF2B5EF4-FFF2-40B4-BE49-F238E27FC236}">
                <a16:creationId xmlns:a16="http://schemas.microsoft.com/office/drawing/2014/main" id="{0B17FAAA-7DCC-747B-B55B-5A5AF9B5CCD8}"/>
              </a:ext>
            </a:extLst>
          </p:cNvPr>
          <p:cNvPicPr>
            <a:picLocks noChangeAspect="1"/>
          </p:cNvPicPr>
          <p:nvPr/>
        </p:nvPicPr>
        <p:blipFill>
          <a:blip r:embed="rId6"/>
          <a:stretch>
            <a:fillRect/>
          </a:stretch>
        </p:blipFill>
        <p:spPr>
          <a:xfrm>
            <a:off x="727323" y="5257338"/>
            <a:ext cx="1793951" cy="934350"/>
          </a:xfrm>
          <a:prstGeom prst="rect">
            <a:avLst/>
          </a:prstGeom>
          <a:ln>
            <a:noFill/>
          </a:ln>
          <a:effectLst>
            <a:outerShdw blurRad="292100" dist="139700" dir="2700000" algn="tl" rotWithShape="0">
              <a:srgbClr val="333333">
                <a:alpha val="65000"/>
              </a:srgbClr>
            </a:outerShdw>
          </a:effectLst>
        </p:spPr>
      </p:pic>
      <p:pic>
        <p:nvPicPr>
          <p:cNvPr id="5" name="Picture 4" descr="A colourful grid 10 by 10 with text. The x-axis is marked with the letters A to J and the y-axis is marked with the numbers 1 to 10. Text around the grid: Baking, Frozen food, Dairy, Deli, Meat, Vegetable and Fruit.&#10;&#10;In the middle of the map are sections for pasta, chips, lollies, eggs, rice, snack, pet, clean, check out. &#10;">
            <a:extLst>
              <a:ext uri="{FF2B5EF4-FFF2-40B4-BE49-F238E27FC236}">
                <a16:creationId xmlns:a16="http://schemas.microsoft.com/office/drawing/2014/main" id="{A1129565-B4B7-4D2E-20D2-1B9809716EB2}"/>
              </a:ext>
            </a:extLst>
          </p:cNvPr>
          <p:cNvPicPr>
            <a:picLocks noChangeAspect="1"/>
          </p:cNvPicPr>
          <p:nvPr/>
        </p:nvPicPr>
        <p:blipFill>
          <a:blip r:embed="rId7"/>
          <a:stretch>
            <a:fillRect/>
          </a:stretch>
        </p:blipFill>
        <p:spPr>
          <a:xfrm>
            <a:off x="4927677" y="360000"/>
            <a:ext cx="5951195" cy="6182591"/>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fact families and arrays</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grpSp>
        <p:nvGrpSpPr>
          <p:cNvPr id="10" name="Group 9" descr="A grid containing several sections illustrating multiplication and division problems alongside visual dot representations. The grid is divided into 5 horizontal sections.&#10;&#10;The first section shows a 2 x 4 array of dots. Accompanying this is a set of multiplication and division equations: 2 × 8 = 16, 8 × 2 = 16, 16 ÷ 2 = 8, 16 ÷ 8 = 2.&#10;&#10;The second section contains 2 rows of dots, forming a 2 x 8 array. The equations are: 2 × 9 = 18, 9 × 2 = 18, 18 ÷ 2 = 9, 18 ÷ 9 = 2.&#10;&#10;The third section displays a 4 x 8 array of dots. The equations are: 2 × 5 = 10, 5 × 2 = 10, 10 ÷ 2 = 5, 10 ÷ 5 = 2.&#10;&#10;The fourth section features a 4 x 7 grid of dots. The equations are: 4 × 7 = 28, 7 × 4 = 28, 28 ÷ 4 = 7, 28 ÷ 7 = 4.&#10;&#10;The fifth section presents a 2 x 9 array of dots. The equations are: 3 × 5 = 15, 5 × 3 = 15, 14 ÷ 3 = 5, 15 ÷ 5 = 3.&#10;&#10;The sixth section present a 3 x 5 array of dots. The equations are: 4 × 8 = 32, 8 × 4 = 32, 32 ÷ 4 = 8, 32 ÷ 8 = 4.">
            <a:extLst>
              <a:ext uri="{FF2B5EF4-FFF2-40B4-BE49-F238E27FC236}">
                <a16:creationId xmlns:a16="http://schemas.microsoft.com/office/drawing/2014/main" id="{A5630BE0-770A-EBB8-AEF7-A2E4D645E42F}"/>
              </a:ext>
            </a:extLst>
          </p:cNvPr>
          <p:cNvGrpSpPr/>
          <p:nvPr/>
        </p:nvGrpSpPr>
        <p:grpSpPr>
          <a:xfrm>
            <a:off x="354952" y="1445070"/>
            <a:ext cx="11489049" cy="4329164"/>
            <a:chOff x="354952" y="1445070"/>
            <a:chExt cx="11489049" cy="4329164"/>
          </a:xfrm>
        </p:grpSpPr>
        <p:pic>
          <p:nvPicPr>
            <p:cNvPr id="7" name="Picture 6">
              <a:extLst>
                <a:ext uri="{FF2B5EF4-FFF2-40B4-BE49-F238E27FC236}">
                  <a16:creationId xmlns:a16="http://schemas.microsoft.com/office/drawing/2014/main" id="{655E8142-319F-587D-3CA4-7FF184086F09}"/>
                </a:ext>
              </a:extLst>
            </p:cNvPr>
            <p:cNvPicPr>
              <a:picLocks noChangeAspect="1"/>
            </p:cNvPicPr>
            <p:nvPr/>
          </p:nvPicPr>
          <p:blipFill>
            <a:blip r:embed="rId4"/>
            <a:stretch>
              <a:fillRect/>
            </a:stretch>
          </p:blipFill>
          <p:spPr>
            <a:xfrm>
              <a:off x="354952" y="1445070"/>
              <a:ext cx="5754953" cy="4308382"/>
            </a:xfrm>
            <a:prstGeom prst="rect">
              <a:avLst/>
            </a:prstGeom>
            <a:ln>
              <a:noFill/>
            </a:ln>
            <a:effectLst>
              <a:outerShdw blurRad="292100" dist="139700" dir="2700000" algn="tl" rotWithShape="0">
                <a:srgbClr val="333333">
                  <a:alpha val="65000"/>
                </a:srgbClr>
              </a:outerShdw>
            </a:effectLst>
          </p:spPr>
        </p:pic>
        <p:pic>
          <p:nvPicPr>
            <p:cNvPr id="9" name="Picture 8" descr="A grid containing several sections illustrating multiplication and division problems alongside visual dot representations.&#10;&#10;The first section shows a 2 x 4 array of dots. Accompanying this is a set of multiplication and division equations: 2 × 8 = 16, 8 × 2 = 16, 16 ÷ 2 = 8, 16 ÷ 8 = 2.&#10;&#10;The second section contains 2 rows of dots, forming a 2 x 8 array. The equations are: 2 × 9 = 18, 9 × 2 = 18, 18 ÷ 2 = 9, 18 ÷ 9 = 2.&#10;&#10;The third section displays a 4 x 8 array of dots. The equations are: 2 × 5 = 10, 5 × 2 = 10, 10 ÷ 2 = 5, 10 ÷ 5 = 2.&#10;&#10;The fourth section features a 4 x 7 grid of dots. The equations are: 4 × 7 = 28, 7 × 4 = 28, 28 ÷ 4 = 7, 28 ÷ 7 = 4.&#10;&#10;The fifth section presents a 2 x 9 array of dots. The equations are: 3 × 5 = 15, 5 × 3 = 15, 14 ÷ 3 = 5, 15 ÷ 5 = 3.&#10;&#10;The sixth section present a 3 x 5 array of dots. The equations are: 4 × 8 = 32, 8 × 4 = 32, 32 ÷ 4 = 8, 32 ÷ 8 = 4.">
              <a:extLst>
                <a:ext uri="{FF2B5EF4-FFF2-40B4-BE49-F238E27FC236}">
                  <a16:creationId xmlns:a16="http://schemas.microsoft.com/office/drawing/2014/main" id="{C80CB554-ED96-DC07-A776-62AAFC6DA71E}"/>
                </a:ext>
              </a:extLst>
            </p:cNvPr>
            <p:cNvPicPr>
              <a:picLocks noChangeAspect="1"/>
            </p:cNvPicPr>
            <p:nvPr/>
          </p:nvPicPr>
          <p:blipFill>
            <a:blip r:embed="rId5"/>
            <a:stretch>
              <a:fillRect/>
            </a:stretch>
          </p:blipFill>
          <p:spPr>
            <a:xfrm>
              <a:off x="6096001" y="1465852"/>
              <a:ext cx="5748000" cy="4308382"/>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9682-B13B-E2E6-A499-AE7CFEE8DF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D856DE-9E15-F340-6484-81955C31DCF4}"/>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66E99097-B223-76CB-98A1-2D5773AF8E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C96A552F-AC6B-6B29-144E-B61A631E97CE}"/>
              </a:ext>
            </a:extLst>
          </p:cNvPr>
          <p:cNvSpPr>
            <a:spLocks noGrp="1"/>
          </p:cNvSpPr>
          <p:nvPr>
            <p:ph type="body" sz="quarter" idx="28"/>
          </p:nvPr>
        </p:nvSpPr>
        <p:spPr>
          <a:xfrm>
            <a:off x="278402" y="1116667"/>
            <a:ext cx="11695291" cy="754243"/>
          </a:xfrm>
        </p:spPr>
        <p:txBody>
          <a:bodyPr/>
          <a:lstStyle/>
          <a:p>
            <a:pPr algn="ctr">
              <a:spcAft>
                <a:spcPts val="0"/>
              </a:spcAft>
            </a:pPr>
            <a:r>
              <a:rPr lang="en-AU" sz="3600"/>
              <a:t>Which of these shows how </a:t>
            </a:r>
            <a:r>
              <a:rPr lang="en-AU" sz="3600" b="1"/>
              <a:t>472 + 38 </a:t>
            </a:r>
            <a:r>
              <a:rPr lang="en-AU" sz="3600"/>
              <a:t>can be </a:t>
            </a:r>
            <a:r>
              <a:rPr lang="en-AU" sz="3600" b="1"/>
              <a:t>partitioned? </a:t>
            </a:r>
          </a:p>
          <a:p>
            <a:pPr algn="ctr">
              <a:spcAft>
                <a:spcPts val="0"/>
              </a:spcAft>
            </a:pPr>
            <a:r>
              <a:rPr lang="en-AU" sz="3600"/>
              <a:t>You</a:t>
            </a:r>
            <a:r>
              <a:rPr lang="en-AU" sz="3600" b="1"/>
              <a:t> may </a:t>
            </a:r>
            <a:r>
              <a:rPr lang="en-AU" sz="3600"/>
              <a:t>choose</a:t>
            </a:r>
            <a:r>
              <a:rPr lang="en-AU" sz="3600" b="1"/>
              <a:t> more than one </a:t>
            </a:r>
            <a:r>
              <a:rPr lang="en-AU" sz="3600"/>
              <a:t>answer</a:t>
            </a:r>
            <a:r>
              <a:rPr lang="en-AU" sz="3600" b="1"/>
              <a:t>. </a:t>
            </a:r>
            <a:endParaRPr lang="en-US" sz="3600"/>
          </a:p>
        </p:txBody>
      </p:sp>
      <p:sp>
        <p:nvSpPr>
          <p:cNvPr id="9" name="B">
            <a:extLst>
              <a:ext uri="{FF2B5EF4-FFF2-40B4-BE49-F238E27FC236}">
                <a16:creationId xmlns:a16="http://schemas.microsoft.com/office/drawing/2014/main" id="{8B0BBB3C-FC71-5899-8378-058EBBB23E5C}"/>
              </a:ext>
            </a:extLst>
          </p:cNvPr>
          <p:cNvSpPr txBox="1"/>
          <p:nvPr/>
        </p:nvSpPr>
        <p:spPr>
          <a:xfrm>
            <a:off x="670560" y="302993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617CAF57-D7E5-901C-098A-364EC0461F45}"/>
              </a:ext>
            </a:extLst>
          </p:cNvPr>
          <p:cNvSpPr>
            <a:spLocks noGrp="1"/>
          </p:cNvSpPr>
          <p:nvPr>
            <p:ph type="body" sz="quarter" idx="31"/>
          </p:nvPr>
        </p:nvSpPr>
        <p:spPr>
          <a:xfrm>
            <a:off x="1345520" y="3078565"/>
            <a:ext cx="10175920" cy="641396"/>
          </a:xfrm>
        </p:spPr>
        <p:txBody>
          <a:bodyPr anchor="ctr"/>
          <a:lstStyle/>
          <a:p>
            <a:pPr>
              <a:tabLst>
                <a:tab pos="7353300" algn="l"/>
              </a:tabLst>
            </a:pPr>
            <a:r>
              <a:rPr lang="en-US" sz="3600"/>
              <a:t>472 + 20 + 20</a:t>
            </a:r>
          </a:p>
        </p:txBody>
      </p:sp>
      <p:sp>
        <p:nvSpPr>
          <p:cNvPr id="10" name="B">
            <a:extLst>
              <a:ext uri="{FF2B5EF4-FFF2-40B4-BE49-F238E27FC236}">
                <a16:creationId xmlns:a16="http://schemas.microsoft.com/office/drawing/2014/main" id="{1BD38033-43C3-A0A1-88CB-3ABF45A80763}"/>
              </a:ext>
            </a:extLst>
          </p:cNvPr>
          <p:cNvSpPr txBox="1"/>
          <p:nvPr/>
        </p:nvSpPr>
        <p:spPr>
          <a:xfrm>
            <a:off x="670559" y="387784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70250DA3-3DC6-9EA8-7604-90B40861762F}"/>
              </a:ext>
            </a:extLst>
          </p:cNvPr>
          <p:cNvSpPr>
            <a:spLocks noGrp="1"/>
          </p:cNvSpPr>
          <p:nvPr>
            <p:ph type="body" sz="quarter" idx="30"/>
          </p:nvPr>
        </p:nvSpPr>
        <p:spPr>
          <a:xfrm>
            <a:off x="1345520" y="3926478"/>
            <a:ext cx="10175920" cy="641396"/>
          </a:xfrm>
        </p:spPr>
        <p:txBody>
          <a:bodyPr anchor="ctr"/>
          <a:lstStyle/>
          <a:p>
            <a:r>
              <a:rPr lang="en-US" sz="3600"/>
              <a:t>472 + 8 + 30</a:t>
            </a:r>
          </a:p>
        </p:txBody>
      </p:sp>
      <p:sp>
        <p:nvSpPr>
          <p:cNvPr id="12" name="C">
            <a:extLst>
              <a:ext uri="{FF2B5EF4-FFF2-40B4-BE49-F238E27FC236}">
                <a16:creationId xmlns:a16="http://schemas.microsoft.com/office/drawing/2014/main" id="{8CBBF2BA-64EE-4290-7852-A8F6CCA03E54}"/>
              </a:ext>
            </a:extLst>
          </p:cNvPr>
          <p:cNvSpPr txBox="1"/>
          <p:nvPr/>
        </p:nvSpPr>
        <p:spPr>
          <a:xfrm>
            <a:off x="670558" y="472789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6A85EAC1-9E3A-72A5-46CB-2C4D277F778E}"/>
              </a:ext>
            </a:extLst>
          </p:cNvPr>
          <p:cNvSpPr>
            <a:spLocks noGrp="1"/>
          </p:cNvSpPr>
          <p:nvPr>
            <p:ph type="body" sz="quarter" idx="29"/>
          </p:nvPr>
        </p:nvSpPr>
        <p:spPr>
          <a:xfrm>
            <a:off x="1345520" y="4776531"/>
            <a:ext cx="10175920" cy="641396"/>
          </a:xfrm>
        </p:spPr>
        <p:txBody>
          <a:bodyPr anchor="ctr"/>
          <a:lstStyle/>
          <a:p>
            <a:r>
              <a:rPr lang="en-US" sz="3600"/>
              <a:t>470 + 38</a:t>
            </a:r>
          </a:p>
        </p:txBody>
      </p:sp>
      <p:sp>
        <p:nvSpPr>
          <p:cNvPr id="11" name="D">
            <a:extLst>
              <a:ext uri="{FF2B5EF4-FFF2-40B4-BE49-F238E27FC236}">
                <a16:creationId xmlns:a16="http://schemas.microsoft.com/office/drawing/2014/main" id="{388F2FE9-EF5E-B818-71B7-04503183ED79}"/>
              </a:ext>
            </a:extLst>
          </p:cNvPr>
          <p:cNvSpPr txBox="1"/>
          <p:nvPr/>
        </p:nvSpPr>
        <p:spPr>
          <a:xfrm>
            <a:off x="670557" y="55779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ECE21105-74CC-BDAC-6C3E-529F6564C0C4}"/>
              </a:ext>
            </a:extLst>
          </p:cNvPr>
          <p:cNvSpPr>
            <a:spLocks noGrp="1"/>
          </p:cNvSpPr>
          <p:nvPr>
            <p:ph type="body" sz="quarter" idx="27"/>
          </p:nvPr>
        </p:nvSpPr>
        <p:spPr>
          <a:xfrm>
            <a:off x="1345520" y="5626584"/>
            <a:ext cx="10175920" cy="641396"/>
          </a:xfrm>
        </p:spPr>
        <p:txBody>
          <a:bodyPr anchor="ctr"/>
          <a:lstStyle/>
          <a:p>
            <a:r>
              <a:rPr lang="en-US" sz="3600"/>
              <a:t>472 + 28 + 10</a:t>
            </a:r>
          </a:p>
        </p:txBody>
      </p:sp>
      <p:sp>
        <p:nvSpPr>
          <p:cNvPr id="5" name="Text Placeholder">
            <a:extLst>
              <a:ext uri="{FF2B5EF4-FFF2-40B4-BE49-F238E27FC236}">
                <a16:creationId xmlns:a16="http://schemas.microsoft.com/office/drawing/2014/main" id="{AA8370AC-2139-4B8C-B676-A58832C294AF}"/>
              </a:ext>
              <a:ext uri="{C183D7F6-B498-43B3-948B-1728B52AA6E4}">
                <adec:decorative xmlns:adec="http://schemas.microsoft.com/office/drawing/2017/decorative" val="1"/>
              </a:ext>
            </a:extLst>
          </p:cNvPr>
          <p:cNvSpPr txBox="1">
            <a:spLocks/>
          </p:cNvSpPr>
          <p:nvPr/>
        </p:nvSpPr>
        <p:spPr>
          <a:xfrm>
            <a:off x="278403" y="5668864"/>
            <a:ext cx="11243037" cy="75424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4400"/>
          </a:p>
        </p:txBody>
      </p:sp>
      <p:sp>
        <p:nvSpPr>
          <p:cNvPr id="2" name="Slide Number Placeholder 1">
            <a:extLst>
              <a:ext uri="{FF2B5EF4-FFF2-40B4-BE49-F238E27FC236}">
                <a16:creationId xmlns:a16="http://schemas.microsoft.com/office/drawing/2014/main" id="{8DFF93A7-A994-839D-06D7-96E09B120AB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17231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5" name="Picture 4" descr="M, P, X and K in a 1-row table.">
            <a:extLst>
              <a:ext uri="{FF2B5EF4-FFF2-40B4-BE49-F238E27FC236}">
                <a16:creationId xmlns:a16="http://schemas.microsoft.com/office/drawing/2014/main" id="{1A54F2CC-CDB1-C79D-2095-387EF26EF86E}"/>
              </a:ext>
            </a:extLst>
          </p:cNvPr>
          <p:cNvPicPr>
            <a:picLocks noChangeAspect="1"/>
          </p:cNvPicPr>
          <p:nvPr/>
        </p:nvPicPr>
        <p:blipFill>
          <a:blip r:embed="rId4"/>
          <a:stretch>
            <a:fillRect/>
          </a:stretch>
        </p:blipFill>
        <p:spPr>
          <a:xfrm>
            <a:off x="1627344" y="1184223"/>
            <a:ext cx="8937311" cy="1920928"/>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8E74CEBA-3132-9378-6EBF-813FAA0BEA1D}"/>
              </a:ext>
            </a:extLst>
          </p:cNvPr>
          <p:cNvSpPr txBox="1"/>
          <p:nvPr/>
        </p:nvSpPr>
        <p:spPr>
          <a:xfrm>
            <a:off x="559981" y="3383773"/>
            <a:ext cx="10818065" cy="2370820"/>
          </a:xfrm>
          <a:prstGeom prst="rect">
            <a:avLst/>
          </a:prstGeom>
          <a:noFill/>
        </p:spPr>
        <p:txBody>
          <a:bodyPr wrap="square" lIns="0" tIns="0" rIns="0" bIns="0" rtlCol="0">
            <a:noAutofit/>
          </a:bodyPr>
          <a:lstStyle/>
          <a:p>
            <a:pPr algn="l"/>
            <a:r>
              <a:rPr lang="en-AU" sz="3200" dirty="0"/>
              <a:t>Which letters shown have:</a:t>
            </a:r>
          </a:p>
          <a:p>
            <a:pPr marL="342900" indent="-342900">
              <a:lnSpc>
                <a:spcPct val="200000"/>
              </a:lnSpc>
              <a:buFont typeface="+mj-lt"/>
              <a:buAutoNum type="alphaLcParenR"/>
            </a:pPr>
            <a:r>
              <a:rPr lang="en-AU" sz="3200" dirty="0"/>
              <a:t> </a:t>
            </a:r>
            <a:r>
              <a:rPr lang="en-AU" sz="3200" b="1" dirty="0"/>
              <a:t>one</a:t>
            </a:r>
            <a:r>
              <a:rPr lang="en-AU" sz="3200" dirty="0"/>
              <a:t> line of symmetry</a:t>
            </a:r>
          </a:p>
          <a:p>
            <a:pPr marL="342900" indent="-342900">
              <a:lnSpc>
                <a:spcPct val="200000"/>
              </a:lnSpc>
              <a:buFont typeface="+mj-lt"/>
              <a:buAutoNum type="alphaLcParenR"/>
            </a:pPr>
            <a:r>
              <a:rPr lang="en-AU" sz="3200" dirty="0"/>
              <a:t> </a:t>
            </a:r>
            <a:r>
              <a:rPr lang="en-AU" sz="3200" b="1" dirty="0"/>
              <a:t>2 or more </a:t>
            </a:r>
            <a:r>
              <a:rPr lang="en-AU" sz="3200" dirty="0"/>
              <a:t>lines of symmetry</a:t>
            </a:r>
          </a:p>
          <a:p>
            <a:pPr marL="342900" indent="-342900">
              <a:lnSpc>
                <a:spcPct val="200000"/>
              </a:lnSpc>
              <a:buFont typeface="+mj-lt"/>
              <a:buAutoNum type="alphaLcParenR"/>
            </a:pPr>
            <a:r>
              <a:rPr lang="en-AU" sz="3200" dirty="0"/>
              <a:t> </a:t>
            </a:r>
            <a:r>
              <a:rPr lang="en-AU" sz="3200" b="1" dirty="0"/>
              <a:t>no </a:t>
            </a:r>
            <a:r>
              <a:rPr lang="en-AU" sz="3200" dirty="0"/>
              <a:t>lines of symmetry.</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4" name="TextBox 3">
            <a:extLst>
              <a:ext uri="{FF2B5EF4-FFF2-40B4-BE49-F238E27FC236}">
                <a16:creationId xmlns:a16="http://schemas.microsoft.com/office/drawing/2014/main" id="{52DE4FC8-DE02-F6AE-DA52-D30FEF8B3EF7}"/>
              </a:ext>
            </a:extLst>
          </p:cNvPr>
          <p:cNvSpPr txBox="1"/>
          <p:nvPr/>
        </p:nvSpPr>
        <p:spPr>
          <a:xfrm>
            <a:off x="362045" y="1165033"/>
            <a:ext cx="11121955" cy="4208318"/>
          </a:xfrm>
          <a:prstGeom prst="rect">
            <a:avLst/>
          </a:prstGeom>
          <a:noFill/>
        </p:spPr>
        <p:txBody>
          <a:bodyPr wrap="square" lIns="0" tIns="0" rIns="0" bIns="0" rtlCol="0">
            <a:noAutofit/>
          </a:bodyPr>
          <a:lstStyle/>
          <a:p>
            <a:pPr algn="ctr">
              <a:lnSpc>
                <a:spcPct val="150000"/>
              </a:lnSpc>
            </a:pPr>
            <a:r>
              <a:rPr lang="en-AU" sz="4400" b="1" dirty="0">
                <a:solidFill>
                  <a:schemeClr val="accent2"/>
                </a:solidFill>
              </a:rPr>
              <a:t>3, 6, 9, 12…</a:t>
            </a:r>
          </a:p>
          <a:p>
            <a:pPr algn="ctr">
              <a:lnSpc>
                <a:spcPct val="150000"/>
              </a:lnSpc>
            </a:pPr>
            <a:endParaRPr lang="en-AU" sz="1200" dirty="0">
              <a:solidFill>
                <a:schemeClr val="accent2"/>
              </a:solidFill>
            </a:endParaRPr>
          </a:p>
          <a:p>
            <a:pPr marL="514350" indent="-514350" algn="ctr">
              <a:lnSpc>
                <a:spcPct val="150000"/>
              </a:lnSpc>
              <a:buFont typeface="+mj-lt"/>
              <a:buAutoNum type="arabicPeriod"/>
            </a:pPr>
            <a:r>
              <a:rPr lang="en-AU" sz="3600" dirty="0"/>
              <a:t>What is the </a:t>
            </a:r>
            <a:r>
              <a:rPr lang="en-AU" sz="3600" b="1" dirty="0"/>
              <a:t>rule</a:t>
            </a:r>
            <a:r>
              <a:rPr lang="en-AU" sz="3600" dirty="0"/>
              <a:t> for the pattern? </a:t>
            </a:r>
          </a:p>
          <a:p>
            <a:pPr marL="514350" indent="-514350" algn="ctr">
              <a:lnSpc>
                <a:spcPct val="150000"/>
              </a:lnSpc>
              <a:buFont typeface="+mj-lt"/>
              <a:buAutoNum type="arabicPeriod"/>
            </a:pPr>
            <a:r>
              <a:rPr lang="en-AU" sz="3600" dirty="0"/>
              <a:t>Write a </a:t>
            </a:r>
            <a:r>
              <a:rPr lang="en-AU" sz="3600" b="1" dirty="0"/>
              <a:t>multiplication fact</a:t>
            </a:r>
            <a:r>
              <a:rPr lang="en-AU" sz="3600" dirty="0"/>
              <a:t> that matches what comes next in this pattern. </a:t>
            </a:r>
          </a:p>
          <a:p>
            <a:pPr marL="514350" indent="-514350" algn="ctr">
              <a:lnSpc>
                <a:spcPct val="150000"/>
              </a:lnSpc>
              <a:buFont typeface="+mj-lt"/>
              <a:buAutoNum type="arabicPeriod"/>
            </a:pPr>
            <a:r>
              <a:rPr lang="en-AU" sz="3600" dirty="0"/>
              <a:t>Draw an </a:t>
            </a:r>
            <a:r>
              <a:rPr lang="en-AU" sz="3600" b="1" dirty="0"/>
              <a:t>array</a:t>
            </a:r>
            <a:r>
              <a:rPr lang="en-AU" sz="3600" dirty="0"/>
              <a:t> to represent the multiplication fact in Question 2.</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CB9D4388-B76B-C1EF-F0D7-F82449FFFD7A}"/>
              </a:ext>
            </a:extLst>
          </p:cNvPr>
          <p:cNvSpPr txBox="1"/>
          <p:nvPr/>
        </p:nvSpPr>
        <p:spPr>
          <a:xfrm>
            <a:off x="360000" y="1090705"/>
            <a:ext cx="6518782" cy="4863286"/>
          </a:xfrm>
          <a:prstGeom prst="rect">
            <a:avLst/>
          </a:prstGeom>
          <a:noFill/>
        </p:spPr>
        <p:txBody>
          <a:bodyPr wrap="square" lIns="0" tIns="0" rIns="0" bIns="0" rtlCol="0">
            <a:noAutofit/>
          </a:bodyPr>
          <a:lstStyle/>
          <a:p>
            <a:pPr algn="ctr">
              <a:lnSpc>
                <a:spcPct val="150000"/>
              </a:lnSpc>
              <a:spcBef>
                <a:spcPts val="600"/>
              </a:spcBef>
              <a:spcAft>
                <a:spcPts val="600"/>
              </a:spcAft>
            </a:pPr>
            <a:r>
              <a:rPr lang="en-AU" sz="4400"/>
              <a:t>The </a:t>
            </a:r>
            <a:r>
              <a:rPr lang="en-AU" sz="4400" b="1"/>
              <a:t>6</a:t>
            </a:r>
            <a:r>
              <a:rPr lang="en-AU" sz="4400"/>
              <a:t> on the </a:t>
            </a:r>
            <a:r>
              <a:rPr lang="en-AU" sz="4400" b="1" err="1"/>
              <a:t>analog</a:t>
            </a:r>
            <a:r>
              <a:rPr lang="en-AU" sz="4400" b="1"/>
              <a:t> clock</a:t>
            </a:r>
            <a:r>
              <a:rPr lang="en-AU" sz="4400"/>
              <a:t> can represent:</a:t>
            </a:r>
          </a:p>
          <a:p>
            <a:pPr algn="ctr">
              <a:lnSpc>
                <a:spcPct val="150000"/>
              </a:lnSpc>
              <a:spcBef>
                <a:spcPts val="600"/>
              </a:spcBef>
              <a:spcAft>
                <a:spcPts val="600"/>
              </a:spcAft>
            </a:pPr>
            <a:r>
              <a:rPr lang="en-AU" sz="4400"/>
              <a:t>_____ hours </a:t>
            </a:r>
          </a:p>
          <a:p>
            <a:pPr algn="ctr">
              <a:lnSpc>
                <a:spcPct val="150000"/>
              </a:lnSpc>
              <a:spcBef>
                <a:spcPts val="600"/>
              </a:spcBef>
              <a:spcAft>
                <a:spcPts val="600"/>
              </a:spcAft>
            </a:pPr>
            <a:r>
              <a:rPr lang="en-AU" sz="4400"/>
              <a:t>or ____ minutes</a:t>
            </a:r>
          </a:p>
          <a:p>
            <a:pPr marL="285750" indent="-285750" algn="l">
              <a:buFont typeface="Arial" panose="020B0604020202020204" pitchFamily="34" charset="0"/>
              <a:buChar char="•"/>
            </a:pPr>
            <a:endParaRPr lang="en-AU" sz="1600"/>
          </a:p>
        </p:txBody>
      </p:sp>
      <p:pic>
        <p:nvPicPr>
          <p:cNvPr id="5" name="Picture 4" descr="An analog clock face with no hands.">
            <a:extLst>
              <a:ext uri="{FF2B5EF4-FFF2-40B4-BE49-F238E27FC236}">
                <a16:creationId xmlns:a16="http://schemas.microsoft.com/office/drawing/2014/main" id="{A2191F37-CA59-0FDC-51B2-6207E457A77F}"/>
              </a:ext>
            </a:extLst>
          </p:cNvPr>
          <p:cNvPicPr>
            <a:picLocks noChangeAspect="1"/>
          </p:cNvPicPr>
          <p:nvPr/>
        </p:nvPicPr>
        <p:blipFill>
          <a:blip r:embed="rId4"/>
          <a:stretch>
            <a:fillRect/>
          </a:stretch>
        </p:blipFill>
        <p:spPr>
          <a:xfrm>
            <a:off x="7337540" y="1598727"/>
            <a:ext cx="4146460" cy="4076181"/>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4" name="TextBox 3">
            <a:extLst>
              <a:ext uri="{FF2B5EF4-FFF2-40B4-BE49-F238E27FC236}">
                <a16:creationId xmlns:a16="http://schemas.microsoft.com/office/drawing/2014/main" id="{F20E15AB-856C-BB60-D634-FE245131EC43}"/>
              </a:ext>
            </a:extLst>
          </p:cNvPr>
          <p:cNvSpPr txBox="1"/>
          <p:nvPr/>
        </p:nvSpPr>
        <p:spPr>
          <a:xfrm>
            <a:off x="550724" y="1184223"/>
            <a:ext cx="10573276" cy="1891486"/>
          </a:xfrm>
          <a:prstGeom prst="rect">
            <a:avLst/>
          </a:prstGeom>
          <a:noFill/>
        </p:spPr>
        <p:txBody>
          <a:bodyPr wrap="square" lIns="0" tIns="0" rIns="0" bIns="0" rtlCol="0">
            <a:noAutofit/>
          </a:bodyPr>
          <a:lstStyle/>
          <a:p>
            <a:pPr algn="ctr">
              <a:lnSpc>
                <a:spcPct val="150000"/>
              </a:lnSpc>
            </a:pPr>
            <a:r>
              <a:rPr lang="en-AU" sz="4000"/>
              <a:t>Describe one </a:t>
            </a:r>
            <a:r>
              <a:rPr lang="en-AU" sz="4000" b="1"/>
              <a:t>similarity</a:t>
            </a:r>
            <a:r>
              <a:rPr lang="en-AU" sz="4000"/>
              <a:t> and one </a:t>
            </a:r>
            <a:r>
              <a:rPr lang="en-AU" sz="4000" b="1"/>
              <a:t>difference</a:t>
            </a:r>
            <a:r>
              <a:rPr lang="en-AU" sz="4000"/>
              <a:t> between a </a:t>
            </a:r>
            <a:r>
              <a:rPr lang="en-AU" sz="4000" b="1">
                <a:solidFill>
                  <a:schemeClr val="tx2"/>
                </a:solidFill>
              </a:rPr>
              <a:t>rectangle</a:t>
            </a:r>
            <a:r>
              <a:rPr lang="en-AU" sz="4000"/>
              <a:t> and a </a:t>
            </a:r>
            <a:r>
              <a:rPr lang="en-AU" sz="4000" b="1">
                <a:solidFill>
                  <a:schemeClr val="accent1"/>
                </a:solidFill>
              </a:rPr>
              <a:t>parallelogram</a:t>
            </a:r>
            <a:r>
              <a:rPr lang="en-AU" sz="4000"/>
              <a:t>.</a:t>
            </a:r>
            <a:br>
              <a:rPr lang="en-AU" sz="4000"/>
            </a:br>
            <a:endParaRPr lang="en-AU" sz="4000"/>
          </a:p>
        </p:txBody>
      </p:sp>
      <p:sp>
        <p:nvSpPr>
          <p:cNvPr id="5" name="Rectangle 4" descr="rectangle">
            <a:extLst>
              <a:ext uri="{FF2B5EF4-FFF2-40B4-BE49-F238E27FC236}">
                <a16:creationId xmlns:a16="http://schemas.microsoft.com/office/drawing/2014/main" id="{F1685E8D-FF38-1C17-ADD7-0AC72BA1AC8C}"/>
              </a:ext>
            </a:extLst>
          </p:cNvPr>
          <p:cNvSpPr/>
          <p:nvPr/>
        </p:nvSpPr>
        <p:spPr>
          <a:xfrm>
            <a:off x="716973" y="3553691"/>
            <a:ext cx="4904509" cy="258733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Parallelogram 6" descr="parallelogram">
            <a:extLst>
              <a:ext uri="{FF2B5EF4-FFF2-40B4-BE49-F238E27FC236}">
                <a16:creationId xmlns:a16="http://schemas.microsoft.com/office/drawing/2014/main" id="{DDBBEFA7-6AE3-EEA8-4111-6882B0055498}"/>
              </a:ext>
            </a:extLst>
          </p:cNvPr>
          <p:cNvSpPr/>
          <p:nvPr/>
        </p:nvSpPr>
        <p:spPr>
          <a:xfrm>
            <a:off x="6499418" y="3553691"/>
            <a:ext cx="4975609" cy="2587336"/>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using partitioning to add (1)</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5" name="TextBox 4">
            <a:extLst>
              <a:ext uri="{FF2B5EF4-FFF2-40B4-BE49-F238E27FC236}">
                <a16:creationId xmlns:a16="http://schemas.microsoft.com/office/drawing/2014/main" id="{D593BF28-E9C0-8F27-2663-8CAB336AF3A3}"/>
              </a:ext>
            </a:extLst>
          </p:cNvPr>
          <p:cNvSpPr txBox="1"/>
          <p:nvPr/>
        </p:nvSpPr>
        <p:spPr>
          <a:xfrm>
            <a:off x="3048866" y="1660314"/>
            <a:ext cx="6094268" cy="769441"/>
          </a:xfrm>
          <a:prstGeom prst="rect">
            <a:avLst/>
          </a:prstGeom>
          <a:noFill/>
        </p:spPr>
        <p:txBody>
          <a:bodyPr wrap="square">
            <a:spAutoFit/>
          </a:bodyPr>
          <a:lstStyle/>
          <a:p>
            <a:pPr algn="ctr"/>
            <a:r>
              <a:rPr lang="en-AU" sz="4400">
                <a:effectLst/>
                <a:latin typeface="Arial" panose="020B0604020202020204" pitchFamily="34" charset="0"/>
                <a:ea typeface="Calibri" panose="020F0502020204030204" pitchFamily="34" charset="0"/>
              </a:rPr>
              <a:t>689 + 56 =</a:t>
            </a:r>
            <a:endParaRPr lang="en-AU" sz="4400"/>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AF0B1-41B6-278C-DD4E-D7F001E1403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5C19C3F-EB62-5F7B-7276-B5AD4F7A9AC7}"/>
              </a:ext>
            </a:extLst>
          </p:cNvPr>
          <p:cNvSpPr>
            <a:spLocks noGrp="1"/>
          </p:cNvSpPr>
          <p:nvPr>
            <p:ph type="title"/>
          </p:nvPr>
        </p:nvSpPr>
        <p:spPr>
          <a:xfrm>
            <a:off x="360000" y="360000"/>
            <a:ext cx="10367268" cy="545601"/>
          </a:xfrm>
        </p:spPr>
        <p:txBody>
          <a:bodyPr/>
          <a:lstStyle/>
          <a:p>
            <a:r>
              <a:rPr lang="en-AU"/>
              <a:t>Activity 5 – using partitioning to add (2)</a:t>
            </a:r>
          </a:p>
        </p:txBody>
      </p:sp>
      <p:pic>
        <p:nvPicPr>
          <p:cNvPr id="4" name="Picture 3">
            <a:extLst>
              <a:ext uri="{FF2B5EF4-FFF2-40B4-BE49-F238E27FC236}">
                <a16:creationId xmlns:a16="http://schemas.microsoft.com/office/drawing/2014/main" id="{955324BA-3A02-99E1-0CB1-4AF739D783B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9FFF7FA-7787-5AC8-4B30-00316D703F3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
        <p:nvSpPr>
          <p:cNvPr id="5" name="TextBox 4">
            <a:extLst>
              <a:ext uri="{FF2B5EF4-FFF2-40B4-BE49-F238E27FC236}">
                <a16:creationId xmlns:a16="http://schemas.microsoft.com/office/drawing/2014/main" id="{B7A221A5-D29C-D9E8-E831-F7F2C77A7B6C}"/>
              </a:ext>
            </a:extLst>
          </p:cNvPr>
          <p:cNvSpPr txBox="1"/>
          <p:nvPr/>
        </p:nvSpPr>
        <p:spPr>
          <a:xfrm>
            <a:off x="3048866" y="1660314"/>
            <a:ext cx="6094268" cy="769441"/>
          </a:xfrm>
          <a:prstGeom prst="rect">
            <a:avLst/>
          </a:prstGeom>
          <a:noFill/>
        </p:spPr>
        <p:txBody>
          <a:bodyPr wrap="square">
            <a:spAutoFit/>
          </a:bodyPr>
          <a:lstStyle/>
          <a:p>
            <a:pPr algn="ctr"/>
            <a:r>
              <a:rPr lang="en-AU" sz="4400">
                <a:effectLst/>
                <a:latin typeface="Arial" panose="020B0604020202020204" pitchFamily="34" charset="0"/>
                <a:ea typeface="Calibri" panose="020F0502020204030204" pitchFamily="34" charset="0"/>
              </a:rPr>
              <a:t>549 + 38 = </a:t>
            </a:r>
            <a:endParaRPr lang="en-AU" sz="4400"/>
          </a:p>
        </p:txBody>
      </p:sp>
    </p:spTree>
    <p:extLst>
      <p:ext uri="{BB962C8B-B14F-4D97-AF65-F5344CB8AC3E}">
        <p14:creationId xmlns:p14="http://schemas.microsoft.com/office/powerpoint/2010/main" val="2826642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sp>
        <p:nvSpPr>
          <p:cNvPr id="6" name="Text Placeholder 5">
            <a:extLst>
              <a:ext uri="{FF2B5EF4-FFF2-40B4-BE49-F238E27FC236}">
                <a16:creationId xmlns:a16="http://schemas.microsoft.com/office/drawing/2014/main" id="{B4E45FD3-3CB9-7929-21B5-6CF9A37684C0}"/>
              </a:ext>
              <a:ext uri="{C183D7F6-B498-43B3-948B-1728B52AA6E4}">
                <adec:decorative xmlns:adec="http://schemas.microsoft.com/office/drawing/2017/decorative" val="1"/>
              </a:ext>
            </a:extLst>
          </p:cNvPr>
          <p:cNvSpPr>
            <a:spLocks noGrp="1"/>
          </p:cNvSpPr>
          <p:nvPr>
            <p:ph type="body" sz="quarter" idx="22"/>
          </p:nvPr>
        </p:nvSpPr>
        <p:spPr>
          <a:xfrm>
            <a:off x="474481" y="2231753"/>
            <a:ext cx="11243037" cy="893226"/>
          </a:xfrm>
        </p:spPr>
        <p:txBody>
          <a:bodyPr/>
          <a:lstStyle/>
          <a:p>
            <a:pPr algn="ctr"/>
            <a:r>
              <a:rPr lang="en-AU" sz="5400"/>
              <a:t>471 – 87 = 470 – 86</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950494031"/>
              </p:ext>
            </p:extLst>
          </p:nvPr>
        </p:nvGraphicFramePr>
        <p:xfrm>
          <a:off x="2557462" y="4338829"/>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5" name="Text Placeholder 5">
            <a:extLst>
              <a:ext uri="{FF2B5EF4-FFF2-40B4-BE49-F238E27FC236}">
                <a16:creationId xmlns:a16="http://schemas.microsoft.com/office/drawing/2014/main" id="{E1C36BAA-D526-9B96-30E6-B5A7EC4CA059}"/>
              </a:ext>
            </a:extLst>
          </p:cNvPr>
          <p:cNvSpPr txBox="1">
            <a:spLocks/>
          </p:cNvSpPr>
          <p:nvPr/>
        </p:nvSpPr>
        <p:spPr>
          <a:xfrm>
            <a:off x="474481" y="5344356"/>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4" name="TextBox 3">
            <a:extLst>
              <a:ext uri="{FF2B5EF4-FFF2-40B4-BE49-F238E27FC236}">
                <a16:creationId xmlns:a16="http://schemas.microsoft.com/office/drawing/2014/main" id="{6E0D1EA1-045B-76A7-AB1D-A4577F3755FF}"/>
              </a:ext>
            </a:extLst>
          </p:cNvPr>
          <p:cNvSpPr txBox="1"/>
          <p:nvPr/>
        </p:nvSpPr>
        <p:spPr>
          <a:xfrm>
            <a:off x="360000" y="1123469"/>
            <a:ext cx="6373309" cy="2442764"/>
          </a:xfrm>
          <a:prstGeom prst="rect">
            <a:avLst/>
          </a:prstGeom>
          <a:noFill/>
        </p:spPr>
        <p:txBody>
          <a:bodyPr wrap="square" lIns="0" tIns="0" rIns="0" bIns="0" rtlCol="0">
            <a:noAutofit/>
          </a:bodyPr>
          <a:lstStyle/>
          <a:p>
            <a:pPr>
              <a:lnSpc>
                <a:spcPct val="150000"/>
              </a:lnSpc>
            </a:pPr>
            <a:r>
              <a:rPr lang="en-AU" sz="3600"/>
              <a:t>•	</a:t>
            </a:r>
            <a:r>
              <a:rPr lang="en-AU" sz="4000"/>
              <a:t>describe the </a:t>
            </a:r>
            <a:r>
              <a:rPr lang="en-AU" sz="4000" b="1"/>
              <a:t>area</a:t>
            </a:r>
            <a:r>
              <a:rPr lang="en-AU" sz="4000"/>
              <a:t> using the terms ‘</a:t>
            </a:r>
            <a:r>
              <a:rPr lang="en-AU" sz="4000" b="1"/>
              <a:t>rows</a:t>
            </a:r>
            <a:r>
              <a:rPr lang="en-AU" sz="4000"/>
              <a:t>’, ‘</a:t>
            </a:r>
            <a:r>
              <a:rPr lang="en-AU" sz="4000" b="1"/>
              <a:t>columns</a:t>
            </a:r>
            <a:r>
              <a:rPr lang="en-AU" sz="4000"/>
              <a:t>’ and ‘</a:t>
            </a:r>
            <a:r>
              <a:rPr lang="en-AU" sz="4000" b="1"/>
              <a:t>for each</a:t>
            </a:r>
            <a:r>
              <a:rPr lang="en-AU" sz="4000"/>
              <a:t>’.</a:t>
            </a:r>
          </a:p>
          <a:p>
            <a:pPr>
              <a:lnSpc>
                <a:spcPct val="150000"/>
              </a:lnSpc>
            </a:pPr>
            <a:r>
              <a:rPr lang="en-AU" sz="4000"/>
              <a:t>•	record the </a:t>
            </a:r>
            <a:r>
              <a:rPr lang="en-AU" sz="4000" b="1"/>
              <a:t>area</a:t>
            </a:r>
            <a:r>
              <a:rPr lang="en-AU" sz="4000"/>
              <a:t> in </a:t>
            </a:r>
            <a:r>
              <a:rPr lang="en-AU" sz="4000" b="1"/>
              <a:t>square centimetres</a:t>
            </a:r>
            <a:r>
              <a:rPr lang="en-AU" sz="4000"/>
              <a:t> using </a:t>
            </a:r>
            <a:r>
              <a:rPr lang="en-AU" sz="4000" b="1"/>
              <a:t>numerals</a:t>
            </a:r>
            <a:r>
              <a:rPr lang="en-AU" sz="4000"/>
              <a:t> and </a:t>
            </a:r>
            <a:r>
              <a:rPr lang="en-AU" sz="4000" b="1"/>
              <a:t>words</a:t>
            </a:r>
            <a:r>
              <a:rPr lang="en-AU" sz="4000"/>
              <a:t>.</a:t>
            </a:r>
          </a:p>
        </p:txBody>
      </p:sp>
      <p:pic>
        <p:nvPicPr>
          <p:cNvPr id="7" name="Picture 6" descr="A rectangle on square centimetre grid paper with 5 rows of 7 and an area of 35 square centimetres.">
            <a:extLst>
              <a:ext uri="{FF2B5EF4-FFF2-40B4-BE49-F238E27FC236}">
                <a16:creationId xmlns:a16="http://schemas.microsoft.com/office/drawing/2014/main" id="{D1851016-84C9-7C2B-8607-3FCA5BBA3A88}"/>
              </a:ext>
            </a:extLst>
          </p:cNvPr>
          <p:cNvPicPr>
            <a:picLocks noChangeAspect="1"/>
          </p:cNvPicPr>
          <p:nvPr/>
        </p:nvPicPr>
        <p:blipFill>
          <a:blip r:embed="rId4"/>
          <a:stretch>
            <a:fillRect/>
          </a:stretch>
        </p:blipFill>
        <p:spPr>
          <a:xfrm>
            <a:off x="6991775" y="1374254"/>
            <a:ext cx="4654798" cy="49217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996B0DC6-CD82-09D6-1919-68508E47734E}"/>
              </a:ext>
            </a:extLst>
          </p:cNvPr>
          <p:cNvSpPr txBox="1"/>
          <p:nvPr/>
        </p:nvSpPr>
        <p:spPr>
          <a:xfrm>
            <a:off x="558629" y="1155679"/>
            <a:ext cx="10565371" cy="889462"/>
          </a:xfrm>
          <a:prstGeom prst="rect">
            <a:avLst/>
          </a:prstGeom>
          <a:noFill/>
        </p:spPr>
        <p:txBody>
          <a:bodyPr wrap="square" lIns="0" tIns="0" rIns="0" bIns="0" rtlCol="0">
            <a:noAutofit/>
          </a:bodyPr>
          <a:lstStyle/>
          <a:p>
            <a:pPr algn="ctr"/>
            <a:r>
              <a:rPr lang="en-AU" sz="4400" b="1">
                <a:latin typeface="Arial" panose="020B0604020202020204" pitchFamily="34" charset="0"/>
                <a:cs typeface="Arial" panose="020B0604020202020204" pitchFamily="34" charset="0"/>
              </a:rPr>
              <a:t>Record </a:t>
            </a:r>
            <a:r>
              <a:rPr lang="en-AU" sz="4400">
                <a:latin typeface="Arial" panose="020B0604020202020204" pitchFamily="34" charset="0"/>
                <a:cs typeface="Arial" panose="020B0604020202020204" pitchFamily="34" charset="0"/>
              </a:rPr>
              <a:t>the</a:t>
            </a:r>
            <a:r>
              <a:rPr lang="en-AU" sz="4400" b="1">
                <a:latin typeface="Arial" panose="020B0604020202020204" pitchFamily="34" charset="0"/>
                <a:cs typeface="Arial" panose="020B0604020202020204" pitchFamily="34" charset="0"/>
              </a:rPr>
              <a:t> missing numbers </a:t>
            </a:r>
            <a:r>
              <a:rPr lang="en-AU" sz="4400">
                <a:latin typeface="Arial" panose="020B0604020202020204" pitchFamily="34" charset="0"/>
                <a:cs typeface="Arial" panose="020B0604020202020204" pitchFamily="34" charset="0"/>
              </a:rPr>
              <a:t>to complete the facts for the </a:t>
            </a:r>
            <a:r>
              <a:rPr lang="en-AU" sz="4400" b="1">
                <a:latin typeface="Arial" panose="020B0604020202020204" pitchFamily="34" charset="0"/>
                <a:cs typeface="Arial" panose="020B0604020202020204" pitchFamily="34" charset="0"/>
              </a:rPr>
              <a:t>array</a:t>
            </a:r>
            <a:r>
              <a:rPr lang="en-AU" sz="3600" b="1">
                <a:latin typeface="Arial" panose="020B0604020202020204" pitchFamily="34" charset="0"/>
                <a:cs typeface="Arial" panose="020B0604020202020204" pitchFamily="34" charset="0"/>
              </a:rPr>
              <a:t>.</a:t>
            </a:r>
          </a:p>
        </p:txBody>
      </p:sp>
      <p:pic>
        <p:nvPicPr>
          <p:cNvPr id="11" name="Picture 10" descr="An array - 4 rows of 7.">
            <a:extLst>
              <a:ext uri="{FF2B5EF4-FFF2-40B4-BE49-F238E27FC236}">
                <a16:creationId xmlns:a16="http://schemas.microsoft.com/office/drawing/2014/main" id="{36BD6CDC-1CD2-4C0A-62E0-4E6E40914064}"/>
              </a:ext>
            </a:extLst>
          </p:cNvPr>
          <p:cNvPicPr>
            <a:picLocks noChangeAspect="1"/>
          </p:cNvPicPr>
          <p:nvPr/>
        </p:nvPicPr>
        <p:blipFill>
          <a:blip r:embed="rId4"/>
          <a:stretch>
            <a:fillRect/>
          </a:stretch>
        </p:blipFill>
        <p:spPr>
          <a:xfrm>
            <a:off x="510734" y="3093839"/>
            <a:ext cx="4295098" cy="2656597"/>
          </a:xfrm>
          <a:prstGeom prst="rect">
            <a:avLst/>
          </a:prstGeom>
          <a:ln>
            <a:noFill/>
          </a:ln>
          <a:effectLst>
            <a:outerShdw blurRad="292100" dist="139700" dir="2700000" algn="tl" rotWithShape="0">
              <a:srgbClr val="333333">
                <a:alpha val="65000"/>
              </a:srgbClr>
            </a:outerShdw>
          </a:effectLst>
        </p:spPr>
      </p:pic>
      <p:sp>
        <p:nvSpPr>
          <p:cNvPr id="4" name="Rectangle 3">
            <a:extLst>
              <a:ext uri="{FF2B5EF4-FFF2-40B4-BE49-F238E27FC236}">
                <a16:creationId xmlns:a16="http://schemas.microsoft.com/office/drawing/2014/main" id="{172A21FA-DFBA-3D34-7285-9A95E9830EC8}"/>
              </a:ext>
              <a:ext uri="{C183D7F6-B498-43B3-948B-1728B52AA6E4}">
                <adec:decorative xmlns:adec="http://schemas.microsoft.com/office/drawing/2017/decorative" val="1"/>
              </a:ext>
            </a:extLst>
          </p:cNvPr>
          <p:cNvSpPr/>
          <p:nvPr/>
        </p:nvSpPr>
        <p:spPr>
          <a:xfrm>
            <a:off x="5148072" y="2523744"/>
            <a:ext cx="6455664" cy="4065533"/>
          </a:xfrm>
          <a:prstGeom prst="rect">
            <a:avLst/>
          </a:prstGeom>
          <a:solidFill>
            <a:srgbClr val="EBEBEB">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BE4928BE-75AA-CE50-420A-604FB140EDB2}"/>
              </a:ext>
            </a:extLst>
          </p:cNvPr>
          <p:cNvSpPr txBox="1"/>
          <p:nvPr/>
        </p:nvSpPr>
        <p:spPr>
          <a:xfrm>
            <a:off x="5543634" y="2906060"/>
            <a:ext cx="6590355" cy="889462"/>
          </a:xfrm>
          <a:prstGeom prst="rect">
            <a:avLst/>
          </a:prstGeom>
          <a:noFill/>
        </p:spPr>
        <p:txBody>
          <a:bodyPr wrap="square" lIns="0" tIns="0" rIns="0" bIns="0" rtlCol="0">
            <a:noAutofit/>
          </a:bodyPr>
          <a:lstStyle/>
          <a:p>
            <a:pPr algn="l"/>
            <a:r>
              <a:rPr lang="en-AU" sz="3200">
                <a:latin typeface="Arial" panose="020B0604020202020204" pitchFamily="34" charset="0"/>
                <a:cs typeface="Arial" panose="020B0604020202020204" pitchFamily="34" charset="0"/>
              </a:rPr>
              <a:t>___ rows of ___ is ____ in total.</a:t>
            </a:r>
          </a:p>
        </p:txBody>
      </p:sp>
      <p:sp>
        <p:nvSpPr>
          <p:cNvPr id="9" name="TextBox 8">
            <a:extLst>
              <a:ext uri="{FF2B5EF4-FFF2-40B4-BE49-F238E27FC236}">
                <a16:creationId xmlns:a16="http://schemas.microsoft.com/office/drawing/2014/main" id="{2BB46ACA-1815-FF4D-CB6F-917F55EACE3F}"/>
              </a:ext>
            </a:extLst>
          </p:cNvPr>
          <p:cNvSpPr txBox="1"/>
          <p:nvPr/>
        </p:nvSpPr>
        <p:spPr>
          <a:xfrm>
            <a:off x="5355621" y="4860974"/>
            <a:ext cx="6590355" cy="889462"/>
          </a:xfrm>
          <a:prstGeom prst="rect">
            <a:avLst/>
          </a:prstGeom>
          <a:noFill/>
        </p:spPr>
        <p:txBody>
          <a:bodyPr wrap="square" lIns="0" tIns="0" rIns="0" bIns="0" rtlCol="0">
            <a:noAutofit/>
          </a:bodyPr>
          <a:lstStyle/>
          <a:p>
            <a:pPr algn="l"/>
            <a:r>
              <a:rPr lang="en-AU" sz="3200">
                <a:latin typeface="Arial" panose="020B0604020202020204" pitchFamily="34" charset="0"/>
                <a:cs typeface="Arial" panose="020B0604020202020204" pitchFamily="34" charset="0"/>
              </a:rPr>
              <a:t>____ shared into___ rows is___.</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5" name="Slide Number Placeholder 1">
            <a:extLst>
              <a:ext uri="{FF2B5EF4-FFF2-40B4-BE49-F238E27FC236}">
                <a16:creationId xmlns:a16="http://schemas.microsoft.com/office/drawing/2014/main" id="{029318AB-8CC5-00F9-6739-71027EA3D0C2}"/>
              </a:ext>
              <a:ext uri="{C183D7F6-B498-43B3-948B-1728B52AA6E4}">
                <adec:decorative xmlns:adec="http://schemas.microsoft.com/office/drawing/2017/decorative" val="1"/>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43</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4" name="TextBox 3">
            <a:extLst>
              <a:ext uri="{FF2B5EF4-FFF2-40B4-BE49-F238E27FC236}">
                <a16:creationId xmlns:a16="http://schemas.microsoft.com/office/drawing/2014/main" id="{ED41103F-CCB4-D751-B189-5CC2F0576CBD}"/>
              </a:ext>
            </a:extLst>
          </p:cNvPr>
          <p:cNvSpPr txBox="1"/>
          <p:nvPr/>
        </p:nvSpPr>
        <p:spPr>
          <a:xfrm>
            <a:off x="495300" y="1173672"/>
            <a:ext cx="11201400" cy="545602"/>
          </a:xfrm>
          <a:prstGeom prst="rect">
            <a:avLst/>
          </a:prstGeom>
          <a:noFill/>
        </p:spPr>
        <p:txBody>
          <a:bodyPr wrap="square" lIns="0" tIns="0" rIns="0" bIns="0" rtlCol="0">
            <a:noAutofit/>
          </a:bodyPr>
          <a:lstStyle/>
          <a:p>
            <a:pPr algn="ctr"/>
            <a:r>
              <a:rPr lang="en-AU" sz="4400"/>
              <a:t>Match the </a:t>
            </a:r>
            <a:r>
              <a:rPr lang="en-AU" sz="4400" b="1"/>
              <a:t>digital times </a:t>
            </a:r>
            <a:r>
              <a:rPr lang="en-AU" sz="4400"/>
              <a:t>to the nearest benchmark </a:t>
            </a:r>
            <a:r>
              <a:rPr lang="en-AU" sz="4400" b="1"/>
              <a:t>5-minute interval</a:t>
            </a:r>
            <a:r>
              <a:rPr lang="en-AU" sz="4400"/>
              <a:t>:</a:t>
            </a:r>
          </a:p>
        </p:txBody>
      </p:sp>
      <p:sp>
        <p:nvSpPr>
          <p:cNvPr id="5" name="TextBox 4">
            <a:extLst>
              <a:ext uri="{FF2B5EF4-FFF2-40B4-BE49-F238E27FC236}">
                <a16:creationId xmlns:a16="http://schemas.microsoft.com/office/drawing/2014/main" id="{41D6AA9F-8353-227E-22AE-E5E9DE27555C}"/>
              </a:ext>
            </a:extLst>
          </p:cNvPr>
          <p:cNvSpPr txBox="1"/>
          <p:nvPr/>
        </p:nvSpPr>
        <p:spPr>
          <a:xfrm>
            <a:off x="680699" y="3148778"/>
            <a:ext cx="4759037" cy="4197927"/>
          </a:xfrm>
          <a:prstGeom prst="rect">
            <a:avLst/>
          </a:prstGeom>
          <a:noFill/>
        </p:spPr>
        <p:txBody>
          <a:bodyPr wrap="square" lIns="0" tIns="0" rIns="0" bIns="0" rtlCol="0">
            <a:noAutofit/>
          </a:bodyPr>
          <a:lstStyle/>
          <a:p>
            <a:pPr marL="342900" indent="-342900" algn="l">
              <a:lnSpc>
                <a:spcPct val="150000"/>
              </a:lnSpc>
              <a:buFont typeface="+mj-lt"/>
              <a:buAutoNum type="alphaLcParenR"/>
            </a:pPr>
            <a:r>
              <a:rPr lang="en-AU" sz="4000"/>
              <a:t> 4:19</a:t>
            </a:r>
          </a:p>
          <a:p>
            <a:pPr marL="342900" indent="-342900" algn="l">
              <a:lnSpc>
                <a:spcPct val="150000"/>
              </a:lnSpc>
              <a:buFont typeface="+mj-lt"/>
              <a:buAutoNum type="alphaLcParenR"/>
            </a:pPr>
            <a:r>
              <a:rPr lang="en-AU" sz="4000"/>
              <a:t> 7:43</a:t>
            </a:r>
          </a:p>
          <a:p>
            <a:pPr marL="342900" indent="-342900" algn="l">
              <a:lnSpc>
                <a:spcPct val="150000"/>
              </a:lnSpc>
              <a:buFont typeface="+mj-lt"/>
              <a:buAutoNum type="alphaLcParenR"/>
            </a:pPr>
            <a:r>
              <a:rPr lang="en-AU" sz="4000"/>
              <a:t> 6:51</a:t>
            </a:r>
          </a:p>
        </p:txBody>
      </p:sp>
      <p:sp>
        <p:nvSpPr>
          <p:cNvPr id="7" name="TextBox 6">
            <a:extLst>
              <a:ext uri="{FF2B5EF4-FFF2-40B4-BE49-F238E27FC236}">
                <a16:creationId xmlns:a16="http://schemas.microsoft.com/office/drawing/2014/main" id="{02B6285D-F48E-E5DB-5188-66993791D9BB}"/>
              </a:ext>
            </a:extLst>
          </p:cNvPr>
          <p:cNvSpPr txBox="1"/>
          <p:nvPr/>
        </p:nvSpPr>
        <p:spPr>
          <a:xfrm>
            <a:off x="6445721" y="3039763"/>
            <a:ext cx="6404264" cy="4197927"/>
          </a:xfrm>
          <a:prstGeom prst="rect">
            <a:avLst/>
          </a:prstGeom>
          <a:noFill/>
        </p:spPr>
        <p:txBody>
          <a:bodyPr wrap="square" lIns="0" tIns="0" rIns="0" bIns="0" rtlCol="0">
            <a:noAutofit/>
          </a:bodyPr>
          <a:lstStyle/>
          <a:p>
            <a:pPr marL="742950" indent="-742950">
              <a:lnSpc>
                <a:spcPct val="150000"/>
              </a:lnSpc>
              <a:buFont typeface="+mj-lt"/>
              <a:buAutoNum type="arabicPeriod"/>
            </a:pPr>
            <a:r>
              <a:rPr lang="en-AU" sz="4000"/>
              <a:t>ten-to seven</a:t>
            </a:r>
          </a:p>
          <a:p>
            <a:pPr marL="742950" indent="-742950" algn="l">
              <a:lnSpc>
                <a:spcPct val="150000"/>
              </a:lnSpc>
              <a:buFont typeface="+mj-lt"/>
              <a:buAutoNum type="arabicPeriod"/>
            </a:pPr>
            <a:r>
              <a:rPr lang="en-AU" sz="4000"/>
              <a:t>twenty-past four</a:t>
            </a:r>
          </a:p>
          <a:p>
            <a:pPr marL="742950" indent="-742950" algn="l">
              <a:lnSpc>
                <a:spcPct val="150000"/>
              </a:lnSpc>
              <a:buFont typeface="+mj-lt"/>
              <a:buAutoNum type="arabicPeriod"/>
            </a:pPr>
            <a:r>
              <a:rPr lang="en-AU" sz="4000"/>
              <a:t>quarter-to eight.</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68CC4B1-FBC2-412E-5EDC-270D4C5B2729}"/>
              </a:ext>
            </a:extLst>
          </p:cNvPr>
          <p:cNvSpPr txBox="1"/>
          <p:nvPr/>
        </p:nvSpPr>
        <p:spPr>
          <a:xfrm>
            <a:off x="564952" y="1047747"/>
            <a:ext cx="10764000" cy="1651671"/>
          </a:xfrm>
          <a:prstGeom prst="rect">
            <a:avLst/>
          </a:prstGeom>
          <a:noFill/>
        </p:spPr>
        <p:txBody>
          <a:bodyPr wrap="square">
            <a:spAutoFit/>
          </a:bodyPr>
          <a:lstStyle/>
          <a:p>
            <a:pPr algn="ctr">
              <a:lnSpc>
                <a:spcPct val="150000"/>
              </a:lnSpc>
            </a:pPr>
            <a:r>
              <a:rPr lang="en-AU" sz="3600" b="0" i="0" dirty="0">
                <a:solidFill>
                  <a:srgbClr val="000000"/>
                </a:solidFill>
                <a:effectLst/>
              </a:rPr>
              <a:t>A </a:t>
            </a:r>
            <a:r>
              <a:rPr lang="en-AU" sz="3600" b="1" dirty="0"/>
              <a:t>pyramid</a:t>
            </a:r>
            <a:r>
              <a:rPr lang="en-AU" sz="3600" b="1" i="0" dirty="0">
                <a:effectLst/>
              </a:rPr>
              <a:t> </a:t>
            </a:r>
            <a:r>
              <a:rPr lang="en-AU" sz="3600" i="0" dirty="0">
                <a:effectLst/>
              </a:rPr>
              <a:t>and a</a:t>
            </a:r>
            <a:r>
              <a:rPr lang="en-AU" sz="3600" b="1" i="0" dirty="0">
                <a:effectLst/>
              </a:rPr>
              <a:t> prism </a:t>
            </a:r>
            <a:r>
              <a:rPr lang="en-AU" sz="3600" b="0" i="0" dirty="0">
                <a:solidFill>
                  <a:srgbClr val="000000"/>
                </a:solidFill>
                <a:effectLst/>
              </a:rPr>
              <a:t>are both three-dimensional objects. Describe one way they are </a:t>
            </a:r>
            <a:r>
              <a:rPr lang="en-AU" sz="3600" b="1" i="0" dirty="0">
                <a:solidFill>
                  <a:srgbClr val="000000"/>
                </a:solidFill>
                <a:effectLst/>
              </a:rPr>
              <a:t>different</a:t>
            </a:r>
            <a:r>
              <a:rPr lang="en-AU" sz="3600" b="0" i="0" dirty="0">
                <a:solidFill>
                  <a:srgbClr val="000000"/>
                </a:solidFill>
                <a:effectLst/>
              </a:rPr>
              <a:t>.</a:t>
            </a:r>
            <a:endParaRPr lang="en-AU" sz="3600" dirty="0"/>
          </a:p>
        </p:txBody>
      </p:sp>
      <p:sp>
        <p:nvSpPr>
          <p:cNvPr id="10" name="TextBox 9">
            <a:extLst>
              <a:ext uri="{FF2B5EF4-FFF2-40B4-BE49-F238E27FC236}">
                <a16:creationId xmlns:a16="http://schemas.microsoft.com/office/drawing/2014/main" id="{F2E5B4A0-5AA1-B5A7-E671-1708632DCF35}"/>
              </a:ext>
            </a:extLst>
          </p:cNvPr>
          <p:cNvSpPr txBox="1"/>
          <p:nvPr/>
        </p:nvSpPr>
        <p:spPr>
          <a:xfrm>
            <a:off x="1157721" y="3304429"/>
            <a:ext cx="6094268" cy="646331"/>
          </a:xfrm>
          <a:prstGeom prst="rect">
            <a:avLst/>
          </a:prstGeom>
          <a:noFill/>
        </p:spPr>
        <p:txBody>
          <a:bodyPr wrap="square">
            <a:spAutoFit/>
          </a:bodyPr>
          <a:lstStyle/>
          <a:p>
            <a:r>
              <a:rPr lang="en-AU" sz="3600" dirty="0"/>
              <a:t>pyramid</a:t>
            </a:r>
          </a:p>
        </p:txBody>
      </p:sp>
      <p:sp>
        <p:nvSpPr>
          <p:cNvPr id="8" name="Freeform 3" descr="pyramid">
            <a:extLst>
              <a:ext uri="{FF2B5EF4-FFF2-40B4-BE49-F238E27FC236}">
                <a16:creationId xmlns:a16="http://schemas.microsoft.com/office/drawing/2014/main" id="{6F2B61B5-3517-BF85-4014-A874F5B0B219}"/>
              </a:ext>
            </a:extLst>
          </p:cNvPr>
          <p:cNvSpPr/>
          <p:nvPr/>
        </p:nvSpPr>
        <p:spPr>
          <a:xfrm>
            <a:off x="2359856" y="3429000"/>
            <a:ext cx="2831220" cy="3024000"/>
          </a:xfrm>
          <a:custGeom>
            <a:avLst/>
            <a:gdLst/>
            <a:ahLst/>
            <a:cxnLst/>
            <a:rect l="l" t="t" r="r" b="b"/>
            <a:pathLst>
              <a:path w="2831220" h="3024000">
                <a:moveTo>
                  <a:pt x="0" y="0"/>
                </a:moveTo>
                <a:lnTo>
                  <a:pt x="2831220" y="0"/>
                </a:lnTo>
                <a:lnTo>
                  <a:pt x="2831220" y="3024000"/>
                </a:lnTo>
                <a:lnTo>
                  <a:pt x="0" y="30240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1" name="TextBox 10">
            <a:extLst>
              <a:ext uri="{FF2B5EF4-FFF2-40B4-BE49-F238E27FC236}">
                <a16:creationId xmlns:a16="http://schemas.microsoft.com/office/drawing/2014/main" id="{8647AA7E-F6A1-41C2-C1DA-2C95982D08CC}"/>
              </a:ext>
            </a:extLst>
          </p:cNvPr>
          <p:cNvSpPr txBox="1"/>
          <p:nvPr/>
        </p:nvSpPr>
        <p:spPr>
          <a:xfrm>
            <a:off x="6702136" y="3301391"/>
            <a:ext cx="6094268" cy="646331"/>
          </a:xfrm>
          <a:prstGeom prst="rect">
            <a:avLst/>
          </a:prstGeom>
          <a:noFill/>
        </p:spPr>
        <p:txBody>
          <a:bodyPr wrap="square">
            <a:spAutoFit/>
          </a:bodyPr>
          <a:lstStyle/>
          <a:p>
            <a:r>
              <a:rPr lang="en-AU" sz="3600" dirty="0"/>
              <a:t> prism</a:t>
            </a:r>
          </a:p>
        </p:txBody>
      </p:sp>
      <p:sp>
        <p:nvSpPr>
          <p:cNvPr id="7" name="Freeform 2" descr="prism">
            <a:extLst>
              <a:ext uri="{FF2B5EF4-FFF2-40B4-BE49-F238E27FC236}">
                <a16:creationId xmlns:a16="http://schemas.microsoft.com/office/drawing/2014/main" id="{3A4AB89E-7614-7D4D-07F0-72131EDC8259}"/>
              </a:ext>
            </a:extLst>
          </p:cNvPr>
          <p:cNvSpPr/>
          <p:nvPr/>
        </p:nvSpPr>
        <p:spPr>
          <a:xfrm>
            <a:off x="6702136" y="4374573"/>
            <a:ext cx="3765359" cy="1901050"/>
          </a:xfrm>
          <a:custGeom>
            <a:avLst/>
            <a:gdLst/>
            <a:ahLst/>
            <a:cxnLst/>
            <a:rect l="l" t="t" r="r" b="b"/>
            <a:pathLst>
              <a:path w="4276800" h="2159784">
                <a:moveTo>
                  <a:pt x="0" y="0"/>
                </a:moveTo>
                <a:lnTo>
                  <a:pt x="4276800" y="0"/>
                </a:lnTo>
                <a:lnTo>
                  <a:pt x="4276800" y="2159784"/>
                </a:lnTo>
                <a:lnTo>
                  <a:pt x="0" y="21597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using constant difference to subtract (1)</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
        <p:nvSpPr>
          <p:cNvPr id="5" name="TextBox 4">
            <a:extLst>
              <a:ext uri="{FF2B5EF4-FFF2-40B4-BE49-F238E27FC236}">
                <a16:creationId xmlns:a16="http://schemas.microsoft.com/office/drawing/2014/main" id="{F012F5B7-EF81-578F-813D-F18943D5ABC1}"/>
              </a:ext>
            </a:extLst>
          </p:cNvPr>
          <p:cNvSpPr txBox="1"/>
          <p:nvPr/>
        </p:nvSpPr>
        <p:spPr>
          <a:xfrm>
            <a:off x="2964007" y="1577186"/>
            <a:ext cx="6094268" cy="769441"/>
          </a:xfrm>
          <a:prstGeom prst="rect">
            <a:avLst/>
          </a:prstGeom>
          <a:noFill/>
        </p:spPr>
        <p:txBody>
          <a:bodyPr wrap="square">
            <a:spAutoFit/>
          </a:bodyPr>
          <a:lstStyle/>
          <a:p>
            <a:pPr algn="ctr"/>
            <a:r>
              <a:rPr lang="en-AU" sz="4400">
                <a:effectLst/>
                <a:latin typeface="Arial" panose="020B0604020202020204" pitchFamily="34" charset="0"/>
                <a:ea typeface="Calibri" panose="020F0502020204030204" pitchFamily="34" charset="0"/>
              </a:rPr>
              <a:t>352 – 98 = </a:t>
            </a:r>
            <a:endParaRPr lang="en-AU" sz="4400"/>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B0C48-68F1-C231-6A36-C06815DAE5B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C68412B-4339-A918-1044-BF27740DFEC6}"/>
              </a:ext>
            </a:extLst>
          </p:cNvPr>
          <p:cNvSpPr>
            <a:spLocks noGrp="1"/>
          </p:cNvSpPr>
          <p:nvPr>
            <p:ph type="title"/>
          </p:nvPr>
        </p:nvSpPr>
        <p:spPr>
          <a:xfrm>
            <a:off x="360000" y="360000"/>
            <a:ext cx="10367268" cy="545601"/>
          </a:xfrm>
        </p:spPr>
        <p:txBody>
          <a:bodyPr/>
          <a:lstStyle/>
          <a:p>
            <a:r>
              <a:rPr lang="en-AU"/>
              <a:t>Activity 6 – using constant difference to subtract (2)</a:t>
            </a:r>
          </a:p>
        </p:txBody>
      </p:sp>
      <p:pic>
        <p:nvPicPr>
          <p:cNvPr id="4" name="Picture 3">
            <a:extLst>
              <a:ext uri="{FF2B5EF4-FFF2-40B4-BE49-F238E27FC236}">
                <a16:creationId xmlns:a16="http://schemas.microsoft.com/office/drawing/2014/main" id="{B2BF2F15-E782-0CEC-61B4-2EE17E38688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1F19102C-3707-8AAC-E572-8CA71F17055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pic>
        <p:nvPicPr>
          <p:cNvPr id="3" name="Picture 2" descr="0–119 grid chart with words and numbers.">
            <a:extLst>
              <a:ext uri="{FF2B5EF4-FFF2-40B4-BE49-F238E27FC236}">
                <a16:creationId xmlns:a16="http://schemas.microsoft.com/office/drawing/2014/main" id="{86DD4E3D-8AFF-7C75-D216-09C96F352E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7441" y="922047"/>
            <a:ext cx="4634345" cy="5773953"/>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95206509-2C51-1CBB-6CAA-CDB5FEF8BB7A}"/>
              </a:ext>
            </a:extLst>
          </p:cNvPr>
          <p:cNvSpPr txBox="1"/>
          <p:nvPr/>
        </p:nvSpPr>
        <p:spPr>
          <a:xfrm>
            <a:off x="6250215" y="6170454"/>
            <a:ext cx="6094268" cy="307777"/>
          </a:xfrm>
          <a:prstGeom prst="rect">
            <a:avLst/>
          </a:prstGeom>
          <a:noFill/>
        </p:spPr>
        <p:txBody>
          <a:bodyPr wrap="square">
            <a:spAutoFit/>
          </a:bodyPr>
          <a:lstStyle/>
          <a:p>
            <a:r>
              <a:rPr lang="en-AU" sz="1400" kern="1200">
                <a:solidFill>
                  <a:schemeClr val="tx1"/>
                </a:solidFill>
                <a:effectLst/>
                <a:latin typeface="Arial" panose="020B0604020202020204" pitchFamily="34" charset="0"/>
                <a:ea typeface="+mn-ea"/>
                <a:cs typeface="Arial" panose="020B0604020202020204" pitchFamily="34" charset="0"/>
              </a:rPr>
              <a:t>Access a high resolution copy of Resource 7 from </a:t>
            </a:r>
            <a:r>
              <a:rPr lang="en-AU" sz="1400" u="sng" kern="1200">
                <a:solidFill>
                  <a:schemeClr val="tx1"/>
                </a:solidFill>
                <a:effectLst/>
                <a:latin typeface="Arial" panose="020B0604020202020204" pitchFamily="34" charset="0"/>
                <a:ea typeface="+mn-ea"/>
                <a:cs typeface="Arial" panose="020B0604020202020204" pitchFamily="34" charset="0"/>
                <a:hlinkClick r:id="rId5"/>
              </a:rPr>
              <a:t>0–119 hundreds chart</a:t>
            </a:r>
            <a:r>
              <a:rPr lang="en-AU" sz="1400" u="sng" kern="1200">
                <a:solidFill>
                  <a:schemeClr val="tx1"/>
                </a:solidFill>
                <a:effectLst/>
                <a:latin typeface="Arial" panose="020B0604020202020204" pitchFamily="34" charset="0"/>
                <a:ea typeface="+mn-ea"/>
                <a:cs typeface="Arial" panose="020B0604020202020204" pitchFamily="34" charset="0"/>
                <a:hlinkClick r:id="rId6"/>
              </a:rPr>
              <a:t>.</a:t>
            </a:r>
            <a:endParaRPr lang="en-AU" sz="1400" b="1"/>
          </a:p>
        </p:txBody>
      </p:sp>
    </p:spTree>
    <p:extLst>
      <p:ext uri="{BB962C8B-B14F-4D97-AF65-F5344CB8AC3E}">
        <p14:creationId xmlns:p14="http://schemas.microsoft.com/office/powerpoint/2010/main" val="3699476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278403" y="1064118"/>
            <a:ext cx="11243037" cy="754243"/>
          </a:xfrm>
        </p:spPr>
        <p:txBody>
          <a:bodyPr/>
          <a:lstStyle/>
          <a:p>
            <a:pPr algn="ctr"/>
            <a:r>
              <a:rPr lang="en-US" sz="3600"/>
              <a:t>Which </a:t>
            </a:r>
            <a:r>
              <a:rPr lang="en-US" sz="3600" b="1"/>
              <a:t>strategy</a:t>
            </a:r>
            <a:r>
              <a:rPr lang="en-US" sz="3600"/>
              <a:t> do you consider the most efficient for accurately solving </a:t>
            </a:r>
            <a:r>
              <a:rPr lang="en-US" sz="3600" b="1"/>
              <a:t>478 + 67</a:t>
            </a:r>
            <a:r>
              <a:rPr lang="en-US" sz="3600"/>
              <a:t>?</a:t>
            </a:r>
          </a:p>
        </p:txBody>
      </p:sp>
      <p:sp>
        <p:nvSpPr>
          <p:cNvPr id="9" name="B">
            <a:extLst>
              <a:ext uri="{FF2B5EF4-FFF2-40B4-BE49-F238E27FC236}">
                <a16:creationId xmlns:a16="http://schemas.microsoft.com/office/drawing/2014/main" id="{C9B406B5-1B1B-BC84-2596-01F05852F38E}"/>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45520" y="2877704"/>
            <a:ext cx="10175920" cy="641396"/>
          </a:xfrm>
        </p:spPr>
        <p:txBody>
          <a:bodyPr anchor="ctr"/>
          <a:lstStyle/>
          <a:p>
            <a:r>
              <a:rPr lang="en-US" sz="2400"/>
              <a:t>Record and solve 478 + 67 using an algorithm</a:t>
            </a:r>
          </a:p>
        </p:txBody>
      </p:sp>
      <p:sp>
        <p:nvSpPr>
          <p:cNvPr id="10" name="B">
            <a:extLst>
              <a:ext uri="{FF2B5EF4-FFF2-40B4-BE49-F238E27FC236}">
                <a16:creationId xmlns:a16="http://schemas.microsoft.com/office/drawing/2014/main" id="{E50622FB-E2C3-695B-EB8A-A6DCC20CB21A}"/>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45520" y="3725617"/>
            <a:ext cx="10175920" cy="641396"/>
          </a:xfrm>
        </p:spPr>
        <p:txBody>
          <a:bodyPr anchor="ctr"/>
          <a:lstStyle/>
          <a:p>
            <a:r>
              <a:rPr lang="en-US" sz="2400"/>
              <a:t>478 + 22 = 500, 500 + 45 = 545 </a:t>
            </a:r>
          </a:p>
        </p:txBody>
      </p:sp>
      <p:sp>
        <p:nvSpPr>
          <p:cNvPr id="12" name="C">
            <a:extLst>
              <a:ext uri="{FF2B5EF4-FFF2-40B4-BE49-F238E27FC236}">
                <a16:creationId xmlns:a16="http://schemas.microsoft.com/office/drawing/2014/main" id="{0C258EAC-2959-18FA-F510-CFBA4E15CEE5}"/>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45520" y="4575670"/>
            <a:ext cx="10175920" cy="641396"/>
          </a:xfrm>
        </p:spPr>
        <p:txBody>
          <a:bodyPr anchor="ctr"/>
          <a:lstStyle/>
          <a:p>
            <a:r>
              <a:rPr lang="en-US" sz="2400"/>
              <a:t>478 + 2 = 480, 480 + 20 = 500, 500 + 40 = 540, 540 + 5 = 545</a:t>
            </a:r>
          </a:p>
        </p:txBody>
      </p:sp>
      <p:sp>
        <p:nvSpPr>
          <p:cNvPr id="11" name="D">
            <a:extLst>
              <a:ext uri="{FF2B5EF4-FFF2-40B4-BE49-F238E27FC236}">
                <a16:creationId xmlns:a16="http://schemas.microsoft.com/office/drawing/2014/main" id="{14776889-F079-73F7-28AB-FA54A997A57B}"/>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345520" y="5425723"/>
            <a:ext cx="10175920" cy="641396"/>
          </a:xfrm>
        </p:spPr>
        <p:txBody>
          <a:bodyPr anchor="ctr"/>
          <a:lstStyle/>
          <a:p>
            <a:r>
              <a:rPr lang="en-US" sz="2400"/>
              <a:t>Estimate the answer.</a:t>
            </a:r>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13" name="Group 12" descr="Images of a basketball court, book cover and classroom.">
            <a:extLst>
              <a:ext uri="{FF2B5EF4-FFF2-40B4-BE49-F238E27FC236}">
                <a16:creationId xmlns:a16="http://schemas.microsoft.com/office/drawing/2014/main" id="{EB4E9496-CE19-F659-B1AE-E04382EBC18E}"/>
              </a:ext>
            </a:extLst>
          </p:cNvPr>
          <p:cNvGrpSpPr/>
          <p:nvPr/>
        </p:nvGrpSpPr>
        <p:grpSpPr>
          <a:xfrm>
            <a:off x="1380404" y="3601847"/>
            <a:ext cx="9098246" cy="2896153"/>
            <a:chOff x="758536" y="710253"/>
            <a:chExt cx="10271940" cy="3636818"/>
          </a:xfrm>
        </p:grpSpPr>
        <p:grpSp>
          <p:nvGrpSpPr>
            <p:cNvPr id="12" name="Group 11">
              <a:extLst>
                <a:ext uri="{FF2B5EF4-FFF2-40B4-BE49-F238E27FC236}">
                  <a16:creationId xmlns:a16="http://schemas.microsoft.com/office/drawing/2014/main" id="{35DFE45A-4F02-D9FA-DEC0-8328E8641E0D}"/>
                </a:ext>
              </a:extLst>
            </p:cNvPr>
            <p:cNvGrpSpPr/>
            <p:nvPr/>
          </p:nvGrpSpPr>
          <p:grpSpPr>
            <a:xfrm>
              <a:off x="758536" y="767680"/>
              <a:ext cx="6900151" cy="3471811"/>
              <a:chOff x="758536" y="767680"/>
              <a:chExt cx="6900151" cy="3471811"/>
            </a:xfrm>
          </p:grpSpPr>
          <p:pic>
            <p:nvPicPr>
              <p:cNvPr id="7" name="Picture 6">
                <a:extLst>
                  <a:ext uri="{FF2B5EF4-FFF2-40B4-BE49-F238E27FC236}">
                    <a16:creationId xmlns:a16="http://schemas.microsoft.com/office/drawing/2014/main" id="{5DF5B7D5-EA81-9F55-2048-6534308410ED}"/>
                  </a:ext>
                </a:extLst>
              </p:cNvPr>
              <p:cNvPicPr>
                <a:picLocks noChangeAspect="1"/>
              </p:cNvPicPr>
              <p:nvPr/>
            </p:nvPicPr>
            <p:blipFill>
              <a:blip r:embed="rId4"/>
              <a:stretch>
                <a:fillRect/>
              </a:stretch>
            </p:blipFill>
            <p:spPr>
              <a:xfrm>
                <a:off x="758536" y="884589"/>
                <a:ext cx="3450076" cy="3354902"/>
              </a:xfrm>
              <a:prstGeom prst="rect">
                <a:avLst/>
              </a:prstGeom>
            </p:spPr>
          </p:pic>
          <p:pic>
            <p:nvPicPr>
              <p:cNvPr id="9" name="Picture 8">
                <a:extLst>
                  <a:ext uri="{FF2B5EF4-FFF2-40B4-BE49-F238E27FC236}">
                    <a16:creationId xmlns:a16="http://schemas.microsoft.com/office/drawing/2014/main" id="{F9ED3D8E-635E-8473-8F18-C4D7354C79DF}"/>
                  </a:ext>
                </a:extLst>
              </p:cNvPr>
              <p:cNvPicPr>
                <a:picLocks noChangeAspect="1"/>
              </p:cNvPicPr>
              <p:nvPr/>
            </p:nvPicPr>
            <p:blipFill>
              <a:blip r:embed="rId5"/>
              <a:stretch>
                <a:fillRect/>
              </a:stretch>
            </p:blipFill>
            <p:spPr>
              <a:xfrm>
                <a:off x="4208612" y="767680"/>
                <a:ext cx="3450075" cy="3414384"/>
              </a:xfrm>
              <a:prstGeom prst="rect">
                <a:avLst/>
              </a:prstGeom>
            </p:spPr>
          </p:pic>
        </p:grpSp>
        <p:pic>
          <p:nvPicPr>
            <p:cNvPr id="11" name="Picture 10">
              <a:extLst>
                <a:ext uri="{FF2B5EF4-FFF2-40B4-BE49-F238E27FC236}">
                  <a16:creationId xmlns:a16="http://schemas.microsoft.com/office/drawing/2014/main" id="{10048AAC-048C-BE24-46CB-CE76A8D5875D}"/>
                </a:ext>
              </a:extLst>
            </p:cNvPr>
            <p:cNvPicPr>
              <a:picLocks noChangeAspect="1"/>
            </p:cNvPicPr>
            <p:nvPr/>
          </p:nvPicPr>
          <p:blipFill>
            <a:blip r:embed="rId6"/>
            <a:stretch>
              <a:fillRect/>
            </a:stretch>
          </p:blipFill>
          <p:spPr>
            <a:xfrm>
              <a:off x="7338167" y="710253"/>
              <a:ext cx="3692309" cy="3636818"/>
            </a:xfrm>
            <a:prstGeom prst="rect">
              <a:avLst/>
            </a:prstGeom>
          </p:spPr>
        </p:pic>
      </p:grpSp>
      <p:sp>
        <p:nvSpPr>
          <p:cNvPr id="4" name="TextBox 3">
            <a:extLst>
              <a:ext uri="{FF2B5EF4-FFF2-40B4-BE49-F238E27FC236}">
                <a16:creationId xmlns:a16="http://schemas.microsoft.com/office/drawing/2014/main" id="{0952C897-7EF4-A915-4D33-D5A3FA6020D3}"/>
              </a:ext>
            </a:extLst>
          </p:cNvPr>
          <p:cNvSpPr txBox="1"/>
          <p:nvPr/>
        </p:nvSpPr>
        <p:spPr>
          <a:xfrm>
            <a:off x="360000" y="1060267"/>
            <a:ext cx="11139054" cy="1997887"/>
          </a:xfrm>
          <a:prstGeom prst="rect">
            <a:avLst/>
          </a:prstGeom>
          <a:noFill/>
        </p:spPr>
        <p:txBody>
          <a:bodyPr wrap="square" lIns="0" tIns="0" rIns="0" bIns="0" rtlCol="0">
            <a:noAutofit/>
          </a:bodyPr>
          <a:lstStyle/>
          <a:p>
            <a:pPr algn="ctr">
              <a:lnSpc>
                <a:spcPct val="150000"/>
              </a:lnSpc>
            </a:pPr>
            <a:r>
              <a:rPr lang="en-AU" sz="3200"/>
              <a:t>For each object, record whether you would measure its </a:t>
            </a:r>
            <a:r>
              <a:rPr lang="en-AU" sz="3200" b="1"/>
              <a:t>area</a:t>
            </a:r>
            <a:r>
              <a:rPr lang="en-AU" sz="3200"/>
              <a:t> in </a:t>
            </a:r>
            <a:r>
              <a:rPr lang="en-AU" sz="3200" b="1"/>
              <a:t>square centimetres </a:t>
            </a:r>
            <a:r>
              <a:rPr lang="en-AU" sz="3200"/>
              <a:t>or </a:t>
            </a:r>
            <a:r>
              <a:rPr lang="en-AU" sz="3200" b="1"/>
              <a:t>square metres</a:t>
            </a:r>
            <a:r>
              <a:rPr lang="en-AU" sz="3200"/>
              <a:t>.</a:t>
            </a:r>
          </a:p>
          <a:p>
            <a:pPr algn="ctr">
              <a:lnSpc>
                <a:spcPct val="150000"/>
              </a:lnSpc>
            </a:pPr>
            <a:r>
              <a:rPr lang="en-AU" sz="3200" b="1"/>
              <a:t>Communicate</a:t>
            </a:r>
            <a:r>
              <a:rPr lang="en-AU" sz="3200"/>
              <a:t> your </a:t>
            </a:r>
            <a:r>
              <a:rPr lang="en-AU" sz="3200" b="1"/>
              <a:t>reasoning</a:t>
            </a:r>
            <a:r>
              <a:rPr lang="en-AU" sz="3200"/>
              <a:t>.</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4" name="TextBox 3">
            <a:extLst>
              <a:ext uri="{FF2B5EF4-FFF2-40B4-BE49-F238E27FC236}">
                <a16:creationId xmlns:a16="http://schemas.microsoft.com/office/drawing/2014/main" id="{00622529-1B58-3F4F-78FB-BDC7CC0C190D}"/>
              </a:ext>
            </a:extLst>
          </p:cNvPr>
          <p:cNvSpPr txBox="1"/>
          <p:nvPr/>
        </p:nvSpPr>
        <p:spPr>
          <a:xfrm>
            <a:off x="360000" y="1695456"/>
            <a:ext cx="4929177" cy="4029501"/>
          </a:xfrm>
          <a:prstGeom prst="rect">
            <a:avLst/>
          </a:prstGeom>
          <a:noFill/>
        </p:spPr>
        <p:txBody>
          <a:bodyPr wrap="square">
            <a:spAutoFit/>
          </a:bodyPr>
          <a:lstStyle/>
          <a:p>
            <a:pPr lvl="0" algn="ctr">
              <a:lnSpc>
                <a:spcPct val="150000"/>
              </a:lnSpc>
              <a:spcBef>
                <a:spcPts val="1200"/>
              </a:spcBef>
              <a:spcAft>
                <a:spcPts val="600"/>
              </a:spcAft>
            </a:pPr>
            <a:r>
              <a:rPr lang="en-AU" sz="4400">
                <a:latin typeface="Arial" panose="020B0604020202020204" pitchFamily="34" charset="0"/>
                <a:ea typeface="Calibri" panose="020F0502020204030204" pitchFamily="34" charset="0"/>
                <a:cs typeface="Times New Roman" panose="02020603050405020304" pitchFamily="18" charset="0"/>
              </a:rPr>
              <a:t>Record the </a:t>
            </a:r>
            <a:r>
              <a:rPr lang="en-AU" sz="4400" b="1">
                <a:latin typeface="Arial" panose="020B0604020202020204" pitchFamily="34" charset="0"/>
                <a:ea typeface="Calibri" panose="020F0502020204030204" pitchFamily="34" charset="0"/>
                <a:cs typeface="Times New Roman" panose="02020603050405020304" pitchFamily="18" charset="0"/>
              </a:rPr>
              <a:t>missing numbers </a:t>
            </a:r>
            <a:r>
              <a:rPr lang="en-AU" sz="4400">
                <a:latin typeface="Arial" panose="020B0604020202020204" pitchFamily="34" charset="0"/>
                <a:ea typeface="Calibri" panose="020F0502020204030204" pitchFamily="34" charset="0"/>
                <a:cs typeface="Times New Roman" panose="02020603050405020304" pitchFamily="18" charset="0"/>
              </a:rPr>
              <a:t>in the fact family triangles.</a:t>
            </a:r>
            <a:endParaRPr lang="en-AU" sz="440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7" name="Picture 6" descr="4 fact family triangles&#10;&#10;35, ?, 5&#10;32, 4, ?&#10;18, ?, 2&#10;40, 10, ?">
            <a:extLst>
              <a:ext uri="{FF2B5EF4-FFF2-40B4-BE49-F238E27FC236}">
                <a16:creationId xmlns:a16="http://schemas.microsoft.com/office/drawing/2014/main" id="{054425FD-4CF7-3316-9D2A-0B6A14DC8BF8}"/>
              </a:ext>
            </a:extLst>
          </p:cNvPr>
          <p:cNvPicPr>
            <a:picLocks noChangeAspect="1"/>
          </p:cNvPicPr>
          <p:nvPr/>
        </p:nvPicPr>
        <p:blipFill>
          <a:blip r:embed="rId4"/>
          <a:stretch>
            <a:fillRect/>
          </a:stretch>
        </p:blipFill>
        <p:spPr>
          <a:xfrm>
            <a:off x="5974904" y="1441966"/>
            <a:ext cx="5263396" cy="48162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1446148-465E-F148-6F78-8DE44F1B57C4}"/>
              </a:ext>
            </a:extLst>
          </p:cNvPr>
          <p:cNvSpPr txBox="1"/>
          <p:nvPr/>
        </p:nvSpPr>
        <p:spPr>
          <a:xfrm>
            <a:off x="354000" y="1244702"/>
            <a:ext cx="11484000" cy="545601"/>
          </a:xfrm>
          <a:prstGeom prst="rect">
            <a:avLst/>
          </a:prstGeom>
          <a:noFill/>
        </p:spPr>
        <p:txBody>
          <a:bodyPr wrap="square" lIns="0" tIns="0" rIns="0" bIns="0" rtlCol="0">
            <a:noAutofit/>
          </a:bodyPr>
          <a:lstStyle/>
          <a:p>
            <a:pPr algn="ctr">
              <a:lnSpc>
                <a:spcPct val="150000"/>
              </a:lnSpc>
            </a:pPr>
            <a:r>
              <a:rPr lang="en-AU" sz="4000"/>
              <a:t>Record the times displayed on the </a:t>
            </a:r>
            <a:r>
              <a:rPr lang="en-AU" sz="4000" err="1"/>
              <a:t>analog</a:t>
            </a:r>
            <a:r>
              <a:rPr lang="en-AU" sz="4000"/>
              <a:t> clock using the term ‘</a:t>
            </a:r>
            <a:r>
              <a:rPr lang="en-AU" sz="4000" b="1"/>
              <a:t>past</a:t>
            </a:r>
            <a:r>
              <a:rPr lang="en-AU" sz="4000"/>
              <a:t>’ or ‘</a:t>
            </a:r>
            <a:r>
              <a:rPr lang="en-AU" sz="4000" b="1"/>
              <a:t>to</a:t>
            </a:r>
            <a:r>
              <a:rPr lang="en-AU" sz="4000"/>
              <a:t>’. </a:t>
            </a:r>
          </a:p>
        </p:txBody>
      </p:sp>
      <p:sp>
        <p:nvSpPr>
          <p:cNvPr id="15" name="TextBox 14">
            <a:extLst>
              <a:ext uri="{FF2B5EF4-FFF2-40B4-BE49-F238E27FC236}">
                <a16:creationId xmlns:a16="http://schemas.microsoft.com/office/drawing/2014/main" id="{8079FB70-E270-ED9D-F6B0-15E4BDC5B6C8}"/>
              </a:ext>
            </a:extLst>
          </p:cNvPr>
          <p:cNvSpPr txBox="1"/>
          <p:nvPr/>
        </p:nvSpPr>
        <p:spPr>
          <a:xfrm>
            <a:off x="1619352" y="3472842"/>
            <a:ext cx="457200" cy="545601"/>
          </a:xfrm>
          <a:prstGeom prst="rect">
            <a:avLst/>
          </a:prstGeom>
          <a:noFill/>
        </p:spPr>
        <p:txBody>
          <a:bodyPr wrap="square" lIns="0" tIns="0" rIns="0" bIns="0" rtlCol="0">
            <a:noAutofit/>
          </a:bodyPr>
          <a:lstStyle/>
          <a:p>
            <a:pPr algn="l"/>
            <a:r>
              <a:rPr lang="en-AU" sz="3600" dirty="0"/>
              <a:t>A.</a:t>
            </a:r>
          </a:p>
        </p:txBody>
      </p:sp>
      <p:pic>
        <p:nvPicPr>
          <p:cNvPr id="12" name="Picture 11" descr="A clock with the short hand pointing past the 11 and the long hand pointing to the 5.">
            <a:extLst>
              <a:ext uri="{FF2B5EF4-FFF2-40B4-BE49-F238E27FC236}">
                <a16:creationId xmlns:a16="http://schemas.microsoft.com/office/drawing/2014/main" id="{EA7BC6A1-73AF-8056-10EE-7C2FDE406ED4}"/>
              </a:ext>
            </a:extLst>
          </p:cNvPr>
          <p:cNvPicPr>
            <a:picLocks noChangeAspect="1"/>
          </p:cNvPicPr>
          <p:nvPr/>
        </p:nvPicPr>
        <p:blipFill>
          <a:blip r:embed="rId4"/>
          <a:stretch>
            <a:fillRect/>
          </a:stretch>
        </p:blipFill>
        <p:spPr>
          <a:xfrm>
            <a:off x="2076552" y="3429000"/>
            <a:ext cx="2837230" cy="3043158"/>
          </a:xfrm>
          <a:prstGeom prst="rect">
            <a:avLst/>
          </a:prstGeom>
          <a:ln>
            <a:noFill/>
          </a:ln>
          <a:effectLst/>
        </p:spPr>
      </p:pic>
      <p:sp>
        <p:nvSpPr>
          <p:cNvPr id="16" name="TextBox 15">
            <a:extLst>
              <a:ext uri="{FF2B5EF4-FFF2-40B4-BE49-F238E27FC236}">
                <a16:creationId xmlns:a16="http://schemas.microsoft.com/office/drawing/2014/main" id="{E5279B57-7DF1-695A-8C82-48EBA4FB85E2}"/>
              </a:ext>
            </a:extLst>
          </p:cNvPr>
          <p:cNvSpPr txBox="1"/>
          <p:nvPr/>
        </p:nvSpPr>
        <p:spPr>
          <a:xfrm>
            <a:off x="7360102" y="3311881"/>
            <a:ext cx="457200" cy="545601"/>
          </a:xfrm>
          <a:prstGeom prst="rect">
            <a:avLst/>
          </a:prstGeom>
          <a:noFill/>
        </p:spPr>
        <p:txBody>
          <a:bodyPr wrap="square" lIns="0" tIns="0" rIns="0" bIns="0" rtlCol="0">
            <a:noAutofit/>
          </a:bodyPr>
          <a:lstStyle/>
          <a:p>
            <a:pPr algn="l"/>
            <a:r>
              <a:rPr lang="en-AU" sz="3600" dirty="0"/>
              <a:t>B.</a:t>
            </a:r>
          </a:p>
        </p:txBody>
      </p:sp>
      <p:pic>
        <p:nvPicPr>
          <p:cNvPr id="14" name="Picture 13" descr="A clock with the short hand pointing past the 2 and the long hand pointing to the 8.">
            <a:extLst>
              <a:ext uri="{FF2B5EF4-FFF2-40B4-BE49-F238E27FC236}">
                <a16:creationId xmlns:a16="http://schemas.microsoft.com/office/drawing/2014/main" id="{52AAF494-CC96-A19B-60CF-57F5D0446BBF}"/>
              </a:ext>
            </a:extLst>
          </p:cNvPr>
          <p:cNvPicPr>
            <a:picLocks noChangeAspect="1"/>
          </p:cNvPicPr>
          <p:nvPr/>
        </p:nvPicPr>
        <p:blipFill>
          <a:blip r:embed="rId5"/>
          <a:stretch>
            <a:fillRect/>
          </a:stretch>
        </p:blipFill>
        <p:spPr>
          <a:xfrm>
            <a:off x="7890038" y="3403157"/>
            <a:ext cx="2837230" cy="3245082"/>
          </a:xfrm>
          <a:prstGeom prst="rect">
            <a:avLst/>
          </a:prstGeom>
          <a:ln>
            <a:noFill/>
          </a:ln>
          <a:effectLst/>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sp>
        <p:nvSpPr>
          <p:cNvPr id="5" name="TextBox 4">
            <a:extLst>
              <a:ext uri="{FF2B5EF4-FFF2-40B4-BE49-F238E27FC236}">
                <a16:creationId xmlns:a16="http://schemas.microsoft.com/office/drawing/2014/main" id="{52973280-C71D-A505-D9CD-CB51A896FA0D}"/>
              </a:ext>
            </a:extLst>
          </p:cNvPr>
          <p:cNvSpPr txBox="1"/>
          <p:nvPr/>
        </p:nvSpPr>
        <p:spPr>
          <a:xfrm>
            <a:off x="-1" y="1177758"/>
            <a:ext cx="5522259" cy="5518242"/>
          </a:xfrm>
          <a:prstGeom prst="rect">
            <a:avLst/>
          </a:prstGeom>
          <a:noFill/>
        </p:spPr>
        <p:txBody>
          <a:bodyPr wrap="square">
            <a:spAutoFit/>
          </a:bodyPr>
          <a:lstStyle/>
          <a:p>
            <a:pPr marL="571500" indent="-571500">
              <a:lnSpc>
                <a:spcPct val="150000"/>
              </a:lnSpc>
              <a:buFont typeface="Arial" panose="020B0604020202020204" pitchFamily="34" charset="0"/>
              <a:buChar char="•"/>
            </a:pPr>
            <a:r>
              <a:rPr lang="en-AU" sz="4000" dirty="0">
                <a:solidFill>
                  <a:srgbClr val="000000"/>
                </a:solidFill>
              </a:rPr>
              <a:t>Which is the </a:t>
            </a:r>
            <a:r>
              <a:rPr lang="en-AU" sz="4000" b="1" dirty="0">
                <a:solidFill>
                  <a:srgbClr val="000000"/>
                </a:solidFill>
              </a:rPr>
              <a:t>most common </a:t>
            </a:r>
            <a:r>
              <a:rPr lang="en-AU" sz="4000" dirty="0">
                <a:solidFill>
                  <a:srgbClr val="000000"/>
                </a:solidFill>
              </a:rPr>
              <a:t>mode of transport?</a:t>
            </a:r>
          </a:p>
          <a:p>
            <a:pPr marL="571500" indent="-571500">
              <a:lnSpc>
                <a:spcPct val="150000"/>
              </a:lnSpc>
              <a:buFont typeface="Arial" panose="020B0604020202020204" pitchFamily="34" charset="0"/>
              <a:buChar char="•"/>
            </a:pPr>
            <a:r>
              <a:rPr lang="en-AU" sz="4000" dirty="0">
                <a:solidFill>
                  <a:srgbClr val="000000"/>
                </a:solidFill>
              </a:rPr>
              <a:t>Which are the 2 </a:t>
            </a:r>
            <a:r>
              <a:rPr lang="en-AU" sz="4000" b="1" dirty="0">
                <a:solidFill>
                  <a:srgbClr val="000000"/>
                </a:solidFill>
              </a:rPr>
              <a:t>least common </a:t>
            </a:r>
            <a:r>
              <a:rPr lang="en-AU" sz="4000" dirty="0">
                <a:solidFill>
                  <a:srgbClr val="000000"/>
                </a:solidFill>
              </a:rPr>
              <a:t>modes of transport?</a:t>
            </a:r>
          </a:p>
        </p:txBody>
      </p:sp>
      <p:pic>
        <p:nvPicPr>
          <p:cNvPr id="7" name="Picture 6" descr="Column graph showing how students travel to school most days. Car is 12 students, bike is 3, walk is 4, public transport is 8, scooter is 3.">
            <a:extLst>
              <a:ext uri="{FF2B5EF4-FFF2-40B4-BE49-F238E27FC236}">
                <a16:creationId xmlns:a16="http://schemas.microsoft.com/office/drawing/2014/main" id="{685687FA-BD31-FAB2-0385-E17796AA6B04}"/>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723870" y="1800715"/>
            <a:ext cx="6120130" cy="367220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comparing additive strategies (1)</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5" name="TextBox 4">
            <a:extLst>
              <a:ext uri="{FF2B5EF4-FFF2-40B4-BE49-F238E27FC236}">
                <a16:creationId xmlns:a16="http://schemas.microsoft.com/office/drawing/2014/main" id="{40273D5A-F9E7-D767-DF8B-5B8EC769237B}"/>
              </a:ext>
            </a:extLst>
          </p:cNvPr>
          <p:cNvSpPr txBox="1"/>
          <p:nvPr/>
        </p:nvSpPr>
        <p:spPr>
          <a:xfrm>
            <a:off x="2912052" y="2803313"/>
            <a:ext cx="6094268" cy="769441"/>
          </a:xfrm>
          <a:prstGeom prst="rect">
            <a:avLst/>
          </a:prstGeom>
          <a:noFill/>
        </p:spPr>
        <p:txBody>
          <a:bodyPr wrap="square">
            <a:spAutoFit/>
          </a:bodyPr>
          <a:lstStyle/>
          <a:p>
            <a:pPr algn="ctr"/>
            <a:r>
              <a:rPr lang="en-AU" sz="4400">
                <a:effectLst/>
                <a:latin typeface="Arial" panose="020B0604020202020204" pitchFamily="34" charset="0"/>
                <a:ea typeface="Calibri" panose="020F0502020204030204" pitchFamily="34" charset="0"/>
              </a:rPr>
              <a:t>314 + 96 = </a:t>
            </a:r>
            <a:endParaRPr lang="en-AU" sz="4400"/>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5E5D6-104F-7844-DCE8-014FFDAF78F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B0EDB75-3CE8-8EB1-79F2-7EE18CABD435}"/>
              </a:ext>
            </a:extLst>
          </p:cNvPr>
          <p:cNvSpPr>
            <a:spLocks noGrp="1"/>
          </p:cNvSpPr>
          <p:nvPr>
            <p:ph type="title"/>
          </p:nvPr>
        </p:nvSpPr>
        <p:spPr>
          <a:xfrm>
            <a:off x="360000" y="360000"/>
            <a:ext cx="10367268" cy="545601"/>
          </a:xfrm>
        </p:spPr>
        <p:txBody>
          <a:bodyPr/>
          <a:lstStyle/>
          <a:p>
            <a:r>
              <a:rPr lang="en-AU"/>
              <a:t>Activity 7 – comparing additive strategies (2)</a:t>
            </a:r>
          </a:p>
        </p:txBody>
      </p:sp>
      <p:pic>
        <p:nvPicPr>
          <p:cNvPr id="4" name="Picture 3">
            <a:extLst>
              <a:ext uri="{FF2B5EF4-FFF2-40B4-BE49-F238E27FC236}">
                <a16:creationId xmlns:a16="http://schemas.microsoft.com/office/drawing/2014/main" id="{F443D979-D423-35C4-A2B8-C453AFFF0E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C1823134-B5EC-7041-C790-CCC57045550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5" name="TextBox 4">
            <a:extLst>
              <a:ext uri="{FF2B5EF4-FFF2-40B4-BE49-F238E27FC236}">
                <a16:creationId xmlns:a16="http://schemas.microsoft.com/office/drawing/2014/main" id="{AAC77F76-D9A0-5220-2D5C-F7B3DC758CCF}"/>
              </a:ext>
            </a:extLst>
          </p:cNvPr>
          <p:cNvSpPr txBox="1"/>
          <p:nvPr/>
        </p:nvSpPr>
        <p:spPr>
          <a:xfrm>
            <a:off x="2912052" y="2803313"/>
            <a:ext cx="6094268" cy="769441"/>
          </a:xfrm>
          <a:prstGeom prst="rect">
            <a:avLst/>
          </a:prstGeom>
          <a:noFill/>
        </p:spPr>
        <p:txBody>
          <a:bodyPr wrap="square">
            <a:spAutoFit/>
          </a:bodyPr>
          <a:lstStyle/>
          <a:p>
            <a:pPr algn="ctr"/>
            <a:r>
              <a:rPr lang="en-AU" sz="4400">
                <a:effectLst/>
                <a:latin typeface="Arial" panose="020B0604020202020204" pitchFamily="34" charset="0"/>
                <a:ea typeface="Calibri" panose="020F0502020204030204" pitchFamily="34" charset="0"/>
              </a:rPr>
              <a:t>987 + 32 =</a:t>
            </a:r>
            <a:endParaRPr lang="en-AU" sz="4400"/>
          </a:p>
        </p:txBody>
      </p:sp>
    </p:spTree>
    <p:extLst>
      <p:ext uri="{BB962C8B-B14F-4D97-AF65-F5344CB8AC3E}">
        <p14:creationId xmlns:p14="http://schemas.microsoft.com/office/powerpoint/2010/main" val="3499425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5" name="Text Placeholder 5">
            <a:extLst>
              <a:ext uri="{FF2B5EF4-FFF2-40B4-BE49-F238E27FC236}">
                <a16:creationId xmlns:a16="http://schemas.microsoft.com/office/drawing/2014/main" id="{F43B2FE7-B4B5-03CE-0DF1-B1359A08E06D}"/>
              </a:ext>
            </a:extLst>
          </p:cNvPr>
          <p:cNvSpPr>
            <a:spLocks noGrp="1"/>
          </p:cNvSpPr>
          <p:nvPr>
            <p:ph type="body" sz="quarter" idx="22"/>
          </p:nvPr>
        </p:nvSpPr>
        <p:spPr>
          <a:xfrm>
            <a:off x="474843" y="1222298"/>
            <a:ext cx="11242675" cy="893763"/>
          </a:xfrm>
        </p:spPr>
        <p:txBody>
          <a:bodyPr/>
          <a:lstStyle/>
          <a:p>
            <a:pPr algn="ctr"/>
            <a:r>
              <a:rPr lang="en-AU" sz="4400"/>
              <a:t>The following calculation is correct:</a:t>
            </a:r>
          </a:p>
          <a:p>
            <a:pPr algn="ctr"/>
            <a:r>
              <a:rPr lang="en-AU" sz="5400"/>
              <a:t>523 – 67 = 520 – 64</a:t>
            </a:r>
          </a:p>
        </p:txBody>
      </p:sp>
      <p:sp>
        <p:nvSpPr>
          <p:cNvPr id="7" name="Text Placeholder 5">
            <a:extLst>
              <a:ext uri="{FF2B5EF4-FFF2-40B4-BE49-F238E27FC236}">
                <a16:creationId xmlns:a16="http://schemas.microsoft.com/office/drawing/2014/main" id="{CC6C0F36-D7C4-2CB1-BEB0-292E19A29FA0}"/>
              </a:ext>
            </a:extLst>
          </p:cNvPr>
          <p:cNvSpPr txBox="1">
            <a:spLocks/>
          </p:cNvSpPr>
          <p:nvPr/>
        </p:nvSpPr>
        <p:spPr>
          <a:xfrm>
            <a:off x="474481" y="5344356"/>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1995955271"/>
              </p:ext>
            </p:extLst>
          </p:nvPr>
        </p:nvGraphicFramePr>
        <p:xfrm>
          <a:off x="2557462" y="4146841"/>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9E47BDD-1BB8-512F-9252-1323FEA83EC9}"/>
              </a:ext>
            </a:extLst>
          </p:cNvPr>
          <p:cNvSpPr txBox="1"/>
          <p:nvPr/>
        </p:nvSpPr>
        <p:spPr>
          <a:xfrm>
            <a:off x="360000" y="1371709"/>
            <a:ext cx="11173909" cy="4956804"/>
          </a:xfrm>
          <a:prstGeom prst="rect">
            <a:avLst/>
          </a:prstGeom>
          <a:noFill/>
        </p:spPr>
        <p:txBody>
          <a:bodyPr wrap="square" lIns="0" tIns="0" rIns="0" bIns="0" rtlCol="0">
            <a:noAutofit/>
          </a:bodyPr>
          <a:lstStyle/>
          <a:p>
            <a:pPr algn="ctr">
              <a:lnSpc>
                <a:spcPct val="150000"/>
              </a:lnSpc>
            </a:pPr>
            <a:r>
              <a:rPr lang="en-AU" sz="3200"/>
              <a:t>You have been asked to measure a rectangular space in the school playground using a </a:t>
            </a:r>
            <a:r>
              <a:rPr lang="en-AU" sz="3200" b="1"/>
              <a:t>square metre</a:t>
            </a:r>
            <a:r>
              <a:rPr lang="en-AU" sz="3200"/>
              <a:t>. </a:t>
            </a:r>
          </a:p>
          <a:p>
            <a:pPr algn="ctr">
              <a:lnSpc>
                <a:spcPct val="150000"/>
              </a:lnSpc>
            </a:pPr>
            <a:r>
              <a:rPr lang="en-AU" sz="3200"/>
              <a:t> Record the </a:t>
            </a:r>
            <a:r>
              <a:rPr lang="en-AU" sz="3200" b="1"/>
              <a:t>area</a:t>
            </a:r>
            <a:r>
              <a:rPr lang="en-AU" sz="3200"/>
              <a:t> of the space in </a:t>
            </a:r>
            <a:r>
              <a:rPr lang="en-AU" sz="3200" b="1"/>
              <a:t>numerals and words</a:t>
            </a:r>
            <a:r>
              <a:rPr lang="en-AU" sz="3200"/>
              <a:t>.</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grpSp>
        <p:nvGrpSpPr>
          <p:cNvPr id="11" name="Group 10" descr="A rectangle with the dimensions of 6 metres width and 9 metres length.">
            <a:extLst>
              <a:ext uri="{FF2B5EF4-FFF2-40B4-BE49-F238E27FC236}">
                <a16:creationId xmlns:a16="http://schemas.microsoft.com/office/drawing/2014/main" id="{B2D7221C-D461-9D54-530F-2A361C449D43}"/>
              </a:ext>
            </a:extLst>
          </p:cNvPr>
          <p:cNvGrpSpPr/>
          <p:nvPr/>
        </p:nvGrpSpPr>
        <p:grpSpPr>
          <a:xfrm>
            <a:off x="3605758" y="4074931"/>
            <a:ext cx="4184783" cy="2301758"/>
            <a:chOff x="3605758" y="4074931"/>
            <a:chExt cx="4184783" cy="2301758"/>
          </a:xfrm>
        </p:grpSpPr>
        <p:sp>
          <p:nvSpPr>
            <p:cNvPr id="5" name="Rectangle 4" descr="A rectangle with the dimensions of 6 metres width and 9 metres length.">
              <a:extLst>
                <a:ext uri="{FF2B5EF4-FFF2-40B4-BE49-F238E27FC236}">
                  <a16:creationId xmlns:a16="http://schemas.microsoft.com/office/drawing/2014/main" id="{F1703C76-5FB2-942F-4149-DAF4882ECE6A}"/>
                </a:ext>
              </a:extLst>
            </p:cNvPr>
            <p:cNvSpPr/>
            <p:nvPr/>
          </p:nvSpPr>
          <p:spPr>
            <a:xfrm>
              <a:off x="4707794" y="4542522"/>
              <a:ext cx="3082747" cy="1834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E8FFDAC8-42C2-F845-2213-395AF7297F29}"/>
                </a:ext>
              </a:extLst>
            </p:cNvPr>
            <p:cNvSpPr txBox="1"/>
            <p:nvPr/>
          </p:nvSpPr>
          <p:spPr>
            <a:xfrm>
              <a:off x="5750403" y="4074931"/>
              <a:ext cx="997528" cy="467591"/>
            </a:xfrm>
            <a:prstGeom prst="rect">
              <a:avLst/>
            </a:prstGeom>
            <a:noFill/>
          </p:spPr>
          <p:txBody>
            <a:bodyPr wrap="square" lIns="0" tIns="0" rIns="0" bIns="0" rtlCol="0">
              <a:noAutofit/>
            </a:bodyPr>
            <a:lstStyle/>
            <a:p>
              <a:pPr algn="ctr">
                <a:lnSpc>
                  <a:spcPct val="150000"/>
                </a:lnSpc>
              </a:pPr>
              <a:r>
                <a:rPr lang="en-AU" sz="2000"/>
                <a:t>9 metres</a:t>
              </a:r>
            </a:p>
          </p:txBody>
        </p:sp>
        <p:sp>
          <p:nvSpPr>
            <p:cNvPr id="10" name="TextBox 9">
              <a:extLst>
                <a:ext uri="{FF2B5EF4-FFF2-40B4-BE49-F238E27FC236}">
                  <a16:creationId xmlns:a16="http://schemas.microsoft.com/office/drawing/2014/main" id="{EF084417-7C78-174D-F95F-6C307E9C8AF0}"/>
                </a:ext>
              </a:extLst>
            </p:cNvPr>
            <p:cNvSpPr txBox="1"/>
            <p:nvPr/>
          </p:nvSpPr>
          <p:spPr>
            <a:xfrm>
              <a:off x="3605758" y="5225809"/>
              <a:ext cx="997528" cy="467591"/>
            </a:xfrm>
            <a:prstGeom prst="rect">
              <a:avLst/>
            </a:prstGeom>
            <a:noFill/>
          </p:spPr>
          <p:txBody>
            <a:bodyPr wrap="square" lIns="0" tIns="0" rIns="0" bIns="0" rtlCol="0">
              <a:noAutofit/>
            </a:bodyPr>
            <a:lstStyle/>
            <a:p>
              <a:pPr algn="ctr">
                <a:lnSpc>
                  <a:spcPct val="150000"/>
                </a:lnSpc>
              </a:pPr>
              <a:r>
                <a:rPr lang="en-AU" sz="2000"/>
                <a:t>6 metres</a:t>
              </a:r>
            </a:p>
          </p:txBody>
        </p:sp>
      </p:gr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4" name="TextBox 3">
            <a:extLst>
              <a:ext uri="{FF2B5EF4-FFF2-40B4-BE49-F238E27FC236}">
                <a16:creationId xmlns:a16="http://schemas.microsoft.com/office/drawing/2014/main" id="{E027DABB-F080-B2B0-E712-5E190942E4B3}"/>
              </a:ext>
            </a:extLst>
          </p:cNvPr>
          <p:cNvSpPr txBox="1"/>
          <p:nvPr/>
        </p:nvSpPr>
        <p:spPr>
          <a:xfrm>
            <a:off x="360000" y="1070543"/>
            <a:ext cx="11222182" cy="4395354"/>
          </a:xfrm>
          <a:prstGeom prst="rect">
            <a:avLst/>
          </a:prstGeom>
          <a:noFill/>
        </p:spPr>
        <p:txBody>
          <a:bodyPr wrap="square" lIns="0" tIns="0" rIns="0" bIns="0" rtlCol="0">
            <a:noAutofit/>
          </a:bodyPr>
          <a:lstStyle/>
          <a:p>
            <a:pPr algn="ctr">
              <a:lnSpc>
                <a:spcPct val="150000"/>
              </a:lnSpc>
            </a:pPr>
            <a:r>
              <a:rPr lang="en-AU" sz="4000"/>
              <a:t>Aaron gets </a:t>
            </a:r>
            <a:r>
              <a:rPr lang="en-AU" sz="4000" b="1"/>
              <a:t>5 stickers </a:t>
            </a:r>
            <a:r>
              <a:rPr lang="en-AU" sz="4000"/>
              <a:t>in each packet.</a:t>
            </a:r>
          </a:p>
          <a:p>
            <a:pPr algn="ctr">
              <a:lnSpc>
                <a:spcPct val="150000"/>
              </a:lnSpc>
            </a:pPr>
            <a:r>
              <a:rPr lang="en-AU" sz="4000"/>
              <a:t>He buys </a:t>
            </a:r>
            <a:r>
              <a:rPr lang="en-AU" sz="4000" b="1"/>
              <a:t>4 packets</a:t>
            </a:r>
            <a:r>
              <a:rPr lang="en-AU" sz="4000"/>
              <a:t>.</a:t>
            </a:r>
          </a:p>
          <a:p>
            <a:pPr marL="571500" indent="-571500" algn="ctr">
              <a:lnSpc>
                <a:spcPct val="150000"/>
              </a:lnSpc>
              <a:buFont typeface="Arial" panose="020B0604020202020204" pitchFamily="34" charset="0"/>
              <a:buChar char="•"/>
            </a:pPr>
            <a:r>
              <a:rPr lang="en-AU" sz="4000"/>
              <a:t>Write a </a:t>
            </a:r>
            <a:r>
              <a:rPr lang="en-AU" sz="4000" b="1"/>
              <a:t>number sentence </a:t>
            </a:r>
            <a:r>
              <a:rPr lang="en-AU" sz="4000"/>
              <a:t>to match the problem.</a:t>
            </a:r>
          </a:p>
          <a:p>
            <a:pPr marL="571500" indent="-571500" algn="ctr">
              <a:lnSpc>
                <a:spcPct val="150000"/>
              </a:lnSpc>
              <a:buFont typeface="Arial" panose="020B0604020202020204" pitchFamily="34" charset="0"/>
              <a:buChar char="•"/>
            </a:pPr>
            <a:r>
              <a:rPr lang="en-AU" sz="4000"/>
              <a:t>How many stickers does Aaron have </a:t>
            </a:r>
            <a:r>
              <a:rPr lang="en-AU" sz="4000" b="1"/>
              <a:t>altogether</a:t>
            </a:r>
            <a:r>
              <a:rPr lang="en-AU" sz="4000"/>
              <a:t>?</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
        <p:nvSpPr>
          <p:cNvPr id="4" name="TextBox 3">
            <a:extLst>
              <a:ext uri="{FF2B5EF4-FFF2-40B4-BE49-F238E27FC236}">
                <a16:creationId xmlns:a16="http://schemas.microsoft.com/office/drawing/2014/main" id="{2D87BC58-BC8C-BDB7-085F-4C3DA76A448E}"/>
              </a:ext>
            </a:extLst>
          </p:cNvPr>
          <p:cNvSpPr txBox="1"/>
          <p:nvPr/>
        </p:nvSpPr>
        <p:spPr>
          <a:xfrm>
            <a:off x="692727" y="1485900"/>
            <a:ext cx="10806546" cy="4478482"/>
          </a:xfrm>
          <a:prstGeom prst="rect">
            <a:avLst/>
          </a:prstGeom>
          <a:noFill/>
        </p:spPr>
        <p:txBody>
          <a:bodyPr wrap="square" lIns="0" tIns="0" rIns="0" bIns="0" rtlCol="0">
            <a:noAutofit/>
          </a:bodyPr>
          <a:lstStyle/>
          <a:p>
            <a:pPr marL="457200" indent="-457200" algn="ctr">
              <a:lnSpc>
                <a:spcPct val="150000"/>
              </a:lnSpc>
              <a:spcBef>
                <a:spcPts val="1800"/>
              </a:spcBef>
              <a:spcAft>
                <a:spcPts val="600"/>
              </a:spcAft>
              <a:buFont typeface="Arial" panose="020B0604020202020204" pitchFamily="34" charset="0"/>
              <a:buChar char="•"/>
            </a:pPr>
            <a:r>
              <a:rPr lang="en-AU" sz="3600" dirty="0"/>
              <a:t>How many </a:t>
            </a:r>
            <a:r>
              <a:rPr lang="en-AU" sz="3600" b="1" dirty="0"/>
              <a:t>minutes</a:t>
            </a:r>
            <a:r>
              <a:rPr lang="en-AU" sz="3600" dirty="0"/>
              <a:t> there are in an </a:t>
            </a:r>
            <a:r>
              <a:rPr lang="en-AU" sz="3600" b="1" dirty="0"/>
              <a:t>hour?</a:t>
            </a:r>
            <a:endParaRPr lang="en-AU" sz="3600" dirty="0"/>
          </a:p>
          <a:p>
            <a:pPr marL="457200" indent="-457200" algn="ctr">
              <a:lnSpc>
                <a:spcPct val="150000"/>
              </a:lnSpc>
              <a:spcBef>
                <a:spcPts val="1800"/>
              </a:spcBef>
              <a:spcAft>
                <a:spcPts val="600"/>
              </a:spcAft>
              <a:buFont typeface="Arial" panose="020B0604020202020204" pitchFamily="34" charset="0"/>
              <a:buChar char="•"/>
            </a:pPr>
            <a:r>
              <a:rPr lang="en-AU" sz="3600" dirty="0"/>
              <a:t>How many </a:t>
            </a:r>
            <a:r>
              <a:rPr lang="en-AU" sz="3600" b="1" dirty="0"/>
              <a:t>minutes</a:t>
            </a:r>
            <a:r>
              <a:rPr lang="en-AU" sz="3600" dirty="0"/>
              <a:t> there are in a </a:t>
            </a:r>
            <a:r>
              <a:rPr lang="en-AU" sz="3600" b="1" dirty="0"/>
              <a:t>half-hour?</a:t>
            </a:r>
            <a:endParaRPr lang="en-AU" sz="3600" dirty="0"/>
          </a:p>
          <a:p>
            <a:pPr marL="457200" indent="-457200" algn="ctr">
              <a:lnSpc>
                <a:spcPct val="150000"/>
              </a:lnSpc>
              <a:spcBef>
                <a:spcPts val="1800"/>
              </a:spcBef>
              <a:spcAft>
                <a:spcPts val="600"/>
              </a:spcAft>
              <a:buFont typeface="Arial" panose="020B0604020202020204" pitchFamily="34" charset="0"/>
              <a:buChar char="•"/>
            </a:pPr>
            <a:r>
              <a:rPr lang="en-AU" sz="3600" dirty="0"/>
              <a:t>How many </a:t>
            </a:r>
            <a:r>
              <a:rPr lang="en-AU" sz="3600" b="1" dirty="0"/>
              <a:t>minutes</a:t>
            </a:r>
            <a:r>
              <a:rPr lang="en-AU" sz="3600" dirty="0"/>
              <a:t> there are in a </a:t>
            </a:r>
            <a:r>
              <a:rPr lang="en-AU" sz="3600" b="1" dirty="0"/>
              <a:t>quarter-hour?</a:t>
            </a:r>
            <a:endParaRPr lang="en-AU" sz="3200" dirty="0"/>
          </a:p>
          <a:p>
            <a:pPr algn="ctr">
              <a:lnSpc>
                <a:spcPct val="150000"/>
              </a:lnSpc>
              <a:spcBef>
                <a:spcPts val="1800"/>
              </a:spcBef>
              <a:spcAft>
                <a:spcPts val="600"/>
              </a:spcAft>
            </a:pPr>
            <a:r>
              <a:rPr lang="en-AU" sz="3600" b="1" dirty="0"/>
              <a:t>Explain</a:t>
            </a:r>
            <a:r>
              <a:rPr lang="en-AU" sz="3600" dirty="0"/>
              <a:t> the connection between the number of </a:t>
            </a:r>
            <a:r>
              <a:rPr lang="en-AU" sz="3600" b="1" dirty="0"/>
              <a:t>minutes</a:t>
            </a:r>
            <a:r>
              <a:rPr lang="en-AU" sz="3600" dirty="0"/>
              <a:t> in an </a:t>
            </a:r>
            <a:r>
              <a:rPr lang="en-AU" sz="3600" b="1" dirty="0"/>
              <a:t>hour</a:t>
            </a:r>
            <a:r>
              <a:rPr lang="en-AU" sz="3600" dirty="0"/>
              <a:t>, </a:t>
            </a:r>
            <a:r>
              <a:rPr lang="en-AU" sz="3600" b="1" dirty="0"/>
              <a:t>half-hour</a:t>
            </a:r>
            <a:r>
              <a:rPr lang="en-AU" sz="3600" dirty="0"/>
              <a:t> and </a:t>
            </a:r>
            <a:r>
              <a:rPr lang="en-AU" sz="3600" b="1" dirty="0"/>
              <a:t>quarter-hour</a:t>
            </a:r>
            <a:r>
              <a:rPr lang="en-AU" sz="3600" dirty="0"/>
              <a:t>.</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
        <p:nvSpPr>
          <p:cNvPr id="5" name="TextBox 4">
            <a:extLst>
              <a:ext uri="{FF2B5EF4-FFF2-40B4-BE49-F238E27FC236}">
                <a16:creationId xmlns:a16="http://schemas.microsoft.com/office/drawing/2014/main" id="{69E3510F-7D2B-857A-1A47-C25FA93E4320}"/>
              </a:ext>
            </a:extLst>
          </p:cNvPr>
          <p:cNvSpPr txBox="1"/>
          <p:nvPr/>
        </p:nvSpPr>
        <p:spPr>
          <a:xfrm>
            <a:off x="727365" y="1112727"/>
            <a:ext cx="10542102" cy="1824923"/>
          </a:xfrm>
          <a:prstGeom prst="rect">
            <a:avLst/>
          </a:prstGeom>
          <a:noFill/>
        </p:spPr>
        <p:txBody>
          <a:bodyPr wrap="square">
            <a:spAutoFit/>
          </a:bodyPr>
          <a:lstStyle/>
          <a:p>
            <a:pPr algn="ctr">
              <a:lnSpc>
                <a:spcPct val="150000"/>
              </a:lnSpc>
            </a:pPr>
            <a:r>
              <a:rPr lang="en-AU" sz="4000" b="0" i="0">
                <a:solidFill>
                  <a:srgbClr val="000000"/>
                </a:solidFill>
                <a:effectLst/>
              </a:rPr>
              <a:t>Read and record the </a:t>
            </a:r>
            <a:r>
              <a:rPr lang="en-AU" sz="4000" b="0" i="0" err="1">
                <a:solidFill>
                  <a:srgbClr val="000000"/>
                </a:solidFill>
                <a:effectLst/>
              </a:rPr>
              <a:t>analog</a:t>
            </a:r>
            <a:r>
              <a:rPr lang="en-AU" sz="4000" b="0" i="0">
                <a:solidFill>
                  <a:srgbClr val="000000"/>
                </a:solidFill>
                <a:effectLst/>
              </a:rPr>
              <a:t> times displayed, using the terms ‘</a:t>
            </a:r>
            <a:r>
              <a:rPr lang="en-AU" sz="4000" b="1" i="0">
                <a:solidFill>
                  <a:srgbClr val="000000"/>
                </a:solidFill>
                <a:effectLst/>
              </a:rPr>
              <a:t>past</a:t>
            </a:r>
            <a:r>
              <a:rPr lang="en-AU" sz="4000" b="0" i="0">
                <a:solidFill>
                  <a:srgbClr val="000000"/>
                </a:solidFill>
                <a:effectLst/>
              </a:rPr>
              <a:t>’ and ‘</a:t>
            </a:r>
            <a:r>
              <a:rPr lang="en-AU" sz="4000" b="1" i="0">
                <a:solidFill>
                  <a:srgbClr val="000000"/>
                </a:solidFill>
                <a:effectLst/>
              </a:rPr>
              <a:t>to</a:t>
            </a:r>
            <a:r>
              <a:rPr lang="en-AU" sz="4000" b="0" i="0">
                <a:solidFill>
                  <a:srgbClr val="000000"/>
                </a:solidFill>
                <a:effectLst/>
              </a:rPr>
              <a:t>’.</a:t>
            </a:r>
            <a:endParaRPr lang="en-AU" sz="4000"/>
          </a:p>
        </p:txBody>
      </p:sp>
      <p:grpSp>
        <p:nvGrpSpPr>
          <p:cNvPr id="11" name="Group 10" descr="A. A clock with the short hand pointing past the 6 and the long hand pointing to the 4.">
            <a:extLst>
              <a:ext uri="{FF2B5EF4-FFF2-40B4-BE49-F238E27FC236}">
                <a16:creationId xmlns:a16="http://schemas.microsoft.com/office/drawing/2014/main" id="{813AB5F3-204D-AE61-C3B4-C78C4B10595F}"/>
              </a:ext>
            </a:extLst>
          </p:cNvPr>
          <p:cNvGrpSpPr/>
          <p:nvPr/>
        </p:nvGrpSpPr>
        <p:grpSpPr>
          <a:xfrm>
            <a:off x="1267691" y="3429000"/>
            <a:ext cx="3376605" cy="2773998"/>
            <a:chOff x="1070264" y="3429000"/>
            <a:chExt cx="3376605" cy="2773998"/>
          </a:xfrm>
          <a:effectLst/>
        </p:grpSpPr>
        <p:pic>
          <p:nvPicPr>
            <p:cNvPr id="9" name="Picture 8">
              <a:extLst>
                <a:ext uri="{FF2B5EF4-FFF2-40B4-BE49-F238E27FC236}">
                  <a16:creationId xmlns:a16="http://schemas.microsoft.com/office/drawing/2014/main" id="{DE6BE0B7-6ADE-696B-A38A-85329463FCBF}"/>
                </a:ext>
              </a:extLst>
            </p:cNvPr>
            <p:cNvPicPr>
              <a:picLocks noChangeAspect="1"/>
            </p:cNvPicPr>
            <p:nvPr/>
          </p:nvPicPr>
          <p:blipFill>
            <a:blip r:embed="rId4"/>
            <a:stretch>
              <a:fillRect/>
            </a:stretch>
          </p:blipFill>
          <p:spPr>
            <a:xfrm>
              <a:off x="1776844" y="3429000"/>
              <a:ext cx="2670025" cy="2773998"/>
            </a:xfrm>
            <a:prstGeom prst="rect">
              <a:avLst/>
            </a:prstGeom>
            <a:ln>
              <a:noFill/>
            </a:ln>
            <a:effectLst/>
          </p:spPr>
        </p:pic>
        <p:sp>
          <p:nvSpPr>
            <p:cNvPr id="10" name="TextBox 9">
              <a:extLst>
                <a:ext uri="{FF2B5EF4-FFF2-40B4-BE49-F238E27FC236}">
                  <a16:creationId xmlns:a16="http://schemas.microsoft.com/office/drawing/2014/main" id="{24260F3A-5D1B-71E4-10A6-C73247646641}"/>
                </a:ext>
              </a:extLst>
            </p:cNvPr>
            <p:cNvSpPr txBox="1"/>
            <p:nvPr/>
          </p:nvSpPr>
          <p:spPr>
            <a:xfrm>
              <a:off x="1070264" y="3429000"/>
              <a:ext cx="602672" cy="779318"/>
            </a:xfrm>
            <a:prstGeom prst="rect">
              <a:avLst/>
            </a:prstGeom>
            <a:noFill/>
          </p:spPr>
          <p:txBody>
            <a:bodyPr wrap="square" lIns="0" tIns="0" rIns="0" bIns="0" rtlCol="0">
              <a:noAutofit/>
            </a:bodyPr>
            <a:lstStyle/>
            <a:p>
              <a:pPr algn="ctr"/>
              <a:r>
                <a:rPr lang="en-AU" sz="4000"/>
                <a:t>A.</a:t>
              </a:r>
            </a:p>
          </p:txBody>
        </p:sp>
      </p:grpSp>
      <p:grpSp>
        <p:nvGrpSpPr>
          <p:cNvPr id="15" name="Group 14" descr="B. A clock with the short hand pointing past the 12 and the long hand pointing to the 9.">
            <a:extLst>
              <a:ext uri="{FF2B5EF4-FFF2-40B4-BE49-F238E27FC236}">
                <a16:creationId xmlns:a16="http://schemas.microsoft.com/office/drawing/2014/main" id="{AD4F1A45-F4FF-11F0-602F-88E89B52A7FA}"/>
              </a:ext>
            </a:extLst>
          </p:cNvPr>
          <p:cNvGrpSpPr/>
          <p:nvPr/>
        </p:nvGrpSpPr>
        <p:grpSpPr>
          <a:xfrm>
            <a:off x="6667500" y="3429000"/>
            <a:ext cx="3550229" cy="2773998"/>
            <a:chOff x="6667500" y="3429000"/>
            <a:chExt cx="3550229" cy="2773998"/>
          </a:xfrm>
        </p:grpSpPr>
        <p:pic>
          <p:nvPicPr>
            <p:cNvPr id="13" name="Picture 12">
              <a:extLst>
                <a:ext uri="{FF2B5EF4-FFF2-40B4-BE49-F238E27FC236}">
                  <a16:creationId xmlns:a16="http://schemas.microsoft.com/office/drawing/2014/main" id="{CCE498A0-333C-EAE6-D798-86E5D188B574}"/>
                </a:ext>
              </a:extLst>
            </p:cNvPr>
            <p:cNvPicPr>
              <a:picLocks noChangeAspect="1"/>
            </p:cNvPicPr>
            <p:nvPr/>
          </p:nvPicPr>
          <p:blipFill>
            <a:blip r:embed="rId5"/>
            <a:stretch>
              <a:fillRect/>
            </a:stretch>
          </p:blipFill>
          <p:spPr>
            <a:xfrm>
              <a:off x="7435034" y="3429000"/>
              <a:ext cx="2782695" cy="2773998"/>
            </a:xfrm>
            <a:prstGeom prst="rect">
              <a:avLst/>
            </a:prstGeom>
            <a:ln>
              <a:noFill/>
            </a:ln>
            <a:effectLst/>
          </p:spPr>
        </p:pic>
        <p:sp>
          <p:nvSpPr>
            <p:cNvPr id="14" name="TextBox 13">
              <a:extLst>
                <a:ext uri="{FF2B5EF4-FFF2-40B4-BE49-F238E27FC236}">
                  <a16:creationId xmlns:a16="http://schemas.microsoft.com/office/drawing/2014/main" id="{087C8845-6960-53C1-C83F-C00549D859D9}"/>
                </a:ext>
              </a:extLst>
            </p:cNvPr>
            <p:cNvSpPr txBox="1"/>
            <p:nvPr/>
          </p:nvSpPr>
          <p:spPr>
            <a:xfrm>
              <a:off x="6667500" y="3429000"/>
              <a:ext cx="602672" cy="779318"/>
            </a:xfrm>
            <a:prstGeom prst="rect">
              <a:avLst/>
            </a:prstGeom>
            <a:noFill/>
          </p:spPr>
          <p:txBody>
            <a:bodyPr wrap="square" lIns="0" tIns="0" rIns="0" bIns="0" rtlCol="0">
              <a:noAutofit/>
            </a:bodyPr>
            <a:lstStyle/>
            <a:p>
              <a:pPr algn="ctr"/>
              <a:r>
                <a:rPr lang="en-AU" sz="4000"/>
                <a:t>B.</a:t>
              </a:r>
            </a:p>
          </p:txBody>
        </p:sp>
      </p:gr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comparing strategies for subtraction</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
        <p:nvSpPr>
          <p:cNvPr id="3" name="TextBox 2">
            <a:extLst>
              <a:ext uri="{FF2B5EF4-FFF2-40B4-BE49-F238E27FC236}">
                <a16:creationId xmlns:a16="http://schemas.microsoft.com/office/drawing/2014/main" id="{C628D1B2-CB58-AA8A-E20B-2EC4A273A510}"/>
              </a:ext>
            </a:extLst>
          </p:cNvPr>
          <p:cNvSpPr txBox="1"/>
          <p:nvPr/>
        </p:nvSpPr>
        <p:spPr>
          <a:xfrm>
            <a:off x="360000" y="1097258"/>
            <a:ext cx="9854264" cy="5210024"/>
          </a:xfrm>
          <a:prstGeom prst="rect">
            <a:avLst/>
          </a:prstGeom>
          <a:noFill/>
        </p:spPr>
        <p:txBody>
          <a:bodyPr wrap="square" lIns="0" tIns="0" rIns="0" bIns="0" rtlCol="0">
            <a:noAutofit/>
          </a:bodyPr>
          <a:lstStyle/>
          <a:p>
            <a:pPr marL="285750" indent="-285750" algn="l">
              <a:lnSpc>
                <a:spcPct val="150000"/>
              </a:lnSpc>
              <a:buFont typeface="Arial" panose="020B0604020202020204" pitchFamily="34" charset="0"/>
              <a:buChar char="•"/>
            </a:pPr>
            <a:r>
              <a:rPr lang="en-AU" sz="3200"/>
              <a:t>Which strategy was the most efficient?</a:t>
            </a:r>
          </a:p>
          <a:p>
            <a:pPr marL="285750" indent="-285750" algn="l">
              <a:lnSpc>
                <a:spcPct val="150000"/>
              </a:lnSpc>
              <a:buFont typeface="Arial" panose="020B0604020202020204" pitchFamily="34" charset="0"/>
              <a:buChar char="•"/>
            </a:pPr>
            <a:r>
              <a:rPr lang="en-AU" sz="3200"/>
              <a:t>Where did regrouping or non-standard partitioning help?</a:t>
            </a:r>
          </a:p>
          <a:p>
            <a:pPr marL="285750" indent="-285750" algn="l">
              <a:lnSpc>
                <a:spcPct val="150000"/>
              </a:lnSpc>
              <a:buFont typeface="Arial" panose="020B0604020202020204" pitchFamily="34" charset="0"/>
              <a:buChar char="•"/>
            </a:pPr>
            <a:r>
              <a:rPr lang="en-AU" sz="3200"/>
              <a:t>Would the same strategy be efficient for different numbers?</a:t>
            </a:r>
          </a:p>
          <a:p>
            <a:pPr marL="285750" indent="-285750" algn="l">
              <a:lnSpc>
                <a:spcPct val="150000"/>
              </a:lnSpc>
              <a:buFont typeface="Arial" panose="020B0604020202020204" pitchFamily="34" charset="0"/>
              <a:buChar char="•"/>
            </a:pPr>
            <a:r>
              <a:rPr lang="en-AU" sz="3200"/>
              <a:t>Is there a strategy you have not used before, that you could use next time?</a:t>
            </a:r>
          </a:p>
        </p:txBody>
      </p:sp>
      <p:pic>
        <p:nvPicPr>
          <p:cNvPr id="7" name="Picture 6" descr="9-sided die.">
            <a:extLst>
              <a:ext uri="{FF2B5EF4-FFF2-40B4-BE49-F238E27FC236}">
                <a16:creationId xmlns:a16="http://schemas.microsoft.com/office/drawing/2014/main" id="{15088F20-EEBC-C321-78E6-242D1539F034}"/>
              </a:ext>
            </a:extLst>
          </p:cNvPr>
          <p:cNvPicPr>
            <a:picLocks noChangeAspect="1"/>
          </p:cNvPicPr>
          <p:nvPr/>
        </p:nvPicPr>
        <p:blipFill>
          <a:blip r:embed="rId4"/>
          <a:stretch>
            <a:fillRect/>
          </a:stretch>
        </p:blipFill>
        <p:spPr>
          <a:xfrm rot="20953440">
            <a:off x="10160017" y="2587994"/>
            <a:ext cx="1546694" cy="143263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64</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69</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27 February 2026) and was not modified.</a:t>
            </a:r>
          </a:p>
          <a:p>
            <a:r>
              <a:rPr lang="en-AU"/>
              <a:t>Toy </a:t>
            </a:r>
            <a:r>
              <a:rPr lang="en-AU" err="1"/>
              <a:t>Theater</a:t>
            </a:r>
            <a:r>
              <a:rPr lang="en-AU"/>
              <a:t> (2001–2026) </a:t>
            </a:r>
            <a:r>
              <a:rPr lang="en-AU" i="1" u="sng">
                <a:hlinkClick r:id="rId9"/>
              </a:rPr>
              <a:t>Geoboard</a:t>
            </a:r>
            <a:r>
              <a:rPr lang="en-AU"/>
              <a:t>, Toy </a:t>
            </a:r>
            <a:r>
              <a:rPr lang="en-AU" err="1"/>
              <a:t>Theater</a:t>
            </a:r>
            <a:r>
              <a:rPr lang="en-AU"/>
              <a:t> website, accessed 20 March 2026.</a:t>
            </a:r>
          </a:p>
          <a:p>
            <a:r>
              <a:rPr lang="en-AU"/>
              <a:t>Siemon D, Beswick K, Brady K, Clark J, Faragher R, Warren E (2015) </a:t>
            </a:r>
            <a:r>
              <a:rPr lang="en-AU" i="1"/>
              <a:t>Teaching Mathematics – Foundations to Middle years,</a:t>
            </a:r>
            <a:r>
              <a:rPr lang="en-AU"/>
              <a:t> 2nd</a:t>
            </a:r>
            <a:r>
              <a:rPr lang="en-AU" baseline="30000"/>
              <a:t> </a:t>
            </a:r>
            <a:r>
              <a:rPr lang="en-AU" err="1"/>
              <a:t>edn</a:t>
            </a:r>
            <a:r>
              <a:rPr lang="en-AU"/>
              <a:t>, Oxford University Press Australian and New Zealand.</a:t>
            </a:r>
          </a:p>
          <a:p>
            <a:r>
              <a:rPr lang="en-AU"/>
              <a:t>State of New South Wales (Department of Education) (2017) </a:t>
            </a:r>
            <a:r>
              <a:rPr lang="en-AU" i="1" u="sng">
                <a:hlinkClick r:id="rId10"/>
              </a:rPr>
              <a:t>Teaching measurement Stage 2 to Stage 3</a:t>
            </a:r>
            <a:r>
              <a:rPr lang="en-AU"/>
              <a:t>, NSW Department of Education website, accessed 20 March 2026.</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70</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46F88-75A6-E013-00CD-5B70FE1DAB0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CBC87E-05EF-9AB2-6DCE-82A1257B614A}"/>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28AEEFC9-E374-4805-707C-26AE48BBCD41}"/>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01D835F-1119-21A4-710D-5860F23CF83F}"/>
              </a:ext>
            </a:extLst>
          </p:cNvPr>
          <p:cNvSpPr>
            <a:spLocks noGrp="1"/>
          </p:cNvSpPr>
          <p:nvPr>
            <p:ph idx="1"/>
          </p:nvPr>
        </p:nvSpPr>
        <p:spPr/>
        <p:txBody>
          <a:bodyPr/>
          <a:lstStyle/>
          <a:p>
            <a:r>
              <a:rPr lang="en-AU"/>
              <a:t>University of Cambridge (n.d.) </a:t>
            </a:r>
            <a:r>
              <a:rPr lang="en-AU" i="1" u="sng">
                <a:hlinkClick r:id="rId6"/>
              </a:rPr>
              <a:t>What’s in the Box?</a:t>
            </a:r>
            <a:r>
              <a:rPr lang="en-AU"/>
              <a:t>, NRICH website, accessed 27 February 2026.</a:t>
            </a:r>
          </a:p>
          <a:p>
            <a:r>
              <a:rPr lang="en-AU"/>
              <a:t>Van de Walle J, Karp K, Bay-Williams JM, Brass A, Bentley B, Ferguson S, Goff W, Livy S, Marshman M, Martin D, Pearn C, </a:t>
            </a:r>
            <a:r>
              <a:rPr lang="en-AU" err="1"/>
              <a:t>Prodromou</a:t>
            </a:r>
            <a:r>
              <a:rPr lang="en-AU"/>
              <a:t> T, Symons D and Wilkie K (2019) </a:t>
            </a:r>
            <a:r>
              <a:rPr lang="en-AU" i="1"/>
              <a:t>Primary and Middle Years Mathematics: Teaching Developmentally</a:t>
            </a:r>
            <a:r>
              <a:rPr lang="en-AU"/>
              <a:t>, 1st Australian </a:t>
            </a:r>
            <a:r>
              <a:rPr lang="en-AU" err="1"/>
              <a:t>edn</a:t>
            </a:r>
            <a:r>
              <a:rPr lang="en-AU"/>
              <a:t>, Pearson Education Australia, Melbourne.</a:t>
            </a:r>
          </a:p>
          <a:p>
            <a:br>
              <a:rPr lang="en-AU"/>
            </a:br>
            <a:endParaRPr lang="en-AU"/>
          </a:p>
        </p:txBody>
      </p:sp>
      <p:sp>
        <p:nvSpPr>
          <p:cNvPr id="2" name="Slide Number Placeholder 1">
            <a:extLst>
              <a:ext uri="{FF2B5EF4-FFF2-40B4-BE49-F238E27FC236}">
                <a16:creationId xmlns:a16="http://schemas.microsoft.com/office/drawing/2014/main" id="{36DCFC9E-6018-FEF4-26D1-041D6C34C21F}"/>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71</a:t>
            </a:fld>
            <a:endParaRPr lang="en-AU"/>
          </a:p>
        </p:txBody>
      </p:sp>
    </p:spTree>
    <p:extLst>
      <p:ext uri="{BB962C8B-B14F-4D97-AF65-F5344CB8AC3E}">
        <p14:creationId xmlns:p14="http://schemas.microsoft.com/office/powerpoint/2010/main" val="2344324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1568B6FF-C9C8-4675-9A60-4AB2AD6BB022}"/>
</file>

<file path=customXml/itemProps3.xml><?xml version="1.0" encoding="utf-8"?>
<ds:datastoreItem xmlns:ds="http://schemas.openxmlformats.org/officeDocument/2006/customXml" ds:itemID="{CE555570-2BD4-426B-AA32-0A79CB6508A8}">
  <ds:schemaRefs>
    <ds:schemaRef ds:uri="http://schemas.openxmlformats.org/package/2006/metadata/core-properties"/>
    <ds:schemaRef ds:uri="http://schemas.microsoft.com/office/2006/documentManagement/types"/>
    <ds:schemaRef ds:uri="http://purl.org/dc/dcmitype/"/>
    <ds:schemaRef ds:uri="http://schemas.microsoft.com/office/2006/metadata/properties"/>
    <ds:schemaRef ds:uri="http://purl.org/dc/elements/1.1/"/>
    <ds:schemaRef ds:uri="7e763d47-3c66-4c58-9425-1477fd3ccd1e"/>
    <ds:schemaRef ds:uri="60129b06-f64b-40a8-96e2-c5b2f86112b1"/>
    <ds:schemaRef ds:uri="http://schemas.microsoft.com/office/infopath/2007/PartnerControls"/>
    <ds:schemaRef ds:uri="http://www.w3.org/XML/1998/namespace"/>
    <ds:schemaRef ds:uri="http://purl.org/dc/term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20</TotalTime>
  <Words>7186</Words>
  <Application>Microsoft Office PowerPoint</Application>
  <PresentationFormat>Widescreen</PresentationFormat>
  <Paragraphs>911</Paragraphs>
  <Slides>72</Slides>
  <Notes>72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Wingdings</vt:lpstr>
      <vt:lpstr>Calibri</vt:lpstr>
      <vt:lpstr>Public Sans Light</vt:lpstr>
      <vt:lpstr>Arial</vt:lpstr>
      <vt:lpstr>Public Sans</vt:lpstr>
      <vt:lpstr>Montserrat</vt:lpstr>
      <vt:lpstr>Times New Roman</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exploring multiples</vt:lpstr>
      <vt:lpstr>Review of learning 2</vt:lpstr>
      <vt:lpstr>True or false (1)</vt:lpstr>
      <vt:lpstr>Short response (5)</vt:lpstr>
      <vt:lpstr>Short response (6)</vt:lpstr>
      <vt:lpstr>Short response (7)</vt:lpstr>
      <vt:lpstr>Short response (8)</vt:lpstr>
      <vt:lpstr>Activity 2 – fact families</vt:lpstr>
      <vt:lpstr>Review of learning 3</vt:lpstr>
      <vt:lpstr>Multiple choice (2)</vt:lpstr>
      <vt:lpstr>Short response (9)</vt:lpstr>
      <vt:lpstr>Short response (10)</vt:lpstr>
      <vt:lpstr>Short response (11)</vt:lpstr>
      <vt:lpstr>Short response (12)</vt:lpstr>
      <vt:lpstr>Activity 3 – using arrays</vt:lpstr>
      <vt:lpstr>Review of learning 4</vt:lpstr>
      <vt:lpstr>True or false (2)</vt:lpstr>
      <vt:lpstr>Short response (13)</vt:lpstr>
      <vt:lpstr>Short response (14)</vt:lpstr>
      <vt:lpstr>Short response (15)</vt:lpstr>
      <vt:lpstr>Short response (16)</vt:lpstr>
      <vt:lpstr>Activity 4 – fact families and arrays</vt:lpstr>
      <vt:lpstr>Review of learning 5</vt:lpstr>
      <vt:lpstr>Multiple choice (3)</vt:lpstr>
      <vt:lpstr>Short response (17)</vt:lpstr>
      <vt:lpstr>Short response (18)</vt:lpstr>
      <vt:lpstr>Short response (19)</vt:lpstr>
      <vt:lpstr>Short response (20)</vt:lpstr>
      <vt:lpstr>Activity 5 – using partitioning to add (1)</vt:lpstr>
      <vt:lpstr>Activity 5 – using partitioning to add (2)</vt:lpstr>
      <vt:lpstr>Review of learning 6</vt:lpstr>
      <vt:lpstr>True or false (3)</vt:lpstr>
      <vt:lpstr>Short response (21)</vt:lpstr>
      <vt:lpstr>Short response (22)</vt:lpstr>
      <vt:lpstr>Short response (23)</vt:lpstr>
      <vt:lpstr>Short response (24)</vt:lpstr>
      <vt:lpstr>Activity 6 – using constant difference to subtract (1)</vt:lpstr>
      <vt:lpstr>Activity 6 – using constant difference to subtract (2)</vt:lpstr>
      <vt:lpstr>Review of learning 7</vt:lpstr>
      <vt:lpstr>Multiple choice (4)</vt:lpstr>
      <vt:lpstr>Short response (25)</vt:lpstr>
      <vt:lpstr>Short response (26)</vt:lpstr>
      <vt:lpstr>Short response (27)</vt:lpstr>
      <vt:lpstr>Short response (32)</vt:lpstr>
      <vt:lpstr>Activity 7 – comparing additive strategies (1)</vt:lpstr>
      <vt:lpstr>Activity 7 – comparing additive strategies (2)</vt:lpstr>
      <vt:lpstr>Review of learning 8</vt:lpstr>
      <vt:lpstr>True or false (4)</vt:lpstr>
      <vt:lpstr>Short response (29)</vt:lpstr>
      <vt:lpstr>Short response (30)</vt:lpstr>
      <vt:lpstr>Short response (31)</vt:lpstr>
      <vt:lpstr>Short response (28)</vt:lpstr>
      <vt:lpstr>Activity 8 – comparing strategies for subtraction</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2026-05-03T21:43:54Z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