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omments/modernComment_67EC_6C730A41.xml" ContentType="application/vnd.ms-powerpoint.comment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3"/>
  </p:notesMasterIdLst>
  <p:handoutMasterIdLst>
    <p:handoutMasterId r:id="rId74"/>
  </p:handoutMasterIdLst>
  <p:sldIdLst>
    <p:sldId id="365" r:id="rId5"/>
    <p:sldId id="26579" r:id="rId6"/>
    <p:sldId id="26648" r:id="rId7"/>
    <p:sldId id="271" r:id="rId8"/>
    <p:sldId id="26507" r:id="rId9"/>
    <p:sldId id="358" r:id="rId10"/>
    <p:sldId id="26580" r:id="rId11"/>
    <p:sldId id="26581" r:id="rId12"/>
    <p:sldId id="26582" r:id="rId13"/>
    <p:sldId id="26576" r:id="rId14"/>
    <p:sldId id="26583" r:id="rId15"/>
    <p:sldId id="26586" r:id="rId16"/>
    <p:sldId id="26587" r:id="rId17"/>
    <p:sldId id="26588" r:id="rId18"/>
    <p:sldId id="26589" r:id="rId19"/>
    <p:sldId id="26590" r:id="rId20"/>
    <p:sldId id="26591" r:id="rId21"/>
    <p:sldId id="26592" r:id="rId22"/>
    <p:sldId id="26593" r:id="rId23"/>
    <p:sldId id="26596" r:id="rId24"/>
    <p:sldId id="26597" r:id="rId25"/>
    <p:sldId id="26598" r:id="rId26"/>
    <p:sldId id="26599" r:id="rId27"/>
    <p:sldId id="26600" r:id="rId28"/>
    <p:sldId id="26601" r:id="rId29"/>
    <p:sldId id="26604" r:id="rId30"/>
    <p:sldId id="26605" r:id="rId31"/>
    <p:sldId id="26606" r:id="rId32"/>
    <p:sldId id="26607" r:id="rId33"/>
    <p:sldId id="26608" r:id="rId34"/>
    <p:sldId id="26609" r:id="rId35"/>
    <p:sldId id="26610" r:id="rId36"/>
    <p:sldId id="26612" r:id="rId37"/>
    <p:sldId id="26614" r:id="rId38"/>
    <p:sldId id="26615" r:id="rId39"/>
    <p:sldId id="26616" r:id="rId40"/>
    <p:sldId id="26617" r:id="rId41"/>
    <p:sldId id="26618" r:id="rId42"/>
    <p:sldId id="26619" r:id="rId43"/>
    <p:sldId id="26622" r:id="rId44"/>
    <p:sldId id="26625" r:id="rId45"/>
    <p:sldId id="26623" r:id="rId46"/>
    <p:sldId id="26624" r:id="rId47"/>
    <p:sldId id="26626" r:id="rId48"/>
    <p:sldId id="26627" r:id="rId49"/>
    <p:sldId id="26628" r:id="rId50"/>
    <p:sldId id="26646" r:id="rId51"/>
    <p:sldId id="26632" r:id="rId52"/>
    <p:sldId id="26633" r:id="rId53"/>
    <p:sldId id="26634" r:id="rId54"/>
    <p:sldId id="26635" r:id="rId55"/>
    <p:sldId id="26636" r:id="rId56"/>
    <p:sldId id="26637" r:id="rId57"/>
    <p:sldId id="26640" r:id="rId58"/>
    <p:sldId id="26641" r:id="rId59"/>
    <p:sldId id="26642" r:id="rId60"/>
    <p:sldId id="26643" r:id="rId61"/>
    <p:sldId id="26644" r:id="rId62"/>
    <p:sldId id="26645" r:id="rId63"/>
    <p:sldId id="26393" r:id="rId64"/>
    <p:sldId id="26387" r:id="rId65"/>
    <p:sldId id="26395" r:id="rId66"/>
    <p:sldId id="26391" r:id="rId67"/>
    <p:sldId id="26402" r:id="rId68"/>
    <p:sldId id="26647" r:id="rId69"/>
    <p:sldId id="26510" r:id="rId70"/>
    <p:sldId id="360" r:id="rId71"/>
    <p:sldId id="361" r:id="rId72"/>
  </p:sldIdLst>
  <p:sldSz cx="12192000" cy="6858000"/>
  <p:notesSz cx="6858000" cy="9144000"/>
  <p:embeddedFontLst>
    <p:embeddedFont>
      <p:font typeface="Edu NSW ACT Foundation" panose="020B0604020202020204" charset="0"/>
      <p:regular r:id="rId75"/>
      <p:bold r:id="rId76"/>
    </p:embeddedFont>
    <p:embeddedFont>
      <p:font typeface="Montserrat" panose="00000500000000000000" pitchFamily="2" charset="0"/>
      <p:regular r:id="rId77"/>
      <p:bold r:id="rId78"/>
      <p:italic r:id="rId79"/>
      <p:boldItalic r:id="rId80"/>
    </p:embeddedFont>
    <p:embeddedFont>
      <p:font typeface="Public Sans" pitchFamily="2" charset="0"/>
      <p:regular r:id="rId81"/>
      <p:bold r:id="rId82"/>
      <p:italic r:id="rId83"/>
      <p:boldItalic r:id="rId84"/>
    </p:embeddedFont>
    <p:embeddedFont>
      <p:font typeface="Public Sans Light" pitchFamily="2" charset="0"/>
      <p:regular r:id="rId85"/>
      <p:italic r:id="rId86"/>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79"/>
            <p14:sldId id="26648"/>
          </p14:sldIdLst>
        </p14:section>
        <p14:section name="Review of learning 1" id="{4B1EDACC-5006-43DF-9D93-DE177A158796}">
          <p14:sldIdLst>
            <p14:sldId id="271"/>
            <p14:sldId id="26507"/>
            <p14:sldId id="358"/>
            <p14:sldId id="26580"/>
            <p14:sldId id="26581"/>
            <p14:sldId id="26582"/>
            <p14:sldId id="26576"/>
          </p14:sldIdLst>
        </p14:section>
        <p14:section name="Review of learning 2" id="{0AC6BBCB-7E49-46CE-B777-EFCDD4B60F91}">
          <p14:sldIdLst>
            <p14:sldId id="26583"/>
            <p14:sldId id="26586"/>
            <p14:sldId id="26587"/>
            <p14:sldId id="26588"/>
            <p14:sldId id="26589"/>
            <p14:sldId id="26590"/>
            <p14:sldId id="26591"/>
          </p14:sldIdLst>
        </p14:section>
        <p14:section name="Review of learning 3" id="{6F5E1C19-5255-4FF7-A3CD-4549F7EF69B2}">
          <p14:sldIdLst>
            <p14:sldId id="26592"/>
            <p14:sldId id="26593"/>
            <p14:sldId id="26596"/>
            <p14:sldId id="26597"/>
            <p14:sldId id="26598"/>
            <p14:sldId id="26599"/>
            <p14:sldId id="26600"/>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12"/>
            <p14:sldId id="26614"/>
            <p14:sldId id="26615"/>
            <p14:sldId id="26616"/>
            <p14:sldId id="26617"/>
            <p14:sldId id="26618"/>
          </p14:sldIdLst>
        </p14:section>
        <p14:section name="Review of learning 6" id="{6721D3DC-F7BB-49CA-9E61-8454C104591D}">
          <p14:sldIdLst>
            <p14:sldId id="26619"/>
            <p14:sldId id="26622"/>
            <p14:sldId id="26625"/>
            <p14:sldId id="26623"/>
            <p14:sldId id="26624"/>
            <p14:sldId id="26626"/>
            <p14:sldId id="26627"/>
          </p14:sldIdLst>
        </p14:section>
        <p14:section name="Review of learning 7" id="{CF63834E-0BE9-495B-9761-037C836F185E}">
          <p14:sldIdLst>
            <p14:sldId id="26628"/>
            <p14:sldId id="26646"/>
            <p14:sldId id="26632"/>
            <p14:sldId id="26633"/>
            <p14:sldId id="26634"/>
            <p14:sldId id="26635"/>
            <p14:sldId id="26636"/>
          </p14:sldIdLst>
        </p14:section>
        <p14:section name="Review of learning 8" id="{6FF8F7EC-803E-4F84-BA41-6B3ED673D597}">
          <p14:sldIdLst>
            <p14:sldId id="26637"/>
            <p14:sldId id="26640"/>
            <p14:sldId id="26641"/>
            <p14:sldId id="26642"/>
            <p14:sldId id="26643"/>
            <p14:sldId id="26644"/>
            <p14:sldId id="26645"/>
          </p14:sldIdLst>
        </p14:section>
        <p14:section name="Assets" id="{ACCADEBA-79DB-4F18-8F19-E4DF86159DFB}">
          <p14:sldIdLst>
            <p14:sldId id="26393"/>
            <p14:sldId id="26387"/>
            <p14:sldId id="26395"/>
            <p14:sldId id="26391"/>
            <p14:sldId id="26402"/>
            <p14:sldId id="26647"/>
            <p14:sldId id="26510"/>
          </p14:sldIdLst>
        </p14:section>
        <p14:section name="References &amp; copyright" id="{DBC31484-F5F8-4CB1-8DB4-A562A9780899}">
          <p14:sldIdLst>
            <p14:sldId id="360"/>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95D16B7D-CADB-F2BF-AC29-D680545C75EE}" name="Carrie Webeck" initials="CW" userId="S::CARRIE-ANN.WEBECK@det.nsw.edu.au::e5c4b697-ca15-4f3a-a906-1289ddc2fc07" providerId="AD"/>
  <p188:author id="{6620E8C6-7E4F-1318-D9B4-C749088EC486}" name="Daniella Brunetta" initials="DB" userId="S::Daniella.Brunetta@det.nsw.edu.au::4e084810-29e2-4b0b-806a-947d4f6d8f39" providerId="AD"/>
  <p188:author id="{EB0CFDCC-08A1-9074-770E-495A3601BA1E}" name="Erin Grassedonio" initials="EG" userId="S::Erin.Grassedonio@det.nsw.edu.au::f14128a2-caca-48df-bd38-2aa49a1abe0e" providerId="AD"/>
  <p188:author id="{339261D2-3034-189C-853A-790FE693F55C}" name="Erin Grassedonio" initials="EG" userId="S::erin.grassedonio@det.nsw.edu.au::f14128a2-caca-48df-bd38-2aa49a1abe0e"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9B0C"/>
    <a:srgbClr val="007A8A"/>
    <a:srgbClr val="9B6808"/>
    <a:srgbClr val="427B2D"/>
    <a:srgbClr val="B51458"/>
    <a:srgbClr val="00ACC2"/>
    <a:srgbClr val="64BB47"/>
    <a:srgbClr val="EDF9E0"/>
    <a:srgbClr val="87D830"/>
    <a:srgbClr val="447F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AF6CCF-6A25-4BC1-B998-9087DE4D2D02}" v="904" dt="2025-11-03T03:07:20.397"/>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228" y="68"/>
      </p:cViewPr>
      <p:guideLst>
        <p:guide orient="horz" pos="2160"/>
        <p:guide pos="386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10.fntdata"/><Relationship Id="rId89" Type="http://schemas.openxmlformats.org/officeDocument/2006/relationships/theme" Target="theme/theme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handoutMaster" Target="handoutMasters/handoutMaster1.xml"/><Relationship Id="rId79" Type="http://schemas.openxmlformats.org/officeDocument/2006/relationships/font" Target="fonts/font5.fntdata"/><Relationship Id="rId5" Type="http://schemas.openxmlformats.org/officeDocument/2006/relationships/slide" Target="slides/slide1.xml"/><Relationship Id="rId90" Type="http://schemas.openxmlformats.org/officeDocument/2006/relationships/tableStyles" Target="tableStyles.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font" Target="fonts/font3.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6.fntdata"/><Relationship Id="rId85" Type="http://schemas.openxmlformats.org/officeDocument/2006/relationships/font" Target="fonts/font11.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font" Target="fonts/font1.fntdata"/><Relationship Id="rId83" Type="http://schemas.openxmlformats.org/officeDocument/2006/relationships/font" Target="fonts/font9.fntdata"/><Relationship Id="rId88" Type="http://schemas.openxmlformats.org/officeDocument/2006/relationships/viewProps" Target="viewProps.xml"/><Relationship Id="rId9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notesMaster" Target="notesMasters/notesMaster1.xml"/><Relationship Id="rId78" Type="http://schemas.openxmlformats.org/officeDocument/2006/relationships/font" Target="fonts/font4.fntdata"/><Relationship Id="rId81" Type="http://schemas.openxmlformats.org/officeDocument/2006/relationships/font" Target="fonts/font7.fntdata"/><Relationship Id="rId86" Type="http://schemas.openxmlformats.org/officeDocument/2006/relationships/font" Target="fonts/font12.fntdata"/><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2.fntdata"/><Relationship Id="rId7" Type="http://schemas.openxmlformats.org/officeDocument/2006/relationships/slide" Target="slides/slide3.xml"/><Relationship Id="rId71" Type="http://schemas.openxmlformats.org/officeDocument/2006/relationships/slide" Target="slides/slide67.xml"/><Relationship Id="rId92" Type="http://schemas.microsoft.com/office/2018/10/relationships/authors" Target="author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presProps" Target="presProps.xml"/><Relationship Id="rId61" Type="http://schemas.openxmlformats.org/officeDocument/2006/relationships/slide" Target="slides/slide57.xml"/><Relationship Id="rId82" Type="http://schemas.openxmlformats.org/officeDocument/2006/relationships/font" Target="fonts/font8.fntdata"/><Relationship Id="rId19" Type="http://schemas.openxmlformats.org/officeDocument/2006/relationships/slide" Target="slides/slide15.xml"/></Relationships>
</file>

<file path=ppt/comments/modernComment_67EC_6C730A41.xml><?xml version="1.0" encoding="utf-8"?>
<p188:cmLst xmlns:a="http://schemas.openxmlformats.org/drawingml/2006/main" xmlns:r="http://schemas.openxmlformats.org/officeDocument/2006/relationships" xmlns:p188="http://schemas.microsoft.com/office/powerpoint/2018/8/main">
  <p188:cm id="{73BCE05F-C2B1-496D-BF00-A7FF08EE4E9C}" authorId="{FD7747EE-57F8-CAC5-7CAF-C637FBE93789}" created="2025-10-31T03:02:39.788">
    <ac:txMkLst xmlns:ac="http://schemas.microsoft.com/office/drawing/2013/main/command">
      <pc:docMk xmlns:pc="http://schemas.microsoft.com/office/powerpoint/2013/main/command"/>
      <pc:sldMk xmlns:pc="http://schemas.microsoft.com/office/powerpoint/2013/main/command" cId="1819478593" sldId="26604"/>
      <ac:spMk id="6" creationId="{1F74B9A4-EFE2-0CD1-0E45-27C87BBC65EB}"/>
      <ac:txMk cp="36" len="6">
        <ac:context len="57" hash="3389346208"/>
      </ac:txMk>
    </ac:txMkLst>
    <p188:pos x="3089565" y="1248262"/>
    <p188:replyLst>
      <p188:reply id="{E3A4BE13-5933-47AF-AEBA-0AE2E0920A8F}" authorId="{95D16B7D-CADB-F2BF-AC29-D680545C75EE}" created="2025-10-31T03:50:39.057">
        <p188:txBody>
          <a:bodyPr/>
          <a:lstStyle/>
          <a:p>
            <a:r>
              <a:rPr lang="en-AU"/>
              <a:t>Note to self - onscreen content to change to match syllabus content of using this to solve problems. </a:t>
            </a:r>
          </a:p>
        </p188:txBody>
      </p188:reply>
      <p188:reply id="{1B703349-0862-4289-BBE4-B983CD5BB1BD}" authorId="{95D16B7D-CADB-F2BF-AC29-D680545C75EE}" created="2025-11-03T02:06:37.340">
        <p188:txBody>
          <a:bodyPr/>
          <a:lstStyle/>
          <a:p>
            <a:r>
              <a:rPr lang="en-AU"/>
              <a:t>[@Ayesha Ali Khan] How’s this???</a:t>
            </a:r>
          </a:p>
        </p188:txBody>
      </p188:reply>
    </p188:replyLst>
    <p188:txBody>
      <a:bodyPr/>
      <a:lstStyle/>
      <a:p>
        <a:r>
          <a:rPr lang="en-AU"/>
          <a:t>Wondering if this needs to be reworded? Is solving the right word? It’s showing equivalence… </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27/11/2025</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27/11/2025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F867-63A5-8257-BEB3-843826CE3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7174D-A127-D2D1-8FE8-6EBA54B31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BCA833-D850-EA3F-9C4C-3C098CC50AFD}"/>
              </a:ext>
            </a:extLst>
          </p:cNvPr>
          <p:cNvSpPr>
            <a:spLocks noGrp="1"/>
          </p:cNvSpPr>
          <p:nvPr>
            <p:ph type="body" idx="1"/>
          </p:nvPr>
        </p:nvSpPr>
        <p:spPr/>
        <p:txBody>
          <a:bodyPr/>
          <a:lstStyle/>
          <a:p>
            <a:r>
              <a:rPr lang="en-AU">
                <a:latin typeface="Arial"/>
                <a:cs typeface="Arial"/>
              </a:rPr>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latin typeface="Arial"/>
                <a:cs typeface="Arial"/>
              </a:rPr>
              <a:t>This Review of Learning slide deck revisits key concepts from the following units:</a:t>
            </a:r>
          </a:p>
          <a:p>
            <a:pPr marL="285750" indent="-285750">
              <a:buFont typeface="Arial" panose="020B0604020202020204" pitchFamily="34" charset="0"/>
              <a:buChar char="•"/>
            </a:pPr>
            <a:r>
              <a:rPr lang="en-AU">
                <a:latin typeface="Arial"/>
                <a:cs typeface="Arial"/>
              </a:rPr>
              <a:t>Stage 3 Year A Unit 3</a:t>
            </a:r>
          </a:p>
          <a:p>
            <a:pPr marL="285750" indent="-285750">
              <a:buFont typeface="Arial" panose="020B0604020202020204" pitchFamily="34" charset="0"/>
              <a:buChar char="•"/>
            </a:pPr>
            <a:r>
              <a:rPr lang="en-AU">
                <a:latin typeface="Arial"/>
                <a:cs typeface="Arial"/>
              </a:rPr>
              <a:t>Stage 3 Year A Unit 2</a:t>
            </a:r>
          </a:p>
          <a:p>
            <a:pPr marL="285750" indent="-285750">
              <a:buFont typeface="Arial" panose="020B0604020202020204" pitchFamily="34" charset="0"/>
              <a:buChar char="•"/>
            </a:pPr>
            <a:r>
              <a:rPr lang="en-AU">
                <a:latin typeface="Arial"/>
                <a:cs typeface="Arial"/>
              </a:rPr>
              <a:t>Stage 3 Year A Unit 1</a:t>
            </a:r>
          </a:p>
          <a:p>
            <a:r>
              <a:rPr lang="en-AU">
                <a:latin typeface="Arial"/>
                <a:cs typeface="Arial"/>
              </a:rPr>
              <a:t>It also includes opportunities to review prior learning in non-number content, supporting consolidation across focus areas.</a:t>
            </a:r>
          </a:p>
          <a:p>
            <a:endParaRPr lang="en-AU"/>
          </a:p>
          <a:p>
            <a:r>
              <a:rPr lang="en-AU">
                <a:latin typeface="Arial"/>
                <a:cs typeface="Arial"/>
              </a:rPr>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latin typeface="Arial"/>
                <a:cs typeface="Arial"/>
              </a:rPr>
              <a:t>1.</a:t>
            </a:r>
          </a:p>
          <a:p>
            <a:r>
              <a:rPr lang="en-AU" b="1">
                <a:latin typeface="Arial"/>
                <a:cs typeface="Arial"/>
              </a:rPr>
              <a:t>Multiple-choice questions/True or false: </a:t>
            </a:r>
            <a:r>
              <a:rPr lang="en-AU">
                <a:latin typeface="Arial"/>
                <a:cs typeface="Arial"/>
              </a:rPr>
              <a:t>Designed to promote active retrieval of key concepts and identify common misconceptions in number, supporting consolidation, understanding and fluency.</a:t>
            </a:r>
            <a:br>
              <a:rPr lang="en-AU"/>
            </a:br>
            <a:r>
              <a:rPr lang="en-AU">
                <a:latin typeface="Arial"/>
                <a:cs typeface="Arial"/>
              </a:rPr>
              <a:t>These questions:</a:t>
            </a:r>
          </a:p>
          <a:p>
            <a:endParaRPr lang="en-AU"/>
          </a:p>
          <a:p>
            <a:pPr marL="285750" indent="-285750">
              <a:buFont typeface="Wingdings" panose="05000000000000000000" pitchFamily="2" charset="2"/>
              <a:buChar char="ü"/>
            </a:pPr>
            <a:r>
              <a:rPr lang="en-AU">
                <a:latin typeface="Arial"/>
                <a:cs typeface="Arial"/>
              </a:rPr>
              <a:t>support spaced and interleaved practice</a:t>
            </a:r>
          </a:p>
          <a:p>
            <a:pPr marL="285750" indent="-285750">
              <a:buFont typeface="Wingdings" panose="05000000000000000000" pitchFamily="2" charset="2"/>
              <a:buChar char="ü"/>
            </a:pPr>
            <a:r>
              <a:rPr lang="en-AU">
                <a:latin typeface="Arial"/>
                <a:cs typeface="Arial"/>
              </a:rPr>
              <a:t>help identify and address common misconceptions </a:t>
            </a:r>
          </a:p>
          <a:p>
            <a:pPr marL="285750" indent="-285750">
              <a:buFont typeface="Wingdings" panose="05000000000000000000" pitchFamily="2" charset="2"/>
              <a:buChar char="ü"/>
            </a:pPr>
            <a:r>
              <a:rPr lang="en-AU">
                <a:latin typeface="Arial"/>
                <a:cs typeface="Arial"/>
              </a:rPr>
              <a:t>support active recall and immediate feedback</a:t>
            </a:r>
          </a:p>
          <a:p>
            <a:pPr marL="285750" indent="-285750">
              <a:buFont typeface="Wingdings" panose="05000000000000000000" pitchFamily="2" charset="2"/>
              <a:buChar char="ü"/>
            </a:pPr>
            <a:r>
              <a:rPr lang="en-AU">
                <a:latin typeface="Arial"/>
                <a:cs typeface="Arial"/>
              </a:rPr>
              <a:t>support whole class participation</a:t>
            </a:r>
          </a:p>
          <a:p>
            <a:pPr marL="285750" indent="-285750">
              <a:buFont typeface="Wingdings" panose="05000000000000000000" pitchFamily="2" charset="2"/>
              <a:buChar char="ü"/>
            </a:pPr>
            <a:r>
              <a:rPr lang="en-AU">
                <a:latin typeface="Arial"/>
                <a:cs typeface="Arial"/>
              </a:rPr>
              <a:t>identify areas requiring reteach</a:t>
            </a:r>
          </a:p>
          <a:p>
            <a:endParaRPr lang="en-AU"/>
          </a:p>
          <a:p>
            <a:r>
              <a:rPr lang="en-AU" b="1">
                <a:latin typeface="Arial"/>
                <a:cs typeface="Arial"/>
              </a:rPr>
              <a:t>2.</a:t>
            </a:r>
            <a:br>
              <a:rPr lang="en-AU" b="1"/>
            </a:br>
            <a:r>
              <a:rPr lang="en-AU" b="1">
                <a:latin typeface="Arial"/>
                <a:cs typeface="Arial"/>
              </a:rPr>
              <a:t>Short-response question sets: </a:t>
            </a:r>
            <a:r>
              <a:rPr lang="en-AU">
                <a:latin typeface="Arial"/>
                <a:cs typeface="Arial"/>
              </a:rPr>
              <a:t>Carefully grouped questions that encourage spaced and interleaved practice across multiple focus areas, helping students revisit and apply knowledge from different points in time.</a:t>
            </a:r>
            <a:br>
              <a:rPr lang="en-AU"/>
            </a:br>
            <a:r>
              <a:rPr lang="en-AU">
                <a:latin typeface="Arial"/>
                <a:cs typeface="Arial"/>
              </a:rPr>
              <a:t>These questions:</a:t>
            </a:r>
          </a:p>
          <a:p>
            <a:endParaRPr lang="en-AU"/>
          </a:p>
          <a:p>
            <a:pPr marL="285750" indent="-285750">
              <a:buFont typeface="Wingdings" panose="05000000000000000000" pitchFamily="2" charset="2"/>
              <a:buChar char="ü"/>
            </a:pPr>
            <a:r>
              <a:rPr lang="en-AU">
                <a:latin typeface="Arial"/>
                <a:cs typeface="Arial"/>
              </a:rPr>
              <a:t>have a combination of question types </a:t>
            </a:r>
          </a:p>
          <a:p>
            <a:pPr marL="285750" indent="-285750">
              <a:buFont typeface="Wingdings" panose="05000000000000000000" pitchFamily="2" charset="2"/>
              <a:buChar char="ü"/>
            </a:pPr>
            <a:r>
              <a:rPr lang="en-AU">
                <a:latin typeface="Arial"/>
                <a:cs typeface="Arial"/>
              </a:rPr>
              <a:t>address a range of focus areas</a:t>
            </a:r>
          </a:p>
          <a:p>
            <a:pPr marL="285750" indent="-285750">
              <a:buFont typeface="Wingdings" panose="05000000000000000000" pitchFamily="2" charset="2"/>
              <a:buChar char="ü"/>
            </a:pPr>
            <a:r>
              <a:rPr lang="en-AU">
                <a:latin typeface="Arial"/>
                <a:cs typeface="Arial"/>
              </a:rPr>
              <a:t>build automaticity and fluency</a:t>
            </a:r>
          </a:p>
          <a:p>
            <a:pPr marL="285750" indent="-285750">
              <a:buFont typeface="Wingdings" panose="05000000000000000000" pitchFamily="2" charset="2"/>
              <a:buChar char="ü"/>
            </a:pPr>
            <a:r>
              <a:rPr lang="en-AU">
                <a:latin typeface="Arial"/>
                <a:cs typeface="Arial"/>
              </a:rPr>
              <a:t>support active recall </a:t>
            </a:r>
          </a:p>
          <a:p>
            <a:pPr marL="285750" indent="-285750">
              <a:buFont typeface="Wingdings" panose="05000000000000000000" pitchFamily="2" charset="2"/>
              <a:buChar char="ü"/>
            </a:pPr>
            <a:r>
              <a:rPr lang="en-AU">
                <a:latin typeface="Arial"/>
                <a:cs typeface="Arial"/>
              </a:rPr>
              <a:t>allow for immediate feedback</a:t>
            </a:r>
          </a:p>
          <a:p>
            <a:pPr marL="285750" indent="-285750">
              <a:buFont typeface="Wingdings" panose="05000000000000000000" pitchFamily="2" charset="2"/>
              <a:buChar char="ü"/>
            </a:pPr>
            <a:r>
              <a:rPr lang="en-AU">
                <a:latin typeface="Arial"/>
                <a:cs typeface="Arial"/>
              </a:rPr>
              <a:t>identify content requiring reteach</a:t>
            </a:r>
          </a:p>
          <a:p>
            <a:endParaRPr lang="en-AU"/>
          </a:p>
          <a:p>
            <a:r>
              <a:rPr lang="en-AU" b="1">
                <a:latin typeface="Arial"/>
                <a:cs typeface="Arial"/>
              </a:rPr>
              <a:t>3.</a:t>
            </a:r>
          </a:p>
          <a:p>
            <a:r>
              <a:rPr lang="en-AU" b="1">
                <a:latin typeface="Arial"/>
                <a:cs typeface="Arial"/>
              </a:rPr>
              <a:t>Developing number sense activities: </a:t>
            </a:r>
            <a:r>
              <a:rPr lang="en-AU">
                <a:latin typeface="Arial"/>
                <a:cs typeface="Arial"/>
              </a:rPr>
              <a:t>A variety of practical, purposeful tasks that reinforce current learning and build on prior knowledge. These activities promote reasoning, problem-solving and conceptual understanding.</a:t>
            </a:r>
            <a:br>
              <a:rPr lang="en-AU"/>
            </a:br>
            <a:br>
              <a:rPr lang="en-AU"/>
            </a:br>
            <a:endParaRPr lang="en-AU"/>
          </a:p>
          <a:p>
            <a:r>
              <a:rPr lang="en-AU">
                <a:latin typeface="Arial"/>
                <a:cs typeface="Arial"/>
              </a:rPr>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a:extLst>
              <a:ext uri="{FF2B5EF4-FFF2-40B4-BE49-F238E27FC236}">
                <a16:creationId xmlns:a16="http://schemas.microsoft.com/office/drawing/2014/main" id="{1361D661-6FF4-E1A2-B877-7DA266521710}"/>
              </a:ext>
            </a:extLst>
          </p:cNvPr>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331428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D09C5488-DD16-4714-9519-7BE21BA11D4E}"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3</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latin typeface="Arial"/>
                <a:cs typeface="Arial"/>
              </a:rPr>
              <a:t>Syllabus focus area:</a:t>
            </a:r>
          </a:p>
          <a:p>
            <a:pPr>
              <a:defRPr/>
            </a:pPr>
            <a:r>
              <a:rPr lang="en-AU">
                <a:solidFill>
                  <a:srgbClr val="242424"/>
                </a:solidFill>
                <a:latin typeface="Arial"/>
                <a:cs typeface="Arial"/>
              </a:rPr>
              <a:t>Geometric Measure A: Length</a:t>
            </a:r>
            <a:endParaRPr lang="en-AU">
              <a:latin typeface="Arial"/>
              <a:cs typeface="Arial"/>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latin typeface="Arial"/>
                <a:cs typeface="Arial"/>
              </a:rPr>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Additive relations A</a:t>
            </a:r>
            <a:endParaRPr lang="en-AU">
              <a:latin typeface="Arial"/>
              <a:cs typeface="Arial"/>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Geometric measure B: Position (</a:t>
            </a:r>
            <a:r>
              <a:rPr lang="en-AU" sz="1600" b="1" i="0" kern="1200">
                <a:solidFill>
                  <a:schemeClr val="tx1"/>
                </a:solidFill>
                <a:effectLst/>
                <a:latin typeface="Arial" panose="020B0604020202020204" pitchFamily="34" charset="0"/>
                <a:ea typeface="+mn-ea"/>
                <a:cs typeface="Arial" panose="020B0604020202020204" pitchFamily="34" charset="0"/>
              </a:rPr>
              <a:t>Note: </a:t>
            </a:r>
            <a:r>
              <a:rPr lang="en-AU" sz="1600" b="0" i="0" kern="1200">
                <a:solidFill>
                  <a:schemeClr val="tx1"/>
                </a:solidFill>
                <a:effectLst/>
                <a:latin typeface="Arial" panose="020B0604020202020204" pitchFamily="34" charset="0"/>
                <a:ea typeface="+mn-ea"/>
                <a:cs typeface="Arial" panose="020B0604020202020204" pitchFamily="34" charset="0"/>
              </a:rPr>
              <a:t>Stage 2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p>
          <a:p>
            <a:r>
              <a:rPr lang="en-AU" b="1"/>
              <a:t>Back and Forth</a:t>
            </a:r>
          </a:p>
          <a:p>
            <a:r>
              <a:rPr lang="en-AU" b="0"/>
              <a:t>This resource corresponds to Resource 22 – back and forth in Stage 3 Year A Unit 3.</a:t>
            </a:r>
          </a:p>
          <a:p>
            <a:endParaRPr lang="en-AU" b="0"/>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Provide pairs of students two 9-sided dice, a coloured counter and an A3 copy of Resource 17 – back and forth.</a:t>
            </a:r>
            <a:r>
              <a:rPr lang="en-US"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One student is the ‘</a:t>
            </a:r>
            <a:r>
              <a:rPr lang="en-AU" sz="1600" b="0" i="0" u="none" strike="noStrike" kern="1200" err="1">
                <a:solidFill>
                  <a:schemeClr val="tx1"/>
                </a:solidFill>
                <a:effectLst/>
                <a:latin typeface="Arial" panose="020B0604020202020204" pitchFamily="34" charset="0"/>
                <a:ea typeface="+mn-ea"/>
                <a:cs typeface="Arial" panose="020B0604020202020204" pitchFamily="34" charset="0"/>
              </a:rPr>
              <a:t>Plus’</a:t>
            </a:r>
            <a:r>
              <a:rPr lang="en-AU" sz="1600" b="0" i="0" u="none" strike="noStrike" kern="1200">
                <a:solidFill>
                  <a:schemeClr val="tx1"/>
                </a:solidFill>
                <a:effectLst/>
                <a:latin typeface="Arial" panose="020B0604020202020204" pitchFamily="34" charset="0"/>
                <a:ea typeface="+mn-ea"/>
                <a:cs typeface="Arial" panose="020B0604020202020204" pitchFamily="34" charset="0"/>
              </a:rPr>
              <a:t> and the other student is the ‘Minus’. The Plus will move right and Minus will move left.</a:t>
            </a:r>
            <a:r>
              <a:rPr lang="en-AU"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Students place the counter on the number 500 and take turns to roll the dice.</a:t>
            </a:r>
            <a:r>
              <a:rPr lang="en-US"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Students form a two-digit number to add or take away. They move the counter along the number line and mark it with the new total.</a:t>
            </a:r>
            <a:r>
              <a:rPr lang="en-US"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Students record their number sentence, discussing which strategies they chose to use.</a:t>
            </a:r>
            <a:r>
              <a:rPr lang="en-US"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Students keep rolling the dice and moving until the counter either reaches 400 or 600. If it gets to 400, Minus wins and if it gets to 600, Plus wins.</a:t>
            </a:r>
            <a:r>
              <a:rPr lang="en-US"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Alternatively, after 8 turns each, the player closest to their target number is the winner.</a:t>
            </a:r>
            <a:r>
              <a:rPr lang="en-US" sz="1600" b="0" i="0" kern="1200">
                <a:solidFill>
                  <a:schemeClr val="tx1"/>
                </a:solidFill>
                <a:effectLst/>
                <a:latin typeface="Arial" panose="020B0604020202020204" pitchFamily="34" charset="0"/>
                <a:ea typeface="+mn-ea"/>
                <a:cs typeface="Arial" panose="020B0604020202020204" pitchFamily="34" charset="0"/>
              </a:rPr>
              <a:t>​</a:t>
            </a:r>
          </a:p>
          <a:p>
            <a:pPr rtl="0" fontAlgn="base"/>
            <a:r>
              <a:rPr lang="en-AU" sz="1600" b="0" i="0" kern="1200">
                <a:solidFill>
                  <a:schemeClr val="tx1"/>
                </a:solidFill>
                <a:effectLst/>
                <a:latin typeface="Arial" panose="020B0604020202020204" pitchFamily="34" charset="0"/>
                <a:ea typeface="+mn-ea"/>
                <a:cs typeface="Arial" panose="020B0604020202020204" pitchFamily="34" charset="0"/>
              </a:rPr>
              <a:t>​</a:t>
            </a:r>
          </a:p>
          <a:p>
            <a:pPr rtl="0" fontAlgn="base"/>
            <a:r>
              <a:rPr lang="en-AU" sz="1600" b="0" i="0" kern="1200">
                <a:solidFill>
                  <a:schemeClr val="tx1"/>
                </a:solidFill>
                <a:effectLst/>
                <a:latin typeface="Arial" panose="020B0604020202020204" pitchFamily="34" charset="0"/>
                <a:ea typeface="+mn-ea"/>
                <a:cs typeface="Arial" panose="020B0604020202020204" pitchFamily="34" charset="0"/>
              </a:rPr>
              <a:t>​</a:t>
            </a:r>
          </a:p>
          <a:p>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r>
              <a:rPr lang="en-AU" sz="1600" b="0" i="0">
                <a:solidFill>
                  <a:schemeClr val="tx1"/>
                </a:solidFill>
                <a:latin typeface="Arial"/>
                <a:cs typeface="Arial"/>
              </a:rPr>
              <a:t>The question on this slide connects to the content being explored in the developing number sense activity (Activity 2)</a:t>
            </a:r>
            <a:r>
              <a:rPr lang="en-AU">
                <a:latin typeface="Arial"/>
                <a:cs typeface="Arial"/>
              </a:rPr>
              <a:t> - closest to 500</a:t>
            </a:r>
            <a:endParaRPr lang="en-AU" sz="1600" b="0" i="0">
              <a:solidFill>
                <a:schemeClr val="tx1"/>
              </a:solidFill>
              <a:latin typeface="Arial"/>
              <a:cs typeface="Arial"/>
            </a:endParaRP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solidFill>
                  <a:srgbClr val="242424"/>
                </a:solidFill>
                <a:latin typeface="Arial"/>
                <a:cs typeface="Arial"/>
              </a:rPr>
              <a:t>Additive relations A</a:t>
            </a:r>
            <a:endParaRPr lang="en-AU">
              <a:latin typeface="Arial"/>
              <a:cs typeface="Arial"/>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latin typeface="Arial"/>
                <a:cs typeface="Arial"/>
              </a:rPr>
              <a:t>Syllabus focus area:</a:t>
            </a:r>
          </a:p>
          <a:p>
            <a:pPr>
              <a:defRPr/>
            </a:pPr>
            <a:r>
              <a:rPr lang="en-AU">
                <a:solidFill>
                  <a:srgbClr val="242424"/>
                </a:solidFill>
                <a:latin typeface="Arial"/>
                <a:cs typeface="Arial"/>
              </a:rPr>
              <a:t>Geometric Measure A: Length</a:t>
            </a:r>
            <a:endParaRPr lang="en-AU"/>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Represents numbers A</a:t>
            </a: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Geometric measure B: Length (</a:t>
            </a:r>
            <a:r>
              <a:rPr lang="en-AU" sz="1600" b="1" i="0" kern="1200">
                <a:solidFill>
                  <a:schemeClr val="tx1"/>
                </a:solidFill>
                <a:effectLst/>
                <a:latin typeface="Arial" panose="020B0604020202020204" pitchFamily="34" charset="0"/>
                <a:ea typeface="+mn-ea"/>
                <a:cs typeface="Arial" panose="020B0604020202020204" pitchFamily="34" charset="0"/>
              </a:rPr>
              <a:t>Note: </a:t>
            </a:r>
            <a:r>
              <a:rPr lang="en-AU" sz="1600" b="0" i="0" kern="1200">
                <a:solidFill>
                  <a:schemeClr val="tx1"/>
                </a:solidFill>
                <a:effectLst/>
                <a:latin typeface="Arial" panose="020B0604020202020204" pitchFamily="34" charset="0"/>
                <a:ea typeface="+mn-ea"/>
                <a:cs typeface="Arial" panose="020B0604020202020204" pitchFamily="34" charset="0"/>
              </a:rPr>
              <a:t>Stage 2 content reviewed)</a:t>
            </a:r>
            <a:endParaRPr lang="en-AU" sz="1600" b="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p>
          <a:p>
            <a:r>
              <a:rPr lang="en-AU" b="1"/>
              <a:t>Closest to 500</a:t>
            </a:r>
          </a:p>
          <a:p>
            <a:endParaRPr lang="en-AU" b="1"/>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Provide pairs of students with three 6-sided dice and 2 pieces of paper or 2 individual whiteboards.</a:t>
            </a:r>
            <a:r>
              <a:rPr lang="en-US"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Students take turns to roll the dice and chose a position in the number sentence to place the rolled digit.</a:t>
            </a:r>
            <a:r>
              <a:rPr lang="en-US"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Students continue until all lines are filled.</a:t>
            </a:r>
            <a:r>
              <a:rPr lang="en-US"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Students add the 3 numbers using mental or written strategies and record the total. </a:t>
            </a:r>
            <a:r>
              <a:rPr lang="en-US"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The winner is the student whose total is closest to 500 without going higher.</a:t>
            </a:r>
            <a:r>
              <a:rPr lang="en-US"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Students turn and task, discussing which numbers would have been better placed in different place value positions.</a:t>
            </a:r>
            <a:r>
              <a:rPr lang="en-US"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Challenge students to rearrange the digits and find a better solution to get closest to 500.</a:t>
            </a:r>
            <a:r>
              <a:rPr lang="en-US"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Students play multiple rounds.</a:t>
            </a:r>
            <a:r>
              <a:rPr lang="en-US" sz="1600" b="0" i="0" kern="1200">
                <a:solidFill>
                  <a:schemeClr val="tx1"/>
                </a:solidFill>
                <a:effectLst/>
                <a:latin typeface="Arial" panose="020B0604020202020204" pitchFamily="34" charset="0"/>
                <a:ea typeface="+mn-ea"/>
                <a:cs typeface="Arial" panose="020B0604020202020204" pitchFamily="34" charset="0"/>
              </a:rPr>
              <a:t>​</a:t>
            </a:r>
          </a:p>
          <a:p>
            <a:pPr rtl="0" fontAlgn="base"/>
            <a:r>
              <a:rPr lang="en-AU" sz="1600" b="0" i="0" kern="1200">
                <a:solidFill>
                  <a:schemeClr val="tx1"/>
                </a:solidFill>
                <a:effectLst/>
                <a:latin typeface="Arial" panose="020B0604020202020204" pitchFamily="34" charset="0"/>
                <a:ea typeface="+mn-ea"/>
                <a:cs typeface="Arial" panose="020B0604020202020204" pitchFamily="34" charset="0"/>
              </a:rPr>
              <a:t>​</a:t>
            </a:r>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80149-0CB0-EDDD-5B08-8F680C7A7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2F04F-A596-FC76-5186-7631AA37EF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0421AD-6A32-B849-3496-F3785A5CCA51}"/>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3).</a:t>
            </a: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solidFill>
                  <a:srgbClr val="242424"/>
                </a:solidFill>
                <a:latin typeface="Arial"/>
                <a:cs typeface="Arial"/>
              </a:rPr>
              <a:t>Additive relations A</a:t>
            </a:r>
            <a:endParaRPr lang="en-AU">
              <a:latin typeface="Arial"/>
              <a:cs typeface="Arial"/>
            </a:endParaRPr>
          </a:p>
        </p:txBody>
      </p:sp>
      <p:sp>
        <p:nvSpPr>
          <p:cNvPr id="4" name="Slide Number Placeholder 3">
            <a:extLst>
              <a:ext uri="{FF2B5EF4-FFF2-40B4-BE49-F238E27FC236}">
                <a16:creationId xmlns:a16="http://schemas.microsoft.com/office/drawing/2014/main" id="{AA748202-3E97-0613-B01D-37F69F9E7D13}"/>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2527051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latin typeface="Arial"/>
                <a:cs typeface="Arial"/>
              </a:rPr>
              <a:t>Syllabus focus area:</a:t>
            </a:r>
          </a:p>
          <a:p>
            <a:pPr>
              <a:defRPr/>
            </a:pPr>
            <a:r>
              <a:rPr lang="en-AU">
                <a:solidFill>
                  <a:srgbClr val="242424"/>
                </a:solidFill>
                <a:latin typeface="Arial"/>
                <a:cs typeface="Arial"/>
              </a:rPr>
              <a:t>Geometric Measure A: Length</a:t>
            </a:r>
            <a:endParaRPr lang="en-AU">
              <a:latin typeface="Arial"/>
              <a:cs typeface="Arial"/>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Represents numbers A</a:t>
            </a:r>
            <a:endParaRPr lang="en-AU" b="1"/>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Two-dimensional spatial structure B: 2D shapes (</a:t>
            </a:r>
            <a:r>
              <a:rPr lang="en-AU" sz="1600" b="1" i="0" kern="1200">
                <a:solidFill>
                  <a:schemeClr val="tx1"/>
                </a:solidFill>
                <a:effectLst/>
                <a:latin typeface="Arial" panose="020B0604020202020204" pitchFamily="34" charset="0"/>
                <a:ea typeface="+mn-ea"/>
                <a:cs typeface="Arial" panose="020B0604020202020204" pitchFamily="34" charset="0"/>
              </a:rPr>
              <a:t>Note: </a:t>
            </a:r>
            <a:r>
              <a:rPr lang="en-AU" sz="1600" b="0" i="0" kern="1200">
                <a:solidFill>
                  <a:schemeClr val="tx1"/>
                </a:solidFill>
                <a:effectLst/>
                <a:latin typeface="Arial" panose="020B0604020202020204" pitchFamily="34" charset="0"/>
                <a:ea typeface="+mn-ea"/>
                <a:cs typeface="Arial" panose="020B0604020202020204" pitchFamily="34" charset="0"/>
              </a:rPr>
              <a:t>Stage 2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p>
          <a:p>
            <a:r>
              <a:rPr lang="en-AU" b="1"/>
              <a:t>Snake eyes (addition)</a:t>
            </a:r>
          </a:p>
          <a:p>
            <a:endParaRPr lang="en-AU" b="1"/>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Provide pairs of students with three 9-sided dice and individual whiteboards.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Introduce the game ‘snake eyes’. Explain that students will be using a range of strategies to add 3-digit numbers. The aim of the game is to be the first to get to 10 000.</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take turns to roll the three dice, make a 3-digit number and then choose an additive strategy to add it to a running total on an individual whiteboard.</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select a ‘venomous’ number, for example, 6. If the ‘venomous’ number is rolled on any of the dice, the player misses a turn</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If a ‘triple one’ (snake eyes) is rolled, that player loses all their points and returns to zero.</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Play continues until a player ‘wins’ by reaching 10 000.</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Regroup as a class and ask:</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different strategies did you choose to use to solve the problems?</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strategy did you use the most and why? </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strategy did you use the least and why? </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r>
              <a:rPr lang="en-AU" sz="1600" b="0" i="0">
                <a:solidFill>
                  <a:schemeClr val="tx1"/>
                </a:solidFill>
                <a:latin typeface="Arial"/>
                <a:cs typeface="Arial"/>
              </a:rPr>
              <a:t>The question on this slide connects to the content being explored in the developing number sense activity (Activity 4</a:t>
            </a:r>
            <a:r>
              <a:rPr lang="en-AU">
                <a:latin typeface="Arial"/>
                <a:cs typeface="Arial"/>
              </a:rPr>
              <a:t>)- snake eyes (subtraction)</a:t>
            </a:r>
            <a:endParaRPr lang="en-AU" sz="1600" b="0" i="0">
              <a:solidFill>
                <a:schemeClr val="tx1"/>
              </a:solidFill>
              <a:latin typeface="Arial"/>
              <a:cs typeface="Arial"/>
            </a:endParaRP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solidFill>
                  <a:srgbClr val="242424"/>
                </a:solidFill>
              </a:rPr>
              <a:t>Additive relations A</a:t>
            </a:r>
            <a:endParaRPr lang="en-AU"/>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latin typeface="Arial"/>
                <a:cs typeface="Arial"/>
              </a:rPr>
              <a:t>Syllabus focus area:</a:t>
            </a:r>
          </a:p>
          <a:p>
            <a:pPr>
              <a:defRPr/>
            </a:pPr>
            <a:r>
              <a:rPr lang="en-AU">
                <a:solidFill>
                  <a:srgbClr val="242424"/>
                </a:solidFill>
                <a:latin typeface="Arial"/>
                <a:cs typeface="Arial"/>
              </a:rPr>
              <a:t>Geometric Measure A: Length</a:t>
            </a:r>
            <a:endParaRPr lang="en-AU">
              <a:latin typeface="Arial"/>
              <a:cs typeface="Arial"/>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Two-dimensional spatial structure B: Area (</a:t>
            </a:r>
            <a:r>
              <a:rPr lang="en-AU" sz="1600" b="1" i="0" kern="1200">
                <a:solidFill>
                  <a:schemeClr val="tx1"/>
                </a:solidFill>
                <a:effectLst/>
                <a:latin typeface="Arial" panose="020B0604020202020204" pitchFamily="34" charset="0"/>
                <a:ea typeface="+mn-ea"/>
                <a:cs typeface="Arial" panose="020B0604020202020204" pitchFamily="34" charset="0"/>
              </a:rPr>
              <a:t>Note: </a:t>
            </a:r>
            <a:r>
              <a:rPr lang="en-AU" sz="1600" b="0" i="0" kern="1200">
                <a:solidFill>
                  <a:schemeClr val="tx1"/>
                </a:solidFill>
                <a:effectLst/>
                <a:latin typeface="Arial" panose="020B0604020202020204" pitchFamily="34" charset="0"/>
                <a:ea typeface="+mn-ea"/>
                <a:cs typeface="Arial" panose="020B0604020202020204" pitchFamily="34" charset="0"/>
              </a:rPr>
              <a:t>Stage 2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p>
          <a:p>
            <a:r>
              <a:rPr lang="en-AU" b="1"/>
              <a:t>Snake Eyes- Subtraction</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Provide pairs of students with three 9-sided dice and individual whiteboards.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Revise the game ‘snake eyes’. Explain that students will be using a range of strategies to subtract 3-digit numbers. The aim of the game is to be the first to get from 10 000 to 0.</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take turns to roll the three dice, make a 3-digit number and then choose an additive strategy to subtract it from a running total on an individual whiteboard.</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select a ‘venomous’ number, for example, 6. If the ‘venomous’ number is rolled on any of the dice, the player misses a turn</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If a ‘triple one’ (snake eyes) is rolled, that player loses all their points and returns to zero.</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Play continues until a player ‘wins’ by reaching 0.</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Regroup as a class and ask:</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different strategies did you choose to use to solve the problems?</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strategy did you use the most and why? </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strategy did you use the least and why? </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34F17-CD8E-8D00-54E2-6FEB75C9BC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C01F71-E848-F722-C2A1-8D30DD1149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533E3-1064-AE44-0F73-0B71A2F1CF09}"/>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5)</a:t>
            </a:r>
            <a:r>
              <a:rPr lang="en-AU">
                <a:latin typeface="Arial"/>
                <a:cs typeface="Arial"/>
              </a:rPr>
              <a:t> - three strikes and your out</a:t>
            </a:r>
            <a:endParaRPr lang="en-AU" sz="1600" b="0" i="0">
              <a:solidFill>
                <a:schemeClr val="tx1"/>
              </a:solidFill>
              <a:latin typeface="Arial"/>
              <a:cs typeface="Arial"/>
            </a:endParaRP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solidFill>
                  <a:srgbClr val="242424"/>
                </a:solidFill>
                <a:latin typeface="Arial"/>
                <a:cs typeface="Arial"/>
              </a:rPr>
              <a:t>Multiplicative relations B</a:t>
            </a:r>
            <a:endParaRPr lang="en-AU">
              <a:latin typeface="Arial"/>
              <a:cs typeface="Arial"/>
            </a:endParaRPr>
          </a:p>
        </p:txBody>
      </p:sp>
      <p:sp>
        <p:nvSpPr>
          <p:cNvPr id="4" name="Slide Number Placeholder 3">
            <a:extLst>
              <a:ext uri="{FF2B5EF4-FFF2-40B4-BE49-F238E27FC236}">
                <a16:creationId xmlns:a16="http://schemas.microsoft.com/office/drawing/2014/main" id="{D3C98C79-F24D-D293-5D72-3E1A9BA0B197}"/>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23562966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latin typeface="Arial"/>
                <a:cs typeface="Arial"/>
              </a:rPr>
              <a:t>Syllabus focus area:</a:t>
            </a:r>
          </a:p>
          <a:p>
            <a:pPr>
              <a:defRPr/>
            </a:pPr>
            <a:r>
              <a:rPr lang="en-AU">
                <a:solidFill>
                  <a:srgbClr val="242424"/>
                </a:solidFill>
                <a:latin typeface="Arial"/>
                <a:cs typeface="Arial"/>
              </a:rPr>
              <a:t>Geometric Measure A: Length</a:t>
            </a:r>
            <a:endParaRPr lang="en-AU">
              <a:latin typeface="Arial"/>
              <a:cs typeface="Arial"/>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Non-spatial measure B: Time (</a:t>
            </a:r>
            <a:r>
              <a:rPr lang="en-AU" sz="1600" b="1" i="0" kern="1200">
                <a:solidFill>
                  <a:schemeClr val="tx1"/>
                </a:solidFill>
                <a:effectLst/>
                <a:latin typeface="Arial" panose="020B0604020202020204" pitchFamily="34" charset="0"/>
                <a:ea typeface="+mn-ea"/>
                <a:cs typeface="Arial" panose="020B0604020202020204" pitchFamily="34" charset="0"/>
              </a:rPr>
              <a:t>Note: </a:t>
            </a:r>
            <a:r>
              <a:rPr lang="en-AU" sz="1600" b="0" i="0" kern="1200">
                <a:solidFill>
                  <a:schemeClr val="tx1"/>
                </a:solidFill>
                <a:effectLst/>
                <a:latin typeface="Arial" panose="020B0604020202020204" pitchFamily="34" charset="0"/>
                <a:ea typeface="+mn-ea"/>
                <a:cs typeface="Arial" panose="020B0604020202020204" pitchFamily="34" charset="0"/>
              </a:rPr>
              <a:t>Stage 2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B</a:t>
            </a:r>
          </a:p>
          <a:p>
            <a:endParaRPr lang="en-AU"/>
          </a:p>
          <a:p>
            <a:r>
              <a:rPr lang="en-AU" b="1"/>
              <a:t>Three strikes and you’re out!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Provide pairs of students with an individual whiteboard and instruct Player 1 to copy down what is displayed here. </a:t>
            </a:r>
            <a:endParaRPr lang="en-AU" sz="1600" b="0" i="0" kern="1200">
              <a:solidFill>
                <a:schemeClr val="tx1"/>
              </a:solidFill>
              <a:effectLst/>
              <a:latin typeface="Arial" panose="020B0604020202020204" pitchFamily="34" charset="0"/>
              <a:ea typeface="+mn-ea"/>
              <a:cs typeface="Arial" panose="020B0604020202020204" pitchFamily="34" charset="0"/>
            </a:endParaRP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Player 1 records a multiplication equation on a sticky note or piece of paper and keeps it hidden.</a:t>
            </a:r>
            <a:r>
              <a:rPr lang="en-AU"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Player 2 guesses numbers between 0-9 to try and reveal the equation. </a:t>
            </a:r>
            <a:r>
              <a:rPr lang="en-AU"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If the number is within the equation, Player 1 records it in the corresponding space (see Figure 13)</a:t>
            </a:r>
            <a:r>
              <a:rPr lang="en-AU"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If the number is not in the equation, it is a ‘strike’. </a:t>
            </a:r>
            <a:r>
              <a:rPr lang="en-AU"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Figure 13 – Three strikes and you’re out work sample</a:t>
            </a:r>
            <a:r>
              <a:rPr lang="en-AU"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To win, students need to determine all the numbers in the equation before they get 3 strikes.</a:t>
            </a:r>
            <a:r>
              <a:rPr lang="en-AU"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Players swap roles and continue with multiple rounds.</a:t>
            </a:r>
            <a:r>
              <a:rPr lang="en-AU" sz="1600" b="0" i="0" kern="1200">
                <a:solidFill>
                  <a:schemeClr val="tx1"/>
                </a:solidFill>
                <a:effectLst/>
                <a:latin typeface="Arial" panose="020B0604020202020204" pitchFamily="34" charset="0"/>
                <a:ea typeface="+mn-ea"/>
                <a:cs typeface="Arial" panose="020B0604020202020204" pitchFamily="34" charset="0"/>
              </a:rPr>
              <a:t>​</a:t>
            </a:r>
          </a:p>
          <a:p>
            <a:pPr marL="0" indent="0" rtl="0" fontAlgn="base">
              <a:buFont typeface="+mj-lt"/>
              <a:buNone/>
            </a:pPr>
            <a:endParaRPr lang="en-AU" sz="1600" kern="1200">
              <a:solidFill>
                <a:schemeClr val="tx1"/>
              </a:solidFill>
              <a:effectLst/>
              <a:latin typeface="Arial" panose="020B0604020202020204" pitchFamily="34" charset="0"/>
              <a:ea typeface="+mn-ea"/>
              <a:cs typeface="Arial" panose="020B0604020202020204" pitchFamily="34" charset="0"/>
            </a:endParaRPr>
          </a:p>
          <a:p>
            <a:pPr marL="0" indent="0" rtl="0" fontAlgn="base">
              <a:buFont typeface="+mj-lt"/>
              <a:buNone/>
            </a:pPr>
            <a:r>
              <a:rPr lang="en-AU" sz="1600" kern="1200">
                <a:solidFill>
                  <a:schemeClr val="tx1"/>
                </a:solidFill>
                <a:effectLst/>
                <a:latin typeface="Arial" panose="020B0604020202020204" pitchFamily="34" charset="0"/>
                <a:ea typeface="+mn-ea"/>
                <a:cs typeface="Arial" panose="020B0604020202020204" pitchFamily="34" charset="0"/>
              </a:rPr>
              <a:t>This activity can be differentiated by increasing or decreasing the numbers within the equation to multiply, for example a 2-digit number with another 2-digit number.</a:t>
            </a:r>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r>
              <a:rPr lang="en-AU" sz="1600" b="0" i="0">
                <a:solidFill>
                  <a:schemeClr val="tx1"/>
                </a:solidFill>
                <a:latin typeface="Arial"/>
                <a:cs typeface="Arial"/>
              </a:rPr>
              <a:t>The question on this slide connects to the content being explored in the developing number sense activity (Activity 6)</a:t>
            </a:r>
            <a:r>
              <a:rPr lang="en-AU">
                <a:latin typeface="Arial"/>
                <a:cs typeface="Arial"/>
              </a:rPr>
              <a:t> - missing numbers</a:t>
            </a:r>
            <a:endParaRPr lang="en-AU" sz="1600" b="0" i="0">
              <a:solidFill>
                <a:schemeClr val="tx1"/>
              </a:solidFill>
              <a:latin typeface="Arial"/>
              <a:cs typeface="Arial"/>
            </a:endParaRP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solidFill>
                  <a:srgbClr val="242424"/>
                </a:solidFill>
                <a:latin typeface="Arial"/>
                <a:cs typeface="Arial"/>
              </a:rPr>
              <a:t>Multiplicative relations B</a:t>
            </a:r>
            <a:endParaRPr lang="en-US" u="sng">
              <a:solidFill>
                <a:srgbClr val="000000"/>
              </a:solidFill>
              <a:latin typeface="Arial"/>
              <a:cs typeface="Arial"/>
            </a:endParaRPr>
          </a:p>
          <a:p>
            <a:pPr>
              <a:defRPr/>
            </a:pPr>
            <a:endParaRPr lang="en-US">
              <a:solidFill>
                <a:srgbClr val="22272B"/>
              </a:solidFill>
              <a:latin typeface="Arial"/>
              <a:cs typeface="Arial"/>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Geometric Measure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Multiplicative relations A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Non-spatial measure B: Time (</a:t>
            </a:r>
            <a:r>
              <a:rPr lang="en-AU" sz="1600" b="1" i="0" kern="1200">
                <a:solidFill>
                  <a:schemeClr val="tx1"/>
                </a:solidFill>
                <a:effectLst/>
                <a:latin typeface="Arial" panose="020B0604020202020204" pitchFamily="34" charset="0"/>
                <a:ea typeface="+mn-ea"/>
                <a:cs typeface="Arial" panose="020B0604020202020204" pitchFamily="34" charset="0"/>
              </a:rPr>
              <a:t>Note: </a:t>
            </a:r>
            <a:r>
              <a:rPr lang="en-AU" sz="1600" b="0" i="0" kern="1200">
                <a:solidFill>
                  <a:schemeClr val="tx1"/>
                </a:solidFill>
                <a:effectLst/>
                <a:latin typeface="Arial" panose="020B0604020202020204" pitchFamily="34" charset="0"/>
                <a:ea typeface="+mn-ea"/>
                <a:cs typeface="Arial" panose="020B0604020202020204" pitchFamily="34" charset="0"/>
              </a:rPr>
              <a:t>Stage 2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B</a:t>
            </a:r>
          </a:p>
          <a:p>
            <a:endParaRPr lang="en-AU"/>
          </a:p>
          <a:p>
            <a:r>
              <a:rPr lang="en-AU" b="1"/>
              <a:t>Missing Numbers</a:t>
            </a:r>
          </a:p>
          <a:p>
            <a:r>
              <a:rPr lang="en-AU" b="0"/>
              <a:t>This resource corresponds to Resource 23 – Missing Numbers in Stage 3 Year A Unit 3.</a:t>
            </a:r>
          </a:p>
          <a:p>
            <a:endParaRPr lang="en-AU" b="0"/>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Provide students with a copy of Resource 18 – missing numbers. </a:t>
            </a:r>
            <a:r>
              <a:rPr lang="en-US"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Explain that students can use the existing numbers to fill in all the missing numbers on the grid.</a:t>
            </a:r>
            <a:r>
              <a:rPr lang="en-US"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Highlight the number 32 on the grid. Demonstrate that the missing number in the first column can be represented as 8 × _ = 32 or 32 ÷ 8 = _.</a:t>
            </a:r>
            <a:r>
              <a:rPr lang="en-US"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Write 4 in the first column and model how 4 × 5 and 4 × 2 can now be solved.</a:t>
            </a:r>
            <a:r>
              <a:rPr lang="en-US"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Highlight the number 18 on the grid. Demonstrate that the missing number in the first row can be represented as 6 × _ = 18 or 18 ÷ 6 = _.</a:t>
            </a:r>
            <a:r>
              <a:rPr lang="en-US"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Write 3 in the first row.</a:t>
            </a:r>
            <a:r>
              <a:rPr lang="en-US"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Students complete the grid, calculating the missing numbers.</a:t>
            </a:r>
            <a:r>
              <a:rPr lang="en-US"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Regroup and select students to share their solutions.</a:t>
            </a:r>
            <a:r>
              <a:rPr lang="en-US"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As students share, record the number sentences with the missing number, demonstrating the inverse relationship of multiplication and division.</a:t>
            </a:r>
            <a:r>
              <a:rPr lang="en-US"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endParaRPr lang="en-AU" sz="1600" b="0" i="0" kern="1200">
              <a:solidFill>
                <a:schemeClr val="tx1"/>
              </a:solidFill>
              <a:effectLst/>
              <a:latin typeface="Arial" panose="020B0604020202020204" pitchFamily="34" charset="0"/>
              <a:ea typeface="+mn-ea"/>
              <a:cs typeface="Arial" panose="020B0604020202020204" pitchFamily="34" charset="0"/>
            </a:endParaRPr>
          </a:p>
          <a:p>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9076A-D16A-3F97-6B90-A54579A4AE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20DB8E-A5C9-E327-EBB6-16A107BFE5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8DA4AA-531A-FF37-A808-D8D5F3C4A95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55B6639-8575-AE11-3C44-9D157ACB88D3}"/>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402790266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Geometric Measure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Three-dimensional spatial structure B: 3D objects (</a:t>
            </a:r>
            <a:r>
              <a:rPr lang="en-AU" sz="1600" b="1" i="0" kern="1200">
                <a:solidFill>
                  <a:schemeClr val="tx1"/>
                </a:solidFill>
                <a:effectLst/>
                <a:latin typeface="Arial" panose="020B0604020202020204" pitchFamily="34" charset="0"/>
                <a:ea typeface="+mn-ea"/>
                <a:cs typeface="Arial" panose="020B0604020202020204" pitchFamily="34" charset="0"/>
              </a:rPr>
              <a:t>Note: </a:t>
            </a:r>
            <a:r>
              <a:rPr lang="en-AU" sz="1600" b="0" i="0" kern="1200">
                <a:solidFill>
                  <a:schemeClr val="tx1"/>
                </a:solidFill>
                <a:effectLst/>
                <a:latin typeface="Arial" panose="020B0604020202020204" pitchFamily="34" charset="0"/>
                <a:ea typeface="+mn-ea"/>
                <a:cs typeface="Arial" panose="020B0604020202020204" pitchFamily="34" charset="0"/>
              </a:rPr>
              <a:t>Stage 2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B</a:t>
            </a:r>
          </a:p>
          <a:p>
            <a:endParaRPr lang="en-AU"/>
          </a:p>
          <a:p>
            <a:r>
              <a:rPr lang="en-AU" b="1"/>
              <a:t>Solving word problems involving multiplication</a:t>
            </a:r>
          </a:p>
          <a:p>
            <a:r>
              <a:rPr lang="en-AU" b="0"/>
              <a:t>This resource corresponds to Resource 24 – word problems 1 in Stage 3 Year A Unit 3. </a:t>
            </a:r>
          </a:p>
          <a:p>
            <a:endParaRPr lang="en-AU" b="0"/>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Read the first question.</a:t>
            </a:r>
            <a:r>
              <a:rPr lang="en-US"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Demonstrate that the problem can be represented as 6 × _ = 24 or 24 ÷ 6 = _</a:t>
            </a:r>
            <a:r>
              <a:rPr lang="en-US"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Students record and complete both equations.</a:t>
            </a:r>
            <a:r>
              <a:rPr lang="en-US"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Provide students with Resource 24 – word problems 1 </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Students solve the problems, recording the equations in their workbooks.</a:t>
            </a:r>
            <a:r>
              <a:rPr lang="en-US"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Regroup and select students to share their solutions.</a:t>
            </a:r>
            <a:r>
              <a:rPr lang="en-US"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As students share, record the equations and provide feedback and corrections as necessary.</a:t>
            </a:r>
            <a:r>
              <a:rPr lang="en-US" sz="1600" b="0" i="0" kern="1200">
                <a:solidFill>
                  <a:schemeClr val="tx1"/>
                </a:solidFill>
                <a:effectLst/>
                <a:latin typeface="Arial" panose="020B0604020202020204" pitchFamily="34" charset="0"/>
                <a:ea typeface="+mn-ea"/>
                <a:cs typeface="Arial" panose="020B0604020202020204" pitchFamily="34" charset="0"/>
              </a:rPr>
              <a:t>​</a:t>
            </a:r>
          </a:p>
          <a:p>
            <a:pPr rtl="0" fontAlgn="base"/>
            <a:r>
              <a:rPr lang="en-AU" sz="1600" b="0" i="0" kern="1200">
                <a:solidFill>
                  <a:schemeClr val="tx1"/>
                </a:solidFill>
                <a:effectLst/>
                <a:latin typeface="Arial" panose="020B0604020202020204" pitchFamily="34" charset="0"/>
                <a:ea typeface="+mn-ea"/>
                <a:cs typeface="Arial" panose="020B0604020202020204" pitchFamily="34" charset="0"/>
              </a:rPr>
              <a:t>​</a:t>
            </a:r>
          </a:p>
          <a:p>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solidFill>
                  <a:srgbClr val="242424"/>
                </a:solidFill>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Non- spatial measure A: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Two-dimensional spatial structure B: 2D shapes (</a:t>
            </a:r>
            <a:r>
              <a:rPr lang="en-AU" sz="1600" b="1" i="0" kern="1200">
                <a:solidFill>
                  <a:schemeClr val="tx1"/>
                </a:solidFill>
                <a:effectLst/>
                <a:latin typeface="Arial" panose="020B0604020202020204" pitchFamily="34" charset="0"/>
                <a:ea typeface="+mn-ea"/>
                <a:cs typeface="Arial" panose="020B0604020202020204" pitchFamily="34" charset="0"/>
              </a:rPr>
              <a:t>Note: </a:t>
            </a:r>
            <a:r>
              <a:rPr lang="en-AU" sz="1600" b="0" i="0" kern="1200">
                <a:solidFill>
                  <a:schemeClr val="tx1"/>
                </a:solidFill>
                <a:effectLst/>
                <a:latin typeface="Arial" panose="020B0604020202020204" pitchFamily="34" charset="0"/>
                <a:ea typeface="+mn-ea"/>
                <a:cs typeface="Arial" panose="020B0604020202020204" pitchFamily="34" charset="0"/>
              </a:rPr>
              <a:t>Stage 2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B</a:t>
            </a:r>
          </a:p>
          <a:p>
            <a:endParaRPr lang="en-AU"/>
          </a:p>
          <a:p>
            <a:r>
              <a:rPr lang="en-AU" b="1"/>
              <a:t>Solving word problems involving division</a:t>
            </a:r>
          </a:p>
          <a:p>
            <a:r>
              <a:rPr lang="en-AU" b="0"/>
              <a:t>This resource corresponds to Resource 25 – word problems 2 in Stage 3 Year A Unit 3.</a:t>
            </a:r>
          </a:p>
          <a:p>
            <a:endParaRPr lang="en-AU" b="0"/>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Read the first question.</a:t>
            </a:r>
            <a:r>
              <a:rPr lang="en-US"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Demonstrate that the problem can be represented as 48 ÷ 6 = _ or 6 × _ = 48. Students record and complete both equations.</a:t>
            </a:r>
            <a:r>
              <a:rPr lang="en-US"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Provide students with Resource 25 – word problems 2.</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Students solve the problems, recording the equations in their workbooks.</a:t>
            </a:r>
            <a:r>
              <a:rPr lang="en-US"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Regroup and select students to share their solutions.</a:t>
            </a:r>
            <a:r>
              <a:rPr lang="en-US" sz="1600" b="0" i="0" kern="1200">
                <a:solidFill>
                  <a:schemeClr val="tx1"/>
                </a:solidFill>
                <a:effectLst/>
                <a:latin typeface="Arial" panose="020B0604020202020204" pitchFamily="34" charset="0"/>
                <a:ea typeface="+mn-ea"/>
                <a:cs typeface="Arial" panose="020B0604020202020204" pitchFamily="34" charset="0"/>
              </a:rPr>
              <a:t>​</a:t>
            </a:r>
          </a:p>
          <a:p>
            <a:pPr marL="342900" indent="-342900" rtl="0" fontAlgn="base">
              <a:buFont typeface="+mj-lt"/>
              <a:buAutoNum type="arabicPeriod"/>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As students share, record the equations and provide feedback and corrections as necessary.</a:t>
            </a:r>
            <a:r>
              <a:rPr lang="en-US" sz="1600" b="0" i="0" kern="1200">
                <a:solidFill>
                  <a:schemeClr val="tx1"/>
                </a:solidFill>
                <a:effectLst/>
                <a:latin typeface="Arial" panose="020B0604020202020204" pitchFamily="34" charset="0"/>
                <a:ea typeface="+mn-ea"/>
                <a:cs typeface="Arial" panose="020B0604020202020204" pitchFamily="34" charset="0"/>
              </a:rPr>
              <a:t>​</a:t>
            </a:r>
          </a:p>
          <a:p>
            <a:pPr marL="0" indent="0" rtl="0" fontAlgn="base">
              <a:buFont typeface="+mj-lt"/>
              <a:buNone/>
            </a:pPr>
            <a:r>
              <a:rPr lang="en-AU" sz="1600" b="0" i="0" kern="1200">
                <a:solidFill>
                  <a:schemeClr val="tx1"/>
                </a:solidFill>
                <a:effectLst/>
                <a:latin typeface="Arial" panose="020B0604020202020204" pitchFamily="34" charset="0"/>
                <a:ea typeface="+mn-ea"/>
                <a:cs typeface="Arial" panose="020B0604020202020204" pitchFamily="34" charset="0"/>
              </a:rPr>
              <a:t>​</a:t>
            </a:r>
          </a:p>
          <a:p>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7ED0D-FC31-4DF4-D6A9-93FA60CA3E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907F3E-7664-8F4E-80E3-7D06724A0D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0520ED-D96B-A237-5F22-1852872485D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C0A0BE0-5E14-F326-D289-F71CF5B2513E}"/>
              </a:ext>
            </a:extLst>
          </p:cNvPr>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385233710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403676514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39.xml"/><Relationship Id="rId3" Type="http://schemas.openxmlformats.org/officeDocument/2006/relationships/slide" Target="slide4.xml"/><Relationship Id="rId7" Type="http://schemas.openxmlformats.org/officeDocument/2006/relationships/slide" Target="slide3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53.xml"/><Relationship Id="rId4" Type="http://schemas.openxmlformats.org/officeDocument/2006/relationships/slide" Target="slide11.xml"/><Relationship Id="rId9" Type="http://schemas.openxmlformats.org/officeDocument/2006/relationships/slide" Target="slide4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4.xml"/><Relationship Id="rId5" Type="http://schemas.openxmlformats.org/officeDocument/2006/relationships/image" Target="../media/image16.png"/><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microsoft.com/office/2018/10/relationships/comments" Target="../comments/modernComment_67EC_6C730A41.xml"/><Relationship Id="rId2" Type="http://schemas.openxmlformats.org/officeDocument/2006/relationships/notesSlide" Target="../notesSlides/notesSlide26.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4.xml"/><Relationship Id="rId5" Type="http://schemas.openxmlformats.org/officeDocument/2006/relationships/image" Target="../media/image16.png"/><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18.jpe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5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5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4.xml"/><Relationship Id="rId1" Type="http://schemas.openxmlformats.org/officeDocument/2006/relationships/slideLayout" Target="../slideLayouts/slideLayout11.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slide" Target="slide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12" Type="http://schemas.openxmlformats.org/officeDocument/2006/relationships/hyperlink" Target="https://nrich.maths.org/6606" TargetMode="External"/><Relationship Id="rId2" Type="http://schemas.openxmlformats.org/officeDocument/2006/relationships/notesSlide" Target="../notesSlides/notesSlide67.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11" Type="http://schemas.openxmlformats.org/officeDocument/2006/relationships/hyperlink" Target="https://nrich.maths.org/5897" TargetMode="External"/><Relationship Id="rId5" Type="http://schemas.openxmlformats.org/officeDocument/2006/relationships/hyperlink" Target="https://curriculum.nsw.edu.au/" TargetMode="External"/><Relationship Id="rId10" Type="http://schemas.openxmlformats.org/officeDocument/2006/relationships/hyperlink" Target="https://education.nsw.gov.au/content/dam/main-education/teaching-and-learning/curriculum/key-learning-areas/mathematics/media/documents/mathematics-s2-part-3-dens.pdf"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marilynburnsmath.com/games/four-strikes-and-youre-out/" TargetMode="External"/></Relationships>
</file>

<file path=ppt/slides/_rels/slide68.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8.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buFont typeface="Arial"/>
              <a:buChar char="•"/>
            </a:pPr>
            <a:r>
              <a:rPr lang="en-AU" sz="1800">
                <a:latin typeface="+mn-lt"/>
                <a:ea typeface="+mn-lt"/>
                <a:cs typeface="+mn-lt"/>
              </a:rPr>
              <a:t>This resource is not a teaching and learning program. It should be used in conjunction with Stage 3 Year A Unit 3. </a:t>
            </a:r>
            <a:endParaRPr lang="en-AU" sz="1800">
              <a:solidFill>
                <a:srgbClr val="22272B"/>
              </a:solidFill>
              <a:latin typeface="+mn-lt"/>
            </a:endParaRPr>
          </a:p>
          <a:p>
            <a:pPr marL="342900" indent="-342900">
              <a:lnSpc>
                <a:spcPct val="150000"/>
              </a:lnSpc>
              <a:buFont typeface="Arial"/>
              <a:buChar char="•"/>
            </a:pPr>
            <a:r>
              <a:rPr lang="en-AU" sz="1800">
                <a:solidFill>
                  <a:srgbClr val="22272B"/>
                </a:solidFill>
                <a:latin typeface="+mn-lt"/>
                <a:cs typeface="Arial"/>
              </a:rPr>
              <a:t>Classroom teachers are encouraged to </a:t>
            </a:r>
            <a:r>
              <a:rPr lang="en-AU" sz="1800" b="1">
                <a:solidFill>
                  <a:srgbClr val="22272B"/>
                </a:solidFill>
                <a:latin typeface="+mn-lt"/>
                <a:cs typeface="Arial"/>
              </a:rPr>
              <a:t>add and adapt</a:t>
            </a:r>
            <a:r>
              <a:rPr lang="en-AU" sz="1800">
                <a:solidFill>
                  <a:srgbClr val="22272B"/>
                </a:solidFill>
                <a:latin typeface="+mn-lt"/>
                <a:cs typeface="Arial"/>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cs typeface="Arial"/>
              </a:rPr>
              <a:t>To convert the PowerPoint to Google Slides:</a:t>
            </a:r>
          </a:p>
          <a:p>
            <a:pPr marL="913765" lvl="1" indent="-457200">
              <a:lnSpc>
                <a:spcPct val="150000"/>
              </a:lnSpc>
              <a:buFont typeface="+mj-lt"/>
              <a:buAutoNum type="arabicPeriod"/>
            </a:pPr>
            <a:r>
              <a:rPr lang="en-AU">
                <a:solidFill>
                  <a:srgbClr val="22272B"/>
                </a:solidFill>
                <a:latin typeface="+mn-lt"/>
                <a:cs typeface="Arial"/>
              </a:rPr>
              <a:t>Upload the file into Google Drive and open it.</a:t>
            </a:r>
          </a:p>
          <a:p>
            <a:pPr marL="913765" lvl="1" indent="-457200">
              <a:lnSpc>
                <a:spcPct val="150000"/>
              </a:lnSpc>
              <a:buFont typeface="+mj-lt"/>
              <a:buAutoNum type="arabicPeriod"/>
            </a:pPr>
            <a:r>
              <a:rPr lang="en-AU">
                <a:solidFill>
                  <a:srgbClr val="22272B"/>
                </a:solidFill>
                <a:latin typeface="+mn-lt"/>
                <a:cs typeface="Arial"/>
              </a:rPr>
              <a:t>Go to File &gt; Save as Google Slides.</a:t>
            </a:r>
          </a:p>
          <a:p>
            <a:pPr marL="456565" lvl="1">
              <a:lnSpc>
                <a:spcPct val="150000"/>
              </a:lnSpc>
            </a:pPr>
            <a:r>
              <a:rPr lang="en-AU">
                <a:solidFill>
                  <a:srgbClr val="22272B"/>
                </a:solidFill>
                <a:latin typeface="+mn-lt"/>
                <a:cs typeface="Arial"/>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953DE-EA46-2AA4-25B9-BD50F0AA51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925BC9-FED8-C057-602D-063585908756}"/>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B722FDAB-21E7-04BA-D615-8E6A0F5C1AFB}"/>
              </a:ext>
            </a:extLst>
          </p:cNvPr>
          <p:cNvSpPr>
            <a:spLocks noGrp="1"/>
          </p:cNvSpPr>
          <p:nvPr>
            <p:ph type="body" sz="quarter" idx="10"/>
          </p:nvPr>
        </p:nvSpPr>
        <p:spPr/>
        <p:txBody>
          <a:bodyPr/>
          <a:lstStyle/>
          <a:p>
            <a:r>
              <a:rPr lang="en-AU">
                <a:latin typeface="+mj-lt"/>
              </a:rPr>
              <a:t>Mathematics Stage 3 – Unit 3</a:t>
            </a:r>
          </a:p>
        </p:txBody>
      </p:sp>
      <p:pic>
        <p:nvPicPr>
          <p:cNvPr id="5" name="Picture Placeholder 4">
            <a:extLst>
              <a:ext uri="{FF2B5EF4-FFF2-40B4-BE49-F238E27FC236}">
                <a16:creationId xmlns:a16="http://schemas.microsoft.com/office/drawing/2014/main" id="{3492ED26-EFFD-ABC0-5FC2-50C21A88E5D9}"/>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44" r="444"/>
          <a:stretch>
            <a:fillRect/>
          </a:stretch>
        </p:blipFill>
        <p:spPr/>
      </p:pic>
    </p:spTree>
    <p:extLst>
      <p:ext uri="{BB962C8B-B14F-4D97-AF65-F5344CB8AC3E}">
        <p14:creationId xmlns:p14="http://schemas.microsoft.com/office/powerpoint/2010/main" val="1350110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Group 5">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marR="0" lvl="0" indent="0" algn="l" defTabSz="60958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2664"/>
                  </a:solidFill>
                  <a:effectLst/>
                  <a:uLnTx/>
                  <a:uFillTx/>
                  <a:latin typeface="Arial" panose="020B0604020202020204"/>
                  <a:ea typeface="+mn-ea"/>
                  <a:cs typeface="+mn-cs"/>
                </a:rPr>
                <a:t>Review of learning 1</a:t>
              </a:r>
              <a:endParaRPr kumimoji="0" lang="en-AU" sz="2400" b="0" i="0" u="none" strike="noStrike" kern="1200" cap="none" spc="0" normalizeH="0" baseline="0" noProof="0">
                <a:ln>
                  <a:noFill/>
                </a:ln>
                <a:solidFill>
                  <a:srgbClr val="002664"/>
                </a:solidFill>
                <a:effectLst/>
                <a:uLnTx/>
                <a:uFillTx/>
                <a:latin typeface="Arial" panose="020B0604020202020204"/>
                <a:ea typeface="+mn-ea"/>
                <a:cs typeface="+mn-cs"/>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AU" sz="3000" b="1" i="0" u="none" strike="noStrike" kern="1200" cap="none" spc="0" normalizeH="0" baseline="0" noProof="0">
                  <a:ln>
                    <a:noFill/>
                  </a:ln>
                  <a:solidFill>
                    <a:srgbClr val="FFFFFF"/>
                  </a:solidFill>
                  <a:effectLst/>
                  <a:uLnTx/>
                  <a:uFillTx/>
                  <a:latin typeface="Arial" panose="020B0604020202020204"/>
                  <a:ea typeface="+mn-ea"/>
                  <a:cs typeface="Arial" panose="020B0604020202020204" pitchFamily="34" charset="0"/>
                </a:rPr>
                <a:t>1</a:t>
              </a:r>
            </a:p>
          </p:txBody>
        </p:sp>
      </p:grpSp>
      <p:grpSp>
        <p:nvGrpSpPr>
          <p:cNvPr id="7" name="Group 6">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marR="0" lvl="0" indent="0" algn="l" defTabSz="60958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2664"/>
                  </a:solidFill>
                  <a:effectLst/>
                  <a:uLnTx/>
                  <a:uFillTx/>
                  <a:latin typeface="Arial" panose="020B0604020202020204"/>
                  <a:ea typeface="+mn-ea"/>
                  <a:cs typeface="+mn-cs"/>
                </a:rPr>
                <a:t>Review of learning </a:t>
              </a:r>
              <a:r>
                <a:rPr kumimoji="0" lang="en-AU" sz="2400" b="0" i="0" u="none" strike="noStrike" kern="1200" cap="none" spc="0" normalizeH="0" baseline="0" noProof="0">
                  <a:ln>
                    <a:noFill/>
                  </a:ln>
                  <a:solidFill>
                    <a:srgbClr val="002664"/>
                  </a:solidFill>
                  <a:effectLst/>
                  <a:uLnTx/>
                  <a:uFillTx/>
                  <a:latin typeface="Arial" panose="020B0604020202020204"/>
                  <a:ea typeface="+mn-ea"/>
                  <a:cs typeface="+mn-cs"/>
                </a:rPr>
                <a:t>2</a:t>
              </a: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AU" sz="3000" b="1" i="0" u="none" strike="noStrike" kern="1200" cap="none" spc="0" normalizeH="0" baseline="0" noProof="0">
                  <a:ln>
                    <a:noFill/>
                  </a:ln>
                  <a:solidFill>
                    <a:srgbClr val="FFFFFF"/>
                  </a:solidFill>
                  <a:effectLst/>
                  <a:uLnTx/>
                  <a:uFillTx/>
                  <a:latin typeface="Arial" panose="020B0604020202020204"/>
                  <a:ea typeface="+mn-ea"/>
                  <a:cs typeface="Arial" panose="020B0604020202020204" pitchFamily="34" charset="0"/>
                </a:rPr>
                <a:t>2</a:t>
              </a:r>
            </a:p>
          </p:txBody>
        </p:sp>
      </p:grpSp>
      <p:grpSp>
        <p:nvGrpSpPr>
          <p:cNvPr id="8" name="Group 7">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marR="0" lvl="0" indent="0" algn="l" defTabSz="60958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2664"/>
                  </a:solidFill>
                  <a:effectLst/>
                  <a:uLnTx/>
                  <a:uFillTx/>
                  <a:latin typeface="Arial" panose="020B0604020202020204"/>
                  <a:ea typeface="+mn-ea"/>
                  <a:cs typeface="+mn-cs"/>
                </a:rPr>
                <a:t>Review of learning </a:t>
              </a:r>
              <a:r>
                <a:rPr kumimoji="0" lang="en-AU" sz="2400" b="0" i="0" u="none" strike="noStrike" kern="1200" cap="none" spc="0" normalizeH="0" baseline="0" noProof="0">
                  <a:ln>
                    <a:noFill/>
                  </a:ln>
                  <a:solidFill>
                    <a:srgbClr val="002664"/>
                  </a:solidFill>
                  <a:effectLst/>
                  <a:uLnTx/>
                  <a:uFillTx/>
                  <a:latin typeface="Arial" panose="020B0604020202020204"/>
                  <a:ea typeface="+mn-ea"/>
                  <a:cs typeface="+mn-cs"/>
                </a:rPr>
                <a:t>3</a:t>
              </a: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AU" sz="3000" b="1" i="0" u="none" strike="noStrike" kern="1200" cap="none" spc="0" normalizeH="0" baseline="0" noProof="0">
                  <a:ln>
                    <a:noFill/>
                  </a:ln>
                  <a:solidFill>
                    <a:srgbClr val="FFFFFF"/>
                  </a:solidFill>
                  <a:effectLst/>
                  <a:uLnTx/>
                  <a:uFillTx/>
                  <a:latin typeface="Arial" panose="020B0604020202020204"/>
                  <a:ea typeface="+mn-ea"/>
                  <a:cs typeface="Arial" panose="020B0604020202020204" pitchFamily="34" charset="0"/>
                </a:rPr>
                <a:t>3</a:t>
              </a:r>
            </a:p>
          </p:txBody>
        </p:sp>
      </p:grpSp>
      <p:grpSp>
        <p:nvGrpSpPr>
          <p:cNvPr id="9" name="Group 8">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marR="0" lvl="0" indent="0" algn="l" defTabSz="60958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2664"/>
                  </a:solidFill>
                  <a:effectLst/>
                  <a:uLnTx/>
                  <a:uFillTx/>
                  <a:latin typeface="Arial" panose="020B0604020202020204"/>
                  <a:ea typeface="+mn-ea"/>
                  <a:cs typeface="+mn-cs"/>
                </a:rPr>
                <a:t>Review of learning </a:t>
              </a:r>
              <a:r>
                <a:rPr kumimoji="0" lang="en-AU" sz="2400" b="0" i="0" u="none" strike="noStrike" kern="1200" cap="none" spc="0" normalizeH="0" baseline="0" noProof="0">
                  <a:ln>
                    <a:noFill/>
                  </a:ln>
                  <a:solidFill>
                    <a:srgbClr val="002664"/>
                  </a:solidFill>
                  <a:effectLst/>
                  <a:uLnTx/>
                  <a:uFillTx/>
                  <a:latin typeface="Arial" panose="020B0604020202020204"/>
                  <a:ea typeface="+mn-ea"/>
                  <a:cs typeface="+mn-cs"/>
                </a:rPr>
                <a:t>4</a:t>
              </a: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AU" sz="3000" b="1" i="0" u="none" strike="noStrike" kern="1200" cap="none" spc="0" normalizeH="0" baseline="0" noProof="0">
                  <a:ln>
                    <a:noFill/>
                  </a:ln>
                  <a:solidFill>
                    <a:srgbClr val="FFFFFF"/>
                  </a:solidFill>
                  <a:effectLst/>
                  <a:uLnTx/>
                  <a:uFillTx/>
                  <a:latin typeface="Arial" panose="020B0604020202020204"/>
                  <a:ea typeface="+mn-ea"/>
                  <a:cs typeface="Arial" panose="020B0604020202020204" pitchFamily="34" charset="0"/>
                </a:rPr>
                <a:t>4</a:t>
              </a:r>
            </a:p>
          </p:txBody>
        </p:sp>
      </p:grpSp>
      <p:grpSp>
        <p:nvGrpSpPr>
          <p:cNvPr id="17" name="Group 16">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marR="0" lvl="0" indent="0" algn="l" defTabSz="60958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2664"/>
                  </a:solidFill>
                  <a:effectLst/>
                  <a:uLnTx/>
                  <a:uFillTx/>
                  <a:latin typeface="Arial" panose="020B0604020202020204"/>
                  <a:ea typeface="+mn-ea"/>
                  <a:cs typeface="+mn-cs"/>
                </a:rPr>
                <a:t>Review of learning </a:t>
              </a:r>
              <a:r>
                <a:rPr kumimoji="0" lang="en-AU" sz="2400" b="0" i="0" u="none" strike="noStrike" kern="1200" cap="none" spc="0" normalizeH="0" baseline="0" noProof="0">
                  <a:ln>
                    <a:noFill/>
                  </a:ln>
                  <a:solidFill>
                    <a:srgbClr val="002664"/>
                  </a:solidFill>
                  <a:effectLst/>
                  <a:uLnTx/>
                  <a:uFillTx/>
                  <a:latin typeface="Arial" panose="020B0604020202020204"/>
                  <a:ea typeface="+mn-ea"/>
                  <a:cs typeface="+mn-cs"/>
                </a:rPr>
                <a:t>5</a:t>
              </a: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AU" sz="3000" b="1" i="0" u="none" strike="noStrike" kern="1200" cap="none" spc="0" normalizeH="0" baseline="0" noProof="0">
                  <a:ln>
                    <a:noFill/>
                  </a:ln>
                  <a:solidFill>
                    <a:srgbClr val="FFFFFF"/>
                  </a:solidFill>
                  <a:effectLst/>
                  <a:uLnTx/>
                  <a:uFillTx/>
                  <a:latin typeface="Arial" panose="020B0604020202020204"/>
                  <a:ea typeface="+mn-ea"/>
                  <a:cs typeface="Arial" panose="020B0604020202020204" pitchFamily="34" charset="0"/>
                </a:rPr>
                <a:t>5</a:t>
              </a:r>
            </a:p>
          </p:txBody>
        </p:sp>
      </p:grpSp>
      <p:grpSp>
        <p:nvGrpSpPr>
          <p:cNvPr id="11" name="Group 10">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marR="0" lvl="0" indent="0" algn="l" defTabSz="60958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2664"/>
                  </a:solidFill>
                  <a:effectLst/>
                  <a:uLnTx/>
                  <a:uFillTx/>
                  <a:latin typeface="Arial" panose="020B0604020202020204"/>
                  <a:ea typeface="+mn-ea"/>
                  <a:cs typeface="+mn-cs"/>
                </a:rPr>
                <a:t>Review of learning </a:t>
              </a:r>
              <a:r>
                <a:rPr kumimoji="0" lang="en-AU" sz="2400" b="0" i="0" u="none" strike="noStrike" kern="1200" cap="none" spc="0" normalizeH="0" baseline="0" noProof="0">
                  <a:ln>
                    <a:noFill/>
                  </a:ln>
                  <a:solidFill>
                    <a:srgbClr val="002664"/>
                  </a:solidFill>
                  <a:effectLst/>
                  <a:uLnTx/>
                  <a:uFillTx/>
                  <a:latin typeface="Arial" panose="020B0604020202020204"/>
                  <a:ea typeface="+mn-ea"/>
                  <a:cs typeface="+mn-cs"/>
                </a:rPr>
                <a:t>6</a:t>
              </a: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AU" sz="3000" b="1" i="0" u="none" strike="noStrike" kern="1200" cap="none" spc="0" normalizeH="0" baseline="0" noProof="0">
                  <a:ln>
                    <a:noFill/>
                  </a:ln>
                  <a:solidFill>
                    <a:srgbClr val="FFFFFF"/>
                  </a:solidFill>
                  <a:effectLst/>
                  <a:uLnTx/>
                  <a:uFillTx/>
                  <a:latin typeface="Arial" panose="020B0604020202020204"/>
                  <a:ea typeface="+mn-ea"/>
                  <a:cs typeface="Arial" panose="020B0604020202020204" pitchFamily="34" charset="0"/>
                </a:rPr>
                <a:t>6</a:t>
              </a:r>
            </a:p>
          </p:txBody>
        </p:sp>
      </p:grpSp>
      <p:grpSp>
        <p:nvGrpSpPr>
          <p:cNvPr id="12" name="Group 11">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marR="0" lvl="0" indent="0" algn="l" defTabSz="60958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2664"/>
                  </a:solidFill>
                  <a:effectLst/>
                  <a:uLnTx/>
                  <a:uFillTx/>
                  <a:latin typeface="Arial" panose="020B0604020202020204"/>
                  <a:ea typeface="+mn-ea"/>
                  <a:cs typeface="+mn-cs"/>
                </a:rPr>
                <a:t>Review of learning 7</a:t>
              </a:r>
              <a:endParaRPr kumimoji="0" lang="en-AU" sz="2400" b="0" i="0" u="none" strike="noStrike" kern="1200" cap="none" spc="0" normalizeH="0" baseline="0" noProof="0">
                <a:ln>
                  <a:noFill/>
                </a:ln>
                <a:solidFill>
                  <a:srgbClr val="002664"/>
                </a:solidFill>
                <a:effectLst/>
                <a:uLnTx/>
                <a:uFillTx/>
                <a:latin typeface="Arial" panose="020B0604020202020204"/>
                <a:ea typeface="+mn-ea"/>
                <a:cs typeface="+mn-cs"/>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AU" sz="3000" b="1" i="0" u="none" strike="noStrike" kern="1200" cap="none" spc="0" normalizeH="0" baseline="0" noProof="0">
                  <a:ln>
                    <a:noFill/>
                  </a:ln>
                  <a:solidFill>
                    <a:srgbClr val="FFFFFF"/>
                  </a:solidFill>
                  <a:effectLst/>
                  <a:uLnTx/>
                  <a:uFillTx/>
                  <a:latin typeface="Arial" panose="020B0604020202020204"/>
                  <a:ea typeface="+mn-ea"/>
                  <a:cs typeface="Arial" panose="020B0604020202020204" pitchFamily="34" charset="0"/>
                </a:rPr>
                <a:t>7</a:t>
              </a:r>
            </a:p>
          </p:txBody>
        </p:sp>
      </p:grpSp>
      <p:grpSp>
        <p:nvGrpSpPr>
          <p:cNvPr id="13" name="Group 12">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marR="0" lvl="0" indent="0" algn="l" defTabSz="60958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2664"/>
                  </a:solidFill>
                  <a:effectLst/>
                  <a:uLnTx/>
                  <a:uFillTx/>
                  <a:latin typeface="Arial" panose="020B0604020202020204"/>
                  <a:ea typeface="+mn-ea"/>
                  <a:cs typeface="+mn-cs"/>
                </a:rPr>
                <a:t>Review of learning </a:t>
              </a:r>
              <a:r>
                <a:rPr kumimoji="0" lang="en-AU" sz="2400" b="0" i="0" u="none" strike="noStrike" kern="1200" cap="none" spc="0" normalizeH="0" baseline="0" noProof="0">
                  <a:ln>
                    <a:noFill/>
                  </a:ln>
                  <a:solidFill>
                    <a:srgbClr val="002664"/>
                  </a:solidFill>
                  <a:effectLst/>
                  <a:uLnTx/>
                  <a:uFillTx/>
                  <a:latin typeface="Arial" panose="020B0604020202020204"/>
                  <a:ea typeface="+mn-ea"/>
                  <a:cs typeface="+mn-cs"/>
                </a:rPr>
                <a:t>8</a:t>
              </a: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AU" sz="3000" b="1" i="0" u="none" strike="noStrike" kern="1200" cap="none" spc="0" normalizeH="0" baseline="0" noProof="0">
                  <a:ln>
                    <a:noFill/>
                  </a:ln>
                  <a:solidFill>
                    <a:srgbClr val="FFFFFF"/>
                  </a:solidFill>
                  <a:effectLst/>
                  <a:uLnTx/>
                  <a:uFillTx/>
                  <a:latin typeface="Arial" panose="020B0604020202020204"/>
                  <a:ea typeface="+mn-ea"/>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Arial" panose="020B0604020202020204"/>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3</a:t>
            </a:fld>
            <a:endParaRPr kumimoji="0" lang="en-AU" sz="1200" b="0" i="0" u="none" strike="noStrike" kern="1200" cap="none" spc="0" normalizeH="0" baseline="0" noProof="0">
              <a:ln>
                <a:noFill/>
              </a:ln>
              <a:solidFill>
                <a:srgbClr val="22272B"/>
              </a:solidFill>
              <a:effectLst/>
              <a:uLnTx/>
              <a:uFillTx/>
              <a:latin typeface="Arial" panose="020B0604020202020204"/>
              <a:ea typeface="+mn-ea"/>
              <a:cs typeface="+mn-cs"/>
            </a:endParaRPr>
          </a:p>
        </p:txBody>
      </p:sp>
    </p:spTree>
    <p:extLst>
      <p:ext uri="{BB962C8B-B14F-4D97-AF65-F5344CB8AC3E}">
        <p14:creationId xmlns:p14="http://schemas.microsoft.com/office/powerpoint/2010/main" val="2807954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8F811F-90F9-6EF5-D718-C527F19B166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(1)</a:t>
            </a:r>
          </a:p>
        </p:txBody>
      </p:sp>
      <p:pic>
        <p:nvPicPr>
          <p:cNvPr id="6" name="Picture 5" descr="image of a finger selecting an option for a multiple choice or true and false">
            <a:extLst>
              <a:ext uri="{FF2B5EF4-FFF2-40B4-BE49-F238E27FC236}">
                <a16:creationId xmlns:a16="http://schemas.microsoft.com/office/drawing/2014/main" id="{E2F1B5CD-A182-C721-71A9-042A06E92705}"/>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a:xfrm>
            <a:off x="474481" y="1594210"/>
            <a:ext cx="11243037" cy="1305001"/>
          </a:xfrm>
        </p:spPr>
        <p:txBody>
          <a:bodyPr vert="horz" lIns="0" tIns="0" rIns="0" bIns="0" rtlCol="0" anchor="t">
            <a:noAutofit/>
          </a:bodyPr>
          <a:lstStyle/>
          <a:p>
            <a:pPr algn="ctr"/>
            <a:r>
              <a:rPr lang="en-US" sz="4400"/>
              <a:t>3234 – 2999 </a:t>
            </a:r>
            <a:endParaRPr lang="en-US"/>
          </a:p>
        </p:txBody>
      </p:sp>
      <p:sp>
        <p:nvSpPr>
          <p:cNvPr id="9" name="TextBox 8">
            <a:extLst>
              <a:ext uri="{FF2B5EF4-FFF2-40B4-BE49-F238E27FC236}">
                <a16:creationId xmlns:a16="http://schemas.microsoft.com/office/drawing/2014/main" id="{40925CB5-DA36-8590-C133-CAA805E3F6B0}"/>
              </a:ext>
            </a:extLst>
          </p:cNvPr>
          <p:cNvSpPr txBox="1"/>
          <p:nvPr/>
        </p:nvSpPr>
        <p:spPr>
          <a:xfrm>
            <a:off x="1109444" y="349120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a:xfrm>
            <a:off x="360000" y="4047547"/>
            <a:ext cx="2052601" cy="808563"/>
          </a:xfrm>
        </p:spPr>
        <p:txBody>
          <a:bodyPr/>
          <a:lstStyle/>
          <a:p>
            <a:pPr algn="ctr"/>
            <a:r>
              <a:rPr lang="en-US" sz="4400"/>
              <a:t>234</a:t>
            </a:r>
            <a:endParaRPr lang="en-US"/>
          </a:p>
        </p:txBody>
      </p:sp>
      <p:sp>
        <p:nvSpPr>
          <p:cNvPr id="10" name="TextBox 9">
            <a:extLst>
              <a:ext uri="{FF2B5EF4-FFF2-40B4-BE49-F238E27FC236}">
                <a16:creationId xmlns:a16="http://schemas.microsoft.com/office/drawing/2014/main" id="{4FA85E5F-0765-ABDF-E173-0F271C718E84}"/>
              </a:ext>
            </a:extLst>
          </p:cNvPr>
          <p:cNvSpPr txBox="1"/>
          <p:nvPr/>
        </p:nvSpPr>
        <p:spPr>
          <a:xfrm>
            <a:off x="4113417" y="349120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a:xfrm>
            <a:off x="3766377" y="4047547"/>
            <a:ext cx="1958421" cy="808563"/>
          </a:xfrm>
        </p:spPr>
        <p:txBody>
          <a:bodyPr/>
          <a:lstStyle/>
          <a:p>
            <a:r>
              <a:rPr lang="en-US" sz="4400"/>
              <a:t>235</a:t>
            </a:r>
            <a:endParaRPr lang="en-US"/>
          </a:p>
        </p:txBody>
      </p:sp>
      <p:sp>
        <p:nvSpPr>
          <p:cNvPr id="12" name="TextBox 11">
            <a:extLst>
              <a:ext uri="{FF2B5EF4-FFF2-40B4-BE49-F238E27FC236}">
                <a16:creationId xmlns:a16="http://schemas.microsoft.com/office/drawing/2014/main" id="{3BF7E817-ED87-F068-6991-9872B9D8A1D9}"/>
              </a:ext>
            </a:extLst>
          </p:cNvPr>
          <p:cNvSpPr txBox="1"/>
          <p:nvPr/>
        </p:nvSpPr>
        <p:spPr>
          <a:xfrm>
            <a:off x="7117390" y="349120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a:xfrm>
            <a:off x="6804598" y="4013300"/>
            <a:ext cx="1752938" cy="808563"/>
          </a:xfrm>
        </p:spPr>
        <p:txBody>
          <a:bodyPr/>
          <a:lstStyle/>
          <a:p>
            <a:r>
              <a:rPr lang="en-US" sz="4400"/>
              <a:t>2335</a:t>
            </a:r>
            <a:endParaRPr lang="en-US"/>
          </a:p>
        </p:txBody>
      </p:sp>
      <p:sp>
        <p:nvSpPr>
          <p:cNvPr id="11" name="TextBox 10">
            <a:extLst>
              <a:ext uri="{FF2B5EF4-FFF2-40B4-BE49-F238E27FC236}">
                <a16:creationId xmlns:a16="http://schemas.microsoft.com/office/drawing/2014/main" id="{5B5ACF4E-5C00-647E-137E-A741C1139CAB}"/>
              </a:ext>
            </a:extLst>
          </p:cNvPr>
          <p:cNvSpPr txBox="1"/>
          <p:nvPr/>
        </p:nvSpPr>
        <p:spPr>
          <a:xfrm>
            <a:off x="10121364" y="349120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a:xfrm>
            <a:off x="9910079" y="4081794"/>
            <a:ext cx="2232399" cy="740069"/>
          </a:xfrm>
        </p:spPr>
        <p:txBody>
          <a:bodyPr/>
          <a:lstStyle/>
          <a:p>
            <a:r>
              <a:rPr lang="en-US" sz="4400"/>
              <a:t>236</a:t>
            </a:r>
            <a:endParaRPr lang="en-US"/>
          </a:p>
        </p:txBody>
      </p:sp>
      <p:sp>
        <p:nvSpPr>
          <p:cNvPr id="5" name="TextBox 4">
            <a:extLst>
              <a:ext uri="{FF2B5EF4-FFF2-40B4-BE49-F238E27FC236}">
                <a16:creationId xmlns:a16="http://schemas.microsoft.com/office/drawing/2014/main" id="{CD11A03B-2D1B-5A76-A36A-0CAECF88F326}"/>
              </a:ext>
            </a:extLst>
          </p:cNvPr>
          <p:cNvSpPr txBox="1"/>
          <p:nvPr/>
        </p:nvSpPr>
        <p:spPr>
          <a:xfrm>
            <a:off x="2353381" y="5232054"/>
            <a:ext cx="8032697" cy="769441"/>
          </a:xfrm>
          <a:prstGeom prst="rect">
            <a:avLst/>
          </a:prstGeom>
          <a:noFill/>
        </p:spPr>
        <p:txBody>
          <a:bodyPr wrap="square">
            <a:spAutoFit/>
          </a:bodyPr>
          <a:lstStyle/>
          <a:p>
            <a:r>
              <a:rPr lang="en-US" sz="4400" b="1">
                <a:cs typeface="Arial"/>
              </a:rPr>
              <a:t>Communicate</a:t>
            </a:r>
            <a:r>
              <a:rPr lang="en-US" sz="4400">
                <a:cs typeface="Arial"/>
              </a:rPr>
              <a:t> your </a:t>
            </a:r>
            <a:r>
              <a:rPr lang="en-US" sz="4400" b="1">
                <a:cs typeface="Arial"/>
              </a:rPr>
              <a:t>strategy</a:t>
            </a:r>
            <a:r>
              <a:rPr lang="en-US" sz="4400">
                <a:cs typeface="Arial"/>
              </a:rPr>
              <a:t>.</a:t>
            </a:r>
            <a:endParaRPr lang="en-AU" sz="4400"/>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a:t>
            </a:r>
          </a:p>
        </p:txBody>
      </p:sp>
      <p:pic>
        <p:nvPicPr>
          <p:cNvPr id="3" name="Picture 2" descr="image of a clipboard with a pencil recording short answer responses">
            <a:extLst>
              <a:ext uri="{FF2B5EF4-FFF2-40B4-BE49-F238E27FC236}">
                <a16:creationId xmlns:a16="http://schemas.microsoft.com/office/drawing/2014/main" id="{69E4B2B2-713D-5998-87AB-5FC222AE389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8B0763A2-AEAF-D5D9-3A1E-7528AA2EB792}"/>
              </a:ext>
            </a:extLst>
          </p:cNvPr>
          <p:cNvSpPr txBox="1"/>
          <p:nvPr/>
        </p:nvSpPr>
        <p:spPr>
          <a:xfrm>
            <a:off x="575871" y="1034391"/>
            <a:ext cx="10707822" cy="292150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AU" sz="4400">
                <a:cs typeface="Arial"/>
              </a:rPr>
              <a:t>Which measuring tool would be best to measure the length of your desk?</a:t>
            </a:r>
          </a:p>
          <a:p>
            <a:pPr algn="ctr">
              <a:lnSpc>
                <a:spcPct val="150000"/>
              </a:lnSpc>
            </a:pPr>
            <a:r>
              <a:rPr lang="en-AU" sz="4400">
                <a:cs typeface="Arial"/>
              </a:rPr>
              <a:t>You can choose more than one.</a:t>
            </a:r>
            <a:endParaRPr lang="en-US" sz="4400">
              <a:cs typeface="Arial"/>
            </a:endParaRPr>
          </a:p>
        </p:txBody>
      </p:sp>
      <p:pic>
        <p:nvPicPr>
          <p:cNvPr id="18" name="Picture 17" descr="A collection of tools used for measuring length and distance. The image shows a trundle wheel, a tape measure, a metal 30 centimetre ruler, a flexible measuring tape a wooden metre ruler and a smartphone displaying a map with location pins.">
            <a:extLst>
              <a:ext uri="{FF2B5EF4-FFF2-40B4-BE49-F238E27FC236}">
                <a16:creationId xmlns:a16="http://schemas.microsoft.com/office/drawing/2014/main" id="{7D835FA2-DE8F-E4A4-02EA-E290AB101747}"/>
              </a:ext>
            </a:extLst>
          </p:cNvPr>
          <p:cNvPicPr>
            <a:picLocks noChangeAspect="1"/>
          </p:cNvPicPr>
          <p:nvPr/>
        </p:nvPicPr>
        <p:blipFill>
          <a:blip r:embed="rId4"/>
          <a:stretch>
            <a:fillRect/>
          </a:stretch>
        </p:blipFill>
        <p:spPr>
          <a:xfrm>
            <a:off x="1981261" y="4027767"/>
            <a:ext cx="9049215" cy="2578233"/>
          </a:xfrm>
          <a:prstGeom prst="rect">
            <a:avLst/>
          </a:prstGeom>
        </p:spPr>
      </p:pic>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 uri="{C183D7F6-B498-43B3-948B-1728B52AA6E4}">
                <adec:decorative xmlns:adec="http://schemas.microsoft.com/office/drawing/2017/decorative" val="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pic>
        <p:nvPicPr>
          <p:cNvPr id="3" name="Picture 2" descr="image of a clipboard with a pencil recording short answer responses">
            <a:extLst>
              <a:ext uri="{FF2B5EF4-FFF2-40B4-BE49-F238E27FC236}">
                <a16:creationId xmlns:a16="http://schemas.microsoft.com/office/drawing/2014/main" id="{AB837201-1557-1DB2-05E9-E523FE1B17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389115BD-82DE-5359-3149-27D1ABE188DB}"/>
              </a:ext>
            </a:extLst>
          </p:cNvPr>
          <p:cNvSpPr txBox="1"/>
          <p:nvPr/>
        </p:nvSpPr>
        <p:spPr>
          <a:xfrm>
            <a:off x="696258" y="1796143"/>
            <a:ext cx="10787742" cy="2558142"/>
          </a:xfrm>
          <a:prstGeom prst="rect">
            <a:avLst/>
          </a:prstGeom>
          <a:noFill/>
        </p:spPr>
        <p:txBody>
          <a:bodyPr wrap="square" lIns="0" tIns="0" rIns="0" bIns="0" rtlCol="0">
            <a:noAutofit/>
          </a:bodyPr>
          <a:lstStyle/>
          <a:p>
            <a:pPr algn="ctr"/>
            <a:r>
              <a:rPr lang="en-AU" sz="4400"/>
              <a:t>Use </a:t>
            </a:r>
            <a:r>
              <a:rPr lang="en-AU" sz="4400" b="1"/>
              <a:t>partitioning</a:t>
            </a:r>
            <a:r>
              <a:rPr lang="en-AU" sz="4400"/>
              <a:t> to solve the following problem</a:t>
            </a:r>
          </a:p>
          <a:p>
            <a:pPr algn="l"/>
            <a:endParaRPr lang="en-AU" sz="4400"/>
          </a:p>
          <a:p>
            <a:pPr algn="ctr"/>
            <a:r>
              <a:rPr lang="en-AU" sz="5400"/>
              <a:t>5780 + 9431 = </a:t>
            </a:r>
          </a:p>
        </p:txBody>
      </p:sp>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pic>
        <p:nvPicPr>
          <p:cNvPr id="3" name="Picture 2" descr="image of a clipboard with a pencil recording short answer responses">
            <a:extLst>
              <a:ext uri="{FF2B5EF4-FFF2-40B4-BE49-F238E27FC236}">
                <a16:creationId xmlns:a16="http://schemas.microsoft.com/office/drawing/2014/main" id="{AE7CD0B4-5C73-21ED-199C-D91A99981CD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32AFB8BE-7227-F0DD-8BF5-2F706CCF6022}"/>
              </a:ext>
            </a:extLst>
          </p:cNvPr>
          <p:cNvSpPr txBox="1"/>
          <p:nvPr/>
        </p:nvSpPr>
        <p:spPr>
          <a:xfrm>
            <a:off x="246024" y="1121228"/>
            <a:ext cx="11436842" cy="2307772"/>
          </a:xfrm>
          <a:prstGeom prst="rect">
            <a:avLst/>
          </a:prstGeom>
          <a:noFill/>
        </p:spPr>
        <p:txBody>
          <a:bodyPr wrap="square" lIns="0" tIns="0" rIns="0" bIns="0" rtlCol="0" anchor="t">
            <a:noAutofit/>
          </a:bodyPr>
          <a:lstStyle/>
          <a:p>
            <a:pPr algn="ctr"/>
            <a:r>
              <a:rPr lang="en-AU" sz="4400"/>
              <a:t>Place these numbers in </a:t>
            </a:r>
            <a:r>
              <a:rPr lang="en-AU" sz="4400" b="1"/>
              <a:t>ascending order:</a:t>
            </a:r>
          </a:p>
          <a:p>
            <a:pPr algn="l"/>
            <a:endParaRPr lang="en-AU" sz="4400"/>
          </a:p>
          <a:p>
            <a:pPr algn="ctr">
              <a:lnSpc>
                <a:spcPct val="150000"/>
              </a:lnSpc>
            </a:pPr>
            <a:r>
              <a:rPr lang="en-AU" sz="4200"/>
              <a:t>6 302 095  </a:t>
            </a:r>
          </a:p>
          <a:p>
            <a:pPr algn="ctr">
              <a:lnSpc>
                <a:spcPct val="150000"/>
              </a:lnSpc>
            </a:pPr>
            <a:r>
              <a:rPr lang="en-AU" sz="4200"/>
              <a:t>5 671 210</a:t>
            </a:r>
          </a:p>
          <a:p>
            <a:pPr algn="ctr">
              <a:lnSpc>
                <a:spcPct val="150000"/>
              </a:lnSpc>
            </a:pPr>
            <a:r>
              <a:rPr lang="en-AU" sz="4200"/>
              <a:t>6 219 305</a:t>
            </a:r>
          </a:p>
          <a:p>
            <a:pPr algn="ctr">
              <a:lnSpc>
                <a:spcPct val="150000"/>
              </a:lnSpc>
            </a:pPr>
            <a:r>
              <a:rPr lang="en-AU" sz="4200"/>
              <a:t>5 842 199 </a:t>
            </a:r>
          </a:p>
        </p:txBody>
      </p:sp>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(4)</a:t>
            </a:r>
          </a:p>
        </p:txBody>
      </p:sp>
      <p:pic>
        <p:nvPicPr>
          <p:cNvPr id="3" name="Picture 2" descr="image of a clipboard with a pencil recording short answer responses">
            <a:extLst>
              <a:ext uri="{FF2B5EF4-FFF2-40B4-BE49-F238E27FC236}">
                <a16:creationId xmlns:a16="http://schemas.microsoft.com/office/drawing/2014/main" id="{FC9A4B87-D950-48CA-7AF9-006C90DB933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9B114323-9E91-4024-D2AA-5F5F643E8B4A}"/>
              </a:ext>
            </a:extLst>
          </p:cNvPr>
          <p:cNvSpPr txBox="1"/>
          <p:nvPr/>
        </p:nvSpPr>
        <p:spPr>
          <a:xfrm>
            <a:off x="246024" y="1005818"/>
            <a:ext cx="5032032" cy="1947334"/>
          </a:xfrm>
          <a:prstGeom prst="rect">
            <a:avLst/>
          </a:prstGeom>
          <a:noFill/>
        </p:spPr>
        <p:txBody>
          <a:bodyPr wrap="square" lIns="0" tIns="0" rIns="0" bIns="0" rtlCol="0" anchor="t">
            <a:noAutofit/>
          </a:bodyPr>
          <a:lstStyle/>
          <a:p>
            <a:pPr algn="ctr"/>
            <a:r>
              <a:rPr lang="en-AU" sz="4000"/>
              <a:t>After visiting the </a:t>
            </a:r>
            <a:r>
              <a:rPr lang="en-AU" sz="4000" b="1"/>
              <a:t>elephant</a:t>
            </a:r>
            <a:r>
              <a:rPr lang="en-AU" sz="4000"/>
              <a:t> in </a:t>
            </a:r>
            <a:r>
              <a:rPr lang="en-AU" sz="4000" b="1"/>
              <a:t>C2</a:t>
            </a:r>
            <a:r>
              <a:rPr lang="en-AU" sz="4000"/>
              <a:t>, I turn and face </a:t>
            </a:r>
            <a:r>
              <a:rPr lang="en-AU" sz="4000" b="1"/>
              <a:t>East</a:t>
            </a:r>
            <a:r>
              <a:rPr lang="en-AU" sz="4000"/>
              <a:t>. </a:t>
            </a:r>
          </a:p>
          <a:p>
            <a:pPr algn="ctr"/>
            <a:endParaRPr lang="en-AU"/>
          </a:p>
          <a:p>
            <a:pPr algn="ctr"/>
            <a:r>
              <a:rPr lang="en-AU" sz="4000"/>
              <a:t>Which animal do I see?</a:t>
            </a:r>
          </a:p>
          <a:p>
            <a:pPr algn="ctr"/>
            <a:endParaRPr lang="en-AU"/>
          </a:p>
          <a:p>
            <a:pPr algn="ctr"/>
            <a:r>
              <a:rPr lang="en-AU" sz="4000"/>
              <a:t>What is the </a:t>
            </a:r>
            <a:r>
              <a:rPr lang="en-AU" sz="4000" b="1"/>
              <a:t>grid reference </a:t>
            </a:r>
            <a:r>
              <a:rPr lang="en-AU" sz="4000"/>
              <a:t>for this animal?</a:t>
            </a:r>
          </a:p>
          <a:p>
            <a:pPr algn="ctr"/>
            <a:endParaRPr lang="en-AU" sz="4400"/>
          </a:p>
          <a:p>
            <a:pPr algn="ctr"/>
            <a:endParaRPr lang="en-AU" sz="4400">
              <a:cs typeface="Arial"/>
            </a:endParaRPr>
          </a:p>
          <a:p>
            <a:pPr algn="ctr"/>
            <a:endParaRPr lang="en-AU" sz="4400">
              <a:cs typeface="Arial"/>
            </a:endParaRPr>
          </a:p>
        </p:txBody>
      </p:sp>
      <p:pic>
        <p:nvPicPr>
          <p:cNvPr id="10" name="Picture 9" descr="A map of a zoo with the following animals at the grid references:&#10;Spiders C2, Chimps B2, elephants C2, emus B3, Parrots, D2, hippo E3, kangaroo C3, koala A3, snakes B4, giraffe C5, eagles C4, zebras C4, echidnas D3, tigers, D4, turtles B2, quokkas C3">
            <a:extLst>
              <a:ext uri="{FF2B5EF4-FFF2-40B4-BE49-F238E27FC236}">
                <a16:creationId xmlns:a16="http://schemas.microsoft.com/office/drawing/2014/main" id="{00D18BB6-3387-6983-7E32-0C4576331DD4}"/>
              </a:ext>
            </a:extLst>
          </p:cNvPr>
          <p:cNvPicPr>
            <a:picLocks noChangeAspect="1"/>
          </p:cNvPicPr>
          <p:nvPr/>
        </p:nvPicPr>
        <p:blipFill>
          <a:blip r:embed="rId4"/>
          <a:stretch>
            <a:fillRect/>
          </a:stretch>
        </p:blipFill>
        <p:spPr>
          <a:xfrm>
            <a:off x="5573815" y="733286"/>
            <a:ext cx="5550185" cy="5391427"/>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t>Activity 1 – back and forth, adding and subtracting</a:t>
            </a:r>
          </a:p>
        </p:txBody>
      </p:sp>
      <p:pic>
        <p:nvPicPr>
          <p:cNvPr id="4" name="Picture 3" descr="image of a head with cogs turning inside">
            <a:extLst>
              <a:ext uri="{FF2B5EF4-FFF2-40B4-BE49-F238E27FC236}">
                <a16:creationId xmlns:a16="http://schemas.microsoft.com/office/drawing/2014/main" id="{8C7CF980-54BA-5CDE-FA07-65080BB2C43B}"/>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4098" name="Picture 2" descr="A number line 400-600 with decades marked. Tables with Plus and Minus and the column headings of: number rolled, Number sentence and New total.">
            <a:extLst>
              <a:ext uri="{FF2B5EF4-FFF2-40B4-BE49-F238E27FC236}">
                <a16:creationId xmlns:a16="http://schemas.microsoft.com/office/drawing/2014/main" id="{D6BA8999-0CFB-5A42-504B-17D44E39B1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1272857"/>
            <a:ext cx="7162800" cy="5225143"/>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pic>
        <p:nvPicPr>
          <p:cNvPr id="4" name="Picture 3" descr="image of a finger selecting an option for a multiple choice or true and false">
            <a:extLst>
              <a:ext uri="{FF2B5EF4-FFF2-40B4-BE49-F238E27FC236}">
                <a16:creationId xmlns:a16="http://schemas.microsoft.com/office/drawing/2014/main" id="{6FB50F61-F068-87AB-4B10-FC2CEB84FBCE}"/>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360001" y="2325329"/>
            <a:ext cx="11243037" cy="893226"/>
          </a:xfrm>
        </p:spPr>
        <p:txBody>
          <a:bodyPr vert="horz" lIns="0" tIns="0" rIns="0" bIns="0" rtlCol="0" anchor="t">
            <a:noAutofit/>
          </a:bodyPr>
          <a:lstStyle/>
          <a:p>
            <a:pPr algn="ctr"/>
            <a:r>
              <a:rPr lang="en-AU" sz="5400">
                <a:latin typeface="Arial"/>
                <a:cs typeface="Arial"/>
              </a:rPr>
              <a:t>6321 + 145  + 33 = 6499</a:t>
            </a:r>
            <a:endParaRPr lang="en-AU" sz="5400"/>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pic>
        <p:nvPicPr>
          <p:cNvPr id="3" name="Picture 2" descr="image of a clipboard with a pencil recording short answer responses">
            <a:extLst>
              <a:ext uri="{FF2B5EF4-FFF2-40B4-BE49-F238E27FC236}">
                <a16:creationId xmlns:a16="http://schemas.microsoft.com/office/drawing/2014/main" id="{C7718586-1339-6B81-E608-E6AA891DE5E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9327BBC0-046C-71B0-31D4-F0C8F6184EBC}"/>
              </a:ext>
            </a:extLst>
          </p:cNvPr>
          <p:cNvSpPr txBox="1"/>
          <p:nvPr/>
        </p:nvSpPr>
        <p:spPr>
          <a:xfrm>
            <a:off x="472565" y="1935139"/>
            <a:ext cx="10378822" cy="366254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4400">
                <a:cs typeface="Arial"/>
              </a:rPr>
              <a:t>Record</a:t>
            </a:r>
            <a:r>
              <a:rPr lang="en-US" sz="4400" b="1">
                <a:cs typeface="Arial"/>
              </a:rPr>
              <a:t> 3</a:t>
            </a:r>
            <a:r>
              <a:rPr lang="en-US" sz="4400">
                <a:cs typeface="Arial"/>
              </a:rPr>
              <a:t> items that </a:t>
            </a:r>
            <a:r>
              <a:rPr lang="en-US" sz="4400" b="1">
                <a:cs typeface="Arial"/>
              </a:rPr>
              <a:t>would be </a:t>
            </a:r>
            <a:r>
              <a:rPr lang="en-US" sz="4400">
                <a:cs typeface="Arial"/>
              </a:rPr>
              <a:t>measured in </a:t>
            </a:r>
            <a:r>
              <a:rPr lang="en-US" sz="4400" b="1" err="1">
                <a:cs typeface="Arial" panose="020B0604020202020204"/>
              </a:rPr>
              <a:t>metres</a:t>
            </a:r>
            <a:r>
              <a:rPr lang="en-US" sz="4400">
                <a:cs typeface="Arial" panose="020B0604020202020204"/>
              </a:rPr>
              <a:t>.</a:t>
            </a:r>
          </a:p>
          <a:p>
            <a:pPr algn="ctr"/>
            <a:endParaRPr lang="en-US" sz="4400">
              <a:cs typeface="Arial" panose="020B0604020202020204"/>
            </a:endParaRPr>
          </a:p>
          <a:p>
            <a:pPr algn="ctr"/>
            <a:r>
              <a:rPr lang="en-US" sz="4400">
                <a:cs typeface="Arial" panose="020B0604020202020204"/>
              </a:rPr>
              <a:t>Record </a:t>
            </a:r>
            <a:r>
              <a:rPr lang="en-US" sz="4400" b="1">
                <a:cs typeface="Arial" panose="020B0604020202020204"/>
              </a:rPr>
              <a:t>3</a:t>
            </a:r>
            <a:r>
              <a:rPr lang="en-US" sz="4400">
                <a:cs typeface="Arial" panose="020B0604020202020204"/>
              </a:rPr>
              <a:t> items that </a:t>
            </a:r>
            <a:r>
              <a:rPr lang="en-US" sz="4400" b="1">
                <a:cs typeface="Arial" panose="020B0604020202020204"/>
              </a:rPr>
              <a:t>would not be</a:t>
            </a:r>
            <a:r>
              <a:rPr lang="en-US" sz="4400">
                <a:cs typeface="Arial" panose="020B0604020202020204"/>
              </a:rPr>
              <a:t> recorded using </a:t>
            </a:r>
            <a:r>
              <a:rPr lang="en-US" sz="4400" b="1" err="1">
                <a:cs typeface="Arial" panose="020B0604020202020204"/>
              </a:rPr>
              <a:t>metres</a:t>
            </a:r>
            <a:r>
              <a:rPr lang="en-US" sz="4400">
                <a:cs typeface="Arial" panose="020B0604020202020204"/>
              </a:rPr>
              <a:t>.</a:t>
            </a:r>
          </a:p>
          <a:p>
            <a:endParaRPr lang="en-US" sz="1800">
              <a:cs typeface="Arial" panose="020B0604020202020204"/>
            </a:endParaRPr>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pic>
        <p:nvPicPr>
          <p:cNvPr id="3" name="Picture 2" descr="image of a clipboard with a pencil recording short answer responses">
            <a:extLst>
              <a:ext uri="{FF2B5EF4-FFF2-40B4-BE49-F238E27FC236}">
                <a16:creationId xmlns:a16="http://schemas.microsoft.com/office/drawing/2014/main" id="{9C8770A4-A467-8E0A-C417-8D3F46A532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917FFDF8-91A8-80E0-1FE5-301AD39124FA}"/>
              </a:ext>
            </a:extLst>
          </p:cNvPr>
          <p:cNvSpPr txBox="1"/>
          <p:nvPr/>
        </p:nvSpPr>
        <p:spPr>
          <a:xfrm>
            <a:off x="430778" y="803646"/>
            <a:ext cx="11330444" cy="2988952"/>
          </a:xfrm>
          <a:prstGeom prst="rect">
            <a:avLst/>
          </a:prstGeom>
          <a:noFill/>
        </p:spPr>
        <p:txBody>
          <a:bodyPr wrap="square" lIns="0" tIns="0" rIns="0" bIns="0" rtlCol="0">
            <a:noAutofit/>
          </a:bodyPr>
          <a:lstStyle/>
          <a:p>
            <a:pPr algn="ctr">
              <a:lnSpc>
                <a:spcPct val="150000"/>
              </a:lnSpc>
            </a:pPr>
            <a:r>
              <a:rPr lang="en-AU" sz="4400"/>
              <a:t>This bar model shows a subtraction problem.</a:t>
            </a:r>
            <a:br>
              <a:rPr lang="en-AU" sz="4400"/>
            </a:br>
            <a:r>
              <a:rPr lang="en-AU" sz="4400"/>
              <a:t>Record the subtraction problem and find the missing </a:t>
            </a:r>
            <a:r>
              <a:rPr lang="en-AU" sz="4400" b="1"/>
              <a:t>number.</a:t>
            </a:r>
            <a:endParaRPr lang="en-AU" sz="4400"/>
          </a:p>
        </p:txBody>
      </p:sp>
      <p:pic>
        <p:nvPicPr>
          <p:cNvPr id="8" name="Picture 7" descr="A bar model with the number 678 at the top. Two rectangles down the bottom with the number 409 and a blank rectangle with a question mark.">
            <a:extLst>
              <a:ext uri="{FF2B5EF4-FFF2-40B4-BE49-F238E27FC236}">
                <a16:creationId xmlns:a16="http://schemas.microsoft.com/office/drawing/2014/main" id="{0F5FDA75-C234-C44A-E199-F08A7E040046}"/>
              </a:ext>
            </a:extLst>
          </p:cNvPr>
          <p:cNvPicPr>
            <a:picLocks noChangeAspect="1"/>
          </p:cNvPicPr>
          <p:nvPr/>
        </p:nvPicPr>
        <p:blipFill>
          <a:blip r:embed="rId4"/>
          <a:stretch>
            <a:fillRect/>
          </a:stretch>
        </p:blipFill>
        <p:spPr>
          <a:xfrm>
            <a:off x="3544886" y="3725472"/>
            <a:ext cx="5539142" cy="1772238"/>
          </a:xfrm>
          <a:prstGeom prst="rect">
            <a:avLst/>
          </a:prstGeom>
        </p:spPr>
      </p:pic>
      <p:sp>
        <p:nvSpPr>
          <p:cNvPr id="7" name="TextBox 6">
            <a:extLst>
              <a:ext uri="{FF2B5EF4-FFF2-40B4-BE49-F238E27FC236}">
                <a16:creationId xmlns:a16="http://schemas.microsoft.com/office/drawing/2014/main" id="{F2A6ED06-6B2F-18D4-120E-A277FC57C442}"/>
              </a:ext>
            </a:extLst>
          </p:cNvPr>
          <p:cNvSpPr txBox="1"/>
          <p:nvPr/>
        </p:nvSpPr>
        <p:spPr>
          <a:xfrm>
            <a:off x="912366" y="5284913"/>
            <a:ext cx="10367268" cy="769441"/>
          </a:xfrm>
          <a:prstGeom prst="rect">
            <a:avLst/>
          </a:prstGeom>
          <a:noFill/>
        </p:spPr>
        <p:txBody>
          <a:bodyPr wrap="square">
            <a:spAutoFit/>
          </a:bodyPr>
          <a:lstStyle/>
          <a:p>
            <a:pPr algn="ctr"/>
            <a:r>
              <a:rPr lang="en-AU" sz="4400" b="1"/>
              <a:t>Communicate</a:t>
            </a:r>
            <a:r>
              <a:rPr lang="en-AU" sz="4400"/>
              <a:t> your </a:t>
            </a:r>
            <a:r>
              <a:rPr lang="en-AU" sz="4400" b="1"/>
              <a:t>reasoning</a:t>
            </a:r>
            <a:r>
              <a:rPr lang="en-AU" sz="4400"/>
              <a:t>.</a:t>
            </a:r>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pic>
        <p:nvPicPr>
          <p:cNvPr id="3" name="Picture 2" descr="image of a clipboard with a pencil recording short answer responses">
            <a:extLst>
              <a:ext uri="{FF2B5EF4-FFF2-40B4-BE49-F238E27FC236}">
                <a16:creationId xmlns:a16="http://schemas.microsoft.com/office/drawing/2014/main" id="{F22768F3-1D34-7E31-8299-4A2308A11FC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83EF3A11-970D-75E7-31E9-4736654F8B11}"/>
              </a:ext>
            </a:extLst>
          </p:cNvPr>
          <p:cNvSpPr txBox="1"/>
          <p:nvPr/>
        </p:nvSpPr>
        <p:spPr>
          <a:xfrm>
            <a:off x="577337" y="1997528"/>
            <a:ext cx="10722427" cy="2862943"/>
          </a:xfrm>
          <a:prstGeom prst="rect">
            <a:avLst/>
          </a:prstGeom>
          <a:noFill/>
        </p:spPr>
        <p:txBody>
          <a:bodyPr wrap="square" lIns="0" tIns="0" rIns="0" bIns="0" rtlCol="0">
            <a:noAutofit/>
          </a:bodyPr>
          <a:lstStyle/>
          <a:p>
            <a:pPr algn="ctr">
              <a:lnSpc>
                <a:spcPct val="150000"/>
              </a:lnSpc>
            </a:pPr>
            <a:r>
              <a:rPr lang="en-AU" sz="4400"/>
              <a:t>Regroup this number in </a:t>
            </a:r>
            <a:r>
              <a:rPr lang="en-AU" sz="4400" b="1"/>
              <a:t>standard</a:t>
            </a:r>
            <a:r>
              <a:rPr lang="en-AU" sz="4400"/>
              <a:t> and </a:t>
            </a:r>
            <a:r>
              <a:rPr lang="en-AU" sz="4400" b="1"/>
              <a:t>non-standard forms</a:t>
            </a:r>
          </a:p>
          <a:p>
            <a:pPr algn="ctr"/>
            <a:endParaRPr lang="en-AU" sz="4400"/>
          </a:p>
          <a:p>
            <a:pPr algn="ctr"/>
            <a:r>
              <a:rPr lang="en-AU" sz="4400"/>
              <a:t>50 678 912</a:t>
            </a:r>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pic>
        <p:nvPicPr>
          <p:cNvPr id="3" name="Picture 2" descr="image of a clipboard with a pencil recording short answer responses">
            <a:extLst>
              <a:ext uri="{FF2B5EF4-FFF2-40B4-BE49-F238E27FC236}">
                <a16:creationId xmlns:a16="http://schemas.microsoft.com/office/drawing/2014/main" id="{5D2DD89E-AAB3-5EBB-F36F-72D71287FEE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6C9C193E-3CF7-75C4-6BEE-AD3BC8ECAF22}"/>
              </a:ext>
            </a:extLst>
          </p:cNvPr>
          <p:cNvSpPr txBox="1"/>
          <p:nvPr/>
        </p:nvSpPr>
        <p:spPr>
          <a:xfrm>
            <a:off x="732367" y="1708796"/>
            <a:ext cx="10727265" cy="1883229"/>
          </a:xfrm>
          <a:prstGeom prst="rect">
            <a:avLst/>
          </a:prstGeom>
          <a:noFill/>
        </p:spPr>
        <p:txBody>
          <a:bodyPr wrap="square" lIns="0" tIns="0" rIns="0" bIns="0" rtlCol="0" anchor="t">
            <a:noAutofit/>
          </a:bodyPr>
          <a:lstStyle/>
          <a:p>
            <a:pPr algn="ctr">
              <a:lnSpc>
                <a:spcPct val="150000"/>
              </a:lnSpc>
            </a:pPr>
            <a:r>
              <a:rPr lang="en-AU" sz="4400" b="1"/>
              <a:t>Convert</a:t>
            </a:r>
            <a:r>
              <a:rPr lang="en-AU" sz="4400"/>
              <a:t> </a:t>
            </a:r>
          </a:p>
          <a:p>
            <a:pPr marL="571500" indent="-571500" algn="ctr">
              <a:lnSpc>
                <a:spcPct val="150000"/>
              </a:lnSpc>
              <a:buFont typeface="Arial" panose="020B0604020202020204" pitchFamily="34" charset="0"/>
              <a:buChar char="•"/>
            </a:pPr>
            <a:r>
              <a:rPr lang="en-AU" sz="4400"/>
              <a:t>560 m to </a:t>
            </a:r>
            <a:r>
              <a:rPr lang="en-AU" sz="4400" b="1"/>
              <a:t>centimetres</a:t>
            </a:r>
            <a:endParaRPr lang="en-AU" sz="4400"/>
          </a:p>
          <a:p>
            <a:pPr marL="571500" indent="-571500" algn="ctr">
              <a:lnSpc>
                <a:spcPct val="150000"/>
              </a:lnSpc>
              <a:buFont typeface="Arial" panose="020B0604020202020204" pitchFamily="34" charset="0"/>
              <a:buChar char="•"/>
            </a:pPr>
            <a:r>
              <a:rPr lang="en-AU" sz="4400"/>
              <a:t>432 cm to </a:t>
            </a:r>
            <a:r>
              <a:rPr lang="en-AU" sz="4400" b="1"/>
              <a:t>millimetres</a:t>
            </a:r>
            <a:endParaRPr lang="en-AU" sz="4400" b="1">
              <a:cs typeface="Arial"/>
            </a:endParaRPr>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t>Activity 2 – closest to 500</a:t>
            </a:r>
          </a:p>
        </p:txBody>
      </p:sp>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pic>
        <p:nvPicPr>
          <p:cNvPr id="4" name="Picture 3" descr="image of a head with cogs turning inside">
            <a:extLst>
              <a:ext uri="{FF2B5EF4-FFF2-40B4-BE49-F238E27FC236}">
                <a16:creationId xmlns:a16="http://schemas.microsoft.com/office/drawing/2014/main" id="{D6502462-26FB-38CD-06DC-5F98705966BE}"/>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descr="3 blank lines plus two blank lines plus one blank line equals">
            <a:extLst>
              <a:ext uri="{FF2B5EF4-FFF2-40B4-BE49-F238E27FC236}">
                <a16:creationId xmlns:a16="http://schemas.microsoft.com/office/drawing/2014/main" id="{529B82B6-2C75-C7F9-7BC3-1067B086EB7A}"/>
              </a:ext>
            </a:extLst>
          </p:cNvPr>
          <p:cNvSpPr txBox="1"/>
          <p:nvPr/>
        </p:nvSpPr>
        <p:spPr>
          <a:xfrm>
            <a:off x="2595199" y="2289434"/>
            <a:ext cx="7001601" cy="861774"/>
          </a:xfrm>
          <a:prstGeom prst="rect">
            <a:avLst/>
          </a:prstGeom>
          <a:noFill/>
        </p:spPr>
        <p:txBody>
          <a:bodyPr wrap="square">
            <a:spAutoFit/>
          </a:bodyPr>
          <a:lstStyle/>
          <a:p>
            <a:r>
              <a:rPr lang="en-AU" sz="5000" b="0" i="0" u="none" strike="noStrike">
                <a:solidFill>
                  <a:srgbClr val="22272B"/>
                </a:solidFill>
                <a:effectLst/>
                <a:latin typeface="+mj-lt"/>
              </a:rPr>
              <a:t>__ __ __ + __ __+ __ =</a:t>
            </a:r>
            <a:endParaRPr lang="en-AU" sz="5000">
              <a:latin typeface="+mj-lt"/>
            </a:endParaRPr>
          </a:p>
        </p:txBody>
      </p:sp>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BE6EE-66D0-13E9-6B7D-36691643B44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07F923-847F-595A-850B-B126A4C8B487}"/>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(2)</a:t>
            </a:r>
          </a:p>
        </p:txBody>
      </p:sp>
      <p:pic>
        <p:nvPicPr>
          <p:cNvPr id="4" name="Picture 3" descr="image of a finger selecting an option for a multiple choice or true and false">
            <a:extLst>
              <a:ext uri="{FF2B5EF4-FFF2-40B4-BE49-F238E27FC236}">
                <a16:creationId xmlns:a16="http://schemas.microsoft.com/office/drawing/2014/main" id="{5F5E1EF3-7C5A-15B4-C7B4-000AE4784B4B}"/>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3" name="TextBox 12">
            <a:extLst>
              <a:ext uri="{FF2B5EF4-FFF2-40B4-BE49-F238E27FC236}">
                <a16:creationId xmlns:a16="http://schemas.microsoft.com/office/drawing/2014/main" id="{2E594889-C965-0F8E-B8B4-4D1ECF08A53E}"/>
              </a:ext>
            </a:extLst>
          </p:cNvPr>
          <p:cNvSpPr txBox="1"/>
          <p:nvPr/>
        </p:nvSpPr>
        <p:spPr>
          <a:xfrm>
            <a:off x="955483" y="1183911"/>
            <a:ext cx="10088033" cy="172354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AU" sz="4400"/>
              <a:t>Which </a:t>
            </a:r>
            <a:r>
              <a:rPr lang="en-AU" sz="4400" b="1"/>
              <a:t>strategy</a:t>
            </a:r>
            <a:r>
              <a:rPr lang="en-AU" sz="4400"/>
              <a:t> has been used to </a:t>
            </a:r>
            <a:r>
              <a:rPr lang="en-AU" sz="4400" b="1"/>
              <a:t>solve </a:t>
            </a:r>
            <a:r>
              <a:rPr lang="en-AU" sz="4400"/>
              <a:t>338 + 57?</a:t>
            </a:r>
          </a:p>
          <a:p>
            <a:pPr algn="ctr"/>
            <a:endParaRPr lang="en-US"/>
          </a:p>
        </p:txBody>
      </p:sp>
      <p:sp>
        <p:nvSpPr>
          <p:cNvPr id="15" name="Rectangle 14">
            <a:extLst>
              <a:ext uri="{FF2B5EF4-FFF2-40B4-BE49-F238E27FC236}">
                <a16:creationId xmlns:a16="http://schemas.microsoft.com/office/drawing/2014/main" id="{5468205B-3E3D-ED14-AC8A-A3ACE81DF08F}"/>
              </a:ext>
              <a:ext uri="{C183D7F6-B498-43B3-948B-1728B52AA6E4}">
                <adec:decorative xmlns:adec="http://schemas.microsoft.com/office/drawing/2017/decorative" val="1"/>
              </a:ext>
            </a:extLst>
          </p:cNvPr>
          <p:cNvSpPr/>
          <p:nvPr/>
        </p:nvSpPr>
        <p:spPr>
          <a:xfrm>
            <a:off x="1723726" y="3023453"/>
            <a:ext cx="8819467" cy="1569527"/>
          </a:xfrm>
          <a:prstGeom prst="rect">
            <a:avLst/>
          </a:prstGeom>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18" name="Text Placeholder 17">
            <a:extLst>
              <a:ext uri="{FF2B5EF4-FFF2-40B4-BE49-F238E27FC236}">
                <a16:creationId xmlns:a16="http://schemas.microsoft.com/office/drawing/2014/main" id="{60D87FE7-103F-733E-E64E-89AD0B777B6B}"/>
              </a:ext>
            </a:extLst>
          </p:cNvPr>
          <p:cNvSpPr>
            <a:spLocks noGrp="1"/>
          </p:cNvSpPr>
          <p:nvPr>
            <p:ph type="body" sz="quarter" idx="24"/>
          </p:nvPr>
        </p:nvSpPr>
        <p:spPr>
          <a:xfrm>
            <a:off x="2279833" y="3268307"/>
            <a:ext cx="8465029" cy="893226"/>
          </a:xfrm>
        </p:spPr>
        <p:txBody>
          <a:bodyPr vert="horz" lIns="0" tIns="0" rIns="0" bIns="0" rtlCol="0" anchor="t">
            <a:noAutofit/>
          </a:bodyPr>
          <a:lstStyle/>
          <a:p>
            <a:pPr algn="ctr"/>
            <a:r>
              <a:rPr lang="en-AU" sz="4400"/>
              <a:t>338 + 2 = 340, plus 55 is 395 </a:t>
            </a:r>
          </a:p>
          <a:p>
            <a:pPr algn="ctr"/>
            <a:br>
              <a:rPr lang="en-AU" sz="3200"/>
            </a:br>
            <a:endParaRPr lang="en-AU" sz="3000"/>
          </a:p>
        </p:txBody>
      </p:sp>
      <p:sp>
        <p:nvSpPr>
          <p:cNvPr id="9" name="TextBox 8">
            <a:extLst>
              <a:ext uri="{FF2B5EF4-FFF2-40B4-BE49-F238E27FC236}">
                <a16:creationId xmlns:a16="http://schemas.microsoft.com/office/drawing/2014/main" id="{AF13415D-5ABE-8CE1-9EF6-D83C6FF3BAC9}"/>
              </a:ext>
            </a:extLst>
          </p:cNvPr>
          <p:cNvSpPr txBox="1"/>
          <p:nvPr/>
        </p:nvSpPr>
        <p:spPr>
          <a:xfrm>
            <a:off x="1229739" y="516422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5" name="TextBox 4">
            <a:extLst>
              <a:ext uri="{FF2B5EF4-FFF2-40B4-BE49-F238E27FC236}">
                <a16:creationId xmlns:a16="http://schemas.microsoft.com/office/drawing/2014/main" id="{428582EA-3457-FF18-51C4-33485662CC7A}"/>
              </a:ext>
            </a:extLst>
          </p:cNvPr>
          <p:cNvSpPr txBox="1"/>
          <p:nvPr/>
        </p:nvSpPr>
        <p:spPr>
          <a:xfrm>
            <a:off x="955483" y="6055800"/>
            <a:ext cx="1735319" cy="738664"/>
          </a:xfrm>
          <a:prstGeom prst="rect">
            <a:avLst/>
          </a:prstGeom>
          <a:noFill/>
        </p:spPr>
        <p:txBody>
          <a:bodyPr wrap="square" lIns="0" tIns="0" rIns="0" bIns="0" rtlCol="0">
            <a:noAutofit/>
          </a:bodyPr>
          <a:lstStyle/>
          <a:p>
            <a:pPr algn="l"/>
            <a:r>
              <a:rPr lang="en-AU"/>
              <a:t>Levelling</a:t>
            </a:r>
          </a:p>
        </p:txBody>
      </p:sp>
      <p:sp>
        <p:nvSpPr>
          <p:cNvPr id="10" name="TextBox 9">
            <a:extLst>
              <a:ext uri="{FF2B5EF4-FFF2-40B4-BE49-F238E27FC236}">
                <a16:creationId xmlns:a16="http://schemas.microsoft.com/office/drawing/2014/main" id="{06BFC4FD-CDBD-E74C-2B4B-957276E8D806}"/>
              </a:ext>
            </a:extLst>
          </p:cNvPr>
          <p:cNvSpPr txBox="1"/>
          <p:nvPr/>
        </p:nvSpPr>
        <p:spPr>
          <a:xfrm>
            <a:off x="4094893" y="515889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6" name="TextBox 5">
            <a:extLst>
              <a:ext uri="{FF2B5EF4-FFF2-40B4-BE49-F238E27FC236}">
                <a16:creationId xmlns:a16="http://schemas.microsoft.com/office/drawing/2014/main" id="{74ED9454-133F-7BEB-65DA-C451DCFC1AA7}"/>
              </a:ext>
            </a:extLst>
          </p:cNvPr>
          <p:cNvSpPr txBox="1"/>
          <p:nvPr/>
        </p:nvSpPr>
        <p:spPr>
          <a:xfrm>
            <a:off x="3921470" y="6037800"/>
            <a:ext cx="1735319" cy="738664"/>
          </a:xfrm>
          <a:prstGeom prst="rect">
            <a:avLst/>
          </a:prstGeom>
          <a:noFill/>
        </p:spPr>
        <p:txBody>
          <a:bodyPr wrap="square" lIns="0" tIns="0" rIns="0" bIns="0" rtlCol="0">
            <a:noAutofit/>
          </a:bodyPr>
          <a:lstStyle/>
          <a:p>
            <a:pPr algn="l"/>
            <a:r>
              <a:rPr lang="en-AU"/>
              <a:t>Bridging</a:t>
            </a:r>
          </a:p>
        </p:txBody>
      </p:sp>
      <p:sp>
        <p:nvSpPr>
          <p:cNvPr id="12" name="TextBox 11">
            <a:extLst>
              <a:ext uri="{FF2B5EF4-FFF2-40B4-BE49-F238E27FC236}">
                <a16:creationId xmlns:a16="http://schemas.microsoft.com/office/drawing/2014/main" id="{0CCBA3B1-EB4D-D918-A8D0-B78C7621C52A}"/>
              </a:ext>
            </a:extLst>
          </p:cNvPr>
          <p:cNvSpPr txBox="1"/>
          <p:nvPr/>
        </p:nvSpPr>
        <p:spPr>
          <a:xfrm>
            <a:off x="7148610" y="513124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7" name="TextBox 6">
            <a:extLst>
              <a:ext uri="{FF2B5EF4-FFF2-40B4-BE49-F238E27FC236}">
                <a16:creationId xmlns:a16="http://schemas.microsoft.com/office/drawing/2014/main" id="{D6531144-E7E2-785C-4BA1-4F05301F67A3}"/>
              </a:ext>
            </a:extLst>
          </p:cNvPr>
          <p:cNvSpPr txBox="1"/>
          <p:nvPr/>
        </p:nvSpPr>
        <p:spPr>
          <a:xfrm>
            <a:off x="6785205" y="5897554"/>
            <a:ext cx="1960065" cy="738664"/>
          </a:xfrm>
          <a:prstGeom prst="rect">
            <a:avLst/>
          </a:prstGeom>
          <a:noFill/>
        </p:spPr>
        <p:txBody>
          <a:bodyPr wrap="square" lIns="0" tIns="0" rIns="0" bIns="0" rtlCol="0">
            <a:noAutofit/>
          </a:bodyPr>
          <a:lstStyle/>
          <a:p>
            <a:pPr algn="l"/>
            <a:r>
              <a:rPr lang="en-AU"/>
              <a:t>Constant difference</a:t>
            </a:r>
          </a:p>
        </p:txBody>
      </p:sp>
      <p:sp>
        <p:nvSpPr>
          <p:cNvPr id="11" name="TextBox 10">
            <a:extLst>
              <a:ext uri="{FF2B5EF4-FFF2-40B4-BE49-F238E27FC236}">
                <a16:creationId xmlns:a16="http://schemas.microsoft.com/office/drawing/2014/main" id="{002A7C63-4C7D-5EB4-47F9-AF81CCED5985}"/>
              </a:ext>
            </a:extLst>
          </p:cNvPr>
          <p:cNvSpPr txBox="1"/>
          <p:nvPr/>
        </p:nvSpPr>
        <p:spPr>
          <a:xfrm>
            <a:off x="10278479" y="516422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8" name="TextBox 7">
            <a:extLst>
              <a:ext uri="{FF2B5EF4-FFF2-40B4-BE49-F238E27FC236}">
                <a16:creationId xmlns:a16="http://schemas.microsoft.com/office/drawing/2014/main" id="{10AAF6A2-60AF-3D48-9E15-C53ED78317D7}"/>
              </a:ext>
            </a:extLst>
          </p:cNvPr>
          <p:cNvSpPr txBox="1"/>
          <p:nvPr/>
        </p:nvSpPr>
        <p:spPr>
          <a:xfrm>
            <a:off x="9764829" y="5947800"/>
            <a:ext cx="1960065" cy="738664"/>
          </a:xfrm>
          <a:prstGeom prst="rect">
            <a:avLst/>
          </a:prstGeom>
          <a:noFill/>
        </p:spPr>
        <p:txBody>
          <a:bodyPr wrap="square" lIns="0" tIns="0" rIns="0" bIns="0" rtlCol="0">
            <a:noAutofit/>
          </a:bodyPr>
          <a:lstStyle/>
          <a:p>
            <a:pPr algn="l"/>
            <a:r>
              <a:rPr lang="en-AU"/>
              <a:t>Addition for subtraction</a:t>
            </a:r>
          </a:p>
        </p:txBody>
      </p:sp>
      <p:sp>
        <p:nvSpPr>
          <p:cNvPr id="2" name="Slide Number Placeholder 1">
            <a:extLst>
              <a:ext uri="{FF2B5EF4-FFF2-40B4-BE49-F238E27FC236}">
                <a16:creationId xmlns:a16="http://schemas.microsoft.com/office/drawing/2014/main" id="{A1293A7A-9C27-9EEF-CD29-DBB1D9D84022}"/>
              </a:ext>
              <a:ext uri="{C183D7F6-B498-43B3-948B-1728B52AA6E4}">
                <adec:decorative xmlns:adec="http://schemas.microsoft.com/office/drawing/2017/decorative" val="1"/>
              </a:ext>
            </a:extLst>
          </p:cNvPr>
          <p:cNvSpPr>
            <a:spLocks noGrp="1"/>
          </p:cNvSpPr>
          <p:nvPr>
            <p:ph type="sldNum" sz="quarter" idx="12"/>
          </p:nvPr>
        </p:nvSpPr>
        <p:spPr>
          <a:xfrm>
            <a:off x="11390801" y="6596464"/>
            <a:ext cx="720000" cy="180000"/>
          </a:xfrm>
        </p:spPr>
        <p:txBody>
          <a:bodyPr/>
          <a:lstStyle/>
          <a:p>
            <a:fld id="{10A01DC5-1685-4615-8240-15192985C6A2}" type="slidenum">
              <a:rPr lang="en-AU" smtClean="0"/>
              <a:t>19</a:t>
            </a:fld>
            <a:endParaRPr lang="en-AU"/>
          </a:p>
        </p:txBody>
      </p:sp>
    </p:spTree>
    <p:extLst>
      <p:ext uri="{BB962C8B-B14F-4D97-AF65-F5344CB8AC3E}">
        <p14:creationId xmlns:p14="http://schemas.microsoft.com/office/powerpoint/2010/main" val="416653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pic>
        <p:nvPicPr>
          <p:cNvPr id="3" name="Picture 2" descr="image of a clipboard with a pencil recording short answer responses">
            <a:extLst>
              <a:ext uri="{FF2B5EF4-FFF2-40B4-BE49-F238E27FC236}">
                <a16:creationId xmlns:a16="http://schemas.microsoft.com/office/drawing/2014/main" id="{5EA70859-D7F4-2B7A-27DC-68B58B2816C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18764AC1-F81B-716E-79E1-1D59CA0AFECB}"/>
              </a:ext>
            </a:extLst>
          </p:cNvPr>
          <p:cNvSpPr txBox="1"/>
          <p:nvPr/>
        </p:nvSpPr>
        <p:spPr>
          <a:xfrm>
            <a:off x="2031999" y="2346139"/>
            <a:ext cx="8128001" cy="216572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5000">
                <a:cs typeface="Arial"/>
              </a:rPr>
              <a:t>How many </a:t>
            </a:r>
            <a:r>
              <a:rPr lang="en-US" sz="5000" b="1" err="1">
                <a:cs typeface="Arial"/>
              </a:rPr>
              <a:t>metres</a:t>
            </a:r>
            <a:r>
              <a:rPr lang="en-US" sz="5000">
                <a:cs typeface="Arial"/>
              </a:rPr>
              <a:t> are there in 7 </a:t>
            </a:r>
            <a:r>
              <a:rPr lang="en-US" sz="5000" b="1" err="1">
                <a:cs typeface="Arial"/>
              </a:rPr>
              <a:t>kilometres</a:t>
            </a:r>
            <a:r>
              <a:rPr lang="en-US" sz="5000">
                <a:cs typeface="Arial"/>
              </a:rPr>
              <a:t>?</a:t>
            </a:r>
            <a:endParaRPr lang="en-US"/>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pic>
        <p:nvPicPr>
          <p:cNvPr id="3" name="Picture 2" descr="image of a clipboard with a pencil recording short answer responses">
            <a:extLst>
              <a:ext uri="{FF2B5EF4-FFF2-40B4-BE49-F238E27FC236}">
                <a16:creationId xmlns:a16="http://schemas.microsoft.com/office/drawing/2014/main" id="{95A63C50-93CA-645D-9F2D-21E08F0D170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A1CC09FF-64F4-45FF-5998-8B067CA19EF7}"/>
              </a:ext>
            </a:extLst>
          </p:cNvPr>
          <p:cNvSpPr txBox="1"/>
          <p:nvPr/>
        </p:nvSpPr>
        <p:spPr>
          <a:xfrm>
            <a:off x="756733" y="1243396"/>
            <a:ext cx="10367267" cy="2471057"/>
          </a:xfrm>
          <a:prstGeom prst="rect">
            <a:avLst/>
          </a:prstGeom>
          <a:noFill/>
        </p:spPr>
        <p:txBody>
          <a:bodyPr wrap="square" lIns="0" tIns="0" rIns="0" bIns="0" rtlCol="0">
            <a:noAutofit/>
          </a:bodyPr>
          <a:lstStyle/>
          <a:p>
            <a:pPr algn="ctr"/>
            <a:r>
              <a:rPr lang="en-AU" sz="4000" b="1"/>
              <a:t>Which strategy </a:t>
            </a:r>
            <a:r>
              <a:rPr lang="en-AU" sz="4000"/>
              <a:t>is this student explaining?</a:t>
            </a:r>
            <a:endParaRPr lang="en-AU" sz="1600"/>
          </a:p>
        </p:txBody>
      </p:sp>
      <p:sp>
        <p:nvSpPr>
          <p:cNvPr id="7" name="TextBox 6">
            <a:extLst>
              <a:ext uri="{FF2B5EF4-FFF2-40B4-BE49-F238E27FC236}">
                <a16:creationId xmlns:a16="http://schemas.microsoft.com/office/drawing/2014/main" id="{E79C16E5-12B6-0AA2-1415-4AD37E2B299F}"/>
              </a:ext>
            </a:extLst>
          </p:cNvPr>
          <p:cNvSpPr txBox="1"/>
          <p:nvPr/>
        </p:nvSpPr>
        <p:spPr>
          <a:xfrm>
            <a:off x="1325524" y="2945164"/>
            <a:ext cx="6976775" cy="2471057"/>
          </a:xfrm>
          <a:prstGeom prst="rect">
            <a:avLst/>
          </a:prstGeom>
          <a:noFill/>
        </p:spPr>
        <p:txBody>
          <a:bodyPr wrap="square" lIns="0" tIns="0" rIns="0" bIns="0" rtlCol="0">
            <a:noAutofit/>
          </a:bodyPr>
          <a:lstStyle/>
          <a:p>
            <a:pPr algn="ctr">
              <a:lnSpc>
                <a:spcPct val="150000"/>
              </a:lnSpc>
            </a:pPr>
            <a:r>
              <a:rPr lang="en-AU" sz="3200"/>
              <a:t>To work out 4998 + 955 = more easily, </a:t>
            </a:r>
          </a:p>
          <a:p>
            <a:pPr algn="ctr">
              <a:lnSpc>
                <a:spcPct val="150000"/>
              </a:lnSpc>
            </a:pPr>
            <a:r>
              <a:rPr lang="en-AU" sz="3200"/>
              <a:t>I can take 2 from 955 and add it to 4998. The equation becomes 5000 + 953 =</a:t>
            </a:r>
          </a:p>
        </p:txBody>
      </p:sp>
      <p:pic>
        <p:nvPicPr>
          <p:cNvPr id="5" name="Picture 4">
            <a:extLst>
              <a:ext uri="{FF2B5EF4-FFF2-40B4-BE49-F238E27FC236}">
                <a16:creationId xmlns:a16="http://schemas.microsoft.com/office/drawing/2014/main" id="{406AF802-BD24-76E3-1939-A73F15380F5C}"/>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87193" y="4171950"/>
            <a:ext cx="2425782" cy="1930537"/>
          </a:xfrm>
          <a:prstGeom prst="rect">
            <a:avLst/>
          </a:prstGeom>
        </p:spPr>
      </p:pic>
      <p:sp>
        <p:nvSpPr>
          <p:cNvPr id="10" name="Speech Bubble: Oval 9">
            <a:extLst>
              <a:ext uri="{FF2B5EF4-FFF2-40B4-BE49-F238E27FC236}">
                <a16:creationId xmlns:a16="http://schemas.microsoft.com/office/drawing/2014/main" id="{CA76ED1B-730E-AF9F-577F-4419458272A6}"/>
              </a:ext>
              <a:ext uri="{C183D7F6-B498-43B3-948B-1728B52AA6E4}">
                <adec:decorative xmlns:adec="http://schemas.microsoft.com/office/drawing/2017/decorative" val="1"/>
              </a:ext>
            </a:extLst>
          </p:cNvPr>
          <p:cNvSpPr/>
          <p:nvPr/>
        </p:nvSpPr>
        <p:spPr>
          <a:xfrm>
            <a:off x="360000" y="2381251"/>
            <a:ext cx="8907825" cy="3598884"/>
          </a:xfrm>
          <a:prstGeom prst="wedgeEllipseCallout">
            <a:avLst>
              <a:gd name="adj1" fmla="val 52887"/>
              <a:gd name="adj2" fmla="val 17227"/>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pic>
        <p:nvPicPr>
          <p:cNvPr id="3" name="Picture 2" descr="image of a clipboard with a pencil recording short answer responses">
            <a:extLst>
              <a:ext uri="{FF2B5EF4-FFF2-40B4-BE49-F238E27FC236}">
                <a16:creationId xmlns:a16="http://schemas.microsoft.com/office/drawing/2014/main" id="{CDC9578D-E509-83DC-F7E6-82182EFDC994}"/>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1958EB4B-2553-1D9B-B57B-81F77AB85E14}"/>
              </a:ext>
            </a:extLst>
          </p:cNvPr>
          <p:cNvSpPr txBox="1"/>
          <p:nvPr/>
        </p:nvSpPr>
        <p:spPr>
          <a:xfrm>
            <a:off x="827314" y="1055914"/>
            <a:ext cx="10537372" cy="3581400"/>
          </a:xfrm>
          <a:prstGeom prst="rect">
            <a:avLst/>
          </a:prstGeom>
          <a:noFill/>
        </p:spPr>
        <p:txBody>
          <a:bodyPr wrap="square" lIns="0" tIns="0" rIns="0" bIns="0" rtlCol="0">
            <a:noAutofit/>
          </a:bodyPr>
          <a:lstStyle/>
          <a:p>
            <a:pPr algn="ctr"/>
            <a:r>
              <a:rPr lang="en-AU" sz="4400"/>
              <a:t>Use place value to </a:t>
            </a:r>
            <a:r>
              <a:rPr lang="en-AU" sz="4400" b="1"/>
              <a:t>partition</a:t>
            </a:r>
            <a:r>
              <a:rPr lang="en-AU" sz="4400"/>
              <a:t> these decimals</a:t>
            </a:r>
          </a:p>
          <a:p>
            <a:pPr algn="ctr"/>
            <a:endParaRPr lang="en-AU" sz="4400"/>
          </a:p>
          <a:p>
            <a:pPr marL="742950" indent="-742950">
              <a:lnSpc>
                <a:spcPct val="150000"/>
              </a:lnSpc>
              <a:buFont typeface="+mj-lt"/>
              <a:buAutoNum type="alphaUcPeriod"/>
            </a:pPr>
            <a:r>
              <a:rPr lang="en-AU" sz="4400"/>
              <a:t>4.39</a:t>
            </a:r>
          </a:p>
          <a:p>
            <a:pPr marL="742950" indent="-742950">
              <a:lnSpc>
                <a:spcPct val="150000"/>
              </a:lnSpc>
              <a:buFont typeface="+mj-lt"/>
              <a:buAutoNum type="alphaUcPeriod"/>
            </a:pPr>
            <a:r>
              <a:rPr lang="en-AU" sz="4400"/>
              <a:t>6.70</a:t>
            </a:r>
          </a:p>
          <a:p>
            <a:pPr marL="742950" indent="-742950">
              <a:lnSpc>
                <a:spcPct val="150000"/>
              </a:lnSpc>
              <a:buFont typeface="+mj-lt"/>
              <a:buAutoNum type="alphaUcPeriod"/>
            </a:pPr>
            <a:r>
              <a:rPr lang="en-AU" sz="4400"/>
              <a:t>1.295</a:t>
            </a:r>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pic>
        <p:nvPicPr>
          <p:cNvPr id="3" name="Picture 2" descr="image of a clipboard with a pencil recording short answer responses">
            <a:extLst>
              <a:ext uri="{FF2B5EF4-FFF2-40B4-BE49-F238E27FC236}">
                <a16:creationId xmlns:a16="http://schemas.microsoft.com/office/drawing/2014/main" id="{4F225E6B-742A-E393-5D68-B394EB858BAC}"/>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 name="Picture 4" descr="A variety of two-dimensional shapes">
            <a:extLst>
              <a:ext uri="{FF2B5EF4-FFF2-40B4-BE49-F238E27FC236}">
                <a16:creationId xmlns:a16="http://schemas.microsoft.com/office/drawing/2014/main" id="{B8555729-B325-C66B-796A-8A07019F80E9}"/>
              </a:ext>
            </a:extLst>
          </p:cNvPr>
          <p:cNvPicPr>
            <a:picLocks noChangeAspect="1"/>
          </p:cNvPicPr>
          <p:nvPr/>
        </p:nvPicPr>
        <p:blipFill>
          <a:blip r:embed="rId4"/>
          <a:stretch>
            <a:fillRect/>
          </a:stretch>
        </p:blipFill>
        <p:spPr>
          <a:xfrm>
            <a:off x="5709425" y="2113835"/>
            <a:ext cx="5017844" cy="4384166"/>
          </a:xfrm>
          <a:prstGeom prst="rect">
            <a:avLst/>
          </a:prstGeom>
        </p:spPr>
      </p:pic>
      <p:sp>
        <p:nvSpPr>
          <p:cNvPr id="7" name="TextBox 6">
            <a:extLst>
              <a:ext uri="{FF2B5EF4-FFF2-40B4-BE49-F238E27FC236}">
                <a16:creationId xmlns:a16="http://schemas.microsoft.com/office/drawing/2014/main" id="{81FE68D7-3A19-8693-CD7C-A7A2EE768452}"/>
              </a:ext>
            </a:extLst>
          </p:cNvPr>
          <p:cNvSpPr txBox="1"/>
          <p:nvPr/>
        </p:nvSpPr>
        <p:spPr>
          <a:xfrm>
            <a:off x="360000" y="1184223"/>
            <a:ext cx="11326478" cy="3706683"/>
          </a:xfrm>
          <a:prstGeom prst="rect">
            <a:avLst/>
          </a:prstGeom>
          <a:noFill/>
        </p:spPr>
        <p:txBody>
          <a:bodyPr wrap="square" lIns="0" tIns="0" rIns="0" bIns="0" rtlCol="0">
            <a:noAutofit/>
          </a:bodyPr>
          <a:lstStyle/>
          <a:p>
            <a:pPr>
              <a:lnSpc>
                <a:spcPct val="150000"/>
              </a:lnSpc>
            </a:pPr>
            <a:r>
              <a:rPr lang="en-AU" sz="4400" b="1"/>
              <a:t>Combine 2 </a:t>
            </a:r>
            <a:r>
              <a:rPr lang="en-AU" sz="4400"/>
              <a:t>of the shapes below to create another shape. </a:t>
            </a:r>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a:t>Activity 3 – snake eyes (addition)</a:t>
            </a:r>
          </a:p>
        </p:txBody>
      </p:sp>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pic>
        <p:nvPicPr>
          <p:cNvPr id="4" name="Picture 3" descr="image of a head with cogs turning inside">
            <a:extLst>
              <a:ext uri="{FF2B5EF4-FFF2-40B4-BE49-F238E27FC236}">
                <a16:creationId xmlns:a16="http://schemas.microsoft.com/office/drawing/2014/main" id="{296D4226-C1D0-BEBB-1948-F7CDF78884C4}"/>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 name="Picture 4" descr="Two standard 6-sided dice.">
            <a:extLst>
              <a:ext uri="{FF2B5EF4-FFF2-40B4-BE49-F238E27FC236}">
                <a16:creationId xmlns:a16="http://schemas.microsoft.com/office/drawing/2014/main" id="{78519D86-1706-76AD-C1B8-69D2846BC2C4}"/>
              </a:ext>
            </a:extLst>
          </p:cNvPr>
          <p:cNvPicPr>
            <a:picLocks noChangeAspect="1"/>
          </p:cNvPicPr>
          <p:nvPr/>
        </p:nvPicPr>
        <p:blipFill>
          <a:blip r:embed="rId4"/>
          <a:stretch>
            <a:fillRect/>
          </a:stretch>
        </p:blipFill>
        <p:spPr>
          <a:xfrm>
            <a:off x="898449" y="2421535"/>
            <a:ext cx="3087033" cy="2746396"/>
          </a:xfrm>
          <a:prstGeom prst="rect">
            <a:avLst/>
          </a:prstGeom>
        </p:spPr>
      </p:pic>
      <p:pic>
        <p:nvPicPr>
          <p:cNvPr id="8" name="Picture 7" descr="3 blank lines">
            <a:extLst>
              <a:ext uri="{FF2B5EF4-FFF2-40B4-BE49-F238E27FC236}">
                <a16:creationId xmlns:a16="http://schemas.microsoft.com/office/drawing/2014/main" id="{10429B8E-A157-1EF8-B3A3-5CAA7CA05CB5}"/>
              </a:ext>
            </a:extLst>
          </p:cNvPr>
          <p:cNvPicPr>
            <a:picLocks noChangeAspect="1"/>
          </p:cNvPicPr>
          <p:nvPr/>
        </p:nvPicPr>
        <p:blipFill>
          <a:blip r:embed="rId5"/>
          <a:stretch>
            <a:fillRect/>
          </a:stretch>
        </p:blipFill>
        <p:spPr>
          <a:xfrm>
            <a:off x="4420446" y="4046195"/>
            <a:ext cx="5564789" cy="615982"/>
          </a:xfrm>
          <a:prstGeom prst="rect">
            <a:avLst/>
          </a:prstGeom>
        </p:spPr>
      </p:pic>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2624188761"/>
              </p:ext>
            </p:extLst>
          </p:nvPr>
        </p:nvGraphicFramePr>
        <p:xfrm>
          <a:off x="2442981" y="5571355"/>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10894CBE-266A-B58D-5858-0C2919DF6112}"/>
              </a:ext>
            </a:extLst>
          </p:cNvPr>
          <p:cNvPicPr>
            <a:picLocks noChangeAspect="1"/>
          </p:cNvPicPr>
          <p:nvPr/>
        </p:nvPicPr>
        <p:blipFill>
          <a:blip r:embed="rId4"/>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1295399" y="962116"/>
            <a:ext cx="9512509" cy="893226"/>
          </a:xfrm>
        </p:spPr>
        <p:txBody>
          <a:bodyPr vert="horz" lIns="0" tIns="0" rIns="0" bIns="0" rtlCol="0" anchor="t">
            <a:noAutofit/>
          </a:bodyPr>
          <a:lstStyle/>
          <a:p>
            <a:pPr algn="ctr"/>
            <a:r>
              <a:rPr lang="en-AU" sz="4400" b="1">
                <a:latin typeface="Arial"/>
                <a:cs typeface="Arial"/>
              </a:rPr>
              <a:t>Constant difference </a:t>
            </a:r>
            <a:r>
              <a:rPr lang="en-AU" sz="4400">
                <a:latin typeface="Arial"/>
                <a:cs typeface="Arial"/>
              </a:rPr>
              <a:t>has been used to solve </a:t>
            </a:r>
            <a:r>
              <a:rPr lang="en-AU" sz="4400"/>
              <a:t>5009 – 3997. </a:t>
            </a:r>
          </a:p>
        </p:txBody>
      </p:sp>
      <p:pic>
        <p:nvPicPr>
          <p:cNvPr id="10" name="Picture 9">
            <a:extLst>
              <a:ext uri="{FF2B5EF4-FFF2-40B4-BE49-F238E27FC236}">
                <a16:creationId xmlns:a16="http://schemas.microsoft.com/office/drawing/2014/main" id="{A07115CC-A628-B2EB-590D-708A5FF9F420}"/>
              </a:ext>
            </a:extLst>
          </p:cNvPr>
          <p:cNvPicPr>
            <a:picLocks noChangeAspect="1"/>
          </p:cNvPicPr>
          <p:nvPr/>
        </p:nvPicPr>
        <p:blipFill>
          <a:blip r:embed="rId5"/>
          <a:stretch>
            <a:fillRect/>
          </a:stretch>
        </p:blipFill>
        <p:spPr>
          <a:xfrm>
            <a:off x="3309888" y="3140672"/>
            <a:ext cx="5414230" cy="180945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pic>
        <p:nvPicPr>
          <p:cNvPr id="3" name="Picture 2" descr="image of a clipboard with a pencil recording short answer responses">
            <a:extLst>
              <a:ext uri="{FF2B5EF4-FFF2-40B4-BE49-F238E27FC236}">
                <a16:creationId xmlns:a16="http://schemas.microsoft.com/office/drawing/2014/main" id="{B6B8916C-EC27-6464-77C1-A2C737717E1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79CA7DAB-EF0E-EB52-B95B-8C28B0604BC7}"/>
              </a:ext>
            </a:extLst>
          </p:cNvPr>
          <p:cNvSpPr txBox="1"/>
          <p:nvPr/>
        </p:nvSpPr>
        <p:spPr>
          <a:xfrm>
            <a:off x="574040" y="1304980"/>
            <a:ext cx="11043920" cy="447404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5000">
                <a:cs typeface="Arial"/>
              </a:rPr>
              <a:t>The school office is </a:t>
            </a:r>
            <a:r>
              <a:rPr lang="en-US" sz="5000" b="1">
                <a:cs typeface="Arial"/>
              </a:rPr>
              <a:t>20 m</a:t>
            </a:r>
            <a:r>
              <a:rPr lang="en-US" sz="5000">
                <a:cs typeface="Arial"/>
              </a:rPr>
              <a:t> long.</a:t>
            </a:r>
          </a:p>
          <a:p>
            <a:pPr algn="ctr">
              <a:lnSpc>
                <a:spcPct val="150000"/>
              </a:lnSpc>
            </a:pPr>
            <a:r>
              <a:rPr lang="en-US" sz="5000" b="1">
                <a:cs typeface="Arial"/>
              </a:rPr>
              <a:t>Calculate</a:t>
            </a:r>
            <a:r>
              <a:rPr lang="en-US" sz="5000">
                <a:cs typeface="Arial"/>
              </a:rPr>
              <a:t> how many school offices would fit along a </a:t>
            </a:r>
            <a:r>
              <a:rPr lang="en-US" sz="5000" b="1">
                <a:cs typeface="Arial"/>
              </a:rPr>
              <a:t>100 m</a:t>
            </a:r>
            <a:r>
              <a:rPr lang="en-US" sz="5000">
                <a:cs typeface="Arial"/>
              </a:rPr>
              <a:t> length. Then along a </a:t>
            </a:r>
            <a:r>
              <a:rPr lang="en-US" sz="5000" b="1">
                <a:cs typeface="Arial"/>
              </a:rPr>
              <a:t>1 km </a:t>
            </a:r>
            <a:r>
              <a:rPr lang="en-US" sz="5000">
                <a:cs typeface="Arial"/>
              </a:rPr>
              <a:t>length. </a:t>
            </a:r>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pic>
        <p:nvPicPr>
          <p:cNvPr id="3" name="Picture 2" descr="image of a clipboard with a pencil recording short answer responses">
            <a:extLst>
              <a:ext uri="{FF2B5EF4-FFF2-40B4-BE49-F238E27FC236}">
                <a16:creationId xmlns:a16="http://schemas.microsoft.com/office/drawing/2014/main" id="{5F20B6C4-74D6-9AE8-543F-873936583C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CD55BD5C-A712-322C-3D8B-F3B8B69D71C1}"/>
              </a:ext>
            </a:extLst>
          </p:cNvPr>
          <p:cNvSpPr txBox="1"/>
          <p:nvPr/>
        </p:nvSpPr>
        <p:spPr>
          <a:xfrm>
            <a:off x="980924" y="2303720"/>
            <a:ext cx="10143076" cy="3407228"/>
          </a:xfrm>
          <a:prstGeom prst="rect">
            <a:avLst/>
          </a:prstGeom>
          <a:noFill/>
        </p:spPr>
        <p:txBody>
          <a:bodyPr wrap="square" lIns="0" tIns="0" rIns="0" bIns="0" rtlCol="0">
            <a:noAutofit/>
          </a:bodyPr>
          <a:lstStyle/>
          <a:p>
            <a:pPr algn="ctr"/>
            <a:r>
              <a:rPr lang="en-AU" sz="4400"/>
              <a:t>Use the </a:t>
            </a:r>
            <a:r>
              <a:rPr lang="en-AU" sz="4400" b="1"/>
              <a:t>levelling strategy </a:t>
            </a:r>
            <a:r>
              <a:rPr lang="en-AU" sz="4400"/>
              <a:t>to solve</a:t>
            </a:r>
          </a:p>
          <a:p>
            <a:pPr algn="ctr"/>
            <a:endParaRPr lang="en-AU" sz="4400"/>
          </a:p>
          <a:p>
            <a:pPr algn="ctr"/>
            <a:r>
              <a:rPr lang="en-AU" sz="4400"/>
              <a:t>3997  +  988 =</a:t>
            </a:r>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pic>
        <p:nvPicPr>
          <p:cNvPr id="3" name="Picture 2" descr="image of a clipboard with a pencil recording short answer responses">
            <a:extLst>
              <a:ext uri="{FF2B5EF4-FFF2-40B4-BE49-F238E27FC236}">
                <a16:creationId xmlns:a16="http://schemas.microsoft.com/office/drawing/2014/main" id="{71518DCE-2BBE-0AC2-F72B-B5E11C24F8A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D6B3AFB6-A090-D1E4-BB44-15D71E8ABA62}"/>
              </a:ext>
            </a:extLst>
          </p:cNvPr>
          <p:cNvSpPr txBox="1"/>
          <p:nvPr/>
        </p:nvSpPr>
        <p:spPr>
          <a:xfrm>
            <a:off x="783771" y="1184223"/>
            <a:ext cx="10074729" cy="4465463"/>
          </a:xfrm>
          <a:prstGeom prst="rect">
            <a:avLst/>
          </a:prstGeom>
          <a:noFill/>
        </p:spPr>
        <p:txBody>
          <a:bodyPr wrap="square" lIns="0" tIns="0" rIns="0" bIns="0" rtlCol="0">
            <a:noAutofit/>
          </a:bodyPr>
          <a:lstStyle/>
          <a:p>
            <a:pPr algn="ctr">
              <a:lnSpc>
                <a:spcPct val="150000"/>
              </a:lnSpc>
            </a:pPr>
            <a:r>
              <a:rPr lang="en-AU" sz="4400"/>
              <a:t>Order these </a:t>
            </a:r>
            <a:r>
              <a:rPr lang="en-AU" sz="4400" b="1"/>
              <a:t>decimals</a:t>
            </a:r>
            <a:r>
              <a:rPr lang="en-AU" sz="4400"/>
              <a:t> from smallest to largest:</a:t>
            </a:r>
          </a:p>
          <a:p>
            <a:pPr algn="ctr">
              <a:lnSpc>
                <a:spcPct val="150000"/>
              </a:lnSpc>
            </a:pPr>
            <a:r>
              <a:rPr lang="en-AU" sz="4400"/>
              <a:t>1.391</a:t>
            </a:r>
          </a:p>
          <a:p>
            <a:pPr algn="ctr">
              <a:lnSpc>
                <a:spcPct val="150000"/>
              </a:lnSpc>
            </a:pPr>
            <a:r>
              <a:rPr lang="en-AU" sz="4400"/>
              <a:t>1.45</a:t>
            </a:r>
          </a:p>
          <a:p>
            <a:pPr algn="ctr">
              <a:lnSpc>
                <a:spcPct val="150000"/>
              </a:lnSpc>
            </a:pPr>
            <a:r>
              <a:rPr lang="en-AU" sz="4400"/>
              <a:t>1.90</a:t>
            </a:r>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pic>
        <p:nvPicPr>
          <p:cNvPr id="3" name="Picture 2" descr="image of a clipboard with a pencil recording short answer responses">
            <a:extLst>
              <a:ext uri="{FF2B5EF4-FFF2-40B4-BE49-F238E27FC236}">
                <a16:creationId xmlns:a16="http://schemas.microsoft.com/office/drawing/2014/main" id="{602A5C36-777A-4A3B-4BB2-D0CC6ABD673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7980CA94-D035-6C86-206E-81D619867CED}"/>
              </a:ext>
            </a:extLst>
          </p:cNvPr>
          <p:cNvSpPr txBox="1"/>
          <p:nvPr/>
        </p:nvSpPr>
        <p:spPr>
          <a:xfrm>
            <a:off x="762245" y="2189993"/>
            <a:ext cx="10667509" cy="1998176"/>
          </a:xfrm>
          <a:prstGeom prst="rect">
            <a:avLst/>
          </a:prstGeom>
          <a:noFill/>
        </p:spPr>
        <p:txBody>
          <a:bodyPr wrap="square" lIns="91440" tIns="45720" rIns="91440" bIns="45720" anchor="t">
            <a:spAutoFit/>
          </a:bodyPr>
          <a:lstStyle/>
          <a:p>
            <a:pPr algn="ctr">
              <a:lnSpc>
                <a:spcPct val="150000"/>
              </a:lnSpc>
            </a:pPr>
            <a:r>
              <a:rPr lang="en-AU" sz="4400"/>
              <a:t>Explain a strategy that can be used to </a:t>
            </a:r>
            <a:r>
              <a:rPr lang="en-AU" sz="4400" b="1"/>
              <a:t>estimate</a:t>
            </a:r>
            <a:r>
              <a:rPr lang="en-AU" sz="4400"/>
              <a:t> an area in </a:t>
            </a:r>
            <a:r>
              <a:rPr lang="en-AU" sz="4400" b="1"/>
              <a:t>square centimetres.</a:t>
            </a:r>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snake eyes (Subtraction)</a:t>
            </a:r>
          </a:p>
        </p:txBody>
      </p:sp>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pic>
        <p:nvPicPr>
          <p:cNvPr id="4" name="Picture 3" descr="image of a head with cogs turning inside">
            <a:extLst>
              <a:ext uri="{FF2B5EF4-FFF2-40B4-BE49-F238E27FC236}">
                <a16:creationId xmlns:a16="http://schemas.microsoft.com/office/drawing/2014/main" id="{A43A6869-C067-0F7B-A324-667A71E83728}"/>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 name="Picture 4" descr="Two standard 6-sided dice.">
            <a:extLst>
              <a:ext uri="{FF2B5EF4-FFF2-40B4-BE49-F238E27FC236}">
                <a16:creationId xmlns:a16="http://schemas.microsoft.com/office/drawing/2014/main" id="{920254F8-8D21-33F9-07BE-BF9ED819E553}"/>
              </a:ext>
            </a:extLst>
          </p:cNvPr>
          <p:cNvPicPr>
            <a:picLocks noChangeAspect="1"/>
          </p:cNvPicPr>
          <p:nvPr/>
        </p:nvPicPr>
        <p:blipFill>
          <a:blip r:embed="rId4"/>
          <a:stretch>
            <a:fillRect/>
          </a:stretch>
        </p:blipFill>
        <p:spPr>
          <a:xfrm>
            <a:off x="745685" y="2288759"/>
            <a:ext cx="3258336" cy="2898796"/>
          </a:xfrm>
          <a:prstGeom prst="rect">
            <a:avLst/>
          </a:prstGeom>
        </p:spPr>
      </p:pic>
      <p:pic>
        <p:nvPicPr>
          <p:cNvPr id="7" name="Picture 6" descr="Three blank lines">
            <a:extLst>
              <a:ext uri="{FF2B5EF4-FFF2-40B4-BE49-F238E27FC236}">
                <a16:creationId xmlns:a16="http://schemas.microsoft.com/office/drawing/2014/main" id="{88F67CFA-DA92-3F32-D872-BE9681AB295D}"/>
              </a:ext>
            </a:extLst>
          </p:cNvPr>
          <p:cNvPicPr>
            <a:picLocks noChangeAspect="1"/>
          </p:cNvPicPr>
          <p:nvPr/>
        </p:nvPicPr>
        <p:blipFill>
          <a:blip r:embed="rId5"/>
          <a:stretch>
            <a:fillRect/>
          </a:stretch>
        </p:blipFill>
        <p:spPr>
          <a:xfrm>
            <a:off x="4395377" y="4145781"/>
            <a:ext cx="5564789" cy="615982"/>
          </a:xfrm>
          <a:prstGeom prst="rect">
            <a:avLst/>
          </a:prstGeom>
        </p:spPr>
      </p:pic>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56DE5-9054-EDB9-6AA0-DC7E8299AE3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1C5526B-34A8-E53A-E009-C45A1F7CD573}"/>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A4D93B1C-8640-0057-E118-4A82C116762C}"/>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14">
            <a:extLst>
              <a:ext uri="{FF2B5EF4-FFF2-40B4-BE49-F238E27FC236}">
                <a16:creationId xmlns:a16="http://schemas.microsoft.com/office/drawing/2014/main" id="{0443E027-E11B-A12B-53A8-A4F27E680A18}"/>
              </a:ext>
            </a:extLst>
          </p:cNvPr>
          <p:cNvSpPr>
            <a:spLocks noGrp="1"/>
          </p:cNvSpPr>
          <p:nvPr>
            <p:ph type="body" sz="quarter" idx="28"/>
          </p:nvPr>
        </p:nvSpPr>
        <p:spPr>
          <a:xfrm>
            <a:off x="360000" y="1712899"/>
            <a:ext cx="11243037" cy="754243"/>
          </a:xfrm>
        </p:spPr>
        <p:txBody>
          <a:bodyPr vert="horz" lIns="0" tIns="0" rIns="0" bIns="0" rtlCol="0" anchor="t">
            <a:noAutofit/>
          </a:bodyPr>
          <a:lstStyle/>
          <a:p>
            <a:pPr algn="ctr"/>
            <a:r>
              <a:rPr lang="en-US" sz="5400">
                <a:latin typeface="Arial"/>
                <a:cs typeface="Arial"/>
              </a:rPr>
              <a:t>28 x _ = 84</a:t>
            </a:r>
            <a:endParaRPr lang="en-US" sz="2400"/>
          </a:p>
        </p:txBody>
      </p:sp>
      <p:sp>
        <p:nvSpPr>
          <p:cNvPr id="16" name="Text Placeholder 15">
            <a:extLst>
              <a:ext uri="{FF2B5EF4-FFF2-40B4-BE49-F238E27FC236}">
                <a16:creationId xmlns:a16="http://schemas.microsoft.com/office/drawing/2014/main" id="{045B94D9-74FB-9D4A-9C43-F68419839CEC}"/>
              </a:ext>
            </a:extLst>
          </p:cNvPr>
          <p:cNvSpPr>
            <a:spLocks noGrp="1"/>
          </p:cNvSpPr>
          <p:nvPr>
            <p:ph type="body" sz="quarter" idx="29"/>
          </p:nvPr>
        </p:nvSpPr>
        <p:spPr>
          <a:xfrm>
            <a:off x="1030610" y="5507999"/>
            <a:ext cx="682670" cy="738664"/>
          </a:xfrm>
        </p:spPr>
        <p:txBody>
          <a:bodyPr anchor="ctr"/>
          <a:lstStyle/>
          <a:p>
            <a:pPr algn="ctr"/>
            <a:r>
              <a:rPr lang="en-US" sz="3600"/>
              <a:t>1</a:t>
            </a:r>
          </a:p>
        </p:txBody>
      </p:sp>
      <p:sp>
        <p:nvSpPr>
          <p:cNvPr id="9" name="TextBox 8">
            <a:extLst>
              <a:ext uri="{FF2B5EF4-FFF2-40B4-BE49-F238E27FC236}">
                <a16:creationId xmlns:a16="http://schemas.microsoft.com/office/drawing/2014/main" id="{9DAA2006-ADB4-D15B-B158-97DC39D26683}"/>
              </a:ext>
            </a:extLst>
          </p:cNvPr>
          <p:cNvSpPr txBox="1"/>
          <p:nvPr/>
        </p:nvSpPr>
        <p:spPr>
          <a:xfrm>
            <a:off x="1183851" y="476210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Text Placeholder 17">
            <a:extLst>
              <a:ext uri="{FF2B5EF4-FFF2-40B4-BE49-F238E27FC236}">
                <a16:creationId xmlns:a16="http://schemas.microsoft.com/office/drawing/2014/main" id="{09A20CC9-6FEE-6369-4AC1-968CEAB9E49B}"/>
              </a:ext>
            </a:extLst>
          </p:cNvPr>
          <p:cNvSpPr>
            <a:spLocks noGrp="1"/>
          </p:cNvSpPr>
          <p:nvPr>
            <p:ph type="body" sz="quarter" idx="31"/>
          </p:nvPr>
        </p:nvSpPr>
        <p:spPr>
          <a:xfrm>
            <a:off x="3964919" y="5426121"/>
            <a:ext cx="682670" cy="884924"/>
          </a:xfrm>
        </p:spPr>
        <p:txBody>
          <a:bodyPr anchor="ctr"/>
          <a:lstStyle/>
          <a:p>
            <a:pPr algn="ctr"/>
            <a:r>
              <a:rPr lang="en-US" sz="3600">
                <a:cs typeface="Arial"/>
              </a:rPr>
              <a:t>2</a:t>
            </a:r>
            <a:endParaRPr lang="en-US" sz="3600"/>
          </a:p>
        </p:txBody>
      </p:sp>
      <p:sp>
        <p:nvSpPr>
          <p:cNvPr id="10" name="TextBox 9">
            <a:extLst>
              <a:ext uri="{FF2B5EF4-FFF2-40B4-BE49-F238E27FC236}">
                <a16:creationId xmlns:a16="http://schemas.microsoft.com/office/drawing/2014/main" id="{BF8FF86A-8259-4B6A-DD05-B5338957EDC3}"/>
              </a:ext>
            </a:extLst>
          </p:cNvPr>
          <p:cNvSpPr txBox="1"/>
          <p:nvPr/>
        </p:nvSpPr>
        <p:spPr>
          <a:xfrm>
            <a:off x="4118160" y="476210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Text Placeholder 16">
            <a:extLst>
              <a:ext uri="{FF2B5EF4-FFF2-40B4-BE49-F238E27FC236}">
                <a16:creationId xmlns:a16="http://schemas.microsoft.com/office/drawing/2014/main" id="{A1FD909E-672C-E197-EB78-8A0BA88E0D15}"/>
              </a:ext>
            </a:extLst>
          </p:cNvPr>
          <p:cNvSpPr>
            <a:spLocks noGrp="1"/>
          </p:cNvSpPr>
          <p:nvPr>
            <p:ph type="body" sz="quarter" idx="30"/>
          </p:nvPr>
        </p:nvSpPr>
        <p:spPr>
          <a:xfrm>
            <a:off x="6942829" y="5489340"/>
            <a:ext cx="672087" cy="738664"/>
          </a:xfrm>
        </p:spPr>
        <p:txBody>
          <a:bodyPr anchor="ctr"/>
          <a:lstStyle/>
          <a:p>
            <a:pPr algn="ctr"/>
            <a:r>
              <a:rPr lang="en-US" sz="3600">
                <a:cs typeface="Arial"/>
              </a:rPr>
              <a:t>3</a:t>
            </a:r>
            <a:endParaRPr lang="en-US" sz="3600"/>
          </a:p>
        </p:txBody>
      </p:sp>
      <p:sp>
        <p:nvSpPr>
          <p:cNvPr id="12" name="TextBox 11">
            <a:extLst>
              <a:ext uri="{FF2B5EF4-FFF2-40B4-BE49-F238E27FC236}">
                <a16:creationId xmlns:a16="http://schemas.microsoft.com/office/drawing/2014/main" id="{BF4B35E9-90ED-91CF-6E7D-3023EE60AD9E}"/>
              </a:ext>
            </a:extLst>
          </p:cNvPr>
          <p:cNvSpPr txBox="1"/>
          <p:nvPr/>
        </p:nvSpPr>
        <p:spPr>
          <a:xfrm>
            <a:off x="7052469" y="476210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4" name="Text Placeholder 13">
            <a:extLst>
              <a:ext uri="{FF2B5EF4-FFF2-40B4-BE49-F238E27FC236}">
                <a16:creationId xmlns:a16="http://schemas.microsoft.com/office/drawing/2014/main" id="{3637AEFE-A71B-D626-319A-5221A7FBA3D7}"/>
              </a:ext>
            </a:extLst>
          </p:cNvPr>
          <p:cNvSpPr>
            <a:spLocks noGrp="1"/>
          </p:cNvSpPr>
          <p:nvPr>
            <p:ph type="body" sz="quarter" idx="27"/>
          </p:nvPr>
        </p:nvSpPr>
        <p:spPr>
          <a:xfrm>
            <a:off x="9910156" y="5500186"/>
            <a:ext cx="682670" cy="738664"/>
          </a:xfrm>
        </p:spPr>
        <p:txBody>
          <a:bodyPr anchor="ctr"/>
          <a:lstStyle/>
          <a:p>
            <a:pPr algn="ctr"/>
            <a:r>
              <a:rPr lang="en-US" sz="3600">
                <a:cs typeface="Arial"/>
              </a:rPr>
              <a:t>4</a:t>
            </a:r>
            <a:endParaRPr lang="en-US" sz="3600"/>
          </a:p>
        </p:txBody>
      </p:sp>
      <p:sp>
        <p:nvSpPr>
          <p:cNvPr id="11" name="TextBox 10">
            <a:extLst>
              <a:ext uri="{FF2B5EF4-FFF2-40B4-BE49-F238E27FC236}">
                <a16:creationId xmlns:a16="http://schemas.microsoft.com/office/drawing/2014/main" id="{CD2988DB-B474-6203-5DD2-06443FE29ECF}"/>
              </a:ext>
            </a:extLst>
          </p:cNvPr>
          <p:cNvSpPr txBox="1"/>
          <p:nvPr/>
        </p:nvSpPr>
        <p:spPr>
          <a:xfrm>
            <a:off x="9986777" y="476210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A6C2BFFC-84AB-C30B-C108-1205554FD32A}"/>
              </a:ext>
              <a:ext uri="{C183D7F6-B498-43B3-948B-1728B52AA6E4}">
                <adec:decorative xmlns:adec="http://schemas.microsoft.com/office/drawing/2017/decorative" val="1"/>
              </a:ext>
            </a:extLst>
          </p:cNvPr>
          <p:cNvSpPr>
            <a:spLocks noGrp="1"/>
          </p:cNvSpPr>
          <p:nvPr>
            <p:ph type="sldNum" sz="quarter" idx="12"/>
          </p:nvPr>
        </p:nvSpPr>
        <p:spPr>
          <a:xfrm>
            <a:off x="11317385" y="6377297"/>
            <a:ext cx="720000" cy="180000"/>
          </a:xfrm>
        </p:spPr>
        <p:txBody>
          <a:bodyPr/>
          <a:lstStyle/>
          <a:p>
            <a:fld id="{10A01DC5-1685-4615-8240-15192985C6A2}" type="slidenum">
              <a:rPr lang="en-AU" smtClean="0"/>
              <a:t>33</a:t>
            </a:fld>
            <a:endParaRPr lang="en-AU"/>
          </a:p>
        </p:txBody>
      </p:sp>
    </p:spTree>
    <p:extLst>
      <p:ext uri="{BB962C8B-B14F-4D97-AF65-F5344CB8AC3E}">
        <p14:creationId xmlns:p14="http://schemas.microsoft.com/office/powerpoint/2010/main" val="22172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pic>
        <p:nvPicPr>
          <p:cNvPr id="3" name="Picture 2" descr="image of a clipboard with a pencil recording short answer responses">
            <a:extLst>
              <a:ext uri="{FF2B5EF4-FFF2-40B4-BE49-F238E27FC236}">
                <a16:creationId xmlns:a16="http://schemas.microsoft.com/office/drawing/2014/main" id="{2D93CD05-EEB0-3C8B-380D-9FC3C1D1498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Rectangle 1">
            <a:extLst>
              <a:ext uri="{FF2B5EF4-FFF2-40B4-BE49-F238E27FC236}">
                <a16:creationId xmlns:a16="http://schemas.microsoft.com/office/drawing/2014/main" id="{BAF2374E-5DC4-95AC-CF93-7D061691004F}"/>
              </a:ext>
              <a:ext uri="{C183D7F6-B498-43B3-948B-1728B52AA6E4}">
                <adec:decorative xmlns:adec="http://schemas.microsoft.com/office/drawing/2017/decorative" val="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9" name="TextBox 8">
            <a:extLst>
              <a:ext uri="{FF2B5EF4-FFF2-40B4-BE49-F238E27FC236}">
                <a16:creationId xmlns:a16="http://schemas.microsoft.com/office/drawing/2014/main" id="{40DFFDBB-7689-0D1F-8EAF-E69F2B81457B}"/>
              </a:ext>
            </a:extLst>
          </p:cNvPr>
          <p:cNvSpPr txBox="1"/>
          <p:nvPr/>
        </p:nvSpPr>
        <p:spPr>
          <a:xfrm>
            <a:off x="1643062" y="2432477"/>
            <a:ext cx="8905875" cy="3170099"/>
          </a:xfrm>
          <a:prstGeom prst="rect">
            <a:avLst/>
          </a:prstGeom>
          <a:noFill/>
        </p:spPr>
        <p:txBody>
          <a:bodyPr wrap="square">
            <a:spAutoFit/>
          </a:bodyPr>
          <a:lstStyle/>
          <a:p>
            <a:pPr algn="ctr"/>
            <a:r>
              <a:rPr lang="en-AU" sz="4400" b="0" i="0">
                <a:solidFill>
                  <a:srgbClr val="000000"/>
                </a:solidFill>
                <a:effectLst/>
                <a:latin typeface="+mj-lt"/>
              </a:rPr>
              <a:t>Convert </a:t>
            </a:r>
            <a:r>
              <a:rPr lang="en-AU" sz="4400">
                <a:latin typeface="+mj-lt"/>
              </a:rPr>
              <a:t>2.7 km into metres.</a:t>
            </a:r>
          </a:p>
          <a:p>
            <a:pPr algn="ctr"/>
            <a:endParaRPr lang="en-AU" sz="4400" b="0" i="0">
              <a:solidFill>
                <a:srgbClr val="000000"/>
              </a:solidFill>
              <a:effectLst/>
              <a:latin typeface="+mj-lt"/>
            </a:endParaRPr>
          </a:p>
          <a:p>
            <a:pPr algn="ctr"/>
            <a:r>
              <a:rPr lang="en-AU" sz="4400" b="1"/>
              <a:t>Communicate</a:t>
            </a:r>
            <a:r>
              <a:rPr lang="en-AU" sz="4400"/>
              <a:t> your </a:t>
            </a:r>
            <a:r>
              <a:rPr lang="en-AU" sz="4400" b="1"/>
              <a:t>reasoning</a:t>
            </a:r>
            <a:r>
              <a:rPr lang="en-AU" sz="4400"/>
              <a:t>.</a:t>
            </a:r>
            <a:endParaRPr lang="en-AU" sz="4400">
              <a:cs typeface="Arial"/>
            </a:endParaRPr>
          </a:p>
          <a:p>
            <a:endParaRPr lang="en-AU" sz="4400" b="0" i="0">
              <a:solidFill>
                <a:srgbClr val="000000"/>
              </a:solidFill>
              <a:effectLst/>
              <a:latin typeface="+mj-lt"/>
            </a:endParaRPr>
          </a:p>
          <a:p>
            <a:endParaRPr lang="en-AU"/>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pic>
        <p:nvPicPr>
          <p:cNvPr id="3" name="Picture 2" descr="image of a clipboard with a pencil recording short answer responses">
            <a:extLst>
              <a:ext uri="{FF2B5EF4-FFF2-40B4-BE49-F238E27FC236}">
                <a16:creationId xmlns:a16="http://schemas.microsoft.com/office/drawing/2014/main" id="{E34FFB15-F7DE-0945-FB9C-D8A36F224B6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87BA6392-76D7-9D90-6BAA-12E95C0D164D}"/>
              </a:ext>
            </a:extLst>
          </p:cNvPr>
          <p:cNvSpPr txBox="1"/>
          <p:nvPr/>
        </p:nvSpPr>
        <p:spPr>
          <a:xfrm>
            <a:off x="533400" y="892629"/>
            <a:ext cx="11125200" cy="2536371"/>
          </a:xfrm>
          <a:prstGeom prst="rect">
            <a:avLst/>
          </a:prstGeom>
          <a:noFill/>
        </p:spPr>
        <p:txBody>
          <a:bodyPr wrap="square" lIns="0" tIns="0" rIns="0" bIns="0" rtlCol="0" anchor="t">
            <a:noAutofit/>
          </a:bodyPr>
          <a:lstStyle/>
          <a:p>
            <a:pPr algn="ctr">
              <a:lnSpc>
                <a:spcPct val="150000"/>
              </a:lnSpc>
            </a:pPr>
            <a:r>
              <a:rPr lang="en-AU" sz="4400"/>
              <a:t>Is using a </a:t>
            </a:r>
            <a:r>
              <a:rPr lang="en-AU" sz="4400" b="1"/>
              <a:t>vertical algorithm </a:t>
            </a:r>
            <a:r>
              <a:rPr lang="en-AU" sz="4400"/>
              <a:t>an</a:t>
            </a:r>
            <a:r>
              <a:rPr lang="en-AU" sz="4400" b="1"/>
              <a:t> efficient </a:t>
            </a:r>
            <a:r>
              <a:rPr lang="en-AU" sz="4400"/>
              <a:t>strategy to solve the following?</a:t>
            </a:r>
          </a:p>
          <a:p>
            <a:pPr algn="ctr"/>
            <a:endParaRPr lang="en-AU" sz="4400"/>
          </a:p>
          <a:p>
            <a:pPr algn="ctr"/>
            <a:r>
              <a:rPr lang="en-AU" sz="4400"/>
              <a:t>1232 – 698 =</a:t>
            </a:r>
          </a:p>
          <a:p>
            <a:pPr algn="ctr"/>
            <a:endParaRPr lang="en-AU" sz="4400"/>
          </a:p>
          <a:p>
            <a:pPr algn="ctr"/>
            <a:r>
              <a:rPr lang="en-AU" sz="4400" b="1"/>
              <a:t>Communicate</a:t>
            </a:r>
            <a:r>
              <a:rPr lang="en-AU" sz="4400"/>
              <a:t> your </a:t>
            </a:r>
            <a:r>
              <a:rPr lang="en-AU" sz="4400" b="1"/>
              <a:t>reasoning</a:t>
            </a:r>
            <a:r>
              <a:rPr lang="en-AU" sz="4400"/>
              <a:t>.</a:t>
            </a:r>
            <a:endParaRPr lang="en-AU" sz="4400">
              <a:cs typeface="Arial"/>
            </a:endParaRPr>
          </a:p>
          <a:p>
            <a:pPr algn="l"/>
            <a:endParaRPr lang="en-AU" sz="3000"/>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pic>
        <p:nvPicPr>
          <p:cNvPr id="3" name="Picture 2" descr="image of a clipboard with a pencil recording short answer responses">
            <a:extLst>
              <a:ext uri="{FF2B5EF4-FFF2-40B4-BE49-F238E27FC236}">
                <a16:creationId xmlns:a16="http://schemas.microsoft.com/office/drawing/2014/main" id="{B38D0ADF-3DD6-732F-15F0-9E23C65094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0E87F2E4-31FF-CECB-75AE-98A1591AB5D8}"/>
              </a:ext>
            </a:extLst>
          </p:cNvPr>
          <p:cNvSpPr txBox="1"/>
          <p:nvPr/>
        </p:nvSpPr>
        <p:spPr>
          <a:xfrm>
            <a:off x="1021633" y="2203607"/>
            <a:ext cx="10148733" cy="2830286"/>
          </a:xfrm>
          <a:prstGeom prst="rect">
            <a:avLst/>
          </a:prstGeom>
          <a:noFill/>
        </p:spPr>
        <p:txBody>
          <a:bodyPr wrap="square" lIns="0" tIns="0" rIns="0" bIns="0" rtlCol="0">
            <a:noAutofit/>
          </a:bodyPr>
          <a:lstStyle/>
          <a:p>
            <a:pPr algn="ctr"/>
            <a:r>
              <a:rPr lang="en-AU" sz="4400"/>
              <a:t>Record the definition of a </a:t>
            </a:r>
            <a:r>
              <a:rPr lang="en-AU" sz="4400" b="1"/>
              <a:t>product.</a:t>
            </a:r>
          </a:p>
          <a:p>
            <a:pPr algn="ctr"/>
            <a:endParaRPr lang="en-AU" sz="4400"/>
          </a:p>
          <a:p>
            <a:pPr algn="ctr"/>
            <a:r>
              <a:rPr lang="en-AU" sz="4400"/>
              <a:t>Record the definition of a </a:t>
            </a:r>
            <a:r>
              <a:rPr lang="en-AU" sz="4400" b="1"/>
              <a:t>factor.</a:t>
            </a:r>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pic>
        <p:nvPicPr>
          <p:cNvPr id="3" name="Picture 2" descr="image of a clipboard with a pencil recording short answer responses">
            <a:extLst>
              <a:ext uri="{FF2B5EF4-FFF2-40B4-BE49-F238E27FC236}">
                <a16:creationId xmlns:a16="http://schemas.microsoft.com/office/drawing/2014/main" id="{8579B78F-E8F7-2A31-5798-ADB627F8314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C4FA44E8-E9B8-C4F6-F511-21912F4BF238}"/>
              </a:ext>
            </a:extLst>
          </p:cNvPr>
          <p:cNvSpPr txBox="1"/>
          <p:nvPr/>
        </p:nvSpPr>
        <p:spPr>
          <a:xfrm>
            <a:off x="772886" y="1447800"/>
            <a:ext cx="10257590" cy="2362200"/>
          </a:xfrm>
          <a:prstGeom prst="rect">
            <a:avLst/>
          </a:prstGeom>
          <a:noFill/>
        </p:spPr>
        <p:txBody>
          <a:bodyPr wrap="square" lIns="0" tIns="0" rIns="0" bIns="0" rtlCol="0" anchor="t">
            <a:noAutofit/>
          </a:bodyPr>
          <a:lstStyle/>
          <a:p>
            <a:pPr algn="ctr"/>
            <a:r>
              <a:rPr lang="en-AU" sz="4400"/>
              <a:t>The </a:t>
            </a:r>
            <a:r>
              <a:rPr lang="en-AU" sz="4400" b="1"/>
              <a:t>time</a:t>
            </a:r>
            <a:r>
              <a:rPr lang="en-AU" sz="4400"/>
              <a:t> is 6:42 pm. </a:t>
            </a:r>
          </a:p>
          <a:p>
            <a:pPr algn="ctr"/>
            <a:endParaRPr lang="en-AU" sz="4400"/>
          </a:p>
          <a:p>
            <a:pPr algn="ctr"/>
            <a:r>
              <a:rPr lang="en-AU" sz="4400"/>
              <a:t>How much time until the </a:t>
            </a:r>
            <a:r>
              <a:rPr lang="en-AU" sz="4400" b="1"/>
              <a:t>next hour</a:t>
            </a:r>
            <a:r>
              <a:rPr lang="en-AU" sz="4400"/>
              <a:t>?</a:t>
            </a:r>
          </a:p>
          <a:p>
            <a:pPr algn="ctr"/>
            <a:endParaRPr lang="en-AU" sz="4400"/>
          </a:p>
          <a:p>
            <a:pPr algn="ctr"/>
            <a:r>
              <a:rPr lang="en-AU" sz="4400"/>
              <a:t>Record your thinking.</a:t>
            </a:r>
            <a:endParaRPr lang="en-AU" sz="4400">
              <a:cs typeface="Arial"/>
            </a:endParaRPr>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three strikes and you’re out!</a:t>
            </a:r>
          </a:p>
        </p:txBody>
      </p:sp>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pic>
        <p:nvPicPr>
          <p:cNvPr id="4" name="Picture 3" descr="image of a head with cogs turning inside">
            <a:extLst>
              <a:ext uri="{FF2B5EF4-FFF2-40B4-BE49-F238E27FC236}">
                <a16:creationId xmlns:a16="http://schemas.microsoft.com/office/drawing/2014/main" id="{310F3533-70A3-049C-FD4D-BE7CFB970246}"/>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6146" name="Picture 2" descr="Blank number sentence with lines for 2 digit number x 1 digit number = 2 digit number.">
            <a:extLst>
              <a:ext uri="{FF2B5EF4-FFF2-40B4-BE49-F238E27FC236}">
                <a16:creationId xmlns:a16="http://schemas.microsoft.com/office/drawing/2014/main" id="{45919115-CF64-26FB-4095-29835C6DF6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1263" y="1399495"/>
            <a:ext cx="8547403" cy="32203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40</a:t>
            </a:fld>
            <a:endParaRPr lang="en-AU"/>
          </a:p>
        </p:txBody>
      </p:sp>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239F5F22-5449-95CB-BD5E-F141E81E86FF}"/>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p:txBody>
          <a:bodyPr vert="horz" lIns="0" tIns="0" rIns="0" bIns="0" rtlCol="0" anchor="t">
            <a:noAutofit/>
          </a:bodyPr>
          <a:lstStyle/>
          <a:p>
            <a:pPr algn="ctr"/>
            <a:r>
              <a:rPr lang="en-AU" sz="4400">
                <a:latin typeface="Arial"/>
                <a:cs typeface="Arial"/>
              </a:rPr>
              <a:t>98 ÷  __ = 7</a:t>
            </a:r>
          </a:p>
          <a:p>
            <a:pPr algn="ctr"/>
            <a:r>
              <a:rPr lang="en-AU" sz="4400">
                <a:latin typeface="Arial"/>
                <a:cs typeface="Arial"/>
              </a:rPr>
              <a:t>The missing number is 12. </a:t>
            </a:r>
            <a:endParaRPr lang="en-AU" sz="4400"/>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pic>
        <p:nvPicPr>
          <p:cNvPr id="3" name="Picture 2" descr="image of a clipboard with a pencil recording short answer responses">
            <a:extLst>
              <a:ext uri="{FF2B5EF4-FFF2-40B4-BE49-F238E27FC236}">
                <a16:creationId xmlns:a16="http://schemas.microsoft.com/office/drawing/2014/main" id="{414B841E-8840-471A-4D5D-BE5947D1F0D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D1292132-5BF8-6CD5-F15F-52D998F9E9A1}"/>
              </a:ext>
            </a:extLst>
          </p:cNvPr>
          <p:cNvSpPr txBox="1"/>
          <p:nvPr/>
        </p:nvSpPr>
        <p:spPr>
          <a:xfrm>
            <a:off x="623983" y="2402311"/>
            <a:ext cx="10701867" cy="1447800"/>
          </a:xfrm>
          <a:prstGeom prst="rect">
            <a:avLst/>
          </a:prstGeom>
          <a:noFill/>
        </p:spPr>
        <p:txBody>
          <a:bodyPr wrap="square" lIns="0" tIns="0" rIns="0" bIns="0" rtlCol="0">
            <a:noAutofit/>
          </a:bodyPr>
          <a:lstStyle/>
          <a:p>
            <a:pPr algn="ctr"/>
            <a:r>
              <a:rPr lang="en-AU" sz="4400"/>
              <a:t>Write a </a:t>
            </a:r>
            <a:r>
              <a:rPr lang="en-AU" sz="4400" b="1"/>
              <a:t>definition</a:t>
            </a:r>
            <a:r>
              <a:rPr lang="en-AU" sz="4400"/>
              <a:t> for the term </a:t>
            </a:r>
            <a:r>
              <a:rPr lang="en-AU" sz="4400" b="1"/>
              <a:t>‘perimeter’.</a:t>
            </a:r>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pic>
        <p:nvPicPr>
          <p:cNvPr id="3" name="Picture 2" descr="image of a clipboard with a pencil recording short answer responses">
            <a:extLst>
              <a:ext uri="{FF2B5EF4-FFF2-40B4-BE49-F238E27FC236}">
                <a16:creationId xmlns:a16="http://schemas.microsoft.com/office/drawing/2014/main" id="{4BDD99B8-CF6E-F7A3-575D-5F08BFBF6D7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1D3A8286-C6CD-0DCF-376E-326173DD0C86}"/>
              </a:ext>
            </a:extLst>
          </p:cNvPr>
          <p:cNvSpPr txBox="1"/>
          <p:nvPr/>
        </p:nvSpPr>
        <p:spPr>
          <a:xfrm>
            <a:off x="617764" y="990600"/>
            <a:ext cx="11125200" cy="2536371"/>
          </a:xfrm>
          <a:prstGeom prst="rect">
            <a:avLst/>
          </a:prstGeom>
          <a:noFill/>
        </p:spPr>
        <p:txBody>
          <a:bodyPr wrap="square" lIns="0" tIns="0" rIns="0" bIns="0" rtlCol="0" anchor="t">
            <a:noAutofit/>
          </a:bodyPr>
          <a:lstStyle/>
          <a:p>
            <a:pPr algn="ctr">
              <a:lnSpc>
                <a:spcPct val="150000"/>
              </a:lnSpc>
            </a:pPr>
            <a:r>
              <a:rPr lang="en-AU" sz="4400"/>
              <a:t>Is using a </a:t>
            </a:r>
            <a:r>
              <a:rPr lang="en-AU" sz="4400" b="1"/>
              <a:t>vertical algorithm </a:t>
            </a:r>
            <a:r>
              <a:rPr lang="en-AU" sz="4400"/>
              <a:t>an</a:t>
            </a:r>
            <a:r>
              <a:rPr lang="en-AU" sz="4400" b="1"/>
              <a:t> efficient </a:t>
            </a:r>
            <a:r>
              <a:rPr lang="en-AU" sz="4400"/>
              <a:t>strategy to solve the following?</a:t>
            </a:r>
          </a:p>
          <a:p>
            <a:pPr algn="ctr"/>
            <a:endParaRPr lang="en-AU" sz="4400"/>
          </a:p>
          <a:p>
            <a:pPr algn="ctr"/>
            <a:r>
              <a:rPr lang="en-AU" sz="4400"/>
              <a:t>876 – 698 =</a:t>
            </a:r>
          </a:p>
          <a:p>
            <a:pPr algn="ctr"/>
            <a:endParaRPr lang="en-AU" sz="4400"/>
          </a:p>
          <a:p>
            <a:pPr algn="ctr"/>
            <a:r>
              <a:rPr lang="en-AU" sz="4400" b="1"/>
              <a:t>Communicate</a:t>
            </a:r>
            <a:r>
              <a:rPr lang="en-AU" sz="4400"/>
              <a:t> your </a:t>
            </a:r>
            <a:r>
              <a:rPr lang="en-AU" sz="4400" b="1"/>
              <a:t>reasoning</a:t>
            </a:r>
            <a:r>
              <a:rPr lang="en-AU" sz="4400"/>
              <a:t>.</a:t>
            </a:r>
            <a:endParaRPr lang="en-AU" sz="4400">
              <a:cs typeface="Arial"/>
            </a:endParaRPr>
          </a:p>
          <a:p>
            <a:pPr algn="l"/>
            <a:endParaRPr lang="en-AU" sz="3000"/>
          </a:p>
        </p:txBody>
      </p: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 uri="{C183D7F6-B498-43B3-948B-1728B52AA6E4}">
                <adec:decorative xmlns:adec="http://schemas.microsoft.com/office/drawing/2017/decorative" val="0"/>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pic>
        <p:nvPicPr>
          <p:cNvPr id="3" name="Picture 2" descr="image of a clipboard with a pencil recording short answer responses">
            <a:extLst>
              <a:ext uri="{FF2B5EF4-FFF2-40B4-BE49-F238E27FC236}">
                <a16:creationId xmlns:a16="http://schemas.microsoft.com/office/drawing/2014/main" id="{4B3A2BE0-B930-2216-835B-AE9E6856E5F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97A06986-14ED-EB35-E66E-B774329119B8}"/>
              </a:ext>
            </a:extLst>
          </p:cNvPr>
          <p:cNvSpPr txBox="1"/>
          <p:nvPr/>
        </p:nvSpPr>
        <p:spPr>
          <a:xfrm>
            <a:off x="813176" y="2218124"/>
            <a:ext cx="11132800" cy="2431371"/>
          </a:xfrm>
          <a:prstGeom prst="rect">
            <a:avLst/>
          </a:prstGeom>
          <a:noFill/>
        </p:spPr>
        <p:txBody>
          <a:bodyPr wrap="square">
            <a:spAutoFit/>
          </a:bodyPr>
          <a:lstStyle/>
          <a:p>
            <a:pPr lvl="0">
              <a:lnSpc>
                <a:spcPct val="150000"/>
              </a:lnSpc>
              <a:spcBef>
                <a:spcPts val="1200"/>
              </a:spcBef>
              <a:spcAft>
                <a:spcPts val="600"/>
              </a:spcAft>
            </a:pPr>
            <a:r>
              <a:rPr lang="en-AU" sz="4400">
                <a:effectLst/>
                <a:latin typeface="Arial" panose="020B0604020202020204" pitchFamily="34" charset="0"/>
                <a:ea typeface="Calibri" panose="020F0502020204030204" pitchFamily="34" charset="0"/>
                <a:cs typeface="Times New Roman" panose="02020603050405020304" pitchFamily="18" charset="0"/>
              </a:rPr>
              <a:t>Using </a:t>
            </a:r>
            <a:r>
              <a:rPr lang="en-AU" sz="4400" b="1">
                <a:effectLst/>
                <a:latin typeface="Arial" panose="020B0604020202020204" pitchFamily="34" charset="0"/>
                <a:ea typeface="Calibri" panose="020F0502020204030204" pitchFamily="34" charset="0"/>
                <a:cs typeface="Times New Roman" panose="02020603050405020304" pitchFamily="18" charset="0"/>
              </a:rPr>
              <a:t>place value partitioning </a:t>
            </a:r>
            <a:r>
              <a:rPr lang="en-AU" sz="4400">
                <a:effectLst/>
                <a:latin typeface="Arial" panose="020B0604020202020204" pitchFamily="34" charset="0"/>
                <a:ea typeface="Calibri" panose="020F0502020204030204" pitchFamily="34" charset="0"/>
                <a:cs typeface="Times New Roman" panose="02020603050405020304" pitchFamily="18" charset="0"/>
              </a:rPr>
              <a:t>solve: </a:t>
            </a:r>
          </a:p>
          <a:p>
            <a:pPr lvl="0" algn="ctr">
              <a:lnSpc>
                <a:spcPct val="150000"/>
              </a:lnSpc>
              <a:spcBef>
                <a:spcPts val="1200"/>
              </a:spcBef>
              <a:spcAft>
                <a:spcPts val="600"/>
              </a:spcAft>
            </a:pPr>
            <a:r>
              <a:rPr lang="en-AU" sz="5400">
                <a:effectLst/>
                <a:latin typeface="Arial" panose="020B0604020202020204" pitchFamily="34" charset="0"/>
                <a:ea typeface="Calibri" panose="020F0502020204030204" pitchFamily="34" charset="0"/>
                <a:cs typeface="Times New Roman" panose="02020603050405020304" pitchFamily="18" charset="0"/>
              </a:rPr>
              <a:t>4 x </a:t>
            </a:r>
            <a:r>
              <a:rPr lang="en-AU" sz="5400">
                <a:latin typeface="Arial" panose="020B0604020202020204" pitchFamily="34" charset="0"/>
                <a:ea typeface="Calibri" panose="020F0502020204030204" pitchFamily="34" charset="0"/>
                <a:cs typeface="Times New Roman" panose="02020603050405020304" pitchFamily="18" charset="0"/>
              </a:rPr>
              <a:t>4</a:t>
            </a:r>
            <a:r>
              <a:rPr lang="en-AU" sz="5400">
                <a:effectLst/>
                <a:latin typeface="Arial" panose="020B0604020202020204" pitchFamily="34" charset="0"/>
                <a:ea typeface="Calibri" panose="020F0502020204030204" pitchFamily="34" charset="0"/>
                <a:cs typeface="Times New Roman" panose="02020603050405020304" pitchFamily="18" charset="0"/>
              </a:rPr>
              <a:t>12 =</a:t>
            </a:r>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pic>
        <p:nvPicPr>
          <p:cNvPr id="3" name="Picture 2" descr="image of a clipboard with a pencil recording short answer responses">
            <a:extLst>
              <a:ext uri="{FF2B5EF4-FFF2-40B4-BE49-F238E27FC236}">
                <a16:creationId xmlns:a16="http://schemas.microsoft.com/office/drawing/2014/main" id="{7F0D925D-1709-7016-D09D-4DDBD08A31D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797F4F1B-7D40-77E6-0D6A-77BD3F3D8F33}"/>
              </a:ext>
            </a:extLst>
          </p:cNvPr>
          <p:cNvSpPr txBox="1"/>
          <p:nvPr/>
        </p:nvSpPr>
        <p:spPr>
          <a:xfrm>
            <a:off x="881743" y="1055380"/>
            <a:ext cx="11445724" cy="655463"/>
          </a:xfrm>
          <a:prstGeom prst="rect">
            <a:avLst/>
          </a:prstGeom>
          <a:noFill/>
        </p:spPr>
        <p:txBody>
          <a:bodyPr wrap="square" lIns="0" tIns="0" rIns="0" bIns="0" rtlCol="0">
            <a:noAutofit/>
          </a:bodyPr>
          <a:lstStyle/>
          <a:p>
            <a:pPr algn="l"/>
            <a:r>
              <a:rPr lang="en-AU" sz="4400"/>
              <a:t>Write the following as digital times:</a:t>
            </a:r>
          </a:p>
        </p:txBody>
      </p:sp>
      <p:pic>
        <p:nvPicPr>
          <p:cNvPr id="8" name="Picture 7" descr="An analog clock. The clock shows:&#10;&#10;The short hand (hour hand) is pointing just past the 3.&#10;The long hand (minute hand) is pointing directly at the 5.">
            <a:extLst>
              <a:ext uri="{FF2B5EF4-FFF2-40B4-BE49-F238E27FC236}">
                <a16:creationId xmlns:a16="http://schemas.microsoft.com/office/drawing/2014/main" id="{9DE96909-FA45-21C7-8644-E2E83B3C717D}"/>
              </a:ext>
            </a:extLst>
          </p:cNvPr>
          <p:cNvPicPr>
            <a:picLocks noChangeAspect="1"/>
          </p:cNvPicPr>
          <p:nvPr/>
        </p:nvPicPr>
        <p:blipFill>
          <a:blip r:embed="rId4"/>
          <a:stretch>
            <a:fillRect/>
          </a:stretch>
        </p:blipFill>
        <p:spPr>
          <a:xfrm>
            <a:off x="2987573" y="1796711"/>
            <a:ext cx="1955460" cy="2016000"/>
          </a:xfrm>
          <a:prstGeom prst="rect">
            <a:avLst/>
          </a:prstGeom>
        </p:spPr>
      </p:pic>
      <p:pic>
        <p:nvPicPr>
          <p:cNvPr id="9" name="Picture 8" descr="A blank digital clock next to the analog clock.">
            <a:extLst>
              <a:ext uri="{FF2B5EF4-FFF2-40B4-BE49-F238E27FC236}">
                <a16:creationId xmlns:a16="http://schemas.microsoft.com/office/drawing/2014/main" id="{B1BFCFC4-122D-8F63-D3F7-606C1E3D305F}"/>
              </a:ext>
            </a:extLst>
          </p:cNvPr>
          <p:cNvPicPr>
            <a:picLocks noChangeAspect="1"/>
          </p:cNvPicPr>
          <p:nvPr/>
        </p:nvPicPr>
        <p:blipFill>
          <a:blip r:embed="rId5"/>
          <a:stretch>
            <a:fillRect/>
          </a:stretch>
        </p:blipFill>
        <p:spPr>
          <a:xfrm>
            <a:off x="5896558" y="2133296"/>
            <a:ext cx="2091457" cy="1361879"/>
          </a:xfrm>
          <a:prstGeom prst="rect">
            <a:avLst/>
          </a:prstGeom>
        </p:spPr>
      </p:pic>
      <p:pic>
        <p:nvPicPr>
          <p:cNvPr id="13" name="Picture 12" descr="An analog clock. The clock shows:&#10;&#10;The short hand (hour hand) is pointing between the 7 and the 8.&#10;The long hand (minute hand) is pointing directly at the 4.">
            <a:extLst>
              <a:ext uri="{FF2B5EF4-FFF2-40B4-BE49-F238E27FC236}">
                <a16:creationId xmlns:a16="http://schemas.microsoft.com/office/drawing/2014/main" id="{E4E3F6A0-9BA9-03F7-E248-F04A7133E09E}"/>
              </a:ext>
            </a:extLst>
          </p:cNvPr>
          <p:cNvPicPr>
            <a:picLocks noChangeAspect="1"/>
          </p:cNvPicPr>
          <p:nvPr/>
        </p:nvPicPr>
        <p:blipFill>
          <a:blip r:embed="rId6"/>
          <a:stretch>
            <a:fillRect/>
          </a:stretch>
        </p:blipFill>
        <p:spPr>
          <a:xfrm>
            <a:off x="2863527" y="3917628"/>
            <a:ext cx="1988423" cy="2016000"/>
          </a:xfrm>
          <a:prstGeom prst="rect">
            <a:avLst/>
          </a:prstGeom>
        </p:spPr>
      </p:pic>
      <p:pic>
        <p:nvPicPr>
          <p:cNvPr id="12" name="Picture 11" descr="A blank digital clock next to the analog clock.">
            <a:extLst>
              <a:ext uri="{FF2B5EF4-FFF2-40B4-BE49-F238E27FC236}">
                <a16:creationId xmlns:a16="http://schemas.microsoft.com/office/drawing/2014/main" id="{5E6B19C0-0E59-1FF9-F36D-56FE2DDB14EC}"/>
              </a:ext>
            </a:extLst>
          </p:cNvPr>
          <p:cNvPicPr>
            <a:picLocks noChangeAspect="1"/>
          </p:cNvPicPr>
          <p:nvPr/>
        </p:nvPicPr>
        <p:blipFill>
          <a:blip r:embed="rId5"/>
          <a:stretch>
            <a:fillRect/>
          </a:stretch>
        </p:blipFill>
        <p:spPr>
          <a:xfrm>
            <a:off x="5896558" y="4244689"/>
            <a:ext cx="2091457" cy="1361879"/>
          </a:xfrm>
          <a:prstGeom prst="rect">
            <a:avLst/>
          </a:prstGeom>
        </p:spPr>
      </p:pic>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t>Activity 6 – missing numbers</a:t>
            </a:r>
          </a:p>
        </p:txBody>
      </p:sp>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pic>
        <p:nvPicPr>
          <p:cNvPr id="4" name="Picture 3" descr="image of a head with cogs turning inside">
            <a:extLst>
              <a:ext uri="{FF2B5EF4-FFF2-40B4-BE49-F238E27FC236}">
                <a16:creationId xmlns:a16="http://schemas.microsoft.com/office/drawing/2014/main" id="{98F6F9F3-5640-0D69-7B77-0C79E603F675}"/>
              </a:ext>
            </a:extLst>
          </p:cNvPr>
          <p:cNvPicPr>
            <a:picLocks noChangeAspect="1"/>
          </p:cNvPicPr>
          <p:nvPr/>
        </p:nvPicPr>
        <p:blipFill>
          <a:blip r:embed="rId3"/>
          <a:stretch>
            <a:fillRect/>
          </a:stretch>
        </p:blipFill>
        <p:spPr>
          <a:xfrm>
            <a:off x="11107003" y="240894"/>
            <a:ext cx="720000" cy="856364"/>
          </a:xfrm>
          <a:prstGeom prst="rect">
            <a:avLst/>
          </a:prstGeom>
        </p:spPr>
      </p:pic>
      <p:graphicFrame>
        <p:nvGraphicFramePr>
          <p:cNvPr id="7" name="Table 6" descr="Mulitplication chart with numbers missing. ">
            <a:extLst>
              <a:ext uri="{FF2B5EF4-FFF2-40B4-BE49-F238E27FC236}">
                <a16:creationId xmlns:a16="http://schemas.microsoft.com/office/drawing/2014/main" id="{B46F40B2-6867-1806-DEC2-403D67E7B310}"/>
              </a:ext>
            </a:extLst>
          </p:cNvPr>
          <p:cNvGraphicFramePr>
            <a:graphicFrameLocks noGrp="1"/>
          </p:cNvGraphicFramePr>
          <p:nvPr>
            <p:extLst>
              <p:ext uri="{D42A27DB-BD31-4B8C-83A1-F6EECF244321}">
                <p14:modId xmlns:p14="http://schemas.microsoft.com/office/powerpoint/2010/main" val="4265822069"/>
              </p:ext>
            </p:extLst>
          </p:nvPr>
        </p:nvGraphicFramePr>
        <p:xfrm>
          <a:off x="3619566" y="1604136"/>
          <a:ext cx="5529940" cy="4049255"/>
        </p:xfrm>
        <a:graphic>
          <a:graphicData uri="http://schemas.openxmlformats.org/drawingml/2006/table">
            <a:tbl>
              <a:tblPr firstRow="1"/>
              <a:tblGrid>
                <a:gridCol w="1105988">
                  <a:extLst>
                    <a:ext uri="{9D8B030D-6E8A-4147-A177-3AD203B41FA5}">
                      <a16:colId xmlns:a16="http://schemas.microsoft.com/office/drawing/2014/main" val="2648119731"/>
                    </a:ext>
                  </a:extLst>
                </a:gridCol>
                <a:gridCol w="1105988">
                  <a:extLst>
                    <a:ext uri="{9D8B030D-6E8A-4147-A177-3AD203B41FA5}">
                      <a16:colId xmlns:a16="http://schemas.microsoft.com/office/drawing/2014/main" val="1814504006"/>
                    </a:ext>
                  </a:extLst>
                </a:gridCol>
                <a:gridCol w="1105988">
                  <a:extLst>
                    <a:ext uri="{9D8B030D-6E8A-4147-A177-3AD203B41FA5}">
                      <a16:colId xmlns:a16="http://schemas.microsoft.com/office/drawing/2014/main" val="2851816143"/>
                    </a:ext>
                  </a:extLst>
                </a:gridCol>
                <a:gridCol w="1105988">
                  <a:extLst>
                    <a:ext uri="{9D8B030D-6E8A-4147-A177-3AD203B41FA5}">
                      <a16:colId xmlns:a16="http://schemas.microsoft.com/office/drawing/2014/main" val="3969949850"/>
                    </a:ext>
                  </a:extLst>
                </a:gridCol>
                <a:gridCol w="1105988">
                  <a:extLst>
                    <a:ext uri="{9D8B030D-6E8A-4147-A177-3AD203B41FA5}">
                      <a16:colId xmlns:a16="http://schemas.microsoft.com/office/drawing/2014/main" val="1549002700"/>
                    </a:ext>
                  </a:extLst>
                </a:gridCol>
              </a:tblGrid>
              <a:tr h="809851">
                <a:tc>
                  <a:txBody>
                    <a:bodyPr/>
                    <a:lstStyle/>
                    <a:p>
                      <a:pPr algn="ctr" fontAlgn="base">
                        <a:lnSpc>
                          <a:spcPts val="3825"/>
                        </a:lnSpc>
                        <a:buNone/>
                      </a:pPr>
                      <a:r>
                        <a:rPr lang="en-US" sz="3200" b="0" i="0">
                          <a:solidFill>
                            <a:srgbClr val="000000"/>
                          </a:solidFill>
                          <a:effectLst/>
                          <a:latin typeface="Edu NSW ACT Foundation"/>
                        </a:rPr>
                        <a:t>x</a:t>
                      </a:r>
                      <a:r>
                        <a:rPr lang="en-US" sz="3200" b="0" i="0">
                          <a:solidFill>
                            <a:srgbClr val="22272B"/>
                          </a:solidFill>
                          <a:effectLst/>
                          <a:latin typeface="Edu NSW ACT Foundation"/>
                        </a:rPr>
                        <a:t>​</a:t>
                      </a:r>
                      <a:endParaRPr lang="en-US" b="0" i="0">
                        <a:solidFill>
                          <a:srgbClr val="22272B"/>
                        </a:solidFill>
                        <a:effectLst/>
                      </a:endParaRPr>
                    </a:p>
                  </a:txBody>
                  <a:tcPr anchor="ctr">
                    <a:lnL w="15240" cap="flat" cmpd="sng" algn="ctr">
                      <a:solidFill>
                        <a:srgbClr val="000000"/>
                      </a:solidFill>
                      <a:prstDash val="solid"/>
                      <a:round/>
                      <a:headEnd type="none" w="med" len="med"/>
                      <a:tailEnd type="none" w="med" len="med"/>
                    </a:lnL>
                    <a:lnR w="15240" cap="flat" cmpd="sng" algn="ctr">
                      <a:solidFill>
                        <a:srgbClr val="000000"/>
                      </a:solidFill>
                      <a:prstDash val="solid"/>
                      <a:round/>
                      <a:headEnd type="none" w="med" len="med"/>
                      <a:tailEnd type="none" w="med" len="med"/>
                    </a:lnR>
                    <a:lnT w="15240" cap="flat" cmpd="sng" algn="ctr">
                      <a:solidFill>
                        <a:srgbClr val="000000"/>
                      </a:solidFill>
                      <a:prstDash val="solid"/>
                      <a:round/>
                      <a:headEnd type="none" w="med" len="med"/>
                      <a:tailEnd type="none" w="med" len="med"/>
                    </a:lnT>
                    <a:lnB w="15240" cap="flat" cmpd="sng" algn="ctr">
                      <a:solidFill>
                        <a:srgbClr val="000000"/>
                      </a:solidFill>
                      <a:prstDash val="solid"/>
                      <a:round/>
                      <a:headEnd type="none" w="med" len="med"/>
                      <a:tailEnd type="none" w="med" len="med"/>
                    </a:lnB>
                    <a:solidFill>
                      <a:srgbClr val="7ED957"/>
                    </a:solidFill>
                  </a:tcPr>
                </a:tc>
                <a:tc>
                  <a:txBody>
                    <a:bodyPr/>
                    <a:lstStyle/>
                    <a:p>
                      <a:pPr algn="ctr" fontAlgn="base">
                        <a:lnSpc>
                          <a:spcPts val="3825"/>
                        </a:lnSpc>
                        <a:buNone/>
                      </a:pPr>
                      <a:r>
                        <a:rPr lang="en-US" sz="3200" b="0" i="0">
                          <a:solidFill>
                            <a:srgbClr val="000000"/>
                          </a:solidFill>
                          <a:effectLst/>
                          <a:latin typeface="Edu NSW ACT Foundation"/>
                        </a:rPr>
                        <a:t>5</a:t>
                      </a:r>
                      <a:r>
                        <a:rPr lang="en-US" sz="3200" b="0" i="0">
                          <a:solidFill>
                            <a:srgbClr val="22272B"/>
                          </a:solidFill>
                          <a:effectLst/>
                          <a:latin typeface="Edu NSW ACT Foundation"/>
                        </a:rPr>
                        <a:t>​</a:t>
                      </a:r>
                      <a:endParaRPr lang="en-US" b="0" i="0">
                        <a:solidFill>
                          <a:srgbClr val="22272B"/>
                        </a:solidFill>
                        <a:effectLst/>
                      </a:endParaRPr>
                    </a:p>
                  </a:txBody>
                  <a:tcPr anchor="ctr">
                    <a:lnL w="15240" cap="flat" cmpd="sng" algn="ctr">
                      <a:solidFill>
                        <a:srgbClr val="000000"/>
                      </a:solidFill>
                      <a:prstDash val="solid"/>
                      <a:round/>
                      <a:headEnd type="none" w="med" len="med"/>
                      <a:tailEnd type="none" w="med" len="med"/>
                    </a:lnL>
                    <a:lnR w="15240" cap="flat" cmpd="sng" algn="ctr">
                      <a:solidFill>
                        <a:srgbClr val="000000"/>
                      </a:solidFill>
                      <a:prstDash val="solid"/>
                      <a:round/>
                      <a:headEnd type="none" w="med" len="med"/>
                      <a:tailEnd type="none" w="med" len="med"/>
                    </a:lnR>
                    <a:lnT w="15240" cap="flat" cmpd="sng" algn="ctr">
                      <a:solidFill>
                        <a:srgbClr val="000000"/>
                      </a:solidFill>
                      <a:prstDash val="solid"/>
                      <a:round/>
                      <a:headEnd type="none" w="med" len="med"/>
                      <a:tailEnd type="none" w="med" len="med"/>
                    </a:lnT>
                    <a:lnB w="15240" cap="flat" cmpd="sng" algn="ctr">
                      <a:solidFill>
                        <a:srgbClr val="000000"/>
                      </a:solidFill>
                      <a:prstDash val="solid"/>
                      <a:round/>
                      <a:headEnd type="none" w="med" len="med"/>
                      <a:tailEnd type="none" w="med" len="med"/>
                    </a:lnB>
                    <a:solidFill>
                      <a:srgbClr val="7ED957"/>
                    </a:solidFill>
                  </a:tcPr>
                </a:tc>
                <a:tc>
                  <a:txBody>
                    <a:bodyPr/>
                    <a:lstStyle/>
                    <a:p>
                      <a:pPr algn="ctr" fontAlgn="base">
                        <a:lnSpc>
                          <a:spcPts val="3825"/>
                        </a:lnSpc>
                        <a:buNone/>
                      </a:pPr>
                      <a:r>
                        <a:rPr lang="en-US" sz="3200" b="0" i="0">
                          <a:solidFill>
                            <a:srgbClr val="000000"/>
                          </a:solidFill>
                          <a:effectLst/>
                          <a:latin typeface="Edu NSW ACT Foundation"/>
                        </a:rPr>
                        <a:t>8</a:t>
                      </a:r>
                      <a:r>
                        <a:rPr lang="en-US" sz="3200" b="0" i="0">
                          <a:solidFill>
                            <a:srgbClr val="22272B"/>
                          </a:solidFill>
                          <a:effectLst/>
                          <a:latin typeface="Edu NSW ACT Foundation"/>
                        </a:rPr>
                        <a:t>​</a:t>
                      </a:r>
                      <a:endParaRPr lang="en-US" b="0" i="0">
                        <a:solidFill>
                          <a:srgbClr val="22272B"/>
                        </a:solidFill>
                        <a:effectLst/>
                      </a:endParaRPr>
                    </a:p>
                  </a:txBody>
                  <a:tcPr anchor="ctr">
                    <a:lnL w="15240" cap="flat" cmpd="sng" algn="ctr">
                      <a:solidFill>
                        <a:srgbClr val="000000"/>
                      </a:solidFill>
                      <a:prstDash val="solid"/>
                      <a:round/>
                      <a:headEnd type="none" w="med" len="med"/>
                      <a:tailEnd type="none" w="med" len="med"/>
                    </a:lnL>
                    <a:lnR w="15240" cap="flat" cmpd="sng" algn="ctr">
                      <a:solidFill>
                        <a:srgbClr val="000000"/>
                      </a:solidFill>
                      <a:prstDash val="solid"/>
                      <a:round/>
                      <a:headEnd type="none" w="med" len="med"/>
                      <a:tailEnd type="none" w="med" len="med"/>
                    </a:lnR>
                    <a:lnT w="15240" cap="flat" cmpd="sng" algn="ctr">
                      <a:solidFill>
                        <a:srgbClr val="000000"/>
                      </a:solidFill>
                      <a:prstDash val="solid"/>
                      <a:round/>
                      <a:headEnd type="none" w="med" len="med"/>
                      <a:tailEnd type="none" w="med" len="med"/>
                    </a:lnT>
                    <a:lnB w="15240" cap="flat" cmpd="sng" algn="ctr">
                      <a:solidFill>
                        <a:srgbClr val="000000"/>
                      </a:solidFill>
                      <a:prstDash val="solid"/>
                      <a:round/>
                      <a:headEnd type="none" w="med" len="med"/>
                      <a:tailEnd type="none" w="med" len="med"/>
                    </a:lnB>
                    <a:solidFill>
                      <a:srgbClr val="7ED957"/>
                    </a:solidFill>
                  </a:tcPr>
                </a:tc>
                <a:tc>
                  <a:txBody>
                    <a:bodyPr/>
                    <a:lstStyle/>
                    <a:p>
                      <a:pPr algn="ctr" fontAlgn="auto">
                        <a:lnSpc>
                          <a:spcPts val="3825"/>
                        </a:lnSpc>
                        <a:buNone/>
                      </a:pPr>
                      <a:r>
                        <a:rPr lang="en-US" sz="3200" b="0" i="0">
                          <a:solidFill>
                            <a:srgbClr val="22272B"/>
                          </a:solidFill>
                          <a:effectLst/>
                          <a:latin typeface="Edu NSW ACT Foundation"/>
                        </a:rPr>
                        <a:t>​</a:t>
                      </a:r>
                    </a:p>
                  </a:txBody>
                  <a:tcPr anchor="ctr">
                    <a:lnL w="15240" cap="flat" cmpd="sng" algn="ctr">
                      <a:solidFill>
                        <a:srgbClr val="000000"/>
                      </a:solidFill>
                      <a:prstDash val="solid"/>
                      <a:round/>
                      <a:headEnd type="none" w="med" len="med"/>
                      <a:tailEnd type="none" w="med" len="med"/>
                    </a:lnL>
                    <a:lnR w="15240" cap="flat" cmpd="sng" algn="ctr">
                      <a:solidFill>
                        <a:srgbClr val="000000"/>
                      </a:solidFill>
                      <a:prstDash val="solid"/>
                      <a:round/>
                      <a:headEnd type="none" w="med" len="med"/>
                      <a:tailEnd type="none" w="med" len="med"/>
                    </a:lnR>
                    <a:lnT w="15240" cap="flat" cmpd="sng" algn="ctr">
                      <a:solidFill>
                        <a:srgbClr val="000000"/>
                      </a:solidFill>
                      <a:prstDash val="solid"/>
                      <a:round/>
                      <a:headEnd type="none" w="med" len="med"/>
                      <a:tailEnd type="none" w="med" len="med"/>
                    </a:lnT>
                    <a:lnB w="15240" cap="flat" cmpd="sng" algn="ctr">
                      <a:solidFill>
                        <a:srgbClr val="000000"/>
                      </a:solidFill>
                      <a:prstDash val="solid"/>
                      <a:round/>
                      <a:headEnd type="none" w="med" len="med"/>
                      <a:tailEnd type="none" w="med" len="med"/>
                    </a:lnB>
                    <a:solidFill>
                      <a:srgbClr val="7ED957"/>
                    </a:solidFill>
                  </a:tcPr>
                </a:tc>
                <a:tc>
                  <a:txBody>
                    <a:bodyPr/>
                    <a:lstStyle/>
                    <a:p>
                      <a:pPr algn="ctr" fontAlgn="base">
                        <a:lnSpc>
                          <a:spcPts val="3825"/>
                        </a:lnSpc>
                        <a:buNone/>
                      </a:pPr>
                      <a:r>
                        <a:rPr lang="en-US" sz="3200" b="0" i="0">
                          <a:solidFill>
                            <a:srgbClr val="000000"/>
                          </a:solidFill>
                          <a:effectLst/>
                          <a:latin typeface="Edu NSW ACT Foundation"/>
                        </a:rPr>
                        <a:t>2</a:t>
                      </a:r>
                      <a:r>
                        <a:rPr lang="en-US" sz="3200" b="0" i="0">
                          <a:solidFill>
                            <a:srgbClr val="22272B"/>
                          </a:solidFill>
                          <a:effectLst/>
                          <a:latin typeface="Edu NSW ACT Foundation"/>
                        </a:rPr>
                        <a:t>​</a:t>
                      </a:r>
                      <a:endParaRPr lang="en-US" b="0" i="0">
                        <a:solidFill>
                          <a:srgbClr val="22272B"/>
                        </a:solidFill>
                        <a:effectLst/>
                      </a:endParaRPr>
                    </a:p>
                  </a:txBody>
                  <a:tcPr anchor="ctr">
                    <a:lnL w="15240" cap="flat" cmpd="sng" algn="ctr">
                      <a:solidFill>
                        <a:srgbClr val="000000"/>
                      </a:solidFill>
                      <a:prstDash val="solid"/>
                      <a:round/>
                      <a:headEnd type="none" w="med" len="med"/>
                      <a:tailEnd type="none" w="med" len="med"/>
                    </a:lnL>
                    <a:lnR w="15240" cap="flat" cmpd="sng" algn="ctr">
                      <a:solidFill>
                        <a:srgbClr val="000000"/>
                      </a:solidFill>
                      <a:prstDash val="solid"/>
                      <a:round/>
                      <a:headEnd type="none" w="med" len="med"/>
                      <a:tailEnd type="none" w="med" len="med"/>
                    </a:lnR>
                    <a:lnT w="15240" cap="flat" cmpd="sng" algn="ctr">
                      <a:solidFill>
                        <a:srgbClr val="000000"/>
                      </a:solidFill>
                      <a:prstDash val="solid"/>
                      <a:round/>
                      <a:headEnd type="none" w="med" len="med"/>
                      <a:tailEnd type="none" w="med" len="med"/>
                    </a:lnT>
                    <a:lnB w="15240" cap="flat" cmpd="sng" algn="ctr">
                      <a:solidFill>
                        <a:srgbClr val="000000"/>
                      </a:solidFill>
                      <a:prstDash val="solid"/>
                      <a:round/>
                      <a:headEnd type="none" w="med" len="med"/>
                      <a:tailEnd type="none" w="med" len="med"/>
                    </a:lnB>
                    <a:solidFill>
                      <a:srgbClr val="7ED957"/>
                    </a:solidFill>
                  </a:tcPr>
                </a:tc>
                <a:extLst>
                  <a:ext uri="{0D108BD9-81ED-4DB2-BD59-A6C34878D82A}">
                    <a16:rowId xmlns:a16="http://schemas.microsoft.com/office/drawing/2014/main" val="1946874384"/>
                  </a:ext>
                </a:extLst>
              </a:tr>
              <a:tr h="809851">
                <a:tc>
                  <a:txBody>
                    <a:bodyPr/>
                    <a:lstStyle/>
                    <a:p>
                      <a:pPr algn="ctr" fontAlgn="auto">
                        <a:lnSpc>
                          <a:spcPts val="3825"/>
                        </a:lnSpc>
                        <a:buNone/>
                      </a:pPr>
                      <a:r>
                        <a:rPr lang="en-US" sz="3200" b="0" i="0">
                          <a:solidFill>
                            <a:srgbClr val="22272B"/>
                          </a:solidFill>
                          <a:effectLst/>
                          <a:latin typeface="Edu NSW ACT Foundation"/>
                        </a:rPr>
                        <a:t>​</a:t>
                      </a:r>
                    </a:p>
                  </a:txBody>
                  <a:tcPr anchor="ctr">
                    <a:lnL w="15240" cap="flat" cmpd="sng" algn="ctr">
                      <a:solidFill>
                        <a:srgbClr val="000000"/>
                      </a:solidFill>
                      <a:prstDash val="solid"/>
                      <a:round/>
                      <a:headEnd type="none" w="med" len="med"/>
                      <a:tailEnd type="none" w="med" len="med"/>
                    </a:lnL>
                    <a:lnR w="15240" cap="flat" cmpd="sng" algn="ctr">
                      <a:solidFill>
                        <a:srgbClr val="000000"/>
                      </a:solidFill>
                      <a:prstDash val="solid"/>
                      <a:round/>
                      <a:headEnd type="none" w="med" len="med"/>
                      <a:tailEnd type="none" w="med" len="med"/>
                    </a:lnR>
                    <a:lnT w="15240" cap="flat" cmpd="sng" algn="ctr">
                      <a:solidFill>
                        <a:srgbClr val="000000"/>
                      </a:solidFill>
                      <a:prstDash val="solid"/>
                      <a:round/>
                      <a:headEnd type="none" w="med" len="med"/>
                      <a:tailEnd type="none" w="med" len="med"/>
                    </a:lnT>
                    <a:lnB w="15240" cap="flat" cmpd="sng" algn="ctr">
                      <a:solidFill>
                        <a:srgbClr val="000000"/>
                      </a:solidFill>
                      <a:prstDash val="solid"/>
                      <a:round/>
                      <a:headEnd type="none" w="med" len="med"/>
                      <a:tailEnd type="none" w="med" len="med"/>
                    </a:lnB>
                    <a:solidFill>
                      <a:srgbClr val="7ED957"/>
                    </a:solidFill>
                  </a:tcPr>
                </a:tc>
                <a:tc>
                  <a:txBody>
                    <a:bodyPr/>
                    <a:lstStyle/>
                    <a:p>
                      <a:pPr algn="ctr" fontAlgn="auto">
                        <a:lnSpc>
                          <a:spcPts val="3825"/>
                        </a:lnSpc>
                        <a:buNone/>
                      </a:pPr>
                      <a:r>
                        <a:rPr lang="en-US" sz="3200" b="0" i="0">
                          <a:solidFill>
                            <a:srgbClr val="22272B"/>
                          </a:solidFill>
                          <a:effectLst/>
                          <a:latin typeface="Edu NSW ACT Foundation"/>
                        </a:rPr>
                        <a:t>​</a:t>
                      </a:r>
                    </a:p>
                  </a:txBody>
                  <a:tcPr anchor="ctr">
                    <a:lnL w="15240" cap="flat" cmpd="sng" algn="ctr">
                      <a:solidFill>
                        <a:srgbClr val="000000"/>
                      </a:solidFill>
                      <a:prstDash val="solid"/>
                      <a:round/>
                      <a:headEnd type="none" w="med" len="med"/>
                      <a:tailEnd type="none" w="med" len="med"/>
                    </a:lnL>
                    <a:lnR w="15240" cap="flat" cmpd="sng" algn="ctr">
                      <a:solidFill>
                        <a:srgbClr val="000000"/>
                      </a:solidFill>
                      <a:prstDash val="solid"/>
                      <a:round/>
                      <a:headEnd type="none" w="med" len="med"/>
                      <a:tailEnd type="none" w="med" len="med"/>
                    </a:lnR>
                    <a:lnT w="15240" cap="flat" cmpd="sng" algn="ctr">
                      <a:solidFill>
                        <a:srgbClr val="000000"/>
                      </a:solidFill>
                      <a:prstDash val="solid"/>
                      <a:round/>
                      <a:headEnd type="none" w="med" len="med"/>
                      <a:tailEnd type="none" w="med" len="med"/>
                    </a:lnT>
                    <a:lnB w="15240" cap="flat" cmpd="sng" algn="ctr">
                      <a:solidFill>
                        <a:srgbClr val="000000"/>
                      </a:solidFill>
                      <a:prstDash val="solid"/>
                      <a:round/>
                      <a:headEnd type="none" w="med" len="med"/>
                      <a:tailEnd type="none" w="med" len="med"/>
                    </a:lnB>
                    <a:noFill/>
                  </a:tcPr>
                </a:tc>
                <a:tc>
                  <a:txBody>
                    <a:bodyPr/>
                    <a:lstStyle/>
                    <a:p>
                      <a:pPr algn="ctr" fontAlgn="base">
                        <a:lnSpc>
                          <a:spcPts val="3825"/>
                        </a:lnSpc>
                        <a:buNone/>
                      </a:pPr>
                      <a:r>
                        <a:rPr lang="en-US" sz="3200" b="0" i="0">
                          <a:solidFill>
                            <a:srgbClr val="000000"/>
                          </a:solidFill>
                          <a:effectLst/>
                          <a:latin typeface="Edu NSW ACT Foundation"/>
                        </a:rPr>
                        <a:t>32</a:t>
                      </a:r>
                      <a:r>
                        <a:rPr lang="en-US" sz="3200" b="0" i="0">
                          <a:solidFill>
                            <a:srgbClr val="22272B"/>
                          </a:solidFill>
                          <a:effectLst/>
                          <a:latin typeface="Edu NSW ACT Foundation"/>
                        </a:rPr>
                        <a:t>​</a:t>
                      </a:r>
                      <a:endParaRPr lang="en-US" b="0" i="0">
                        <a:solidFill>
                          <a:srgbClr val="22272B"/>
                        </a:solidFill>
                        <a:effectLst/>
                      </a:endParaRPr>
                    </a:p>
                  </a:txBody>
                  <a:tcPr anchor="ctr">
                    <a:lnL w="15240" cap="flat" cmpd="sng" algn="ctr">
                      <a:solidFill>
                        <a:srgbClr val="000000"/>
                      </a:solidFill>
                      <a:prstDash val="solid"/>
                      <a:round/>
                      <a:headEnd type="none" w="med" len="med"/>
                      <a:tailEnd type="none" w="med" len="med"/>
                    </a:lnL>
                    <a:lnR w="15240" cap="flat" cmpd="sng" algn="ctr">
                      <a:solidFill>
                        <a:srgbClr val="000000"/>
                      </a:solidFill>
                      <a:prstDash val="solid"/>
                      <a:round/>
                      <a:headEnd type="none" w="med" len="med"/>
                      <a:tailEnd type="none" w="med" len="med"/>
                    </a:lnR>
                    <a:lnT w="15240" cap="flat" cmpd="sng" algn="ctr">
                      <a:solidFill>
                        <a:srgbClr val="000000"/>
                      </a:solidFill>
                      <a:prstDash val="solid"/>
                      <a:round/>
                      <a:headEnd type="none" w="med" len="med"/>
                      <a:tailEnd type="none" w="med" len="med"/>
                    </a:lnT>
                    <a:lnB w="15240" cap="flat" cmpd="sng" algn="ctr">
                      <a:solidFill>
                        <a:srgbClr val="000000"/>
                      </a:solidFill>
                      <a:prstDash val="solid"/>
                      <a:round/>
                      <a:headEnd type="none" w="med" len="med"/>
                      <a:tailEnd type="none" w="med" len="med"/>
                    </a:lnB>
                    <a:noFill/>
                  </a:tcPr>
                </a:tc>
                <a:tc>
                  <a:txBody>
                    <a:bodyPr/>
                    <a:lstStyle/>
                    <a:p>
                      <a:pPr algn="ctr" fontAlgn="auto">
                        <a:lnSpc>
                          <a:spcPts val="3825"/>
                        </a:lnSpc>
                        <a:buNone/>
                      </a:pPr>
                      <a:r>
                        <a:rPr lang="en-US" sz="3200" b="0" i="0">
                          <a:solidFill>
                            <a:srgbClr val="22272B"/>
                          </a:solidFill>
                          <a:effectLst/>
                          <a:latin typeface="Edu NSW ACT Foundation"/>
                        </a:rPr>
                        <a:t>​</a:t>
                      </a:r>
                    </a:p>
                  </a:txBody>
                  <a:tcPr anchor="ctr">
                    <a:lnL w="15240" cap="flat" cmpd="sng" algn="ctr">
                      <a:solidFill>
                        <a:srgbClr val="000000"/>
                      </a:solidFill>
                      <a:prstDash val="solid"/>
                      <a:round/>
                      <a:headEnd type="none" w="med" len="med"/>
                      <a:tailEnd type="none" w="med" len="med"/>
                    </a:lnL>
                    <a:lnR w="15240" cap="flat" cmpd="sng" algn="ctr">
                      <a:solidFill>
                        <a:srgbClr val="000000"/>
                      </a:solidFill>
                      <a:prstDash val="solid"/>
                      <a:round/>
                      <a:headEnd type="none" w="med" len="med"/>
                      <a:tailEnd type="none" w="med" len="med"/>
                    </a:lnR>
                    <a:lnT w="15240" cap="flat" cmpd="sng" algn="ctr">
                      <a:solidFill>
                        <a:srgbClr val="000000"/>
                      </a:solidFill>
                      <a:prstDash val="solid"/>
                      <a:round/>
                      <a:headEnd type="none" w="med" len="med"/>
                      <a:tailEnd type="none" w="med" len="med"/>
                    </a:lnT>
                    <a:lnB w="15240" cap="flat" cmpd="sng" algn="ctr">
                      <a:solidFill>
                        <a:srgbClr val="000000"/>
                      </a:solidFill>
                      <a:prstDash val="solid"/>
                      <a:round/>
                      <a:headEnd type="none" w="med" len="med"/>
                      <a:tailEnd type="none" w="med" len="med"/>
                    </a:lnB>
                    <a:noFill/>
                  </a:tcPr>
                </a:tc>
                <a:tc>
                  <a:txBody>
                    <a:bodyPr/>
                    <a:lstStyle/>
                    <a:p>
                      <a:pPr algn="ctr" fontAlgn="auto">
                        <a:lnSpc>
                          <a:spcPts val="3825"/>
                        </a:lnSpc>
                        <a:buNone/>
                      </a:pPr>
                      <a:r>
                        <a:rPr lang="en-US" sz="3200" b="0" i="0">
                          <a:solidFill>
                            <a:srgbClr val="22272B"/>
                          </a:solidFill>
                          <a:effectLst/>
                          <a:latin typeface="Edu NSW ACT Foundation"/>
                        </a:rPr>
                        <a:t>​</a:t>
                      </a:r>
                    </a:p>
                  </a:txBody>
                  <a:tcPr anchor="ctr">
                    <a:lnL w="15240" cap="flat" cmpd="sng" algn="ctr">
                      <a:solidFill>
                        <a:srgbClr val="000000"/>
                      </a:solidFill>
                      <a:prstDash val="solid"/>
                      <a:round/>
                      <a:headEnd type="none" w="med" len="med"/>
                      <a:tailEnd type="none" w="med" len="med"/>
                    </a:lnL>
                    <a:lnR w="15240" cap="flat" cmpd="sng" algn="ctr">
                      <a:solidFill>
                        <a:srgbClr val="000000"/>
                      </a:solidFill>
                      <a:prstDash val="solid"/>
                      <a:round/>
                      <a:headEnd type="none" w="med" len="med"/>
                      <a:tailEnd type="none" w="med" len="med"/>
                    </a:lnR>
                    <a:lnT w="15240" cap="flat" cmpd="sng" algn="ctr">
                      <a:solidFill>
                        <a:srgbClr val="000000"/>
                      </a:solidFill>
                      <a:prstDash val="solid"/>
                      <a:round/>
                      <a:headEnd type="none" w="med" len="med"/>
                      <a:tailEnd type="none" w="med" len="med"/>
                    </a:lnT>
                    <a:lnB w="1524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77469382"/>
                  </a:ext>
                </a:extLst>
              </a:tr>
              <a:tr h="809851">
                <a:tc>
                  <a:txBody>
                    <a:bodyPr/>
                    <a:lstStyle/>
                    <a:p>
                      <a:pPr algn="ctr" fontAlgn="base">
                        <a:lnSpc>
                          <a:spcPts val="3825"/>
                        </a:lnSpc>
                        <a:buNone/>
                      </a:pPr>
                      <a:r>
                        <a:rPr lang="en-US" sz="3200" b="0" i="0">
                          <a:solidFill>
                            <a:srgbClr val="000000"/>
                          </a:solidFill>
                          <a:effectLst/>
                          <a:latin typeface="Edu NSW ACT Foundation"/>
                        </a:rPr>
                        <a:t>6</a:t>
                      </a:r>
                      <a:r>
                        <a:rPr lang="en-US" sz="3200" b="0" i="0">
                          <a:solidFill>
                            <a:srgbClr val="22272B"/>
                          </a:solidFill>
                          <a:effectLst/>
                          <a:latin typeface="Edu NSW ACT Foundation"/>
                        </a:rPr>
                        <a:t>​</a:t>
                      </a:r>
                      <a:endParaRPr lang="en-US" b="0" i="0">
                        <a:solidFill>
                          <a:srgbClr val="22272B"/>
                        </a:solidFill>
                        <a:effectLst/>
                      </a:endParaRPr>
                    </a:p>
                  </a:txBody>
                  <a:tcPr anchor="ctr">
                    <a:lnL w="15240" cap="flat" cmpd="sng" algn="ctr">
                      <a:solidFill>
                        <a:srgbClr val="000000"/>
                      </a:solidFill>
                      <a:prstDash val="solid"/>
                      <a:round/>
                      <a:headEnd type="none" w="med" len="med"/>
                      <a:tailEnd type="none" w="med" len="med"/>
                    </a:lnL>
                    <a:lnR w="15240" cap="flat" cmpd="sng" algn="ctr">
                      <a:solidFill>
                        <a:srgbClr val="000000"/>
                      </a:solidFill>
                      <a:prstDash val="solid"/>
                      <a:round/>
                      <a:headEnd type="none" w="med" len="med"/>
                      <a:tailEnd type="none" w="med" len="med"/>
                    </a:lnR>
                    <a:lnT w="15240" cap="flat" cmpd="sng" algn="ctr">
                      <a:solidFill>
                        <a:srgbClr val="000000"/>
                      </a:solidFill>
                      <a:prstDash val="solid"/>
                      <a:round/>
                      <a:headEnd type="none" w="med" len="med"/>
                      <a:tailEnd type="none" w="med" len="med"/>
                    </a:lnT>
                    <a:lnB w="15240" cap="flat" cmpd="sng" algn="ctr">
                      <a:solidFill>
                        <a:srgbClr val="000000"/>
                      </a:solidFill>
                      <a:prstDash val="solid"/>
                      <a:round/>
                      <a:headEnd type="none" w="med" len="med"/>
                      <a:tailEnd type="none" w="med" len="med"/>
                    </a:lnB>
                    <a:solidFill>
                      <a:srgbClr val="7ED957"/>
                    </a:solidFill>
                  </a:tcPr>
                </a:tc>
                <a:tc>
                  <a:txBody>
                    <a:bodyPr/>
                    <a:lstStyle/>
                    <a:p>
                      <a:pPr algn="ctr" fontAlgn="auto">
                        <a:lnSpc>
                          <a:spcPts val="3825"/>
                        </a:lnSpc>
                        <a:buNone/>
                      </a:pPr>
                      <a:r>
                        <a:rPr lang="en-US" sz="3200" b="0" i="0">
                          <a:solidFill>
                            <a:srgbClr val="22272B"/>
                          </a:solidFill>
                          <a:effectLst/>
                          <a:latin typeface="Edu NSW ACT Foundation"/>
                        </a:rPr>
                        <a:t>​</a:t>
                      </a:r>
                    </a:p>
                  </a:txBody>
                  <a:tcPr anchor="ctr">
                    <a:lnL w="15240" cap="flat" cmpd="sng" algn="ctr">
                      <a:solidFill>
                        <a:srgbClr val="000000"/>
                      </a:solidFill>
                      <a:prstDash val="solid"/>
                      <a:round/>
                      <a:headEnd type="none" w="med" len="med"/>
                      <a:tailEnd type="none" w="med" len="med"/>
                    </a:lnL>
                    <a:lnR w="15240" cap="flat" cmpd="sng" algn="ctr">
                      <a:solidFill>
                        <a:srgbClr val="000000"/>
                      </a:solidFill>
                      <a:prstDash val="solid"/>
                      <a:round/>
                      <a:headEnd type="none" w="med" len="med"/>
                      <a:tailEnd type="none" w="med" len="med"/>
                    </a:lnR>
                    <a:lnT w="15240" cap="flat" cmpd="sng" algn="ctr">
                      <a:solidFill>
                        <a:srgbClr val="000000"/>
                      </a:solidFill>
                      <a:prstDash val="solid"/>
                      <a:round/>
                      <a:headEnd type="none" w="med" len="med"/>
                      <a:tailEnd type="none" w="med" len="med"/>
                    </a:lnT>
                    <a:lnB w="15240" cap="flat" cmpd="sng" algn="ctr">
                      <a:solidFill>
                        <a:srgbClr val="000000"/>
                      </a:solidFill>
                      <a:prstDash val="solid"/>
                      <a:round/>
                      <a:headEnd type="none" w="med" len="med"/>
                      <a:tailEnd type="none" w="med" len="med"/>
                    </a:lnB>
                    <a:noFill/>
                  </a:tcPr>
                </a:tc>
                <a:tc>
                  <a:txBody>
                    <a:bodyPr/>
                    <a:lstStyle/>
                    <a:p>
                      <a:pPr algn="ctr" fontAlgn="auto">
                        <a:lnSpc>
                          <a:spcPts val="3825"/>
                        </a:lnSpc>
                        <a:buNone/>
                      </a:pPr>
                      <a:r>
                        <a:rPr lang="en-US" sz="3200" b="0" i="0">
                          <a:solidFill>
                            <a:srgbClr val="22272B"/>
                          </a:solidFill>
                          <a:effectLst/>
                          <a:latin typeface="Edu NSW ACT Foundation"/>
                        </a:rPr>
                        <a:t>​</a:t>
                      </a:r>
                    </a:p>
                  </a:txBody>
                  <a:tcPr anchor="ctr">
                    <a:lnL w="15240" cap="flat" cmpd="sng" algn="ctr">
                      <a:solidFill>
                        <a:srgbClr val="000000"/>
                      </a:solidFill>
                      <a:prstDash val="solid"/>
                      <a:round/>
                      <a:headEnd type="none" w="med" len="med"/>
                      <a:tailEnd type="none" w="med" len="med"/>
                    </a:lnL>
                    <a:lnR w="15240" cap="flat" cmpd="sng" algn="ctr">
                      <a:solidFill>
                        <a:srgbClr val="000000"/>
                      </a:solidFill>
                      <a:prstDash val="solid"/>
                      <a:round/>
                      <a:headEnd type="none" w="med" len="med"/>
                      <a:tailEnd type="none" w="med" len="med"/>
                    </a:lnR>
                    <a:lnT w="15240" cap="flat" cmpd="sng" algn="ctr">
                      <a:solidFill>
                        <a:srgbClr val="000000"/>
                      </a:solidFill>
                      <a:prstDash val="solid"/>
                      <a:round/>
                      <a:headEnd type="none" w="med" len="med"/>
                      <a:tailEnd type="none" w="med" len="med"/>
                    </a:lnT>
                    <a:lnB w="15240" cap="flat" cmpd="sng" algn="ctr">
                      <a:solidFill>
                        <a:srgbClr val="000000"/>
                      </a:solidFill>
                      <a:prstDash val="solid"/>
                      <a:round/>
                      <a:headEnd type="none" w="med" len="med"/>
                      <a:tailEnd type="none" w="med" len="med"/>
                    </a:lnB>
                    <a:noFill/>
                  </a:tcPr>
                </a:tc>
                <a:tc>
                  <a:txBody>
                    <a:bodyPr/>
                    <a:lstStyle/>
                    <a:p>
                      <a:pPr algn="ctr" fontAlgn="base">
                        <a:lnSpc>
                          <a:spcPts val="3825"/>
                        </a:lnSpc>
                        <a:buNone/>
                      </a:pPr>
                      <a:r>
                        <a:rPr lang="en-US" sz="3200" b="0" i="0">
                          <a:solidFill>
                            <a:srgbClr val="000000"/>
                          </a:solidFill>
                          <a:effectLst/>
                          <a:latin typeface="Edu NSW ACT Foundation"/>
                        </a:rPr>
                        <a:t>18</a:t>
                      </a:r>
                      <a:r>
                        <a:rPr lang="en-US" sz="3200" b="0" i="0">
                          <a:solidFill>
                            <a:srgbClr val="22272B"/>
                          </a:solidFill>
                          <a:effectLst/>
                          <a:latin typeface="Edu NSW ACT Foundation"/>
                        </a:rPr>
                        <a:t>​</a:t>
                      </a:r>
                      <a:endParaRPr lang="en-US" b="0" i="0">
                        <a:solidFill>
                          <a:srgbClr val="22272B"/>
                        </a:solidFill>
                        <a:effectLst/>
                      </a:endParaRPr>
                    </a:p>
                  </a:txBody>
                  <a:tcPr anchor="ctr">
                    <a:lnL w="15240" cap="flat" cmpd="sng" algn="ctr">
                      <a:solidFill>
                        <a:srgbClr val="000000"/>
                      </a:solidFill>
                      <a:prstDash val="solid"/>
                      <a:round/>
                      <a:headEnd type="none" w="med" len="med"/>
                      <a:tailEnd type="none" w="med" len="med"/>
                    </a:lnL>
                    <a:lnR w="15240" cap="flat" cmpd="sng" algn="ctr">
                      <a:solidFill>
                        <a:srgbClr val="000000"/>
                      </a:solidFill>
                      <a:prstDash val="solid"/>
                      <a:round/>
                      <a:headEnd type="none" w="med" len="med"/>
                      <a:tailEnd type="none" w="med" len="med"/>
                    </a:lnR>
                    <a:lnT w="15240" cap="flat" cmpd="sng" algn="ctr">
                      <a:solidFill>
                        <a:srgbClr val="000000"/>
                      </a:solidFill>
                      <a:prstDash val="solid"/>
                      <a:round/>
                      <a:headEnd type="none" w="med" len="med"/>
                      <a:tailEnd type="none" w="med" len="med"/>
                    </a:lnT>
                    <a:lnB w="15240" cap="flat" cmpd="sng" algn="ctr">
                      <a:solidFill>
                        <a:srgbClr val="000000"/>
                      </a:solidFill>
                      <a:prstDash val="solid"/>
                      <a:round/>
                      <a:headEnd type="none" w="med" len="med"/>
                      <a:tailEnd type="none" w="med" len="med"/>
                    </a:lnB>
                    <a:noFill/>
                  </a:tcPr>
                </a:tc>
                <a:tc>
                  <a:txBody>
                    <a:bodyPr/>
                    <a:lstStyle/>
                    <a:p>
                      <a:pPr algn="ctr" fontAlgn="auto">
                        <a:lnSpc>
                          <a:spcPts val="3825"/>
                        </a:lnSpc>
                        <a:buNone/>
                      </a:pPr>
                      <a:r>
                        <a:rPr lang="en-US" sz="3200" b="0" i="0">
                          <a:solidFill>
                            <a:srgbClr val="22272B"/>
                          </a:solidFill>
                          <a:effectLst/>
                          <a:latin typeface="Edu NSW ACT Foundation"/>
                        </a:rPr>
                        <a:t>​</a:t>
                      </a:r>
                    </a:p>
                  </a:txBody>
                  <a:tcPr anchor="ctr">
                    <a:lnL w="15240" cap="flat" cmpd="sng" algn="ctr">
                      <a:solidFill>
                        <a:srgbClr val="000000"/>
                      </a:solidFill>
                      <a:prstDash val="solid"/>
                      <a:round/>
                      <a:headEnd type="none" w="med" len="med"/>
                      <a:tailEnd type="none" w="med" len="med"/>
                    </a:lnL>
                    <a:lnR w="15240" cap="flat" cmpd="sng" algn="ctr">
                      <a:solidFill>
                        <a:srgbClr val="000000"/>
                      </a:solidFill>
                      <a:prstDash val="solid"/>
                      <a:round/>
                      <a:headEnd type="none" w="med" len="med"/>
                      <a:tailEnd type="none" w="med" len="med"/>
                    </a:lnR>
                    <a:lnT w="15240" cap="flat" cmpd="sng" algn="ctr">
                      <a:solidFill>
                        <a:srgbClr val="000000"/>
                      </a:solidFill>
                      <a:prstDash val="solid"/>
                      <a:round/>
                      <a:headEnd type="none" w="med" len="med"/>
                      <a:tailEnd type="none" w="med" len="med"/>
                    </a:lnT>
                    <a:lnB w="1524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76216717"/>
                  </a:ext>
                </a:extLst>
              </a:tr>
              <a:tr h="809851">
                <a:tc>
                  <a:txBody>
                    <a:bodyPr/>
                    <a:lstStyle/>
                    <a:p>
                      <a:pPr algn="ctr" fontAlgn="auto">
                        <a:lnSpc>
                          <a:spcPts val="3825"/>
                        </a:lnSpc>
                        <a:buNone/>
                      </a:pPr>
                      <a:r>
                        <a:rPr lang="en-US" sz="3200" b="0" i="0">
                          <a:solidFill>
                            <a:srgbClr val="22272B"/>
                          </a:solidFill>
                          <a:effectLst/>
                          <a:latin typeface="Edu NSW ACT Foundation"/>
                        </a:rPr>
                        <a:t>​</a:t>
                      </a:r>
                    </a:p>
                  </a:txBody>
                  <a:tcPr anchor="ctr">
                    <a:lnL w="15240" cap="flat" cmpd="sng" algn="ctr">
                      <a:solidFill>
                        <a:srgbClr val="000000"/>
                      </a:solidFill>
                      <a:prstDash val="solid"/>
                      <a:round/>
                      <a:headEnd type="none" w="med" len="med"/>
                      <a:tailEnd type="none" w="med" len="med"/>
                    </a:lnL>
                    <a:lnR w="15240" cap="flat" cmpd="sng" algn="ctr">
                      <a:solidFill>
                        <a:srgbClr val="000000"/>
                      </a:solidFill>
                      <a:prstDash val="solid"/>
                      <a:round/>
                      <a:headEnd type="none" w="med" len="med"/>
                      <a:tailEnd type="none" w="med" len="med"/>
                    </a:lnR>
                    <a:lnT w="15240" cap="flat" cmpd="sng" algn="ctr">
                      <a:solidFill>
                        <a:srgbClr val="000000"/>
                      </a:solidFill>
                      <a:prstDash val="solid"/>
                      <a:round/>
                      <a:headEnd type="none" w="med" len="med"/>
                      <a:tailEnd type="none" w="med" len="med"/>
                    </a:lnT>
                    <a:lnB w="15240" cap="flat" cmpd="sng" algn="ctr">
                      <a:solidFill>
                        <a:srgbClr val="000000"/>
                      </a:solidFill>
                      <a:prstDash val="solid"/>
                      <a:round/>
                      <a:headEnd type="none" w="med" len="med"/>
                      <a:tailEnd type="none" w="med" len="med"/>
                    </a:lnB>
                    <a:solidFill>
                      <a:srgbClr val="7ED957"/>
                    </a:solidFill>
                  </a:tcPr>
                </a:tc>
                <a:tc>
                  <a:txBody>
                    <a:bodyPr/>
                    <a:lstStyle/>
                    <a:p>
                      <a:pPr algn="ctr" fontAlgn="auto">
                        <a:lnSpc>
                          <a:spcPts val="3825"/>
                        </a:lnSpc>
                        <a:buNone/>
                      </a:pPr>
                      <a:r>
                        <a:rPr lang="en-US" sz="3200" b="0" i="0">
                          <a:solidFill>
                            <a:srgbClr val="22272B"/>
                          </a:solidFill>
                          <a:effectLst/>
                          <a:latin typeface="Edu NSW ACT Foundation"/>
                        </a:rPr>
                        <a:t>​</a:t>
                      </a:r>
                    </a:p>
                  </a:txBody>
                  <a:tcPr anchor="ctr">
                    <a:lnL w="15240" cap="flat" cmpd="sng" algn="ctr">
                      <a:solidFill>
                        <a:srgbClr val="000000"/>
                      </a:solidFill>
                      <a:prstDash val="solid"/>
                      <a:round/>
                      <a:headEnd type="none" w="med" len="med"/>
                      <a:tailEnd type="none" w="med" len="med"/>
                    </a:lnL>
                    <a:lnR w="15240" cap="flat" cmpd="sng" algn="ctr">
                      <a:solidFill>
                        <a:srgbClr val="000000"/>
                      </a:solidFill>
                      <a:prstDash val="solid"/>
                      <a:round/>
                      <a:headEnd type="none" w="med" len="med"/>
                      <a:tailEnd type="none" w="med" len="med"/>
                    </a:lnR>
                    <a:lnT w="15240" cap="flat" cmpd="sng" algn="ctr">
                      <a:solidFill>
                        <a:srgbClr val="000000"/>
                      </a:solidFill>
                      <a:prstDash val="solid"/>
                      <a:round/>
                      <a:headEnd type="none" w="med" len="med"/>
                      <a:tailEnd type="none" w="med" len="med"/>
                    </a:lnT>
                    <a:lnB w="15240" cap="flat" cmpd="sng" algn="ctr">
                      <a:solidFill>
                        <a:srgbClr val="000000"/>
                      </a:solidFill>
                      <a:prstDash val="solid"/>
                      <a:round/>
                      <a:headEnd type="none" w="med" len="med"/>
                      <a:tailEnd type="none" w="med" len="med"/>
                    </a:lnB>
                    <a:noFill/>
                  </a:tcPr>
                </a:tc>
                <a:tc>
                  <a:txBody>
                    <a:bodyPr/>
                    <a:lstStyle/>
                    <a:p>
                      <a:pPr algn="ctr" fontAlgn="auto">
                        <a:lnSpc>
                          <a:spcPts val="3825"/>
                        </a:lnSpc>
                        <a:buNone/>
                      </a:pPr>
                      <a:r>
                        <a:rPr lang="en-US" sz="3200" b="0" i="0">
                          <a:solidFill>
                            <a:srgbClr val="22272B"/>
                          </a:solidFill>
                          <a:effectLst/>
                          <a:latin typeface="Edu NSW ACT Foundation"/>
                        </a:rPr>
                        <a:t>​</a:t>
                      </a:r>
                    </a:p>
                  </a:txBody>
                  <a:tcPr anchor="ctr">
                    <a:lnL w="15240" cap="flat" cmpd="sng" algn="ctr">
                      <a:solidFill>
                        <a:srgbClr val="000000"/>
                      </a:solidFill>
                      <a:prstDash val="solid"/>
                      <a:round/>
                      <a:headEnd type="none" w="med" len="med"/>
                      <a:tailEnd type="none" w="med" len="med"/>
                    </a:lnL>
                    <a:lnR w="15240" cap="flat" cmpd="sng" algn="ctr">
                      <a:solidFill>
                        <a:srgbClr val="000000"/>
                      </a:solidFill>
                      <a:prstDash val="solid"/>
                      <a:round/>
                      <a:headEnd type="none" w="med" len="med"/>
                      <a:tailEnd type="none" w="med" len="med"/>
                    </a:lnR>
                    <a:lnT w="15240" cap="flat" cmpd="sng" algn="ctr">
                      <a:solidFill>
                        <a:srgbClr val="000000"/>
                      </a:solidFill>
                      <a:prstDash val="solid"/>
                      <a:round/>
                      <a:headEnd type="none" w="med" len="med"/>
                      <a:tailEnd type="none" w="med" len="med"/>
                    </a:lnT>
                    <a:lnB w="15240" cap="flat" cmpd="sng" algn="ctr">
                      <a:solidFill>
                        <a:srgbClr val="000000"/>
                      </a:solidFill>
                      <a:prstDash val="solid"/>
                      <a:round/>
                      <a:headEnd type="none" w="med" len="med"/>
                      <a:tailEnd type="none" w="med" len="med"/>
                    </a:lnB>
                    <a:noFill/>
                  </a:tcPr>
                </a:tc>
                <a:tc>
                  <a:txBody>
                    <a:bodyPr/>
                    <a:lstStyle/>
                    <a:p>
                      <a:pPr algn="ctr" fontAlgn="auto">
                        <a:lnSpc>
                          <a:spcPts val="3825"/>
                        </a:lnSpc>
                        <a:buNone/>
                      </a:pPr>
                      <a:r>
                        <a:rPr lang="en-US" sz="3200" b="0" i="0">
                          <a:solidFill>
                            <a:srgbClr val="22272B"/>
                          </a:solidFill>
                          <a:effectLst/>
                          <a:latin typeface="Edu NSW ACT Foundation"/>
                        </a:rPr>
                        <a:t>​</a:t>
                      </a:r>
                    </a:p>
                  </a:txBody>
                  <a:tcPr anchor="ctr">
                    <a:lnL w="15240" cap="flat" cmpd="sng" algn="ctr">
                      <a:solidFill>
                        <a:srgbClr val="000000"/>
                      </a:solidFill>
                      <a:prstDash val="solid"/>
                      <a:round/>
                      <a:headEnd type="none" w="med" len="med"/>
                      <a:tailEnd type="none" w="med" len="med"/>
                    </a:lnL>
                    <a:lnR w="15240" cap="flat" cmpd="sng" algn="ctr">
                      <a:solidFill>
                        <a:srgbClr val="000000"/>
                      </a:solidFill>
                      <a:prstDash val="solid"/>
                      <a:round/>
                      <a:headEnd type="none" w="med" len="med"/>
                      <a:tailEnd type="none" w="med" len="med"/>
                    </a:lnR>
                    <a:lnT w="15240" cap="flat" cmpd="sng" algn="ctr">
                      <a:solidFill>
                        <a:srgbClr val="000000"/>
                      </a:solidFill>
                      <a:prstDash val="solid"/>
                      <a:round/>
                      <a:headEnd type="none" w="med" len="med"/>
                      <a:tailEnd type="none" w="med" len="med"/>
                    </a:lnT>
                    <a:lnB w="15240" cap="flat" cmpd="sng" algn="ctr">
                      <a:solidFill>
                        <a:srgbClr val="000000"/>
                      </a:solidFill>
                      <a:prstDash val="solid"/>
                      <a:round/>
                      <a:headEnd type="none" w="med" len="med"/>
                      <a:tailEnd type="none" w="med" len="med"/>
                    </a:lnB>
                    <a:noFill/>
                  </a:tcPr>
                </a:tc>
                <a:tc>
                  <a:txBody>
                    <a:bodyPr/>
                    <a:lstStyle/>
                    <a:p>
                      <a:pPr algn="ctr" fontAlgn="base">
                        <a:lnSpc>
                          <a:spcPts val="3825"/>
                        </a:lnSpc>
                        <a:buNone/>
                      </a:pPr>
                      <a:r>
                        <a:rPr lang="en-US" sz="3200" b="0" i="0">
                          <a:solidFill>
                            <a:srgbClr val="000000"/>
                          </a:solidFill>
                          <a:effectLst/>
                          <a:latin typeface="Edu NSW ACT Foundation"/>
                        </a:rPr>
                        <a:t>2</a:t>
                      </a:r>
                      <a:r>
                        <a:rPr lang="en-US" sz="3200" b="0" i="0">
                          <a:solidFill>
                            <a:srgbClr val="22272B"/>
                          </a:solidFill>
                          <a:effectLst/>
                          <a:latin typeface="Edu NSW ACT Foundation"/>
                        </a:rPr>
                        <a:t>​</a:t>
                      </a:r>
                      <a:endParaRPr lang="en-US" b="0" i="0">
                        <a:solidFill>
                          <a:srgbClr val="22272B"/>
                        </a:solidFill>
                        <a:effectLst/>
                      </a:endParaRPr>
                    </a:p>
                  </a:txBody>
                  <a:tcPr anchor="ctr">
                    <a:lnL w="15240" cap="flat" cmpd="sng" algn="ctr">
                      <a:solidFill>
                        <a:srgbClr val="000000"/>
                      </a:solidFill>
                      <a:prstDash val="solid"/>
                      <a:round/>
                      <a:headEnd type="none" w="med" len="med"/>
                      <a:tailEnd type="none" w="med" len="med"/>
                    </a:lnL>
                    <a:lnR w="15240" cap="flat" cmpd="sng" algn="ctr">
                      <a:solidFill>
                        <a:srgbClr val="000000"/>
                      </a:solidFill>
                      <a:prstDash val="solid"/>
                      <a:round/>
                      <a:headEnd type="none" w="med" len="med"/>
                      <a:tailEnd type="none" w="med" len="med"/>
                    </a:lnR>
                    <a:lnT w="15240" cap="flat" cmpd="sng" algn="ctr">
                      <a:solidFill>
                        <a:srgbClr val="000000"/>
                      </a:solidFill>
                      <a:prstDash val="solid"/>
                      <a:round/>
                      <a:headEnd type="none" w="med" len="med"/>
                      <a:tailEnd type="none" w="med" len="med"/>
                    </a:lnT>
                    <a:lnB w="1524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23119067"/>
                  </a:ext>
                </a:extLst>
              </a:tr>
              <a:tr h="809851">
                <a:tc>
                  <a:txBody>
                    <a:bodyPr/>
                    <a:lstStyle/>
                    <a:p>
                      <a:pPr algn="ctr" fontAlgn="auto">
                        <a:lnSpc>
                          <a:spcPts val="3825"/>
                        </a:lnSpc>
                        <a:buNone/>
                      </a:pPr>
                      <a:r>
                        <a:rPr lang="en-US" sz="3200" b="0" i="0">
                          <a:solidFill>
                            <a:srgbClr val="22272B"/>
                          </a:solidFill>
                          <a:effectLst/>
                          <a:latin typeface="Edu NSW ACT Foundation"/>
                        </a:rPr>
                        <a:t>​</a:t>
                      </a:r>
                    </a:p>
                  </a:txBody>
                  <a:tcPr anchor="ctr">
                    <a:lnL w="15240" cap="flat" cmpd="sng" algn="ctr">
                      <a:solidFill>
                        <a:srgbClr val="000000"/>
                      </a:solidFill>
                      <a:prstDash val="solid"/>
                      <a:round/>
                      <a:headEnd type="none" w="med" len="med"/>
                      <a:tailEnd type="none" w="med" len="med"/>
                    </a:lnL>
                    <a:lnR w="15240" cap="flat" cmpd="sng" algn="ctr">
                      <a:solidFill>
                        <a:srgbClr val="000000"/>
                      </a:solidFill>
                      <a:prstDash val="solid"/>
                      <a:round/>
                      <a:headEnd type="none" w="med" len="med"/>
                      <a:tailEnd type="none" w="med" len="med"/>
                    </a:lnR>
                    <a:lnT w="15240" cap="flat" cmpd="sng" algn="ctr">
                      <a:solidFill>
                        <a:srgbClr val="000000"/>
                      </a:solidFill>
                      <a:prstDash val="solid"/>
                      <a:round/>
                      <a:headEnd type="none" w="med" len="med"/>
                      <a:tailEnd type="none" w="med" len="med"/>
                    </a:lnT>
                    <a:lnB w="15240" cap="flat" cmpd="sng" algn="ctr">
                      <a:solidFill>
                        <a:srgbClr val="000000"/>
                      </a:solidFill>
                      <a:prstDash val="solid"/>
                      <a:round/>
                      <a:headEnd type="none" w="med" len="med"/>
                      <a:tailEnd type="none" w="med" len="med"/>
                    </a:lnB>
                    <a:solidFill>
                      <a:srgbClr val="7ED957"/>
                    </a:solidFill>
                  </a:tcPr>
                </a:tc>
                <a:tc>
                  <a:txBody>
                    <a:bodyPr/>
                    <a:lstStyle/>
                    <a:p>
                      <a:pPr algn="ctr" fontAlgn="base">
                        <a:lnSpc>
                          <a:spcPts val="3825"/>
                        </a:lnSpc>
                        <a:buNone/>
                      </a:pPr>
                      <a:r>
                        <a:rPr lang="en-US" sz="3200" b="0" i="0">
                          <a:solidFill>
                            <a:srgbClr val="000000"/>
                          </a:solidFill>
                          <a:effectLst/>
                          <a:latin typeface="Edu NSW ACT Foundation"/>
                        </a:rPr>
                        <a:t>45</a:t>
                      </a:r>
                      <a:r>
                        <a:rPr lang="en-US" sz="3200" b="0" i="0">
                          <a:solidFill>
                            <a:srgbClr val="22272B"/>
                          </a:solidFill>
                          <a:effectLst/>
                          <a:latin typeface="Edu NSW ACT Foundation"/>
                        </a:rPr>
                        <a:t>​</a:t>
                      </a:r>
                      <a:endParaRPr lang="en-US" b="0" i="0">
                        <a:solidFill>
                          <a:srgbClr val="22272B"/>
                        </a:solidFill>
                        <a:effectLst/>
                      </a:endParaRPr>
                    </a:p>
                  </a:txBody>
                  <a:tcPr anchor="ctr">
                    <a:lnL w="15240" cap="flat" cmpd="sng" algn="ctr">
                      <a:solidFill>
                        <a:srgbClr val="000000"/>
                      </a:solidFill>
                      <a:prstDash val="solid"/>
                      <a:round/>
                      <a:headEnd type="none" w="med" len="med"/>
                      <a:tailEnd type="none" w="med" len="med"/>
                    </a:lnL>
                    <a:lnR w="15240" cap="flat" cmpd="sng" algn="ctr">
                      <a:solidFill>
                        <a:srgbClr val="000000"/>
                      </a:solidFill>
                      <a:prstDash val="solid"/>
                      <a:round/>
                      <a:headEnd type="none" w="med" len="med"/>
                      <a:tailEnd type="none" w="med" len="med"/>
                    </a:lnR>
                    <a:lnT w="15240" cap="flat" cmpd="sng" algn="ctr">
                      <a:solidFill>
                        <a:srgbClr val="000000"/>
                      </a:solidFill>
                      <a:prstDash val="solid"/>
                      <a:round/>
                      <a:headEnd type="none" w="med" len="med"/>
                      <a:tailEnd type="none" w="med" len="med"/>
                    </a:lnT>
                    <a:lnB w="15240" cap="flat" cmpd="sng" algn="ctr">
                      <a:solidFill>
                        <a:srgbClr val="000000"/>
                      </a:solidFill>
                      <a:prstDash val="solid"/>
                      <a:round/>
                      <a:headEnd type="none" w="med" len="med"/>
                      <a:tailEnd type="none" w="med" len="med"/>
                    </a:lnB>
                    <a:noFill/>
                  </a:tcPr>
                </a:tc>
                <a:tc>
                  <a:txBody>
                    <a:bodyPr/>
                    <a:lstStyle/>
                    <a:p>
                      <a:pPr algn="ctr" fontAlgn="auto">
                        <a:lnSpc>
                          <a:spcPts val="3825"/>
                        </a:lnSpc>
                        <a:buNone/>
                      </a:pPr>
                      <a:r>
                        <a:rPr lang="en-US" sz="3200" b="0" i="0">
                          <a:solidFill>
                            <a:srgbClr val="22272B"/>
                          </a:solidFill>
                          <a:effectLst/>
                          <a:latin typeface="Edu NSW ACT Foundation"/>
                        </a:rPr>
                        <a:t>​</a:t>
                      </a:r>
                    </a:p>
                  </a:txBody>
                  <a:tcPr anchor="ctr">
                    <a:lnL w="15240" cap="flat" cmpd="sng" algn="ctr">
                      <a:solidFill>
                        <a:srgbClr val="000000"/>
                      </a:solidFill>
                      <a:prstDash val="solid"/>
                      <a:round/>
                      <a:headEnd type="none" w="med" len="med"/>
                      <a:tailEnd type="none" w="med" len="med"/>
                    </a:lnL>
                    <a:lnR w="15240" cap="flat" cmpd="sng" algn="ctr">
                      <a:solidFill>
                        <a:srgbClr val="000000"/>
                      </a:solidFill>
                      <a:prstDash val="solid"/>
                      <a:round/>
                      <a:headEnd type="none" w="med" len="med"/>
                      <a:tailEnd type="none" w="med" len="med"/>
                    </a:lnR>
                    <a:lnT w="15240" cap="flat" cmpd="sng" algn="ctr">
                      <a:solidFill>
                        <a:srgbClr val="000000"/>
                      </a:solidFill>
                      <a:prstDash val="solid"/>
                      <a:round/>
                      <a:headEnd type="none" w="med" len="med"/>
                      <a:tailEnd type="none" w="med" len="med"/>
                    </a:lnT>
                    <a:lnB w="15240" cap="flat" cmpd="sng" algn="ctr">
                      <a:solidFill>
                        <a:srgbClr val="000000"/>
                      </a:solidFill>
                      <a:prstDash val="solid"/>
                      <a:round/>
                      <a:headEnd type="none" w="med" len="med"/>
                      <a:tailEnd type="none" w="med" len="med"/>
                    </a:lnB>
                    <a:noFill/>
                  </a:tcPr>
                </a:tc>
                <a:tc>
                  <a:txBody>
                    <a:bodyPr/>
                    <a:lstStyle/>
                    <a:p>
                      <a:pPr algn="ctr" fontAlgn="auto">
                        <a:lnSpc>
                          <a:spcPts val="3825"/>
                        </a:lnSpc>
                        <a:buNone/>
                      </a:pPr>
                      <a:r>
                        <a:rPr lang="en-US" sz="3200" b="0" i="0">
                          <a:solidFill>
                            <a:srgbClr val="22272B"/>
                          </a:solidFill>
                          <a:effectLst/>
                          <a:latin typeface="Edu NSW ACT Foundation"/>
                        </a:rPr>
                        <a:t>​</a:t>
                      </a:r>
                    </a:p>
                  </a:txBody>
                  <a:tcPr anchor="ctr">
                    <a:lnL w="15240" cap="flat" cmpd="sng" algn="ctr">
                      <a:solidFill>
                        <a:srgbClr val="000000"/>
                      </a:solidFill>
                      <a:prstDash val="solid"/>
                      <a:round/>
                      <a:headEnd type="none" w="med" len="med"/>
                      <a:tailEnd type="none" w="med" len="med"/>
                    </a:lnL>
                    <a:lnR w="15240" cap="flat" cmpd="sng" algn="ctr">
                      <a:solidFill>
                        <a:srgbClr val="000000"/>
                      </a:solidFill>
                      <a:prstDash val="solid"/>
                      <a:round/>
                      <a:headEnd type="none" w="med" len="med"/>
                      <a:tailEnd type="none" w="med" len="med"/>
                    </a:lnR>
                    <a:lnT w="15240" cap="flat" cmpd="sng" algn="ctr">
                      <a:solidFill>
                        <a:srgbClr val="000000"/>
                      </a:solidFill>
                      <a:prstDash val="solid"/>
                      <a:round/>
                      <a:headEnd type="none" w="med" len="med"/>
                      <a:tailEnd type="none" w="med" len="med"/>
                    </a:lnT>
                    <a:lnB w="15240" cap="flat" cmpd="sng" algn="ctr">
                      <a:solidFill>
                        <a:srgbClr val="000000"/>
                      </a:solidFill>
                      <a:prstDash val="solid"/>
                      <a:round/>
                      <a:headEnd type="none" w="med" len="med"/>
                      <a:tailEnd type="none" w="med" len="med"/>
                    </a:lnB>
                    <a:noFill/>
                  </a:tcPr>
                </a:tc>
                <a:tc>
                  <a:txBody>
                    <a:bodyPr/>
                    <a:lstStyle/>
                    <a:p>
                      <a:pPr algn="ctr" fontAlgn="auto">
                        <a:lnSpc>
                          <a:spcPts val="3825"/>
                        </a:lnSpc>
                        <a:buNone/>
                      </a:pPr>
                      <a:r>
                        <a:rPr lang="en-US" sz="3200" b="0" i="0">
                          <a:solidFill>
                            <a:srgbClr val="22272B"/>
                          </a:solidFill>
                          <a:effectLst/>
                          <a:latin typeface="Edu NSW ACT Foundation"/>
                        </a:rPr>
                        <a:t>​</a:t>
                      </a:r>
                    </a:p>
                  </a:txBody>
                  <a:tcPr anchor="ctr">
                    <a:lnL w="15240" cap="flat" cmpd="sng" algn="ctr">
                      <a:solidFill>
                        <a:srgbClr val="000000"/>
                      </a:solidFill>
                      <a:prstDash val="solid"/>
                      <a:round/>
                      <a:headEnd type="none" w="med" len="med"/>
                      <a:tailEnd type="none" w="med" len="med"/>
                    </a:lnL>
                    <a:lnR w="15240" cap="flat" cmpd="sng" algn="ctr">
                      <a:solidFill>
                        <a:srgbClr val="000000"/>
                      </a:solidFill>
                      <a:prstDash val="solid"/>
                      <a:round/>
                      <a:headEnd type="none" w="med" len="med"/>
                      <a:tailEnd type="none" w="med" len="med"/>
                    </a:lnR>
                    <a:lnT w="15240" cap="flat" cmpd="sng" algn="ctr">
                      <a:solidFill>
                        <a:srgbClr val="000000"/>
                      </a:solidFill>
                      <a:prstDash val="solid"/>
                      <a:round/>
                      <a:headEnd type="none" w="med" len="med"/>
                      <a:tailEnd type="none" w="med" len="med"/>
                    </a:lnT>
                    <a:lnB w="1524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30457528"/>
                  </a:ext>
                </a:extLst>
              </a:tr>
            </a:tbl>
          </a:graphicData>
        </a:graphic>
      </p:graphicFrame>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3DDF4-EA19-53C6-5D83-26565DD9CBD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A5739EB-21B3-9734-75E8-242DDD0DE963}"/>
              </a:ext>
            </a:extLst>
          </p:cNvPr>
          <p:cNvSpPr>
            <a:spLocks noGrp="1"/>
          </p:cNvSpPr>
          <p:nvPr>
            <p:ph type="title"/>
          </p:nvPr>
        </p:nvSpPr>
        <p:spPr/>
        <p:txBody>
          <a:bodyPr/>
          <a:lstStyle/>
          <a:p>
            <a:r>
              <a:rPr lang="en-US">
                <a:latin typeface="Arial"/>
                <a:cs typeface="Arial"/>
              </a:rPr>
              <a:t>Multiple choice </a:t>
            </a:r>
            <a:r>
              <a:rPr lang="en-US">
                <a:solidFill>
                  <a:schemeClr val="bg1"/>
                </a:solidFill>
                <a:latin typeface="Arial"/>
                <a:cs typeface="Arial"/>
              </a:rPr>
              <a:t>(4)(5)</a:t>
            </a:r>
          </a:p>
        </p:txBody>
      </p:sp>
      <p:pic>
        <p:nvPicPr>
          <p:cNvPr id="4" name="Picture 3" descr="image of a finger selecting an option for a multiple choice or true and false">
            <a:extLst>
              <a:ext uri="{FF2B5EF4-FFF2-40B4-BE49-F238E27FC236}">
                <a16:creationId xmlns:a16="http://schemas.microsoft.com/office/drawing/2014/main" id="{916FE5F9-78BB-9143-3AFE-B837826A8263}"/>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105CD1B9-4DCC-DF0C-C994-8F44348869C7}"/>
              </a:ext>
            </a:extLst>
          </p:cNvPr>
          <p:cNvSpPr>
            <a:spLocks noGrp="1"/>
          </p:cNvSpPr>
          <p:nvPr>
            <p:ph type="body" sz="quarter" idx="24"/>
          </p:nvPr>
        </p:nvSpPr>
        <p:spPr>
          <a:xfrm>
            <a:off x="1854754" y="860021"/>
            <a:ext cx="8482491" cy="893226"/>
          </a:xfrm>
        </p:spPr>
        <p:txBody>
          <a:bodyPr vert="horz" lIns="0" tIns="0" rIns="0" bIns="0" rtlCol="0" anchor="t">
            <a:noAutofit/>
          </a:bodyPr>
          <a:lstStyle/>
          <a:p>
            <a:pPr algn="ctr"/>
            <a:r>
              <a:rPr lang="en-AU" sz="4000">
                <a:latin typeface="Arial"/>
                <a:cs typeface="Arial"/>
              </a:rPr>
              <a:t>Sarah arranges 24 rows of chairs, with 8 chairs in </a:t>
            </a:r>
            <a:r>
              <a:rPr lang="en-AU" sz="4000" b="1">
                <a:latin typeface="Arial"/>
                <a:cs typeface="Arial"/>
              </a:rPr>
              <a:t>each row.</a:t>
            </a:r>
            <a:r>
              <a:rPr lang="en-AU" sz="4000">
                <a:latin typeface="Arial"/>
                <a:cs typeface="Arial"/>
              </a:rPr>
              <a:t> </a:t>
            </a:r>
            <a:endParaRPr lang="en-US" sz="4000">
              <a:latin typeface="Arial"/>
              <a:cs typeface="Arial"/>
            </a:endParaRPr>
          </a:p>
          <a:p>
            <a:pPr algn="ctr"/>
            <a:r>
              <a:rPr lang="en-AU" sz="4000">
                <a:latin typeface="Arial"/>
                <a:cs typeface="Arial"/>
              </a:rPr>
              <a:t>How many chairs does Sarah set up in total?</a:t>
            </a:r>
            <a:endParaRPr lang="en-US" sz="4000">
              <a:latin typeface="Arial"/>
              <a:cs typeface="Arial"/>
            </a:endParaRPr>
          </a:p>
        </p:txBody>
      </p:sp>
      <p:sp>
        <p:nvSpPr>
          <p:cNvPr id="14" name="Picture Placeholder 13">
            <a:extLst>
              <a:ext uri="{FF2B5EF4-FFF2-40B4-BE49-F238E27FC236}">
                <a16:creationId xmlns:a16="http://schemas.microsoft.com/office/drawing/2014/main" id="{38BCBE30-7867-F1F3-E886-20C1BB38474E}"/>
              </a:ext>
            </a:extLst>
          </p:cNvPr>
          <p:cNvSpPr>
            <a:spLocks noGrp="1"/>
          </p:cNvSpPr>
          <p:nvPr>
            <p:ph type="pic" sz="quarter" idx="20"/>
          </p:nvPr>
        </p:nvSpPr>
        <p:spPr>
          <a:xfrm>
            <a:off x="765590" y="5761953"/>
            <a:ext cx="1376633" cy="1005484"/>
          </a:xfrm>
        </p:spPr>
        <p:txBody>
          <a:bodyPr/>
          <a:lstStyle/>
          <a:p>
            <a:pPr algn="ctr"/>
            <a:r>
              <a:rPr lang="en-US" sz="3600"/>
              <a:t>192</a:t>
            </a:r>
            <a:endParaRPr lang="en-US"/>
          </a:p>
        </p:txBody>
      </p:sp>
      <p:sp>
        <p:nvSpPr>
          <p:cNvPr id="9" name="TextBox 8">
            <a:extLst>
              <a:ext uri="{FF2B5EF4-FFF2-40B4-BE49-F238E27FC236}">
                <a16:creationId xmlns:a16="http://schemas.microsoft.com/office/drawing/2014/main" id="{6FA133F5-2330-BB15-4C2E-910A9156230E}"/>
              </a:ext>
            </a:extLst>
          </p:cNvPr>
          <p:cNvSpPr txBox="1"/>
          <p:nvPr/>
        </p:nvSpPr>
        <p:spPr>
          <a:xfrm>
            <a:off x="1266559" y="4980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5" name="Picture Placeholder 14">
            <a:extLst>
              <a:ext uri="{FF2B5EF4-FFF2-40B4-BE49-F238E27FC236}">
                <a16:creationId xmlns:a16="http://schemas.microsoft.com/office/drawing/2014/main" id="{F36C107E-E460-30A7-BA01-7AC9F42A0B90}"/>
              </a:ext>
            </a:extLst>
          </p:cNvPr>
          <p:cNvSpPr>
            <a:spLocks noGrp="1"/>
          </p:cNvSpPr>
          <p:nvPr>
            <p:ph type="pic" sz="quarter" idx="21"/>
          </p:nvPr>
        </p:nvSpPr>
        <p:spPr>
          <a:xfrm>
            <a:off x="3732242" y="5770376"/>
            <a:ext cx="1376633" cy="894181"/>
          </a:xfrm>
        </p:spPr>
        <p:txBody>
          <a:bodyPr/>
          <a:lstStyle/>
          <a:p>
            <a:pPr algn="ctr"/>
            <a:r>
              <a:rPr lang="en-US" sz="3600"/>
              <a:t>96</a:t>
            </a:r>
          </a:p>
        </p:txBody>
      </p:sp>
      <p:sp>
        <p:nvSpPr>
          <p:cNvPr id="10" name="TextBox 9">
            <a:extLst>
              <a:ext uri="{FF2B5EF4-FFF2-40B4-BE49-F238E27FC236}">
                <a16:creationId xmlns:a16="http://schemas.microsoft.com/office/drawing/2014/main" id="{F2CFD3F8-FE82-8DED-0584-15D6B2BA34A6}"/>
              </a:ext>
            </a:extLst>
          </p:cNvPr>
          <p:cNvSpPr txBox="1"/>
          <p:nvPr/>
        </p:nvSpPr>
        <p:spPr>
          <a:xfrm>
            <a:off x="4270532" y="4980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Picture Placeholder 16">
            <a:extLst>
              <a:ext uri="{FF2B5EF4-FFF2-40B4-BE49-F238E27FC236}">
                <a16:creationId xmlns:a16="http://schemas.microsoft.com/office/drawing/2014/main" id="{3F45FDF3-4AAD-D421-B19F-972A82BC5FAE}"/>
              </a:ext>
            </a:extLst>
          </p:cNvPr>
          <p:cNvSpPr>
            <a:spLocks noGrp="1"/>
          </p:cNvSpPr>
          <p:nvPr>
            <p:ph type="pic" sz="quarter" idx="23"/>
          </p:nvPr>
        </p:nvSpPr>
        <p:spPr>
          <a:xfrm>
            <a:off x="6418739" y="5770376"/>
            <a:ext cx="2240960" cy="808563"/>
          </a:xfrm>
        </p:spPr>
        <p:txBody>
          <a:bodyPr/>
          <a:lstStyle/>
          <a:p>
            <a:pPr algn="ctr"/>
            <a:r>
              <a:rPr lang="en-US" sz="3600"/>
              <a:t>32</a:t>
            </a:r>
          </a:p>
        </p:txBody>
      </p:sp>
      <p:sp>
        <p:nvSpPr>
          <p:cNvPr id="12" name="TextBox 11">
            <a:extLst>
              <a:ext uri="{FF2B5EF4-FFF2-40B4-BE49-F238E27FC236}">
                <a16:creationId xmlns:a16="http://schemas.microsoft.com/office/drawing/2014/main" id="{0B3393C1-BB02-BCFF-B19F-6100B6972CA1}"/>
              </a:ext>
            </a:extLst>
          </p:cNvPr>
          <p:cNvSpPr txBox="1"/>
          <p:nvPr/>
        </p:nvSpPr>
        <p:spPr>
          <a:xfrm>
            <a:off x="7274505" y="4980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Picture Placeholder 15">
            <a:extLst>
              <a:ext uri="{FF2B5EF4-FFF2-40B4-BE49-F238E27FC236}">
                <a16:creationId xmlns:a16="http://schemas.microsoft.com/office/drawing/2014/main" id="{DAB906C9-6D1D-C486-048B-364B225A6BAE}"/>
              </a:ext>
            </a:extLst>
          </p:cNvPr>
          <p:cNvSpPr>
            <a:spLocks noGrp="1"/>
          </p:cNvSpPr>
          <p:nvPr>
            <p:ph type="pic" sz="quarter" idx="22"/>
          </p:nvPr>
        </p:nvSpPr>
        <p:spPr>
          <a:xfrm>
            <a:off x="9362078" y="5766922"/>
            <a:ext cx="2240960" cy="740069"/>
          </a:xfrm>
        </p:spPr>
        <p:txBody>
          <a:bodyPr/>
          <a:lstStyle/>
          <a:p>
            <a:pPr algn="ctr"/>
            <a:r>
              <a:rPr lang="en-US" sz="3600"/>
              <a:t>240</a:t>
            </a:r>
          </a:p>
        </p:txBody>
      </p:sp>
      <p:sp>
        <p:nvSpPr>
          <p:cNvPr id="11" name="TextBox 10">
            <a:extLst>
              <a:ext uri="{FF2B5EF4-FFF2-40B4-BE49-F238E27FC236}">
                <a16:creationId xmlns:a16="http://schemas.microsoft.com/office/drawing/2014/main" id="{23B4002B-05CE-B742-42D2-7E7F68247F69}"/>
              </a:ext>
            </a:extLst>
          </p:cNvPr>
          <p:cNvSpPr txBox="1"/>
          <p:nvPr/>
        </p:nvSpPr>
        <p:spPr>
          <a:xfrm>
            <a:off x="10278479" y="4980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8079FFFF-6559-E106-3309-7CCB9354AF9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47</a:t>
            </a:fld>
            <a:endParaRPr lang="en-AU"/>
          </a:p>
        </p:txBody>
      </p:sp>
    </p:spTree>
    <p:extLst>
      <p:ext uri="{BB962C8B-B14F-4D97-AF65-F5344CB8AC3E}">
        <p14:creationId xmlns:p14="http://schemas.microsoft.com/office/powerpoint/2010/main" val="3057323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pic>
        <p:nvPicPr>
          <p:cNvPr id="3" name="Picture 2" descr="image of a clipboard with a pencil recording short answer responses">
            <a:extLst>
              <a:ext uri="{FF2B5EF4-FFF2-40B4-BE49-F238E27FC236}">
                <a16:creationId xmlns:a16="http://schemas.microsoft.com/office/drawing/2014/main" id="{3BDDE108-B743-E59F-31B4-5F4FCBC7EB6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78CF06E6-0CB9-CCC4-17A1-87A5746A4370}"/>
              </a:ext>
            </a:extLst>
          </p:cNvPr>
          <p:cNvSpPr txBox="1"/>
          <p:nvPr/>
        </p:nvSpPr>
        <p:spPr>
          <a:xfrm>
            <a:off x="1781175" y="1862064"/>
            <a:ext cx="8820150" cy="2002972"/>
          </a:xfrm>
          <a:prstGeom prst="rect">
            <a:avLst/>
          </a:prstGeom>
          <a:noFill/>
        </p:spPr>
        <p:txBody>
          <a:bodyPr wrap="square" lIns="0" tIns="0" rIns="0" bIns="0" rtlCol="0" anchor="t">
            <a:noAutofit/>
          </a:bodyPr>
          <a:lstStyle/>
          <a:p>
            <a:pPr algn="ctr">
              <a:lnSpc>
                <a:spcPct val="150000"/>
              </a:lnSpc>
            </a:pPr>
            <a:r>
              <a:rPr lang="en-AU" sz="4400"/>
              <a:t>What are the </a:t>
            </a:r>
            <a:r>
              <a:rPr lang="en-AU" sz="4400" b="1"/>
              <a:t>possible dimensions </a:t>
            </a:r>
            <a:r>
              <a:rPr lang="en-AU" sz="4400"/>
              <a:t>of a </a:t>
            </a:r>
            <a:r>
              <a:rPr lang="en-AU" sz="4400" b="1"/>
              <a:t>rectangle </a:t>
            </a:r>
            <a:r>
              <a:rPr lang="en-AU" sz="4400"/>
              <a:t>with a </a:t>
            </a:r>
            <a:r>
              <a:rPr lang="en-AU" sz="4400" b="1"/>
              <a:t>perimeter of 42 cm</a:t>
            </a:r>
            <a:r>
              <a:rPr lang="en-AU" sz="4400"/>
              <a:t>?</a:t>
            </a:r>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pic>
        <p:nvPicPr>
          <p:cNvPr id="3" name="Picture 2" descr="image of a clipboard with a pencil recording short answer responses">
            <a:extLst>
              <a:ext uri="{FF2B5EF4-FFF2-40B4-BE49-F238E27FC236}">
                <a16:creationId xmlns:a16="http://schemas.microsoft.com/office/drawing/2014/main" id="{5DACDB15-40FB-10CA-304C-024754D6DBA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D5E5BCDE-58B8-CDA2-8D98-D37AD3B26AC0}"/>
              </a:ext>
            </a:extLst>
          </p:cNvPr>
          <p:cNvSpPr txBox="1"/>
          <p:nvPr/>
        </p:nvSpPr>
        <p:spPr>
          <a:xfrm>
            <a:off x="527957" y="1022298"/>
            <a:ext cx="11136085" cy="3058885"/>
          </a:xfrm>
          <a:prstGeom prst="rect">
            <a:avLst/>
          </a:prstGeom>
          <a:noFill/>
        </p:spPr>
        <p:txBody>
          <a:bodyPr wrap="square" lIns="0" tIns="0" rIns="0" bIns="0" rtlCol="0" anchor="t">
            <a:noAutofit/>
          </a:bodyPr>
          <a:lstStyle/>
          <a:p>
            <a:pPr algn="ctr">
              <a:lnSpc>
                <a:spcPct val="150000"/>
              </a:lnSpc>
            </a:pPr>
            <a:r>
              <a:rPr lang="en-AU" sz="4400"/>
              <a:t>A farmer picked 2188 tomatoes in the morning, 3122 in the afternoon and 1542 the next day. </a:t>
            </a:r>
          </a:p>
          <a:p>
            <a:pPr algn="ctr">
              <a:lnSpc>
                <a:spcPct val="150000"/>
              </a:lnSpc>
            </a:pPr>
            <a:r>
              <a:rPr lang="en-AU" sz="4400" b="1"/>
              <a:t>How many</a:t>
            </a:r>
            <a:r>
              <a:rPr lang="en-AU" sz="4400"/>
              <a:t> tomatoes were picked altogether?</a:t>
            </a:r>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pic>
        <p:nvPicPr>
          <p:cNvPr id="3" name="Picture 2" descr="image of a clipboard with a pencil recording short answer responses">
            <a:extLst>
              <a:ext uri="{FF2B5EF4-FFF2-40B4-BE49-F238E27FC236}">
                <a16:creationId xmlns:a16="http://schemas.microsoft.com/office/drawing/2014/main" id="{6F1984CA-3815-83E6-2CEF-D3AC5609C15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6278F6FC-453B-5109-1738-C29C34A1C812}"/>
              </a:ext>
            </a:extLst>
          </p:cNvPr>
          <p:cNvSpPr txBox="1"/>
          <p:nvPr/>
        </p:nvSpPr>
        <p:spPr>
          <a:xfrm>
            <a:off x="597514" y="905601"/>
            <a:ext cx="10526486" cy="4027715"/>
          </a:xfrm>
          <a:prstGeom prst="rect">
            <a:avLst/>
          </a:prstGeom>
          <a:noFill/>
        </p:spPr>
        <p:txBody>
          <a:bodyPr wrap="square" lIns="0" tIns="0" rIns="0" bIns="0" rtlCol="0">
            <a:noAutofit/>
          </a:bodyPr>
          <a:lstStyle/>
          <a:p>
            <a:pPr algn="ctr">
              <a:lnSpc>
                <a:spcPct val="150000"/>
              </a:lnSpc>
            </a:pPr>
            <a:r>
              <a:rPr lang="en-AU" sz="4400">
                <a:latin typeface="+mj-lt"/>
              </a:rPr>
              <a:t>Use your knowledge of </a:t>
            </a:r>
            <a:r>
              <a:rPr lang="en-AU" sz="4400" b="1">
                <a:latin typeface="+mj-lt"/>
              </a:rPr>
              <a:t>multiplying</a:t>
            </a:r>
            <a:r>
              <a:rPr lang="en-AU" sz="4400">
                <a:latin typeface="+mj-lt"/>
              </a:rPr>
              <a:t> one-digit numbers by </a:t>
            </a:r>
            <a:r>
              <a:rPr lang="en-AU" sz="4400" b="1">
                <a:latin typeface="+mj-lt"/>
              </a:rPr>
              <a:t>multiples</a:t>
            </a:r>
            <a:r>
              <a:rPr lang="en-AU" sz="4400">
                <a:latin typeface="+mj-lt"/>
              </a:rPr>
              <a:t> of 100 to estimate: </a:t>
            </a:r>
          </a:p>
          <a:p>
            <a:pPr algn="ctr"/>
            <a:endParaRPr lang="en-AU">
              <a:latin typeface="+mj-lt"/>
            </a:endParaRPr>
          </a:p>
          <a:p>
            <a:pPr algn="ctr"/>
            <a:r>
              <a:rPr lang="en-AU" sz="5400">
                <a:latin typeface="+mj-lt"/>
              </a:rPr>
              <a:t> 94 x 8</a:t>
            </a:r>
          </a:p>
          <a:p>
            <a:pPr algn="ctr"/>
            <a:endParaRPr lang="en-AU">
              <a:latin typeface="+mj-lt"/>
            </a:endParaRPr>
          </a:p>
          <a:p>
            <a:pPr algn="ctr"/>
            <a:r>
              <a:rPr lang="en-AU" sz="4400" b="1"/>
              <a:t>Communicate</a:t>
            </a:r>
            <a:r>
              <a:rPr lang="en-AU" sz="4400"/>
              <a:t> your </a:t>
            </a:r>
            <a:r>
              <a:rPr lang="en-AU" sz="4400" b="1"/>
              <a:t>reasoning</a:t>
            </a:r>
            <a:r>
              <a:rPr lang="en-AU" sz="4400"/>
              <a:t>.</a:t>
            </a:r>
            <a:endParaRPr lang="en-AU" sz="4400">
              <a:cs typeface="Arial"/>
            </a:endParaRPr>
          </a:p>
          <a:p>
            <a:pPr algn="ctr"/>
            <a:endParaRPr lang="en-AU" sz="4400">
              <a:latin typeface="+mj-lt"/>
            </a:endParaRPr>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pic>
        <p:nvPicPr>
          <p:cNvPr id="3" name="Picture 2" descr="image of a clipboard with a pencil recording short answer responses">
            <a:extLst>
              <a:ext uri="{FF2B5EF4-FFF2-40B4-BE49-F238E27FC236}">
                <a16:creationId xmlns:a16="http://schemas.microsoft.com/office/drawing/2014/main" id="{981E4643-C0C9-5325-74DA-A071DDDC65A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8F0843B1-FBB5-DF0A-BC3E-52E8ABFED44D}"/>
              </a:ext>
            </a:extLst>
          </p:cNvPr>
          <p:cNvSpPr txBox="1"/>
          <p:nvPr/>
        </p:nvSpPr>
        <p:spPr>
          <a:xfrm>
            <a:off x="1023256" y="1318770"/>
            <a:ext cx="9369682" cy="1998176"/>
          </a:xfrm>
          <a:prstGeom prst="rect">
            <a:avLst/>
          </a:prstGeom>
          <a:noFill/>
        </p:spPr>
        <p:txBody>
          <a:bodyPr wrap="square">
            <a:spAutoFit/>
          </a:bodyPr>
          <a:lstStyle/>
          <a:p>
            <a:pPr>
              <a:lnSpc>
                <a:spcPct val="150000"/>
              </a:lnSpc>
            </a:pPr>
            <a:r>
              <a:rPr lang="en-US" sz="4400" b="1" i="0" u="none" strike="noStrike">
                <a:solidFill>
                  <a:srgbClr val="22272B"/>
                </a:solidFill>
                <a:effectLst/>
                <a:latin typeface="Arial" panose="020B0604020202020204" pitchFamily="34" charset="0"/>
              </a:rPr>
              <a:t>Draw </a:t>
            </a:r>
            <a:r>
              <a:rPr lang="en-US" sz="4400" b="0" i="0" u="none" strike="noStrike">
                <a:solidFill>
                  <a:srgbClr val="22272B"/>
                </a:solidFill>
                <a:effectLst/>
                <a:latin typeface="Arial" panose="020B0604020202020204" pitchFamily="34" charset="0"/>
              </a:rPr>
              <a:t>the top, front and side views of this object.</a:t>
            </a:r>
            <a:endParaRPr lang="en-AU" sz="4400"/>
          </a:p>
        </p:txBody>
      </p:sp>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pic>
        <p:nvPicPr>
          <p:cNvPr id="7" name="Picture 6">
            <a:extLst>
              <a:ext uri="{FF2B5EF4-FFF2-40B4-BE49-F238E27FC236}">
                <a16:creationId xmlns:a16="http://schemas.microsoft.com/office/drawing/2014/main" id="{5C244AAD-0D89-825C-6F2D-C67339A51BD3}"/>
              </a:ext>
            </a:extLst>
          </p:cNvPr>
          <p:cNvPicPr>
            <a:picLocks noChangeAspect="1"/>
          </p:cNvPicPr>
          <p:nvPr/>
        </p:nvPicPr>
        <p:blipFill>
          <a:blip r:embed="rId4"/>
          <a:srcRect t="2342"/>
          <a:stretch>
            <a:fillRect/>
          </a:stretch>
        </p:blipFill>
        <p:spPr>
          <a:xfrm>
            <a:off x="4500549" y="2815572"/>
            <a:ext cx="4553299" cy="3482271"/>
          </a:xfrm>
          <a:prstGeom prst="rect">
            <a:avLst/>
          </a:prstGeom>
        </p:spPr>
      </p:pic>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59999" y="360000"/>
            <a:ext cx="11467003" cy="545601"/>
          </a:xfrm>
        </p:spPr>
        <p:txBody>
          <a:bodyPr/>
          <a:lstStyle/>
          <a:p>
            <a:r>
              <a:rPr lang="en-AU"/>
              <a:t>Activity 7 – solving word problems involving multiplication</a:t>
            </a:r>
          </a:p>
        </p:txBody>
      </p:sp>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pic>
        <p:nvPicPr>
          <p:cNvPr id="4" name="Picture 3" descr="image of a head with cogs turning inside">
            <a:extLst>
              <a:ext uri="{FF2B5EF4-FFF2-40B4-BE49-F238E27FC236}">
                <a16:creationId xmlns:a16="http://schemas.microsoft.com/office/drawing/2014/main" id="{862A61D7-0DAF-1BF8-46D6-A2E9DEA92CB9}"/>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BB5665A8-D6FD-3255-04F5-42DDD1A6E457}"/>
              </a:ext>
            </a:extLst>
          </p:cNvPr>
          <p:cNvSpPr txBox="1"/>
          <p:nvPr/>
        </p:nvSpPr>
        <p:spPr>
          <a:xfrm>
            <a:off x="359999" y="1488167"/>
            <a:ext cx="11832772" cy="5009833"/>
          </a:xfrm>
          <a:prstGeom prst="rect">
            <a:avLst/>
          </a:prstGeom>
          <a:noFill/>
        </p:spPr>
        <p:txBody>
          <a:bodyPr wrap="square">
            <a:spAutoFit/>
          </a:bodyPr>
          <a:lstStyle/>
          <a:p>
            <a:pPr algn="l" rtl="0" fontAlgn="base">
              <a:lnSpc>
                <a:spcPct val="150000"/>
              </a:lnSpc>
              <a:buFont typeface="+mj-lt"/>
              <a:buAutoNum type="arabicPeriod"/>
            </a:pPr>
            <a:r>
              <a:rPr lang="en-AU" sz="2400" b="0" i="0" u="none" strike="noStrike">
                <a:solidFill>
                  <a:srgbClr val="22272B"/>
                </a:solidFill>
                <a:effectLst/>
                <a:latin typeface="Arial" panose="020B0604020202020204" pitchFamily="34" charset="0"/>
              </a:rPr>
              <a:t>  Oscar bought 6 pens and the total cost was $24. What was the cost of each pen?</a:t>
            </a:r>
            <a:r>
              <a:rPr lang="en-US" sz="2400" b="0" i="0">
                <a:solidFill>
                  <a:srgbClr val="22272B"/>
                </a:solidFill>
                <a:effectLst/>
                <a:latin typeface="Arial" panose="020B0604020202020204" pitchFamily="34" charset="0"/>
              </a:rPr>
              <a:t>​</a:t>
            </a:r>
            <a:endParaRPr lang="en-US" b="0" i="0">
              <a:solidFill>
                <a:srgbClr val="22272B"/>
              </a:solidFill>
              <a:effectLst/>
              <a:latin typeface="Arial" panose="020B0604020202020204" pitchFamily="34" charset="0"/>
            </a:endParaRPr>
          </a:p>
          <a:p>
            <a:pPr algn="l" rtl="0" fontAlgn="base">
              <a:lnSpc>
                <a:spcPct val="150000"/>
              </a:lnSpc>
              <a:buFont typeface="+mj-lt"/>
              <a:buAutoNum type="arabicPeriod"/>
            </a:pPr>
            <a:r>
              <a:rPr lang="en-AU" sz="2400" b="0" i="0" u="none" strike="noStrike">
                <a:solidFill>
                  <a:srgbClr val="22272B"/>
                </a:solidFill>
                <a:effectLst/>
                <a:latin typeface="Arial" panose="020B0604020202020204" pitchFamily="34" charset="0"/>
              </a:rPr>
              <a:t>  At work, Carrie took 15 minutes for lunch each day. If she took a total of 75 minutes for lunch in a week, how many days did she work?</a:t>
            </a:r>
            <a:r>
              <a:rPr lang="en-US" sz="2400" b="0" i="0">
                <a:solidFill>
                  <a:srgbClr val="22272B"/>
                </a:solidFill>
                <a:effectLst/>
                <a:latin typeface="Arial" panose="020B0604020202020204" pitchFamily="34" charset="0"/>
              </a:rPr>
              <a:t>​</a:t>
            </a:r>
            <a:endParaRPr lang="en-US" b="0" i="0">
              <a:solidFill>
                <a:srgbClr val="22272B"/>
              </a:solidFill>
              <a:effectLst/>
              <a:latin typeface="Arial" panose="020B0604020202020204" pitchFamily="34" charset="0"/>
            </a:endParaRPr>
          </a:p>
          <a:p>
            <a:pPr algn="l" rtl="0" fontAlgn="base">
              <a:lnSpc>
                <a:spcPct val="150000"/>
              </a:lnSpc>
              <a:buFont typeface="+mj-lt"/>
              <a:buAutoNum type="arabicPeriod"/>
            </a:pPr>
            <a:r>
              <a:rPr lang="en-AU" sz="2400" b="0" i="0" u="none" strike="noStrike">
                <a:solidFill>
                  <a:srgbClr val="22272B"/>
                </a:solidFill>
                <a:effectLst/>
                <a:latin typeface="Arial" panose="020B0604020202020204" pitchFamily="34" charset="0"/>
              </a:rPr>
              <a:t>  Dala invited 11 children to her birthday party. Each child drank 2 cans of lemonade at the party. How many cans were consumed in total?</a:t>
            </a:r>
            <a:r>
              <a:rPr lang="en-US" sz="2400" b="0" i="0">
                <a:solidFill>
                  <a:srgbClr val="22272B"/>
                </a:solidFill>
                <a:effectLst/>
                <a:latin typeface="Arial" panose="020B0604020202020204" pitchFamily="34" charset="0"/>
              </a:rPr>
              <a:t>​</a:t>
            </a:r>
            <a:endParaRPr lang="en-US" b="0" i="0">
              <a:solidFill>
                <a:srgbClr val="22272B"/>
              </a:solidFill>
              <a:effectLst/>
              <a:latin typeface="Arial" panose="020B0604020202020204" pitchFamily="34" charset="0"/>
            </a:endParaRPr>
          </a:p>
          <a:p>
            <a:pPr algn="l" rtl="0" fontAlgn="base">
              <a:lnSpc>
                <a:spcPct val="150000"/>
              </a:lnSpc>
              <a:buFont typeface="+mj-lt"/>
              <a:buAutoNum type="arabicPeriod"/>
            </a:pPr>
            <a:r>
              <a:rPr lang="en-AU" sz="2400" b="0" i="0" u="none" strike="noStrike">
                <a:solidFill>
                  <a:srgbClr val="22272B"/>
                </a:solidFill>
                <a:effectLst/>
                <a:latin typeface="Arial" panose="020B0604020202020204" pitchFamily="34" charset="0"/>
              </a:rPr>
              <a:t>  A radio station gave every 4</a:t>
            </a:r>
            <a:r>
              <a:rPr lang="en-AU" sz="1600" b="0" i="0" u="none" strike="noStrike">
                <a:solidFill>
                  <a:srgbClr val="22272B"/>
                </a:solidFill>
                <a:effectLst/>
                <a:latin typeface="Arial" panose="020B0604020202020204" pitchFamily="34" charset="0"/>
              </a:rPr>
              <a:t>th</a:t>
            </a:r>
            <a:r>
              <a:rPr lang="en-AU" sz="2400" b="0" i="0" u="none" strike="noStrike">
                <a:solidFill>
                  <a:srgbClr val="22272B"/>
                </a:solidFill>
                <a:effectLst/>
                <a:latin typeface="Arial" panose="020B0604020202020204" pitchFamily="34" charset="0"/>
              </a:rPr>
              <a:t> caller a prize. If 28 people called the station, how many got a prize?</a:t>
            </a:r>
            <a:r>
              <a:rPr lang="en-US" sz="2400" b="0" i="0">
                <a:solidFill>
                  <a:srgbClr val="22272B"/>
                </a:solidFill>
                <a:effectLst/>
                <a:latin typeface="Arial" panose="020B0604020202020204" pitchFamily="34" charset="0"/>
              </a:rPr>
              <a:t>​</a:t>
            </a:r>
            <a:endParaRPr lang="en-US" b="0" i="0">
              <a:solidFill>
                <a:srgbClr val="22272B"/>
              </a:solidFill>
              <a:effectLst/>
              <a:latin typeface="Arial" panose="020B0604020202020204" pitchFamily="34" charset="0"/>
            </a:endParaRPr>
          </a:p>
          <a:p>
            <a:pPr algn="l" rtl="0" fontAlgn="base">
              <a:lnSpc>
                <a:spcPct val="150000"/>
              </a:lnSpc>
              <a:buFont typeface="+mj-lt"/>
              <a:buAutoNum type="arabicPeriod"/>
            </a:pPr>
            <a:r>
              <a:rPr lang="en-AU" sz="2400" b="0" i="0" u="none" strike="noStrike">
                <a:solidFill>
                  <a:srgbClr val="22272B"/>
                </a:solidFill>
                <a:effectLst/>
                <a:latin typeface="Arial" panose="020B0604020202020204" pitchFamily="34" charset="0"/>
              </a:rPr>
              <a:t>  Elyssa’s gymnastic training goes for 3 hours in the afternoon. If she trains for 18 hours per week, how many afternoons does she train?</a:t>
            </a:r>
            <a:endParaRPr lang="en-US" b="0" i="0">
              <a:solidFill>
                <a:srgbClr val="22272B"/>
              </a:solidFill>
              <a:effectLst/>
              <a:latin typeface="Arial" panose="020B0604020202020204" pitchFamily="34" charset="0"/>
            </a:endParaRPr>
          </a:p>
        </p:txBody>
      </p:sp>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64B989F8-67C4-FE7B-CC90-5BE7E2CD867D}"/>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p:txBody>
          <a:bodyPr/>
          <a:lstStyle/>
          <a:p>
            <a:pPr algn="ctr"/>
            <a:r>
              <a:rPr lang="en-AU" sz="4400"/>
              <a:t>A librarian wants to place 96 books equally onto 6 shelves. </a:t>
            </a:r>
          </a:p>
          <a:p>
            <a:pPr algn="ctr"/>
            <a:r>
              <a:rPr lang="en-AU" sz="4400"/>
              <a:t>Each shelf will have 8 books.</a:t>
            </a:r>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pic>
        <p:nvPicPr>
          <p:cNvPr id="3" name="Picture 2" descr="image of a clipboard with a pencil recording short answer responses">
            <a:extLst>
              <a:ext uri="{FF2B5EF4-FFF2-40B4-BE49-F238E27FC236}">
                <a16:creationId xmlns:a16="http://schemas.microsoft.com/office/drawing/2014/main" id="{4A6BDB97-E652-19FE-8B5C-2AD4CC92796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D973023E-33B8-E3DA-5A3F-3F152006CD3D}"/>
              </a:ext>
            </a:extLst>
          </p:cNvPr>
          <p:cNvSpPr txBox="1"/>
          <p:nvPr/>
        </p:nvSpPr>
        <p:spPr>
          <a:xfrm>
            <a:off x="630171" y="2318133"/>
            <a:ext cx="10493829" cy="1981200"/>
          </a:xfrm>
          <a:prstGeom prst="rect">
            <a:avLst/>
          </a:prstGeom>
          <a:noFill/>
        </p:spPr>
        <p:txBody>
          <a:bodyPr wrap="square" lIns="0" tIns="0" rIns="0" bIns="0" rtlCol="0" anchor="t">
            <a:noAutofit/>
          </a:bodyPr>
          <a:lstStyle/>
          <a:p>
            <a:pPr algn="ctr"/>
            <a:r>
              <a:rPr lang="en-AU" sz="4400" b="1"/>
              <a:t>Convert</a:t>
            </a:r>
            <a:r>
              <a:rPr lang="en-AU" sz="4400"/>
              <a:t> 4:30 pm to </a:t>
            </a:r>
            <a:r>
              <a:rPr lang="en-AU" sz="4400" b="1"/>
              <a:t>24-hour </a:t>
            </a:r>
            <a:r>
              <a:rPr lang="en-AU" sz="4400"/>
              <a:t>time.</a:t>
            </a:r>
          </a:p>
          <a:p>
            <a:pPr algn="ctr"/>
            <a:endParaRPr lang="en-AU" sz="4400"/>
          </a:p>
          <a:p>
            <a:pPr algn="ctr"/>
            <a:r>
              <a:rPr lang="en-AU" sz="4400" b="1"/>
              <a:t>Convert</a:t>
            </a:r>
            <a:r>
              <a:rPr lang="en-AU" sz="4400"/>
              <a:t> 22:00 to </a:t>
            </a:r>
            <a:r>
              <a:rPr lang="en-AU" sz="4400" b="1"/>
              <a:t>12-hour</a:t>
            </a:r>
            <a:r>
              <a:rPr lang="en-AU" sz="4400"/>
              <a:t> time.</a:t>
            </a:r>
            <a:endParaRPr lang="en-AU" sz="4400">
              <a:cs typeface="Arial"/>
            </a:endParaRPr>
          </a:p>
        </p:txBody>
      </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pic>
        <p:nvPicPr>
          <p:cNvPr id="3" name="Picture 2" descr="image of a clipboard with a pencil recording short answer responses">
            <a:extLst>
              <a:ext uri="{FF2B5EF4-FFF2-40B4-BE49-F238E27FC236}">
                <a16:creationId xmlns:a16="http://schemas.microsoft.com/office/drawing/2014/main" id="{D48B7122-4823-634E-9085-7F5757ED186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941CDAA7-855C-D56A-096F-EE77A7EB8190}"/>
              </a:ext>
            </a:extLst>
          </p:cNvPr>
          <p:cNvSpPr txBox="1"/>
          <p:nvPr/>
        </p:nvSpPr>
        <p:spPr>
          <a:xfrm>
            <a:off x="656344" y="794424"/>
            <a:ext cx="10827656" cy="3320142"/>
          </a:xfrm>
          <a:prstGeom prst="rect">
            <a:avLst/>
          </a:prstGeom>
          <a:noFill/>
        </p:spPr>
        <p:txBody>
          <a:bodyPr wrap="square" lIns="0" tIns="0" rIns="0" bIns="0" rtlCol="0" anchor="t">
            <a:noAutofit/>
          </a:bodyPr>
          <a:lstStyle/>
          <a:p>
            <a:pPr algn="ctr">
              <a:lnSpc>
                <a:spcPct val="150000"/>
              </a:lnSpc>
            </a:pPr>
            <a:r>
              <a:rPr lang="en-AU" sz="4000">
                <a:latin typeface="+mj-lt"/>
              </a:rPr>
              <a:t>A museum recorded its visitor numbers. On Monday 9789 people visited, on Tuesday 4214 people visited and on Wednesday there were 5673 visitors. What is the </a:t>
            </a:r>
            <a:r>
              <a:rPr lang="en-AU" sz="4000" b="1">
                <a:latin typeface="+mj-lt"/>
              </a:rPr>
              <a:t>difference</a:t>
            </a:r>
            <a:r>
              <a:rPr lang="en-AU" sz="4000">
                <a:latin typeface="+mj-lt"/>
              </a:rPr>
              <a:t> between the amount of people who attended on Monday and Tuesday compared to Wednesday?</a:t>
            </a:r>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pic>
        <p:nvPicPr>
          <p:cNvPr id="3" name="Picture 2" descr="image of a clipboard with a pencil recording short answer responses">
            <a:extLst>
              <a:ext uri="{FF2B5EF4-FFF2-40B4-BE49-F238E27FC236}">
                <a16:creationId xmlns:a16="http://schemas.microsoft.com/office/drawing/2014/main" id="{77944112-784D-22C3-1462-ED0056915B9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F0A54F9E-53C9-6F11-836A-768EA05319D9}"/>
              </a:ext>
            </a:extLst>
          </p:cNvPr>
          <p:cNvSpPr txBox="1"/>
          <p:nvPr/>
        </p:nvSpPr>
        <p:spPr>
          <a:xfrm>
            <a:off x="609077" y="1641561"/>
            <a:ext cx="11234923" cy="3216201"/>
          </a:xfrm>
          <a:prstGeom prst="rect">
            <a:avLst/>
          </a:prstGeom>
          <a:noFill/>
        </p:spPr>
        <p:txBody>
          <a:bodyPr wrap="square">
            <a:spAutoFit/>
          </a:bodyPr>
          <a:lstStyle/>
          <a:p>
            <a:pPr algn="ctr">
              <a:lnSpc>
                <a:spcPct val="150000"/>
              </a:lnSpc>
            </a:pPr>
            <a:r>
              <a:rPr lang="en-AU" sz="4400">
                <a:latin typeface="Arial" panose="020B0604020202020204" pitchFamily="34" charset="0"/>
                <a:ea typeface="Calibri" panose="020F0502020204030204" pitchFamily="34" charset="0"/>
              </a:rPr>
              <a:t>U</a:t>
            </a:r>
            <a:r>
              <a:rPr lang="en-AU" sz="4400">
                <a:effectLst/>
                <a:latin typeface="Arial" panose="020B0604020202020204" pitchFamily="34" charset="0"/>
                <a:ea typeface="Calibri" panose="020F0502020204030204" pitchFamily="34" charset="0"/>
              </a:rPr>
              <a:t>se the </a:t>
            </a:r>
            <a:r>
              <a:rPr lang="en-AU" sz="4400" b="1">
                <a:effectLst/>
                <a:latin typeface="Arial" panose="020B0604020202020204" pitchFamily="34" charset="0"/>
                <a:ea typeface="Calibri" panose="020F0502020204030204" pitchFamily="34" charset="0"/>
              </a:rPr>
              <a:t>area model </a:t>
            </a:r>
            <a:r>
              <a:rPr lang="en-AU" sz="4400">
                <a:effectLst/>
                <a:latin typeface="Arial" panose="020B0604020202020204" pitchFamily="34" charset="0"/>
                <a:ea typeface="Calibri" panose="020F0502020204030204" pitchFamily="34" charset="0"/>
              </a:rPr>
              <a:t>and the </a:t>
            </a:r>
            <a:r>
              <a:rPr lang="en-AU" sz="4400" b="1">
                <a:effectLst/>
                <a:latin typeface="Arial" panose="020B0604020202020204" pitchFamily="34" charset="0"/>
                <a:ea typeface="Calibri" panose="020F0502020204030204" pitchFamily="34" charset="0"/>
              </a:rPr>
              <a:t>distributive property </a:t>
            </a:r>
            <a:r>
              <a:rPr lang="en-AU" sz="4400">
                <a:effectLst/>
                <a:latin typeface="Arial" panose="020B0604020202020204" pitchFamily="34" charset="0"/>
                <a:ea typeface="Calibri" panose="020F0502020204030204" pitchFamily="34" charset="0"/>
              </a:rPr>
              <a:t>to </a:t>
            </a:r>
            <a:r>
              <a:rPr lang="en-AU" sz="4400">
                <a:latin typeface="Arial" panose="020B0604020202020204" pitchFamily="34" charset="0"/>
                <a:ea typeface="Calibri" panose="020F0502020204030204" pitchFamily="34" charset="0"/>
              </a:rPr>
              <a:t>show:</a:t>
            </a:r>
          </a:p>
          <a:p>
            <a:pPr algn="ctr">
              <a:lnSpc>
                <a:spcPct val="150000"/>
              </a:lnSpc>
            </a:pPr>
            <a:r>
              <a:rPr lang="en-AU" sz="4400">
                <a:latin typeface="Arial" panose="020B0604020202020204" pitchFamily="34" charset="0"/>
                <a:ea typeface="Calibri" panose="020F0502020204030204" pitchFamily="34" charset="0"/>
              </a:rPr>
              <a:t> </a:t>
            </a:r>
            <a:r>
              <a:rPr lang="en-AU" sz="5400">
                <a:latin typeface="Arial" panose="020B0604020202020204" pitchFamily="34" charset="0"/>
                <a:ea typeface="Calibri" panose="020F0502020204030204" pitchFamily="34" charset="0"/>
              </a:rPr>
              <a:t>32 x 4</a:t>
            </a:r>
            <a:endParaRPr lang="en-AU" sz="4400"/>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pic>
        <p:nvPicPr>
          <p:cNvPr id="3" name="Picture 2" descr="image of a clipboard with a pencil recording short answer responses">
            <a:extLst>
              <a:ext uri="{FF2B5EF4-FFF2-40B4-BE49-F238E27FC236}">
                <a16:creationId xmlns:a16="http://schemas.microsoft.com/office/drawing/2014/main" id="{850D1A9D-F8AF-AA84-34F9-CCDC3026C74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177F74DF-F582-63FD-10A5-3CD34294A504}"/>
              </a:ext>
            </a:extLst>
          </p:cNvPr>
          <p:cNvSpPr txBox="1"/>
          <p:nvPr/>
        </p:nvSpPr>
        <p:spPr>
          <a:xfrm>
            <a:off x="501751" y="850072"/>
            <a:ext cx="10622249" cy="1719943"/>
          </a:xfrm>
          <a:prstGeom prst="rect">
            <a:avLst/>
          </a:prstGeom>
          <a:noFill/>
        </p:spPr>
        <p:txBody>
          <a:bodyPr wrap="square" lIns="0" tIns="0" rIns="0" bIns="0" rtlCol="0">
            <a:noAutofit/>
          </a:bodyPr>
          <a:lstStyle/>
          <a:p>
            <a:pPr algn="ctr">
              <a:lnSpc>
                <a:spcPct val="150000"/>
              </a:lnSpc>
            </a:pPr>
            <a:r>
              <a:rPr lang="en-AU" sz="4400"/>
              <a:t>This </a:t>
            </a:r>
            <a:r>
              <a:rPr lang="en-AU" sz="4400" b="1"/>
              <a:t>rhombus</a:t>
            </a:r>
            <a:r>
              <a:rPr lang="en-AU" sz="4400"/>
              <a:t> has been made by </a:t>
            </a:r>
            <a:r>
              <a:rPr lang="en-AU" sz="4400" b="1"/>
              <a:t>combining</a:t>
            </a:r>
            <a:r>
              <a:rPr lang="en-AU" sz="4400"/>
              <a:t> 2 triangles.</a:t>
            </a:r>
          </a:p>
          <a:p>
            <a:pPr algn="ctr">
              <a:lnSpc>
                <a:spcPct val="150000"/>
              </a:lnSpc>
            </a:pPr>
            <a:endParaRPr lang="en-AU" sz="3600"/>
          </a:p>
          <a:p>
            <a:pPr algn="ctr">
              <a:lnSpc>
                <a:spcPct val="150000"/>
              </a:lnSpc>
            </a:pPr>
            <a:r>
              <a:rPr lang="en-AU" sz="3600"/>
              <a:t> </a:t>
            </a:r>
          </a:p>
          <a:p>
            <a:pPr algn="ctr">
              <a:lnSpc>
                <a:spcPct val="150000"/>
              </a:lnSpc>
            </a:pPr>
            <a:r>
              <a:rPr lang="en-AU" sz="4400"/>
              <a:t>Draw a </a:t>
            </a:r>
            <a:r>
              <a:rPr lang="en-AU" sz="4400" b="1"/>
              <a:t>hexagon</a:t>
            </a:r>
            <a:r>
              <a:rPr lang="en-AU" sz="4400"/>
              <a:t> that is made by </a:t>
            </a:r>
            <a:r>
              <a:rPr lang="en-AU" sz="4400" b="1"/>
              <a:t>combining triangles</a:t>
            </a:r>
            <a:r>
              <a:rPr lang="en-AU" sz="4400"/>
              <a:t>.</a:t>
            </a:r>
          </a:p>
        </p:txBody>
      </p:sp>
      <p:pic>
        <p:nvPicPr>
          <p:cNvPr id="9" name="Picture 8">
            <a:extLst>
              <a:ext uri="{FF2B5EF4-FFF2-40B4-BE49-F238E27FC236}">
                <a16:creationId xmlns:a16="http://schemas.microsoft.com/office/drawing/2014/main" id="{1A8566A1-A62F-7BD0-91AA-37DFA753E466}"/>
              </a:ext>
            </a:extLst>
          </p:cNvPr>
          <p:cNvPicPr>
            <a:picLocks noChangeAspect="1"/>
          </p:cNvPicPr>
          <p:nvPr/>
        </p:nvPicPr>
        <p:blipFill>
          <a:blip r:embed="rId4"/>
          <a:stretch>
            <a:fillRect/>
          </a:stretch>
        </p:blipFill>
        <p:spPr>
          <a:xfrm>
            <a:off x="4659692" y="3060087"/>
            <a:ext cx="2872616" cy="1639156"/>
          </a:xfrm>
          <a:prstGeom prst="rect">
            <a:avLst/>
          </a:prstGeom>
        </p:spPr>
      </p:pic>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t>Activity 8 – solving word problems involving division</a:t>
            </a:r>
          </a:p>
        </p:txBody>
      </p:sp>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pic>
        <p:nvPicPr>
          <p:cNvPr id="4" name="Picture 3" descr="image of a head with cogs turning inside">
            <a:extLst>
              <a:ext uri="{FF2B5EF4-FFF2-40B4-BE49-F238E27FC236}">
                <a16:creationId xmlns:a16="http://schemas.microsoft.com/office/drawing/2014/main" id="{2307795C-5521-91B9-C866-EC547ED62852}"/>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1EA2DCB0-7DF0-A23B-EF5F-921CC0932790}"/>
              </a:ext>
            </a:extLst>
          </p:cNvPr>
          <p:cNvSpPr txBox="1"/>
          <p:nvPr/>
        </p:nvSpPr>
        <p:spPr>
          <a:xfrm>
            <a:off x="478971" y="1314510"/>
            <a:ext cx="11549743" cy="5009833"/>
          </a:xfrm>
          <a:prstGeom prst="rect">
            <a:avLst/>
          </a:prstGeom>
          <a:noFill/>
        </p:spPr>
        <p:txBody>
          <a:bodyPr wrap="square">
            <a:spAutoFit/>
          </a:bodyPr>
          <a:lstStyle/>
          <a:p>
            <a:pPr algn="l" rtl="0" fontAlgn="base">
              <a:lnSpc>
                <a:spcPct val="150000"/>
              </a:lnSpc>
              <a:buFont typeface="+mj-lt"/>
              <a:buAutoNum type="arabicPeriod"/>
            </a:pPr>
            <a:r>
              <a:rPr lang="en-AU" sz="2400" b="0" i="0" u="none" strike="noStrike">
                <a:solidFill>
                  <a:srgbClr val="22272B"/>
                </a:solidFill>
                <a:effectLst/>
                <a:latin typeface="Arial" panose="020B0604020202020204" pitchFamily="34" charset="0"/>
              </a:rPr>
              <a:t>  48 pencils are to be sorted into boxes of 6. How many boxes are needed?</a:t>
            </a:r>
            <a:r>
              <a:rPr lang="en-US" sz="2400" b="0" i="0">
                <a:solidFill>
                  <a:srgbClr val="22272B"/>
                </a:solidFill>
                <a:effectLst/>
                <a:latin typeface="Arial" panose="020B0604020202020204" pitchFamily="34" charset="0"/>
              </a:rPr>
              <a:t>​</a:t>
            </a:r>
            <a:endParaRPr lang="en-US" b="0" i="0">
              <a:solidFill>
                <a:srgbClr val="22272B"/>
              </a:solidFill>
              <a:effectLst/>
              <a:latin typeface="Arial" panose="020B0604020202020204" pitchFamily="34" charset="0"/>
            </a:endParaRPr>
          </a:p>
          <a:p>
            <a:pPr algn="l" rtl="0" fontAlgn="base">
              <a:lnSpc>
                <a:spcPct val="150000"/>
              </a:lnSpc>
              <a:buFont typeface="+mj-lt"/>
              <a:buAutoNum type="arabicPeriod"/>
            </a:pPr>
            <a:r>
              <a:rPr lang="en-AU" sz="2400" b="0" i="0" u="none" strike="noStrike">
                <a:solidFill>
                  <a:srgbClr val="22272B"/>
                </a:solidFill>
                <a:effectLst/>
                <a:latin typeface="Arial" panose="020B0604020202020204" pitchFamily="34" charset="0"/>
              </a:rPr>
              <a:t>  Jo had a packet of 90 beads. She made bracelets with 10 beads on each one. How many bracelets did she make?</a:t>
            </a:r>
            <a:r>
              <a:rPr lang="en-US" sz="2400" b="0" i="0">
                <a:solidFill>
                  <a:srgbClr val="22272B"/>
                </a:solidFill>
                <a:effectLst/>
                <a:latin typeface="Arial" panose="020B0604020202020204" pitchFamily="34" charset="0"/>
              </a:rPr>
              <a:t>​</a:t>
            </a:r>
            <a:endParaRPr lang="en-US" b="0" i="0">
              <a:solidFill>
                <a:srgbClr val="22272B"/>
              </a:solidFill>
              <a:effectLst/>
              <a:latin typeface="Arial" panose="020B0604020202020204" pitchFamily="34" charset="0"/>
            </a:endParaRPr>
          </a:p>
          <a:p>
            <a:pPr algn="l" rtl="0" fontAlgn="base">
              <a:lnSpc>
                <a:spcPct val="150000"/>
              </a:lnSpc>
              <a:buFont typeface="+mj-lt"/>
              <a:buAutoNum type="arabicPeriod"/>
            </a:pPr>
            <a:r>
              <a:rPr lang="en-AU" sz="2400" b="0" i="0" u="none" strike="noStrike">
                <a:solidFill>
                  <a:srgbClr val="22272B"/>
                </a:solidFill>
                <a:effectLst/>
                <a:latin typeface="Arial" panose="020B0604020202020204" pitchFamily="34" charset="0"/>
              </a:rPr>
              <a:t>  Marilyn planted 45 sunflower seeds in the garden. If she planted the seeds in 5 rows, how many were in each row?</a:t>
            </a:r>
            <a:r>
              <a:rPr lang="en-US" sz="2400" b="0" i="0">
                <a:solidFill>
                  <a:srgbClr val="22272B"/>
                </a:solidFill>
                <a:effectLst/>
                <a:latin typeface="Arial" panose="020B0604020202020204" pitchFamily="34" charset="0"/>
              </a:rPr>
              <a:t>​</a:t>
            </a:r>
            <a:endParaRPr lang="en-US" b="0" i="0">
              <a:solidFill>
                <a:srgbClr val="22272B"/>
              </a:solidFill>
              <a:effectLst/>
              <a:latin typeface="Arial" panose="020B0604020202020204" pitchFamily="34" charset="0"/>
            </a:endParaRPr>
          </a:p>
          <a:p>
            <a:pPr algn="l" rtl="0" fontAlgn="base">
              <a:lnSpc>
                <a:spcPct val="150000"/>
              </a:lnSpc>
              <a:buFont typeface="+mj-lt"/>
              <a:buAutoNum type="arabicPeriod"/>
            </a:pPr>
            <a:r>
              <a:rPr lang="en-AU" sz="2400" b="0" i="0" u="none" strike="noStrike">
                <a:solidFill>
                  <a:srgbClr val="22272B"/>
                </a:solidFill>
                <a:effectLst/>
                <a:latin typeface="Arial" panose="020B0604020202020204" pitchFamily="34" charset="0"/>
              </a:rPr>
              <a:t>  Ahmed took 9 days to read a 180 page book. If he read the same number of pages each day, how many pages did he read per day?</a:t>
            </a:r>
            <a:r>
              <a:rPr lang="en-US" sz="2400" b="0" i="0">
                <a:solidFill>
                  <a:srgbClr val="22272B"/>
                </a:solidFill>
                <a:effectLst/>
                <a:latin typeface="Arial" panose="020B0604020202020204" pitchFamily="34" charset="0"/>
              </a:rPr>
              <a:t>​</a:t>
            </a:r>
            <a:endParaRPr lang="en-US" b="0" i="0">
              <a:solidFill>
                <a:srgbClr val="22272B"/>
              </a:solidFill>
              <a:effectLst/>
              <a:latin typeface="Arial" panose="020B0604020202020204" pitchFamily="34" charset="0"/>
            </a:endParaRPr>
          </a:p>
          <a:p>
            <a:pPr algn="l" rtl="0" fontAlgn="base">
              <a:lnSpc>
                <a:spcPct val="150000"/>
              </a:lnSpc>
              <a:buFont typeface="+mj-lt"/>
              <a:buAutoNum type="arabicPeriod"/>
            </a:pPr>
            <a:r>
              <a:rPr lang="en-AU" sz="2400" b="0" i="0" u="none" strike="noStrike">
                <a:solidFill>
                  <a:srgbClr val="22272B"/>
                </a:solidFill>
                <a:effectLst/>
                <a:latin typeface="Arial" panose="020B0604020202020204" pitchFamily="34" charset="0"/>
              </a:rPr>
              <a:t>  Jessie bought 72 balloons for the gala. If 6 balloons fit into a bundle, how many bundles will there be to decorate the room?</a:t>
            </a:r>
            <a:endParaRPr lang="en-US" b="0" i="0">
              <a:solidFill>
                <a:srgbClr val="22272B"/>
              </a:solidFill>
              <a:effectLst/>
              <a:latin typeface="Arial" panose="020B0604020202020204" pitchFamily="34" charset="0"/>
            </a:endParaRPr>
          </a:p>
        </p:txBody>
      </p:sp>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5D370-02F8-4802-1177-B360785A3B0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DD85143-9C53-D252-FA3C-143573919A3F}"/>
              </a:ext>
            </a:extLst>
          </p:cNvPr>
          <p:cNvSpPr>
            <a:spLocks noGrp="1"/>
          </p:cNvSpPr>
          <p:nvPr>
            <p:ph type="sldNum" sz="quarter" idx="12"/>
          </p:nvPr>
        </p:nvSpPr>
        <p:spPr/>
        <p:txBody>
          <a:bodyPr/>
          <a:lstStyle/>
          <a:p>
            <a:fld id="{10A01DC5-1685-4615-8240-15192985C6A2}" type="slidenum">
              <a:rPr lang="en-AU" smtClean="0"/>
              <a:t>65</a:t>
            </a:fld>
            <a:endParaRPr lang="en-AU"/>
          </a:p>
        </p:txBody>
      </p:sp>
      <p:sp>
        <p:nvSpPr>
          <p:cNvPr id="3" name="Title 2">
            <a:extLst>
              <a:ext uri="{FF2B5EF4-FFF2-40B4-BE49-F238E27FC236}">
                <a16:creationId xmlns:a16="http://schemas.microsoft.com/office/drawing/2014/main" id="{F9DB34AB-62ED-334B-6F70-319CD0A0DE78}"/>
              </a:ext>
            </a:extLst>
          </p:cNvPr>
          <p:cNvSpPr>
            <a:spLocks noGrp="1"/>
          </p:cNvSpPr>
          <p:nvPr>
            <p:ph type="title"/>
          </p:nvPr>
        </p:nvSpPr>
        <p:spPr/>
        <p:txBody>
          <a:bodyPr/>
          <a:lstStyle/>
          <a:p>
            <a:r>
              <a:rPr lang="en-US"/>
              <a:t>Multiple choice </a:t>
            </a:r>
            <a:r>
              <a:rPr lang="en-US">
                <a:solidFill>
                  <a:schemeClr val="bg1"/>
                </a:solidFill>
              </a:rPr>
              <a:t>(5)</a:t>
            </a:r>
          </a:p>
        </p:txBody>
      </p:sp>
      <p:sp>
        <p:nvSpPr>
          <p:cNvPr id="14" name="Picture Placeholder 13">
            <a:extLst>
              <a:ext uri="{FF2B5EF4-FFF2-40B4-BE49-F238E27FC236}">
                <a16:creationId xmlns:a16="http://schemas.microsoft.com/office/drawing/2014/main" id="{5D7B0A24-E5AA-C109-67EA-662C22C74B3F}"/>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43307D6A-BBFD-7CD9-A64B-01E333303150}"/>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75872A20-088D-FF51-DFB4-99D7DE640C92}"/>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FE169B28-8512-C9C8-7CFC-4F751AE3261E}"/>
              </a:ext>
            </a:extLst>
          </p:cNvPr>
          <p:cNvSpPr>
            <a:spLocks noGrp="1"/>
          </p:cNvSpPr>
          <p:nvPr>
            <p:ph type="pic" sz="quarter" idx="23"/>
          </p:nvPr>
        </p:nvSpPr>
        <p:spPr/>
        <p:txBody>
          <a:bodyPr/>
          <a:lstStyle/>
          <a:p>
            <a:endParaRPr lang="en-AU"/>
          </a:p>
        </p:txBody>
      </p:sp>
      <p:sp>
        <p:nvSpPr>
          <p:cNvPr id="18" name="Text Placeholder 17">
            <a:extLst>
              <a:ext uri="{FF2B5EF4-FFF2-40B4-BE49-F238E27FC236}">
                <a16:creationId xmlns:a16="http://schemas.microsoft.com/office/drawing/2014/main" id="{8910CEA8-ACF1-117F-AFF9-3716C3B803E7}"/>
              </a:ext>
            </a:extLst>
          </p:cNvPr>
          <p:cNvSpPr>
            <a:spLocks noGrp="1"/>
          </p:cNvSpPr>
          <p:nvPr>
            <p:ph type="body" sz="quarter" idx="24"/>
          </p:nvPr>
        </p:nvSpPr>
        <p:spPr/>
        <p:txBody>
          <a:bodyPr/>
          <a:lstStyle/>
          <a:p>
            <a:endParaRPr lang="en-US"/>
          </a:p>
        </p:txBody>
      </p:sp>
      <p:sp>
        <p:nvSpPr>
          <p:cNvPr id="9" name="TextBox 8">
            <a:extLst>
              <a:ext uri="{FF2B5EF4-FFF2-40B4-BE49-F238E27FC236}">
                <a16:creationId xmlns:a16="http://schemas.microsoft.com/office/drawing/2014/main" id="{717716A8-73D4-A8C2-B51E-7A16179BDF4F}"/>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2413F83-FAEB-64D1-F840-E0CE2BAC2D61}"/>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6FC2EA77-4CB6-4B19-C393-ABDAE1C531AC}"/>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73A9F10E-8E46-7D7C-62F1-26A7FAFDA1F0}"/>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2391301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E470CA-37B9-5866-8D09-298FF55EE989}"/>
              </a:ext>
            </a:extLst>
          </p:cNvPr>
          <p:cNvSpPr>
            <a:spLocks noGrp="1"/>
          </p:cNvSpPr>
          <p:nvPr>
            <p:ph type="sldNum" sz="quarter" idx="12"/>
          </p:nvPr>
        </p:nvSpPr>
        <p:spPr/>
        <p:txBody>
          <a:bodyPr/>
          <a:lstStyle/>
          <a:p>
            <a:fld id="{10A01DC5-1685-4615-8240-15192985C6A2}" type="slidenum">
              <a:rPr lang="en-AU" smtClean="0"/>
              <a:t>66</a:t>
            </a:fld>
            <a:endParaRPr lang="en-AU"/>
          </a:p>
        </p:txBody>
      </p:sp>
      <p:sp>
        <p:nvSpPr>
          <p:cNvPr id="3" name="Title 2">
            <a:extLst>
              <a:ext uri="{FF2B5EF4-FFF2-40B4-BE49-F238E27FC236}">
                <a16:creationId xmlns:a16="http://schemas.microsoft.com/office/drawing/2014/main" id="{293E9645-0D96-A57E-C0D8-3B2B5635236C}"/>
              </a:ext>
            </a:extLst>
          </p:cNvPr>
          <p:cNvSpPr>
            <a:spLocks noGrp="1"/>
          </p:cNvSpPr>
          <p:nvPr>
            <p:ph type="title"/>
          </p:nvPr>
        </p:nvSpPr>
        <p:spPr/>
        <p:txBody>
          <a:bodyPr/>
          <a:lstStyle/>
          <a:p>
            <a:r>
              <a:rPr lang="en-US"/>
              <a:t>Multiple choice </a:t>
            </a:r>
            <a:r>
              <a:rPr lang="en-US">
                <a:solidFill>
                  <a:schemeClr val="bg1"/>
                </a:solidFill>
              </a:rPr>
              <a:t>(6)</a:t>
            </a:r>
          </a:p>
        </p:txBody>
      </p:sp>
      <p:sp>
        <p:nvSpPr>
          <p:cNvPr id="14" name="Text Placeholder 13">
            <a:extLst>
              <a:ext uri="{FF2B5EF4-FFF2-40B4-BE49-F238E27FC236}">
                <a16:creationId xmlns:a16="http://schemas.microsoft.com/office/drawing/2014/main" id="{AB4F46E8-39CC-516C-AA47-44AFBB8D4DF4}"/>
              </a:ext>
            </a:extLst>
          </p:cNvPr>
          <p:cNvSpPr>
            <a:spLocks noGrp="1"/>
          </p:cNvSpPr>
          <p:nvPr>
            <p:ph type="body" sz="quarter" idx="27"/>
          </p:nvPr>
        </p:nvSpPr>
        <p:spPr>
          <a:xfrm>
            <a:off x="1345520" y="5425723"/>
            <a:ext cx="10175920" cy="641396"/>
          </a:xfrm>
        </p:spPr>
        <p:txBody>
          <a:bodyPr/>
          <a:lstStyle/>
          <a:p>
            <a:endParaRPr lang="en-US"/>
          </a:p>
        </p:txBody>
      </p:sp>
      <p:sp>
        <p:nvSpPr>
          <p:cNvPr id="15" name="Text Placeholder 14">
            <a:extLst>
              <a:ext uri="{FF2B5EF4-FFF2-40B4-BE49-F238E27FC236}">
                <a16:creationId xmlns:a16="http://schemas.microsoft.com/office/drawing/2014/main" id="{6B9A183C-33B3-4568-C43F-096BAC3A3E3A}"/>
              </a:ext>
            </a:extLst>
          </p:cNvPr>
          <p:cNvSpPr>
            <a:spLocks noGrp="1"/>
          </p:cNvSpPr>
          <p:nvPr>
            <p:ph type="body" sz="quarter" idx="28"/>
          </p:nvPr>
        </p:nvSpPr>
        <p:spPr>
          <a:xfrm>
            <a:off x="360000" y="1625945"/>
            <a:ext cx="11243037" cy="754243"/>
          </a:xfrm>
        </p:spPr>
        <p:txBody>
          <a:bodyPr/>
          <a:lstStyle/>
          <a:p>
            <a:endParaRPr lang="en-US"/>
          </a:p>
        </p:txBody>
      </p:sp>
      <p:sp>
        <p:nvSpPr>
          <p:cNvPr id="16" name="Text Placeholder 15">
            <a:extLst>
              <a:ext uri="{FF2B5EF4-FFF2-40B4-BE49-F238E27FC236}">
                <a16:creationId xmlns:a16="http://schemas.microsoft.com/office/drawing/2014/main" id="{E2AEB52E-AFAA-8A1C-4AC0-681B940D0160}"/>
              </a:ext>
            </a:extLst>
          </p:cNvPr>
          <p:cNvSpPr>
            <a:spLocks noGrp="1"/>
          </p:cNvSpPr>
          <p:nvPr>
            <p:ph type="body" sz="quarter" idx="29"/>
          </p:nvPr>
        </p:nvSpPr>
        <p:spPr>
          <a:xfrm>
            <a:off x="1345520" y="4575670"/>
            <a:ext cx="10175920" cy="641396"/>
          </a:xfrm>
        </p:spPr>
        <p:txBody>
          <a:bodyPr/>
          <a:lstStyle/>
          <a:p>
            <a:endParaRPr lang="en-US"/>
          </a:p>
        </p:txBody>
      </p:sp>
      <p:sp>
        <p:nvSpPr>
          <p:cNvPr id="17" name="Text Placeholder 16">
            <a:extLst>
              <a:ext uri="{FF2B5EF4-FFF2-40B4-BE49-F238E27FC236}">
                <a16:creationId xmlns:a16="http://schemas.microsoft.com/office/drawing/2014/main" id="{5E4A5EB3-F414-A07E-B091-A6903C289403}"/>
              </a:ext>
            </a:extLst>
          </p:cNvPr>
          <p:cNvSpPr>
            <a:spLocks noGrp="1"/>
          </p:cNvSpPr>
          <p:nvPr>
            <p:ph type="body" sz="quarter" idx="30"/>
          </p:nvPr>
        </p:nvSpPr>
        <p:spPr>
          <a:xfrm>
            <a:off x="1345520" y="3725617"/>
            <a:ext cx="10175920" cy="641396"/>
          </a:xfrm>
        </p:spPr>
        <p:txBody>
          <a:bodyPr/>
          <a:lstStyle/>
          <a:p>
            <a:endParaRPr lang="en-US"/>
          </a:p>
        </p:txBody>
      </p:sp>
      <p:sp>
        <p:nvSpPr>
          <p:cNvPr id="18" name="Text Placeholder 17">
            <a:extLst>
              <a:ext uri="{FF2B5EF4-FFF2-40B4-BE49-F238E27FC236}">
                <a16:creationId xmlns:a16="http://schemas.microsoft.com/office/drawing/2014/main" id="{DD9E4C8E-C942-2FA4-6AAC-B2B3D321FC2F}"/>
              </a:ext>
            </a:extLst>
          </p:cNvPr>
          <p:cNvSpPr>
            <a:spLocks noGrp="1"/>
          </p:cNvSpPr>
          <p:nvPr>
            <p:ph type="body" sz="quarter" idx="31"/>
          </p:nvPr>
        </p:nvSpPr>
        <p:spPr>
          <a:xfrm>
            <a:off x="1345520" y="2877704"/>
            <a:ext cx="10175920" cy="641396"/>
          </a:xfrm>
        </p:spPr>
        <p:txBody>
          <a:bodyPr/>
          <a:lstStyle/>
          <a:p>
            <a:endParaRPr lang="en-US"/>
          </a:p>
        </p:txBody>
      </p:sp>
      <p:sp>
        <p:nvSpPr>
          <p:cNvPr id="9" name="TextBox 8">
            <a:extLst>
              <a:ext uri="{FF2B5EF4-FFF2-40B4-BE49-F238E27FC236}">
                <a16:creationId xmlns:a16="http://schemas.microsoft.com/office/drawing/2014/main" id="{17539DAC-4E92-AFE5-86E8-50C88518EFA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E33B1A6-4106-9E75-7645-88335BABE19D}"/>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28ADB1A3-D5FD-9EC3-BED8-5982F1544E0E}"/>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7E4BDDCB-88AF-EC45-6F07-05B50A0060D2}"/>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1019636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a:xfrm>
            <a:off x="217125" y="3306149"/>
            <a:ext cx="11855814" cy="3389851"/>
          </a:xfrm>
        </p:spPr>
        <p:txBody>
          <a:bodyPr/>
          <a:lstStyle/>
          <a:p>
            <a:pPr marL="0" marR="0" lvl="0" indent="0" algn="l" defTabSz="914377" rtl="0" eaLnBrk="1" fontAlgn="base" latinLnBrk="0" hangingPunct="1">
              <a:lnSpc>
                <a:spcPct val="150000"/>
              </a:lnSpc>
              <a:spcBef>
                <a:spcPts val="0"/>
              </a:spcBef>
              <a:spcAft>
                <a:spcPts val="1200"/>
              </a:spcAft>
              <a:buClrTx/>
              <a:buSzTx/>
              <a:buFont typeface="Arial" panose="020B0604020202020204" pitchFamily="34" charset="0"/>
              <a:buNone/>
              <a:tabLst/>
              <a:defRPr/>
            </a:pPr>
            <a:r>
              <a:rPr kumimoji="0" lang="en-AU" sz="1200" b="0" i="0" u="sng"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hlinkClick r:id="rId6"/>
              </a:rPr>
              <a:t>Mathematics K–10 Syllabus</a:t>
            </a:r>
            <a:r>
              <a:rPr kumimoji="0" lang="en-AU" sz="1200" b="0" i="0" u="none"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rPr>
              <a:t> © NSW Education Standards Authority (NESA) for and on behalf of the Crown in right of the State of New South Wales, 2022. </a:t>
            </a:r>
          </a:p>
          <a:p>
            <a:pPr marL="0" marR="0" lvl="0" indent="0" algn="l" defTabSz="914377" rtl="0" eaLnBrk="1" fontAlgn="base" latinLnBrk="0" hangingPunct="1">
              <a:lnSpc>
                <a:spcPct val="150000"/>
              </a:lnSpc>
              <a:spcBef>
                <a:spcPts val="0"/>
              </a:spcBef>
              <a:spcAft>
                <a:spcPts val="1200"/>
              </a:spcAft>
              <a:buClrTx/>
              <a:buSzTx/>
              <a:buFont typeface="Arial" panose="020B0604020202020204" pitchFamily="34" charset="0"/>
              <a:buNone/>
              <a:tabLst/>
              <a:defRPr/>
            </a:pPr>
            <a:r>
              <a:rPr kumimoji="0" lang="en-AU" sz="1200" b="0" i="0" u="sng"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hlinkClick r:id="rId7"/>
              </a:rPr>
              <a:t>National Numeracy Learning Progression</a:t>
            </a:r>
            <a:r>
              <a:rPr kumimoji="0" lang="en-AU" sz="1200" b="0" i="0" u="none"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rPr>
              <a:t> © Australian Curriculum, Assessment and Reporting Authority (ACARA) 2010 to present, unless otherwise indicated. This material was downloaded from the </a:t>
            </a:r>
            <a:r>
              <a:rPr kumimoji="0" lang="en-AU" sz="1200" b="0" i="0" u="sng"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hlinkClick r:id="rId8"/>
              </a:rPr>
              <a:t>Australian Curriculum</a:t>
            </a:r>
            <a:r>
              <a:rPr kumimoji="0" lang="en-AU" sz="1200" b="0" i="0" u="none"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rPr>
              <a:t> website (National Numeracy Learning Progression) (accessed 22 July 2025) and was not modified. </a:t>
            </a:r>
          </a:p>
          <a:p>
            <a:r>
              <a:rPr lang="en-AU"/>
              <a:t>Burns M (17 August 2015) ‘</a:t>
            </a:r>
            <a:r>
              <a:rPr lang="en-AU" u="sng">
                <a:hlinkClick r:id="rId9"/>
              </a:rPr>
              <a:t>Four Strikes and You’re Out</a:t>
            </a:r>
            <a:r>
              <a:rPr lang="en-AU"/>
              <a:t>’, </a:t>
            </a:r>
            <a:r>
              <a:rPr lang="en-AU" i="1"/>
              <a:t>MB Math</a:t>
            </a:r>
            <a:r>
              <a:rPr lang="en-AU"/>
              <a:t>, accessed 3 October 2025. </a:t>
            </a:r>
          </a:p>
          <a:p>
            <a:r>
              <a:rPr lang="en-AU"/>
              <a:t>State of New South Wales (Department of Education) (n.d.) </a:t>
            </a:r>
            <a:r>
              <a:rPr lang="en-AU" i="1" u="sng">
                <a:hlinkClick r:id="rId10"/>
              </a:rPr>
              <a:t>Coordinating groups: Snake eyes</a:t>
            </a:r>
            <a:r>
              <a:rPr lang="en-AU" u="sng">
                <a:hlinkClick r:id="rId10"/>
              </a:rPr>
              <a:t> [PDF 8.0 MB]</a:t>
            </a:r>
            <a:r>
              <a:rPr lang="en-AU"/>
              <a:t> in Developing Efficient Numeracy Strategies: Stage 2, NSW Department of Education, accessed 14 July 2025</a:t>
            </a:r>
          </a:p>
          <a:p>
            <a:r>
              <a:rPr lang="en-AU"/>
              <a:t>State of New South Wales (Department of Education) (n.d.) </a:t>
            </a:r>
            <a:r>
              <a:rPr lang="en-AU" i="1"/>
              <a:t>Four strikes and you’re out, </a:t>
            </a:r>
            <a:r>
              <a:rPr lang="en-AU"/>
              <a:t>Stage 3 – Additive thinking teaching strategies, NSW Department of Education, accessed 14 July 2025.</a:t>
            </a:r>
          </a:p>
          <a:p>
            <a:r>
              <a:rPr lang="en-AU"/>
              <a:t>University of Cambridge (</a:t>
            </a:r>
            <a:r>
              <a:rPr lang="en-AU" err="1"/>
              <a:t>n.d</a:t>
            </a:r>
            <a:r>
              <a:rPr lang="en-AU"/>
              <a:t>) </a:t>
            </a:r>
            <a:r>
              <a:rPr lang="en-AU" i="1" u="sng">
                <a:hlinkClick r:id="rId11"/>
              </a:rPr>
              <a:t>Tug of War</a:t>
            </a:r>
            <a:r>
              <a:rPr lang="en-AU"/>
              <a:t>, NRICH website, accessed 14 July 2025.——(n.d.) </a:t>
            </a:r>
            <a:r>
              <a:rPr lang="en-AU" i="1" u="sng">
                <a:hlinkClick r:id="rId12"/>
              </a:rPr>
              <a:t>Dicey Operations</a:t>
            </a:r>
            <a:r>
              <a:rPr lang="en-AU"/>
              <a:t>, NRICH website, accessed 14 July 2025. </a:t>
            </a:r>
          </a:p>
          <a:p>
            <a:endParaRPr lang="en-AU"/>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67</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student-facing-primary-template-2025-v1.5" id="{A9A19751-B500-3D41-BF6E-0C76E7DB2487}" vid="{D6BC33BF-2A14-9E48-959C-B41C5F1C3C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c91fdd3e284047c3db16c369a1d39c66">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412f8ac8e43c8402a44260f543b0aa7c"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E00DA3D-9F99-458E-9DAB-0CE3DD324CEB}">
  <ds:schemaRefs>
    <ds:schemaRef ds:uri="http://schemas.microsoft.com/sharepoint/v3/contenttype/forms"/>
  </ds:schemaRefs>
</ds:datastoreItem>
</file>

<file path=customXml/itemProps2.xml><?xml version="1.0" encoding="utf-8"?>
<ds:datastoreItem xmlns:ds="http://schemas.openxmlformats.org/officeDocument/2006/customXml" ds:itemID="{92A79ED5-3D27-435D-B83C-BD2537F20B0A}">
  <ds:schemaRefs>
    <ds:schemaRef ds:uri="60129b06-f64b-40a8-96e2-c5b2f86112b1"/>
    <ds:schemaRef ds:uri="7e763d47-3c66-4c58-9425-1477fd3ccd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D3A34A8A-C592-44FC-AD9C-0A6E4CF6CBFD}"/>
</file>

<file path=docProps/app.xml><?xml version="1.0" encoding="utf-8"?>
<Properties xmlns="http://schemas.openxmlformats.org/officeDocument/2006/extended-properties" xmlns:vt="http://schemas.openxmlformats.org/officeDocument/2006/docPropsVTypes">
  <Template>student-facing-primary-template-2025-v1-5</Template>
  <TotalTime>0</TotalTime>
  <Words>6010</Words>
  <Application>Microsoft Office PowerPoint</Application>
  <PresentationFormat>Widescreen</PresentationFormat>
  <Paragraphs>813</Paragraphs>
  <Slides>68</Slides>
  <Notes>68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68</vt:i4>
      </vt:variant>
    </vt:vector>
  </HeadingPairs>
  <TitlesOfParts>
    <vt:vector size="77" baseType="lpstr">
      <vt:lpstr>Wingdings</vt:lpstr>
      <vt:lpstr>Arial</vt:lpstr>
      <vt:lpstr>Public Sans Light</vt:lpstr>
      <vt:lpstr>Times New Roman</vt:lpstr>
      <vt:lpstr>Public Sans</vt:lpstr>
      <vt:lpstr>Montserrat</vt:lpstr>
      <vt:lpstr>Edu NSW ACT Foundation</vt:lpstr>
      <vt:lpstr>Calibri</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back and forth, adding and subtracting</vt:lpstr>
      <vt:lpstr>Review of learning 2</vt:lpstr>
      <vt:lpstr>True or false (1)</vt:lpstr>
      <vt:lpstr>Short response (5)</vt:lpstr>
      <vt:lpstr>Short response (6)</vt:lpstr>
      <vt:lpstr>Short response (7)</vt:lpstr>
      <vt:lpstr>Short response (8)</vt:lpstr>
      <vt:lpstr>Activity 2 – closest to 500</vt:lpstr>
      <vt:lpstr>Review of learning 3</vt:lpstr>
      <vt:lpstr>Multiple choice (2)</vt:lpstr>
      <vt:lpstr>Short response (9)</vt:lpstr>
      <vt:lpstr>Short response (10)</vt:lpstr>
      <vt:lpstr>Short response (11)</vt:lpstr>
      <vt:lpstr>Short response (12)</vt:lpstr>
      <vt:lpstr>Activity 3 – snake eyes (addition)</vt:lpstr>
      <vt:lpstr>Review of learning 4</vt:lpstr>
      <vt:lpstr>True or false (2)</vt:lpstr>
      <vt:lpstr>Short response (13)</vt:lpstr>
      <vt:lpstr>Short response (14)</vt:lpstr>
      <vt:lpstr>Short response (15)</vt:lpstr>
      <vt:lpstr>Short response (16)</vt:lpstr>
      <vt:lpstr>Activity 4 – snake eyes (Subtraction)</vt:lpstr>
      <vt:lpstr>Review of learning 5</vt:lpstr>
      <vt:lpstr>Multiple choice (3)</vt:lpstr>
      <vt:lpstr>Short response (17)</vt:lpstr>
      <vt:lpstr>Short response (18)</vt:lpstr>
      <vt:lpstr>Short response (19)</vt:lpstr>
      <vt:lpstr>Short response (20)</vt:lpstr>
      <vt:lpstr>Activity 5 – three strikes and you’re out!</vt:lpstr>
      <vt:lpstr>Review of learning 6</vt:lpstr>
      <vt:lpstr>True or false (3)</vt:lpstr>
      <vt:lpstr>Short response (21)</vt:lpstr>
      <vt:lpstr>Short response (22)</vt:lpstr>
      <vt:lpstr>Short response (23)</vt:lpstr>
      <vt:lpstr>Short response (24)</vt:lpstr>
      <vt:lpstr>Activity 6 – missing numbers</vt:lpstr>
      <vt:lpstr>Review of learning 7</vt:lpstr>
      <vt:lpstr>Multiple choice (4)(5)</vt:lpstr>
      <vt:lpstr>Short response (25)</vt:lpstr>
      <vt:lpstr>Short response (26)</vt:lpstr>
      <vt:lpstr>Short response (27)</vt:lpstr>
      <vt:lpstr>Short response (28)</vt:lpstr>
      <vt:lpstr>Activity 7 – solving word problems involving multiplication</vt:lpstr>
      <vt:lpstr>Review of learning 8</vt:lpstr>
      <vt:lpstr>True or false (4)</vt:lpstr>
      <vt:lpstr>Short response (29)</vt:lpstr>
      <vt:lpstr>Short response (30)</vt:lpstr>
      <vt:lpstr>Short response (31)</vt:lpstr>
      <vt:lpstr>Short response (32)</vt:lpstr>
      <vt:lpstr>Activity 8 – solving word problems involving division</vt:lpstr>
      <vt:lpstr>Double Venn diagram</vt:lpstr>
      <vt:lpstr>Frayer</vt:lpstr>
      <vt:lpstr>Spider map</vt:lpstr>
      <vt:lpstr>Cline</vt:lpstr>
      <vt:lpstr>Compare and contrast</vt:lpstr>
      <vt:lpstr>Multiple choice (5)</vt:lpstr>
      <vt:lpstr>Multiple choice (6)</vt:lpstr>
      <vt:lpstr>References</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2025-08-01T06:37:50Z</dcterms:created>
  <dcterms:modified xsi:type="dcterms:W3CDTF">2025-11-26T22:08:13Z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