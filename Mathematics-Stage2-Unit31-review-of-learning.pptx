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4"/>
  </p:notesMasterIdLst>
  <p:handoutMasterIdLst>
    <p:handoutMasterId r:id="rId75"/>
  </p:handoutMasterIdLst>
  <p:sldIdLst>
    <p:sldId id="365" r:id="rId5"/>
    <p:sldId id="26505" r:id="rId6"/>
    <p:sldId id="26359" r:id="rId7"/>
    <p:sldId id="271" r:id="rId8"/>
    <p:sldId id="26577" r:id="rId9"/>
    <p:sldId id="358" r:id="rId10"/>
    <p:sldId id="26580" r:id="rId11"/>
    <p:sldId id="26581" r:id="rId12"/>
    <p:sldId id="26582" r:id="rId13"/>
    <p:sldId id="26650" r:id="rId14"/>
    <p:sldId id="26583" r:id="rId15"/>
    <p:sldId id="26586" r:id="rId16"/>
    <p:sldId id="26587" r:id="rId17"/>
    <p:sldId id="26588" r:id="rId18"/>
    <p:sldId id="26589" r:id="rId19"/>
    <p:sldId id="26590" r:id="rId20"/>
    <p:sldId id="26591" r:id="rId21"/>
    <p:sldId id="26592" r:id="rId22"/>
    <p:sldId id="26593" r:id="rId23"/>
    <p:sldId id="26596" r:id="rId24"/>
    <p:sldId id="26597" r:id="rId25"/>
    <p:sldId id="26598" r:id="rId26"/>
    <p:sldId id="26599" r:id="rId27"/>
    <p:sldId id="26600" r:id="rId28"/>
    <p:sldId id="26601" r:id="rId29"/>
    <p:sldId id="26604" r:id="rId30"/>
    <p:sldId id="26605" r:id="rId31"/>
    <p:sldId id="26606" r:id="rId32"/>
    <p:sldId id="26607" r:id="rId33"/>
    <p:sldId id="26608" r:id="rId34"/>
    <p:sldId id="26609" r:id="rId35"/>
    <p:sldId id="26610" r:id="rId36"/>
    <p:sldId id="26611" r:id="rId37"/>
    <p:sldId id="26614" r:id="rId38"/>
    <p:sldId id="26615" r:id="rId39"/>
    <p:sldId id="26616" r:id="rId40"/>
    <p:sldId id="26617" r:id="rId41"/>
    <p:sldId id="26618" r:id="rId42"/>
    <p:sldId id="26619" r:id="rId43"/>
    <p:sldId id="26622" r:id="rId44"/>
    <p:sldId id="26623" r:id="rId45"/>
    <p:sldId id="26624" r:id="rId46"/>
    <p:sldId id="26625" r:id="rId47"/>
    <p:sldId id="26626" r:id="rId48"/>
    <p:sldId id="26627" r:id="rId49"/>
    <p:sldId id="26628" r:id="rId50"/>
    <p:sldId id="26648" r:id="rId51"/>
    <p:sldId id="26632" r:id="rId52"/>
    <p:sldId id="26633" r:id="rId53"/>
    <p:sldId id="26634" r:id="rId54"/>
    <p:sldId id="26635" r:id="rId55"/>
    <p:sldId id="26636" r:id="rId56"/>
    <p:sldId id="26637" r:id="rId57"/>
    <p:sldId id="26640" r:id="rId58"/>
    <p:sldId id="26641" r:id="rId59"/>
    <p:sldId id="26642" r:id="rId60"/>
    <p:sldId id="26643" r:id="rId61"/>
    <p:sldId id="26644" r:id="rId62"/>
    <p:sldId id="26645" r:id="rId63"/>
    <p:sldId id="26393" r:id="rId64"/>
    <p:sldId id="26387" r:id="rId65"/>
    <p:sldId id="26395" r:id="rId66"/>
    <p:sldId id="26391" r:id="rId67"/>
    <p:sldId id="26402" r:id="rId68"/>
    <p:sldId id="26527" r:id="rId69"/>
    <p:sldId id="26545" r:id="rId70"/>
    <p:sldId id="360" r:id="rId71"/>
    <p:sldId id="26651" r:id="rId72"/>
    <p:sldId id="361" r:id="rId73"/>
  </p:sldIdLst>
  <p:sldSz cx="12192000" cy="6858000"/>
  <p:notesSz cx="6858000" cy="9144000"/>
  <p:embeddedFontLst>
    <p:embeddedFont>
      <p:font typeface="Montserrat" panose="00000500000000000000" pitchFamily="2" charset="0"/>
      <p:regular r:id="rId76"/>
      <p:bold r:id="rId77"/>
      <p:italic r:id="rId78"/>
      <p:boldItalic r:id="rId79"/>
    </p:embeddedFont>
    <p:embeddedFont>
      <p:font typeface="Public Sans" pitchFamily="2" charset="0"/>
      <p:regular r:id="rId80"/>
      <p:bold r:id="rId81"/>
      <p:italic r:id="rId82"/>
      <p:boldItalic r:id="rId83"/>
    </p:embeddedFont>
    <p:embeddedFont>
      <p:font typeface="Public Sans Light" pitchFamily="2" charset="0"/>
      <p:regular r:id="rId84"/>
      <p:italic r:id="rId85"/>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05"/>
            <p14:sldId id="26359"/>
          </p14:sldIdLst>
        </p14:section>
        <p14:section name="Review of learning 1" id="{4B1EDACC-5006-43DF-9D93-DE177A158796}">
          <p14:sldIdLst>
            <p14:sldId id="271"/>
            <p14:sldId id="26577"/>
            <p14:sldId id="358"/>
            <p14:sldId id="26580"/>
            <p14:sldId id="26581"/>
            <p14:sldId id="26582"/>
            <p14:sldId id="26650"/>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593"/>
            <p14:sldId id="26596"/>
            <p14:sldId id="26597"/>
            <p14:sldId id="26598"/>
            <p14:sldId id="26599"/>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11"/>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48"/>
            <p14:sldId id="26632"/>
            <p14:sldId id="26633"/>
            <p14:sldId id="26634"/>
            <p14:sldId id="26635"/>
            <p14:sldId id="26636"/>
          </p14:sldIdLst>
        </p14:section>
        <p14:section name="Review of learning 8" id="{6FF8F7EC-803E-4F84-BA41-6B3ED673D597}">
          <p14:sldIdLst>
            <p14:sldId id="26637"/>
            <p14:sldId id="26640"/>
            <p14:sldId id="26641"/>
            <p14:sldId id="26642"/>
            <p14:sldId id="26643"/>
            <p14:sldId id="26644"/>
            <p14:sldId id="26645"/>
          </p14:sldIdLst>
        </p14:section>
        <p14:section name="Assets" id="{ACCADEBA-79DB-4F18-8F19-E4DF86159DFB}">
          <p14:sldIdLst>
            <p14:sldId id="26393"/>
            <p14:sldId id="26387"/>
            <p14:sldId id="26395"/>
            <p14:sldId id="26391"/>
            <p14:sldId id="26402"/>
            <p14:sldId id="26527"/>
            <p14:sldId id="26545"/>
          </p14:sldIdLst>
        </p14:section>
        <p14:section name="References &amp; copyright" id="{DBC31484-F5F8-4CB1-8DB4-A562A9780899}">
          <p14:sldIdLst>
            <p14:sldId id="360"/>
            <p14:sldId id="26651"/>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7177351D-0273-191D-F776-806FD0E72AD9}" name="Sundren Naicker" initials="" userId="S::Sundren.Naicker@det.nsw.edu.au::a553bd6d-fc4b-4438-a461-744bbb36d97b" providerId="AD"/>
  <p188:author id="{95D16B7D-CADB-F2BF-AC29-D680545C75EE}" name="Carrie Webeck" initials="CW" userId="S::CARRIE-ANN.WEBECK@det.nsw.edu.au::e5c4b697-ca15-4f3a-a906-1289ddc2fc07" providerId="AD"/>
  <p188:author id="{CC2CF4BE-5B9A-35CA-4C1B-CB063A10B965}" name="Sundren Naicker" initials="SN" userId="S::sundren.naicker@det.nsw.edu.au::a553bd6d-fc4b-4438-a461-744bbb36d97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9B0C"/>
    <a:srgbClr val="007A8A"/>
    <a:srgbClr val="9B6808"/>
    <a:srgbClr val="427B2D"/>
    <a:srgbClr val="B51458"/>
    <a:srgbClr val="00ACC2"/>
    <a:srgbClr val="64BB47"/>
    <a:srgbClr val="EDF9E0"/>
    <a:srgbClr val="87D830"/>
    <a:srgbClr val="447F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3CF920-0C51-CB6D-0CAC-B9459252F6C4}" v="74" dt="2026-04-30T01:48:35.536"/>
    <p1510:client id="{39C6C025-CDC5-A275-8066-1FE7A7E7C266}" v="29" dt="2026-04-30T00:47:10.142"/>
    <p1510:client id="{49395B0F-7BBA-44FC-8FCA-75DFF4F6DFB2}" v="381" dt="2026-04-29T23:56:38.756"/>
    <p1510:client id="{A4B11385-E3A8-430B-AE96-9C8FD730CD71}" v="196" dt="2026-04-30T23:28:33.550"/>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6" d="100"/>
          <a:sy n="36" d="100"/>
        </p:scale>
        <p:origin x="520" y="48"/>
      </p:cViewPr>
      <p:guideLst>
        <p:guide orient="horz" pos="2160"/>
        <p:guide pos="386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9.fntdata"/><Relationship Id="rId89" Type="http://schemas.openxmlformats.org/officeDocument/2006/relationships/tableStyles" Target="tableStyle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notesMaster" Target="notesMasters/notesMaster1.xml"/><Relationship Id="rId79" Type="http://schemas.openxmlformats.org/officeDocument/2006/relationships/font" Target="fonts/font4.fntdata"/><Relationship Id="rId5" Type="http://schemas.openxmlformats.org/officeDocument/2006/relationships/slide" Target="slides/slide1.xml"/><Relationship Id="rId90" Type="http://schemas.microsoft.com/office/2015/10/relationships/revisionInfo" Target="revisionInfo.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font" Target="fonts/font2.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5.fntdata"/><Relationship Id="rId85" Type="http://schemas.openxmlformats.org/officeDocument/2006/relationships/font" Target="fonts/font10.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theme" Target="theme/theme1.xml"/><Relationship Id="rId9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1.fntdata"/><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viewProps" Target="viewProps.xml"/><Relationship Id="rId61" Type="http://schemas.openxmlformats.org/officeDocument/2006/relationships/slide" Target="slides/slide57.xml"/><Relationship Id="rId82" Type="http://schemas.openxmlformats.org/officeDocument/2006/relationships/font" Target="fonts/font7.fntdata"/><Relationship Id="rId19"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4/05/2026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4/05/2026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2 Year B Unit 31</a:t>
            </a:r>
          </a:p>
          <a:p>
            <a:pPr marL="285750" indent="-285750">
              <a:buFont typeface="Arial" panose="020B0604020202020204" pitchFamily="34" charset="0"/>
              <a:buChar char="•"/>
            </a:pPr>
            <a:r>
              <a:rPr lang="en-AU"/>
              <a:t>Stage 2 Year B Unit 30</a:t>
            </a: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a:t>Stage 2 Year B Unit 29</a:t>
            </a:r>
          </a:p>
          <a:p>
            <a:pPr marL="0" indent="0">
              <a:buFont typeface="Arial" panose="020B0604020202020204" pitchFamily="34" charset="0"/>
              <a:buNone/>
            </a:pPr>
            <a:endParaRPr lang="en-AU"/>
          </a:p>
          <a:p>
            <a:pPr marL="0" indent="0">
              <a:buFont typeface="Arial" panose="020B0604020202020204" pitchFamily="34" charset="0"/>
              <a:buNone/>
            </a:pPr>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titles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9AE2-AF11-68C9-77C3-D6829A7CB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C8E6A-C97E-DFFB-5165-62A92C4A9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F963A-217D-ECF0-F045-7BE367E6408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B</a:t>
            </a:r>
          </a:p>
        </p:txBody>
      </p:sp>
      <p:sp>
        <p:nvSpPr>
          <p:cNvPr id="4" name="Slide Number Placeholder 3">
            <a:extLst>
              <a:ext uri="{FF2B5EF4-FFF2-40B4-BE49-F238E27FC236}">
                <a16:creationId xmlns:a16="http://schemas.microsoft.com/office/drawing/2014/main" id="{7718A2AC-C4E4-C028-96E1-2947B2C6CE8A}"/>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930579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Representing numbers using place value A</a:t>
            </a:r>
            <a:endParaRPr lang="en-AU" b="0"/>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Angles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Three-dimensional spatial structure B: 3D objects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highlight>
                  <a:srgbClr val="FFFFFF"/>
                </a:highlight>
                <a:latin typeface="Arial"/>
                <a:cs typeface="Arial"/>
              </a:rPr>
              <a:t>Three-dimensional spatial structure A: 3D objects</a:t>
            </a:r>
            <a:endParaRPr lang="en-AU">
              <a:latin typeface="Arial"/>
              <a:cs typeface="Arial"/>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This is a developing number sense activity. </a:t>
            </a:r>
            <a:endParaRPr lang="en-US">
              <a:solidFill>
                <a:srgbClr val="444444"/>
              </a:solidFill>
            </a:endParaRPr>
          </a:p>
          <a:p>
            <a:endParaRPr lang="en-AU">
              <a:solidFill>
                <a:srgbClr val="444444"/>
              </a:solidFill>
            </a:endParaRPr>
          </a:p>
          <a:p>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endParaRPr lang="en-AU">
              <a:solidFill>
                <a:srgbClr val="444444"/>
              </a:solidFill>
            </a:endParaRPr>
          </a:p>
          <a:p>
            <a:r>
              <a:rPr lang="en-AU" b="1"/>
              <a:t>Syllabus focus area:</a:t>
            </a:r>
            <a:endParaRPr lang="en-AU">
              <a:solidFill>
                <a:srgbClr val="444444"/>
              </a:solidFill>
            </a:endParaRPr>
          </a:p>
          <a:p>
            <a:r>
              <a:rPr lang="en-AU"/>
              <a:t>Multiplicative relations B</a:t>
            </a:r>
            <a:endParaRPr lang="en-AU">
              <a:solidFill>
                <a:srgbClr val="444444"/>
              </a:solidFill>
            </a:endParaRPr>
          </a:p>
          <a:p>
            <a:endParaRPr lang="en-AU">
              <a:solidFill>
                <a:srgbClr val="444444"/>
              </a:solidFill>
            </a:endParaRPr>
          </a:p>
          <a:p>
            <a:r>
              <a:rPr lang="en-AU" b="1"/>
              <a:t>Number patterns with related multiples of 2 and 3</a:t>
            </a:r>
            <a:endParaRPr lang="en-US">
              <a:solidFill>
                <a:srgbClr val="444444"/>
              </a:solidFill>
            </a:endParaRPr>
          </a:p>
          <a:p>
            <a:endParaRPr lang="en-AU">
              <a:solidFill>
                <a:srgbClr val="444444"/>
              </a:solidFill>
            </a:endParaRPr>
          </a:p>
          <a:p>
            <a:r>
              <a:rPr lang="en-AU"/>
              <a:t>This resource corresponds to Resource 28 – numbers to 30 in Stage 2 Year B Unit 31.</a:t>
            </a:r>
            <a:endParaRPr lang="en-US">
              <a:solidFill>
                <a:srgbClr val="444444"/>
              </a:solidFill>
            </a:endParaRPr>
          </a:p>
          <a:p>
            <a:r>
              <a:rPr lang="en-AU">
                <a:latin typeface="Arial"/>
                <a:cs typeface="Arial"/>
              </a:rPr>
              <a:t> </a:t>
            </a:r>
            <a:endParaRPr lang="en-AU">
              <a:solidFill>
                <a:srgbClr val="444444"/>
              </a:solidFill>
              <a:latin typeface="Arial"/>
              <a:cs typeface="Arial"/>
            </a:endParaRPr>
          </a:p>
          <a:p>
            <a:pPr marL="342900" indent="-342900">
              <a:buAutoNum type="arabicPeriod"/>
            </a:pPr>
            <a:r>
              <a:rPr lang="en-AU"/>
              <a:t>Provide students with a copy of Resource 28 – numbers to 30 and a highlighter or coloured pencils.</a:t>
            </a:r>
            <a:endParaRPr lang="en-US">
              <a:solidFill>
                <a:srgbClr val="444444"/>
              </a:solidFill>
            </a:endParaRPr>
          </a:p>
          <a:p>
            <a:pPr marL="342900" indent="-342900">
              <a:buAutoNum type="arabicPeriod"/>
            </a:pPr>
            <a:r>
              <a:rPr lang="en-AU"/>
              <a:t>Prompt students to generate the multiples of 2 by adding two each time and highlighting the on the number chart.</a:t>
            </a:r>
            <a:endParaRPr lang="en-US">
              <a:solidFill>
                <a:srgbClr val="444444"/>
              </a:solidFill>
            </a:endParaRPr>
          </a:p>
          <a:p>
            <a:pPr marL="342900" indent="-342900">
              <a:buAutoNum type="arabicPeriod"/>
            </a:pPr>
            <a:r>
              <a:rPr lang="en-AU"/>
              <a:t>Repeat with multiples of 4 using a different coloured highlighter or pencil. </a:t>
            </a:r>
            <a:endParaRPr lang="en-US">
              <a:solidFill>
                <a:srgbClr val="444444"/>
              </a:solidFill>
            </a:endParaRPr>
          </a:p>
          <a:p>
            <a:pPr marL="342900" indent="-342900">
              <a:buAutoNum type="arabicPeriod"/>
            </a:pPr>
            <a:r>
              <a:rPr lang="en-AU"/>
              <a:t>Students draw a circle around numbers where both colours are used, to show the related multiples of 2 and 4.</a:t>
            </a:r>
            <a:endParaRPr lang="en-US">
              <a:solidFill>
                <a:srgbClr val="444444"/>
              </a:solidFill>
            </a:endParaRPr>
          </a:p>
          <a:p>
            <a:pPr marL="342900" indent="-342900">
              <a:buAutoNum type="arabicPeriod"/>
            </a:pPr>
            <a:r>
              <a:rPr lang="en-AU"/>
              <a:t>Ask students to record two multiplication facts showing related multiples. For example, 4 x 3 = 12 and 6 x 2 = 12. </a:t>
            </a:r>
            <a:endParaRPr lang="en-US">
              <a:solidFill>
                <a:srgbClr val="444444"/>
              </a:solidFill>
            </a:endParaRPr>
          </a:p>
          <a:p>
            <a:endParaRPr lang="en-AU">
              <a:solidFill>
                <a:srgbClr val="444444"/>
              </a:solidFill>
            </a:endParaRPr>
          </a:p>
          <a:p>
            <a:endParaRPr lang="en-AU" b="1"/>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34366264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i="0">
                <a:solidFill>
                  <a:schemeClr val="tx1"/>
                </a:solidFill>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Representing numbers using place value B</a:t>
            </a:r>
            <a:endParaRPr lang="en-AU" sz="1600" b="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t>Geometric measure B: Angles</a:t>
            </a: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i="0">
                <a:solidFill>
                  <a:schemeClr val="tx1"/>
                </a:solidFill>
                <a:latin typeface="Arial"/>
                <a:cs typeface="Arial"/>
              </a:rPr>
              <a:t>Three-dimensional spatial structure B: 3D objects</a:t>
            </a:r>
            <a:endParaRPr lang="en-AU" sz="1600" i="0">
              <a:solidFill>
                <a:schemeClr val="tx1"/>
              </a:solidFill>
              <a:latin typeface="Arial" panose="020B0604020202020204" pitchFamily="34" charset="0"/>
              <a:cs typeface="Arial" panose="020B0604020202020204" pitchFamily="34" charset="0"/>
            </a:endParaRP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highlight>
                  <a:srgbClr val="FFFFFF"/>
                </a:highlight>
                <a:latin typeface="Arial"/>
                <a:cs typeface="Arial"/>
              </a:rPr>
              <a:t>Two-dimensional spatial structure B: Area</a:t>
            </a:r>
            <a:endParaRPr lang="en-AU">
              <a:latin typeface="Arial"/>
              <a:cs typeface="Arial"/>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latin typeface="Arial"/>
                <a:cs typeface="Arial"/>
              </a:rPr>
              <a:t>Multiplicative relations B</a:t>
            </a:r>
            <a:endParaRPr lang="en-AU"/>
          </a:p>
          <a:p>
            <a:endParaRPr lang="en-AU"/>
          </a:p>
          <a:p>
            <a:r>
              <a:rPr lang="en-AU" b="1">
                <a:latin typeface="Arial"/>
                <a:cs typeface="Arial"/>
              </a:rPr>
              <a:t>Finding multiples of 4</a:t>
            </a:r>
            <a:endParaRPr lang="en-AU" b="1"/>
          </a:p>
          <a:p>
            <a:endParaRPr lang="en-AU" b="1">
              <a:latin typeface="Arial"/>
              <a:cs typeface="Arial"/>
            </a:endParaRPr>
          </a:p>
          <a:p>
            <a:pPr marL="285750" indent="-285750">
              <a:buFont typeface="Arial"/>
              <a:buChar char="•"/>
            </a:pPr>
            <a:r>
              <a:rPr lang="en-AU"/>
              <a:t>Display a number that is a multiple of 4.</a:t>
            </a:r>
          </a:p>
          <a:p>
            <a:pPr marL="285750" indent="-285750">
              <a:buFont typeface="Arial"/>
              <a:buChar char="•"/>
            </a:pPr>
            <a:r>
              <a:rPr lang="en-AU"/>
              <a:t>Say a rule for the number sequence. For example, start at 8 and go up by fours.</a:t>
            </a:r>
          </a:p>
          <a:p>
            <a:pPr marL="285750" indent="-285750">
              <a:buFont typeface="Arial"/>
              <a:buChar char="•"/>
            </a:pPr>
            <a:r>
              <a:rPr lang="en-AU"/>
              <a:t>Students record this starting number in their workbooks and continue the number sequence until told to stop.</a:t>
            </a:r>
          </a:p>
          <a:p>
            <a:pPr marL="285750" indent="-285750">
              <a:buFont typeface="Arial"/>
              <a:buChar char="•"/>
            </a:pPr>
            <a:r>
              <a:rPr lang="en-AU"/>
              <a:t>Seek input from students to record the number sequence on the board.  </a:t>
            </a:r>
          </a:p>
          <a:p>
            <a:pPr marL="285750" indent="-285750">
              <a:buFont typeface="Arial"/>
              <a:buChar char="•"/>
            </a:pPr>
            <a:r>
              <a:rPr lang="en-AU"/>
              <a:t>Ask:</a:t>
            </a:r>
          </a:p>
          <a:p>
            <a:pPr marL="285750" indent="-285750">
              <a:buFont typeface="Arial"/>
              <a:buChar char="•"/>
            </a:pPr>
            <a:r>
              <a:rPr lang="en-AU"/>
              <a:t>What is the first term in this number sequence?</a:t>
            </a:r>
          </a:p>
          <a:p>
            <a:pPr marL="285750" indent="-285750">
              <a:buFont typeface="Arial"/>
              <a:buChar char="•"/>
            </a:pPr>
            <a:r>
              <a:rPr lang="en-AU"/>
              <a:t>Can you describe any patterns in the sequence?</a:t>
            </a:r>
          </a:p>
          <a:p>
            <a:pPr marL="285750" indent="-285750">
              <a:buFont typeface="Arial"/>
              <a:buChar char="•"/>
            </a:pPr>
            <a:r>
              <a:rPr lang="en-AU"/>
              <a:t>What will be the tenth term and the twentieth term in this number sequence?</a:t>
            </a:r>
          </a:p>
          <a:p>
            <a:pPr marL="285750" indent="-285750">
              <a:buFont typeface="Arial"/>
              <a:buChar char="•"/>
            </a:pPr>
            <a:r>
              <a:rPr lang="en-AU"/>
              <a:t>What multiple is used in this number sequence?</a:t>
            </a:r>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0149-0CB0-EDDD-5B08-8F680C7A7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2F04F-A596-FC76-5186-7631AA37E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0421AD-6A32-B849-3496-F3785A5CCA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B</a:t>
            </a:r>
          </a:p>
        </p:txBody>
      </p:sp>
      <p:sp>
        <p:nvSpPr>
          <p:cNvPr id="4" name="Slide Number Placeholder 3">
            <a:extLst>
              <a:ext uri="{FF2B5EF4-FFF2-40B4-BE49-F238E27FC236}">
                <a16:creationId xmlns:a16="http://schemas.microsoft.com/office/drawing/2014/main" id="{AA748202-3E97-0613-B01D-37F69F9E7D13}"/>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252705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Representing numbers using place value B</a:t>
            </a:r>
            <a:endParaRPr lang="en-AU" b="0"/>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t>Geometric measure B: Angles</a:t>
            </a: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Three-dimensional spatial structure B: 3D objects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B: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a:t>This is a developing number sense activity. </a:t>
            </a:r>
          </a:p>
          <a:p>
            <a:endParaRPr lang="en-AU"/>
          </a:p>
          <a:p>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latin typeface="Arial"/>
                <a:cs typeface="Arial"/>
              </a:rPr>
              <a:t>Multiplicative relations B</a:t>
            </a:r>
            <a:endParaRPr lang="en-AU"/>
          </a:p>
          <a:p>
            <a:endParaRPr lang="en-AU"/>
          </a:p>
          <a:p>
            <a:r>
              <a:rPr lang="en-AU" b="1">
                <a:latin typeface="Arial"/>
                <a:cs typeface="Arial"/>
              </a:rPr>
              <a:t>Investigating related multiples in a 100 grid</a:t>
            </a:r>
          </a:p>
          <a:p>
            <a:endParaRPr lang="en-AU" b="1"/>
          </a:p>
          <a:p>
            <a:r>
              <a:rPr lang="en-AU" b="0">
                <a:latin typeface="Arial"/>
                <a:cs typeface="Arial"/>
              </a:rPr>
              <a:t>This resource corresponds to Resource </a:t>
            </a:r>
            <a:r>
              <a:rPr lang="en-AU">
                <a:latin typeface="Arial"/>
                <a:cs typeface="Arial"/>
              </a:rPr>
              <a:t>28 </a:t>
            </a:r>
            <a:r>
              <a:rPr lang="en-AU" b="0">
                <a:latin typeface="Arial"/>
                <a:cs typeface="Arial"/>
              </a:rPr>
              <a:t>– </a:t>
            </a:r>
            <a:r>
              <a:rPr lang="en-AU">
                <a:latin typeface="Arial"/>
                <a:cs typeface="Arial"/>
              </a:rPr>
              <a:t>number chart </a:t>
            </a:r>
            <a:r>
              <a:rPr lang="en-AU" b="0">
                <a:latin typeface="Arial"/>
                <a:cs typeface="Arial"/>
              </a:rPr>
              <a:t>in Stage </a:t>
            </a:r>
            <a:r>
              <a:rPr lang="en-AU">
                <a:latin typeface="Arial"/>
                <a:cs typeface="Arial"/>
              </a:rPr>
              <a:t>2 Year</a:t>
            </a:r>
            <a:r>
              <a:rPr lang="en-AU" b="0">
                <a:latin typeface="Arial"/>
                <a:cs typeface="Arial"/>
              </a:rPr>
              <a:t> B Unit </a:t>
            </a:r>
            <a:r>
              <a:rPr lang="en-AU">
                <a:latin typeface="Arial"/>
                <a:cs typeface="Arial"/>
              </a:rPr>
              <a:t>31</a:t>
            </a:r>
            <a:r>
              <a:rPr lang="en-AU" b="0">
                <a:latin typeface="Arial"/>
                <a:cs typeface="Arial"/>
              </a:rPr>
              <a:t>. </a:t>
            </a:r>
          </a:p>
          <a:p>
            <a:pPr marL="0" indent="0">
              <a:buNone/>
            </a:pPr>
            <a:endParaRPr lang="en-AU">
              <a:latin typeface="Arial"/>
              <a:cs typeface="Arial"/>
            </a:endParaRPr>
          </a:p>
          <a:p>
            <a:pPr marL="342900" indent="-342900">
              <a:buAutoNum type="arabicPeriod"/>
            </a:pPr>
            <a:r>
              <a:rPr lang="en-AU">
                <a:latin typeface="Arial"/>
                <a:cs typeface="Arial"/>
              </a:rPr>
              <a:t>Explain that this is a 100 grid with some numbers shaded in yellow, blue and green.</a:t>
            </a:r>
          </a:p>
          <a:p>
            <a:pPr marL="342900" indent="-342900">
              <a:buFontTx/>
              <a:buAutoNum type="arabicPeriod"/>
            </a:pPr>
            <a:r>
              <a:rPr lang="en-AU"/>
              <a:t>Ask the students the following:</a:t>
            </a:r>
          </a:p>
          <a:p>
            <a:pPr marL="342900" indent="-342900">
              <a:buAutoNum type="arabicPeriod"/>
            </a:pPr>
            <a:endParaRPr lang="en-AU">
              <a:latin typeface="Arial"/>
              <a:cs typeface="Arial"/>
            </a:endParaRPr>
          </a:p>
          <a:p>
            <a:r>
              <a:rPr lang="en-AU">
                <a:latin typeface="Arial"/>
                <a:cs typeface="Arial"/>
              </a:rPr>
              <a:t>  - What do all the colours shaded in yellow have in common?</a:t>
            </a:r>
          </a:p>
          <a:p>
            <a:r>
              <a:rPr lang="en-AU">
                <a:latin typeface="Arial"/>
                <a:cs typeface="Arial"/>
              </a:rPr>
              <a:t>  - What do you notice about all the numbers shaded in blue?</a:t>
            </a:r>
          </a:p>
          <a:p>
            <a:r>
              <a:rPr lang="en-AU">
                <a:latin typeface="Arial"/>
                <a:cs typeface="Arial"/>
              </a:rPr>
              <a:t>  - Can you think of a reason why there are some numbers shaded in green?</a:t>
            </a:r>
          </a:p>
          <a:p>
            <a:endParaRPr lang="en-AU">
              <a:latin typeface="Arial"/>
              <a:cs typeface="Arial"/>
            </a:endParaRPr>
          </a:p>
          <a:p>
            <a:r>
              <a:rPr lang="en-AU">
                <a:latin typeface="Arial"/>
                <a:cs typeface="Arial"/>
              </a:rPr>
              <a:t>4. Students turn and talk to discuss the questions and share their answers with the class. For example, yellow numbers are multiples of 6, blue numbers are multiples of 5 and green numbers are multiples of both 6 and 5.</a:t>
            </a:r>
          </a:p>
          <a:p>
            <a:endParaRPr lang="en-AU"/>
          </a:p>
          <a:p>
            <a:endParaRPr lang="en-AU" b="1"/>
          </a:p>
          <a:p>
            <a:pPr marL="342900" indent="-342900">
              <a:buAutoNum type="arabicPeriod"/>
            </a:pPr>
            <a:endParaRPr lang="en-AU"/>
          </a:p>
          <a:p>
            <a:endParaRPr lang="en-AU" b="1"/>
          </a:p>
          <a:p>
            <a:pPr marL="342900" indent="-342900">
              <a:buAutoNum type="arabicPeriod"/>
            </a:pPr>
            <a:endParaRPr lang="en-AU"/>
          </a:p>
          <a:p>
            <a:endParaRPr lang="en-AU"/>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p>
          <a:p>
            <a:pPr>
              <a:defRPr/>
            </a:pPr>
            <a:endParaRPr lang="en-AU" b="1">
              <a:latin typeface="Arial"/>
              <a:cs typeface="Arial"/>
            </a:endParaRPr>
          </a:p>
          <a:p>
            <a:pPr>
              <a:defRPr/>
            </a:pPr>
            <a:r>
              <a:rPr lang="en-AU" b="0">
                <a:solidFill>
                  <a:srgbClr val="444444"/>
                </a:solidFill>
                <a:latin typeface="Arial"/>
                <a:cs typeface="Arial"/>
              </a:rPr>
              <a:t>Multiplicative relations B</a:t>
            </a:r>
            <a:endParaRPr lang="en-US" b="0">
              <a:solidFill>
                <a:srgbClr val="444444"/>
              </a:solidFill>
              <a:latin typeface="Arial"/>
              <a:cs typeface="Arial"/>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i="0" kern="1200">
                <a:solidFill>
                  <a:schemeClr val="tx1"/>
                </a:solidFill>
                <a:effectLst/>
                <a:latin typeface="Arial" panose="020B0604020202020204" pitchFamily="34" charset="0"/>
                <a:ea typeface="+mn-ea"/>
                <a:cs typeface="Arial" panose="020B0604020202020204" pitchFamily="34" charset="0"/>
              </a:rPr>
              <a:t>Representing numbers using place value B</a:t>
            </a:r>
            <a:endParaRPr lang="en-AU" b="0"/>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t>Geometric measure B: Angles</a:t>
            </a: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Three-dimensional spatial structure B: 3D objects</a:t>
            </a:r>
            <a:endParaRPr lang="en-AU" b="1"/>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Position</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t>This is a developing number sense activity. </a:t>
            </a:r>
          </a:p>
          <a:p>
            <a:endParaRPr lang="en-AU"/>
          </a:p>
          <a:p>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latin typeface="Arial"/>
                <a:cs typeface="Arial"/>
              </a:rPr>
              <a:t>Multiplicative relations B</a:t>
            </a:r>
          </a:p>
          <a:p>
            <a:endParaRPr lang="en-AU"/>
          </a:p>
          <a:p>
            <a:r>
              <a:rPr lang="en-AU" b="1">
                <a:latin typeface="Arial"/>
                <a:cs typeface="Arial"/>
              </a:rPr>
              <a:t>Applying doubles to connect multiples of 3 to 6 and 4 to 8</a:t>
            </a:r>
          </a:p>
          <a:p>
            <a:pPr marL="0" indent="0">
              <a:buNone/>
            </a:pPr>
            <a:endParaRPr lang="en-AU"/>
          </a:p>
          <a:p>
            <a:pPr marL="342900" indent="-342900">
              <a:buAutoNum type="arabicPeriod"/>
            </a:pPr>
            <a:r>
              <a:rPr lang="en-AU"/>
              <a:t>Ask students to double each number to make a multiple of 6 using a choral response. Write student responses next to each number (6, 12, 18, 24, 30). </a:t>
            </a:r>
          </a:p>
          <a:p>
            <a:pPr marL="342900" indent="-342900">
              <a:buAutoNum type="arabicPeriod"/>
            </a:pPr>
            <a:r>
              <a:rPr lang="en-AU"/>
              <a:t>Repeat by writing multiples of 4 on the board: 4, 8, 12, 16, 20</a:t>
            </a:r>
          </a:p>
          <a:p>
            <a:pPr marL="342900" indent="-342900">
              <a:buAutoNum type="arabicPeriod"/>
            </a:pPr>
            <a:r>
              <a:rPr lang="en-AU"/>
              <a:t>Ask students to double each number to make a multiple of 8 using a choral response. Write student responses next to each number (8, 16, 24, 32, 40). </a:t>
            </a:r>
          </a:p>
          <a:p>
            <a:pPr marL="342900" indent="-342900">
              <a:buAutoNum type="arabicPeriod"/>
            </a:pPr>
            <a:r>
              <a:rPr lang="en-AU"/>
              <a:t>Students turn and talk to discuss what pattern they notice (doubling multiples of 3 gives multiples of 6 and doubling multiples of 4 gives multiples of 8).</a:t>
            </a:r>
          </a:p>
          <a:p>
            <a:pPr marL="342900" indent="-342900">
              <a:buAutoNum type="arabicPeriod"/>
            </a:pPr>
            <a:endParaRPr lang="en-AU" b="1"/>
          </a:p>
          <a:p>
            <a:endParaRPr lang="en-AU" b="1"/>
          </a:p>
          <a:p>
            <a:endParaRPr lang="en-AU"/>
          </a:p>
          <a:p>
            <a:endParaRPr lang="en-AU" b="1"/>
          </a:p>
          <a:p>
            <a:pPr marL="342900" indent="-342900">
              <a:buFont typeface="Calibri Light" panose="020F0302020204030204"/>
              <a:buAutoNum type="arabicPeriod"/>
            </a:pPr>
            <a:endParaRPr lang="en-AU"/>
          </a:p>
          <a:p>
            <a:endParaRPr lang="en-AU" b="1"/>
          </a:p>
          <a:p>
            <a:pPr marL="342900" indent="-342900">
              <a:buFont typeface="Calibri Light" panose="020F0302020204030204"/>
              <a:buAutoNum type="arabicPeriod"/>
            </a:pPr>
            <a:endParaRPr lang="en-AU"/>
          </a:p>
          <a:p>
            <a:endParaRPr lang="en-AU"/>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400-E3D3-5DB9-3231-CF9D926D0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1941-A7DF-1C2B-AF2A-1BD6E822F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2D55-0375-2479-87D5-2C065D44191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B</a:t>
            </a:r>
          </a:p>
        </p:txBody>
      </p:sp>
      <p:sp>
        <p:nvSpPr>
          <p:cNvPr id="4" name="Slide Number Placeholder 3">
            <a:extLst>
              <a:ext uri="{FF2B5EF4-FFF2-40B4-BE49-F238E27FC236}">
                <a16:creationId xmlns:a16="http://schemas.microsoft.com/office/drawing/2014/main" id="{044AEEB2-E6E4-DE0F-D21D-574CB90AF6F6}"/>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31808349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i="0" kern="1200">
                <a:solidFill>
                  <a:schemeClr val="tx1"/>
                </a:solidFill>
                <a:effectLst/>
                <a:latin typeface="Arial" panose="020B0604020202020204" pitchFamily="34" charset="0"/>
                <a:ea typeface="+mn-ea"/>
                <a:cs typeface="Arial" panose="020B0604020202020204" pitchFamily="34" charset="0"/>
              </a:rPr>
              <a:t>Representing numbers using place value B</a:t>
            </a:r>
            <a:endParaRPr lang="en-AU" b="0"/>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Three-dimensional spatial structure A: Volume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Position</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latin typeface="Arial"/>
                <a:cs typeface="Arial"/>
              </a:rPr>
              <a:t>Multiplicative relations B</a:t>
            </a:r>
            <a:endParaRPr lang="en-AU"/>
          </a:p>
          <a:p>
            <a:endParaRPr lang="en-AU">
              <a:latin typeface="Arial"/>
              <a:cs typeface="Arial"/>
            </a:endParaRPr>
          </a:p>
          <a:p>
            <a:r>
              <a:rPr lang="en-AU" b="1">
                <a:latin typeface="Arial"/>
                <a:cs typeface="Arial"/>
              </a:rPr>
              <a:t>Using multiplication and division to solve problems</a:t>
            </a:r>
            <a:r>
              <a:rPr lang="en-AU">
                <a:latin typeface="Arial"/>
                <a:cs typeface="Arial"/>
              </a:rPr>
              <a:t> </a:t>
            </a:r>
          </a:p>
          <a:p>
            <a:pPr marL="342900" indent="-342900">
              <a:buAutoNum type="arabicPeriod"/>
            </a:pPr>
            <a:endParaRPr lang="en-AU" b="0"/>
          </a:p>
          <a:p>
            <a:pPr marL="342900" indent="-342900">
              <a:buAutoNum type="arabicPeriod"/>
            </a:pPr>
            <a:r>
              <a:rPr lang="en-AU">
                <a:latin typeface="Arial"/>
                <a:cs typeface="Arial"/>
              </a:rPr>
              <a:t>Explain that they will be using multiplication and division to solve some problems. </a:t>
            </a:r>
          </a:p>
          <a:p>
            <a:r>
              <a:rPr lang="en-AU">
                <a:latin typeface="Arial"/>
                <a:cs typeface="Arial"/>
              </a:rPr>
              <a:t>   (Note: this activity is an adaptation of Solving Multiplication and Division Word Problems from SAS by Commonwealth of Pennsylvania.)</a:t>
            </a:r>
            <a:endParaRPr lang="en-AU"/>
          </a:p>
          <a:p>
            <a:r>
              <a:rPr lang="en-AU">
                <a:latin typeface="Arial"/>
                <a:cs typeface="Arial"/>
              </a:rPr>
              <a:t>2.     Read the following problem to the students: Volleyball is played in teams of 6. There were enough players to make 3 teams. How many players</a:t>
            </a:r>
          </a:p>
          <a:p>
            <a:r>
              <a:rPr lang="en-AU">
                <a:latin typeface="Arial"/>
                <a:cs typeface="Arial"/>
              </a:rPr>
              <a:t>        are there altogether?</a:t>
            </a:r>
            <a:endParaRPr lang="en-AU"/>
          </a:p>
          <a:p>
            <a:r>
              <a:rPr lang="en-AU">
                <a:latin typeface="Arial"/>
                <a:cs typeface="Arial"/>
              </a:rPr>
              <a:t>3.     Students turn and talk how they would solve this problem and share this with the class. </a:t>
            </a:r>
            <a:r>
              <a:rPr lang="en-AU" b="1">
                <a:latin typeface="Arial"/>
                <a:cs typeface="Arial"/>
              </a:rPr>
              <a:t>Ask</a:t>
            </a:r>
            <a:r>
              <a:rPr lang="en-AU">
                <a:latin typeface="Arial"/>
                <a:cs typeface="Arial"/>
              </a:rPr>
              <a:t>:</a:t>
            </a:r>
          </a:p>
          <a:p>
            <a:pPr marL="551815" lvl="1" indent="-285750">
              <a:buFont typeface="Arial"/>
              <a:buChar char="•"/>
            </a:pPr>
            <a:r>
              <a:rPr lang="en-AU"/>
              <a:t>How many teams are there?</a:t>
            </a:r>
          </a:p>
          <a:p>
            <a:pPr marL="551815" lvl="1" indent="-285750">
              <a:buFont typeface="Arial"/>
              <a:buChar char="•"/>
            </a:pPr>
            <a:r>
              <a:rPr lang="en-AU"/>
              <a:t>How many players does each team have?</a:t>
            </a:r>
          </a:p>
          <a:p>
            <a:pPr marL="342900" indent="-342900">
              <a:buAutoNum type="arabicPeriod"/>
            </a:pPr>
            <a:endParaRPr lang="en-AU" b="1"/>
          </a:p>
          <a:p>
            <a:pPr marL="342900" indent="-342900">
              <a:buAutoNum type="arabicPeriod"/>
            </a:pPr>
            <a:endParaRPr lang="en-AU"/>
          </a:p>
          <a:p>
            <a:pPr marL="342900" indent="-342900">
              <a:buAutoNum type="arabicPeriod"/>
            </a:pPr>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i="0">
                <a:solidFill>
                  <a:schemeClr val="tx1"/>
                </a:solidFill>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i="0" kern="1200">
                <a:solidFill>
                  <a:schemeClr val="tx1"/>
                </a:solidFill>
                <a:effectLst/>
                <a:latin typeface="Arial" panose="020B0604020202020204" pitchFamily="34" charset="0"/>
                <a:ea typeface="+mn-ea"/>
                <a:cs typeface="Arial" panose="020B0604020202020204" pitchFamily="34" charset="0"/>
              </a:rPr>
              <a:t>Representing numbers using place value B</a:t>
            </a:r>
            <a:endParaRPr lang="en-AU" b="0"/>
          </a:p>
          <a:p>
            <a:endParaRPr lang="en-AU" b="1"/>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t>Non-spatial measure A: Time</a:t>
            </a: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i="0">
                <a:solidFill>
                  <a:schemeClr val="tx1"/>
                </a:solidFill>
                <a:latin typeface="Arial"/>
                <a:cs typeface="Arial"/>
              </a:rPr>
              <a:t>Three-dimensional spatial structure B: Volume</a:t>
            </a:r>
            <a:endParaRPr lang="en-AU" sz="1600" i="0">
              <a:solidFill>
                <a:schemeClr val="tx1"/>
              </a:solidFill>
              <a:latin typeface="Arial" panose="020B0604020202020204" pitchFamily="34" charset="0"/>
              <a:cs typeface="Arial" panose="020B0604020202020204" pitchFamily="34" charset="0"/>
            </a:endParaRP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Three-dimensional spatial structure A: Volume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B</a:t>
            </a:r>
          </a:p>
          <a:p>
            <a:endParaRPr lang="en-AU"/>
          </a:p>
          <a:p>
            <a:r>
              <a:rPr lang="en-AU" b="1">
                <a:latin typeface="Arial"/>
                <a:cs typeface="Arial"/>
              </a:rPr>
              <a:t>Using multiplication and division to solve problems 2</a:t>
            </a:r>
          </a:p>
          <a:p>
            <a:r>
              <a:rPr lang="en-AU">
                <a:latin typeface="Arial"/>
                <a:cs typeface="Arial"/>
              </a:rPr>
              <a:t>This activity is an adaptation of Solving Multiplication and Division Word Problems from SAS by Commonwealth of Pennsylvania</a:t>
            </a:r>
            <a:r>
              <a:rPr lang="en-AU" b="1">
                <a:latin typeface="Arial"/>
                <a:cs typeface="Arial"/>
              </a:rPr>
              <a:t>.</a:t>
            </a:r>
            <a:endParaRPr lang="en-AU">
              <a:latin typeface="Arial"/>
              <a:cs typeface="Arial"/>
            </a:endParaRPr>
          </a:p>
          <a:p>
            <a:pPr marL="342900" indent="-342900">
              <a:buAutoNum type="arabicPeriod"/>
            </a:pPr>
            <a:r>
              <a:rPr lang="en-AU"/>
              <a:t>Explain that you are going to change the problem: If there are 3 teams, 18 people are playing and there are an equal number of people in each team, how many people are in each team?</a:t>
            </a:r>
          </a:p>
          <a:p>
            <a:pPr marL="342900" indent="-342900">
              <a:buAutoNum type="arabicPeriod"/>
            </a:pPr>
            <a:r>
              <a:rPr lang="en-AU"/>
              <a:t>Students turn and talk to discuss how to solve the problem.</a:t>
            </a:r>
          </a:p>
          <a:p>
            <a:r>
              <a:rPr lang="en-AU" b="1">
                <a:latin typeface="Arial"/>
                <a:cs typeface="Arial"/>
              </a:rPr>
              <a:t>   Note:</a:t>
            </a:r>
            <a:r>
              <a:rPr lang="en-AU">
                <a:latin typeface="Arial"/>
                <a:cs typeface="Arial"/>
              </a:rPr>
              <a:t> linking multiplication and division is an important understanding for students by the end of Stage 2. They should come to realise that</a:t>
            </a:r>
          </a:p>
          <a:p>
            <a:r>
              <a:rPr lang="en-AU">
                <a:latin typeface="Arial"/>
                <a:cs typeface="Arial"/>
              </a:rPr>
              <a:t>   division 'undoes' multiplication and multiplication 'undoes' division. Students use multiplication facts to divide, for example 35 ÷ 7 = is the same</a:t>
            </a:r>
            <a:endParaRPr lang="en-AU"/>
          </a:p>
          <a:p>
            <a:r>
              <a:rPr lang="en-AU">
                <a:latin typeface="Arial"/>
                <a:cs typeface="Arial"/>
              </a:rPr>
              <a:t>      as  _ × 7 = 35. They should be encouraged to check the answer to a division question by multiplying their answer by the divisor.</a:t>
            </a:r>
            <a:endParaRPr lang="en-AU"/>
          </a:p>
          <a:p>
            <a:endParaRPr lang="en-AU"/>
          </a:p>
          <a:p>
            <a:r>
              <a:rPr lang="en-AU">
                <a:latin typeface="Arial"/>
                <a:cs typeface="Arial"/>
              </a:rPr>
              <a:t>4.  Discuss what students noticed when solving the problem. For example, the inverse relationship between 18 ÷ 3 = 6 and 3 x 6 = 18 by asking:</a:t>
            </a:r>
            <a:endParaRPr lang="en-AU"/>
          </a:p>
          <a:p>
            <a:r>
              <a:rPr lang="en-AU">
                <a:latin typeface="Arial"/>
                <a:cs typeface="Arial"/>
              </a:rPr>
              <a:t>  - How did you know what operation to use?</a:t>
            </a:r>
          </a:p>
          <a:p>
            <a:r>
              <a:rPr lang="en-AU">
                <a:latin typeface="Arial"/>
                <a:cs typeface="Arial"/>
              </a:rPr>
              <a:t>  - How do you know when you should multiply or divide a problem?</a:t>
            </a:r>
          </a:p>
          <a:p>
            <a:endParaRPr lang="en-AU"/>
          </a:p>
          <a:p>
            <a:endParaRPr lang="en-AU" b="1"/>
          </a:p>
          <a:p>
            <a:endParaRPr lang="en-AU"/>
          </a:p>
          <a:p>
            <a:endParaRPr lang="en-AU" b="1"/>
          </a:p>
          <a:p>
            <a:pPr marL="342900" indent="-342900">
              <a:buAutoNum type="arabicPeriod"/>
            </a:pPr>
            <a:endParaRPr lang="en-AU"/>
          </a:p>
          <a:p>
            <a:endParaRPr lang="en-AU" b="1"/>
          </a:p>
          <a:p>
            <a:pPr marL="342900" indent="-342900">
              <a:buAutoNum type="arabicPeriod"/>
            </a:pPr>
            <a:endParaRPr lang="en-AU"/>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0B2C2-56ED-F4C7-04D9-00C4FB5F65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1568A8-C088-49AE-3548-341C78A6B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B8EBC4-5740-59C4-17D3-662AAFE4516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B</a:t>
            </a:r>
          </a:p>
        </p:txBody>
      </p:sp>
      <p:sp>
        <p:nvSpPr>
          <p:cNvPr id="4" name="Slide Number Placeholder 3">
            <a:extLst>
              <a:ext uri="{FF2B5EF4-FFF2-40B4-BE49-F238E27FC236}">
                <a16:creationId xmlns:a16="http://schemas.microsoft.com/office/drawing/2014/main" id="{F1CC597E-188F-1091-E0DB-50B50F81B5D5}"/>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43181859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t>Non-spatial measure B: Time</a:t>
            </a: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i="0">
                <a:solidFill>
                  <a:schemeClr val="tx1"/>
                </a:solidFill>
                <a:latin typeface="Arial"/>
                <a:cs typeface="Arial"/>
              </a:rPr>
              <a:t>Three-dimensional spatial structure B: Volume</a:t>
            </a:r>
            <a:endParaRPr lang="en-AU" sz="1600" i="0">
              <a:solidFill>
                <a:schemeClr val="tx1"/>
              </a:solidFill>
              <a:latin typeface="Arial" panose="020B0604020202020204" pitchFamily="34" charset="0"/>
              <a:cs typeface="Arial" panose="020B0604020202020204" pitchFamily="34" charset="0"/>
            </a:endParaRPr>
          </a:p>
          <a:p>
            <a:endParaRPr lang="en-AU" b="1"/>
          </a:p>
          <a:p>
            <a:pPr>
              <a:defRPr/>
            </a:pPr>
            <a:endParaRPr lang="en-AU"/>
          </a:p>
          <a:p>
            <a:pPr>
              <a:defRPr/>
            </a:pPr>
            <a:endParaRPr lang="en-AU"/>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Three-dimensional spatial structure A: Volume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latin typeface="Arial"/>
                <a:cs typeface="Arial"/>
              </a:rPr>
              <a:t>Syllabus focus area:</a:t>
            </a:r>
          </a:p>
          <a:p>
            <a:r>
              <a:rPr lang="en-AU">
                <a:latin typeface="Arial"/>
                <a:cs typeface="Arial"/>
              </a:rPr>
              <a:t>Multiplicative relations B</a:t>
            </a:r>
            <a:endParaRPr lang="en-AU"/>
          </a:p>
          <a:p>
            <a:endParaRPr lang="en-AU"/>
          </a:p>
          <a:p>
            <a:r>
              <a:rPr lang="en-AU" b="1">
                <a:latin typeface="Arial"/>
                <a:cs typeface="Arial"/>
              </a:rPr>
              <a:t>Using number sentences to solve multiplicative word problems</a:t>
            </a:r>
            <a:endParaRPr lang="en-AU">
              <a:latin typeface="Arial"/>
              <a:cs typeface="Arial"/>
            </a:endParaRPr>
          </a:p>
          <a:p>
            <a:endParaRPr lang="en-AU" b="1"/>
          </a:p>
          <a:p>
            <a:pPr marL="342900" indent="-342900">
              <a:buAutoNum type="arabicPeriod"/>
            </a:pPr>
            <a:r>
              <a:rPr lang="en-AU">
                <a:latin typeface="Arial"/>
                <a:cs typeface="Arial"/>
              </a:rPr>
              <a:t>Students turn and talk to find the missing numbers. </a:t>
            </a:r>
          </a:p>
          <a:p>
            <a:pPr marL="342900" indent="-342900">
              <a:buAutoNum type="arabicPeriod"/>
            </a:pPr>
            <a:r>
              <a:rPr lang="en-AU">
                <a:latin typeface="Arial"/>
                <a:cs typeface="Arial"/>
              </a:rPr>
              <a:t>Seek input from students to write the missing number. (4).</a:t>
            </a:r>
          </a:p>
          <a:p>
            <a:pPr marL="342900" indent="-342900">
              <a:buAutoNum type="arabicPeriod"/>
            </a:pPr>
            <a:r>
              <a:rPr lang="en-AU">
                <a:latin typeface="Arial"/>
                <a:cs typeface="Arial"/>
              </a:rPr>
              <a:t>Display the following problem: I buy 7 chocolates and the total cost is $28. What is the cost of each chocolate? </a:t>
            </a:r>
          </a:p>
          <a:p>
            <a:pPr marL="342900" indent="-342900">
              <a:buAutoNum type="arabicPeriod"/>
            </a:pPr>
            <a:r>
              <a:rPr lang="en-AU">
                <a:latin typeface="Arial"/>
                <a:cs typeface="Arial"/>
              </a:rPr>
              <a:t>Prompt students to write a number sentence on a whiteboard to represent the problem. This can be represented as 7 x 4 = 28 or 28 ÷ 7 = 4. </a:t>
            </a:r>
          </a:p>
          <a:p>
            <a:pPr marL="342900" indent="-342900">
              <a:buAutoNum type="arabicPeriod"/>
            </a:pPr>
            <a:r>
              <a:rPr lang="en-AU">
                <a:latin typeface="Arial"/>
                <a:cs typeface="Arial"/>
              </a:rPr>
              <a:t>Students turn and talk to discuss how they solved the problem. </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i="0">
                <a:solidFill>
                  <a:schemeClr val="tx1"/>
                </a:solidFill>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a:highlight>
                  <a:srgbClr val="FFFF00"/>
                </a:highlight>
                <a:latin typeface="Arial"/>
                <a:cs typeface="Arial"/>
              </a:rPr>
              <a:t>Multiplicative relations B</a:t>
            </a:r>
          </a:p>
          <a:p>
            <a:endParaRPr lang="en-AU" b="1"/>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B: Time</a:t>
            </a:r>
            <a:endParaRPr lang="en-AU" sz="1600" i="0">
              <a:solidFill>
                <a:schemeClr val="tx1"/>
              </a:solidFill>
              <a:latin typeface="Arial"/>
              <a:cs typeface="Arial"/>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i="0">
                <a:solidFill>
                  <a:schemeClr val="tx1"/>
                </a:solidFill>
                <a:latin typeface="Arial"/>
                <a:cs typeface="Arial"/>
              </a:rPr>
              <a:t>Three-dimensional spatial structure B: Volume</a:t>
            </a:r>
            <a:endParaRPr lang="en-AU" sz="1600" i="0">
              <a:solidFill>
                <a:schemeClr val="tx1"/>
              </a:solidFill>
              <a:latin typeface="Arial" panose="020B0604020202020204" pitchFamily="34" charset="0"/>
              <a:cs typeface="Arial" panose="020B0604020202020204" pitchFamily="34" charset="0"/>
            </a:endParaRP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Non-spatial measure B: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latin typeface="Arial"/>
                <a:cs typeface="Arial"/>
              </a:rPr>
              <a:t>Multiplicative relations B</a:t>
            </a:r>
          </a:p>
          <a:p>
            <a:endParaRPr lang="en-AU"/>
          </a:p>
          <a:p>
            <a:r>
              <a:rPr lang="en-AU" b="1"/>
              <a:t>Fact families</a:t>
            </a:r>
          </a:p>
          <a:p>
            <a:r>
              <a:rPr lang="en-AU" b="0">
                <a:latin typeface="Arial"/>
                <a:cs typeface="Arial"/>
              </a:rPr>
              <a:t>This resource corresponds to Resource </a:t>
            </a:r>
            <a:r>
              <a:rPr lang="en-AU">
                <a:latin typeface="Arial"/>
                <a:cs typeface="Arial"/>
              </a:rPr>
              <a:t>29 </a:t>
            </a:r>
            <a:r>
              <a:rPr lang="en-AU" b="0">
                <a:latin typeface="Arial"/>
                <a:cs typeface="Arial"/>
              </a:rPr>
              <a:t>– </a:t>
            </a:r>
            <a:r>
              <a:rPr lang="en-AU">
                <a:latin typeface="Arial"/>
                <a:cs typeface="Arial"/>
              </a:rPr>
              <a:t>fact families in</a:t>
            </a:r>
            <a:r>
              <a:rPr lang="en-AU" b="0">
                <a:latin typeface="Arial"/>
                <a:cs typeface="Arial"/>
              </a:rPr>
              <a:t> Stage </a:t>
            </a:r>
            <a:r>
              <a:rPr lang="en-AU">
                <a:latin typeface="Arial"/>
                <a:cs typeface="Arial"/>
              </a:rPr>
              <a:t>2 </a:t>
            </a:r>
            <a:r>
              <a:rPr lang="en-AU" b="0">
                <a:latin typeface="Arial"/>
                <a:cs typeface="Arial"/>
              </a:rPr>
              <a:t>Year B Unit </a:t>
            </a:r>
            <a:r>
              <a:rPr lang="en-AU">
                <a:latin typeface="Arial"/>
                <a:cs typeface="Arial"/>
              </a:rPr>
              <a:t>31</a:t>
            </a:r>
            <a:r>
              <a:rPr lang="en-AU" b="0">
                <a:latin typeface="Arial"/>
                <a:cs typeface="Arial"/>
              </a:rPr>
              <a:t>. </a:t>
            </a:r>
          </a:p>
          <a:p>
            <a:endParaRPr lang="en-AU" b="0">
              <a:latin typeface="Arial"/>
              <a:cs typeface="Arial"/>
            </a:endParaRP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Remind students</a:t>
            </a:r>
            <a:r>
              <a:rPr lang="en-AU" sz="1600" b="1" kern="1200">
                <a:solidFill>
                  <a:schemeClr val="tx1"/>
                </a:solidFill>
                <a:effectLst/>
                <a:latin typeface="Arial" panose="020B0604020202020204" pitchFamily="34" charset="0"/>
                <a:ea typeface="+mn-ea"/>
                <a:cs typeface="Arial" panose="020B0604020202020204" pitchFamily="34" charset="0"/>
              </a:rPr>
              <a:t> </a:t>
            </a:r>
            <a:r>
              <a:rPr lang="en-AU" sz="1600" kern="1200">
                <a:solidFill>
                  <a:schemeClr val="tx1"/>
                </a:solidFill>
                <a:effectLst/>
                <a:latin typeface="Arial" panose="020B0604020202020204" pitchFamily="34" charset="0"/>
                <a:ea typeface="+mn-ea"/>
                <a:cs typeface="Arial" panose="020B0604020202020204" pitchFamily="34" charset="0"/>
              </a:rPr>
              <a:t>that fact family triangles show groups of related multiplication and division facts. The numbers that sit on the corners of the triangle can be used to create 4 different number sentences, 2 multiplication sentences and 2 division sentences.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Refer to the first fact family triangle to solve as a class and represent all related facts (see Figure 19).</a:t>
            </a:r>
          </a:p>
          <a:p>
            <a:pPr marL="342900" marR="0" lvl="0" indent="-342900" algn="l" defTabSz="1219170" rtl="0" eaLnBrk="1" fontAlgn="auto" latinLnBrk="0" hangingPunct="1">
              <a:lnSpc>
                <a:spcPct val="100000"/>
              </a:lnSpc>
              <a:spcBef>
                <a:spcPts val="0"/>
              </a:spcBef>
              <a:spcAft>
                <a:spcPts val="0"/>
              </a:spcAft>
              <a:buClrTx/>
              <a:buSzTx/>
              <a:buFont typeface="+mj-lt"/>
              <a:buAutoNum type="arabicPeriod"/>
              <a:tabLst/>
              <a:defRPr/>
            </a:pPr>
            <a:r>
              <a:rPr lang="en-AU" sz="1600" kern="1200">
                <a:solidFill>
                  <a:schemeClr val="tx1"/>
                </a:solidFill>
                <a:effectLst/>
                <a:latin typeface="Arial" panose="020B0604020202020204" pitchFamily="34" charset="0"/>
                <a:ea typeface="+mn-ea"/>
                <a:cs typeface="Arial" panose="020B0604020202020204" pitchFamily="34" charset="0"/>
              </a:rPr>
              <a:t>Ask students to complete the fact families for the second and third triangles, before students then create their own fact family.</a:t>
            </a:r>
          </a:p>
          <a:p>
            <a:pPr marL="342900" indent="-342900">
              <a:buFont typeface="+mj-lt"/>
              <a:buAutoNum type="arabicPeriod"/>
            </a:pPr>
            <a:endParaRPr lang="en-AU" b="0">
              <a:latin typeface="Arial"/>
              <a:cs typeface="Arial"/>
            </a:endParaRPr>
          </a:p>
          <a:p>
            <a:pPr marL="342900" indent="-342900">
              <a:buFont typeface="+mj-lt"/>
              <a:buAutoNum type="arabicPeriod"/>
            </a:pPr>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AU"/>
              <a:t>Use the arrows to navigate between related activities.</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r>
              <a:rPr lang="en-AU"/>
              <a:t>Hyperlink each arrow to compare between related slides.</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A3FC8-7C27-ADA4-A03B-5E48C1C14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3F9E58-3C51-C638-D2A9-0DC09233C5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9681D0-1819-E9EE-FB6C-BDEED94D69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panose="020B0604020202020204" pitchFamily="34" charset="0"/>
                <a:cs typeface="Arial" panose="020B0604020202020204" pitchFamily="34" charset="0"/>
              </a:rPr>
              <a:t>This question connects to the content in the developing number sense activity (Activity 1)</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p>
        </p:txBody>
      </p:sp>
      <p:sp>
        <p:nvSpPr>
          <p:cNvPr id="4" name="Slide Number Placeholder 3">
            <a:extLst>
              <a:ext uri="{FF2B5EF4-FFF2-40B4-BE49-F238E27FC236}">
                <a16:creationId xmlns:a16="http://schemas.microsoft.com/office/drawing/2014/main" id="{53E40460-08D8-1BDD-6B68-F7DFB23337A6}"/>
              </a:ext>
            </a:extLst>
          </p:cNvPr>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115444382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37D30-8C3C-1F9B-1235-EED776AA1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F2E79-EC8B-85C4-64A1-B9824B5777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281569-AF22-80CB-50D8-8C75DD350298}"/>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1)</a:t>
            </a:r>
            <a:br>
              <a:rPr lang="en-AU">
                <a:latin typeface="Arial"/>
                <a:cs typeface="Arial"/>
              </a:rPr>
            </a:br>
            <a:br>
              <a:rPr lang="en-AU"/>
            </a:br>
            <a:r>
              <a:rPr lang="en-AU" b="1"/>
              <a:t>Syllabus focus area:</a:t>
            </a:r>
            <a:endParaRPr lang="en-US">
              <a:solidFill>
                <a:srgbClr val="444444"/>
              </a:solidFill>
            </a:endParaRPr>
          </a:p>
          <a:p>
            <a:r>
              <a:rPr lang="en-AU"/>
              <a:t>Multiplicative relations 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endParaRPr lang="en-AU" b="1">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49558E46-6CF2-2491-6CB7-1B34BC401650}"/>
              </a:ext>
            </a:extLst>
          </p:cNvPr>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103638957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AE225-FA7F-00B4-4A7F-8B000A40E0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A9F81C-51CD-C210-8C41-A54E28E62C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734EC6-D5CD-E7F3-F7F7-1F0A2C1D9172}"/>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1060D4F-30B5-DD3E-9FC6-F7EE9D4C9F21}"/>
              </a:ext>
            </a:extLst>
          </p:cNvPr>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292490893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39.xml"/><Relationship Id="rId3" Type="http://schemas.openxmlformats.org/officeDocument/2006/relationships/slide" Target="slide4.xml"/><Relationship Id="rId7" Type="http://schemas.openxmlformats.org/officeDocument/2006/relationships/slide" Target="slide3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53.xml"/><Relationship Id="rId4" Type="http://schemas.openxmlformats.org/officeDocument/2006/relationships/slide" Target="slide11.xml"/><Relationship Id="rId9" Type="http://schemas.openxmlformats.org/officeDocument/2006/relationships/slide" Target="slide4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24.png"/></Relationships>
</file>

<file path=ppt/slides/_rels/slide4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5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5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9.xml"/><Relationship Id="rId1" Type="http://schemas.openxmlformats.org/officeDocument/2006/relationships/slideLayout" Target="../slideLayouts/slideLayout4.xml"/><Relationship Id="rId5" Type="http://schemas.openxmlformats.org/officeDocument/2006/relationships/image" Target="../media/image32.png"/><Relationship Id="rId4" Type="http://schemas.openxmlformats.org/officeDocument/2006/relationships/image" Target="../media/image31.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slide" Target="slide61.xml"/><Relationship Id="rId2" Type="http://schemas.openxmlformats.org/officeDocument/2006/relationships/notesSlide" Target="../notesSlides/notesSlide64.xml"/><Relationship Id="rId1" Type="http://schemas.openxmlformats.org/officeDocument/2006/relationships/slideLayout" Target="../slideLayouts/slideLayout11.xml"/><Relationship Id="rId4" Type="http://schemas.openxmlformats.org/officeDocument/2006/relationships/image" Target="../media/image33.sv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2" Type="http://schemas.openxmlformats.org/officeDocument/2006/relationships/notesSlide" Target="../notesSlides/notesSlide67.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 TargetMode="External"/><Relationship Id="rId5" Type="http://schemas.openxmlformats.org/officeDocument/2006/relationships/hyperlink" Target="https://curriculum.nsw.edu.au/" TargetMode="External"/><Relationship Id="rId10" Type="http://schemas.openxmlformats.org/officeDocument/2006/relationships/hyperlink" Target="https://dailymathsreview.au/hundreds_chart"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www.pdesas.org/module/content/resources/13247/view.ashx" TargetMode="External"/></Relationships>
</file>

<file path=ppt/slides/_rels/slide68.xml.rels><?xml version="1.0" encoding="UTF-8" standalone="yes"?>
<Relationships xmlns="http://schemas.openxmlformats.org/package/2006/relationships"><Relationship Id="rId8" Type="http://schemas.openxmlformats.org/officeDocument/2006/relationships/hyperlink" Target="https://nrich.maths.org/5429"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mathematics/mathematics-curriculum-resources-k-12/thinking-mathematically-resources/mathematics-s1-s3-multiplication-toss" TargetMode="External"/><Relationship Id="rId2" Type="http://schemas.openxmlformats.org/officeDocument/2006/relationships/notesSlide" Target="../notesSlides/notesSlide68.xml"/><Relationship Id="rId1" Type="http://schemas.openxmlformats.org/officeDocument/2006/relationships/slideLayout" Target="../slideLayouts/slideLayout13.xml"/><Relationship Id="rId6" Type="http://schemas.openxmlformats.org/officeDocument/2006/relationships/hyperlink" Target="https://calculate.org.au/2020/06/18/number_patterns/"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buFont typeface="Arial,Sans-Serif"/>
              <a:buChar char="•"/>
            </a:pPr>
            <a:r>
              <a:rPr lang="en-AU" sz="1800">
                <a:latin typeface="+mn-lt"/>
                <a:ea typeface="+mn-lt"/>
                <a:cs typeface="+mn-lt"/>
              </a:rPr>
              <a:t>This resource aligns to the learning in Stage 2 Year B Unit 31 and revisits content from earlier sample units.</a:t>
            </a:r>
            <a:endParaRPr lang="en-US" sz="1800">
              <a:solidFill>
                <a:srgbClr val="22272B"/>
              </a:solidFill>
              <a:latin typeface="+mn-lt"/>
            </a:endParaRPr>
          </a:p>
          <a:p>
            <a:pPr marL="342900" indent="-342900">
              <a:lnSpc>
                <a:spcPct val="150000"/>
              </a:lnSpc>
              <a:buFont typeface="Arial,Sans-Serif"/>
              <a:buChar char="•"/>
            </a:pPr>
            <a:r>
              <a:rPr lang="en-AU" sz="1800">
                <a:solidFill>
                  <a:srgbClr val="22272B"/>
                </a:solidFill>
                <a:latin typeface="+mn-lt"/>
                <a:cs typeface="Arial"/>
              </a:rPr>
              <a:t>Classroom teachers are encouraged to </a:t>
            </a:r>
            <a:r>
              <a:rPr lang="en-AU" sz="1800" b="1">
                <a:solidFill>
                  <a:srgbClr val="22272B"/>
                </a:solidFill>
                <a:latin typeface="+mn-lt"/>
                <a:cs typeface="Arial"/>
              </a:rPr>
              <a:t>add and adapt</a:t>
            </a:r>
            <a:r>
              <a:rPr lang="en-AU" sz="1800">
                <a:solidFill>
                  <a:srgbClr val="22272B"/>
                </a:solidFill>
                <a:latin typeface="+mn-lt"/>
                <a:cs typeface="Arial"/>
              </a:rPr>
              <a:t> slides as required to meet the needs of their students.</a:t>
            </a:r>
            <a:endParaRPr lang="en-US" sz="1800">
              <a:solidFill>
                <a:srgbClr val="22272B"/>
              </a:solidFill>
              <a:latin typeface="+mn-lt"/>
              <a:cs typeface="Arial"/>
            </a:endParaRPr>
          </a:p>
          <a:p>
            <a:pPr marL="342900" indent="-342900">
              <a:lnSpc>
                <a:spcPct val="150000"/>
              </a:lnSpc>
              <a:buFont typeface="Arial,Sans-Serif"/>
              <a:buChar char="•"/>
            </a:pPr>
            <a:r>
              <a:rPr lang="en-AU" sz="1800">
                <a:solidFill>
                  <a:srgbClr val="22272B"/>
                </a:solidFill>
                <a:latin typeface="+mn-lt"/>
                <a:cs typeface="Arial"/>
              </a:rPr>
              <a:t>Save a copy of the file to make changes to the slide deck. Go to File &gt; Download a Copy (this downloads a copy to the computer to edit in the PowerPoint app).</a:t>
            </a:r>
            <a:endParaRPr lang="en-US" sz="1800">
              <a:solidFill>
                <a:srgbClr val="22272B"/>
              </a:solidFill>
              <a:latin typeface="+mn-lt"/>
              <a:cs typeface="Arial"/>
            </a:endParaRPr>
          </a:p>
          <a:p>
            <a:pPr marL="342900" indent="-342900">
              <a:lnSpc>
                <a:spcPct val="150000"/>
              </a:lnSpc>
              <a:buFont typeface="Arial,Sans-Serif"/>
              <a:buChar char="•"/>
            </a:pPr>
            <a:r>
              <a:rPr lang="en-AU" sz="1800">
                <a:solidFill>
                  <a:srgbClr val="22272B"/>
                </a:solidFill>
                <a:latin typeface="+mn-lt"/>
                <a:cs typeface="Arial"/>
              </a:rPr>
              <a:t>To convert the PowerPoint to Google Slides:</a:t>
            </a:r>
            <a:endParaRPr lang="en-US" sz="1800">
              <a:solidFill>
                <a:srgbClr val="22272B"/>
              </a:solidFill>
              <a:latin typeface="+mn-lt"/>
              <a:cs typeface="Arial"/>
            </a:endParaRPr>
          </a:p>
          <a:p>
            <a:pPr marL="913765" lvl="1" indent="-457200">
              <a:lnSpc>
                <a:spcPct val="150000"/>
              </a:lnSpc>
              <a:buAutoNum type="arabicPeriod"/>
            </a:pPr>
            <a:r>
              <a:rPr lang="en-AU">
                <a:solidFill>
                  <a:srgbClr val="22272B"/>
                </a:solidFill>
                <a:latin typeface="+mn-lt"/>
                <a:cs typeface="Arial"/>
              </a:rPr>
              <a:t>Upload the file into Google Drive and open it.</a:t>
            </a:r>
            <a:endParaRPr lang="en-US">
              <a:solidFill>
                <a:srgbClr val="22272B"/>
              </a:solidFill>
              <a:latin typeface="+mn-lt"/>
              <a:cs typeface="Arial"/>
            </a:endParaRPr>
          </a:p>
          <a:p>
            <a:pPr marL="913765" lvl="1" indent="-457200">
              <a:lnSpc>
                <a:spcPct val="150000"/>
              </a:lnSpc>
              <a:buAutoNum type="arabicPeriod"/>
            </a:pPr>
            <a:r>
              <a:rPr lang="en-AU">
                <a:solidFill>
                  <a:srgbClr val="22272B"/>
                </a:solidFill>
                <a:latin typeface="+mn-lt"/>
                <a:cs typeface="Arial"/>
              </a:rPr>
              <a:t>Go to File &gt; Save as Google Slides.</a:t>
            </a:r>
            <a:endParaRPr lang="en-US">
              <a:solidFill>
                <a:srgbClr val="22272B"/>
              </a:solidFill>
              <a:latin typeface="+mn-lt"/>
              <a:cs typeface="Arial"/>
            </a:endParaRPr>
          </a:p>
          <a:p>
            <a:pPr marL="285750" lvl="1" indent="-285750">
              <a:buFont typeface="Arial"/>
              <a:buChar char="•"/>
            </a:pPr>
            <a:r>
              <a:rPr lang="en-AU">
                <a:solidFill>
                  <a:srgbClr val="22272B"/>
                </a:solidFill>
                <a:latin typeface="+mn-lt"/>
                <a:cs typeface="Arial"/>
              </a:rPr>
              <a:t>(Note – conversion may cause formatting changes in the slides.)</a:t>
            </a:r>
            <a:endParaRPr lang="en-US">
              <a:solidFill>
                <a:srgbClr val="22272B"/>
              </a:solidFill>
              <a:latin typeface="+mn-lt"/>
              <a:cs typeface="Arial"/>
            </a:endParaRPr>
          </a:p>
          <a:p>
            <a:pPr marL="342900" indent="-342900">
              <a:lnSpc>
                <a:spcPct val="150000"/>
              </a:lnSpc>
              <a:buFont typeface="Arial"/>
              <a:buChar char="•"/>
            </a:pPr>
            <a:endParaRPr lang="en-AU">
              <a:solidFill>
                <a:srgbClr val="22272B"/>
              </a:solidFill>
              <a:latin typeface="+mn-lt"/>
            </a:endParaRP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a:latin typeface="+mj-lt"/>
                <a:cs typeface="Arial"/>
              </a:rPr>
              <a:t>Mathematics Stage 2 – Unit 31</a:t>
            </a:r>
            <a:endParaRPr lang="en-AU">
              <a:latin typeface="+mj-lt"/>
            </a:endParaRPr>
          </a:p>
        </p:txBody>
      </p:sp>
      <p:pic>
        <p:nvPicPr>
          <p:cNvPr id="5" name="Picture Placeholder 4">
            <a:extLst>
              <a:ext uri="{FF2B5EF4-FFF2-40B4-BE49-F238E27FC236}">
                <a16:creationId xmlns:a16="http://schemas.microsoft.com/office/drawing/2014/main" id="{80978C62-0887-B1BD-5142-01CF7146B8A8}"/>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830" r="1830"/>
          <a:stretch>
            <a:fillRect/>
          </a:stretch>
        </p:blipFill>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RoL1">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3" action="ppaction://hlinksldjump"/>
                </a:rPr>
                <a:t>Review of learning </a:t>
              </a:r>
              <a:r>
                <a:rPr lang="en-AU">
                  <a:solidFill>
                    <a:schemeClr val="accent1"/>
                  </a:solidFill>
                  <a:latin typeface="+mj-lt"/>
                  <a:hlinkClick r:id="rId3" action="ppaction://hlinksldjump"/>
                </a:rPr>
                <a:t>1</a:t>
              </a:r>
              <a:endParaRPr lang="en-AU">
                <a:solidFill>
                  <a:schemeClr val="accent1"/>
                </a:solidFill>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RoL2">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4" action="ppaction://hlinksldjump"/>
                </a:rPr>
                <a:t>Review of learning </a:t>
              </a:r>
              <a:r>
                <a:rPr lang="en-AU">
                  <a:solidFill>
                    <a:schemeClr val="accent1"/>
                  </a:solidFill>
                  <a:latin typeface="+mj-lt"/>
                  <a:hlinkClick r:id="rId4" action="ppaction://hlinksldjump"/>
                </a:rPr>
                <a:t>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RoL3">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5" action="ppaction://hlinksldjump"/>
                </a:rPr>
                <a:t>Review of learning </a:t>
              </a:r>
              <a:r>
                <a:rPr lang="en-AU">
                  <a:solidFill>
                    <a:schemeClr val="accent1"/>
                  </a:solidFill>
                  <a:latin typeface="+mj-lt"/>
                  <a:hlinkClick r:id="rId5" action="ppaction://hlinksldjump"/>
                </a:rPr>
                <a:t>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RoL4">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6" action="ppaction://hlinksldjump"/>
                </a:rPr>
                <a:t>Review of learning </a:t>
              </a:r>
              <a:r>
                <a:rPr lang="en-AU">
                  <a:solidFill>
                    <a:schemeClr val="accent1"/>
                  </a:solidFill>
                  <a:latin typeface="+mj-lt"/>
                  <a:hlinkClick r:id="rId6" action="ppaction://hlinksldjump"/>
                </a:rPr>
                <a:t>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RoL5">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7" action="ppaction://hlinksldjump"/>
                </a:rPr>
                <a:t>Review of learning </a:t>
              </a:r>
              <a:r>
                <a:rPr lang="en-AU">
                  <a:solidFill>
                    <a:schemeClr val="accent1"/>
                  </a:solidFill>
                  <a:latin typeface="+mj-lt"/>
                  <a:hlinkClick r:id="rId7" action="ppaction://hlinksldjump"/>
                </a:rPr>
                <a:t>5</a:t>
              </a:r>
              <a:endParaRPr lang="en-AU">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RoL6">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8" action="ppaction://hlinksldjump"/>
                </a:rPr>
                <a:t>Review of learning </a:t>
              </a:r>
              <a:r>
                <a:rPr lang="en-AU">
                  <a:solidFill>
                    <a:schemeClr val="accent1"/>
                  </a:solidFill>
                  <a:latin typeface="+mj-lt"/>
                  <a:hlinkClick r:id="rId8" action="ppaction://hlinksldjump"/>
                </a:rPr>
                <a:t>6</a:t>
              </a:r>
              <a:endParaRPr lang="en-AU">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RoL7">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9" action="ppaction://hlinksldjump"/>
                </a:rPr>
                <a:t>Review of learning </a:t>
              </a:r>
              <a:r>
                <a:rPr lang="en-AU">
                  <a:solidFill>
                    <a:schemeClr val="accent1"/>
                  </a:solidFill>
                  <a:latin typeface="+mj-lt"/>
                  <a:hlinkClick r:id="rId9" action="ppaction://hlinksldjump"/>
                </a:rPr>
                <a:t>7</a:t>
              </a:r>
              <a:endParaRPr lang="en-AU">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RoL8">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10" action="ppaction://hlinksldjump"/>
                </a:rPr>
                <a:t>Review of learning </a:t>
              </a:r>
              <a:r>
                <a:rPr lang="en-AU">
                  <a:solidFill>
                    <a:schemeClr val="accent1"/>
                  </a:solidFill>
                  <a:latin typeface="+mj-lt"/>
                  <a:hlinkClick r:id="rId10" action="ppaction://hlinksldjump"/>
                </a:rPr>
                <a:t>8</a:t>
              </a:r>
              <a:endParaRPr lang="en-AU">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7F45-2A06-3070-0C83-DC2BE167C21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3BB4C8-EA31-5C24-8018-17D1DC44D00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(1)</a:t>
            </a:r>
          </a:p>
        </p:txBody>
      </p:sp>
      <p:pic>
        <p:nvPicPr>
          <p:cNvPr id="4" name="Picture 3">
            <a:extLst>
              <a:ext uri="{FF2B5EF4-FFF2-40B4-BE49-F238E27FC236}">
                <a16:creationId xmlns:a16="http://schemas.microsoft.com/office/drawing/2014/main" id="{5D11F5ED-B427-7A06-EE29-1C83BDE7EF0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8CC6182B-05A0-DCFF-C12E-FB8272E0C6A8}"/>
              </a:ext>
            </a:extLst>
          </p:cNvPr>
          <p:cNvSpPr>
            <a:spLocks noGrp="1"/>
          </p:cNvSpPr>
          <p:nvPr>
            <p:ph type="body" sz="quarter" idx="24"/>
          </p:nvPr>
        </p:nvSpPr>
        <p:spPr>
          <a:xfrm>
            <a:off x="360000" y="1641848"/>
            <a:ext cx="11243037" cy="1989124"/>
          </a:xfrm>
        </p:spPr>
        <p:txBody>
          <a:bodyPr/>
          <a:lstStyle/>
          <a:p>
            <a:pPr algn="ctr"/>
            <a:r>
              <a:rPr lang="en-US" sz="4400"/>
              <a:t>Which number is </a:t>
            </a:r>
            <a:r>
              <a:rPr lang="en-US" sz="4400" b="1"/>
              <a:t>not a multiple </a:t>
            </a:r>
            <a:r>
              <a:rPr lang="en-US" sz="4400"/>
              <a:t>of 6? </a:t>
            </a:r>
          </a:p>
          <a:p>
            <a:pPr algn="ctr"/>
            <a:r>
              <a:rPr lang="en-US" sz="4400" b="1"/>
              <a:t>Communicate</a:t>
            </a:r>
            <a:r>
              <a:rPr lang="en-US" sz="4400"/>
              <a:t> your </a:t>
            </a:r>
            <a:r>
              <a:rPr lang="en-US" sz="4400" b="1"/>
              <a:t>reasoning</a:t>
            </a:r>
            <a:r>
              <a:rPr lang="en-US" sz="4400"/>
              <a:t>. </a:t>
            </a:r>
          </a:p>
        </p:txBody>
      </p:sp>
      <p:sp>
        <p:nvSpPr>
          <p:cNvPr id="9" name="TextBox 8">
            <a:extLst>
              <a:ext uri="{FF2B5EF4-FFF2-40B4-BE49-F238E27FC236}">
                <a16:creationId xmlns:a16="http://schemas.microsoft.com/office/drawing/2014/main" id="{055D882C-AF43-C390-844D-CF785253532C}"/>
              </a:ext>
            </a:extLst>
          </p:cNvPr>
          <p:cNvSpPr txBox="1"/>
          <p:nvPr/>
        </p:nvSpPr>
        <p:spPr>
          <a:xfrm>
            <a:off x="1323661" y="481604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6" name="TextBox 5">
            <a:extLst>
              <a:ext uri="{FF2B5EF4-FFF2-40B4-BE49-F238E27FC236}">
                <a16:creationId xmlns:a16="http://schemas.microsoft.com/office/drawing/2014/main" id="{26BB6971-7512-8DE4-5E90-06C1A9DDDBA4}"/>
              </a:ext>
            </a:extLst>
          </p:cNvPr>
          <p:cNvSpPr txBox="1"/>
          <p:nvPr/>
        </p:nvSpPr>
        <p:spPr>
          <a:xfrm>
            <a:off x="1189402" y="5531187"/>
            <a:ext cx="914400" cy="914400"/>
          </a:xfrm>
          <a:prstGeom prst="rect">
            <a:avLst/>
          </a:prstGeom>
          <a:noFill/>
        </p:spPr>
        <p:txBody>
          <a:bodyPr wrap="none" lIns="0" tIns="0" rIns="0" bIns="0" rtlCol="0">
            <a:noAutofit/>
          </a:bodyPr>
          <a:lstStyle/>
          <a:p>
            <a:pPr algn="l"/>
            <a:r>
              <a:rPr lang="en-AU" sz="4400"/>
              <a:t>12</a:t>
            </a:r>
          </a:p>
        </p:txBody>
      </p:sp>
      <p:sp>
        <p:nvSpPr>
          <p:cNvPr id="10" name="TextBox 9">
            <a:extLst>
              <a:ext uri="{FF2B5EF4-FFF2-40B4-BE49-F238E27FC236}">
                <a16:creationId xmlns:a16="http://schemas.microsoft.com/office/drawing/2014/main" id="{3A7CB9AE-0F31-FA92-BCB3-C4AD3EF18B05}"/>
              </a:ext>
            </a:extLst>
          </p:cNvPr>
          <p:cNvSpPr txBox="1"/>
          <p:nvPr/>
        </p:nvSpPr>
        <p:spPr>
          <a:xfrm>
            <a:off x="4254602" y="484682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4" name="TextBox 13">
            <a:extLst>
              <a:ext uri="{FF2B5EF4-FFF2-40B4-BE49-F238E27FC236}">
                <a16:creationId xmlns:a16="http://schemas.microsoft.com/office/drawing/2014/main" id="{4AB6592C-9EB9-1BE1-7D1D-7AAE6997DAEB}"/>
              </a:ext>
            </a:extLst>
          </p:cNvPr>
          <p:cNvSpPr txBox="1"/>
          <p:nvPr/>
        </p:nvSpPr>
        <p:spPr>
          <a:xfrm>
            <a:off x="3983846" y="5531188"/>
            <a:ext cx="1172401" cy="769441"/>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a:ln>
                  <a:noFill/>
                </a:ln>
                <a:solidFill>
                  <a:srgbClr val="22272B"/>
                </a:solidFill>
                <a:effectLst/>
                <a:uLnTx/>
                <a:uFillTx/>
                <a:latin typeface="Arial" panose="020B0604020202020204"/>
                <a:ea typeface="+mn-ea"/>
                <a:cs typeface="+mn-cs"/>
              </a:rPr>
              <a:t>16</a:t>
            </a:r>
          </a:p>
        </p:txBody>
      </p:sp>
      <p:sp>
        <p:nvSpPr>
          <p:cNvPr id="12" name="TextBox 11">
            <a:extLst>
              <a:ext uri="{FF2B5EF4-FFF2-40B4-BE49-F238E27FC236}">
                <a16:creationId xmlns:a16="http://schemas.microsoft.com/office/drawing/2014/main" id="{92ADCA88-1230-AEE8-EFD6-D8F0DF7EEE5C}"/>
              </a:ext>
            </a:extLst>
          </p:cNvPr>
          <p:cNvSpPr txBox="1"/>
          <p:nvPr/>
        </p:nvSpPr>
        <p:spPr>
          <a:xfrm>
            <a:off x="7345479" y="484682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TextBox 15">
            <a:extLst>
              <a:ext uri="{FF2B5EF4-FFF2-40B4-BE49-F238E27FC236}">
                <a16:creationId xmlns:a16="http://schemas.microsoft.com/office/drawing/2014/main" id="{1F959775-F4F2-AFBA-7270-11A6E20F0B89}"/>
              </a:ext>
            </a:extLst>
          </p:cNvPr>
          <p:cNvSpPr txBox="1"/>
          <p:nvPr/>
        </p:nvSpPr>
        <p:spPr>
          <a:xfrm>
            <a:off x="7074723" y="5531189"/>
            <a:ext cx="1037026" cy="769441"/>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a:ln>
                  <a:noFill/>
                </a:ln>
                <a:solidFill>
                  <a:srgbClr val="22272B"/>
                </a:solidFill>
                <a:effectLst/>
                <a:uLnTx/>
                <a:uFillTx/>
                <a:latin typeface="Arial" panose="020B0604020202020204"/>
                <a:ea typeface="+mn-ea"/>
                <a:cs typeface="+mn-cs"/>
              </a:rPr>
              <a:t>18</a:t>
            </a:r>
          </a:p>
        </p:txBody>
      </p:sp>
      <p:sp>
        <p:nvSpPr>
          <p:cNvPr id="11" name="TextBox 10">
            <a:extLst>
              <a:ext uri="{FF2B5EF4-FFF2-40B4-BE49-F238E27FC236}">
                <a16:creationId xmlns:a16="http://schemas.microsoft.com/office/drawing/2014/main" id="{F2C63D4C-D53C-5250-A986-AB949B67DEB8}"/>
              </a:ext>
            </a:extLst>
          </p:cNvPr>
          <p:cNvSpPr txBox="1"/>
          <p:nvPr/>
        </p:nvSpPr>
        <p:spPr>
          <a:xfrm>
            <a:off x="10278479" y="484682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9" name="TextBox 18">
            <a:extLst>
              <a:ext uri="{FF2B5EF4-FFF2-40B4-BE49-F238E27FC236}">
                <a16:creationId xmlns:a16="http://schemas.microsoft.com/office/drawing/2014/main" id="{FEF6DCCC-BBAE-5BB5-0671-3D3E5450D2B1}"/>
              </a:ext>
            </a:extLst>
          </p:cNvPr>
          <p:cNvSpPr txBox="1"/>
          <p:nvPr/>
        </p:nvSpPr>
        <p:spPr>
          <a:xfrm>
            <a:off x="10048586" y="5531187"/>
            <a:ext cx="1075414" cy="769441"/>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AU" sz="4400">
                <a:solidFill>
                  <a:srgbClr val="22272B"/>
                </a:solidFill>
                <a:latin typeface="Arial" panose="020B0604020202020204"/>
              </a:rPr>
              <a:t>30</a:t>
            </a:r>
            <a:endParaRPr kumimoji="0" lang="en-AU" sz="4400" b="0" i="0" u="none" strike="noStrike" kern="1200" cap="none" spc="0" normalizeH="0" baseline="0" noProof="0">
              <a:ln>
                <a:noFill/>
              </a:ln>
              <a:solidFill>
                <a:srgbClr val="22272B"/>
              </a:solidFill>
              <a:effectLst/>
              <a:uLnTx/>
              <a:uFillTx/>
              <a:latin typeface="Arial" panose="020B0604020202020204"/>
              <a:ea typeface="+mn-ea"/>
              <a:cs typeface="+mn-cs"/>
            </a:endParaRPr>
          </a:p>
        </p:txBody>
      </p:sp>
      <p:sp>
        <p:nvSpPr>
          <p:cNvPr id="2" name="Slide Number Placeholder 1">
            <a:extLst>
              <a:ext uri="{FF2B5EF4-FFF2-40B4-BE49-F238E27FC236}">
                <a16:creationId xmlns:a16="http://schemas.microsoft.com/office/drawing/2014/main" id="{BCDFCD28-280A-268C-8C92-8A605A7B59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481384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pic>
        <p:nvPicPr>
          <p:cNvPr id="3" name="Picture 2">
            <a:extLst>
              <a:ext uri="{FF2B5EF4-FFF2-40B4-BE49-F238E27FC236}">
                <a16:creationId xmlns:a16="http://schemas.microsoft.com/office/drawing/2014/main" id="{69E4B2B2-713D-5998-87AB-5FC222AE38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F424C8BE-5F2F-8BB7-F135-8A9ACC4A4829}"/>
              </a:ext>
            </a:extLst>
          </p:cNvPr>
          <p:cNvSpPr txBox="1"/>
          <p:nvPr/>
        </p:nvSpPr>
        <p:spPr>
          <a:xfrm>
            <a:off x="355362" y="1634767"/>
            <a:ext cx="11590614" cy="2002419"/>
          </a:xfrm>
          <a:prstGeom prst="rect">
            <a:avLst/>
          </a:prstGeom>
          <a:noFill/>
        </p:spPr>
        <p:txBody>
          <a:bodyPr wrap="none" lIns="0" tIns="0" rIns="0" bIns="0" rtlCol="0">
            <a:noAutofit/>
          </a:bodyPr>
          <a:lstStyle/>
          <a:p>
            <a:pPr algn="ctr">
              <a:lnSpc>
                <a:spcPct val="150000"/>
              </a:lnSpc>
            </a:pPr>
            <a:r>
              <a:rPr lang="en-AU" sz="4400"/>
              <a:t>Record </a:t>
            </a:r>
            <a:r>
              <a:rPr lang="en-AU" sz="4400" b="1"/>
              <a:t>7354</a:t>
            </a:r>
            <a:r>
              <a:rPr lang="en-AU" sz="4400"/>
              <a:t> using </a:t>
            </a:r>
            <a:r>
              <a:rPr lang="en-AU" sz="4400" b="1"/>
              <a:t>standard</a:t>
            </a:r>
          </a:p>
          <a:p>
            <a:pPr algn="ctr">
              <a:lnSpc>
                <a:spcPct val="150000"/>
              </a:lnSpc>
            </a:pPr>
            <a:r>
              <a:rPr lang="en-AU" sz="4400" b="1"/>
              <a:t> place value</a:t>
            </a:r>
            <a:r>
              <a:rPr lang="en-AU" sz="4400"/>
              <a:t> form.</a:t>
            </a:r>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grpSp>
        <p:nvGrpSpPr>
          <p:cNvPr id="8" name="Group 7" descr="Record four numbers in each of the four boxes to show standard place value of the number 7354.">
            <a:extLst>
              <a:ext uri="{FF2B5EF4-FFF2-40B4-BE49-F238E27FC236}">
                <a16:creationId xmlns:a16="http://schemas.microsoft.com/office/drawing/2014/main" id="{06DFC8E1-6E2D-593C-FB4C-A55B0FA664E2}"/>
              </a:ext>
            </a:extLst>
          </p:cNvPr>
          <p:cNvGrpSpPr/>
          <p:nvPr/>
        </p:nvGrpSpPr>
        <p:grpSpPr>
          <a:xfrm>
            <a:off x="2781955" y="4757889"/>
            <a:ext cx="8702045" cy="1176051"/>
            <a:chOff x="2781955" y="3854122"/>
            <a:chExt cx="8702045" cy="1176051"/>
          </a:xfrm>
        </p:grpSpPr>
        <p:sp>
          <p:nvSpPr>
            <p:cNvPr id="5" name="TextBox 4">
              <a:extLst>
                <a:ext uri="{FF2B5EF4-FFF2-40B4-BE49-F238E27FC236}">
                  <a16:creationId xmlns:a16="http://schemas.microsoft.com/office/drawing/2014/main" id="{0B593F47-166A-CBF3-7A31-275E05A3990D}"/>
                </a:ext>
              </a:extLst>
            </p:cNvPr>
            <p:cNvSpPr txBox="1"/>
            <p:nvPr/>
          </p:nvSpPr>
          <p:spPr>
            <a:xfrm>
              <a:off x="2781955" y="3854122"/>
              <a:ext cx="8702045" cy="1176051"/>
            </a:xfrm>
            <a:prstGeom prst="rect">
              <a:avLst/>
            </a:prstGeom>
            <a:noFill/>
          </p:spPr>
          <p:txBody>
            <a:bodyPr wrap="none" lIns="0" tIns="0" rIns="0" bIns="0" rtlCol="0">
              <a:noAutofit/>
            </a:bodyPr>
            <a:lstStyle/>
            <a:p>
              <a:pPr algn="l"/>
              <a:r>
                <a:rPr lang="en-AU" sz="4400"/>
                <a:t>7354 =     +     +     +</a:t>
              </a:r>
            </a:p>
          </p:txBody>
        </p:sp>
        <p:sp>
          <p:nvSpPr>
            <p:cNvPr id="7" name="Rectangle 6">
              <a:extLst>
                <a:ext uri="{FF2B5EF4-FFF2-40B4-BE49-F238E27FC236}">
                  <a16:creationId xmlns:a16="http://schemas.microsoft.com/office/drawing/2014/main" id="{99D921F9-27EF-A4B8-4017-2F41E5F346D3}"/>
                </a:ext>
                <a:ext uri="{C183D7F6-B498-43B3-948B-1728B52AA6E4}">
                  <adec:decorative xmlns:adec="http://schemas.microsoft.com/office/drawing/2017/decorative" val="1"/>
                </a:ext>
              </a:extLst>
            </p:cNvPr>
            <p:cNvSpPr/>
            <p:nvPr/>
          </p:nvSpPr>
          <p:spPr>
            <a:xfrm>
              <a:off x="5667569" y="3897695"/>
              <a:ext cx="586128" cy="565961"/>
            </a:xfrm>
            <a:prstGeom prst="rect">
              <a:avLst/>
            </a:prstGeom>
            <a:ln w="57150"/>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11" name="Rectangle 10">
              <a:extLst>
                <a:ext uri="{FF2B5EF4-FFF2-40B4-BE49-F238E27FC236}">
                  <a16:creationId xmlns:a16="http://schemas.microsoft.com/office/drawing/2014/main" id="{9EE072D9-3932-C45B-A9B6-23501C0AD538}"/>
                </a:ext>
                <a:ext uri="{C183D7F6-B498-43B3-948B-1728B52AA6E4}">
                  <adec:decorative xmlns:adec="http://schemas.microsoft.com/office/drawing/2017/decorative" val="1"/>
                </a:ext>
              </a:extLst>
            </p:cNvPr>
            <p:cNvSpPr/>
            <p:nvPr/>
          </p:nvSpPr>
          <p:spPr>
            <a:xfrm>
              <a:off x="4640548" y="3902054"/>
              <a:ext cx="586128" cy="565961"/>
            </a:xfrm>
            <a:prstGeom prst="rect">
              <a:avLst/>
            </a:prstGeom>
            <a:ln w="57150"/>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12" name="Rectangle 11">
              <a:extLst>
                <a:ext uri="{FF2B5EF4-FFF2-40B4-BE49-F238E27FC236}">
                  <a16:creationId xmlns:a16="http://schemas.microsoft.com/office/drawing/2014/main" id="{7175532F-BAF6-2ABB-F2DE-C191C36523A3}"/>
                </a:ext>
                <a:ext uri="{C183D7F6-B498-43B3-948B-1728B52AA6E4}">
                  <adec:decorative xmlns:adec="http://schemas.microsoft.com/office/drawing/2017/decorative" val="1"/>
                </a:ext>
              </a:extLst>
            </p:cNvPr>
            <p:cNvSpPr/>
            <p:nvPr/>
          </p:nvSpPr>
          <p:spPr>
            <a:xfrm>
              <a:off x="6792205" y="3897695"/>
              <a:ext cx="586128" cy="565961"/>
            </a:xfrm>
            <a:prstGeom prst="rect">
              <a:avLst/>
            </a:prstGeom>
            <a:ln w="57150"/>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13" name="Rectangle 12">
              <a:extLst>
                <a:ext uri="{FF2B5EF4-FFF2-40B4-BE49-F238E27FC236}">
                  <a16:creationId xmlns:a16="http://schemas.microsoft.com/office/drawing/2014/main" id="{567F5524-EB26-DAC4-A466-7682A8CAD4FA}"/>
                </a:ext>
                <a:ext uri="{C183D7F6-B498-43B3-948B-1728B52AA6E4}">
                  <adec:decorative xmlns:adec="http://schemas.microsoft.com/office/drawing/2017/decorative" val="1"/>
                </a:ext>
              </a:extLst>
            </p:cNvPr>
            <p:cNvSpPr/>
            <p:nvPr/>
          </p:nvSpPr>
          <p:spPr>
            <a:xfrm>
              <a:off x="7885119" y="3902053"/>
              <a:ext cx="586128" cy="565961"/>
            </a:xfrm>
            <a:prstGeom prst="rect">
              <a:avLst/>
            </a:prstGeom>
            <a:ln w="57150"/>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gr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pic>
        <p:nvPicPr>
          <p:cNvPr id="3" name="Picture 2">
            <a:extLst>
              <a:ext uri="{FF2B5EF4-FFF2-40B4-BE49-F238E27FC236}">
                <a16:creationId xmlns:a16="http://schemas.microsoft.com/office/drawing/2014/main" id="{AB837201-1557-1DB2-05E9-E523FE1B17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0AB2BCE4-B05E-A898-40EB-E80C572FC601}"/>
              </a:ext>
            </a:extLst>
          </p:cNvPr>
          <p:cNvSpPr txBox="1"/>
          <p:nvPr/>
        </p:nvSpPr>
        <p:spPr>
          <a:xfrm>
            <a:off x="2019770" y="1437917"/>
            <a:ext cx="8346974" cy="357925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000">
                <a:cs typeface="Arial"/>
              </a:rPr>
              <a:t>What </a:t>
            </a:r>
            <a:r>
              <a:rPr lang="en-US" sz="4000" b="1">
                <a:cs typeface="Arial"/>
              </a:rPr>
              <a:t>everyday objects </a:t>
            </a:r>
            <a:r>
              <a:rPr lang="en-US" sz="4000">
                <a:cs typeface="Arial"/>
              </a:rPr>
              <a:t>in our classroom can be used as an </a:t>
            </a:r>
            <a:r>
              <a:rPr lang="en-US" sz="4000" b="1">
                <a:cs typeface="Arial"/>
              </a:rPr>
              <a:t>informal way</a:t>
            </a:r>
            <a:r>
              <a:rPr lang="en-US" sz="4000">
                <a:cs typeface="Arial"/>
              </a:rPr>
              <a:t> to </a:t>
            </a:r>
            <a:r>
              <a:rPr lang="en-US" sz="4000" b="1">
                <a:cs typeface="Arial"/>
              </a:rPr>
              <a:t>compare</a:t>
            </a:r>
            <a:r>
              <a:rPr lang="en-US" sz="4000">
                <a:cs typeface="Arial"/>
              </a:rPr>
              <a:t> various angles to a </a:t>
            </a:r>
            <a:r>
              <a:rPr lang="en-US" sz="4000" b="1">
                <a:cs typeface="Arial"/>
              </a:rPr>
              <a:t>right angle</a:t>
            </a:r>
            <a:r>
              <a:rPr lang="en-US" sz="4000">
                <a:cs typeface="Arial"/>
              </a:rPr>
              <a:t>?</a:t>
            </a:r>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pic>
        <p:nvPicPr>
          <p:cNvPr id="3" name="Picture 2">
            <a:extLst>
              <a:ext uri="{FF2B5EF4-FFF2-40B4-BE49-F238E27FC236}">
                <a16:creationId xmlns:a16="http://schemas.microsoft.com/office/drawing/2014/main" id="{AE7CD0B4-5C73-21ED-199C-D91A99981CD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14FAE35F-F420-9F81-E620-CF0D2BAC9D85}"/>
              </a:ext>
            </a:extLst>
          </p:cNvPr>
          <p:cNvSpPr txBox="1"/>
          <p:nvPr/>
        </p:nvSpPr>
        <p:spPr>
          <a:xfrm>
            <a:off x="348000" y="978177"/>
            <a:ext cx="11123999" cy="5644815"/>
          </a:xfrm>
          <a:prstGeom prst="rect">
            <a:avLst/>
          </a:prstGeom>
          <a:noFill/>
        </p:spPr>
        <p:txBody>
          <a:bodyPr wrap="square">
            <a:spAutoFit/>
          </a:bodyPr>
          <a:lstStyle/>
          <a:p>
            <a:pPr algn="ctr"/>
            <a:endParaRPr lang="en-AU" sz="3600" dirty="0"/>
          </a:p>
          <a:p>
            <a:pPr algn="ctr"/>
            <a:endParaRPr lang="en-AU" sz="3600" dirty="0"/>
          </a:p>
          <a:p>
            <a:pPr algn="ctr"/>
            <a:endParaRPr lang="en-AU" sz="3600" dirty="0"/>
          </a:p>
          <a:p>
            <a:pPr algn="ctr"/>
            <a:endParaRPr lang="en-AU" sz="3600" dirty="0"/>
          </a:p>
          <a:p>
            <a:pPr algn="ctr"/>
            <a:endParaRPr lang="en-AU" sz="3600" dirty="0"/>
          </a:p>
          <a:p>
            <a:pPr algn="ctr"/>
            <a:endParaRPr lang="en-AU" sz="3600" dirty="0"/>
          </a:p>
          <a:p>
            <a:pPr algn="ctr"/>
            <a:endParaRPr lang="en-AU" sz="3600" dirty="0"/>
          </a:p>
          <a:p>
            <a:pPr algn="ctr"/>
            <a:r>
              <a:rPr lang="en-AU" sz="3600" dirty="0"/>
              <a:t>How many </a:t>
            </a:r>
            <a:r>
              <a:rPr lang="en-AU" sz="3600" b="1" dirty="0"/>
              <a:t>faces</a:t>
            </a:r>
            <a:r>
              <a:rPr lang="en-AU" sz="3600" dirty="0"/>
              <a:t>, </a:t>
            </a:r>
            <a:r>
              <a:rPr lang="en-AU" sz="3600" b="1" dirty="0"/>
              <a:t>edges</a:t>
            </a:r>
            <a:r>
              <a:rPr lang="en-AU" sz="3600" dirty="0"/>
              <a:t> and </a:t>
            </a:r>
            <a:r>
              <a:rPr lang="en-AU" sz="3600" b="1" dirty="0"/>
              <a:t>vertices</a:t>
            </a:r>
            <a:r>
              <a:rPr lang="en-AU" sz="3600" dirty="0"/>
              <a:t> does a </a:t>
            </a:r>
            <a:r>
              <a:rPr lang="en-AU" sz="3600" b="1" dirty="0"/>
              <a:t>triangular pyramid </a:t>
            </a:r>
            <a:r>
              <a:rPr lang="en-AU" sz="3600" dirty="0"/>
              <a:t>have?</a:t>
            </a:r>
          </a:p>
          <a:p>
            <a:pPr algn="ctr">
              <a:lnSpc>
                <a:spcPct val="150000"/>
              </a:lnSpc>
            </a:pPr>
            <a:r>
              <a:rPr lang="en-AU" sz="2800" dirty="0"/>
              <a:t>​</a:t>
            </a:r>
          </a:p>
        </p:txBody>
      </p:sp>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pic>
        <p:nvPicPr>
          <p:cNvPr id="7" name="Picture 6" descr="Image of a triangular pyramid.">
            <a:extLst>
              <a:ext uri="{FF2B5EF4-FFF2-40B4-BE49-F238E27FC236}">
                <a16:creationId xmlns:a16="http://schemas.microsoft.com/office/drawing/2014/main" id="{98941D93-CFE7-7E1E-2958-C87F93437829}"/>
              </a:ext>
            </a:extLst>
          </p:cNvPr>
          <p:cNvPicPr>
            <a:picLocks noChangeAspect="1"/>
          </p:cNvPicPr>
          <p:nvPr/>
        </p:nvPicPr>
        <p:blipFill>
          <a:blip r:embed="rId4"/>
          <a:srcRect l="41262" t="15423" r="35546" b="27848"/>
          <a:stretch>
            <a:fillRect/>
          </a:stretch>
        </p:blipFill>
        <p:spPr>
          <a:xfrm>
            <a:off x="4192659" y="978177"/>
            <a:ext cx="2701949" cy="3717577"/>
          </a:xfrm>
          <a:prstGeom prst="rect">
            <a:avLst/>
          </a:prstGeom>
        </p:spPr>
      </p:pic>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pic>
        <p:nvPicPr>
          <p:cNvPr id="3" name="Picture 2">
            <a:extLst>
              <a:ext uri="{FF2B5EF4-FFF2-40B4-BE49-F238E27FC236}">
                <a16:creationId xmlns:a16="http://schemas.microsoft.com/office/drawing/2014/main" id="{FC9A4B87-D950-48CA-7AF9-006C90DB933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4" name="Picture 3" descr="Diagram showing two three-dimensional geometric objects. On the left is an object with a triangular base and an apex and 3 other vertices on the base.  On the right is an object with 2 opposite identical triangular faces linked by 3 identical rectangular faces. Both objects are outlined with solid and dashed lines to indicate visible and hidden edges, with light blue shading on some faces to highlight their structure.">
            <a:extLst>
              <a:ext uri="{FF2B5EF4-FFF2-40B4-BE49-F238E27FC236}">
                <a16:creationId xmlns:a16="http://schemas.microsoft.com/office/drawing/2014/main" id="{37FAEA68-9123-4868-0D6C-13614E9357B7}"/>
              </a:ext>
            </a:extLst>
          </p:cNvPr>
          <p:cNvPicPr>
            <a:picLocks noChangeAspect="1"/>
          </p:cNvPicPr>
          <p:nvPr/>
        </p:nvPicPr>
        <p:blipFill>
          <a:blip r:embed="rId4"/>
          <a:srcRect l="18152" t="15562" r="9481" b="26225"/>
          <a:stretch>
            <a:fillRect/>
          </a:stretch>
        </p:blipFill>
        <p:spPr>
          <a:xfrm>
            <a:off x="2809574" y="2901750"/>
            <a:ext cx="6804671" cy="3078488"/>
          </a:xfrm>
          <a:prstGeom prst="rect">
            <a:avLst/>
          </a:prstGeom>
          <a:effectLst/>
        </p:spPr>
      </p:pic>
      <p:sp>
        <p:nvSpPr>
          <p:cNvPr id="5" name="TextBox 4">
            <a:extLst>
              <a:ext uri="{FF2B5EF4-FFF2-40B4-BE49-F238E27FC236}">
                <a16:creationId xmlns:a16="http://schemas.microsoft.com/office/drawing/2014/main" id="{BA71157C-2206-98A0-BCD1-ED8D091890F3}"/>
              </a:ext>
            </a:extLst>
          </p:cNvPr>
          <p:cNvSpPr txBox="1"/>
          <p:nvPr/>
        </p:nvSpPr>
        <p:spPr>
          <a:xfrm>
            <a:off x="752196" y="1453956"/>
            <a:ext cx="11193780" cy="72834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en-US" sz="3600" dirty="0">
                <a:cs typeface="Arial"/>
              </a:rPr>
              <a:t>What are the </a:t>
            </a:r>
            <a:r>
              <a:rPr lang="en-US" sz="3600" b="1" dirty="0">
                <a:cs typeface="Arial"/>
              </a:rPr>
              <a:t>differences</a:t>
            </a:r>
            <a:r>
              <a:rPr lang="en-US" sz="3600" dirty="0">
                <a:cs typeface="Arial"/>
              </a:rPr>
              <a:t> between these </a:t>
            </a:r>
            <a:r>
              <a:rPr lang="en-US" sz="3600" b="1" dirty="0">
                <a:cs typeface="Arial"/>
              </a:rPr>
              <a:t>3D objects</a:t>
            </a:r>
            <a:r>
              <a:rPr lang="en-US" sz="3600" dirty="0">
                <a:cs typeface="Arial"/>
              </a:rPr>
              <a:t>?</a:t>
            </a:r>
          </a:p>
        </p:txBody>
      </p:sp>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926540"/>
          </a:xfrm>
        </p:spPr>
        <p:txBody>
          <a:bodyPr/>
          <a:lstStyle/>
          <a:p>
            <a:r>
              <a:rPr lang="en-AU">
                <a:latin typeface="Arial"/>
                <a:cs typeface="Arial"/>
              </a:rPr>
              <a:t>Activity 1 – </a:t>
            </a:r>
            <a:r>
              <a:rPr lang="en-AU"/>
              <a:t>number patterns with related multiples of 2 and 3</a:t>
            </a:r>
            <a:endParaRPr lang="en-US"/>
          </a:p>
          <a:p>
            <a:endParaRPr lang="en-AU"/>
          </a:p>
        </p:txBody>
      </p:sp>
      <p:graphicFrame>
        <p:nvGraphicFramePr>
          <p:cNvPr id="4" name="Table 3" descr="A 1–30 number chart.">
            <a:extLst>
              <a:ext uri="{FF2B5EF4-FFF2-40B4-BE49-F238E27FC236}">
                <a16:creationId xmlns:a16="http://schemas.microsoft.com/office/drawing/2014/main" id="{5670004B-2CB6-AC3A-BCE7-2A2B6C2D2194}"/>
              </a:ext>
            </a:extLst>
          </p:cNvPr>
          <p:cNvGraphicFramePr>
            <a:graphicFrameLocks noGrp="1"/>
          </p:cNvGraphicFramePr>
          <p:nvPr>
            <p:extLst>
              <p:ext uri="{D42A27DB-BD31-4B8C-83A1-F6EECF244321}">
                <p14:modId xmlns:p14="http://schemas.microsoft.com/office/powerpoint/2010/main" val="3359280967"/>
              </p:ext>
            </p:extLst>
          </p:nvPr>
        </p:nvGraphicFramePr>
        <p:xfrm>
          <a:off x="2377531" y="1785746"/>
          <a:ext cx="7450668" cy="4509910"/>
        </p:xfrm>
        <a:graphic>
          <a:graphicData uri="http://schemas.openxmlformats.org/drawingml/2006/table">
            <a:tbl>
              <a:tblPr firstRow="1" bandRow="1">
                <a:tableStyleId>{5940675A-B579-460E-94D1-54222C63F5DA}</a:tableStyleId>
              </a:tblPr>
              <a:tblGrid>
                <a:gridCol w="1241778">
                  <a:extLst>
                    <a:ext uri="{9D8B030D-6E8A-4147-A177-3AD203B41FA5}">
                      <a16:colId xmlns:a16="http://schemas.microsoft.com/office/drawing/2014/main" val="358208193"/>
                    </a:ext>
                  </a:extLst>
                </a:gridCol>
                <a:gridCol w="1241778">
                  <a:extLst>
                    <a:ext uri="{9D8B030D-6E8A-4147-A177-3AD203B41FA5}">
                      <a16:colId xmlns:a16="http://schemas.microsoft.com/office/drawing/2014/main" val="3412453810"/>
                    </a:ext>
                  </a:extLst>
                </a:gridCol>
                <a:gridCol w="1241778">
                  <a:extLst>
                    <a:ext uri="{9D8B030D-6E8A-4147-A177-3AD203B41FA5}">
                      <a16:colId xmlns:a16="http://schemas.microsoft.com/office/drawing/2014/main" val="2300258942"/>
                    </a:ext>
                  </a:extLst>
                </a:gridCol>
                <a:gridCol w="1241778">
                  <a:extLst>
                    <a:ext uri="{9D8B030D-6E8A-4147-A177-3AD203B41FA5}">
                      <a16:colId xmlns:a16="http://schemas.microsoft.com/office/drawing/2014/main" val="4235776053"/>
                    </a:ext>
                  </a:extLst>
                </a:gridCol>
                <a:gridCol w="1241778">
                  <a:extLst>
                    <a:ext uri="{9D8B030D-6E8A-4147-A177-3AD203B41FA5}">
                      <a16:colId xmlns:a16="http://schemas.microsoft.com/office/drawing/2014/main" val="1750635502"/>
                    </a:ext>
                  </a:extLst>
                </a:gridCol>
                <a:gridCol w="1241778">
                  <a:extLst>
                    <a:ext uri="{9D8B030D-6E8A-4147-A177-3AD203B41FA5}">
                      <a16:colId xmlns:a16="http://schemas.microsoft.com/office/drawing/2014/main" val="3876617409"/>
                    </a:ext>
                  </a:extLst>
                </a:gridCol>
              </a:tblGrid>
              <a:tr h="901982">
                <a:tc>
                  <a:txBody>
                    <a:bodyPr/>
                    <a:lstStyle/>
                    <a:p>
                      <a:pPr algn="ctr"/>
                      <a:r>
                        <a:rPr lang="en-AU" sz="3200">
                          <a:latin typeface="Arial" panose="020B0604020202020204" pitchFamily="34" charset="0"/>
                          <a:cs typeface="Arial" panose="020B0604020202020204" pitchFamily="34" charset="0"/>
                        </a:rPr>
                        <a:t>1</a:t>
                      </a:r>
                    </a:p>
                  </a:txBody>
                  <a:tcPr anchor="ctr"/>
                </a:tc>
                <a:tc>
                  <a:txBody>
                    <a:bodyPr/>
                    <a:lstStyle/>
                    <a:p>
                      <a:pPr algn="ctr"/>
                      <a:r>
                        <a:rPr lang="en-AU" sz="3200">
                          <a:latin typeface="Arial" panose="020B0604020202020204" pitchFamily="34" charset="0"/>
                          <a:cs typeface="Arial" panose="020B0604020202020204" pitchFamily="34" charset="0"/>
                        </a:rPr>
                        <a:t>2</a:t>
                      </a:r>
                    </a:p>
                  </a:txBody>
                  <a:tcPr anchor="ctr"/>
                </a:tc>
                <a:tc>
                  <a:txBody>
                    <a:bodyPr/>
                    <a:lstStyle/>
                    <a:p>
                      <a:pPr algn="ctr"/>
                      <a:r>
                        <a:rPr lang="en-AU" sz="3200">
                          <a:latin typeface="Arial" panose="020B0604020202020204" pitchFamily="34" charset="0"/>
                          <a:cs typeface="Arial" panose="020B0604020202020204" pitchFamily="34" charset="0"/>
                        </a:rPr>
                        <a:t>3</a:t>
                      </a:r>
                    </a:p>
                  </a:txBody>
                  <a:tcPr anchor="ctr"/>
                </a:tc>
                <a:tc>
                  <a:txBody>
                    <a:bodyPr/>
                    <a:lstStyle/>
                    <a:p>
                      <a:pPr algn="ctr"/>
                      <a:r>
                        <a:rPr lang="en-AU" sz="3200">
                          <a:latin typeface="Arial" panose="020B0604020202020204" pitchFamily="34" charset="0"/>
                          <a:cs typeface="Arial" panose="020B0604020202020204" pitchFamily="34" charset="0"/>
                        </a:rPr>
                        <a:t>4</a:t>
                      </a:r>
                    </a:p>
                  </a:txBody>
                  <a:tcPr anchor="ctr"/>
                </a:tc>
                <a:tc>
                  <a:txBody>
                    <a:bodyPr/>
                    <a:lstStyle/>
                    <a:p>
                      <a:pPr algn="ctr"/>
                      <a:r>
                        <a:rPr lang="en-AU" sz="3200">
                          <a:latin typeface="Arial" panose="020B0604020202020204" pitchFamily="34" charset="0"/>
                          <a:cs typeface="Arial" panose="020B0604020202020204" pitchFamily="34" charset="0"/>
                        </a:rPr>
                        <a:t>5</a:t>
                      </a:r>
                    </a:p>
                  </a:txBody>
                  <a:tcPr anchor="ctr"/>
                </a:tc>
                <a:tc>
                  <a:txBody>
                    <a:bodyPr/>
                    <a:lstStyle/>
                    <a:p>
                      <a:pPr algn="ctr"/>
                      <a:r>
                        <a:rPr lang="en-AU" sz="3200">
                          <a:latin typeface="Arial" panose="020B0604020202020204" pitchFamily="34" charset="0"/>
                          <a:cs typeface="Arial" panose="020B0604020202020204" pitchFamily="34" charset="0"/>
                        </a:rPr>
                        <a:t>6</a:t>
                      </a:r>
                    </a:p>
                  </a:txBody>
                  <a:tcPr anchor="ctr"/>
                </a:tc>
                <a:extLst>
                  <a:ext uri="{0D108BD9-81ED-4DB2-BD59-A6C34878D82A}">
                    <a16:rowId xmlns:a16="http://schemas.microsoft.com/office/drawing/2014/main" val="645996106"/>
                  </a:ext>
                </a:extLst>
              </a:tr>
              <a:tr h="901982">
                <a:tc>
                  <a:txBody>
                    <a:bodyPr/>
                    <a:lstStyle/>
                    <a:p>
                      <a:pPr algn="ctr"/>
                      <a:r>
                        <a:rPr lang="en-AU" sz="3200">
                          <a:latin typeface="Arial" panose="020B0604020202020204" pitchFamily="34" charset="0"/>
                          <a:cs typeface="Arial" panose="020B0604020202020204" pitchFamily="34" charset="0"/>
                        </a:rPr>
                        <a:t>7</a:t>
                      </a:r>
                    </a:p>
                  </a:txBody>
                  <a:tcPr anchor="ctr"/>
                </a:tc>
                <a:tc>
                  <a:txBody>
                    <a:bodyPr/>
                    <a:lstStyle/>
                    <a:p>
                      <a:pPr algn="ctr"/>
                      <a:r>
                        <a:rPr lang="en-AU" sz="3200">
                          <a:latin typeface="Arial" panose="020B0604020202020204" pitchFamily="34" charset="0"/>
                          <a:cs typeface="Arial" panose="020B0604020202020204" pitchFamily="34" charset="0"/>
                        </a:rPr>
                        <a:t>8</a:t>
                      </a:r>
                    </a:p>
                  </a:txBody>
                  <a:tcPr anchor="ctr"/>
                </a:tc>
                <a:tc>
                  <a:txBody>
                    <a:bodyPr/>
                    <a:lstStyle/>
                    <a:p>
                      <a:pPr algn="ctr"/>
                      <a:r>
                        <a:rPr lang="en-AU" sz="3200">
                          <a:latin typeface="Arial" panose="020B0604020202020204" pitchFamily="34" charset="0"/>
                          <a:cs typeface="Arial" panose="020B0604020202020204" pitchFamily="34" charset="0"/>
                        </a:rPr>
                        <a:t>9</a:t>
                      </a:r>
                    </a:p>
                  </a:txBody>
                  <a:tcPr anchor="ctr"/>
                </a:tc>
                <a:tc>
                  <a:txBody>
                    <a:bodyPr/>
                    <a:lstStyle/>
                    <a:p>
                      <a:pPr algn="ctr"/>
                      <a:r>
                        <a:rPr lang="en-AU" sz="3200">
                          <a:latin typeface="Arial" panose="020B0604020202020204" pitchFamily="34" charset="0"/>
                          <a:cs typeface="Arial" panose="020B0604020202020204" pitchFamily="34" charset="0"/>
                        </a:rPr>
                        <a:t>10</a:t>
                      </a:r>
                    </a:p>
                  </a:txBody>
                  <a:tcPr anchor="ctr"/>
                </a:tc>
                <a:tc>
                  <a:txBody>
                    <a:bodyPr/>
                    <a:lstStyle/>
                    <a:p>
                      <a:pPr algn="ctr"/>
                      <a:r>
                        <a:rPr lang="en-AU" sz="3200">
                          <a:latin typeface="Arial" panose="020B0604020202020204" pitchFamily="34" charset="0"/>
                          <a:cs typeface="Arial" panose="020B0604020202020204" pitchFamily="34" charset="0"/>
                        </a:rPr>
                        <a:t>11</a:t>
                      </a:r>
                    </a:p>
                  </a:txBody>
                  <a:tcPr anchor="ctr"/>
                </a:tc>
                <a:tc>
                  <a:txBody>
                    <a:bodyPr/>
                    <a:lstStyle/>
                    <a:p>
                      <a:pPr algn="ctr"/>
                      <a:r>
                        <a:rPr lang="en-AU" sz="3200">
                          <a:latin typeface="Arial" panose="020B0604020202020204" pitchFamily="34" charset="0"/>
                          <a:cs typeface="Arial" panose="020B0604020202020204" pitchFamily="34" charset="0"/>
                        </a:rPr>
                        <a:t>12</a:t>
                      </a:r>
                    </a:p>
                  </a:txBody>
                  <a:tcPr anchor="ctr"/>
                </a:tc>
                <a:extLst>
                  <a:ext uri="{0D108BD9-81ED-4DB2-BD59-A6C34878D82A}">
                    <a16:rowId xmlns:a16="http://schemas.microsoft.com/office/drawing/2014/main" val="3289881246"/>
                  </a:ext>
                </a:extLst>
              </a:tr>
              <a:tr h="901982">
                <a:tc>
                  <a:txBody>
                    <a:bodyPr/>
                    <a:lstStyle/>
                    <a:p>
                      <a:pPr algn="ctr"/>
                      <a:r>
                        <a:rPr lang="en-AU" sz="3200">
                          <a:latin typeface="Arial" panose="020B0604020202020204" pitchFamily="34" charset="0"/>
                          <a:cs typeface="Arial" panose="020B0604020202020204" pitchFamily="34" charset="0"/>
                        </a:rPr>
                        <a:t>13</a:t>
                      </a:r>
                    </a:p>
                  </a:txBody>
                  <a:tcPr anchor="ctr"/>
                </a:tc>
                <a:tc>
                  <a:txBody>
                    <a:bodyPr/>
                    <a:lstStyle/>
                    <a:p>
                      <a:pPr algn="ctr"/>
                      <a:r>
                        <a:rPr lang="en-AU" sz="3200">
                          <a:latin typeface="Arial" panose="020B0604020202020204" pitchFamily="34" charset="0"/>
                          <a:cs typeface="Arial" panose="020B0604020202020204" pitchFamily="34" charset="0"/>
                        </a:rPr>
                        <a:t>14</a:t>
                      </a:r>
                    </a:p>
                  </a:txBody>
                  <a:tcPr anchor="ctr"/>
                </a:tc>
                <a:tc>
                  <a:txBody>
                    <a:bodyPr/>
                    <a:lstStyle/>
                    <a:p>
                      <a:pPr algn="ctr"/>
                      <a:r>
                        <a:rPr lang="en-AU" sz="3200">
                          <a:latin typeface="Arial" panose="020B0604020202020204" pitchFamily="34" charset="0"/>
                          <a:cs typeface="Arial" panose="020B0604020202020204" pitchFamily="34" charset="0"/>
                        </a:rPr>
                        <a:t>15</a:t>
                      </a:r>
                    </a:p>
                  </a:txBody>
                  <a:tcPr anchor="ctr"/>
                </a:tc>
                <a:tc>
                  <a:txBody>
                    <a:bodyPr/>
                    <a:lstStyle/>
                    <a:p>
                      <a:pPr algn="ctr"/>
                      <a:r>
                        <a:rPr lang="en-AU" sz="3200">
                          <a:latin typeface="Arial" panose="020B0604020202020204" pitchFamily="34" charset="0"/>
                          <a:cs typeface="Arial" panose="020B0604020202020204" pitchFamily="34" charset="0"/>
                        </a:rPr>
                        <a:t>16</a:t>
                      </a:r>
                    </a:p>
                  </a:txBody>
                  <a:tcPr anchor="ctr"/>
                </a:tc>
                <a:tc>
                  <a:txBody>
                    <a:bodyPr/>
                    <a:lstStyle/>
                    <a:p>
                      <a:pPr algn="ctr"/>
                      <a:r>
                        <a:rPr lang="en-AU" sz="3200">
                          <a:latin typeface="Arial" panose="020B0604020202020204" pitchFamily="34" charset="0"/>
                          <a:cs typeface="Arial" panose="020B0604020202020204" pitchFamily="34" charset="0"/>
                        </a:rPr>
                        <a:t>17</a:t>
                      </a:r>
                    </a:p>
                  </a:txBody>
                  <a:tcPr anchor="ctr"/>
                </a:tc>
                <a:tc>
                  <a:txBody>
                    <a:bodyPr/>
                    <a:lstStyle/>
                    <a:p>
                      <a:pPr algn="ctr"/>
                      <a:r>
                        <a:rPr lang="en-AU" sz="3200">
                          <a:latin typeface="Arial" panose="020B0604020202020204" pitchFamily="34" charset="0"/>
                          <a:cs typeface="Arial" panose="020B0604020202020204" pitchFamily="34" charset="0"/>
                        </a:rPr>
                        <a:t>18</a:t>
                      </a:r>
                    </a:p>
                  </a:txBody>
                  <a:tcPr anchor="ctr"/>
                </a:tc>
                <a:extLst>
                  <a:ext uri="{0D108BD9-81ED-4DB2-BD59-A6C34878D82A}">
                    <a16:rowId xmlns:a16="http://schemas.microsoft.com/office/drawing/2014/main" val="1888893859"/>
                  </a:ext>
                </a:extLst>
              </a:tr>
              <a:tr h="901982">
                <a:tc>
                  <a:txBody>
                    <a:bodyPr/>
                    <a:lstStyle/>
                    <a:p>
                      <a:pPr algn="ctr"/>
                      <a:r>
                        <a:rPr lang="en-AU" sz="3200">
                          <a:latin typeface="Arial" panose="020B0604020202020204" pitchFamily="34" charset="0"/>
                          <a:cs typeface="Arial" panose="020B0604020202020204" pitchFamily="34" charset="0"/>
                        </a:rPr>
                        <a:t>19</a:t>
                      </a:r>
                    </a:p>
                  </a:txBody>
                  <a:tcPr anchor="ctr"/>
                </a:tc>
                <a:tc>
                  <a:txBody>
                    <a:bodyPr/>
                    <a:lstStyle/>
                    <a:p>
                      <a:pPr algn="ctr"/>
                      <a:r>
                        <a:rPr lang="en-AU" sz="3200">
                          <a:latin typeface="Arial" panose="020B0604020202020204" pitchFamily="34" charset="0"/>
                          <a:cs typeface="Arial" panose="020B0604020202020204" pitchFamily="34" charset="0"/>
                        </a:rPr>
                        <a:t>20</a:t>
                      </a:r>
                    </a:p>
                  </a:txBody>
                  <a:tcPr anchor="ctr"/>
                </a:tc>
                <a:tc>
                  <a:txBody>
                    <a:bodyPr/>
                    <a:lstStyle/>
                    <a:p>
                      <a:pPr algn="ctr"/>
                      <a:r>
                        <a:rPr lang="en-AU" sz="3200">
                          <a:latin typeface="Arial" panose="020B0604020202020204" pitchFamily="34" charset="0"/>
                          <a:cs typeface="Arial" panose="020B0604020202020204" pitchFamily="34" charset="0"/>
                        </a:rPr>
                        <a:t>21</a:t>
                      </a:r>
                    </a:p>
                  </a:txBody>
                  <a:tcPr anchor="ctr"/>
                </a:tc>
                <a:tc>
                  <a:txBody>
                    <a:bodyPr/>
                    <a:lstStyle/>
                    <a:p>
                      <a:pPr algn="ctr"/>
                      <a:r>
                        <a:rPr lang="en-AU" sz="3200">
                          <a:latin typeface="Arial" panose="020B0604020202020204" pitchFamily="34" charset="0"/>
                          <a:cs typeface="Arial" panose="020B0604020202020204" pitchFamily="34" charset="0"/>
                        </a:rPr>
                        <a:t>22</a:t>
                      </a:r>
                    </a:p>
                  </a:txBody>
                  <a:tcPr anchor="ctr"/>
                </a:tc>
                <a:tc>
                  <a:txBody>
                    <a:bodyPr/>
                    <a:lstStyle/>
                    <a:p>
                      <a:pPr algn="ctr"/>
                      <a:r>
                        <a:rPr lang="en-AU" sz="3200">
                          <a:latin typeface="Arial" panose="020B0604020202020204" pitchFamily="34" charset="0"/>
                          <a:cs typeface="Arial" panose="020B0604020202020204" pitchFamily="34" charset="0"/>
                        </a:rPr>
                        <a:t>23</a:t>
                      </a:r>
                    </a:p>
                  </a:txBody>
                  <a:tcPr anchor="ctr"/>
                </a:tc>
                <a:tc>
                  <a:txBody>
                    <a:bodyPr/>
                    <a:lstStyle/>
                    <a:p>
                      <a:pPr algn="ctr"/>
                      <a:r>
                        <a:rPr lang="en-AU" sz="3200">
                          <a:latin typeface="Arial" panose="020B0604020202020204" pitchFamily="34" charset="0"/>
                          <a:cs typeface="Arial" panose="020B0604020202020204" pitchFamily="34" charset="0"/>
                        </a:rPr>
                        <a:t>24</a:t>
                      </a:r>
                    </a:p>
                  </a:txBody>
                  <a:tcPr anchor="ctr"/>
                </a:tc>
                <a:extLst>
                  <a:ext uri="{0D108BD9-81ED-4DB2-BD59-A6C34878D82A}">
                    <a16:rowId xmlns:a16="http://schemas.microsoft.com/office/drawing/2014/main" val="748868813"/>
                  </a:ext>
                </a:extLst>
              </a:tr>
              <a:tr h="901982">
                <a:tc>
                  <a:txBody>
                    <a:bodyPr/>
                    <a:lstStyle/>
                    <a:p>
                      <a:pPr algn="ctr"/>
                      <a:r>
                        <a:rPr lang="en-AU" sz="3200">
                          <a:latin typeface="Arial" panose="020B0604020202020204" pitchFamily="34" charset="0"/>
                          <a:cs typeface="Arial" panose="020B0604020202020204" pitchFamily="34" charset="0"/>
                        </a:rPr>
                        <a:t>25</a:t>
                      </a:r>
                    </a:p>
                  </a:txBody>
                  <a:tcPr anchor="ctr"/>
                </a:tc>
                <a:tc>
                  <a:txBody>
                    <a:bodyPr/>
                    <a:lstStyle/>
                    <a:p>
                      <a:pPr algn="ctr"/>
                      <a:r>
                        <a:rPr lang="en-AU" sz="3200">
                          <a:latin typeface="Arial" panose="020B0604020202020204" pitchFamily="34" charset="0"/>
                          <a:cs typeface="Arial" panose="020B0604020202020204" pitchFamily="34" charset="0"/>
                        </a:rPr>
                        <a:t>26</a:t>
                      </a:r>
                    </a:p>
                  </a:txBody>
                  <a:tcPr anchor="ctr"/>
                </a:tc>
                <a:tc>
                  <a:txBody>
                    <a:bodyPr/>
                    <a:lstStyle/>
                    <a:p>
                      <a:pPr algn="ctr"/>
                      <a:r>
                        <a:rPr lang="en-AU" sz="3200">
                          <a:latin typeface="Arial" panose="020B0604020202020204" pitchFamily="34" charset="0"/>
                          <a:cs typeface="Arial" panose="020B0604020202020204" pitchFamily="34" charset="0"/>
                        </a:rPr>
                        <a:t>27</a:t>
                      </a:r>
                    </a:p>
                  </a:txBody>
                  <a:tcPr anchor="ctr"/>
                </a:tc>
                <a:tc>
                  <a:txBody>
                    <a:bodyPr/>
                    <a:lstStyle/>
                    <a:p>
                      <a:pPr algn="ctr"/>
                      <a:r>
                        <a:rPr lang="en-AU" sz="3200">
                          <a:latin typeface="Arial" panose="020B0604020202020204" pitchFamily="34" charset="0"/>
                          <a:cs typeface="Arial" panose="020B0604020202020204" pitchFamily="34" charset="0"/>
                        </a:rPr>
                        <a:t>28</a:t>
                      </a:r>
                    </a:p>
                  </a:txBody>
                  <a:tcPr anchor="ctr"/>
                </a:tc>
                <a:tc>
                  <a:txBody>
                    <a:bodyPr/>
                    <a:lstStyle/>
                    <a:p>
                      <a:pPr algn="ctr"/>
                      <a:r>
                        <a:rPr lang="en-AU" sz="3200">
                          <a:latin typeface="Arial" panose="020B0604020202020204" pitchFamily="34" charset="0"/>
                          <a:cs typeface="Arial" panose="020B0604020202020204" pitchFamily="34" charset="0"/>
                        </a:rPr>
                        <a:t>29</a:t>
                      </a:r>
                    </a:p>
                  </a:txBody>
                  <a:tcPr anchor="ctr"/>
                </a:tc>
                <a:tc>
                  <a:txBody>
                    <a:bodyPr/>
                    <a:lstStyle/>
                    <a:p>
                      <a:pPr algn="ctr"/>
                      <a:r>
                        <a:rPr lang="en-AU" sz="3200">
                          <a:latin typeface="Arial" panose="020B0604020202020204" pitchFamily="34" charset="0"/>
                          <a:cs typeface="Arial" panose="020B0604020202020204" pitchFamily="34" charset="0"/>
                        </a:rPr>
                        <a:t>30</a:t>
                      </a:r>
                    </a:p>
                  </a:txBody>
                  <a:tcPr anchor="ctr"/>
                </a:tc>
                <a:extLst>
                  <a:ext uri="{0D108BD9-81ED-4DB2-BD59-A6C34878D82A}">
                    <a16:rowId xmlns:a16="http://schemas.microsoft.com/office/drawing/2014/main" val="1514207836"/>
                  </a:ext>
                </a:extLst>
              </a:tr>
            </a:tbl>
          </a:graphicData>
        </a:graphic>
      </p:graphicFrame>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spTree>
    <p:extLst>
      <p:ext uri="{BB962C8B-B14F-4D97-AF65-F5344CB8AC3E}">
        <p14:creationId xmlns:p14="http://schemas.microsoft.com/office/powerpoint/2010/main" val="179815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a:xfrm>
            <a:off x="360000" y="360000"/>
            <a:ext cx="10447908" cy="545601"/>
          </a:xfrm>
        </p:spPr>
        <p:txBody>
          <a:bodyPr/>
          <a:lstStyle/>
          <a:p>
            <a:r>
              <a:rPr lang="en-US"/>
              <a:t>True or false </a:t>
            </a:r>
            <a:r>
              <a:rPr lang="en-US">
                <a:solidFill>
                  <a:schemeClr val="bg1"/>
                </a:solidFill>
              </a:rPr>
              <a:t>(1)</a:t>
            </a:r>
          </a:p>
        </p:txBody>
      </p:sp>
      <p:pic>
        <p:nvPicPr>
          <p:cNvPr id="4" name="Picture 3">
            <a:extLst>
              <a:ext uri="{FF2B5EF4-FFF2-40B4-BE49-F238E27FC236}">
                <a16:creationId xmlns:a16="http://schemas.microsoft.com/office/drawing/2014/main" id="{6FB50F61-F068-87AB-4B10-FC2CEB84FBC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360000" y="1141647"/>
            <a:ext cx="11243037" cy="2223040"/>
          </a:xfrm>
        </p:spPr>
        <p:txBody>
          <a:bodyPr/>
          <a:lstStyle/>
          <a:p>
            <a:pPr algn="ctr"/>
            <a:r>
              <a:rPr lang="en-AU" sz="4400"/>
              <a:t>If I </a:t>
            </a:r>
            <a:r>
              <a:rPr lang="en-AU" sz="4400" b="1"/>
              <a:t>start</a:t>
            </a:r>
            <a:r>
              <a:rPr lang="en-AU" sz="4400"/>
              <a:t> at </a:t>
            </a:r>
            <a:r>
              <a:rPr lang="en-AU" sz="4400" b="1"/>
              <a:t>6</a:t>
            </a:r>
            <a:r>
              <a:rPr lang="en-AU" sz="4400"/>
              <a:t> and </a:t>
            </a:r>
            <a:r>
              <a:rPr lang="en-AU" sz="4400" b="1"/>
              <a:t>count forward in threes</a:t>
            </a:r>
            <a:r>
              <a:rPr lang="en-AU" sz="4400"/>
              <a:t>, my sequence would be: </a:t>
            </a:r>
          </a:p>
          <a:p>
            <a:pPr algn="ctr"/>
            <a:r>
              <a:rPr lang="en-AU" sz="5400"/>
              <a:t>6, 9, 12, 15, 18</a:t>
            </a:r>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3445979481"/>
              </p:ext>
            </p:extLst>
          </p:nvPr>
        </p:nvGraphicFramePr>
        <p:xfrm>
          <a:off x="2442980" y="5465004"/>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pic>
        <p:nvPicPr>
          <p:cNvPr id="3" name="Picture 2">
            <a:extLst>
              <a:ext uri="{FF2B5EF4-FFF2-40B4-BE49-F238E27FC236}">
                <a16:creationId xmlns:a16="http://schemas.microsoft.com/office/drawing/2014/main" id="{C7718586-1339-6B81-E608-E6AA891DE5E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7C85B1A1-4749-7A1B-0072-83E846DD3D9B}"/>
              </a:ext>
            </a:extLst>
          </p:cNvPr>
          <p:cNvSpPr txBox="1"/>
          <p:nvPr/>
        </p:nvSpPr>
        <p:spPr>
          <a:xfrm>
            <a:off x="1193494" y="1286411"/>
            <a:ext cx="9805012" cy="3822854"/>
          </a:xfrm>
          <a:prstGeom prst="rect">
            <a:avLst/>
          </a:prstGeom>
          <a:noFill/>
        </p:spPr>
        <p:txBody>
          <a:bodyPr wrap="none" lIns="0" tIns="0" rIns="0" bIns="0" rtlCol="0">
            <a:noAutofit/>
          </a:bodyPr>
          <a:lstStyle/>
          <a:p>
            <a:pPr algn="ctr">
              <a:lnSpc>
                <a:spcPct val="150000"/>
              </a:lnSpc>
            </a:pPr>
            <a:r>
              <a:rPr lang="en-AU" sz="4400"/>
              <a:t>What is the </a:t>
            </a:r>
            <a:r>
              <a:rPr lang="en-AU" sz="4400" b="1"/>
              <a:t>largest</a:t>
            </a:r>
            <a:r>
              <a:rPr lang="en-AU" sz="4400"/>
              <a:t> and </a:t>
            </a:r>
            <a:r>
              <a:rPr lang="en-AU" sz="4400" b="1"/>
              <a:t>smallest</a:t>
            </a:r>
            <a:r>
              <a:rPr lang="en-AU" sz="4400"/>
              <a:t> </a:t>
            </a:r>
          </a:p>
          <a:p>
            <a:pPr algn="ctr">
              <a:lnSpc>
                <a:spcPct val="150000"/>
              </a:lnSpc>
            </a:pPr>
            <a:r>
              <a:rPr lang="en-AU" sz="4400"/>
              <a:t>number you can make be rearranging all </a:t>
            </a:r>
          </a:p>
          <a:p>
            <a:pPr algn="ctr">
              <a:lnSpc>
                <a:spcPct val="150000"/>
              </a:lnSpc>
            </a:pPr>
            <a:r>
              <a:rPr lang="en-AU" sz="4400"/>
              <a:t>these digits:</a:t>
            </a:r>
          </a:p>
          <a:p>
            <a:pPr algn="ctr">
              <a:lnSpc>
                <a:spcPct val="150000"/>
              </a:lnSpc>
            </a:pPr>
            <a:r>
              <a:rPr lang="en-AU" sz="5400">
                <a:solidFill>
                  <a:schemeClr val="accent2"/>
                </a:solidFill>
              </a:rPr>
              <a:t>3, 5, 2, 8, 1</a:t>
            </a:r>
            <a:endParaRPr lang="en-AU" sz="4400">
              <a:solidFill>
                <a:schemeClr val="accent2"/>
              </a:solidFill>
            </a:endParaRPr>
          </a:p>
          <a:p>
            <a:pPr algn="ctr">
              <a:lnSpc>
                <a:spcPct val="150000"/>
              </a:lnSpc>
            </a:pPr>
            <a:r>
              <a:rPr lang="en-AU" sz="4400" b="1"/>
              <a:t>Communicate</a:t>
            </a:r>
            <a:r>
              <a:rPr lang="en-AU" sz="4400"/>
              <a:t> your </a:t>
            </a:r>
            <a:r>
              <a:rPr lang="en-AU" sz="4400" b="1"/>
              <a:t>reasoning</a:t>
            </a:r>
            <a:r>
              <a:rPr lang="en-AU" sz="4400"/>
              <a:t>.</a:t>
            </a:r>
          </a:p>
          <a:p>
            <a:pPr algn="ctr">
              <a:lnSpc>
                <a:spcPct val="150000"/>
              </a:lnSpc>
            </a:pPr>
            <a:endParaRPr lang="en-AU" sz="7200"/>
          </a:p>
          <a:p>
            <a:pPr algn="l"/>
            <a:endParaRPr lang="en-AU" sz="4000"/>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pic>
        <p:nvPicPr>
          <p:cNvPr id="3" name="Picture 2">
            <a:extLst>
              <a:ext uri="{FF2B5EF4-FFF2-40B4-BE49-F238E27FC236}">
                <a16:creationId xmlns:a16="http://schemas.microsoft.com/office/drawing/2014/main" id="{9C8770A4-A467-8E0A-C417-8D3F46A532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Diagram showing two geometric shapes, a blue pentagon labeled &quot;a&quot; and a purple trapezium labeled &quot;b,&quot; each positioned at the origin of separate coordinate axes marked with 2 thick blue lines showing a right angle. Both shapes rest on the horizontal axis with vertical lines indicating height, highlighting their relative sizes and positions.">
            <a:extLst>
              <a:ext uri="{FF2B5EF4-FFF2-40B4-BE49-F238E27FC236}">
                <a16:creationId xmlns:a16="http://schemas.microsoft.com/office/drawing/2014/main" id="{8D96DCD2-9B61-945B-6A69-965CE0B6CED0}"/>
              </a:ext>
            </a:extLst>
          </p:cNvPr>
          <p:cNvPicPr>
            <a:picLocks noChangeAspect="1"/>
          </p:cNvPicPr>
          <p:nvPr/>
        </p:nvPicPr>
        <p:blipFill>
          <a:blip r:embed="rId4"/>
          <a:srcRect l="7581" t="15608" r="6015" b="19732"/>
          <a:stretch>
            <a:fillRect/>
          </a:stretch>
        </p:blipFill>
        <p:spPr>
          <a:xfrm>
            <a:off x="2480659" y="3562065"/>
            <a:ext cx="7230681" cy="3043935"/>
          </a:xfrm>
          <a:prstGeom prst="rect">
            <a:avLst/>
          </a:prstGeom>
        </p:spPr>
      </p:pic>
      <p:sp>
        <p:nvSpPr>
          <p:cNvPr id="7" name="TextBox 6">
            <a:extLst>
              <a:ext uri="{FF2B5EF4-FFF2-40B4-BE49-F238E27FC236}">
                <a16:creationId xmlns:a16="http://schemas.microsoft.com/office/drawing/2014/main" id="{2E03C95F-5D00-3E90-8801-B717BACDB010}"/>
              </a:ext>
            </a:extLst>
          </p:cNvPr>
          <p:cNvSpPr txBox="1"/>
          <p:nvPr/>
        </p:nvSpPr>
        <p:spPr>
          <a:xfrm>
            <a:off x="180000" y="1038666"/>
            <a:ext cx="11832000" cy="239033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742950" indent="-742950" algn="ctr">
              <a:lnSpc>
                <a:spcPct val="150000"/>
              </a:lnSpc>
              <a:buFont typeface="+mj-lt"/>
              <a:buAutoNum type="arabicPeriod"/>
            </a:pPr>
            <a:r>
              <a:rPr lang="en-US" sz="3600" dirty="0">
                <a:cs typeface="Arial"/>
              </a:rPr>
              <a:t>Using the angle testers, are </a:t>
            </a:r>
            <a:r>
              <a:rPr lang="en-US" sz="3600" b="1" dirty="0">
                <a:cs typeface="Arial"/>
              </a:rPr>
              <a:t>angle a </a:t>
            </a:r>
            <a:r>
              <a:rPr lang="en-US" sz="3600" dirty="0">
                <a:cs typeface="Arial"/>
              </a:rPr>
              <a:t>and </a:t>
            </a:r>
            <a:r>
              <a:rPr lang="en-US" sz="3600" b="1" dirty="0">
                <a:cs typeface="Arial"/>
              </a:rPr>
              <a:t>b </a:t>
            </a:r>
            <a:r>
              <a:rPr lang="en-US" sz="3600" dirty="0">
                <a:cs typeface="Arial"/>
              </a:rPr>
              <a:t>smaller, larger or the same </a:t>
            </a:r>
            <a:r>
              <a:rPr lang="en-US" sz="3600" b="1" dirty="0">
                <a:cs typeface="Arial"/>
              </a:rPr>
              <a:t>as a right angle?</a:t>
            </a:r>
            <a:endParaRPr lang="en-US" sz="3600" dirty="0"/>
          </a:p>
          <a:p>
            <a:pPr marL="742950" indent="-742950" algn="ctr">
              <a:lnSpc>
                <a:spcPct val="150000"/>
              </a:lnSpc>
              <a:buFont typeface="+mj-lt"/>
              <a:buAutoNum type="arabicPeriod"/>
            </a:pPr>
            <a:r>
              <a:rPr lang="en-US" sz="3600" dirty="0">
                <a:cs typeface="Arial"/>
              </a:rPr>
              <a:t>What are the </a:t>
            </a:r>
            <a:r>
              <a:rPr lang="en-US" sz="3600" b="1" dirty="0">
                <a:cs typeface="Arial"/>
              </a:rPr>
              <a:t>names</a:t>
            </a:r>
            <a:r>
              <a:rPr lang="en-US" sz="3600" dirty="0">
                <a:cs typeface="Arial"/>
              </a:rPr>
              <a:t> of these 2 angles?</a:t>
            </a:r>
            <a:endParaRPr lang="en-US" sz="3600" dirty="0"/>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pic>
        <p:nvPicPr>
          <p:cNvPr id="3" name="Picture 2">
            <a:extLst>
              <a:ext uri="{FF2B5EF4-FFF2-40B4-BE49-F238E27FC236}">
                <a16:creationId xmlns:a16="http://schemas.microsoft.com/office/drawing/2014/main" id="{F22768F3-1D34-7E31-8299-4A2308A11FC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E2E77E00-A159-82C6-1734-B8B84336BB8D}"/>
              </a:ext>
            </a:extLst>
          </p:cNvPr>
          <p:cNvSpPr txBox="1"/>
          <p:nvPr/>
        </p:nvSpPr>
        <p:spPr>
          <a:xfrm>
            <a:off x="692200" y="4466113"/>
            <a:ext cx="10791800" cy="1824923"/>
          </a:xfrm>
          <a:prstGeom prst="rect">
            <a:avLst/>
          </a:prstGeom>
          <a:noFill/>
        </p:spPr>
        <p:txBody>
          <a:bodyPr wrap="square">
            <a:spAutoFit/>
          </a:bodyPr>
          <a:lstStyle/>
          <a:p>
            <a:pPr algn="ctr">
              <a:lnSpc>
                <a:spcPct val="150000"/>
              </a:lnSpc>
            </a:pPr>
            <a:r>
              <a:rPr lang="en-AU" sz="4000"/>
              <a:t>How many </a:t>
            </a:r>
            <a:r>
              <a:rPr lang="en-AU" sz="4000" b="1"/>
              <a:t>faces</a:t>
            </a:r>
            <a:r>
              <a:rPr lang="en-AU" sz="4000"/>
              <a:t>, </a:t>
            </a:r>
            <a:r>
              <a:rPr lang="en-AU" sz="4000" b="1"/>
              <a:t>edges</a:t>
            </a:r>
            <a:r>
              <a:rPr lang="en-AU" sz="4000"/>
              <a:t> and </a:t>
            </a:r>
            <a:r>
              <a:rPr lang="en-AU" sz="4000" b="1"/>
              <a:t>vertices</a:t>
            </a:r>
            <a:r>
              <a:rPr lang="en-AU" sz="4000"/>
              <a:t> does a pentagonal prism have</a:t>
            </a:r>
            <a:r>
              <a:rPr lang="en-AU" sz="4000">
                <a:solidFill>
                  <a:srgbClr val="22272B"/>
                </a:solidFill>
                <a:latin typeface="Arial" panose="020B0604020202020204" pitchFamily="34" charset="0"/>
              </a:rPr>
              <a:t>?</a:t>
            </a:r>
            <a:r>
              <a:rPr lang="en-AU" sz="4000" b="0" i="0">
                <a:solidFill>
                  <a:srgbClr val="000000"/>
                </a:solidFill>
                <a:effectLst/>
                <a:latin typeface="Arial" panose="020B0604020202020204" pitchFamily="34" charset="0"/>
              </a:rPr>
              <a:t>​</a:t>
            </a:r>
            <a:endParaRPr lang="en-AU" sz="3200"/>
          </a:p>
        </p:txBody>
      </p:sp>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pic>
        <p:nvPicPr>
          <p:cNvPr id="8" name="Picture 7" descr="A pentagonal prism">
            <a:extLst>
              <a:ext uri="{FF2B5EF4-FFF2-40B4-BE49-F238E27FC236}">
                <a16:creationId xmlns:a16="http://schemas.microsoft.com/office/drawing/2014/main" id="{99A19CDF-7DC1-F70C-EC26-6F657E22EC44}"/>
              </a:ext>
            </a:extLst>
          </p:cNvPr>
          <p:cNvPicPr>
            <a:picLocks noChangeAspect="1"/>
          </p:cNvPicPr>
          <p:nvPr/>
        </p:nvPicPr>
        <p:blipFill>
          <a:blip r:embed="rId4"/>
          <a:srcRect l="29879" t="15105" r="36506" b="10506"/>
          <a:stretch>
            <a:fillRect/>
          </a:stretch>
        </p:blipFill>
        <p:spPr>
          <a:xfrm>
            <a:off x="4581754" y="800891"/>
            <a:ext cx="3028491" cy="3769932"/>
          </a:xfrm>
          <a:prstGeom prst="rect">
            <a:avLst/>
          </a:prstGeom>
        </p:spPr>
      </p:pic>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pic>
        <p:nvPicPr>
          <p:cNvPr id="3" name="Picture 2" descr="A grid with 2 x rectangles overlayed. One rectangle measuring as 3 by 6 and the other 2 by 9.">
            <a:extLst>
              <a:ext uri="{FF2B5EF4-FFF2-40B4-BE49-F238E27FC236}">
                <a16:creationId xmlns:a16="http://schemas.microsoft.com/office/drawing/2014/main" id="{5D2DD89E-AAB3-5EBB-F36F-72D71287FEEC}"/>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0DE7FDB0-6359-0312-C192-FFD61172E6EE}"/>
              </a:ext>
            </a:extLst>
          </p:cNvPr>
          <p:cNvSpPr txBox="1"/>
          <p:nvPr/>
        </p:nvSpPr>
        <p:spPr>
          <a:xfrm>
            <a:off x="744280" y="1373695"/>
            <a:ext cx="5095122" cy="4952831"/>
          </a:xfrm>
          <a:prstGeom prst="rect">
            <a:avLst/>
          </a:prstGeom>
          <a:noFill/>
        </p:spPr>
        <p:txBody>
          <a:bodyPr wrap="square" lIns="0" tIns="0" rIns="0" bIns="0" rtlCol="0">
            <a:spAutoFit/>
          </a:bodyPr>
          <a:lstStyle/>
          <a:p>
            <a:pPr algn="ctr">
              <a:lnSpc>
                <a:spcPct val="150000"/>
              </a:lnSpc>
            </a:pPr>
            <a:r>
              <a:rPr lang="en-AU" sz="4400"/>
              <a:t>What is the </a:t>
            </a:r>
            <a:r>
              <a:rPr lang="en-AU" sz="4400" b="1"/>
              <a:t>same</a:t>
            </a:r>
            <a:r>
              <a:rPr lang="en-AU" sz="4400"/>
              <a:t> and what </a:t>
            </a:r>
          </a:p>
          <a:p>
            <a:pPr algn="ctr">
              <a:lnSpc>
                <a:spcPct val="150000"/>
              </a:lnSpc>
            </a:pPr>
            <a:r>
              <a:rPr lang="en-AU" sz="4400"/>
              <a:t>is </a:t>
            </a:r>
            <a:r>
              <a:rPr lang="en-AU" sz="4400" b="1"/>
              <a:t>different </a:t>
            </a:r>
            <a:r>
              <a:rPr lang="en-AU" sz="4400"/>
              <a:t>between these </a:t>
            </a:r>
          </a:p>
          <a:p>
            <a:pPr algn="ctr">
              <a:lnSpc>
                <a:spcPct val="150000"/>
              </a:lnSpc>
            </a:pPr>
            <a:r>
              <a:rPr lang="en-AU" sz="4400"/>
              <a:t>2 shapes?</a:t>
            </a:r>
          </a:p>
        </p:txBody>
      </p:sp>
      <p:pic>
        <p:nvPicPr>
          <p:cNvPr id="5" name="Picture 4" descr="Two rectangles overlayed on grid paper. One rectangle measures 6 squares by 3 squares and the other is 2 squares by 9 squares.">
            <a:extLst>
              <a:ext uri="{FF2B5EF4-FFF2-40B4-BE49-F238E27FC236}">
                <a16:creationId xmlns:a16="http://schemas.microsoft.com/office/drawing/2014/main" id="{7FEE9D08-A2A8-3A43-6DA2-78A5AEAABD8A}"/>
              </a:ext>
            </a:extLst>
          </p:cNvPr>
          <p:cNvPicPr>
            <a:picLocks noChangeAspect="1"/>
          </p:cNvPicPr>
          <p:nvPr/>
        </p:nvPicPr>
        <p:blipFill>
          <a:blip r:embed="rId4"/>
          <a:srcRect l="3923" r="34254" b="5783"/>
          <a:stretch>
            <a:fillRect/>
          </a:stretch>
        </p:blipFill>
        <p:spPr>
          <a:xfrm>
            <a:off x="6644100" y="1641318"/>
            <a:ext cx="4954772" cy="4247464"/>
          </a:xfrm>
          <a:prstGeom prst="rect">
            <a:avLst/>
          </a:prstGeom>
          <a:effectLst>
            <a:outerShdw blurRad="63500" sx="102000" sy="102000" algn="ctr" rotWithShape="0">
              <a:prstClr val="black">
                <a:alpha val="40000"/>
              </a:prstClr>
            </a:outerShdw>
          </a:effectLst>
        </p:spPr>
      </p:pic>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latin typeface="Arial"/>
                <a:cs typeface="Arial"/>
              </a:rPr>
              <a:t>Activity 2 – finding multiples of 4</a:t>
            </a:r>
          </a:p>
        </p:txBody>
      </p:sp>
      <p:pic>
        <p:nvPicPr>
          <p:cNvPr id="4" name="Picture 3">
            <a:extLst>
              <a:ext uri="{FF2B5EF4-FFF2-40B4-BE49-F238E27FC236}">
                <a16:creationId xmlns:a16="http://schemas.microsoft.com/office/drawing/2014/main" id="{D6502462-26FB-38CD-06DC-5F98705966B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a:extLst>
              <a:ext uri="{FF2B5EF4-FFF2-40B4-BE49-F238E27FC236}">
                <a16:creationId xmlns:a16="http://schemas.microsoft.com/office/drawing/2014/main" id="{23E1BA8C-FB59-28C8-AAAE-328064010779}"/>
              </a:ext>
            </a:extLst>
          </p:cNvPr>
          <p:cNvSpPr txBox="1"/>
          <p:nvPr/>
        </p:nvSpPr>
        <p:spPr>
          <a:xfrm>
            <a:off x="5611089" y="1951672"/>
            <a:ext cx="826655" cy="147732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9600" dirty="0">
                <a:solidFill>
                  <a:schemeClr val="accent2"/>
                </a:solidFill>
                <a:cs typeface="Arial"/>
              </a:rPr>
              <a:t>8</a:t>
            </a:r>
          </a:p>
        </p:txBody>
      </p:sp>
      <p:sp>
        <p:nvSpPr>
          <p:cNvPr id="5" name="TextBox 4">
            <a:extLst>
              <a:ext uri="{FF2B5EF4-FFF2-40B4-BE49-F238E27FC236}">
                <a16:creationId xmlns:a16="http://schemas.microsoft.com/office/drawing/2014/main" id="{E4A7C6F9-1562-DA28-8C25-C9678CB2E3AA}"/>
              </a:ext>
            </a:extLst>
          </p:cNvPr>
          <p:cNvSpPr txBox="1"/>
          <p:nvPr/>
        </p:nvSpPr>
        <p:spPr>
          <a:xfrm>
            <a:off x="1154545" y="4237182"/>
            <a:ext cx="8913089" cy="173259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000">
                <a:cs typeface="Arial"/>
              </a:rPr>
              <a:t>Start at 8. </a:t>
            </a:r>
            <a:r>
              <a:rPr lang="en-US" sz="4000" b="1">
                <a:cs typeface="Arial"/>
              </a:rPr>
              <a:t>Count up in fours</a:t>
            </a:r>
            <a:r>
              <a:rPr lang="en-US" sz="4000">
                <a:cs typeface="Arial"/>
              </a:rPr>
              <a:t>. Record your sequence.</a:t>
            </a:r>
          </a:p>
        </p:txBody>
      </p:sp>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BE6EE-66D0-13E9-6B7D-36691643B4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07F923-847F-595A-850B-B126A4C8B487}"/>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(2)</a:t>
            </a:r>
          </a:p>
        </p:txBody>
      </p:sp>
      <p:pic>
        <p:nvPicPr>
          <p:cNvPr id="4" name="Picture 3">
            <a:extLst>
              <a:ext uri="{FF2B5EF4-FFF2-40B4-BE49-F238E27FC236}">
                <a16:creationId xmlns:a16="http://schemas.microsoft.com/office/drawing/2014/main" id="{5F5E1EF3-7C5A-15B4-C7B4-000AE4784B4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60D87FE7-103F-733E-E64E-89AD0B777B6B}"/>
              </a:ext>
            </a:extLst>
          </p:cNvPr>
          <p:cNvSpPr>
            <a:spLocks noGrp="1"/>
          </p:cNvSpPr>
          <p:nvPr>
            <p:ph type="body" sz="quarter" idx="24"/>
          </p:nvPr>
        </p:nvSpPr>
        <p:spPr>
          <a:xfrm>
            <a:off x="1759852" y="1742039"/>
            <a:ext cx="8672296" cy="893226"/>
          </a:xfrm>
        </p:spPr>
        <p:txBody>
          <a:bodyPr/>
          <a:lstStyle/>
          <a:p>
            <a:pPr algn="ctr"/>
            <a:r>
              <a:rPr lang="en-US" sz="4400"/>
              <a:t>Which number  is a </a:t>
            </a:r>
            <a:r>
              <a:rPr lang="en-US" sz="4400" b="1"/>
              <a:t>multiple of both 5 </a:t>
            </a:r>
            <a:r>
              <a:rPr lang="en-US" sz="4400"/>
              <a:t>and</a:t>
            </a:r>
            <a:r>
              <a:rPr lang="en-US" sz="4400" b="1"/>
              <a:t> 7</a:t>
            </a:r>
            <a:r>
              <a:rPr lang="en-US" sz="4000"/>
              <a:t>.</a:t>
            </a:r>
          </a:p>
        </p:txBody>
      </p:sp>
      <p:sp>
        <p:nvSpPr>
          <p:cNvPr id="9" name="TextBox 8">
            <a:extLst>
              <a:ext uri="{FF2B5EF4-FFF2-40B4-BE49-F238E27FC236}">
                <a16:creationId xmlns:a16="http://schemas.microsoft.com/office/drawing/2014/main" id="{AF13415D-5ABE-8CE1-9EF6-D83C6FF3BAC9}"/>
              </a:ext>
            </a:extLst>
          </p:cNvPr>
          <p:cNvSpPr txBox="1"/>
          <p:nvPr/>
        </p:nvSpPr>
        <p:spPr>
          <a:xfrm>
            <a:off x="1274080" y="499788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5" name="TextBox 4">
            <a:extLst>
              <a:ext uri="{FF2B5EF4-FFF2-40B4-BE49-F238E27FC236}">
                <a16:creationId xmlns:a16="http://schemas.microsoft.com/office/drawing/2014/main" id="{8357384E-D86B-EEC3-FD1E-23F7B6134E73}"/>
              </a:ext>
            </a:extLst>
          </p:cNvPr>
          <p:cNvSpPr txBox="1"/>
          <p:nvPr/>
        </p:nvSpPr>
        <p:spPr>
          <a:xfrm>
            <a:off x="1095993" y="5694843"/>
            <a:ext cx="914400" cy="914400"/>
          </a:xfrm>
          <a:prstGeom prst="rect">
            <a:avLst/>
          </a:prstGeom>
          <a:noFill/>
        </p:spPr>
        <p:txBody>
          <a:bodyPr wrap="none" lIns="0" tIns="0" rIns="0" bIns="0" rtlCol="0">
            <a:noAutofit/>
          </a:bodyPr>
          <a:lstStyle/>
          <a:p>
            <a:pPr algn="l"/>
            <a:r>
              <a:rPr lang="en-AU" sz="4800"/>
              <a:t>10</a:t>
            </a:r>
          </a:p>
        </p:txBody>
      </p:sp>
      <p:sp>
        <p:nvSpPr>
          <p:cNvPr id="10" name="TextBox 9">
            <a:extLst>
              <a:ext uri="{FF2B5EF4-FFF2-40B4-BE49-F238E27FC236}">
                <a16:creationId xmlns:a16="http://schemas.microsoft.com/office/drawing/2014/main" id="{06BFC4FD-CDBD-E74C-2B4B-957276E8D806}"/>
              </a:ext>
            </a:extLst>
          </p:cNvPr>
          <p:cNvSpPr txBox="1"/>
          <p:nvPr/>
        </p:nvSpPr>
        <p:spPr>
          <a:xfrm>
            <a:off x="4198915" y="494618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7" name="TextBox 6">
            <a:extLst>
              <a:ext uri="{FF2B5EF4-FFF2-40B4-BE49-F238E27FC236}">
                <a16:creationId xmlns:a16="http://schemas.microsoft.com/office/drawing/2014/main" id="{6945327A-53BC-9BE5-6150-58A49D473753}"/>
              </a:ext>
            </a:extLst>
          </p:cNvPr>
          <p:cNvSpPr txBox="1"/>
          <p:nvPr/>
        </p:nvSpPr>
        <p:spPr>
          <a:xfrm>
            <a:off x="3908536" y="5736544"/>
            <a:ext cx="914400" cy="830997"/>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AU" sz="4800" b="0" i="0" u="none" strike="noStrike" kern="1200" cap="none" spc="0" normalizeH="0" baseline="0" noProof="0" dirty="0">
                <a:ln>
                  <a:noFill/>
                </a:ln>
                <a:solidFill>
                  <a:srgbClr val="22272B"/>
                </a:solidFill>
                <a:effectLst/>
                <a:uLnTx/>
                <a:uFillTx/>
                <a:latin typeface="Arial" panose="020B0604020202020204"/>
                <a:ea typeface="+mn-ea"/>
                <a:cs typeface="+mn-cs"/>
              </a:rPr>
              <a:t>14</a:t>
            </a:r>
          </a:p>
        </p:txBody>
      </p:sp>
      <p:sp>
        <p:nvSpPr>
          <p:cNvPr id="12" name="TextBox 11">
            <a:extLst>
              <a:ext uri="{FF2B5EF4-FFF2-40B4-BE49-F238E27FC236}">
                <a16:creationId xmlns:a16="http://schemas.microsoft.com/office/drawing/2014/main" id="{0CCBA3B1-EB4D-D918-A8D0-B78C7621C52A}"/>
              </a:ext>
            </a:extLst>
          </p:cNvPr>
          <p:cNvSpPr txBox="1"/>
          <p:nvPr/>
        </p:nvSpPr>
        <p:spPr>
          <a:xfrm>
            <a:off x="7150181" y="495617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
        <p:nvSpPr>
          <p:cNvPr id="20" name="TextBox 19">
            <a:extLst>
              <a:ext uri="{FF2B5EF4-FFF2-40B4-BE49-F238E27FC236}">
                <a16:creationId xmlns:a16="http://schemas.microsoft.com/office/drawing/2014/main" id="{448DDF9E-FFB5-591C-83DD-094C48B79559}"/>
              </a:ext>
            </a:extLst>
          </p:cNvPr>
          <p:cNvSpPr txBox="1"/>
          <p:nvPr/>
        </p:nvSpPr>
        <p:spPr>
          <a:xfrm>
            <a:off x="6927963" y="5694843"/>
            <a:ext cx="1071390" cy="830997"/>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AU" sz="4800" dirty="0">
                <a:solidFill>
                  <a:srgbClr val="22272B"/>
                </a:solidFill>
                <a:latin typeface="Arial" panose="020B0604020202020204"/>
              </a:rPr>
              <a:t>35</a:t>
            </a:r>
            <a:endParaRPr kumimoji="0" lang="en-AU" sz="4800" b="0" i="0" u="none" strike="noStrike" kern="1200" cap="none" spc="0" normalizeH="0" baseline="0" noProof="0" dirty="0">
              <a:ln>
                <a:noFill/>
              </a:ln>
              <a:solidFill>
                <a:srgbClr val="22272B"/>
              </a:solidFill>
              <a:effectLst/>
              <a:uLnTx/>
              <a:uFillTx/>
              <a:latin typeface="Arial" panose="020B0604020202020204"/>
              <a:ea typeface="+mn-ea"/>
              <a:cs typeface="+mn-cs"/>
            </a:endParaRPr>
          </a:p>
        </p:txBody>
      </p:sp>
      <p:sp>
        <p:nvSpPr>
          <p:cNvPr id="11" name="TextBox 10">
            <a:extLst>
              <a:ext uri="{FF2B5EF4-FFF2-40B4-BE49-F238E27FC236}">
                <a16:creationId xmlns:a16="http://schemas.microsoft.com/office/drawing/2014/main" id="{002A7C63-4C7D-5EB4-47F9-AF81CCED5985}"/>
              </a:ext>
            </a:extLst>
          </p:cNvPr>
          <p:cNvSpPr txBox="1"/>
          <p:nvPr/>
        </p:nvSpPr>
        <p:spPr>
          <a:xfrm>
            <a:off x="10047965" y="49041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4" name="TextBox 23">
            <a:extLst>
              <a:ext uri="{FF2B5EF4-FFF2-40B4-BE49-F238E27FC236}">
                <a16:creationId xmlns:a16="http://schemas.microsoft.com/office/drawing/2014/main" id="{BEC82CE9-AC34-BA04-0223-7F37E383B0A9}"/>
              </a:ext>
            </a:extLst>
          </p:cNvPr>
          <p:cNvSpPr txBox="1"/>
          <p:nvPr/>
        </p:nvSpPr>
        <p:spPr>
          <a:xfrm>
            <a:off x="9794636" y="5642800"/>
            <a:ext cx="962479" cy="830997"/>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AU" sz="4800" dirty="0">
                <a:solidFill>
                  <a:srgbClr val="22272B"/>
                </a:solidFill>
                <a:latin typeface="Arial" panose="020B0604020202020204"/>
              </a:rPr>
              <a:t>21</a:t>
            </a:r>
            <a:endParaRPr kumimoji="0" lang="en-AU" sz="4800" b="0" i="0" u="none" strike="noStrike" kern="1200" cap="none" spc="0" normalizeH="0" baseline="0" noProof="0" dirty="0">
              <a:ln>
                <a:noFill/>
              </a:ln>
              <a:solidFill>
                <a:srgbClr val="22272B"/>
              </a:solidFill>
              <a:effectLst/>
              <a:uLnTx/>
              <a:uFillTx/>
              <a:latin typeface="Arial" panose="020B0604020202020204"/>
              <a:ea typeface="+mn-ea"/>
              <a:cs typeface="+mn-cs"/>
            </a:endParaRPr>
          </a:p>
        </p:txBody>
      </p:sp>
      <p:sp>
        <p:nvSpPr>
          <p:cNvPr id="2" name="Slide Number Placeholder 1">
            <a:extLst>
              <a:ext uri="{FF2B5EF4-FFF2-40B4-BE49-F238E27FC236}">
                <a16:creationId xmlns:a16="http://schemas.microsoft.com/office/drawing/2014/main" id="{A1293A7A-9C27-9EEF-CD29-DBB1D9D8402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416653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pic>
        <p:nvPicPr>
          <p:cNvPr id="3" name="Picture 2">
            <a:extLst>
              <a:ext uri="{FF2B5EF4-FFF2-40B4-BE49-F238E27FC236}">
                <a16:creationId xmlns:a16="http://schemas.microsoft.com/office/drawing/2014/main" id="{5EA70859-D7F4-2B7A-27DC-68B58B2816C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4003AC00-7141-9A7D-1699-9DCB5F9F7420}"/>
              </a:ext>
            </a:extLst>
          </p:cNvPr>
          <p:cNvSpPr txBox="1"/>
          <p:nvPr/>
        </p:nvSpPr>
        <p:spPr>
          <a:xfrm flipH="1">
            <a:off x="976946" y="1428733"/>
            <a:ext cx="10507054" cy="3624550"/>
          </a:xfrm>
          <a:prstGeom prst="rect">
            <a:avLst/>
          </a:prstGeom>
          <a:noFill/>
        </p:spPr>
        <p:txBody>
          <a:bodyPr wrap="square" lIns="0" tIns="0" rIns="0" bIns="0" rtlCol="0">
            <a:noAutofit/>
          </a:bodyPr>
          <a:lstStyle/>
          <a:p>
            <a:pPr algn="ctr">
              <a:lnSpc>
                <a:spcPct val="150000"/>
              </a:lnSpc>
            </a:pPr>
            <a:r>
              <a:rPr lang="en-AU" sz="4400"/>
              <a:t>Record the number that has been </a:t>
            </a:r>
            <a:r>
              <a:rPr lang="en-AU" sz="4400" b="1"/>
              <a:t>partitioned</a:t>
            </a:r>
            <a:r>
              <a:rPr lang="en-AU" sz="4400"/>
              <a:t> in </a:t>
            </a:r>
            <a:r>
              <a:rPr lang="en-AU" sz="4400" b="1"/>
              <a:t>non-standard form</a:t>
            </a:r>
            <a:r>
              <a:rPr lang="en-AU" sz="4400"/>
              <a:t>:</a:t>
            </a:r>
          </a:p>
          <a:p>
            <a:pPr algn="ctr">
              <a:lnSpc>
                <a:spcPct val="150000"/>
              </a:lnSpc>
            </a:pPr>
            <a:r>
              <a:rPr lang="en-AU" sz="4400"/>
              <a:t> </a:t>
            </a:r>
          </a:p>
          <a:p>
            <a:pPr algn="ctr">
              <a:lnSpc>
                <a:spcPct val="150000"/>
              </a:lnSpc>
            </a:pPr>
            <a:r>
              <a:rPr lang="en-AU" sz="4400"/>
              <a:t>60 hundreds + 93 tens + 5 ones</a:t>
            </a:r>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pic>
        <p:nvPicPr>
          <p:cNvPr id="3" name="Picture 2">
            <a:extLst>
              <a:ext uri="{FF2B5EF4-FFF2-40B4-BE49-F238E27FC236}">
                <a16:creationId xmlns:a16="http://schemas.microsoft.com/office/drawing/2014/main" id="{95A63C50-93CA-645D-9F2D-21E08F0D170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2E1493BD-F13E-3279-424E-C9CA8BF64A53}"/>
              </a:ext>
            </a:extLst>
          </p:cNvPr>
          <p:cNvSpPr txBox="1"/>
          <p:nvPr/>
        </p:nvSpPr>
        <p:spPr>
          <a:xfrm>
            <a:off x="957507" y="1119613"/>
            <a:ext cx="10271946" cy="443198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3600">
                <a:cs typeface="Arial"/>
              </a:rPr>
              <a:t>A quarter turn forms a right angle. </a:t>
            </a:r>
          </a:p>
          <a:p>
            <a:pPr algn="ctr">
              <a:lnSpc>
                <a:spcPct val="150000"/>
              </a:lnSpc>
            </a:pPr>
            <a:r>
              <a:rPr lang="en-US" sz="3600" b="1">
                <a:cs typeface="Arial"/>
              </a:rPr>
              <a:t>Describe</a:t>
            </a:r>
            <a:r>
              <a:rPr lang="en-US" sz="3600">
                <a:cs typeface="Arial"/>
              </a:rPr>
              <a:t> these 3 angles in comparison </a:t>
            </a:r>
            <a:r>
              <a:rPr lang="en-US" sz="3600" b="1">
                <a:cs typeface="Arial"/>
              </a:rPr>
              <a:t>to a quarter turn:</a:t>
            </a:r>
            <a:endParaRPr lang="en-US" sz="3600"/>
          </a:p>
          <a:p>
            <a:pPr>
              <a:lnSpc>
                <a:spcPct val="150000"/>
              </a:lnSpc>
            </a:pPr>
            <a:endParaRPr lang="en-US">
              <a:cs typeface="Arial"/>
            </a:endParaRPr>
          </a:p>
          <a:p>
            <a:pPr marL="285750" indent="-285750">
              <a:lnSpc>
                <a:spcPct val="150000"/>
              </a:lnSpc>
              <a:buFont typeface="Arial"/>
              <a:buChar char="•"/>
            </a:pPr>
            <a:endParaRPr lang="en-US">
              <a:cs typeface="Arial"/>
            </a:endParaRPr>
          </a:p>
          <a:p>
            <a:pPr>
              <a:lnSpc>
                <a:spcPct val="150000"/>
              </a:lnSpc>
            </a:pPr>
            <a:endParaRPr lang="en-US">
              <a:cs typeface="Arial"/>
            </a:endParaRPr>
          </a:p>
          <a:p>
            <a:endParaRPr lang="en-US" sz="1800">
              <a:cs typeface="Arial" panose="020B0604020202020204"/>
            </a:endParaRPr>
          </a:p>
        </p:txBody>
      </p:sp>
      <p:pic>
        <p:nvPicPr>
          <p:cNvPr id="5" name="Picture 4" descr="A diagram of different angles: 1- acute, 2- reflex, 3- full rotation&#10;">
            <a:extLst>
              <a:ext uri="{FF2B5EF4-FFF2-40B4-BE49-F238E27FC236}">
                <a16:creationId xmlns:a16="http://schemas.microsoft.com/office/drawing/2014/main" id="{2F45DF4B-18CE-AA35-6D4E-674EFFC8C730}"/>
              </a:ext>
            </a:extLst>
          </p:cNvPr>
          <p:cNvPicPr>
            <a:picLocks noChangeAspect="1"/>
          </p:cNvPicPr>
          <p:nvPr/>
        </p:nvPicPr>
        <p:blipFill>
          <a:blip r:embed="rId4"/>
          <a:srcRect l="9151" t="39086" r="4957" b="13029"/>
          <a:stretch>
            <a:fillRect/>
          </a:stretch>
        </p:blipFill>
        <p:spPr>
          <a:xfrm>
            <a:off x="1459693" y="3788578"/>
            <a:ext cx="9267575" cy="2907422"/>
          </a:xfrm>
          <a:prstGeom prst="rect">
            <a:avLst/>
          </a:prstGeom>
        </p:spPr>
      </p:pic>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pic>
        <p:nvPicPr>
          <p:cNvPr id="3" name="Picture 2">
            <a:extLst>
              <a:ext uri="{FF2B5EF4-FFF2-40B4-BE49-F238E27FC236}">
                <a16:creationId xmlns:a16="http://schemas.microsoft.com/office/drawing/2014/main" id="{CDC9578D-E509-83DC-F7E6-82182EFDC99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0529050B-36D3-EAF3-7FC3-68F8C1453280}"/>
              </a:ext>
            </a:extLst>
          </p:cNvPr>
          <p:cNvSpPr txBox="1"/>
          <p:nvPr/>
        </p:nvSpPr>
        <p:spPr>
          <a:xfrm>
            <a:off x="360000" y="2796317"/>
            <a:ext cx="11585976" cy="2711396"/>
          </a:xfrm>
          <a:prstGeom prst="rect">
            <a:avLst/>
          </a:prstGeom>
          <a:noFill/>
        </p:spPr>
        <p:txBody>
          <a:bodyPr wrap="none" lIns="0" tIns="0" rIns="0" bIns="0" rtlCol="0">
            <a:noAutofit/>
          </a:bodyPr>
          <a:lstStyle/>
          <a:p>
            <a:pPr algn="ctr">
              <a:lnSpc>
                <a:spcPct val="150000"/>
              </a:lnSpc>
            </a:pPr>
            <a:r>
              <a:rPr lang="en-AU" sz="4000" b="1"/>
              <a:t>Sketch </a:t>
            </a:r>
            <a:r>
              <a:rPr lang="en-AU" sz="4000"/>
              <a:t>a</a:t>
            </a:r>
            <a:r>
              <a:rPr lang="en-AU" sz="4000" b="1"/>
              <a:t> square-based pyramid.</a:t>
            </a:r>
            <a:endParaRPr lang="en-AU" sz="4000"/>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pic>
        <p:nvPicPr>
          <p:cNvPr id="3" name="Picture 2">
            <a:extLst>
              <a:ext uri="{FF2B5EF4-FFF2-40B4-BE49-F238E27FC236}">
                <a16:creationId xmlns:a16="http://schemas.microsoft.com/office/drawing/2014/main" id="{4F225E6B-742A-E393-5D68-B394EB858BA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Illustration comparing sizes of a leaf and a tree, with vertical scale bars indicating 25 mm length for the leaf and 500 cm height for the tree. &#10;&#10;">
            <a:extLst>
              <a:ext uri="{FF2B5EF4-FFF2-40B4-BE49-F238E27FC236}">
                <a16:creationId xmlns:a16="http://schemas.microsoft.com/office/drawing/2014/main" id="{081C24E3-F83E-25E2-9B79-56721481651F}"/>
              </a:ext>
            </a:extLst>
          </p:cNvPr>
          <p:cNvPicPr>
            <a:picLocks noChangeAspect="1"/>
          </p:cNvPicPr>
          <p:nvPr/>
        </p:nvPicPr>
        <p:blipFill>
          <a:blip r:embed="rId4"/>
          <a:srcRect l="8842" t="1576" r="11769" b="14165"/>
          <a:stretch>
            <a:fillRect/>
          </a:stretch>
        </p:blipFill>
        <p:spPr>
          <a:xfrm>
            <a:off x="2838893" y="2947698"/>
            <a:ext cx="6278497" cy="3748302"/>
          </a:xfrm>
          <a:prstGeom prst="rect">
            <a:avLst/>
          </a:prstGeom>
        </p:spPr>
      </p:pic>
      <p:sp>
        <p:nvSpPr>
          <p:cNvPr id="7" name="TextBox 6">
            <a:extLst>
              <a:ext uri="{FF2B5EF4-FFF2-40B4-BE49-F238E27FC236}">
                <a16:creationId xmlns:a16="http://schemas.microsoft.com/office/drawing/2014/main" id="{FCADF5EF-7368-8C49-1019-3F10E6A5CB01}"/>
              </a:ext>
            </a:extLst>
          </p:cNvPr>
          <p:cNvSpPr txBox="1"/>
          <p:nvPr/>
        </p:nvSpPr>
        <p:spPr>
          <a:xfrm>
            <a:off x="1233378" y="1184223"/>
            <a:ext cx="8908459" cy="1312564"/>
          </a:xfrm>
          <a:prstGeom prst="rect">
            <a:avLst/>
          </a:prstGeom>
          <a:noFill/>
        </p:spPr>
        <p:txBody>
          <a:bodyPr wrap="none" lIns="0" tIns="0" rIns="0" bIns="0" rtlCol="0">
            <a:noAutofit/>
          </a:bodyPr>
          <a:lstStyle/>
          <a:p>
            <a:r>
              <a:rPr lang="en-AU" sz="4000"/>
              <a:t>Record the </a:t>
            </a:r>
            <a:r>
              <a:rPr lang="en-AU" sz="4000" b="1"/>
              <a:t>length</a:t>
            </a:r>
            <a:r>
              <a:rPr lang="en-AU" sz="4000"/>
              <a:t> of the leaf in </a:t>
            </a:r>
            <a:r>
              <a:rPr lang="en-AU" sz="4000" b="1"/>
              <a:t>centimetres</a:t>
            </a:r>
            <a:r>
              <a:rPr lang="en-AU" sz="4000"/>
              <a:t>.</a:t>
            </a:r>
          </a:p>
          <a:p>
            <a:pPr>
              <a:lnSpc>
                <a:spcPct val="150000"/>
              </a:lnSpc>
            </a:pPr>
            <a:r>
              <a:rPr lang="en-AU" sz="4000"/>
              <a:t>Record the </a:t>
            </a:r>
            <a:r>
              <a:rPr lang="en-AU" sz="4000" b="1"/>
              <a:t>height</a:t>
            </a:r>
            <a:r>
              <a:rPr lang="en-AU" sz="4000"/>
              <a:t> of the tree in </a:t>
            </a:r>
            <a:r>
              <a:rPr lang="en-AU" sz="4000" b="1"/>
              <a:t>metres</a:t>
            </a:r>
            <a:r>
              <a:rPr lang="en-AU" sz="4000"/>
              <a:t>.</a:t>
            </a: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a:latin typeface="Arial"/>
                <a:cs typeface="Arial"/>
              </a:rPr>
              <a:t>Activity 3 – </a:t>
            </a:r>
            <a:r>
              <a:rPr lang="en-AU"/>
              <a:t>investigating related multiples in a 100 grid</a:t>
            </a:r>
            <a:endParaRPr lang="en-US"/>
          </a:p>
          <a:p>
            <a:endParaRPr lang="en-AU">
              <a:latin typeface="Arial"/>
              <a:cs typeface="Arial"/>
            </a:endParaRPr>
          </a:p>
        </p:txBody>
      </p:sp>
      <p:pic>
        <p:nvPicPr>
          <p:cNvPr id="4" name="Picture 3">
            <a:extLst>
              <a:ext uri="{FF2B5EF4-FFF2-40B4-BE49-F238E27FC236}">
                <a16:creationId xmlns:a16="http://schemas.microsoft.com/office/drawing/2014/main" id="{296D4226-C1D0-BEBB-1948-F7CDF78884C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100 grid with some numbers multiples of 5 highlighted blue and multiples of 6 highlighted yellow.">
            <a:extLst>
              <a:ext uri="{FF2B5EF4-FFF2-40B4-BE49-F238E27FC236}">
                <a16:creationId xmlns:a16="http://schemas.microsoft.com/office/drawing/2014/main" id="{1AAB3BC0-5528-26D7-BEF6-C05F5882F019}"/>
              </a:ext>
            </a:extLst>
          </p:cNvPr>
          <p:cNvPicPr>
            <a:picLocks noChangeAspect="1"/>
          </p:cNvPicPr>
          <p:nvPr/>
        </p:nvPicPr>
        <p:blipFill>
          <a:blip r:embed="rId4"/>
          <a:stretch>
            <a:fillRect/>
          </a:stretch>
        </p:blipFill>
        <p:spPr>
          <a:xfrm>
            <a:off x="2180358" y="1412802"/>
            <a:ext cx="7831283" cy="5199207"/>
          </a:xfrm>
          <a:prstGeom prst="rect">
            <a:avLst/>
          </a:prstGeom>
        </p:spPr>
      </p:pic>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pic>
        <p:nvPicPr>
          <p:cNvPr id="4" name="Picture 3">
            <a:extLst>
              <a:ext uri="{FF2B5EF4-FFF2-40B4-BE49-F238E27FC236}">
                <a16:creationId xmlns:a16="http://schemas.microsoft.com/office/drawing/2014/main" id="{10894CBE-266A-B58D-5858-0C2919DF611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360000" y="1839620"/>
            <a:ext cx="11383981" cy="2010389"/>
          </a:xfrm>
        </p:spPr>
        <p:txBody>
          <a:bodyPr/>
          <a:lstStyle/>
          <a:p>
            <a:pPr algn="ctr"/>
            <a:r>
              <a:rPr lang="en-AU" sz="4400"/>
              <a:t>If I </a:t>
            </a:r>
            <a:r>
              <a:rPr lang="en-AU" sz="4400" b="1"/>
              <a:t>double</a:t>
            </a:r>
            <a:r>
              <a:rPr lang="en-AU" sz="4400"/>
              <a:t> each term in my sequence: 3, 6, 9  I get </a:t>
            </a:r>
            <a:r>
              <a:rPr lang="en-AU" sz="4400" b="1"/>
              <a:t>multiples of 6</a:t>
            </a:r>
            <a:r>
              <a:rPr lang="en-AU" sz="4400"/>
              <a:t>.</a:t>
            </a:r>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176674415"/>
              </p:ext>
            </p:extLst>
          </p:nvPr>
        </p:nvGraphicFramePr>
        <p:xfrm>
          <a:off x="2442981" y="4974673"/>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pic>
        <p:nvPicPr>
          <p:cNvPr id="3" name="Picture 2">
            <a:extLst>
              <a:ext uri="{FF2B5EF4-FFF2-40B4-BE49-F238E27FC236}">
                <a16:creationId xmlns:a16="http://schemas.microsoft.com/office/drawing/2014/main" id="{B6B8916C-EC27-6464-77C1-A2C737717E1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E69B38CB-1BED-C54C-9758-EEA18214B96C}"/>
              </a:ext>
            </a:extLst>
          </p:cNvPr>
          <p:cNvSpPr txBox="1"/>
          <p:nvPr/>
        </p:nvSpPr>
        <p:spPr>
          <a:xfrm>
            <a:off x="486636" y="1918586"/>
            <a:ext cx="11218728" cy="3479678"/>
          </a:xfrm>
          <a:prstGeom prst="rect">
            <a:avLst/>
          </a:prstGeom>
          <a:noFill/>
        </p:spPr>
        <p:txBody>
          <a:bodyPr wrap="square" lIns="0" tIns="0" rIns="0" bIns="0" rtlCol="0">
            <a:noAutofit/>
          </a:bodyPr>
          <a:lstStyle/>
          <a:p>
            <a:pPr algn="ctr">
              <a:lnSpc>
                <a:spcPct val="150000"/>
              </a:lnSpc>
              <a:spcBef>
                <a:spcPts val="1200"/>
              </a:spcBef>
              <a:spcAft>
                <a:spcPts val="600"/>
              </a:spcAft>
            </a:pPr>
            <a:r>
              <a:rPr lang="en-AU" sz="4800"/>
              <a:t>Is 0.7 </a:t>
            </a:r>
            <a:r>
              <a:rPr lang="en-AU" sz="4800" b="1"/>
              <a:t>smaller</a:t>
            </a:r>
            <a:r>
              <a:rPr lang="en-AU" sz="4800"/>
              <a:t>,</a:t>
            </a:r>
            <a:r>
              <a:rPr lang="en-AU" sz="4800" b="1"/>
              <a:t> larger </a:t>
            </a:r>
            <a:r>
              <a:rPr lang="en-AU" sz="4800"/>
              <a:t>or</a:t>
            </a:r>
            <a:r>
              <a:rPr lang="en-AU" sz="4800" b="1"/>
              <a:t> equal </a:t>
            </a:r>
            <a:r>
              <a:rPr lang="en-AU" sz="4800"/>
              <a:t>to 0.70?</a:t>
            </a:r>
          </a:p>
          <a:p>
            <a:pPr algn="ctr">
              <a:lnSpc>
                <a:spcPct val="150000"/>
              </a:lnSpc>
              <a:spcBef>
                <a:spcPts val="1200"/>
              </a:spcBef>
              <a:spcAft>
                <a:spcPts val="600"/>
              </a:spcAft>
            </a:pPr>
            <a:endParaRPr lang="en-AU" sz="4800" b="1"/>
          </a:p>
          <a:p>
            <a:pPr algn="ctr">
              <a:lnSpc>
                <a:spcPct val="150000"/>
              </a:lnSpc>
              <a:spcBef>
                <a:spcPts val="1200"/>
              </a:spcBef>
              <a:spcAft>
                <a:spcPts val="600"/>
              </a:spcAft>
            </a:pPr>
            <a:r>
              <a:rPr lang="en-AU" sz="4800" b="1"/>
              <a:t>Communicate </a:t>
            </a:r>
            <a:r>
              <a:rPr lang="en-AU" sz="4800"/>
              <a:t>your </a:t>
            </a:r>
            <a:r>
              <a:rPr lang="en-AU" sz="4800" b="1"/>
              <a:t>reasoning</a:t>
            </a:r>
            <a:r>
              <a:rPr lang="en-AU" sz="4800"/>
              <a:t>.</a:t>
            </a:r>
          </a:p>
          <a:p>
            <a:pPr algn="l"/>
            <a:endParaRPr lang="en-AU" sz="4000"/>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pic>
        <p:nvPicPr>
          <p:cNvPr id="3" name="Picture 2">
            <a:extLst>
              <a:ext uri="{FF2B5EF4-FFF2-40B4-BE49-F238E27FC236}">
                <a16:creationId xmlns:a16="http://schemas.microsoft.com/office/drawing/2014/main" id="{5F20B6C4-74D6-9AE8-543F-873936583C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DFE1D698-9D43-0C19-0E45-414054F0BEC8}"/>
              </a:ext>
            </a:extLst>
          </p:cNvPr>
          <p:cNvSpPr txBox="1"/>
          <p:nvPr/>
        </p:nvSpPr>
        <p:spPr>
          <a:xfrm>
            <a:off x="458949" y="1246026"/>
            <a:ext cx="11487027" cy="495283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400" b="1" dirty="0">
                <a:cs typeface="Arial"/>
              </a:rPr>
              <a:t>Name the angle </a:t>
            </a:r>
            <a:r>
              <a:rPr lang="en-US" sz="4400" dirty="0">
                <a:cs typeface="Arial"/>
              </a:rPr>
              <a:t>that is the same as:</a:t>
            </a:r>
          </a:p>
          <a:p>
            <a:pPr marL="285750" indent="-285750">
              <a:lnSpc>
                <a:spcPct val="150000"/>
              </a:lnSpc>
              <a:buFont typeface="Arial"/>
              <a:buChar char="•"/>
            </a:pPr>
            <a:r>
              <a:rPr lang="en-US" sz="4400" dirty="0">
                <a:cs typeface="Arial"/>
              </a:rPr>
              <a:t>1 quarter turn</a:t>
            </a:r>
          </a:p>
          <a:p>
            <a:pPr marL="285750" indent="-285750">
              <a:lnSpc>
                <a:spcPct val="150000"/>
              </a:lnSpc>
              <a:buFont typeface="Arial"/>
              <a:buChar char="•"/>
            </a:pPr>
            <a:r>
              <a:rPr lang="en-US" sz="4400" dirty="0">
                <a:cs typeface="Arial"/>
              </a:rPr>
              <a:t>2 quarter turns</a:t>
            </a:r>
          </a:p>
          <a:p>
            <a:pPr marL="285750" indent="-285750">
              <a:lnSpc>
                <a:spcPct val="150000"/>
              </a:lnSpc>
              <a:buFont typeface="Arial"/>
              <a:buChar char="•"/>
            </a:pPr>
            <a:r>
              <a:rPr lang="en-US" sz="4400" dirty="0">
                <a:cs typeface="Arial"/>
              </a:rPr>
              <a:t>3 quarter turns</a:t>
            </a:r>
          </a:p>
          <a:p>
            <a:pPr marL="285750" indent="-285750">
              <a:lnSpc>
                <a:spcPct val="150000"/>
              </a:lnSpc>
              <a:buFont typeface="Arial"/>
              <a:buChar char="•"/>
            </a:pPr>
            <a:r>
              <a:rPr lang="en-US" sz="4400" dirty="0">
                <a:cs typeface="Arial"/>
              </a:rPr>
              <a:t>4 quarter turns</a:t>
            </a:r>
          </a:p>
        </p:txBody>
      </p:sp>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pic>
        <p:nvPicPr>
          <p:cNvPr id="3" name="Picture 2" descr="A square">
            <a:extLst>
              <a:ext uri="{FF2B5EF4-FFF2-40B4-BE49-F238E27FC236}">
                <a16:creationId xmlns:a16="http://schemas.microsoft.com/office/drawing/2014/main" id="{71518DCE-2BBE-0AC2-F72B-B5E11C24F8A1}"/>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3C5494AA-AAD4-B17C-8AE6-38EA89E8BEC6}"/>
              </a:ext>
            </a:extLst>
          </p:cNvPr>
          <p:cNvSpPr txBox="1"/>
          <p:nvPr/>
        </p:nvSpPr>
        <p:spPr>
          <a:xfrm>
            <a:off x="117116" y="2582502"/>
            <a:ext cx="11461225" cy="1692995"/>
          </a:xfrm>
          <a:prstGeom prst="rect">
            <a:avLst/>
          </a:prstGeom>
          <a:noFill/>
        </p:spPr>
        <p:txBody>
          <a:bodyPr wrap="none" lIns="0" tIns="0" rIns="0" bIns="0" rtlCol="0">
            <a:noAutofit/>
          </a:bodyPr>
          <a:lstStyle/>
          <a:p>
            <a:pPr algn="ctr">
              <a:lnSpc>
                <a:spcPct val="150000"/>
              </a:lnSpc>
            </a:pPr>
            <a:r>
              <a:rPr lang="en-AU" sz="4400" b="1"/>
              <a:t>Sketch </a:t>
            </a:r>
            <a:r>
              <a:rPr lang="en-AU" sz="4400"/>
              <a:t>a</a:t>
            </a:r>
            <a:r>
              <a:rPr lang="en-AU" sz="4400" b="1"/>
              <a:t> square-based prism.</a:t>
            </a:r>
            <a:endParaRPr lang="en-AU" sz="4400"/>
          </a:p>
        </p:txBody>
      </p:sp>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pic>
        <p:nvPicPr>
          <p:cNvPr id="3" name="Picture 2" descr="A compass point marked with N, E, W, S.">
            <a:extLst>
              <a:ext uri="{FF2B5EF4-FFF2-40B4-BE49-F238E27FC236}">
                <a16:creationId xmlns:a16="http://schemas.microsoft.com/office/drawing/2014/main" id="{602A5C36-777A-4A3B-4BB2-D0CC6ABD6738}"/>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C784AF52-C9EC-025A-C8EE-55611FE63D51}"/>
              </a:ext>
            </a:extLst>
          </p:cNvPr>
          <p:cNvSpPr txBox="1"/>
          <p:nvPr/>
        </p:nvSpPr>
        <p:spPr>
          <a:xfrm>
            <a:off x="437587" y="1394551"/>
            <a:ext cx="7662834" cy="4233333"/>
          </a:xfrm>
          <a:prstGeom prst="rect">
            <a:avLst/>
          </a:prstGeom>
          <a:noFill/>
        </p:spPr>
        <p:txBody>
          <a:bodyPr wrap="square" lIns="0" tIns="0" rIns="0" bIns="0" rtlCol="0">
            <a:noAutofit/>
          </a:bodyPr>
          <a:lstStyle/>
          <a:p>
            <a:pPr>
              <a:lnSpc>
                <a:spcPct val="150000"/>
              </a:lnSpc>
            </a:pPr>
            <a:r>
              <a:rPr lang="en-AU" sz="2800" dirty="0"/>
              <a:t>I am </a:t>
            </a:r>
            <a:r>
              <a:rPr lang="en-AU" sz="2800" b="1" dirty="0"/>
              <a:t>facing north</a:t>
            </a:r>
            <a:r>
              <a:rPr lang="en-AU" sz="2800" dirty="0"/>
              <a:t>, to </a:t>
            </a:r>
            <a:r>
              <a:rPr lang="en-AU" sz="2800" b="1" dirty="0"/>
              <a:t>face east </a:t>
            </a:r>
            <a:r>
              <a:rPr lang="en-AU" sz="2800" dirty="0"/>
              <a:t>I would make a </a:t>
            </a:r>
            <a:r>
              <a:rPr lang="en-AU" sz="2800" b="1" dirty="0"/>
              <a:t>quarter turn</a:t>
            </a:r>
            <a:r>
              <a:rPr lang="en-AU" sz="2800" dirty="0"/>
              <a:t>.</a:t>
            </a:r>
          </a:p>
          <a:p>
            <a:pPr>
              <a:lnSpc>
                <a:spcPct val="150000"/>
              </a:lnSpc>
            </a:pPr>
            <a:endParaRPr lang="en-AU" sz="2800" dirty="0"/>
          </a:p>
          <a:p>
            <a:pPr marL="514350" indent="-514350">
              <a:lnSpc>
                <a:spcPct val="150000"/>
              </a:lnSpc>
              <a:buFont typeface="Arial" panose="020B0604020202020204" pitchFamily="34" charset="0"/>
              <a:buChar char="•"/>
            </a:pPr>
            <a:r>
              <a:rPr lang="en-AU" sz="2800" dirty="0"/>
              <a:t>Facing the compass point </a:t>
            </a:r>
            <a:r>
              <a:rPr lang="en-AU" sz="2800" b="1" dirty="0"/>
              <a:t>south</a:t>
            </a:r>
            <a:r>
              <a:rPr lang="en-AU" sz="2800" dirty="0"/>
              <a:t>, where would I be facing after a </a:t>
            </a:r>
            <a:r>
              <a:rPr lang="en-AU" sz="2800" b="1" dirty="0"/>
              <a:t>half turn</a:t>
            </a:r>
            <a:r>
              <a:rPr lang="en-AU" sz="2800" dirty="0"/>
              <a:t>?</a:t>
            </a:r>
          </a:p>
          <a:p>
            <a:pPr marL="514350" indent="-514350">
              <a:lnSpc>
                <a:spcPct val="150000"/>
              </a:lnSpc>
              <a:buFont typeface="Arial" panose="020B0604020202020204" pitchFamily="34" charset="0"/>
              <a:buChar char="•"/>
            </a:pPr>
            <a:r>
              <a:rPr lang="en-AU" sz="2800" dirty="0"/>
              <a:t>Explain what happens when you do a </a:t>
            </a:r>
            <a:r>
              <a:rPr lang="en-AU" sz="2800" b="1" dirty="0"/>
              <a:t>full turn </a:t>
            </a:r>
            <a:r>
              <a:rPr lang="en-AU" sz="2800" dirty="0"/>
              <a:t>from any compass point?</a:t>
            </a:r>
          </a:p>
          <a:p>
            <a:pPr algn="l"/>
            <a:endParaRPr lang="en-AU" sz="1600" dirty="0"/>
          </a:p>
        </p:txBody>
      </p:sp>
      <p:pic>
        <p:nvPicPr>
          <p:cNvPr id="5" name="Picture 4" descr="A black and white compass diagram indicating cardinal directions North, East, South, and West. &#10;&#10;">
            <a:extLst>
              <a:ext uri="{FF2B5EF4-FFF2-40B4-BE49-F238E27FC236}">
                <a16:creationId xmlns:a16="http://schemas.microsoft.com/office/drawing/2014/main" id="{347020F3-19D3-0F80-5CC4-2DB9B95A7DB3}"/>
              </a:ext>
            </a:extLst>
          </p:cNvPr>
          <p:cNvPicPr>
            <a:picLocks noChangeAspect="1"/>
          </p:cNvPicPr>
          <p:nvPr/>
        </p:nvPicPr>
        <p:blipFill>
          <a:blip r:embed="rId4"/>
          <a:srcRect l="33884" t="3189" r="35170" b="45715"/>
          <a:stretch>
            <a:fillRect/>
          </a:stretch>
        </p:blipFill>
        <p:spPr>
          <a:xfrm>
            <a:off x="8371879" y="2023808"/>
            <a:ext cx="3539030" cy="3286991"/>
          </a:xfrm>
          <a:prstGeom prst="rect">
            <a:avLst/>
          </a:prstGeom>
          <a:effectLst>
            <a:outerShdw blurRad="63500" sx="102000" sy="102000" algn="ctr" rotWithShape="0">
              <a:prstClr val="black">
                <a:alpha val="40000"/>
              </a:prstClr>
            </a:outerShdw>
          </a:effectLst>
        </p:spPr>
      </p:pic>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latin typeface="Arial"/>
                <a:cs typeface="Arial"/>
              </a:rPr>
              <a:t>Activity 4 – </a:t>
            </a:r>
            <a:r>
              <a:rPr lang="en-AU"/>
              <a:t>applying doubles to connect multiples of 3 to 6 and 4 to 8</a:t>
            </a:r>
            <a:endParaRPr lang="en-US"/>
          </a:p>
          <a:p>
            <a:endParaRPr lang="en-AU">
              <a:latin typeface="Arial"/>
              <a:cs typeface="Arial"/>
            </a:endParaRPr>
          </a:p>
        </p:txBody>
      </p:sp>
      <p:pic>
        <p:nvPicPr>
          <p:cNvPr id="4" name="Picture 3">
            <a:extLst>
              <a:ext uri="{FF2B5EF4-FFF2-40B4-BE49-F238E27FC236}">
                <a16:creationId xmlns:a16="http://schemas.microsoft.com/office/drawing/2014/main" id="{A43A6869-C067-0F7B-A324-667A71E8372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a:extLst>
              <a:ext uri="{FF2B5EF4-FFF2-40B4-BE49-F238E27FC236}">
                <a16:creationId xmlns:a16="http://schemas.microsoft.com/office/drawing/2014/main" id="{6CA659CE-7B8E-E9F2-CCDC-CA127D4F589E}"/>
              </a:ext>
            </a:extLst>
          </p:cNvPr>
          <p:cNvSpPr txBox="1"/>
          <p:nvPr/>
        </p:nvSpPr>
        <p:spPr>
          <a:xfrm>
            <a:off x="547688" y="2666999"/>
            <a:ext cx="10184604" cy="258532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800">
                <a:cs typeface="Arial"/>
              </a:rPr>
              <a:t>Multiples of 3:</a:t>
            </a:r>
          </a:p>
          <a:p>
            <a:pPr algn="ctr"/>
            <a:endParaRPr lang="en-US" sz="4800">
              <a:cs typeface="Arial"/>
            </a:endParaRPr>
          </a:p>
          <a:p>
            <a:pPr algn="ctr"/>
            <a:r>
              <a:rPr lang="en-US" sz="4800">
                <a:cs typeface="Arial"/>
              </a:rPr>
              <a:t>3, 6, 9, 12, 15</a:t>
            </a:r>
          </a:p>
        </p:txBody>
      </p:sp>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4F62-887D-AFD2-E976-96EC911376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5C7A13-FF33-191B-A60E-4D4573CCD3C9}"/>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(3)</a:t>
            </a:r>
          </a:p>
        </p:txBody>
      </p:sp>
      <p:pic>
        <p:nvPicPr>
          <p:cNvPr id="4" name="Picture 3">
            <a:extLst>
              <a:ext uri="{FF2B5EF4-FFF2-40B4-BE49-F238E27FC236}">
                <a16:creationId xmlns:a16="http://schemas.microsoft.com/office/drawing/2014/main" id="{052C7F21-CF1B-B8E5-D48F-252B3A5306C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E180F3B1-ACC7-4559-EA73-174DB17A0983}"/>
              </a:ext>
            </a:extLst>
          </p:cNvPr>
          <p:cNvSpPr>
            <a:spLocks noGrp="1"/>
          </p:cNvSpPr>
          <p:nvPr>
            <p:ph type="body" sz="quarter" idx="24"/>
          </p:nvPr>
        </p:nvSpPr>
        <p:spPr>
          <a:xfrm>
            <a:off x="360000" y="1625946"/>
            <a:ext cx="11243037" cy="2106082"/>
          </a:xfrm>
        </p:spPr>
        <p:txBody>
          <a:bodyPr/>
          <a:lstStyle/>
          <a:p>
            <a:pPr algn="ctr"/>
            <a:r>
              <a:rPr lang="en-US" sz="4400"/>
              <a:t>The </a:t>
            </a:r>
            <a:r>
              <a:rPr lang="en-US" sz="4400" b="1"/>
              <a:t>sixth</a:t>
            </a:r>
            <a:r>
              <a:rPr lang="en-US" sz="4400"/>
              <a:t> </a:t>
            </a:r>
            <a:r>
              <a:rPr lang="en-US" sz="4400" b="1"/>
              <a:t>multiple</a:t>
            </a:r>
            <a:r>
              <a:rPr lang="en-US" sz="4400"/>
              <a:t> of 4 is </a:t>
            </a:r>
            <a:r>
              <a:rPr lang="en-US" sz="4400" b="1"/>
              <a:t>24</a:t>
            </a:r>
            <a:r>
              <a:rPr lang="en-US" sz="4400"/>
              <a:t>.</a:t>
            </a:r>
          </a:p>
          <a:p>
            <a:pPr algn="ctr"/>
            <a:r>
              <a:rPr lang="en-US" sz="4400"/>
              <a:t>What is the </a:t>
            </a:r>
            <a:r>
              <a:rPr lang="en-US" sz="4400" b="1"/>
              <a:t>twelfth multiple </a:t>
            </a:r>
            <a:r>
              <a:rPr lang="en-US" sz="4400"/>
              <a:t>of 4? </a:t>
            </a:r>
          </a:p>
        </p:txBody>
      </p:sp>
      <p:sp>
        <p:nvSpPr>
          <p:cNvPr id="9" name="TextBox 8">
            <a:extLst>
              <a:ext uri="{FF2B5EF4-FFF2-40B4-BE49-F238E27FC236}">
                <a16:creationId xmlns:a16="http://schemas.microsoft.com/office/drawing/2014/main" id="{4E6EA9CC-6235-8807-420B-A4371AC418C0}"/>
              </a:ext>
            </a:extLst>
          </p:cNvPr>
          <p:cNvSpPr txBox="1"/>
          <p:nvPr/>
        </p:nvSpPr>
        <p:spPr>
          <a:xfrm>
            <a:off x="1327948" y="496494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5" name="TextBox 4">
            <a:extLst>
              <a:ext uri="{FF2B5EF4-FFF2-40B4-BE49-F238E27FC236}">
                <a16:creationId xmlns:a16="http://schemas.microsoft.com/office/drawing/2014/main" id="{88DA0FD0-190D-4BE1-BB66-433BA706F5C7}"/>
              </a:ext>
            </a:extLst>
          </p:cNvPr>
          <p:cNvSpPr txBox="1"/>
          <p:nvPr/>
        </p:nvSpPr>
        <p:spPr>
          <a:xfrm>
            <a:off x="1327948" y="5650999"/>
            <a:ext cx="780586" cy="667017"/>
          </a:xfrm>
          <a:prstGeom prst="rect">
            <a:avLst/>
          </a:prstGeom>
          <a:noFill/>
        </p:spPr>
        <p:txBody>
          <a:bodyPr wrap="square" lIns="0" tIns="0" rIns="0" bIns="0" rtlCol="0">
            <a:noAutofit/>
          </a:bodyPr>
          <a:lstStyle/>
          <a:p>
            <a:pPr algn="l"/>
            <a:r>
              <a:rPr lang="en-AU" sz="4400"/>
              <a:t>30</a:t>
            </a:r>
          </a:p>
        </p:txBody>
      </p:sp>
      <p:sp>
        <p:nvSpPr>
          <p:cNvPr id="10" name="TextBox 9">
            <a:extLst>
              <a:ext uri="{FF2B5EF4-FFF2-40B4-BE49-F238E27FC236}">
                <a16:creationId xmlns:a16="http://schemas.microsoft.com/office/drawing/2014/main" id="{4AB24A3E-5574-D79C-6A0F-06D3F8A29BB1}"/>
              </a:ext>
            </a:extLst>
          </p:cNvPr>
          <p:cNvSpPr txBox="1"/>
          <p:nvPr/>
        </p:nvSpPr>
        <p:spPr>
          <a:xfrm>
            <a:off x="4187412" y="492525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7" name="TextBox 6">
            <a:extLst>
              <a:ext uri="{FF2B5EF4-FFF2-40B4-BE49-F238E27FC236}">
                <a16:creationId xmlns:a16="http://schemas.microsoft.com/office/drawing/2014/main" id="{62FB3320-F3FD-825F-4C74-16A67F3F3DDD}"/>
              </a:ext>
            </a:extLst>
          </p:cNvPr>
          <p:cNvSpPr txBox="1"/>
          <p:nvPr/>
        </p:nvSpPr>
        <p:spPr>
          <a:xfrm>
            <a:off x="3946829" y="5604670"/>
            <a:ext cx="983479" cy="769441"/>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AU" sz="4400">
                <a:solidFill>
                  <a:srgbClr val="22272B"/>
                </a:solidFill>
                <a:latin typeface="Arial" panose="020B0604020202020204"/>
              </a:rPr>
              <a:t>48</a:t>
            </a:r>
            <a:endParaRPr kumimoji="0" lang="en-AU" sz="4400" b="0" i="0" u="none" strike="noStrike" kern="1200" cap="none" spc="0" normalizeH="0" baseline="0" noProof="0">
              <a:ln>
                <a:noFill/>
              </a:ln>
              <a:solidFill>
                <a:srgbClr val="22272B"/>
              </a:solidFill>
              <a:effectLst/>
              <a:uLnTx/>
              <a:uFillTx/>
              <a:latin typeface="Arial" panose="020B0604020202020204"/>
              <a:ea typeface="+mn-ea"/>
              <a:cs typeface="+mn-cs"/>
            </a:endParaRPr>
          </a:p>
        </p:txBody>
      </p:sp>
      <p:sp>
        <p:nvSpPr>
          <p:cNvPr id="12" name="TextBox 11">
            <a:extLst>
              <a:ext uri="{FF2B5EF4-FFF2-40B4-BE49-F238E27FC236}">
                <a16:creationId xmlns:a16="http://schemas.microsoft.com/office/drawing/2014/main" id="{D92289C6-858E-E449-16B6-10640E9A4385}"/>
              </a:ext>
            </a:extLst>
          </p:cNvPr>
          <p:cNvSpPr txBox="1"/>
          <p:nvPr/>
        </p:nvSpPr>
        <p:spPr>
          <a:xfrm>
            <a:off x="7046876" y="491233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5" name="TextBox 14">
            <a:extLst>
              <a:ext uri="{FF2B5EF4-FFF2-40B4-BE49-F238E27FC236}">
                <a16:creationId xmlns:a16="http://schemas.microsoft.com/office/drawing/2014/main" id="{17725307-F3FD-FA11-8AA1-8350BDF0EBCD}"/>
              </a:ext>
            </a:extLst>
          </p:cNvPr>
          <p:cNvSpPr txBox="1"/>
          <p:nvPr/>
        </p:nvSpPr>
        <p:spPr>
          <a:xfrm>
            <a:off x="6892363" y="5584881"/>
            <a:ext cx="1100150" cy="769441"/>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AU" sz="4400">
                <a:solidFill>
                  <a:srgbClr val="22272B"/>
                </a:solidFill>
                <a:latin typeface="Arial" panose="020B0604020202020204"/>
              </a:rPr>
              <a:t>28</a:t>
            </a:r>
            <a:endParaRPr kumimoji="0" lang="en-AU" sz="4400" b="0" i="0" u="none" strike="noStrike" kern="1200" cap="none" spc="0" normalizeH="0" baseline="0" noProof="0">
              <a:ln>
                <a:noFill/>
              </a:ln>
              <a:solidFill>
                <a:srgbClr val="22272B"/>
              </a:solidFill>
              <a:effectLst/>
              <a:uLnTx/>
              <a:uFillTx/>
              <a:latin typeface="Arial" panose="020B0604020202020204"/>
              <a:ea typeface="+mn-ea"/>
              <a:cs typeface="+mn-cs"/>
            </a:endParaRPr>
          </a:p>
        </p:txBody>
      </p:sp>
      <p:sp>
        <p:nvSpPr>
          <p:cNvPr id="11" name="TextBox 10">
            <a:extLst>
              <a:ext uri="{FF2B5EF4-FFF2-40B4-BE49-F238E27FC236}">
                <a16:creationId xmlns:a16="http://schemas.microsoft.com/office/drawing/2014/main" id="{C22AC239-77AC-A298-F7CD-0F89091EC017}"/>
              </a:ext>
            </a:extLst>
          </p:cNvPr>
          <p:cNvSpPr txBox="1"/>
          <p:nvPr/>
        </p:nvSpPr>
        <p:spPr>
          <a:xfrm>
            <a:off x="10088435" y="486272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3" name="TextBox 12">
            <a:extLst>
              <a:ext uri="{FF2B5EF4-FFF2-40B4-BE49-F238E27FC236}">
                <a16:creationId xmlns:a16="http://schemas.microsoft.com/office/drawing/2014/main" id="{33CFF209-8D18-8DFE-5621-C9671548F93A}"/>
              </a:ext>
            </a:extLst>
          </p:cNvPr>
          <p:cNvSpPr txBox="1"/>
          <p:nvPr/>
        </p:nvSpPr>
        <p:spPr>
          <a:xfrm>
            <a:off x="9887980" y="5548575"/>
            <a:ext cx="869135" cy="769441"/>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AU" sz="4400">
                <a:solidFill>
                  <a:srgbClr val="22272B"/>
                </a:solidFill>
                <a:latin typeface="Arial" panose="020B0604020202020204"/>
              </a:rPr>
              <a:t>16</a:t>
            </a:r>
            <a:endParaRPr kumimoji="0" lang="en-AU" sz="4400" b="0" i="0" u="none" strike="noStrike" kern="1200" cap="none" spc="0" normalizeH="0" baseline="0" noProof="0">
              <a:ln>
                <a:noFill/>
              </a:ln>
              <a:solidFill>
                <a:srgbClr val="22272B"/>
              </a:solidFill>
              <a:effectLst/>
              <a:uLnTx/>
              <a:uFillTx/>
              <a:latin typeface="Arial" panose="020B0604020202020204"/>
              <a:ea typeface="+mn-ea"/>
              <a:cs typeface="+mn-cs"/>
            </a:endParaRPr>
          </a:p>
        </p:txBody>
      </p:sp>
      <p:sp>
        <p:nvSpPr>
          <p:cNvPr id="2" name="Slide Number Placeholder 1">
            <a:extLst>
              <a:ext uri="{FF2B5EF4-FFF2-40B4-BE49-F238E27FC236}">
                <a16:creationId xmlns:a16="http://schemas.microsoft.com/office/drawing/2014/main" id="{29BCC904-C834-E490-B334-2E65478E2C6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spTree>
    <p:extLst>
      <p:ext uri="{BB962C8B-B14F-4D97-AF65-F5344CB8AC3E}">
        <p14:creationId xmlns:p14="http://schemas.microsoft.com/office/powerpoint/2010/main" val="37542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pic>
        <p:nvPicPr>
          <p:cNvPr id="3" name="Picture 2">
            <a:extLst>
              <a:ext uri="{FF2B5EF4-FFF2-40B4-BE49-F238E27FC236}">
                <a16:creationId xmlns:a16="http://schemas.microsoft.com/office/drawing/2014/main" id="{2D93CD05-EEB0-3C8B-380D-9FC3C1D1498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Box 9">
            <a:extLst>
              <a:ext uri="{FF2B5EF4-FFF2-40B4-BE49-F238E27FC236}">
                <a16:creationId xmlns:a16="http://schemas.microsoft.com/office/drawing/2014/main" id="{7AF4D074-1190-C485-50A0-62381F9EEDE8}"/>
              </a:ext>
            </a:extLst>
          </p:cNvPr>
          <p:cNvSpPr txBox="1"/>
          <p:nvPr/>
        </p:nvSpPr>
        <p:spPr>
          <a:xfrm>
            <a:off x="0" y="1206797"/>
            <a:ext cx="12103768" cy="982513"/>
          </a:xfrm>
          <a:prstGeom prst="rect">
            <a:avLst/>
          </a:prstGeom>
          <a:noFill/>
        </p:spPr>
        <p:txBody>
          <a:bodyPr wrap="square">
            <a:spAutoFit/>
          </a:bodyPr>
          <a:lstStyle/>
          <a:p>
            <a:pPr algn="ctr">
              <a:lnSpc>
                <a:spcPct val="150000"/>
              </a:lnSpc>
            </a:pPr>
            <a:r>
              <a:rPr lang="en-AU" sz="4400" dirty="0"/>
              <a:t>List </a:t>
            </a:r>
            <a:r>
              <a:rPr lang="en-AU" sz="4400" b="1" dirty="0"/>
              <a:t>in order </a:t>
            </a:r>
            <a:r>
              <a:rPr lang="en-AU" sz="4400" dirty="0"/>
              <a:t>the decimals between </a:t>
            </a:r>
            <a:r>
              <a:rPr lang="en-AU" sz="4400" b="1" dirty="0"/>
              <a:t>0.1 </a:t>
            </a:r>
            <a:r>
              <a:rPr lang="en-AU" sz="4400" dirty="0"/>
              <a:t>and </a:t>
            </a:r>
            <a:r>
              <a:rPr lang="en-AU" sz="4400" b="1" dirty="0"/>
              <a:t>0.2</a:t>
            </a:r>
            <a:r>
              <a:rPr lang="en-AU" sz="4400" dirty="0"/>
              <a:t>.</a:t>
            </a:r>
          </a:p>
        </p:txBody>
      </p:sp>
      <p:sp>
        <p:nvSpPr>
          <p:cNvPr id="5" name="TextBox 4">
            <a:extLst>
              <a:ext uri="{FF2B5EF4-FFF2-40B4-BE49-F238E27FC236}">
                <a16:creationId xmlns:a16="http://schemas.microsoft.com/office/drawing/2014/main" id="{DC7CF439-9E8E-38B6-D1A7-F7DBD8C61756}"/>
              </a:ext>
              <a:ext uri="{C183D7F6-B498-43B3-948B-1728B52AA6E4}">
                <adec:decorative xmlns:adec="http://schemas.microsoft.com/office/drawing/2017/decorative" val="1"/>
              </a:ext>
            </a:extLst>
          </p:cNvPr>
          <p:cNvSpPr txBox="1"/>
          <p:nvPr/>
        </p:nvSpPr>
        <p:spPr>
          <a:xfrm>
            <a:off x="265272" y="1107910"/>
            <a:ext cx="11218728" cy="3069000"/>
          </a:xfrm>
          <a:prstGeom prst="rect">
            <a:avLst/>
          </a:prstGeom>
          <a:noFill/>
        </p:spPr>
        <p:txBody>
          <a:bodyPr wrap="none" lIns="0" tIns="0" rIns="0" bIns="0" rtlCol="0">
            <a:noAutofit/>
          </a:bodyPr>
          <a:lstStyle/>
          <a:p>
            <a:pPr algn="ctr">
              <a:lnSpc>
                <a:spcPct val="150000"/>
              </a:lnSpc>
            </a:pPr>
            <a:endParaRPr lang="en-AU" sz="4400" b="1" dirty="0"/>
          </a:p>
          <a:p>
            <a:pPr algn="ctr">
              <a:lnSpc>
                <a:spcPct val="150000"/>
              </a:lnSpc>
            </a:pPr>
            <a:endParaRPr lang="en-AU" sz="4400" b="1" dirty="0"/>
          </a:p>
          <a:p>
            <a:pPr algn="ctr">
              <a:lnSpc>
                <a:spcPct val="150000"/>
              </a:lnSpc>
            </a:pPr>
            <a:endParaRPr lang="en-AU" sz="4400" b="1" dirty="0"/>
          </a:p>
          <a:p>
            <a:pPr algn="ctr">
              <a:lnSpc>
                <a:spcPct val="150000"/>
              </a:lnSpc>
            </a:pPr>
            <a:r>
              <a:rPr lang="en-AU" sz="4400" dirty="0"/>
              <a:t> </a:t>
            </a:r>
          </a:p>
        </p:txBody>
      </p:sp>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pic>
        <p:nvPicPr>
          <p:cNvPr id="8" name="Picture 7" descr="A number line beginning at 0.1 and ending at 0.2. There is a bar above the line with partitioned equally into 10.">
            <a:extLst>
              <a:ext uri="{FF2B5EF4-FFF2-40B4-BE49-F238E27FC236}">
                <a16:creationId xmlns:a16="http://schemas.microsoft.com/office/drawing/2014/main" id="{F8F7BC1A-3CAF-62FD-97A6-F39171CDAD62}"/>
              </a:ext>
            </a:extLst>
          </p:cNvPr>
          <p:cNvPicPr>
            <a:picLocks noChangeAspect="1"/>
          </p:cNvPicPr>
          <p:nvPr/>
        </p:nvPicPr>
        <p:blipFill>
          <a:blip r:embed="rId4"/>
          <a:srcRect t="15049" r="112" b="70698"/>
          <a:stretch>
            <a:fillRect/>
          </a:stretch>
        </p:blipFill>
        <p:spPr>
          <a:xfrm>
            <a:off x="1776990" y="2918403"/>
            <a:ext cx="8950278" cy="1806401"/>
          </a:xfrm>
          <a:prstGeom prst="rect">
            <a:avLst/>
          </a:prstGeom>
        </p:spPr>
      </p:pic>
      <p:sp>
        <p:nvSpPr>
          <p:cNvPr id="7" name="TextBox 6">
            <a:extLst>
              <a:ext uri="{FF2B5EF4-FFF2-40B4-BE49-F238E27FC236}">
                <a16:creationId xmlns:a16="http://schemas.microsoft.com/office/drawing/2014/main" id="{76A9CD88-2E1E-EE82-5A9A-92C4D9782666}"/>
              </a:ext>
            </a:extLst>
          </p:cNvPr>
          <p:cNvSpPr txBox="1"/>
          <p:nvPr/>
        </p:nvSpPr>
        <p:spPr>
          <a:xfrm>
            <a:off x="1800726" y="5276791"/>
            <a:ext cx="8590548" cy="982513"/>
          </a:xfrm>
          <a:prstGeom prst="rect">
            <a:avLst/>
          </a:prstGeom>
          <a:noFill/>
        </p:spPr>
        <p:txBody>
          <a:bodyPr wrap="square">
            <a:spAutoFit/>
          </a:bodyPr>
          <a:lstStyle/>
          <a:p>
            <a:pPr algn="ctr">
              <a:lnSpc>
                <a:spcPct val="150000"/>
              </a:lnSpc>
            </a:pPr>
            <a:r>
              <a:rPr lang="en-AU" sz="4400" b="1" dirty="0"/>
              <a:t>Communicate</a:t>
            </a:r>
            <a:r>
              <a:rPr lang="en-AU" sz="4400" dirty="0"/>
              <a:t> your</a:t>
            </a:r>
            <a:r>
              <a:rPr lang="en-AU" sz="4400" b="1" dirty="0"/>
              <a:t> reasoning</a:t>
            </a:r>
            <a:r>
              <a:rPr lang="en-AU" sz="4000" dirty="0"/>
              <a:t>.</a:t>
            </a:r>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pic>
        <p:nvPicPr>
          <p:cNvPr id="3" name="Picture 2">
            <a:extLst>
              <a:ext uri="{FF2B5EF4-FFF2-40B4-BE49-F238E27FC236}">
                <a16:creationId xmlns:a16="http://schemas.microsoft.com/office/drawing/2014/main" id="{E34FFB15-F7DE-0945-FB9C-D8A36F224B6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10" name="Picture 9" descr="An analog clock with the short hand pointing between the 2 and 3 and the long hand pointing to the 6. ">
            <a:extLst>
              <a:ext uri="{FF2B5EF4-FFF2-40B4-BE49-F238E27FC236}">
                <a16:creationId xmlns:a16="http://schemas.microsoft.com/office/drawing/2014/main" id="{155BFCEA-742B-84E6-2AED-4DFF1347302A}"/>
              </a:ext>
            </a:extLst>
          </p:cNvPr>
          <p:cNvPicPr>
            <a:picLocks noChangeAspect="1"/>
          </p:cNvPicPr>
          <p:nvPr/>
        </p:nvPicPr>
        <p:blipFill>
          <a:blip r:embed="rId4"/>
          <a:srcRect l="39161" t="33799" r="36713" b="22526"/>
          <a:stretch>
            <a:fillRect/>
          </a:stretch>
        </p:blipFill>
        <p:spPr>
          <a:xfrm>
            <a:off x="4665267" y="832941"/>
            <a:ext cx="3110179" cy="3167001"/>
          </a:xfrm>
          <a:prstGeom prst="rect">
            <a:avLst/>
          </a:prstGeom>
        </p:spPr>
      </p:pic>
      <p:sp>
        <p:nvSpPr>
          <p:cNvPr id="4" name="TextBox 3">
            <a:extLst>
              <a:ext uri="{FF2B5EF4-FFF2-40B4-BE49-F238E27FC236}">
                <a16:creationId xmlns:a16="http://schemas.microsoft.com/office/drawing/2014/main" id="{B67310B0-8B3C-3607-A7C8-DF7F165B9A26}"/>
              </a:ext>
            </a:extLst>
          </p:cNvPr>
          <p:cNvSpPr txBox="1"/>
          <p:nvPr/>
        </p:nvSpPr>
        <p:spPr>
          <a:xfrm>
            <a:off x="572883" y="4199507"/>
            <a:ext cx="11294946" cy="155933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514350" indent="-514350" algn="ctr">
              <a:lnSpc>
                <a:spcPct val="150000"/>
              </a:lnSpc>
              <a:buFont typeface="+mj-lt"/>
              <a:buAutoNum type="alphaLcParenR"/>
            </a:pPr>
            <a:r>
              <a:rPr lang="en-US" sz="3200">
                <a:cs typeface="Arial"/>
              </a:rPr>
              <a:t> </a:t>
            </a:r>
            <a:r>
              <a:rPr lang="en-US" sz="3600">
                <a:cs typeface="Arial"/>
              </a:rPr>
              <a:t>Record this in </a:t>
            </a:r>
            <a:r>
              <a:rPr lang="en-US" sz="3600" b="1">
                <a:cs typeface="Arial"/>
              </a:rPr>
              <a:t>digital time</a:t>
            </a:r>
            <a:r>
              <a:rPr lang="en-US" sz="3600">
                <a:cs typeface="Arial"/>
              </a:rPr>
              <a:t>. </a:t>
            </a:r>
          </a:p>
          <a:p>
            <a:pPr marL="742950" indent="-742950" algn="ctr">
              <a:lnSpc>
                <a:spcPct val="150000"/>
              </a:lnSpc>
              <a:buFont typeface="+mj-lt"/>
              <a:buAutoNum type="alphaLcParenR"/>
            </a:pPr>
            <a:r>
              <a:rPr lang="en-US" sz="3600">
                <a:cs typeface="Arial"/>
              </a:rPr>
              <a:t>How many </a:t>
            </a:r>
            <a:r>
              <a:rPr lang="en-US" sz="3600" b="1">
                <a:cs typeface="Arial"/>
              </a:rPr>
              <a:t>seconds</a:t>
            </a:r>
            <a:r>
              <a:rPr lang="en-US" sz="3600">
                <a:cs typeface="Arial"/>
              </a:rPr>
              <a:t> are there in a </a:t>
            </a:r>
            <a:r>
              <a:rPr lang="en-US" sz="3600" b="1">
                <a:cs typeface="Arial"/>
              </a:rPr>
              <a:t>minute</a:t>
            </a:r>
            <a:r>
              <a:rPr lang="en-US" sz="3600">
                <a:cs typeface="Arial"/>
              </a:rPr>
              <a:t>?</a:t>
            </a:r>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pic>
        <p:nvPicPr>
          <p:cNvPr id="3" name="Picture 2">
            <a:extLst>
              <a:ext uri="{FF2B5EF4-FFF2-40B4-BE49-F238E27FC236}">
                <a16:creationId xmlns:a16="http://schemas.microsoft.com/office/drawing/2014/main" id="{B38D0ADF-3DD6-732F-15F0-9E23C65094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30E9CD6A-D4D0-60F5-229E-01DD02F24B1E}"/>
              </a:ext>
            </a:extLst>
          </p:cNvPr>
          <p:cNvSpPr txBox="1"/>
          <p:nvPr/>
        </p:nvSpPr>
        <p:spPr>
          <a:xfrm>
            <a:off x="1063315" y="1184223"/>
            <a:ext cx="9663953" cy="1651671"/>
          </a:xfrm>
          <a:prstGeom prst="rect">
            <a:avLst/>
          </a:prstGeom>
          <a:noFill/>
        </p:spPr>
        <p:txBody>
          <a:bodyPr wrap="square">
            <a:spAutoFit/>
          </a:bodyPr>
          <a:lstStyle/>
          <a:p>
            <a:pPr marL="0" marR="0" lvl="0" indent="0" algn="ctr" defTabSz="609585" rtl="0" eaLnBrk="1" fontAlgn="auto" latinLnBrk="0" hangingPunct="1">
              <a:lnSpc>
                <a:spcPct val="150000"/>
              </a:lnSpc>
              <a:spcBef>
                <a:spcPts val="0"/>
              </a:spcBef>
              <a:spcAft>
                <a:spcPts val="0"/>
              </a:spcAft>
              <a:buClrTx/>
              <a:buSzTx/>
              <a:buFontTx/>
              <a:buNone/>
              <a:tabLst/>
              <a:defRPr/>
            </a:pPr>
            <a:r>
              <a:rPr kumimoji="0" lang="en-US" sz="3600" b="1" i="0" u="none" strike="noStrike" kern="1200" cap="none" spc="0" normalizeH="0" baseline="0" noProof="0">
                <a:ln>
                  <a:noFill/>
                </a:ln>
                <a:solidFill>
                  <a:srgbClr val="22272B"/>
                </a:solidFill>
                <a:effectLst/>
                <a:uLnTx/>
                <a:uFillTx/>
                <a:latin typeface="Arial" panose="020B0604020202020204"/>
                <a:ea typeface="+mn-ea"/>
                <a:cs typeface="Arial"/>
              </a:rPr>
              <a:t>Record</a:t>
            </a:r>
            <a:r>
              <a:rPr kumimoji="0" lang="en-US" sz="3600" b="0" i="0" u="none" strike="noStrike" kern="1200" cap="none" spc="0" normalizeH="0" baseline="0" noProof="0">
                <a:ln>
                  <a:noFill/>
                </a:ln>
                <a:solidFill>
                  <a:srgbClr val="22272B"/>
                </a:solidFill>
                <a:effectLst/>
                <a:uLnTx/>
                <a:uFillTx/>
                <a:latin typeface="Arial" panose="020B0604020202020204"/>
                <a:ea typeface="+mn-ea"/>
                <a:cs typeface="Arial"/>
              </a:rPr>
              <a:t> the </a:t>
            </a:r>
            <a:r>
              <a:rPr kumimoji="0" lang="en-US" sz="3600" b="1" i="0" u="none" strike="noStrike" kern="1200" cap="none" spc="0" normalizeH="0" baseline="0" noProof="0">
                <a:ln>
                  <a:noFill/>
                </a:ln>
                <a:solidFill>
                  <a:srgbClr val="22272B"/>
                </a:solidFill>
                <a:effectLst/>
                <a:uLnTx/>
                <a:uFillTx/>
                <a:latin typeface="Arial" panose="020B0604020202020204"/>
                <a:ea typeface="+mn-ea"/>
                <a:cs typeface="Arial"/>
              </a:rPr>
              <a:t>capacity</a:t>
            </a:r>
            <a:r>
              <a:rPr kumimoji="0" lang="en-US" sz="3600" b="0" i="0" u="none" strike="noStrike" kern="1200" cap="none" spc="0" normalizeH="0" baseline="0" noProof="0">
                <a:ln>
                  <a:noFill/>
                </a:ln>
                <a:solidFill>
                  <a:srgbClr val="22272B"/>
                </a:solidFill>
                <a:effectLst/>
                <a:uLnTx/>
                <a:uFillTx/>
                <a:latin typeface="Arial" panose="020B0604020202020204"/>
                <a:ea typeface="+mn-ea"/>
                <a:cs typeface="Arial"/>
              </a:rPr>
              <a:t> of a </a:t>
            </a:r>
            <a:r>
              <a:rPr lang="en-US" sz="3600" b="1">
                <a:solidFill>
                  <a:srgbClr val="22272B"/>
                </a:solidFill>
                <a:latin typeface="Arial" panose="020B0604020202020204"/>
                <a:cs typeface="Arial"/>
              </a:rPr>
              <a:t>2-</a:t>
            </a:r>
            <a:r>
              <a:rPr kumimoji="0" lang="en-US" sz="3600" b="1" i="0" u="none" strike="noStrike" kern="1200" cap="none" spc="0" normalizeH="0" baseline="0" noProof="0" err="1">
                <a:ln>
                  <a:noFill/>
                </a:ln>
                <a:solidFill>
                  <a:srgbClr val="22272B"/>
                </a:solidFill>
                <a:effectLst/>
                <a:uLnTx/>
                <a:uFillTx/>
                <a:latin typeface="Arial" panose="020B0604020202020204"/>
                <a:ea typeface="+mn-ea"/>
                <a:cs typeface="Arial"/>
              </a:rPr>
              <a:t>litre</a:t>
            </a:r>
            <a:r>
              <a:rPr kumimoji="0" lang="en-US" sz="3600" b="1" i="0" u="none" strike="noStrike" kern="1200" cap="none" spc="0" normalizeH="0" baseline="0" noProof="0">
                <a:ln>
                  <a:noFill/>
                </a:ln>
                <a:solidFill>
                  <a:srgbClr val="22272B"/>
                </a:solidFill>
                <a:effectLst/>
                <a:uLnTx/>
                <a:uFillTx/>
                <a:latin typeface="Arial" panose="020B0604020202020204"/>
                <a:ea typeface="+mn-ea"/>
                <a:cs typeface="Arial"/>
              </a:rPr>
              <a:t> </a:t>
            </a:r>
            <a:r>
              <a:rPr kumimoji="0" lang="en-US" sz="3600" b="0" i="0" u="none" strike="noStrike" kern="1200" cap="none" spc="0" normalizeH="0" baseline="0" noProof="0">
                <a:ln>
                  <a:noFill/>
                </a:ln>
                <a:solidFill>
                  <a:srgbClr val="22272B"/>
                </a:solidFill>
                <a:effectLst/>
                <a:uLnTx/>
                <a:uFillTx/>
                <a:latin typeface="Arial" panose="020B0604020202020204"/>
                <a:ea typeface="+mn-ea"/>
                <a:cs typeface="Arial"/>
              </a:rPr>
              <a:t>milk container using the </a:t>
            </a:r>
            <a:r>
              <a:rPr kumimoji="0" lang="en-US" sz="3600" b="1" i="0" u="none" strike="noStrike" kern="1200" cap="none" spc="0" normalizeH="0" baseline="0" noProof="0">
                <a:ln>
                  <a:noFill/>
                </a:ln>
                <a:solidFill>
                  <a:srgbClr val="22272B"/>
                </a:solidFill>
                <a:effectLst/>
                <a:uLnTx/>
                <a:uFillTx/>
                <a:latin typeface="Arial" panose="020B0604020202020204"/>
                <a:ea typeface="+mn-ea"/>
                <a:cs typeface="Arial"/>
              </a:rPr>
              <a:t>abbreviation</a:t>
            </a:r>
            <a:r>
              <a:rPr kumimoji="0" lang="en-US" sz="3600" b="0" i="0" u="none" strike="noStrike" kern="1200" cap="none" spc="0" normalizeH="0" baseline="0" noProof="0">
                <a:ln>
                  <a:noFill/>
                </a:ln>
                <a:solidFill>
                  <a:srgbClr val="22272B"/>
                </a:solidFill>
                <a:effectLst/>
                <a:uLnTx/>
                <a:uFillTx/>
                <a:latin typeface="Arial" panose="020B0604020202020204"/>
                <a:ea typeface="+mn-ea"/>
                <a:cs typeface="Arial"/>
              </a:rPr>
              <a:t> for </a:t>
            </a:r>
            <a:r>
              <a:rPr kumimoji="0" lang="en-US" sz="3600" b="0" i="0" u="none" strike="noStrike" kern="1200" cap="none" spc="0" normalizeH="0" baseline="0" noProof="0" err="1">
                <a:ln>
                  <a:noFill/>
                </a:ln>
                <a:solidFill>
                  <a:srgbClr val="22272B"/>
                </a:solidFill>
                <a:effectLst/>
                <a:uLnTx/>
                <a:uFillTx/>
                <a:latin typeface="Arial" panose="020B0604020202020204"/>
                <a:ea typeface="+mn-ea"/>
                <a:cs typeface="Arial"/>
              </a:rPr>
              <a:t>litres</a:t>
            </a:r>
            <a:r>
              <a:rPr kumimoji="0" lang="en-US" sz="3600" b="0" i="0" u="none" strike="noStrike" kern="1200" cap="none" spc="0" normalizeH="0" baseline="0" noProof="0">
                <a:ln>
                  <a:noFill/>
                </a:ln>
                <a:solidFill>
                  <a:srgbClr val="22272B"/>
                </a:solidFill>
                <a:effectLst/>
                <a:uLnTx/>
                <a:uFillTx/>
                <a:latin typeface="Arial" panose="020B0604020202020204"/>
                <a:ea typeface="+mn-ea"/>
                <a:cs typeface="Arial"/>
              </a:rPr>
              <a:t>. </a:t>
            </a:r>
          </a:p>
        </p:txBody>
      </p:sp>
      <p:pic>
        <p:nvPicPr>
          <p:cNvPr id="7" name="Picture 6">
            <a:extLst>
              <a:ext uri="{FF2B5EF4-FFF2-40B4-BE49-F238E27FC236}">
                <a16:creationId xmlns:a16="http://schemas.microsoft.com/office/drawing/2014/main" id="{2C7E7033-C462-4F8D-37CA-82A0CCD4BAB7}"/>
              </a:ext>
              <a:ext uri="{C183D7F6-B498-43B3-948B-1728B52AA6E4}">
                <adec:decorative xmlns:adec="http://schemas.microsoft.com/office/drawing/2017/decorative" val="1"/>
              </a:ext>
            </a:extLst>
          </p:cNvPr>
          <p:cNvPicPr>
            <a:picLocks noChangeAspect="1"/>
          </p:cNvPicPr>
          <p:nvPr/>
        </p:nvPicPr>
        <p:blipFill>
          <a:blip r:embed="rId4"/>
          <a:srcRect l="37574" t="16078" r="36544" b="11764"/>
          <a:stretch>
            <a:fillRect/>
          </a:stretch>
        </p:blipFill>
        <p:spPr>
          <a:xfrm>
            <a:off x="5285005" y="3392300"/>
            <a:ext cx="2106707" cy="3303700"/>
          </a:xfrm>
          <a:prstGeom prst="rect">
            <a:avLst/>
          </a:prstGeom>
        </p:spPr>
      </p:pic>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pic>
        <p:nvPicPr>
          <p:cNvPr id="3" name="Picture 2">
            <a:extLst>
              <a:ext uri="{FF2B5EF4-FFF2-40B4-BE49-F238E27FC236}">
                <a16:creationId xmlns:a16="http://schemas.microsoft.com/office/drawing/2014/main" id="{8579B78F-E8F7-2A31-5798-ADB627F8314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19A71497-493A-F909-1CA7-B4270A13C4D7}"/>
              </a:ext>
            </a:extLst>
          </p:cNvPr>
          <p:cNvSpPr txBox="1"/>
          <p:nvPr/>
        </p:nvSpPr>
        <p:spPr>
          <a:xfrm>
            <a:off x="360001" y="1347329"/>
            <a:ext cx="8277562" cy="5150671"/>
          </a:xfrm>
          <a:prstGeom prst="rect">
            <a:avLst/>
          </a:prstGeom>
          <a:noFill/>
        </p:spPr>
        <p:txBody>
          <a:bodyPr wrap="square" lIns="0" tIns="0" rIns="0" bIns="0" rtlCol="0">
            <a:noAutofit/>
          </a:bodyPr>
          <a:lstStyle/>
          <a:p>
            <a:pPr algn="ctr">
              <a:lnSpc>
                <a:spcPct val="150000"/>
              </a:lnSpc>
            </a:pPr>
            <a:r>
              <a:rPr lang="en-AU" sz="3200" dirty="0"/>
              <a:t>To face east, I would make a </a:t>
            </a:r>
            <a:r>
              <a:rPr lang="en-AU" sz="3200" b="1" dirty="0"/>
              <a:t>quarter turn </a:t>
            </a:r>
            <a:r>
              <a:rPr lang="en-AU" sz="3200" dirty="0"/>
              <a:t>from north. This turn </a:t>
            </a:r>
            <a:r>
              <a:rPr lang="en-AU" sz="3200" b="1" dirty="0"/>
              <a:t>forms a right angle</a:t>
            </a:r>
            <a:r>
              <a:rPr lang="en-AU" sz="3200" dirty="0"/>
              <a:t>.</a:t>
            </a:r>
          </a:p>
          <a:p>
            <a:pPr algn="ctr">
              <a:lnSpc>
                <a:spcPct val="150000"/>
              </a:lnSpc>
            </a:pPr>
            <a:endParaRPr lang="en-AU" sz="3200" dirty="0"/>
          </a:p>
          <a:p>
            <a:pPr algn="ctr">
              <a:lnSpc>
                <a:spcPct val="150000"/>
              </a:lnSpc>
            </a:pPr>
            <a:r>
              <a:rPr lang="en-AU" sz="3200" dirty="0"/>
              <a:t>Record </a:t>
            </a:r>
            <a:r>
              <a:rPr lang="en-AU" sz="3200" b="1" dirty="0"/>
              <a:t>other examples </a:t>
            </a:r>
            <a:r>
              <a:rPr lang="en-AU" sz="3200" dirty="0"/>
              <a:t>of </a:t>
            </a:r>
            <a:r>
              <a:rPr lang="en-AU" sz="3200" b="1" dirty="0"/>
              <a:t>right angles between compass points</a:t>
            </a:r>
            <a:r>
              <a:rPr lang="en-AU" sz="3200" dirty="0"/>
              <a:t>.</a:t>
            </a:r>
          </a:p>
          <a:p>
            <a:pPr algn="ctr">
              <a:lnSpc>
                <a:spcPct val="150000"/>
              </a:lnSpc>
            </a:pPr>
            <a:endParaRPr lang="en-AU" sz="3200" b="1" dirty="0"/>
          </a:p>
          <a:p>
            <a:pPr algn="ctr">
              <a:lnSpc>
                <a:spcPct val="150000"/>
              </a:lnSpc>
            </a:pPr>
            <a:r>
              <a:rPr lang="en-AU" sz="3200" b="1" dirty="0"/>
              <a:t>Communicate</a:t>
            </a:r>
            <a:r>
              <a:rPr lang="en-AU" sz="3200" dirty="0"/>
              <a:t> your</a:t>
            </a:r>
            <a:r>
              <a:rPr lang="en-AU" sz="3200" b="1" dirty="0"/>
              <a:t> reasoning</a:t>
            </a:r>
            <a:r>
              <a:rPr lang="en-AU" sz="3200" dirty="0"/>
              <a:t>.</a:t>
            </a:r>
          </a:p>
        </p:txBody>
      </p:sp>
      <p:pic>
        <p:nvPicPr>
          <p:cNvPr id="7" name="Picture 6" descr="A compass indicating  North, East, South, and West.">
            <a:extLst>
              <a:ext uri="{FF2B5EF4-FFF2-40B4-BE49-F238E27FC236}">
                <a16:creationId xmlns:a16="http://schemas.microsoft.com/office/drawing/2014/main" id="{16CC7763-F666-3FB3-57F9-7308119EBC65}"/>
              </a:ext>
            </a:extLst>
          </p:cNvPr>
          <p:cNvPicPr>
            <a:picLocks noChangeAspect="1"/>
          </p:cNvPicPr>
          <p:nvPr/>
        </p:nvPicPr>
        <p:blipFill>
          <a:blip r:embed="rId4"/>
          <a:srcRect l="7499" t="6140" r="10798" b="7917"/>
          <a:stretch>
            <a:fillRect/>
          </a:stretch>
        </p:blipFill>
        <p:spPr>
          <a:xfrm>
            <a:off x="8924986" y="1992977"/>
            <a:ext cx="3020989" cy="2950782"/>
          </a:xfrm>
          <a:prstGeom prst="rect">
            <a:avLst/>
          </a:prstGeom>
          <a:effectLst>
            <a:outerShdw blurRad="63500" sx="102000" sy="102000" algn="ctr" rotWithShape="0">
              <a:prstClr val="black">
                <a:alpha val="40000"/>
              </a:prstClr>
            </a:outerShdw>
          </a:effectLst>
        </p:spPr>
      </p:pic>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latin typeface="Arial"/>
                <a:cs typeface="Arial"/>
              </a:rPr>
              <a:t>Activity 5 – </a:t>
            </a:r>
            <a:r>
              <a:rPr lang="en-AU"/>
              <a:t>using multiplication and division to solve problems </a:t>
            </a:r>
            <a:endParaRPr lang="en-US"/>
          </a:p>
          <a:p>
            <a:endParaRPr lang="en-AU">
              <a:latin typeface="Arial"/>
              <a:cs typeface="Arial"/>
            </a:endParaRPr>
          </a:p>
        </p:txBody>
      </p:sp>
      <p:pic>
        <p:nvPicPr>
          <p:cNvPr id="4" name="Picture 3">
            <a:extLst>
              <a:ext uri="{FF2B5EF4-FFF2-40B4-BE49-F238E27FC236}">
                <a16:creationId xmlns:a16="http://schemas.microsoft.com/office/drawing/2014/main" id="{310F3533-70A3-049C-FD4D-BE7CFB97024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a:extLst>
              <a:ext uri="{FF2B5EF4-FFF2-40B4-BE49-F238E27FC236}">
                <a16:creationId xmlns:a16="http://schemas.microsoft.com/office/drawing/2014/main" id="{3EA83C0E-0DBE-16D7-0CA5-DBA6489F3D01}"/>
              </a:ext>
            </a:extLst>
          </p:cNvPr>
          <p:cNvSpPr txBox="1"/>
          <p:nvPr/>
        </p:nvSpPr>
        <p:spPr>
          <a:xfrm>
            <a:off x="1137179" y="1939764"/>
            <a:ext cx="9917642" cy="397031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AU" sz="4000"/>
              <a:t>Volleyball is played in teams of 6.</a:t>
            </a:r>
          </a:p>
          <a:p>
            <a:pPr algn="ctr">
              <a:lnSpc>
                <a:spcPct val="150000"/>
              </a:lnSpc>
            </a:pPr>
            <a:r>
              <a:rPr lang="en-AU" sz="4000"/>
              <a:t>There were enough players to make 3 teams.</a:t>
            </a:r>
          </a:p>
          <a:p>
            <a:pPr algn="ctr">
              <a:lnSpc>
                <a:spcPct val="150000"/>
              </a:lnSpc>
            </a:pPr>
            <a:r>
              <a:rPr lang="en-US" sz="4000" b="1">
                <a:cs typeface="Arial"/>
              </a:rPr>
              <a:t>How many </a:t>
            </a:r>
            <a:r>
              <a:rPr lang="en-US" sz="4000">
                <a:cs typeface="Arial"/>
              </a:rPr>
              <a:t>players are there </a:t>
            </a:r>
            <a:r>
              <a:rPr lang="en-US" sz="4000" b="1">
                <a:cs typeface="Arial"/>
              </a:rPr>
              <a:t>altogether</a:t>
            </a:r>
            <a:r>
              <a:rPr lang="en-US" sz="4000">
                <a:cs typeface="Arial"/>
              </a:rPr>
              <a:t>?</a:t>
            </a:r>
            <a:endParaRPr lang="en-US" sz="4000"/>
          </a:p>
          <a:p>
            <a:pPr algn="ctr"/>
            <a:endParaRPr lang="en-US" sz="1800">
              <a:cs typeface="Arial"/>
            </a:endParaRPr>
          </a:p>
        </p:txBody>
      </p:sp>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a:xfrm>
            <a:off x="360000" y="360000"/>
            <a:ext cx="10447908" cy="545601"/>
          </a:xfrm>
        </p:spPr>
        <p:txBody>
          <a:bodyPr/>
          <a:lstStyle/>
          <a:p>
            <a:r>
              <a:rPr lang="en-US"/>
              <a:t>True or false </a:t>
            </a:r>
            <a:r>
              <a:rPr lang="en-US">
                <a:solidFill>
                  <a:schemeClr val="bg1"/>
                </a:solidFill>
              </a:rPr>
              <a:t>(3)</a:t>
            </a:r>
          </a:p>
        </p:txBody>
      </p:sp>
      <p:pic>
        <p:nvPicPr>
          <p:cNvPr id="4" name="Picture 3">
            <a:extLst>
              <a:ext uri="{FF2B5EF4-FFF2-40B4-BE49-F238E27FC236}">
                <a16:creationId xmlns:a16="http://schemas.microsoft.com/office/drawing/2014/main" id="{239F5F22-5449-95CB-BD5E-F141E81E86F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360000" y="1625946"/>
            <a:ext cx="11613694" cy="2903524"/>
          </a:xfrm>
        </p:spPr>
        <p:txBody>
          <a:bodyPr/>
          <a:lstStyle/>
          <a:p>
            <a:pPr algn="ctr"/>
            <a:r>
              <a:rPr lang="en-AU" sz="4000"/>
              <a:t>There are </a:t>
            </a:r>
            <a:r>
              <a:rPr lang="en-AU" sz="4000" b="1"/>
              <a:t>20</a:t>
            </a:r>
            <a:r>
              <a:rPr lang="en-AU" sz="4000"/>
              <a:t> students playing sport in </a:t>
            </a:r>
            <a:r>
              <a:rPr lang="en-AU" sz="4000" b="1"/>
              <a:t>groups of 4</a:t>
            </a:r>
            <a:r>
              <a:rPr lang="en-AU" sz="4000"/>
              <a:t>. </a:t>
            </a:r>
            <a:r>
              <a:rPr lang="en-AU" sz="4000" b="1"/>
              <a:t>Two more groups </a:t>
            </a:r>
            <a:r>
              <a:rPr lang="en-AU" sz="4000"/>
              <a:t>join in. </a:t>
            </a:r>
          </a:p>
          <a:p>
            <a:pPr algn="ctr"/>
            <a:r>
              <a:rPr lang="en-AU" sz="4000"/>
              <a:t>The </a:t>
            </a:r>
            <a:r>
              <a:rPr lang="en-AU" sz="4000" b="1"/>
              <a:t>total</a:t>
            </a:r>
            <a:r>
              <a:rPr lang="en-AU" sz="4000"/>
              <a:t> number of students is now 28. </a:t>
            </a:r>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extLst>
              <p:ext uri="{D42A27DB-BD31-4B8C-83A1-F6EECF244321}">
                <p14:modId xmlns:p14="http://schemas.microsoft.com/office/powerpoint/2010/main" val="3605132441"/>
              </p:ext>
            </p:extLst>
          </p:nvPr>
        </p:nvGraphicFramePr>
        <p:xfrm>
          <a:off x="2442981" y="5019040"/>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697313">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pic>
        <p:nvPicPr>
          <p:cNvPr id="3" name="Picture 2">
            <a:extLst>
              <a:ext uri="{FF2B5EF4-FFF2-40B4-BE49-F238E27FC236}">
                <a16:creationId xmlns:a16="http://schemas.microsoft.com/office/drawing/2014/main" id="{4BDD99B8-CF6E-F7A3-575D-5F08BFBF6D7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sp>
        <p:nvSpPr>
          <p:cNvPr id="4" name="TextBox 3">
            <a:extLst>
              <a:ext uri="{FF2B5EF4-FFF2-40B4-BE49-F238E27FC236}">
                <a16:creationId xmlns:a16="http://schemas.microsoft.com/office/drawing/2014/main" id="{75A0E712-95EC-F968-68C4-7073F88BA74B}"/>
              </a:ext>
            </a:extLst>
          </p:cNvPr>
          <p:cNvSpPr txBox="1"/>
          <p:nvPr/>
        </p:nvSpPr>
        <p:spPr>
          <a:xfrm>
            <a:off x="716636" y="906576"/>
            <a:ext cx="10775851" cy="2026791"/>
          </a:xfrm>
          <a:prstGeom prst="rect">
            <a:avLst/>
          </a:prstGeom>
          <a:noFill/>
        </p:spPr>
        <p:txBody>
          <a:bodyPr wrap="square" lIns="0" tIns="0" rIns="0" bIns="0" rtlCol="0" anchor="t">
            <a:noAutofit/>
          </a:bodyPr>
          <a:lstStyle/>
          <a:p>
            <a:pPr algn="ctr">
              <a:lnSpc>
                <a:spcPct val="150000"/>
              </a:lnSpc>
            </a:pPr>
            <a:r>
              <a:rPr lang="en-AU" sz="4400" b="1"/>
              <a:t>Arrange </a:t>
            </a:r>
            <a:r>
              <a:rPr lang="en-AU" sz="4400"/>
              <a:t>the following decimals in </a:t>
            </a:r>
            <a:r>
              <a:rPr lang="en-AU" sz="4400" b="1"/>
              <a:t>ascending</a:t>
            </a:r>
            <a:r>
              <a:rPr lang="en-AU" sz="4400"/>
              <a:t> order:</a:t>
            </a:r>
          </a:p>
          <a:p>
            <a:pPr algn="ctr">
              <a:lnSpc>
                <a:spcPct val="150000"/>
              </a:lnSpc>
            </a:pPr>
            <a:endParaRPr lang="en-AU" sz="4400">
              <a:cs typeface="Arial"/>
            </a:endParaRPr>
          </a:p>
          <a:p>
            <a:pPr algn="ctr">
              <a:lnSpc>
                <a:spcPct val="150000"/>
              </a:lnSpc>
            </a:pPr>
            <a:endParaRPr lang="en-AU" sz="1600">
              <a:cs typeface="Arial"/>
            </a:endParaRPr>
          </a:p>
          <a:p>
            <a:pPr algn="ctr">
              <a:lnSpc>
                <a:spcPct val="150000"/>
              </a:lnSpc>
            </a:pPr>
            <a:endParaRPr lang="en-AU" sz="4400">
              <a:cs typeface="Arial"/>
            </a:endParaRPr>
          </a:p>
        </p:txBody>
      </p:sp>
      <p:pic>
        <p:nvPicPr>
          <p:cNvPr id="8" name="Picture 7" descr="5 decimal numbers shown with each number inside a blue bubble. The numbers, from left to right, are: 0.3, 0.7, 0.31, 0.79 and 0.8.">
            <a:extLst>
              <a:ext uri="{FF2B5EF4-FFF2-40B4-BE49-F238E27FC236}">
                <a16:creationId xmlns:a16="http://schemas.microsoft.com/office/drawing/2014/main" id="{D0D60DD6-54DB-96B4-73A2-7845FC3C7BE3}"/>
              </a:ext>
            </a:extLst>
          </p:cNvPr>
          <p:cNvPicPr>
            <a:picLocks noChangeAspect="1"/>
          </p:cNvPicPr>
          <p:nvPr/>
        </p:nvPicPr>
        <p:blipFill>
          <a:blip r:embed="rId4"/>
          <a:srcRect l="6950" t="45714" r="5742" b="37402"/>
          <a:stretch>
            <a:fillRect/>
          </a:stretch>
        </p:blipFill>
        <p:spPr>
          <a:xfrm>
            <a:off x="402405" y="3570270"/>
            <a:ext cx="11382984" cy="1265713"/>
          </a:xfrm>
          <a:prstGeom prst="rect">
            <a:avLst/>
          </a:prstGeom>
        </p:spPr>
      </p:pic>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pic>
        <p:nvPicPr>
          <p:cNvPr id="3" name="Picture 2">
            <a:extLst>
              <a:ext uri="{FF2B5EF4-FFF2-40B4-BE49-F238E27FC236}">
                <a16:creationId xmlns:a16="http://schemas.microsoft.com/office/drawing/2014/main" id="{4B3A2BE0-B930-2216-835B-AE9E6856E5F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A31DD217-AC18-F717-CD20-B3A7155DEE4A}"/>
              </a:ext>
            </a:extLst>
          </p:cNvPr>
          <p:cNvSpPr txBox="1"/>
          <p:nvPr/>
        </p:nvSpPr>
        <p:spPr>
          <a:xfrm>
            <a:off x="360000" y="1751753"/>
            <a:ext cx="11585976" cy="405232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3600">
                <a:cs typeface="Arial"/>
              </a:rPr>
              <a:t>My journey to work usually takes </a:t>
            </a:r>
            <a:r>
              <a:rPr lang="en-US" sz="3600" b="1">
                <a:cs typeface="Arial"/>
              </a:rPr>
              <a:t>one and a half hours</a:t>
            </a:r>
            <a:r>
              <a:rPr lang="en-US" sz="3600">
                <a:cs typeface="Arial"/>
              </a:rPr>
              <a:t>.</a:t>
            </a:r>
          </a:p>
          <a:p>
            <a:pPr algn="ctr">
              <a:lnSpc>
                <a:spcPct val="150000"/>
              </a:lnSpc>
            </a:pPr>
            <a:endParaRPr lang="en-US" sz="3600">
              <a:cs typeface="Arial"/>
            </a:endParaRPr>
          </a:p>
          <a:p>
            <a:pPr marL="742950" indent="-742950" algn="ctr">
              <a:lnSpc>
                <a:spcPct val="150000"/>
              </a:lnSpc>
              <a:buFont typeface="+mj-lt"/>
              <a:buAutoNum type="alphaLcParenR"/>
            </a:pPr>
            <a:r>
              <a:rPr lang="en-US" sz="3600">
                <a:cs typeface="Arial"/>
              </a:rPr>
              <a:t> How many </a:t>
            </a:r>
            <a:r>
              <a:rPr lang="en-US" sz="3600" b="1">
                <a:cs typeface="Arial"/>
              </a:rPr>
              <a:t>half-hours </a:t>
            </a:r>
            <a:r>
              <a:rPr lang="en-US" sz="3600">
                <a:cs typeface="Arial"/>
              </a:rPr>
              <a:t>is that in total?</a:t>
            </a:r>
          </a:p>
          <a:p>
            <a:pPr marL="742950" indent="-742950" algn="ctr">
              <a:lnSpc>
                <a:spcPct val="150000"/>
              </a:lnSpc>
              <a:buFont typeface="+mj-lt"/>
              <a:buAutoNum type="alphaLcParenR"/>
            </a:pPr>
            <a:r>
              <a:rPr lang="en-US" sz="3600">
                <a:cs typeface="Arial"/>
              </a:rPr>
              <a:t> If I took an extra </a:t>
            </a:r>
            <a:r>
              <a:rPr lang="en-US" sz="3600" b="1">
                <a:cs typeface="Arial"/>
              </a:rPr>
              <a:t>half an hour</a:t>
            </a:r>
            <a:r>
              <a:rPr lang="en-US" sz="3600">
                <a:cs typeface="Arial"/>
              </a:rPr>
              <a:t> to get there, how long is my </a:t>
            </a:r>
            <a:r>
              <a:rPr lang="en-US" sz="3600" b="1">
                <a:cs typeface="Arial"/>
              </a:rPr>
              <a:t>total journey </a:t>
            </a:r>
            <a:r>
              <a:rPr lang="en-US" sz="3600">
                <a:cs typeface="Arial"/>
              </a:rPr>
              <a:t>now?</a:t>
            </a:r>
            <a:endParaRPr lang="en-US" sz="3600"/>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pic>
        <p:nvPicPr>
          <p:cNvPr id="3" name="Picture 2">
            <a:extLst>
              <a:ext uri="{FF2B5EF4-FFF2-40B4-BE49-F238E27FC236}">
                <a16:creationId xmlns:a16="http://schemas.microsoft.com/office/drawing/2014/main" id="{414B841E-8840-471A-4D5D-BE5947D1F0D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TextBox 10">
            <a:extLst>
              <a:ext uri="{FF2B5EF4-FFF2-40B4-BE49-F238E27FC236}">
                <a16:creationId xmlns:a16="http://schemas.microsoft.com/office/drawing/2014/main" id="{2C5C9C68-273C-4C95-89F2-25D5EFE061B9}"/>
              </a:ext>
            </a:extLst>
          </p:cNvPr>
          <p:cNvSpPr txBox="1"/>
          <p:nvPr/>
        </p:nvSpPr>
        <p:spPr>
          <a:xfrm>
            <a:off x="360000" y="956960"/>
            <a:ext cx="11338941" cy="2417135"/>
          </a:xfrm>
          <a:prstGeom prst="rect">
            <a:avLst/>
          </a:prstGeom>
          <a:noFill/>
        </p:spPr>
        <p:txBody>
          <a:bodyPr wrap="none" lIns="0" tIns="0" rIns="0" bIns="0" rtlCol="0">
            <a:noAutofit/>
          </a:bodyPr>
          <a:lstStyle/>
          <a:p>
            <a:pPr algn="ctr">
              <a:lnSpc>
                <a:spcPct val="150000"/>
              </a:lnSpc>
            </a:pPr>
            <a:r>
              <a:rPr lang="en-AU" sz="3600" dirty="0"/>
              <a:t>The juice popper has a </a:t>
            </a:r>
            <a:r>
              <a:rPr lang="en-AU" sz="3600" b="1" dirty="0"/>
              <a:t>capacity</a:t>
            </a:r>
            <a:r>
              <a:rPr lang="en-AU" sz="3600" dirty="0"/>
              <a:t> of 250mL. </a:t>
            </a:r>
          </a:p>
          <a:p>
            <a:pPr algn="ctr">
              <a:lnSpc>
                <a:spcPct val="150000"/>
              </a:lnSpc>
            </a:pPr>
            <a:r>
              <a:rPr lang="en-AU" sz="3600" b="1" dirty="0"/>
              <a:t>How many </a:t>
            </a:r>
            <a:r>
              <a:rPr lang="en-AU" sz="3600" dirty="0"/>
              <a:t>poppers will be needed to fill a 1L jug?</a:t>
            </a:r>
          </a:p>
          <a:p>
            <a:pPr algn="ctr">
              <a:lnSpc>
                <a:spcPct val="150000"/>
              </a:lnSpc>
            </a:pPr>
            <a:endParaRPr lang="en-AU" sz="3600" b="1" dirty="0"/>
          </a:p>
          <a:p>
            <a:pPr algn="ctr">
              <a:lnSpc>
                <a:spcPct val="150000"/>
              </a:lnSpc>
            </a:pPr>
            <a:endParaRPr lang="en-AU" sz="3600" b="1" dirty="0"/>
          </a:p>
          <a:p>
            <a:pPr algn="ctr">
              <a:lnSpc>
                <a:spcPct val="150000"/>
              </a:lnSpc>
            </a:pPr>
            <a:endParaRPr lang="en-AU" sz="3600" b="1" dirty="0"/>
          </a:p>
          <a:p>
            <a:pPr algn="ctr">
              <a:lnSpc>
                <a:spcPct val="150000"/>
              </a:lnSpc>
            </a:pPr>
            <a:endParaRPr lang="en-AU" sz="1400" b="1" dirty="0"/>
          </a:p>
        </p:txBody>
      </p:sp>
      <p:pic>
        <p:nvPicPr>
          <p:cNvPr id="13" name="Picture 12" descr="Image showing a juice popper/ box with a 250ml capacity and a 1 L jug next to it.">
            <a:extLst>
              <a:ext uri="{FF2B5EF4-FFF2-40B4-BE49-F238E27FC236}">
                <a16:creationId xmlns:a16="http://schemas.microsoft.com/office/drawing/2014/main" id="{C7F8012F-1912-C684-82C7-571131734B23}"/>
              </a:ext>
            </a:extLst>
          </p:cNvPr>
          <p:cNvPicPr>
            <a:picLocks noChangeAspect="1"/>
          </p:cNvPicPr>
          <p:nvPr/>
        </p:nvPicPr>
        <p:blipFill>
          <a:blip r:embed="rId4">
            <a:extLst>
              <a:ext uri="{28A0092B-C50C-407E-A947-70E740481C1C}">
                <a14:useLocalDpi xmlns:a14="http://schemas.microsoft.com/office/drawing/2010/main" val="0"/>
              </a:ext>
            </a:extLst>
          </a:blip>
          <a:srcRect l="13458" t="24264" r="19196" b="10467"/>
          <a:stretch>
            <a:fillRect/>
          </a:stretch>
        </p:blipFill>
        <p:spPr>
          <a:xfrm>
            <a:off x="3345946" y="2813018"/>
            <a:ext cx="5500108" cy="2998381"/>
          </a:xfrm>
          <a:prstGeom prst="rect">
            <a:avLst/>
          </a:prstGeom>
          <a:effectLst>
            <a:outerShdw blurRad="63500" sx="102000" sy="102000" algn="ctr" rotWithShape="0">
              <a:prstClr val="black">
                <a:alpha val="40000"/>
              </a:prstClr>
            </a:outerShdw>
          </a:effectLst>
        </p:spPr>
      </p:pic>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sp>
        <p:nvSpPr>
          <p:cNvPr id="5" name="TextBox 4">
            <a:extLst>
              <a:ext uri="{FF2B5EF4-FFF2-40B4-BE49-F238E27FC236}">
                <a16:creationId xmlns:a16="http://schemas.microsoft.com/office/drawing/2014/main" id="{DFB6C459-8B6F-0292-E684-4F39A97A5B13}"/>
              </a:ext>
            </a:extLst>
          </p:cNvPr>
          <p:cNvSpPr txBox="1"/>
          <p:nvPr/>
        </p:nvSpPr>
        <p:spPr>
          <a:xfrm>
            <a:off x="1915171" y="5719536"/>
            <a:ext cx="8228597" cy="820674"/>
          </a:xfrm>
          <a:prstGeom prst="rect">
            <a:avLst/>
          </a:prstGeom>
          <a:noFill/>
        </p:spPr>
        <p:txBody>
          <a:bodyPr wrap="square">
            <a:spAutoFit/>
          </a:bodyPr>
          <a:lstStyle/>
          <a:p>
            <a:pPr algn="ctr">
              <a:lnSpc>
                <a:spcPct val="150000"/>
              </a:lnSpc>
            </a:pPr>
            <a:r>
              <a:rPr lang="en-AU" sz="3600" b="1" dirty="0"/>
              <a:t>Communicate</a:t>
            </a:r>
            <a:r>
              <a:rPr lang="en-AU" sz="3600" dirty="0"/>
              <a:t> your </a:t>
            </a:r>
            <a:r>
              <a:rPr lang="en-AU" sz="3600" b="1" dirty="0"/>
              <a:t>reasoning</a:t>
            </a:r>
            <a:r>
              <a:rPr lang="en-AU" sz="3600" dirty="0"/>
              <a:t>.</a:t>
            </a:r>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pic>
        <p:nvPicPr>
          <p:cNvPr id="3" name="Picture 2">
            <a:extLst>
              <a:ext uri="{FF2B5EF4-FFF2-40B4-BE49-F238E27FC236}">
                <a16:creationId xmlns:a16="http://schemas.microsoft.com/office/drawing/2014/main" id="{7F0D925D-1709-7016-D09D-4DDBD08A31D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9" name="Picture 8" descr="Three diagrams show different arrangements of pink cubes. The left diagram has  a single cube with a volume of 1 cubic centimetre, three cubes stacked in an L-shape with two cubes on the bottom and one on top, while the right diagram has 5 cubes forming a stepped structure with 4 cubes on the bottom and one on top.">
            <a:extLst>
              <a:ext uri="{FF2B5EF4-FFF2-40B4-BE49-F238E27FC236}">
                <a16:creationId xmlns:a16="http://schemas.microsoft.com/office/drawing/2014/main" id="{CEB64A20-7F79-9053-3BD1-EE3B91C14ACD}"/>
              </a:ext>
            </a:extLst>
          </p:cNvPr>
          <p:cNvPicPr>
            <a:picLocks noChangeAspect="1"/>
          </p:cNvPicPr>
          <p:nvPr/>
        </p:nvPicPr>
        <p:blipFill>
          <a:blip r:embed="rId4"/>
          <a:srcRect t="53759" r="81184"/>
          <a:stretch>
            <a:fillRect/>
          </a:stretch>
        </p:blipFill>
        <p:spPr>
          <a:xfrm>
            <a:off x="5543634" y="496585"/>
            <a:ext cx="1296285" cy="1189652"/>
          </a:xfrm>
          <a:prstGeom prst="rect">
            <a:avLst/>
          </a:prstGeom>
        </p:spPr>
      </p:pic>
      <p:pic>
        <p:nvPicPr>
          <p:cNvPr id="5" name="Picture 4" descr="2 three dimensional structures made from cubic centimetre cubes.">
            <a:extLst>
              <a:ext uri="{FF2B5EF4-FFF2-40B4-BE49-F238E27FC236}">
                <a16:creationId xmlns:a16="http://schemas.microsoft.com/office/drawing/2014/main" id="{7DB0F82E-0D9D-6D81-469C-FA365235BC20}"/>
              </a:ext>
            </a:extLst>
          </p:cNvPr>
          <p:cNvPicPr>
            <a:picLocks noChangeAspect="1"/>
          </p:cNvPicPr>
          <p:nvPr/>
        </p:nvPicPr>
        <p:blipFill>
          <a:blip r:embed="rId5"/>
          <a:srcRect l="12664" t="5829" r="10269" b="42903"/>
          <a:stretch>
            <a:fillRect/>
          </a:stretch>
        </p:blipFill>
        <p:spPr>
          <a:xfrm>
            <a:off x="2907226" y="3785269"/>
            <a:ext cx="6884377" cy="2576146"/>
          </a:xfrm>
          <a:prstGeom prst="rect">
            <a:avLst/>
          </a:prstGeom>
        </p:spPr>
      </p:pic>
      <p:sp>
        <p:nvSpPr>
          <p:cNvPr id="7" name="TextBox 6">
            <a:extLst>
              <a:ext uri="{FF2B5EF4-FFF2-40B4-BE49-F238E27FC236}">
                <a16:creationId xmlns:a16="http://schemas.microsoft.com/office/drawing/2014/main" id="{3C4C78FE-B12F-B637-65AF-F56EFBB801E0}"/>
              </a:ext>
            </a:extLst>
          </p:cNvPr>
          <p:cNvSpPr txBox="1"/>
          <p:nvPr/>
        </p:nvSpPr>
        <p:spPr>
          <a:xfrm>
            <a:off x="1241483" y="1964814"/>
            <a:ext cx="9709033" cy="1478296"/>
          </a:xfrm>
          <a:prstGeom prst="rect">
            <a:avLst/>
          </a:prstGeom>
          <a:noFill/>
        </p:spPr>
        <p:txBody>
          <a:bodyPr wrap="none" lIns="0" tIns="0" rIns="0" bIns="0" rtlCol="0">
            <a:noAutofit/>
          </a:bodyPr>
          <a:lstStyle/>
          <a:p>
            <a:pPr algn="ctr">
              <a:lnSpc>
                <a:spcPct val="150000"/>
              </a:lnSpc>
            </a:pPr>
            <a:r>
              <a:rPr lang="en-AU" sz="4000"/>
              <a:t>1 cube has a volume of </a:t>
            </a:r>
            <a:r>
              <a:rPr lang="en-AU" sz="4000" b="1"/>
              <a:t>1 cubic centimetre</a:t>
            </a:r>
            <a:r>
              <a:rPr lang="en-AU" sz="4000"/>
              <a:t>. </a:t>
            </a:r>
          </a:p>
          <a:p>
            <a:pPr algn="ctr">
              <a:lnSpc>
                <a:spcPct val="150000"/>
              </a:lnSpc>
            </a:pPr>
            <a:r>
              <a:rPr lang="en-AU" sz="4000"/>
              <a:t>What is the </a:t>
            </a:r>
            <a:r>
              <a:rPr lang="en-AU" sz="4000" b="1"/>
              <a:t>volume </a:t>
            </a:r>
            <a:r>
              <a:rPr lang="en-AU" sz="4000"/>
              <a:t>of each multi-cube object below?</a:t>
            </a:r>
          </a:p>
        </p:txBody>
      </p:sp>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sp>
        <p:nvSpPr>
          <p:cNvPr id="4" name="B">
            <a:extLst>
              <a:ext uri="{FF2B5EF4-FFF2-40B4-BE49-F238E27FC236}">
                <a16:creationId xmlns:a16="http://schemas.microsoft.com/office/drawing/2014/main" id="{9F7B486B-6D35-5C97-9B8E-232527DCE0CF}"/>
              </a:ext>
            </a:extLst>
          </p:cNvPr>
          <p:cNvSpPr txBox="1"/>
          <p:nvPr/>
        </p:nvSpPr>
        <p:spPr>
          <a:xfrm>
            <a:off x="3965946" y="6221001"/>
            <a:ext cx="550213" cy="55399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3600"/>
              <a:t>A</a:t>
            </a:r>
          </a:p>
        </p:txBody>
      </p:sp>
      <p:sp>
        <p:nvSpPr>
          <p:cNvPr id="12" name="B">
            <a:extLst>
              <a:ext uri="{FF2B5EF4-FFF2-40B4-BE49-F238E27FC236}">
                <a16:creationId xmlns:a16="http://schemas.microsoft.com/office/drawing/2014/main" id="{50DDAB37-3AAF-8DA0-ED63-E625EF9D5F67}"/>
              </a:ext>
            </a:extLst>
          </p:cNvPr>
          <p:cNvSpPr txBox="1"/>
          <p:nvPr/>
        </p:nvSpPr>
        <p:spPr>
          <a:xfrm>
            <a:off x="7675844" y="6221001"/>
            <a:ext cx="1855493" cy="55399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3600"/>
              <a:t>B</a:t>
            </a:r>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1032865"/>
          </a:xfrm>
        </p:spPr>
        <p:txBody>
          <a:bodyPr/>
          <a:lstStyle/>
          <a:p>
            <a:r>
              <a:rPr lang="en-AU">
                <a:latin typeface="Arial"/>
                <a:cs typeface="Arial"/>
              </a:rPr>
              <a:t>Activity 6 – </a:t>
            </a:r>
            <a:r>
              <a:rPr lang="en-AU"/>
              <a:t>using multiplication and division to solve problems 2</a:t>
            </a:r>
            <a:endParaRPr lang="en-US"/>
          </a:p>
          <a:p>
            <a:endParaRPr lang="en-AU">
              <a:latin typeface="Arial"/>
              <a:cs typeface="Arial"/>
            </a:endParaRPr>
          </a:p>
        </p:txBody>
      </p:sp>
      <p:pic>
        <p:nvPicPr>
          <p:cNvPr id="4" name="Picture 3">
            <a:extLst>
              <a:ext uri="{FF2B5EF4-FFF2-40B4-BE49-F238E27FC236}">
                <a16:creationId xmlns:a16="http://schemas.microsoft.com/office/drawing/2014/main" id="{98F6F9F3-5640-0D69-7B77-0C79E603F67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a:extLst>
              <a:ext uri="{FF2B5EF4-FFF2-40B4-BE49-F238E27FC236}">
                <a16:creationId xmlns:a16="http://schemas.microsoft.com/office/drawing/2014/main" id="{751D0D49-0C94-49B4-5400-85F127E173D3}"/>
              </a:ext>
            </a:extLst>
          </p:cNvPr>
          <p:cNvSpPr txBox="1"/>
          <p:nvPr/>
        </p:nvSpPr>
        <p:spPr>
          <a:xfrm>
            <a:off x="360000" y="2580469"/>
            <a:ext cx="11253352" cy="265592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000">
                <a:cs typeface="Arial"/>
              </a:rPr>
              <a:t>Volleyball is played in </a:t>
            </a:r>
            <a:r>
              <a:rPr lang="en-US" sz="4000" b="1">
                <a:cs typeface="Arial"/>
              </a:rPr>
              <a:t>teams of 6</a:t>
            </a:r>
            <a:r>
              <a:rPr lang="en-US" sz="4000">
                <a:cs typeface="Arial"/>
              </a:rPr>
              <a:t>. There were enough players to make </a:t>
            </a:r>
            <a:r>
              <a:rPr lang="en-US" sz="4000" b="1">
                <a:cs typeface="Arial"/>
              </a:rPr>
              <a:t>3 teams</a:t>
            </a:r>
            <a:r>
              <a:rPr lang="en-US" sz="4000">
                <a:cs typeface="Arial"/>
              </a:rPr>
              <a:t>. </a:t>
            </a:r>
          </a:p>
          <a:p>
            <a:pPr algn="ctr">
              <a:lnSpc>
                <a:spcPct val="150000"/>
              </a:lnSpc>
            </a:pPr>
            <a:r>
              <a:rPr lang="en-US" sz="4000">
                <a:cs typeface="Arial"/>
              </a:rPr>
              <a:t>How many players are there </a:t>
            </a:r>
            <a:r>
              <a:rPr lang="en-US" sz="4000" b="1">
                <a:cs typeface="Arial"/>
              </a:rPr>
              <a:t>altogether</a:t>
            </a:r>
            <a:r>
              <a:rPr lang="en-US" sz="4000">
                <a:cs typeface="Arial"/>
              </a:rPr>
              <a:t>?</a:t>
            </a:r>
          </a:p>
        </p:txBody>
      </p:sp>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BDB0F-EDB3-D42C-B9F0-90D9CE8D95C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6806A67-4A8B-CFA0-2639-260EFA3DE028}"/>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(4)</a:t>
            </a:r>
          </a:p>
        </p:txBody>
      </p:sp>
      <p:pic>
        <p:nvPicPr>
          <p:cNvPr id="4" name="Picture 3">
            <a:extLst>
              <a:ext uri="{FF2B5EF4-FFF2-40B4-BE49-F238E27FC236}">
                <a16:creationId xmlns:a16="http://schemas.microsoft.com/office/drawing/2014/main" id="{9E6DEC87-1992-0ACF-8BBC-408DC4F8B51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F4BCB582-8EFA-EA48-C6B2-3E84380A7733}"/>
              </a:ext>
            </a:extLst>
          </p:cNvPr>
          <p:cNvSpPr>
            <a:spLocks noGrp="1"/>
          </p:cNvSpPr>
          <p:nvPr>
            <p:ph type="body" sz="quarter" idx="28"/>
          </p:nvPr>
        </p:nvSpPr>
        <p:spPr>
          <a:xfrm>
            <a:off x="147764" y="1095065"/>
            <a:ext cx="11243037" cy="877962"/>
          </a:xfrm>
        </p:spPr>
        <p:txBody>
          <a:bodyPr/>
          <a:lstStyle/>
          <a:p>
            <a:pPr algn="ctr"/>
            <a:r>
              <a:rPr lang="en-AU" sz="4000"/>
              <a:t>The </a:t>
            </a:r>
            <a:r>
              <a:rPr lang="en-AU" sz="4000" b="1"/>
              <a:t>eighth multiple of 6 </a:t>
            </a:r>
            <a:r>
              <a:rPr lang="en-AU" sz="4000"/>
              <a:t>is 48. This can be represented as:</a:t>
            </a:r>
          </a:p>
          <a:p>
            <a:endParaRPr lang="en-US" sz="4400"/>
          </a:p>
          <a:p>
            <a:endParaRPr lang="en-US" sz="4400"/>
          </a:p>
        </p:txBody>
      </p:sp>
      <p:sp>
        <p:nvSpPr>
          <p:cNvPr id="9" name="B">
            <a:extLst>
              <a:ext uri="{FF2B5EF4-FFF2-40B4-BE49-F238E27FC236}">
                <a16:creationId xmlns:a16="http://schemas.microsoft.com/office/drawing/2014/main" id="{C9B406B5-1B1B-BC84-2596-01F05852F38E}"/>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31DF2179-CC68-4EE0-97E0-A4308D927550}"/>
              </a:ext>
            </a:extLst>
          </p:cNvPr>
          <p:cNvSpPr>
            <a:spLocks noGrp="1"/>
          </p:cNvSpPr>
          <p:nvPr>
            <p:ph type="body" sz="quarter" idx="31"/>
          </p:nvPr>
        </p:nvSpPr>
        <p:spPr>
          <a:xfrm>
            <a:off x="1345519" y="2815650"/>
            <a:ext cx="1665309" cy="641396"/>
          </a:xfrm>
        </p:spPr>
        <p:txBody>
          <a:bodyPr anchor="ctr"/>
          <a:lstStyle/>
          <a:p>
            <a:r>
              <a:rPr lang="en-US" sz="3600"/>
              <a:t>8 sixes</a:t>
            </a:r>
          </a:p>
        </p:txBody>
      </p:sp>
      <p:sp>
        <p:nvSpPr>
          <p:cNvPr id="10" name="B">
            <a:extLst>
              <a:ext uri="{FF2B5EF4-FFF2-40B4-BE49-F238E27FC236}">
                <a16:creationId xmlns:a16="http://schemas.microsoft.com/office/drawing/2014/main" id="{E50622FB-E2C3-695B-EB8A-A6DCC20CB21A}"/>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C73A00ED-7DB5-30D2-B4A9-C92DE2E894C8}"/>
              </a:ext>
            </a:extLst>
          </p:cNvPr>
          <p:cNvSpPr>
            <a:spLocks noGrp="1"/>
          </p:cNvSpPr>
          <p:nvPr>
            <p:ph type="body" sz="quarter" idx="30"/>
          </p:nvPr>
        </p:nvSpPr>
        <p:spPr>
          <a:xfrm>
            <a:off x="1345520" y="3626028"/>
            <a:ext cx="1821426" cy="641396"/>
          </a:xfrm>
        </p:spPr>
        <p:txBody>
          <a:bodyPr anchor="ctr"/>
          <a:lstStyle/>
          <a:p>
            <a:r>
              <a:rPr lang="en-US" sz="3600"/>
              <a:t>8 + 6</a:t>
            </a:r>
          </a:p>
        </p:txBody>
      </p:sp>
      <p:sp>
        <p:nvSpPr>
          <p:cNvPr id="12" name="C">
            <a:extLst>
              <a:ext uri="{FF2B5EF4-FFF2-40B4-BE49-F238E27FC236}">
                <a16:creationId xmlns:a16="http://schemas.microsoft.com/office/drawing/2014/main" id="{0C258EAC-2959-18FA-F510-CFBA4E15CEE5}"/>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4F46D482-F339-0F56-69AD-E717BD10B08B}"/>
              </a:ext>
            </a:extLst>
          </p:cNvPr>
          <p:cNvSpPr>
            <a:spLocks noGrp="1"/>
          </p:cNvSpPr>
          <p:nvPr>
            <p:ph type="body" sz="quarter" idx="29"/>
          </p:nvPr>
        </p:nvSpPr>
        <p:spPr>
          <a:xfrm>
            <a:off x="1345520" y="4500896"/>
            <a:ext cx="1821426" cy="641396"/>
          </a:xfrm>
        </p:spPr>
        <p:txBody>
          <a:bodyPr anchor="ctr"/>
          <a:lstStyle/>
          <a:p>
            <a:r>
              <a:rPr lang="en-US" sz="3600"/>
              <a:t>48 - 6</a:t>
            </a:r>
          </a:p>
        </p:txBody>
      </p:sp>
      <p:sp>
        <p:nvSpPr>
          <p:cNvPr id="11" name="D">
            <a:extLst>
              <a:ext uri="{FF2B5EF4-FFF2-40B4-BE49-F238E27FC236}">
                <a16:creationId xmlns:a16="http://schemas.microsoft.com/office/drawing/2014/main" id="{14776889-F079-73F7-28AB-FA54A997A57B}"/>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6A6EC998-9E5D-373F-B144-268EE2D0342A}"/>
              </a:ext>
            </a:extLst>
          </p:cNvPr>
          <p:cNvSpPr>
            <a:spLocks noGrp="1"/>
          </p:cNvSpPr>
          <p:nvPr>
            <p:ph type="body" sz="quarter" idx="27"/>
          </p:nvPr>
        </p:nvSpPr>
        <p:spPr>
          <a:xfrm>
            <a:off x="1423578" y="5311274"/>
            <a:ext cx="1665308" cy="641396"/>
          </a:xfrm>
        </p:spPr>
        <p:txBody>
          <a:bodyPr anchor="ctr"/>
          <a:lstStyle/>
          <a:p>
            <a:r>
              <a:rPr lang="en-US" sz="3600"/>
              <a:t>8 x 6</a:t>
            </a:r>
          </a:p>
        </p:txBody>
      </p:sp>
      <p:sp>
        <p:nvSpPr>
          <p:cNvPr id="2" name="Slide Number Placeholder 1">
            <a:extLst>
              <a:ext uri="{FF2B5EF4-FFF2-40B4-BE49-F238E27FC236}">
                <a16:creationId xmlns:a16="http://schemas.microsoft.com/office/drawing/2014/main" id="{EA003EA6-BD98-8C0D-720D-A89B6A010C6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47</a:t>
            </a:fld>
            <a:endParaRPr lang="en-AU"/>
          </a:p>
        </p:txBody>
      </p:sp>
    </p:spTree>
    <p:extLst>
      <p:ext uri="{BB962C8B-B14F-4D97-AF65-F5344CB8AC3E}">
        <p14:creationId xmlns:p14="http://schemas.microsoft.com/office/powerpoint/2010/main" val="2836781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pic>
        <p:nvPicPr>
          <p:cNvPr id="3" name="Picture 2">
            <a:extLst>
              <a:ext uri="{FF2B5EF4-FFF2-40B4-BE49-F238E27FC236}">
                <a16:creationId xmlns:a16="http://schemas.microsoft.com/office/drawing/2014/main" id="{3BDDE108-B743-E59F-31B4-5F4FCBC7EB6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9F403056-E286-FDC7-4C10-A4C8EA96AAF9}"/>
              </a:ext>
            </a:extLst>
          </p:cNvPr>
          <p:cNvSpPr txBox="1"/>
          <p:nvPr/>
        </p:nvSpPr>
        <p:spPr>
          <a:xfrm>
            <a:off x="882930" y="2139104"/>
            <a:ext cx="10812885" cy="4098274"/>
          </a:xfrm>
          <a:prstGeom prst="rect">
            <a:avLst/>
          </a:prstGeom>
          <a:noFill/>
        </p:spPr>
        <p:txBody>
          <a:bodyPr wrap="none" lIns="0" tIns="0" rIns="0" bIns="0" rtlCol="0">
            <a:noAutofit/>
          </a:bodyPr>
          <a:lstStyle/>
          <a:p>
            <a:pPr algn="ctr">
              <a:lnSpc>
                <a:spcPct val="150000"/>
              </a:lnSpc>
            </a:pPr>
            <a:r>
              <a:rPr lang="en-AU" sz="4400"/>
              <a:t>Use the </a:t>
            </a:r>
            <a:r>
              <a:rPr lang="en-AU" sz="4400" b="1"/>
              <a:t>commutative property </a:t>
            </a:r>
            <a:r>
              <a:rPr lang="en-AU" sz="4400"/>
              <a:t>to solve: </a:t>
            </a:r>
          </a:p>
          <a:p>
            <a:pPr algn="ctr">
              <a:lnSpc>
                <a:spcPct val="150000"/>
              </a:lnSpc>
            </a:pPr>
            <a:r>
              <a:rPr lang="en-AU" sz="5400"/>
              <a:t>16 x 5 = (2 x 8) x 5</a:t>
            </a:r>
          </a:p>
          <a:p>
            <a:r>
              <a:rPr lang="en-AU" sz="6000"/>
              <a:t> </a:t>
            </a:r>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pic>
        <p:nvPicPr>
          <p:cNvPr id="3" name="Picture 2">
            <a:extLst>
              <a:ext uri="{FF2B5EF4-FFF2-40B4-BE49-F238E27FC236}">
                <a16:creationId xmlns:a16="http://schemas.microsoft.com/office/drawing/2014/main" id="{5DACDB15-40FB-10CA-304C-024754D6DBA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C83E53F8-D910-2E97-129B-8B2B45B6749E}"/>
              </a:ext>
            </a:extLst>
          </p:cNvPr>
          <p:cNvSpPr txBox="1"/>
          <p:nvPr/>
        </p:nvSpPr>
        <p:spPr>
          <a:xfrm>
            <a:off x="198993" y="2222739"/>
            <a:ext cx="11285007" cy="304698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000" baseline="0">
                <a:solidFill>
                  <a:srgbClr val="22272B"/>
                </a:solidFill>
                <a:latin typeface="Arial"/>
                <a:ea typeface="Segoe UI"/>
                <a:cs typeface="Segoe UI"/>
              </a:rPr>
              <a:t>My kitchen timer </a:t>
            </a:r>
            <a:r>
              <a:rPr lang="en-US" sz="4000">
                <a:solidFill>
                  <a:srgbClr val="22272B"/>
                </a:solidFill>
                <a:latin typeface="Arial"/>
                <a:ea typeface="Segoe UI"/>
                <a:cs typeface="Segoe UI"/>
              </a:rPr>
              <a:t>is</a:t>
            </a:r>
            <a:r>
              <a:rPr lang="en-US" sz="4000" baseline="0">
                <a:solidFill>
                  <a:srgbClr val="22272B"/>
                </a:solidFill>
                <a:latin typeface="Arial"/>
                <a:ea typeface="Segoe UI"/>
                <a:cs typeface="Segoe UI"/>
              </a:rPr>
              <a:t> </a:t>
            </a:r>
            <a:r>
              <a:rPr lang="en-US" sz="4000" b="1" baseline="0">
                <a:solidFill>
                  <a:srgbClr val="22272B"/>
                </a:solidFill>
                <a:latin typeface="Arial"/>
                <a:ea typeface="Segoe UI"/>
                <a:cs typeface="Segoe UI"/>
              </a:rPr>
              <a:t>set for 1 minute</a:t>
            </a:r>
            <a:r>
              <a:rPr lang="en-US" sz="4000" baseline="0">
                <a:solidFill>
                  <a:srgbClr val="22272B"/>
                </a:solidFill>
                <a:latin typeface="Arial"/>
                <a:ea typeface="Segoe UI"/>
                <a:cs typeface="Segoe UI"/>
              </a:rPr>
              <a:t>. </a:t>
            </a:r>
          </a:p>
          <a:p>
            <a:pPr algn="ctr">
              <a:lnSpc>
                <a:spcPct val="150000"/>
              </a:lnSpc>
            </a:pPr>
            <a:r>
              <a:rPr lang="en-US" sz="4000">
                <a:solidFill>
                  <a:srgbClr val="22272B"/>
                </a:solidFill>
                <a:latin typeface="Arial"/>
                <a:ea typeface="Segoe UI"/>
                <a:cs typeface="Segoe UI"/>
              </a:rPr>
              <a:t>Record this in </a:t>
            </a:r>
            <a:r>
              <a:rPr lang="en-US" sz="4000" b="1">
                <a:solidFill>
                  <a:srgbClr val="22272B"/>
                </a:solidFill>
                <a:latin typeface="Arial"/>
                <a:ea typeface="Segoe UI"/>
                <a:cs typeface="Segoe UI"/>
              </a:rPr>
              <a:t>seconds</a:t>
            </a:r>
            <a:r>
              <a:rPr lang="en-US" sz="4000" baseline="0">
                <a:solidFill>
                  <a:srgbClr val="22272B"/>
                </a:solidFill>
                <a:latin typeface="Arial"/>
                <a:ea typeface="Segoe UI"/>
                <a:cs typeface="Segoe UI"/>
              </a:rPr>
              <a:t>.</a:t>
            </a:r>
          </a:p>
          <a:p>
            <a:pPr>
              <a:lnSpc>
                <a:spcPct val="150000"/>
              </a:lnSpc>
            </a:pPr>
            <a:endParaRPr lang="en-US" sz="4000" baseline="0">
              <a:solidFill>
                <a:srgbClr val="22272B"/>
              </a:solidFill>
              <a:latin typeface="Arial"/>
              <a:ea typeface="Segoe UI"/>
              <a:cs typeface="Segoe UI"/>
            </a:endParaRPr>
          </a:p>
          <a:p>
            <a:pPr algn="l"/>
            <a:endParaRPr lang="en-US" sz="1800"/>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pic>
        <p:nvPicPr>
          <p:cNvPr id="3" name="Picture 2">
            <a:extLst>
              <a:ext uri="{FF2B5EF4-FFF2-40B4-BE49-F238E27FC236}">
                <a16:creationId xmlns:a16="http://schemas.microsoft.com/office/drawing/2014/main" id="{6F1984CA-3815-83E6-2CEF-D3AC5609C15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3188197C-094A-EF27-3D75-BE5EACE5BB8B}"/>
              </a:ext>
            </a:extLst>
          </p:cNvPr>
          <p:cNvSpPr txBox="1"/>
          <p:nvPr/>
        </p:nvSpPr>
        <p:spPr>
          <a:xfrm>
            <a:off x="246024" y="878712"/>
            <a:ext cx="11419624" cy="248266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22272B"/>
                </a:solidFill>
                <a:effectLst/>
                <a:uLnTx/>
                <a:uFillTx/>
                <a:latin typeface="Arial" panose="020B0604020202020204"/>
                <a:ea typeface="+mn-ea"/>
                <a:cs typeface="Arial"/>
              </a:rPr>
              <a:t>The apple juice popper has a </a:t>
            </a:r>
            <a:r>
              <a:rPr kumimoji="0" lang="en-US" sz="3600" b="1" i="0" u="none" strike="noStrike" kern="1200" cap="none" spc="0" normalizeH="0" baseline="0" noProof="0" dirty="0">
                <a:ln>
                  <a:noFill/>
                </a:ln>
                <a:solidFill>
                  <a:srgbClr val="22272B"/>
                </a:solidFill>
                <a:effectLst/>
                <a:uLnTx/>
                <a:uFillTx/>
                <a:latin typeface="Arial" panose="020B0604020202020204"/>
                <a:ea typeface="+mn-ea"/>
                <a:cs typeface="Arial"/>
              </a:rPr>
              <a:t>capacity of 250 </a:t>
            </a:r>
            <a:r>
              <a:rPr kumimoji="0" lang="en-US" sz="3600" b="1" i="0" u="none" strike="noStrike" kern="1200" cap="none" spc="0" normalizeH="0" baseline="0" noProof="0" dirty="0" err="1">
                <a:ln>
                  <a:noFill/>
                </a:ln>
                <a:solidFill>
                  <a:srgbClr val="22272B"/>
                </a:solidFill>
                <a:effectLst/>
                <a:uLnTx/>
                <a:uFillTx/>
                <a:latin typeface="Arial" panose="020B0604020202020204"/>
                <a:ea typeface="+mn-ea"/>
                <a:cs typeface="Arial"/>
              </a:rPr>
              <a:t>mL</a:t>
            </a:r>
            <a:r>
              <a:rPr kumimoji="0" lang="en-US" sz="3600" b="0" i="0" u="none" strike="noStrike" kern="1200" cap="none" spc="0" normalizeH="0" baseline="0" noProof="0" dirty="0" err="1">
                <a:ln>
                  <a:noFill/>
                </a:ln>
                <a:solidFill>
                  <a:srgbClr val="22272B"/>
                </a:solidFill>
                <a:effectLst/>
                <a:uLnTx/>
                <a:uFillTx/>
                <a:latin typeface="Arial" panose="020B0604020202020204"/>
                <a:ea typeface="+mn-ea"/>
                <a:cs typeface="Arial"/>
              </a:rPr>
              <a:t>.</a:t>
            </a:r>
            <a:r>
              <a:rPr kumimoji="0" lang="en-US" sz="3600" b="0" i="0" u="none" strike="noStrike" kern="1200" cap="none" spc="0" normalizeH="0" baseline="0" noProof="0" dirty="0">
                <a:ln>
                  <a:noFill/>
                </a:ln>
                <a:solidFill>
                  <a:srgbClr val="22272B"/>
                </a:solidFill>
                <a:effectLst/>
                <a:uLnTx/>
                <a:uFillTx/>
                <a:latin typeface="Arial" panose="020B0604020202020204"/>
                <a:ea typeface="+mn-ea"/>
                <a:cs typeface="Arial"/>
              </a:rPr>
              <a:t> Use this information to </a:t>
            </a:r>
            <a:r>
              <a:rPr kumimoji="0" lang="en-US" sz="3600" b="1" i="0" u="none" strike="noStrike" kern="1200" cap="none" spc="0" normalizeH="0" baseline="0" noProof="0" dirty="0">
                <a:ln>
                  <a:noFill/>
                </a:ln>
                <a:solidFill>
                  <a:srgbClr val="22272B"/>
                </a:solidFill>
                <a:effectLst/>
                <a:uLnTx/>
                <a:uFillTx/>
                <a:latin typeface="Arial" panose="020B0604020202020204"/>
                <a:ea typeface="+mn-ea"/>
                <a:cs typeface="Arial"/>
              </a:rPr>
              <a:t>estimate the capacities</a:t>
            </a:r>
            <a:r>
              <a:rPr kumimoji="0" lang="en-US" sz="3600" b="0" i="0" u="none" strike="noStrike" kern="1200" cap="none" spc="0" normalizeH="0" baseline="0" noProof="0" dirty="0">
                <a:ln>
                  <a:noFill/>
                </a:ln>
                <a:solidFill>
                  <a:srgbClr val="22272B"/>
                </a:solidFill>
                <a:effectLst/>
                <a:uLnTx/>
                <a:uFillTx/>
                <a:latin typeface="Arial" panose="020B0604020202020204"/>
                <a:ea typeface="+mn-ea"/>
                <a:cs typeface="Arial"/>
              </a:rPr>
              <a:t> of the other objects.</a:t>
            </a:r>
            <a:endParaRPr kumimoji="0" lang="en-US" sz="3600" b="0" i="0" u="none" strike="noStrike" kern="1200" cap="none" spc="0" normalizeH="0" baseline="0" noProof="0" dirty="0">
              <a:ln>
                <a:noFill/>
              </a:ln>
              <a:solidFill>
                <a:srgbClr val="22272B"/>
              </a:solidFill>
              <a:effectLst/>
              <a:uLnTx/>
              <a:uFillTx/>
              <a:latin typeface="Arial" panose="020B0604020202020204"/>
              <a:ea typeface="+mn-ea"/>
              <a:cs typeface="+mn-cs"/>
            </a:endParaRPr>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pic>
        <p:nvPicPr>
          <p:cNvPr id="5" name="Picture 4" descr="Apple juice popper">
            <a:extLst>
              <a:ext uri="{FF2B5EF4-FFF2-40B4-BE49-F238E27FC236}">
                <a16:creationId xmlns:a16="http://schemas.microsoft.com/office/drawing/2014/main" id="{FB5EF081-1689-C3E6-32FD-12DDF46E0332}"/>
              </a:ext>
            </a:extLst>
          </p:cNvPr>
          <p:cNvPicPr>
            <a:picLocks noChangeAspect="1"/>
          </p:cNvPicPr>
          <p:nvPr/>
        </p:nvPicPr>
        <p:blipFill>
          <a:blip r:embed="rId4"/>
          <a:srcRect t="54772" r="76359" b="9313"/>
          <a:stretch>
            <a:fillRect/>
          </a:stretch>
        </p:blipFill>
        <p:spPr>
          <a:xfrm>
            <a:off x="1452087" y="4449321"/>
            <a:ext cx="1502863" cy="1284248"/>
          </a:xfrm>
          <a:prstGeom prst="rect">
            <a:avLst/>
          </a:prstGeom>
        </p:spPr>
      </p:pic>
      <p:pic>
        <p:nvPicPr>
          <p:cNvPr id="7" name="Picture 6" descr="A is a fruit juice bottle. B is a milk carton . C is a large milk bottle.">
            <a:extLst>
              <a:ext uri="{FF2B5EF4-FFF2-40B4-BE49-F238E27FC236}">
                <a16:creationId xmlns:a16="http://schemas.microsoft.com/office/drawing/2014/main" id="{C9F5234F-49CE-2667-AE60-790E840885A5}"/>
              </a:ext>
            </a:extLst>
          </p:cNvPr>
          <p:cNvPicPr>
            <a:picLocks noChangeAspect="1"/>
          </p:cNvPicPr>
          <p:nvPr/>
        </p:nvPicPr>
        <p:blipFill>
          <a:blip r:embed="rId4"/>
          <a:srcRect l="22575" r="1041" b="9314"/>
          <a:stretch>
            <a:fillRect/>
          </a:stretch>
        </p:blipFill>
        <p:spPr>
          <a:xfrm>
            <a:off x="4110537" y="2557968"/>
            <a:ext cx="5465263" cy="3649860"/>
          </a:xfrm>
          <a:prstGeom prst="rect">
            <a:avLst/>
          </a:prstGeom>
        </p:spPr>
      </p:pic>
      <p:sp>
        <p:nvSpPr>
          <p:cNvPr id="4" name="TextBox 3">
            <a:extLst>
              <a:ext uri="{FF2B5EF4-FFF2-40B4-BE49-F238E27FC236}">
                <a16:creationId xmlns:a16="http://schemas.microsoft.com/office/drawing/2014/main" id="{4DCC550C-5B97-DEA8-4FC0-365798D56000}"/>
              </a:ext>
            </a:extLst>
          </p:cNvPr>
          <p:cNvSpPr txBox="1"/>
          <p:nvPr/>
        </p:nvSpPr>
        <p:spPr>
          <a:xfrm>
            <a:off x="1251305" y="5564152"/>
            <a:ext cx="2259724" cy="1131848"/>
          </a:xfrm>
          <a:prstGeom prst="rect">
            <a:avLst/>
          </a:prstGeom>
          <a:noFill/>
        </p:spPr>
        <p:txBody>
          <a:bodyPr wrap="square">
            <a:spAutoFit/>
          </a:bodyPr>
          <a:lstStyle/>
          <a:p>
            <a:pPr marL="0" marR="0" lvl="0" indent="0" algn="ctr" defTabSz="609585" rtl="0" eaLnBrk="1" fontAlgn="auto" latinLnBrk="0" hangingPunct="1">
              <a:lnSpc>
                <a:spcPct val="15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2272B"/>
                </a:solidFill>
                <a:effectLst/>
                <a:uLnTx/>
                <a:uFillTx/>
                <a:latin typeface="Arial" panose="020B0604020202020204"/>
                <a:ea typeface="+mn-ea"/>
                <a:cs typeface="Arial"/>
              </a:rPr>
              <a:t>apple juice popper</a:t>
            </a:r>
            <a:endParaRPr kumimoji="0" lang="en-US" b="0" i="0" u="none" strike="noStrike" kern="1200" cap="none" spc="0" normalizeH="0" baseline="0" noProof="0" dirty="0">
              <a:ln>
                <a:noFill/>
              </a:ln>
              <a:solidFill>
                <a:srgbClr val="22272B"/>
              </a:solidFill>
              <a:effectLst/>
              <a:uLnTx/>
              <a:uFillTx/>
              <a:latin typeface="Arial" panose="020B0604020202020204"/>
              <a:ea typeface="+mn-ea"/>
              <a:cs typeface="+mn-cs"/>
            </a:endParaRPr>
          </a:p>
        </p:txBody>
      </p:sp>
      <p:sp>
        <p:nvSpPr>
          <p:cNvPr id="9" name="TextBox 8">
            <a:extLst>
              <a:ext uri="{FF2B5EF4-FFF2-40B4-BE49-F238E27FC236}">
                <a16:creationId xmlns:a16="http://schemas.microsoft.com/office/drawing/2014/main" id="{7D15EDF9-268E-779D-ABD3-D88B70E3639E}"/>
              </a:ext>
              <a:ext uri="{C183D7F6-B498-43B3-948B-1728B52AA6E4}">
                <adec:decorative xmlns:adec="http://schemas.microsoft.com/office/drawing/2017/decorative" val="1"/>
              </a:ext>
            </a:extLst>
          </p:cNvPr>
          <p:cNvSpPr txBox="1"/>
          <p:nvPr/>
        </p:nvSpPr>
        <p:spPr>
          <a:xfrm>
            <a:off x="4301562" y="5979288"/>
            <a:ext cx="1012754" cy="820674"/>
          </a:xfrm>
          <a:prstGeom prst="rect">
            <a:avLst/>
          </a:prstGeom>
          <a:noFill/>
        </p:spPr>
        <p:txBody>
          <a:bodyPr wrap="square">
            <a:spAutoFit/>
          </a:bodyPr>
          <a:lstStyle/>
          <a:p>
            <a:pPr marL="0" marR="0" lvl="0" indent="0" algn="ctr" defTabSz="609585" rtl="0" eaLnBrk="1" fontAlgn="auto" latinLnBrk="0" hangingPunct="1">
              <a:lnSpc>
                <a:spcPct val="15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22272B"/>
                </a:solidFill>
                <a:effectLst/>
                <a:uLnTx/>
                <a:uFillTx/>
                <a:latin typeface="Arial" panose="020B0604020202020204"/>
                <a:ea typeface="+mn-ea"/>
                <a:cs typeface="Arial"/>
              </a:rPr>
              <a:t>A</a:t>
            </a:r>
            <a:endParaRPr kumimoji="0" lang="en-US" sz="3600" b="1" i="0" u="none" strike="noStrike" kern="1200" cap="none" spc="0" normalizeH="0" baseline="0" noProof="0" dirty="0">
              <a:ln>
                <a:noFill/>
              </a:ln>
              <a:solidFill>
                <a:srgbClr val="22272B"/>
              </a:solidFill>
              <a:effectLst/>
              <a:uLnTx/>
              <a:uFillTx/>
              <a:latin typeface="Arial" panose="020B0604020202020204"/>
              <a:ea typeface="+mn-ea"/>
              <a:cs typeface="+mn-cs"/>
            </a:endParaRPr>
          </a:p>
        </p:txBody>
      </p:sp>
      <p:sp>
        <p:nvSpPr>
          <p:cNvPr id="10" name="TextBox 9">
            <a:extLst>
              <a:ext uri="{FF2B5EF4-FFF2-40B4-BE49-F238E27FC236}">
                <a16:creationId xmlns:a16="http://schemas.microsoft.com/office/drawing/2014/main" id="{A26AC5C6-3A8B-A624-7936-A3081ABDA78A}"/>
              </a:ext>
              <a:ext uri="{C183D7F6-B498-43B3-948B-1728B52AA6E4}">
                <adec:decorative xmlns:adec="http://schemas.microsoft.com/office/drawing/2017/decorative" val="1"/>
              </a:ext>
            </a:extLst>
          </p:cNvPr>
          <p:cNvSpPr txBox="1"/>
          <p:nvPr/>
        </p:nvSpPr>
        <p:spPr>
          <a:xfrm>
            <a:off x="8166075" y="5973708"/>
            <a:ext cx="1012754" cy="820674"/>
          </a:xfrm>
          <a:prstGeom prst="rect">
            <a:avLst/>
          </a:prstGeom>
          <a:noFill/>
        </p:spPr>
        <p:txBody>
          <a:bodyPr wrap="square">
            <a:spAutoFit/>
          </a:bodyPr>
          <a:lstStyle/>
          <a:p>
            <a:pPr marL="0" marR="0" lvl="0" indent="0" algn="ctr" defTabSz="609585" rtl="0" eaLnBrk="1" fontAlgn="auto" latinLnBrk="0" hangingPunct="1">
              <a:lnSpc>
                <a:spcPct val="15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22272B"/>
                </a:solidFill>
                <a:effectLst/>
                <a:uLnTx/>
                <a:uFillTx/>
                <a:latin typeface="Arial" panose="020B0604020202020204"/>
                <a:ea typeface="+mn-ea"/>
                <a:cs typeface="Arial"/>
              </a:rPr>
              <a:t>C</a:t>
            </a:r>
            <a:endParaRPr kumimoji="0" lang="en-US" sz="3600" b="1" i="0" u="none" strike="noStrike" kern="1200" cap="none" spc="0" normalizeH="0" baseline="0" noProof="0" dirty="0">
              <a:ln>
                <a:noFill/>
              </a:ln>
              <a:solidFill>
                <a:srgbClr val="22272B"/>
              </a:solidFill>
              <a:effectLst/>
              <a:uLnTx/>
              <a:uFillTx/>
              <a:latin typeface="Arial" panose="020B0604020202020204"/>
              <a:ea typeface="+mn-ea"/>
              <a:cs typeface="+mn-cs"/>
            </a:endParaRPr>
          </a:p>
        </p:txBody>
      </p:sp>
      <p:sp>
        <p:nvSpPr>
          <p:cNvPr id="11" name="TextBox 10">
            <a:extLst>
              <a:ext uri="{FF2B5EF4-FFF2-40B4-BE49-F238E27FC236}">
                <a16:creationId xmlns:a16="http://schemas.microsoft.com/office/drawing/2014/main" id="{31BEE95B-38B3-CC02-E3BA-5971A631EED7}"/>
              </a:ext>
              <a:ext uri="{C183D7F6-B498-43B3-948B-1728B52AA6E4}">
                <adec:decorative xmlns:adec="http://schemas.microsoft.com/office/drawing/2017/decorative" val="1"/>
              </a:ext>
            </a:extLst>
          </p:cNvPr>
          <p:cNvSpPr txBox="1"/>
          <p:nvPr/>
        </p:nvSpPr>
        <p:spPr>
          <a:xfrm>
            <a:off x="5872652" y="5996754"/>
            <a:ext cx="1012754" cy="820674"/>
          </a:xfrm>
          <a:prstGeom prst="rect">
            <a:avLst/>
          </a:prstGeom>
          <a:noFill/>
        </p:spPr>
        <p:txBody>
          <a:bodyPr wrap="square">
            <a:spAutoFit/>
          </a:bodyPr>
          <a:lstStyle/>
          <a:p>
            <a:pPr marL="0" marR="0" lvl="0" indent="0" algn="ctr" defTabSz="609585" rtl="0" eaLnBrk="1" fontAlgn="auto" latinLnBrk="0" hangingPunct="1">
              <a:lnSpc>
                <a:spcPct val="15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22272B"/>
                </a:solidFill>
                <a:effectLst/>
                <a:uLnTx/>
                <a:uFillTx/>
                <a:latin typeface="Arial" panose="020B0604020202020204"/>
                <a:ea typeface="+mn-ea"/>
                <a:cs typeface="Arial"/>
              </a:rPr>
              <a:t>B</a:t>
            </a:r>
            <a:endParaRPr kumimoji="0" lang="en-US" sz="3600" b="1" i="0" u="none" strike="noStrike" kern="1200" cap="none" spc="0" normalizeH="0" baseline="0" noProof="0" dirty="0">
              <a:ln>
                <a:noFill/>
              </a:ln>
              <a:solidFill>
                <a:srgbClr val="22272B"/>
              </a:solidFill>
              <a:effectLst/>
              <a:uLnTx/>
              <a:uFillTx/>
              <a:latin typeface="Arial" panose="020B0604020202020204"/>
              <a:ea typeface="+mn-ea"/>
              <a:cs typeface="+mn-cs"/>
            </a:endParaRPr>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pic>
        <p:nvPicPr>
          <p:cNvPr id="3" name="Picture 2">
            <a:extLst>
              <a:ext uri="{FF2B5EF4-FFF2-40B4-BE49-F238E27FC236}">
                <a16:creationId xmlns:a16="http://schemas.microsoft.com/office/drawing/2014/main" id="{981E4643-C0C9-5325-74DA-A071DDDC65A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Image of three empty jars: two identical smaller jars with yellow lids and one larger jar with a purple lid. ">
            <a:extLst>
              <a:ext uri="{FF2B5EF4-FFF2-40B4-BE49-F238E27FC236}">
                <a16:creationId xmlns:a16="http://schemas.microsoft.com/office/drawing/2014/main" id="{BA36553D-5BEA-378F-A042-FB0C33B18341}"/>
              </a:ext>
            </a:extLst>
          </p:cNvPr>
          <p:cNvPicPr>
            <a:picLocks noChangeAspect="1"/>
          </p:cNvPicPr>
          <p:nvPr/>
        </p:nvPicPr>
        <p:blipFill>
          <a:blip r:embed="rId4"/>
          <a:srcRect l="8457" t="2933" r="18933" b="33291"/>
          <a:stretch>
            <a:fillRect/>
          </a:stretch>
        </p:blipFill>
        <p:spPr>
          <a:xfrm>
            <a:off x="3135753" y="3529243"/>
            <a:ext cx="6409593" cy="3166757"/>
          </a:xfrm>
          <a:prstGeom prst="rect">
            <a:avLst/>
          </a:prstGeom>
          <a:effectLst/>
        </p:spPr>
      </p:pic>
      <p:sp>
        <p:nvSpPr>
          <p:cNvPr id="7" name="TextBox 6">
            <a:extLst>
              <a:ext uri="{FF2B5EF4-FFF2-40B4-BE49-F238E27FC236}">
                <a16:creationId xmlns:a16="http://schemas.microsoft.com/office/drawing/2014/main" id="{F9760AEB-334D-FD35-E75D-10D617226D43}"/>
              </a:ext>
            </a:extLst>
          </p:cNvPr>
          <p:cNvSpPr txBox="1"/>
          <p:nvPr/>
        </p:nvSpPr>
        <p:spPr>
          <a:xfrm>
            <a:off x="246024" y="994252"/>
            <a:ext cx="11350869" cy="2356339"/>
          </a:xfrm>
          <a:prstGeom prst="rect">
            <a:avLst/>
          </a:prstGeom>
          <a:noFill/>
        </p:spPr>
        <p:txBody>
          <a:bodyPr wrap="square" lIns="0" tIns="0" rIns="0" bIns="0" rtlCol="0">
            <a:noAutofit/>
          </a:bodyPr>
          <a:lstStyle/>
          <a:p>
            <a:pPr algn="ctr">
              <a:lnSpc>
                <a:spcPct val="150000"/>
              </a:lnSpc>
            </a:pPr>
            <a:r>
              <a:rPr lang="en-AU" sz="3200"/>
              <a:t>Each of these smaller jars holds 1 litre (</a:t>
            </a:r>
            <a:r>
              <a:rPr lang="en-AU" sz="3200" b="1"/>
              <a:t>1 L</a:t>
            </a:r>
            <a:r>
              <a:rPr lang="en-AU" sz="3200"/>
              <a:t>) of water. </a:t>
            </a:r>
          </a:p>
          <a:p>
            <a:pPr algn="ctr">
              <a:lnSpc>
                <a:spcPct val="150000"/>
              </a:lnSpc>
            </a:pPr>
            <a:r>
              <a:rPr lang="en-AU" sz="3200" b="1"/>
              <a:t>2 smaller jars </a:t>
            </a:r>
            <a:r>
              <a:rPr lang="en-AU" sz="3200"/>
              <a:t>of water will fill </a:t>
            </a:r>
            <a:r>
              <a:rPr lang="en-AU" sz="3200" b="1"/>
              <a:t>exactly half </a:t>
            </a:r>
            <a:r>
              <a:rPr lang="en-AU" sz="3200"/>
              <a:t>of the larger jar. </a:t>
            </a:r>
          </a:p>
          <a:p>
            <a:pPr algn="ctr">
              <a:lnSpc>
                <a:spcPct val="150000"/>
              </a:lnSpc>
            </a:pPr>
            <a:r>
              <a:rPr lang="en-AU" sz="3200"/>
              <a:t>What is the </a:t>
            </a:r>
            <a:r>
              <a:rPr lang="en-AU" sz="3200" b="1"/>
              <a:t>capacity </a:t>
            </a:r>
            <a:r>
              <a:rPr lang="en-AU" sz="3200"/>
              <a:t>of the larger jar (</a:t>
            </a:r>
            <a:r>
              <a:rPr lang="en-AU" sz="3200" b="1"/>
              <a:t>L</a:t>
            </a:r>
            <a:r>
              <a:rPr lang="en-AU" sz="3200"/>
              <a:t>)? </a:t>
            </a:r>
          </a:p>
        </p:txBody>
      </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1107148"/>
          </a:xfrm>
        </p:spPr>
        <p:txBody>
          <a:bodyPr/>
          <a:lstStyle/>
          <a:p>
            <a:r>
              <a:rPr lang="en-AU">
                <a:latin typeface="Arial"/>
                <a:cs typeface="Arial"/>
              </a:rPr>
              <a:t>Activity 7 – </a:t>
            </a:r>
            <a:r>
              <a:rPr lang="en-AU"/>
              <a:t>using number sentences to solve multiplicative word problems</a:t>
            </a:r>
            <a:endParaRPr lang="en-US"/>
          </a:p>
          <a:p>
            <a:endParaRPr lang="en-AU">
              <a:latin typeface="Arial"/>
              <a:cs typeface="Arial"/>
            </a:endParaRPr>
          </a:p>
        </p:txBody>
      </p:sp>
      <p:pic>
        <p:nvPicPr>
          <p:cNvPr id="4" name="Picture 3">
            <a:extLst>
              <a:ext uri="{FF2B5EF4-FFF2-40B4-BE49-F238E27FC236}">
                <a16:creationId xmlns:a16="http://schemas.microsoft.com/office/drawing/2014/main" id="{862A61D7-0DAF-1BF8-46D6-A2E9DEA92CB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FC61B59F-75AF-0AE5-1123-C2379D4DF06C}"/>
              </a:ext>
            </a:extLst>
          </p:cNvPr>
          <p:cNvSpPr txBox="1"/>
          <p:nvPr/>
        </p:nvSpPr>
        <p:spPr>
          <a:xfrm>
            <a:off x="3845441" y="2804336"/>
            <a:ext cx="5207792" cy="101566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6000">
                <a:cs typeface="Arial"/>
              </a:rPr>
              <a:t>28 =  </a:t>
            </a:r>
            <a:r>
              <a:rPr lang="en-US" sz="6600">
                <a:latin typeface="Symbol"/>
                <a:cs typeface="Arial"/>
                <a:sym typeface="Symbol"/>
              </a:rPr>
              <a:t> </a:t>
            </a:r>
            <a:r>
              <a:rPr lang="en-US" sz="6000">
                <a:cs typeface="Arial"/>
              </a:rPr>
              <a:t> x 7 </a:t>
            </a:r>
            <a:endParaRPr lang="en-US" sz="6000"/>
          </a:p>
        </p:txBody>
      </p:sp>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a:xfrm>
            <a:off x="360000" y="360000"/>
            <a:ext cx="10166233" cy="545601"/>
          </a:xfrm>
        </p:spPr>
        <p:txBody>
          <a:bodyPr/>
          <a:lstStyle/>
          <a:p>
            <a:r>
              <a:rPr lang="en-US"/>
              <a:t>True or false </a:t>
            </a:r>
            <a:r>
              <a:rPr lang="en-US">
                <a:solidFill>
                  <a:schemeClr val="bg1"/>
                </a:solidFill>
              </a:rPr>
              <a:t>(4)</a:t>
            </a:r>
          </a:p>
        </p:txBody>
      </p:sp>
      <p:pic>
        <p:nvPicPr>
          <p:cNvPr id="4" name="Picture 3">
            <a:extLst>
              <a:ext uri="{FF2B5EF4-FFF2-40B4-BE49-F238E27FC236}">
                <a16:creationId xmlns:a16="http://schemas.microsoft.com/office/drawing/2014/main" id="{64B989F8-67C4-FE7B-CC90-5BE7E2CD867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474481" y="2493524"/>
            <a:ext cx="11243037" cy="893226"/>
          </a:xfrm>
        </p:spPr>
        <p:txBody>
          <a:bodyPr/>
          <a:lstStyle/>
          <a:p>
            <a:pPr algn="ctr"/>
            <a:r>
              <a:rPr lang="en-AU" sz="4400"/>
              <a:t>If 7 x 5 = 35, then 35 ÷ 7 = 5</a:t>
            </a:r>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921713128"/>
              </p:ext>
            </p:extLst>
          </p:nvPr>
        </p:nvGraphicFramePr>
        <p:xfrm>
          <a:off x="2442981" y="4974673"/>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pic>
        <p:nvPicPr>
          <p:cNvPr id="3" name="Picture 2">
            <a:extLst>
              <a:ext uri="{FF2B5EF4-FFF2-40B4-BE49-F238E27FC236}">
                <a16:creationId xmlns:a16="http://schemas.microsoft.com/office/drawing/2014/main" id="{4A6BDB97-E652-19FE-8B5C-2AD4CC92796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946FEE4B-BD4C-0874-3391-E9D2AEB1EE97}"/>
              </a:ext>
            </a:extLst>
          </p:cNvPr>
          <p:cNvSpPr txBox="1"/>
          <p:nvPr/>
        </p:nvSpPr>
        <p:spPr>
          <a:xfrm>
            <a:off x="281589" y="1554742"/>
            <a:ext cx="11562411" cy="403187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400">
                <a:cs typeface="Arial"/>
              </a:rPr>
              <a:t>Use </a:t>
            </a:r>
            <a:r>
              <a:rPr lang="en-US" sz="4400" b="1">
                <a:cs typeface="Arial"/>
              </a:rPr>
              <a:t>flexible partitioning </a:t>
            </a:r>
            <a:r>
              <a:rPr lang="en-US" sz="4400">
                <a:cs typeface="Arial"/>
              </a:rPr>
              <a:t>to solve this problem in </a:t>
            </a:r>
            <a:r>
              <a:rPr lang="en-US" sz="4400" b="1">
                <a:cs typeface="Arial"/>
              </a:rPr>
              <a:t>2 different</a:t>
            </a:r>
            <a:r>
              <a:rPr lang="en-US" sz="4400">
                <a:cs typeface="Arial"/>
              </a:rPr>
              <a:t> ways: </a:t>
            </a:r>
          </a:p>
          <a:p>
            <a:pPr algn="ctr"/>
            <a:endParaRPr lang="en-US" sz="4400">
              <a:cs typeface="Arial"/>
            </a:endParaRPr>
          </a:p>
          <a:p>
            <a:pPr algn="ctr"/>
            <a:r>
              <a:rPr lang="en-US" sz="5400">
                <a:solidFill>
                  <a:schemeClr val="accent2"/>
                </a:solidFill>
                <a:cs typeface="Arial"/>
              </a:rPr>
              <a:t>7 x 9 </a:t>
            </a:r>
          </a:p>
          <a:p>
            <a:endParaRPr lang="en-US" sz="3200">
              <a:cs typeface="Arial"/>
            </a:endParaRPr>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pic>
        <p:nvPicPr>
          <p:cNvPr id="3" name="Picture 2">
            <a:extLst>
              <a:ext uri="{FF2B5EF4-FFF2-40B4-BE49-F238E27FC236}">
                <a16:creationId xmlns:a16="http://schemas.microsoft.com/office/drawing/2014/main" id="{D48B7122-4823-634E-9085-7F5757ED186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712B6A29-3169-A1DB-E6BF-1737E0887514}"/>
              </a:ext>
            </a:extLst>
          </p:cNvPr>
          <p:cNvSpPr txBox="1"/>
          <p:nvPr/>
        </p:nvSpPr>
        <p:spPr>
          <a:xfrm>
            <a:off x="360000" y="1184223"/>
            <a:ext cx="7544922" cy="495283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400">
                <a:cs typeface="Arial"/>
              </a:rPr>
              <a:t>Kirsty must be at school </a:t>
            </a:r>
            <a:r>
              <a:rPr lang="en-US" sz="4400" b="1">
                <a:cs typeface="Arial"/>
              </a:rPr>
              <a:t>by nine o’clock </a:t>
            </a:r>
            <a:r>
              <a:rPr lang="en-US" sz="4400">
                <a:cs typeface="Arial"/>
              </a:rPr>
              <a:t>in the </a:t>
            </a:r>
            <a:r>
              <a:rPr lang="en-US" sz="4400" b="1">
                <a:cs typeface="Arial"/>
              </a:rPr>
              <a:t>morning</a:t>
            </a:r>
            <a:r>
              <a:rPr lang="en-US" sz="4400">
                <a:cs typeface="Arial"/>
              </a:rPr>
              <a:t>. </a:t>
            </a:r>
          </a:p>
          <a:p>
            <a:pPr algn="ctr">
              <a:lnSpc>
                <a:spcPct val="150000"/>
              </a:lnSpc>
            </a:pPr>
            <a:endParaRPr lang="en-US" sz="4400">
              <a:cs typeface="Arial"/>
            </a:endParaRPr>
          </a:p>
          <a:p>
            <a:pPr algn="ctr">
              <a:lnSpc>
                <a:spcPct val="150000"/>
              </a:lnSpc>
            </a:pPr>
            <a:r>
              <a:rPr lang="en-US" sz="4400">
                <a:cs typeface="Arial"/>
              </a:rPr>
              <a:t>Record this using</a:t>
            </a:r>
            <a:r>
              <a:rPr lang="en-US" sz="4400" b="1">
                <a:cs typeface="Arial"/>
              </a:rPr>
              <a:t> digital time</a:t>
            </a:r>
            <a:r>
              <a:rPr lang="en-US" sz="4400">
                <a:cs typeface="Arial"/>
              </a:rPr>
              <a:t>.</a:t>
            </a:r>
            <a:endParaRPr lang="en-US" sz="4400"/>
          </a:p>
        </p:txBody>
      </p:sp>
      <p:pic>
        <p:nvPicPr>
          <p:cNvPr id="5" name="Picture 4" descr="A green and white alarm clock with the hour hand on 9 and the minute hand on 12.">
            <a:extLst>
              <a:ext uri="{FF2B5EF4-FFF2-40B4-BE49-F238E27FC236}">
                <a16:creationId xmlns:a16="http://schemas.microsoft.com/office/drawing/2014/main" id="{F34C6FBC-A934-72AE-DC38-DF9F26B3717B}"/>
              </a:ext>
            </a:extLst>
          </p:cNvPr>
          <p:cNvPicPr>
            <a:picLocks noChangeAspect="1"/>
          </p:cNvPicPr>
          <p:nvPr/>
        </p:nvPicPr>
        <p:blipFill>
          <a:blip r:embed="rId4"/>
          <a:srcRect l="38741" t="25313" r="37762" b="24311"/>
          <a:stretch>
            <a:fillRect/>
          </a:stretch>
        </p:blipFill>
        <p:spPr>
          <a:xfrm>
            <a:off x="8020784" y="1541326"/>
            <a:ext cx="3925192" cy="4696052"/>
          </a:xfrm>
          <a:prstGeom prst="rect">
            <a:avLst/>
          </a:prstGeom>
          <a:effectLst/>
        </p:spPr>
      </p:pic>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pic>
        <p:nvPicPr>
          <p:cNvPr id="3" name="Picture 2">
            <a:extLst>
              <a:ext uri="{FF2B5EF4-FFF2-40B4-BE49-F238E27FC236}">
                <a16:creationId xmlns:a16="http://schemas.microsoft.com/office/drawing/2014/main" id="{77944112-784D-22C3-1462-ED0056915B9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D234782F-ACF6-CCB7-9B1D-3FB2526FB9C2}"/>
              </a:ext>
            </a:extLst>
          </p:cNvPr>
          <p:cNvSpPr txBox="1"/>
          <p:nvPr/>
        </p:nvSpPr>
        <p:spPr>
          <a:xfrm>
            <a:off x="175565" y="905601"/>
            <a:ext cx="11770411" cy="1622612"/>
          </a:xfrm>
          <a:prstGeom prst="rect">
            <a:avLst/>
          </a:prstGeom>
          <a:noFill/>
        </p:spPr>
        <p:txBody>
          <a:bodyPr wrap="none" lIns="0" tIns="0" rIns="0" bIns="0" rtlCol="0">
            <a:noAutofit/>
          </a:bodyPr>
          <a:lstStyle/>
          <a:p>
            <a:pPr algn="ctr">
              <a:lnSpc>
                <a:spcPct val="150000"/>
              </a:lnSpc>
            </a:pPr>
            <a:r>
              <a:rPr lang="en-AU" sz="4400" b="1"/>
              <a:t>Order </a:t>
            </a:r>
            <a:r>
              <a:rPr lang="en-AU" sz="4400"/>
              <a:t>the</a:t>
            </a:r>
            <a:r>
              <a:rPr lang="en-AU" sz="4400" b="1"/>
              <a:t> </a:t>
            </a:r>
            <a:r>
              <a:rPr lang="en-AU" sz="4400"/>
              <a:t>containers shown from </a:t>
            </a:r>
          </a:p>
          <a:p>
            <a:pPr algn="ctr">
              <a:lnSpc>
                <a:spcPct val="150000"/>
              </a:lnSpc>
            </a:pPr>
            <a:r>
              <a:rPr lang="en-AU" sz="4400"/>
              <a:t>smallest to largest capacity.  </a:t>
            </a:r>
          </a:p>
        </p:txBody>
      </p:sp>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pic>
        <p:nvPicPr>
          <p:cNvPr id="8" name="Picture 7" descr="3 containers labelled 330 mL, 5000 mL ans 1000 mL.">
            <a:extLst>
              <a:ext uri="{FF2B5EF4-FFF2-40B4-BE49-F238E27FC236}">
                <a16:creationId xmlns:a16="http://schemas.microsoft.com/office/drawing/2014/main" id="{0F64AA60-6A1C-57E4-C5D0-58425035F012}"/>
              </a:ext>
            </a:extLst>
          </p:cNvPr>
          <p:cNvPicPr>
            <a:picLocks noChangeAspect="1"/>
          </p:cNvPicPr>
          <p:nvPr/>
        </p:nvPicPr>
        <p:blipFill>
          <a:blip r:embed="rId4"/>
          <a:srcRect l="18080" t="20004" r="3303" b="6065"/>
          <a:stretch>
            <a:fillRect/>
          </a:stretch>
        </p:blipFill>
        <p:spPr>
          <a:xfrm>
            <a:off x="2311893" y="2870722"/>
            <a:ext cx="7231457" cy="3825278"/>
          </a:xfrm>
          <a:prstGeom prst="rect">
            <a:avLst/>
          </a:prstGeom>
        </p:spPr>
      </p:pic>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pic>
        <p:nvPicPr>
          <p:cNvPr id="3" name="Picture 2">
            <a:extLst>
              <a:ext uri="{FF2B5EF4-FFF2-40B4-BE49-F238E27FC236}">
                <a16:creationId xmlns:a16="http://schemas.microsoft.com/office/drawing/2014/main" id="{850D1A9D-F8AF-AA84-34F9-CCDC3026C74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D9344D98-0C5F-980A-DAE8-2973C3A395BC}"/>
              </a:ext>
            </a:extLst>
          </p:cNvPr>
          <p:cNvSpPr txBox="1"/>
          <p:nvPr/>
        </p:nvSpPr>
        <p:spPr>
          <a:xfrm>
            <a:off x="1000298" y="905601"/>
            <a:ext cx="10123702" cy="2159216"/>
          </a:xfrm>
          <a:prstGeom prst="rect">
            <a:avLst/>
          </a:prstGeom>
          <a:noFill/>
        </p:spPr>
        <p:txBody>
          <a:bodyPr wrap="none" lIns="0" tIns="0" rIns="0" bIns="0" rtlCol="0">
            <a:noAutofit/>
          </a:bodyPr>
          <a:lstStyle/>
          <a:p>
            <a:pPr algn="ctr">
              <a:lnSpc>
                <a:spcPct val="150000"/>
              </a:lnSpc>
            </a:pPr>
            <a:r>
              <a:rPr lang="en-AU" sz="3600"/>
              <a:t>I go to bed at this time each night:</a:t>
            </a:r>
          </a:p>
        </p:txBody>
      </p:sp>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pic>
        <p:nvPicPr>
          <p:cNvPr id="8" name="Picture 7" descr="An analog clock with the short hand pointing between the 8 and 9 and the long hand pointing to the 6. &#10;">
            <a:extLst>
              <a:ext uri="{FF2B5EF4-FFF2-40B4-BE49-F238E27FC236}">
                <a16:creationId xmlns:a16="http://schemas.microsoft.com/office/drawing/2014/main" id="{B4DC8294-D508-275A-1AE8-14AF338AAB2E}"/>
              </a:ext>
            </a:extLst>
          </p:cNvPr>
          <p:cNvPicPr>
            <a:picLocks noChangeAspect="1"/>
          </p:cNvPicPr>
          <p:nvPr/>
        </p:nvPicPr>
        <p:blipFill>
          <a:blip r:embed="rId4"/>
          <a:srcRect l="23780" t="7674" r="27987" b="22910"/>
          <a:stretch>
            <a:fillRect/>
          </a:stretch>
        </p:blipFill>
        <p:spPr>
          <a:xfrm>
            <a:off x="4579927" y="1797711"/>
            <a:ext cx="3032145" cy="2454667"/>
          </a:xfrm>
          <a:prstGeom prst="rect">
            <a:avLst/>
          </a:prstGeom>
        </p:spPr>
      </p:pic>
      <p:sp>
        <p:nvSpPr>
          <p:cNvPr id="9" name="TextBox 8">
            <a:extLst>
              <a:ext uri="{FF2B5EF4-FFF2-40B4-BE49-F238E27FC236}">
                <a16:creationId xmlns:a16="http://schemas.microsoft.com/office/drawing/2014/main" id="{66A6C616-73DA-2C24-FB45-4C7806BC218C}"/>
              </a:ext>
            </a:extLst>
          </p:cNvPr>
          <p:cNvSpPr txBox="1"/>
          <p:nvPr/>
        </p:nvSpPr>
        <p:spPr>
          <a:xfrm>
            <a:off x="-3393" y="4139948"/>
            <a:ext cx="11847393" cy="1812451"/>
          </a:xfrm>
          <a:prstGeom prst="rect">
            <a:avLst/>
          </a:prstGeom>
          <a:noFill/>
        </p:spPr>
        <p:txBody>
          <a:bodyPr wrap="none" lIns="0" tIns="0" rIns="0" bIns="0" rtlCol="0">
            <a:noAutofit/>
          </a:bodyPr>
          <a:lstStyle/>
          <a:p>
            <a:pPr marL="742950" indent="-742950" algn="ctr">
              <a:lnSpc>
                <a:spcPct val="150000"/>
              </a:lnSpc>
              <a:buFont typeface="+mj-lt"/>
              <a:buAutoNum type="alphaLcParenR"/>
            </a:pPr>
            <a:r>
              <a:rPr lang="en-AU" sz="3600"/>
              <a:t>Record this in digital time. </a:t>
            </a:r>
          </a:p>
          <a:p>
            <a:pPr marL="742950" indent="-742950" algn="ctr">
              <a:lnSpc>
                <a:spcPct val="150000"/>
              </a:lnSpc>
              <a:buFont typeface="+mj-lt"/>
              <a:buAutoNum type="alphaLcParenR"/>
            </a:pPr>
            <a:r>
              <a:rPr lang="en-AU" sz="3600"/>
              <a:t>It took me </a:t>
            </a:r>
            <a:r>
              <a:rPr lang="en-AU" sz="3600" b="1"/>
              <a:t>60 seconds </a:t>
            </a:r>
            <a:r>
              <a:rPr lang="en-AU" sz="3600"/>
              <a:t>to fall asleep. </a:t>
            </a:r>
          </a:p>
          <a:p>
            <a:pPr algn="ctr">
              <a:lnSpc>
                <a:spcPct val="150000"/>
              </a:lnSpc>
            </a:pPr>
            <a:r>
              <a:rPr lang="en-AU" sz="3600"/>
              <a:t>How many </a:t>
            </a:r>
            <a:r>
              <a:rPr lang="en-AU" sz="3600" b="1"/>
              <a:t>minutes</a:t>
            </a:r>
            <a:r>
              <a:rPr lang="en-AU" sz="3600"/>
              <a:t> is this?</a:t>
            </a:r>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latin typeface="Arial"/>
                <a:cs typeface="Arial"/>
              </a:rPr>
              <a:t>Activity 8 – fact families</a:t>
            </a:r>
          </a:p>
        </p:txBody>
      </p:sp>
      <p:pic>
        <p:nvPicPr>
          <p:cNvPr id="4" name="Picture 3">
            <a:extLst>
              <a:ext uri="{FF2B5EF4-FFF2-40B4-BE49-F238E27FC236}">
                <a16:creationId xmlns:a16="http://schemas.microsoft.com/office/drawing/2014/main" id="{2307795C-5521-91B9-C866-EC547ED6285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2 triangles shown. The first triangle has the numbers 5 and 3 in each corner of the base. The apex has the number 15. These 3 numbers make multiplication fact families for example 5 x 3 = 15 or 15 divided by 3 = 5.">
            <a:extLst>
              <a:ext uri="{FF2B5EF4-FFF2-40B4-BE49-F238E27FC236}">
                <a16:creationId xmlns:a16="http://schemas.microsoft.com/office/drawing/2014/main" id="{AB82FC47-2774-387C-E6C3-2A81F71DCDC6}"/>
              </a:ext>
            </a:extLst>
          </p:cNvPr>
          <p:cNvPicPr>
            <a:picLocks noChangeAspect="1"/>
          </p:cNvPicPr>
          <p:nvPr/>
        </p:nvPicPr>
        <p:blipFill>
          <a:blip r:embed="rId4"/>
          <a:srcRect t="1836" r="722" b="1985"/>
          <a:stretch>
            <a:fillRect/>
          </a:stretch>
        </p:blipFill>
        <p:spPr>
          <a:xfrm>
            <a:off x="2951310" y="905601"/>
            <a:ext cx="6289380" cy="2949428"/>
          </a:xfrm>
          <a:prstGeom prst="rect">
            <a:avLst/>
          </a:prstGeom>
        </p:spPr>
      </p:pic>
      <p:pic>
        <p:nvPicPr>
          <p:cNvPr id="5" name="Picture 4" descr="Two triangles display multiplication and division fact families. The left triangle shows numbers 42 and 7 with the division equation &quot;42 ÷ 7 =&quot;, while the right triangle is blank with question marks and the prompt &quot;Create your own fact family.&quot;&#10;&#10;">
            <a:extLst>
              <a:ext uri="{FF2B5EF4-FFF2-40B4-BE49-F238E27FC236}">
                <a16:creationId xmlns:a16="http://schemas.microsoft.com/office/drawing/2014/main" id="{68623C37-69C3-62B4-DFEB-8A071D40A033}"/>
              </a:ext>
            </a:extLst>
          </p:cNvPr>
          <p:cNvPicPr>
            <a:picLocks noChangeAspect="1"/>
          </p:cNvPicPr>
          <p:nvPr/>
        </p:nvPicPr>
        <p:blipFill>
          <a:blip r:embed="rId5"/>
          <a:srcRect t="1734" r="348" b="103"/>
          <a:stretch>
            <a:fillRect/>
          </a:stretch>
        </p:blipFill>
        <p:spPr>
          <a:xfrm>
            <a:off x="2826622" y="4110596"/>
            <a:ext cx="6538755" cy="2585404"/>
          </a:xfrm>
          <a:prstGeom prst="rect">
            <a:avLst/>
          </a:prstGeom>
        </p:spPr>
      </p:pic>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4" name="Text Placeholder 3">
            <a:extLst>
              <a:ext uri="{FF2B5EF4-FFF2-40B4-BE49-F238E27FC236}">
                <a16:creationId xmlns:a16="http://schemas.microsoft.com/office/drawing/2014/main" id="{EB4C48A6-632A-10A7-9B85-40A6CEF59C26}"/>
              </a:ext>
            </a:extLst>
          </p:cNvPr>
          <p:cNvSpPr>
            <a:spLocks noGrp="1"/>
          </p:cNvSpPr>
          <p:nvPr>
            <p:ph type="body" sz="quarter" idx="18"/>
          </p:nvPr>
        </p:nvSpPr>
        <p:spPr/>
        <p:txBody>
          <a:bodyPr/>
          <a:lstStyle/>
          <a:p>
            <a:endParaRPr lang="en-AU">
              <a:latin typeface="+mj-lt"/>
            </a:endParaRP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 action="ppaction://noaction"/>
            <a:extLst>
              <a:ext uri="{FF2B5EF4-FFF2-40B4-BE49-F238E27FC236}">
                <a16:creationId xmlns:a16="http://schemas.microsoft.com/office/drawing/2014/main" id="{B8B0DB6C-ED58-20DB-0EE1-4BC1C6B79D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EE9CE-D467-CF79-03E7-D0928BDD12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0CABD8-EB9E-30C6-352A-9951178A7DB9}"/>
              </a:ext>
            </a:extLst>
          </p:cNvPr>
          <p:cNvSpPr>
            <a:spLocks noGrp="1"/>
          </p:cNvSpPr>
          <p:nvPr>
            <p:ph type="sldNum" sz="quarter" idx="12"/>
          </p:nvPr>
        </p:nvSpPr>
        <p:spPr/>
        <p:txBody>
          <a:bodyPr/>
          <a:lstStyle/>
          <a:p>
            <a:fld id="{10A01DC5-1685-4615-8240-15192985C6A2}" type="slidenum">
              <a:rPr lang="en-AU" smtClean="0"/>
              <a:t>65</a:t>
            </a:fld>
            <a:endParaRPr lang="en-AU"/>
          </a:p>
        </p:txBody>
      </p:sp>
      <p:sp>
        <p:nvSpPr>
          <p:cNvPr id="3" name="Title 2">
            <a:extLst>
              <a:ext uri="{FF2B5EF4-FFF2-40B4-BE49-F238E27FC236}">
                <a16:creationId xmlns:a16="http://schemas.microsoft.com/office/drawing/2014/main" id="{6F7B9B9F-1954-2BCA-9CE2-E9BF07F578A5}"/>
              </a:ext>
            </a:extLst>
          </p:cNvPr>
          <p:cNvSpPr>
            <a:spLocks noGrp="1"/>
          </p:cNvSpPr>
          <p:nvPr>
            <p:ph type="title"/>
          </p:nvPr>
        </p:nvSpPr>
        <p:spPr/>
        <p:txBody>
          <a:bodyPr/>
          <a:lstStyle/>
          <a:p>
            <a:r>
              <a:rPr lang="en-US"/>
              <a:t>Multiple choice </a:t>
            </a:r>
            <a:r>
              <a:rPr lang="en-US">
                <a:solidFill>
                  <a:schemeClr val="bg1"/>
                </a:solidFill>
              </a:rPr>
              <a:t>(5)</a:t>
            </a:r>
          </a:p>
        </p:txBody>
      </p:sp>
      <p:sp>
        <p:nvSpPr>
          <p:cNvPr id="13" name="Text Placeholder 12">
            <a:extLst>
              <a:ext uri="{FF2B5EF4-FFF2-40B4-BE49-F238E27FC236}">
                <a16:creationId xmlns:a16="http://schemas.microsoft.com/office/drawing/2014/main" id="{884A26B5-6F52-2F0A-8648-DEA4BF0E15B4}"/>
              </a:ext>
            </a:extLst>
          </p:cNvPr>
          <p:cNvSpPr>
            <a:spLocks noGrp="1"/>
          </p:cNvSpPr>
          <p:nvPr>
            <p:ph type="body" sz="quarter" idx="18"/>
          </p:nvPr>
        </p:nvSpPr>
        <p:spPr/>
        <p:txBody>
          <a:bodyPr/>
          <a:lstStyle/>
          <a:p>
            <a:endParaRPr lang="en-US"/>
          </a:p>
        </p:txBody>
      </p:sp>
      <p:sp>
        <p:nvSpPr>
          <p:cNvPr id="14" name="Text Placeholder 13">
            <a:extLst>
              <a:ext uri="{FF2B5EF4-FFF2-40B4-BE49-F238E27FC236}">
                <a16:creationId xmlns:a16="http://schemas.microsoft.com/office/drawing/2014/main" id="{2FAE27F9-31E0-BEE8-BFCB-40B14864DE84}"/>
              </a:ext>
            </a:extLst>
          </p:cNvPr>
          <p:cNvSpPr>
            <a:spLocks noGrp="1"/>
          </p:cNvSpPr>
          <p:nvPr>
            <p:ph type="body" sz="quarter" idx="27"/>
          </p:nvPr>
        </p:nvSpPr>
        <p:spPr>
          <a:xfrm>
            <a:off x="1345520" y="5425723"/>
            <a:ext cx="10175920" cy="641396"/>
          </a:xfrm>
        </p:spPr>
        <p:txBody>
          <a:bodyPr/>
          <a:lstStyle/>
          <a:p>
            <a:endParaRPr lang="en-US"/>
          </a:p>
        </p:txBody>
      </p:sp>
      <p:sp>
        <p:nvSpPr>
          <p:cNvPr id="15" name="Text Placeholder 14">
            <a:extLst>
              <a:ext uri="{FF2B5EF4-FFF2-40B4-BE49-F238E27FC236}">
                <a16:creationId xmlns:a16="http://schemas.microsoft.com/office/drawing/2014/main" id="{871424B5-AF1B-EBC1-192B-253358954B69}"/>
              </a:ext>
            </a:extLst>
          </p:cNvPr>
          <p:cNvSpPr>
            <a:spLocks noGrp="1"/>
          </p:cNvSpPr>
          <p:nvPr>
            <p:ph type="body" sz="quarter" idx="28"/>
          </p:nvPr>
        </p:nvSpPr>
        <p:spPr>
          <a:xfrm>
            <a:off x="360000" y="1625945"/>
            <a:ext cx="11243037" cy="754243"/>
          </a:xfrm>
        </p:spPr>
        <p:txBody>
          <a:bodyPr/>
          <a:lstStyle/>
          <a:p>
            <a:endParaRPr lang="en-US"/>
          </a:p>
        </p:txBody>
      </p:sp>
      <p:sp>
        <p:nvSpPr>
          <p:cNvPr id="16" name="Text Placeholder 15">
            <a:extLst>
              <a:ext uri="{FF2B5EF4-FFF2-40B4-BE49-F238E27FC236}">
                <a16:creationId xmlns:a16="http://schemas.microsoft.com/office/drawing/2014/main" id="{057F8B72-6486-DAFE-D378-A7E3F82B47C0}"/>
              </a:ext>
            </a:extLst>
          </p:cNvPr>
          <p:cNvSpPr>
            <a:spLocks noGrp="1"/>
          </p:cNvSpPr>
          <p:nvPr>
            <p:ph type="body" sz="quarter" idx="29"/>
          </p:nvPr>
        </p:nvSpPr>
        <p:spPr>
          <a:xfrm>
            <a:off x="1345520" y="4575670"/>
            <a:ext cx="10175920" cy="641396"/>
          </a:xfrm>
        </p:spPr>
        <p:txBody>
          <a:bodyPr/>
          <a:lstStyle/>
          <a:p>
            <a:endParaRPr lang="en-US"/>
          </a:p>
        </p:txBody>
      </p:sp>
      <p:sp>
        <p:nvSpPr>
          <p:cNvPr id="17" name="Text Placeholder 16">
            <a:extLst>
              <a:ext uri="{FF2B5EF4-FFF2-40B4-BE49-F238E27FC236}">
                <a16:creationId xmlns:a16="http://schemas.microsoft.com/office/drawing/2014/main" id="{586611D7-8B32-72EA-14FB-A57E82998441}"/>
              </a:ext>
            </a:extLst>
          </p:cNvPr>
          <p:cNvSpPr>
            <a:spLocks noGrp="1"/>
          </p:cNvSpPr>
          <p:nvPr>
            <p:ph type="body" sz="quarter" idx="30"/>
          </p:nvPr>
        </p:nvSpPr>
        <p:spPr>
          <a:xfrm>
            <a:off x="1345520" y="3725617"/>
            <a:ext cx="10175920" cy="641396"/>
          </a:xfrm>
        </p:spPr>
        <p:txBody>
          <a:bodyPr/>
          <a:lstStyle/>
          <a:p>
            <a:endParaRPr lang="en-US"/>
          </a:p>
        </p:txBody>
      </p:sp>
      <p:sp>
        <p:nvSpPr>
          <p:cNvPr id="18" name="Text Placeholder 17">
            <a:extLst>
              <a:ext uri="{FF2B5EF4-FFF2-40B4-BE49-F238E27FC236}">
                <a16:creationId xmlns:a16="http://schemas.microsoft.com/office/drawing/2014/main" id="{EA13EBFB-AE4F-2AC8-7064-60FC4C858E88}"/>
              </a:ext>
            </a:extLst>
          </p:cNvPr>
          <p:cNvSpPr>
            <a:spLocks noGrp="1"/>
          </p:cNvSpPr>
          <p:nvPr>
            <p:ph type="body" sz="quarter" idx="31"/>
          </p:nvPr>
        </p:nvSpPr>
        <p:spPr>
          <a:xfrm>
            <a:off x="1345520" y="2877704"/>
            <a:ext cx="10175920" cy="641396"/>
          </a:xfrm>
        </p:spPr>
        <p:txBody>
          <a:bodyPr/>
          <a:lstStyle/>
          <a:p>
            <a:endParaRPr lang="en-US"/>
          </a:p>
        </p:txBody>
      </p:sp>
      <p:sp>
        <p:nvSpPr>
          <p:cNvPr id="9" name="TextBox 8">
            <a:extLst>
              <a:ext uri="{FF2B5EF4-FFF2-40B4-BE49-F238E27FC236}">
                <a16:creationId xmlns:a16="http://schemas.microsoft.com/office/drawing/2014/main" id="{31E8794B-BDE8-037D-0CAF-AA0E5A7E8583}"/>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68AE238C-3606-5F78-F03A-0E9E40F4FDA4}"/>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6464E12C-842E-0AE5-19AB-798F6BC2845D}"/>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E989C16C-1E4B-799F-ACDD-636F7693F2A6}"/>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2643762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E7187-0435-DC00-BB5D-2125BBCA438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2BC893-9530-AC61-D7B3-3A452ECBB315}"/>
              </a:ext>
            </a:extLst>
          </p:cNvPr>
          <p:cNvSpPr>
            <a:spLocks noGrp="1"/>
          </p:cNvSpPr>
          <p:nvPr>
            <p:ph type="sldNum" sz="quarter" idx="12"/>
          </p:nvPr>
        </p:nvSpPr>
        <p:spPr/>
        <p:txBody>
          <a:bodyPr/>
          <a:lstStyle/>
          <a:p>
            <a:fld id="{10A01DC5-1685-4615-8240-15192985C6A2}" type="slidenum">
              <a:rPr lang="en-AU" smtClean="0"/>
              <a:t>66</a:t>
            </a:fld>
            <a:endParaRPr lang="en-AU"/>
          </a:p>
        </p:txBody>
      </p:sp>
      <p:sp>
        <p:nvSpPr>
          <p:cNvPr id="3" name="Title 2">
            <a:extLst>
              <a:ext uri="{FF2B5EF4-FFF2-40B4-BE49-F238E27FC236}">
                <a16:creationId xmlns:a16="http://schemas.microsoft.com/office/drawing/2014/main" id="{47BC9526-5863-A869-9375-A013AA9B1360}"/>
              </a:ext>
            </a:extLst>
          </p:cNvPr>
          <p:cNvSpPr>
            <a:spLocks noGrp="1"/>
          </p:cNvSpPr>
          <p:nvPr>
            <p:ph type="title"/>
          </p:nvPr>
        </p:nvSpPr>
        <p:spPr/>
        <p:txBody>
          <a:bodyPr/>
          <a:lstStyle/>
          <a:p>
            <a:r>
              <a:rPr lang="en-US"/>
              <a:t>Multiple choice </a:t>
            </a:r>
            <a:r>
              <a:rPr lang="en-US">
                <a:solidFill>
                  <a:schemeClr val="bg1"/>
                </a:solidFill>
              </a:rPr>
              <a:t>(6)  </a:t>
            </a:r>
          </a:p>
        </p:txBody>
      </p:sp>
      <p:sp>
        <p:nvSpPr>
          <p:cNvPr id="14" name="Picture Placeholder 13">
            <a:extLst>
              <a:ext uri="{FF2B5EF4-FFF2-40B4-BE49-F238E27FC236}">
                <a16:creationId xmlns:a16="http://schemas.microsoft.com/office/drawing/2014/main" id="{29B9EC75-6577-E32D-99A2-E54978EE9438}"/>
              </a:ext>
            </a:extLst>
          </p:cNvPr>
          <p:cNvSpPr>
            <a:spLocks noGrp="1"/>
          </p:cNvSpPr>
          <p:nvPr>
            <p:ph type="pic" sz="quarter" idx="20"/>
          </p:nvPr>
        </p:nvSpPr>
        <p:spPr/>
        <p:txBody>
          <a:bodyPr/>
          <a:lstStyle/>
          <a:p>
            <a:pPr algn="ctr"/>
            <a:endParaRPr lang="en-AU" sz="4000"/>
          </a:p>
        </p:txBody>
      </p:sp>
      <p:sp>
        <p:nvSpPr>
          <p:cNvPr id="15" name="Picture Placeholder 14">
            <a:extLst>
              <a:ext uri="{FF2B5EF4-FFF2-40B4-BE49-F238E27FC236}">
                <a16:creationId xmlns:a16="http://schemas.microsoft.com/office/drawing/2014/main" id="{08C58CC8-E167-CE35-57C2-0AFB8730B7FA}"/>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4796CCA1-ED50-C4F4-B332-BD3BA323854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86C354AA-6397-16D8-C4C4-474F76D4A1C7}"/>
              </a:ext>
            </a:extLst>
          </p:cNvPr>
          <p:cNvSpPr>
            <a:spLocks noGrp="1"/>
          </p:cNvSpPr>
          <p:nvPr>
            <p:ph type="pic" sz="quarter" idx="23"/>
          </p:nvPr>
        </p:nvSpPr>
        <p:spPr/>
        <p:txBody>
          <a:bodyPr/>
          <a:lstStyle/>
          <a:p>
            <a:endParaRPr lang="en-AU"/>
          </a:p>
        </p:txBody>
      </p:sp>
      <p:sp>
        <p:nvSpPr>
          <p:cNvPr id="18" name="Text Placeholder 17">
            <a:extLst>
              <a:ext uri="{FF2B5EF4-FFF2-40B4-BE49-F238E27FC236}">
                <a16:creationId xmlns:a16="http://schemas.microsoft.com/office/drawing/2014/main" id="{8B713342-A845-FC63-9421-B086E3AB3C41}"/>
              </a:ext>
            </a:extLst>
          </p:cNvPr>
          <p:cNvSpPr>
            <a:spLocks noGrp="1"/>
          </p:cNvSpPr>
          <p:nvPr>
            <p:ph type="body" sz="quarter" idx="24"/>
          </p:nvPr>
        </p:nvSpPr>
        <p:spPr>
          <a:xfrm>
            <a:off x="360000" y="1068785"/>
            <a:ext cx="11243037" cy="893226"/>
          </a:xfrm>
        </p:spPr>
        <p:txBody>
          <a:bodyPr vert="horz" lIns="0" tIns="0" rIns="0" bIns="0" rtlCol="0" anchor="t">
            <a:noAutofit/>
          </a:bodyPr>
          <a:lstStyle/>
          <a:p>
            <a:endParaRPr lang="en-US" sz="4000"/>
          </a:p>
        </p:txBody>
      </p:sp>
      <p:sp>
        <p:nvSpPr>
          <p:cNvPr id="9" name="TextBox 8">
            <a:extLst>
              <a:ext uri="{FF2B5EF4-FFF2-40B4-BE49-F238E27FC236}">
                <a16:creationId xmlns:a16="http://schemas.microsoft.com/office/drawing/2014/main" id="{277FD18C-1E47-9FBB-532B-0DE3C233677A}"/>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FC4CB8-AF3F-406B-99FC-2C281AD6990A}"/>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25B95680-E32C-1E10-95C3-D0583F057C8A}"/>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5C468B22-5176-DF39-28C7-B9C61DEEF657}"/>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884063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 </a:t>
            </a:r>
            <a:r>
              <a:rPr lang="en-AU">
                <a:solidFill>
                  <a:schemeClr val="accent4"/>
                </a:solidFill>
                <a:latin typeface="+mj-lt"/>
              </a:rPr>
              <a:t>(1)</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vert="horz" lIns="0" tIns="0" rIns="0" bIns="0" rtlCol="0" anchor="t">
            <a:noAutofit/>
          </a:bodyPr>
          <a:lstStyle/>
          <a:p>
            <a:r>
              <a:rPr lang="en-AU" u="sng">
                <a:hlinkClick r:id="rId6"/>
              </a:rPr>
              <a:t>Mathematics K-10 Syllabus</a:t>
            </a:r>
            <a:r>
              <a:rPr lang="en-AU"/>
              <a:t> </a:t>
            </a:r>
            <a:r>
              <a:rPr lang="en-AU">
                <a:cs typeface="Arial"/>
              </a:rPr>
              <a:t>© Syllabus NSW Education Standards Authority (NESA) for and on behalf of the Crown in right of the State of New South Wales, 2022.</a:t>
            </a:r>
          </a:p>
          <a:p>
            <a:r>
              <a:rPr lang="en-AU" u="sng">
                <a:hlinkClick r:id="rId7"/>
              </a:rPr>
              <a:t>National Numeracy Learning Progression</a:t>
            </a:r>
            <a:r>
              <a:rPr lang="en-AU">
                <a:hlinkClick r:id="rId7"/>
              </a:rPr>
              <a:t> </a:t>
            </a:r>
            <a:r>
              <a:rPr lang="en-AU"/>
              <a:t>© Australian Curriculum, Assessment and Reporting Authority (ACARA) 2010 to present, unless otherwise indicated. This material was downloaded from the </a:t>
            </a:r>
            <a:r>
              <a:rPr lang="en-AU" u="sng">
                <a:hlinkClick r:id="rId8"/>
              </a:rPr>
              <a:t>Australian Curriculum</a:t>
            </a:r>
            <a:r>
              <a:rPr lang="en-AU"/>
              <a:t> website (National Literacy Learning Progression) (accessed 24 April 2026) and was not modified. </a:t>
            </a:r>
            <a:endParaRPr lang="en-US"/>
          </a:p>
          <a:p>
            <a:r>
              <a:rPr lang="en-AU"/>
              <a:t>Clarke D and Roche A (2014) </a:t>
            </a:r>
            <a:r>
              <a:rPr lang="en-AU" i="1"/>
              <a:t>Engaging Maths: 25 favourite lessons</a:t>
            </a:r>
            <a:r>
              <a:rPr lang="en-AU"/>
              <a:t>, 2nd </a:t>
            </a:r>
            <a:r>
              <a:rPr lang="en-AU" err="1"/>
              <a:t>edn</a:t>
            </a:r>
            <a:r>
              <a:rPr lang="en-AU"/>
              <a:t>, Mathematics Teaching and Learning Centre, Australian Catholic University and Catholic Education office.</a:t>
            </a:r>
          </a:p>
          <a:p>
            <a:r>
              <a:rPr lang="en-AU"/>
              <a:t>Commonwealth of Pennsylvania (2013) </a:t>
            </a:r>
            <a:r>
              <a:rPr lang="en-AU" i="1" u="sng">
                <a:hlinkClick r:id="rId9"/>
              </a:rPr>
              <a:t>Solving Multiplication and Division Word Problems</a:t>
            </a:r>
            <a:r>
              <a:rPr lang="en-AU"/>
              <a:t>, Pennsylvania Department of Education: SAS (Standards Aligned System) website, accessed 15 December 2025.</a:t>
            </a:r>
          </a:p>
          <a:p>
            <a:r>
              <a:rPr lang="en-AU"/>
              <a:t>Daily Maths Review (2026)</a:t>
            </a:r>
            <a:r>
              <a:rPr lang="en-AU" i="1"/>
              <a:t> </a:t>
            </a:r>
            <a:r>
              <a:rPr lang="en-AU" i="1" u="sng">
                <a:hlinkClick r:id="rId10"/>
              </a:rPr>
              <a:t>Hundreds chart</a:t>
            </a:r>
            <a:r>
              <a:rPr lang="en-AU"/>
              <a:t>. Daily Maths Review website, accessed 13 March, 2026. </a:t>
            </a:r>
          </a:p>
          <a:p>
            <a:endParaRPr lang="en-AU"/>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67</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1BE1B-6BAE-883B-D9B5-88F87113F52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7A768FC-2C5A-B9E7-BF88-CCAE11E4430E}"/>
              </a:ext>
            </a:extLst>
          </p:cNvPr>
          <p:cNvSpPr>
            <a:spLocks noGrp="1"/>
          </p:cNvSpPr>
          <p:nvPr>
            <p:ph type="title"/>
          </p:nvPr>
        </p:nvSpPr>
        <p:spPr/>
        <p:txBody>
          <a:bodyPr/>
          <a:lstStyle/>
          <a:p>
            <a:r>
              <a:rPr lang="en-AU">
                <a:latin typeface="+mj-lt"/>
              </a:rPr>
              <a:t>References </a:t>
            </a:r>
            <a:r>
              <a:rPr lang="en-AU">
                <a:solidFill>
                  <a:schemeClr val="accent4"/>
                </a:solidFill>
                <a:latin typeface="+mj-lt"/>
              </a:rPr>
              <a:t>(2)</a:t>
            </a:r>
          </a:p>
        </p:txBody>
      </p:sp>
      <p:sp>
        <p:nvSpPr>
          <p:cNvPr id="6" name="TextBox 5">
            <a:extLst>
              <a:ext uri="{FF2B5EF4-FFF2-40B4-BE49-F238E27FC236}">
                <a16:creationId xmlns:a16="http://schemas.microsoft.com/office/drawing/2014/main" id="{7E4AE238-B7E3-8474-D6A8-F019B4C8841F}"/>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DE01C286-9834-636B-2AAE-626EDD60C6A1}"/>
              </a:ext>
            </a:extLst>
          </p:cNvPr>
          <p:cNvSpPr>
            <a:spLocks noGrp="1"/>
          </p:cNvSpPr>
          <p:nvPr>
            <p:ph idx="1"/>
          </p:nvPr>
        </p:nvSpPr>
        <p:spPr/>
        <p:txBody>
          <a:bodyPr vert="horz" lIns="0" tIns="0" rIns="0" bIns="0" rtlCol="0" anchor="t">
            <a:noAutofit/>
          </a:bodyPr>
          <a:lstStyle/>
          <a:p>
            <a:r>
              <a:rPr lang="en-AU"/>
              <a:t>Lowry C (2020) </a:t>
            </a:r>
            <a:r>
              <a:rPr lang="en-AU" i="1" u="sng">
                <a:hlinkClick r:id="rId6"/>
              </a:rPr>
              <a:t>Number Patterns</a:t>
            </a:r>
            <a:r>
              <a:rPr lang="en-AU"/>
              <a:t>, AMSI (Australian Mathematical Sciences Institute), accessed 4 December 2025.</a:t>
            </a:r>
          </a:p>
          <a:p>
            <a:r>
              <a:rPr lang="en-AU"/>
              <a:t>State of New South Wales (Department of Education) (2023) ‘</a:t>
            </a:r>
            <a:r>
              <a:rPr lang="en-AU" u="sng">
                <a:hlinkClick r:id="rId7"/>
              </a:rPr>
              <a:t>Multiplication toss</a:t>
            </a:r>
            <a:r>
              <a:rPr lang="en-AU"/>
              <a:t>’, </a:t>
            </a:r>
            <a:r>
              <a:rPr lang="en-AU" i="1"/>
              <a:t>Mathematics K–6 resources</a:t>
            </a:r>
            <a:r>
              <a:rPr lang="en-AU"/>
              <a:t>, NSW Department of Education website, accessed 12 December 2025.</a:t>
            </a:r>
          </a:p>
          <a:p>
            <a:r>
              <a:rPr lang="en-AU"/>
              <a:t>Sullivan P (2018) </a:t>
            </a:r>
            <a:r>
              <a:rPr lang="en-AU" i="1"/>
              <a:t>Challenging Mathematical Tasks: Unlocking the Potential of all Students</a:t>
            </a:r>
            <a:r>
              <a:rPr lang="en-AU"/>
              <a:t>, Oxford University Press, Australia.</a:t>
            </a:r>
          </a:p>
          <a:p>
            <a:r>
              <a:rPr lang="en-AU"/>
              <a:t>University of Cambridge (n.d.) </a:t>
            </a:r>
            <a:r>
              <a:rPr lang="en-AU" i="1" u="sng">
                <a:hlinkClick r:id="rId8"/>
              </a:rPr>
              <a:t>Multiples Grid</a:t>
            </a:r>
            <a:r>
              <a:rPr lang="en-AU"/>
              <a:t>, NRICH website, accessed 12 December 2025.</a:t>
            </a:r>
          </a:p>
          <a:p>
            <a:r>
              <a:rPr lang="en-AU"/>
              <a:t>Van de Walle J, Karp K, Bay-Williams JM, Brass A, Bentley B, Ferguson S, Goff W, Livy S, Marshman M, Martin D, Pearn C, </a:t>
            </a:r>
            <a:r>
              <a:rPr lang="en-AU" err="1"/>
              <a:t>Prodromou</a:t>
            </a:r>
            <a:r>
              <a:rPr lang="en-AU"/>
              <a:t> T, Symons D and Wilkie K (2019) </a:t>
            </a:r>
            <a:r>
              <a:rPr lang="en-AU" i="1"/>
              <a:t>Primary and Middle Years Mathematics: Teaching Developmentally</a:t>
            </a:r>
            <a:r>
              <a:rPr lang="en-AU"/>
              <a:t>, 1st Australian </a:t>
            </a:r>
            <a:r>
              <a:rPr lang="en-AU" err="1"/>
              <a:t>edn</a:t>
            </a:r>
            <a:r>
              <a:rPr lang="en-AU"/>
              <a:t>, Pearson Education Australia, Melbourne.</a:t>
            </a:r>
          </a:p>
          <a:p>
            <a:endParaRPr lang="en-AU"/>
          </a:p>
        </p:txBody>
      </p:sp>
      <p:sp>
        <p:nvSpPr>
          <p:cNvPr id="2" name="Slide Number Placeholder 1">
            <a:extLst>
              <a:ext uri="{FF2B5EF4-FFF2-40B4-BE49-F238E27FC236}">
                <a16:creationId xmlns:a16="http://schemas.microsoft.com/office/drawing/2014/main" id="{38C0F480-97F7-72E3-E5FF-A647C6B7F619}"/>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68</a:t>
            </a:fld>
            <a:endParaRPr lang="en-AU"/>
          </a:p>
        </p:txBody>
      </p:sp>
    </p:spTree>
    <p:extLst>
      <p:ext uri="{BB962C8B-B14F-4D97-AF65-F5344CB8AC3E}">
        <p14:creationId xmlns:p14="http://schemas.microsoft.com/office/powerpoint/2010/main" val="1753302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Props1.xml><?xml version="1.0" encoding="utf-8"?>
<ds:datastoreItem xmlns:ds="http://schemas.openxmlformats.org/officeDocument/2006/customXml" ds:itemID="{1BBF1075-4992-4DA3-A5BC-433A425AD955}">
  <ds:schemaRefs>
    <ds:schemaRef ds:uri="http://schemas.microsoft.com/sharepoint/v3/contenttype/forms"/>
  </ds:schemaRefs>
</ds:datastoreItem>
</file>

<file path=customXml/itemProps2.xml><?xml version="1.0" encoding="utf-8"?>
<ds:datastoreItem xmlns:ds="http://schemas.openxmlformats.org/officeDocument/2006/customXml" ds:itemID="{87FB3F59-CC33-46AC-B7AC-233D68363BD6}"/>
</file>

<file path=customXml/itemProps3.xml><?xml version="1.0" encoding="utf-8"?>
<ds:datastoreItem xmlns:ds="http://schemas.openxmlformats.org/officeDocument/2006/customXml" ds:itemID="{CE555570-2BD4-426B-AA32-0A79CB6508A8}">
  <ds:schemaRefs>
    <ds:schemaRef ds:uri="http://schemas.microsoft.com/office/2006/metadata/properties"/>
    <ds:schemaRef ds:uri="http://schemas.microsoft.com/office/infopath/2007/PartnerControls"/>
    <ds:schemaRef ds:uri="60129b06-f64b-40a8-96e2-c5b2f86112b1"/>
    <ds:schemaRef ds:uri="http://schemas.microsoft.com/office/2006/documentManagement/types"/>
    <ds:schemaRef ds:uri="http://purl.org/dc/terms/"/>
    <ds:schemaRef ds:uri="http://www.w3.org/XML/1998/namespace"/>
    <ds:schemaRef ds:uri="http://purl.org/dc/elements/1.1/"/>
    <ds:schemaRef ds:uri="7e763d47-3c66-4c58-9425-1477fd3ccd1e"/>
    <ds:schemaRef ds:uri="http://schemas.openxmlformats.org/package/2006/metadata/core-properties"/>
    <ds:schemaRef ds:uri="http://purl.org/dc/dcmitype/"/>
  </ds:schemaRefs>
</ds:datastoreItem>
</file>

<file path=docMetadata/LabelInfo.xml><?xml version="1.0" encoding="utf-8"?>
<clbl:labelList xmlns:clbl="http://schemas.microsoft.com/office/2020/mipLabelMetadata">
  <clbl:label id="{b603dfd7-d93a-4381-a340-2995d8282205}" enabled="1" method="Standard" siteId="{05a0e69a-418a-47c1-9c25-9387261bf991}" contentBits="0" removed="0"/>
</clbl:labelList>
</file>

<file path=docProps/app.xml><?xml version="1.0" encoding="utf-8"?>
<Properties xmlns="http://schemas.openxmlformats.org/officeDocument/2006/extended-properties" xmlns:vt="http://schemas.openxmlformats.org/officeDocument/2006/docPropsVTypes">
  <Template>Review of learning template (1)</Template>
  <TotalTime>1</TotalTime>
  <Words>6111</Words>
  <Application>Microsoft Office PowerPoint</Application>
  <PresentationFormat>Widescreen</PresentationFormat>
  <Paragraphs>854</Paragraphs>
  <Slides>69</Slides>
  <Notes>69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69</vt:i4>
      </vt:variant>
    </vt:vector>
  </HeadingPairs>
  <TitlesOfParts>
    <vt:vector size="80" baseType="lpstr">
      <vt:lpstr>Wingdings</vt:lpstr>
      <vt:lpstr>Calibri</vt:lpstr>
      <vt:lpstr>Public Sans</vt:lpstr>
      <vt:lpstr>Arial</vt:lpstr>
      <vt:lpstr>Arial,Sans-Serif</vt:lpstr>
      <vt:lpstr>Calibri Light</vt:lpstr>
      <vt:lpstr>Symbol</vt:lpstr>
      <vt:lpstr>Public Sans Light</vt:lpstr>
      <vt:lpstr>Times New Roman</vt:lpstr>
      <vt:lpstr>Montserrat</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number patterns with related multiples of 2 and 3 </vt:lpstr>
      <vt:lpstr>Review of learning 2</vt:lpstr>
      <vt:lpstr>True or false (1)</vt:lpstr>
      <vt:lpstr>Short response (5)</vt:lpstr>
      <vt:lpstr>Short response (6)</vt:lpstr>
      <vt:lpstr>Short response (7)</vt:lpstr>
      <vt:lpstr>Short response (8)</vt:lpstr>
      <vt:lpstr>Activity 2 – finding multiples of 4</vt:lpstr>
      <vt:lpstr>Review of learning 3</vt:lpstr>
      <vt:lpstr>Multiple choice (2)</vt:lpstr>
      <vt:lpstr>Short response (9)</vt:lpstr>
      <vt:lpstr>Short response (10)</vt:lpstr>
      <vt:lpstr>Short response (11)</vt:lpstr>
      <vt:lpstr>Short response (12)</vt:lpstr>
      <vt:lpstr>Activity 3 – investigating related multiples in a 100 grid </vt:lpstr>
      <vt:lpstr>Review of learning 4</vt:lpstr>
      <vt:lpstr>True or false (2)</vt:lpstr>
      <vt:lpstr>Short response (13)</vt:lpstr>
      <vt:lpstr>Short response (14)</vt:lpstr>
      <vt:lpstr>Short response (15)</vt:lpstr>
      <vt:lpstr>Short response (16)</vt:lpstr>
      <vt:lpstr>Activity 4 – applying doubles to connect multiples of 3 to 6 and 4 to 8 </vt:lpstr>
      <vt:lpstr>Review of learning 5</vt:lpstr>
      <vt:lpstr>Multiple choice (3)</vt:lpstr>
      <vt:lpstr>Short response (17)</vt:lpstr>
      <vt:lpstr>Short response (18)</vt:lpstr>
      <vt:lpstr>Short response (19)</vt:lpstr>
      <vt:lpstr>Short response (20)</vt:lpstr>
      <vt:lpstr>Activity 5 – using multiplication and division to solve problems  </vt:lpstr>
      <vt:lpstr>Review of learning 6</vt:lpstr>
      <vt:lpstr>True or false (3)</vt:lpstr>
      <vt:lpstr>Short response (21)</vt:lpstr>
      <vt:lpstr>Short response (22)</vt:lpstr>
      <vt:lpstr>Short response (23)</vt:lpstr>
      <vt:lpstr>Short response (24)</vt:lpstr>
      <vt:lpstr>Activity 6 – using multiplication and division to solve problems 2 </vt:lpstr>
      <vt:lpstr>Review of learning 7</vt:lpstr>
      <vt:lpstr>Multiple choice (4)</vt:lpstr>
      <vt:lpstr>Short response (25)</vt:lpstr>
      <vt:lpstr>Short response (26)</vt:lpstr>
      <vt:lpstr>Short response (27)</vt:lpstr>
      <vt:lpstr>Short response (28)</vt:lpstr>
      <vt:lpstr>Activity 7 – using number sentences to solve multiplicative word problems </vt:lpstr>
      <vt:lpstr>Review of learning 8</vt:lpstr>
      <vt:lpstr>True or false (4)</vt:lpstr>
      <vt:lpstr>Short response (29)</vt:lpstr>
      <vt:lpstr>Short response (30)</vt:lpstr>
      <vt:lpstr>Short response (31)</vt:lpstr>
      <vt:lpstr>Short response (32)</vt:lpstr>
      <vt:lpstr>Activity 8 – fact families</vt:lpstr>
      <vt:lpstr>Double Venn diagram</vt:lpstr>
      <vt:lpstr>Frayer</vt:lpstr>
      <vt:lpstr>Spider map</vt:lpstr>
      <vt:lpstr>Cline</vt:lpstr>
      <vt:lpstr>Compare and contrast</vt:lpstr>
      <vt:lpstr>Multiple choice (5)</vt:lpstr>
      <vt:lpstr>Multiple choice (6)  </vt:lpstr>
      <vt:lpstr>References (1)</vt:lpstr>
      <vt:lpstr>References (2)</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2025-10-28T21:34:25Z</dcterms:created>
  <dcterms:modified xsi:type="dcterms:W3CDTF">2026-05-03T21:37:38Z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