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6"/>
  </p:notesMasterIdLst>
  <p:handoutMasterIdLst>
    <p:handoutMasterId r:id="rId77"/>
  </p:handoutMasterIdLst>
  <p:sldIdLst>
    <p:sldId id="365" r:id="rId5"/>
    <p:sldId id="26579" r:id="rId6"/>
    <p:sldId id="26359" r:id="rId7"/>
    <p:sldId id="271" r:id="rId8"/>
    <p:sldId id="26646" r:id="rId9"/>
    <p:sldId id="358" r:id="rId10"/>
    <p:sldId id="26580" r:id="rId11"/>
    <p:sldId id="26581" r:id="rId12"/>
    <p:sldId id="26582" r:id="rId13"/>
    <p:sldId id="26576" r:id="rId14"/>
    <p:sldId id="26583" r:id="rId15"/>
    <p:sldId id="26586" r:id="rId16"/>
    <p:sldId id="26587" r:id="rId17"/>
    <p:sldId id="26588" r:id="rId18"/>
    <p:sldId id="26589" r:id="rId19"/>
    <p:sldId id="26590" r:id="rId20"/>
    <p:sldId id="26591" r:id="rId21"/>
    <p:sldId id="26592" r:id="rId22"/>
    <p:sldId id="26594" r:id="rId23"/>
    <p:sldId id="26596" r:id="rId24"/>
    <p:sldId id="26654" r:id="rId25"/>
    <p:sldId id="26597" r:id="rId26"/>
    <p:sldId id="26599" r:id="rId27"/>
    <p:sldId id="26600" r:id="rId28"/>
    <p:sldId id="26601" r:id="rId29"/>
    <p:sldId id="26604" r:id="rId30"/>
    <p:sldId id="26605" r:id="rId31"/>
    <p:sldId id="26606" r:id="rId32"/>
    <p:sldId id="26607" r:id="rId33"/>
    <p:sldId id="26608" r:id="rId34"/>
    <p:sldId id="26650" r:id="rId35"/>
    <p:sldId id="26609" r:id="rId36"/>
    <p:sldId id="26610" r:id="rId37"/>
    <p:sldId id="26653" r:id="rId38"/>
    <p:sldId id="26614" r:id="rId39"/>
    <p:sldId id="26615" r:id="rId40"/>
    <p:sldId id="26616" r:id="rId41"/>
    <p:sldId id="26617" r:id="rId42"/>
    <p:sldId id="26618" r:id="rId43"/>
    <p:sldId id="26619" r:id="rId44"/>
    <p:sldId id="26622" r:id="rId45"/>
    <p:sldId id="26623" r:id="rId46"/>
    <p:sldId id="26624" r:id="rId47"/>
    <p:sldId id="26625" r:id="rId48"/>
    <p:sldId id="26626" r:id="rId49"/>
    <p:sldId id="26627" r:id="rId50"/>
    <p:sldId id="26628" r:id="rId51"/>
    <p:sldId id="26629" r:id="rId52"/>
    <p:sldId id="26632" r:id="rId53"/>
    <p:sldId id="26633" r:id="rId54"/>
    <p:sldId id="26634" r:id="rId55"/>
    <p:sldId id="26635" r:id="rId56"/>
    <p:sldId id="26636" r:id="rId57"/>
    <p:sldId id="26637" r:id="rId58"/>
    <p:sldId id="26640" r:id="rId59"/>
    <p:sldId id="26641" r:id="rId60"/>
    <p:sldId id="26642" r:id="rId61"/>
    <p:sldId id="26643" r:id="rId62"/>
    <p:sldId id="26644" r:id="rId63"/>
    <p:sldId id="26645" r:id="rId64"/>
    <p:sldId id="26393" r:id="rId65"/>
    <p:sldId id="26387" r:id="rId66"/>
    <p:sldId id="26395" r:id="rId67"/>
    <p:sldId id="26391" r:id="rId68"/>
    <p:sldId id="26402" r:id="rId69"/>
    <p:sldId id="26507" r:id="rId70"/>
    <p:sldId id="26649" r:id="rId71"/>
    <p:sldId id="360" r:id="rId72"/>
    <p:sldId id="26651" r:id="rId73"/>
    <p:sldId id="26652" r:id="rId74"/>
    <p:sldId id="361" r:id="rId75"/>
  </p:sldIdLst>
  <p:sldSz cx="12192000" cy="6858000"/>
  <p:notesSz cx="6858000" cy="9144000"/>
  <p:embeddedFontLst>
    <p:embeddedFont>
      <p:font typeface="Montserrat" panose="00000500000000000000" pitchFamily="2" charset="0"/>
      <p:regular r:id="rId78"/>
      <p:bold r:id="rId79"/>
      <p:italic r:id="rId80"/>
      <p:boldItalic r:id="rId81"/>
    </p:embeddedFont>
    <p:embeddedFont>
      <p:font typeface="Public Sans" pitchFamily="2" charset="0"/>
      <p:regular r:id="rId82"/>
      <p:bold r:id="rId83"/>
      <p:italic r:id="rId84"/>
      <p:boldItalic r:id="rId85"/>
    </p:embeddedFont>
    <p:embeddedFont>
      <p:font typeface="Public Sans Light" pitchFamily="2" charset="0"/>
      <p:regular r:id="rId86"/>
      <p:italic r:id="rId87"/>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646"/>
            <p14:sldId id="358"/>
            <p14:sldId id="26580"/>
            <p14:sldId id="26581"/>
            <p14:sldId id="26582"/>
            <p14:sldId id="26576"/>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4"/>
            <p14:sldId id="26596"/>
            <p14:sldId id="26654"/>
            <p14:sldId id="26597"/>
            <p14:sldId id="26599"/>
            <p14:sldId id="26600"/>
          </p14:sldIdLst>
        </p14:section>
        <p14:section name="Review of learning 4" id="{6EB8E1CE-ED7B-4635-88AB-9D1D052BB011}">
          <p14:sldIdLst>
            <p14:sldId id="26601"/>
            <p14:sldId id="26604"/>
            <p14:sldId id="26605"/>
            <p14:sldId id="26606"/>
            <p14:sldId id="26607"/>
            <p14:sldId id="26608"/>
            <p14:sldId id="26650"/>
            <p14:sldId id="26609"/>
          </p14:sldIdLst>
        </p14:section>
        <p14:section name="Review of learning 5" id="{E365C8CF-14E0-4F5A-BCE8-2E930DEEA864}">
          <p14:sldIdLst>
            <p14:sldId id="26610"/>
            <p14:sldId id="26653"/>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29"/>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26651"/>
            <p14:sldId id="26652"/>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95D16B7D-CADB-F2BF-AC29-D680545C75EE}" name="Carrie Webeck" initials="CW" userId="S::CARRIE-ANN.WEBECK@det.nsw.edu.au::e5c4b697-ca15-4f3a-a906-1289ddc2fc07" providerId="AD"/>
  <p188:author id="{3990FD7D-A604-C51E-94A2-DF747800638D}" name="Daniella Brunetta" initials="DB" userId="S::daniella.brunetta@det.nsw.edu.au::4e084810-29e2-4b0b-806a-947d4f6d8f39" providerId="AD"/>
  <p188:author id="{6620E8C6-7E4F-1318-D9B4-C749088EC486}" name="Daniella Brunetta" initials="" userId="S::Daniella.Brunetta@det.nsw.edu.au::4e084810-29e2-4b0b-806a-947d4f6d8f39" providerId="AD"/>
  <p188:author id="{FD7747EE-57F8-CAC5-7CAF-C637FBE93789}" name="Ayesha Ali Khan" initials=""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9B0C"/>
    <a:srgbClr val="007A8A"/>
    <a:srgbClr val="9B6808"/>
    <a:srgbClr val="427B2D"/>
    <a:srgbClr val="B51458"/>
    <a:srgbClr val="00ACC2"/>
    <a:srgbClr val="64BB47"/>
    <a:srgbClr val="EDF9E0"/>
    <a:srgbClr val="87D830"/>
    <a:srgbClr val="447F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EDFB7C-5221-421D-8434-B1DA79C2959E}" v="18" dt="2026-05-01T00:45:26.137"/>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6" d="100"/>
          <a:sy n="36" d="100"/>
        </p:scale>
        <p:origin x="520" y="48"/>
      </p:cViewPr>
      <p:guideLst>
        <p:guide orient="horz" pos="2160"/>
        <p:guide pos="38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7.fntdata"/><Relationship Id="rId89" Type="http://schemas.openxmlformats.org/officeDocument/2006/relationships/viewProps" Target="view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2.fntdata"/><Relationship Id="rId5" Type="http://schemas.openxmlformats.org/officeDocument/2006/relationships/slide" Target="slides/slide1.xml"/><Relationship Id="rId90" Type="http://schemas.openxmlformats.org/officeDocument/2006/relationships/theme" Target="theme/theme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3.fntdata"/><Relationship Id="rId85" Type="http://schemas.openxmlformats.org/officeDocument/2006/relationships/font" Target="fonts/font8.fntdata"/><Relationship Id="rId93"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6.fntdata"/><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1.fntdata"/><Relationship Id="rId81" Type="http://schemas.openxmlformats.org/officeDocument/2006/relationships/font" Target="fonts/font4.fntdata"/><Relationship Id="rId86" Type="http://schemas.openxmlformats.org/officeDocument/2006/relationships/font" Target="fonts/font9.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slide" Target="slides/slide67.xml"/><Relationship Id="rId92" Type="http://schemas.microsoft.com/office/2015/10/relationships/revisionInfo" Target="revisionInfo.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0.fntdata"/><Relationship Id="rId61" Type="http://schemas.openxmlformats.org/officeDocument/2006/relationships/slide" Target="slides/slide57.xml"/><Relationship Id="rId82" Type="http://schemas.openxmlformats.org/officeDocument/2006/relationships/font" Target="fonts/font5.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4/05/2026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4/05/2026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latin typeface="Arial"/>
                <a:cs typeface="Arial"/>
              </a:rPr>
              <a:t>Stage 3 Year B Unit 31</a:t>
            </a:r>
          </a:p>
          <a:p>
            <a:pPr marL="285750" indent="-285750">
              <a:buFont typeface="Arial" panose="020B0604020202020204" pitchFamily="34" charset="0"/>
              <a:buChar char="•"/>
            </a:pPr>
            <a:r>
              <a:rPr lang="en-AU">
                <a:latin typeface="Arial"/>
                <a:cs typeface="Arial"/>
              </a:rPr>
              <a:t>Stage 3 Year B Unit 30</a:t>
            </a:r>
          </a:p>
          <a:p>
            <a:pPr marL="285750" indent="-285750">
              <a:buFont typeface="Arial" panose="020B0604020202020204" pitchFamily="34" charset="0"/>
              <a:buChar char="•"/>
            </a:pPr>
            <a:r>
              <a:rPr lang="en-AU">
                <a:latin typeface="Arial"/>
                <a:cs typeface="Arial"/>
              </a:rPr>
              <a:t>Stage 3 Year B Unit 29</a:t>
            </a:r>
          </a:p>
          <a:p>
            <a:r>
              <a:rPr lang="en-AU"/>
              <a:t>It also includes opportunities to review prior learning in non-number content, supporting consolidation across focus areas.</a:t>
            </a:r>
          </a:p>
          <a:p>
            <a:endParaRPr lang="en-AU"/>
          </a:p>
          <a:p>
            <a:r>
              <a:rPr lang="en-AU">
                <a:latin typeface="Arial"/>
                <a:cs typeface="Arial"/>
              </a:rPr>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latin typeface="Arial"/>
                <a:cs typeface="Arial"/>
              </a:rPr>
              <a:t>Multiple-choice questions/True or false: </a:t>
            </a:r>
            <a:r>
              <a:rPr lang="en-AU">
                <a:latin typeface="Arial"/>
                <a:cs typeface="Arial"/>
              </a:rPr>
              <a:t>Designed to promote active retrieval of key concepts and identify common misconceptions in number, supporting consolidation, understanding and fluency.</a:t>
            </a:r>
            <a:br>
              <a:rPr lang="en-AU"/>
            </a:br>
            <a:r>
              <a:rPr lang="en-AU">
                <a:latin typeface="Arial"/>
                <a:cs typeface="Arial"/>
              </a:rPr>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latin typeface="Arial"/>
                <a:cs typeface="Arial"/>
              </a:rPr>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latin typeface="Arial"/>
                <a:cs typeface="Arial"/>
              </a:rPr>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latin typeface="Arial"/>
                <a:cs typeface="Arial"/>
              </a:rPr>
              <a:t>identify content requiring reteach</a:t>
            </a:r>
          </a:p>
          <a:p>
            <a:endParaRPr lang="en-AU"/>
          </a:p>
          <a:p>
            <a:r>
              <a:rPr lang="en-AU" b="1"/>
              <a:t>3.</a:t>
            </a:r>
          </a:p>
          <a:p>
            <a:r>
              <a:rPr lang="en-AU" b="1">
                <a:latin typeface="Arial"/>
                <a:cs typeface="Arial"/>
              </a:rPr>
              <a:t>Developing number sense activities: </a:t>
            </a:r>
            <a:r>
              <a:rPr lang="en-AU">
                <a:latin typeface="Arial"/>
                <a:cs typeface="Arial"/>
              </a:rPr>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84D29-B4F5-A86B-480F-44D16C2AEE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826A8-A5AE-3179-C5C9-8D9DF711AC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D7954E-9F4D-0D11-4B0B-3FF0F27CD73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B</a:t>
            </a:r>
          </a:p>
        </p:txBody>
      </p:sp>
      <p:sp>
        <p:nvSpPr>
          <p:cNvPr id="4" name="Slide Number Placeholder 3">
            <a:extLst>
              <a:ext uri="{FF2B5EF4-FFF2-40B4-BE49-F238E27FC236}">
                <a16:creationId xmlns:a16="http://schemas.microsoft.com/office/drawing/2014/main" id="{A00CD198-B3C3-B3AF-86B2-4D9C310AEBD8}"/>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3729947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 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Inverse operations Part 1</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discuss the problem and how they would solve it.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are the number sentences you could use to solve this problem?</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could inverse operations support us to find the answer?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share their thinking with the class.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solve the problem.</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i="0">
                <a:solidFill>
                  <a:schemeClr val="tx1"/>
                </a:solidFill>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t>Three- dimensional spatial structure A</a:t>
            </a: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Inverse operations Part 2</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operation would you use to help solve this problem?</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is the answer?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Allow students time to Think-Pair-Share. Explain that division is needed to solve the problem.</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create a word problem to go with Figure 13. For example, the rectangular playground has an area of 119 m</a:t>
            </a:r>
            <a:r>
              <a:rPr lang="en-AU" sz="1600" kern="1200" baseline="30000">
                <a:solidFill>
                  <a:schemeClr val="tx1"/>
                </a:solidFill>
                <a:effectLst/>
                <a:latin typeface="Arial" panose="020B0604020202020204" pitchFamily="34" charset="0"/>
                <a:ea typeface="+mn-ea"/>
                <a:cs typeface="Arial" panose="020B0604020202020204" pitchFamily="34" charset="0"/>
              </a:rPr>
              <a:t>2</a:t>
            </a:r>
            <a:r>
              <a:rPr lang="en-AU" sz="1600" kern="1200">
                <a:solidFill>
                  <a:schemeClr val="tx1"/>
                </a:solidFill>
                <a:effectLst/>
                <a:latin typeface="Arial" panose="020B0604020202020204" pitchFamily="34" charset="0"/>
                <a:ea typeface="+mn-ea"/>
                <a:cs typeface="Arial" panose="020B0604020202020204" pitchFamily="34" charset="0"/>
              </a:rPr>
              <a:t> and one side is 7 m long. How long is the other side?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write another problem with the same playground area context where the inverse operation (multiplication) is required.</a:t>
            </a:r>
          </a:p>
          <a:p>
            <a:pPr marL="0" indent="0">
              <a:buFont typeface="+mj-lt"/>
              <a:buNone/>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5C9A-F7A1-EDFB-0833-0B47E7074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8E27A-49D0-016C-27E9-F8CDFAEA8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75A8D-C34B-1861-8315-C4CE15124AE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B</a:t>
            </a:r>
          </a:p>
        </p:txBody>
      </p:sp>
      <p:sp>
        <p:nvSpPr>
          <p:cNvPr id="4" name="Slide Number Placeholder 3">
            <a:extLst>
              <a:ext uri="{FF2B5EF4-FFF2-40B4-BE49-F238E27FC236}">
                <a16:creationId xmlns:a16="http://schemas.microsoft.com/office/drawing/2014/main" id="{9B2F7CC1-C4B8-8BA8-2D91-7EC995A48CCF}"/>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443633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Representing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1BBEE-6731-4114-6E8A-5E8579B16E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08C748-3DBA-9C4C-F9E0-0FA2C35674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F40D7C-3C01-1F8F-368B-74A7ABD262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BC2E9B-A56A-B954-9AF1-656EFA149C32}"/>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7387166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t>Three- dimensional spatial structure A</a:t>
            </a: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b="1"/>
          </a:p>
          <a:p>
            <a:r>
              <a:rPr lang="en-AU" b="1"/>
              <a:t>Multiply and divide</a:t>
            </a:r>
          </a:p>
          <a:p>
            <a:pPr mar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Multiply and Divide Within a Hundred 1 from Open Middle by Kaplinsky.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use digits 2–9 (only once each), placing a digit in each box to make 2 correct and equal equations. For example, 3 × 6 = 72 ÷ 4.</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 a class, share and compare solutions. Ask to identify the strategies they used and justify their choices.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i="0">
                <a:solidFill>
                  <a:schemeClr val="tx1"/>
                </a:solidFill>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Represents numbers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BD688-62B5-A570-38E7-853895E251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6066CA-FB4F-F8D3-7BC0-A6777BE55F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97B598-421C-9F76-DE8B-554FAA3A8C9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Find the area</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Discuss whether Joan was correct or incorrect and justify your reasoning.</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Next slide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Gabby wrote the number sentence 4 x 4 = 96 ÷ 5.</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record responses on a whiteboard and explain their thinking.</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did you know both number sentences were incorrect?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Did your knowledge of inverse operations assist you to identify the misconceptions?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9C565014-2772-67A0-5373-5A0CCB97161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31733362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Find the area</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record responses on a whiteboard and explain their thinking.</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did you know both number sentences were incorrect?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Did your knowledge of inverse operations assist you to identify the misconceptions?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8E270-5F06-5A9E-D9A1-0EF7B4AE11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AE1D6D-E40C-5E91-386B-3A79DE3E8A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35BC6A-1AC9-C292-7CCA-42C8D510B2B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A</a:t>
            </a:r>
          </a:p>
        </p:txBody>
      </p:sp>
      <p:sp>
        <p:nvSpPr>
          <p:cNvPr id="4" name="Slide Number Placeholder 3">
            <a:extLst>
              <a:ext uri="{FF2B5EF4-FFF2-40B4-BE49-F238E27FC236}">
                <a16:creationId xmlns:a16="http://schemas.microsoft.com/office/drawing/2014/main" id="{FD25CF6F-F1EE-8E53-1152-B0D5419C3614}"/>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42709632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Multiplicative relations B</a:t>
            </a: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A</a:t>
            </a:r>
            <a:endParaRPr lang="en-AU" b="1"/>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Area models and formal algorithms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recall that the area model can help us record the product of multiplying by a one-digit number using a formal algorithm.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students to use an area model to complete the problem and record their thinking on whiteboards. (See Figure 15).</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use this knowledge to solve the problem using a formal algorithm.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Did you start with multiplying the ones, then the tens? Why or why not?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Was it difficult to add the place holder zero in the one’s column when multiplying by tens? Why or why not?</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i="0">
                <a:solidFill>
                  <a:schemeClr val="tx1"/>
                </a:solidFill>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Multiplicative relations A</a:t>
            </a: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Three-dimensional spatial structure A</a:t>
            </a: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endParaRPr lang="en-AU" sz="1600" b="1" i="0">
              <a:solidFill>
                <a:schemeClr val="tx1"/>
              </a:solidFill>
              <a:latin typeface="Arial" panose="020B0604020202020204" pitchFamily="34" charset="0"/>
              <a:cs typeface="Arial" panose="020B0604020202020204" pitchFamily="34" charset="0"/>
            </a:endParaRPr>
          </a:p>
          <a:p>
            <a:r>
              <a:rPr lang="en-AU" sz="1600" b="0" i="0" kern="1200">
                <a:solidFill>
                  <a:schemeClr val="tx1"/>
                </a:solidFill>
                <a:effectLst/>
                <a:latin typeface="Arial" panose="020B0604020202020204" pitchFamily="34" charset="0"/>
                <a:ea typeface="+mn-ea"/>
                <a:cs typeface="Arial" panose="020B0604020202020204" pitchFamily="34" charset="0"/>
              </a:rPr>
              <a:t>Three-dimensional spatial structure A</a:t>
            </a:r>
            <a:endParaRPr lang="en-AU" b="1"/>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Formal algorithms</a:t>
            </a:r>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a:t>
            </a:r>
            <a:r>
              <a:rPr lang="en-AU" sz="1600" u="none" kern="1200">
                <a:solidFill>
                  <a:schemeClr val="tx1"/>
                </a:solidFill>
                <a:effectLst/>
                <a:latin typeface="Arial" panose="020B0604020202020204" pitchFamily="34" charset="0"/>
                <a:ea typeface="+mn-ea"/>
                <a:cs typeface="Arial" panose="020B0604020202020204" pitchFamily="34" charset="0"/>
              </a:rPr>
              <a:t>Tens Time </a:t>
            </a:r>
            <a:r>
              <a:rPr lang="en-AU" sz="1600" kern="1200">
                <a:solidFill>
                  <a:schemeClr val="tx1"/>
                </a:solidFill>
                <a:effectLst/>
                <a:latin typeface="Arial" panose="020B0604020202020204" pitchFamily="34" charset="0"/>
                <a:ea typeface="+mn-ea"/>
                <a:cs typeface="Arial" panose="020B0604020202020204" pitchFamily="34" charset="0"/>
              </a:rPr>
              <a:t>from NZ Maths by the New Zealand Ministry of Education.</a:t>
            </a:r>
          </a:p>
          <a:p>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students to independently complete the problem using a formal algorithm and their share their process and solution with a partner.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did place value understanding help you to complete the task?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did you ensure that the regrouping and alignment of place value columns was correct?</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A</a:t>
            </a: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24719890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Jordans algorithm</a:t>
            </a:r>
          </a:p>
          <a:p>
            <a:r>
              <a:rPr lang="en-AU" b="0"/>
              <a:t>This resource corresponds to Resource 18 – Jordans algorithm in Stage 3 Year B Unit 31. </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a:t>
            </a:r>
            <a:r>
              <a:rPr lang="en-AU" sz="1600" u="none" kern="1200">
                <a:solidFill>
                  <a:schemeClr val="tx1"/>
                </a:solidFill>
                <a:effectLst/>
                <a:latin typeface="Arial" panose="020B0604020202020204" pitchFamily="34" charset="0"/>
                <a:ea typeface="+mn-ea"/>
                <a:cs typeface="Arial" panose="020B0604020202020204" pitchFamily="34" charset="0"/>
              </a:rPr>
              <a:t>Resource 18 – Jordans algorithm</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error/s did Jordan make?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Can you solve the algorithm?</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correct the errors in the algorithm, recording their thinking on a whiteboard.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Select students to share their thinking with the class.</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i="0">
                <a:solidFill>
                  <a:schemeClr val="tx1"/>
                </a:solidFill>
                <a:latin typeface="Arial"/>
                <a:cs typeface="Arial"/>
              </a:rPr>
              <a:t>Multiplicative relations A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Multiplicative relations B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latin typeface="Arial"/>
                <a:cs typeface="Arial"/>
              </a:rPr>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Three-dimensional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endParaRPr lang="en-AU" sz="1600" b="1" i="0">
              <a:solidFill>
                <a:schemeClr val="tx1"/>
              </a:solidFill>
              <a:latin typeface="Arial" panose="020B0604020202020204" pitchFamily="34" charset="0"/>
              <a:cs typeface="Arial" panose="020B0604020202020204" pitchFamily="34" charset="0"/>
            </a:endParaRPr>
          </a:p>
          <a:p>
            <a:r>
              <a:rPr lang="en-AU" sz="1600" b="0" i="0">
                <a:solidFill>
                  <a:schemeClr val="tx1"/>
                </a:solidFill>
                <a:latin typeface="Arial" panose="020B0604020202020204" pitchFamily="34" charset="0"/>
                <a:cs typeface="Arial" panose="020B0604020202020204" pitchFamily="34" charset="0"/>
              </a:rPr>
              <a:t>Non-spatial measure B</a:t>
            </a:r>
            <a:endParaRPr lang="en-AU" b="0"/>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Completing formal algorithms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use their knowledge of a multiplication algorithm to determine the answer.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Select students to discuss the answer they selected and discuss their thinking.</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was the first step you took to solve the problem?</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Where in the algorithm do you see 200 × 9?</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Where in the algorithm do you see 70 × 9?</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Where in the algorithm do you see 8 × 9?</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are the benefits and limitations of using only the area model or algorithm?</a:t>
            </a:r>
          </a:p>
          <a:p>
            <a:endParaRPr lang="en-AU" b="1"/>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A0A48-9440-109C-E1A9-1D077586B3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9954D7-7CDD-9EE1-099E-9BC11F3059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B32FA-2322-F581-1394-625DCDA0E443}"/>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04F76163-BB63-2B5E-D129-E1AABF38A484}"/>
              </a:ext>
            </a:extLst>
          </p:cNvPr>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120435763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D053D-411E-9B78-80A2-F5045EDB75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1B6DBA-BDF2-4CEC-4529-6B9650D8FA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9DF47B-BF03-DA79-E8DE-B636E10C87D3}"/>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BB5C62AF-8EA7-BFD3-7449-66D8D5940F96}"/>
              </a:ext>
            </a:extLst>
          </p:cNvPr>
          <p:cNvSpPr>
            <a:spLocks noGrp="1"/>
          </p:cNvSpPr>
          <p:nvPr>
            <p:ph type="sldNum" sz="quarter" idx="5"/>
          </p:nvPr>
        </p:nvSpPr>
        <p:spPr/>
        <p:txBody>
          <a:bodyPr/>
          <a:lstStyle/>
          <a:p>
            <a:fld id="{B07158C4-A119-4B78-9DE8-A50001BC31DC}" type="slidenum">
              <a:rPr lang="en-AU" smtClean="0"/>
              <a:pPr/>
              <a:t>70</a:t>
            </a:fld>
            <a:endParaRPr lang="en-AU"/>
          </a:p>
        </p:txBody>
      </p:sp>
    </p:spTree>
    <p:extLst>
      <p:ext uri="{BB962C8B-B14F-4D97-AF65-F5344CB8AC3E}">
        <p14:creationId xmlns:p14="http://schemas.microsoft.com/office/powerpoint/2010/main" val="194118450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71</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0.xml"/><Relationship Id="rId3" Type="http://schemas.openxmlformats.org/officeDocument/2006/relationships/slide" Target="slide4.xml"/><Relationship Id="rId7" Type="http://schemas.openxmlformats.org/officeDocument/2006/relationships/slide" Target="slide33.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4.xml"/><Relationship Id="rId4" Type="http://schemas.openxmlformats.org/officeDocument/2006/relationships/slide" Target="slide11.xml"/><Relationship Id="rId9" Type="http://schemas.openxmlformats.org/officeDocument/2006/relationships/slide" Target="slide4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1.svg"/><Relationship Id="rId2" Type="http://schemas.openxmlformats.org/officeDocument/2006/relationships/notesSlide" Target="../notesSlides/notesSlide30.xml"/><Relationship Id="rId1" Type="http://schemas.openxmlformats.org/officeDocument/2006/relationships/slideLayout" Target="../slideLayouts/slideLayout4.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3.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5.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5.xml"/><Relationship Id="rId1" Type="http://schemas.openxmlformats.org/officeDocument/2006/relationships/slideLayout" Target="../slideLayouts/slideLayout11.xml"/><Relationship Id="rId5" Type="http://schemas.openxmlformats.org/officeDocument/2006/relationships/image" Target="../media/image29.svg"/><Relationship Id="rId4" Type="http://schemas.openxmlformats.org/officeDocument/2006/relationships/slide" Target="slide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v8.australiancurriculum.edu.au/resources/national-literacy-and-numeracy-learning-progressions/national-numeracy-learning-progression/" TargetMode="External"/><Relationship Id="rId12" Type="http://schemas.openxmlformats.org/officeDocument/2006/relationships/hyperlink" Target="https://www.online-calculator.com/full-screen-calculator/"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newzealandcurriculum.tahurangi.education.govt.nz/tens-time/5637199479.p" TargetMode="External"/><Relationship Id="rId5" Type="http://schemas.openxmlformats.org/officeDocument/2006/relationships/hyperlink" Target="https://curriculum.nsw.edu.au/" TargetMode="External"/><Relationship Id="rId10" Type="http://schemas.openxmlformats.org/officeDocument/2006/relationships/hyperlink" Target="https://www.openmiddle.com/multiply-and-divide-within-a-hundred-1/"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apsmo.edu.au/problems/eclairs-and-doughnuts/" TargetMode="External"/></Relationships>
</file>

<file path=ppt/slides/_rels/slide69.xml.rels><?xml version="1.0" encoding="UTF-8" standalone="yes"?>
<Relationships xmlns="http://schemas.openxmlformats.org/package/2006/relationships"><Relationship Id="rId8" Type="http://schemas.openxmlformats.org/officeDocument/2006/relationships/hyperlink" Target="https://resources.education.nsw.gov.au/api/v1/blob-store/dXJoX3JlYWRpbmdhbmRudW1lcmFjeV8xNEx1QTRVQkZHVURld2kwYXZPaA===/TXVsdGlwbHlpbmcgYW5kIGRpdmlkaW5nIGRlY2ltYWxzLmRvY3g==?versionid="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content/dam/main-education/en/home/teaching-and-learning/curriculum/literacy-and-numeracy/teaching-and-learning-resources/numeracy/proportional-thinking-part-2.pdf" TargetMode="External"/><Relationship Id="rId2" Type="http://schemas.openxmlformats.org/officeDocument/2006/relationships/notesSlide" Target="../notesSlides/notesSlide69.xml"/><Relationship Id="rId1" Type="http://schemas.openxmlformats.org/officeDocument/2006/relationships/slideLayout" Target="../slideLayouts/slideLayout13.xml"/><Relationship Id="rId6" Type="http://schemas.openxmlformats.org/officeDocument/2006/relationships/hyperlink" Target="https://fusecontent.education.vic.gov.au/04b725e0-6f9a-433d-bbd2-1805777989ea/PMSS%20PL%20Block%20THREE%20Workbook.pdf"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education.nsw.gov.au/teaching-and-learning/curriculum/mathematics/mathematics-curriculum-resources-k-12/mathematics-k-6-resources/talking-about-patterns-and-algebra" TargetMode="External"/></Relationships>
</file>

<file path=ppt/slides/_rels/slide70.xml.rels><?xml version="1.0" encoding="UTF-8" standalone="yes"?>
<Relationships xmlns="http://schemas.openxmlformats.org/package/2006/relationships"><Relationship Id="rId3" Type="http://schemas.openxmlformats.org/officeDocument/2006/relationships/hyperlink" Target="https://educationstandards.nsw.edu.au/wps/portal/nesa/mini-footer/copyright" TargetMode="External"/><Relationship Id="rId2" Type="http://schemas.openxmlformats.org/officeDocument/2006/relationships/notesSlide" Target="../notesSlides/notesSlide70.xml"/><Relationship Id="rId1" Type="http://schemas.openxmlformats.org/officeDocument/2006/relationships/slideLayout" Target="../slideLayouts/slideLayout13.xml"/><Relationship Id="rId6" Type="http://schemas.openxmlformats.org/officeDocument/2006/relationships/hyperlink" Target="https://www.topmarks.co.uk/Flash.aspx?f=MovingDigitCards"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71.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7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latin typeface="Arial"/>
                <a:cs typeface="Arial"/>
              </a:rPr>
              <a:t>This resource aligns to the learning in Stage 3 Year B Unit 31 and revisits content from earlier sample units.</a:t>
            </a: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rPr>
              <a:t>Mathematics Stage 3 – Unit 31</a:t>
            </a:r>
          </a:p>
        </p:txBody>
      </p:sp>
      <p:pic>
        <p:nvPicPr>
          <p:cNvPr id="5" name="Picture Placeholder 4">
            <a:extLst>
              <a:ext uri="{FF2B5EF4-FFF2-40B4-BE49-F238E27FC236}">
                <a16:creationId xmlns:a16="http://schemas.microsoft.com/office/drawing/2014/main" id="{3492ED26-EFFD-ABC0-5FC2-50C21A88E5D9}"/>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hlinkClick r:id="rId3" action="ppaction://hlinksldjump"/>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3" action="ppaction://hlinksldjump"/>
                </a:rPr>
                <a:t>Review of learning </a:t>
              </a:r>
              <a:r>
                <a:rPr lang="en-AU">
                  <a:solidFill>
                    <a:schemeClr val="accent1"/>
                  </a:solidFill>
                  <a:latin typeface="+mj-lt"/>
                  <a:hlinkClick r:id="rId3" action="ppaction://hlinksldjump"/>
                </a:rPr>
                <a:t>1</a:t>
              </a:r>
              <a:endParaRPr lang="en-AU">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4" action="ppaction://hlinksldjump"/>
                </a:rPr>
                <a:t>Review of learning </a:t>
              </a:r>
              <a:r>
                <a:rPr lang="en-AU">
                  <a:solidFill>
                    <a:schemeClr val="accent1"/>
                  </a:solidFill>
                  <a:latin typeface="+mj-lt"/>
                  <a:hlinkClick r:id="rId4" action="ppaction://hlinksldjump"/>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5" action="ppaction://hlinksldjump"/>
                </a:rPr>
                <a:t>Review of learning </a:t>
              </a:r>
              <a:r>
                <a:rPr lang="en-AU">
                  <a:solidFill>
                    <a:schemeClr val="accent1"/>
                  </a:solidFill>
                  <a:latin typeface="+mj-lt"/>
                  <a:hlinkClick r:id="rId5" action="ppaction://hlinksldjump"/>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6" action="ppaction://hlinksldjump"/>
                </a:rPr>
                <a:t>Review of learning </a:t>
              </a:r>
              <a:r>
                <a:rPr lang="en-AU">
                  <a:solidFill>
                    <a:schemeClr val="accent1"/>
                  </a:solidFill>
                  <a:latin typeface="+mj-lt"/>
                  <a:hlinkClick r:id="rId6" action="ppaction://hlinksldjump"/>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a:spLocks/>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7" action="ppaction://hlinksldjump"/>
                </a:rPr>
                <a:t>Review of learning </a:t>
              </a:r>
              <a:r>
                <a:rPr lang="en-AU">
                  <a:solidFill>
                    <a:schemeClr val="accent1"/>
                  </a:solidFill>
                  <a:latin typeface="+mj-lt"/>
                  <a:hlinkClick r:id="rId7" action="ppaction://hlinksldjump"/>
                </a:rPr>
                <a:t>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8" action="ppaction://hlinksldjump"/>
                </a:rPr>
                <a:t>Review of learning </a:t>
              </a:r>
              <a:r>
                <a:rPr lang="en-AU">
                  <a:solidFill>
                    <a:schemeClr val="accent1"/>
                  </a:solidFill>
                  <a:latin typeface="+mj-lt"/>
                  <a:hlinkClick r:id="rId8" action="ppaction://hlinksldjump"/>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9" action="ppaction://hlinksldjump"/>
                </a:rPr>
                <a:t>Review of learning </a:t>
              </a:r>
              <a:r>
                <a:rPr lang="en-AU">
                  <a:solidFill>
                    <a:schemeClr val="accent1"/>
                  </a:solidFill>
                  <a:latin typeface="+mj-lt"/>
                  <a:hlinkClick r:id="rId9" action="ppaction://hlinksldjump"/>
                </a:rPr>
                <a:t>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10" action="ppaction://hlinksldjump"/>
                </a:rPr>
                <a:t>Review of learning </a:t>
              </a:r>
              <a:r>
                <a:rPr lang="en-AU">
                  <a:solidFill>
                    <a:schemeClr val="accent1"/>
                  </a:solidFill>
                  <a:latin typeface="+mj-lt"/>
                  <a:hlinkClick r:id="rId10" action="ppaction://hlinksldjump"/>
                </a:rPr>
                <a:t>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02BEC-BF78-56D7-9F45-000CDC8A50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45A8139-FDDB-532B-B162-01D27E23A37C}"/>
              </a:ext>
            </a:extLst>
          </p:cNvPr>
          <p:cNvSpPr>
            <a:spLocks noGrp="1"/>
          </p:cNvSpPr>
          <p:nvPr>
            <p:ph type="title"/>
          </p:nvPr>
        </p:nvSpPr>
        <p:spPr>
          <a:xfrm>
            <a:off x="360000" y="360000"/>
            <a:ext cx="9901600" cy="545601"/>
          </a:xfrm>
        </p:spPr>
        <p:txBody>
          <a:bodyPr/>
          <a:lstStyle/>
          <a:p>
            <a:r>
              <a:rPr lang="en-US">
                <a:latin typeface="Arial"/>
                <a:cs typeface="Arial"/>
              </a:rPr>
              <a:t>Multiple choice </a:t>
            </a:r>
            <a:r>
              <a:rPr lang="en-US">
                <a:solidFill>
                  <a:schemeClr val="bg1"/>
                </a:solidFill>
                <a:latin typeface="Arial"/>
                <a:cs typeface="Arial"/>
              </a:rPr>
              <a:t>(1)</a:t>
            </a:r>
          </a:p>
        </p:txBody>
      </p:sp>
      <p:sp>
        <p:nvSpPr>
          <p:cNvPr id="15" name="Text Placeholder">
            <a:extLst>
              <a:ext uri="{FF2B5EF4-FFF2-40B4-BE49-F238E27FC236}">
                <a16:creationId xmlns:a16="http://schemas.microsoft.com/office/drawing/2014/main" id="{8326B5E5-C4FA-60BB-FBD1-105717701AB5}"/>
              </a:ext>
            </a:extLst>
          </p:cNvPr>
          <p:cNvSpPr>
            <a:spLocks noGrp="1"/>
          </p:cNvSpPr>
          <p:nvPr>
            <p:ph type="body" sz="quarter" idx="28"/>
          </p:nvPr>
        </p:nvSpPr>
        <p:spPr>
          <a:xfrm>
            <a:off x="240963" y="1108439"/>
            <a:ext cx="11243037" cy="754243"/>
          </a:xfrm>
        </p:spPr>
        <p:txBody>
          <a:bodyPr/>
          <a:lstStyle/>
          <a:p>
            <a:r>
              <a:rPr lang="en-US" sz="4400"/>
              <a:t>An </a:t>
            </a:r>
            <a:r>
              <a:rPr lang="en-US" sz="4400" b="1"/>
              <a:t>inverse operation</a:t>
            </a:r>
            <a:r>
              <a:rPr lang="en-US" sz="4400"/>
              <a:t> of 21 x 15 = 315 is:</a:t>
            </a:r>
          </a:p>
        </p:txBody>
      </p:sp>
      <p:sp>
        <p:nvSpPr>
          <p:cNvPr id="9" name="B">
            <a:extLst>
              <a:ext uri="{FF2B5EF4-FFF2-40B4-BE49-F238E27FC236}">
                <a16:creationId xmlns:a16="http://schemas.microsoft.com/office/drawing/2014/main" id="{2579E796-78E6-099B-1516-BE205CC4FACD}"/>
              </a:ext>
            </a:extLst>
          </p:cNvPr>
          <p:cNvSpPr txBox="1"/>
          <p:nvPr/>
        </p:nvSpPr>
        <p:spPr>
          <a:xfrm>
            <a:off x="670556" y="252637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F399B6F6-69CC-336D-6578-FD4E095E833B}"/>
              </a:ext>
            </a:extLst>
          </p:cNvPr>
          <p:cNvSpPr>
            <a:spLocks noGrp="1"/>
          </p:cNvSpPr>
          <p:nvPr>
            <p:ph type="body" sz="quarter" idx="31"/>
          </p:nvPr>
        </p:nvSpPr>
        <p:spPr>
          <a:xfrm>
            <a:off x="1345521" y="2526374"/>
            <a:ext cx="10175920" cy="641396"/>
          </a:xfrm>
        </p:spPr>
        <p:txBody>
          <a:bodyPr anchor="ctr"/>
          <a:lstStyle/>
          <a:p>
            <a:r>
              <a:rPr lang="en-US" sz="3600"/>
              <a:t>15 x 21 = 315</a:t>
            </a:r>
          </a:p>
        </p:txBody>
      </p:sp>
      <p:sp>
        <p:nvSpPr>
          <p:cNvPr id="10" name="B">
            <a:extLst>
              <a:ext uri="{FF2B5EF4-FFF2-40B4-BE49-F238E27FC236}">
                <a16:creationId xmlns:a16="http://schemas.microsoft.com/office/drawing/2014/main" id="{04CBC687-138E-8135-BF08-A76285D998BD}"/>
              </a:ext>
            </a:extLst>
          </p:cNvPr>
          <p:cNvSpPr txBox="1"/>
          <p:nvPr/>
        </p:nvSpPr>
        <p:spPr>
          <a:xfrm>
            <a:off x="670559" y="356249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22AB8397-9C8A-8BCB-A678-8D975278DBA7}"/>
              </a:ext>
            </a:extLst>
          </p:cNvPr>
          <p:cNvSpPr>
            <a:spLocks noGrp="1"/>
          </p:cNvSpPr>
          <p:nvPr>
            <p:ph type="body" sz="quarter" idx="30"/>
          </p:nvPr>
        </p:nvSpPr>
        <p:spPr>
          <a:xfrm>
            <a:off x="1345521" y="3562498"/>
            <a:ext cx="10175920" cy="641396"/>
          </a:xfrm>
        </p:spPr>
        <p:txBody>
          <a:bodyPr anchor="ctr"/>
          <a:lstStyle/>
          <a:p>
            <a:r>
              <a:rPr lang="en-US" sz="3600"/>
              <a:t>315 = 21 x 15</a:t>
            </a:r>
          </a:p>
        </p:txBody>
      </p:sp>
      <p:sp>
        <p:nvSpPr>
          <p:cNvPr id="12" name="C">
            <a:extLst>
              <a:ext uri="{FF2B5EF4-FFF2-40B4-BE49-F238E27FC236}">
                <a16:creationId xmlns:a16="http://schemas.microsoft.com/office/drawing/2014/main" id="{C605E3A9-768F-B21E-1E87-27B06AEB3AF5}"/>
              </a:ext>
            </a:extLst>
          </p:cNvPr>
          <p:cNvSpPr txBox="1"/>
          <p:nvPr/>
        </p:nvSpPr>
        <p:spPr>
          <a:xfrm>
            <a:off x="670558" y="459862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1D0C85C6-176D-2C26-0652-149EAFA02616}"/>
              </a:ext>
            </a:extLst>
          </p:cNvPr>
          <p:cNvSpPr>
            <a:spLocks noGrp="1"/>
          </p:cNvSpPr>
          <p:nvPr>
            <p:ph type="body" sz="quarter" idx="29"/>
          </p:nvPr>
        </p:nvSpPr>
        <p:spPr>
          <a:xfrm>
            <a:off x="1345521" y="4598622"/>
            <a:ext cx="10175920" cy="641396"/>
          </a:xfrm>
        </p:spPr>
        <p:txBody>
          <a:bodyPr anchor="ctr"/>
          <a:lstStyle/>
          <a:p>
            <a:r>
              <a:rPr lang="en-US" sz="3600"/>
              <a:t>315 ÷ 21 = 15</a:t>
            </a:r>
          </a:p>
        </p:txBody>
      </p:sp>
      <p:sp>
        <p:nvSpPr>
          <p:cNvPr id="11" name="D">
            <a:extLst>
              <a:ext uri="{FF2B5EF4-FFF2-40B4-BE49-F238E27FC236}">
                <a16:creationId xmlns:a16="http://schemas.microsoft.com/office/drawing/2014/main" id="{8EADE37E-99CA-3A50-524F-30E28DF3B7C4}"/>
              </a:ext>
            </a:extLst>
          </p:cNvPr>
          <p:cNvSpPr txBox="1"/>
          <p:nvPr/>
        </p:nvSpPr>
        <p:spPr>
          <a:xfrm>
            <a:off x="670556" y="563474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D9186568-D62F-6B45-E8D1-7BD11DA09597}"/>
              </a:ext>
            </a:extLst>
          </p:cNvPr>
          <p:cNvSpPr>
            <a:spLocks noGrp="1"/>
          </p:cNvSpPr>
          <p:nvPr>
            <p:ph type="body" sz="quarter" idx="27"/>
          </p:nvPr>
        </p:nvSpPr>
        <p:spPr>
          <a:xfrm>
            <a:off x="1345521" y="5634745"/>
            <a:ext cx="10175920" cy="641396"/>
          </a:xfrm>
        </p:spPr>
        <p:txBody>
          <a:bodyPr anchor="ctr"/>
          <a:lstStyle/>
          <a:p>
            <a:r>
              <a:rPr lang="en-US" sz="3600"/>
              <a:t>315 ÷ 15 = 15</a:t>
            </a:r>
          </a:p>
        </p:txBody>
      </p:sp>
      <p:pic>
        <p:nvPicPr>
          <p:cNvPr id="4" name="Picture 3" descr="image of a finger selecting an option for a multiple choice or true and false">
            <a:extLst>
              <a:ext uri="{FF2B5EF4-FFF2-40B4-BE49-F238E27FC236}">
                <a16:creationId xmlns:a16="http://schemas.microsoft.com/office/drawing/2014/main" id="{9BDCD778-E71A-A4F2-9CEF-2A78DFB28F68}"/>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FB6D3FD4-B645-8933-2300-635C9B9344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1286545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(1)</a:t>
            </a:r>
          </a:p>
        </p:txBody>
      </p:sp>
      <p:pic>
        <p:nvPicPr>
          <p:cNvPr id="3" name="Picture 2" descr="image of a clipboard with a pencil recording short answer responses">
            <a:extLst>
              <a:ext uri="{FF2B5EF4-FFF2-40B4-BE49-F238E27FC236}">
                <a16:creationId xmlns:a16="http://schemas.microsoft.com/office/drawing/2014/main" id="{69E4B2B2-713D-5998-87AB-5FC222AE389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
        <p:nvSpPr>
          <p:cNvPr id="4" name="TextBox 3">
            <a:extLst>
              <a:ext uri="{FF2B5EF4-FFF2-40B4-BE49-F238E27FC236}">
                <a16:creationId xmlns:a16="http://schemas.microsoft.com/office/drawing/2014/main" id="{92A6EE57-D8FB-EA15-5CBB-9A52D03ACBA3}"/>
              </a:ext>
            </a:extLst>
          </p:cNvPr>
          <p:cNvSpPr txBox="1"/>
          <p:nvPr/>
        </p:nvSpPr>
        <p:spPr>
          <a:xfrm>
            <a:off x="931735" y="1409470"/>
            <a:ext cx="10098741" cy="1627094"/>
          </a:xfrm>
          <a:prstGeom prst="rect">
            <a:avLst/>
          </a:prstGeom>
          <a:noFill/>
        </p:spPr>
        <p:txBody>
          <a:bodyPr wrap="square" lIns="0" tIns="0" rIns="0" bIns="0" rtlCol="0">
            <a:noAutofit/>
          </a:bodyPr>
          <a:lstStyle/>
          <a:p>
            <a:pPr algn="ctr">
              <a:lnSpc>
                <a:spcPct val="150000"/>
              </a:lnSpc>
            </a:pPr>
            <a:r>
              <a:rPr lang="en-AU" sz="4400">
                <a:latin typeface="+mj-lt"/>
              </a:rPr>
              <a:t>What number can be </a:t>
            </a:r>
            <a:r>
              <a:rPr lang="en-AU" sz="4400" b="1">
                <a:latin typeface="+mj-lt"/>
              </a:rPr>
              <a:t>grouped</a:t>
            </a:r>
            <a:r>
              <a:rPr lang="en-AU" sz="4400">
                <a:latin typeface="+mj-lt"/>
              </a:rPr>
              <a:t> as:</a:t>
            </a:r>
          </a:p>
          <a:p>
            <a:pPr algn="ctr">
              <a:lnSpc>
                <a:spcPct val="150000"/>
              </a:lnSpc>
            </a:pPr>
            <a:r>
              <a:rPr lang="en-AU" sz="4400">
                <a:latin typeface="+mj-lt"/>
              </a:rPr>
              <a:t>5 millions, 467 thousands, 8 hundreds, 7 tens and 9 ones</a:t>
            </a:r>
            <a:r>
              <a:rPr lang="en-AU"/>
              <a:t>.</a:t>
            </a:r>
            <a:endParaRPr lang="en-AU" sz="4400">
              <a:latin typeface="+mj-lt"/>
            </a:endParaRPr>
          </a:p>
          <a:p>
            <a:pPr algn="ctr">
              <a:lnSpc>
                <a:spcPct val="150000"/>
              </a:lnSpc>
            </a:pPr>
            <a:endParaRPr lang="en-AU" sz="4400">
              <a:latin typeface="+mj-lt"/>
            </a:endParaRPr>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(2)</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pic>
        <p:nvPicPr>
          <p:cNvPr id="1026" name="Picture 2" descr="4 intersecting lines labelled A, B, C and D.">
            <a:extLst>
              <a:ext uri="{FF2B5EF4-FFF2-40B4-BE49-F238E27FC236}">
                <a16:creationId xmlns:a16="http://schemas.microsoft.com/office/drawing/2014/main" id="{B8496167-2809-A8D7-6489-E69ACAFC38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0444" y="2353904"/>
            <a:ext cx="4633911" cy="39492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BA796AF-FDF1-DA66-202F-FB29A923BF02}"/>
              </a:ext>
            </a:extLst>
          </p:cNvPr>
          <p:cNvSpPr txBox="1"/>
          <p:nvPr/>
        </p:nvSpPr>
        <p:spPr>
          <a:xfrm>
            <a:off x="1498600" y="1358868"/>
            <a:ext cx="10108000" cy="769441"/>
          </a:xfrm>
          <a:prstGeom prst="rect">
            <a:avLst/>
          </a:prstGeom>
          <a:noFill/>
        </p:spPr>
        <p:txBody>
          <a:bodyPr wrap="square">
            <a:spAutoFit/>
          </a:bodyPr>
          <a:lstStyle/>
          <a:p>
            <a:r>
              <a:rPr lang="en-US" sz="4400" b="0" i="0" u="none" strike="noStrike">
                <a:solidFill>
                  <a:srgbClr val="22272B"/>
                </a:solidFill>
                <a:effectLst/>
                <a:latin typeface="Arial" panose="020B0604020202020204" pitchFamily="34" charset="0"/>
              </a:rPr>
              <a:t>Which</a:t>
            </a:r>
            <a:r>
              <a:rPr lang="en-US" sz="4400" b="1" i="0" u="none" strike="noStrike">
                <a:solidFill>
                  <a:srgbClr val="22272B"/>
                </a:solidFill>
                <a:effectLst/>
                <a:latin typeface="Arial" panose="020B0604020202020204" pitchFamily="34" charset="0"/>
              </a:rPr>
              <a:t> 2 lines </a:t>
            </a:r>
            <a:r>
              <a:rPr lang="en-US" sz="4400" b="0" i="0" u="none" strike="noStrike">
                <a:solidFill>
                  <a:srgbClr val="22272B"/>
                </a:solidFill>
                <a:effectLst/>
                <a:latin typeface="Arial" panose="020B0604020202020204" pitchFamily="34" charset="0"/>
              </a:rPr>
              <a:t>are </a:t>
            </a:r>
            <a:r>
              <a:rPr lang="en-US" sz="4400" b="1" i="0" u="none" strike="noStrike">
                <a:solidFill>
                  <a:srgbClr val="22272B"/>
                </a:solidFill>
                <a:effectLst/>
                <a:latin typeface="Arial" panose="020B0604020202020204" pitchFamily="34" charset="0"/>
              </a:rPr>
              <a:t>perpendicular</a:t>
            </a:r>
            <a:r>
              <a:rPr lang="en-US" sz="4400" b="0" i="0" u="none" strike="noStrike">
                <a:solidFill>
                  <a:srgbClr val="22272B"/>
                </a:solidFill>
                <a:effectLst/>
                <a:latin typeface="Arial" panose="020B0604020202020204" pitchFamily="34" charset="0"/>
              </a:rPr>
              <a:t>?</a:t>
            </a:r>
            <a:endParaRPr lang="en-AU" sz="4400"/>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(3)</a:t>
            </a:r>
          </a:p>
        </p:txBody>
      </p:sp>
      <p:pic>
        <p:nvPicPr>
          <p:cNvPr id="3" name="Picture 2" descr="image of a clipboard with a pencil recording short answer responses">
            <a:extLst>
              <a:ext uri="{FF2B5EF4-FFF2-40B4-BE49-F238E27FC236}">
                <a16:creationId xmlns:a16="http://schemas.microsoft.com/office/drawing/2014/main" id="{AE7CD0B4-5C73-21ED-199C-D91A99981CD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
        <p:nvSpPr>
          <p:cNvPr id="7" name="TextBox 6">
            <a:extLst>
              <a:ext uri="{FF2B5EF4-FFF2-40B4-BE49-F238E27FC236}">
                <a16:creationId xmlns:a16="http://schemas.microsoft.com/office/drawing/2014/main" id="{84D3E0CC-5939-7B81-B5C8-A070C9602EB8}"/>
              </a:ext>
            </a:extLst>
          </p:cNvPr>
          <p:cNvSpPr txBox="1"/>
          <p:nvPr/>
        </p:nvSpPr>
        <p:spPr>
          <a:xfrm>
            <a:off x="364709" y="1450033"/>
            <a:ext cx="7117481" cy="292150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400">
                <a:cs typeface="Arial"/>
              </a:rPr>
              <a:t>Name the </a:t>
            </a:r>
            <a:r>
              <a:rPr lang="en-US" sz="4400" b="1">
                <a:cs typeface="Arial"/>
              </a:rPr>
              <a:t>three- dimensional objects</a:t>
            </a:r>
            <a:r>
              <a:rPr lang="en-US" sz="4400">
                <a:cs typeface="Arial"/>
              </a:rPr>
              <a:t> according to their </a:t>
            </a:r>
            <a:r>
              <a:rPr lang="en-US" sz="4400" b="1">
                <a:cs typeface="Arial"/>
              </a:rPr>
              <a:t>base.</a:t>
            </a:r>
          </a:p>
        </p:txBody>
      </p:sp>
      <p:pic>
        <p:nvPicPr>
          <p:cNvPr id="5" name="Picture 4" descr="three various three dimensional objects">
            <a:extLst>
              <a:ext uri="{FF2B5EF4-FFF2-40B4-BE49-F238E27FC236}">
                <a16:creationId xmlns:a16="http://schemas.microsoft.com/office/drawing/2014/main" id="{3796922B-18A8-CF68-C9D8-7FAC2AB09726}"/>
              </a:ext>
            </a:extLst>
          </p:cNvPr>
          <p:cNvPicPr>
            <a:picLocks noChangeAspect="1"/>
          </p:cNvPicPr>
          <p:nvPr/>
        </p:nvPicPr>
        <p:blipFill>
          <a:blip r:embed="rId4"/>
          <a:stretch>
            <a:fillRect/>
          </a:stretch>
        </p:blipFill>
        <p:spPr>
          <a:xfrm>
            <a:off x="7697548" y="1172114"/>
            <a:ext cx="3324225" cy="4686300"/>
          </a:xfrm>
          <a:prstGeom prst="rect">
            <a:avLst/>
          </a:prstGeom>
        </p:spPr>
      </p:pic>
      <p:sp>
        <p:nvSpPr>
          <p:cNvPr id="8" name="TextBox 7">
            <a:extLst>
              <a:ext uri="{FF2B5EF4-FFF2-40B4-BE49-F238E27FC236}">
                <a16:creationId xmlns:a16="http://schemas.microsoft.com/office/drawing/2014/main" id="{D0DE0285-7121-3FE1-A657-B99F3962B7CA}"/>
              </a:ext>
              <a:ext uri="{C183D7F6-B498-43B3-948B-1728B52AA6E4}">
                <adec:decorative xmlns:adec="http://schemas.microsoft.com/office/drawing/2017/decorative" val="1"/>
              </a:ext>
            </a:extLst>
          </p:cNvPr>
          <p:cNvSpPr txBox="1"/>
          <p:nvPr/>
        </p:nvSpPr>
        <p:spPr>
          <a:xfrm>
            <a:off x="8001000" y="1648768"/>
            <a:ext cx="431800" cy="769441"/>
          </a:xfrm>
          <a:prstGeom prst="rect">
            <a:avLst/>
          </a:prstGeom>
          <a:noFill/>
        </p:spPr>
        <p:txBody>
          <a:bodyPr wrap="square">
            <a:spAutoFit/>
          </a:bodyPr>
          <a:lstStyle/>
          <a:p>
            <a:pPr algn="l"/>
            <a:r>
              <a:rPr lang="en-AU" sz="4400"/>
              <a:t>A</a:t>
            </a:r>
          </a:p>
        </p:txBody>
      </p:sp>
      <p:sp>
        <p:nvSpPr>
          <p:cNvPr id="10" name="TextBox 9">
            <a:extLst>
              <a:ext uri="{FF2B5EF4-FFF2-40B4-BE49-F238E27FC236}">
                <a16:creationId xmlns:a16="http://schemas.microsoft.com/office/drawing/2014/main" id="{7DB50434-5530-E087-ECA9-D81C32FBB2D1}"/>
              </a:ext>
              <a:ext uri="{C183D7F6-B498-43B3-948B-1728B52AA6E4}">
                <adec:decorative xmlns:adec="http://schemas.microsoft.com/office/drawing/2017/decorative" val="1"/>
              </a:ext>
            </a:extLst>
          </p:cNvPr>
          <p:cNvSpPr txBox="1"/>
          <p:nvPr/>
        </p:nvSpPr>
        <p:spPr>
          <a:xfrm>
            <a:off x="7874000" y="3130543"/>
            <a:ext cx="685800" cy="769441"/>
          </a:xfrm>
          <a:prstGeom prst="rect">
            <a:avLst/>
          </a:prstGeom>
          <a:noFill/>
        </p:spPr>
        <p:txBody>
          <a:bodyPr wrap="square">
            <a:spAutoFit/>
          </a:bodyPr>
          <a:lstStyle/>
          <a:p>
            <a:pPr algn="l"/>
            <a:r>
              <a:rPr lang="en-AU" sz="4400"/>
              <a:t>B</a:t>
            </a:r>
          </a:p>
        </p:txBody>
      </p:sp>
      <p:sp>
        <p:nvSpPr>
          <p:cNvPr id="12" name="TextBox 11">
            <a:extLst>
              <a:ext uri="{FF2B5EF4-FFF2-40B4-BE49-F238E27FC236}">
                <a16:creationId xmlns:a16="http://schemas.microsoft.com/office/drawing/2014/main" id="{A3FE1EEF-8302-B25C-9A8D-07D27D9B8DC7}"/>
              </a:ext>
              <a:ext uri="{C183D7F6-B498-43B3-948B-1728B52AA6E4}">
                <adec:decorative xmlns:adec="http://schemas.microsoft.com/office/drawing/2017/decorative" val="1"/>
              </a:ext>
            </a:extLst>
          </p:cNvPr>
          <p:cNvSpPr txBox="1"/>
          <p:nvPr/>
        </p:nvSpPr>
        <p:spPr>
          <a:xfrm>
            <a:off x="7874000" y="4612318"/>
            <a:ext cx="876300" cy="769441"/>
          </a:xfrm>
          <a:prstGeom prst="rect">
            <a:avLst/>
          </a:prstGeom>
          <a:noFill/>
        </p:spPr>
        <p:txBody>
          <a:bodyPr wrap="square">
            <a:spAutoFit/>
          </a:bodyPr>
          <a:lstStyle/>
          <a:p>
            <a:pPr algn="l"/>
            <a:r>
              <a:rPr lang="en-AU" sz="4400"/>
              <a:t>C</a:t>
            </a:r>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(4)</a:t>
            </a:r>
          </a:p>
        </p:txBody>
      </p:sp>
      <p:pic>
        <p:nvPicPr>
          <p:cNvPr id="3" name="Picture 2" descr="image of a clipboard with a pencil recording short answer responses">
            <a:extLst>
              <a:ext uri="{FF2B5EF4-FFF2-40B4-BE49-F238E27FC236}">
                <a16:creationId xmlns:a16="http://schemas.microsoft.com/office/drawing/2014/main" id="{FC9A4B87-D950-48CA-7AF9-006C90DB93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pic>
        <p:nvPicPr>
          <p:cNvPr id="2052" name="Picture 4" descr="Several blue lines meet at a point to form angles labelled 30°, 70°, 80° and 60°. A curved orange arrow shows a larger unknown angle.">
            <a:extLst>
              <a:ext uri="{FF2B5EF4-FFF2-40B4-BE49-F238E27FC236}">
                <a16:creationId xmlns:a16="http://schemas.microsoft.com/office/drawing/2014/main" id="{0D875FC4-702F-DC6A-C5BC-29BBC77A8E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69627" y="1154582"/>
            <a:ext cx="5576349" cy="539105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0069337-654A-65A3-6C25-D6CCAF0E9A3E}"/>
              </a:ext>
            </a:extLst>
          </p:cNvPr>
          <p:cNvSpPr txBox="1"/>
          <p:nvPr/>
        </p:nvSpPr>
        <p:spPr>
          <a:xfrm>
            <a:off x="484094" y="1451202"/>
            <a:ext cx="5163671" cy="1446550"/>
          </a:xfrm>
          <a:prstGeom prst="rect">
            <a:avLst/>
          </a:prstGeom>
          <a:noFill/>
        </p:spPr>
        <p:txBody>
          <a:bodyPr wrap="square">
            <a:spAutoFit/>
          </a:bodyPr>
          <a:lstStyle/>
          <a:p>
            <a:pPr algn="ctr"/>
            <a:r>
              <a:rPr lang="en-AU" sz="4400" b="1" i="0" u="none" strike="noStrike">
                <a:solidFill>
                  <a:srgbClr val="22272B"/>
                </a:solidFill>
                <a:effectLst/>
                <a:latin typeface="Arial" panose="020B0604020202020204" pitchFamily="34" charset="0"/>
              </a:rPr>
              <a:t>Record the size of the </a:t>
            </a:r>
            <a:r>
              <a:rPr lang="en-AU" sz="4400" b="1" i="0" u="none" strike="noStrike">
                <a:solidFill>
                  <a:srgbClr val="F9A045"/>
                </a:solidFill>
                <a:effectLst/>
                <a:latin typeface="Arial" panose="020B0604020202020204" pitchFamily="34" charset="0"/>
              </a:rPr>
              <a:t>orange</a:t>
            </a:r>
            <a:r>
              <a:rPr lang="en-AU" sz="4400" b="1" i="0" u="none" strike="noStrike">
                <a:solidFill>
                  <a:srgbClr val="22272B"/>
                </a:solidFill>
                <a:effectLst/>
                <a:latin typeface="Arial" panose="020B0604020202020204" pitchFamily="34" charset="0"/>
              </a:rPr>
              <a:t> </a:t>
            </a:r>
            <a:r>
              <a:rPr lang="en-AU" sz="4400" b="1" i="0" u="none" strike="noStrike">
                <a:solidFill>
                  <a:srgbClr val="F9A045"/>
                </a:solidFill>
                <a:effectLst/>
                <a:latin typeface="Arial" panose="020B0604020202020204" pitchFamily="34" charset="0"/>
              </a:rPr>
              <a:t>angle</a:t>
            </a:r>
            <a:r>
              <a:rPr lang="en-AU" sz="4400" b="1" i="0" u="none" strike="noStrike">
                <a:solidFill>
                  <a:srgbClr val="22272B"/>
                </a:solidFill>
                <a:effectLst/>
                <a:latin typeface="Arial" panose="020B0604020202020204" pitchFamily="34" charset="0"/>
              </a:rPr>
              <a:t>.</a:t>
            </a:r>
            <a:r>
              <a:rPr lang="en-AU" sz="4400" b="0" i="0">
                <a:solidFill>
                  <a:srgbClr val="000000"/>
                </a:solidFill>
                <a:effectLst/>
                <a:latin typeface="Arial" panose="020B0604020202020204" pitchFamily="34" charset="0"/>
              </a:rPr>
              <a:t>​</a:t>
            </a:r>
            <a:endParaRPr lang="en-AU" sz="4400"/>
          </a:p>
        </p:txBody>
      </p:sp>
      <p:sp>
        <p:nvSpPr>
          <p:cNvPr id="9" name="TextBox 8">
            <a:extLst>
              <a:ext uri="{FF2B5EF4-FFF2-40B4-BE49-F238E27FC236}">
                <a16:creationId xmlns:a16="http://schemas.microsoft.com/office/drawing/2014/main" id="{68C4D814-9883-B454-1930-EB5B895F456B}"/>
              </a:ext>
            </a:extLst>
          </p:cNvPr>
          <p:cNvSpPr txBox="1"/>
          <p:nvPr/>
        </p:nvSpPr>
        <p:spPr>
          <a:xfrm>
            <a:off x="360000" y="3576714"/>
            <a:ext cx="6098240" cy="1998176"/>
          </a:xfrm>
          <a:prstGeom prst="rect">
            <a:avLst/>
          </a:prstGeom>
          <a:noFill/>
        </p:spPr>
        <p:txBody>
          <a:bodyPr wrap="square">
            <a:spAutoFit/>
          </a:bodyPr>
          <a:lstStyle/>
          <a:p>
            <a:pPr algn="ctr">
              <a:lnSpc>
                <a:spcPct val="150000"/>
              </a:lnSpc>
            </a:pPr>
            <a:r>
              <a:rPr lang="en-US" sz="4400" b="1" i="0" u="none" strike="noStrike">
                <a:solidFill>
                  <a:srgbClr val="22272B"/>
                </a:solidFill>
                <a:effectLst/>
                <a:latin typeface="Arial" panose="020B0604020202020204" pitchFamily="34" charset="0"/>
              </a:rPr>
              <a:t>Communicate </a:t>
            </a:r>
            <a:r>
              <a:rPr lang="en-US" sz="4400" b="0" i="0" u="none" strike="noStrike">
                <a:solidFill>
                  <a:srgbClr val="22272B"/>
                </a:solidFill>
                <a:effectLst/>
                <a:latin typeface="Arial" panose="020B0604020202020204" pitchFamily="34" charset="0"/>
              </a:rPr>
              <a:t>your</a:t>
            </a:r>
            <a:r>
              <a:rPr lang="en-US" sz="4400" b="1" i="0" u="none" strike="noStrike">
                <a:solidFill>
                  <a:srgbClr val="22272B"/>
                </a:solidFill>
                <a:effectLst/>
                <a:latin typeface="Arial" panose="020B0604020202020204" pitchFamily="34" charset="0"/>
              </a:rPr>
              <a:t> reasoning.</a:t>
            </a:r>
            <a:endParaRPr lang="en-AU" sz="4400"/>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latin typeface="Arial"/>
                <a:cs typeface="Arial"/>
              </a:rPr>
              <a:t>Activity 1 – inverse operations (part 1)</a:t>
            </a:r>
            <a:r>
              <a:rPr lang="en-AU">
                <a:solidFill>
                  <a:schemeClr val="bg1"/>
                </a:solidFill>
                <a:latin typeface="Arial"/>
                <a:cs typeface="Arial"/>
              </a:rPr>
              <a:t>(Part 1)</a:t>
            </a:r>
          </a:p>
        </p:txBody>
      </p:sp>
      <p:pic>
        <p:nvPicPr>
          <p:cNvPr id="4" name="Picture 3" descr="image of a head with cogs turning inside">
            <a:extLst>
              <a:ext uri="{FF2B5EF4-FFF2-40B4-BE49-F238E27FC236}">
                <a16:creationId xmlns:a16="http://schemas.microsoft.com/office/drawing/2014/main" id="{8C7CF980-54BA-5CDE-FA07-65080BB2C43B}"/>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
        <p:nvSpPr>
          <p:cNvPr id="5" name="TextBox 4">
            <a:extLst>
              <a:ext uri="{FF2B5EF4-FFF2-40B4-BE49-F238E27FC236}">
                <a16:creationId xmlns:a16="http://schemas.microsoft.com/office/drawing/2014/main" id="{144CB8EF-3E9C-3C35-EC4B-7BC1D5AE125B}"/>
              </a:ext>
            </a:extLst>
          </p:cNvPr>
          <p:cNvSpPr txBox="1"/>
          <p:nvPr/>
        </p:nvSpPr>
        <p:spPr>
          <a:xfrm>
            <a:off x="723845" y="2048907"/>
            <a:ext cx="10719546" cy="3013838"/>
          </a:xfrm>
          <a:prstGeom prst="rect">
            <a:avLst/>
          </a:prstGeom>
          <a:noFill/>
        </p:spPr>
        <p:txBody>
          <a:bodyPr wrap="square">
            <a:spAutoFit/>
          </a:bodyPr>
          <a:lstStyle/>
          <a:p>
            <a:pPr algn="ctr">
              <a:lnSpc>
                <a:spcPct val="150000"/>
              </a:lnSpc>
            </a:pPr>
            <a:r>
              <a:rPr lang="en-AU" sz="4400">
                <a:effectLst/>
                <a:latin typeface="Arial" panose="020B0604020202020204" pitchFamily="34" charset="0"/>
                <a:ea typeface="Calibri" panose="020F0502020204030204" pitchFamily="34" charset="0"/>
              </a:rPr>
              <a:t>Ava had </a:t>
            </a:r>
            <a:r>
              <a:rPr lang="en-AU" sz="4400" b="1">
                <a:effectLst/>
                <a:latin typeface="Arial" panose="020B0604020202020204" pitchFamily="34" charset="0"/>
                <a:ea typeface="Calibri" panose="020F0502020204030204" pitchFamily="34" charset="0"/>
              </a:rPr>
              <a:t>315</a:t>
            </a:r>
            <a:r>
              <a:rPr lang="en-AU" sz="4400">
                <a:effectLst/>
                <a:latin typeface="Arial" panose="020B0604020202020204" pitchFamily="34" charset="0"/>
                <a:ea typeface="Calibri" panose="020F0502020204030204" pitchFamily="34" charset="0"/>
              </a:rPr>
              <a:t> trees in her family’s apple orchard. If the trees were planted in</a:t>
            </a:r>
            <a:r>
              <a:rPr lang="en-AU" sz="4400" b="1">
                <a:effectLst/>
                <a:latin typeface="Arial" panose="020B0604020202020204" pitchFamily="34" charset="0"/>
                <a:ea typeface="Calibri" panose="020F0502020204030204" pitchFamily="34" charset="0"/>
              </a:rPr>
              <a:t> 21 rows</a:t>
            </a:r>
            <a:r>
              <a:rPr lang="en-AU" sz="4400">
                <a:effectLst/>
                <a:latin typeface="Arial" panose="020B0604020202020204" pitchFamily="34" charset="0"/>
                <a:ea typeface="Calibri" panose="020F0502020204030204" pitchFamily="34" charset="0"/>
              </a:rPr>
              <a:t>. How many trees were in </a:t>
            </a:r>
            <a:r>
              <a:rPr lang="en-AU" sz="4400" b="1">
                <a:effectLst/>
                <a:latin typeface="Arial" panose="020B0604020202020204" pitchFamily="34" charset="0"/>
                <a:ea typeface="Calibri" panose="020F0502020204030204" pitchFamily="34" charset="0"/>
              </a:rPr>
              <a:t>each row?</a:t>
            </a:r>
            <a:endParaRPr lang="en-AU" sz="4400" b="1"/>
          </a:p>
        </p:txBody>
      </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(1)</a:t>
            </a:r>
          </a:p>
        </p:txBody>
      </p:sp>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360001" y="1184019"/>
            <a:ext cx="11243037" cy="893226"/>
          </a:xfrm>
        </p:spPr>
        <p:txBody>
          <a:bodyPr/>
          <a:lstStyle/>
          <a:p>
            <a:pPr algn="ctr"/>
            <a:r>
              <a:rPr lang="en-AU" sz="4400"/>
              <a:t>8 x ___ = 112</a:t>
            </a:r>
          </a:p>
          <a:p>
            <a:pPr algn="ctr"/>
            <a:r>
              <a:rPr lang="en-AU" sz="4400"/>
              <a:t>This </a:t>
            </a:r>
            <a:r>
              <a:rPr lang="en-AU" sz="4400" b="1"/>
              <a:t>missing number </a:t>
            </a:r>
            <a:r>
              <a:rPr lang="en-AU" sz="4400"/>
              <a:t>is 14.</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3586242938"/>
              </p:ext>
            </p:extLst>
          </p:nvPr>
        </p:nvGraphicFramePr>
        <p:xfrm>
          <a:off x="2557462" y="4541536"/>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5" name="Text Placeholder 5">
            <a:extLst>
              <a:ext uri="{FF2B5EF4-FFF2-40B4-BE49-F238E27FC236}">
                <a16:creationId xmlns:a16="http://schemas.microsoft.com/office/drawing/2014/main" id="{0B31BFEF-B617-5511-2366-6EE98C1E8AC2}"/>
              </a:ext>
            </a:extLst>
          </p:cNvPr>
          <p:cNvSpPr txBox="1">
            <a:spLocks/>
          </p:cNvSpPr>
          <p:nvPr/>
        </p:nvSpPr>
        <p:spPr>
          <a:xfrm>
            <a:off x="600963" y="5474544"/>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(5)</a:t>
            </a:r>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
        <p:nvSpPr>
          <p:cNvPr id="4" name="TextBox 3">
            <a:extLst>
              <a:ext uri="{FF2B5EF4-FFF2-40B4-BE49-F238E27FC236}">
                <a16:creationId xmlns:a16="http://schemas.microsoft.com/office/drawing/2014/main" id="{E6F2FC43-ED89-2A2E-842D-8A896F23C27D}"/>
              </a:ext>
            </a:extLst>
          </p:cNvPr>
          <p:cNvSpPr txBox="1"/>
          <p:nvPr/>
        </p:nvSpPr>
        <p:spPr>
          <a:xfrm>
            <a:off x="435429" y="1069042"/>
            <a:ext cx="11408571" cy="1653988"/>
          </a:xfrm>
          <a:prstGeom prst="rect">
            <a:avLst/>
          </a:prstGeom>
          <a:noFill/>
        </p:spPr>
        <p:txBody>
          <a:bodyPr wrap="square" lIns="0" tIns="0" rIns="0" bIns="0" rtlCol="0">
            <a:noAutofit/>
          </a:bodyPr>
          <a:lstStyle/>
          <a:p>
            <a:pPr algn="l">
              <a:lnSpc>
                <a:spcPct val="150000"/>
              </a:lnSpc>
            </a:pPr>
            <a:r>
              <a:rPr lang="en-AU" sz="4400" b="1">
                <a:latin typeface="+mj-lt"/>
              </a:rPr>
              <a:t>Regroup</a:t>
            </a:r>
            <a:r>
              <a:rPr lang="en-AU" sz="4400">
                <a:latin typeface="+mj-lt"/>
              </a:rPr>
              <a:t> these numbers in 2 </a:t>
            </a:r>
            <a:r>
              <a:rPr lang="en-AU" sz="4400" b="1">
                <a:latin typeface="+mj-lt"/>
              </a:rPr>
              <a:t>different forms:</a:t>
            </a:r>
            <a:endParaRPr lang="en-AU" sz="4400">
              <a:latin typeface="+mj-lt"/>
            </a:endParaRPr>
          </a:p>
          <a:p>
            <a:pPr marL="742950" indent="-742950" algn="l">
              <a:lnSpc>
                <a:spcPct val="150000"/>
              </a:lnSpc>
              <a:buFont typeface="+mj-lt"/>
              <a:buAutoNum type="alphaLcParenR"/>
            </a:pPr>
            <a:r>
              <a:rPr lang="en-AU" sz="4400">
                <a:latin typeface="+mj-lt"/>
              </a:rPr>
              <a:t>67 543 980</a:t>
            </a:r>
          </a:p>
          <a:p>
            <a:pPr marL="742950" indent="-742950" algn="l">
              <a:lnSpc>
                <a:spcPct val="150000"/>
              </a:lnSpc>
              <a:buFont typeface="+mj-lt"/>
              <a:buAutoNum type="alphaLcParenR"/>
            </a:pPr>
            <a:r>
              <a:rPr lang="en-AU" sz="4400">
                <a:latin typeface="+mj-lt"/>
              </a:rPr>
              <a:t>736 443 211</a:t>
            </a:r>
          </a:p>
          <a:p>
            <a:pPr algn="l"/>
            <a:endParaRPr lang="en-AU" sz="1800"/>
          </a:p>
          <a:p>
            <a:pPr algn="l"/>
            <a:endParaRPr lang="en-AU" sz="1800"/>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(6)</a:t>
            </a:r>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5" name="TextBox 4">
            <a:extLst>
              <a:ext uri="{FF2B5EF4-FFF2-40B4-BE49-F238E27FC236}">
                <a16:creationId xmlns:a16="http://schemas.microsoft.com/office/drawing/2014/main" id="{0B72808A-35BE-F8CD-F29A-696430DEEAB8}"/>
              </a:ext>
            </a:extLst>
          </p:cNvPr>
          <p:cNvSpPr txBox="1"/>
          <p:nvPr/>
        </p:nvSpPr>
        <p:spPr>
          <a:xfrm>
            <a:off x="813193" y="905601"/>
            <a:ext cx="10310807" cy="535531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400">
                <a:cs typeface="Arial"/>
              </a:rPr>
              <a:t>Finish this sentence: </a:t>
            </a:r>
          </a:p>
          <a:p>
            <a:pPr algn="ctr">
              <a:lnSpc>
                <a:spcPct val="150000"/>
              </a:lnSpc>
            </a:pPr>
            <a:r>
              <a:rPr lang="en-US" sz="4400">
                <a:cs typeface="Arial"/>
              </a:rPr>
              <a:t>When 2 </a:t>
            </a:r>
            <a:r>
              <a:rPr lang="en-US" sz="4400" b="1">
                <a:cs typeface="Arial"/>
              </a:rPr>
              <a:t>adjacent angles</a:t>
            </a:r>
            <a:r>
              <a:rPr lang="en-US" sz="4400">
                <a:cs typeface="Arial"/>
              </a:rPr>
              <a:t> form a </a:t>
            </a:r>
            <a:r>
              <a:rPr lang="en-US" sz="4400" b="1">
                <a:cs typeface="Arial"/>
              </a:rPr>
              <a:t>right angle</a:t>
            </a:r>
            <a:r>
              <a:rPr lang="en-US" sz="4400">
                <a:cs typeface="Arial"/>
              </a:rPr>
              <a:t>, the sum of their </a:t>
            </a:r>
            <a:r>
              <a:rPr lang="en-US" sz="4400" b="1">
                <a:cs typeface="Arial"/>
              </a:rPr>
              <a:t>angles</a:t>
            </a:r>
            <a:r>
              <a:rPr lang="en-US" sz="4400">
                <a:cs typeface="Arial"/>
              </a:rPr>
              <a:t> equal ____ °</a:t>
            </a:r>
          </a:p>
          <a:p>
            <a:pPr algn="ctr">
              <a:lnSpc>
                <a:spcPct val="150000"/>
              </a:lnSpc>
            </a:pPr>
            <a:r>
              <a:rPr lang="en-US" sz="4400" b="1">
                <a:cs typeface="Arial" panose="020B0604020202020204"/>
              </a:rPr>
              <a:t>Communicate </a:t>
            </a:r>
            <a:r>
              <a:rPr lang="en-US" sz="4400">
                <a:cs typeface="Arial" panose="020B0604020202020204"/>
              </a:rPr>
              <a:t>your</a:t>
            </a:r>
            <a:r>
              <a:rPr lang="en-US" sz="4400" b="1">
                <a:cs typeface="Arial" panose="020B0604020202020204"/>
              </a:rPr>
              <a:t> reasoning.</a:t>
            </a:r>
            <a:endParaRPr lang="en-US" sz="4400">
              <a:cs typeface="Arial" panose="020B0604020202020204"/>
            </a:endParaRPr>
          </a:p>
          <a:p>
            <a:endParaRPr lang="en-US" sz="1800">
              <a:cs typeface="Arial" panose="020B0604020202020204"/>
            </a:endParaRPr>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(7)</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
        <p:nvSpPr>
          <p:cNvPr id="4" name="TextBox 3">
            <a:extLst>
              <a:ext uri="{FF2B5EF4-FFF2-40B4-BE49-F238E27FC236}">
                <a16:creationId xmlns:a16="http://schemas.microsoft.com/office/drawing/2014/main" id="{D4076B63-C982-6F7C-E724-BA23867CB741}"/>
              </a:ext>
            </a:extLst>
          </p:cNvPr>
          <p:cNvSpPr txBox="1"/>
          <p:nvPr/>
        </p:nvSpPr>
        <p:spPr>
          <a:xfrm>
            <a:off x="535694" y="1345489"/>
            <a:ext cx="6661940" cy="495520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4400">
                <a:cs typeface="Arial"/>
              </a:rPr>
              <a:t>Name the </a:t>
            </a:r>
            <a:r>
              <a:rPr lang="en-US" sz="4400" b="1">
                <a:cs typeface="Arial"/>
              </a:rPr>
              <a:t>object</a:t>
            </a:r>
            <a:r>
              <a:rPr lang="en-US" sz="4400">
                <a:cs typeface="Arial"/>
              </a:rPr>
              <a:t> this </a:t>
            </a:r>
            <a:r>
              <a:rPr lang="en-US" sz="4400" b="1">
                <a:cs typeface="Arial"/>
              </a:rPr>
              <a:t>net</a:t>
            </a:r>
            <a:r>
              <a:rPr lang="en-US" sz="4400">
                <a:cs typeface="Arial"/>
              </a:rPr>
              <a:t> would create. </a:t>
            </a:r>
            <a:endParaRPr lang="en-US" sz="4400"/>
          </a:p>
          <a:p>
            <a:pPr algn="ctr">
              <a:lnSpc>
                <a:spcPct val="150000"/>
              </a:lnSpc>
            </a:pPr>
            <a:endParaRPr lang="en-US" sz="4400">
              <a:cs typeface="Arial"/>
            </a:endParaRPr>
          </a:p>
          <a:p>
            <a:pPr algn="ctr">
              <a:lnSpc>
                <a:spcPct val="150000"/>
              </a:lnSpc>
            </a:pPr>
            <a:r>
              <a:rPr lang="en-US" sz="4400" b="1">
                <a:cs typeface="Arial" panose="020B0604020202020204"/>
              </a:rPr>
              <a:t>Communicate </a:t>
            </a:r>
            <a:r>
              <a:rPr lang="en-US" sz="4400">
                <a:cs typeface="Arial"/>
              </a:rPr>
              <a:t>your</a:t>
            </a:r>
            <a:r>
              <a:rPr lang="en-US" sz="4400" b="1">
                <a:cs typeface="Arial" panose="020B0604020202020204"/>
              </a:rPr>
              <a:t> reasoning.</a:t>
            </a:r>
            <a:endParaRPr lang="en-US" sz="4400">
              <a:cs typeface="Arial"/>
            </a:endParaRPr>
          </a:p>
          <a:p>
            <a:pPr algn="ctr"/>
            <a:endParaRPr lang="en-US" sz="1800">
              <a:cs typeface="Arial" panose="020B0604020202020204"/>
            </a:endParaRPr>
          </a:p>
          <a:p>
            <a:endParaRPr lang="en-US" sz="1800">
              <a:cs typeface="Arial" panose="020B0604020202020204"/>
            </a:endParaRPr>
          </a:p>
        </p:txBody>
      </p:sp>
      <p:pic>
        <p:nvPicPr>
          <p:cNvPr id="5" name="Picture 4" descr="The net is made from 3 long rectangles and 2 triangles.">
            <a:extLst>
              <a:ext uri="{FF2B5EF4-FFF2-40B4-BE49-F238E27FC236}">
                <a16:creationId xmlns:a16="http://schemas.microsoft.com/office/drawing/2014/main" id="{EA807701-2F8C-CD4E-6B83-D5BC95D11ADC}"/>
              </a:ext>
            </a:extLst>
          </p:cNvPr>
          <p:cNvPicPr>
            <a:picLocks noChangeAspect="1"/>
          </p:cNvPicPr>
          <p:nvPr/>
        </p:nvPicPr>
        <p:blipFill>
          <a:blip r:embed="rId4"/>
          <a:stretch>
            <a:fillRect/>
          </a:stretch>
        </p:blipFill>
        <p:spPr>
          <a:xfrm>
            <a:off x="7740675" y="2018102"/>
            <a:ext cx="3743325" cy="36099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(8)</a:t>
            </a:r>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
        <p:nvSpPr>
          <p:cNvPr id="4" name="TextBox 3">
            <a:extLst>
              <a:ext uri="{FF2B5EF4-FFF2-40B4-BE49-F238E27FC236}">
                <a16:creationId xmlns:a16="http://schemas.microsoft.com/office/drawing/2014/main" id="{3844E50A-8C29-7C57-99C1-86FDB542A378}"/>
              </a:ext>
            </a:extLst>
          </p:cNvPr>
          <p:cNvSpPr txBox="1"/>
          <p:nvPr/>
        </p:nvSpPr>
        <p:spPr>
          <a:xfrm>
            <a:off x="1233946" y="2200936"/>
            <a:ext cx="9493322" cy="1797977"/>
          </a:xfrm>
          <a:prstGeom prst="rect">
            <a:avLst/>
          </a:prstGeom>
          <a:noFill/>
        </p:spPr>
        <p:txBody>
          <a:bodyPr wrap="square" lIns="0" tIns="0" rIns="0" bIns="0" rtlCol="0">
            <a:noAutofit/>
          </a:bodyPr>
          <a:lstStyle/>
          <a:p>
            <a:pPr algn="ctr">
              <a:lnSpc>
                <a:spcPct val="150000"/>
              </a:lnSpc>
            </a:pPr>
            <a:r>
              <a:rPr lang="en-AU" sz="4400"/>
              <a:t>15.5 </a:t>
            </a:r>
            <a:r>
              <a:rPr lang="en-AU" sz="4400" b="1"/>
              <a:t>cm</a:t>
            </a:r>
            <a:r>
              <a:rPr lang="en-AU" sz="4400"/>
              <a:t> is ___ </a:t>
            </a:r>
            <a:r>
              <a:rPr lang="en-AU" sz="4400" b="1"/>
              <a:t>centimetres</a:t>
            </a:r>
            <a:r>
              <a:rPr lang="en-AU" sz="4400"/>
              <a:t> and ___ </a:t>
            </a:r>
            <a:r>
              <a:rPr lang="en-AU" sz="4400" b="1"/>
              <a:t>millimetres.</a:t>
            </a:r>
          </a:p>
          <a:p>
            <a:pPr algn="l"/>
            <a:endParaRPr lang="en-AU" sz="1800"/>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latin typeface="Arial"/>
                <a:cs typeface="Arial"/>
              </a:rPr>
              <a:t>Activity 2 – Inverse operations (part 2)</a:t>
            </a:r>
            <a:r>
              <a:rPr lang="en-AU">
                <a:solidFill>
                  <a:schemeClr val="bg1"/>
                </a:solidFill>
                <a:latin typeface="Arial"/>
                <a:cs typeface="Arial"/>
              </a:rPr>
              <a:t>((Part 2) </a:t>
            </a:r>
            <a:endParaRPr lang="en-AU">
              <a:solidFill>
                <a:schemeClr val="bg1"/>
              </a:solidFill>
            </a:endParaRPr>
          </a:p>
        </p:txBody>
      </p:sp>
      <p:pic>
        <p:nvPicPr>
          <p:cNvPr id="4" name="Picture 3">
            <a:extLst>
              <a:ext uri="{FF2B5EF4-FFF2-40B4-BE49-F238E27FC236}">
                <a16:creationId xmlns:a16="http://schemas.microsoft.com/office/drawing/2014/main" id="{D6502462-26FB-38CD-06DC-5F98705966B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pic>
        <p:nvPicPr>
          <p:cNvPr id="8" name="Picture 7" descr="A rectangle. The top side is labelled 7 m.&#10;Inside the rectangle, the area is labelled 119 m².">
            <a:extLst>
              <a:ext uri="{FF2B5EF4-FFF2-40B4-BE49-F238E27FC236}">
                <a16:creationId xmlns:a16="http://schemas.microsoft.com/office/drawing/2014/main" id="{9EC2D663-0CFB-09D0-5A08-F77EC9927A51}"/>
              </a:ext>
            </a:extLst>
          </p:cNvPr>
          <p:cNvPicPr>
            <a:picLocks noChangeAspect="1"/>
          </p:cNvPicPr>
          <p:nvPr/>
        </p:nvPicPr>
        <p:blipFill>
          <a:blip r:embed="rId4"/>
          <a:stretch>
            <a:fillRect/>
          </a:stretch>
        </p:blipFill>
        <p:spPr>
          <a:xfrm>
            <a:off x="682548" y="1330217"/>
            <a:ext cx="2978303" cy="4197566"/>
          </a:xfrm>
          <a:prstGeom prst="rect">
            <a:avLst/>
          </a:prstGeom>
        </p:spPr>
      </p:pic>
      <p:sp>
        <p:nvSpPr>
          <p:cNvPr id="7" name="TextBox 6">
            <a:extLst>
              <a:ext uri="{FF2B5EF4-FFF2-40B4-BE49-F238E27FC236}">
                <a16:creationId xmlns:a16="http://schemas.microsoft.com/office/drawing/2014/main" id="{43CE6CA2-4E11-E714-D118-B8A0C05425A6}"/>
              </a:ext>
            </a:extLst>
          </p:cNvPr>
          <p:cNvSpPr txBox="1"/>
          <p:nvPr/>
        </p:nvSpPr>
        <p:spPr>
          <a:xfrm>
            <a:off x="4225615" y="2964116"/>
            <a:ext cx="6098240" cy="1897955"/>
          </a:xfrm>
          <a:prstGeom prst="rect">
            <a:avLst/>
          </a:prstGeom>
          <a:noFill/>
        </p:spPr>
        <p:txBody>
          <a:bodyPr wrap="square">
            <a:spAutoFit/>
          </a:bodyPr>
          <a:lstStyle/>
          <a:p>
            <a:r>
              <a:rPr lang="en-AU" sz="4400">
                <a:effectLst/>
                <a:latin typeface="Arial" panose="020B0604020202020204" pitchFamily="34" charset="0"/>
                <a:ea typeface="Calibri" panose="020F0502020204030204" pitchFamily="34" charset="0"/>
              </a:rPr>
              <a:t>7 m</a:t>
            </a:r>
            <a:r>
              <a:rPr lang="en-AU" sz="4400">
                <a:effectLst/>
                <a:latin typeface="Calibri" panose="020F0502020204030204" pitchFamily="34" charset="0"/>
                <a:ea typeface="Calibri" panose="020F0502020204030204" pitchFamily="34" charset="0"/>
              </a:rPr>
              <a:t> ×</a:t>
            </a:r>
            <a:r>
              <a:rPr lang="en-AU" sz="4400">
                <a:effectLst/>
                <a:latin typeface="Arial" panose="020B0604020202020204" pitchFamily="34" charset="0"/>
                <a:ea typeface="Calibri" panose="020F0502020204030204" pitchFamily="34" charset="0"/>
              </a:rPr>
              <a:t> __ m = 119 m</a:t>
            </a:r>
            <a:r>
              <a:rPr lang="en-AU" sz="4400" baseline="30000">
                <a:effectLst/>
                <a:latin typeface="Arial" panose="020B0604020202020204" pitchFamily="34" charset="0"/>
                <a:ea typeface="Calibri" panose="020F0502020204030204" pitchFamily="34" charset="0"/>
              </a:rPr>
              <a:t>2</a:t>
            </a:r>
          </a:p>
          <a:p>
            <a:endParaRPr lang="en-AU" sz="4400" baseline="30000">
              <a:latin typeface="Arial" panose="020B0604020202020204" pitchFamily="34" charset="0"/>
              <a:ea typeface="Calibri" panose="020F0502020204030204" pitchFamily="34" charset="0"/>
            </a:endParaRPr>
          </a:p>
          <a:p>
            <a:r>
              <a:rPr lang="en-AU" sz="4400">
                <a:effectLst/>
                <a:latin typeface="Arial" panose="020B0604020202020204" pitchFamily="34" charset="0"/>
                <a:ea typeface="Calibri" panose="020F0502020204030204" pitchFamily="34" charset="0"/>
              </a:rPr>
              <a:t> </a:t>
            </a:r>
            <a:endParaRPr lang="en-AU" sz="4400"/>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698E-FF3C-D7D7-7361-3B6C06C0CF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AF6F33-8B51-F522-6D05-68D5C90AAA03}"/>
              </a:ext>
            </a:extLst>
          </p:cNvPr>
          <p:cNvSpPr>
            <a:spLocks noGrp="1"/>
          </p:cNvSpPr>
          <p:nvPr>
            <p:ph type="title"/>
          </p:nvPr>
        </p:nvSpPr>
        <p:spPr>
          <a:xfrm>
            <a:off x="360000" y="360000"/>
            <a:ext cx="9901600" cy="545601"/>
          </a:xfrm>
        </p:spPr>
        <p:txBody>
          <a:bodyPr/>
          <a:lstStyle/>
          <a:p>
            <a:r>
              <a:rPr lang="en-US">
                <a:latin typeface="Arial"/>
                <a:cs typeface="Arial"/>
              </a:rPr>
              <a:t>Multiple choice </a:t>
            </a:r>
            <a:r>
              <a:rPr lang="en-US">
                <a:solidFill>
                  <a:schemeClr val="bg1"/>
                </a:solidFill>
                <a:latin typeface="Arial"/>
                <a:cs typeface="Arial"/>
              </a:rPr>
              <a:t>(2)</a:t>
            </a:r>
          </a:p>
        </p:txBody>
      </p:sp>
      <p:sp>
        <p:nvSpPr>
          <p:cNvPr id="15" name="Text Placeholder">
            <a:extLst>
              <a:ext uri="{FF2B5EF4-FFF2-40B4-BE49-F238E27FC236}">
                <a16:creationId xmlns:a16="http://schemas.microsoft.com/office/drawing/2014/main" id="{9C7C84D9-7468-F57D-99F1-C58A56040A58}"/>
              </a:ext>
            </a:extLst>
          </p:cNvPr>
          <p:cNvSpPr>
            <a:spLocks noGrp="1"/>
          </p:cNvSpPr>
          <p:nvPr>
            <p:ph type="body" sz="quarter" idx="28"/>
          </p:nvPr>
        </p:nvSpPr>
        <p:spPr>
          <a:xfrm>
            <a:off x="3210776" y="1184244"/>
            <a:ext cx="11243037" cy="754243"/>
          </a:xfrm>
        </p:spPr>
        <p:txBody>
          <a:bodyPr/>
          <a:lstStyle/>
          <a:p>
            <a:r>
              <a:rPr lang="en-US" sz="6000"/>
              <a:t>3 x 6 = ___÷ 4</a:t>
            </a:r>
          </a:p>
        </p:txBody>
      </p:sp>
      <p:sp>
        <p:nvSpPr>
          <p:cNvPr id="9" name="B">
            <a:extLst>
              <a:ext uri="{FF2B5EF4-FFF2-40B4-BE49-F238E27FC236}">
                <a16:creationId xmlns:a16="http://schemas.microsoft.com/office/drawing/2014/main" id="{F91A42F4-D8C9-20A3-82EB-86FAD4D776A8}"/>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D2386B91-F85A-17DD-80EB-F20033E4EC06}"/>
              </a:ext>
            </a:extLst>
          </p:cNvPr>
          <p:cNvSpPr>
            <a:spLocks noGrp="1"/>
          </p:cNvSpPr>
          <p:nvPr>
            <p:ph type="body" sz="quarter" idx="31"/>
          </p:nvPr>
        </p:nvSpPr>
        <p:spPr>
          <a:xfrm>
            <a:off x="1345520" y="2816269"/>
            <a:ext cx="10175920" cy="641396"/>
          </a:xfrm>
        </p:spPr>
        <p:txBody>
          <a:bodyPr anchor="ctr"/>
          <a:lstStyle/>
          <a:p>
            <a:r>
              <a:rPr lang="en-US" sz="3600"/>
              <a:t>72</a:t>
            </a:r>
          </a:p>
        </p:txBody>
      </p:sp>
      <p:sp>
        <p:nvSpPr>
          <p:cNvPr id="10" name="B">
            <a:extLst>
              <a:ext uri="{FF2B5EF4-FFF2-40B4-BE49-F238E27FC236}">
                <a16:creationId xmlns:a16="http://schemas.microsoft.com/office/drawing/2014/main" id="{CA9D5B15-A13C-EE8B-176F-3B4E3454A1A2}"/>
              </a:ext>
            </a:extLst>
          </p:cNvPr>
          <p:cNvSpPr txBox="1"/>
          <p:nvPr/>
        </p:nvSpPr>
        <p:spPr>
          <a:xfrm>
            <a:off x="670559" y="378530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2D36800D-CC3E-E3B5-7DCD-70D138BF62F0}"/>
              </a:ext>
            </a:extLst>
          </p:cNvPr>
          <p:cNvSpPr>
            <a:spLocks noGrp="1"/>
          </p:cNvSpPr>
          <p:nvPr>
            <p:ph type="body" sz="quarter" idx="30"/>
          </p:nvPr>
        </p:nvSpPr>
        <p:spPr>
          <a:xfrm>
            <a:off x="1345520" y="3768765"/>
            <a:ext cx="10175920" cy="641396"/>
          </a:xfrm>
        </p:spPr>
        <p:txBody>
          <a:bodyPr anchor="ctr"/>
          <a:lstStyle/>
          <a:p>
            <a:r>
              <a:rPr lang="en-US" sz="3600"/>
              <a:t>84</a:t>
            </a:r>
          </a:p>
        </p:txBody>
      </p:sp>
      <p:sp>
        <p:nvSpPr>
          <p:cNvPr id="12" name="C">
            <a:extLst>
              <a:ext uri="{FF2B5EF4-FFF2-40B4-BE49-F238E27FC236}">
                <a16:creationId xmlns:a16="http://schemas.microsoft.com/office/drawing/2014/main" id="{B4746450-E4E2-359C-DFCA-0532E811BD1E}"/>
              </a:ext>
            </a:extLst>
          </p:cNvPr>
          <p:cNvSpPr txBox="1"/>
          <p:nvPr/>
        </p:nvSpPr>
        <p:spPr>
          <a:xfrm>
            <a:off x="670558" y="474154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8E51689C-1248-B7EC-3B77-B066AB5C6C0D}"/>
              </a:ext>
            </a:extLst>
          </p:cNvPr>
          <p:cNvSpPr>
            <a:spLocks noGrp="1"/>
          </p:cNvSpPr>
          <p:nvPr>
            <p:ph type="body" sz="quarter" idx="29"/>
          </p:nvPr>
        </p:nvSpPr>
        <p:spPr>
          <a:xfrm>
            <a:off x="1345520" y="4721261"/>
            <a:ext cx="10175920" cy="641396"/>
          </a:xfrm>
        </p:spPr>
        <p:txBody>
          <a:bodyPr anchor="ctr"/>
          <a:lstStyle/>
          <a:p>
            <a:r>
              <a:rPr lang="en-US" sz="3600"/>
              <a:t>76</a:t>
            </a:r>
          </a:p>
        </p:txBody>
      </p:sp>
      <p:sp>
        <p:nvSpPr>
          <p:cNvPr id="11" name="D">
            <a:extLst>
              <a:ext uri="{FF2B5EF4-FFF2-40B4-BE49-F238E27FC236}">
                <a16:creationId xmlns:a16="http://schemas.microsoft.com/office/drawing/2014/main" id="{9B8955CE-78C1-2F30-7505-4CA44A86BDFF}"/>
              </a:ext>
            </a:extLst>
          </p:cNvPr>
          <p:cNvSpPr txBox="1"/>
          <p:nvPr/>
        </p:nvSpPr>
        <p:spPr>
          <a:xfrm>
            <a:off x="670558" y="569778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D3F4C1E5-AFB7-4898-29F3-EB98C6384093}"/>
              </a:ext>
            </a:extLst>
          </p:cNvPr>
          <p:cNvSpPr>
            <a:spLocks noGrp="1"/>
          </p:cNvSpPr>
          <p:nvPr>
            <p:ph type="body" sz="quarter" idx="27"/>
          </p:nvPr>
        </p:nvSpPr>
        <p:spPr>
          <a:xfrm>
            <a:off x="1308080" y="5673756"/>
            <a:ext cx="10175920" cy="641396"/>
          </a:xfrm>
        </p:spPr>
        <p:txBody>
          <a:bodyPr anchor="ctr"/>
          <a:lstStyle/>
          <a:p>
            <a:r>
              <a:rPr lang="en-US" sz="3600"/>
              <a:t>24</a:t>
            </a:r>
          </a:p>
        </p:txBody>
      </p:sp>
      <p:pic>
        <p:nvPicPr>
          <p:cNvPr id="4" name="Picture 3">
            <a:extLst>
              <a:ext uri="{FF2B5EF4-FFF2-40B4-BE49-F238E27FC236}">
                <a16:creationId xmlns:a16="http://schemas.microsoft.com/office/drawing/2014/main" id="{112D24DC-0614-F76C-9A4C-36E299EAFF5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A31263B-00F9-3026-CDD4-F14B3320EE4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8336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(9)</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
        <p:nvSpPr>
          <p:cNvPr id="4" name="TextBox 3">
            <a:extLst>
              <a:ext uri="{FF2B5EF4-FFF2-40B4-BE49-F238E27FC236}">
                <a16:creationId xmlns:a16="http://schemas.microsoft.com/office/drawing/2014/main" id="{CDEAC46F-830E-80F4-E75B-F7F7AF9AA90C}"/>
              </a:ext>
            </a:extLst>
          </p:cNvPr>
          <p:cNvSpPr txBox="1"/>
          <p:nvPr/>
        </p:nvSpPr>
        <p:spPr>
          <a:xfrm>
            <a:off x="360000" y="1358153"/>
            <a:ext cx="11483999" cy="2232212"/>
          </a:xfrm>
          <a:prstGeom prst="rect">
            <a:avLst/>
          </a:prstGeom>
          <a:noFill/>
        </p:spPr>
        <p:txBody>
          <a:bodyPr wrap="square" lIns="0" tIns="0" rIns="0" bIns="0" rtlCol="0">
            <a:noAutofit/>
          </a:bodyPr>
          <a:lstStyle/>
          <a:p>
            <a:pPr algn="l">
              <a:lnSpc>
                <a:spcPct val="150000"/>
              </a:lnSpc>
            </a:pPr>
            <a:r>
              <a:rPr lang="en-AU" sz="4400" b="1"/>
              <a:t>Record</a:t>
            </a:r>
            <a:r>
              <a:rPr lang="en-AU" sz="4400"/>
              <a:t> the following using </a:t>
            </a:r>
            <a:r>
              <a:rPr lang="en-AU" sz="4400" b="1"/>
              <a:t>decimal notation</a:t>
            </a:r>
            <a:r>
              <a:rPr lang="en-AU" sz="4400"/>
              <a:t>:</a:t>
            </a:r>
          </a:p>
          <a:p>
            <a:pPr marL="742950" indent="-742950" algn="l">
              <a:lnSpc>
                <a:spcPct val="150000"/>
              </a:lnSpc>
              <a:buFont typeface="+mj-lt"/>
              <a:buAutoNum type="alphaLcParenR"/>
            </a:pPr>
            <a:r>
              <a:rPr lang="en-AU" sz="4400"/>
              <a:t>754 thousandths</a:t>
            </a:r>
          </a:p>
          <a:p>
            <a:pPr marL="742950" indent="-742950" algn="l">
              <a:lnSpc>
                <a:spcPct val="150000"/>
              </a:lnSpc>
              <a:buFont typeface="+mj-lt"/>
              <a:buAutoNum type="alphaLcParenR"/>
            </a:pPr>
            <a:r>
              <a:rPr lang="en-AU" sz="4400"/>
              <a:t>609 thousandths</a:t>
            </a:r>
          </a:p>
          <a:p>
            <a:pPr marL="742950" indent="-742950" algn="l">
              <a:lnSpc>
                <a:spcPct val="150000"/>
              </a:lnSpc>
              <a:buFont typeface="+mj-lt"/>
              <a:buAutoNum type="alphaLcParenR"/>
            </a:pPr>
            <a:r>
              <a:rPr lang="en-AU" sz="4400"/>
              <a:t>980 thousandths</a:t>
            </a:r>
          </a:p>
          <a:p>
            <a:pPr marL="571500" indent="-571500" algn="l">
              <a:lnSpc>
                <a:spcPct val="150000"/>
              </a:lnSpc>
              <a:buFont typeface="Arial" panose="020B0604020202020204" pitchFamily="34" charset="0"/>
              <a:buChar char="•"/>
            </a:pPr>
            <a:endParaRPr lang="en-AU" sz="4400"/>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A4D4D-5D09-7371-4154-8E130DE6369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478559F-E797-5759-FA5B-2056496C4ED0}"/>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(10)3)</a:t>
            </a:r>
          </a:p>
        </p:txBody>
      </p:sp>
      <p:pic>
        <p:nvPicPr>
          <p:cNvPr id="3" name="Picture 2">
            <a:extLst>
              <a:ext uri="{FF2B5EF4-FFF2-40B4-BE49-F238E27FC236}">
                <a16:creationId xmlns:a16="http://schemas.microsoft.com/office/drawing/2014/main" id="{D00557B7-9FB3-CA8D-65C6-96B9D214822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832C0890-C3FE-9F21-7D72-BA2A66748151}"/>
              </a:ext>
            </a:extLst>
          </p:cNvPr>
          <p:cNvSpPr txBox="1"/>
          <p:nvPr/>
        </p:nvSpPr>
        <p:spPr>
          <a:xfrm>
            <a:off x="194949" y="1184223"/>
            <a:ext cx="4594645" cy="5183891"/>
          </a:xfrm>
          <a:prstGeom prst="rect">
            <a:avLst/>
          </a:prstGeom>
          <a:noFill/>
        </p:spPr>
        <p:txBody>
          <a:bodyPr wrap="square" lIns="0" tIns="0" rIns="0" bIns="0" rtlCol="0">
            <a:noAutofit/>
          </a:bodyPr>
          <a:lstStyle/>
          <a:p>
            <a:pPr algn="ctr">
              <a:lnSpc>
                <a:spcPct val="150000"/>
              </a:lnSpc>
            </a:pPr>
            <a:r>
              <a:rPr lang="en-AU" sz="4000" dirty="0"/>
              <a:t>Record the coordinates of:</a:t>
            </a:r>
          </a:p>
          <a:p>
            <a:pPr algn="ctr">
              <a:lnSpc>
                <a:spcPct val="200000"/>
              </a:lnSpc>
            </a:pPr>
            <a:r>
              <a:rPr lang="en-AU" sz="4000" dirty="0"/>
              <a:t> </a:t>
            </a:r>
          </a:p>
          <a:p>
            <a:pPr algn="l">
              <a:lnSpc>
                <a:spcPct val="150000"/>
              </a:lnSpc>
            </a:pPr>
            <a:endParaRPr lang="en-AU" sz="2800" dirty="0"/>
          </a:p>
          <a:p>
            <a:pPr algn="l"/>
            <a:endParaRPr lang="en-AU" sz="2000" dirty="0"/>
          </a:p>
        </p:txBody>
      </p:sp>
      <p:sp>
        <p:nvSpPr>
          <p:cNvPr id="10" name="TextBox 9">
            <a:extLst>
              <a:ext uri="{FF2B5EF4-FFF2-40B4-BE49-F238E27FC236}">
                <a16:creationId xmlns:a16="http://schemas.microsoft.com/office/drawing/2014/main" id="{0341DD60-6DA4-B17E-E091-A12C21CBA40D}"/>
              </a:ext>
            </a:extLst>
          </p:cNvPr>
          <p:cNvSpPr txBox="1"/>
          <p:nvPr/>
        </p:nvSpPr>
        <p:spPr>
          <a:xfrm>
            <a:off x="1758356" y="3001325"/>
            <a:ext cx="1292578" cy="1132426"/>
          </a:xfrm>
          <a:prstGeom prst="rect">
            <a:avLst/>
          </a:prstGeom>
          <a:noFill/>
        </p:spPr>
        <p:txBody>
          <a:bodyPr wrap="square">
            <a:spAutoFit/>
          </a:bodyPr>
          <a:lstStyle/>
          <a:p>
            <a:pPr algn="ctr">
              <a:lnSpc>
                <a:spcPct val="200000"/>
              </a:lnSpc>
            </a:pPr>
            <a:r>
              <a:rPr lang="en-AU" sz="4000" dirty="0"/>
              <a:t>a.</a:t>
            </a:r>
          </a:p>
        </p:txBody>
      </p:sp>
      <p:sp>
        <p:nvSpPr>
          <p:cNvPr id="7" name="Oval 6" descr="Blue circle">
            <a:extLst>
              <a:ext uri="{FF2B5EF4-FFF2-40B4-BE49-F238E27FC236}">
                <a16:creationId xmlns:a16="http://schemas.microsoft.com/office/drawing/2014/main" id="{713355DA-F713-1DF1-8247-63B83FA0B65A}"/>
              </a:ext>
            </a:extLst>
          </p:cNvPr>
          <p:cNvSpPr/>
          <p:nvPr/>
        </p:nvSpPr>
        <p:spPr>
          <a:xfrm>
            <a:off x="3050934" y="3690563"/>
            <a:ext cx="220006" cy="23375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TextBox 10">
            <a:extLst>
              <a:ext uri="{FF2B5EF4-FFF2-40B4-BE49-F238E27FC236}">
                <a16:creationId xmlns:a16="http://schemas.microsoft.com/office/drawing/2014/main" id="{91B41CE7-F351-A3E0-5BFB-2889F7B6E90D}"/>
              </a:ext>
            </a:extLst>
          </p:cNvPr>
          <p:cNvSpPr txBox="1"/>
          <p:nvPr/>
        </p:nvSpPr>
        <p:spPr>
          <a:xfrm>
            <a:off x="1758356" y="4133751"/>
            <a:ext cx="1292578" cy="1132426"/>
          </a:xfrm>
          <a:prstGeom prst="rect">
            <a:avLst/>
          </a:prstGeom>
          <a:noFill/>
        </p:spPr>
        <p:txBody>
          <a:bodyPr wrap="square">
            <a:spAutoFit/>
          </a:bodyPr>
          <a:lstStyle/>
          <a:p>
            <a:pPr algn="ctr">
              <a:lnSpc>
                <a:spcPct val="200000"/>
              </a:lnSpc>
            </a:pPr>
            <a:r>
              <a:rPr lang="en-AU" sz="4000" dirty="0"/>
              <a:t>b.</a:t>
            </a:r>
          </a:p>
        </p:txBody>
      </p:sp>
      <p:sp>
        <p:nvSpPr>
          <p:cNvPr id="8" name="Isosceles Triangle 7" descr="Red triangle">
            <a:extLst>
              <a:ext uri="{FF2B5EF4-FFF2-40B4-BE49-F238E27FC236}">
                <a16:creationId xmlns:a16="http://schemas.microsoft.com/office/drawing/2014/main" id="{C380072E-75F7-1C34-E578-276C61B868B3}"/>
              </a:ext>
            </a:extLst>
          </p:cNvPr>
          <p:cNvSpPr/>
          <p:nvPr/>
        </p:nvSpPr>
        <p:spPr>
          <a:xfrm>
            <a:off x="3050934" y="4851501"/>
            <a:ext cx="295633" cy="254382"/>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TextBox 17">
            <a:extLst>
              <a:ext uri="{FF2B5EF4-FFF2-40B4-BE49-F238E27FC236}">
                <a16:creationId xmlns:a16="http://schemas.microsoft.com/office/drawing/2014/main" id="{5C9A5A29-14D2-5D0F-006E-A34F21DB6D47}"/>
              </a:ext>
            </a:extLst>
          </p:cNvPr>
          <p:cNvSpPr txBox="1"/>
          <p:nvPr/>
        </p:nvSpPr>
        <p:spPr>
          <a:xfrm>
            <a:off x="1733569" y="5381145"/>
            <a:ext cx="1292578" cy="1132426"/>
          </a:xfrm>
          <a:prstGeom prst="rect">
            <a:avLst/>
          </a:prstGeom>
          <a:noFill/>
        </p:spPr>
        <p:txBody>
          <a:bodyPr wrap="square">
            <a:spAutoFit/>
          </a:bodyPr>
          <a:lstStyle/>
          <a:p>
            <a:pPr algn="ctr">
              <a:lnSpc>
                <a:spcPct val="200000"/>
              </a:lnSpc>
            </a:pPr>
            <a:r>
              <a:rPr lang="en-AU" sz="4000" dirty="0"/>
              <a:t>c.</a:t>
            </a:r>
          </a:p>
        </p:txBody>
      </p:sp>
      <p:sp>
        <p:nvSpPr>
          <p:cNvPr id="17" name="Sun 16" descr="Blue sun 3 point on x axis and -2 point on y axis.">
            <a:extLst>
              <a:ext uri="{FF2B5EF4-FFF2-40B4-BE49-F238E27FC236}">
                <a16:creationId xmlns:a16="http://schemas.microsoft.com/office/drawing/2014/main" id="{54129DD9-F854-D3F7-9873-5C6BF2FD47D8}"/>
              </a:ext>
            </a:extLst>
          </p:cNvPr>
          <p:cNvSpPr/>
          <p:nvPr/>
        </p:nvSpPr>
        <p:spPr>
          <a:xfrm>
            <a:off x="3050935" y="6062919"/>
            <a:ext cx="295633" cy="306266"/>
          </a:xfrm>
          <a:prstGeom prst="sun">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9" name="Group 18" descr="A Cartesian plan with grid lines. The x-axis is labelled -6 to 6, and y-axis is labelled -6 to 6.&#10;The circle is located on the horizontal axis -4 and the vertical axis -3. The triangle is located on the horizontal axis -3 and the vertical axis 5. The sun is on vertical axis 3 and horizontal axis -2.">
            <a:extLst>
              <a:ext uri="{FF2B5EF4-FFF2-40B4-BE49-F238E27FC236}">
                <a16:creationId xmlns:a16="http://schemas.microsoft.com/office/drawing/2014/main" id="{44EB8F17-5E8C-324A-78A1-B833D2452FCE}"/>
              </a:ext>
            </a:extLst>
          </p:cNvPr>
          <p:cNvGrpSpPr/>
          <p:nvPr/>
        </p:nvGrpSpPr>
        <p:grpSpPr>
          <a:xfrm>
            <a:off x="5290673" y="905601"/>
            <a:ext cx="5626100" cy="5610860"/>
            <a:chOff x="5290673" y="905601"/>
            <a:chExt cx="5626100" cy="5610860"/>
          </a:xfrm>
        </p:grpSpPr>
        <p:pic>
          <p:nvPicPr>
            <p:cNvPr id="4" name="Picture 3" descr="A Cartesian plan with grid lines. The x-axis is labelled -6 to 6, and y-axis is labelled -6 to 6.&#10;The circle is located on the horizontal axis -4 and the vertical axis -3. The triangle is located on the horizontal axis -3 and the vertical axis 5. The sun is on vertical axis 3 and horizontal axis -2.">
              <a:extLst>
                <a:ext uri="{FF2B5EF4-FFF2-40B4-BE49-F238E27FC236}">
                  <a16:creationId xmlns:a16="http://schemas.microsoft.com/office/drawing/2014/main" id="{6D247949-93ED-62F3-D3B3-1A6201DA5729}"/>
                </a:ext>
              </a:extLst>
            </p:cNvPr>
            <p:cNvPicPr>
              <a:picLocks noChangeAspect="1"/>
            </p:cNvPicPr>
            <p:nvPr/>
          </p:nvPicPr>
          <p:blipFill rotWithShape="1">
            <a:blip r:embed="rId4"/>
            <a:srcRect l="4853" t="-1" r="2797" b="3310"/>
            <a:stretch>
              <a:fillRect/>
            </a:stretch>
          </p:blipFill>
          <p:spPr bwMode="auto">
            <a:xfrm>
              <a:off x="5290673" y="905601"/>
              <a:ext cx="5626100" cy="5610860"/>
            </a:xfrm>
            <a:prstGeom prst="rect">
              <a:avLst/>
            </a:prstGeom>
            <a:ln>
              <a:no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sp>
          <p:nvSpPr>
            <p:cNvPr id="12" name="Oval 11" descr="Blue circle at -3 point on x axis and -4 point on y axis.">
              <a:extLst>
                <a:ext uri="{FF2B5EF4-FFF2-40B4-BE49-F238E27FC236}">
                  <a16:creationId xmlns:a16="http://schemas.microsoft.com/office/drawing/2014/main" id="{7E3EC945-E109-D880-033D-976B4A4F15BF}"/>
                </a:ext>
              </a:extLst>
            </p:cNvPr>
            <p:cNvSpPr/>
            <p:nvPr/>
          </p:nvSpPr>
          <p:spPr>
            <a:xfrm>
              <a:off x="6231212" y="4978692"/>
              <a:ext cx="220006" cy="23375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Isosceles Triangle 12" descr="Red triangle -3 point on x axis and 5 point on y axis.">
              <a:extLst>
                <a:ext uri="{FF2B5EF4-FFF2-40B4-BE49-F238E27FC236}">
                  <a16:creationId xmlns:a16="http://schemas.microsoft.com/office/drawing/2014/main" id="{40B50D70-F0D3-2C92-887E-1C2304F3E484}"/>
                </a:ext>
              </a:extLst>
            </p:cNvPr>
            <p:cNvSpPr/>
            <p:nvPr/>
          </p:nvSpPr>
          <p:spPr>
            <a:xfrm>
              <a:off x="6612784" y="1475310"/>
              <a:ext cx="295633" cy="254382"/>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Heart 13" descr="Blue heart -5 point on x axis and -2 point on y axis.">
              <a:extLst>
                <a:ext uri="{FF2B5EF4-FFF2-40B4-BE49-F238E27FC236}">
                  <a16:creationId xmlns:a16="http://schemas.microsoft.com/office/drawing/2014/main" id="{5488D695-7E05-9115-DB2A-021A1242F7A1}"/>
                </a:ext>
              </a:extLst>
            </p:cNvPr>
            <p:cNvSpPr/>
            <p:nvPr/>
          </p:nvSpPr>
          <p:spPr>
            <a:xfrm>
              <a:off x="7083734" y="5831797"/>
              <a:ext cx="213131" cy="231122"/>
            </a:xfrm>
            <a:prstGeom prst="hear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Smiley Face 14" descr="Pink smiley face -5 point on x axis and 2 point on y axis.">
              <a:extLst>
                <a:ext uri="{FF2B5EF4-FFF2-40B4-BE49-F238E27FC236}">
                  <a16:creationId xmlns:a16="http://schemas.microsoft.com/office/drawing/2014/main" id="{3CDC77BC-15D4-DF94-748E-8E806D88F474}"/>
                </a:ext>
              </a:extLst>
            </p:cNvPr>
            <p:cNvSpPr/>
            <p:nvPr/>
          </p:nvSpPr>
          <p:spPr>
            <a:xfrm>
              <a:off x="5798074" y="2808165"/>
              <a:ext cx="226882" cy="240462"/>
            </a:xfrm>
            <a:prstGeom prst="smileyFac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Sun 15" descr="Blue sun 3 point on x axis and -2 point on y axis.">
              <a:extLst>
                <a:ext uri="{FF2B5EF4-FFF2-40B4-BE49-F238E27FC236}">
                  <a16:creationId xmlns:a16="http://schemas.microsoft.com/office/drawing/2014/main" id="{E0F4B512-D453-4DBF-5110-9FC89BA6842E}"/>
                </a:ext>
              </a:extLst>
            </p:cNvPr>
            <p:cNvSpPr/>
            <p:nvPr/>
          </p:nvSpPr>
          <p:spPr>
            <a:xfrm>
              <a:off x="9207023" y="4510613"/>
              <a:ext cx="268132" cy="306266"/>
            </a:xfrm>
            <a:prstGeom prst="sun">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 name="Slide Number Placeholder 1">
            <a:extLst>
              <a:ext uri="{FF2B5EF4-FFF2-40B4-BE49-F238E27FC236}">
                <a16:creationId xmlns:a16="http://schemas.microsoft.com/office/drawing/2014/main" id="{0FA958DF-7EA4-13A1-4534-CD3C7E2975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Tree>
    <p:extLst>
      <p:ext uri="{BB962C8B-B14F-4D97-AF65-F5344CB8AC3E}">
        <p14:creationId xmlns:p14="http://schemas.microsoft.com/office/powerpoint/2010/main" val="3618988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(11)</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
        <p:nvSpPr>
          <p:cNvPr id="4" name="TextBox 3">
            <a:extLst>
              <a:ext uri="{FF2B5EF4-FFF2-40B4-BE49-F238E27FC236}">
                <a16:creationId xmlns:a16="http://schemas.microsoft.com/office/drawing/2014/main" id="{55C91069-BDEE-3473-0356-9334AE6F3D44}"/>
              </a:ext>
            </a:extLst>
          </p:cNvPr>
          <p:cNvSpPr txBox="1"/>
          <p:nvPr/>
        </p:nvSpPr>
        <p:spPr>
          <a:xfrm>
            <a:off x="934720" y="1513840"/>
            <a:ext cx="9792548" cy="1778000"/>
          </a:xfrm>
          <a:prstGeom prst="rect">
            <a:avLst/>
          </a:prstGeom>
          <a:noFill/>
        </p:spPr>
        <p:txBody>
          <a:bodyPr wrap="square" lIns="0" tIns="0" rIns="0" bIns="0" rtlCol="0">
            <a:noAutofit/>
          </a:bodyPr>
          <a:lstStyle/>
          <a:p>
            <a:pPr algn="ctr"/>
            <a:r>
              <a:rPr lang="en-AU" sz="4400" b="1"/>
              <a:t>Sketch</a:t>
            </a:r>
            <a:r>
              <a:rPr lang="en-AU" sz="4400"/>
              <a:t> this </a:t>
            </a:r>
            <a:r>
              <a:rPr lang="en-AU" sz="4400" b="1"/>
              <a:t>rectangular prism </a:t>
            </a:r>
            <a:r>
              <a:rPr lang="en-AU" sz="4400"/>
              <a:t>from its:</a:t>
            </a:r>
          </a:p>
          <a:p>
            <a:pPr algn="ctr"/>
            <a:endParaRPr lang="en-AU" sz="4400"/>
          </a:p>
          <a:p>
            <a:pPr marL="571500" indent="-571500">
              <a:lnSpc>
                <a:spcPct val="150000"/>
              </a:lnSpc>
              <a:buFont typeface="Arial" panose="020B0604020202020204" pitchFamily="34" charset="0"/>
              <a:buChar char="•"/>
            </a:pPr>
            <a:r>
              <a:rPr lang="en-AU" sz="4400"/>
              <a:t>top view</a:t>
            </a:r>
          </a:p>
          <a:p>
            <a:pPr marL="571500" indent="-571500">
              <a:lnSpc>
                <a:spcPct val="150000"/>
              </a:lnSpc>
              <a:buFont typeface="Arial" panose="020B0604020202020204" pitchFamily="34" charset="0"/>
              <a:buChar char="•"/>
            </a:pPr>
            <a:r>
              <a:rPr lang="en-AU" sz="4400"/>
              <a:t>side view</a:t>
            </a:r>
          </a:p>
        </p:txBody>
      </p:sp>
      <p:pic>
        <p:nvPicPr>
          <p:cNvPr id="7" name="Picture 6" descr="An image of a rectangular prism">
            <a:extLst>
              <a:ext uri="{FF2B5EF4-FFF2-40B4-BE49-F238E27FC236}">
                <a16:creationId xmlns:a16="http://schemas.microsoft.com/office/drawing/2014/main" id="{C200A452-9657-2077-BE59-BC3E485DD73F}"/>
              </a:ext>
            </a:extLst>
          </p:cNvPr>
          <p:cNvPicPr>
            <a:picLocks noChangeAspect="1"/>
          </p:cNvPicPr>
          <p:nvPr/>
        </p:nvPicPr>
        <p:blipFill>
          <a:blip r:embed="rId4"/>
          <a:stretch>
            <a:fillRect/>
          </a:stretch>
        </p:blipFill>
        <p:spPr>
          <a:xfrm>
            <a:off x="5774702" y="2722268"/>
            <a:ext cx="4574793" cy="2738906"/>
          </a:xfrm>
          <a:prstGeom prst="rect">
            <a:avLst/>
          </a:prstGeom>
        </p:spPr>
      </p:pic>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(12)</a:t>
            </a:r>
          </a:p>
        </p:txBody>
      </p:sp>
      <p:pic>
        <p:nvPicPr>
          <p:cNvPr id="3" name="Picture 2">
            <a:extLst>
              <a:ext uri="{FF2B5EF4-FFF2-40B4-BE49-F238E27FC236}">
                <a16:creationId xmlns:a16="http://schemas.microsoft.com/office/drawing/2014/main" id="{4F225E6B-742A-E393-5D68-B394EB858BA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
        <p:nvSpPr>
          <p:cNvPr id="4" name="TextBox 3">
            <a:extLst>
              <a:ext uri="{FF2B5EF4-FFF2-40B4-BE49-F238E27FC236}">
                <a16:creationId xmlns:a16="http://schemas.microsoft.com/office/drawing/2014/main" id="{569B87E1-6689-0BF6-FEFE-27535616DCD8}"/>
              </a:ext>
            </a:extLst>
          </p:cNvPr>
          <p:cNvSpPr txBox="1"/>
          <p:nvPr/>
        </p:nvSpPr>
        <p:spPr>
          <a:xfrm>
            <a:off x="812980" y="1068513"/>
            <a:ext cx="11031020" cy="1787703"/>
          </a:xfrm>
          <a:prstGeom prst="rect">
            <a:avLst/>
          </a:prstGeom>
          <a:noFill/>
        </p:spPr>
        <p:txBody>
          <a:bodyPr wrap="square" lIns="0" tIns="0" rIns="0" bIns="0" rtlCol="0">
            <a:noAutofit/>
          </a:bodyPr>
          <a:lstStyle/>
          <a:p>
            <a:pPr algn="ctr">
              <a:lnSpc>
                <a:spcPct val="150000"/>
              </a:lnSpc>
            </a:pPr>
            <a:r>
              <a:rPr lang="en-AU" sz="4400"/>
              <a:t>Use </a:t>
            </a:r>
            <a:r>
              <a:rPr lang="en-AU" sz="4400" b="1"/>
              <a:t>decimal notation </a:t>
            </a:r>
            <a:r>
              <a:rPr lang="en-AU" sz="4400"/>
              <a:t>to complete the following:</a:t>
            </a:r>
          </a:p>
          <a:p>
            <a:pPr algn="ctr">
              <a:lnSpc>
                <a:spcPct val="150000"/>
              </a:lnSpc>
            </a:pPr>
            <a:r>
              <a:rPr lang="en-AU" sz="4400"/>
              <a:t>3400 </a:t>
            </a:r>
            <a:r>
              <a:rPr lang="en-AU" sz="4400" b="1"/>
              <a:t>m</a:t>
            </a:r>
            <a:r>
              <a:rPr lang="en-AU" sz="4400"/>
              <a:t> is _____ </a:t>
            </a:r>
            <a:r>
              <a:rPr lang="en-AU" sz="4400" b="1"/>
              <a:t>km</a:t>
            </a:r>
          </a:p>
          <a:p>
            <a:pPr algn="ctr">
              <a:lnSpc>
                <a:spcPct val="150000"/>
              </a:lnSpc>
            </a:pPr>
            <a:endParaRPr lang="en-AU" sz="4400"/>
          </a:p>
          <a:p>
            <a:pPr algn="ctr">
              <a:lnSpc>
                <a:spcPct val="150000"/>
              </a:lnSpc>
            </a:pPr>
            <a:r>
              <a:rPr lang="en-AU" sz="4400"/>
              <a:t>7900 </a:t>
            </a:r>
            <a:r>
              <a:rPr lang="en-AU" sz="4400" b="1"/>
              <a:t>m</a:t>
            </a:r>
            <a:r>
              <a:rPr lang="en-AU" sz="4400"/>
              <a:t> is ____ </a:t>
            </a:r>
            <a:r>
              <a:rPr lang="en-AU" sz="4400" b="1"/>
              <a:t>km.</a:t>
            </a:r>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multiply and divide</a:t>
            </a:r>
          </a:p>
        </p:txBody>
      </p:sp>
      <p:pic>
        <p:nvPicPr>
          <p:cNvPr id="4" name="Picture 3">
            <a:extLst>
              <a:ext uri="{FF2B5EF4-FFF2-40B4-BE49-F238E27FC236}">
                <a16:creationId xmlns:a16="http://schemas.microsoft.com/office/drawing/2014/main" id="{296D4226-C1D0-BEBB-1948-F7CDF78884C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pic>
        <p:nvPicPr>
          <p:cNvPr id="3" name="Picture 2" descr="An equation with missing numbers. It shows (blank) times (blank) equals a 2 digit (blank) divided by (blank).">
            <a:extLst>
              <a:ext uri="{FF2B5EF4-FFF2-40B4-BE49-F238E27FC236}">
                <a16:creationId xmlns:a16="http://schemas.microsoft.com/office/drawing/2014/main" id="{DB24A2C3-3B12-2C66-0C0D-F1311C8A5D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5830" y="2659155"/>
            <a:ext cx="10264593" cy="1539689"/>
          </a:xfrm>
          <a:prstGeom prst="rect">
            <a:avLst/>
          </a:prstGeom>
        </p:spPr>
      </p:pic>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(2)</a:t>
            </a:r>
          </a:p>
        </p:txBody>
      </p:sp>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p:txBody>
          <a:bodyPr/>
          <a:lstStyle/>
          <a:p>
            <a:pPr algn="ctr"/>
            <a:r>
              <a:rPr lang="en-AU" sz="5400"/>
              <a:t>8 x 4 = 32 </a:t>
            </a:r>
            <a:r>
              <a:rPr lang="en-US" sz="5400"/>
              <a:t>÷ 2</a:t>
            </a:r>
            <a:endParaRPr lang="en-AU" sz="5400"/>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1250220763"/>
              </p:ext>
            </p:extLst>
          </p:nvPr>
        </p:nvGraphicFramePr>
        <p:xfrm>
          <a:off x="2442980" y="4338829"/>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
        <p:nvSpPr>
          <p:cNvPr id="7" name="TextBox 6">
            <a:extLst>
              <a:ext uri="{FF2B5EF4-FFF2-40B4-BE49-F238E27FC236}">
                <a16:creationId xmlns:a16="http://schemas.microsoft.com/office/drawing/2014/main" id="{FF068CB7-A43B-77AF-AB90-C3486C698779}"/>
              </a:ext>
            </a:extLst>
          </p:cNvPr>
          <p:cNvSpPr txBox="1"/>
          <p:nvPr/>
        </p:nvSpPr>
        <p:spPr>
          <a:xfrm>
            <a:off x="1781645" y="5377953"/>
            <a:ext cx="8399745" cy="982513"/>
          </a:xfrm>
          <a:prstGeom prst="rect">
            <a:avLst/>
          </a:prstGeom>
          <a:noFill/>
        </p:spPr>
        <p:txBody>
          <a:bodyPr wrap="square">
            <a:spAutoFit/>
          </a:bodyPr>
          <a:lstStyle/>
          <a:p>
            <a:pPr algn="ctr">
              <a:lnSpc>
                <a:spcPct val="150000"/>
              </a:lnSpc>
            </a:pPr>
            <a:r>
              <a:rPr lang="en-US" sz="4400" b="1">
                <a:cs typeface="Arial" panose="020B0604020202020204"/>
              </a:rPr>
              <a:t>Communicate </a:t>
            </a:r>
            <a:r>
              <a:rPr lang="en-US" sz="4400">
                <a:cs typeface="Arial" panose="020B0604020202020204"/>
              </a:rPr>
              <a:t>your</a:t>
            </a:r>
            <a:r>
              <a:rPr lang="en-US" sz="4400" b="1">
                <a:cs typeface="Arial" panose="020B0604020202020204"/>
              </a:rPr>
              <a:t> reasoning.</a:t>
            </a:r>
            <a:endParaRPr lang="en-US" sz="4400">
              <a:cs typeface="Arial" panose="020B0604020202020204"/>
            </a:endParaRPr>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(13)</a:t>
            </a:r>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
        <p:nvSpPr>
          <p:cNvPr id="4" name="TextBox 3">
            <a:extLst>
              <a:ext uri="{FF2B5EF4-FFF2-40B4-BE49-F238E27FC236}">
                <a16:creationId xmlns:a16="http://schemas.microsoft.com/office/drawing/2014/main" id="{29771484-96E2-95BC-A51A-42238E4E6267}"/>
              </a:ext>
            </a:extLst>
          </p:cNvPr>
          <p:cNvSpPr txBox="1"/>
          <p:nvPr/>
        </p:nvSpPr>
        <p:spPr>
          <a:xfrm>
            <a:off x="2437504" y="2132319"/>
            <a:ext cx="7954976" cy="1492624"/>
          </a:xfrm>
          <a:prstGeom prst="rect">
            <a:avLst/>
          </a:prstGeom>
          <a:noFill/>
        </p:spPr>
        <p:txBody>
          <a:bodyPr wrap="square" lIns="0" tIns="0" rIns="0" bIns="0" rtlCol="0">
            <a:noAutofit/>
          </a:bodyPr>
          <a:lstStyle/>
          <a:p>
            <a:pPr algn="ctr">
              <a:lnSpc>
                <a:spcPct val="150000"/>
              </a:lnSpc>
            </a:pPr>
            <a:r>
              <a:rPr lang="en-AU" sz="4400" b="1"/>
              <a:t>Calculate</a:t>
            </a:r>
            <a:r>
              <a:rPr lang="en-AU" sz="4400"/>
              <a:t> </a:t>
            </a:r>
            <a:r>
              <a:rPr lang="en-AU" sz="4400" b="1"/>
              <a:t>10% </a:t>
            </a:r>
            <a:r>
              <a:rPr lang="en-AU" sz="4400"/>
              <a:t>of 350.</a:t>
            </a:r>
          </a:p>
          <a:p>
            <a:pPr algn="ctr">
              <a:lnSpc>
                <a:spcPct val="150000"/>
              </a:lnSpc>
            </a:pPr>
            <a:endParaRPr lang="en-US" sz="4400" b="1">
              <a:cs typeface="Arial" panose="020B0604020202020204"/>
            </a:endParaRPr>
          </a:p>
          <a:p>
            <a:pPr algn="ctr">
              <a:lnSpc>
                <a:spcPct val="150000"/>
              </a:lnSpc>
            </a:pPr>
            <a:r>
              <a:rPr lang="en-US" sz="4400" b="1">
                <a:cs typeface="Arial" panose="020B0604020202020204"/>
              </a:rPr>
              <a:t>Communicate </a:t>
            </a:r>
            <a:r>
              <a:rPr lang="en-US" sz="4400">
                <a:cs typeface="Arial" panose="020B0604020202020204"/>
              </a:rPr>
              <a:t>your</a:t>
            </a:r>
            <a:r>
              <a:rPr lang="en-US" sz="4400" b="1">
                <a:cs typeface="Arial" panose="020B0604020202020204"/>
              </a:rPr>
              <a:t> reasoning.</a:t>
            </a:r>
            <a:endParaRPr lang="en-US" sz="4400">
              <a:cs typeface="Arial" panose="020B0604020202020204"/>
            </a:endParaRPr>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(14)</a:t>
            </a:r>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
        <p:nvSpPr>
          <p:cNvPr id="4" name="TextBox 3">
            <a:extLst>
              <a:ext uri="{FF2B5EF4-FFF2-40B4-BE49-F238E27FC236}">
                <a16:creationId xmlns:a16="http://schemas.microsoft.com/office/drawing/2014/main" id="{41C2EA2B-82C2-F9C3-53AB-90F7929DFF09}"/>
              </a:ext>
            </a:extLst>
          </p:cNvPr>
          <p:cNvSpPr txBox="1"/>
          <p:nvPr/>
        </p:nvSpPr>
        <p:spPr>
          <a:xfrm>
            <a:off x="605129" y="1240807"/>
            <a:ext cx="5216711" cy="450257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000" dirty="0">
                <a:cs typeface="Arial"/>
              </a:rPr>
              <a:t>Identify whether</a:t>
            </a:r>
          </a:p>
          <a:p>
            <a:pPr algn="ctr">
              <a:lnSpc>
                <a:spcPct val="150000"/>
              </a:lnSpc>
            </a:pPr>
            <a:r>
              <a:rPr lang="en-US" sz="4000" dirty="0">
                <a:cs typeface="Arial"/>
              </a:rPr>
              <a:t> this is a</a:t>
            </a:r>
          </a:p>
          <a:p>
            <a:pPr algn="ctr">
              <a:lnSpc>
                <a:spcPct val="150000"/>
              </a:lnSpc>
            </a:pPr>
            <a:r>
              <a:rPr lang="en-US" sz="4000" dirty="0">
                <a:cs typeface="Arial"/>
              </a:rPr>
              <a:t> </a:t>
            </a:r>
            <a:r>
              <a:rPr lang="en-US" sz="4000" b="1" dirty="0">
                <a:cs typeface="Arial"/>
              </a:rPr>
              <a:t>right angle</a:t>
            </a:r>
            <a:r>
              <a:rPr lang="en-US" sz="4000" dirty="0">
                <a:cs typeface="Arial"/>
              </a:rPr>
              <a:t>, an </a:t>
            </a:r>
            <a:r>
              <a:rPr lang="en-US" sz="4000" b="1" dirty="0">
                <a:cs typeface="Arial"/>
              </a:rPr>
              <a:t>angle</a:t>
            </a:r>
            <a:r>
              <a:rPr lang="en-US" sz="4000" dirty="0">
                <a:cs typeface="Arial"/>
              </a:rPr>
              <a:t> </a:t>
            </a:r>
            <a:r>
              <a:rPr lang="en-US" sz="4000" b="1" dirty="0">
                <a:cs typeface="Arial"/>
              </a:rPr>
              <a:t>on a straight line </a:t>
            </a:r>
            <a:r>
              <a:rPr lang="en-US" sz="4000" dirty="0">
                <a:cs typeface="Arial"/>
              </a:rPr>
              <a:t>or an </a:t>
            </a:r>
            <a:r>
              <a:rPr lang="en-US" sz="4000" b="1" dirty="0">
                <a:cs typeface="Arial"/>
              </a:rPr>
              <a:t>angle at a point</a:t>
            </a:r>
            <a:r>
              <a:rPr lang="en-US" sz="4000" dirty="0">
                <a:cs typeface="Arial"/>
              </a:rPr>
              <a:t>.</a:t>
            </a:r>
          </a:p>
        </p:txBody>
      </p:sp>
      <p:pic>
        <p:nvPicPr>
          <p:cNvPr id="10" name="Picture 9" descr="A geometric pattern made from connected line segments and coloured sections. A red arrow and red curved arc mark an angle near the centre of the image. The angle is formed where 2 black line segments meet.">
            <a:extLst>
              <a:ext uri="{FF2B5EF4-FFF2-40B4-BE49-F238E27FC236}">
                <a16:creationId xmlns:a16="http://schemas.microsoft.com/office/drawing/2014/main" id="{A44DB6B2-CA68-6B13-C438-919B9295D5DB}"/>
              </a:ext>
            </a:extLst>
          </p:cNvPr>
          <p:cNvPicPr>
            <a:picLocks noChangeAspect="1"/>
          </p:cNvPicPr>
          <p:nvPr/>
        </p:nvPicPr>
        <p:blipFill>
          <a:blip r:embed="rId4">
            <a:extLst>
              <a:ext uri="{28A0092B-C50C-407E-A947-70E740481C1C}">
                <a14:useLocalDpi xmlns:a14="http://schemas.microsoft.com/office/drawing/2010/main" val="0"/>
              </a:ext>
            </a:extLst>
          </a:blip>
          <a:srcRect l="6016" t="7564" r="47532" b="11836"/>
          <a:stretch>
            <a:fillRect/>
          </a:stretch>
        </p:blipFill>
        <p:spPr>
          <a:xfrm>
            <a:off x="6370161" y="726473"/>
            <a:ext cx="4508711" cy="553124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(15)</a:t>
            </a:r>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
        <p:nvSpPr>
          <p:cNvPr id="4" name="TextBox 3">
            <a:extLst>
              <a:ext uri="{FF2B5EF4-FFF2-40B4-BE49-F238E27FC236}">
                <a16:creationId xmlns:a16="http://schemas.microsoft.com/office/drawing/2014/main" id="{15F64DC1-ED71-09A2-6B14-397E5311D4F5}"/>
              </a:ext>
            </a:extLst>
          </p:cNvPr>
          <p:cNvSpPr txBox="1"/>
          <p:nvPr/>
        </p:nvSpPr>
        <p:spPr>
          <a:xfrm>
            <a:off x="913362" y="1184223"/>
            <a:ext cx="10729346" cy="1844040"/>
          </a:xfrm>
          <a:prstGeom prst="rect">
            <a:avLst/>
          </a:prstGeom>
          <a:noFill/>
        </p:spPr>
        <p:txBody>
          <a:bodyPr wrap="square" lIns="0" tIns="0" rIns="0" bIns="0" rtlCol="0">
            <a:noAutofit/>
          </a:bodyPr>
          <a:lstStyle/>
          <a:p>
            <a:pPr algn="ctr">
              <a:lnSpc>
                <a:spcPct val="150000"/>
              </a:lnSpc>
            </a:pPr>
            <a:r>
              <a:rPr lang="en-AU" sz="4400"/>
              <a:t>I am a </a:t>
            </a:r>
            <a:r>
              <a:rPr lang="en-AU" sz="4400" b="1"/>
              <a:t>three-dimensional object . </a:t>
            </a:r>
          </a:p>
          <a:p>
            <a:pPr algn="ctr">
              <a:lnSpc>
                <a:spcPct val="150000"/>
              </a:lnSpc>
            </a:pPr>
            <a:r>
              <a:rPr lang="en-AU" sz="4400"/>
              <a:t>I have a </a:t>
            </a:r>
            <a:r>
              <a:rPr lang="en-AU" sz="4400" b="1"/>
              <a:t>triangle base. </a:t>
            </a:r>
          </a:p>
          <a:p>
            <a:pPr algn="ctr">
              <a:lnSpc>
                <a:spcPct val="150000"/>
              </a:lnSpc>
            </a:pPr>
            <a:r>
              <a:rPr lang="en-AU" sz="4400"/>
              <a:t>I have </a:t>
            </a:r>
            <a:r>
              <a:rPr lang="en-AU" sz="4400" b="1"/>
              <a:t>4 faces.</a:t>
            </a:r>
          </a:p>
          <a:p>
            <a:pPr algn="ctr">
              <a:lnSpc>
                <a:spcPct val="150000"/>
              </a:lnSpc>
            </a:pPr>
            <a:endParaRPr lang="en-AU" sz="4400"/>
          </a:p>
          <a:p>
            <a:pPr algn="ctr">
              <a:lnSpc>
                <a:spcPct val="150000"/>
              </a:lnSpc>
            </a:pPr>
            <a:r>
              <a:rPr lang="en-AU" sz="4400"/>
              <a:t>What am I?</a:t>
            </a:r>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(16)</a:t>
            </a:r>
          </a:p>
        </p:txBody>
      </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
        <p:nvSpPr>
          <p:cNvPr id="21" name="TextBox 20">
            <a:extLst>
              <a:ext uri="{FF2B5EF4-FFF2-40B4-BE49-F238E27FC236}">
                <a16:creationId xmlns:a16="http://schemas.microsoft.com/office/drawing/2014/main" id="{DAC5B46D-A651-A6B6-CCA0-5CA69B102127}"/>
              </a:ext>
            </a:extLst>
          </p:cNvPr>
          <p:cNvSpPr txBox="1"/>
          <p:nvPr/>
        </p:nvSpPr>
        <p:spPr>
          <a:xfrm>
            <a:off x="2174470" y="1095464"/>
            <a:ext cx="8112267" cy="646331"/>
          </a:xfrm>
          <a:prstGeom prst="rect">
            <a:avLst/>
          </a:prstGeom>
          <a:noFill/>
        </p:spPr>
        <p:txBody>
          <a:bodyPr wrap="square">
            <a:spAutoFit/>
          </a:bodyPr>
          <a:lstStyle/>
          <a:p>
            <a:r>
              <a:rPr lang="en-AU" sz="3600" dirty="0"/>
              <a:t>These</a:t>
            </a:r>
            <a:r>
              <a:rPr lang="en-AU" sz="3600" b="1" dirty="0"/>
              <a:t> eight balls </a:t>
            </a:r>
            <a:r>
              <a:rPr lang="en-AU" sz="3600" dirty="0"/>
              <a:t>are placed in a bag. </a:t>
            </a:r>
          </a:p>
        </p:txBody>
      </p:sp>
      <p:sp>
        <p:nvSpPr>
          <p:cNvPr id="8" name="TextBox 7">
            <a:extLst>
              <a:ext uri="{FF2B5EF4-FFF2-40B4-BE49-F238E27FC236}">
                <a16:creationId xmlns:a16="http://schemas.microsoft.com/office/drawing/2014/main" id="{03DFB899-7220-1FFE-B210-88F4D2ECE69D}"/>
              </a:ext>
            </a:extLst>
          </p:cNvPr>
          <p:cNvSpPr txBox="1"/>
          <p:nvPr/>
        </p:nvSpPr>
        <p:spPr>
          <a:xfrm>
            <a:off x="315043" y="4314044"/>
            <a:ext cx="11831120" cy="821932"/>
          </a:xfrm>
          <a:prstGeom prst="rect">
            <a:avLst/>
          </a:prstGeom>
          <a:noFill/>
        </p:spPr>
        <p:txBody>
          <a:bodyPr wrap="square" lIns="0" tIns="0" rIns="0" bIns="0" rtlCol="0" anchor="t">
            <a:noAutofit/>
          </a:bodyPr>
          <a:lstStyle/>
          <a:p>
            <a:pPr algn="ctr">
              <a:lnSpc>
                <a:spcPct val="150000"/>
              </a:lnSpc>
            </a:pPr>
            <a:r>
              <a:rPr lang="en-AU" sz="3600" b="1"/>
              <a:t>One ball </a:t>
            </a:r>
            <a:r>
              <a:rPr lang="en-AU" sz="3600"/>
              <a:t>is selected from the bag.</a:t>
            </a:r>
          </a:p>
          <a:p>
            <a:pPr>
              <a:lnSpc>
                <a:spcPct val="150000"/>
              </a:lnSpc>
            </a:pPr>
            <a:r>
              <a:rPr lang="en-AU" sz="3600"/>
              <a:t>​Record the </a:t>
            </a:r>
            <a:r>
              <a:rPr lang="en-AU" sz="3600" b="1"/>
              <a:t>probability</a:t>
            </a:r>
            <a:r>
              <a:rPr lang="en-AU" sz="3600"/>
              <a:t> of each outcome using a </a:t>
            </a:r>
            <a:r>
              <a:rPr lang="en-AU" sz="3600" b="1"/>
              <a:t>fraction</a:t>
            </a:r>
            <a:r>
              <a:rPr lang="en-AU" sz="4400"/>
              <a:t>.</a:t>
            </a:r>
          </a:p>
          <a:p>
            <a:pPr>
              <a:lnSpc>
                <a:spcPct val="150000"/>
              </a:lnSpc>
            </a:pPr>
            <a:endParaRPr lang="en-AU" sz="4400"/>
          </a:p>
        </p:txBody>
      </p:sp>
      <p:grpSp>
        <p:nvGrpSpPr>
          <p:cNvPr id="4" name="Group 3" descr="8 coloured balls - 2 red, 2 purple, 3 blue and 1 yellow.">
            <a:extLst>
              <a:ext uri="{FF2B5EF4-FFF2-40B4-BE49-F238E27FC236}">
                <a16:creationId xmlns:a16="http://schemas.microsoft.com/office/drawing/2014/main" id="{057E894D-DAA8-78C8-AF51-9D54CDCFC385}"/>
              </a:ext>
            </a:extLst>
          </p:cNvPr>
          <p:cNvGrpSpPr/>
          <p:nvPr/>
        </p:nvGrpSpPr>
        <p:grpSpPr>
          <a:xfrm>
            <a:off x="2456944" y="2201005"/>
            <a:ext cx="8459047" cy="2003569"/>
            <a:chOff x="2456944" y="2201005"/>
            <a:chExt cx="8459047" cy="2003569"/>
          </a:xfrm>
        </p:grpSpPr>
        <p:grpSp>
          <p:nvGrpSpPr>
            <p:cNvPr id="9" name="Group 8">
              <a:extLst>
                <a:ext uri="{FF2B5EF4-FFF2-40B4-BE49-F238E27FC236}">
                  <a16:creationId xmlns:a16="http://schemas.microsoft.com/office/drawing/2014/main" id="{C2616CBB-3A96-1372-CECE-0FC97C32F243}"/>
                </a:ext>
              </a:extLst>
            </p:cNvPr>
            <p:cNvGrpSpPr/>
            <p:nvPr/>
          </p:nvGrpSpPr>
          <p:grpSpPr>
            <a:xfrm>
              <a:off x="2456944" y="2359875"/>
              <a:ext cx="8459047" cy="1844699"/>
              <a:chOff x="1650820" y="4510679"/>
              <a:chExt cx="9379656" cy="2226767"/>
            </a:xfrm>
          </p:grpSpPr>
          <p:sp>
            <p:nvSpPr>
              <p:cNvPr id="10" name="Freeform 2" descr="Red ball">
                <a:extLst>
                  <a:ext uri="{FF2B5EF4-FFF2-40B4-BE49-F238E27FC236}">
                    <a16:creationId xmlns:a16="http://schemas.microsoft.com/office/drawing/2014/main" id="{FDE8C6E6-71B1-2AEF-282B-FDC9C7CD2D22}"/>
                  </a:ext>
                </a:extLst>
              </p:cNvPr>
              <p:cNvSpPr/>
              <p:nvPr/>
            </p:nvSpPr>
            <p:spPr>
              <a:xfrm>
                <a:off x="1650820" y="4985800"/>
                <a:ext cx="998182" cy="998182"/>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1" name="Freeform 2" descr="Red ball">
                <a:extLst>
                  <a:ext uri="{FF2B5EF4-FFF2-40B4-BE49-F238E27FC236}">
                    <a16:creationId xmlns:a16="http://schemas.microsoft.com/office/drawing/2014/main" id="{BB269AAB-EF5D-4EF5-3397-1A51937EB508}"/>
                  </a:ext>
                </a:extLst>
              </p:cNvPr>
              <p:cNvSpPr/>
              <p:nvPr/>
            </p:nvSpPr>
            <p:spPr>
              <a:xfrm>
                <a:off x="2833547" y="5739264"/>
                <a:ext cx="998182" cy="998182"/>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2" name="Freeform 3" descr="Purple ball">
                <a:extLst>
                  <a:ext uri="{FF2B5EF4-FFF2-40B4-BE49-F238E27FC236}">
                    <a16:creationId xmlns:a16="http://schemas.microsoft.com/office/drawing/2014/main" id="{BE503858-976F-A64D-17A1-11D997AF3E7E}"/>
                  </a:ext>
                </a:extLst>
              </p:cNvPr>
              <p:cNvSpPr/>
              <p:nvPr/>
            </p:nvSpPr>
            <p:spPr>
              <a:xfrm>
                <a:off x="5084824" y="5591095"/>
                <a:ext cx="998182" cy="998182"/>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4" name="Freeform 3" descr="Purple ball">
                <a:extLst>
                  <a:ext uri="{FF2B5EF4-FFF2-40B4-BE49-F238E27FC236}">
                    <a16:creationId xmlns:a16="http://schemas.microsoft.com/office/drawing/2014/main" id="{2A4A5E0A-E384-86FE-B321-D069FCC3EFB6}"/>
                  </a:ext>
                </a:extLst>
              </p:cNvPr>
              <p:cNvSpPr/>
              <p:nvPr/>
            </p:nvSpPr>
            <p:spPr>
              <a:xfrm>
                <a:off x="6446186" y="5739264"/>
                <a:ext cx="998182" cy="998182"/>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5" name="Freeform 4" descr="Blue ball">
                <a:extLst>
                  <a:ext uri="{FF2B5EF4-FFF2-40B4-BE49-F238E27FC236}">
                    <a16:creationId xmlns:a16="http://schemas.microsoft.com/office/drawing/2014/main" id="{44CE1B57-63C0-EF07-A8FA-2C9E8BF17348}"/>
                  </a:ext>
                </a:extLst>
              </p:cNvPr>
              <p:cNvSpPr/>
              <p:nvPr/>
            </p:nvSpPr>
            <p:spPr>
              <a:xfrm>
                <a:off x="7444368" y="4510679"/>
                <a:ext cx="998182" cy="998182"/>
              </a:xfrm>
              <a:custGeom>
                <a:avLst/>
                <a:gdLst/>
                <a:ahLst/>
                <a:cxnLst/>
                <a:rect l="l" t="t" r="r" b="b"/>
                <a:pathLst>
                  <a:path w="2263518" h="2263518">
                    <a:moveTo>
                      <a:pt x="0" y="0"/>
                    </a:moveTo>
                    <a:lnTo>
                      <a:pt x="2263517" y="0"/>
                    </a:lnTo>
                    <a:lnTo>
                      <a:pt x="2263517" y="2263518"/>
                    </a:lnTo>
                    <a:lnTo>
                      <a:pt x="0" y="226351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6" name="Freeform 4" descr="Blue ball">
                <a:extLst>
                  <a:ext uri="{FF2B5EF4-FFF2-40B4-BE49-F238E27FC236}">
                    <a16:creationId xmlns:a16="http://schemas.microsoft.com/office/drawing/2014/main" id="{2681E60E-84D1-BCFD-72FB-63334F4AF0F3}"/>
                  </a:ext>
                </a:extLst>
              </p:cNvPr>
              <p:cNvSpPr/>
              <p:nvPr/>
            </p:nvSpPr>
            <p:spPr>
              <a:xfrm>
                <a:off x="9060643" y="5591095"/>
                <a:ext cx="998182" cy="998182"/>
              </a:xfrm>
              <a:custGeom>
                <a:avLst/>
                <a:gdLst/>
                <a:ahLst/>
                <a:cxnLst/>
                <a:rect l="l" t="t" r="r" b="b"/>
                <a:pathLst>
                  <a:path w="2263518" h="2263518">
                    <a:moveTo>
                      <a:pt x="0" y="0"/>
                    </a:moveTo>
                    <a:lnTo>
                      <a:pt x="2263517" y="0"/>
                    </a:lnTo>
                    <a:lnTo>
                      <a:pt x="2263517" y="2263518"/>
                    </a:lnTo>
                    <a:lnTo>
                      <a:pt x="0" y="226351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sp>
            <p:nvSpPr>
              <p:cNvPr id="17" name="Freeform 5" descr="Yellow ball">
                <a:extLst>
                  <a:ext uri="{FF2B5EF4-FFF2-40B4-BE49-F238E27FC236}">
                    <a16:creationId xmlns:a16="http://schemas.microsoft.com/office/drawing/2014/main" id="{6885021B-9095-20AB-19C2-3DB4FB77A323}"/>
                  </a:ext>
                </a:extLst>
              </p:cNvPr>
              <p:cNvSpPr/>
              <p:nvPr/>
            </p:nvSpPr>
            <p:spPr>
              <a:xfrm>
                <a:off x="10032294" y="4592913"/>
                <a:ext cx="998182" cy="998182"/>
              </a:xfrm>
              <a:custGeom>
                <a:avLst/>
                <a:gdLst/>
                <a:ahLst/>
                <a:cxnLst/>
                <a:rect l="l" t="t" r="r" b="b"/>
                <a:pathLst>
                  <a:path w="2263518" h="2263518">
                    <a:moveTo>
                      <a:pt x="0" y="0"/>
                    </a:moveTo>
                    <a:lnTo>
                      <a:pt x="2263518" y="0"/>
                    </a:lnTo>
                    <a:lnTo>
                      <a:pt x="2263518" y="2263518"/>
                    </a:lnTo>
                    <a:lnTo>
                      <a:pt x="0" y="2263518"/>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grpSp>
        <p:sp>
          <p:nvSpPr>
            <p:cNvPr id="20" name="Freeform 4" descr="Blue ball">
              <a:extLst>
                <a:ext uri="{FF2B5EF4-FFF2-40B4-BE49-F238E27FC236}">
                  <a16:creationId xmlns:a16="http://schemas.microsoft.com/office/drawing/2014/main" id="{CA4C99BA-6AC9-17AA-ACBE-9F7F28A40017}"/>
                </a:ext>
              </a:extLst>
            </p:cNvPr>
            <p:cNvSpPr/>
            <p:nvPr/>
          </p:nvSpPr>
          <p:spPr>
            <a:xfrm>
              <a:off x="6416013" y="2201005"/>
              <a:ext cx="900211" cy="826914"/>
            </a:xfrm>
            <a:custGeom>
              <a:avLst/>
              <a:gdLst/>
              <a:ahLst/>
              <a:cxnLst/>
              <a:rect l="l" t="t" r="r" b="b"/>
              <a:pathLst>
                <a:path w="2263518" h="2263518">
                  <a:moveTo>
                    <a:pt x="0" y="0"/>
                  </a:moveTo>
                  <a:lnTo>
                    <a:pt x="2263517" y="0"/>
                  </a:lnTo>
                  <a:lnTo>
                    <a:pt x="2263517" y="2263518"/>
                  </a:lnTo>
                  <a:lnTo>
                    <a:pt x="0" y="226351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endParaRPr lang="en-AU"/>
            </a:p>
          </p:txBody>
        </p:sp>
      </p:gr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8E46C-98C4-3CD1-60B6-F012B441EE6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2302D41-4957-13F1-2DEE-3BD5598A8713}"/>
              </a:ext>
            </a:extLst>
          </p:cNvPr>
          <p:cNvSpPr>
            <a:spLocks noGrp="1"/>
          </p:cNvSpPr>
          <p:nvPr>
            <p:ph type="title"/>
          </p:nvPr>
        </p:nvSpPr>
        <p:spPr>
          <a:xfrm>
            <a:off x="360000" y="360000"/>
            <a:ext cx="10367268" cy="545601"/>
          </a:xfrm>
        </p:spPr>
        <p:txBody>
          <a:bodyPr/>
          <a:lstStyle/>
          <a:p>
            <a:r>
              <a:rPr lang="en-AU"/>
              <a:t>Activity 4 – find the area (1)</a:t>
            </a:r>
          </a:p>
        </p:txBody>
      </p:sp>
      <p:pic>
        <p:nvPicPr>
          <p:cNvPr id="4" name="Picture 3">
            <a:extLst>
              <a:ext uri="{FF2B5EF4-FFF2-40B4-BE49-F238E27FC236}">
                <a16:creationId xmlns:a16="http://schemas.microsoft.com/office/drawing/2014/main" id="{9D5CAE65-A84F-B26C-F30F-E90D471D7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835E1114-22B0-A9CB-CACF-E4471BA6115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
        <p:nvSpPr>
          <p:cNvPr id="5" name="TextBox 4">
            <a:extLst>
              <a:ext uri="{FF2B5EF4-FFF2-40B4-BE49-F238E27FC236}">
                <a16:creationId xmlns:a16="http://schemas.microsoft.com/office/drawing/2014/main" id="{0A93D4EA-6EAE-19C3-4048-DD5102AAA835}"/>
              </a:ext>
            </a:extLst>
          </p:cNvPr>
          <p:cNvSpPr txBox="1"/>
          <p:nvPr/>
        </p:nvSpPr>
        <p:spPr>
          <a:xfrm>
            <a:off x="729648" y="1433264"/>
            <a:ext cx="9627972" cy="4721998"/>
          </a:xfrm>
          <a:prstGeom prst="rect">
            <a:avLst/>
          </a:prstGeom>
          <a:noFill/>
        </p:spPr>
        <p:txBody>
          <a:bodyPr wrap="square">
            <a:spAutoFit/>
          </a:bodyPr>
          <a:lstStyle/>
          <a:p>
            <a:pPr lvl="0" algn="ctr">
              <a:lnSpc>
                <a:spcPct val="150000"/>
              </a:lnSpc>
              <a:spcBef>
                <a:spcPts val="1200"/>
              </a:spcBef>
              <a:spcAft>
                <a:spcPts val="600"/>
              </a:spcAft>
              <a:buSzPts val="1100"/>
            </a:pPr>
            <a:r>
              <a:rPr lang="en-AU" sz="4400">
                <a:effectLst/>
                <a:latin typeface="Arial" panose="020B0604020202020204" pitchFamily="34" charset="0"/>
                <a:ea typeface="Calibri" panose="020F0502020204030204" pitchFamily="34" charset="0"/>
              </a:rPr>
              <a:t>Joan wrote the number sentence:  </a:t>
            </a:r>
          </a:p>
          <a:p>
            <a:pPr lvl="0" algn="ctr">
              <a:lnSpc>
                <a:spcPct val="150000"/>
              </a:lnSpc>
              <a:spcBef>
                <a:spcPts val="1200"/>
              </a:spcBef>
              <a:spcAft>
                <a:spcPts val="600"/>
              </a:spcAft>
              <a:buSzPts val="1100"/>
            </a:pPr>
            <a:r>
              <a:rPr lang="en-AU" sz="4400">
                <a:effectLst/>
                <a:latin typeface="Arial" panose="020B0604020202020204" pitchFamily="34" charset="0"/>
                <a:ea typeface="Calibri" panose="020F0502020204030204" pitchFamily="34" charset="0"/>
              </a:rPr>
              <a:t>7 x 4 = 86 ÷ 3</a:t>
            </a:r>
          </a:p>
          <a:p>
            <a:pPr lvl="0" algn="ctr">
              <a:lnSpc>
                <a:spcPct val="150000"/>
              </a:lnSpc>
              <a:spcBef>
                <a:spcPts val="1200"/>
              </a:spcBef>
              <a:spcAft>
                <a:spcPts val="600"/>
              </a:spcAft>
              <a:buSzPts val="1100"/>
            </a:pPr>
            <a:r>
              <a:rPr lang="en-AU" sz="4400">
                <a:latin typeface="Arial" panose="020B0604020202020204" pitchFamily="34" charset="0"/>
                <a:ea typeface="Calibri" panose="020F0502020204030204" pitchFamily="34" charset="0"/>
              </a:rPr>
              <a:t>Is she </a:t>
            </a:r>
            <a:r>
              <a:rPr lang="en-AU" sz="4400" b="1">
                <a:latin typeface="Arial" panose="020B0604020202020204" pitchFamily="34" charset="0"/>
                <a:ea typeface="Calibri" panose="020F0502020204030204" pitchFamily="34" charset="0"/>
              </a:rPr>
              <a:t>correct or incorrect?</a:t>
            </a:r>
          </a:p>
          <a:p>
            <a:pPr algn="ctr">
              <a:lnSpc>
                <a:spcPct val="150000"/>
              </a:lnSpc>
            </a:pPr>
            <a:r>
              <a:rPr lang="en-US" sz="4400" b="1">
                <a:cs typeface="Arial" panose="020B0604020202020204"/>
              </a:rPr>
              <a:t>Communicate </a:t>
            </a:r>
            <a:r>
              <a:rPr lang="en-US" sz="4400">
                <a:cs typeface="Arial" panose="020B0604020202020204"/>
              </a:rPr>
              <a:t>your</a:t>
            </a:r>
            <a:r>
              <a:rPr lang="en-US" sz="4400" b="1">
                <a:cs typeface="Arial" panose="020B0604020202020204"/>
              </a:rPr>
              <a:t> reasoning.</a:t>
            </a:r>
            <a:endParaRPr lang="en-US" sz="4400">
              <a:cs typeface="Arial" panose="020B0604020202020204"/>
            </a:endParaRPr>
          </a:p>
        </p:txBody>
      </p:sp>
    </p:spTree>
    <p:extLst>
      <p:ext uri="{BB962C8B-B14F-4D97-AF65-F5344CB8AC3E}">
        <p14:creationId xmlns:p14="http://schemas.microsoft.com/office/powerpoint/2010/main" val="3169530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4997" y="240894"/>
            <a:ext cx="10367268" cy="545601"/>
          </a:xfrm>
        </p:spPr>
        <p:txBody>
          <a:bodyPr/>
          <a:lstStyle/>
          <a:p>
            <a:r>
              <a:rPr lang="en-AU">
                <a:latin typeface="Arial"/>
                <a:cs typeface="Arial"/>
              </a:rPr>
              <a:t>Activity 4 – find the area (2)</a:t>
            </a:r>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32</a:t>
            </a:fld>
            <a:endParaRPr lang="en-AU"/>
          </a:p>
        </p:txBody>
      </p:sp>
      <p:sp>
        <p:nvSpPr>
          <p:cNvPr id="5" name="TextBox 4">
            <a:extLst>
              <a:ext uri="{FF2B5EF4-FFF2-40B4-BE49-F238E27FC236}">
                <a16:creationId xmlns:a16="http://schemas.microsoft.com/office/drawing/2014/main" id="{382F3938-7D89-86C2-16B6-10FFA3BDCBED}"/>
              </a:ext>
            </a:extLst>
          </p:cNvPr>
          <p:cNvSpPr txBox="1"/>
          <p:nvPr/>
        </p:nvSpPr>
        <p:spPr>
          <a:xfrm>
            <a:off x="1104293" y="1097258"/>
            <a:ext cx="9627972" cy="5968493"/>
          </a:xfrm>
          <a:prstGeom prst="rect">
            <a:avLst/>
          </a:prstGeom>
          <a:noFill/>
        </p:spPr>
        <p:txBody>
          <a:bodyPr wrap="square">
            <a:spAutoFit/>
          </a:bodyPr>
          <a:lstStyle/>
          <a:p>
            <a:pPr lvl="0" algn="ctr">
              <a:lnSpc>
                <a:spcPct val="150000"/>
              </a:lnSpc>
              <a:spcBef>
                <a:spcPts val="1200"/>
              </a:spcBef>
              <a:spcAft>
                <a:spcPts val="600"/>
              </a:spcAft>
              <a:buSzPts val="1100"/>
            </a:pPr>
            <a:r>
              <a:rPr lang="en-AU" sz="4400"/>
              <a:t>Gabby wrote the </a:t>
            </a:r>
            <a:r>
              <a:rPr lang="en-AU" sz="4400" b="1"/>
              <a:t>number sentence </a:t>
            </a:r>
          </a:p>
          <a:p>
            <a:pPr lvl="0" algn="ctr">
              <a:lnSpc>
                <a:spcPct val="150000"/>
              </a:lnSpc>
              <a:spcBef>
                <a:spcPts val="1200"/>
              </a:spcBef>
              <a:spcAft>
                <a:spcPts val="600"/>
              </a:spcAft>
              <a:buSzPts val="1100"/>
            </a:pPr>
            <a:r>
              <a:rPr lang="en-AU" sz="4400"/>
              <a:t>4 x 4 = 96 ÷ 5</a:t>
            </a:r>
          </a:p>
          <a:p>
            <a:pPr lvl="0" algn="ctr">
              <a:lnSpc>
                <a:spcPct val="150000"/>
              </a:lnSpc>
              <a:spcBef>
                <a:spcPts val="1200"/>
              </a:spcBef>
              <a:spcAft>
                <a:spcPts val="600"/>
              </a:spcAft>
              <a:buSzPts val="1100"/>
            </a:pPr>
            <a:r>
              <a:rPr lang="en-AU" sz="4400"/>
              <a:t>Is she </a:t>
            </a:r>
            <a:r>
              <a:rPr lang="en-AU" sz="4400" b="1"/>
              <a:t>correct or incorrect?</a:t>
            </a:r>
          </a:p>
          <a:p>
            <a:pPr algn="ctr">
              <a:lnSpc>
                <a:spcPct val="150000"/>
              </a:lnSpc>
              <a:spcBef>
                <a:spcPts val="1200"/>
              </a:spcBef>
              <a:spcAft>
                <a:spcPts val="600"/>
              </a:spcAft>
              <a:buSzPts val="1100"/>
            </a:pPr>
            <a:r>
              <a:rPr lang="en-US" sz="4400" b="1">
                <a:cs typeface="Arial" panose="020B0604020202020204"/>
              </a:rPr>
              <a:t>Communicate </a:t>
            </a:r>
            <a:r>
              <a:rPr lang="en-US" sz="4400">
                <a:cs typeface="Arial" panose="020B0604020202020204"/>
              </a:rPr>
              <a:t>your</a:t>
            </a:r>
            <a:r>
              <a:rPr lang="en-US" sz="4400" b="1">
                <a:cs typeface="Arial" panose="020B0604020202020204"/>
              </a:rPr>
              <a:t> reasoning</a:t>
            </a:r>
            <a:r>
              <a:rPr lang="en-AU" sz="4400"/>
              <a:t>.</a:t>
            </a:r>
          </a:p>
          <a:p>
            <a:pPr lvl="0" algn="ctr">
              <a:lnSpc>
                <a:spcPct val="150000"/>
              </a:lnSpc>
              <a:spcBef>
                <a:spcPts val="1200"/>
              </a:spcBef>
              <a:spcAft>
                <a:spcPts val="600"/>
              </a:spcAft>
              <a:buSzPts val="1100"/>
            </a:pPr>
            <a:endParaRPr lang="en-AU" sz="4400" b="1">
              <a:effectLst/>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6BF40-FAD0-D70F-E230-3C3EEA6BAAB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F28FB6A-0546-D5CA-2E27-6635AF2A09EB}"/>
              </a:ext>
            </a:extLst>
          </p:cNvPr>
          <p:cNvSpPr>
            <a:spLocks noGrp="1"/>
          </p:cNvSpPr>
          <p:nvPr>
            <p:ph type="title"/>
          </p:nvPr>
        </p:nvSpPr>
        <p:spPr>
          <a:xfrm>
            <a:off x="360000" y="360000"/>
            <a:ext cx="10397115" cy="545601"/>
          </a:xfrm>
        </p:spPr>
        <p:txBody>
          <a:bodyPr/>
          <a:lstStyle/>
          <a:p>
            <a:r>
              <a:rPr lang="en-US" dirty="0">
                <a:latin typeface="Arial"/>
                <a:cs typeface="Arial"/>
              </a:rPr>
              <a:t>Multiple choice </a:t>
            </a:r>
            <a:r>
              <a:rPr lang="en-US" dirty="0">
                <a:solidFill>
                  <a:schemeClr val="bg1"/>
                </a:solidFill>
                <a:latin typeface="Arial"/>
                <a:cs typeface="Arial"/>
              </a:rPr>
              <a:t>(3)</a:t>
            </a:r>
          </a:p>
        </p:txBody>
      </p:sp>
      <p:sp>
        <p:nvSpPr>
          <p:cNvPr id="18" name="Text Placeholder 17">
            <a:extLst>
              <a:ext uri="{FF2B5EF4-FFF2-40B4-BE49-F238E27FC236}">
                <a16:creationId xmlns:a16="http://schemas.microsoft.com/office/drawing/2014/main" id="{BC419925-6BDA-D180-5BB7-F159CE2539B3}"/>
              </a:ext>
            </a:extLst>
          </p:cNvPr>
          <p:cNvSpPr>
            <a:spLocks noGrp="1"/>
          </p:cNvSpPr>
          <p:nvPr>
            <p:ph type="body" sz="quarter" idx="24"/>
          </p:nvPr>
        </p:nvSpPr>
        <p:spPr>
          <a:xfrm>
            <a:off x="360000" y="1007381"/>
            <a:ext cx="11243037" cy="893226"/>
          </a:xfrm>
        </p:spPr>
        <p:txBody>
          <a:bodyPr/>
          <a:lstStyle/>
          <a:p>
            <a:pPr algn="ctr"/>
            <a:r>
              <a:rPr lang="en-US" sz="4400" dirty="0"/>
              <a:t>Which </a:t>
            </a:r>
            <a:r>
              <a:rPr lang="en-US" sz="4400" b="1" dirty="0"/>
              <a:t>algorithm</a:t>
            </a:r>
            <a:r>
              <a:rPr lang="en-US" sz="4400" dirty="0"/>
              <a:t> is </a:t>
            </a:r>
            <a:r>
              <a:rPr lang="en-US" sz="4400" b="1" dirty="0"/>
              <a:t>correct?</a:t>
            </a:r>
          </a:p>
        </p:txBody>
      </p:sp>
      <p:sp>
        <p:nvSpPr>
          <p:cNvPr id="9" name="TextBox 8">
            <a:extLst>
              <a:ext uri="{FF2B5EF4-FFF2-40B4-BE49-F238E27FC236}">
                <a16:creationId xmlns:a16="http://schemas.microsoft.com/office/drawing/2014/main" id="{A1892E26-06BE-32B0-5FEC-4E4DF7FE234F}"/>
              </a:ext>
              <a:ext uri="{C183D7F6-B498-43B3-948B-1728B52AA6E4}">
                <adec:decorative xmlns:adec="http://schemas.microsoft.com/office/drawing/2017/decorative" val="1"/>
              </a:ext>
            </a:extLst>
          </p:cNvPr>
          <p:cNvSpPr txBox="1"/>
          <p:nvPr/>
        </p:nvSpPr>
        <p:spPr>
          <a:xfrm>
            <a:off x="2837379" y="247880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0" name="TextBox 9">
            <a:extLst>
              <a:ext uri="{FF2B5EF4-FFF2-40B4-BE49-F238E27FC236}">
                <a16:creationId xmlns:a16="http://schemas.microsoft.com/office/drawing/2014/main" id="{13C5273B-9532-C3E3-B793-43FADC1FB6DD}"/>
              </a:ext>
              <a:ext uri="{C183D7F6-B498-43B3-948B-1728B52AA6E4}">
                <adec:decorative xmlns:adec="http://schemas.microsoft.com/office/drawing/2017/decorative" val="1"/>
              </a:ext>
            </a:extLst>
          </p:cNvPr>
          <p:cNvSpPr txBox="1"/>
          <p:nvPr/>
        </p:nvSpPr>
        <p:spPr>
          <a:xfrm>
            <a:off x="4980261" y="247154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2" name="TextBox 11">
            <a:extLst>
              <a:ext uri="{FF2B5EF4-FFF2-40B4-BE49-F238E27FC236}">
                <a16:creationId xmlns:a16="http://schemas.microsoft.com/office/drawing/2014/main" id="{CD3A86F9-8C54-94A6-624F-5B040AAC0A70}"/>
              </a:ext>
              <a:ext uri="{C183D7F6-B498-43B3-948B-1728B52AA6E4}">
                <adec:decorative xmlns:adec="http://schemas.microsoft.com/office/drawing/2017/decorative" val="1"/>
              </a:ext>
            </a:extLst>
          </p:cNvPr>
          <p:cNvSpPr txBox="1"/>
          <p:nvPr/>
        </p:nvSpPr>
        <p:spPr>
          <a:xfrm>
            <a:off x="7518607" y="242328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11" name="TextBox 10">
            <a:extLst>
              <a:ext uri="{FF2B5EF4-FFF2-40B4-BE49-F238E27FC236}">
                <a16:creationId xmlns:a16="http://schemas.microsoft.com/office/drawing/2014/main" id="{B5AB2E37-1C17-A4DC-7CD1-839FD9AE124C}"/>
              </a:ext>
              <a:ext uri="{C183D7F6-B498-43B3-948B-1728B52AA6E4}">
                <adec:decorative xmlns:adec="http://schemas.microsoft.com/office/drawing/2017/decorative" val="1"/>
              </a:ext>
            </a:extLst>
          </p:cNvPr>
          <p:cNvSpPr txBox="1"/>
          <p:nvPr/>
        </p:nvSpPr>
        <p:spPr>
          <a:xfrm>
            <a:off x="9895169" y="242328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pic>
        <p:nvPicPr>
          <p:cNvPr id="4" name="Picture 3">
            <a:extLst>
              <a:ext uri="{FF2B5EF4-FFF2-40B4-BE49-F238E27FC236}">
                <a16:creationId xmlns:a16="http://schemas.microsoft.com/office/drawing/2014/main" id="{C446D16C-4099-C273-0D6F-BD9663F024C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3BC169C8-AE05-B353-4A62-14B928F8B6D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pic>
        <p:nvPicPr>
          <p:cNvPr id="30" name="Picture 29" descr="A- 766 x 3 equals 18, 1800, 2100 and 3820&#10;B- 766 x 3 equals 18, 810, 2100 equals 2298&#10;C- 766 x 3, 18, 180 and 2100 equals 2298&#10;766 x 3 equals 21, 180, 2100 and 2291">
            <a:extLst>
              <a:ext uri="{FF2B5EF4-FFF2-40B4-BE49-F238E27FC236}">
                <a16:creationId xmlns:a16="http://schemas.microsoft.com/office/drawing/2014/main" id="{6E2D8E0B-3CC9-EB88-5AE9-8CDD56699B65}"/>
              </a:ext>
            </a:extLst>
          </p:cNvPr>
          <p:cNvPicPr>
            <a:picLocks noChangeAspect="1"/>
          </p:cNvPicPr>
          <p:nvPr/>
        </p:nvPicPr>
        <p:blipFill>
          <a:blip r:embed="rId4"/>
          <a:srcRect b="12448"/>
          <a:stretch>
            <a:fillRect/>
          </a:stretch>
        </p:blipFill>
        <p:spPr>
          <a:xfrm>
            <a:off x="1526812" y="3113679"/>
            <a:ext cx="9230303" cy="3687429"/>
          </a:xfrm>
          <a:prstGeom prst="rect">
            <a:avLst/>
          </a:prstGeom>
        </p:spPr>
      </p:pic>
    </p:spTree>
    <p:extLst>
      <p:ext uri="{BB962C8B-B14F-4D97-AF65-F5344CB8AC3E}">
        <p14:creationId xmlns:p14="http://schemas.microsoft.com/office/powerpoint/2010/main" val="3879482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(17)</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
        <p:nvSpPr>
          <p:cNvPr id="9" name="TextBox 8">
            <a:extLst>
              <a:ext uri="{FF2B5EF4-FFF2-40B4-BE49-F238E27FC236}">
                <a16:creationId xmlns:a16="http://schemas.microsoft.com/office/drawing/2014/main" id="{E4F5011C-D86D-2858-06B7-DCF0EAEAA91F}"/>
              </a:ext>
            </a:extLst>
          </p:cNvPr>
          <p:cNvSpPr txBox="1"/>
          <p:nvPr/>
        </p:nvSpPr>
        <p:spPr>
          <a:xfrm>
            <a:off x="2114634" y="939560"/>
            <a:ext cx="8633012" cy="1317812"/>
          </a:xfrm>
          <a:prstGeom prst="rect">
            <a:avLst/>
          </a:prstGeom>
          <a:noFill/>
        </p:spPr>
        <p:txBody>
          <a:bodyPr wrap="square" lIns="0" tIns="0" rIns="0" bIns="0" rtlCol="0">
            <a:noAutofit/>
          </a:bodyPr>
          <a:lstStyle/>
          <a:p>
            <a:pPr algn="ctr">
              <a:lnSpc>
                <a:spcPct val="150000"/>
              </a:lnSpc>
            </a:pPr>
            <a:r>
              <a:rPr lang="en-AU" sz="4400"/>
              <a:t>Record the numbers that complete the </a:t>
            </a:r>
            <a:r>
              <a:rPr lang="en-AU" sz="4400" b="1"/>
              <a:t>table of values</a:t>
            </a:r>
            <a:r>
              <a:rPr lang="en-AU" sz="4400"/>
              <a:t>.</a:t>
            </a:r>
          </a:p>
        </p:txBody>
      </p:sp>
      <p:grpSp>
        <p:nvGrpSpPr>
          <p:cNvPr id="10" name="Group 9" descr="3 hexagons.&#10;">
            <a:extLst>
              <a:ext uri="{FF2B5EF4-FFF2-40B4-BE49-F238E27FC236}">
                <a16:creationId xmlns:a16="http://schemas.microsoft.com/office/drawing/2014/main" id="{8F23C5FE-F121-7F64-A437-6DA03E20E3A2}"/>
              </a:ext>
            </a:extLst>
          </p:cNvPr>
          <p:cNvGrpSpPr/>
          <p:nvPr/>
        </p:nvGrpSpPr>
        <p:grpSpPr>
          <a:xfrm>
            <a:off x="3474294" y="3121453"/>
            <a:ext cx="5601720" cy="1479176"/>
            <a:chOff x="3474294" y="3121453"/>
            <a:chExt cx="5601720" cy="1479176"/>
          </a:xfrm>
        </p:grpSpPr>
        <p:sp>
          <p:nvSpPr>
            <p:cNvPr id="7" name="Hexagon 6" descr="An image of two hexagons">
              <a:extLst>
                <a:ext uri="{FF2B5EF4-FFF2-40B4-BE49-F238E27FC236}">
                  <a16:creationId xmlns:a16="http://schemas.microsoft.com/office/drawing/2014/main" id="{58E98FFD-E3B4-2E60-C23B-BBD2498346B6}"/>
                </a:ext>
              </a:extLst>
            </p:cNvPr>
            <p:cNvSpPr/>
            <p:nvPr/>
          </p:nvSpPr>
          <p:spPr>
            <a:xfrm>
              <a:off x="5387648" y="3121453"/>
              <a:ext cx="1775012" cy="1479176"/>
            </a:xfrm>
            <a:prstGeom prst="hexagon">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Hexagon 7">
              <a:extLst>
                <a:ext uri="{FF2B5EF4-FFF2-40B4-BE49-F238E27FC236}">
                  <a16:creationId xmlns:a16="http://schemas.microsoft.com/office/drawing/2014/main" id="{F57BD4A9-4F1E-0B2B-B859-59CC76994D61}"/>
                </a:ext>
              </a:extLst>
            </p:cNvPr>
            <p:cNvSpPr/>
            <p:nvPr/>
          </p:nvSpPr>
          <p:spPr>
            <a:xfrm>
              <a:off x="7301002" y="3121453"/>
              <a:ext cx="1775012" cy="1479176"/>
            </a:xfrm>
            <a:prstGeom prst="hexagon">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Hexagon 4" descr="An image of two hexagons">
              <a:extLst>
                <a:ext uri="{FF2B5EF4-FFF2-40B4-BE49-F238E27FC236}">
                  <a16:creationId xmlns:a16="http://schemas.microsoft.com/office/drawing/2014/main" id="{1B69BE56-ABA3-ED02-AFE7-D6FE26AA0A78}"/>
                </a:ext>
              </a:extLst>
            </p:cNvPr>
            <p:cNvSpPr/>
            <p:nvPr/>
          </p:nvSpPr>
          <p:spPr>
            <a:xfrm>
              <a:off x="3474294" y="3121453"/>
              <a:ext cx="1775012" cy="1479176"/>
            </a:xfrm>
            <a:prstGeom prst="hexagon">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graphicFrame>
        <p:nvGraphicFramePr>
          <p:cNvPr id="4" name="Table 3">
            <a:extLst>
              <a:ext uri="{FF2B5EF4-FFF2-40B4-BE49-F238E27FC236}">
                <a16:creationId xmlns:a16="http://schemas.microsoft.com/office/drawing/2014/main" id="{265882F4-900C-7F25-AF34-2996B2D63AF4}"/>
              </a:ext>
            </a:extLst>
          </p:cNvPr>
          <p:cNvGraphicFramePr>
            <a:graphicFrameLocks noGrp="1"/>
          </p:cNvGraphicFramePr>
          <p:nvPr>
            <p:extLst>
              <p:ext uri="{D42A27DB-BD31-4B8C-83A1-F6EECF244321}">
                <p14:modId xmlns:p14="http://schemas.microsoft.com/office/powerpoint/2010/main" val="3337913617"/>
              </p:ext>
            </p:extLst>
          </p:nvPr>
        </p:nvGraphicFramePr>
        <p:xfrm>
          <a:off x="2000923" y="4926956"/>
          <a:ext cx="8261872" cy="1645920"/>
        </p:xfrm>
        <a:graphic>
          <a:graphicData uri="http://schemas.openxmlformats.org/drawingml/2006/table">
            <a:tbl>
              <a:tblPr firstRow="1" bandRow="1">
                <a:tableStyleId>{5940675A-B579-460E-94D1-54222C63F5DA}</a:tableStyleId>
              </a:tblPr>
              <a:tblGrid>
                <a:gridCol w="2318241">
                  <a:extLst>
                    <a:ext uri="{9D8B030D-6E8A-4147-A177-3AD203B41FA5}">
                      <a16:colId xmlns:a16="http://schemas.microsoft.com/office/drawing/2014/main" val="1038015696"/>
                    </a:ext>
                  </a:extLst>
                </a:gridCol>
                <a:gridCol w="1336643">
                  <a:extLst>
                    <a:ext uri="{9D8B030D-6E8A-4147-A177-3AD203B41FA5}">
                      <a16:colId xmlns:a16="http://schemas.microsoft.com/office/drawing/2014/main" val="1356891563"/>
                    </a:ext>
                  </a:extLst>
                </a:gridCol>
                <a:gridCol w="1200890">
                  <a:extLst>
                    <a:ext uri="{9D8B030D-6E8A-4147-A177-3AD203B41FA5}">
                      <a16:colId xmlns:a16="http://schemas.microsoft.com/office/drawing/2014/main" val="2724735978"/>
                    </a:ext>
                  </a:extLst>
                </a:gridCol>
                <a:gridCol w="1075580">
                  <a:extLst>
                    <a:ext uri="{9D8B030D-6E8A-4147-A177-3AD203B41FA5}">
                      <a16:colId xmlns:a16="http://schemas.microsoft.com/office/drawing/2014/main" val="2990275261"/>
                    </a:ext>
                  </a:extLst>
                </a:gridCol>
                <a:gridCol w="1127792">
                  <a:extLst>
                    <a:ext uri="{9D8B030D-6E8A-4147-A177-3AD203B41FA5}">
                      <a16:colId xmlns:a16="http://schemas.microsoft.com/office/drawing/2014/main" val="1369630889"/>
                    </a:ext>
                  </a:extLst>
                </a:gridCol>
                <a:gridCol w="1202726">
                  <a:extLst>
                    <a:ext uri="{9D8B030D-6E8A-4147-A177-3AD203B41FA5}">
                      <a16:colId xmlns:a16="http://schemas.microsoft.com/office/drawing/2014/main" val="1682347371"/>
                    </a:ext>
                  </a:extLst>
                </a:gridCol>
              </a:tblGrid>
              <a:tr h="785522">
                <a:tc>
                  <a:txBody>
                    <a:bodyPr/>
                    <a:lstStyle/>
                    <a:p>
                      <a:pPr algn="ctr"/>
                      <a:r>
                        <a:rPr lang="en-AU" sz="2400" b="1"/>
                        <a:t>Number of shapes</a:t>
                      </a:r>
                    </a:p>
                  </a:txBody>
                  <a:tcPr/>
                </a:tc>
                <a:tc>
                  <a:txBody>
                    <a:bodyPr/>
                    <a:lstStyle/>
                    <a:p>
                      <a:pPr algn="ctr"/>
                      <a:r>
                        <a:rPr lang="en-AU" sz="2400" b="1"/>
                        <a:t>1</a:t>
                      </a:r>
                    </a:p>
                  </a:txBody>
                  <a:tcPr anchor="ctr"/>
                </a:tc>
                <a:tc>
                  <a:txBody>
                    <a:bodyPr/>
                    <a:lstStyle/>
                    <a:p>
                      <a:pPr algn="ctr"/>
                      <a:r>
                        <a:rPr lang="en-AU" sz="2400" b="1"/>
                        <a:t>2</a:t>
                      </a:r>
                    </a:p>
                  </a:txBody>
                  <a:tcPr anchor="ctr"/>
                </a:tc>
                <a:tc>
                  <a:txBody>
                    <a:bodyPr/>
                    <a:lstStyle/>
                    <a:p>
                      <a:pPr algn="ctr"/>
                      <a:r>
                        <a:rPr lang="en-AU" sz="2400" b="1"/>
                        <a:t>3</a:t>
                      </a:r>
                    </a:p>
                  </a:txBody>
                  <a:tcPr anchor="ctr"/>
                </a:tc>
                <a:tc>
                  <a:txBody>
                    <a:bodyPr/>
                    <a:lstStyle/>
                    <a:p>
                      <a:pPr algn="ctr"/>
                      <a:r>
                        <a:rPr lang="en-AU" sz="2400" b="1"/>
                        <a:t>4</a:t>
                      </a:r>
                    </a:p>
                  </a:txBody>
                  <a:tcPr anchor="ctr"/>
                </a:tc>
                <a:tc>
                  <a:txBody>
                    <a:bodyPr/>
                    <a:lstStyle/>
                    <a:p>
                      <a:pPr algn="ctr"/>
                      <a:r>
                        <a:rPr lang="en-AU" sz="2400" b="1"/>
                        <a:t>5</a:t>
                      </a:r>
                    </a:p>
                  </a:txBody>
                  <a:tcPr anchor="ctr"/>
                </a:tc>
                <a:extLst>
                  <a:ext uri="{0D108BD9-81ED-4DB2-BD59-A6C34878D82A}">
                    <a16:rowId xmlns:a16="http://schemas.microsoft.com/office/drawing/2014/main" val="3899891803"/>
                  </a:ext>
                </a:extLst>
              </a:tr>
              <a:tr h="785522">
                <a:tc>
                  <a:txBody>
                    <a:bodyPr/>
                    <a:lstStyle/>
                    <a:p>
                      <a:pPr algn="ctr"/>
                      <a:r>
                        <a:rPr lang="en-AU" sz="2400" b="1"/>
                        <a:t>Number of sides</a:t>
                      </a:r>
                    </a:p>
                  </a:txBody>
                  <a:tcPr/>
                </a:tc>
                <a:tc>
                  <a:txBody>
                    <a:bodyPr/>
                    <a:lstStyle/>
                    <a:p>
                      <a:pPr algn="ctr"/>
                      <a:r>
                        <a:rPr lang="en-AU" sz="2400">
                          <a:solidFill>
                            <a:schemeClr val="accent2"/>
                          </a:solidFill>
                        </a:rPr>
                        <a:t>6</a:t>
                      </a:r>
                    </a:p>
                  </a:txBody>
                  <a:tcPr anchor="ctr"/>
                </a:tc>
                <a:tc>
                  <a:txBody>
                    <a:bodyPr/>
                    <a:lstStyle/>
                    <a:p>
                      <a:pPr algn="ctr"/>
                      <a:r>
                        <a:rPr lang="en-AU" sz="2400">
                          <a:solidFill>
                            <a:schemeClr val="accent2"/>
                          </a:solidFill>
                        </a:rPr>
                        <a:t>12</a:t>
                      </a:r>
                    </a:p>
                  </a:txBody>
                  <a:tcPr anchor="ctr"/>
                </a:tc>
                <a:tc>
                  <a:txBody>
                    <a:bodyPr/>
                    <a:lstStyle/>
                    <a:p>
                      <a:pPr marL="0" algn="ctr" defTabSz="914377" rtl="0" eaLnBrk="1" latinLnBrk="0" hangingPunct="1"/>
                      <a:r>
                        <a:rPr lang="en-AU" sz="2400" kern="1200">
                          <a:solidFill>
                            <a:schemeClr val="accent2"/>
                          </a:solidFill>
                          <a:latin typeface="+mn-lt"/>
                          <a:ea typeface="+mn-ea"/>
                          <a:cs typeface="+mn-cs"/>
                        </a:rPr>
                        <a:t>18</a:t>
                      </a:r>
                    </a:p>
                  </a:txBody>
                  <a:tcPr anchor="ctr"/>
                </a:tc>
                <a:tc>
                  <a:txBody>
                    <a:bodyPr/>
                    <a:lstStyle/>
                    <a:p>
                      <a:endParaRPr lang="en-AU" sz="2400"/>
                    </a:p>
                  </a:txBody>
                  <a:tcPr/>
                </a:tc>
                <a:tc>
                  <a:txBody>
                    <a:bodyPr/>
                    <a:lstStyle/>
                    <a:p>
                      <a:endParaRPr lang="en-AU" sz="2400" dirty="0"/>
                    </a:p>
                  </a:txBody>
                  <a:tcPr/>
                </a:tc>
                <a:extLst>
                  <a:ext uri="{0D108BD9-81ED-4DB2-BD59-A6C34878D82A}">
                    <a16:rowId xmlns:a16="http://schemas.microsoft.com/office/drawing/2014/main" val="658063556"/>
                  </a:ext>
                </a:extLst>
              </a:tr>
            </a:tbl>
          </a:graphicData>
        </a:graphic>
      </p:graphicFrame>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(18)</a:t>
            </a:r>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4" name="TextBox 3">
            <a:extLst>
              <a:ext uri="{FF2B5EF4-FFF2-40B4-BE49-F238E27FC236}">
                <a16:creationId xmlns:a16="http://schemas.microsoft.com/office/drawing/2014/main" id="{8C75042F-0E69-4583-179B-7D22FAFBBFFA}"/>
              </a:ext>
            </a:extLst>
          </p:cNvPr>
          <p:cNvSpPr txBox="1"/>
          <p:nvPr/>
        </p:nvSpPr>
        <p:spPr>
          <a:xfrm>
            <a:off x="838978" y="1057063"/>
            <a:ext cx="9880302" cy="486049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spcBef>
                <a:spcPts val="1200"/>
              </a:spcBef>
              <a:spcAft>
                <a:spcPts val="1200"/>
              </a:spcAft>
            </a:pPr>
            <a:r>
              <a:rPr lang="en-US" sz="4400">
                <a:cs typeface="Arial"/>
              </a:rPr>
              <a:t>How many </a:t>
            </a:r>
            <a:r>
              <a:rPr lang="en-US" sz="4400" b="1">
                <a:cs typeface="Arial"/>
              </a:rPr>
              <a:t>degrees</a:t>
            </a:r>
            <a:r>
              <a:rPr lang="en-US" sz="4400">
                <a:cs typeface="Arial"/>
              </a:rPr>
              <a:t> is:</a:t>
            </a:r>
          </a:p>
          <a:p>
            <a:pPr marL="742950" indent="-742950" algn="ctr">
              <a:lnSpc>
                <a:spcPct val="150000"/>
              </a:lnSpc>
              <a:spcBef>
                <a:spcPts val="1200"/>
              </a:spcBef>
              <a:spcAft>
                <a:spcPts val="1200"/>
              </a:spcAft>
              <a:buFont typeface="+mj-lt"/>
              <a:buAutoNum type="alphaLcParenR"/>
            </a:pPr>
            <a:r>
              <a:rPr lang="en-US" sz="4400">
                <a:cs typeface="Arial"/>
              </a:rPr>
              <a:t>an </a:t>
            </a:r>
            <a:r>
              <a:rPr lang="en-US" sz="4400" b="1">
                <a:cs typeface="Arial"/>
              </a:rPr>
              <a:t>acute </a:t>
            </a:r>
            <a:r>
              <a:rPr lang="en-US" sz="4400">
                <a:cs typeface="Arial"/>
              </a:rPr>
              <a:t>angle</a:t>
            </a:r>
          </a:p>
          <a:p>
            <a:pPr marL="742950" indent="-742950" algn="ctr">
              <a:lnSpc>
                <a:spcPct val="150000"/>
              </a:lnSpc>
              <a:spcBef>
                <a:spcPts val="1200"/>
              </a:spcBef>
              <a:spcAft>
                <a:spcPts val="1200"/>
              </a:spcAft>
              <a:buFont typeface="+mj-lt"/>
              <a:buAutoNum type="alphaLcParenR"/>
            </a:pPr>
            <a:r>
              <a:rPr lang="en-US" sz="4400">
                <a:cs typeface="Arial"/>
              </a:rPr>
              <a:t>an </a:t>
            </a:r>
            <a:r>
              <a:rPr lang="en-US" sz="4400" b="1">
                <a:cs typeface="Arial"/>
              </a:rPr>
              <a:t>obtuse </a:t>
            </a:r>
            <a:r>
              <a:rPr lang="en-US" sz="4400">
                <a:cs typeface="Arial"/>
              </a:rPr>
              <a:t>angle</a:t>
            </a:r>
          </a:p>
          <a:p>
            <a:pPr marL="742950" indent="-742950" algn="ctr">
              <a:lnSpc>
                <a:spcPct val="150000"/>
              </a:lnSpc>
              <a:spcBef>
                <a:spcPts val="1200"/>
              </a:spcBef>
              <a:spcAft>
                <a:spcPts val="1200"/>
              </a:spcAft>
              <a:buFont typeface="+mj-lt"/>
              <a:buAutoNum type="alphaLcParenR"/>
            </a:pPr>
            <a:r>
              <a:rPr lang="en-US" sz="4400">
                <a:cs typeface="Arial"/>
              </a:rPr>
              <a:t>a </a:t>
            </a:r>
            <a:r>
              <a:rPr lang="en-US" sz="4400" b="1">
                <a:cs typeface="Arial"/>
              </a:rPr>
              <a:t>reflex </a:t>
            </a:r>
            <a:r>
              <a:rPr lang="en-US" sz="4400">
                <a:cs typeface="Arial"/>
              </a:rPr>
              <a:t>angle</a:t>
            </a:r>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(19)</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4" name="TextBox 3">
            <a:extLst>
              <a:ext uri="{FF2B5EF4-FFF2-40B4-BE49-F238E27FC236}">
                <a16:creationId xmlns:a16="http://schemas.microsoft.com/office/drawing/2014/main" id="{942DBE0B-A99A-827B-1ACB-08D3EECD3E67}"/>
              </a:ext>
            </a:extLst>
          </p:cNvPr>
          <p:cNvSpPr txBox="1"/>
          <p:nvPr/>
        </p:nvSpPr>
        <p:spPr>
          <a:xfrm>
            <a:off x="756732" y="1184223"/>
            <a:ext cx="10367268" cy="2184400"/>
          </a:xfrm>
          <a:prstGeom prst="rect">
            <a:avLst/>
          </a:prstGeom>
          <a:noFill/>
        </p:spPr>
        <p:txBody>
          <a:bodyPr wrap="square" lIns="0" tIns="0" rIns="0" bIns="0" rtlCol="0">
            <a:noAutofit/>
          </a:bodyPr>
          <a:lstStyle/>
          <a:p>
            <a:pPr algn="ctr"/>
            <a:endParaRPr lang="en-AU" sz="4400"/>
          </a:p>
          <a:p>
            <a:pPr algn="ctr">
              <a:lnSpc>
                <a:spcPct val="150000"/>
              </a:lnSpc>
            </a:pPr>
            <a:r>
              <a:rPr lang="en-AU" sz="4400"/>
              <a:t>What are the </a:t>
            </a:r>
            <a:r>
              <a:rPr lang="en-AU" sz="4400" b="1"/>
              <a:t>equivalent measurements </a:t>
            </a:r>
            <a:r>
              <a:rPr lang="en-AU" sz="4400"/>
              <a:t>in </a:t>
            </a:r>
            <a:r>
              <a:rPr lang="en-AU" sz="4400" b="1"/>
              <a:t>millilitres</a:t>
            </a:r>
            <a:r>
              <a:rPr lang="en-AU" sz="4400"/>
              <a:t>?</a:t>
            </a:r>
          </a:p>
          <a:p>
            <a:pPr marL="742950" indent="-742950" algn="ctr">
              <a:lnSpc>
                <a:spcPct val="150000"/>
              </a:lnSpc>
              <a:buFont typeface="+mj-lt"/>
              <a:buAutoNum type="alphaLcParenR"/>
            </a:pPr>
            <a:r>
              <a:rPr lang="en-AU" sz="4400"/>
              <a:t>0.1 L</a:t>
            </a:r>
          </a:p>
          <a:p>
            <a:pPr marL="742950" indent="-742950" algn="ctr">
              <a:lnSpc>
                <a:spcPct val="150000"/>
              </a:lnSpc>
              <a:buFont typeface="+mj-lt"/>
              <a:buAutoNum type="alphaLcParenR"/>
            </a:pPr>
            <a:r>
              <a:rPr lang="en-AU" sz="4400"/>
              <a:t>0.25 L</a:t>
            </a:r>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(20)</a:t>
            </a:r>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
        <p:nvSpPr>
          <p:cNvPr id="5" name="TextBox 4">
            <a:extLst>
              <a:ext uri="{FF2B5EF4-FFF2-40B4-BE49-F238E27FC236}">
                <a16:creationId xmlns:a16="http://schemas.microsoft.com/office/drawing/2014/main" id="{46FB6744-18B8-DBA1-CEDE-3AA9307E8ED5}"/>
              </a:ext>
            </a:extLst>
          </p:cNvPr>
          <p:cNvSpPr txBox="1"/>
          <p:nvPr/>
        </p:nvSpPr>
        <p:spPr>
          <a:xfrm>
            <a:off x="503434" y="1273996"/>
            <a:ext cx="9894013" cy="750013"/>
          </a:xfrm>
          <a:prstGeom prst="rect">
            <a:avLst/>
          </a:prstGeom>
          <a:noFill/>
        </p:spPr>
        <p:txBody>
          <a:bodyPr wrap="square" lIns="0" tIns="0" rIns="0" bIns="0" rtlCol="0">
            <a:noAutofit/>
          </a:bodyPr>
          <a:lstStyle/>
          <a:p>
            <a:pPr algn="l"/>
            <a:r>
              <a:rPr lang="en-AU" sz="4400" dirty="0"/>
              <a:t>Identify the:</a:t>
            </a:r>
          </a:p>
          <a:p>
            <a:pPr algn="l"/>
            <a:endParaRPr lang="en-AU" sz="4400" dirty="0"/>
          </a:p>
          <a:p>
            <a:pPr marL="571500" indent="-571500" algn="l">
              <a:lnSpc>
                <a:spcPct val="150000"/>
              </a:lnSpc>
              <a:buFont typeface="Arial" panose="020B0604020202020204" pitchFamily="34" charset="0"/>
              <a:buChar char="•"/>
            </a:pPr>
            <a:r>
              <a:rPr lang="en-AU" sz="4400" b="1" dirty="0"/>
              <a:t>isosceles </a:t>
            </a:r>
            <a:r>
              <a:rPr lang="en-AU" sz="4400" dirty="0"/>
              <a:t>triangle</a:t>
            </a:r>
          </a:p>
          <a:p>
            <a:pPr marL="571500" indent="-571500" algn="l">
              <a:lnSpc>
                <a:spcPct val="150000"/>
              </a:lnSpc>
              <a:buFont typeface="Arial" panose="020B0604020202020204" pitchFamily="34" charset="0"/>
              <a:buChar char="•"/>
            </a:pPr>
            <a:r>
              <a:rPr lang="en-AU" sz="4400" b="1" dirty="0"/>
              <a:t>scalene</a:t>
            </a:r>
            <a:r>
              <a:rPr lang="en-AU" sz="4400" dirty="0"/>
              <a:t> triangle</a:t>
            </a:r>
          </a:p>
          <a:p>
            <a:pPr marL="571500" indent="-571500" algn="l">
              <a:lnSpc>
                <a:spcPct val="150000"/>
              </a:lnSpc>
              <a:buFont typeface="Arial" panose="020B0604020202020204" pitchFamily="34" charset="0"/>
              <a:buChar char="•"/>
            </a:pPr>
            <a:r>
              <a:rPr lang="en-AU" sz="4400" b="1" dirty="0"/>
              <a:t>equilateral</a:t>
            </a:r>
            <a:r>
              <a:rPr lang="en-AU" sz="4400" dirty="0"/>
              <a:t> triangle</a:t>
            </a:r>
          </a:p>
          <a:p>
            <a:pPr algn="l"/>
            <a:endParaRPr lang="en-AU" sz="1800" dirty="0"/>
          </a:p>
        </p:txBody>
      </p:sp>
      <p:pic>
        <p:nvPicPr>
          <p:cNvPr id="8" name="Picture 7" descr="A: a triangle with 2 equal sides. It also has 2 equal angles.&#10;B: a triangle with no equal sides. Its angles are also all different.&#10;C: A triangle with 3 equal sides. It also has 3 equal ang">
            <a:extLst>
              <a:ext uri="{FF2B5EF4-FFF2-40B4-BE49-F238E27FC236}">
                <a16:creationId xmlns:a16="http://schemas.microsoft.com/office/drawing/2014/main" id="{E0939FCD-76D1-F069-60A4-C001153ADBC4}"/>
              </a:ext>
            </a:extLst>
          </p:cNvPr>
          <p:cNvPicPr>
            <a:picLocks noChangeAspect="1"/>
          </p:cNvPicPr>
          <p:nvPr/>
        </p:nvPicPr>
        <p:blipFill>
          <a:blip r:embed="rId4"/>
          <a:stretch>
            <a:fillRect/>
          </a:stretch>
        </p:blipFill>
        <p:spPr>
          <a:xfrm>
            <a:off x="7179427" y="280621"/>
            <a:ext cx="3412373" cy="6296758"/>
          </a:xfrm>
          <a:prstGeom prst="rect">
            <a:avLst/>
          </a:prstGeom>
        </p:spPr>
      </p:pic>
      <p:sp>
        <p:nvSpPr>
          <p:cNvPr id="7" name="TextBox 6">
            <a:extLst>
              <a:ext uri="{FF2B5EF4-FFF2-40B4-BE49-F238E27FC236}">
                <a16:creationId xmlns:a16="http://schemas.microsoft.com/office/drawing/2014/main" id="{2074CE67-AB47-5D76-B7A9-ED588172DC29}"/>
              </a:ext>
              <a:ext uri="{C183D7F6-B498-43B3-948B-1728B52AA6E4}">
                <adec:decorative xmlns:adec="http://schemas.microsoft.com/office/drawing/2017/decorative" val="1"/>
              </a:ext>
            </a:extLst>
          </p:cNvPr>
          <p:cNvSpPr txBox="1"/>
          <p:nvPr/>
        </p:nvSpPr>
        <p:spPr>
          <a:xfrm>
            <a:off x="7071214" y="944509"/>
            <a:ext cx="584200" cy="545601"/>
          </a:xfrm>
          <a:prstGeom prst="rect">
            <a:avLst/>
          </a:prstGeom>
          <a:noFill/>
        </p:spPr>
        <p:txBody>
          <a:bodyPr wrap="square" lIns="0" tIns="0" rIns="0" bIns="0" rtlCol="0">
            <a:noAutofit/>
          </a:bodyPr>
          <a:lstStyle/>
          <a:p>
            <a:pPr algn="l"/>
            <a:r>
              <a:rPr lang="en-AU" sz="4400" dirty="0"/>
              <a:t>A</a:t>
            </a:r>
          </a:p>
        </p:txBody>
      </p:sp>
      <p:sp>
        <p:nvSpPr>
          <p:cNvPr id="12" name="TextBox 11">
            <a:extLst>
              <a:ext uri="{FF2B5EF4-FFF2-40B4-BE49-F238E27FC236}">
                <a16:creationId xmlns:a16="http://schemas.microsoft.com/office/drawing/2014/main" id="{2B87721F-A677-E00E-20AB-0B171382BBFA}"/>
              </a:ext>
              <a:ext uri="{C183D7F6-B498-43B3-948B-1728B52AA6E4}">
                <adec:decorative xmlns:adec="http://schemas.microsoft.com/office/drawing/2017/decorative" val="1"/>
              </a:ext>
            </a:extLst>
          </p:cNvPr>
          <p:cNvSpPr txBox="1"/>
          <p:nvPr/>
        </p:nvSpPr>
        <p:spPr>
          <a:xfrm>
            <a:off x="6963264" y="2870477"/>
            <a:ext cx="584200" cy="769441"/>
          </a:xfrm>
          <a:prstGeom prst="rect">
            <a:avLst/>
          </a:prstGeom>
          <a:noFill/>
        </p:spPr>
        <p:txBody>
          <a:bodyPr wrap="square">
            <a:spAutoFit/>
          </a:bodyPr>
          <a:lstStyle/>
          <a:p>
            <a:pPr algn="l"/>
            <a:r>
              <a:rPr lang="en-AU" sz="4400"/>
              <a:t>B</a:t>
            </a:r>
          </a:p>
        </p:txBody>
      </p:sp>
      <p:sp>
        <p:nvSpPr>
          <p:cNvPr id="14" name="TextBox 13">
            <a:extLst>
              <a:ext uri="{FF2B5EF4-FFF2-40B4-BE49-F238E27FC236}">
                <a16:creationId xmlns:a16="http://schemas.microsoft.com/office/drawing/2014/main" id="{C30ED8E7-D993-D4F8-94C2-1A4CF2E4F904}"/>
              </a:ext>
              <a:ext uri="{C183D7F6-B498-43B3-948B-1728B52AA6E4}">
                <adec:decorative xmlns:adec="http://schemas.microsoft.com/office/drawing/2017/decorative" val="1"/>
              </a:ext>
            </a:extLst>
          </p:cNvPr>
          <p:cNvSpPr txBox="1"/>
          <p:nvPr/>
        </p:nvSpPr>
        <p:spPr>
          <a:xfrm>
            <a:off x="6963264" y="5127921"/>
            <a:ext cx="800100" cy="769441"/>
          </a:xfrm>
          <a:prstGeom prst="rect">
            <a:avLst/>
          </a:prstGeom>
          <a:noFill/>
        </p:spPr>
        <p:txBody>
          <a:bodyPr wrap="square">
            <a:spAutoFit/>
          </a:bodyPr>
          <a:lstStyle/>
          <a:p>
            <a:pPr algn="l"/>
            <a:r>
              <a:rPr lang="en-AU" sz="4400"/>
              <a:t>C</a:t>
            </a:r>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area models and formal algorithms</a:t>
            </a:r>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39</a:t>
            </a:fld>
            <a:endParaRPr lang="en-AU"/>
          </a:p>
        </p:txBody>
      </p:sp>
      <p:sp>
        <p:nvSpPr>
          <p:cNvPr id="5" name="TextBox 4">
            <a:extLst>
              <a:ext uri="{FF2B5EF4-FFF2-40B4-BE49-F238E27FC236}">
                <a16:creationId xmlns:a16="http://schemas.microsoft.com/office/drawing/2014/main" id="{B3A8DE19-5F96-2DA4-3869-3D6BFA612AB5}"/>
              </a:ext>
            </a:extLst>
          </p:cNvPr>
          <p:cNvSpPr txBox="1"/>
          <p:nvPr/>
        </p:nvSpPr>
        <p:spPr>
          <a:xfrm>
            <a:off x="3775262" y="2593050"/>
            <a:ext cx="6098240" cy="1200329"/>
          </a:xfrm>
          <a:prstGeom prst="rect">
            <a:avLst/>
          </a:prstGeom>
          <a:noFill/>
        </p:spPr>
        <p:txBody>
          <a:bodyPr wrap="square">
            <a:spAutoFit/>
          </a:bodyPr>
          <a:lstStyle/>
          <a:p>
            <a:r>
              <a:rPr lang="en-AU" sz="7200">
                <a:effectLst/>
                <a:latin typeface="Arial" panose="020B0604020202020204" pitchFamily="34" charset="0"/>
                <a:ea typeface="Calibri" panose="020F0502020204030204" pitchFamily="34" charset="0"/>
              </a:rPr>
              <a:t>368 × 4 = </a:t>
            </a:r>
            <a:endParaRPr lang="en-AU" sz="7200"/>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dirty="0">
                <a:latin typeface="Arial"/>
                <a:cs typeface="Arial"/>
              </a:rPr>
              <a:t>True or false </a:t>
            </a:r>
            <a:r>
              <a:rPr lang="en-US" dirty="0">
                <a:solidFill>
                  <a:schemeClr val="bg1"/>
                </a:solidFill>
                <a:latin typeface="Arial"/>
                <a:cs typeface="Arial"/>
              </a:rPr>
              <a:t>(3)</a:t>
            </a:r>
          </a:p>
        </p:txBody>
      </p:sp>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
        <p:nvSpPr>
          <p:cNvPr id="9" name="TextBox 8">
            <a:extLst>
              <a:ext uri="{FF2B5EF4-FFF2-40B4-BE49-F238E27FC236}">
                <a16:creationId xmlns:a16="http://schemas.microsoft.com/office/drawing/2014/main" id="{8A41A772-5289-7B4A-40C2-418FD5AC5D70}"/>
              </a:ext>
            </a:extLst>
          </p:cNvPr>
          <p:cNvSpPr txBox="1"/>
          <p:nvPr/>
        </p:nvSpPr>
        <p:spPr>
          <a:xfrm>
            <a:off x="1524000" y="1752600"/>
            <a:ext cx="5842000" cy="1828800"/>
          </a:xfrm>
          <a:prstGeom prst="rect">
            <a:avLst/>
          </a:prstGeom>
          <a:noFill/>
        </p:spPr>
        <p:txBody>
          <a:bodyPr wrap="square" lIns="0" tIns="0" rIns="0" bIns="0" rtlCol="0">
            <a:noAutofit/>
          </a:bodyPr>
          <a:lstStyle/>
          <a:p>
            <a:pPr>
              <a:lnSpc>
                <a:spcPct val="150000"/>
              </a:lnSpc>
            </a:pPr>
            <a:r>
              <a:rPr lang="en-AU" sz="4400" dirty="0"/>
              <a:t>Meg correctly used the </a:t>
            </a:r>
            <a:r>
              <a:rPr lang="en-AU" sz="4400" b="1" dirty="0"/>
              <a:t>formal algorithm.</a:t>
            </a:r>
            <a:endParaRPr lang="en-AU" sz="4400" dirty="0"/>
          </a:p>
        </p:txBody>
      </p:sp>
      <p:pic>
        <p:nvPicPr>
          <p:cNvPr id="14" name="Picture 13" descr="766 x 3 equals 18, 18, 2100 the total is 2298">
            <a:extLst>
              <a:ext uri="{FF2B5EF4-FFF2-40B4-BE49-F238E27FC236}">
                <a16:creationId xmlns:a16="http://schemas.microsoft.com/office/drawing/2014/main" id="{5FD3962D-FD94-E427-5083-27A0138AFE21}"/>
              </a:ext>
            </a:extLst>
          </p:cNvPr>
          <p:cNvPicPr>
            <a:picLocks noChangeAspect="1"/>
          </p:cNvPicPr>
          <p:nvPr/>
        </p:nvPicPr>
        <p:blipFill>
          <a:blip r:embed="rId4"/>
          <a:srcRect r="5993"/>
          <a:stretch>
            <a:fillRect/>
          </a:stretch>
        </p:blipFill>
        <p:spPr>
          <a:xfrm>
            <a:off x="7804539" y="1091690"/>
            <a:ext cx="2548829" cy="4073348"/>
          </a:xfrm>
          <a:prstGeom prst="rect">
            <a:avLst/>
          </a:prstGeom>
          <a:ln>
            <a:noFill/>
          </a:ln>
          <a:effectLst>
            <a:outerShdw blurRad="292100" dist="139700" dir="2700000" algn="tl" rotWithShape="0">
              <a:srgbClr val="333333">
                <a:alpha val="65000"/>
              </a:srgbClr>
            </a:outerShdw>
          </a:effectLst>
        </p:spPr>
      </p:pic>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3591283864"/>
              </p:ext>
            </p:extLst>
          </p:nvPr>
        </p:nvGraphicFramePr>
        <p:xfrm>
          <a:off x="2413485" y="5500354"/>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(21)</a:t>
            </a:r>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
        <p:nvSpPr>
          <p:cNvPr id="5" name="TextBox 4">
            <a:extLst>
              <a:ext uri="{FF2B5EF4-FFF2-40B4-BE49-F238E27FC236}">
                <a16:creationId xmlns:a16="http://schemas.microsoft.com/office/drawing/2014/main" id="{17DB3B1C-0014-C160-BBD7-87D95140B12A}"/>
              </a:ext>
            </a:extLst>
          </p:cNvPr>
          <p:cNvSpPr txBox="1"/>
          <p:nvPr/>
        </p:nvSpPr>
        <p:spPr>
          <a:xfrm>
            <a:off x="1462741" y="2908817"/>
            <a:ext cx="10569389" cy="1882588"/>
          </a:xfrm>
          <a:prstGeom prst="rect">
            <a:avLst/>
          </a:prstGeom>
          <a:noFill/>
        </p:spPr>
        <p:txBody>
          <a:bodyPr wrap="square" lIns="0" tIns="0" rIns="0" bIns="0" rtlCol="0">
            <a:noAutofit/>
          </a:bodyPr>
          <a:lstStyle/>
          <a:p>
            <a:pPr algn="l"/>
            <a:r>
              <a:rPr lang="en-AU" sz="4400" b="1"/>
              <a:t>Solve </a:t>
            </a:r>
            <a:r>
              <a:rPr lang="en-AU" sz="4400"/>
              <a:t>45 x 45 using an </a:t>
            </a:r>
            <a:r>
              <a:rPr lang="en-AU" sz="4400" b="1"/>
              <a:t>area model.</a:t>
            </a:r>
          </a:p>
          <a:p>
            <a:pPr algn="l"/>
            <a:r>
              <a:rPr lang="en-AU" sz="1800"/>
              <a:t> </a:t>
            </a:r>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(22)</a:t>
            </a:r>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5" name="TextBox 4">
            <a:extLst>
              <a:ext uri="{FF2B5EF4-FFF2-40B4-BE49-F238E27FC236}">
                <a16:creationId xmlns:a16="http://schemas.microsoft.com/office/drawing/2014/main" id="{AF21F0A6-8D96-7FEB-8E5F-A3A9AD86A16D}"/>
              </a:ext>
            </a:extLst>
          </p:cNvPr>
          <p:cNvSpPr txBox="1"/>
          <p:nvPr/>
        </p:nvSpPr>
        <p:spPr>
          <a:xfrm>
            <a:off x="2001020" y="1876765"/>
            <a:ext cx="8189959" cy="393716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400">
                <a:cs typeface="Arial"/>
              </a:rPr>
              <a:t>Calculate the </a:t>
            </a:r>
            <a:r>
              <a:rPr lang="en-US" sz="4400" b="1">
                <a:cs typeface="Arial"/>
              </a:rPr>
              <a:t>elapsed time</a:t>
            </a:r>
            <a:r>
              <a:rPr lang="en-US" sz="4400">
                <a:cs typeface="Arial"/>
              </a:rPr>
              <a:t> from </a:t>
            </a:r>
            <a:r>
              <a:rPr lang="en-US" sz="4400" b="1">
                <a:cs typeface="Arial"/>
              </a:rPr>
              <a:t>9:15 am </a:t>
            </a:r>
            <a:r>
              <a:rPr lang="en-US" sz="4400">
                <a:cs typeface="Arial"/>
              </a:rPr>
              <a:t>to </a:t>
            </a:r>
            <a:r>
              <a:rPr lang="en-US" sz="4400" b="1">
                <a:cs typeface="Arial"/>
              </a:rPr>
              <a:t>11:10 am</a:t>
            </a:r>
            <a:r>
              <a:rPr lang="en-US" sz="4400">
                <a:cs typeface="Arial"/>
              </a:rPr>
              <a:t>.</a:t>
            </a:r>
          </a:p>
          <a:p>
            <a:pPr algn="ctr">
              <a:lnSpc>
                <a:spcPct val="150000"/>
              </a:lnSpc>
            </a:pPr>
            <a:endParaRPr lang="en-US" sz="4400">
              <a:cs typeface="Arial"/>
            </a:endParaRPr>
          </a:p>
          <a:p>
            <a:pPr algn="ctr">
              <a:lnSpc>
                <a:spcPct val="150000"/>
              </a:lnSpc>
            </a:pPr>
            <a:r>
              <a:rPr lang="en-US" sz="4400" b="1">
                <a:cs typeface="Arial" panose="020B0604020202020204"/>
              </a:rPr>
              <a:t>Communicate </a:t>
            </a:r>
            <a:r>
              <a:rPr lang="en-US" sz="4400">
                <a:cs typeface="Arial"/>
              </a:rPr>
              <a:t>your</a:t>
            </a:r>
            <a:r>
              <a:rPr lang="en-US" sz="4400" b="1">
                <a:cs typeface="Arial" panose="020B0604020202020204"/>
              </a:rPr>
              <a:t> reasoning</a:t>
            </a:r>
            <a:r>
              <a:rPr lang="en-AU" sz="4400"/>
              <a:t>.</a:t>
            </a:r>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(23)</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
        <p:nvSpPr>
          <p:cNvPr id="4" name="TextBox 3">
            <a:extLst>
              <a:ext uri="{FF2B5EF4-FFF2-40B4-BE49-F238E27FC236}">
                <a16:creationId xmlns:a16="http://schemas.microsoft.com/office/drawing/2014/main" id="{925270B9-39DC-4301-C646-3C47C307E255}"/>
              </a:ext>
            </a:extLst>
          </p:cNvPr>
          <p:cNvSpPr txBox="1"/>
          <p:nvPr/>
        </p:nvSpPr>
        <p:spPr>
          <a:xfrm>
            <a:off x="269811" y="1267374"/>
            <a:ext cx="11652378" cy="2407920"/>
          </a:xfrm>
          <a:prstGeom prst="rect">
            <a:avLst/>
          </a:prstGeom>
          <a:noFill/>
        </p:spPr>
        <p:txBody>
          <a:bodyPr wrap="square" lIns="0" tIns="0" rIns="0" bIns="0" rtlCol="0">
            <a:noAutofit/>
          </a:bodyPr>
          <a:lstStyle/>
          <a:p>
            <a:pPr algn="ctr">
              <a:lnSpc>
                <a:spcPct val="150000"/>
              </a:lnSpc>
            </a:pPr>
            <a:r>
              <a:rPr lang="en-AU" sz="4400"/>
              <a:t>0.750 </a:t>
            </a:r>
            <a:r>
              <a:rPr lang="en-AU" sz="4400" b="1"/>
              <a:t>mL</a:t>
            </a:r>
            <a:r>
              <a:rPr lang="en-AU" sz="4400"/>
              <a:t> can also be </a:t>
            </a:r>
            <a:r>
              <a:rPr lang="en-AU" sz="4400" b="1"/>
              <a:t>represented</a:t>
            </a:r>
            <a:r>
              <a:rPr lang="en-AU" sz="4400"/>
              <a:t> as _______</a:t>
            </a:r>
            <a:r>
              <a:rPr lang="en-AU" sz="4400" b="1"/>
              <a:t>L.</a:t>
            </a:r>
          </a:p>
          <a:p>
            <a:pPr algn="ctr">
              <a:lnSpc>
                <a:spcPct val="150000"/>
              </a:lnSpc>
            </a:pPr>
            <a:endParaRPr lang="en-AU" sz="4400"/>
          </a:p>
          <a:p>
            <a:pPr algn="ctr">
              <a:lnSpc>
                <a:spcPct val="150000"/>
              </a:lnSpc>
            </a:pPr>
            <a:r>
              <a:rPr lang="en-AU" sz="4400"/>
              <a:t>0.980 </a:t>
            </a:r>
            <a:r>
              <a:rPr lang="en-AU" sz="4400" b="1"/>
              <a:t>L</a:t>
            </a:r>
            <a:r>
              <a:rPr lang="en-AU" sz="4400"/>
              <a:t> can also be </a:t>
            </a:r>
            <a:r>
              <a:rPr lang="en-AU" sz="4400" b="1"/>
              <a:t>represented</a:t>
            </a:r>
            <a:r>
              <a:rPr lang="en-AU" sz="4400"/>
              <a:t> as ______</a:t>
            </a:r>
            <a:r>
              <a:rPr lang="en-AU" sz="4400" b="1"/>
              <a:t>mL.</a:t>
            </a:r>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(24)</a:t>
            </a:r>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
        <p:nvSpPr>
          <p:cNvPr id="4" name="TextBox 3">
            <a:extLst>
              <a:ext uri="{FF2B5EF4-FFF2-40B4-BE49-F238E27FC236}">
                <a16:creationId xmlns:a16="http://schemas.microsoft.com/office/drawing/2014/main" id="{80AE40D4-01EE-33F0-17AF-622C79B4C549}"/>
              </a:ext>
            </a:extLst>
          </p:cNvPr>
          <p:cNvSpPr txBox="1"/>
          <p:nvPr/>
        </p:nvSpPr>
        <p:spPr>
          <a:xfrm>
            <a:off x="883578" y="1710508"/>
            <a:ext cx="10146898" cy="2034283"/>
          </a:xfrm>
          <a:prstGeom prst="rect">
            <a:avLst/>
          </a:prstGeom>
          <a:noFill/>
        </p:spPr>
        <p:txBody>
          <a:bodyPr wrap="square" lIns="0" tIns="0" rIns="0" bIns="0" rtlCol="0">
            <a:noAutofit/>
          </a:bodyPr>
          <a:lstStyle/>
          <a:p>
            <a:pPr algn="ctr">
              <a:lnSpc>
                <a:spcPct val="150000"/>
              </a:lnSpc>
            </a:pPr>
            <a:r>
              <a:rPr lang="en-AU" sz="4400"/>
              <a:t>What </a:t>
            </a:r>
            <a:r>
              <a:rPr lang="en-AU" sz="4400" b="1"/>
              <a:t>three-dimensional</a:t>
            </a:r>
            <a:r>
              <a:rPr lang="en-AU" sz="4400"/>
              <a:t> object has a </a:t>
            </a:r>
            <a:r>
              <a:rPr lang="en-AU" sz="4400" b="1"/>
              <a:t>square</a:t>
            </a:r>
            <a:r>
              <a:rPr lang="en-AU" sz="4400"/>
              <a:t> base and </a:t>
            </a:r>
            <a:r>
              <a:rPr lang="en-AU" sz="4400" b="1"/>
              <a:t>4 vertices</a:t>
            </a:r>
            <a:r>
              <a:rPr lang="en-AU" sz="4400"/>
              <a:t>?</a:t>
            </a:r>
          </a:p>
          <a:p>
            <a:pPr algn="ctr">
              <a:lnSpc>
                <a:spcPct val="150000"/>
              </a:lnSpc>
            </a:pPr>
            <a:r>
              <a:rPr lang="en-AU" sz="4400" b="1"/>
              <a:t>Sketch</a:t>
            </a:r>
            <a:r>
              <a:rPr lang="en-AU" sz="4400"/>
              <a:t> the shape.</a:t>
            </a:r>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formal algorithms</a:t>
            </a:r>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46</a:t>
            </a:fld>
            <a:endParaRPr lang="en-AU"/>
          </a:p>
        </p:txBody>
      </p:sp>
      <p:sp>
        <p:nvSpPr>
          <p:cNvPr id="5" name="TextBox 4">
            <a:extLst>
              <a:ext uri="{FF2B5EF4-FFF2-40B4-BE49-F238E27FC236}">
                <a16:creationId xmlns:a16="http://schemas.microsoft.com/office/drawing/2014/main" id="{78D5BF1E-C3FE-0AAA-8186-CF379FD467E3}"/>
              </a:ext>
            </a:extLst>
          </p:cNvPr>
          <p:cNvSpPr txBox="1"/>
          <p:nvPr/>
        </p:nvSpPr>
        <p:spPr>
          <a:xfrm>
            <a:off x="3909734" y="2324109"/>
            <a:ext cx="6098240" cy="1200329"/>
          </a:xfrm>
          <a:prstGeom prst="rect">
            <a:avLst/>
          </a:prstGeom>
          <a:noFill/>
        </p:spPr>
        <p:txBody>
          <a:bodyPr wrap="square">
            <a:spAutoFit/>
          </a:bodyPr>
          <a:lstStyle/>
          <a:p>
            <a:r>
              <a:rPr lang="en-AU" sz="7200">
                <a:effectLst/>
                <a:latin typeface="Arial" panose="020B0604020202020204" pitchFamily="34" charset="0"/>
                <a:ea typeface="Calibri" panose="020F0502020204030204" pitchFamily="34" charset="0"/>
              </a:rPr>
              <a:t>345 x 7 = </a:t>
            </a:r>
            <a:endParaRPr lang="en-AU" sz="7200"/>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US">
                <a:latin typeface="Arial"/>
                <a:cs typeface="Arial"/>
              </a:rPr>
              <a:t>Multiple choice </a:t>
            </a:r>
            <a:r>
              <a:rPr lang="en-US">
                <a:solidFill>
                  <a:schemeClr val="bg1"/>
                </a:solidFill>
                <a:latin typeface="Arial"/>
                <a:cs typeface="Arial"/>
              </a:rPr>
              <a:t>(4)</a:t>
            </a:r>
          </a:p>
        </p:txBody>
      </p:sp>
      <p:sp>
        <p:nvSpPr>
          <p:cNvPr id="18" name="Text Placeholder 17">
            <a:extLst>
              <a:ext uri="{FF2B5EF4-FFF2-40B4-BE49-F238E27FC236}">
                <a16:creationId xmlns:a16="http://schemas.microsoft.com/office/drawing/2014/main" id="{9E5118E7-BD4E-1C6F-9677-4C0228A02948}"/>
              </a:ext>
            </a:extLst>
          </p:cNvPr>
          <p:cNvSpPr>
            <a:spLocks noGrp="1"/>
          </p:cNvSpPr>
          <p:nvPr>
            <p:ph type="body" sz="quarter" idx="24"/>
          </p:nvPr>
        </p:nvSpPr>
        <p:spPr>
          <a:xfrm>
            <a:off x="360000" y="1007381"/>
            <a:ext cx="11243037" cy="893226"/>
          </a:xfrm>
        </p:spPr>
        <p:txBody>
          <a:bodyPr/>
          <a:lstStyle/>
          <a:p>
            <a:pPr algn="ctr"/>
            <a:r>
              <a:rPr lang="en-US" sz="4400" dirty="0"/>
              <a:t>Which </a:t>
            </a:r>
            <a:r>
              <a:rPr lang="en-US" sz="4400" b="1" dirty="0"/>
              <a:t>algorithm</a:t>
            </a:r>
            <a:r>
              <a:rPr lang="en-US" sz="4400" dirty="0"/>
              <a:t> is </a:t>
            </a:r>
            <a:r>
              <a:rPr lang="en-US" sz="4400" b="1" dirty="0"/>
              <a:t>correct?</a:t>
            </a:r>
          </a:p>
        </p:txBody>
      </p:sp>
      <p:sp>
        <p:nvSpPr>
          <p:cNvPr id="9" name="TextBox 8">
            <a:extLst>
              <a:ext uri="{FF2B5EF4-FFF2-40B4-BE49-F238E27FC236}">
                <a16:creationId xmlns:a16="http://schemas.microsoft.com/office/drawing/2014/main" id="{8B9CE09D-4912-352C-EDD3-2F5B22293E2B}"/>
              </a:ext>
              <a:ext uri="{C183D7F6-B498-43B3-948B-1728B52AA6E4}">
                <adec:decorative xmlns:adec="http://schemas.microsoft.com/office/drawing/2017/decorative" val="1"/>
              </a:ext>
            </a:extLst>
          </p:cNvPr>
          <p:cNvSpPr txBox="1"/>
          <p:nvPr/>
        </p:nvSpPr>
        <p:spPr>
          <a:xfrm>
            <a:off x="2224289" y="212602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0" name="TextBox 9">
            <a:extLst>
              <a:ext uri="{FF2B5EF4-FFF2-40B4-BE49-F238E27FC236}">
                <a16:creationId xmlns:a16="http://schemas.microsoft.com/office/drawing/2014/main" id="{6720C9BD-206D-1246-CC58-B94DA2A9FDA7}"/>
              </a:ext>
              <a:ext uri="{C183D7F6-B498-43B3-948B-1728B52AA6E4}">
                <adec:decorative xmlns:adec="http://schemas.microsoft.com/office/drawing/2017/decorative" val="1"/>
              </a:ext>
            </a:extLst>
          </p:cNvPr>
          <p:cNvSpPr txBox="1"/>
          <p:nvPr/>
        </p:nvSpPr>
        <p:spPr>
          <a:xfrm>
            <a:off x="4534371" y="212602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53D31413-FF78-7189-1A0F-0B12F84CC32D}"/>
              </a:ext>
              <a:ext uri="{C183D7F6-B498-43B3-948B-1728B52AA6E4}">
                <adec:decorative xmlns:adec="http://schemas.microsoft.com/office/drawing/2017/decorative" val="1"/>
              </a:ext>
            </a:extLst>
          </p:cNvPr>
          <p:cNvSpPr txBox="1"/>
          <p:nvPr/>
        </p:nvSpPr>
        <p:spPr>
          <a:xfrm>
            <a:off x="6721612" y="212602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11" name="TextBox 10">
            <a:extLst>
              <a:ext uri="{FF2B5EF4-FFF2-40B4-BE49-F238E27FC236}">
                <a16:creationId xmlns:a16="http://schemas.microsoft.com/office/drawing/2014/main" id="{F03294A5-CB62-91E6-0D20-1199ECBFAF01}"/>
              </a:ext>
              <a:ext uri="{C183D7F6-B498-43B3-948B-1728B52AA6E4}">
                <adec:decorative xmlns:adec="http://schemas.microsoft.com/office/drawing/2017/decorative" val="1"/>
              </a:ext>
            </a:extLst>
          </p:cNvPr>
          <p:cNvSpPr txBox="1"/>
          <p:nvPr/>
        </p:nvSpPr>
        <p:spPr>
          <a:xfrm>
            <a:off x="9164492" y="210530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pic>
        <p:nvPicPr>
          <p:cNvPr id="4" name="Picture 3" descr="image of a finger selecting an option for a multiple choice or true and false">
            <a:extLst>
              <a:ext uri="{FF2B5EF4-FFF2-40B4-BE49-F238E27FC236}">
                <a16:creationId xmlns:a16="http://schemas.microsoft.com/office/drawing/2014/main" id="{C493834B-1122-BF06-4664-175E7A7DB28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FF35F4CD-8487-40BA-C995-9F75C9273AD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pic>
        <p:nvPicPr>
          <p:cNvPr id="20" name="Picture 19" descr="A) 564 x 5 equals 20, 300, 2500 equals the total of 2820&#10;B) 564 x 5 equals 20, 250, 2500 equals 2850&#10;C) 564 x 5 equals 20, 300, 2500 equals 3420&#10;D) 564 x 5 equals 20, 300, 25000 equals 28200.">
            <a:extLst>
              <a:ext uri="{FF2B5EF4-FFF2-40B4-BE49-F238E27FC236}">
                <a16:creationId xmlns:a16="http://schemas.microsoft.com/office/drawing/2014/main" id="{936C1496-DA1C-ABD7-5DF7-DF08B8AF8B25}"/>
              </a:ext>
            </a:extLst>
          </p:cNvPr>
          <p:cNvPicPr>
            <a:picLocks noChangeAspect="1"/>
          </p:cNvPicPr>
          <p:nvPr/>
        </p:nvPicPr>
        <p:blipFill>
          <a:blip r:embed="rId4"/>
          <a:stretch>
            <a:fillRect/>
          </a:stretch>
        </p:blipFill>
        <p:spPr>
          <a:xfrm>
            <a:off x="1314717" y="2771925"/>
            <a:ext cx="8763331" cy="4100361"/>
          </a:xfrm>
          <a:prstGeom prst="rect">
            <a:avLst/>
          </a:prstGeom>
        </p:spPr>
      </p:pic>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(25)</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sp>
        <p:nvSpPr>
          <p:cNvPr id="4" name="TextBox 3">
            <a:extLst>
              <a:ext uri="{FF2B5EF4-FFF2-40B4-BE49-F238E27FC236}">
                <a16:creationId xmlns:a16="http://schemas.microsoft.com/office/drawing/2014/main" id="{999B548F-DF61-0B05-CF1F-1BE629BE6EFB}"/>
              </a:ext>
            </a:extLst>
          </p:cNvPr>
          <p:cNvSpPr txBox="1"/>
          <p:nvPr/>
        </p:nvSpPr>
        <p:spPr>
          <a:xfrm>
            <a:off x="968400" y="2209570"/>
            <a:ext cx="10515600" cy="1640541"/>
          </a:xfrm>
          <a:prstGeom prst="rect">
            <a:avLst/>
          </a:prstGeom>
          <a:noFill/>
        </p:spPr>
        <p:txBody>
          <a:bodyPr wrap="square" lIns="0" tIns="0" rIns="0" bIns="0" rtlCol="0">
            <a:noAutofit/>
          </a:bodyPr>
          <a:lstStyle/>
          <a:p>
            <a:pPr algn="ctr">
              <a:lnSpc>
                <a:spcPct val="150000"/>
              </a:lnSpc>
            </a:pPr>
            <a:r>
              <a:rPr lang="en-AU" sz="4400"/>
              <a:t>If 4 identical bikes cost </a:t>
            </a:r>
            <a:r>
              <a:rPr lang="en-AU" sz="4400" b="1"/>
              <a:t>$1648</a:t>
            </a:r>
            <a:r>
              <a:rPr lang="en-AU" sz="4400"/>
              <a:t>, what is the </a:t>
            </a:r>
            <a:r>
              <a:rPr lang="en-AU" sz="4400" b="1"/>
              <a:t>cost</a:t>
            </a:r>
            <a:r>
              <a:rPr lang="en-AU" sz="4400"/>
              <a:t> of one bike?</a:t>
            </a:r>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(26)</a:t>
            </a:r>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
        <p:nvSpPr>
          <p:cNvPr id="4" name="TextBox 3">
            <a:extLst>
              <a:ext uri="{FF2B5EF4-FFF2-40B4-BE49-F238E27FC236}">
                <a16:creationId xmlns:a16="http://schemas.microsoft.com/office/drawing/2014/main" id="{6529E543-87D5-DBEA-2417-55BA9DFF4168}"/>
              </a:ext>
            </a:extLst>
          </p:cNvPr>
          <p:cNvSpPr txBox="1"/>
          <p:nvPr/>
        </p:nvSpPr>
        <p:spPr>
          <a:xfrm>
            <a:off x="787950" y="1881527"/>
            <a:ext cx="10242526" cy="393716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400">
                <a:cs typeface="Arial"/>
              </a:rPr>
              <a:t>Nadia drove for </a:t>
            </a:r>
            <a:r>
              <a:rPr lang="en-US" sz="4400" b="1">
                <a:cs typeface="Arial"/>
              </a:rPr>
              <a:t>5 hours </a:t>
            </a:r>
            <a:r>
              <a:rPr lang="en-US" sz="4400">
                <a:cs typeface="Arial"/>
              </a:rPr>
              <a:t>and </a:t>
            </a:r>
            <a:r>
              <a:rPr lang="en-US" sz="4400" b="1">
                <a:cs typeface="Arial"/>
              </a:rPr>
              <a:t>50 minutes</a:t>
            </a:r>
            <a:r>
              <a:rPr lang="en-US" sz="4400">
                <a:cs typeface="Arial"/>
              </a:rPr>
              <a:t>. She </a:t>
            </a:r>
            <a:r>
              <a:rPr lang="en-US" sz="4400" b="1">
                <a:cs typeface="Arial"/>
              </a:rPr>
              <a:t>arrived</a:t>
            </a:r>
            <a:r>
              <a:rPr lang="en-US" sz="4400">
                <a:cs typeface="Arial"/>
              </a:rPr>
              <a:t> at </a:t>
            </a:r>
            <a:r>
              <a:rPr lang="en-US" sz="4400" b="1">
                <a:cs typeface="Arial"/>
              </a:rPr>
              <a:t>17:45</a:t>
            </a:r>
            <a:r>
              <a:rPr lang="en-US" sz="4400">
                <a:cs typeface="Arial"/>
              </a:rPr>
              <a:t>.</a:t>
            </a:r>
          </a:p>
          <a:p>
            <a:pPr algn="ctr">
              <a:lnSpc>
                <a:spcPct val="150000"/>
              </a:lnSpc>
            </a:pPr>
            <a:r>
              <a:rPr lang="en-US" sz="4400">
                <a:cs typeface="Arial"/>
              </a:rPr>
              <a:t>Use a </a:t>
            </a:r>
            <a:r>
              <a:rPr lang="en-US" sz="4400" b="1">
                <a:cs typeface="Arial"/>
              </a:rPr>
              <a:t>bridging strategy </a:t>
            </a:r>
            <a:r>
              <a:rPr lang="en-US" sz="4400">
                <a:cs typeface="Arial"/>
              </a:rPr>
              <a:t>to</a:t>
            </a:r>
            <a:r>
              <a:rPr lang="en-US" sz="4400" b="1">
                <a:cs typeface="Arial"/>
              </a:rPr>
              <a:t> </a:t>
            </a:r>
            <a:r>
              <a:rPr lang="en-US" sz="4400">
                <a:cs typeface="Arial"/>
              </a:rPr>
              <a:t>calculate the time she left. </a:t>
            </a:r>
            <a:endParaRPr lang="en-US"/>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(27)</a:t>
            </a:r>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4" name="TextBox 3">
            <a:extLst>
              <a:ext uri="{FF2B5EF4-FFF2-40B4-BE49-F238E27FC236}">
                <a16:creationId xmlns:a16="http://schemas.microsoft.com/office/drawing/2014/main" id="{917998D9-6E20-890F-836D-FCBF510AF134}"/>
              </a:ext>
            </a:extLst>
          </p:cNvPr>
          <p:cNvSpPr txBox="1"/>
          <p:nvPr/>
        </p:nvSpPr>
        <p:spPr>
          <a:xfrm>
            <a:off x="809716" y="2413897"/>
            <a:ext cx="10674284" cy="1742440"/>
          </a:xfrm>
          <a:prstGeom prst="rect">
            <a:avLst/>
          </a:prstGeom>
          <a:noFill/>
        </p:spPr>
        <p:txBody>
          <a:bodyPr wrap="square" lIns="0" tIns="0" rIns="0" bIns="0" rtlCol="0">
            <a:noAutofit/>
          </a:bodyPr>
          <a:lstStyle/>
          <a:p>
            <a:pPr algn="l"/>
            <a:r>
              <a:rPr lang="en-AU" sz="4400"/>
              <a:t>Record </a:t>
            </a:r>
            <a:r>
              <a:rPr lang="en-AU" sz="4400" b="1"/>
              <a:t>1256</a:t>
            </a:r>
            <a:r>
              <a:rPr lang="en-AU" sz="4400"/>
              <a:t> </a:t>
            </a:r>
            <a:r>
              <a:rPr lang="en-AU" sz="4400" b="1"/>
              <a:t>mL</a:t>
            </a:r>
            <a:r>
              <a:rPr lang="en-AU" sz="4400"/>
              <a:t> using </a:t>
            </a:r>
            <a:r>
              <a:rPr lang="en-AU" sz="4400" b="1"/>
              <a:t>decimal notation</a:t>
            </a:r>
            <a:r>
              <a:rPr lang="en-AU" sz="4400"/>
              <a:t>.</a:t>
            </a:r>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(28)</a:t>
            </a:r>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
        <p:nvSpPr>
          <p:cNvPr id="4" name="TextBox 3">
            <a:extLst>
              <a:ext uri="{FF2B5EF4-FFF2-40B4-BE49-F238E27FC236}">
                <a16:creationId xmlns:a16="http://schemas.microsoft.com/office/drawing/2014/main" id="{D36BBC43-D42F-D2A0-8C0B-8A2197504A67}"/>
              </a:ext>
            </a:extLst>
          </p:cNvPr>
          <p:cNvSpPr txBox="1"/>
          <p:nvPr/>
        </p:nvSpPr>
        <p:spPr>
          <a:xfrm>
            <a:off x="970651" y="2455386"/>
            <a:ext cx="10250697" cy="2137024"/>
          </a:xfrm>
          <a:prstGeom prst="rect">
            <a:avLst/>
          </a:prstGeom>
          <a:noFill/>
        </p:spPr>
        <p:txBody>
          <a:bodyPr wrap="square" lIns="0" tIns="0" rIns="0" bIns="0" rtlCol="0">
            <a:noAutofit/>
          </a:bodyPr>
          <a:lstStyle/>
          <a:p>
            <a:pPr algn="ctr">
              <a:lnSpc>
                <a:spcPct val="150000"/>
              </a:lnSpc>
            </a:pPr>
            <a:r>
              <a:rPr lang="en-AU" sz="4400"/>
              <a:t>2.45 </a:t>
            </a:r>
            <a:r>
              <a:rPr lang="en-AU" sz="4400" b="1"/>
              <a:t>kg</a:t>
            </a:r>
            <a:r>
              <a:rPr lang="en-AU" sz="4400"/>
              <a:t> is the same as _____ </a:t>
            </a:r>
            <a:r>
              <a:rPr lang="en-AU" sz="4400" b="1"/>
              <a:t>kilograms</a:t>
            </a:r>
            <a:r>
              <a:rPr lang="en-AU" sz="4400"/>
              <a:t> and _____ </a:t>
            </a:r>
            <a:r>
              <a:rPr lang="en-AU" sz="4400" b="1"/>
              <a:t>grams.</a:t>
            </a:r>
          </a:p>
          <a:p>
            <a:pPr algn="l"/>
            <a:endParaRPr lang="en-AU" sz="1800"/>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Jordan’s algorithm</a:t>
            </a:r>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53</a:t>
            </a:fld>
            <a:endParaRPr lang="en-AU"/>
          </a:p>
        </p:txBody>
      </p:sp>
      <p:pic>
        <p:nvPicPr>
          <p:cNvPr id="3" name="Picture 2" descr="A formal algorithm that says 186 x 7 = 1262. Next to the 8 in the number 186, a four has been carried over and next to the 1 in the number 186, a 5 has been carried over.">
            <a:extLst>
              <a:ext uri="{FF2B5EF4-FFF2-40B4-BE49-F238E27FC236}">
                <a16:creationId xmlns:a16="http://schemas.microsoft.com/office/drawing/2014/main" id="{D55AB6C2-2DEB-22E7-03E9-67916091FAC7}"/>
              </a:ext>
            </a:extLst>
          </p:cNvPr>
          <p:cNvPicPr>
            <a:picLocks noChangeAspect="1"/>
          </p:cNvPicPr>
          <p:nvPr/>
        </p:nvPicPr>
        <p:blipFill>
          <a:blip r:embed="rId4"/>
          <a:stretch>
            <a:fillRect/>
          </a:stretch>
        </p:blipFill>
        <p:spPr>
          <a:xfrm>
            <a:off x="2564329" y="1428479"/>
            <a:ext cx="6001447" cy="4462268"/>
          </a:xfrm>
          <a:prstGeom prst="rect">
            <a:avLst/>
          </a:prstGeom>
        </p:spPr>
      </p:pic>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(4)</a:t>
            </a:r>
          </a:p>
        </p:txBody>
      </p:sp>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5" name="TextBox 4">
            <a:extLst>
              <a:ext uri="{FF2B5EF4-FFF2-40B4-BE49-F238E27FC236}">
                <a16:creationId xmlns:a16="http://schemas.microsoft.com/office/drawing/2014/main" id="{FD72BECB-0296-224E-81D7-E9B45D8CFF97}"/>
              </a:ext>
            </a:extLst>
          </p:cNvPr>
          <p:cNvSpPr txBox="1"/>
          <p:nvPr/>
        </p:nvSpPr>
        <p:spPr>
          <a:xfrm>
            <a:off x="1524000" y="1752600"/>
            <a:ext cx="5842000" cy="1828800"/>
          </a:xfrm>
          <a:prstGeom prst="rect">
            <a:avLst/>
          </a:prstGeom>
          <a:noFill/>
        </p:spPr>
        <p:txBody>
          <a:bodyPr wrap="square" lIns="0" tIns="0" rIns="0" bIns="0" rtlCol="0">
            <a:noAutofit/>
          </a:bodyPr>
          <a:lstStyle/>
          <a:p>
            <a:pPr algn="l">
              <a:lnSpc>
                <a:spcPct val="150000"/>
              </a:lnSpc>
            </a:pPr>
            <a:r>
              <a:rPr lang="en-AU" sz="4400" dirty="0"/>
              <a:t>Tim correctly used a </a:t>
            </a:r>
            <a:r>
              <a:rPr lang="en-AU" sz="4400" b="1" dirty="0"/>
              <a:t>formal algorithm</a:t>
            </a:r>
            <a:r>
              <a:rPr lang="en-AU" sz="4400" dirty="0"/>
              <a:t>.</a:t>
            </a:r>
          </a:p>
        </p:txBody>
      </p:sp>
      <p:pic>
        <p:nvPicPr>
          <p:cNvPr id="9" name="Picture 8" descr="291 x 8 equals 8, 72, 1600 equals 1680">
            <a:extLst>
              <a:ext uri="{FF2B5EF4-FFF2-40B4-BE49-F238E27FC236}">
                <a16:creationId xmlns:a16="http://schemas.microsoft.com/office/drawing/2014/main" id="{8E8D85A8-7AA2-FF2D-376C-311ACABCAF6C}"/>
              </a:ext>
            </a:extLst>
          </p:cNvPr>
          <p:cNvPicPr>
            <a:picLocks noChangeAspect="1"/>
          </p:cNvPicPr>
          <p:nvPr/>
        </p:nvPicPr>
        <p:blipFill>
          <a:blip r:embed="rId4"/>
          <a:stretch>
            <a:fillRect/>
          </a:stretch>
        </p:blipFill>
        <p:spPr>
          <a:xfrm>
            <a:off x="8347588" y="1184019"/>
            <a:ext cx="2027704" cy="4152627"/>
          </a:xfrm>
          <a:prstGeom prst="rect">
            <a:avLst/>
          </a:prstGeom>
          <a:ln>
            <a:noFill/>
          </a:ln>
          <a:effectLst>
            <a:outerShdw blurRad="292100" dist="139700" dir="2700000" algn="tl" rotWithShape="0">
              <a:srgbClr val="333333">
                <a:alpha val="65000"/>
              </a:srgbClr>
            </a:outerShdw>
          </a:effectLst>
        </p:spPr>
      </p:pic>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1444470738"/>
              </p:ext>
            </p:extLst>
          </p:nvPr>
        </p:nvGraphicFramePr>
        <p:xfrm>
          <a:off x="2557462" y="5594564"/>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(29)</a:t>
            </a:r>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sp>
        <p:nvSpPr>
          <p:cNvPr id="4" name="TextBox 3">
            <a:extLst>
              <a:ext uri="{FF2B5EF4-FFF2-40B4-BE49-F238E27FC236}">
                <a16:creationId xmlns:a16="http://schemas.microsoft.com/office/drawing/2014/main" id="{F25D9E3F-2B3F-0D17-7B50-C62E43989FF8}"/>
              </a:ext>
            </a:extLst>
          </p:cNvPr>
          <p:cNvSpPr txBox="1"/>
          <p:nvPr/>
        </p:nvSpPr>
        <p:spPr>
          <a:xfrm>
            <a:off x="833718" y="1184223"/>
            <a:ext cx="9893550" cy="2326341"/>
          </a:xfrm>
          <a:prstGeom prst="rect">
            <a:avLst/>
          </a:prstGeom>
          <a:noFill/>
        </p:spPr>
        <p:txBody>
          <a:bodyPr wrap="square" lIns="0" tIns="0" rIns="0" bIns="0" rtlCol="0">
            <a:noAutofit/>
          </a:bodyPr>
          <a:lstStyle/>
          <a:p>
            <a:pPr algn="l">
              <a:lnSpc>
                <a:spcPct val="150000"/>
              </a:lnSpc>
              <a:spcBef>
                <a:spcPts val="1200"/>
              </a:spcBef>
              <a:spcAft>
                <a:spcPts val="600"/>
              </a:spcAft>
            </a:pPr>
            <a:r>
              <a:rPr lang="en-AU" sz="4400" b="1">
                <a:latin typeface="+mj-lt"/>
              </a:rPr>
              <a:t>Multiply</a:t>
            </a:r>
            <a:r>
              <a:rPr lang="en-AU" sz="4400">
                <a:latin typeface="+mj-lt"/>
              </a:rPr>
              <a:t> 0.75 by:</a:t>
            </a:r>
          </a:p>
          <a:p>
            <a:pPr marL="571500" indent="-571500" algn="l">
              <a:lnSpc>
                <a:spcPct val="150000"/>
              </a:lnSpc>
              <a:spcBef>
                <a:spcPts val="1200"/>
              </a:spcBef>
              <a:spcAft>
                <a:spcPts val="600"/>
              </a:spcAft>
              <a:buFont typeface="Arial" panose="020B0604020202020204" pitchFamily="34" charset="0"/>
              <a:buChar char="•"/>
            </a:pPr>
            <a:r>
              <a:rPr lang="en-AU" sz="4400">
                <a:latin typeface="+mj-lt"/>
              </a:rPr>
              <a:t>10</a:t>
            </a:r>
          </a:p>
          <a:p>
            <a:pPr marL="571500" indent="-571500" algn="l">
              <a:lnSpc>
                <a:spcPct val="150000"/>
              </a:lnSpc>
              <a:spcBef>
                <a:spcPts val="1200"/>
              </a:spcBef>
              <a:spcAft>
                <a:spcPts val="600"/>
              </a:spcAft>
              <a:buFont typeface="Arial" panose="020B0604020202020204" pitchFamily="34" charset="0"/>
              <a:buChar char="•"/>
            </a:pPr>
            <a:r>
              <a:rPr lang="en-AU" sz="4400">
                <a:latin typeface="+mj-lt"/>
              </a:rPr>
              <a:t>100</a:t>
            </a:r>
          </a:p>
          <a:p>
            <a:pPr marL="571500" indent="-571500" algn="l">
              <a:lnSpc>
                <a:spcPct val="150000"/>
              </a:lnSpc>
              <a:spcBef>
                <a:spcPts val="1200"/>
              </a:spcBef>
              <a:spcAft>
                <a:spcPts val="600"/>
              </a:spcAft>
              <a:buFont typeface="Arial" panose="020B0604020202020204" pitchFamily="34" charset="0"/>
              <a:buChar char="•"/>
            </a:pPr>
            <a:r>
              <a:rPr lang="en-AU" sz="4400">
                <a:latin typeface="+mj-lt"/>
              </a:rPr>
              <a:t>1000</a:t>
            </a:r>
          </a:p>
          <a:p>
            <a:pPr algn="l"/>
            <a:endParaRPr lang="en-AU" sz="1800"/>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
        <p:nvSpPr>
          <p:cNvPr id="4" name="TextBox 3">
            <a:extLst>
              <a:ext uri="{FF2B5EF4-FFF2-40B4-BE49-F238E27FC236}">
                <a16:creationId xmlns:a16="http://schemas.microsoft.com/office/drawing/2014/main" id="{F30AE9D9-75BE-5604-484F-AA8F8AE17DD2}"/>
              </a:ext>
            </a:extLst>
          </p:cNvPr>
          <p:cNvSpPr txBox="1"/>
          <p:nvPr/>
        </p:nvSpPr>
        <p:spPr>
          <a:xfrm>
            <a:off x="787950" y="1027930"/>
            <a:ext cx="10242526" cy="495283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400">
                <a:cs typeface="Arial"/>
              </a:rPr>
              <a:t>Steph played video games from</a:t>
            </a:r>
          </a:p>
          <a:p>
            <a:pPr algn="ctr">
              <a:lnSpc>
                <a:spcPct val="150000"/>
              </a:lnSpc>
            </a:pPr>
            <a:r>
              <a:rPr lang="en-US" sz="4400">
                <a:cs typeface="Arial"/>
              </a:rPr>
              <a:t> </a:t>
            </a:r>
            <a:r>
              <a:rPr lang="en-US" sz="4400" b="1">
                <a:cs typeface="Arial"/>
              </a:rPr>
              <a:t>7:45 pm – 9:05 pm</a:t>
            </a:r>
            <a:r>
              <a:rPr lang="en-US" sz="4400">
                <a:cs typeface="Arial"/>
              </a:rPr>
              <a:t>. </a:t>
            </a:r>
          </a:p>
          <a:p>
            <a:pPr algn="ctr">
              <a:lnSpc>
                <a:spcPct val="150000"/>
              </a:lnSpc>
            </a:pPr>
            <a:endParaRPr lang="en-US" sz="4400">
              <a:cs typeface="Arial"/>
            </a:endParaRPr>
          </a:p>
          <a:p>
            <a:pPr algn="ctr">
              <a:lnSpc>
                <a:spcPct val="150000"/>
              </a:lnSpc>
            </a:pPr>
            <a:r>
              <a:rPr lang="en-US" sz="4400" b="1">
                <a:cs typeface="Arial"/>
              </a:rPr>
              <a:t>Calculate</a:t>
            </a:r>
            <a:r>
              <a:rPr lang="en-US" sz="4400">
                <a:cs typeface="Arial"/>
              </a:rPr>
              <a:t> the time she spent playing video games.</a:t>
            </a:r>
            <a:endParaRPr lang="en-US"/>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(31)</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
        <p:nvSpPr>
          <p:cNvPr id="4" name="TextBox 3">
            <a:extLst>
              <a:ext uri="{FF2B5EF4-FFF2-40B4-BE49-F238E27FC236}">
                <a16:creationId xmlns:a16="http://schemas.microsoft.com/office/drawing/2014/main" id="{183C1187-F3FC-4667-8BA3-0F79DEC33766}"/>
              </a:ext>
            </a:extLst>
          </p:cNvPr>
          <p:cNvSpPr txBox="1"/>
          <p:nvPr/>
        </p:nvSpPr>
        <p:spPr>
          <a:xfrm>
            <a:off x="600151" y="1184223"/>
            <a:ext cx="10523849" cy="1489753"/>
          </a:xfrm>
          <a:prstGeom prst="rect">
            <a:avLst/>
          </a:prstGeom>
          <a:noFill/>
        </p:spPr>
        <p:txBody>
          <a:bodyPr wrap="square" lIns="0" tIns="0" rIns="0" bIns="0" rtlCol="0">
            <a:noAutofit/>
          </a:bodyPr>
          <a:lstStyle/>
          <a:p>
            <a:pPr algn="ctr">
              <a:lnSpc>
                <a:spcPct val="150000"/>
              </a:lnSpc>
            </a:pPr>
            <a:r>
              <a:rPr lang="en-AU" sz="4000" b="1"/>
              <a:t>Record </a:t>
            </a:r>
            <a:r>
              <a:rPr lang="en-AU" sz="4000"/>
              <a:t>the </a:t>
            </a:r>
            <a:r>
              <a:rPr lang="en-AU" sz="4000" b="1"/>
              <a:t>capacities</a:t>
            </a:r>
            <a:r>
              <a:rPr lang="en-AU" sz="4000"/>
              <a:t> of these </a:t>
            </a:r>
            <a:r>
              <a:rPr lang="en-AU" sz="4000" b="1"/>
              <a:t>containers</a:t>
            </a:r>
            <a:r>
              <a:rPr lang="en-AU" sz="4000"/>
              <a:t> in </a:t>
            </a:r>
            <a:r>
              <a:rPr lang="en-AU" sz="4000" b="1"/>
              <a:t>mL </a:t>
            </a:r>
            <a:r>
              <a:rPr lang="en-AU" sz="4000"/>
              <a:t>in order from </a:t>
            </a:r>
            <a:r>
              <a:rPr lang="en-AU" sz="4000" b="1"/>
              <a:t>smallest </a:t>
            </a:r>
            <a:r>
              <a:rPr lang="en-AU" sz="4000"/>
              <a:t>to</a:t>
            </a:r>
            <a:r>
              <a:rPr lang="en-AU" sz="4000" b="1"/>
              <a:t> largest.</a:t>
            </a:r>
          </a:p>
        </p:txBody>
      </p:sp>
      <p:sp>
        <p:nvSpPr>
          <p:cNvPr id="15" name="TextBox 14">
            <a:extLst>
              <a:ext uri="{FF2B5EF4-FFF2-40B4-BE49-F238E27FC236}">
                <a16:creationId xmlns:a16="http://schemas.microsoft.com/office/drawing/2014/main" id="{3BE2A116-BC40-5AA8-06BB-54DFA475BD80}"/>
              </a:ext>
              <a:ext uri="{C183D7F6-B498-43B3-948B-1728B52AA6E4}">
                <adec:decorative xmlns:adec="http://schemas.microsoft.com/office/drawing/2017/decorative" val="1"/>
              </a:ext>
            </a:extLst>
          </p:cNvPr>
          <p:cNvSpPr txBox="1"/>
          <p:nvPr/>
        </p:nvSpPr>
        <p:spPr>
          <a:xfrm>
            <a:off x="2527300" y="5914380"/>
            <a:ext cx="457200" cy="550499"/>
          </a:xfrm>
          <a:prstGeom prst="rect">
            <a:avLst/>
          </a:prstGeom>
          <a:noFill/>
        </p:spPr>
        <p:txBody>
          <a:bodyPr wrap="square" lIns="0" tIns="0" rIns="0" bIns="0" rtlCol="0">
            <a:noAutofit/>
          </a:bodyPr>
          <a:lstStyle/>
          <a:p>
            <a:pPr algn="l"/>
            <a:r>
              <a:rPr lang="en-AU" sz="4400"/>
              <a:t>A</a:t>
            </a:r>
          </a:p>
        </p:txBody>
      </p:sp>
      <p:sp>
        <p:nvSpPr>
          <p:cNvPr id="17" name="TextBox 16">
            <a:extLst>
              <a:ext uri="{FF2B5EF4-FFF2-40B4-BE49-F238E27FC236}">
                <a16:creationId xmlns:a16="http://schemas.microsoft.com/office/drawing/2014/main" id="{82C7E338-A7D1-5DED-C442-5A345C9860C3}"/>
              </a:ext>
              <a:ext uri="{C183D7F6-B498-43B3-948B-1728B52AA6E4}">
                <adec:decorative xmlns:adec="http://schemas.microsoft.com/office/drawing/2017/decorative" val="1"/>
              </a:ext>
            </a:extLst>
          </p:cNvPr>
          <p:cNvSpPr txBox="1"/>
          <p:nvPr/>
        </p:nvSpPr>
        <p:spPr>
          <a:xfrm>
            <a:off x="5251534" y="5836559"/>
            <a:ext cx="584200" cy="769441"/>
          </a:xfrm>
          <a:prstGeom prst="rect">
            <a:avLst/>
          </a:prstGeom>
          <a:noFill/>
        </p:spPr>
        <p:txBody>
          <a:bodyPr wrap="square">
            <a:spAutoFit/>
          </a:bodyPr>
          <a:lstStyle/>
          <a:p>
            <a:pPr algn="l"/>
            <a:r>
              <a:rPr lang="en-AU" sz="4400"/>
              <a:t>B</a:t>
            </a:r>
          </a:p>
        </p:txBody>
      </p:sp>
      <p:sp>
        <p:nvSpPr>
          <p:cNvPr id="19" name="TextBox 18">
            <a:extLst>
              <a:ext uri="{FF2B5EF4-FFF2-40B4-BE49-F238E27FC236}">
                <a16:creationId xmlns:a16="http://schemas.microsoft.com/office/drawing/2014/main" id="{95B86775-FFB1-5072-B3D9-477E8A658078}"/>
              </a:ext>
              <a:ext uri="{C183D7F6-B498-43B3-948B-1728B52AA6E4}">
                <adec:decorative xmlns:adec="http://schemas.microsoft.com/office/drawing/2017/decorative" val="1"/>
              </a:ext>
            </a:extLst>
          </p:cNvPr>
          <p:cNvSpPr txBox="1"/>
          <p:nvPr/>
        </p:nvSpPr>
        <p:spPr>
          <a:xfrm>
            <a:off x="7872716" y="5781939"/>
            <a:ext cx="800100" cy="769441"/>
          </a:xfrm>
          <a:prstGeom prst="rect">
            <a:avLst/>
          </a:prstGeom>
          <a:noFill/>
        </p:spPr>
        <p:txBody>
          <a:bodyPr wrap="square">
            <a:spAutoFit/>
          </a:bodyPr>
          <a:lstStyle/>
          <a:p>
            <a:pPr algn="l"/>
            <a:r>
              <a:rPr lang="en-AU" sz="4400"/>
              <a:t>C</a:t>
            </a:r>
          </a:p>
        </p:txBody>
      </p:sp>
      <p:pic>
        <p:nvPicPr>
          <p:cNvPr id="14" name="Picture 13" descr="Three measuring jugs labelled A to C with different amounts of blue liquid .">
            <a:extLst>
              <a:ext uri="{FF2B5EF4-FFF2-40B4-BE49-F238E27FC236}">
                <a16:creationId xmlns:a16="http://schemas.microsoft.com/office/drawing/2014/main" id="{04ED79A7-63EA-2462-5125-809A0214D1B2}"/>
              </a:ext>
            </a:extLst>
          </p:cNvPr>
          <p:cNvPicPr>
            <a:picLocks noChangeAspect="1"/>
          </p:cNvPicPr>
          <p:nvPr/>
        </p:nvPicPr>
        <p:blipFill>
          <a:blip r:embed="rId4">
            <a:extLst>
              <a:ext uri="{28A0092B-C50C-407E-A947-70E740481C1C}">
                <a14:useLocalDpi xmlns:a14="http://schemas.microsoft.com/office/drawing/2010/main" val="0"/>
              </a:ext>
            </a:extLst>
          </a:blip>
          <a:srcRect t="47398" b="12288"/>
          <a:stretch>
            <a:fillRect/>
          </a:stretch>
        </p:blipFill>
        <p:spPr>
          <a:xfrm>
            <a:off x="1068000" y="3274142"/>
            <a:ext cx="8419234" cy="2399635"/>
          </a:xfrm>
          <a:prstGeom prst="rect">
            <a:avLst/>
          </a:prstGeom>
        </p:spPr>
      </p:pic>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(32)</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
        <p:nvSpPr>
          <p:cNvPr id="4" name="TextBox 3">
            <a:extLst>
              <a:ext uri="{FF2B5EF4-FFF2-40B4-BE49-F238E27FC236}">
                <a16:creationId xmlns:a16="http://schemas.microsoft.com/office/drawing/2014/main" id="{B0CCA120-4C6A-0ACA-2C30-910AA5DEE04F}"/>
              </a:ext>
            </a:extLst>
          </p:cNvPr>
          <p:cNvSpPr txBox="1"/>
          <p:nvPr/>
        </p:nvSpPr>
        <p:spPr>
          <a:xfrm>
            <a:off x="864086" y="1835743"/>
            <a:ext cx="10259914" cy="1756881"/>
          </a:xfrm>
          <a:prstGeom prst="rect">
            <a:avLst/>
          </a:prstGeom>
          <a:noFill/>
        </p:spPr>
        <p:txBody>
          <a:bodyPr wrap="square" lIns="0" tIns="0" rIns="0" bIns="0" rtlCol="0">
            <a:noAutofit/>
          </a:bodyPr>
          <a:lstStyle/>
          <a:p>
            <a:pPr algn="ctr">
              <a:lnSpc>
                <a:spcPct val="150000"/>
              </a:lnSpc>
            </a:pPr>
            <a:r>
              <a:rPr lang="en-AU" sz="4400"/>
              <a:t>Jane </a:t>
            </a:r>
            <a:r>
              <a:rPr lang="en-AU" sz="4400" b="1"/>
              <a:t>arrived</a:t>
            </a:r>
            <a:r>
              <a:rPr lang="en-AU" sz="4400"/>
              <a:t> at her friend’s house at </a:t>
            </a:r>
            <a:r>
              <a:rPr lang="en-AU" sz="4400" b="1"/>
              <a:t>14:30</a:t>
            </a:r>
            <a:r>
              <a:rPr lang="en-AU" sz="4400"/>
              <a:t>. She </a:t>
            </a:r>
            <a:r>
              <a:rPr lang="en-AU" sz="4400" b="1"/>
              <a:t>left</a:t>
            </a:r>
            <a:r>
              <a:rPr lang="en-AU" sz="4400"/>
              <a:t> at </a:t>
            </a:r>
            <a:r>
              <a:rPr lang="en-AU" sz="4400" b="1"/>
              <a:t>17:15</a:t>
            </a:r>
            <a:r>
              <a:rPr lang="en-AU" sz="4400"/>
              <a:t>. </a:t>
            </a:r>
          </a:p>
          <a:p>
            <a:pPr algn="ctr">
              <a:lnSpc>
                <a:spcPct val="150000"/>
              </a:lnSpc>
            </a:pPr>
            <a:r>
              <a:rPr lang="en-AU" sz="4400"/>
              <a:t>How </a:t>
            </a:r>
            <a:r>
              <a:rPr lang="en-AU" sz="4400" b="1"/>
              <a:t>long</a:t>
            </a:r>
            <a:r>
              <a:rPr lang="en-AU" sz="4400"/>
              <a:t> did she stay there?</a:t>
            </a:r>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completing formal algorithms</a:t>
            </a:r>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60</a:t>
            </a:fld>
            <a:endParaRPr lang="en-AU"/>
          </a:p>
        </p:txBody>
      </p:sp>
      <p:sp>
        <p:nvSpPr>
          <p:cNvPr id="5" name="TextBox 4">
            <a:extLst>
              <a:ext uri="{FF2B5EF4-FFF2-40B4-BE49-F238E27FC236}">
                <a16:creationId xmlns:a16="http://schemas.microsoft.com/office/drawing/2014/main" id="{E6193944-8312-EBC5-2646-E29E09C84650}"/>
              </a:ext>
            </a:extLst>
          </p:cNvPr>
          <p:cNvSpPr txBox="1"/>
          <p:nvPr/>
        </p:nvSpPr>
        <p:spPr>
          <a:xfrm>
            <a:off x="3452533" y="2228671"/>
            <a:ext cx="6098240" cy="1200329"/>
          </a:xfrm>
          <a:prstGeom prst="rect">
            <a:avLst/>
          </a:prstGeom>
          <a:noFill/>
        </p:spPr>
        <p:txBody>
          <a:bodyPr wrap="square">
            <a:spAutoFit/>
          </a:bodyPr>
          <a:lstStyle/>
          <a:p>
            <a:r>
              <a:rPr lang="en-AU" sz="7200">
                <a:effectLst/>
                <a:latin typeface="Arial" panose="020B0604020202020204" pitchFamily="34" charset="0"/>
                <a:ea typeface="Calibri" panose="020F0502020204030204" pitchFamily="34" charset="0"/>
              </a:rPr>
              <a:t>278 x 9 = </a:t>
            </a:r>
            <a:endParaRPr lang="en-AU" sz="7200"/>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62</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67</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 (1)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vert="horz" lIns="0" tIns="0" rIns="0" bIns="0" rtlCol="0" anchor="t">
            <a:noAutofit/>
          </a:bodyPr>
          <a:lstStyle/>
          <a:p>
            <a:r>
              <a:rPr lang="en-AU" u="sng">
                <a:hlinkClick r:id="rId6"/>
              </a:rPr>
              <a:t>Mathematics K–10 Syllabus</a:t>
            </a:r>
            <a:r>
              <a:rPr lang="en-AU"/>
              <a:t> © NSW Education Standards Authority (NESA) for and on behalf of the Crown in right of the State of New South Wales, 2022.</a:t>
            </a:r>
          </a:p>
          <a:p>
            <a:pPr fontAlgn="base"/>
            <a:r>
              <a:rPr lang="en-AU" u="sng">
                <a:hlinkClick r:id="rId7"/>
              </a:rPr>
              <a:t>National Numeracy Learning Progression</a:t>
            </a:r>
            <a:r>
              <a:rPr lang="en-AU">
                <a:hlinkClick r:id="rId7"/>
              </a:rPr>
              <a:t> </a:t>
            </a:r>
            <a:r>
              <a:rPr lang="en-AU"/>
              <a:t>©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11 October 2023) and was not modified. </a:t>
            </a:r>
          </a:p>
          <a:p>
            <a:pPr fontAlgn="base"/>
            <a:r>
              <a:rPr lang="en-AU"/>
              <a:t>APSMO (Australasian Problem Solving Mathematical Olympiads) (2021) ‘</a:t>
            </a:r>
            <a:r>
              <a:rPr lang="en-AU" u="sng">
                <a:hlinkClick r:id="rId9"/>
              </a:rPr>
              <a:t>Eclairs and Doughnuts</a:t>
            </a:r>
            <a:r>
              <a:rPr lang="en-AU"/>
              <a:t>’, </a:t>
            </a:r>
            <a:r>
              <a:rPr lang="en-AU" i="1"/>
              <a:t>Problems</a:t>
            </a:r>
            <a:r>
              <a:rPr lang="en-AU"/>
              <a:t>, APSMO website, accessed 26 September 2023. </a:t>
            </a:r>
          </a:p>
          <a:p>
            <a:pPr fontAlgn="base"/>
            <a:r>
              <a:rPr lang="en-AU"/>
              <a:t>Kaplinsky R (2016–2023) ‘</a:t>
            </a:r>
            <a:r>
              <a:rPr lang="en-AU" u="sng">
                <a:hlinkClick r:id="rId10"/>
              </a:rPr>
              <a:t>Multiply and Divide Within a Hundred 1</a:t>
            </a:r>
            <a:r>
              <a:rPr lang="en-AU"/>
              <a:t>’, </a:t>
            </a:r>
            <a:r>
              <a:rPr lang="en-AU" i="1"/>
              <a:t>Grade 3</a:t>
            </a:r>
            <a:r>
              <a:rPr lang="en-AU"/>
              <a:t>, Open Middle website, accessed 11 October 2023.</a:t>
            </a:r>
          </a:p>
          <a:p>
            <a:pPr fontAlgn="base"/>
            <a:r>
              <a:rPr lang="en-AU"/>
              <a:t>New Zealand Ministry of Education (n.d.) </a:t>
            </a:r>
            <a:r>
              <a:rPr lang="en-AU" u="sng">
                <a:hlinkClick r:id="rId11"/>
              </a:rPr>
              <a:t>‘Tens Time’</a:t>
            </a:r>
            <a:r>
              <a:rPr lang="en-AU"/>
              <a:t>, </a:t>
            </a:r>
            <a:r>
              <a:rPr lang="en-AU" i="1"/>
              <a:t>Resources</a:t>
            </a:r>
            <a:r>
              <a:rPr lang="en-AU"/>
              <a:t>, NZ Maths website, accessed 11 October 2023. </a:t>
            </a:r>
          </a:p>
          <a:p>
            <a:pPr fontAlgn="base"/>
            <a:r>
              <a:rPr lang="en-AU"/>
              <a:t>Online Calculator (2023) </a:t>
            </a:r>
            <a:r>
              <a:rPr lang="en-AU" i="1" u="sng">
                <a:hlinkClick r:id="rId12"/>
              </a:rPr>
              <a:t>Full Screen Calculator</a:t>
            </a:r>
            <a:r>
              <a:rPr lang="en-AU"/>
              <a:t>, Online Calculator website, accessed 11 October 2023. </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68</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9C668-AAAA-8C9C-9B4E-4D4FF0DDD6D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CFF85E1-ECDE-6F48-2BDC-331F2EEE5697}"/>
              </a:ext>
            </a:extLst>
          </p:cNvPr>
          <p:cNvSpPr>
            <a:spLocks noGrp="1"/>
          </p:cNvSpPr>
          <p:nvPr>
            <p:ph type="title"/>
          </p:nvPr>
        </p:nvSpPr>
        <p:spPr/>
        <p:txBody>
          <a:bodyPr/>
          <a:lstStyle/>
          <a:p>
            <a:r>
              <a:rPr lang="en-AU">
                <a:latin typeface="+mj-lt"/>
              </a:rPr>
              <a:t>References (2)</a:t>
            </a:r>
          </a:p>
        </p:txBody>
      </p:sp>
      <p:sp>
        <p:nvSpPr>
          <p:cNvPr id="6" name="TextBox 5">
            <a:extLst>
              <a:ext uri="{FF2B5EF4-FFF2-40B4-BE49-F238E27FC236}">
                <a16:creationId xmlns:a16="http://schemas.microsoft.com/office/drawing/2014/main" id="{E6FC6E74-D060-B7ED-3E2C-B36F425779C5}"/>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FCDD5420-C710-5994-ECD1-E0BCCF9AEB46}"/>
              </a:ext>
            </a:extLst>
          </p:cNvPr>
          <p:cNvSpPr>
            <a:spLocks noGrp="1"/>
          </p:cNvSpPr>
          <p:nvPr>
            <p:ph idx="1"/>
          </p:nvPr>
        </p:nvSpPr>
        <p:spPr/>
        <p:txBody>
          <a:bodyPr vert="horz" lIns="0" tIns="0" rIns="0" bIns="0" rtlCol="0" anchor="t">
            <a:noAutofit/>
          </a:bodyPr>
          <a:lstStyle/>
          <a:p>
            <a:pPr fontAlgn="base"/>
            <a:r>
              <a:rPr lang="en-AU"/>
              <a:t>Siemon D (1993) </a:t>
            </a:r>
            <a:r>
              <a:rPr lang="en-AU" i="1"/>
              <a:t>Target practice</a:t>
            </a:r>
            <a:r>
              <a:rPr lang="en-AU"/>
              <a:t>, </a:t>
            </a:r>
            <a:r>
              <a:rPr lang="en-AU" i="1" u="sng">
                <a:hlinkClick r:id="rId6"/>
              </a:rPr>
              <a:t>Resources and Workbook for Primary Mathematics and Science Specialists (PMSS) (PDF 4.5 MB)</a:t>
            </a:r>
            <a:r>
              <a:rPr lang="en-AU"/>
              <a:t>, Department of Education Victoria, accessed 26 September 2023 </a:t>
            </a:r>
          </a:p>
          <a:p>
            <a:pPr fontAlgn="base"/>
            <a:r>
              <a:rPr lang="en-AU"/>
              <a:t>State of New South Wales (Department of Education) (2023) </a:t>
            </a:r>
            <a:r>
              <a:rPr lang="en-AU" i="1"/>
              <a:t>Benchmark problems</a:t>
            </a:r>
            <a:r>
              <a:rPr lang="en-AU"/>
              <a:t>, </a:t>
            </a:r>
            <a:r>
              <a:rPr lang="en-AU" i="1" u="sng">
                <a:hlinkClick r:id="rId7"/>
              </a:rPr>
              <a:t>Part 2: Proportional thinking with fractions, decimals and percentages (PDF 1.2 MB)</a:t>
            </a:r>
            <a:r>
              <a:rPr lang="en-AU"/>
              <a:t>, NSW Department of Education website, accessed 26 September 2023. </a:t>
            </a:r>
          </a:p>
          <a:p>
            <a:pPr fontAlgn="base"/>
            <a:r>
              <a:rPr lang="en-AU"/>
              <a:t>State of New South Wales (Department of Education) (2023) </a:t>
            </a:r>
            <a:r>
              <a:rPr lang="en-AU" i="1"/>
              <a:t>Dividing with Decimals</a:t>
            </a:r>
            <a:r>
              <a:rPr lang="en-AU"/>
              <a:t>, </a:t>
            </a:r>
            <a:r>
              <a:rPr lang="en-AU" i="1" u="sng">
                <a:hlinkClick r:id="rId8"/>
              </a:rPr>
              <a:t>Multiplying and dividing decimals</a:t>
            </a:r>
            <a:r>
              <a:rPr lang="en-AU" i="1" u="sng"/>
              <a:t> (DOCX 687 KB)</a:t>
            </a:r>
            <a:r>
              <a:rPr lang="en-AU"/>
              <a:t>, NSW Department of Education website, accessed 26 September 2023 </a:t>
            </a:r>
          </a:p>
          <a:p>
            <a:pPr fontAlgn="base"/>
            <a:r>
              <a:rPr lang="en-AU"/>
              <a:t>State of New South Wales through the NSW Department of Education and Training (2010) </a:t>
            </a:r>
            <a:r>
              <a:rPr lang="en-AU" i="1"/>
              <a:t>Houses</a:t>
            </a:r>
            <a:r>
              <a:rPr lang="en-AU"/>
              <a:t>, </a:t>
            </a:r>
            <a:r>
              <a:rPr lang="en-AU" i="1" u="sng">
                <a:hlinkClick r:id="rId9"/>
              </a:rPr>
              <a:t>Talking about Patterns &amp; Algebra: Early Stage 1 to Stage 3</a:t>
            </a:r>
            <a:r>
              <a:rPr lang="en-AU"/>
              <a:t>, NSW Department of Education website, accessed 26 September 2023. </a:t>
            </a:r>
          </a:p>
          <a:p>
            <a:pPr fontAlgn="base"/>
            <a:r>
              <a:rPr lang="en-AU"/>
              <a:t>Sullivan P (2018) </a:t>
            </a:r>
            <a:r>
              <a:rPr lang="en-AU" i="1"/>
              <a:t>Challenging mathematical tasks: Unlocking the potential of all students</a:t>
            </a:r>
            <a:r>
              <a:rPr lang="en-AU"/>
              <a:t>, Oxford University Press Australia and New Zealand, Great Britain. </a:t>
            </a:r>
          </a:p>
          <a:p>
            <a:endParaRPr lang="en-AU"/>
          </a:p>
        </p:txBody>
      </p:sp>
      <p:sp>
        <p:nvSpPr>
          <p:cNvPr id="2" name="Slide Number Placeholder 1">
            <a:extLst>
              <a:ext uri="{FF2B5EF4-FFF2-40B4-BE49-F238E27FC236}">
                <a16:creationId xmlns:a16="http://schemas.microsoft.com/office/drawing/2014/main" id="{3B48E7D8-D5FB-2301-81A4-36AF49C84E5E}"/>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69</a:t>
            </a:fld>
            <a:endParaRPr lang="en-AU"/>
          </a:p>
        </p:txBody>
      </p:sp>
    </p:spTree>
    <p:extLst>
      <p:ext uri="{BB962C8B-B14F-4D97-AF65-F5344CB8AC3E}">
        <p14:creationId xmlns:p14="http://schemas.microsoft.com/office/powerpoint/2010/main" val="1718409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422BA-8290-F423-2509-08844D6BFD9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C28C456-93EA-30E6-9A3D-DEDAA9C981E6}"/>
              </a:ext>
            </a:extLst>
          </p:cNvPr>
          <p:cNvSpPr>
            <a:spLocks noGrp="1"/>
          </p:cNvSpPr>
          <p:nvPr>
            <p:ph type="title"/>
          </p:nvPr>
        </p:nvSpPr>
        <p:spPr/>
        <p:txBody>
          <a:bodyPr/>
          <a:lstStyle/>
          <a:p>
            <a:r>
              <a:rPr lang="en-AU">
                <a:latin typeface="+mj-lt"/>
              </a:rPr>
              <a:t>References (3)</a:t>
            </a:r>
          </a:p>
        </p:txBody>
      </p:sp>
      <p:sp>
        <p:nvSpPr>
          <p:cNvPr id="6" name="TextBox 5">
            <a:extLst>
              <a:ext uri="{FF2B5EF4-FFF2-40B4-BE49-F238E27FC236}">
                <a16:creationId xmlns:a16="http://schemas.microsoft.com/office/drawing/2014/main" id="{5C523F63-4299-A87F-D9C9-C6E9D796C8D7}"/>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9A4CC7C3-B8A2-8F37-04ED-C9F79141C00E}"/>
              </a:ext>
            </a:extLst>
          </p:cNvPr>
          <p:cNvSpPr>
            <a:spLocks noGrp="1"/>
          </p:cNvSpPr>
          <p:nvPr>
            <p:ph idx="1"/>
          </p:nvPr>
        </p:nvSpPr>
        <p:spPr/>
        <p:txBody>
          <a:bodyPr vert="horz" lIns="0" tIns="0" rIns="0" bIns="0" rtlCol="0" anchor="t">
            <a:noAutofit/>
          </a:bodyPr>
          <a:lstStyle/>
          <a:p>
            <a:pPr fontAlgn="base"/>
            <a:r>
              <a:rPr lang="en-AU"/>
              <a:t>Sullivan P and Lilburn P (2017) </a:t>
            </a:r>
            <a:r>
              <a:rPr lang="en-AU" i="1"/>
              <a:t>Open-ended maths activities: Using ‘Good’ Questions to Enhance Learning in Mathematics</a:t>
            </a:r>
            <a:r>
              <a:rPr lang="en-AU"/>
              <a:t>, Revised </a:t>
            </a:r>
            <a:r>
              <a:rPr lang="en-AU" err="1"/>
              <a:t>edn</a:t>
            </a:r>
            <a:r>
              <a:rPr lang="en-AU"/>
              <a:t>, Oxford University Press Australia and New Zealand, Great Britain. </a:t>
            </a:r>
          </a:p>
          <a:p>
            <a:pPr fontAlgn="base"/>
            <a:r>
              <a:rPr lang="en-AU" err="1"/>
              <a:t>Topmarks</a:t>
            </a:r>
            <a:r>
              <a:rPr lang="en-AU"/>
              <a:t> Online Ltd (1998–2024) </a:t>
            </a:r>
            <a:r>
              <a:rPr lang="en-AU" i="1" u="sng">
                <a:hlinkClick r:id="rId6"/>
              </a:rPr>
              <a:t>Moving Digit Cards</a:t>
            </a:r>
            <a:r>
              <a:rPr lang="en-AU"/>
              <a:t>, </a:t>
            </a:r>
            <a:r>
              <a:rPr lang="en-AU" err="1"/>
              <a:t>Topmarks</a:t>
            </a:r>
            <a:r>
              <a:rPr lang="en-AU"/>
              <a:t> website, accessed 11 October 2023. </a:t>
            </a:r>
          </a:p>
          <a:p>
            <a:endParaRPr lang="en-AU"/>
          </a:p>
        </p:txBody>
      </p:sp>
      <p:sp>
        <p:nvSpPr>
          <p:cNvPr id="2" name="Slide Number Placeholder 1">
            <a:extLst>
              <a:ext uri="{FF2B5EF4-FFF2-40B4-BE49-F238E27FC236}">
                <a16:creationId xmlns:a16="http://schemas.microsoft.com/office/drawing/2014/main" id="{1BBD8D5C-853D-9AC2-B9D0-2ACB830C1578}"/>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70</a:t>
            </a:fld>
            <a:endParaRPr lang="en-AU"/>
          </a:p>
        </p:txBody>
      </p:sp>
    </p:spTree>
    <p:extLst>
      <p:ext uri="{BB962C8B-B14F-4D97-AF65-F5344CB8AC3E}">
        <p14:creationId xmlns:p14="http://schemas.microsoft.com/office/powerpoint/2010/main" val="935660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2.xml><?xml version="1.0" encoding="utf-8"?>
<ds:datastoreItem xmlns:ds="http://schemas.openxmlformats.org/officeDocument/2006/customXml" ds:itemID="{CE555570-2BD4-426B-AA32-0A79CB6508A8}">
  <ds:schemaRef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http://purl.org/dc/elements/1.1/"/>
    <ds:schemaRef ds:uri="http://purl.org/dc/terms/"/>
    <ds:schemaRef ds:uri="60129b06-f64b-40a8-96e2-c5b2f86112b1"/>
    <ds:schemaRef ds:uri="http://schemas.microsoft.com/office/2006/documentManagement/types"/>
    <ds:schemaRef ds:uri="7e763d47-3c66-4c58-9425-1477fd3ccd1e"/>
    <ds:schemaRef ds:uri="http://purl.org/dc/dcmitype/"/>
  </ds:schemaRefs>
</ds:datastoreItem>
</file>

<file path=customXml/itemProps3.xml><?xml version="1.0" encoding="utf-8"?>
<ds:datastoreItem xmlns:ds="http://schemas.openxmlformats.org/officeDocument/2006/customXml" ds:itemID="{BFEEA698-C061-4CC7-B0F4-1B08205E50BD}"/>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24</TotalTime>
  <Words>5659</Words>
  <Application>Microsoft Office PowerPoint</Application>
  <PresentationFormat>Widescreen</PresentationFormat>
  <Paragraphs>809</Paragraphs>
  <Slides>71</Slides>
  <Notes>71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71</vt:i4>
      </vt:variant>
    </vt:vector>
  </HeadingPairs>
  <TitlesOfParts>
    <vt:vector size="79" baseType="lpstr">
      <vt:lpstr>Montserrat</vt:lpstr>
      <vt:lpstr>Wingdings</vt:lpstr>
      <vt:lpstr>Calibri</vt:lpstr>
      <vt:lpstr>Public Sans</vt:lpstr>
      <vt:lpstr>Arial</vt:lpstr>
      <vt:lpstr>Public Sans Light</vt:lpstr>
      <vt:lpstr>Times New Roman</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inverse operations (part 1)(Part 1)</vt:lpstr>
      <vt:lpstr>Review of learning 2</vt:lpstr>
      <vt:lpstr>True or false (1)</vt:lpstr>
      <vt:lpstr>Short response (5)</vt:lpstr>
      <vt:lpstr>Short response (6)</vt:lpstr>
      <vt:lpstr>Short response (7)</vt:lpstr>
      <vt:lpstr>Short response (8)</vt:lpstr>
      <vt:lpstr>Activity 2 – Inverse operations (part 2)((Part 2) </vt:lpstr>
      <vt:lpstr>Review of learning 3</vt:lpstr>
      <vt:lpstr>Multiple choice (2)</vt:lpstr>
      <vt:lpstr>Short response (9)</vt:lpstr>
      <vt:lpstr>Short response (10)3)</vt:lpstr>
      <vt:lpstr>Short response (11)</vt:lpstr>
      <vt:lpstr>Short response (12)</vt:lpstr>
      <vt:lpstr>Activity 3 – multiply and divide</vt:lpstr>
      <vt:lpstr>Review of learning 4</vt:lpstr>
      <vt:lpstr>True or false (2)</vt:lpstr>
      <vt:lpstr>Short response (13)</vt:lpstr>
      <vt:lpstr>Short response (14)</vt:lpstr>
      <vt:lpstr>Short response (15)</vt:lpstr>
      <vt:lpstr>Short response (16)</vt:lpstr>
      <vt:lpstr>Activity 4 – find the area (1)</vt:lpstr>
      <vt:lpstr>Activity 4 – find the area (2)</vt:lpstr>
      <vt:lpstr>Review of learning 5</vt:lpstr>
      <vt:lpstr>Multiple choice (3)</vt:lpstr>
      <vt:lpstr>Short response (17)</vt:lpstr>
      <vt:lpstr>Short response (18)</vt:lpstr>
      <vt:lpstr>Short response (19)</vt:lpstr>
      <vt:lpstr>Short response (20)</vt:lpstr>
      <vt:lpstr>Activity 5 – area models and formal algorithms</vt:lpstr>
      <vt:lpstr>Review of learning 6</vt:lpstr>
      <vt:lpstr>True or false (3)</vt:lpstr>
      <vt:lpstr>Short response (21)</vt:lpstr>
      <vt:lpstr>Short response (22)</vt:lpstr>
      <vt:lpstr>Short response (23)</vt:lpstr>
      <vt:lpstr>Short response (24)</vt:lpstr>
      <vt:lpstr>Activity 6 – formal algorithms</vt:lpstr>
      <vt:lpstr>Review of learning 7</vt:lpstr>
      <vt:lpstr>Multiple choice (4)</vt:lpstr>
      <vt:lpstr>Short response (25)</vt:lpstr>
      <vt:lpstr>Short response (26)</vt:lpstr>
      <vt:lpstr>Short response (27)</vt:lpstr>
      <vt:lpstr>Short response (28)</vt:lpstr>
      <vt:lpstr>Activity 7 – Jordan’s algorithm</vt:lpstr>
      <vt:lpstr>Review of learning 8</vt:lpstr>
      <vt:lpstr>True or false (4)</vt:lpstr>
      <vt:lpstr>Short response (29)</vt:lpstr>
      <vt:lpstr>Short response (30)</vt:lpstr>
      <vt:lpstr>Short response (31)</vt:lpstr>
      <vt:lpstr>Short response (32)</vt:lpstr>
      <vt:lpstr>Activity 8 – completing formal algorithms</vt:lpstr>
      <vt:lpstr>Double Venn diagram</vt:lpstr>
      <vt:lpstr>Frayer</vt:lpstr>
      <vt:lpstr>Spider map</vt:lpstr>
      <vt:lpstr>Cline</vt:lpstr>
      <vt:lpstr>Compare and contrast</vt:lpstr>
      <vt:lpstr>Multiple choice (5)</vt:lpstr>
      <vt:lpstr>Multiple choice</vt:lpstr>
      <vt:lpstr>References (1)</vt:lpstr>
      <vt:lpstr>References (2)</vt:lpstr>
      <vt:lpstr>References (3)</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2026-05-03T21:41:26Z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