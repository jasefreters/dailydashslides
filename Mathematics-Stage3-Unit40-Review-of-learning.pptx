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79" r:id="rId6"/>
    <p:sldId id="26359" r:id="rId7"/>
    <p:sldId id="271" r:id="rId8"/>
    <p:sldId id="26577" r:id="rId9"/>
    <p:sldId id="358" r:id="rId10"/>
    <p:sldId id="26580" r:id="rId11"/>
    <p:sldId id="26581" r:id="rId12"/>
    <p:sldId id="26582" r:id="rId13"/>
    <p:sldId id="26532" r:id="rId14"/>
    <p:sldId id="26583" r:id="rId15"/>
    <p:sldId id="26586" r:id="rId16"/>
    <p:sldId id="26587" r:id="rId17"/>
    <p:sldId id="26588" r:id="rId18"/>
    <p:sldId id="26589" r:id="rId19"/>
    <p:sldId id="26590" r:id="rId20"/>
    <p:sldId id="26533" r:id="rId21"/>
    <p:sldId id="26592" r:id="rId22"/>
    <p:sldId id="26593" r:id="rId23"/>
    <p:sldId id="26596" r:id="rId24"/>
    <p:sldId id="26597" r:id="rId25"/>
    <p:sldId id="26598" r:id="rId26"/>
    <p:sldId id="26599" r:id="rId27"/>
    <p:sldId id="26443" r:id="rId28"/>
    <p:sldId id="26601" r:id="rId29"/>
    <p:sldId id="26604" r:id="rId30"/>
    <p:sldId id="26605" r:id="rId31"/>
    <p:sldId id="26606" r:id="rId32"/>
    <p:sldId id="26607" r:id="rId33"/>
    <p:sldId id="26608" r:id="rId34"/>
    <p:sldId id="26513" r:id="rId35"/>
    <p:sldId id="26610" r:id="rId36"/>
    <p:sldId id="26611" r:id="rId37"/>
    <p:sldId id="26614" r:id="rId38"/>
    <p:sldId id="26615" r:id="rId39"/>
    <p:sldId id="26616" r:id="rId40"/>
    <p:sldId id="26617" r:id="rId41"/>
    <p:sldId id="26420" r:id="rId42"/>
    <p:sldId id="26619" r:id="rId43"/>
    <p:sldId id="26622" r:id="rId44"/>
    <p:sldId id="26623" r:id="rId45"/>
    <p:sldId id="26624" r:id="rId46"/>
    <p:sldId id="26647" r:id="rId47"/>
    <p:sldId id="26626" r:id="rId48"/>
    <p:sldId id="26526" r:id="rId49"/>
    <p:sldId id="26628" r:id="rId50"/>
    <p:sldId id="26629" r:id="rId51"/>
    <p:sldId id="26632" r:id="rId52"/>
    <p:sldId id="26633" r:id="rId53"/>
    <p:sldId id="26634" r:id="rId54"/>
    <p:sldId id="26635" r:id="rId55"/>
    <p:sldId id="26467" r:id="rId56"/>
    <p:sldId id="26637" r:id="rId57"/>
    <p:sldId id="26640" r:id="rId58"/>
    <p:sldId id="26641" r:id="rId59"/>
    <p:sldId id="26642" r:id="rId60"/>
    <p:sldId id="26643" r:id="rId61"/>
    <p:sldId id="26644" r:id="rId62"/>
    <p:sldId id="26516" r:id="rId63"/>
    <p:sldId id="26393" r:id="rId64"/>
    <p:sldId id="26387" r:id="rId65"/>
    <p:sldId id="26395" r:id="rId66"/>
    <p:sldId id="26391" r:id="rId67"/>
    <p:sldId id="26402" r:id="rId68"/>
    <p:sldId id="26507" r:id="rId69"/>
    <p:sldId id="26510" r:id="rId70"/>
    <p:sldId id="26646" r:id="rId71"/>
    <p:sldId id="26454" r:id="rId72"/>
    <p:sldId id="361" r:id="rId73"/>
  </p:sldIdLst>
  <p:sldSz cx="12192000" cy="6858000"/>
  <p:notesSz cx="6858000" cy="9144000"/>
  <p:embeddedFontLst>
    <p:embeddedFont>
      <p:font typeface="Arial Black" panose="020B0A04020102020204" pitchFamily="34" charset="0"/>
      <p:bold r:id="rId76"/>
    </p:embeddedFont>
    <p:embeddedFont>
      <p:font typeface="Cambria Math" panose="02040503050406030204" pitchFamily="18" charset="0"/>
      <p:regular r:id="rId77"/>
    </p:embeddedFont>
    <p:embeddedFont>
      <p:font typeface="Montserrat" panose="00000500000000000000" pitchFamily="2" charset="0"/>
      <p:regular r:id="rId78"/>
      <p:bold r:id="rId79"/>
      <p:italic r:id="rId80"/>
      <p:boldItalic r:id="rId81"/>
    </p:embeddedFont>
    <p:embeddedFont>
      <p:font typeface="Public Sans" pitchFamily="2" charset="0"/>
      <p:regular r:id="rId82"/>
      <p:bold r:id="rId83"/>
      <p:italic r:id="rId84"/>
      <p:boldItalic r:id="rId85"/>
    </p:embeddedFont>
    <p:embeddedFont>
      <p:font typeface="Public Sans Light" pitchFamily="2" charset="0"/>
      <p:regular r:id="rId86"/>
      <p:italic r:id="rId87"/>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32"/>
          </p14:sldIdLst>
        </p14:section>
        <p14:section name="Review of learning 2" id="{0AC6BBCB-7E49-46CE-B777-EFCDD4B60F91}">
          <p14:sldIdLst>
            <p14:sldId id="26583"/>
            <p14:sldId id="26586"/>
            <p14:sldId id="26587"/>
            <p14:sldId id="26588"/>
            <p14:sldId id="26589"/>
            <p14:sldId id="26590"/>
            <p14:sldId id="26533"/>
          </p14:sldIdLst>
        </p14:section>
        <p14:section name="Review of learning 3" id="{6F5E1C19-5255-4FF7-A3CD-4549F7EF69B2}">
          <p14:sldIdLst>
            <p14:sldId id="26592"/>
            <p14:sldId id="26593"/>
            <p14:sldId id="26596"/>
            <p14:sldId id="26597"/>
            <p14:sldId id="26598"/>
            <p14:sldId id="26599"/>
            <p14:sldId id="26443"/>
          </p14:sldIdLst>
        </p14:section>
        <p14:section name="Review of learning 4" id="{6EB8E1CE-ED7B-4635-88AB-9D1D052BB011}">
          <p14:sldIdLst>
            <p14:sldId id="26601"/>
            <p14:sldId id="26604"/>
            <p14:sldId id="26605"/>
            <p14:sldId id="26606"/>
            <p14:sldId id="26607"/>
            <p14:sldId id="26608"/>
            <p14:sldId id="26513"/>
          </p14:sldIdLst>
        </p14:section>
        <p14:section name="Review of learning 5" id="{E365C8CF-14E0-4F5A-BCE8-2E930DEEA864}">
          <p14:sldIdLst>
            <p14:sldId id="26610"/>
            <p14:sldId id="26611"/>
            <p14:sldId id="26614"/>
            <p14:sldId id="26615"/>
            <p14:sldId id="26616"/>
            <p14:sldId id="26617"/>
            <p14:sldId id="26420"/>
          </p14:sldIdLst>
        </p14:section>
        <p14:section name="Review of learning 6" id="{6721D3DC-F7BB-49CA-9E61-8454C104591D}">
          <p14:sldIdLst>
            <p14:sldId id="26619"/>
            <p14:sldId id="26622"/>
            <p14:sldId id="26623"/>
            <p14:sldId id="26624"/>
            <p14:sldId id="26647"/>
            <p14:sldId id="26626"/>
            <p14:sldId id="26526"/>
          </p14:sldIdLst>
        </p14:section>
        <p14:section name="Review of learning 7" id="{CF63834E-0BE9-495B-9761-037C836F185E}">
          <p14:sldIdLst>
            <p14:sldId id="26628"/>
            <p14:sldId id="26629"/>
            <p14:sldId id="26632"/>
            <p14:sldId id="26633"/>
            <p14:sldId id="26634"/>
            <p14:sldId id="26635"/>
            <p14:sldId id="26467"/>
          </p14:sldIdLst>
        </p14:section>
        <p14:section name="Review of learning 8" id="{6FF8F7EC-803E-4F84-BA41-6B3ED673D597}">
          <p14:sldIdLst>
            <p14:sldId id="26637"/>
            <p14:sldId id="26640"/>
            <p14:sldId id="26641"/>
            <p14:sldId id="26642"/>
            <p14:sldId id="26643"/>
            <p14:sldId id="26644"/>
            <p14:sldId id="26516"/>
          </p14:sldIdLst>
        </p14:section>
        <p14:section name="Assets for teachers to create own review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26646"/>
            <p14:sldId id="26454"/>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3FDA68B6-B52B-FE76-39D1-E268A1C28951}" name="Phil HOLLINS (Phil Hollins)" initials="PH" userId="S::philip.hollins@det.nsw.edu.au::2b9063ba-35fe-4c7f-aa4d-5bf1098ac266"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9E7"/>
    <a:srgbClr val="FFFF00"/>
    <a:srgbClr val="EA9B0C"/>
    <a:srgbClr val="007A8A"/>
    <a:srgbClr val="9B6808"/>
    <a:srgbClr val="427B2D"/>
    <a:srgbClr val="B51458"/>
    <a:srgbClr val="00ACC2"/>
    <a:srgbClr val="64BB47"/>
    <a:srgbClr val="EDF9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C41221-9764-4111-B0BF-5FD6B8BD4568}" v="1" dt="2025-09-01T22:32:11.846"/>
    <p1510:client id="{D5936A1F-37E6-4BBE-9F4D-2064050456FB}" v="63" dt="2025-09-01T22:25:51.204"/>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28" y="68"/>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3/09/2025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3/09/2025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_Resource_12_&#8211;_1"/><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_Resource_13_&#8211;_1"/><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_Resource_13_&#8211;"/></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B Unit 40</a:t>
            </a:r>
          </a:p>
          <a:p>
            <a:pPr marL="285750" indent="-285750">
              <a:buFont typeface="Arial" panose="020B0604020202020204" pitchFamily="34" charset="0"/>
              <a:buChar char="•"/>
            </a:pPr>
            <a:r>
              <a:rPr lang="en-AU"/>
              <a:t>Stage 3 Year B Unit 39</a:t>
            </a:r>
          </a:p>
          <a:p>
            <a:pPr marL="285750" indent="-285750">
              <a:buFont typeface="Arial" panose="020B0604020202020204" pitchFamily="34" charset="0"/>
              <a:buChar char="•"/>
            </a:pPr>
            <a:r>
              <a:rPr lang="en-AU"/>
              <a:t>Stage 3 Year B Unit 38</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 </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highlight>
                  <a:srgbClr val="FFFF00"/>
                </a:highlight>
                <a:latin typeface="Arial"/>
                <a:cs typeface="Arial"/>
              </a:rPr>
              <a:t>Represents numbers B</a:t>
            </a: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Represents numbers B</a:t>
            </a:r>
            <a:endParaRPr lang="en-AU" b="0"/>
          </a:p>
          <a:p>
            <a:endParaRPr lang="en-AU"/>
          </a:p>
          <a:p>
            <a:r>
              <a:rPr lang="en-AU" sz="1600" b="1" kern="1200">
                <a:solidFill>
                  <a:schemeClr val="tx1"/>
                </a:solidFill>
                <a:effectLst/>
                <a:latin typeface="Arial" panose="020B0604020202020204" pitchFamily="34" charset="0"/>
                <a:ea typeface="+mn-ea"/>
                <a:cs typeface="Arial" panose="020B0604020202020204" pitchFamily="34" charset="0"/>
              </a:rPr>
              <a:t>Strategies to estimate discounts</a:t>
            </a:r>
            <a:endParaRPr lang="en-AU">
              <a:latin typeface="Public Sans"/>
            </a:endParaRP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‘Calculating percentages’ from the Universal Resources Hub by the State of New South Wales (Department of Education).</a:t>
            </a:r>
          </a:p>
          <a:p>
            <a:pPr lvl="0"/>
            <a:endParaRPr lang="en-AU" sz="1600" b="1"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Using a think-aloud, model using mental strategies to estimate discounts of 10% of $80. For example, ‘I know that 10% means one-tenth of something. To find 10% of $80, I can divide $80 by 10. That equals $8’.</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Connect to prior learning that the percentage of 10% is equivalent to the fraction one-tenth, 25% is equivalent to the fraction one-quarter and 50% is equivalent to the fraction one-half.</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Ask:</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How could I estimate the discount of 25% of $80?</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How could I estimate the discount of 50% of $80?</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In pairs, students use mental strategies to estimate the discounts.</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Check for understanding by having students share their thinking with the class.</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Pose the following ‘Which is more?’ questions:</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10% of $200 or 50% of $40?</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10% of $500 or 25% of $200?</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10% of 50 or 50% of 10?</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Students first estimate using mental strategies, without any formal calculations.</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Students turn and talk to decide on their answers.</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Select students to share the strategies used to estimate the answer.</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Pose another set of ‘Which is more?’ questions:</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10% of $200 or 50% of $38.95?</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10% of $495.95 or 25% of $185.95?</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Discuss how the rounding of numbers can support estimating with benchmark percentages.</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Repeat with other percentage pairs for benchmark percentages.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427067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Area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Represents numbers B</a:t>
            </a:r>
            <a:endParaRPr lang="en-AU" b="0"/>
          </a:p>
          <a:p>
            <a:endParaRPr lang="en-AU"/>
          </a:p>
          <a:p>
            <a:r>
              <a:rPr lang="en-AU" b="1">
                <a:latin typeface="Arial"/>
                <a:cs typeface="Arial"/>
              </a:rPr>
              <a:t>Percentage discounts</a:t>
            </a:r>
          </a:p>
          <a:p>
            <a:pPr>
              <a:defRPr/>
            </a:pPr>
            <a:endParaRPr lang="en-AU">
              <a:latin typeface="Public Sans"/>
            </a:endParaRP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Connect to prior learning that to find 10% of a number, we divide by 10, 25% or finding a quarter, we divide by 4, and 50% or finding half, we divide by 2.</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Share the story: Lila has a membership card for her local grocery store. As part of the December promotions, the owner gave selected shoppers an option to ‘take $10 off your total shop’ or ‘25% off your total shop’. Lila finished her Christmas shopping with a total bill of $250. Which discount voucher should Lila use?</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In pairs, students determine the better promotion for Lila.</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Ask:</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Is it possible to determine the best option with just an estimate?</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How much would Lila have to pay if she took $10 off her total shop of $250?</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How much is 25% of $250?</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How much would Lila have to pay if she took a 25% discount off her total shop?</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When would $10 off be a better choice than a 25% discount?</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When would both deals be worth the same?</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Students share and discuss their solutions with the class.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050798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2D shapes</a:t>
            </a: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Volume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Strategies to estimate discounts</a:t>
            </a:r>
          </a:p>
          <a:p>
            <a:r>
              <a:rPr lang="en-AU" b="0"/>
              <a:t>This resource corresponds to Resource 12 – seasonal sales in Stage 3 Year B Unit 40. </a:t>
            </a:r>
          </a:p>
          <a:p>
            <a:endParaRPr lang="en-AU" sz="1600">
              <a:latin typeface="Public Sans"/>
            </a:endParaRP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Provide students with individual copies of </a:t>
            </a:r>
            <a:r>
              <a:rPr lang="en-AU" sz="1600" b="0" u="sng" kern="1200">
                <a:solidFill>
                  <a:schemeClr val="tx1"/>
                </a:solidFill>
                <a:effectLst/>
                <a:latin typeface="Arial" panose="020B0604020202020204" pitchFamily="34" charset="0"/>
                <a:ea typeface="+mn-ea"/>
                <a:cs typeface="Arial" panose="020B0604020202020204" pitchFamily="34" charset="0"/>
                <a:hlinkClick r:id="rId3"/>
              </a:rPr>
              <a:t>Resource 12 – seasonal sales</a:t>
            </a:r>
            <a:r>
              <a:rPr lang="en-AU" sz="1600" b="0" kern="1200">
                <a:solidFill>
                  <a:schemeClr val="tx1"/>
                </a:solidFill>
                <a:effectLst/>
                <a:latin typeface="Arial" panose="020B0604020202020204" pitchFamily="34" charset="0"/>
                <a:ea typeface="+mn-ea"/>
                <a:cs typeface="Arial" panose="020B0604020202020204" pitchFamily="34" charset="0"/>
              </a:rPr>
              <a:t>.</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Explain that the orange label indicates the discount that should be applied to that item.</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Students turn and talk to estimate the discounts for each of the items.</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Regroup as a class and select students to share their estimations. Ask:</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What strategy did you use to estimate the discount of each item?</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How did rounding help you make an estimate?</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In pairs, students:</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determine the sale price of each item after the discount</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use calculators to check their answers.</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Regroup as a class and ask:</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What strategy did you use to determine the percentage discount?</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How did your knowledge of fractions and percentages help you determine the discount?</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What other mathematical concepts did you use to solve these problems?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0675834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2DS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CF788-1815-ED9B-26CD-000879E88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7AC408-5927-C5E6-6F33-8209D9B42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4AAF5A-8466-6991-3FD2-A3EAD2D42E74}"/>
              </a:ext>
            </a:extLst>
          </p:cNvPr>
          <p:cNvSpPr>
            <a:spLocks noGrp="1"/>
          </p:cNvSpPr>
          <p:nvPr>
            <p:ph type="body" idx="1"/>
          </p:nvPr>
        </p:nvSpPr>
        <p:spPr/>
        <p:txBody>
          <a:bodyPr/>
          <a:lstStyle/>
          <a:p>
            <a:r>
              <a:rPr lang="en-AU" sz="1800"/>
              <a:t>This is a developing number sense activity. </a:t>
            </a:r>
          </a:p>
          <a:p>
            <a:endParaRPr lang="en-AU" sz="1800"/>
          </a:p>
          <a:p>
            <a:r>
              <a:rPr lang="en-AU" sz="180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a:p>
          <a:p>
            <a:r>
              <a:rPr lang="en-AU" sz="1800" b="1"/>
              <a:t>Syllabus focus area:</a:t>
            </a:r>
          </a:p>
          <a:p>
            <a:r>
              <a:rPr lang="en-AU" sz="1800"/>
              <a:t>Represents numbers B</a:t>
            </a:r>
          </a:p>
          <a:p>
            <a:endParaRPr lang="en-AU" sz="1800"/>
          </a:p>
          <a:p>
            <a:r>
              <a:rPr lang="en-AU" sz="1800" b="1"/>
              <a:t>Negative number line</a:t>
            </a:r>
            <a:endParaRPr lang="en-AU" sz="1800">
              <a:latin typeface="Public Sans"/>
            </a:endParaRP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Revise the terms ‘integer’, ‘positive numbers’, ‘negative numbers’ and ‘whole numbers’.</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Draw and display a number line, labelled −50 to +50. To check for understanding, ask:</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What does the word </a:t>
            </a:r>
            <a:r>
              <a:rPr lang="en-AU" sz="1600" b="0" i="1" kern="1200">
                <a:solidFill>
                  <a:schemeClr val="tx1"/>
                </a:solidFill>
                <a:effectLst/>
                <a:latin typeface="Arial" panose="020B0604020202020204" pitchFamily="34" charset="0"/>
                <a:ea typeface="+mn-ea"/>
                <a:cs typeface="Arial" panose="020B0604020202020204" pitchFamily="34" charset="0"/>
              </a:rPr>
              <a:t>integer</a:t>
            </a:r>
            <a:r>
              <a:rPr lang="en-AU" sz="1600" b="0" kern="1200">
                <a:solidFill>
                  <a:schemeClr val="tx1"/>
                </a:solidFill>
                <a:effectLst/>
                <a:latin typeface="Arial" panose="020B0604020202020204" pitchFamily="34" charset="0"/>
                <a:ea typeface="+mn-ea"/>
                <a:cs typeface="Arial" panose="020B0604020202020204" pitchFamily="34" charset="0"/>
              </a:rPr>
              <a:t> mean? (a whole number, positive, negative or zero)</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What do we call the numbers to the left of the zero on this number line? (negative numbers)</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How do we read −5? (negative 5).</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Explain that students will play a game in pairs or groups of 3. The aim of the game is to figure out where to place the mystery numbers on the −50 to +50 number line.</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Students draw a blank number line on their individual whiteboards marking −50, 0 and +50.</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Provide students with 5 mystery numbers. For example, 10, −10, 35, −47, 45.</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Students write the mystery numbers on the number line where they think they should be placed.</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Once each student in the pair or group has placed their numbers, they take turns to explain their reasoning behind the placement and what strategies they used to make their determination.</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The process can be repeated using a different set of mystery numbers.</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Check for understanding by </a:t>
            </a:r>
            <a:r>
              <a:rPr lang="en-AU" sz="1600" kern="1200">
                <a:solidFill>
                  <a:schemeClr val="tx1"/>
                </a:solidFill>
                <a:effectLst/>
                <a:latin typeface="Arial" panose="020B0604020202020204" pitchFamily="34" charset="0"/>
                <a:ea typeface="+mn-ea"/>
                <a:cs typeface="Arial" panose="020B0604020202020204" pitchFamily="34" charset="0"/>
              </a:rPr>
              <a:t>viewing student’s whiteboards. Provide feedback and correct misconceptions as needed.</a:t>
            </a:r>
          </a:p>
        </p:txBody>
      </p:sp>
      <p:sp>
        <p:nvSpPr>
          <p:cNvPr id="4" name="Slide Number Placeholder 3">
            <a:extLst>
              <a:ext uri="{FF2B5EF4-FFF2-40B4-BE49-F238E27FC236}">
                <a16:creationId xmlns:a16="http://schemas.microsoft.com/office/drawing/2014/main" id="{6144088C-9CEB-5B5F-0A1B-323316E046FD}"/>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36822566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Number patterns</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Explain t</a:t>
            </a:r>
            <a:r>
              <a:rPr lang="en-AU" sz="1600" kern="1200">
                <a:solidFill>
                  <a:schemeClr val="tx1"/>
                </a:solidFill>
                <a:effectLst/>
                <a:latin typeface="Arial" panose="020B0604020202020204" pitchFamily="34" charset="0"/>
                <a:ea typeface="+mn-ea"/>
                <a:cs typeface="Arial" panose="020B0604020202020204" pitchFamily="34" charset="0"/>
              </a:rPr>
              <a:t>hat a pattern formed by multiples can be described using multiplication rather than addition. For example, there are 3 times as many sides as there are triangles, the rule would be to multiply the number of triangles by 3 to find the total number of sides.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Draw the table from slide on the board, leaving out the title and row headings (see slide image).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to identify and share a rule. They apply it to a value not displayed in the table. For example, if the number in the first row is 12, the number in the second row will be 84.</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suggest headings for the rows and justify their suggestions. Possible headings include number of weeks and number of days, number of heptagons and number of sides, number and number multiplied by 7, teams and players for rugby sevens or water polo.</a:t>
            </a:r>
          </a:p>
          <a:p>
            <a:pPr marL="342900" lvl="0" indent="-342900">
              <a:buFont typeface="+mj-lt"/>
              <a:buAutoNum type="arabicPeriod"/>
            </a:pPr>
            <a:r>
              <a:rPr lang="en-US" sz="1600" kern="1200">
                <a:solidFill>
                  <a:schemeClr val="tx1"/>
                </a:solidFill>
                <a:effectLst/>
                <a:latin typeface="Arial" panose="020B0604020202020204" pitchFamily="34" charset="0"/>
                <a:ea typeface="+mn-ea"/>
                <a:cs typeface="Arial" panose="020B0604020202020204" pitchFamily="34" charset="0"/>
              </a:rPr>
              <a:t>Ask:</a:t>
            </a:r>
            <a:endParaRPr lang="en-AU" sz="1600" kern="1200">
              <a:solidFill>
                <a:schemeClr val="tx1"/>
              </a:solidFill>
              <a:effectLst/>
              <a:latin typeface="Arial" panose="020B0604020202020204" pitchFamily="34" charset="0"/>
              <a:ea typeface="+mn-ea"/>
              <a:cs typeface="Arial" panose="020B0604020202020204" pitchFamily="34" charset="0"/>
            </a:endParaRP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would the number in the second row be if 240 was in the top row? How did you work out the answer?</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308 was the bottom number, what would the top number be? How did you work out your answer?</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does the table help determine the relationship between the top and bottom rows?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Have students create their own tables to describe patterns they identify in daily life, omitting headings and some of the values.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swap with a peer who can suggest headings and missing values to complete the table.</a:t>
            </a:r>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4002164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B6132-52F1-E615-DEC5-A8FA90A59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01AEC-4940-5BD4-413E-C849E48B70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229173-FE20-C537-3CA7-2501472634E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p>
        </p:txBody>
      </p:sp>
      <p:sp>
        <p:nvSpPr>
          <p:cNvPr id="4" name="Slide Number Placeholder 3">
            <a:extLst>
              <a:ext uri="{FF2B5EF4-FFF2-40B4-BE49-F238E27FC236}">
                <a16:creationId xmlns:a16="http://schemas.microsoft.com/office/drawing/2014/main" id="{1E34CCE0-4921-7CBC-9E98-431ACDB34C85}"/>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4589565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3DS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Activity title</a:t>
            </a:r>
          </a:p>
          <a:p>
            <a:r>
              <a:rPr lang="en-AU" b="0"/>
              <a:t>This resource corresponds to Resource 13 – ‘Dice division’ instructions and Resource 14 – ‘Dice division’ gameboard. in Stage X Year A/B Unit X.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a:latin typeface="Public Sans"/>
            </a:endParaRPr>
          </a:p>
          <a:p>
            <a:r>
              <a:rPr lang="en-AU" sz="1600" kern="1200">
                <a:solidFill>
                  <a:schemeClr val="tx1"/>
                </a:solidFill>
                <a:effectLst/>
                <a:latin typeface="Arial" panose="020B0604020202020204" pitchFamily="34" charset="0"/>
                <a:ea typeface="+mn-ea"/>
                <a:cs typeface="Arial" panose="020B0604020202020204" pitchFamily="34" charset="0"/>
              </a:rPr>
              <a:t>This lesson is an adaptation from ‘</a:t>
            </a:r>
            <a:r>
              <a:rPr lang="en-AU" sz="1600" kern="1200" err="1">
                <a:solidFill>
                  <a:schemeClr val="tx1"/>
                </a:solidFill>
                <a:effectLst/>
                <a:latin typeface="Arial" panose="020B0604020202020204" pitchFamily="34" charset="0"/>
                <a:ea typeface="+mn-ea"/>
                <a:cs typeface="Arial" panose="020B0604020202020204" pitchFamily="34" charset="0"/>
              </a:rPr>
              <a:t>Damult</a:t>
            </a:r>
            <a:r>
              <a:rPr lang="en-AU" sz="1600" kern="1200">
                <a:solidFill>
                  <a:schemeClr val="tx1"/>
                </a:solidFill>
                <a:effectLst/>
                <a:latin typeface="Arial" panose="020B0604020202020204" pitchFamily="34" charset="0"/>
                <a:ea typeface="+mn-ea"/>
                <a:cs typeface="Arial" panose="020B0604020202020204" pitchFamily="34" charset="0"/>
              </a:rPr>
              <a:t> Dice Division’ </a:t>
            </a:r>
            <a:r>
              <a:rPr lang="en-AU" sz="1600" u="sng" kern="1200">
                <a:solidFill>
                  <a:schemeClr val="tx1"/>
                </a:solidFill>
                <a:effectLst/>
                <a:latin typeface="Arial" panose="020B0604020202020204" pitchFamily="34" charset="0"/>
                <a:ea typeface="+mn-ea"/>
                <a:cs typeface="Arial" panose="020B0604020202020204" pitchFamily="34" charset="0"/>
              </a:rPr>
              <a:t>from</a:t>
            </a:r>
            <a:r>
              <a:rPr lang="en-AU" sz="1600" kern="1200">
                <a:solidFill>
                  <a:schemeClr val="tx1"/>
                </a:solidFill>
                <a:effectLst/>
                <a:latin typeface="Arial" panose="020B0604020202020204" pitchFamily="34" charset="0"/>
                <a:ea typeface="+mn-ea"/>
                <a:cs typeface="Arial" panose="020B0604020202020204" pitchFamily="34" charset="0"/>
              </a:rPr>
              <a:t> Maths for Love by Finkel and Cook and ‘Remainders’ from NRICH by the University of Cambridge.</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Present a division problem such as 48 ÷ 5.</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which multiplication fact they might use to help solve it. Identify the quotient and the remainder.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and read </a:t>
            </a:r>
            <a:r>
              <a:rPr lang="en-AU" sz="1600" u="sng" kern="1200">
                <a:solidFill>
                  <a:schemeClr val="tx1"/>
                </a:solidFill>
                <a:effectLst/>
                <a:latin typeface="Arial" panose="020B0604020202020204" pitchFamily="34" charset="0"/>
                <a:ea typeface="+mn-ea"/>
                <a:cs typeface="Arial" panose="020B0604020202020204" pitchFamily="34" charset="0"/>
                <a:hlinkClick r:id="rId3"/>
              </a:rPr>
              <a:t>Resource 13 – ‘Dice division’ instructions</a:t>
            </a:r>
            <a:r>
              <a:rPr lang="en-AU" sz="1600" kern="1200">
                <a:solidFill>
                  <a:schemeClr val="tx1"/>
                </a:solidFill>
                <a:effectLst/>
                <a:latin typeface="Arial" panose="020B0604020202020204" pitchFamily="34" charset="0"/>
                <a:ea typeface="+mn-ea"/>
                <a:cs typeface="Arial" panose="020B0604020202020204" pitchFamily="34" charset="0"/>
              </a:rPr>
              <a: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students with 3 dice and a copy of </a:t>
            </a:r>
            <a:r>
              <a:rPr lang="en-AU" sz="1600" u="sng" kern="1200">
                <a:solidFill>
                  <a:schemeClr val="tx1"/>
                </a:solidFill>
                <a:effectLst/>
                <a:latin typeface="Arial" panose="020B0604020202020204" pitchFamily="34" charset="0"/>
                <a:ea typeface="+mn-ea"/>
                <a:cs typeface="Arial" panose="020B0604020202020204" pitchFamily="34" charset="0"/>
                <a:hlinkClick r:id="rId4"/>
              </a:rPr>
              <a:t>Resource 14 – ‘Dice division’ gameboard</a:t>
            </a:r>
            <a:r>
              <a:rPr lang="en-AU" sz="1600" kern="1200">
                <a:solidFill>
                  <a:schemeClr val="tx1"/>
                </a:solidFill>
                <a:effectLst/>
                <a:latin typeface="Arial" panose="020B0604020202020204" pitchFamily="34" charset="0"/>
                <a:ea typeface="+mn-ea"/>
                <a:cs typeface="Arial" panose="020B0604020202020204" pitchFamily="34" charset="0"/>
              </a:rPr>
              <a: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play the game and record each calculation and score.</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28119457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t>Represents numbers B</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Integers to describe numbers</a:t>
            </a:r>
            <a:endParaRPr lang="en-AU">
              <a:latin typeface="Public Sans"/>
            </a:endParaRP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Revise that integers are a set of numbers that include all the positive whole numbers, negative whole numbers, and zero. They do not include fractions or decimals.</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Examples of positive integers: 1, 2, 3, 4, 5, ...</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Examples of negative integers: −1, −2, −3, −4, −5, ...</a:t>
            </a:r>
          </a:p>
          <a:p>
            <a:pPr marL="952485" lvl="1"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Zero is also an integer: 0</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Explain that negative whole numbers can result from subtraction. Model subtracting a larger number from a smaller number showing the result as a negative number. For example, 4 − 7 = −3.</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In pairs, students play a game of ‘Integer subtraction bingo’.</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Explain the rules:</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Each student draws a 3 × 3 gameboard grid and records a number between −9 and 9 in each square.</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At least 6 of the numbers recorded must be negative numbers.</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Students take turns to roll two 10-sided dice (0–9) and create a subtraction number sentence.</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The dice can be arranged in any order. For example, if a 1 and 8 are rolled, 1 − 8 or 8 − 1 could be recorded.</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Students use a −9 to 9 number line as a representation to solve the subtraction.</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The number sentence is recorded on each student's whiteboard and the answer is crossed out if it appears on their gameboard.</a:t>
            </a:r>
          </a:p>
          <a:p>
            <a:pPr marL="952485" lvl="1" indent="-342900" algn="l" defTabSz="1219170" rtl="0" eaLnBrk="1" latinLnBrk="0" hangingPunct="1">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The winner is the first student to cross out every integer on their gameboard.</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Provide pairs with two 10-sided dice (0–9), individual whiteboards and markers.</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Students play the game multiple times, changing the numbers on their gameboard each round.</a:t>
            </a:r>
          </a:p>
          <a:p>
            <a:pPr lvl="0"/>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23095831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B: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D8BCB-A604-C3BD-81AA-DEA8113A5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EE3EE-376A-32CF-2A9E-4340997EA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5E0EA8-68BF-D025-AEFD-A8B19D8CA9EE}"/>
              </a:ext>
            </a:extLst>
          </p:cNvPr>
          <p:cNvSpPr>
            <a:spLocks noGrp="1"/>
          </p:cNvSpPr>
          <p:nvPr>
            <p:ph type="body" idx="1"/>
          </p:nvPr>
        </p:nvSpPr>
        <p:spPr/>
        <p:txBody>
          <a:bodyPr/>
          <a:lstStyle/>
          <a:p>
            <a:r>
              <a:rPr lang="en-AU" sz="1800"/>
              <a:t>This is a developing number sense activity. </a:t>
            </a:r>
          </a:p>
          <a:p>
            <a:endParaRPr lang="en-AU" sz="1800"/>
          </a:p>
          <a:p>
            <a:r>
              <a:rPr lang="en-AU" sz="180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a:p>
          <a:p>
            <a:r>
              <a:rPr lang="en-AU" sz="1800" b="1"/>
              <a:t>Syllabus focus area:</a:t>
            </a:r>
          </a:p>
          <a:p>
            <a:r>
              <a:rPr lang="en-AU" sz="1800"/>
              <a:t>Multiplicative relations B</a:t>
            </a:r>
          </a:p>
          <a:p>
            <a:endParaRPr lang="en-AU" sz="1800"/>
          </a:p>
          <a:p>
            <a:r>
              <a:rPr lang="en-AU" sz="1800" b="1"/>
              <a:t>Strategies to multiply </a:t>
            </a:r>
          </a:p>
          <a:p>
            <a:pPr marL="0" lvl="0" indent="0">
              <a:lnSpc>
                <a:spcPct val="150000"/>
              </a:lnSpc>
              <a:spcBef>
                <a:spcPts val="1200"/>
              </a:spcBef>
              <a:spcAft>
                <a:spcPts val="600"/>
              </a:spcAft>
              <a:buFont typeface="+mj-lt"/>
              <a:buNone/>
              <a:tabLst>
                <a:tab pos="228600" algn="l"/>
              </a:tabLst>
            </a:pPr>
            <a:endParaRPr lang="en-AU" sz="1800">
              <a:effectLst/>
              <a:latin typeface="Arial" panose="020B0604020202020204" pitchFamily="34" charset="0"/>
              <a:ea typeface="Calibri" panose="020F0502020204030204" pitchFamily="34" charset="0"/>
            </a:endParaRP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Draw 2 boxes multiplied by 2 boxes on the board.</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Explain that students will be placing the digits 1–9 in each box to find the closest product to 500. Once a digit has been used, it cannot be used again.</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Provide some </a:t>
            </a:r>
            <a:r>
              <a:rPr lang="en-AU" sz="1600" kern="1200">
                <a:solidFill>
                  <a:schemeClr val="tx1"/>
                </a:solidFill>
                <a:effectLst/>
                <a:latin typeface="Arial" panose="020B0604020202020204" pitchFamily="34" charset="0"/>
                <a:ea typeface="+mn-ea"/>
                <a:cs typeface="Arial" panose="020B0604020202020204" pitchFamily="34" charset="0"/>
              </a:rPr>
              <a:t>thinking time. Students think-pair-share their digits for the boxes and explain their strategy and reasoning.</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Variation</a:t>
            </a:r>
            <a:r>
              <a:rPr lang="en-AU" sz="1600" kern="1200">
                <a:solidFill>
                  <a:schemeClr val="tx1"/>
                </a:solidFill>
                <a:effectLst/>
                <a:latin typeface="Arial" panose="020B0604020202020204" pitchFamily="34" charset="0"/>
                <a:ea typeface="+mn-ea"/>
                <a:cs typeface="Arial" panose="020B0604020202020204" pitchFamily="34" charset="0"/>
              </a:rPr>
              <a:t>: students draw 4 empty boxes multiplied by 2 empty boxes. Explain that the target product is now 50 000. Students report back on their closest product and discuss their reasoning. If not elicited, draw students’ attention to using powers of 10 to simplify their placement of digits.</a:t>
            </a:r>
          </a:p>
          <a:p>
            <a:pPr marL="0" lvl="0" indent="0">
              <a:lnSpc>
                <a:spcPct val="150000"/>
              </a:lnSpc>
              <a:spcBef>
                <a:spcPts val="1200"/>
              </a:spcBef>
              <a:spcAft>
                <a:spcPts val="600"/>
              </a:spcAft>
              <a:buFont typeface="+mj-lt"/>
              <a:buNone/>
              <a:tabLst>
                <a:tab pos="228600" algn="l"/>
              </a:tabLst>
            </a:pPr>
            <a:endParaRPr lang="en-AU" sz="180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57803316-B6A5-4ADB-4F98-19215837F2B1}"/>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2289232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4.png"/><Relationship Id="rId7" Type="http://schemas.openxmlformats.org/officeDocument/2006/relationships/image" Target="../media/image28.sv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31.sv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svg"/><Relationship Id="rId3" Type="http://schemas.openxmlformats.org/officeDocument/2006/relationships/image" Target="../media/image34.png"/><Relationship Id="rId7" Type="http://schemas.openxmlformats.org/officeDocument/2006/relationships/image" Target="../media/image37.svg"/><Relationship Id="rId12"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image" Target="../media/image36.png"/><Relationship Id="rId11" Type="http://schemas.openxmlformats.org/officeDocument/2006/relationships/image" Target="../media/image41.svg"/><Relationship Id="rId5" Type="http://schemas.openxmlformats.org/officeDocument/2006/relationships/image" Target="../media/image9.png"/><Relationship Id="rId15" Type="http://schemas.openxmlformats.org/officeDocument/2006/relationships/image" Target="../media/image45.svg"/><Relationship Id="rId10" Type="http://schemas.openxmlformats.org/officeDocument/2006/relationships/image" Target="../media/image40.png"/><Relationship Id="rId4" Type="http://schemas.openxmlformats.org/officeDocument/2006/relationships/image" Target="../media/image35.svg"/><Relationship Id="rId9" Type="http://schemas.openxmlformats.org/officeDocument/2006/relationships/image" Target="../media/image39.svg"/><Relationship Id="rId14" Type="http://schemas.openxmlformats.org/officeDocument/2006/relationships/image" Target="../media/image44.png"/></Relationships>
</file>

<file path=ppt/slides/_rels/slide3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9.png"/><Relationship Id="rId7" Type="http://schemas.openxmlformats.org/officeDocument/2006/relationships/image" Target="../media/image48.svg"/><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image" Target="../media/image40.png"/><Relationship Id="rId11" Type="http://schemas.openxmlformats.org/officeDocument/2006/relationships/image" Target="../media/image50.svg"/><Relationship Id="rId5" Type="http://schemas.openxmlformats.org/officeDocument/2006/relationships/image" Target="../media/image47.svg"/><Relationship Id="rId10" Type="http://schemas.openxmlformats.org/officeDocument/2006/relationships/image" Target="../media/image36.png"/><Relationship Id="rId4" Type="http://schemas.openxmlformats.org/officeDocument/2006/relationships/image" Target="../media/image46.png"/><Relationship Id="rId9" Type="http://schemas.openxmlformats.org/officeDocument/2006/relationships/image" Target="../media/image49.svg"/></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42.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9.png"/><Relationship Id="rId7" Type="http://schemas.openxmlformats.org/officeDocument/2006/relationships/image" Target="../media/image55.svg"/><Relationship Id="rId2" Type="http://schemas.openxmlformats.org/officeDocument/2006/relationships/notesSlide" Target="../notesSlides/notesSlide42.xml"/><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 Id="rId9" Type="http://schemas.openxmlformats.org/officeDocument/2006/relationships/image" Target="../media/image57.svg"/></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4.xml"/><Relationship Id="rId5" Type="http://schemas.openxmlformats.org/officeDocument/2006/relationships/image" Target="../media/image60.svg"/><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9.xml"/><Relationship Id="rId1" Type="http://schemas.openxmlformats.org/officeDocument/2006/relationships/slideLayout" Target="../slideLayouts/slideLayout4.xml"/><Relationship Id="rId5" Type="http://schemas.openxmlformats.org/officeDocument/2006/relationships/image" Target="../media/image63.svg"/><Relationship Id="rId4" Type="http://schemas.openxmlformats.org/officeDocument/2006/relationships/image" Target="../media/image62.png"/></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64.png"/></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65.png"/></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s://educationstandards.nsw.edu.au/wps/portal/nesa/mini-footer/copyright" TargetMode="External"/><Relationship Id="rId3" Type="http://schemas.openxmlformats.org/officeDocument/2006/relationships/hyperlink" Target="https://education.nsw.gov.au/teaching-and-learning/curriculum/literacy-and-numeracy/resources-for-schools/learning-progressions" TargetMode="External"/><Relationship Id="rId7" Type="http://schemas.openxmlformats.org/officeDocument/2006/relationships/hyperlink" Target="https://polypad.amplify.com/p" TargetMode="External"/><Relationship Id="rId2" Type="http://schemas.openxmlformats.org/officeDocument/2006/relationships/hyperlink" Target="https://curriculum.nsw.edu.au/learning-areas/mathematics/mathematics-k-10-2022/overview" TargetMode="External"/><Relationship Id="rId1" Type="http://schemas.openxmlformats.org/officeDocument/2006/relationships/slideLayout" Target="../slideLayouts/slideLayout13.xml"/><Relationship Id="rId6" Type="http://schemas.openxmlformats.org/officeDocument/2006/relationships/hyperlink" Target="https://acaraweb.blob.core.windows.net/acaraweb/docs/default-source/assessment-and-reporting-publications/naplan-2015-final-test---numeracy-year-3.pdf?sfvrsn=2" TargetMode="External"/><Relationship Id="rId5" Type="http://schemas.openxmlformats.org/officeDocument/2006/relationships/hyperlink" Target="https://acaraweb.blob.core.windows.net/acaraweb/docs/default-source/assessment-and-reporting-publications/naplan-2014-final-test---numeracy-year-3.pdf?sfvrsn=2" TargetMode="External"/><Relationship Id="rId10" Type="http://schemas.openxmlformats.org/officeDocument/2006/relationships/hyperlink" Target="https://curriculum.nsw.edu.au/" TargetMode="External"/><Relationship Id="rId4" Type="http://schemas.openxmlformats.org/officeDocument/2006/relationships/hyperlink" Target="http://www.australiancurriculum.edu.au/" TargetMode="External"/><Relationship Id="rId9" Type="http://schemas.openxmlformats.org/officeDocument/2006/relationships/hyperlink" Target="https://educationstandards.nsw.edu.au/wps/portal/nesa/home"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teaching.betterlesson.com/lesson/551878/fractions-on-a-number-line-beyond-one-whole?from=master_teacher_curriculum" TargetMode="External"/><Relationship Id="rId2" Type="http://schemas.openxmlformats.org/officeDocument/2006/relationships/hyperlink" Target="https://www.didax.com/apps/fraction-number-line/" TargetMode="External"/><Relationship Id="rId1" Type="http://schemas.openxmlformats.org/officeDocument/2006/relationships/slideLayout" Target="../slideLayouts/slideLayout13.xml"/><Relationship Id="rId6" Type="http://schemas.openxmlformats.org/officeDocument/2006/relationships/hyperlink" Target="https://curriculum.nsw.edu.au/" TargetMode="External"/><Relationship Id="rId5" Type="http://schemas.openxmlformats.org/officeDocument/2006/relationships/hyperlink" Target="https://educationstandards.nsw.edu.au/wps/portal/nesa/home" TargetMode="External"/><Relationship Id="rId4" Type="http://schemas.openxmlformats.org/officeDocument/2006/relationships/hyperlink" Target="https://educationstandards.nsw.edu.au/wps/portal/nesa/mini-footer/copyright"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B Unit 40.</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40</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882514" y="1510994"/>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882514" y="2606894"/>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2</a:t>
              </a: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882514" y="3702794"/>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3</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882514" y="4798694"/>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4</a:t>
              </a: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618514" y="2606894"/>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6</a:t>
              </a: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618514" y="3702794"/>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7</a:t>
              </a: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618514" y="4798694"/>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8</a:t>
              </a: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618514" y="1444521"/>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5</a:t>
              </a: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FCD28-280A-268C-8C92-8A605A7B59EF}"/>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sp>
        <p:nvSpPr>
          <p:cNvPr id="9" name="TextBox 8">
            <a:extLst>
              <a:ext uri="{FF2B5EF4-FFF2-40B4-BE49-F238E27FC236}">
                <a16:creationId xmlns:a16="http://schemas.microsoft.com/office/drawing/2014/main" id="{055D882C-AF43-C390-844D-CF785253532C}"/>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7" name="TextBox 6">
            <a:extLst>
              <a:ext uri="{FF2B5EF4-FFF2-40B4-BE49-F238E27FC236}">
                <a16:creationId xmlns:a16="http://schemas.microsoft.com/office/drawing/2014/main" id="{0E8ADBAB-3DC2-9489-ED72-FB4DDA16B569}"/>
              </a:ext>
            </a:extLst>
          </p:cNvPr>
          <p:cNvSpPr txBox="1"/>
          <p:nvPr/>
        </p:nvSpPr>
        <p:spPr>
          <a:xfrm>
            <a:off x="6306066" y="2005539"/>
            <a:ext cx="4186334" cy="992221"/>
          </a:xfrm>
          <a:prstGeom prst="rect">
            <a:avLst/>
          </a:prstGeom>
          <a:noFill/>
        </p:spPr>
        <p:txBody>
          <a:bodyPr wrap="square" lIns="0" tIns="0" rIns="0" bIns="0" rtlCol="0">
            <a:noAutofit/>
          </a:bodyPr>
          <a:lstStyle/>
          <a:p>
            <a:pPr algn="ctr"/>
            <a:r>
              <a:rPr lang="en-AU" sz="4400" b="1"/>
              <a:t>Estimate</a:t>
            </a:r>
            <a:r>
              <a:rPr lang="en-AU" sz="4400"/>
              <a:t> 50% of this price.</a:t>
            </a:r>
          </a:p>
        </p:txBody>
      </p:sp>
      <p:sp>
        <p:nvSpPr>
          <p:cNvPr id="8" name="TextBox 7">
            <a:extLst>
              <a:ext uri="{FF2B5EF4-FFF2-40B4-BE49-F238E27FC236}">
                <a16:creationId xmlns:a16="http://schemas.microsoft.com/office/drawing/2014/main" id="{B520EA24-FE00-C37C-88DB-4CB7A3F8D468}"/>
              </a:ext>
            </a:extLst>
          </p:cNvPr>
          <p:cNvSpPr txBox="1"/>
          <p:nvPr/>
        </p:nvSpPr>
        <p:spPr>
          <a:xfrm>
            <a:off x="558386" y="4938006"/>
            <a:ext cx="1844187" cy="657848"/>
          </a:xfrm>
          <a:prstGeom prst="rect">
            <a:avLst/>
          </a:prstGeom>
          <a:noFill/>
        </p:spPr>
        <p:txBody>
          <a:bodyPr wrap="square" lIns="0" tIns="0" rIns="0" bIns="0" rtlCol="0">
            <a:noAutofit/>
          </a:bodyPr>
          <a:lstStyle/>
          <a:p>
            <a:pPr algn="ctr"/>
            <a:r>
              <a:rPr lang="en-AU" sz="4400"/>
              <a:t>$50</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3" name="TextBox 12">
            <a:extLst>
              <a:ext uri="{FF2B5EF4-FFF2-40B4-BE49-F238E27FC236}">
                <a16:creationId xmlns:a16="http://schemas.microsoft.com/office/drawing/2014/main" id="{68C302D2-5637-105C-3D45-190E131DC503}"/>
              </a:ext>
            </a:extLst>
          </p:cNvPr>
          <p:cNvSpPr txBox="1"/>
          <p:nvPr/>
        </p:nvSpPr>
        <p:spPr>
          <a:xfrm>
            <a:off x="3562359" y="4938006"/>
            <a:ext cx="1844187" cy="657848"/>
          </a:xfrm>
          <a:prstGeom prst="rect">
            <a:avLst/>
          </a:prstGeom>
          <a:noFill/>
        </p:spPr>
        <p:txBody>
          <a:bodyPr wrap="square" lIns="0" tIns="0" rIns="0" bIns="0" rtlCol="0">
            <a:noAutofit/>
          </a:bodyPr>
          <a:lstStyle/>
          <a:p>
            <a:pPr algn="ctr"/>
            <a:r>
              <a:rPr lang="en-AU" sz="4400"/>
              <a:t>$250</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4" name="TextBox 13">
            <a:extLst>
              <a:ext uri="{FF2B5EF4-FFF2-40B4-BE49-F238E27FC236}">
                <a16:creationId xmlns:a16="http://schemas.microsoft.com/office/drawing/2014/main" id="{DC168A10-7193-6220-C86F-DFF1FD1A577E}"/>
              </a:ext>
            </a:extLst>
          </p:cNvPr>
          <p:cNvSpPr txBox="1"/>
          <p:nvPr/>
        </p:nvSpPr>
        <p:spPr>
          <a:xfrm>
            <a:off x="6566332" y="4938006"/>
            <a:ext cx="1844187" cy="657848"/>
          </a:xfrm>
          <a:prstGeom prst="rect">
            <a:avLst/>
          </a:prstGeom>
          <a:noFill/>
        </p:spPr>
        <p:txBody>
          <a:bodyPr wrap="square" lIns="0" tIns="0" rIns="0" bIns="0" rtlCol="0">
            <a:noAutofit/>
          </a:bodyPr>
          <a:lstStyle/>
          <a:p>
            <a:pPr algn="ctr"/>
            <a:r>
              <a:rPr lang="en-AU" sz="4400"/>
              <a:t>$100</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5" name="TextBox 14">
            <a:extLst>
              <a:ext uri="{FF2B5EF4-FFF2-40B4-BE49-F238E27FC236}">
                <a16:creationId xmlns:a16="http://schemas.microsoft.com/office/drawing/2014/main" id="{82D2F5AD-D04A-F27A-DAAA-D6E5B89F7F7C}"/>
              </a:ext>
            </a:extLst>
          </p:cNvPr>
          <p:cNvSpPr txBox="1"/>
          <p:nvPr/>
        </p:nvSpPr>
        <p:spPr>
          <a:xfrm>
            <a:off x="9570305" y="4938006"/>
            <a:ext cx="1844187" cy="657848"/>
          </a:xfrm>
          <a:prstGeom prst="rect">
            <a:avLst/>
          </a:prstGeom>
          <a:noFill/>
        </p:spPr>
        <p:txBody>
          <a:bodyPr wrap="square" lIns="0" tIns="0" rIns="0" bIns="0" rtlCol="0">
            <a:noAutofit/>
          </a:bodyPr>
          <a:lstStyle/>
          <a:p>
            <a:pPr algn="ctr"/>
            <a:r>
              <a:rPr lang="en-AU" sz="4400"/>
              <a:t>$500</a:t>
            </a:r>
          </a:p>
        </p:txBody>
      </p:sp>
      <p:sp>
        <p:nvSpPr>
          <p:cNvPr id="5" name="Freeform 4" descr="Price tag with $1099.99">
            <a:extLst>
              <a:ext uri="{FF2B5EF4-FFF2-40B4-BE49-F238E27FC236}">
                <a16:creationId xmlns:a16="http://schemas.microsoft.com/office/drawing/2014/main" id="{61D097C9-72E4-8164-E6E9-8C05A068D533}"/>
              </a:ext>
            </a:extLst>
          </p:cNvPr>
          <p:cNvSpPr/>
          <p:nvPr/>
        </p:nvSpPr>
        <p:spPr>
          <a:xfrm rot="1721174">
            <a:off x="1015611" y="328920"/>
            <a:ext cx="4139574" cy="4380502"/>
          </a:xfrm>
          <a:custGeom>
            <a:avLst/>
            <a:gdLst/>
            <a:ahLst/>
            <a:cxnLst/>
            <a:rect l="l" t="t" r="r" b="b"/>
            <a:pathLst>
              <a:path w="2857680" h="3024000">
                <a:moveTo>
                  <a:pt x="0" y="0"/>
                </a:moveTo>
                <a:lnTo>
                  <a:pt x="2857680" y="0"/>
                </a:lnTo>
                <a:lnTo>
                  <a:pt x="2857680"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rot="20529954">
            <a:off x="1027808" y="2055037"/>
            <a:ext cx="3293726" cy="893226"/>
          </a:xfrm>
        </p:spPr>
        <p:txBody>
          <a:bodyPr/>
          <a:lstStyle/>
          <a:p>
            <a:pPr algn="ctr"/>
            <a:r>
              <a:rPr lang="en-US" sz="5400" b="1">
                <a:solidFill>
                  <a:schemeClr val="bg1"/>
                </a:solidFill>
              </a:rPr>
              <a:t>$1099.99</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5"/>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07AC80AB-906B-124B-E66C-345C7EB13388}"/>
              </a:ext>
            </a:extLst>
          </p:cNvPr>
          <p:cNvSpPr txBox="1"/>
          <p:nvPr/>
        </p:nvSpPr>
        <p:spPr>
          <a:xfrm>
            <a:off x="583433" y="1658606"/>
            <a:ext cx="11025133" cy="754836"/>
          </a:xfrm>
          <a:prstGeom prst="rect">
            <a:avLst/>
          </a:prstGeom>
          <a:noFill/>
        </p:spPr>
        <p:txBody>
          <a:bodyPr wrap="square" lIns="0" tIns="0" rIns="0" bIns="0" rtlCol="0">
            <a:noAutofit/>
          </a:bodyPr>
          <a:lstStyle/>
          <a:p>
            <a:pPr algn="ctr"/>
            <a:r>
              <a:rPr lang="en-AU" sz="4400"/>
              <a:t>Place the </a:t>
            </a:r>
            <a:r>
              <a:rPr lang="en-AU" sz="4400" b="1"/>
              <a:t>integers</a:t>
            </a:r>
            <a:r>
              <a:rPr lang="en-AU" sz="4400"/>
              <a:t> along the </a:t>
            </a:r>
            <a:r>
              <a:rPr lang="en-AU" sz="4400" b="1"/>
              <a:t>number line</a:t>
            </a:r>
            <a:r>
              <a:rPr lang="en-AU" sz="4400"/>
              <a:t>.</a:t>
            </a:r>
          </a:p>
        </p:txBody>
      </p:sp>
      <p:pic>
        <p:nvPicPr>
          <p:cNvPr id="5" name="Picture 4" descr="Number line from minus 20 to 20.">
            <a:extLst>
              <a:ext uri="{FF2B5EF4-FFF2-40B4-BE49-F238E27FC236}">
                <a16:creationId xmlns:a16="http://schemas.microsoft.com/office/drawing/2014/main" id="{23FDF837-2B53-3204-048B-F01D568CC7C1}"/>
              </a:ext>
            </a:extLst>
          </p:cNvPr>
          <p:cNvPicPr>
            <a:picLocks noChangeAspect="1"/>
          </p:cNvPicPr>
          <p:nvPr/>
        </p:nvPicPr>
        <p:blipFill>
          <a:blip r:embed="rId4"/>
          <a:srcRect b="49114"/>
          <a:stretch>
            <a:fillRect/>
          </a:stretch>
        </p:blipFill>
        <p:spPr>
          <a:xfrm>
            <a:off x="327546" y="2478813"/>
            <a:ext cx="11536907" cy="1900374"/>
          </a:xfrm>
          <a:prstGeom prst="rect">
            <a:avLst/>
          </a:prstGeom>
        </p:spPr>
      </p:pic>
      <p:pic>
        <p:nvPicPr>
          <p:cNvPr id="9" name="Picture 8" descr="5 numbers in small blue boxes. Numbers are 15, -17, 11, -3 and 4.">
            <a:extLst>
              <a:ext uri="{FF2B5EF4-FFF2-40B4-BE49-F238E27FC236}">
                <a16:creationId xmlns:a16="http://schemas.microsoft.com/office/drawing/2014/main" id="{B58EB380-2BB3-D966-B277-9CDEB4D287A4}"/>
              </a:ext>
            </a:extLst>
          </p:cNvPr>
          <p:cNvPicPr>
            <a:picLocks noChangeAspect="1"/>
          </p:cNvPicPr>
          <p:nvPr/>
        </p:nvPicPr>
        <p:blipFill>
          <a:blip r:embed="rId4"/>
          <a:srcRect l="19980" t="68409" r="19223"/>
          <a:stretch>
            <a:fillRect/>
          </a:stretch>
        </p:blipFill>
        <p:spPr>
          <a:xfrm>
            <a:off x="2589006" y="4444558"/>
            <a:ext cx="7013986" cy="1179793"/>
          </a:xfrm>
          <a:prstGeom prst="rect">
            <a:avLst/>
          </a:prstGeom>
        </p:spPr>
      </p:pic>
      <p:sp>
        <p:nvSpPr>
          <p:cNvPr id="8" name="TextBox 7">
            <a:extLst>
              <a:ext uri="{FF2B5EF4-FFF2-40B4-BE49-F238E27FC236}">
                <a16:creationId xmlns:a16="http://schemas.microsoft.com/office/drawing/2014/main" id="{1D2CBF58-9131-8EAA-CBAE-30633388986D}"/>
              </a:ext>
            </a:extLst>
          </p:cNvPr>
          <p:cNvSpPr txBox="1"/>
          <p:nvPr/>
        </p:nvSpPr>
        <p:spPr>
          <a:xfrm>
            <a:off x="583433" y="5941164"/>
            <a:ext cx="11025133" cy="754836"/>
          </a:xfrm>
          <a:prstGeom prst="rect">
            <a:avLst/>
          </a:prstGeom>
          <a:noFill/>
        </p:spPr>
        <p:txBody>
          <a:bodyPr wrap="square" lIns="0" tIns="0" rIns="0" bIns="0" rtlCol="0">
            <a:no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7" name="Picture 6" descr="Number line image with times and jumps marked on it. Times are 11:40am, 12:00pm, 1:00pm and 1:10pm.">
            <a:extLst>
              <a:ext uri="{FF2B5EF4-FFF2-40B4-BE49-F238E27FC236}">
                <a16:creationId xmlns:a16="http://schemas.microsoft.com/office/drawing/2014/main" id="{F21DE8C5-DC39-5762-5A5F-80BD208FCF6E}"/>
              </a:ext>
            </a:extLst>
          </p:cNvPr>
          <p:cNvPicPr>
            <a:picLocks noChangeAspect="1"/>
          </p:cNvPicPr>
          <p:nvPr/>
        </p:nvPicPr>
        <p:blipFill>
          <a:blip r:embed="rId3"/>
          <a:srcRect t="45585"/>
          <a:stretch>
            <a:fillRect/>
          </a:stretch>
        </p:blipFill>
        <p:spPr>
          <a:xfrm>
            <a:off x="805326" y="1754977"/>
            <a:ext cx="10581344" cy="2143827"/>
          </a:xfrm>
          <a:prstGeom prst="rect">
            <a:avLst/>
          </a:prstGeom>
        </p:spPr>
      </p:pic>
      <p:pic>
        <p:nvPicPr>
          <p:cNvPr id="5" name="Picture 4" descr="Image with feed the animals time listed as 11:40 am to 1:10 pm">
            <a:extLst>
              <a:ext uri="{FF2B5EF4-FFF2-40B4-BE49-F238E27FC236}">
                <a16:creationId xmlns:a16="http://schemas.microsoft.com/office/drawing/2014/main" id="{72633E36-AA4C-F6BA-F682-F652BB46A5EC}"/>
              </a:ext>
            </a:extLst>
          </p:cNvPr>
          <p:cNvPicPr>
            <a:picLocks noChangeAspect="1"/>
          </p:cNvPicPr>
          <p:nvPr/>
        </p:nvPicPr>
        <p:blipFill>
          <a:blip r:embed="rId4"/>
          <a:srcRect t="1" r="35916" b="-6376"/>
          <a:stretch>
            <a:fillRect/>
          </a:stretch>
        </p:blipFill>
        <p:spPr>
          <a:xfrm>
            <a:off x="360000" y="1123427"/>
            <a:ext cx="3923901" cy="983440"/>
          </a:xfrm>
          <a:prstGeom prst="rect">
            <a:avLst/>
          </a:prstGeom>
        </p:spPr>
      </p:pic>
      <p:sp>
        <p:nvSpPr>
          <p:cNvPr id="9" name="TextBox 8">
            <a:extLst>
              <a:ext uri="{FF2B5EF4-FFF2-40B4-BE49-F238E27FC236}">
                <a16:creationId xmlns:a16="http://schemas.microsoft.com/office/drawing/2014/main" id="{E1D39785-A289-1C89-1D2E-EC72358FA771}"/>
              </a:ext>
            </a:extLst>
          </p:cNvPr>
          <p:cNvSpPr txBox="1"/>
          <p:nvPr/>
        </p:nvSpPr>
        <p:spPr>
          <a:xfrm>
            <a:off x="325014" y="4028156"/>
            <a:ext cx="11158986" cy="2667844"/>
          </a:xfrm>
          <a:prstGeom prst="rect">
            <a:avLst/>
          </a:prstGeom>
          <a:noFill/>
        </p:spPr>
        <p:txBody>
          <a:bodyPr wrap="square" lIns="0" tIns="0" rIns="0" bIns="0" rtlCol="0">
            <a:noAutofit/>
          </a:bodyPr>
          <a:lstStyle/>
          <a:p>
            <a:pPr algn="ctr"/>
            <a:r>
              <a:rPr lang="en-AU" sz="4000"/>
              <a:t>Does the number line accurately show calculating the </a:t>
            </a:r>
            <a:r>
              <a:rPr lang="en-AU" sz="4000" b="1"/>
              <a:t>elapsed time</a:t>
            </a:r>
            <a:r>
              <a:rPr lang="en-AU" sz="4000"/>
              <a:t>? Explain your answer.</a:t>
            </a:r>
          </a:p>
        </p:txBody>
      </p:sp>
      <p:sp>
        <p:nvSpPr>
          <p:cNvPr id="10" name="TextBox 9">
            <a:extLst>
              <a:ext uri="{FF2B5EF4-FFF2-40B4-BE49-F238E27FC236}">
                <a16:creationId xmlns:a16="http://schemas.microsoft.com/office/drawing/2014/main" id="{4E9B5CA1-077C-0369-3409-037B6A2B77BF}"/>
              </a:ext>
            </a:extLst>
          </p:cNvPr>
          <p:cNvSpPr txBox="1"/>
          <p:nvPr/>
        </p:nvSpPr>
        <p:spPr>
          <a:xfrm>
            <a:off x="996980" y="5584140"/>
            <a:ext cx="10198037" cy="653238"/>
          </a:xfrm>
          <a:prstGeom prst="rect">
            <a:avLst/>
          </a:prstGeom>
          <a:noFill/>
        </p:spPr>
        <p:txBody>
          <a:bodyPr wrap="square" lIns="0" tIns="0" rIns="0" bIns="0" rtlCol="0">
            <a:noAutofit/>
          </a:bodyPr>
          <a:lstStyle/>
          <a:p>
            <a:pPr algn="ctr"/>
            <a:r>
              <a:rPr lang="en-AU" sz="4000"/>
              <a:t>What was the </a:t>
            </a:r>
            <a:r>
              <a:rPr lang="en-AU" sz="4000" b="1"/>
              <a:t>total elapsed time</a:t>
            </a:r>
            <a:r>
              <a:rPr lang="en-AU" sz="4000"/>
              <a:t>? </a:t>
            </a:r>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5"/>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790DEA2-6613-4CFE-1ADF-375E55FAE1C1}"/>
                  </a:ext>
                </a:extLst>
              </p:cNvPr>
              <p:cNvSpPr txBox="1"/>
              <p:nvPr/>
            </p:nvSpPr>
            <p:spPr>
              <a:xfrm>
                <a:off x="5378957" y="2079128"/>
                <a:ext cx="6105043" cy="2699744"/>
              </a:xfrm>
              <a:prstGeom prst="rect">
                <a:avLst/>
              </a:prstGeom>
              <a:noFill/>
            </p:spPr>
            <p:txBody>
              <a:bodyPr wrap="square" lIns="0" tIns="0" rIns="0" bIns="0" rtlCol="0">
                <a:noAutofit/>
              </a:bodyPr>
              <a:lstStyle/>
              <a:p>
                <a:pPr algn="ctr"/>
                <a:r>
                  <a:rPr lang="en-AU" sz="4400"/>
                  <a:t>On each spin, which colours have a </a:t>
                </a:r>
                <a14:m>
                  <m:oMath xmlns:m="http://schemas.openxmlformats.org/officeDocument/2006/math">
                    <m:f>
                      <m:fPr>
                        <m:ctrlPr>
                          <a:rPr lang="en-AU" sz="5400" b="0" i="1" smtClean="0">
                            <a:latin typeface="Cambria Math" panose="02040503050406030204" pitchFamily="18" charset="0"/>
                          </a:rPr>
                        </m:ctrlPr>
                      </m:fPr>
                      <m:num>
                        <m:r>
                          <a:rPr lang="en-AU" sz="5400" b="0" i="1" smtClean="0">
                            <a:latin typeface="Cambria Math" panose="02040503050406030204" pitchFamily="18" charset="0"/>
                          </a:rPr>
                          <m:t>2</m:t>
                        </m:r>
                      </m:num>
                      <m:den>
                        <m:r>
                          <a:rPr lang="en-AU" sz="5400" b="0" i="1" smtClean="0">
                            <a:latin typeface="Cambria Math" panose="02040503050406030204" pitchFamily="18" charset="0"/>
                          </a:rPr>
                          <m:t>8</m:t>
                        </m:r>
                      </m:den>
                    </m:f>
                    <m:r>
                      <a:rPr lang="en-AU" sz="5400" b="0" i="1" smtClean="0">
                        <a:latin typeface="Cambria Math" panose="02040503050406030204" pitchFamily="18" charset="0"/>
                      </a:rPr>
                      <m:t> </m:t>
                    </m:r>
                  </m:oMath>
                </a14:m>
                <a:r>
                  <a:rPr lang="en-AU" sz="4400"/>
                  <a:t> </a:t>
                </a:r>
                <a:r>
                  <a:rPr lang="en-AU" sz="4400" b="1"/>
                  <a:t>chance </a:t>
                </a:r>
                <a:r>
                  <a:rPr lang="en-AU" sz="4400"/>
                  <a:t>of occurring?</a:t>
                </a:r>
              </a:p>
            </p:txBody>
          </p:sp>
        </mc:Choice>
        <mc:Fallback xmlns="">
          <p:sp>
            <p:nvSpPr>
              <p:cNvPr id="4" name="TextBox 3">
                <a:extLst>
                  <a:ext uri="{FF2B5EF4-FFF2-40B4-BE49-F238E27FC236}">
                    <a16:creationId xmlns:a16="http://schemas.microsoft.com/office/drawing/2014/main" id="{2790DEA2-6613-4CFE-1ADF-375E55FAE1C1}"/>
                  </a:ext>
                </a:extLst>
              </p:cNvPr>
              <p:cNvSpPr txBox="1">
                <a:spLocks noRot="1" noChangeAspect="1" noMove="1" noResize="1" noEditPoints="1" noAdjustHandles="1" noChangeArrowheads="1" noChangeShapeType="1" noTextEdit="1"/>
              </p:cNvSpPr>
              <p:nvPr/>
            </p:nvSpPr>
            <p:spPr>
              <a:xfrm>
                <a:off x="5378957" y="2079128"/>
                <a:ext cx="6105043" cy="2699744"/>
              </a:xfrm>
              <a:prstGeom prst="rect">
                <a:avLst/>
              </a:prstGeom>
              <a:blipFill>
                <a:blip r:embed="rId4"/>
                <a:stretch>
                  <a:fillRect t="-6546" b="-5418"/>
                </a:stretch>
              </a:blipFill>
            </p:spPr>
            <p:txBody>
              <a:bodyPr/>
              <a:lstStyle/>
              <a:p>
                <a:r>
                  <a:rPr lang="en-US">
                    <a:noFill/>
                  </a:rPr>
                  <a:t> </a:t>
                </a:r>
              </a:p>
            </p:txBody>
          </p:sp>
        </mc:Fallback>
      </mc:AlternateContent>
      <p:grpSp>
        <p:nvGrpSpPr>
          <p:cNvPr id="10" name="Group 9" descr="Spinner - 8 sections - 2 yellow, 1 blue, 2 red, 1 purple, 2 green.">
            <a:extLst>
              <a:ext uri="{FF2B5EF4-FFF2-40B4-BE49-F238E27FC236}">
                <a16:creationId xmlns:a16="http://schemas.microsoft.com/office/drawing/2014/main" id="{28B137BF-B05E-4165-34B6-EB8F96D3334E}"/>
              </a:ext>
            </a:extLst>
          </p:cNvPr>
          <p:cNvGrpSpPr/>
          <p:nvPr/>
        </p:nvGrpSpPr>
        <p:grpSpPr>
          <a:xfrm>
            <a:off x="583433" y="1526648"/>
            <a:ext cx="4191578" cy="4153473"/>
            <a:chOff x="583433" y="1526648"/>
            <a:chExt cx="4191578" cy="4153473"/>
          </a:xfrm>
        </p:grpSpPr>
        <p:pic>
          <p:nvPicPr>
            <p:cNvPr id="22" name="Picture 21">
              <a:extLst>
                <a:ext uri="{FF2B5EF4-FFF2-40B4-BE49-F238E27FC236}">
                  <a16:creationId xmlns:a16="http://schemas.microsoft.com/office/drawing/2014/main" id="{2B012FAB-45CC-6022-5638-1E6477011E71}"/>
                </a:ext>
              </a:extLst>
            </p:cNvPr>
            <p:cNvPicPr>
              <a:picLocks noChangeAspect="1"/>
            </p:cNvPicPr>
            <p:nvPr/>
          </p:nvPicPr>
          <p:blipFill>
            <a:blip r:embed="rId5"/>
            <a:stretch>
              <a:fillRect/>
            </a:stretch>
          </p:blipFill>
          <p:spPr>
            <a:xfrm>
              <a:off x="583433" y="1526648"/>
              <a:ext cx="4191578" cy="4153473"/>
            </a:xfrm>
            <a:prstGeom prst="rect">
              <a:avLst/>
            </a:prstGeom>
          </p:spPr>
        </p:pic>
        <p:cxnSp>
          <p:nvCxnSpPr>
            <p:cNvPr id="8" name="Straight Arrow Connector 7">
              <a:extLst>
                <a:ext uri="{FF2B5EF4-FFF2-40B4-BE49-F238E27FC236}">
                  <a16:creationId xmlns:a16="http://schemas.microsoft.com/office/drawing/2014/main" id="{05B2A107-35BC-D59E-A75C-4C0976A3D543}"/>
                </a:ext>
              </a:extLst>
            </p:cNvPr>
            <p:cNvCxnSpPr>
              <a:cxnSpLocks/>
            </p:cNvCxnSpPr>
            <p:nvPr/>
          </p:nvCxnSpPr>
          <p:spPr>
            <a:xfrm flipH="1" flipV="1">
              <a:off x="2486500" y="2480807"/>
              <a:ext cx="192722" cy="1122577"/>
            </a:xfrm>
            <a:prstGeom prst="straightConnector1">
              <a:avLst/>
            </a:prstGeom>
            <a:ln w="381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562B08C9-141A-BAC8-37DC-11D1476B70DE}"/>
              </a:ext>
            </a:extLst>
          </p:cNvPr>
          <p:cNvSpPr txBox="1"/>
          <p:nvPr/>
        </p:nvSpPr>
        <p:spPr>
          <a:xfrm>
            <a:off x="583433" y="5941164"/>
            <a:ext cx="11025133" cy="754836"/>
          </a:xfrm>
          <a:prstGeom prst="rect">
            <a:avLst/>
          </a:prstGeom>
          <a:noFill/>
        </p:spPr>
        <p:txBody>
          <a:bodyPr wrap="square" lIns="0" tIns="0" rIns="0" bIns="0" rtlCol="0">
            <a:no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034C6E2-4D40-CB72-9DC8-17C68D52577B}"/>
              </a:ext>
            </a:extLst>
          </p:cNvPr>
          <p:cNvSpPr txBox="1"/>
          <p:nvPr/>
        </p:nvSpPr>
        <p:spPr>
          <a:xfrm>
            <a:off x="1553095" y="1978429"/>
            <a:ext cx="9085810" cy="1246909"/>
          </a:xfrm>
          <a:prstGeom prst="rect">
            <a:avLst/>
          </a:prstGeom>
          <a:noFill/>
        </p:spPr>
        <p:txBody>
          <a:bodyPr wrap="square" lIns="0" tIns="0" rIns="0" bIns="0" rtlCol="0">
            <a:noAutofit/>
          </a:bodyPr>
          <a:lstStyle/>
          <a:p>
            <a:pPr algn="ctr">
              <a:lnSpc>
                <a:spcPct val="150000"/>
              </a:lnSpc>
            </a:pPr>
            <a:r>
              <a:rPr lang="en-AU" sz="4400" b="1"/>
              <a:t>Represent</a:t>
            </a:r>
            <a:r>
              <a:rPr lang="en-AU" sz="4400"/>
              <a:t> 2 hours 15 minutes as a </a:t>
            </a:r>
            <a:r>
              <a:rPr lang="en-AU" sz="4400" b="1"/>
              <a:t>fraction</a:t>
            </a:r>
            <a:r>
              <a:rPr lang="en-AU" sz="4400"/>
              <a:t> and a </a:t>
            </a:r>
            <a:r>
              <a:rPr lang="en-AU" sz="4400" b="1"/>
              <a:t>decimal</a:t>
            </a:r>
            <a:r>
              <a:rPr lang="en-AU" sz="4400"/>
              <a:t>.</a:t>
            </a:r>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1 – strategies to estimate discounts</a:t>
            </a:r>
          </a:p>
        </p:txBody>
      </p:sp>
      <p:sp>
        <p:nvSpPr>
          <p:cNvPr id="7" name="TextBox 6">
            <a:extLst>
              <a:ext uri="{FF2B5EF4-FFF2-40B4-BE49-F238E27FC236}">
                <a16:creationId xmlns:a16="http://schemas.microsoft.com/office/drawing/2014/main" id="{C56E356F-DEDC-85D4-A000-C44229F7E498}"/>
              </a:ext>
            </a:extLst>
          </p:cNvPr>
          <p:cNvSpPr txBox="1"/>
          <p:nvPr/>
        </p:nvSpPr>
        <p:spPr>
          <a:xfrm>
            <a:off x="419043" y="1187163"/>
            <a:ext cx="3668485" cy="646331"/>
          </a:xfrm>
          <a:prstGeom prst="rect">
            <a:avLst/>
          </a:prstGeom>
          <a:noFill/>
        </p:spPr>
        <p:txBody>
          <a:bodyPr wrap="square">
            <a:spAutoFit/>
          </a:bodyPr>
          <a:lstStyle/>
          <a:p>
            <a:pPr rtl="0" fontAlgn="base"/>
            <a:r>
              <a:rPr lang="en-AU" sz="3600" b="1" i="0">
                <a:solidFill>
                  <a:srgbClr val="000000"/>
                </a:solidFill>
                <a:effectLst/>
                <a:highlight>
                  <a:srgbClr val="FFFFFF"/>
                </a:highlight>
                <a:latin typeface="Arial" panose="020B0604020202020204" pitchFamily="34" charset="0"/>
              </a:rPr>
              <a:t>Which is more?</a:t>
            </a:r>
          </a:p>
        </p:txBody>
      </p:sp>
      <p:sp>
        <p:nvSpPr>
          <p:cNvPr id="6" name="TextBox 5">
            <a:extLst>
              <a:ext uri="{FF2B5EF4-FFF2-40B4-BE49-F238E27FC236}">
                <a16:creationId xmlns:a16="http://schemas.microsoft.com/office/drawing/2014/main" id="{049F7297-410F-F51F-7A50-5E1F3F6B15CB}"/>
              </a:ext>
            </a:extLst>
          </p:cNvPr>
          <p:cNvSpPr txBox="1"/>
          <p:nvPr/>
        </p:nvSpPr>
        <p:spPr>
          <a:xfrm>
            <a:off x="360000" y="1917299"/>
            <a:ext cx="11484000" cy="1323439"/>
          </a:xfrm>
          <a:prstGeom prst="rect">
            <a:avLst/>
          </a:prstGeom>
          <a:noFill/>
        </p:spPr>
        <p:txBody>
          <a:bodyPr wrap="square">
            <a:spAutoFit/>
          </a:bodyPr>
          <a:lstStyle/>
          <a:p>
            <a:pPr algn="ctr"/>
            <a:r>
              <a:rPr lang="en-AU" sz="4000">
                <a:effectLst/>
                <a:latin typeface="Arial" panose="020B0604020202020204" pitchFamily="34" charset="0"/>
                <a:ea typeface="Calibri" panose="020F0502020204030204" pitchFamily="34" charset="0"/>
              </a:rPr>
              <a:t>First estimate using mental strategies, without any formal calculations.</a:t>
            </a:r>
            <a:endParaRPr lang="en-AU" sz="4000"/>
          </a:p>
        </p:txBody>
      </p:sp>
      <p:sp>
        <p:nvSpPr>
          <p:cNvPr id="5" name="TextBox 4">
            <a:extLst>
              <a:ext uri="{FF2B5EF4-FFF2-40B4-BE49-F238E27FC236}">
                <a16:creationId xmlns:a16="http://schemas.microsoft.com/office/drawing/2014/main" id="{2F6242DE-030A-B296-A8D0-3ED04F4DA9A3}"/>
              </a:ext>
            </a:extLst>
          </p:cNvPr>
          <p:cNvSpPr txBox="1"/>
          <p:nvPr/>
        </p:nvSpPr>
        <p:spPr>
          <a:xfrm>
            <a:off x="3048646" y="4677610"/>
            <a:ext cx="6094708" cy="584775"/>
          </a:xfrm>
          <a:prstGeom prst="rect">
            <a:avLst/>
          </a:prstGeom>
          <a:solidFill>
            <a:schemeClr val="accent4"/>
          </a:solidFill>
          <a:ln>
            <a:solidFill>
              <a:srgbClr val="002060"/>
            </a:solidFill>
          </a:ln>
        </p:spPr>
        <p:txBody>
          <a:bodyPr wrap="square">
            <a:spAutoFit/>
          </a:bodyPr>
          <a:lstStyle/>
          <a:p>
            <a:pPr algn="ctr" rtl="0" fontAlgn="base"/>
            <a:r>
              <a:rPr lang="en-AU" sz="3200" b="0" i="0">
                <a:solidFill>
                  <a:srgbClr val="000000"/>
                </a:solidFill>
                <a:effectLst/>
                <a:latin typeface="Arial" panose="020B0604020202020204" pitchFamily="34" charset="0"/>
              </a:rPr>
              <a:t>10% of $500 or 25% of $200? </a:t>
            </a:r>
          </a:p>
        </p:txBody>
      </p:sp>
      <p:sp>
        <p:nvSpPr>
          <p:cNvPr id="9" name="TextBox 8">
            <a:extLst>
              <a:ext uri="{FF2B5EF4-FFF2-40B4-BE49-F238E27FC236}">
                <a16:creationId xmlns:a16="http://schemas.microsoft.com/office/drawing/2014/main" id="{E4AE1C6A-13A1-5B26-F3A7-14D89DF43AFE}"/>
              </a:ext>
            </a:extLst>
          </p:cNvPr>
          <p:cNvSpPr txBox="1"/>
          <p:nvPr/>
        </p:nvSpPr>
        <p:spPr>
          <a:xfrm>
            <a:off x="3048646" y="3612364"/>
            <a:ext cx="6094708" cy="584775"/>
          </a:xfrm>
          <a:prstGeom prst="rect">
            <a:avLst/>
          </a:prstGeom>
          <a:solidFill>
            <a:schemeClr val="accent4"/>
          </a:solidFill>
          <a:ln>
            <a:solidFill>
              <a:srgbClr val="002060"/>
            </a:solidFill>
          </a:ln>
        </p:spPr>
        <p:txBody>
          <a:bodyPr wrap="square">
            <a:spAutoFit/>
          </a:bodyPr>
          <a:lstStyle/>
          <a:p>
            <a:pPr algn="ctr" rtl="0" fontAlgn="base"/>
            <a:r>
              <a:rPr lang="en-AU" sz="3200" b="0" i="0">
                <a:solidFill>
                  <a:srgbClr val="000000"/>
                </a:solidFill>
                <a:effectLst/>
                <a:latin typeface="Arial" panose="020B0604020202020204" pitchFamily="34" charset="0"/>
              </a:rPr>
              <a:t>10% of $200 or 50% of $40? </a:t>
            </a:r>
          </a:p>
        </p:txBody>
      </p:sp>
      <p:sp>
        <p:nvSpPr>
          <p:cNvPr id="11" name="TextBox 10">
            <a:extLst>
              <a:ext uri="{FF2B5EF4-FFF2-40B4-BE49-F238E27FC236}">
                <a16:creationId xmlns:a16="http://schemas.microsoft.com/office/drawing/2014/main" id="{6EB368E7-459E-7C37-7548-2ADF5F09459F}"/>
              </a:ext>
            </a:extLst>
          </p:cNvPr>
          <p:cNvSpPr txBox="1"/>
          <p:nvPr/>
        </p:nvSpPr>
        <p:spPr>
          <a:xfrm>
            <a:off x="3048646" y="5742856"/>
            <a:ext cx="6094708" cy="584775"/>
          </a:xfrm>
          <a:prstGeom prst="rect">
            <a:avLst/>
          </a:prstGeom>
          <a:solidFill>
            <a:schemeClr val="accent4"/>
          </a:solidFill>
          <a:ln>
            <a:solidFill>
              <a:srgbClr val="002060"/>
            </a:solidFill>
          </a:ln>
        </p:spPr>
        <p:txBody>
          <a:bodyPr wrap="square">
            <a:spAutoFit/>
          </a:bodyPr>
          <a:lstStyle/>
          <a:p>
            <a:pPr algn="ctr" rtl="0" fontAlgn="base"/>
            <a:r>
              <a:rPr lang="en-AU" sz="3200" b="0" i="0">
                <a:solidFill>
                  <a:srgbClr val="000000"/>
                </a:solidFill>
                <a:effectLst/>
                <a:latin typeface="Arial" panose="020B0604020202020204" pitchFamily="34" charset="0"/>
              </a:rPr>
              <a:t>10% of 50 or 50% of 10? </a:t>
            </a:r>
          </a:p>
        </p:txBody>
      </p:sp>
      <p:pic>
        <p:nvPicPr>
          <p:cNvPr id="8" name="Picture 7" descr="image of a head with cogs turning inside">
            <a:extLst>
              <a:ext uri="{FF2B5EF4-FFF2-40B4-BE49-F238E27FC236}">
                <a16:creationId xmlns:a16="http://schemas.microsoft.com/office/drawing/2014/main" id="{33B445B3-8678-9F62-76F9-30286308D73F}"/>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1788301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Box 6">
            <a:extLst>
              <a:ext uri="{FF2B5EF4-FFF2-40B4-BE49-F238E27FC236}">
                <a16:creationId xmlns:a16="http://schemas.microsoft.com/office/drawing/2014/main" id="{E6CFD5DA-EA99-2EE5-CCC1-177810848052}"/>
              </a:ext>
            </a:extLst>
          </p:cNvPr>
          <p:cNvSpPr txBox="1"/>
          <p:nvPr/>
        </p:nvSpPr>
        <p:spPr>
          <a:xfrm>
            <a:off x="346949" y="2348374"/>
            <a:ext cx="7923998" cy="769441"/>
          </a:xfrm>
          <a:prstGeom prst="rect">
            <a:avLst/>
          </a:prstGeom>
          <a:noFill/>
        </p:spPr>
        <p:txBody>
          <a:bodyPr wrap="square">
            <a:spAutoFit/>
          </a:bodyPr>
          <a:lstStyle/>
          <a:p>
            <a:pPr algn="ctr"/>
            <a:r>
              <a:rPr lang="en-AU" sz="4400" b="1" i="0">
                <a:solidFill>
                  <a:srgbClr val="000000"/>
                </a:solidFill>
                <a:effectLst/>
                <a:latin typeface="Arial" panose="020B0604020202020204" pitchFamily="34" charset="0"/>
              </a:rPr>
              <a:t>‘Take $10 off your total shop’</a:t>
            </a:r>
            <a:endParaRPr lang="en-AU" sz="4400" b="1"/>
          </a:p>
        </p:txBody>
      </p:sp>
      <p:sp>
        <p:nvSpPr>
          <p:cNvPr id="8" name="TextBox 7">
            <a:extLst>
              <a:ext uri="{FF2B5EF4-FFF2-40B4-BE49-F238E27FC236}">
                <a16:creationId xmlns:a16="http://schemas.microsoft.com/office/drawing/2014/main" id="{E1D1D227-CEC8-F421-F7CF-BE24019B206E}"/>
              </a:ext>
            </a:extLst>
          </p:cNvPr>
          <p:cNvSpPr txBox="1"/>
          <p:nvPr/>
        </p:nvSpPr>
        <p:spPr>
          <a:xfrm>
            <a:off x="1205231" y="3077022"/>
            <a:ext cx="6207434" cy="769441"/>
          </a:xfrm>
          <a:prstGeom prst="rect">
            <a:avLst/>
          </a:prstGeom>
          <a:noFill/>
        </p:spPr>
        <p:txBody>
          <a:bodyPr wrap="square">
            <a:spAutoFit/>
          </a:bodyPr>
          <a:lstStyle/>
          <a:p>
            <a:pPr algn="ctr"/>
            <a:r>
              <a:rPr lang="en-AU" sz="4400" b="0" i="0">
                <a:solidFill>
                  <a:srgbClr val="000000"/>
                </a:solidFill>
                <a:effectLst/>
                <a:latin typeface="Arial" panose="020B0604020202020204" pitchFamily="34" charset="0"/>
              </a:rPr>
              <a:t>saves you more than</a:t>
            </a:r>
            <a:endParaRPr lang="en-AU" sz="4400" b="1"/>
          </a:p>
        </p:txBody>
      </p:sp>
      <p:sp>
        <p:nvSpPr>
          <p:cNvPr id="9" name="TextBox 8">
            <a:extLst>
              <a:ext uri="{FF2B5EF4-FFF2-40B4-BE49-F238E27FC236}">
                <a16:creationId xmlns:a16="http://schemas.microsoft.com/office/drawing/2014/main" id="{6C16AD96-3616-193D-D867-0C89C951941C}"/>
              </a:ext>
            </a:extLst>
          </p:cNvPr>
          <p:cNvSpPr txBox="1"/>
          <p:nvPr/>
        </p:nvSpPr>
        <p:spPr>
          <a:xfrm>
            <a:off x="346949" y="3805670"/>
            <a:ext cx="7923998" cy="769441"/>
          </a:xfrm>
          <a:prstGeom prst="rect">
            <a:avLst/>
          </a:prstGeom>
          <a:noFill/>
        </p:spPr>
        <p:txBody>
          <a:bodyPr wrap="square">
            <a:spAutoFit/>
          </a:bodyPr>
          <a:lstStyle/>
          <a:p>
            <a:pPr algn="ctr"/>
            <a:r>
              <a:rPr lang="en-AU" sz="4400" b="1" i="0">
                <a:solidFill>
                  <a:srgbClr val="000000"/>
                </a:solidFill>
                <a:effectLst/>
                <a:latin typeface="Arial" panose="020B0604020202020204" pitchFamily="34" charset="0"/>
              </a:rPr>
              <a:t>‘25% off your total shop’.</a:t>
            </a:r>
            <a:endParaRPr lang="en-AU" sz="4400" b="1"/>
          </a:p>
        </p:txBody>
      </p:sp>
      <p:pic>
        <p:nvPicPr>
          <p:cNvPr id="13" name="Picture 12" descr="Image of receipt with arrow from total pointing to Total $150.">
            <a:extLst>
              <a:ext uri="{FF2B5EF4-FFF2-40B4-BE49-F238E27FC236}">
                <a16:creationId xmlns:a16="http://schemas.microsoft.com/office/drawing/2014/main" id="{448E4A8A-F777-6308-1082-915CA7BBEA1D}"/>
              </a:ext>
            </a:extLst>
          </p:cNvPr>
          <p:cNvPicPr>
            <a:picLocks noChangeAspect="1"/>
          </p:cNvPicPr>
          <p:nvPr/>
        </p:nvPicPr>
        <p:blipFill>
          <a:blip r:embed="rId4"/>
          <a:stretch>
            <a:fillRect/>
          </a:stretch>
        </p:blipFill>
        <p:spPr>
          <a:xfrm>
            <a:off x="8633430" y="1850305"/>
            <a:ext cx="3327213" cy="3222875"/>
          </a:xfrm>
          <a:prstGeom prst="rect">
            <a:avLst/>
          </a:prstGeom>
        </p:spPr>
      </p:pic>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062303606"/>
              </p:ext>
            </p:extLst>
          </p:nvPr>
        </p:nvGraphicFramePr>
        <p:xfrm>
          <a:off x="2442981" y="5461048"/>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21DFFB23-CCCF-D30B-BA3E-FBCA1BB60562}"/>
              </a:ext>
            </a:extLst>
          </p:cNvPr>
          <p:cNvSpPr txBox="1"/>
          <p:nvPr/>
        </p:nvSpPr>
        <p:spPr>
          <a:xfrm>
            <a:off x="5161133" y="1311972"/>
            <a:ext cx="6564085" cy="2746631"/>
          </a:xfrm>
          <a:prstGeom prst="rect">
            <a:avLst/>
          </a:prstGeom>
          <a:noFill/>
        </p:spPr>
        <p:txBody>
          <a:bodyPr wrap="square" lIns="0" tIns="0" rIns="0" bIns="0" rtlCol="0">
            <a:noAutofit/>
          </a:bodyPr>
          <a:lstStyle/>
          <a:p>
            <a:pPr algn="ctr"/>
            <a:r>
              <a:rPr lang="en-AU" sz="4400"/>
              <a:t>Phil rolled a die and moved from the Café to Deliveries.</a:t>
            </a:r>
          </a:p>
          <a:p>
            <a:pPr algn="ctr"/>
            <a:endParaRPr lang="en-AU" sz="4400"/>
          </a:p>
          <a:p>
            <a:pPr algn="ctr"/>
            <a:r>
              <a:rPr lang="en-AU" sz="4400" b="1"/>
              <a:t>Record</a:t>
            </a:r>
            <a:r>
              <a:rPr lang="en-AU" sz="4400"/>
              <a:t> this movement on a </a:t>
            </a:r>
            <a:r>
              <a:rPr lang="en-AU" sz="4400" b="1"/>
              <a:t>number line.</a:t>
            </a:r>
          </a:p>
          <a:p>
            <a:pPr algn="ctr"/>
            <a:br>
              <a:rPr lang="en-AU" sz="4400"/>
            </a:br>
            <a:r>
              <a:rPr lang="en-AU" sz="4400"/>
              <a:t>What </a:t>
            </a:r>
            <a:r>
              <a:rPr lang="en-AU" sz="4400" b="1"/>
              <a:t>number</a:t>
            </a:r>
            <a:r>
              <a:rPr lang="en-AU" sz="4400"/>
              <a:t> did he roll?</a:t>
            </a:r>
          </a:p>
        </p:txBody>
      </p:sp>
      <p:pic>
        <p:nvPicPr>
          <p:cNvPr id="5" name="Picture 4" descr="Number line and gameboard for the game ‘Elevator challenge’.&#10;The floors on the gameboard and elevator cards are as follows: Floor 6: Pool, Floor 5: Spa, Floor 4: Restaurant, Floor 3: Guest rooms, Floor 2: Business centre, Floor 1: Café, Floor 0: Lobby, Floor −1: Gym, Floor −2: Car park, Floor −3: Kitchen, Floor −4: Laundry, Floor −5: Deliveries, Floor −6: Storage.&#10;">
            <a:extLst>
              <a:ext uri="{FF2B5EF4-FFF2-40B4-BE49-F238E27FC236}">
                <a16:creationId xmlns:a16="http://schemas.microsoft.com/office/drawing/2014/main" id="{82CBD9B1-24EA-1816-B394-C7A03B743056}"/>
              </a:ext>
            </a:extLst>
          </p:cNvPr>
          <p:cNvPicPr>
            <a:picLocks noChangeAspect="1"/>
          </p:cNvPicPr>
          <p:nvPr/>
        </p:nvPicPr>
        <p:blipFill>
          <a:blip r:embed="rId4">
            <a:extLst>
              <a:ext uri="{28A0092B-C50C-407E-A947-70E740481C1C}">
                <a14:useLocalDpi xmlns:a14="http://schemas.microsoft.com/office/drawing/2010/main" val="0"/>
              </a:ext>
            </a:extLst>
          </a:blip>
          <a:srcRect r="54066"/>
          <a:stretch>
            <a:fillRect/>
          </a:stretch>
        </p:blipFill>
        <p:spPr>
          <a:xfrm>
            <a:off x="923475" y="997128"/>
            <a:ext cx="3702314" cy="5698872"/>
          </a:xfrm>
          <a:prstGeom prst="rect">
            <a:avLst/>
          </a:prstGeom>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Two mobile phones displaying ‘Shows and Events’ for a theme park schedule. On the first phone, the schedule shows:&#10;Meet and greet with characters from 0900 to 0930 in the Entertainment pavilion.&#10;The Animal show from 1030 to 1100 at the Animal pavilion.&#10;The Dance spectacular from 1045 to 1145 on the Main stage.&#10;Feed the animals from 1145 to 1300 at the Animal pavilion.&#10;The Magic show from 1230 to 1330 at the Theatre.&#10;Lunch with the characters from 1315 to 1415 in the food court.&#10;The Character parade from 1445 to 1530 in the Entertainment pavilion.&#10;The Demolition derby from 1530 to 1630 in the Arena.&#10;Dare devil acrobatics from 1600 to 1630 in the Entertainment pavilion.&#10;On the second phone, the schedule shows:&#10;The Band from 1715 to 1745 at the Theatre.&#10;The Cooking demonstration from 1745 to 1900 on the Main stage.&#10;Horse riding from 1800 to 1900 at the Animal pavilion.&#10;The Miraculous motorbikes from 1830 to 1915 in the Arena.&#10;The Laser show from 2015 to 2045 in the Arena.&#10;The Fireworks display from 2045 to 2115 in the Arena.&#10;There are also 2 all-day events:&#10;The Show bag pavilion open from 0900 to 2130 at the Showbag pavilion.&#10;Rides from 0900 to 2100 at the Rides quarter.">
            <a:extLst>
              <a:ext uri="{FF2B5EF4-FFF2-40B4-BE49-F238E27FC236}">
                <a16:creationId xmlns:a16="http://schemas.microsoft.com/office/drawing/2014/main" id="{C56DED5C-39E8-AB7F-2F16-45AD430744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0000" y="997982"/>
            <a:ext cx="6437688" cy="5518018"/>
          </a:xfrm>
          <a:prstGeom prst="rect">
            <a:avLst/>
          </a:prstGeom>
        </p:spPr>
      </p:pic>
      <p:sp>
        <p:nvSpPr>
          <p:cNvPr id="5" name="TextBox 4">
            <a:extLst>
              <a:ext uri="{FF2B5EF4-FFF2-40B4-BE49-F238E27FC236}">
                <a16:creationId xmlns:a16="http://schemas.microsoft.com/office/drawing/2014/main" id="{589A736C-308E-86A4-4DD2-F6125E0DC4EF}"/>
              </a:ext>
            </a:extLst>
          </p:cNvPr>
          <p:cNvSpPr txBox="1"/>
          <p:nvPr/>
        </p:nvSpPr>
        <p:spPr>
          <a:xfrm>
            <a:off x="7272218" y="2356856"/>
            <a:ext cx="4211782" cy="2984071"/>
          </a:xfrm>
          <a:prstGeom prst="rect">
            <a:avLst/>
          </a:prstGeom>
          <a:noFill/>
        </p:spPr>
        <p:txBody>
          <a:bodyPr wrap="square" lIns="0" tIns="0" rIns="0" bIns="0" rtlCol="0">
            <a:noAutofit/>
          </a:bodyPr>
          <a:lstStyle/>
          <a:p>
            <a:pPr algn="ctr"/>
            <a:r>
              <a:rPr lang="en-AU" sz="4000"/>
              <a:t>List </a:t>
            </a:r>
            <a:r>
              <a:rPr lang="en-AU" sz="4000" b="1"/>
              <a:t>events </a:t>
            </a:r>
            <a:r>
              <a:rPr lang="en-AU" sz="4000"/>
              <a:t>that are </a:t>
            </a:r>
            <a:r>
              <a:rPr lang="en-AU" sz="4000" b="1"/>
              <a:t>30 mins </a:t>
            </a:r>
            <a:r>
              <a:rPr lang="en-AU" sz="4000"/>
              <a:t>in duration.</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6" name="TextBox 15">
            <a:extLst>
              <a:ext uri="{FF2B5EF4-FFF2-40B4-BE49-F238E27FC236}">
                <a16:creationId xmlns:a16="http://schemas.microsoft.com/office/drawing/2014/main" id="{8E50DA79-902F-B93F-7BA8-AED7EF645C43}"/>
              </a:ext>
            </a:extLst>
          </p:cNvPr>
          <p:cNvSpPr txBox="1"/>
          <p:nvPr/>
        </p:nvSpPr>
        <p:spPr>
          <a:xfrm>
            <a:off x="6096000" y="2086912"/>
            <a:ext cx="5486842" cy="3419062"/>
          </a:xfrm>
          <a:prstGeom prst="rect">
            <a:avLst/>
          </a:prstGeom>
          <a:noFill/>
        </p:spPr>
        <p:txBody>
          <a:bodyPr wrap="square" lIns="0" tIns="0" rIns="0" bIns="0" rtlCol="0">
            <a:noAutofit/>
          </a:bodyPr>
          <a:lstStyle/>
          <a:p>
            <a:pPr algn="ctr"/>
            <a:r>
              <a:rPr lang="en-AU" sz="4400"/>
              <a:t>Express the </a:t>
            </a:r>
            <a:r>
              <a:rPr lang="en-AU" sz="4400" b="1"/>
              <a:t>probability</a:t>
            </a:r>
            <a:r>
              <a:rPr lang="en-AU" sz="4400"/>
              <a:t> of the arrow landing on each colour as a </a:t>
            </a:r>
            <a:r>
              <a:rPr lang="en-AU" sz="4400" b="1"/>
              <a:t>fraction</a:t>
            </a:r>
            <a:r>
              <a:rPr lang="en-AU" sz="4400"/>
              <a:t>.</a:t>
            </a:r>
          </a:p>
        </p:txBody>
      </p:sp>
      <p:pic>
        <p:nvPicPr>
          <p:cNvPr id="18" name="Picture 17" descr="Spinner - 6 sections - 3 green, 1 yellow, 1 red, 1 blue.">
            <a:extLst>
              <a:ext uri="{FF2B5EF4-FFF2-40B4-BE49-F238E27FC236}">
                <a16:creationId xmlns:a16="http://schemas.microsoft.com/office/drawing/2014/main" id="{65A9F816-B97B-333C-578C-4CCB9DCD44C0}"/>
              </a:ext>
            </a:extLst>
          </p:cNvPr>
          <p:cNvPicPr>
            <a:picLocks noChangeAspect="1"/>
          </p:cNvPicPr>
          <p:nvPr/>
        </p:nvPicPr>
        <p:blipFill>
          <a:blip r:embed="rId4"/>
          <a:stretch>
            <a:fillRect/>
          </a:stretch>
        </p:blipFill>
        <p:spPr>
          <a:xfrm>
            <a:off x="798605" y="1738756"/>
            <a:ext cx="4344006" cy="4115374"/>
          </a:xfrm>
          <a:prstGeom prst="rect">
            <a:avLst/>
          </a:prstGeom>
        </p:spPr>
      </p:pic>
      <p:cxnSp>
        <p:nvCxnSpPr>
          <p:cNvPr id="20" name="Straight Arrow Connector 19" descr="Spinner arrow">
            <a:extLst>
              <a:ext uri="{FF2B5EF4-FFF2-40B4-BE49-F238E27FC236}">
                <a16:creationId xmlns:a16="http://schemas.microsoft.com/office/drawing/2014/main" id="{4EAAFC0E-E39E-6EF1-D698-32403B2F3CBE}"/>
              </a:ext>
            </a:extLst>
          </p:cNvPr>
          <p:cNvCxnSpPr>
            <a:cxnSpLocks/>
          </p:cNvCxnSpPr>
          <p:nvPr/>
        </p:nvCxnSpPr>
        <p:spPr>
          <a:xfrm flipV="1">
            <a:off x="3026267" y="2566725"/>
            <a:ext cx="591041" cy="1229718"/>
          </a:xfrm>
          <a:prstGeom prst="straightConnector1">
            <a:avLst/>
          </a:prstGeom>
          <a:ln w="381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11" name="TextBox 10">
            <a:extLst>
              <a:ext uri="{FF2B5EF4-FFF2-40B4-BE49-F238E27FC236}">
                <a16:creationId xmlns:a16="http://schemas.microsoft.com/office/drawing/2014/main" id="{416BCF7E-BA13-47D0-C93B-E1921A7B9D90}"/>
              </a:ext>
            </a:extLst>
          </p:cNvPr>
          <p:cNvSpPr txBox="1"/>
          <p:nvPr/>
        </p:nvSpPr>
        <p:spPr>
          <a:xfrm>
            <a:off x="7190509" y="1622635"/>
            <a:ext cx="4755467" cy="2519983"/>
          </a:xfrm>
          <a:prstGeom prst="rect">
            <a:avLst/>
          </a:prstGeom>
          <a:noFill/>
        </p:spPr>
        <p:txBody>
          <a:bodyPr wrap="square" lIns="0" tIns="0" rIns="0" bIns="0" rtlCol="0">
            <a:noAutofit/>
          </a:bodyPr>
          <a:lstStyle/>
          <a:p>
            <a:pPr algn="ctr"/>
            <a:r>
              <a:rPr lang="en-AU" sz="4800"/>
              <a:t>Find the </a:t>
            </a:r>
            <a:r>
              <a:rPr lang="en-AU" sz="4800" b="1"/>
              <a:t>area</a:t>
            </a:r>
            <a:r>
              <a:rPr lang="en-AU" sz="4800"/>
              <a:t> of the </a:t>
            </a:r>
            <a:r>
              <a:rPr lang="en-AU" sz="4800" b="1"/>
              <a:t>composite shape.</a:t>
            </a:r>
          </a:p>
        </p:txBody>
      </p:sp>
      <p:pic>
        <p:nvPicPr>
          <p:cNvPr id="5" name="Picture 4" descr="L shaped area. with measurements marked.">
            <a:extLst>
              <a:ext uri="{FF2B5EF4-FFF2-40B4-BE49-F238E27FC236}">
                <a16:creationId xmlns:a16="http://schemas.microsoft.com/office/drawing/2014/main" id="{53B3D533-BDE9-AC44-A741-997E3F26B450}"/>
              </a:ext>
            </a:extLst>
          </p:cNvPr>
          <p:cNvPicPr>
            <a:picLocks noChangeAspect="1"/>
          </p:cNvPicPr>
          <p:nvPr/>
        </p:nvPicPr>
        <p:blipFill>
          <a:blip r:embed="rId3"/>
          <a:stretch>
            <a:fillRect/>
          </a:stretch>
        </p:blipFill>
        <p:spPr>
          <a:xfrm>
            <a:off x="265216" y="1639194"/>
            <a:ext cx="6210739" cy="4638063"/>
          </a:xfrm>
          <a:prstGeom prst="rect">
            <a:avLst/>
          </a:prstGeom>
        </p:spPr>
      </p:pic>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2 – percentage discounts</a:t>
            </a:r>
          </a:p>
        </p:txBody>
      </p:sp>
      <p:sp>
        <p:nvSpPr>
          <p:cNvPr id="5" name="TextBox 4">
            <a:extLst>
              <a:ext uri="{FF2B5EF4-FFF2-40B4-BE49-F238E27FC236}">
                <a16:creationId xmlns:a16="http://schemas.microsoft.com/office/drawing/2014/main" id="{F8325FA8-84EE-AA07-89DE-4AB920870683}"/>
              </a:ext>
            </a:extLst>
          </p:cNvPr>
          <p:cNvSpPr txBox="1"/>
          <p:nvPr/>
        </p:nvSpPr>
        <p:spPr>
          <a:xfrm>
            <a:off x="613056" y="1216364"/>
            <a:ext cx="10586549" cy="3694409"/>
          </a:xfrm>
          <a:prstGeom prst="rect">
            <a:avLst/>
          </a:prstGeom>
          <a:noFill/>
        </p:spPr>
        <p:txBody>
          <a:bodyPr wrap="square">
            <a:spAutoFit/>
          </a:bodyPr>
          <a:lstStyle/>
          <a:p>
            <a:pPr>
              <a:lnSpc>
                <a:spcPct val="150000"/>
              </a:lnSpc>
            </a:pPr>
            <a:r>
              <a:rPr lang="en-AU" sz="3200" b="0" i="0">
                <a:solidFill>
                  <a:srgbClr val="000000"/>
                </a:solidFill>
                <a:effectLst/>
                <a:latin typeface="Arial" panose="020B0604020202020204" pitchFamily="34" charset="0"/>
              </a:rPr>
              <a:t>Lila has a membership card for her local grocery store. As part of the December promotions, the owner gave selected shoppers an option to ‘take $10 off your total shop’ or ‘25% off your total shop’. Lila finished her Christmas shopping with a total bill of $250.</a:t>
            </a:r>
          </a:p>
        </p:txBody>
      </p:sp>
      <p:sp>
        <p:nvSpPr>
          <p:cNvPr id="6" name="TextBox 5">
            <a:extLst>
              <a:ext uri="{FF2B5EF4-FFF2-40B4-BE49-F238E27FC236}">
                <a16:creationId xmlns:a16="http://schemas.microsoft.com/office/drawing/2014/main" id="{FD0FFD90-F7B5-BBF0-F74A-2D2FCEDB044F}"/>
              </a:ext>
            </a:extLst>
          </p:cNvPr>
          <p:cNvSpPr txBox="1"/>
          <p:nvPr/>
        </p:nvSpPr>
        <p:spPr>
          <a:xfrm>
            <a:off x="613056" y="5483212"/>
            <a:ext cx="7966166" cy="739754"/>
          </a:xfrm>
          <a:prstGeom prst="rect">
            <a:avLst/>
          </a:prstGeom>
          <a:noFill/>
        </p:spPr>
        <p:txBody>
          <a:bodyPr wrap="square">
            <a:spAutoFit/>
          </a:bodyPr>
          <a:lstStyle/>
          <a:p>
            <a:pPr>
              <a:lnSpc>
                <a:spcPct val="150000"/>
              </a:lnSpc>
            </a:pPr>
            <a:r>
              <a:rPr lang="en-AU" sz="3200" b="0" i="0">
                <a:solidFill>
                  <a:srgbClr val="000000"/>
                </a:solidFill>
                <a:effectLst/>
                <a:latin typeface="Arial" panose="020B0604020202020204" pitchFamily="34" charset="0"/>
              </a:rPr>
              <a:t>Which discount voucher should Lila use? </a:t>
            </a:r>
            <a:endParaRPr lang="en-AU" sz="3200"/>
          </a:p>
        </p:txBody>
      </p:sp>
      <p:pic>
        <p:nvPicPr>
          <p:cNvPr id="4" name="Picture 3" descr="image of a head with cogs turning inside">
            <a:extLst>
              <a:ext uri="{FF2B5EF4-FFF2-40B4-BE49-F238E27FC236}">
                <a16:creationId xmlns:a16="http://schemas.microsoft.com/office/drawing/2014/main" id="{CC054654-9088-0759-C30A-0FA3A6B39F27}"/>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309489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293A7A-9C27-9EEF-CD29-DBB1D9D84022}"/>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1215766" y="1792140"/>
            <a:ext cx="4880234" cy="893226"/>
          </a:xfrm>
        </p:spPr>
        <p: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Estimate</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the price of this scooter.</a:t>
            </a:r>
          </a:p>
          <a:p>
            <a:endParaRPr lang="en-US" sz="4400"/>
          </a:p>
        </p:txBody>
      </p:sp>
      <p:sp>
        <p:nvSpPr>
          <p:cNvPr id="9" name="TextBox 8">
            <a:extLst>
              <a:ext uri="{FF2B5EF4-FFF2-40B4-BE49-F238E27FC236}">
                <a16:creationId xmlns:a16="http://schemas.microsoft.com/office/drawing/2014/main" id="{AF13415D-5ABE-8CE1-9EF6-D83C6FF3BAC9}"/>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3" name="TextBox 12">
            <a:extLst>
              <a:ext uri="{FF2B5EF4-FFF2-40B4-BE49-F238E27FC236}">
                <a16:creationId xmlns:a16="http://schemas.microsoft.com/office/drawing/2014/main" id="{987F58D8-3CB6-4A66-BA60-E6F3DF8D30B8}"/>
              </a:ext>
            </a:extLst>
          </p:cNvPr>
          <p:cNvSpPr txBox="1"/>
          <p:nvPr/>
        </p:nvSpPr>
        <p:spPr>
          <a:xfrm>
            <a:off x="558386" y="4938006"/>
            <a:ext cx="1844187" cy="657848"/>
          </a:xfrm>
          <a:prstGeom prst="rect">
            <a:avLst/>
          </a:prstGeom>
          <a:noFill/>
        </p:spPr>
        <p:txBody>
          <a:bodyPr wrap="square" lIns="0" tIns="0" rIns="0" bIns="0" rtlCol="0">
            <a:noAutofit/>
          </a:bodyPr>
          <a:lstStyle/>
          <a:p>
            <a:pPr algn="ctr"/>
            <a:r>
              <a:rPr lang="en-AU" sz="4400"/>
              <a:t>$250</a:t>
            </a:r>
          </a:p>
        </p:txBody>
      </p:sp>
      <p:sp>
        <p:nvSpPr>
          <p:cNvPr id="10" name="TextBox 9">
            <a:extLst>
              <a:ext uri="{FF2B5EF4-FFF2-40B4-BE49-F238E27FC236}">
                <a16:creationId xmlns:a16="http://schemas.microsoft.com/office/drawing/2014/main" id="{06BFC4FD-CDBD-E74C-2B4B-957276E8D806}"/>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4" name="TextBox 13">
            <a:extLst>
              <a:ext uri="{FF2B5EF4-FFF2-40B4-BE49-F238E27FC236}">
                <a16:creationId xmlns:a16="http://schemas.microsoft.com/office/drawing/2014/main" id="{304D6AF6-E164-325B-C392-DF3EC95D9C16}"/>
              </a:ext>
            </a:extLst>
          </p:cNvPr>
          <p:cNvSpPr txBox="1"/>
          <p:nvPr/>
        </p:nvSpPr>
        <p:spPr>
          <a:xfrm>
            <a:off x="3562359" y="4938006"/>
            <a:ext cx="1844187" cy="657848"/>
          </a:xfrm>
          <a:prstGeom prst="rect">
            <a:avLst/>
          </a:prstGeom>
          <a:noFill/>
        </p:spPr>
        <p:txBody>
          <a:bodyPr wrap="square" lIns="0" tIns="0" rIns="0" bIns="0" rtlCol="0">
            <a:noAutofit/>
          </a:bodyPr>
          <a:lstStyle/>
          <a:p>
            <a:pPr algn="ctr"/>
            <a:r>
              <a:rPr lang="en-AU" sz="4400"/>
              <a:t>$800</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5" name="TextBox 14">
            <a:extLst>
              <a:ext uri="{FF2B5EF4-FFF2-40B4-BE49-F238E27FC236}">
                <a16:creationId xmlns:a16="http://schemas.microsoft.com/office/drawing/2014/main" id="{BD95AACE-73A4-61D0-B786-8C9049086C01}"/>
              </a:ext>
            </a:extLst>
          </p:cNvPr>
          <p:cNvSpPr txBox="1"/>
          <p:nvPr/>
        </p:nvSpPr>
        <p:spPr>
          <a:xfrm>
            <a:off x="6566332" y="4938006"/>
            <a:ext cx="1844187" cy="657848"/>
          </a:xfrm>
          <a:prstGeom prst="rect">
            <a:avLst/>
          </a:prstGeom>
          <a:noFill/>
        </p:spPr>
        <p:txBody>
          <a:bodyPr wrap="square" lIns="0" tIns="0" rIns="0" bIns="0" rtlCol="0">
            <a:noAutofit/>
          </a:bodyPr>
          <a:lstStyle/>
          <a:p>
            <a:pPr algn="ctr"/>
            <a:r>
              <a:rPr lang="en-AU" sz="4400"/>
              <a:t>$750</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6" name="TextBox 15">
            <a:extLst>
              <a:ext uri="{FF2B5EF4-FFF2-40B4-BE49-F238E27FC236}">
                <a16:creationId xmlns:a16="http://schemas.microsoft.com/office/drawing/2014/main" id="{B287F761-D887-7083-80E5-0E2819E2C78E}"/>
              </a:ext>
            </a:extLst>
          </p:cNvPr>
          <p:cNvSpPr txBox="1"/>
          <p:nvPr/>
        </p:nvSpPr>
        <p:spPr>
          <a:xfrm>
            <a:off x="9570305" y="4938006"/>
            <a:ext cx="1844187" cy="657848"/>
          </a:xfrm>
          <a:prstGeom prst="rect">
            <a:avLst/>
          </a:prstGeom>
          <a:noFill/>
        </p:spPr>
        <p:txBody>
          <a:bodyPr wrap="square" lIns="0" tIns="0" rIns="0" bIns="0" rtlCol="0">
            <a:noAutofit/>
          </a:bodyPr>
          <a:lstStyle/>
          <a:p>
            <a:pPr algn="ctr"/>
            <a:r>
              <a:rPr lang="en-AU" sz="4400"/>
              <a:t>$500</a:t>
            </a:r>
          </a:p>
        </p:txBody>
      </p:sp>
      <p:pic>
        <p:nvPicPr>
          <p:cNvPr id="8" name="Picture 7" descr="A scooter. Writing near scooter says 'Scooter was $975' Next to that is an orange starburst with 25% on it.">
            <a:extLst>
              <a:ext uri="{FF2B5EF4-FFF2-40B4-BE49-F238E27FC236}">
                <a16:creationId xmlns:a16="http://schemas.microsoft.com/office/drawing/2014/main" id="{F160E750-4366-EC7A-1DA9-C7C75702D8F5}"/>
              </a:ext>
            </a:extLst>
          </p:cNvPr>
          <p:cNvPicPr>
            <a:picLocks noChangeAspect="1"/>
          </p:cNvPicPr>
          <p:nvPr/>
        </p:nvPicPr>
        <p:blipFill>
          <a:blip r:embed="rId3">
            <a:extLst>
              <a:ext uri="{28A0092B-C50C-407E-A947-70E740481C1C}">
                <a14:useLocalDpi xmlns:a14="http://schemas.microsoft.com/office/drawing/2010/main" val="0"/>
              </a:ext>
            </a:extLst>
          </a:blip>
          <a:srcRect l="26694" t="18272" r="36907" b="31852"/>
          <a:stretch>
            <a:fillRect/>
          </a:stretch>
        </p:blipFill>
        <p:spPr>
          <a:xfrm>
            <a:off x="6739008" y="360000"/>
            <a:ext cx="4237226" cy="4105131"/>
          </a:xfrm>
          <a:prstGeom prst="rect">
            <a:avLst/>
          </a:prstGeom>
        </p:spPr>
      </p:pic>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4"/>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2415EB2-3F90-3888-C45C-98BD933F8A21}"/>
              </a:ext>
            </a:extLst>
          </p:cNvPr>
          <p:cNvSpPr txBox="1"/>
          <p:nvPr/>
        </p:nvSpPr>
        <p:spPr>
          <a:xfrm>
            <a:off x="1758042" y="1709056"/>
            <a:ext cx="8675915" cy="740229"/>
          </a:xfrm>
          <a:prstGeom prst="rect">
            <a:avLst/>
          </a:prstGeom>
          <a:noFill/>
        </p:spPr>
        <p:txBody>
          <a:bodyPr wrap="square" lIns="0" tIns="0" rIns="0" bIns="0" rtlCol="0">
            <a:noAutofit/>
          </a:bodyPr>
          <a:lstStyle/>
          <a:p>
            <a:pPr algn="ctr"/>
            <a:r>
              <a:rPr lang="en-AU" sz="4400"/>
              <a:t>Which </a:t>
            </a:r>
            <a:r>
              <a:rPr lang="en-AU" sz="4400" b="1"/>
              <a:t>decimal</a:t>
            </a:r>
            <a:r>
              <a:rPr lang="en-AU" sz="4400"/>
              <a:t> is </a:t>
            </a:r>
            <a:r>
              <a:rPr lang="en-AU" sz="4400" b="1"/>
              <a:t>larger</a:t>
            </a:r>
            <a:r>
              <a:rPr lang="en-AU" sz="4400"/>
              <a:t>?</a:t>
            </a:r>
          </a:p>
        </p:txBody>
      </p:sp>
      <p:sp>
        <p:nvSpPr>
          <p:cNvPr id="5" name="TextBox 4">
            <a:extLst>
              <a:ext uri="{FF2B5EF4-FFF2-40B4-BE49-F238E27FC236}">
                <a16:creationId xmlns:a16="http://schemas.microsoft.com/office/drawing/2014/main" id="{9B7E23E1-4E84-D9EA-863C-B4135B7057FC}"/>
              </a:ext>
            </a:extLst>
          </p:cNvPr>
          <p:cNvSpPr txBox="1"/>
          <p:nvPr/>
        </p:nvSpPr>
        <p:spPr>
          <a:xfrm>
            <a:off x="680355" y="3252740"/>
            <a:ext cx="5034645" cy="1471660"/>
          </a:xfrm>
          <a:prstGeom prst="rect">
            <a:avLst/>
          </a:prstGeom>
          <a:noFill/>
        </p:spPr>
        <p:txBody>
          <a:bodyPr wrap="square" lIns="0" tIns="0" rIns="0" bIns="0" rtlCol="0">
            <a:noAutofit/>
          </a:bodyPr>
          <a:lstStyle/>
          <a:p>
            <a:pPr algn="ctr"/>
            <a:r>
              <a:rPr lang="en-AU" sz="9600"/>
              <a:t>7.5</a:t>
            </a:r>
          </a:p>
        </p:txBody>
      </p:sp>
      <p:sp>
        <p:nvSpPr>
          <p:cNvPr id="7" name="TextBox 6">
            <a:extLst>
              <a:ext uri="{FF2B5EF4-FFF2-40B4-BE49-F238E27FC236}">
                <a16:creationId xmlns:a16="http://schemas.microsoft.com/office/drawing/2014/main" id="{E97F0588-9EA9-D49F-1D98-96BF79D189B4}"/>
              </a:ext>
            </a:extLst>
          </p:cNvPr>
          <p:cNvSpPr txBox="1"/>
          <p:nvPr/>
        </p:nvSpPr>
        <p:spPr>
          <a:xfrm>
            <a:off x="6395354" y="3252740"/>
            <a:ext cx="5034645" cy="1471660"/>
          </a:xfrm>
          <a:prstGeom prst="rect">
            <a:avLst/>
          </a:prstGeom>
          <a:noFill/>
        </p:spPr>
        <p:txBody>
          <a:bodyPr wrap="square" lIns="0" tIns="0" rIns="0" bIns="0" rtlCol="0">
            <a:noAutofit/>
          </a:bodyPr>
          <a:lstStyle/>
          <a:p>
            <a:pPr algn="ctr"/>
            <a:r>
              <a:rPr lang="en-AU" sz="9600"/>
              <a:t>7.361</a:t>
            </a:r>
          </a:p>
        </p:txBody>
      </p:sp>
      <p:sp>
        <p:nvSpPr>
          <p:cNvPr id="8" name="TextBox 7">
            <a:extLst>
              <a:ext uri="{FF2B5EF4-FFF2-40B4-BE49-F238E27FC236}">
                <a16:creationId xmlns:a16="http://schemas.microsoft.com/office/drawing/2014/main" id="{11FC1F6C-7A16-8BA6-363B-032DCAB255A5}"/>
              </a:ext>
            </a:extLst>
          </p:cNvPr>
          <p:cNvSpPr txBox="1"/>
          <p:nvPr/>
        </p:nvSpPr>
        <p:spPr>
          <a:xfrm>
            <a:off x="583432" y="5242782"/>
            <a:ext cx="11025133" cy="754836"/>
          </a:xfrm>
          <a:prstGeom prst="rect">
            <a:avLst/>
          </a:prstGeom>
          <a:noFill/>
        </p:spPr>
        <p:txBody>
          <a:bodyPr wrap="square" lIns="0" tIns="0" rIns="0" bIns="0" rtlCol="0">
            <a:no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Isosceles Triangle 3" descr="Blue triangle">
            <a:extLst>
              <a:ext uri="{FF2B5EF4-FFF2-40B4-BE49-F238E27FC236}">
                <a16:creationId xmlns:a16="http://schemas.microsoft.com/office/drawing/2014/main" id="{6B147985-5320-9716-A514-71D8B5EEC421}"/>
              </a:ext>
            </a:extLst>
          </p:cNvPr>
          <p:cNvSpPr/>
          <p:nvPr/>
        </p:nvSpPr>
        <p:spPr>
          <a:xfrm>
            <a:off x="903514" y="2258785"/>
            <a:ext cx="2714898" cy="2340429"/>
          </a:xfrm>
          <a:prstGeom prst="triangle">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B088A037-7432-6CA2-4EF5-C41763AFB522}"/>
              </a:ext>
            </a:extLst>
          </p:cNvPr>
          <p:cNvSpPr txBox="1"/>
          <p:nvPr/>
        </p:nvSpPr>
        <p:spPr>
          <a:xfrm>
            <a:off x="4457700" y="2258785"/>
            <a:ext cx="7113814" cy="740229"/>
          </a:xfrm>
          <a:prstGeom prst="rect">
            <a:avLst/>
          </a:prstGeom>
          <a:noFill/>
        </p:spPr>
        <p:txBody>
          <a:bodyPr wrap="square" lIns="0" tIns="0" rIns="0" bIns="0" rtlCol="0">
            <a:noAutofit/>
          </a:bodyPr>
          <a:lstStyle/>
          <a:p>
            <a:pPr algn="ctr"/>
            <a:r>
              <a:rPr lang="en-AU" sz="4400" b="1"/>
              <a:t>Draw</a:t>
            </a:r>
            <a:r>
              <a:rPr lang="en-AU" sz="4400"/>
              <a:t> a </a:t>
            </a:r>
            <a:r>
              <a:rPr lang="en-AU" sz="4400" b="1"/>
              <a:t>diagram</a:t>
            </a:r>
            <a:r>
              <a:rPr lang="en-AU" sz="4400"/>
              <a:t> to show how to </a:t>
            </a:r>
            <a:r>
              <a:rPr lang="en-AU" sz="4400" b="1"/>
              <a:t>translate</a:t>
            </a:r>
            <a:r>
              <a:rPr lang="en-AU" sz="4400"/>
              <a:t>, </a:t>
            </a:r>
            <a:r>
              <a:rPr lang="en-AU" sz="4400" b="1"/>
              <a:t>rotate</a:t>
            </a:r>
            <a:r>
              <a:rPr lang="en-AU" sz="4400"/>
              <a:t> and </a:t>
            </a:r>
            <a:r>
              <a:rPr lang="en-AU" sz="4400" b="1"/>
              <a:t>reflect</a:t>
            </a:r>
            <a:r>
              <a:rPr lang="en-AU" sz="4400"/>
              <a:t> this </a:t>
            </a:r>
            <a:r>
              <a:rPr lang="en-AU" sz="4400" b="1"/>
              <a:t>triangle</a:t>
            </a:r>
            <a:r>
              <a:rPr lang="en-AU" sz="4400"/>
              <a:t>.</a:t>
            </a: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57EAFE7-D9FD-D0D8-4D49-3CC5727FC0C6}"/>
              </a:ext>
            </a:extLst>
          </p:cNvPr>
          <p:cNvSpPr txBox="1"/>
          <p:nvPr/>
        </p:nvSpPr>
        <p:spPr>
          <a:xfrm>
            <a:off x="540639" y="1503412"/>
            <a:ext cx="10943361" cy="2726682"/>
          </a:xfrm>
          <a:prstGeom prst="rect">
            <a:avLst/>
          </a:prstGeom>
          <a:noFill/>
        </p:spPr>
        <p:txBody>
          <a:bodyPr wrap="square" lIns="0" tIns="0" rIns="0" bIns="0" rtlCol="0">
            <a:noAutofit/>
          </a:bodyPr>
          <a:lstStyle/>
          <a:p>
            <a:pPr algn="ctr"/>
            <a:r>
              <a:rPr lang="en-AU" sz="4400"/>
              <a:t>John tossed a coin 10 times. It landed on heads 7 times and on tails 3 times. The next time he tosses a coin, John is sure it will land on heads.</a:t>
            </a:r>
          </a:p>
        </p:txBody>
      </p:sp>
      <p:sp>
        <p:nvSpPr>
          <p:cNvPr id="5" name="TextBox 4">
            <a:extLst>
              <a:ext uri="{FF2B5EF4-FFF2-40B4-BE49-F238E27FC236}">
                <a16:creationId xmlns:a16="http://schemas.microsoft.com/office/drawing/2014/main" id="{7C81D744-C66A-2528-FEA0-4525A8B638B9}"/>
              </a:ext>
            </a:extLst>
          </p:cNvPr>
          <p:cNvSpPr txBox="1"/>
          <p:nvPr/>
        </p:nvSpPr>
        <p:spPr>
          <a:xfrm>
            <a:off x="540638" y="4695983"/>
            <a:ext cx="10943361" cy="658605"/>
          </a:xfrm>
          <a:prstGeom prst="rect">
            <a:avLst/>
          </a:prstGeom>
          <a:noFill/>
        </p:spPr>
        <p:txBody>
          <a:bodyPr wrap="square" lIns="0" tIns="0" rIns="0" bIns="0" rtlCol="0">
            <a:noAutofit/>
          </a:bodyPr>
          <a:lstStyle/>
          <a:p>
            <a:pPr algn="ctr"/>
            <a:r>
              <a:rPr lang="en-AU" sz="4400"/>
              <a:t>Is this </a:t>
            </a:r>
            <a:r>
              <a:rPr lang="en-AU" sz="4400" b="1"/>
              <a:t>possible</a:t>
            </a:r>
            <a:r>
              <a:rPr lang="en-AU" sz="4400"/>
              <a:t>?</a:t>
            </a:r>
          </a:p>
        </p:txBody>
      </p:sp>
      <p:sp>
        <p:nvSpPr>
          <p:cNvPr id="8" name="TextBox 7">
            <a:extLst>
              <a:ext uri="{FF2B5EF4-FFF2-40B4-BE49-F238E27FC236}">
                <a16:creationId xmlns:a16="http://schemas.microsoft.com/office/drawing/2014/main" id="{78479513-16AF-0C48-8D05-E8C336B99D9F}"/>
              </a:ext>
            </a:extLst>
          </p:cNvPr>
          <p:cNvSpPr txBox="1"/>
          <p:nvPr/>
        </p:nvSpPr>
        <p:spPr>
          <a:xfrm>
            <a:off x="540637" y="5741701"/>
            <a:ext cx="10943361" cy="658605"/>
          </a:xfrm>
          <a:prstGeom prst="rect">
            <a:avLst/>
          </a:prstGeom>
          <a:noFill/>
        </p:spPr>
        <p:txBody>
          <a:bodyPr wrap="square" lIns="0" tIns="0" rIns="0" bIns="0" rtlCol="0">
            <a:noAutofit/>
          </a:bodyPr>
          <a:lstStyle/>
          <a:p>
            <a:pPr algn="ctr"/>
            <a:r>
              <a:rPr lang="en-AU" sz="4400" b="1"/>
              <a:t>Communicate</a:t>
            </a:r>
            <a:r>
              <a:rPr lang="en-AU" sz="4400"/>
              <a:t> your </a:t>
            </a:r>
            <a:r>
              <a:rPr lang="en-AU" sz="4400" b="1"/>
              <a:t>reasoning</a:t>
            </a:r>
            <a:r>
              <a:rPr lang="en-AU" sz="4400"/>
              <a:t>.</a:t>
            </a:r>
          </a:p>
        </p:txBody>
      </p:sp>
      <p:pic>
        <p:nvPicPr>
          <p:cNvPr id="11" name="Picture 10" descr="A cartoon of a hand tossing a coin.">
            <a:extLst>
              <a:ext uri="{FF2B5EF4-FFF2-40B4-BE49-F238E27FC236}">
                <a16:creationId xmlns:a16="http://schemas.microsoft.com/office/drawing/2014/main" id="{8AA790B9-F05F-3CD9-5F7B-6A40CD4E4E75}"/>
              </a:ext>
            </a:extLst>
          </p:cNvPr>
          <p:cNvPicPr>
            <a:picLocks noChangeAspect="1"/>
          </p:cNvPicPr>
          <p:nvPr/>
        </p:nvPicPr>
        <p:blipFill>
          <a:blip r:embed="rId4">
            <a:extLst>
              <a:ext uri="{28A0092B-C50C-407E-A947-70E740481C1C}">
                <a14:useLocalDpi xmlns:a14="http://schemas.microsoft.com/office/drawing/2010/main" val="0"/>
              </a:ext>
            </a:extLst>
          </a:blip>
          <a:srcRect l="24795" t="2514" r="24720" b="3625"/>
          <a:stretch>
            <a:fillRect/>
          </a:stretch>
        </p:blipFill>
        <p:spPr>
          <a:xfrm>
            <a:off x="9328910" y="3561657"/>
            <a:ext cx="2322451" cy="2428807"/>
          </a:xfrm>
          <a:prstGeom prst="rect">
            <a:avLst/>
          </a:prstGeom>
        </p:spPr>
      </p:pic>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3797385-1F77-C98F-62D0-511959F4665C}"/>
              </a:ext>
            </a:extLst>
          </p:cNvPr>
          <p:cNvSpPr txBox="1"/>
          <p:nvPr/>
        </p:nvSpPr>
        <p:spPr>
          <a:xfrm>
            <a:off x="975616" y="1778924"/>
            <a:ext cx="10240767" cy="2593571"/>
          </a:xfrm>
          <a:prstGeom prst="rect">
            <a:avLst/>
          </a:prstGeom>
          <a:noFill/>
        </p:spPr>
        <p:txBody>
          <a:bodyPr wrap="square" lIns="0" tIns="0" rIns="0" bIns="0" rtlCol="0">
            <a:noAutofit/>
          </a:bodyPr>
          <a:lstStyle/>
          <a:p>
            <a:pPr algn="ctr">
              <a:lnSpc>
                <a:spcPct val="150000"/>
              </a:lnSpc>
            </a:pPr>
            <a:r>
              <a:rPr lang="en-AU" sz="4400" b="1"/>
              <a:t>Explain</a:t>
            </a:r>
            <a:r>
              <a:rPr lang="en-AU" sz="4400"/>
              <a:t> why there is a need for a formal unit </a:t>
            </a:r>
            <a:r>
              <a:rPr lang="en-AU" sz="4400" b="1"/>
              <a:t>larger</a:t>
            </a:r>
            <a:r>
              <a:rPr lang="en-AU" sz="4400"/>
              <a:t> than the </a:t>
            </a:r>
            <a:r>
              <a:rPr lang="en-AU" sz="4400" b="1"/>
              <a:t>cubic centimetre </a:t>
            </a:r>
            <a:r>
              <a:rPr lang="en-AU" sz="4400"/>
              <a:t>to measure </a:t>
            </a:r>
            <a:r>
              <a:rPr lang="en-AU" sz="4400" b="1"/>
              <a:t>volume</a:t>
            </a:r>
            <a:r>
              <a:rPr lang="en-AU" sz="4400"/>
              <a:t>.</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3 – strategies to estimate discounts</a:t>
            </a:r>
          </a:p>
        </p:txBody>
      </p:sp>
      <p:pic>
        <p:nvPicPr>
          <p:cNvPr id="5" name="Picture 4" descr="A collection of objects on seasonal sales. There are percentage discounts next to each of the item with its original cost.">
            <a:extLst>
              <a:ext uri="{FF2B5EF4-FFF2-40B4-BE49-F238E27FC236}">
                <a16:creationId xmlns:a16="http://schemas.microsoft.com/office/drawing/2014/main" id="{CDCBBF8C-5BD2-41F4-2CA0-233BD163EC6A}"/>
              </a:ext>
            </a:extLst>
          </p:cNvPr>
          <p:cNvPicPr>
            <a:picLocks noChangeAspect="1"/>
          </p:cNvPicPr>
          <p:nvPr/>
        </p:nvPicPr>
        <p:blipFill>
          <a:blip r:embed="rId3"/>
          <a:srcRect l="2481" r="1938"/>
          <a:stretch>
            <a:fillRect/>
          </a:stretch>
        </p:blipFill>
        <p:spPr>
          <a:xfrm>
            <a:off x="963900" y="1036002"/>
            <a:ext cx="10264200" cy="5479998"/>
          </a:xfrm>
          <a:prstGeom prst="rect">
            <a:avLst/>
          </a:prstGeom>
        </p:spPr>
      </p:pic>
    </p:spTree>
    <p:extLst>
      <p:ext uri="{BB962C8B-B14F-4D97-AF65-F5344CB8AC3E}">
        <p14:creationId xmlns:p14="http://schemas.microsoft.com/office/powerpoint/2010/main" val="3529291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sp>
        <p:nvSpPr>
          <p:cNvPr id="18" name="TextBox 17">
            <a:extLst>
              <a:ext uri="{FF2B5EF4-FFF2-40B4-BE49-F238E27FC236}">
                <a16:creationId xmlns:a16="http://schemas.microsoft.com/office/drawing/2014/main" id="{E04493C4-AF13-8D67-683E-86A36705EDAB}"/>
              </a:ext>
            </a:extLst>
          </p:cNvPr>
          <p:cNvSpPr txBox="1"/>
          <p:nvPr/>
        </p:nvSpPr>
        <p:spPr>
          <a:xfrm>
            <a:off x="1118795" y="1108814"/>
            <a:ext cx="10102241" cy="1446550"/>
          </a:xfrm>
          <a:prstGeom prst="rect">
            <a:avLst/>
          </a:prstGeom>
          <a:noFill/>
        </p:spPr>
        <p:txBody>
          <a:bodyPr wrap="square">
            <a:spAutoFit/>
          </a:bodyPr>
          <a:lstStyle/>
          <a:p>
            <a:pPr algn="ctr"/>
            <a:r>
              <a:rPr lang="en-AU" sz="4400"/>
              <a:t>The sticky notes are placed in the correct positions on the number line.</a:t>
            </a:r>
          </a:p>
        </p:txBody>
      </p:sp>
      <p:grpSp>
        <p:nvGrpSpPr>
          <p:cNvPr id="6" name="Group 5" descr="Number line. -50 to 50. Two sticky notes placed along it showing -25 and 5. 5 is incorrect.">
            <a:extLst>
              <a:ext uri="{FF2B5EF4-FFF2-40B4-BE49-F238E27FC236}">
                <a16:creationId xmlns:a16="http://schemas.microsoft.com/office/drawing/2014/main" id="{D2DC115B-A014-E185-D96C-00B30440D9D6}"/>
              </a:ext>
            </a:extLst>
          </p:cNvPr>
          <p:cNvGrpSpPr/>
          <p:nvPr/>
        </p:nvGrpSpPr>
        <p:grpSpPr>
          <a:xfrm>
            <a:off x="73915" y="2750795"/>
            <a:ext cx="12192000" cy="1476689"/>
            <a:chOff x="0" y="2279305"/>
            <a:chExt cx="12192000" cy="1476689"/>
          </a:xfrm>
        </p:grpSpPr>
        <p:sp>
          <p:nvSpPr>
            <p:cNvPr id="5" name="TextBox 7">
              <a:extLst>
                <a:ext uri="{FF2B5EF4-FFF2-40B4-BE49-F238E27FC236}">
                  <a16:creationId xmlns:a16="http://schemas.microsoft.com/office/drawing/2014/main" id="{AB8ECCC3-E774-A9BE-C174-E8D86F4B05E5}"/>
                </a:ext>
              </a:extLst>
            </p:cNvPr>
            <p:cNvSpPr txBox="1"/>
            <p:nvPr/>
          </p:nvSpPr>
          <p:spPr>
            <a:xfrm>
              <a:off x="5573301" y="2706870"/>
              <a:ext cx="596615" cy="785921"/>
            </a:xfrm>
            <a:prstGeom prst="rect">
              <a:avLst/>
            </a:prstGeom>
          </p:spPr>
          <p:txBody>
            <a:bodyPr wrap="square" lIns="0" tIns="0" rIns="0" bIns="0" rtlCol="0" anchor="t">
              <a:spAutoFit/>
            </a:bodyPr>
            <a:lstStyle/>
            <a:p>
              <a:pPr algn="ctr">
                <a:lnSpc>
                  <a:spcPts val="7183"/>
                </a:lnSpc>
                <a:spcBef>
                  <a:spcPct val="0"/>
                </a:spcBef>
              </a:pPr>
              <a:r>
                <a:rPr lang="en-US" sz="3200">
                  <a:solidFill>
                    <a:srgbClr val="000000"/>
                  </a:solidFill>
                  <a:latin typeface="Arial" panose="020B0604020202020204" pitchFamily="34" charset="0"/>
                  <a:ea typeface="Canva Student Font"/>
                  <a:cs typeface="Arial" panose="020B0604020202020204" pitchFamily="34" charset="0"/>
                  <a:sym typeface="Canva Student Font"/>
                </a:rPr>
                <a:t>0</a:t>
              </a:r>
            </a:p>
          </p:txBody>
        </p:sp>
        <p:cxnSp>
          <p:nvCxnSpPr>
            <p:cNvPr id="7" name="Straight Connector 6">
              <a:extLst>
                <a:ext uri="{FF2B5EF4-FFF2-40B4-BE49-F238E27FC236}">
                  <a16:creationId xmlns:a16="http://schemas.microsoft.com/office/drawing/2014/main" id="{13CB57D9-CDB8-8701-E484-6A6A8523F312}"/>
                </a:ext>
              </a:extLst>
            </p:cNvPr>
            <p:cNvCxnSpPr/>
            <p:nvPr/>
          </p:nvCxnSpPr>
          <p:spPr>
            <a:xfrm>
              <a:off x="5864771" y="2279305"/>
              <a:ext cx="0" cy="50400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8" name="Picture 7" descr="A number line from -50 to 50. 0 is marked at the midpoint.">
              <a:extLst>
                <a:ext uri="{FF2B5EF4-FFF2-40B4-BE49-F238E27FC236}">
                  <a16:creationId xmlns:a16="http://schemas.microsoft.com/office/drawing/2014/main" id="{8516DD5C-9663-5DE9-84EA-CDACC099D1C3}"/>
                </a:ext>
              </a:extLst>
            </p:cNvPr>
            <p:cNvPicPr>
              <a:picLocks noChangeAspect="1"/>
            </p:cNvPicPr>
            <p:nvPr/>
          </p:nvPicPr>
          <p:blipFill>
            <a:blip r:embed="rId3"/>
            <a:stretch>
              <a:fillRect/>
            </a:stretch>
          </p:blipFill>
          <p:spPr>
            <a:xfrm>
              <a:off x="0" y="2280782"/>
              <a:ext cx="12192000" cy="400334"/>
            </a:xfrm>
            <a:prstGeom prst="rect">
              <a:avLst/>
            </a:prstGeom>
          </p:spPr>
        </p:pic>
        <p:sp>
          <p:nvSpPr>
            <p:cNvPr id="9" name="TextBox 7">
              <a:extLst>
                <a:ext uri="{FF2B5EF4-FFF2-40B4-BE49-F238E27FC236}">
                  <a16:creationId xmlns:a16="http://schemas.microsoft.com/office/drawing/2014/main" id="{07DA678B-8D07-1B8D-4EB6-544BBBC9D372}"/>
                </a:ext>
              </a:extLst>
            </p:cNvPr>
            <p:cNvSpPr txBox="1"/>
            <p:nvPr/>
          </p:nvSpPr>
          <p:spPr>
            <a:xfrm>
              <a:off x="11122454" y="2679976"/>
              <a:ext cx="596615" cy="785921"/>
            </a:xfrm>
            <a:prstGeom prst="rect">
              <a:avLst/>
            </a:prstGeom>
          </p:spPr>
          <p:txBody>
            <a:bodyPr wrap="square" lIns="0" tIns="0" rIns="0" bIns="0" rtlCol="0" anchor="t">
              <a:spAutoFit/>
            </a:bodyPr>
            <a:lstStyle/>
            <a:p>
              <a:pPr algn="ctr">
                <a:lnSpc>
                  <a:spcPts val="7183"/>
                </a:lnSpc>
                <a:spcBef>
                  <a:spcPct val="0"/>
                </a:spcBef>
              </a:pPr>
              <a:r>
                <a:rPr lang="en-US" sz="3200">
                  <a:solidFill>
                    <a:srgbClr val="000000"/>
                  </a:solidFill>
                  <a:latin typeface="Arial"/>
                  <a:ea typeface="Canva Student Font"/>
                  <a:cs typeface="Arial"/>
                  <a:sym typeface="Canva Student Font"/>
                </a:rPr>
                <a:t>50</a:t>
              </a:r>
              <a:endParaRPr lang="en-US" sz="3200">
                <a:solidFill>
                  <a:srgbClr val="000000"/>
                </a:solidFill>
                <a:latin typeface="Arial" panose="020B0604020202020204" pitchFamily="34" charset="0"/>
                <a:ea typeface="Canva Student Font"/>
                <a:cs typeface="Arial" panose="020B0604020202020204" pitchFamily="34" charset="0"/>
                <a:sym typeface="Canva Student Font"/>
              </a:endParaRPr>
            </a:p>
          </p:txBody>
        </p:sp>
        <p:sp>
          <p:nvSpPr>
            <p:cNvPr id="10" name="TextBox 7">
              <a:extLst>
                <a:ext uri="{FF2B5EF4-FFF2-40B4-BE49-F238E27FC236}">
                  <a16:creationId xmlns:a16="http://schemas.microsoft.com/office/drawing/2014/main" id="{9D64C800-B174-802E-4A2B-0A8772A9BC9F}"/>
                </a:ext>
              </a:extLst>
            </p:cNvPr>
            <p:cNvSpPr txBox="1"/>
            <p:nvPr/>
          </p:nvSpPr>
          <p:spPr>
            <a:xfrm>
              <a:off x="185512" y="2679975"/>
              <a:ext cx="596615" cy="785921"/>
            </a:xfrm>
            <a:prstGeom prst="rect">
              <a:avLst/>
            </a:prstGeom>
          </p:spPr>
          <p:txBody>
            <a:bodyPr wrap="square" lIns="0" tIns="0" rIns="0" bIns="0" rtlCol="0" anchor="t">
              <a:spAutoFit/>
            </a:bodyPr>
            <a:lstStyle/>
            <a:p>
              <a:pPr algn="ctr">
                <a:lnSpc>
                  <a:spcPts val="7183"/>
                </a:lnSpc>
                <a:spcBef>
                  <a:spcPct val="0"/>
                </a:spcBef>
              </a:pPr>
              <a:r>
                <a:rPr lang="en-US" sz="3200">
                  <a:solidFill>
                    <a:srgbClr val="000000"/>
                  </a:solidFill>
                  <a:latin typeface="Arial"/>
                  <a:ea typeface="Canva Student Font"/>
                  <a:cs typeface="Arial"/>
                  <a:sym typeface="Canva Student Font"/>
                </a:rPr>
                <a:t>-50</a:t>
              </a:r>
            </a:p>
          </p:txBody>
        </p:sp>
        <p:sp>
          <p:nvSpPr>
            <p:cNvPr id="11" name="Freeform 2">
              <a:extLst>
                <a:ext uri="{FF2B5EF4-FFF2-40B4-BE49-F238E27FC236}">
                  <a16:creationId xmlns:a16="http://schemas.microsoft.com/office/drawing/2014/main" id="{444E0660-B035-748D-BC4E-C10E929BE229}"/>
                </a:ext>
              </a:extLst>
            </p:cNvPr>
            <p:cNvSpPr/>
            <p:nvPr/>
          </p:nvSpPr>
          <p:spPr>
            <a:xfrm>
              <a:off x="2556152" y="2679975"/>
              <a:ext cx="1049124" cy="1049124"/>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4" name="Freeform 4">
              <a:extLst>
                <a:ext uri="{FF2B5EF4-FFF2-40B4-BE49-F238E27FC236}">
                  <a16:creationId xmlns:a16="http://schemas.microsoft.com/office/drawing/2014/main" id="{6B50ED32-FD76-257E-1AFE-EC6E72382AB9}"/>
                </a:ext>
              </a:extLst>
            </p:cNvPr>
            <p:cNvSpPr/>
            <p:nvPr/>
          </p:nvSpPr>
          <p:spPr>
            <a:xfrm>
              <a:off x="4685541" y="2706870"/>
              <a:ext cx="1049124" cy="1049124"/>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6" name="TextBox 15">
              <a:extLst>
                <a:ext uri="{FF2B5EF4-FFF2-40B4-BE49-F238E27FC236}">
                  <a16:creationId xmlns:a16="http://schemas.microsoft.com/office/drawing/2014/main" id="{1AACD58E-004E-0988-651E-71B358FA1C40}"/>
                </a:ext>
              </a:extLst>
            </p:cNvPr>
            <p:cNvSpPr txBox="1"/>
            <p:nvPr/>
          </p:nvSpPr>
          <p:spPr>
            <a:xfrm>
              <a:off x="2775914" y="2983953"/>
              <a:ext cx="609600" cy="430409"/>
            </a:xfrm>
            <a:prstGeom prst="rect">
              <a:avLst/>
            </a:prstGeom>
            <a:noFill/>
          </p:spPr>
          <p:txBody>
            <a:bodyPr wrap="square" lIns="0" tIns="0" rIns="0" bIns="0" rtlCol="0">
              <a:noAutofit/>
            </a:bodyPr>
            <a:lstStyle/>
            <a:p>
              <a:pPr algn="ctr"/>
              <a:r>
                <a:rPr lang="en-AU" sz="3200"/>
                <a:t>-25</a:t>
              </a:r>
            </a:p>
          </p:txBody>
        </p:sp>
        <p:sp>
          <p:nvSpPr>
            <p:cNvPr id="17" name="TextBox 16">
              <a:extLst>
                <a:ext uri="{FF2B5EF4-FFF2-40B4-BE49-F238E27FC236}">
                  <a16:creationId xmlns:a16="http://schemas.microsoft.com/office/drawing/2014/main" id="{8CA7C225-CB40-0771-9E0D-3E937FFD8F0C}"/>
                </a:ext>
              </a:extLst>
            </p:cNvPr>
            <p:cNvSpPr txBox="1"/>
            <p:nvPr/>
          </p:nvSpPr>
          <p:spPr>
            <a:xfrm>
              <a:off x="4905303" y="2983953"/>
              <a:ext cx="609600" cy="430409"/>
            </a:xfrm>
            <a:prstGeom prst="rect">
              <a:avLst/>
            </a:prstGeom>
            <a:noFill/>
          </p:spPr>
          <p:txBody>
            <a:bodyPr wrap="square" lIns="0" tIns="0" rIns="0" bIns="0" rtlCol="0">
              <a:noAutofit/>
            </a:bodyPr>
            <a:lstStyle/>
            <a:p>
              <a:pPr algn="ctr"/>
              <a:r>
                <a:rPr lang="en-AU" sz="3200"/>
                <a:t>5</a:t>
              </a:r>
            </a:p>
          </p:txBody>
        </p:sp>
      </p:gr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2929087779"/>
              </p:ext>
            </p:extLst>
          </p:nvPr>
        </p:nvGraphicFramePr>
        <p:xfrm>
          <a:off x="2270042" y="4628437"/>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8"/>
          <a:stretch>
            <a:fillRect/>
          </a:stretch>
        </p:blipFill>
        <p:spPr>
          <a:xfrm>
            <a:off x="10807908" y="43303"/>
            <a:ext cx="1165786" cy="1140716"/>
          </a:xfrm>
          <a:prstGeom prst="rect">
            <a:avLst/>
          </a:prstGeom>
        </p:spPr>
      </p:pic>
      <p:sp>
        <p:nvSpPr>
          <p:cNvPr id="13" name="TextBox 12">
            <a:extLst>
              <a:ext uri="{FF2B5EF4-FFF2-40B4-BE49-F238E27FC236}">
                <a16:creationId xmlns:a16="http://schemas.microsoft.com/office/drawing/2014/main" id="{BBFFC574-2B71-1291-9F9B-F901D65ADEFB}"/>
              </a:ext>
            </a:extLst>
          </p:cNvPr>
          <p:cNvSpPr txBox="1"/>
          <p:nvPr/>
        </p:nvSpPr>
        <p:spPr>
          <a:xfrm>
            <a:off x="757459" y="5703315"/>
            <a:ext cx="10102241" cy="769441"/>
          </a:xfrm>
          <a:prstGeom prst="rect">
            <a:avLst/>
          </a:prstGeom>
          <a:noFill/>
        </p:spPr>
        <p:txBody>
          <a:bodyPr wrap="square">
            <a:spAutoFit/>
          </a:bodyPr>
          <a:lstStyle/>
          <a:p>
            <a:pPr algn="ctr"/>
            <a:r>
              <a:rPr lang="en-AU" sz="4400" b="1"/>
              <a:t>Communicate</a:t>
            </a:r>
            <a:r>
              <a:rPr lang="en-AU" sz="4400"/>
              <a:t> your reasoning.</a:t>
            </a:r>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0C83BAC-DCA6-E821-3D2D-8EE89BAB89F1}"/>
              </a:ext>
            </a:extLst>
          </p:cNvPr>
          <p:cNvSpPr txBox="1"/>
          <p:nvPr/>
        </p:nvSpPr>
        <p:spPr>
          <a:xfrm>
            <a:off x="367939" y="1184973"/>
            <a:ext cx="11456119" cy="2133600"/>
          </a:xfrm>
          <a:prstGeom prst="rect">
            <a:avLst/>
          </a:prstGeom>
          <a:noFill/>
        </p:spPr>
        <p:txBody>
          <a:bodyPr wrap="square" lIns="0" tIns="0" rIns="0" bIns="0" rtlCol="0">
            <a:noAutofit/>
          </a:bodyPr>
          <a:lstStyle/>
          <a:p>
            <a:pPr algn="l">
              <a:lnSpc>
                <a:spcPct val="150000"/>
              </a:lnSpc>
            </a:pPr>
            <a:r>
              <a:rPr lang="en-AU" sz="4400"/>
              <a:t>Sam </a:t>
            </a:r>
            <a:r>
              <a:rPr lang="en-AU" sz="4400" b="1"/>
              <a:t>bought 3.75 kg </a:t>
            </a:r>
            <a:r>
              <a:rPr lang="en-AU" sz="4400"/>
              <a:t>of grapes and </a:t>
            </a:r>
            <a:r>
              <a:rPr lang="en-AU" sz="4400" b="1"/>
              <a:t>2.5 kg </a:t>
            </a:r>
            <a:r>
              <a:rPr lang="en-AU" sz="4400"/>
              <a:t>of watermelon for afternoon snacks. He worked out he had </a:t>
            </a:r>
            <a:r>
              <a:rPr lang="en-AU" sz="4400" b="1"/>
              <a:t>5.4 kg</a:t>
            </a:r>
            <a:r>
              <a:rPr lang="en-AU" sz="4400"/>
              <a:t> in </a:t>
            </a:r>
            <a:r>
              <a:rPr lang="en-AU" sz="4400" b="1"/>
              <a:t>total</a:t>
            </a:r>
            <a:r>
              <a:rPr lang="en-AU" sz="4400"/>
              <a:t>.</a:t>
            </a:r>
          </a:p>
        </p:txBody>
      </p:sp>
      <p:sp>
        <p:nvSpPr>
          <p:cNvPr id="7" name="TextBox 6">
            <a:extLst>
              <a:ext uri="{FF2B5EF4-FFF2-40B4-BE49-F238E27FC236}">
                <a16:creationId xmlns:a16="http://schemas.microsoft.com/office/drawing/2014/main" id="{0602C39F-DCA7-C36B-6EBD-76017571EACD}"/>
              </a:ext>
            </a:extLst>
          </p:cNvPr>
          <p:cNvSpPr txBox="1"/>
          <p:nvPr/>
        </p:nvSpPr>
        <p:spPr>
          <a:xfrm>
            <a:off x="2286000" y="4499824"/>
            <a:ext cx="7619999" cy="1998176"/>
          </a:xfrm>
          <a:prstGeom prst="rect">
            <a:avLst/>
          </a:prstGeom>
          <a:noFill/>
        </p:spPr>
        <p:txBody>
          <a:bodyPr wrap="square">
            <a:spAutoFit/>
          </a:bodyPr>
          <a:lstStyle/>
          <a:p>
            <a:pPr algn="ctr">
              <a:lnSpc>
                <a:spcPct val="150000"/>
              </a:lnSpc>
            </a:pPr>
            <a:r>
              <a:rPr lang="en-AU" sz="4400"/>
              <a:t>Was he </a:t>
            </a:r>
            <a:r>
              <a:rPr lang="en-AU" sz="4400" b="1"/>
              <a:t>correct</a:t>
            </a:r>
            <a:r>
              <a:rPr lang="en-AU" sz="4400"/>
              <a:t>?</a:t>
            </a:r>
          </a:p>
          <a:p>
            <a:pPr algn="ctr">
              <a:lnSpc>
                <a:spcPct val="150000"/>
              </a:lnSpc>
            </a:pPr>
            <a:r>
              <a:rPr lang="en-AU" sz="4400"/>
              <a:t>What is the </a:t>
            </a:r>
            <a:r>
              <a:rPr lang="en-AU" sz="4400" b="1"/>
              <a:t>correct total</a:t>
            </a:r>
            <a:r>
              <a:rPr lang="en-AU" sz="4400"/>
              <a:t>?</a:t>
            </a: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1CEF2ACF-7606-6983-1A9E-003F95526EC4}"/>
              </a:ext>
            </a:extLst>
          </p:cNvPr>
          <p:cNvSpPr txBox="1"/>
          <p:nvPr/>
        </p:nvSpPr>
        <p:spPr>
          <a:xfrm>
            <a:off x="367940" y="1519204"/>
            <a:ext cx="11456119" cy="1388406"/>
          </a:xfrm>
          <a:prstGeom prst="rect">
            <a:avLst/>
          </a:prstGeom>
          <a:noFill/>
        </p:spPr>
        <p:txBody>
          <a:bodyPr wrap="square" lIns="0" tIns="0" rIns="0" bIns="0" rtlCol="0">
            <a:noAutofit/>
          </a:bodyPr>
          <a:lstStyle/>
          <a:p>
            <a:pPr algn="ctr"/>
            <a:r>
              <a:rPr lang="en-AU" sz="4400" b="1"/>
              <a:t>Describe</a:t>
            </a:r>
            <a:r>
              <a:rPr lang="en-AU" sz="4400"/>
              <a:t> the path of the trapezium using the word </a:t>
            </a:r>
            <a:r>
              <a:rPr lang="en-AU" sz="4400" b="1"/>
              <a:t>translate</a:t>
            </a:r>
            <a:r>
              <a:rPr lang="en-AU" sz="4400"/>
              <a:t>, </a:t>
            </a:r>
            <a:r>
              <a:rPr lang="en-AU" sz="4400" b="1"/>
              <a:t>rotate</a:t>
            </a:r>
            <a:r>
              <a:rPr lang="en-AU" sz="4400"/>
              <a:t> and </a:t>
            </a:r>
            <a:r>
              <a:rPr lang="en-AU" sz="4400" b="1"/>
              <a:t>reflect</a:t>
            </a:r>
            <a:r>
              <a:rPr lang="en-AU" sz="4400"/>
              <a:t>.</a:t>
            </a:r>
          </a:p>
        </p:txBody>
      </p:sp>
      <p:pic>
        <p:nvPicPr>
          <p:cNvPr id="5" name="Picture 4" descr="Image to show a trapezium being translated, rotated and reflected.">
            <a:extLst>
              <a:ext uri="{FF2B5EF4-FFF2-40B4-BE49-F238E27FC236}">
                <a16:creationId xmlns:a16="http://schemas.microsoft.com/office/drawing/2014/main" id="{8F9309A5-AED5-0C7A-D448-57960D266938}"/>
              </a:ext>
            </a:extLst>
          </p:cNvPr>
          <p:cNvPicPr>
            <a:picLocks noChangeAspect="1"/>
          </p:cNvPicPr>
          <p:nvPr/>
        </p:nvPicPr>
        <p:blipFill>
          <a:blip r:embed="rId4"/>
          <a:stretch>
            <a:fillRect/>
          </a:stretch>
        </p:blipFill>
        <p:spPr>
          <a:xfrm>
            <a:off x="656466" y="3218890"/>
            <a:ext cx="10879068" cy="3477110"/>
          </a:xfrm>
          <a:prstGeom prst="rect">
            <a:avLst/>
          </a:prstGeom>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08F307C-9F62-4619-C437-30EF2F40913F}"/>
              </a:ext>
            </a:extLst>
          </p:cNvPr>
          <p:cNvSpPr txBox="1"/>
          <p:nvPr/>
        </p:nvSpPr>
        <p:spPr>
          <a:xfrm>
            <a:off x="968378" y="1184223"/>
            <a:ext cx="10255243" cy="1255222"/>
          </a:xfrm>
          <a:prstGeom prst="rect">
            <a:avLst/>
          </a:prstGeom>
          <a:noFill/>
        </p:spPr>
        <p:txBody>
          <a:bodyPr wrap="square" lIns="0" tIns="0" rIns="0" bIns="0" rtlCol="0">
            <a:noAutofit/>
          </a:bodyPr>
          <a:lstStyle/>
          <a:p>
            <a:pPr algn="ctr"/>
            <a:r>
              <a:rPr lang="en-AU" sz="4400"/>
              <a:t>During a game of ‘Scissor, Paper, Rock’ Ayesha has won every round using ‘Scissors’. She is sure she will win the next round using ‘Scissors’ again.</a:t>
            </a:r>
          </a:p>
        </p:txBody>
      </p:sp>
      <p:sp>
        <p:nvSpPr>
          <p:cNvPr id="5" name="TextBox 4">
            <a:extLst>
              <a:ext uri="{FF2B5EF4-FFF2-40B4-BE49-F238E27FC236}">
                <a16:creationId xmlns:a16="http://schemas.microsoft.com/office/drawing/2014/main" id="{24D090F7-FF27-5393-EC8B-EAA8E7933B24}"/>
              </a:ext>
            </a:extLst>
          </p:cNvPr>
          <p:cNvSpPr txBox="1"/>
          <p:nvPr/>
        </p:nvSpPr>
        <p:spPr>
          <a:xfrm>
            <a:off x="968378" y="4296623"/>
            <a:ext cx="10255243" cy="691622"/>
          </a:xfrm>
          <a:prstGeom prst="rect">
            <a:avLst/>
          </a:prstGeom>
          <a:noFill/>
        </p:spPr>
        <p:txBody>
          <a:bodyPr wrap="square" lIns="0" tIns="0" rIns="0" bIns="0" rtlCol="0">
            <a:noAutofit/>
          </a:bodyPr>
          <a:lstStyle/>
          <a:p>
            <a:pPr algn="ctr"/>
            <a:r>
              <a:rPr lang="en-AU" sz="4400"/>
              <a:t>Is this </a:t>
            </a:r>
            <a:r>
              <a:rPr lang="en-AU" sz="4400" b="1"/>
              <a:t>possible</a:t>
            </a:r>
            <a:r>
              <a:rPr lang="en-AU" sz="4400"/>
              <a:t>?</a:t>
            </a:r>
          </a:p>
        </p:txBody>
      </p:sp>
      <p:sp>
        <p:nvSpPr>
          <p:cNvPr id="7" name="TextBox 6">
            <a:extLst>
              <a:ext uri="{FF2B5EF4-FFF2-40B4-BE49-F238E27FC236}">
                <a16:creationId xmlns:a16="http://schemas.microsoft.com/office/drawing/2014/main" id="{B7F2BEB0-8C24-8EB5-90DC-FB3960EBB447}"/>
              </a:ext>
            </a:extLst>
          </p:cNvPr>
          <p:cNvSpPr txBox="1"/>
          <p:nvPr/>
        </p:nvSpPr>
        <p:spPr>
          <a:xfrm>
            <a:off x="968377" y="5673777"/>
            <a:ext cx="10255243" cy="691622"/>
          </a:xfrm>
          <a:prstGeom prst="rect">
            <a:avLst/>
          </a:prstGeom>
          <a:noFill/>
        </p:spPr>
        <p:txBody>
          <a:bodyPr wrap="square" lIns="0" tIns="0" rIns="0" bIns="0" rtlCol="0">
            <a:noAutofit/>
          </a:bodyPr>
          <a:lstStyle/>
          <a:p>
            <a:pPr algn="ctr"/>
            <a:r>
              <a:rPr lang="en-AU" sz="4400" b="1"/>
              <a:t>Explain</a:t>
            </a:r>
            <a:r>
              <a:rPr lang="en-AU" sz="4400"/>
              <a:t> your </a:t>
            </a:r>
            <a:r>
              <a:rPr lang="en-AU" sz="4400" b="1"/>
              <a:t>reasoning</a:t>
            </a:r>
            <a:r>
              <a:rPr lang="en-AU" sz="4400"/>
              <a:t>.</a:t>
            </a:r>
          </a:p>
        </p:txBody>
      </p:sp>
      <p:sp>
        <p:nvSpPr>
          <p:cNvPr id="8" name="Freeform 2" descr="Scissors symbol">
            <a:extLst>
              <a:ext uri="{FF2B5EF4-FFF2-40B4-BE49-F238E27FC236}">
                <a16:creationId xmlns:a16="http://schemas.microsoft.com/office/drawing/2014/main" id="{AABA0957-9C21-3617-46BB-21A1DF2D3081}"/>
              </a:ext>
            </a:extLst>
          </p:cNvPr>
          <p:cNvSpPr/>
          <p:nvPr/>
        </p:nvSpPr>
        <p:spPr>
          <a:xfrm>
            <a:off x="9320982" y="4322706"/>
            <a:ext cx="1902638" cy="1481680"/>
          </a:xfrm>
          <a:custGeom>
            <a:avLst/>
            <a:gdLst/>
            <a:ahLst/>
            <a:cxnLst/>
            <a:rect l="l" t="t" r="r" b="b"/>
            <a:pathLst>
              <a:path w="1902638" h="1481680">
                <a:moveTo>
                  <a:pt x="0" y="0"/>
                </a:moveTo>
                <a:lnTo>
                  <a:pt x="1902638" y="0"/>
                </a:lnTo>
                <a:lnTo>
                  <a:pt x="1902638" y="1481679"/>
                </a:lnTo>
                <a:lnTo>
                  <a:pt x="0" y="14816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09D86F9-8D64-9C1A-BEAF-CDDB2BFAE52A}"/>
              </a:ext>
            </a:extLst>
          </p:cNvPr>
          <p:cNvSpPr txBox="1"/>
          <p:nvPr/>
        </p:nvSpPr>
        <p:spPr>
          <a:xfrm>
            <a:off x="791441" y="1184223"/>
            <a:ext cx="10609118" cy="4247317"/>
          </a:xfrm>
          <a:prstGeom prst="rect">
            <a:avLst/>
          </a:prstGeom>
          <a:noFill/>
        </p:spPr>
        <p:txBody>
          <a:bodyPr wrap="square">
            <a:spAutoFit/>
          </a:bodyPr>
          <a:lstStyle/>
          <a:p>
            <a:pPr algn="ctr"/>
            <a:r>
              <a:rPr lang="en-AU" sz="5400"/>
              <a:t>What </a:t>
            </a:r>
            <a:r>
              <a:rPr lang="en-AU" sz="5400" b="1"/>
              <a:t>does not </a:t>
            </a:r>
            <a:r>
              <a:rPr lang="en-AU" sz="5400"/>
              <a:t>change when </a:t>
            </a:r>
            <a:r>
              <a:rPr lang="en-AU" sz="5400" b="1"/>
              <a:t>translating, reflecting</a:t>
            </a:r>
            <a:r>
              <a:rPr lang="en-AU" sz="5400"/>
              <a:t> or </a:t>
            </a:r>
            <a:r>
              <a:rPr lang="en-AU" sz="5400" b="1"/>
              <a:t>rotating</a:t>
            </a:r>
            <a:r>
              <a:rPr lang="en-AU" sz="5400"/>
              <a:t> a shape?</a:t>
            </a:r>
          </a:p>
          <a:p>
            <a:pPr algn="ctr"/>
            <a:endParaRPr lang="en-AU" sz="5400" b="1"/>
          </a:p>
          <a:p>
            <a:pPr algn="ctr"/>
            <a:r>
              <a:rPr lang="en-AU" sz="5400" b="1"/>
              <a:t>position     orientation       size  </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20563-1813-1995-D32E-DDC6D9DE48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CEFD0F-F581-CFC5-D0D1-51A3B841FA1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itle 2">
            <a:extLst>
              <a:ext uri="{FF2B5EF4-FFF2-40B4-BE49-F238E27FC236}">
                <a16:creationId xmlns:a16="http://schemas.microsoft.com/office/drawing/2014/main" id="{678AF4BF-84AD-0971-5D0F-9FC03D181470}"/>
              </a:ext>
            </a:extLst>
          </p:cNvPr>
          <p:cNvSpPr>
            <a:spLocks noGrp="1"/>
          </p:cNvSpPr>
          <p:nvPr>
            <p:ph type="title"/>
          </p:nvPr>
        </p:nvSpPr>
        <p:spPr>
          <a:xfrm>
            <a:off x="360000" y="360000"/>
            <a:ext cx="11484000" cy="545601"/>
          </a:xfrm>
        </p:spPr>
        <p:txBody>
          <a:bodyPr/>
          <a:lstStyle/>
          <a:p>
            <a:r>
              <a:rPr lang="en-AU"/>
              <a:t>Activity 4 – negative number line</a:t>
            </a:r>
          </a:p>
        </p:txBody>
      </p:sp>
      <p:sp>
        <p:nvSpPr>
          <p:cNvPr id="10" name="TextBox 9">
            <a:extLst>
              <a:ext uri="{FF2B5EF4-FFF2-40B4-BE49-F238E27FC236}">
                <a16:creationId xmlns:a16="http://schemas.microsoft.com/office/drawing/2014/main" id="{69BBF052-81AF-F8DF-4224-25988337B9CE}"/>
              </a:ext>
            </a:extLst>
          </p:cNvPr>
          <p:cNvSpPr txBox="1"/>
          <p:nvPr/>
        </p:nvSpPr>
        <p:spPr>
          <a:xfrm>
            <a:off x="360000" y="1109700"/>
            <a:ext cx="6097314" cy="400110"/>
          </a:xfrm>
          <a:prstGeom prst="rect">
            <a:avLst/>
          </a:prstGeom>
          <a:noFill/>
        </p:spPr>
        <p:txBody>
          <a:bodyPr wrap="square">
            <a:spAutoFit/>
          </a:bodyPr>
          <a:lstStyle/>
          <a:p>
            <a:r>
              <a:rPr lang="en-AU" sz="2000" b="1">
                <a:latin typeface="Arial" panose="020B0604020202020204" pitchFamily="34" charset="0"/>
                <a:cs typeface="Arial" panose="020B0604020202020204" pitchFamily="34" charset="0"/>
              </a:rPr>
              <a:t>Number line</a:t>
            </a:r>
          </a:p>
        </p:txBody>
      </p:sp>
      <p:sp>
        <p:nvSpPr>
          <p:cNvPr id="11" name="TextBox 7">
            <a:extLst>
              <a:ext uri="{FF2B5EF4-FFF2-40B4-BE49-F238E27FC236}">
                <a16:creationId xmlns:a16="http://schemas.microsoft.com/office/drawing/2014/main" id="{43AD5E59-4B5A-0662-79D6-F4ECC9BF31DF}"/>
              </a:ext>
            </a:extLst>
          </p:cNvPr>
          <p:cNvSpPr txBox="1"/>
          <p:nvPr/>
        </p:nvSpPr>
        <p:spPr>
          <a:xfrm>
            <a:off x="5573301" y="3412874"/>
            <a:ext cx="596615" cy="762516"/>
          </a:xfrm>
          <a:prstGeom prst="rect">
            <a:avLst/>
          </a:prstGeom>
        </p:spPr>
        <p:txBody>
          <a:bodyPr wrap="square" lIns="0" tIns="0" rIns="0" bIns="0" rtlCol="0" anchor="t">
            <a:spAutoFit/>
          </a:bodyPr>
          <a:lstStyle/>
          <a:p>
            <a:pPr algn="ctr">
              <a:lnSpc>
                <a:spcPts val="7183"/>
              </a:lnSpc>
              <a:spcBef>
                <a:spcPct val="0"/>
              </a:spcBef>
            </a:pPr>
            <a:r>
              <a:rPr lang="en-US">
                <a:solidFill>
                  <a:srgbClr val="000000"/>
                </a:solidFill>
                <a:latin typeface="Arial" panose="020B0604020202020204" pitchFamily="34" charset="0"/>
                <a:ea typeface="Canva Student Font"/>
                <a:cs typeface="Arial" panose="020B0604020202020204" pitchFamily="34" charset="0"/>
                <a:sym typeface="Canva Student Font"/>
              </a:rPr>
              <a:t>0</a:t>
            </a:r>
          </a:p>
        </p:txBody>
      </p:sp>
      <p:cxnSp>
        <p:nvCxnSpPr>
          <p:cNvPr id="13" name="Straight Connector 12">
            <a:extLst>
              <a:ext uri="{FF2B5EF4-FFF2-40B4-BE49-F238E27FC236}">
                <a16:creationId xmlns:a16="http://schemas.microsoft.com/office/drawing/2014/main" id="{D4919F7D-36A4-E53B-38BB-211E181F1ABA}"/>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p:nvCxnSpPr>
        <p:spPr>
          <a:xfrm>
            <a:off x="5864771" y="2985309"/>
            <a:ext cx="0" cy="50400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4" name="Picture 3" descr="A number line from -50 to 50. 0 is marked at the midpoint.">
            <a:extLst>
              <a:ext uri="{FF2B5EF4-FFF2-40B4-BE49-F238E27FC236}">
                <a16:creationId xmlns:a16="http://schemas.microsoft.com/office/drawing/2014/main" id="{2288C5A0-F570-3068-973E-92C27DB5C4AC}"/>
              </a:ext>
            </a:extLst>
          </p:cNvPr>
          <p:cNvPicPr>
            <a:picLocks noChangeAspect="1"/>
          </p:cNvPicPr>
          <p:nvPr/>
        </p:nvPicPr>
        <p:blipFill>
          <a:blip r:embed="rId3"/>
          <a:stretch>
            <a:fillRect/>
          </a:stretch>
        </p:blipFill>
        <p:spPr>
          <a:xfrm>
            <a:off x="0" y="2986786"/>
            <a:ext cx="12192000" cy="400334"/>
          </a:xfrm>
          <a:prstGeom prst="rect">
            <a:avLst/>
          </a:prstGeom>
        </p:spPr>
      </p:pic>
      <p:sp>
        <p:nvSpPr>
          <p:cNvPr id="5" name="TextBox 7">
            <a:extLst>
              <a:ext uri="{FF2B5EF4-FFF2-40B4-BE49-F238E27FC236}">
                <a16:creationId xmlns:a16="http://schemas.microsoft.com/office/drawing/2014/main" id="{16490E5D-C702-B1ED-6E5E-8DB8A786E2B4}"/>
              </a:ext>
            </a:extLst>
          </p:cNvPr>
          <p:cNvSpPr txBox="1"/>
          <p:nvPr/>
        </p:nvSpPr>
        <p:spPr>
          <a:xfrm>
            <a:off x="11122454" y="3385980"/>
            <a:ext cx="596615" cy="762516"/>
          </a:xfrm>
          <a:prstGeom prst="rect">
            <a:avLst/>
          </a:prstGeom>
        </p:spPr>
        <p:txBody>
          <a:bodyPr wrap="square" lIns="0" tIns="0" rIns="0" bIns="0" rtlCol="0" anchor="t">
            <a:spAutoFit/>
          </a:bodyPr>
          <a:lstStyle/>
          <a:p>
            <a:pPr algn="ctr">
              <a:lnSpc>
                <a:spcPts val="7183"/>
              </a:lnSpc>
              <a:spcBef>
                <a:spcPct val="0"/>
              </a:spcBef>
            </a:pPr>
            <a:r>
              <a:rPr lang="en-US">
                <a:solidFill>
                  <a:srgbClr val="000000"/>
                </a:solidFill>
                <a:latin typeface="Arial"/>
                <a:ea typeface="Canva Student Font"/>
                <a:cs typeface="Arial"/>
                <a:sym typeface="Canva Student Font"/>
              </a:rPr>
              <a:t>50</a:t>
            </a:r>
            <a:endParaRPr lang="en-US">
              <a:solidFill>
                <a:srgbClr val="000000"/>
              </a:solidFill>
              <a:latin typeface="Arial" panose="020B0604020202020204" pitchFamily="34" charset="0"/>
              <a:ea typeface="Canva Student Font"/>
              <a:cs typeface="Arial" panose="020B0604020202020204" pitchFamily="34" charset="0"/>
              <a:sym typeface="Canva Student Font"/>
            </a:endParaRPr>
          </a:p>
        </p:txBody>
      </p:sp>
      <p:sp>
        <p:nvSpPr>
          <p:cNvPr id="12" name="TextBox 7">
            <a:extLst>
              <a:ext uri="{FF2B5EF4-FFF2-40B4-BE49-F238E27FC236}">
                <a16:creationId xmlns:a16="http://schemas.microsoft.com/office/drawing/2014/main" id="{0ABEA76C-E060-33C2-F064-EAFB49DF77FD}"/>
              </a:ext>
            </a:extLst>
          </p:cNvPr>
          <p:cNvSpPr txBox="1"/>
          <p:nvPr/>
        </p:nvSpPr>
        <p:spPr>
          <a:xfrm>
            <a:off x="185512" y="3385979"/>
            <a:ext cx="596615" cy="762516"/>
          </a:xfrm>
          <a:prstGeom prst="rect">
            <a:avLst/>
          </a:prstGeom>
        </p:spPr>
        <p:txBody>
          <a:bodyPr wrap="square" lIns="0" tIns="0" rIns="0" bIns="0" rtlCol="0" anchor="t">
            <a:spAutoFit/>
          </a:bodyPr>
          <a:lstStyle/>
          <a:p>
            <a:pPr algn="ctr">
              <a:lnSpc>
                <a:spcPts val="7183"/>
              </a:lnSpc>
              <a:spcBef>
                <a:spcPct val="0"/>
              </a:spcBef>
            </a:pPr>
            <a:r>
              <a:rPr lang="en-US">
                <a:solidFill>
                  <a:srgbClr val="000000"/>
                </a:solidFill>
                <a:latin typeface="Arial"/>
                <a:ea typeface="Canva Student Font"/>
                <a:cs typeface="Arial"/>
                <a:sym typeface="Canva Student Font"/>
              </a:rPr>
              <a:t>-50</a:t>
            </a:r>
          </a:p>
        </p:txBody>
      </p:sp>
      <p:pic>
        <p:nvPicPr>
          <p:cNvPr id="6" name="Picture 5" descr="image of a head with cogs turning inside">
            <a:extLst>
              <a:ext uri="{FF2B5EF4-FFF2-40B4-BE49-F238E27FC236}">
                <a16:creationId xmlns:a16="http://schemas.microsoft.com/office/drawing/2014/main" id="{514251B4-9200-5DAC-5FB1-95995F89FA69}"/>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423382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BCC904-C834-E490-B334-2E65478E2C62}"/>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graphicFrame>
        <p:nvGraphicFramePr>
          <p:cNvPr id="20" name="Table 19">
            <a:extLst>
              <a:ext uri="{FF2B5EF4-FFF2-40B4-BE49-F238E27FC236}">
                <a16:creationId xmlns:a16="http://schemas.microsoft.com/office/drawing/2014/main" id="{A19E61A8-9133-DE93-1516-F8798FD308ED}"/>
              </a:ext>
            </a:extLst>
          </p:cNvPr>
          <p:cNvGraphicFramePr>
            <a:graphicFrameLocks noGrp="1"/>
          </p:cNvGraphicFramePr>
          <p:nvPr>
            <p:extLst>
              <p:ext uri="{D42A27DB-BD31-4B8C-83A1-F6EECF244321}">
                <p14:modId xmlns:p14="http://schemas.microsoft.com/office/powerpoint/2010/main" val="2923726827"/>
              </p:ext>
            </p:extLst>
          </p:nvPr>
        </p:nvGraphicFramePr>
        <p:xfrm>
          <a:off x="417241" y="1756045"/>
          <a:ext cx="11357514" cy="842413"/>
        </p:xfrm>
        <a:graphic>
          <a:graphicData uri="http://schemas.openxmlformats.org/drawingml/2006/table">
            <a:tbl>
              <a:tblPr>
                <a:effectLst>
                  <a:outerShdw blurRad="50800" dist="38100" dir="2700000" algn="tl" rotWithShape="0">
                    <a:prstClr val="black">
                      <a:alpha val="40000"/>
                    </a:prstClr>
                  </a:outerShdw>
                </a:effectLst>
              </a:tblPr>
              <a:tblGrid>
                <a:gridCol w="1261946">
                  <a:extLst>
                    <a:ext uri="{9D8B030D-6E8A-4147-A177-3AD203B41FA5}">
                      <a16:colId xmlns:a16="http://schemas.microsoft.com/office/drawing/2014/main" val="4089835314"/>
                    </a:ext>
                  </a:extLst>
                </a:gridCol>
                <a:gridCol w="1261946">
                  <a:extLst>
                    <a:ext uri="{9D8B030D-6E8A-4147-A177-3AD203B41FA5}">
                      <a16:colId xmlns:a16="http://schemas.microsoft.com/office/drawing/2014/main" val="1480730962"/>
                    </a:ext>
                  </a:extLst>
                </a:gridCol>
                <a:gridCol w="1261946">
                  <a:extLst>
                    <a:ext uri="{9D8B030D-6E8A-4147-A177-3AD203B41FA5}">
                      <a16:colId xmlns:a16="http://schemas.microsoft.com/office/drawing/2014/main" val="2537991487"/>
                    </a:ext>
                  </a:extLst>
                </a:gridCol>
                <a:gridCol w="1261946">
                  <a:extLst>
                    <a:ext uri="{9D8B030D-6E8A-4147-A177-3AD203B41FA5}">
                      <a16:colId xmlns:a16="http://schemas.microsoft.com/office/drawing/2014/main" val="2427865123"/>
                    </a:ext>
                  </a:extLst>
                </a:gridCol>
                <a:gridCol w="1261946">
                  <a:extLst>
                    <a:ext uri="{9D8B030D-6E8A-4147-A177-3AD203B41FA5}">
                      <a16:colId xmlns:a16="http://schemas.microsoft.com/office/drawing/2014/main" val="602365348"/>
                    </a:ext>
                  </a:extLst>
                </a:gridCol>
                <a:gridCol w="1261946">
                  <a:extLst>
                    <a:ext uri="{9D8B030D-6E8A-4147-A177-3AD203B41FA5}">
                      <a16:colId xmlns:a16="http://schemas.microsoft.com/office/drawing/2014/main" val="4038484512"/>
                    </a:ext>
                  </a:extLst>
                </a:gridCol>
                <a:gridCol w="1261946">
                  <a:extLst>
                    <a:ext uri="{9D8B030D-6E8A-4147-A177-3AD203B41FA5}">
                      <a16:colId xmlns:a16="http://schemas.microsoft.com/office/drawing/2014/main" val="1861609086"/>
                    </a:ext>
                  </a:extLst>
                </a:gridCol>
                <a:gridCol w="1261946">
                  <a:extLst>
                    <a:ext uri="{9D8B030D-6E8A-4147-A177-3AD203B41FA5}">
                      <a16:colId xmlns:a16="http://schemas.microsoft.com/office/drawing/2014/main" val="2872738523"/>
                    </a:ext>
                  </a:extLst>
                </a:gridCol>
                <a:gridCol w="1261946">
                  <a:extLst>
                    <a:ext uri="{9D8B030D-6E8A-4147-A177-3AD203B41FA5}">
                      <a16:colId xmlns:a16="http://schemas.microsoft.com/office/drawing/2014/main" val="2568236337"/>
                    </a:ext>
                  </a:extLst>
                </a:gridCol>
              </a:tblGrid>
              <a:tr h="842413">
                <a:tc>
                  <a:txBody>
                    <a:bodyPr/>
                    <a:lstStyle/>
                    <a:p>
                      <a:pPr algn="ctr" rtl="0" fontAlgn="base"/>
                      <a:r>
                        <a:rPr lang="en-AU" sz="4800" b="0" i="0">
                          <a:effectLst/>
                          <a:latin typeface="Arial" panose="020B0604020202020204" pitchFamily="34" charset="0"/>
                        </a:rPr>
                        <a:t>21 </a:t>
                      </a:r>
                      <a:endParaRPr lang="en-AU" sz="4800" b="0" i="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AU" sz="4800" b="0" i="0">
                          <a:effectLst/>
                          <a:latin typeface="Arial" panose="020B0604020202020204" pitchFamily="34" charset="0"/>
                        </a:rPr>
                        <a:t>28 </a:t>
                      </a:r>
                      <a:endParaRPr lang="en-AU" sz="4800" b="0" i="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AU" sz="4800" b="0" i="0">
                          <a:effectLst/>
                          <a:latin typeface="Arial" panose="020B0604020202020204" pitchFamily="34" charset="0"/>
                        </a:rPr>
                        <a:t>35 </a:t>
                      </a:r>
                      <a:endParaRPr lang="en-AU" sz="4800" b="0" i="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AU" sz="4800" b="0" i="0">
                          <a:effectLst/>
                          <a:latin typeface="Arial" panose="020B0604020202020204" pitchFamily="34" charset="0"/>
                        </a:rPr>
                        <a:t>42 </a:t>
                      </a:r>
                      <a:endParaRPr lang="en-AU" sz="4800" b="0" i="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AU" sz="4800" b="0" i="0">
                          <a:effectLst/>
                          <a:latin typeface="Arial" panose="020B0604020202020204" pitchFamily="34" charset="0"/>
                        </a:rPr>
                        <a:t>49 </a:t>
                      </a:r>
                      <a:endParaRPr lang="en-AU" sz="4800" b="0" i="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AU" sz="4800" b="0" i="0">
                          <a:effectLst/>
                          <a:latin typeface="Arial" panose="020B0604020202020204" pitchFamily="34" charset="0"/>
                        </a:rPr>
                        <a:t>56 </a:t>
                      </a:r>
                      <a:endParaRPr lang="en-AU" sz="4800" b="0" i="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AU" sz="4800" b="0" i="0">
                          <a:effectLst/>
                          <a:latin typeface="Arial" panose="020B0604020202020204" pitchFamily="34" charset="0"/>
                        </a:rPr>
                        <a:t>63 </a:t>
                      </a:r>
                      <a:endParaRPr lang="en-AU" sz="4800" b="0" i="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AU" sz="4800" b="0" i="0">
                          <a:effectLst/>
                          <a:latin typeface="Arial" panose="020B0604020202020204" pitchFamily="34" charset="0"/>
                        </a:rPr>
                        <a:t>70 </a:t>
                      </a:r>
                      <a:endParaRPr lang="en-AU" sz="4800" b="0" i="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AU" sz="4800" b="0" i="0">
                          <a:effectLst/>
                        </a:rPr>
                        <a:t>77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3944037"/>
                  </a:ext>
                </a:extLst>
              </a:tr>
            </a:tbl>
          </a:graphicData>
        </a:graphic>
      </p:graphicFrame>
      <p:sp>
        <p:nvSpPr>
          <p:cNvPr id="7" name="Text Placeholder 17">
            <a:extLst>
              <a:ext uri="{FF2B5EF4-FFF2-40B4-BE49-F238E27FC236}">
                <a16:creationId xmlns:a16="http://schemas.microsoft.com/office/drawing/2014/main" id="{6548959B-D068-7860-4548-E8942EF4A57B}"/>
              </a:ext>
            </a:extLst>
          </p:cNvPr>
          <p:cNvSpPr txBox="1">
            <a:spLocks/>
          </p:cNvSpPr>
          <p:nvPr/>
        </p:nvSpPr>
        <p:spPr>
          <a:xfrm>
            <a:off x="474479" y="3124634"/>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400"/>
              <a:t>What number would </a:t>
            </a:r>
            <a:r>
              <a:rPr lang="en-US" sz="4400" b="1"/>
              <a:t>come next</a:t>
            </a:r>
            <a:r>
              <a:rPr lang="en-US" sz="4400"/>
              <a:t>?</a:t>
            </a:r>
          </a:p>
        </p:txBody>
      </p:sp>
      <p:sp>
        <p:nvSpPr>
          <p:cNvPr id="9" name="TextBox 8">
            <a:extLst>
              <a:ext uri="{FF2B5EF4-FFF2-40B4-BE49-F238E27FC236}">
                <a16:creationId xmlns:a16="http://schemas.microsoft.com/office/drawing/2014/main" id="{4E6EA9CC-6235-8807-420B-A4371AC418C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8" name="TextBox 7">
            <a:extLst>
              <a:ext uri="{FF2B5EF4-FFF2-40B4-BE49-F238E27FC236}">
                <a16:creationId xmlns:a16="http://schemas.microsoft.com/office/drawing/2014/main" id="{BBBEDDC7-497D-6E11-4E62-4002DAAECD9E}"/>
              </a:ext>
            </a:extLst>
          </p:cNvPr>
          <p:cNvSpPr txBox="1"/>
          <p:nvPr/>
        </p:nvSpPr>
        <p:spPr>
          <a:xfrm>
            <a:off x="558386" y="4938006"/>
            <a:ext cx="1844187" cy="657848"/>
          </a:xfrm>
          <a:prstGeom prst="rect">
            <a:avLst/>
          </a:prstGeom>
          <a:noFill/>
        </p:spPr>
        <p:txBody>
          <a:bodyPr wrap="square" lIns="0" tIns="0" rIns="0" bIns="0" rtlCol="0">
            <a:noAutofit/>
          </a:bodyPr>
          <a:lstStyle/>
          <a:p>
            <a:pPr algn="ctr"/>
            <a:r>
              <a:rPr lang="en-AU" sz="4400"/>
              <a:t>90</a:t>
            </a:r>
          </a:p>
        </p:txBody>
      </p:sp>
      <p:sp>
        <p:nvSpPr>
          <p:cNvPr id="10" name="TextBox 9">
            <a:extLst>
              <a:ext uri="{FF2B5EF4-FFF2-40B4-BE49-F238E27FC236}">
                <a16:creationId xmlns:a16="http://schemas.microsoft.com/office/drawing/2014/main" id="{4AB24A3E-5574-D79C-6A0F-06D3F8A29BB1}"/>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3" name="TextBox 12">
            <a:extLst>
              <a:ext uri="{FF2B5EF4-FFF2-40B4-BE49-F238E27FC236}">
                <a16:creationId xmlns:a16="http://schemas.microsoft.com/office/drawing/2014/main" id="{2C9E8CC4-083A-D872-06E1-325ACDC7C845}"/>
              </a:ext>
            </a:extLst>
          </p:cNvPr>
          <p:cNvSpPr txBox="1"/>
          <p:nvPr/>
        </p:nvSpPr>
        <p:spPr>
          <a:xfrm>
            <a:off x="3562359" y="4938006"/>
            <a:ext cx="1844187" cy="657848"/>
          </a:xfrm>
          <a:prstGeom prst="rect">
            <a:avLst/>
          </a:prstGeom>
          <a:noFill/>
        </p:spPr>
        <p:txBody>
          <a:bodyPr wrap="square" lIns="0" tIns="0" rIns="0" bIns="0" rtlCol="0">
            <a:noAutofit/>
          </a:bodyPr>
          <a:lstStyle/>
          <a:p>
            <a:pPr algn="ctr"/>
            <a:r>
              <a:rPr lang="en-AU" sz="4400"/>
              <a:t>85</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4" name="TextBox 13">
            <a:extLst>
              <a:ext uri="{FF2B5EF4-FFF2-40B4-BE49-F238E27FC236}">
                <a16:creationId xmlns:a16="http://schemas.microsoft.com/office/drawing/2014/main" id="{1F15BAAA-8275-A5A5-F942-80B612B638AE}"/>
              </a:ext>
            </a:extLst>
          </p:cNvPr>
          <p:cNvSpPr txBox="1"/>
          <p:nvPr/>
        </p:nvSpPr>
        <p:spPr>
          <a:xfrm>
            <a:off x="6566332" y="4938006"/>
            <a:ext cx="1844187" cy="657848"/>
          </a:xfrm>
          <a:prstGeom prst="rect">
            <a:avLst/>
          </a:prstGeom>
          <a:noFill/>
        </p:spPr>
        <p:txBody>
          <a:bodyPr wrap="square" lIns="0" tIns="0" rIns="0" bIns="0" rtlCol="0">
            <a:noAutofit/>
          </a:bodyPr>
          <a:lstStyle/>
          <a:p>
            <a:pPr algn="ctr"/>
            <a:r>
              <a:rPr lang="en-AU" sz="4400"/>
              <a:t>84</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5" name="TextBox 14">
            <a:extLst>
              <a:ext uri="{FF2B5EF4-FFF2-40B4-BE49-F238E27FC236}">
                <a16:creationId xmlns:a16="http://schemas.microsoft.com/office/drawing/2014/main" id="{E3AD771D-C077-AB7F-0FEE-4E73511F70FF}"/>
              </a:ext>
            </a:extLst>
          </p:cNvPr>
          <p:cNvSpPr txBox="1"/>
          <p:nvPr/>
        </p:nvSpPr>
        <p:spPr>
          <a:xfrm>
            <a:off x="9570305" y="4938006"/>
            <a:ext cx="1844187" cy="657848"/>
          </a:xfrm>
          <a:prstGeom prst="rect">
            <a:avLst/>
          </a:prstGeom>
          <a:noFill/>
        </p:spPr>
        <p:txBody>
          <a:bodyPr wrap="square" lIns="0" tIns="0" rIns="0" bIns="0" rtlCol="0">
            <a:noAutofit/>
          </a:bodyPr>
          <a:lstStyle/>
          <a:p>
            <a:pPr algn="ctr"/>
            <a:r>
              <a:rPr lang="en-AU" sz="4400"/>
              <a:t>83</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CE1F317-4D62-C0C7-73DC-374181259CB0}"/>
                  </a:ext>
                </a:extLst>
              </p:cNvPr>
              <p:cNvSpPr txBox="1"/>
              <p:nvPr/>
            </p:nvSpPr>
            <p:spPr>
              <a:xfrm>
                <a:off x="664028" y="1382128"/>
                <a:ext cx="10863943" cy="2139228"/>
              </a:xfrm>
              <a:prstGeom prst="rect">
                <a:avLst/>
              </a:prstGeom>
              <a:noFill/>
            </p:spPr>
            <p:txBody>
              <a:bodyPr wrap="square" lIns="0" tIns="0" rIns="0" bIns="0" rtlCol="0">
                <a:noAutofit/>
              </a:bodyPr>
              <a:lstStyle/>
              <a:p>
                <a:pPr algn="ctr"/>
                <a:r>
                  <a:rPr lang="en-AU" sz="4400"/>
                  <a:t>Kai can have 50%, 0.5 or  </a:t>
                </a:r>
                <a14:m>
                  <m:oMath xmlns:m="http://schemas.openxmlformats.org/officeDocument/2006/math">
                    <m:f>
                      <m:fPr>
                        <m:ctrlPr>
                          <a:rPr lang="en-AU" sz="6000" i="1" smtClean="0">
                            <a:latin typeface="Cambria Math" panose="02040503050406030204" pitchFamily="18" charset="0"/>
                          </a:rPr>
                        </m:ctrlPr>
                      </m:fPr>
                      <m:num>
                        <m:r>
                          <a:rPr lang="en-AU" sz="6000" b="0" i="1" smtClean="0">
                            <a:latin typeface="Cambria Math" panose="02040503050406030204" pitchFamily="18" charset="0"/>
                          </a:rPr>
                          <m:t>1</m:t>
                        </m:r>
                      </m:num>
                      <m:den>
                        <m:r>
                          <a:rPr lang="en-AU" sz="6000" b="0" i="1" smtClean="0">
                            <a:latin typeface="Cambria Math" panose="02040503050406030204" pitchFamily="18" charset="0"/>
                          </a:rPr>
                          <m:t>5</m:t>
                        </m:r>
                      </m:den>
                    </m:f>
                  </m:oMath>
                </a14:m>
                <a:r>
                  <a:rPr lang="en-AU" sz="4400"/>
                  <a:t>  of the chocolate bar. </a:t>
                </a:r>
              </a:p>
            </p:txBody>
          </p:sp>
        </mc:Choice>
        <mc:Fallback xmlns="">
          <p:sp>
            <p:nvSpPr>
              <p:cNvPr id="4" name="TextBox 3">
                <a:extLst>
                  <a:ext uri="{FF2B5EF4-FFF2-40B4-BE49-F238E27FC236}">
                    <a16:creationId xmlns:a16="http://schemas.microsoft.com/office/drawing/2014/main" id="{CCE1F317-4D62-C0C7-73DC-374181259CB0}"/>
                  </a:ext>
                </a:extLst>
              </p:cNvPr>
              <p:cNvSpPr txBox="1">
                <a:spLocks noRot="1" noChangeAspect="1" noMove="1" noResize="1" noEditPoints="1" noAdjustHandles="1" noChangeArrowheads="1" noChangeShapeType="1" noTextEdit="1"/>
              </p:cNvSpPr>
              <p:nvPr/>
            </p:nvSpPr>
            <p:spPr>
              <a:xfrm>
                <a:off x="664028" y="1382128"/>
                <a:ext cx="10863943" cy="2139228"/>
              </a:xfrm>
              <a:prstGeom prst="rect">
                <a:avLst/>
              </a:prstGeom>
              <a:blipFill>
                <a:blip r:embed="rId4"/>
                <a:stretch>
                  <a:fillRect b="-7407"/>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D79E27DD-A71F-2ED9-0E89-1B3759CD4247}"/>
              </a:ext>
            </a:extLst>
          </p:cNvPr>
          <p:cNvSpPr txBox="1"/>
          <p:nvPr/>
        </p:nvSpPr>
        <p:spPr>
          <a:xfrm>
            <a:off x="664028" y="4406258"/>
            <a:ext cx="10863943" cy="1099457"/>
          </a:xfrm>
          <a:prstGeom prst="rect">
            <a:avLst/>
          </a:prstGeom>
          <a:noFill/>
        </p:spPr>
        <p:txBody>
          <a:bodyPr wrap="square" lIns="0" tIns="0" rIns="0" bIns="0" rtlCol="0">
            <a:noAutofit/>
          </a:bodyPr>
          <a:lstStyle/>
          <a:p>
            <a:pPr algn="ctr"/>
            <a:r>
              <a:rPr lang="en-AU" sz="4400"/>
              <a:t>Which choice gives him the </a:t>
            </a:r>
            <a:r>
              <a:rPr lang="en-AU" sz="4400" b="1"/>
              <a:t>most </a:t>
            </a:r>
            <a:r>
              <a:rPr lang="en-AU" sz="4400"/>
              <a:t>chocolate? </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47ABE684-8D98-38B5-F552-9B3F47E9D37A}"/>
              </a:ext>
            </a:extLst>
          </p:cNvPr>
          <p:cNvSpPr txBox="1"/>
          <p:nvPr/>
        </p:nvSpPr>
        <p:spPr>
          <a:xfrm>
            <a:off x="712800" y="1491731"/>
            <a:ext cx="10766399" cy="1099457"/>
          </a:xfrm>
          <a:prstGeom prst="rect">
            <a:avLst/>
          </a:prstGeom>
          <a:noFill/>
        </p:spPr>
        <p:txBody>
          <a:bodyPr wrap="square" lIns="0" tIns="0" rIns="0" bIns="0" rtlCol="0">
            <a:noAutofit/>
          </a:bodyPr>
          <a:lstStyle/>
          <a:p>
            <a:pPr algn="ctr"/>
            <a:r>
              <a:rPr lang="en-AU" sz="4000" b="1"/>
              <a:t>Name</a:t>
            </a:r>
            <a:r>
              <a:rPr lang="en-AU" sz="4000"/>
              <a:t> the types of </a:t>
            </a:r>
            <a:r>
              <a:rPr lang="en-AU" sz="4000" b="1"/>
              <a:t>angles</a:t>
            </a:r>
            <a:r>
              <a:rPr lang="en-AU" sz="4000"/>
              <a:t> found on this </a:t>
            </a:r>
            <a:r>
              <a:rPr lang="en-AU" sz="4000" b="1"/>
              <a:t>straight line</a:t>
            </a:r>
            <a:r>
              <a:rPr lang="en-AU" sz="4000"/>
              <a:t>.</a:t>
            </a:r>
          </a:p>
        </p:txBody>
      </p:sp>
      <p:pic>
        <p:nvPicPr>
          <p:cNvPr id="8" name="Picture 7" descr="Straight angle with an obtuse and acute angle marked on it.">
            <a:extLst>
              <a:ext uri="{FF2B5EF4-FFF2-40B4-BE49-F238E27FC236}">
                <a16:creationId xmlns:a16="http://schemas.microsoft.com/office/drawing/2014/main" id="{E1E563F1-21C8-D7B2-5B51-796952D01567}"/>
              </a:ext>
            </a:extLst>
          </p:cNvPr>
          <p:cNvPicPr>
            <a:picLocks noChangeAspect="1"/>
          </p:cNvPicPr>
          <p:nvPr/>
        </p:nvPicPr>
        <p:blipFill>
          <a:blip r:embed="rId4"/>
          <a:srcRect l="9029" t="25125" r="5296"/>
          <a:stretch>
            <a:fillRect/>
          </a:stretch>
        </p:blipFill>
        <p:spPr>
          <a:xfrm>
            <a:off x="1790700" y="3177318"/>
            <a:ext cx="8610600" cy="3145584"/>
          </a:xfrm>
          <a:prstGeom prst="rect">
            <a:avLst/>
          </a:prstGeom>
        </p:spPr>
      </p:pic>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50" name="Freeform 6" descr="Orange ball">
            <a:extLst>
              <a:ext uri="{FF2B5EF4-FFF2-40B4-BE49-F238E27FC236}">
                <a16:creationId xmlns:a16="http://schemas.microsoft.com/office/drawing/2014/main" id="{441375E4-9453-D5C2-BCC7-382875A41A72}"/>
              </a:ext>
            </a:extLst>
          </p:cNvPr>
          <p:cNvSpPr/>
          <p:nvPr/>
        </p:nvSpPr>
        <p:spPr>
          <a:xfrm>
            <a:off x="4232182" y="4992258"/>
            <a:ext cx="842553" cy="842553"/>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a:p>
        </p:txBody>
      </p:sp>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5"/>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7ACAC4E-ADDD-5B5B-B86E-3E3C368B3856}"/>
              </a:ext>
            </a:extLst>
          </p:cNvPr>
          <p:cNvSpPr txBox="1"/>
          <p:nvPr/>
        </p:nvSpPr>
        <p:spPr>
          <a:xfrm>
            <a:off x="912366" y="1184223"/>
            <a:ext cx="10367268" cy="2069869"/>
          </a:xfrm>
          <a:prstGeom prst="rect">
            <a:avLst/>
          </a:prstGeom>
          <a:noFill/>
        </p:spPr>
        <p:txBody>
          <a:bodyPr wrap="square" lIns="0" tIns="0" rIns="0" bIns="0" rtlCol="0">
            <a:noAutofit/>
          </a:bodyPr>
          <a:lstStyle/>
          <a:p>
            <a:pPr algn="ctr"/>
            <a:r>
              <a:rPr lang="en-AU" sz="4400"/>
              <a:t>Draw a </a:t>
            </a:r>
            <a:r>
              <a:rPr lang="en-AU" sz="4400" b="1"/>
              <a:t>table</a:t>
            </a:r>
            <a:r>
              <a:rPr lang="en-AU" sz="4400"/>
              <a:t> and </a:t>
            </a:r>
            <a:r>
              <a:rPr lang="en-AU" sz="4400" b="1"/>
              <a:t>record</a:t>
            </a:r>
            <a:r>
              <a:rPr lang="en-AU" sz="4400"/>
              <a:t> the number of each coloured ball using </a:t>
            </a:r>
            <a:r>
              <a:rPr lang="en-AU" sz="4400" b="1"/>
              <a:t>tally marks</a:t>
            </a:r>
            <a:r>
              <a:rPr lang="en-AU" sz="4400"/>
              <a:t>.</a:t>
            </a:r>
          </a:p>
        </p:txBody>
      </p:sp>
      <p:sp>
        <p:nvSpPr>
          <p:cNvPr id="5" name="Freeform 2" descr="Ball">
            <a:extLst>
              <a:ext uri="{FF2B5EF4-FFF2-40B4-BE49-F238E27FC236}">
                <a16:creationId xmlns:a16="http://schemas.microsoft.com/office/drawing/2014/main" id="{29ACE89B-1AC0-CEFD-1D4D-D8841D32F4E0}"/>
              </a:ext>
            </a:extLst>
          </p:cNvPr>
          <p:cNvSpPr/>
          <p:nvPr/>
        </p:nvSpPr>
        <p:spPr>
          <a:xfrm>
            <a:off x="672281" y="3482164"/>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7" name="Freeform 3" descr="Ball">
            <a:extLst>
              <a:ext uri="{FF2B5EF4-FFF2-40B4-BE49-F238E27FC236}">
                <a16:creationId xmlns:a16="http://schemas.microsoft.com/office/drawing/2014/main" id="{22F0CA82-0A9C-BC5A-1B11-24DE520B7779}"/>
              </a:ext>
            </a:extLst>
          </p:cNvPr>
          <p:cNvSpPr/>
          <p:nvPr/>
        </p:nvSpPr>
        <p:spPr>
          <a:xfrm>
            <a:off x="3644430" y="4264194"/>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8" name="Freeform 4" descr="Ball">
            <a:extLst>
              <a:ext uri="{FF2B5EF4-FFF2-40B4-BE49-F238E27FC236}">
                <a16:creationId xmlns:a16="http://schemas.microsoft.com/office/drawing/2014/main" id="{7B6314BD-2692-30B3-985C-7B93B3B8907B}"/>
              </a:ext>
            </a:extLst>
          </p:cNvPr>
          <p:cNvSpPr/>
          <p:nvPr/>
        </p:nvSpPr>
        <p:spPr>
          <a:xfrm>
            <a:off x="3823833" y="2996259"/>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9" name="Freeform 5" descr="Ball">
            <a:extLst>
              <a:ext uri="{FF2B5EF4-FFF2-40B4-BE49-F238E27FC236}">
                <a16:creationId xmlns:a16="http://schemas.microsoft.com/office/drawing/2014/main" id="{7D833FC5-2A3A-D827-3E8B-D17371013AD6}"/>
              </a:ext>
            </a:extLst>
          </p:cNvPr>
          <p:cNvSpPr/>
          <p:nvPr/>
        </p:nvSpPr>
        <p:spPr>
          <a:xfrm>
            <a:off x="9671451" y="5203419"/>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11" name="Freeform 7" descr="Ball">
            <a:extLst>
              <a:ext uri="{FF2B5EF4-FFF2-40B4-BE49-F238E27FC236}">
                <a16:creationId xmlns:a16="http://schemas.microsoft.com/office/drawing/2014/main" id="{96ACF498-C0FE-0AAC-B56E-53A5E5B98976}"/>
              </a:ext>
            </a:extLst>
          </p:cNvPr>
          <p:cNvSpPr/>
          <p:nvPr/>
        </p:nvSpPr>
        <p:spPr>
          <a:xfrm>
            <a:off x="10664554" y="5410933"/>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AU"/>
          </a:p>
        </p:txBody>
      </p:sp>
      <p:sp>
        <p:nvSpPr>
          <p:cNvPr id="12" name="Freeform 2" descr="Ball">
            <a:extLst>
              <a:ext uri="{FF2B5EF4-FFF2-40B4-BE49-F238E27FC236}">
                <a16:creationId xmlns:a16="http://schemas.microsoft.com/office/drawing/2014/main" id="{299AD630-EDF4-F775-24B6-AC1DDEAEB55B}"/>
              </a:ext>
            </a:extLst>
          </p:cNvPr>
          <p:cNvSpPr/>
          <p:nvPr/>
        </p:nvSpPr>
        <p:spPr>
          <a:xfrm>
            <a:off x="1763747" y="5049600"/>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3" name="Freeform 2" descr="Ball">
            <a:extLst>
              <a:ext uri="{FF2B5EF4-FFF2-40B4-BE49-F238E27FC236}">
                <a16:creationId xmlns:a16="http://schemas.microsoft.com/office/drawing/2014/main" id="{388F41C9-420E-7FD0-0F61-A4C106CB300E}"/>
              </a:ext>
            </a:extLst>
          </p:cNvPr>
          <p:cNvSpPr/>
          <p:nvPr/>
        </p:nvSpPr>
        <p:spPr>
          <a:xfrm>
            <a:off x="4963170" y="3525047"/>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4" name="Freeform 2" descr="Ball">
            <a:extLst>
              <a:ext uri="{FF2B5EF4-FFF2-40B4-BE49-F238E27FC236}">
                <a16:creationId xmlns:a16="http://schemas.microsoft.com/office/drawing/2014/main" id="{58354332-4FB3-DB28-A88B-E14D6EC15EC6}"/>
              </a:ext>
            </a:extLst>
          </p:cNvPr>
          <p:cNvSpPr/>
          <p:nvPr/>
        </p:nvSpPr>
        <p:spPr>
          <a:xfrm>
            <a:off x="9808513" y="2888170"/>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5" name="Freeform 2" descr="Ball">
            <a:extLst>
              <a:ext uri="{FF2B5EF4-FFF2-40B4-BE49-F238E27FC236}">
                <a16:creationId xmlns:a16="http://schemas.microsoft.com/office/drawing/2014/main" id="{9B321317-857D-74B5-76A1-EC2F4D07E854}"/>
              </a:ext>
            </a:extLst>
          </p:cNvPr>
          <p:cNvSpPr/>
          <p:nvPr/>
        </p:nvSpPr>
        <p:spPr>
          <a:xfrm>
            <a:off x="7128043" y="5643052"/>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7" name="Freeform 5" descr="Ball">
            <a:extLst>
              <a:ext uri="{FF2B5EF4-FFF2-40B4-BE49-F238E27FC236}">
                <a16:creationId xmlns:a16="http://schemas.microsoft.com/office/drawing/2014/main" id="{04CC7109-CED3-AF24-380B-A1DD7575432B}"/>
              </a:ext>
            </a:extLst>
          </p:cNvPr>
          <p:cNvSpPr/>
          <p:nvPr/>
        </p:nvSpPr>
        <p:spPr>
          <a:xfrm>
            <a:off x="302571" y="4548362"/>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18" name="Freeform 5" descr="Ball">
            <a:extLst>
              <a:ext uri="{FF2B5EF4-FFF2-40B4-BE49-F238E27FC236}">
                <a16:creationId xmlns:a16="http://schemas.microsoft.com/office/drawing/2014/main" id="{B96187ED-DE86-1A46-5AEA-79360DA0E1F8}"/>
              </a:ext>
            </a:extLst>
          </p:cNvPr>
          <p:cNvSpPr/>
          <p:nvPr/>
        </p:nvSpPr>
        <p:spPr>
          <a:xfrm>
            <a:off x="2608326" y="2735459"/>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20" name="Freeform 5" descr="Ball">
            <a:extLst>
              <a:ext uri="{FF2B5EF4-FFF2-40B4-BE49-F238E27FC236}">
                <a16:creationId xmlns:a16="http://schemas.microsoft.com/office/drawing/2014/main" id="{C26CAF54-172D-01F0-2508-8F58F4C952ED}"/>
              </a:ext>
            </a:extLst>
          </p:cNvPr>
          <p:cNvSpPr/>
          <p:nvPr/>
        </p:nvSpPr>
        <p:spPr>
          <a:xfrm>
            <a:off x="11243683" y="2274935"/>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21" name="Freeform 3" descr="Ball">
            <a:extLst>
              <a:ext uri="{FF2B5EF4-FFF2-40B4-BE49-F238E27FC236}">
                <a16:creationId xmlns:a16="http://schemas.microsoft.com/office/drawing/2014/main" id="{975EAD1D-D401-8218-4DFE-6064C715BAA4}"/>
              </a:ext>
            </a:extLst>
          </p:cNvPr>
          <p:cNvSpPr/>
          <p:nvPr/>
        </p:nvSpPr>
        <p:spPr>
          <a:xfrm>
            <a:off x="8162428" y="3525046"/>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22" name="Freeform 3" descr="Ball">
            <a:extLst>
              <a:ext uri="{FF2B5EF4-FFF2-40B4-BE49-F238E27FC236}">
                <a16:creationId xmlns:a16="http://schemas.microsoft.com/office/drawing/2014/main" id="{4DEB19F6-9E01-862A-1616-29F566912638}"/>
              </a:ext>
            </a:extLst>
          </p:cNvPr>
          <p:cNvSpPr/>
          <p:nvPr/>
        </p:nvSpPr>
        <p:spPr>
          <a:xfrm>
            <a:off x="3322408" y="5681733"/>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23" name="Freeform 3" descr="Ball">
            <a:extLst>
              <a:ext uri="{FF2B5EF4-FFF2-40B4-BE49-F238E27FC236}">
                <a16:creationId xmlns:a16="http://schemas.microsoft.com/office/drawing/2014/main" id="{717CD862-5F85-85A6-5614-9E93D75561E0}"/>
              </a:ext>
            </a:extLst>
          </p:cNvPr>
          <p:cNvSpPr/>
          <p:nvPr/>
        </p:nvSpPr>
        <p:spPr>
          <a:xfrm>
            <a:off x="7541266" y="4622447"/>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24" name="Freeform 3" descr="Ball">
            <a:extLst>
              <a:ext uri="{FF2B5EF4-FFF2-40B4-BE49-F238E27FC236}">
                <a16:creationId xmlns:a16="http://schemas.microsoft.com/office/drawing/2014/main" id="{8919FF11-BE9B-2F4E-672F-04E64CDAF9E7}"/>
              </a:ext>
            </a:extLst>
          </p:cNvPr>
          <p:cNvSpPr/>
          <p:nvPr/>
        </p:nvSpPr>
        <p:spPr>
          <a:xfrm>
            <a:off x="2238428" y="3897083"/>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25" name="Freeform 3" descr="Ball">
            <a:extLst>
              <a:ext uri="{FF2B5EF4-FFF2-40B4-BE49-F238E27FC236}">
                <a16:creationId xmlns:a16="http://schemas.microsoft.com/office/drawing/2014/main" id="{C079B5C4-984D-9BAE-18B5-97ED0B5D0948}"/>
              </a:ext>
            </a:extLst>
          </p:cNvPr>
          <p:cNvSpPr/>
          <p:nvPr/>
        </p:nvSpPr>
        <p:spPr>
          <a:xfrm>
            <a:off x="5910341" y="2968228"/>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26" name="Freeform 3" descr="Ball">
            <a:extLst>
              <a:ext uri="{FF2B5EF4-FFF2-40B4-BE49-F238E27FC236}">
                <a16:creationId xmlns:a16="http://schemas.microsoft.com/office/drawing/2014/main" id="{7214E176-65AB-C285-0C1F-DAC7E8B36731}"/>
              </a:ext>
            </a:extLst>
          </p:cNvPr>
          <p:cNvSpPr/>
          <p:nvPr/>
        </p:nvSpPr>
        <p:spPr>
          <a:xfrm>
            <a:off x="766563" y="5834811"/>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27" name="Freeform 4" descr="Ball">
            <a:extLst>
              <a:ext uri="{FF2B5EF4-FFF2-40B4-BE49-F238E27FC236}">
                <a16:creationId xmlns:a16="http://schemas.microsoft.com/office/drawing/2014/main" id="{9386B466-3918-E980-7C3F-EDAC4F0B2A7F}"/>
              </a:ext>
            </a:extLst>
          </p:cNvPr>
          <p:cNvSpPr/>
          <p:nvPr/>
        </p:nvSpPr>
        <p:spPr>
          <a:xfrm>
            <a:off x="2066021" y="2888170"/>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28" name="Freeform 4" descr="Ball">
            <a:extLst>
              <a:ext uri="{FF2B5EF4-FFF2-40B4-BE49-F238E27FC236}">
                <a16:creationId xmlns:a16="http://schemas.microsoft.com/office/drawing/2014/main" id="{DAF5DE63-58F0-4720-1F12-54B014EC2A92}"/>
              </a:ext>
            </a:extLst>
          </p:cNvPr>
          <p:cNvSpPr/>
          <p:nvPr/>
        </p:nvSpPr>
        <p:spPr>
          <a:xfrm>
            <a:off x="10938837" y="2829694"/>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29" name="Freeform 4" descr="Ball">
            <a:extLst>
              <a:ext uri="{FF2B5EF4-FFF2-40B4-BE49-F238E27FC236}">
                <a16:creationId xmlns:a16="http://schemas.microsoft.com/office/drawing/2014/main" id="{D596F8FB-5426-A111-CA3B-B69BD1A4DBDE}"/>
              </a:ext>
            </a:extLst>
          </p:cNvPr>
          <p:cNvSpPr/>
          <p:nvPr/>
        </p:nvSpPr>
        <p:spPr>
          <a:xfrm>
            <a:off x="6978693" y="4740477"/>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30" name="Freeform 4" descr="Ball">
            <a:extLst>
              <a:ext uri="{FF2B5EF4-FFF2-40B4-BE49-F238E27FC236}">
                <a16:creationId xmlns:a16="http://schemas.microsoft.com/office/drawing/2014/main" id="{8F1BE13E-4179-AED4-B85F-DDAF5D85E04C}"/>
              </a:ext>
            </a:extLst>
          </p:cNvPr>
          <p:cNvSpPr/>
          <p:nvPr/>
        </p:nvSpPr>
        <p:spPr>
          <a:xfrm>
            <a:off x="8563865" y="5791220"/>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31" name="Freeform 4" descr="Ball">
            <a:extLst>
              <a:ext uri="{FF2B5EF4-FFF2-40B4-BE49-F238E27FC236}">
                <a16:creationId xmlns:a16="http://schemas.microsoft.com/office/drawing/2014/main" id="{AC920FDA-8977-835D-0C66-EDBA53DDA8FC}"/>
              </a:ext>
            </a:extLst>
          </p:cNvPr>
          <p:cNvSpPr/>
          <p:nvPr/>
        </p:nvSpPr>
        <p:spPr>
          <a:xfrm>
            <a:off x="10156933" y="5845585"/>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32" name="Freeform 4" descr="Ball">
            <a:extLst>
              <a:ext uri="{FF2B5EF4-FFF2-40B4-BE49-F238E27FC236}">
                <a16:creationId xmlns:a16="http://schemas.microsoft.com/office/drawing/2014/main" id="{CBE9EE1F-2E0C-16FB-2989-DAF8B0FDA6E7}"/>
              </a:ext>
            </a:extLst>
          </p:cNvPr>
          <p:cNvSpPr/>
          <p:nvPr/>
        </p:nvSpPr>
        <p:spPr>
          <a:xfrm>
            <a:off x="1574070" y="4108279"/>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33" name="Freeform 4" descr="Ball">
            <a:extLst>
              <a:ext uri="{FF2B5EF4-FFF2-40B4-BE49-F238E27FC236}">
                <a16:creationId xmlns:a16="http://schemas.microsoft.com/office/drawing/2014/main" id="{046C78BC-0844-7FA1-A8FB-AC8CA3157FCE}"/>
              </a:ext>
            </a:extLst>
          </p:cNvPr>
          <p:cNvSpPr/>
          <p:nvPr/>
        </p:nvSpPr>
        <p:spPr>
          <a:xfrm>
            <a:off x="1874327" y="5624985"/>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34" name="Freeform 4" descr="Ball">
            <a:extLst>
              <a:ext uri="{FF2B5EF4-FFF2-40B4-BE49-F238E27FC236}">
                <a16:creationId xmlns:a16="http://schemas.microsoft.com/office/drawing/2014/main" id="{5F9FFB48-7573-FC44-2664-71B2DA17DE40}"/>
              </a:ext>
            </a:extLst>
          </p:cNvPr>
          <p:cNvSpPr/>
          <p:nvPr/>
        </p:nvSpPr>
        <p:spPr>
          <a:xfrm>
            <a:off x="7597266" y="3000415"/>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35" name="Freeform 4" descr="Ball">
            <a:extLst>
              <a:ext uri="{FF2B5EF4-FFF2-40B4-BE49-F238E27FC236}">
                <a16:creationId xmlns:a16="http://schemas.microsoft.com/office/drawing/2014/main" id="{2897AADF-6490-AE3B-5755-EB995BFA9C80}"/>
              </a:ext>
            </a:extLst>
          </p:cNvPr>
          <p:cNvSpPr/>
          <p:nvPr/>
        </p:nvSpPr>
        <p:spPr>
          <a:xfrm>
            <a:off x="4865166" y="4211261"/>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36" name="Freeform 4" descr="Ball">
            <a:extLst>
              <a:ext uri="{FF2B5EF4-FFF2-40B4-BE49-F238E27FC236}">
                <a16:creationId xmlns:a16="http://schemas.microsoft.com/office/drawing/2014/main" id="{F137A7DF-2F87-F187-6B33-E98181335C22}"/>
              </a:ext>
            </a:extLst>
          </p:cNvPr>
          <p:cNvSpPr/>
          <p:nvPr/>
        </p:nvSpPr>
        <p:spPr>
          <a:xfrm>
            <a:off x="5179817" y="5681219"/>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37" name="Freeform 4" descr="Ball">
            <a:extLst>
              <a:ext uri="{FF2B5EF4-FFF2-40B4-BE49-F238E27FC236}">
                <a16:creationId xmlns:a16="http://schemas.microsoft.com/office/drawing/2014/main" id="{972E0EF3-A07E-5A18-62C2-C7B194A9B97C}"/>
              </a:ext>
            </a:extLst>
          </p:cNvPr>
          <p:cNvSpPr/>
          <p:nvPr/>
        </p:nvSpPr>
        <p:spPr>
          <a:xfrm>
            <a:off x="10812524" y="4087839"/>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38" name="Freeform 5" descr="Ball">
            <a:extLst>
              <a:ext uri="{FF2B5EF4-FFF2-40B4-BE49-F238E27FC236}">
                <a16:creationId xmlns:a16="http://schemas.microsoft.com/office/drawing/2014/main" id="{0BB9D3FC-3ABF-1F2C-A3BB-9D73FFE10D23}"/>
              </a:ext>
            </a:extLst>
          </p:cNvPr>
          <p:cNvSpPr/>
          <p:nvPr/>
        </p:nvSpPr>
        <p:spPr>
          <a:xfrm>
            <a:off x="9565365" y="3456782"/>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39" name="Freeform 5" descr="Ball">
            <a:extLst>
              <a:ext uri="{FF2B5EF4-FFF2-40B4-BE49-F238E27FC236}">
                <a16:creationId xmlns:a16="http://schemas.microsoft.com/office/drawing/2014/main" id="{9E71671A-9CB7-8048-7AC4-0C08C183FC26}"/>
              </a:ext>
            </a:extLst>
          </p:cNvPr>
          <p:cNvSpPr/>
          <p:nvPr/>
        </p:nvSpPr>
        <p:spPr>
          <a:xfrm>
            <a:off x="3162196" y="4740477"/>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19" name="Freeform 5" descr="Ball">
            <a:extLst>
              <a:ext uri="{FF2B5EF4-FFF2-40B4-BE49-F238E27FC236}">
                <a16:creationId xmlns:a16="http://schemas.microsoft.com/office/drawing/2014/main" id="{7CCEE8BE-380C-CCED-D443-1045909FC184}"/>
              </a:ext>
            </a:extLst>
          </p:cNvPr>
          <p:cNvSpPr/>
          <p:nvPr/>
        </p:nvSpPr>
        <p:spPr>
          <a:xfrm>
            <a:off x="6966800" y="3436559"/>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40" name="Freeform 2" descr="Ball">
            <a:extLst>
              <a:ext uri="{FF2B5EF4-FFF2-40B4-BE49-F238E27FC236}">
                <a16:creationId xmlns:a16="http://schemas.microsoft.com/office/drawing/2014/main" id="{2AC40FDB-2825-998F-CD59-AB15DFC987EC}"/>
              </a:ext>
            </a:extLst>
          </p:cNvPr>
          <p:cNvSpPr/>
          <p:nvPr/>
        </p:nvSpPr>
        <p:spPr>
          <a:xfrm>
            <a:off x="6168430" y="5845585"/>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41" name="Freeform 2" descr="Ball">
            <a:extLst>
              <a:ext uri="{FF2B5EF4-FFF2-40B4-BE49-F238E27FC236}">
                <a16:creationId xmlns:a16="http://schemas.microsoft.com/office/drawing/2014/main" id="{90EA13E3-0ABC-F3CE-32A4-58B5030AA82B}"/>
              </a:ext>
            </a:extLst>
          </p:cNvPr>
          <p:cNvSpPr/>
          <p:nvPr/>
        </p:nvSpPr>
        <p:spPr>
          <a:xfrm>
            <a:off x="5956558" y="4025193"/>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42" name="Freeform 2" descr="Ball">
            <a:extLst>
              <a:ext uri="{FF2B5EF4-FFF2-40B4-BE49-F238E27FC236}">
                <a16:creationId xmlns:a16="http://schemas.microsoft.com/office/drawing/2014/main" id="{739447B2-2769-7205-DC5E-68E7BEE81BD0}"/>
              </a:ext>
            </a:extLst>
          </p:cNvPr>
          <p:cNvSpPr/>
          <p:nvPr/>
        </p:nvSpPr>
        <p:spPr>
          <a:xfrm>
            <a:off x="144052" y="2697937"/>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43" name="Freeform 2" descr="Ball">
            <a:extLst>
              <a:ext uri="{FF2B5EF4-FFF2-40B4-BE49-F238E27FC236}">
                <a16:creationId xmlns:a16="http://schemas.microsoft.com/office/drawing/2014/main" id="{A1EB609E-994A-2FDD-7365-A364C218237D}"/>
              </a:ext>
            </a:extLst>
          </p:cNvPr>
          <p:cNvSpPr/>
          <p:nvPr/>
        </p:nvSpPr>
        <p:spPr>
          <a:xfrm>
            <a:off x="8750404" y="4622445"/>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44" name="Freeform 2" descr="Ball">
            <a:extLst>
              <a:ext uri="{FF2B5EF4-FFF2-40B4-BE49-F238E27FC236}">
                <a16:creationId xmlns:a16="http://schemas.microsoft.com/office/drawing/2014/main" id="{65FAD349-23E6-5C62-5F28-7FCE37A454C7}"/>
              </a:ext>
            </a:extLst>
          </p:cNvPr>
          <p:cNvSpPr/>
          <p:nvPr/>
        </p:nvSpPr>
        <p:spPr>
          <a:xfrm>
            <a:off x="4503105" y="5866465"/>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52" name="Freeform 6" descr="Orange ball">
            <a:extLst>
              <a:ext uri="{FF2B5EF4-FFF2-40B4-BE49-F238E27FC236}">
                <a16:creationId xmlns:a16="http://schemas.microsoft.com/office/drawing/2014/main" id="{3B5B02D9-ACCF-51D0-4B3A-CED96B0A8FF4}"/>
              </a:ext>
            </a:extLst>
          </p:cNvPr>
          <p:cNvSpPr/>
          <p:nvPr/>
        </p:nvSpPr>
        <p:spPr>
          <a:xfrm>
            <a:off x="10383193" y="4438415"/>
            <a:ext cx="842553" cy="842553"/>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a:p>
        </p:txBody>
      </p:sp>
      <p:sp>
        <p:nvSpPr>
          <p:cNvPr id="51" name="Freeform 6" descr="Orange ball">
            <a:extLst>
              <a:ext uri="{FF2B5EF4-FFF2-40B4-BE49-F238E27FC236}">
                <a16:creationId xmlns:a16="http://schemas.microsoft.com/office/drawing/2014/main" id="{108259D2-8382-5538-9849-E4BE6826257F}"/>
              </a:ext>
            </a:extLst>
          </p:cNvPr>
          <p:cNvSpPr/>
          <p:nvPr/>
        </p:nvSpPr>
        <p:spPr>
          <a:xfrm>
            <a:off x="5893090" y="4788620"/>
            <a:ext cx="842553" cy="842553"/>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a:p>
        </p:txBody>
      </p:sp>
      <p:sp>
        <p:nvSpPr>
          <p:cNvPr id="49" name="Freeform 6" descr="Orange ball">
            <a:extLst>
              <a:ext uri="{FF2B5EF4-FFF2-40B4-BE49-F238E27FC236}">
                <a16:creationId xmlns:a16="http://schemas.microsoft.com/office/drawing/2014/main" id="{2A764313-C77D-85B2-53E3-BE84CEF5D3D5}"/>
              </a:ext>
            </a:extLst>
          </p:cNvPr>
          <p:cNvSpPr/>
          <p:nvPr/>
        </p:nvSpPr>
        <p:spPr>
          <a:xfrm>
            <a:off x="2779512" y="5919349"/>
            <a:ext cx="842553" cy="842553"/>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a:p>
        </p:txBody>
      </p:sp>
      <p:sp>
        <p:nvSpPr>
          <p:cNvPr id="48" name="Freeform 6" descr="Orange ball">
            <a:extLst>
              <a:ext uri="{FF2B5EF4-FFF2-40B4-BE49-F238E27FC236}">
                <a16:creationId xmlns:a16="http://schemas.microsoft.com/office/drawing/2014/main" id="{75A16445-714F-A5A2-7BA0-BBE521134082}"/>
              </a:ext>
            </a:extLst>
          </p:cNvPr>
          <p:cNvSpPr/>
          <p:nvPr/>
        </p:nvSpPr>
        <p:spPr>
          <a:xfrm>
            <a:off x="205757" y="5083206"/>
            <a:ext cx="842553" cy="842553"/>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D1CC0C6-4134-2C93-3172-85F55E15384C}"/>
              </a:ext>
            </a:extLst>
          </p:cNvPr>
          <p:cNvSpPr txBox="1"/>
          <p:nvPr/>
        </p:nvSpPr>
        <p:spPr>
          <a:xfrm>
            <a:off x="6666806" y="2086911"/>
            <a:ext cx="4916035" cy="3840063"/>
          </a:xfrm>
          <a:prstGeom prst="rect">
            <a:avLst/>
          </a:prstGeom>
          <a:noFill/>
        </p:spPr>
        <p:txBody>
          <a:bodyPr wrap="square" lIns="0" tIns="0" rIns="0" bIns="0" rtlCol="0">
            <a:noAutofit/>
          </a:bodyPr>
          <a:lstStyle/>
          <a:p>
            <a:pPr algn="ctr"/>
            <a:r>
              <a:rPr lang="en-AU" sz="4400"/>
              <a:t>Express the </a:t>
            </a:r>
            <a:r>
              <a:rPr lang="en-AU" sz="4400" b="1"/>
              <a:t>probability</a:t>
            </a:r>
            <a:r>
              <a:rPr lang="en-AU" sz="4400"/>
              <a:t> of drawing each colour ball from the bag as a </a:t>
            </a:r>
            <a:r>
              <a:rPr lang="en-AU" sz="4400" b="1"/>
              <a:t>fraction</a:t>
            </a:r>
            <a:r>
              <a:rPr lang="en-AU" sz="4400"/>
              <a:t>.</a:t>
            </a:r>
          </a:p>
        </p:txBody>
      </p:sp>
      <p:sp>
        <p:nvSpPr>
          <p:cNvPr id="5" name="Freeform 3" descr="Bag outline">
            <a:extLst>
              <a:ext uri="{FF2B5EF4-FFF2-40B4-BE49-F238E27FC236}">
                <a16:creationId xmlns:a16="http://schemas.microsoft.com/office/drawing/2014/main" id="{3AD4A4FE-CA83-F4AC-55CC-BF1F7AF745C8}"/>
              </a:ext>
            </a:extLst>
          </p:cNvPr>
          <p:cNvSpPr/>
          <p:nvPr/>
        </p:nvSpPr>
        <p:spPr>
          <a:xfrm>
            <a:off x="985684" y="1428099"/>
            <a:ext cx="4617093" cy="4906199"/>
          </a:xfrm>
          <a:custGeom>
            <a:avLst/>
            <a:gdLst/>
            <a:ahLst/>
            <a:cxnLst/>
            <a:rect l="l" t="t" r="r" b="b"/>
            <a:pathLst>
              <a:path w="7370225" h="8281151">
                <a:moveTo>
                  <a:pt x="0" y="0"/>
                </a:moveTo>
                <a:lnTo>
                  <a:pt x="7370224" y="0"/>
                </a:lnTo>
                <a:lnTo>
                  <a:pt x="7370224" y="8281152"/>
                </a:lnTo>
                <a:lnTo>
                  <a:pt x="0" y="82811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Freeform 4" descr="Ball">
            <a:extLst>
              <a:ext uri="{FF2B5EF4-FFF2-40B4-BE49-F238E27FC236}">
                <a16:creationId xmlns:a16="http://schemas.microsoft.com/office/drawing/2014/main" id="{7614D5E4-8A9B-7264-7A48-B11D98BAF6F0}"/>
              </a:ext>
            </a:extLst>
          </p:cNvPr>
          <p:cNvSpPr/>
          <p:nvPr/>
        </p:nvSpPr>
        <p:spPr>
          <a:xfrm>
            <a:off x="2780958" y="4638972"/>
            <a:ext cx="826445" cy="826445"/>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8" name="Freeform 3" descr="Ball">
            <a:extLst>
              <a:ext uri="{FF2B5EF4-FFF2-40B4-BE49-F238E27FC236}">
                <a16:creationId xmlns:a16="http://schemas.microsoft.com/office/drawing/2014/main" id="{3A49CAFB-319B-86F9-FD07-59C5F3EC265E}"/>
              </a:ext>
            </a:extLst>
          </p:cNvPr>
          <p:cNvSpPr/>
          <p:nvPr/>
        </p:nvSpPr>
        <p:spPr>
          <a:xfrm>
            <a:off x="2473675" y="3409481"/>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0" name="Freeform 2" descr="Ball">
            <a:extLst>
              <a:ext uri="{FF2B5EF4-FFF2-40B4-BE49-F238E27FC236}">
                <a16:creationId xmlns:a16="http://schemas.microsoft.com/office/drawing/2014/main" id="{8AFC5B78-79D7-6A48-368E-1D9B75CDE7B5}"/>
              </a:ext>
            </a:extLst>
          </p:cNvPr>
          <p:cNvSpPr/>
          <p:nvPr/>
        </p:nvSpPr>
        <p:spPr>
          <a:xfrm>
            <a:off x="1883321" y="4922968"/>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11" name="Freeform 3" descr="Ball">
            <a:extLst>
              <a:ext uri="{FF2B5EF4-FFF2-40B4-BE49-F238E27FC236}">
                <a16:creationId xmlns:a16="http://schemas.microsoft.com/office/drawing/2014/main" id="{3679298B-7157-0567-3EE6-D0DB453F3A79}"/>
              </a:ext>
            </a:extLst>
          </p:cNvPr>
          <p:cNvSpPr/>
          <p:nvPr/>
        </p:nvSpPr>
        <p:spPr>
          <a:xfrm>
            <a:off x="3371649" y="5336190"/>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2" name="Freeform 2" descr="Ball">
            <a:extLst>
              <a:ext uri="{FF2B5EF4-FFF2-40B4-BE49-F238E27FC236}">
                <a16:creationId xmlns:a16="http://schemas.microsoft.com/office/drawing/2014/main" id="{9C9F22F7-04B0-354E-14F6-D5526E256E83}"/>
              </a:ext>
            </a:extLst>
          </p:cNvPr>
          <p:cNvSpPr/>
          <p:nvPr/>
        </p:nvSpPr>
        <p:spPr>
          <a:xfrm>
            <a:off x="3625003" y="3318227"/>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13" name="Freeform 2" descr="Ball">
            <a:extLst>
              <a:ext uri="{FF2B5EF4-FFF2-40B4-BE49-F238E27FC236}">
                <a16:creationId xmlns:a16="http://schemas.microsoft.com/office/drawing/2014/main" id="{F82C2672-6FA3-2D86-6356-AEA5D1A64EEF}"/>
              </a:ext>
            </a:extLst>
          </p:cNvPr>
          <p:cNvSpPr/>
          <p:nvPr/>
        </p:nvSpPr>
        <p:spPr>
          <a:xfrm>
            <a:off x="3962339" y="4509744"/>
            <a:ext cx="826445" cy="826445"/>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5 – number patterns</a:t>
            </a:r>
          </a:p>
        </p:txBody>
      </p:sp>
      <p:graphicFrame>
        <p:nvGraphicFramePr>
          <p:cNvPr id="4" name="Table 3">
            <a:extLst>
              <a:ext uri="{FF2B5EF4-FFF2-40B4-BE49-F238E27FC236}">
                <a16:creationId xmlns:a16="http://schemas.microsoft.com/office/drawing/2014/main" id="{8F379DA8-A040-786F-70FE-8C2771C243FC}"/>
              </a:ext>
            </a:extLst>
          </p:cNvPr>
          <p:cNvGraphicFramePr>
            <a:graphicFrameLocks noGrp="1"/>
          </p:cNvGraphicFramePr>
          <p:nvPr>
            <p:extLst>
              <p:ext uri="{D42A27DB-BD31-4B8C-83A1-F6EECF244321}">
                <p14:modId xmlns:p14="http://schemas.microsoft.com/office/powerpoint/2010/main" val="2066753794"/>
              </p:ext>
            </p:extLst>
          </p:nvPr>
        </p:nvGraphicFramePr>
        <p:xfrm>
          <a:off x="824551" y="2667703"/>
          <a:ext cx="10542898" cy="2086194"/>
        </p:xfrm>
        <a:graphic>
          <a:graphicData uri="http://schemas.openxmlformats.org/drawingml/2006/table">
            <a:tbl>
              <a:tblPr/>
              <a:tblGrid>
                <a:gridCol w="2219558">
                  <a:extLst>
                    <a:ext uri="{9D8B030D-6E8A-4147-A177-3AD203B41FA5}">
                      <a16:colId xmlns:a16="http://schemas.microsoft.com/office/drawing/2014/main" val="1876767866"/>
                    </a:ext>
                  </a:extLst>
                </a:gridCol>
                <a:gridCol w="832334">
                  <a:extLst>
                    <a:ext uri="{9D8B030D-6E8A-4147-A177-3AD203B41FA5}">
                      <a16:colId xmlns:a16="http://schemas.microsoft.com/office/drawing/2014/main" val="1364034736"/>
                    </a:ext>
                  </a:extLst>
                </a:gridCol>
                <a:gridCol w="832334">
                  <a:extLst>
                    <a:ext uri="{9D8B030D-6E8A-4147-A177-3AD203B41FA5}">
                      <a16:colId xmlns:a16="http://schemas.microsoft.com/office/drawing/2014/main" val="1124963867"/>
                    </a:ext>
                  </a:extLst>
                </a:gridCol>
                <a:gridCol w="832334">
                  <a:extLst>
                    <a:ext uri="{9D8B030D-6E8A-4147-A177-3AD203B41FA5}">
                      <a16:colId xmlns:a16="http://schemas.microsoft.com/office/drawing/2014/main" val="2684319412"/>
                    </a:ext>
                  </a:extLst>
                </a:gridCol>
                <a:gridCol w="832334">
                  <a:extLst>
                    <a:ext uri="{9D8B030D-6E8A-4147-A177-3AD203B41FA5}">
                      <a16:colId xmlns:a16="http://schemas.microsoft.com/office/drawing/2014/main" val="115011332"/>
                    </a:ext>
                  </a:extLst>
                </a:gridCol>
                <a:gridCol w="832334">
                  <a:extLst>
                    <a:ext uri="{9D8B030D-6E8A-4147-A177-3AD203B41FA5}">
                      <a16:colId xmlns:a16="http://schemas.microsoft.com/office/drawing/2014/main" val="746235902"/>
                    </a:ext>
                  </a:extLst>
                </a:gridCol>
                <a:gridCol w="832334">
                  <a:extLst>
                    <a:ext uri="{9D8B030D-6E8A-4147-A177-3AD203B41FA5}">
                      <a16:colId xmlns:a16="http://schemas.microsoft.com/office/drawing/2014/main" val="2314856503"/>
                    </a:ext>
                  </a:extLst>
                </a:gridCol>
                <a:gridCol w="832334">
                  <a:extLst>
                    <a:ext uri="{9D8B030D-6E8A-4147-A177-3AD203B41FA5}">
                      <a16:colId xmlns:a16="http://schemas.microsoft.com/office/drawing/2014/main" val="3884624824"/>
                    </a:ext>
                  </a:extLst>
                </a:gridCol>
                <a:gridCol w="832334">
                  <a:extLst>
                    <a:ext uri="{9D8B030D-6E8A-4147-A177-3AD203B41FA5}">
                      <a16:colId xmlns:a16="http://schemas.microsoft.com/office/drawing/2014/main" val="3547963248"/>
                    </a:ext>
                  </a:extLst>
                </a:gridCol>
                <a:gridCol w="832334">
                  <a:extLst>
                    <a:ext uri="{9D8B030D-6E8A-4147-A177-3AD203B41FA5}">
                      <a16:colId xmlns:a16="http://schemas.microsoft.com/office/drawing/2014/main" val="2269502837"/>
                    </a:ext>
                  </a:extLst>
                </a:gridCol>
                <a:gridCol w="832334">
                  <a:extLst>
                    <a:ext uri="{9D8B030D-6E8A-4147-A177-3AD203B41FA5}">
                      <a16:colId xmlns:a16="http://schemas.microsoft.com/office/drawing/2014/main" val="3527769888"/>
                    </a:ext>
                  </a:extLst>
                </a:gridCol>
              </a:tblGrid>
              <a:tr h="1043097">
                <a:tc>
                  <a:txBody>
                    <a:bodyPr/>
                    <a:lstStyle/>
                    <a:p>
                      <a:pPr algn="ctr" rtl="0" fontAlgn="base"/>
                      <a:r>
                        <a:rPr lang="en-AU" sz="2400" b="0" i="0">
                          <a:effectLst/>
                          <a:latin typeface="Arial" panose="020B060402020202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1 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2 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3 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4 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5 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6 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7 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8 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9 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10 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6088150"/>
                  </a:ext>
                </a:extLst>
              </a:tr>
              <a:tr h="1043097">
                <a:tc>
                  <a:txBody>
                    <a:bodyPr/>
                    <a:lstStyle/>
                    <a:p>
                      <a:pPr algn="ctr" rtl="0" fontAlgn="base"/>
                      <a:r>
                        <a:rPr lang="en-AU" sz="2400" b="0" i="0">
                          <a:effectLst/>
                          <a:latin typeface="Arial" panose="020B060402020202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7 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14 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21 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28 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35 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42 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49 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56 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63 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en-AU" sz="3200" b="0" i="0">
                          <a:effectLst/>
                          <a:latin typeface="Arial" panose="020B0604020202020204" pitchFamily="34" charset="0"/>
                        </a:rPr>
                        <a:t>70 </a:t>
                      </a:r>
                      <a:endParaRPr lang="en-AU" sz="4800" b="0" i="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5367055"/>
                  </a:ext>
                </a:extLst>
              </a:tr>
            </a:tbl>
          </a:graphicData>
        </a:graphic>
      </p:graphicFrame>
      <p:pic>
        <p:nvPicPr>
          <p:cNvPr id="5" name="Picture 4" descr="image of a head with cogs turning inside">
            <a:extLst>
              <a:ext uri="{FF2B5EF4-FFF2-40B4-BE49-F238E27FC236}">
                <a16:creationId xmlns:a16="http://schemas.microsoft.com/office/drawing/2014/main" id="{61ED3F1C-E0EF-E79E-405E-2D790F5C9A3D}"/>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1005646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474481" y="2159346"/>
            <a:ext cx="11243037" cy="1269654"/>
          </a:xfrm>
        </p:spPr>
        <p:txBody>
          <a:bodyPr/>
          <a:lstStyle/>
          <a:p>
            <a:pPr algn="ctr"/>
            <a:r>
              <a:rPr lang="en-AU" sz="7200"/>
              <a:t>74 ÷ 6 = 12 remainder 2</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Image showing a teddy bear with price tag indicating $79.99. A starburst saying 'SALE 25% off'. A boy saying I estimate the discount to be about $40 so the new price of the teddy bear would be about $40.">
            <a:extLst>
              <a:ext uri="{FF2B5EF4-FFF2-40B4-BE49-F238E27FC236}">
                <a16:creationId xmlns:a16="http://schemas.microsoft.com/office/drawing/2014/main" id="{12950613-4DA1-2035-8CF0-6E4D6926F8DB}"/>
              </a:ext>
            </a:extLst>
          </p:cNvPr>
          <p:cNvPicPr>
            <a:picLocks noChangeAspect="1"/>
          </p:cNvPicPr>
          <p:nvPr/>
        </p:nvPicPr>
        <p:blipFill>
          <a:blip r:embed="rId4"/>
          <a:srcRect l="4122" r="7710"/>
          <a:stretch>
            <a:fillRect/>
          </a:stretch>
        </p:blipFill>
        <p:spPr>
          <a:xfrm>
            <a:off x="2686648" y="905601"/>
            <a:ext cx="8437352" cy="5211907"/>
          </a:xfrm>
          <a:prstGeom prst="rect">
            <a:avLst/>
          </a:prstGeom>
        </p:spPr>
      </p:pic>
      <p:sp>
        <p:nvSpPr>
          <p:cNvPr id="8" name="TextBox 7">
            <a:extLst>
              <a:ext uri="{FF2B5EF4-FFF2-40B4-BE49-F238E27FC236}">
                <a16:creationId xmlns:a16="http://schemas.microsoft.com/office/drawing/2014/main" id="{21261F7A-E7D8-FC87-DE28-3715870AF221}"/>
              </a:ext>
            </a:extLst>
          </p:cNvPr>
          <p:cNvSpPr txBox="1"/>
          <p:nvPr/>
        </p:nvSpPr>
        <p:spPr>
          <a:xfrm>
            <a:off x="360000" y="4490471"/>
            <a:ext cx="3564025" cy="754836"/>
          </a:xfrm>
          <a:prstGeom prst="rect">
            <a:avLst/>
          </a:prstGeom>
          <a:noFill/>
        </p:spPr>
        <p:txBody>
          <a:bodyPr wrap="square" lIns="0" tIns="0" rIns="0" bIns="0" rtlCol="0">
            <a:noAutofit/>
          </a:bodyPr>
          <a:lstStyle/>
          <a:p>
            <a:pPr algn="ctr"/>
            <a:r>
              <a:rPr lang="en-AU" sz="4400"/>
              <a:t>Is he correct?</a:t>
            </a:r>
          </a:p>
        </p:txBody>
      </p:sp>
      <p:sp>
        <p:nvSpPr>
          <p:cNvPr id="7" name="TextBox 6">
            <a:extLst>
              <a:ext uri="{FF2B5EF4-FFF2-40B4-BE49-F238E27FC236}">
                <a16:creationId xmlns:a16="http://schemas.microsoft.com/office/drawing/2014/main" id="{E06706BA-4948-8332-AC30-40498D1C67D4}"/>
              </a:ext>
            </a:extLst>
          </p:cNvPr>
          <p:cNvSpPr txBox="1"/>
          <p:nvPr/>
        </p:nvSpPr>
        <p:spPr>
          <a:xfrm>
            <a:off x="583433" y="5941164"/>
            <a:ext cx="11025133" cy="754836"/>
          </a:xfrm>
          <a:prstGeom prst="rect">
            <a:avLst/>
          </a:prstGeom>
          <a:noFill/>
        </p:spPr>
        <p:txBody>
          <a:bodyPr wrap="square" lIns="0" tIns="0" rIns="0" bIns="0" rtlCol="0">
            <a:no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A930667-BDC5-2A97-DE51-8153AFB44245}"/>
              </a:ext>
            </a:extLst>
          </p:cNvPr>
          <p:cNvSpPr txBox="1"/>
          <p:nvPr/>
        </p:nvSpPr>
        <p:spPr>
          <a:xfrm>
            <a:off x="3254281" y="1566546"/>
            <a:ext cx="4735339" cy="740228"/>
          </a:xfrm>
          <a:prstGeom prst="rect">
            <a:avLst/>
          </a:prstGeom>
          <a:noFill/>
        </p:spPr>
        <p:txBody>
          <a:bodyPr wrap="square" lIns="0" tIns="0" rIns="0" bIns="0" rtlCol="0">
            <a:noAutofit/>
          </a:bodyPr>
          <a:lstStyle/>
          <a:p>
            <a:pPr algn="l"/>
            <a:r>
              <a:rPr lang="en-AU" sz="4400"/>
              <a:t>Name the </a:t>
            </a:r>
            <a:r>
              <a:rPr lang="en-AU" sz="4400" b="1"/>
              <a:t>angles</a:t>
            </a:r>
            <a:r>
              <a:rPr lang="en-AU" sz="4400"/>
              <a:t>.</a:t>
            </a:r>
          </a:p>
        </p:txBody>
      </p:sp>
      <p:graphicFrame>
        <p:nvGraphicFramePr>
          <p:cNvPr id="5" name="Table 4">
            <a:extLst>
              <a:ext uri="{FF2B5EF4-FFF2-40B4-BE49-F238E27FC236}">
                <a16:creationId xmlns:a16="http://schemas.microsoft.com/office/drawing/2014/main" id="{6DB05E92-C377-86ED-4749-26BC7B6B7C60}"/>
              </a:ext>
            </a:extLst>
          </p:cNvPr>
          <p:cNvGraphicFramePr>
            <a:graphicFrameLocks noGrp="1"/>
          </p:cNvGraphicFramePr>
          <p:nvPr>
            <p:extLst>
              <p:ext uri="{D42A27DB-BD31-4B8C-83A1-F6EECF244321}">
                <p14:modId xmlns:p14="http://schemas.microsoft.com/office/powerpoint/2010/main" val="3447510181"/>
              </p:ext>
            </p:extLst>
          </p:nvPr>
        </p:nvGraphicFramePr>
        <p:xfrm>
          <a:off x="1481667" y="2877204"/>
          <a:ext cx="9245601" cy="1766297"/>
        </p:xfrm>
        <a:graphic>
          <a:graphicData uri="http://schemas.openxmlformats.org/drawingml/2006/table">
            <a:tbl>
              <a:tblPr firstRow="1" bandRow="1">
                <a:tableStyleId>{5A111915-BE36-4E01-A7E5-04B1672EAD32}</a:tableStyleId>
              </a:tblPr>
              <a:tblGrid>
                <a:gridCol w="3081867">
                  <a:extLst>
                    <a:ext uri="{9D8B030D-6E8A-4147-A177-3AD203B41FA5}">
                      <a16:colId xmlns:a16="http://schemas.microsoft.com/office/drawing/2014/main" val="2540429547"/>
                    </a:ext>
                  </a:extLst>
                </a:gridCol>
                <a:gridCol w="3081867">
                  <a:extLst>
                    <a:ext uri="{9D8B030D-6E8A-4147-A177-3AD203B41FA5}">
                      <a16:colId xmlns:a16="http://schemas.microsoft.com/office/drawing/2014/main" val="4272220711"/>
                    </a:ext>
                  </a:extLst>
                </a:gridCol>
                <a:gridCol w="3081867">
                  <a:extLst>
                    <a:ext uri="{9D8B030D-6E8A-4147-A177-3AD203B41FA5}">
                      <a16:colId xmlns:a16="http://schemas.microsoft.com/office/drawing/2014/main" val="2840643630"/>
                    </a:ext>
                  </a:extLst>
                </a:gridCol>
              </a:tblGrid>
              <a:tr h="1766297">
                <a:tc>
                  <a:txBody>
                    <a:bodyPr/>
                    <a:lstStyle/>
                    <a:p>
                      <a:r>
                        <a:rPr lang="en-AU" sz="2000">
                          <a:solidFill>
                            <a:schemeClr val="accent2"/>
                          </a:solidFill>
                          <a:latin typeface="Arial Black" panose="020B0A040201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2000">
                          <a:solidFill>
                            <a:schemeClr val="accent2"/>
                          </a:solidFill>
                          <a:latin typeface="Arial Black" panose="020B0A040201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2000">
                          <a:solidFill>
                            <a:schemeClr val="accent2"/>
                          </a:solidFill>
                          <a:latin typeface="Arial Black" panose="020B0A04020102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4890149"/>
                  </a:ext>
                </a:extLst>
              </a:tr>
            </a:tbl>
          </a:graphicData>
        </a:graphic>
      </p:graphicFrame>
      <p:sp>
        <p:nvSpPr>
          <p:cNvPr id="10" name="Freeform 4" descr="Revolution angle">
            <a:extLst>
              <a:ext uri="{FF2B5EF4-FFF2-40B4-BE49-F238E27FC236}">
                <a16:creationId xmlns:a16="http://schemas.microsoft.com/office/drawing/2014/main" id="{57BEA177-38CE-6833-0E3C-49879966450D}"/>
              </a:ext>
            </a:extLst>
          </p:cNvPr>
          <p:cNvSpPr/>
          <p:nvPr/>
        </p:nvSpPr>
        <p:spPr>
          <a:xfrm>
            <a:off x="2380402" y="3514422"/>
            <a:ext cx="1450105" cy="590918"/>
          </a:xfrm>
          <a:custGeom>
            <a:avLst/>
            <a:gdLst/>
            <a:ahLst/>
            <a:cxnLst/>
            <a:rect l="l" t="t" r="r" b="b"/>
            <a:pathLst>
              <a:path w="1655599" h="674657">
                <a:moveTo>
                  <a:pt x="0" y="0"/>
                </a:moveTo>
                <a:lnTo>
                  <a:pt x="1655599" y="0"/>
                </a:lnTo>
                <a:lnTo>
                  <a:pt x="1655599" y="674657"/>
                </a:lnTo>
                <a:lnTo>
                  <a:pt x="0" y="6746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2" descr="Right angle">
            <a:extLst>
              <a:ext uri="{FF2B5EF4-FFF2-40B4-BE49-F238E27FC236}">
                <a16:creationId xmlns:a16="http://schemas.microsoft.com/office/drawing/2014/main" id="{DC26B0CB-40B8-C069-F6F0-1FD7D8CE9800}"/>
              </a:ext>
            </a:extLst>
          </p:cNvPr>
          <p:cNvSpPr/>
          <p:nvPr/>
        </p:nvSpPr>
        <p:spPr>
          <a:xfrm>
            <a:off x="5621951" y="3277836"/>
            <a:ext cx="965031" cy="965031"/>
          </a:xfrm>
          <a:custGeom>
            <a:avLst/>
            <a:gdLst/>
            <a:ahLst/>
            <a:cxnLst/>
            <a:rect l="l" t="t" r="r" b="b"/>
            <a:pathLst>
              <a:path w="1101785" h="1101785">
                <a:moveTo>
                  <a:pt x="0" y="0"/>
                </a:moveTo>
                <a:lnTo>
                  <a:pt x="1101785" y="0"/>
                </a:lnTo>
                <a:lnTo>
                  <a:pt x="1101785" y="1101785"/>
                </a:lnTo>
                <a:lnTo>
                  <a:pt x="0" y="11017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2" name="Freeform 6" descr="Straight angle">
            <a:extLst>
              <a:ext uri="{FF2B5EF4-FFF2-40B4-BE49-F238E27FC236}">
                <a16:creationId xmlns:a16="http://schemas.microsoft.com/office/drawing/2014/main" id="{8184B67E-5936-C98F-7B35-15951C4EA3EA}"/>
              </a:ext>
            </a:extLst>
          </p:cNvPr>
          <p:cNvSpPr/>
          <p:nvPr/>
        </p:nvSpPr>
        <p:spPr>
          <a:xfrm>
            <a:off x="8120928" y="3558035"/>
            <a:ext cx="2323156" cy="362993"/>
          </a:xfrm>
          <a:custGeom>
            <a:avLst/>
            <a:gdLst/>
            <a:ahLst/>
            <a:cxnLst/>
            <a:rect l="l" t="t" r="r" b="b"/>
            <a:pathLst>
              <a:path w="2652366" h="414432">
                <a:moveTo>
                  <a:pt x="0" y="0"/>
                </a:moveTo>
                <a:lnTo>
                  <a:pt x="2652366" y="0"/>
                </a:lnTo>
                <a:lnTo>
                  <a:pt x="2652366" y="414432"/>
                </a:lnTo>
                <a:lnTo>
                  <a:pt x="0" y="41443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3" name="TextBox 12">
            <a:extLst>
              <a:ext uri="{FF2B5EF4-FFF2-40B4-BE49-F238E27FC236}">
                <a16:creationId xmlns:a16="http://schemas.microsoft.com/office/drawing/2014/main" id="{C18D77F6-5872-2A6C-F2B7-57FECBD088C7}"/>
              </a:ext>
            </a:extLst>
          </p:cNvPr>
          <p:cNvSpPr txBox="1"/>
          <p:nvPr/>
        </p:nvSpPr>
        <p:spPr>
          <a:xfrm>
            <a:off x="348342" y="5181465"/>
            <a:ext cx="11495313" cy="740228"/>
          </a:xfrm>
          <a:prstGeom prst="rect">
            <a:avLst/>
          </a:prstGeom>
          <a:noFill/>
        </p:spPr>
        <p:txBody>
          <a:bodyPr wrap="square" lIns="0" tIns="0" rIns="0" bIns="0" rtlCol="0">
            <a:noAutofit/>
          </a:bodyPr>
          <a:lstStyle/>
          <a:p>
            <a:pPr algn="ctr"/>
            <a:r>
              <a:rPr lang="en-AU" sz="4400"/>
              <a:t>How many </a:t>
            </a:r>
            <a:r>
              <a:rPr lang="en-AU" sz="4400" b="1"/>
              <a:t>degrees</a:t>
            </a:r>
            <a:r>
              <a:rPr lang="en-AU" sz="4400"/>
              <a:t> are in each </a:t>
            </a:r>
            <a:r>
              <a:rPr lang="en-AU" sz="4400" b="1"/>
              <a:t>angle</a:t>
            </a:r>
            <a:r>
              <a:rPr lang="en-AU" sz="4400"/>
              <a:t>?</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722DE-5826-53DE-41ED-45BD557D6D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60D7DAC-7155-FC70-4038-57476631C9C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8F8032FF-2B86-6790-75B3-1B078A4CEBC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D6596A7D-D51B-AC3C-AB54-04350F84970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5" name="TextBox 14">
            <a:extLst>
              <a:ext uri="{FF2B5EF4-FFF2-40B4-BE49-F238E27FC236}">
                <a16:creationId xmlns:a16="http://schemas.microsoft.com/office/drawing/2014/main" id="{241D87C9-8FCF-1C22-D32A-8BA866529959}"/>
              </a:ext>
            </a:extLst>
          </p:cNvPr>
          <p:cNvSpPr txBox="1"/>
          <p:nvPr/>
        </p:nvSpPr>
        <p:spPr>
          <a:xfrm>
            <a:off x="1363283" y="726473"/>
            <a:ext cx="9465427" cy="615142"/>
          </a:xfrm>
          <a:prstGeom prst="rect">
            <a:avLst/>
          </a:prstGeom>
          <a:noFill/>
        </p:spPr>
        <p:txBody>
          <a:bodyPr wrap="square" lIns="0" tIns="0" rIns="0" bIns="0" rtlCol="0">
            <a:noAutofit/>
          </a:bodyPr>
          <a:lstStyle/>
          <a:p>
            <a:pPr algn="ctr">
              <a:lnSpc>
                <a:spcPct val="150000"/>
              </a:lnSpc>
            </a:pPr>
            <a:r>
              <a:rPr lang="en-AU" sz="4000" b="1"/>
              <a:t>Explain</a:t>
            </a:r>
            <a:r>
              <a:rPr lang="en-AU" sz="4000"/>
              <a:t> why this </a:t>
            </a:r>
            <a:r>
              <a:rPr lang="en-AU" sz="4000" b="1"/>
              <a:t>graph</a:t>
            </a:r>
            <a:r>
              <a:rPr lang="en-AU" sz="4000"/>
              <a:t> could be considered </a:t>
            </a:r>
            <a:r>
              <a:rPr lang="en-AU" sz="4000" b="1"/>
              <a:t>misleading</a:t>
            </a:r>
            <a:r>
              <a:rPr lang="en-AU" sz="4000"/>
              <a:t>.</a:t>
            </a:r>
          </a:p>
        </p:txBody>
      </p:sp>
      <p:grpSp>
        <p:nvGrpSpPr>
          <p:cNvPr id="14" name="Group 13" descr="Picture graph of percentage of children who spend over 3 hours watching TV. The x-axis is unevenly spread and the size of the pictures are not uniform. Title reads Australia becomes couch potato nation!">
            <a:extLst>
              <a:ext uri="{FF2B5EF4-FFF2-40B4-BE49-F238E27FC236}">
                <a16:creationId xmlns:a16="http://schemas.microsoft.com/office/drawing/2014/main" id="{C7C40834-9B77-C1D9-C60A-04D090E791C4}"/>
              </a:ext>
            </a:extLst>
          </p:cNvPr>
          <p:cNvGrpSpPr/>
          <p:nvPr/>
        </p:nvGrpSpPr>
        <p:grpSpPr>
          <a:xfrm>
            <a:off x="2261269" y="2593571"/>
            <a:ext cx="7669457" cy="3904429"/>
            <a:chOff x="359999" y="1705428"/>
            <a:chExt cx="8334057" cy="4157035"/>
          </a:xfrm>
        </p:grpSpPr>
        <p:sp>
          <p:nvSpPr>
            <p:cNvPr id="12" name="Rectangle 11">
              <a:extLst>
                <a:ext uri="{FF2B5EF4-FFF2-40B4-BE49-F238E27FC236}">
                  <a16:creationId xmlns:a16="http://schemas.microsoft.com/office/drawing/2014/main" id="{4CDC57E4-4FF9-F038-D8E9-8C3BA8EFC116}"/>
                </a:ext>
              </a:extLst>
            </p:cNvPr>
            <p:cNvSpPr/>
            <p:nvPr/>
          </p:nvSpPr>
          <p:spPr>
            <a:xfrm>
              <a:off x="359999" y="1705428"/>
              <a:ext cx="8334057" cy="4157035"/>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0" name="Picture 9" descr="Picture graph of percentage of children who spend over 3 hours watching TV. The x-axis is unevenly spread and the size of the pictures are not uniform. Title reads Australia becomes couch potato nation!">
              <a:extLst>
                <a:ext uri="{FF2B5EF4-FFF2-40B4-BE49-F238E27FC236}">
                  <a16:creationId xmlns:a16="http://schemas.microsoft.com/office/drawing/2014/main" id="{74479074-2F39-AFDA-ED62-083C5A955947}"/>
                </a:ext>
              </a:extLst>
            </p:cNvPr>
            <p:cNvPicPr>
              <a:picLocks noChangeAspect="1"/>
            </p:cNvPicPr>
            <p:nvPr/>
          </p:nvPicPr>
          <p:blipFill>
            <a:blip r:embed="rId4">
              <a:extLst>
                <a:ext uri="{28A0092B-C50C-407E-A947-70E740481C1C}">
                  <a14:useLocalDpi xmlns:a14="http://schemas.microsoft.com/office/drawing/2010/main" val="0"/>
                </a:ext>
              </a:extLst>
            </a:blip>
            <a:srcRect l="4383" r="2454"/>
            <a:stretch>
              <a:fillRect/>
            </a:stretch>
          </p:blipFill>
          <p:spPr>
            <a:xfrm>
              <a:off x="495684" y="1818620"/>
              <a:ext cx="8062685" cy="3930650"/>
            </a:xfrm>
            <a:prstGeom prst="rect">
              <a:avLst/>
            </a:prstGeom>
          </p:spPr>
        </p:pic>
      </p:grpSp>
    </p:spTree>
    <p:extLst>
      <p:ext uri="{BB962C8B-B14F-4D97-AF65-F5344CB8AC3E}">
        <p14:creationId xmlns:p14="http://schemas.microsoft.com/office/powerpoint/2010/main" val="2022401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1E82CA5-6A3B-C8EE-A54F-D334459F256B}"/>
              </a:ext>
            </a:extLst>
          </p:cNvPr>
          <p:cNvSpPr txBox="1"/>
          <p:nvPr/>
        </p:nvSpPr>
        <p:spPr>
          <a:xfrm>
            <a:off x="1384525" y="1184223"/>
            <a:ext cx="9422947" cy="1055716"/>
          </a:xfrm>
          <a:prstGeom prst="rect">
            <a:avLst/>
          </a:prstGeom>
          <a:noFill/>
        </p:spPr>
        <p:txBody>
          <a:bodyPr wrap="square" lIns="0" tIns="0" rIns="0" bIns="0" rtlCol="0">
            <a:noAutofit/>
          </a:bodyPr>
          <a:lstStyle/>
          <a:p>
            <a:pPr algn="ctr"/>
            <a:r>
              <a:rPr lang="en-AU" sz="4400"/>
              <a:t>Is this </a:t>
            </a:r>
            <a:r>
              <a:rPr lang="en-AU" sz="4400" b="1"/>
              <a:t>shape</a:t>
            </a:r>
            <a:r>
              <a:rPr lang="en-AU" sz="4400"/>
              <a:t> a </a:t>
            </a:r>
            <a:r>
              <a:rPr lang="en-AU" sz="4400" b="1"/>
              <a:t>prism</a:t>
            </a:r>
            <a:r>
              <a:rPr lang="en-AU" sz="4400"/>
              <a:t> or a </a:t>
            </a:r>
            <a:r>
              <a:rPr lang="en-AU" sz="4400" b="1"/>
              <a:t>pyramid</a:t>
            </a:r>
            <a:r>
              <a:rPr lang="en-AU" sz="4400"/>
              <a:t>?</a:t>
            </a:r>
          </a:p>
        </p:txBody>
      </p:sp>
      <p:sp>
        <p:nvSpPr>
          <p:cNvPr id="4" name="Freeform 2" descr="Triangle prism">
            <a:extLst>
              <a:ext uri="{FF2B5EF4-FFF2-40B4-BE49-F238E27FC236}">
                <a16:creationId xmlns:a16="http://schemas.microsoft.com/office/drawing/2014/main" id="{0C00A7DA-B71B-3269-463D-10125721A9C1}"/>
              </a:ext>
            </a:extLst>
          </p:cNvPr>
          <p:cNvSpPr/>
          <p:nvPr/>
        </p:nvSpPr>
        <p:spPr>
          <a:xfrm>
            <a:off x="4021353" y="2152440"/>
            <a:ext cx="3775110" cy="2973014"/>
          </a:xfrm>
          <a:custGeom>
            <a:avLst/>
            <a:gdLst/>
            <a:ahLst/>
            <a:cxnLst/>
            <a:rect l="l" t="t" r="r" b="b"/>
            <a:pathLst>
              <a:path w="6700391" h="5418942">
                <a:moveTo>
                  <a:pt x="0" y="0"/>
                </a:moveTo>
                <a:lnTo>
                  <a:pt x="6700391" y="0"/>
                </a:lnTo>
                <a:lnTo>
                  <a:pt x="6700391" y="5418942"/>
                </a:lnTo>
                <a:lnTo>
                  <a:pt x="0" y="54189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TextBox 6">
            <a:extLst>
              <a:ext uri="{FF2B5EF4-FFF2-40B4-BE49-F238E27FC236}">
                <a16:creationId xmlns:a16="http://schemas.microsoft.com/office/drawing/2014/main" id="{BE8E27DE-83E0-9C26-8961-332C97B52B73}"/>
              </a:ext>
            </a:extLst>
          </p:cNvPr>
          <p:cNvSpPr txBox="1"/>
          <p:nvPr/>
        </p:nvSpPr>
        <p:spPr>
          <a:xfrm>
            <a:off x="583431" y="5482542"/>
            <a:ext cx="11025133" cy="754836"/>
          </a:xfrm>
          <a:prstGeom prst="rect">
            <a:avLst/>
          </a:prstGeom>
          <a:noFill/>
        </p:spPr>
        <p:txBody>
          <a:bodyPr wrap="square" lIns="0" tIns="0" rIns="0" bIns="0" rtlCol="0">
            <a:no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6D796B-B16B-9169-EEDC-18C8C994E99A}"/>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6" name="Title 2">
            <a:extLst>
              <a:ext uri="{FF2B5EF4-FFF2-40B4-BE49-F238E27FC236}">
                <a16:creationId xmlns:a16="http://schemas.microsoft.com/office/drawing/2014/main" id="{AED78621-6BD0-F40B-CB36-4090A9F197D9}"/>
              </a:ext>
            </a:extLst>
          </p:cNvPr>
          <p:cNvSpPr>
            <a:spLocks noGrp="1"/>
          </p:cNvSpPr>
          <p:nvPr>
            <p:ph type="title"/>
          </p:nvPr>
        </p:nvSpPr>
        <p:spPr>
          <a:xfrm>
            <a:off x="359999" y="360000"/>
            <a:ext cx="10747003" cy="554400"/>
          </a:xfrm>
        </p:spPr>
        <p:txBody>
          <a:bodyPr/>
          <a:lstStyle/>
          <a:p>
            <a:r>
              <a:rPr lang="en-AU"/>
              <a:t>Activity 6 – multiplication to solve division problems</a:t>
            </a:r>
          </a:p>
        </p:txBody>
      </p:sp>
      <p:pic>
        <p:nvPicPr>
          <p:cNvPr id="3" name="Picture 2" descr="image of a head with cogs turning inside">
            <a:extLst>
              <a:ext uri="{FF2B5EF4-FFF2-40B4-BE49-F238E27FC236}">
                <a16:creationId xmlns:a16="http://schemas.microsoft.com/office/drawing/2014/main" id="{ACB0E384-81A7-B4A6-9B4F-2AB273992CFA}"/>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5" name="Table 4">
            <a:extLst>
              <a:ext uri="{FF2B5EF4-FFF2-40B4-BE49-F238E27FC236}">
                <a16:creationId xmlns:a16="http://schemas.microsoft.com/office/drawing/2014/main" id="{BB744801-CF3C-51CE-3190-B42D249A0923}"/>
              </a:ext>
            </a:extLst>
          </p:cNvPr>
          <p:cNvGraphicFramePr>
            <a:graphicFrameLocks noGrp="1"/>
          </p:cNvGraphicFramePr>
          <p:nvPr>
            <p:extLst>
              <p:ext uri="{D42A27DB-BD31-4B8C-83A1-F6EECF244321}">
                <p14:modId xmlns:p14="http://schemas.microsoft.com/office/powerpoint/2010/main" val="2765837379"/>
              </p:ext>
            </p:extLst>
          </p:nvPr>
        </p:nvGraphicFramePr>
        <p:xfrm>
          <a:off x="1514272" y="1316950"/>
          <a:ext cx="9163456" cy="5181050"/>
        </p:xfrm>
        <a:graphic>
          <a:graphicData uri="http://schemas.openxmlformats.org/drawingml/2006/table">
            <a:tbl>
              <a:tblPr firstRow="1" firstCol="1"/>
              <a:tblGrid>
                <a:gridCol w="2290864">
                  <a:extLst>
                    <a:ext uri="{9D8B030D-6E8A-4147-A177-3AD203B41FA5}">
                      <a16:colId xmlns:a16="http://schemas.microsoft.com/office/drawing/2014/main" val="2567887967"/>
                    </a:ext>
                  </a:extLst>
                </a:gridCol>
                <a:gridCol w="2290864">
                  <a:extLst>
                    <a:ext uri="{9D8B030D-6E8A-4147-A177-3AD203B41FA5}">
                      <a16:colId xmlns:a16="http://schemas.microsoft.com/office/drawing/2014/main" val="2011685156"/>
                    </a:ext>
                  </a:extLst>
                </a:gridCol>
                <a:gridCol w="2290864">
                  <a:extLst>
                    <a:ext uri="{9D8B030D-6E8A-4147-A177-3AD203B41FA5}">
                      <a16:colId xmlns:a16="http://schemas.microsoft.com/office/drawing/2014/main" val="1343156881"/>
                    </a:ext>
                  </a:extLst>
                </a:gridCol>
                <a:gridCol w="2290864">
                  <a:extLst>
                    <a:ext uri="{9D8B030D-6E8A-4147-A177-3AD203B41FA5}">
                      <a16:colId xmlns:a16="http://schemas.microsoft.com/office/drawing/2014/main" val="3594344188"/>
                    </a:ext>
                  </a:extLst>
                </a:gridCol>
              </a:tblGrid>
              <a:tr h="543051">
                <a:tc>
                  <a:txBody>
                    <a:bodyPr/>
                    <a:lstStyle/>
                    <a:p>
                      <a:pPr algn="ctr">
                        <a:lnSpc>
                          <a:spcPct val="150000"/>
                        </a:lnSpc>
                        <a:spcBef>
                          <a:spcPts val="1200"/>
                        </a:spcBef>
                        <a:spcAft>
                          <a:spcPts val="600"/>
                        </a:spcAft>
                        <a:buNone/>
                      </a:pPr>
                      <a:r>
                        <a:rPr lang="en-AU" sz="1800" b="1">
                          <a:solidFill>
                            <a:srgbClr val="FFFFFF"/>
                          </a:solidFill>
                          <a:effectLst/>
                          <a:latin typeface="Arial" panose="020B0604020202020204" pitchFamily="34" charset="0"/>
                          <a:ea typeface="Calibri" panose="020F0502020204030204" pitchFamily="34" charset="0"/>
                          <a:cs typeface="Arial" panose="020B0604020202020204" pitchFamily="34" charset="0"/>
                        </a:rPr>
                        <a:t>Division equation</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002664"/>
                    </a:solidFill>
                  </a:tcPr>
                </a:tc>
                <a:tc>
                  <a:txBody>
                    <a:bodyPr/>
                    <a:lstStyle/>
                    <a:p>
                      <a:pPr algn="ctr">
                        <a:lnSpc>
                          <a:spcPct val="150000"/>
                        </a:lnSpc>
                        <a:spcBef>
                          <a:spcPts val="1200"/>
                        </a:spcBef>
                        <a:spcAft>
                          <a:spcPts val="600"/>
                        </a:spcAft>
                        <a:buNone/>
                      </a:pPr>
                      <a:r>
                        <a:rPr lang="en-AU" sz="1800" b="1">
                          <a:solidFill>
                            <a:srgbClr val="FFFFFF"/>
                          </a:solidFill>
                          <a:effectLst/>
                          <a:latin typeface="Arial" panose="020B0604020202020204" pitchFamily="34" charset="0"/>
                          <a:ea typeface="Calibri" panose="020F0502020204030204" pitchFamily="34" charset="0"/>
                          <a:cs typeface="Arial" panose="020B0604020202020204" pitchFamily="34" charset="0"/>
                        </a:rPr>
                        <a:t>Score</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002664"/>
                    </a:solidFill>
                  </a:tcPr>
                </a:tc>
                <a:tc>
                  <a:txBody>
                    <a:bodyPr/>
                    <a:lstStyle/>
                    <a:p>
                      <a:pPr algn="ctr">
                        <a:lnSpc>
                          <a:spcPct val="150000"/>
                        </a:lnSpc>
                        <a:spcBef>
                          <a:spcPts val="1200"/>
                        </a:spcBef>
                        <a:spcAft>
                          <a:spcPts val="600"/>
                        </a:spcAft>
                        <a:buNone/>
                      </a:pPr>
                      <a:r>
                        <a:rPr lang="en-AU" sz="1800" b="1">
                          <a:solidFill>
                            <a:srgbClr val="FFFFFF"/>
                          </a:solidFill>
                          <a:effectLst/>
                          <a:latin typeface="Arial" panose="020B0604020202020204" pitchFamily="34" charset="0"/>
                          <a:ea typeface="Calibri" panose="020F0502020204030204" pitchFamily="34" charset="0"/>
                          <a:cs typeface="Arial" panose="020B0604020202020204" pitchFamily="34" charset="0"/>
                        </a:rPr>
                        <a:t>No remainder bonus (+10)</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002664"/>
                    </a:solidFill>
                  </a:tcPr>
                </a:tc>
                <a:tc>
                  <a:txBody>
                    <a:bodyPr/>
                    <a:lstStyle/>
                    <a:p>
                      <a:pPr algn="ctr">
                        <a:lnSpc>
                          <a:spcPct val="150000"/>
                        </a:lnSpc>
                        <a:spcBef>
                          <a:spcPts val="1200"/>
                        </a:spcBef>
                        <a:spcAft>
                          <a:spcPts val="600"/>
                        </a:spcAft>
                        <a:buNone/>
                      </a:pPr>
                      <a:r>
                        <a:rPr lang="en-AU" sz="1800" b="1">
                          <a:solidFill>
                            <a:srgbClr val="FFFFFF"/>
                          </a:solidFill>
                          <a:effectLst/>
                          <a:latin typeface="Arial" panose="020B0604020202020204" pitchFamily="34" charset="0"/>
                          <a:ea typeface="Calibri" panose="020F0502020204030204" pitchFamily="34" charset="0"/>
                          <a:cs typeface="Arial" panose="020B0604020202020204" pitchFamily="34" charset="0"/>
                        </a:rPr>
                        <a:t>Total so far</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002664"/>
                    </a:solidFill>
                  </a:tcPr>
                </a:tc>
                <a:extLst>
                  <a:ext uri="{0D108BD9-81ED-4DB2-BD59-A6C34878D82A}">
                    <a16:rowId xmlns:a16="http://schemas.microsoft.com/office/drawing/2014/main" val="2596944363"/>
                  </a:ext>
                </a:extLst>
              </a:tr>
              <a:tr h="553798">
                <a:tc>
                  <a:txBody>
                    <a:bodyPr/>
                    <a:lstStyle/>
                    <a:p>
                      <a:pPr algn="ctr">
                        <a:lnSpc>
                          <a:spcPct val="150000"/>
                        </a:lnSpc>
                        <a:spcBef>
                          <a:spcPts val="1200"/>
                        </a:spcBef>
                        <a:spcAft>
                          <a:spcPts val="600"/>
                        </a:spcAft>
                        <a:buNone/>
                      </a:pPr>
                      <a:r>
                        <a:rPr lang="en-AU" sz="1800" b="0">
                          <a:effectLst/>
                          <a:latin typeface="Arial" panose="020B0604020202020204" pitchFamily="34" charset="0"/>
                          <a:ea typeface="Calibri" panose="020F0502020204030204" pitchFamily="34" charset="0"/>
                          <a:cs typeface="Arial" panose="020B0604020202020204" pitchFamily="34" charset="0"/>
                        </a:rPr>
                        <a:t>65 ÷ 5 = 13</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a:effectLst/>
                          <a:latin typeface="Arial" panose="020B0604020202020204" pitchFamily="34" charset="0"/>
                          <a:ea typeface="Calibri" panose="020F0502020204030204" pitchFamily="34" charset="0"/>
                          <a:cs typeface="Arial" panose="020B0604020202020204" pitchFamily="34" charset="0"/>
                        </a:rPr>
                        <a:t>13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a:effectLst/>
                          <a:latin typeface="Arial" panose="020B0604020202020204" pitchFamily="34" charset="0"/>
                          <a:ea typeface="Calibri" panose="020F0502020204030204" pitchFamily="34" charset="0"/>
                          <a:cs typeface="Arial" panose="020B0604020202020204" pitchFamily="34" charset="0"/>
                        </a:rPr>
                        <a:t>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a:effectLst/>
                          <a:latin typeface="Arial" panose="020B0604020202020204" pitchFamily="34" charset="0"/>
                          <a:ea typeface="Calibri" panose="020F0502020204030204" pitchFamily="34" charset="0"/>
                          <a:cs typeface="Arial" panose="020B0604020202020204" pitchFamily="34" charset="0"/>
                        </a:rPr>
                        <a:t>23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2579827"/>
                  </a:ext>
                </a:extLst>
              </a:tr>
              <a:tr h="553798">
                <a:tc>
                  <a:txBody>
                    <a:bodyPr/>
                    <a:lstStyle/>
                    <a:p>
                      <a:pPr>
                        <a:lnSpc>
                          <a:spcPct val="150000"/>
                        </a:lnSpc>
                        <a:spcBef>
                          <a:spcPts val="1200"/>
                        </a:spcBef>
                        <a:spcAft>
                          <a:spcPts val="600"/>
                        </a:spcAft>
                        <a:buNone/>
                      </a:pPr>
                      <a:r>
                        <a:rPr lang="en-AU" sz="1100" b="1">
                          <a:effectLst/>
                          <a:latin typeface="Arial" panose="020B0604020202020204" pitchFamily="34" charset="0"/>
                          <a:ea typeface="Calibri" panose="020F0502020204030204" pitchFamily="34" charset="0"/>
                          <a:cs typeface="Arial" panose="020B0604020202020204" pitchFamily="34" charset="0"/>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8106768"/>
                  </a:ext>
                </a:extLst>
              </a:tr>
              <a:tr h="543051">
                <a:tc>
                  <a:txBody>
                    <a:bodyPr/>
                    <a:lstStyle/>
                    <a:p>
                      <a:pPr>
                        <a:lnSpc>
                          <a:spcPct val="150000"/>
                        </a:lnSpc>
                        <a:spcBef>
                          <a:spcPts val="1200"/>
                        </a:spcBef>
                        <a:spcAft>
                          <a:spcPts val="600"/>
                        </a:spcAft>
                        <a:buNone/>
                      </a:pPr>
                      <a:r>
                        <a:rPr lang="en-AU" sz="1100" b="1">
                          <a:effectLst/>
                          <a:latin typeface="Arial" panose="020B0604020202020204" pitchFamily="34" charset="0"/>
                          <a:ea typeface="Calibri" panose="020F0502020204030204" pitchFamily="34" charset="0"/>
                          <a:cs typeface="Arial" panose="020B0604020202020204" pitchFamily="34" charset="0"/>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7284371"/>
                  </a:ext>
                </a:extLst>
              </a:tr>
              <a:tr h="553798">
                <a:tc>
                  <a:txBody>
                    <a:bodyPr/>
                    <a:lstStyle/>
                    <a:p>
                      <a:pPr>
                        <a:lnSpc>
                          <a:spcPct val="150000"/>
                        </a:lnSpc>
                        <a:spcBef>
                          <a:spcPts val="1200"/>
                        </a:spcBef>
                        <a:spcAft>
                          <a:spcPts val="600"/>
                        </a:spcAft>
                        <a:buNone/>
                      </a:pPr>
                      <a:r>
                        <a:rPr lang="en-AU" sz="1100" b="1">
                          <a:effectLst/>
                          <a:latin typeface="Arial" panose="020B0604020202020204" pitchFamily="34" charset="0"/>
                          <a:ea typeface="Calibri" panose="020F0502020204030204" pitchFamily="34" charset="0"/>
                          <a:cs typeface="Arial" panose="020B0604020202020204" pitchFamily="34" charset="0"/>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8228724"/>
                  </a:ext>
                </a:extLst>
              </a:tr>
              <a:tr h="543051">
                <a:tc>
                  <a:txBody>
                    <a:bodyPr/>
                    <a:lstStyle/>
                    <a:p>
                      <a:pPr>
                        <a:lnSpc>
                          <a:spcPct val="150000"/>
                        </a:lnSpc>
                        <a:spcBef>
                          <a:spcPts val="1200"/>
                        </a:spcBef>
                        <a:spcAft>
                          <a:spcPts val="600"/>
                        </a:spcAft>
                        <a:buNone/>
                      </a:pPr>
                      <a:r>
                        <a:rPr lang="en-AU" sz="1100" b="1">
                          <a:effectLst/>
                          <a:latin typeface="Arial" panose="020B0604020202020204" pitchFamily="34" charset="0"/>
                          <a:ea typeface="Calibri" panose="020F0502020204030204" pitchFamily="34" charset="0"/>
                          <a:cs typeface="Arial" panose="020B0604020202020204" pitchFamily="34" charset="0"/>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8557131"/>
                  </a:ext>
                </a:extLst>
              </a:tr>
              <a:tr h="553798">
                <a:tc>
                  <a:txBody>
                    <a:bodyPr/>
                    <a:lstStyle/>
                    <a:p>
                      <a:pPr>
                        <a:lnSpc>
                          <a:spcPct val="150000"/>
                        </a:lnSpc>
                        <a:spcBef>
                          <a:spcPts val="1200"/>
                        </a:spcBef>
                        <a:spcAft>
                          <a:spcPts val="600"/>
                        </a:spcAft>
                        <a:buNone/>
                      </a:pPr>
                      <a:r>
                        <a:rPr lang="en-AU" sz="1100" b="1">
                          <a:effectLst/>
                          <a:latin typeface="Arial" panose="020B0604020202020204" pitchFamily="34" charset="0"/>
                          <a:ea typeface="Calibri" panose="020F0502020204030204" pitchFamily="34" charset="0"/>
                          <a:cs typeface="Arial" panose="020B0604020202020204" pitchFamily="34" charset="0"/>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5552255"/>
                  </a:ext>
                </a:extLst>
              </a:tr>
              <a:tr h="553798">
                <a:tc>
                  <a:txBody>
                    <a:bodyPr/>
                    <a:lstStyle/>
                    <a:p>
                      <a:pPr>
                        <a:lnSpc>
                          <a:spcPct val="150000"/>
                        </a:lnSpc>
                        <a:spcBef>
                          <a:spcPts val="1200"/>
                        </a:spcBef>
                        <a:spcAft>
                          <a:spcPts val="600"/>
                        </a:spcAft>
                        <a:buNone/>
                      </a:pPr>
                      <a:r>
                        <a:rPr lang="en-AU" sz="1100" b="1">
                          <a:effectLst/>
                          <a:latin typeface="Arial" panose="020B0604020202020204" pitchFamily="34" charset="0"/>
                          <a:ea typeface="Calibri" panose="020F0502020204030204" pitchFamily="34" charset="0"/>
                          <a:cs typeface="Arial" panose="020B0604020202020204" pitchFamily="34" charset="0"/>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90726865"/>
                  </a:ext>
                </a:extLst>
              </a:tr>
              <a:tr h="553798">
                <a:tc>
                  <a:txBody>
                    <a:bodyPr/>
                    <a:lstStyle/>
                    <a:p>
                      <a:pPr>
                        <a:lnSpc>
                          <a:spcPct val="150000"/>
                        </a:lnSpc>
                        <a:spcBef>
                          <a:spcPts val="1200"/>
                        </a:spcBef>
                        <a:spcAft>
                          <a:spcPts val="600"/>
                        </a:spcAft>
                        <a:buNone/>
                      </a:pPr>
                      <a:r>
                        <a:rPr lang="en-AU" sz="1100" b="1">
                          <a:effectLst/>
                          <a:latin typeface="Arial" panose="020B0604020202020204" pitchFamily="34" charset="0"/>
                          <a:ea typeface="Calibri" panose="020F0502020204030204" pitchFamily="34" charset="0"/>
                          <a:cs typeface="Arial" panose="020B0604020202020204" pitchFamily="34" charset="0"/>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0731787"/>
                  </a:ext>
                </a:extLst>
              </a:tr>
            </a:tbl>
          </a:graphicData>
        </a:graphic>
      </p:graphicFrame>
    </p:spTree>
    <p:extLst>
      <p:ext uri="{BB962C8B-B14F-4D97-AF65-F5344CB8AC3E}">
        <p14:creationId xmlns:p14="http://schemas.microsoft.com/office/powerpoint/2010/main" val="1582798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35F4CD-8487-40BA-C995-9F75C9273AD3}"/>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360000" y="2195971"/>
            <a:ext cx="11243037" cy="893226"/>
          </a:xfrm>
        </p:spPr>
        <p:txBody>
          <a:bodyPr/>
          <a:lstStyle/>
          <a:p>
            <a:pPr algn="ctr"/>
            <a:r>
              <a:rPr lang="en-US" sz="4400"/>
              <a:t>Which of these are </a:t>
            </a:r>
            <a:r>
              <a:rPr lang="en-US" sz="4400" b="1"/>
              <a:t>integers</a:t>
            </a:r>
            <a:r>
              <a:rPr lang="en-US" sz="4400"/>
              <a:t>?</a:t>
            </a:r>
          </a:p>
        </p:txBody>
      </p:sp>
      <p:sp>
        <p:nvSpPr>
          <p:cNvPr id="9" name="TextBox 8">
            <a:extLst>
              <a:ext uri="{FF2B5EF4-FFF2-40B4-BE49-F238E27FC236}">
                <a16:creationId xmlns:a16="http://schemas.microsoft.com/office/drawing/2014/main" id="{8B9CE09D-4912-352C-EDD3-2F5B22293E2B}"/>
              </a:ext>
            </a:extLst>
          </p:cNvPr>
          <p:cNvSpPr txBox="1"/>
          <p:nvPr/>
        </p:nvSpPr>
        <p:spPr>
          <a:xfrm>
            <a:off x="1215765"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9E8CC462-FBBB-6B64-39D8-01BD098EF41E}"/>
              </a:ext>
            </a:extLst>
          </p:cNvPr>
          <p:cNvSpPr txBox="1"/>
          <p:nvPr/>
        </p:nvSpPr>
        <p:spPr>
          <a:xfrm>
            <a:off x="558386" y="4447861"/>
            <a:ext cx="1844187" cy="657848"/>
          </a:xfrm>
          <a:prstGeom prst="rect">
            <a:avLst/>
          </a:prstGeom>
          <a:noFill/>
        </p:spPr>
        <p:txBody>
          <a:bodyPr wrap="square" lIns="0" tIns="0" rIns="0" bIns="0" rtlCol="0">
            <a:noAutofit/>
          </a:bodyPr>
          <a:lstStyle/>
          <a:p>
            <a:pPr algn="ctr"/>
            <a:r>
              <a:rPr lang="en-AU" sz="4400"/>
              <a:t>3.5</a:t>
            </a:r>
          </a:p>
        </p:txBody>
      </p:sp>
      <p:sp>
        <p:nvSpPr>
          <p:cNvPr id="10" name="TextBox 9">
            <a:extLst>
              <a:ext uri="{FF2B5EF4-FFF2-40B4-BE49-F238E27FC236}">
                <a16:creationId xmlns:a16="http://schemas.microsoft.com/office/drawing/2014/main" id="{6720C9BD-206D-1246-CC58-B94DA2A9FDA7}"/>
              </a:ext>
            </a:extLst>
          </p:cNvPr>
          <p:cNvSpPr txBox="1"/>
          <p:nvPr/>
        </p:nvSpPr>
        <p:spPr>
          <a:xfrm>
            <a:off x="4219738"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EC626744-7D22-5C6A-4AD4-3D63FA0B996F}"/>
              </a:ext>
            </a:extLst>
          </p:cNvPr>
          <p:cNvSpPr txBox="1"/>
          <p:nvPr/>
        </p:nvSpPr>
        <p:spPr>
          <a:xfrm>
            <a:off x="3562359" y="4447861"/>
            <a:ext cx="1844187" cy="657848"/>
          </a:xfrm>
          <a:prstGeom prst="rect">
            <a:avLst/>
          </a:prstGeom>
          <a:noFill/>
        </p:spPr>
        <p:txBody>
          <a:bodyPr wrap="square" lIns="0" tIns="0" rIns="0" bIns="0" rtlCol="0">
            <a:noAutofit/>
          </a:bodyPr>
          <a:lstStyle/>
          <a:p>
            <a:pPr algn="ctr"/>
            <a:r>
              <a:rPr lang="en-AU" sz="4400"/>
              <a:t>0</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223711"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8DF74C0E-66CB-AB2B-C936-EC71EF8A8A61}"/>
              </a:ext>
            </a:extLst>
          </p:cNvPr>
          <p:cNvSpPr txBox="1"/>
          <p:nvPr/>
        </p:nvSpPr>
        <p:spPr>
          <a:xfrm>
            <a:off x="6566332" y="4447861"/>
            <a:ext cx="1844187" cy="657848"/>
          </a:xfrm>
          <a:prstGeom prst="rect">
            <a:avLst/>
          </a:prstGeom>
          <a:noFill/>
        </p:spPr>
        <p:txBody>
          <a:bodyPr wrap="square" lIns="0" tIns="0" rIns="0" bIns="0" rtlCol="0">
            <a:noAutofit/>
          </a:bodyPr>
          <a:lstStyle/>
          <a:p>
            <a:pPr algn="ctr"/>
            <a:r>
              <a:rPr lang="en-AU" sz="4400"/>
              <a:t>- 63</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203993"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790CC83-10CB-B88A-89F4-3ECD9E498F1C}"/>
                  </a:ext>
                </a:extLst>
              </p:cNvPr>
              <p:cNvSpPr txBox="1"/>
              <p:nvPr/>
            </p:nvSpPr>
            <p:spPr>
              <a:xfrm>
                <a:off x="9546614" y="4101149"/>
                <a:ext cx="1844187" cy="1351273"/>
              </a:xfrm>
              <a:prstGeom prst="rect">
                <a:avLst/>
              </a:prstGeom>
              <a:noFill/>
            </p:spPr>
            <p:txBody>
              <a:bodyPr wrap="square" lIns="0" tIns="0" rIns="0" bIns="0" rtlCol="0">
                <a:noAutofit/>
              </a:bodyPr>
              <a:lstStyle/>
              <a:p>
                <a:pPr algn="ctr"/>
                <a14:m>
                  <m:oMathPara xmlns:m="http://schemas.openxmlformats.org/officeDocument/2006/math">
                    <m:oMathParaPr>
                      <m:jc m:val="centerGroup"/>
                    </m:oMathParaPr>
                    <m:oMath xmlns:m="http://schemas.openxmlformats.org/officeDocument/2006/math">
                      <m:f>
                        <m:fPr>
                          <m:ctrlPr>
                            <a:rPr lang="en-AU" sz="4400" i="1" dirty="0" smtClean="0">
                              <a:latin typeface="Cambria Math" panose="02040503050406030204" pitchFamily="18" charset="0"/>
                            </a:rPr>
                          </m:ctrlPr>
                        </m:fPr>
                        <m:num>
                          <m:r>
                            <a:rPr lang="en-AU" sz="4400" b="0" i="1" dirty="0" smtClean="0">
                              <a:latin typeface="Cambria Math" panose="02040503050406030204" pitchFamily="18" charset="0"/>
                            </a:rPr>
                            <m:t>2</m:t>
                          </m:r>
                        </m:num>
                        <m:den>
                          <m:r>
                            <a:rPr lang="en-AU" sz="4400" b="0" i="1" dirty="0" smtClean="0">
                              <a:latin typeface="Cambria Math" panose="02040503050406030204" pitchFamily="18" charset="0"/>
                            </a:rPr>
                            <m:t>3</m:t>
                          </m:r>
                        </m:den>
                      </m:f>
                    </m:oMath>
                  </m:oMathPara>
                </a14:m>
                <a:endParaRPr lang="en-AU" sz="4400"/>
              </a:p>
            </p:txBody>
          </p:sp>
        </mc:Choice>
        <mc:Fallback xmlns="">
          <p:sp>
            <p:nvSpPr>
              <p:cNvPr id="8" name="TextBox 7">
                <a:extLst>
                  <a:ext uri="{FF2B5EF4-FFF2-40B4-BE49-F238E27FC236}">
                    <a16:creationId xmlns:a16="http://schemas.microsoft.com/office/drawing/2014/main" id="{5790CC83-10CB-B88A-89F4-3ECD9E498F1C}"/>
                  </a:ext>
                </a:extLst>
              </p:cNvPr>
              <p:cNvSpPr txBox="1">
                <a:spLocks noRot="1" noChangeAspect="1" noMove="1" noResize="1" noEditPoints="1" noAdjustHandles="1" noChangeArrowheads="1" noChangeShapeType="1" noTextEdit="1"/>
              </p:cNvSpPr>
              <p:nvPr/>
            </p:nvSpPr>
            <p:spPr>
              <a:xfrm>
                <a:off x="9546614" y="4101149"/>
                <a:ext cx="1844187" cy="1351273"/>
              </a:xfrm>
              <a:prstGeom prst="rect">
                <a:avLst/>
              </a:prstGeom>
              <a:blipFill>
                <a:blip r:embed="rId3"/>
                <a:stretch>
                  <a:fillRect/>
                </a:stretch>
              </a:blipFill>
            </p:spPr>
            <p:txBody>
              <a:bodyPr/>
              <a:lstStyle/>
              <a:p>
                <a:r>
                  <a:rPr lang="en-US">
                    <a:noFill/>
                  </a:rPr>
                  <a:t> </a:t>
                </a:r>
              </a:p>
            </p:txBody>
          </p:sp>
        </mc:Fallback>
      </mc:AlternateContent>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4"/>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14A7E425-82FF-7DB6-E0E6-9323E2CFDA8E}"/>
              </a:ext>
            </a:extLst>
          </p:cNvPr>
          <p:cNvSpPr txBox="1"/>
          <p:nvPr/>
        </p:nvSpPr>
        <p:spPr>
          <a:xfrm>
            <a:off x="2622884" y="1178377"/>
            <a:ext cx="7120063" cy="957943"/>
          </a:xfrm>
          <a:prstGeom prst="rect">
            <a:avLst/>
          </a:prstGeom>
          <a:noFill/>
        </p:spPr>
        <p:txBody>
          <a:bodyPr wrap="square" lIns="0" tIns="0" rIns="0" bIns="0" rtlCol="0">
            <a:noAutofit/>
          </a:bodyPr>
          <a:lstStyle/>
          <a:p>
            <a:pPr algn="ctr"/>
            <a:r>
              <a:rPr lang="en-AU" sz="6600"/>
              <a:t>36 × 0.4 = 14.4 </a:t>
            </a:r>
          </a:p>
        </p:txBody>
      </p:sp>
      <p:sp>
        <p:nvSpPr>
          <p:cNvPr id="5" name="TextBox 4">
            <a:extLst>
              <a:ext uri="{FF2B5EF4-FFF2-40B4-BE49-F238E27FC236}">
                <a16:creationId xmlns:a16="http://schemas.microsoft.com/office/drawing/2014/main" id="{E48E1A20-BA90-5B8D-BE27-268216E8885E}"/>
              </a:ext>
            </a:extLst>
          </p:cNvPr>
          <p:cNvSpPr txBox="1"/>
          <p:nvPr/>
        </p:nvSpPr>
        <p:spPr>
          <a:xfrm>
            <a:off x="1249775" y="2648617"/>
            <a:ext cx="10367268" cy="642258"/>
          </a:xfrm>
          <a:prstGeom prst="rect">
            <a:avLst/>
          </a:prstGeom>
          <a:noFill/>
        </p:spPr>
        <p:txBody>
          <a:bodyPr wrap="square" lIns="0" tIns="0" rIns="0" bIns="0" rtlCol="0">
            <a:noAutofit/>
          </a:bodyPr>
          <a:lstStyle/>
          <a:p>
            <a:pPr algn="l"/>
            <a:r>
              <a:rPr lang="en-AU" sz="4400"/>
              <a:t>Use the number sentence to help </a:t>
            </a:r>
            <a:r>
              <a:rPr lang="en-AU" sz="4400" b="1"/>
              <a:t>solve</a:t>
            </a:r>
            <a:r>
              <a:rPr lang="en-AU" sz="4400"/>
              <a:t>:</a:t>
            </a:r>
          </a:p>
        </p:txBody>
      </p:sp>
      <p:sp>
        <p:nvSpPr>
          <p:cNvPr id="7" name="TextBox 6">
            <a:extLst>
              <a:ext uri="{FF2B5EF4-FFF2-40B4-BE49-F238E27FC236}">
                <a16:creationId xmlns:a16="http://schemas.microsoft.com/office/drawing/2014/main" id="{82542005-99C5-38BF-8209-7290A0C04AC9}"/>
              </a:ext>
            </a:extLst>
          </p:cNvPr>
          <p:cNvSpPr txBox="1"/>
          <p:nvPr/>
        </p:nvSpPr>
        <p:spPr>
          <a:xfrm>
            <a:off x="1773512" y="3879336"/>
            <a:ext cx="3227614" cy="1150531"/>
          </a:xfrm>
          <a:prstGeom prst="rect">
            <a:avLst/>
          </a:prstGeom>
          <a:noFill/>
          <a:ln w="28575">
            <a:solidFill>
              <a:schemeClr val="tx1"/>
            </a:solidFill>
          </a:ln>
        </p:spPr>
        <p:txBody>
          <a:bodyPr wrap="square" lIns="0" tIns="0" rIns="0" bIns="0" rtlCol="0">
            <a:noAutofit/>
          </a:bodyPr>
          <a:lstStyle/>
          <a:p>
            <a:pPr algn="ctr">
              <a:lnSpc>
                <a:spcPct val="150000"/>
              </a:lnSpc>
            </a:pPr>
            <a:r>
              <a:rPr lang="en-AU" sz="4400"/>
              <a:t> 36 × 0.04</a:t>
            </a:r>
          </a:p>
        </p:txBody>
      </p:sp>
      <p:sp>
        <p:nvSpPr>
          <p:cNvPr id="10" name="TextBox 9">
            <a:extLst>
              <a:ext uri="{FF2B5EF4-FFF2-40B4-BE49-F238E27FC236}">
                <a16:creationId xmlns:a16="http://schemas.microsoft.com/office/drawing/2014/main" id="{49A090E7-DF20-FDE2-D239-DE1E54EABE0D}"/>
              </a:ext>
            </a:extLst>
          </p:cNvPr>
          <p:cNvSpPr txBox="1"/>
          <p:nvPr/>
        </p:nvSpPr>
        <p:spPr>
          <a:xfrm>
            <a:off x="7287126" y="3879336"/>
            <a:ext cx="3227614" cy="1150531"/>
          </a:xfrm>
          <a:prstGeom prst="rect">
            <a:avLst/>
          </a:prstGeom>
          <a:noFill/>
          <a:ln w="28575">
            <a:solidFill>
              <a:schemeClr val="tx1"/>
            </a:solidFill>
          </a:ln>
        </p:spPr>
        <p:txBody>
          <a:bodyPr wrap="square" lIns="0" tIns="0" rIns="0" bIns="0" rtlCol="0">
            <a:noAutofit/>
          </a:bodyPr>
          <a:lstStyle/>
          <a:p>
            <a:pPr algn="ctr">
              <a:lnSpc>
                <a:spcPct val="150000"/>
              </a:lnSpc>
            </a:pPr>
            <a:r>
              <a:rPr lang="en-AU" sz="4400"/>
              <a:t>3.6 × 4 </a:t>
            </a:r>
          </a:p>
        </p:txBody>
      </p:sp>
      <p:sp>
        <p:nvSpPr>
          <p:cNvPr id="9" name="TextBox 8">
            <a:extLst>
              <a:ext uri="{FF2B5EF4-FFF2-40B4-BE49-F238E27FC236}">
                <a16:creationId xmlns:a16="http://schemas.microsoft.com/office/drawing/2014/main" id="{764588F5-5CF0-2410-9D94-F0675728623E}"/>
              </a:ext>
            </a:extLst>
          </p:cNvPr>
          <p:cNvSpPr txBox="1"/>
          <p:nvPr/>
        </p:nvSpPr>
        <p:spPr>
          <a:xfrm>
            <a:off x="670348" y="5361445"/>
            <a:ext cx="11025133" cy="754836"/>
          </a:xfrm>
          <a:prstGeom prst="rect">
            <a:avLst/>
          </a:prstGeom>
          <a:noFill/>
        </p:spPr>
        <p:txBody>
          <a:bodyPr wrap="square" lIns="0" tIns="0" rIns="0" bIns="0" rtlCol="0">
            <a:no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9" name="TextBox 18">
            <a:extLst>
              <a:ext uri="{FF2B5EF4-FFF2-40B4-BE49-F238E27FC236}">
                <a16:creationId xmlns:a16="http://schemas.microsoft.com/office/drawing/2014/main" id="{3AF9051B-127B-6A95-6871-1EEBBF228A36}"/>
              </a:ext>
            </a:extLst>
          </p:cNvPr>
          <p:cNvSpPr txBox="1"/>
          <p:nvPr/>
        </p:nvSpPr>
        <p:spPr>
          <a:xfrm>
            <a:off x="844608" y="1170044"/>
            <a:ext cx="10502781" cy="846033"/>
          </a:xfrm>
          <a:prstGeom prst="rect">
            <a:avLst/>
          </a:prstGeom>
          <a:noFill/>
        </p:spPr>
        <p:txBody>
          <a:bodyPr wrap="square" lIns="0" tIns="0" rIns="0" bIns="0" rtlCol="0">
            <a:noAutofit/>
          </a:bodyPr>
          <a:lstStyle/>
          <a:p>
            <a:pPr algn="l"/>
            <a:r>
              <a:rPr lang="en-AU" sz="4000"/>
              <a:t>How many </a:t>
            </a:r>
            <a:r>
              <a:rPr lang="en-AU" sz="4000" b="1"/>
              <a:t>degrees</a:t>
            </a:r>
            <a:r>
              <a:rPr lang="en-AU" sz="4000"/>
              <a:t> in the highlighted </a:t>
            </a:r>
            <a:r>
              <a:rPr lang="en-AU" sz="4000" b="1"/>
              <a:t>angle</a:t>
            </a:r>
            <a:r>
              <a:rPr lang="en-AU" sz="4000"/>
              <a:t>?</a:t>
            </a:r>
          </a:p>
        </p:txBody>
      </p:sp>
      <p:sp>
        <p:nvSpPr>
          <p:cNvPr id="20" name="TextBox 19">
            <a:extLst>
              <a:ext uri="{FF2B5EF4-FFF2-40B4-BE49-F238E27FC236}">
                <a16:creationId xmlns:a16="http://schemas.microsoft.com/office/drawing/2014/main" id="{8F2C8870-DF22-466E-578E-68F95344B2C3}"/>
              </a:ext>
            </a:extLst>
          </p:cNvPr>
          <p:cNvSpPr txBox="1"/>
          <p:nvPr/>
        </p:nvSpPr>
        <p:spPr>
          <a:xfrm>
            <a:off x="844608" y="5910152"/>
            <a:ext cx="10502781" cy="846033"/>
          </a:xfrm>
          <a:prstGeom prst="rect">
            <a:avLst/>
          </a:prstGeom>
          <a:noFill/>
        </p:spPr>
        <p:txBody>
          <a:bodyPr wrap="square" lIns="0" tIns="0" rIns="0" bIns="0" rtlCol="0">
            <a:noAutofit/>
          </a:bodyPr>
          <a:lstStyle/>
          <a:p>
            <a:pPr algn="l"/>
            <a:r>
              <a:rPr lang="en-AU" sz="4000"/>
              <a:t>How many </a:t>
            </a:r>
            <a:r>
              <a:rPr lang="en-AU" sz="4000" b="1"/>
              <a:t>degrees</a:t>
            </a:r>
            <a:r>
              <a:rPr lang="en-AU" sz="4000"/>
              <a:t> in the </a:t>
            </a:r>
            <a:r>
              <a:rPr lang="en-AU" sz="4000" b="1"/>
              <a:t>adjacent angle</a:t>
            </a:r>
            <a:r>
              <a:rPr lang="en-AU" sz="4000"/>
              <a:t>?</a:t>
            </a:r>
          </a:p>
        </p:txBody>
      </p:sp>
      <p:sp>
        <p:nvSpPr>
          <p:cNvPr id="4" name="Freeform 2" descr="Consider grouping the objects for ALt text?">
            <a:extLst>
              <a:ext uri="{FF2B5EF4-FFF2-40B4-BE49-F238E27FC236}">
                <a16:creationId xmlns:a16="http://schemas.microsoft.com/office/drawing/2014/main" id="{C8C0E85D-4F7E-1B02-2DD1-C1E0CEF1C2B0}"/>
              </a:ext>
            </a:extLst>
          </p:cNvPr>
          <p:cNvSpPr/>
          <p:nvPr/>
        </p:nvSpPr>
        <p:spPr>
          <a:xfrm>
            <a:off x="3529970" y="2727169"/>
            <a:ext cx="5132059" cy="2739237"/>
          </a:xfrm>
          <a:custGeom>
            <a:avLst/>
            <a:gdLst/>
            <a:ahLst/>
            <a:cxnLst/>
            <a:rect l="l" t="t" r="r" b="b"/>
            <a:pathLst>
              <a:path w="4251512" h="2269245">
                <a:moveTo>
                  <a:pt x="0" y="0"/>
                </a:moveTo>
                <a:lnTo>
                  <a:pt x="4251512" y="0"/>
                </a:lnTo>
                <a:lnTo>
                  <a:pt x="4251512" y="2269244"/>
                </a:lnTo>
                <a:lnTo>
                  <a:pt x="0" y="22692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cxnSp>
        <p:nvCxnSpPr>
          <p:cNvPr id="7" name="Straight Connector 6" descr="Arrow line">
            <a:extLst>
              <a:ext uri="{FF2B5EF4-FFF2-40B4-BE49-F238E27FC236}">
                <a16:creationId xmlns:a16="http://schemas.microsoft.com/office/drawing/2014/main" id="{42883FCA-B05E-5087-2742-A59CBD47E10E}"/>
              </a:ext>
            </a:extLst>
          </p:cNvPr>
          <p:cNvCxnSpPr>
            <a:cxnSpLocks/>
          </p:cNvCxnSpPr>
          <p:nvPr/>
        </p:nvCxnSpPr>
        <p:spPr>
          <a:xfrm>
            <a:off x="1910443" y="5334000"/>
            <a:ext cx="8371114" cy="0"/>
          </a:xfrm>
          <a:prstGeom prst="line">
            <a:avLst/>
          </a:prstGeom>
          <a:ln w="57150">
            <a:solidFill>
              <a:schemeClr val="accent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Flowchart: Extract 16" descr="Yellow highlight">
            <a:extLst>
              <a:ext uri="{FF2B5EF4-FFF2-40B4-BE49-F238E27FC236}">
                <a16:creationId xmlns:a16="http://schemas.microsoft.com/office/drawing/2014/main" id="{61C64B55-66C4-64B6-2A8C-6EDF900313D5}"/>
              </a:ext>
            </a:extLst>
          </p:cNvPr>
          <p:cNvSpPr/>
          <p:nvPr/>
        </p:nvSpPr>
        <p:spPr>
          <a:xfrm>
            <a:off x="2809702" y="2327564"/>
            <a:ext cx="3225338" cy="2998123"/>
          </a:xfrm>
          <a:prstGeom prst="flowChartExtra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8" name="Straight Connector 7" descr="Arrow line">
            <a:extLst>
              <a:ext uri="{FF2B5EF4-FFF2-40B4-BE49-F238E27FC236}">
                <a16:creationId xmlns:a16="http://schemas.microsoft.com/office/drawing/2014/main" id="{E137ABF8-038B-3DC4-7286-CB4A35B3E7FD}"/>
              </a:ext>
            </a:extLst>
          </p:cNvPr>
          <p:cNvCxnSpPr>
            <a:cxnSpLocks/>
          </p:cNvCxnSpPr>
          <p:nvPr/>
        </p:nvCxnSpPr>
        <p:spPr>
          <a:xfrm>
            <a:off x="4315097" y="2151017"/>
            <a:ext cx="1780903" cy="3182983"/>
          </a:xfrm>
          <a:prstGeom prst="line">
            <a:avLst/>
          </a:prstGeom>
          <a:ln w="57150">
            <a:solidFill>
              <a:schemeClr val="accent1">
                <a:lumMod val="50000"/>
                <a:lumOff val="5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6" name="TextBox 15">
            <a:extLst>
              <a:ext uri="{FF2B5EF4-FFF2-40B4-BE49-F238E27FC236}">
                <a16:creationId xmlns:a16="http://schemas.microsoft.com/office/drawing/2014/main" id="{18292ADB-D4F0-7C51-94B3-7AB0081AC2F4}"/>
              </a:ext>
            </a:extLst>
          </p:cNvPr>
          <p:cNvSpPr txBox="1"/>
          <p:nvPr/>
        </p:nvSpPr>
        <p:spPr>
          <a:xfrm>
            <a:off x="89998" y="1255031"/>
            <a:ext cx="12012001" cy="1382340"/>
          </a:xfrm>
          <a:prstGeom prst="rect">
            <a:avLst/>
          </a:prstGeom>
          <a:noFill/>
        </p:spPr>
        <p:txBody>
          <a:bodyPr wrap="square" lIns="0" tIns="0" rIns="0" bIns="0" rtlCol="0">
            <a:noAutofit/>
          </a:bodyPr>
          <a:lstStyle/>
          <a:p>
            <a:pPr algn="ctr"/>
            <a:r>
              <a:rPr lang="en-AU" sz="4000" b="1"/>
              <a:t>Describe</a:t>
            </a:r>
            <a:r>
              <a:rPr lang="en-AU" sz="4000"/>
              <a:t> the </a:t>
            </a:r>
            <a:r>
              <a:rPr lang="en-AU" sz="4000" b="1"/>
              <a:t>differences</a:t>
            </a:r>
            <a:r>
              <a:rPr lang="en-AU" sz="4000"/>
              <a:t> in play choices between </a:t>
            </a:r>
            <a:r>
              <a:rPr lang="en-AU" sz="4000" b="1"/>
              <a:t>K–2</a:t>
            </a:r>
            <a:r>
              <a:rPr lang="en-AU" sz="4000"/>
              <a:t> and </a:t>
            </a:r>
            <a:r>
              <a:rPr lang="en-AU" sz="4000" b="1"/>
              <a:t>3–6</a:t>
            </a:r>
            <a:r>
              <a:rPr lang="en-AU" sz="4000"/>
              <a:t> students.</a:t>
            </a:r>
          </a:p>
        </p:txBody>
      </p:sp>
      <p:grpSp>
        <p:nvGrpSpPr>
          <p:cNvPr id="15" name="Group 14" descr="A column graph with blue and orange bars displaying lunchtime places for K to 2 and 3 to 6 students. Blue represents K-2 and orange represents 3-6. &#10;Sandpit - K-2 has 8 students and 3-6 has 2 students.&#10;Adventure playground - K-2 has 9 students and 3-6 has 9 students. &#10;Sports field - K-2 has 0 students and 3-6 has 10 students. &#10;Tree house K-2 has 7 students and 3-6 has 2 students.&#10;Library K-2 has 5 students and 3-6 has 5 students.&#10;Concrete areas K-2 has 15 students and 3-6 has 12 students.">
            <a:extLst>
              <a:ext uri="{FF2B5EF4-FFF2-40B4-BE49-F238E27FC236}">
                <a16:creationId xmlns:a16="http://schemas.microsoft.com/office/drawing/2014/main" id="{BF88CCA9-89BE-E94A-6E47-446957B7C3EC}"/>
              </a:ext>
            </a:extLst>
          </p:cNvPr>
          <p:cNvGrpSpPr/>
          <p:nvPr/>
        </p:nvGrpSpPr>
        <p:grpSpPr>
          <a:xfrm>
            <a:off x="2921803" y="2752495"/>
            <a:ext cx="6348393" cy="3784358"/>
            <a:chOff x="246025" y="1184224"/>
            <a:chExt cx="7105462" cy="4489554"/>
          </a:xfrm>
        </p:grpSpPr>
        <p:sp>
          <p:nvSpPr>
            <p:cNvPr id="13" name="Rectangle 12">
              <a:extLst>
                <a:ext uri="{FF2B5EF4-FFF2-40B4-BE49-F238E27FC236}">
                  <a16:creationId xmlns:a16="http://schemas.microsoft.com/office/drawing/2014/main" id="{4F1E6A23-6BA5-CA4F-0E2A-C1D0D1D4FCF1}"/>
                </a:ext>
              </a:extLst>
            </p:cNvPr>
            <p:cNvSpPr/>
            <p:nvPr/>
          </p:nvSpPr>
          <p:spPr>
            <a:xfrm>
              <a:off x="246025" y="1184224"/>
              <a:ext cx="7105462" cy="4489554"/>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1" name="Picture 10" descr="A column graph with blue and orange bars displaying lunchtime places for K to 2 and 3 to 6 students. Blue represents K-2 and orange represents 3-6. &#10;Sandpit - K-2 has 8 students and 3-6 has 2 students.&#10;Adventure playground - K-2 has 9 students and 3-6 has 9 students. &#10;Sports field - K-2 has 0 students and 3-6 has 10 students. &#10;Tree house K-2 has 7 students and 3-6 has 2 students.&#10;Library K-2 has 5 students and 3-6 has 5 students.&#10;Concrete areas K-2 has 15 students and 3-6 has 12 students.">
              <a:extLst>
                <a:ext uri="{FF2B5EF4-FFF2-40B4-BE49-F238E27FC236}">
                  <a16:creationId xmlns:a16="http://schemas.microsoft.com/office/drawing/2014/main" id="{C9DC23D9-46EE-86C7-A2BD-C6A3972EB663}"/>
                </a:ext>
              </a:extLst>
            </p:cNvPr>
            <p:cNvPicPr>
              <a:picLocks noChangeAspect="1"/>
            </p:cNvPicPr>
            <p:nvPr/>
          </p:nvPicPr>
          <p:blipFill>
            <a:blip r:embed="rId4">
              <a:extLst>
                <a:ext uri="{28A0092B-C50C-407E-A947-70E740481C1C}">
                  <a14:useLocalDpi xmlns:a14="http://schemas.microsoft.com/office/drawing/2010/main" val="0"/>
                </a:ext>
              </a:extLst>
            </a:blip>
            <a:srcRect b="3144"/>
            <a:stretch>
              <a:fillRect/>
            </a:stretch>
          </p:blipFill>
          <p:spPr>
            <a:xfrm>
              <a:off x="360000" y="1330781"/>
              <a:ext cx="6856777" cy="4206420"/>
            </a:xfrm>
            <a:prstGeom prst="rect">
              <a:avLst/>
            </a:prstGeom>
          </p:spPr>
        </p:pic>
      </p:gr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6BFCC0C4-3CC1-C32E-D8A0-D2E6B97E130C}"/>
              </a:ext>
            </a:extLst>
          </p:cNvPr>
          <p:cNvSpPr txBox="1"/>
          <p:nvPr/>
        </p:nvSpPr>
        <p:spPr>
          <a:xfrm>
            <a:off x="6523362" y="1609628"/>
            <a:ext cx="5025077" cy="1466080"/>
          </a:xfrm>
          <a:prstGeom prst="rect">
            <a:avLst/>
          </a:prstGeom>
          <a:noFill/>
        </p:spPr>
        <p:txBody>
          <a:bodyPr wrap="square" lIns="0" tIns="0" rIns="0" bIns="0" rtlCol="0">
            <a:noAutofit/>
          </a:bodyPr>
          <a:lstStyle/>
          <a:p>
            <a:pPr algn="ctr"/>
            <a:r>
              <a:rPr lang="en-AU" sz="4400" b="1"/>
              <a:t>Angles</a:t>
            </a:r>
            <a:r>
              <a:rPr lang="en-AU" sz="4400"/>
              <a:t> at a </a:t>
            </a:r>
            <a:r>
              <a:rPr lang="en-AU" sz="4400" b="1"/>
              <a:t>point</a:t>
            </a:r>
            <a:r>
              <a:rPr lang="en-AU" sz="4400"/>
              <a:t> are called?</a:t>
            </a:r>
          </a:p>
        </p:txBody>
      </p:sp>
      <p:sp>
        <p:nvSpPr>
          <p:cNvPr id="8" name="TextBox 7">
            <a:extLst>
              <a:ext uri="{FF2B5EF4-FFF2-40B4-BE49-F238E27FC236}">
                <a16:creationId xmlns:a16="http://schemas.microsoft.com/office/drawing/2014/main" id="{D3EC8775-8DFD-260A-84A1-109F947B3448}"/>
              </a:ext>
            </a:extLst>
          </p:cNvPr>
          <p:cNvSpPr txBox="1"/>
          <p:nvPr/>
        </p:nvSpPr>
        <p:spPr>
          <a:xfrm>
            <a:off x="6587803" y="4062814"/>
            <a:ext cx="4896197" cy="1466080"/>
          </a:xfrm>
          <a:prstGeom prst="rect">
            <a:avLst/>
          </a:prstGeom>
          <a:noFill/>
        </p:spPr>
        <p:txBody>
          <a:bodyPr wrap="square" lIns="0" tIns="0" rIns="0" bIns="0" rtlCol="0">
            <a:noAutofit/>
          </a:bodyPr>
          <a:lstStyle/>
          <a:p>
            <a:pPr algn="ctr"/>
            <a:r>
              <a:rPr lang="en-AU" sz="4400"/>
              <a:t>What is the </a:t>
            </a:r>
            <a:r>
              <a:rPr lang="en-AU" sz="4400" b="1"/>
              <a:t>total</a:t>
            </a:r>
            <a:r>
              <a:rPr lang="en-AU" sz="4400"/>
              <a:t> of these </a:t>
            </a:r>
            <a:r>
              <a:rPr lang="en-AU" sz="4400" b="1"/>
              <a:t>angles</a:t>
            </a:r>
            <a:r>
              <a:rPr lang="en-AU" sz="4400"/>
              <a:t>?</a:t>
            </a:r>
          </a:p>
        </p:txBody>
      </p:sp>
      <p:pic>
        <p:nvPicPr>
          <p:cNvPr id="5" name="Picture 4" descr="3 intersecting blue lines with yeloow highlight at the middle.">
            <a:extLst>
              <a:ext uri="{FF2B5EF4-FFF2-40B4-BE49-F238E27FC236}">
                <a16:creationId xmlns:a16="http://schemas.microsoft.com/office/drawing/2014/main" id="{505CFA44-A827-B9B0-A8B1-0214E6F72044}"/>
              </a:ext>
            </a:extLst>
          </p:cNvPr>
          <p:cNvPicPr>
            <a:picLocks noChangeAspect="1"/>
          </p:cNvPicPr>
          <p:nvPr/>
        </p:nvPicPr>
        <p:blipFill>
          <a:blip r:embed="rId4"/>
          <a:srcRect l="7086" t="3861" r="5931" b="4760"/>
          <a:stretch>
            <a:fillRect/>
          </a:stretch>
        </p:blipFill>
        <p:spPr>
          <a:xfrm>
            <a:off x="1128469" y="1184223"/>
            <a:ext cx="4756941" cy="5386648"/>
          </a:xfrm>
          <a:prstGeom prst="rect">
            <a:avLst/>
          </a:prstGeom>
        </p:spPr>
      </p:pic>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10" name="Title 2">
            <a:extLst>
              <a:ext uri="{FF2B5EF4-FFF2-40B4-BE49-F238E27FC236}">
                <a16:creationId xmlns:a16="http://schemas.microsoft.com/office/drawing/2014/main" id="{BAF2E99E-EE90-E8A9-C64C-FD2FB10F5606}"/>
              </a:ext>
            </a:extLst>
          </p:cNvPr>
          <p:cNvSpPr>
            <a:spLocks noGrp="1"/>
          </p:cNvSpPr>
          <p:nvPr>
            <p:ph type="title"/>
          </p:nvPr>
        </p:nvSpPr>
        <p:spPr>
          <a:xfrm>
            <a:off x="360363" y="360363"/>
            <a:ext cx="11483975" cy="544512"/>
          </a:xfrm>
        </p:spPr>
        <p:txBody>
          <a:bodyPr/>
          <a:lstStyle/>
          <a:p>
            <a:r>
              <a:rPr lang="en-AU">
                <a:latin typeface="Arial"/>
                <a:cs typeface="Arial"/>
              </a:rPr>
              <a:t>Activity 7 – integers to describe numbers</a:t>
            </a:r>
            <a:r>
              <a:rPr lang="en-AU">
                <a:solidFill>
                  <a:schemeClr val="bg1"/>
                </a:solidFill>
                <a:latin typeface="Arial"/>
                <a:cs typeface="Arial"/>
              </a:rPr>
              <a:t>(1)</a:t>
            </a:r>
            <a:endParaRPr lang="en-US">
              <a:solidFill>
                <a:schemeClr val="bg1"/>
              </a:solidFill>
            </a:endParaRPr>
          </a:p>
        </p:txBody>
      </p:sp>
      <p:pic>
        <p:nvPicPr>
          <p:cNvPr id="3" name="Picture 2" descr="image of a head with cogs turning inside">
            <a:extLst>
              <a:ext uri="{FF2B5EF4-FFF2-40B4-BE49-F238E27FC236}">
                <a16:creationId xmlns:a16="http://schemas.microsoft.com/office/drawing/2014/main" id="{353D9288-32A7-D93F-F694-8F9E0C924DE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Whiteboard with 3 by 3 grid, number line marked with number minus nine to nine and 10 dice showing the number 0 to 9.">
            <a:extLst>
              <a:ext uri="{FF2B5EF4-FFF2-40B4-BE49-F238E27FC236}">
                <a16:creationId xmlns:a16="http://schemas.microsoft.com/office/drawing/2014/main" id="{2C83C1EA-ACCA-1E0B-C53A-480A6BA838EF}"/>
              </a:ext>
            </a:extLst>
          </p:cNvPr>
          <p:cNvPicPr>
            <a:picLocks noChangeAspect="1"/>
          </p:cNvPicPr>
          <p:nvPr/>
        </p:nvPicPr>
        <p:blipFill>
          <a:blip r:embed="rId4"/>
          <a:stretch>
            <a:fillRect/>
          </a:stretch>
        </p:blipFill>
        <p:spPr>
          <a:xfrm>
            <a:off x="2230126" y="1159546"/>
            <a:ext cx="7744447" cy="5356454"/>
          </a:xfrm>
          <a:prstGeom prst="rect">
            <a:avLst/>
          </a:prstGeom>
        </p:spPr>
      </p:pic>
    </p:spTree>
    <p:extLst>
      <p:ext uri="{BB962C8B-B14F-4D97-AF65-F5344CB8AC3E}">
        <p14:creationId xmlns:p14="http://schemas.microsoft.com/office/powerpoint/2010/main" val="998442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sp>
        <p:nvSpPr>
          <p:cNvPr id="9" name="TextBox 8">
            <a:extLst>
              <a:ext uri="{FF2B5EF4-FFF2-40B4-BE49-F238E27FC236}">
                <a16:creationId xmlns:a16="http://schemas.microsoft.com/office/drawing/2014/main" id="{E93F96A1-025E-D27D-26B5-CB90692AD6C4}"/>
              </a:ext>
            </a:extLst>
          </p:cNvPr>
          <p:cNvSpPr txBox="1"/>
          <p:nvPr/>
        </p:nvSpPr>
        <p:spPr>
          <a:xfrm>
            <a:off x="3048897" y="1082387"/>
            <a:ext cx="6094206" cy="1107996"/>
          </a:xfrm>
          <a:prstGeom prst="rect">
            <a:avLst/>
          </a:prstGeom>
          <a:noFill/>
        </p:spPr>
        <p:txBody>
          <a:bodyPr wrap="square">
            <a:spAutoFit/>
          </a:bodyPr>
          <a:lstStyle/>
          <a:p>
            <a:pPr algn="ctr"/>
            <a:r>
              <a:rPr lang="en-AU" sz="6600"/>
              <a:t>3478 × 19</a:t>
            </a:r>
          </a:p>
        </p:txBody>
      </p:sp>
      <p:sp>
        <p:nvSpPr>
          <p:cNvPr id="7" name="TextBox 6">
            <a:extLst>
              <a:ext uri="{FF2B5EF4-FFF2-40B4-BE49-F238E27FC236}">
                <a16:creationId xmlns:a16="http://schemas.microsoft.com/office/drawing/2014/main" id="{77D998FE-BEFB-F9E8-67B6-8986C5DAB614}"/>
              </a:ext>
            </a:extLst>
          </p:cNvPr>
          <p:cNvSpPr txBox="1"/>
          <p:nvPr/>
        </p:nvSpPr>
        <p:spPr>
          <a:xfrm>
            <a:off x="788229" y="2735749"/>
            <a:ext cx="10615541" cy="2123658"/>
          </a:xfrm>
          <a:prstGeom prst="rect">
            <a:avLst/>
          </a:prstGeom>
          <a:noFill/>
        </p:spPr>
        <p:txBody>
          <a:bodyPr wrap="square">
            <a:spAutoFit/>
          </a:bodyPr>
          <a:lstStyle/>
          <a:p>
            <a:pPr algn="ctr"/>
            <a:r>
              <a:rPr lang="en-AU" sz="4400"/>
              <a:t>When solving this </a:t>
            </a:r>
            <a:r>
              <a:rPr lang="en-AU" sz="4400" b="1"/>
              <a:t>equation</a:t>
            </a:r>
            <a:r>
              <a:rPr lang="en-AU" sz="4400"/>
              <a:t>, </a:t>
            </a:r>
            <a:r>
              <a:rPr lang="en-AU" sz="4400" b="1"/>
              <a:t>estimating</a:t>
            </a:r>
            <a:r>
              <a:rPr lang="en-AU" sz="4400"/>
              <a:t> by rounding to 3500 × 20 helps </a:t>
            </a:r>
            <a:r>
              <a:rPr lang="en-AU" sz="4400" b="1"/>
              <a:t>check</a:t>
            </a:r>
            <a:r>
              <a:rPr lang="en-AU" sz="4400"/>
              <a:t> if the exact answer is </a:t>
            </a:r>
            <a:r>
              <a:rPr lang="en-AU" sz="4400" b="1"/>
              <a:t>reasonable</a:t>
            </a:r>
            <a:r>
              <a:rPr lang="en-AU" sz="4400"/>
              <a:t>.</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1010973669"/>
              </p:ext>
            </p:extLst>
          </p:nvPr>
        </p:nvGraphicFramePr>
        <p:xfrm>
          <a:off x="2557462" y="54047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5" name="TextBox 4">
            <a:extLst>
              <a:ext uri="{FF2B5EF4-FFF2-40B4-BE49-F238E27FC236}">
                <a16:creationId xmlns:a16="http://schemas.microsoft.com/office/drawing/2014/main" id="{E3608AAA-BD6E-F1A0-2D54-25D6B923E81A}"/>
              </a:ext>
            </a:extLst>
          </p:cNvPr>
          <p:cNvSpPr txBox="1"/>
          <p:nvPr/>
        </p:nvSpPr>
        <p:spPr>
          <a:xfrm>
            <a:off x="1269476" y="1640146"/>
            <a:ext cx="9653048" cy="915500"/>
          </a:xfrm>
          <a:prstGeom prst="rect">
            <a:avLst/>
          </a:prstGeom>
          <a:noFill/>
        </p:spPr>
        <p:txBody>
          <a:bodyPr wrap="square" lIns="0" tIns="0" rIns="0" bIns="0" rtlCol="0">
            <a:noAutofit/>
          </a:bodyPr>
          <a:lstStyle/>
          <a:p>
            <a:pPr algn="ctr"/>
            <a:r>
              <a:rPr lang="en-AU" sz="6000"/>
              <a:t>1			8			4			7</a:t>
            </a:r>
          </a:p>
        </p:txBody>
      </p:sp>
      <p:sp>
        <p:nvSpPr>
          <p:cNvPr id="4" name="TextBox 3">
            <a:extLst>
              <a:ext uri="{FF2B5EF4-FFF2-40B4-BE49-F238E27FC236}">
                <a16:creationId xmlns:a16="http://schemas.microsoft.com/office/drawing/2014/main" id="{557D8945-C948-1F84-1066-F01F5734CF3B}"/>
              </a:ext>
            </a:extLst>
          </p:cNvPr>
          <p:cNvSpPr txBox="1"/>
          <p:nvPr/>
        </p:nvSpPr>
        <p:spPr>
          <a:xfrm>
            <a:off x="1269476" y="3290191"/>
            <a:ext cx="9653048" cy="2045617"/>
          </a:xfrm>
          <a:prstGeom prst="rect">
            <a:avLst/>
          </a:prstGeom>
          <a:noFill/>
        </p:spPr>
        <p:txBody>
          <a:bodyPr wrap="square" lIns="0" tIns="0" rIns="0" bIns="0" rtlCol="0">
            <a:noAutofit/>
          </a:bodyPr>
          <a:lstStyle/>
          <a:p>
            <a:pPr algn="ctr"/>
            <a:r>
              <a:rPr lang="en-AU" sz="4400"/>
              <a:t>Using these numbers, </a:t>
            </a:r>
            <a:r>
              <a:rPr lang="en-AU" sz="4400" b="1"/>
              <a:t>demonstrate</a:t>
            </a:r>
            <a:r>
              <a:rPr lang="en-AU" sz="4400"/>
              <a:t> the effect </a:t>
            </a:r>
            <a:r>
              <a:rPr lang="en-AU" sz="4400" b="1"/>
              <a:t>grouping symbols </a:t>
            </a:r>
            <a:r>
              <a:rPr lang="en-AU" sz="4400"/>
              <a:t>can have on the answer.</a:t>
            </a:r>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5" name="Picture 14" descr="3 intersecting blue lines.">
            <a:extLst>
              <a:ext uri="{FF2B5EF4-FFF2-40B4-BE49-F238E27FC236}">
                <a16:creationId xmlns:a16="http://schemas.microsoft.com/office/drawing/2014/main" id="{E1D9ADF9-2DCD-B16C-EBD1-DBA1AAE40367}"/>
              </a:ext>
            </a:extLst>
          </p:cNvPr>
          <p:cNvPicPr>
            <a:picLocks noChangeAspect="1"/>
          </p:cNvPicPr>
          <p:nvPr/>
        </p:nvPicPr>
        <p:blipFill>
          <a:blip r:embed="rId4"/>
          <a:stretch>
            <a:fillRect/>
          </a:stretch>
        </p:blipFill>
        <p:spPr>
          <a:xfrm>
            <a:off x="144587" y="1295558"/>
            <a:ext cx="5144218" cy="4839375"/>
          </a:xfrm>
          <a:prstGeom prst="rect">
            <a:avLst/>
          </a:prstGeom>
        </p:spPr>
      </p:pic>
      <p:sp>
        <p:nvSpPr>
          <p:cNvPr id="16" name="TextBox 15">
            <a:extLst>
              <a:ext uri="{FF2B5EF4-FFF2-40B4-BE49-F238E27FC236}">
                <a16:creationId xmlns:a16="http://schemas.microsoft.com/office/drawing/2014/main" id="{6A8D447E-8A0A-12CC-A59D-EFFCB82BA20D}"/>
              </a:ext>
            </a:extLst>
          </p:cNvPr>
          <p:cNvSpPr txBox="1"/>
          <p:nvPr/>
        </p:nvSpPr>
        <p:spPr>
          <a:xfrm>
            <a:off x="5005090" y="1574180"/>
            <a:ext cx="6597049" cy="834887"/>
          </a:xfrm>
          <a:prstGeom prst="rect">
            <a:avLst/>
          </a:prstGeom>
          <a:noFill/>
        </p:spPr>
        <p:txBody>
          <a:bodyPr wrap="square" lIns="0" tIns="0" rIns="0" bIns="0" rtlCol="0">
            <a:noAutofit/>
          </a:bodyPr>
          <a:lstStyle/>
          <a:p>
            <a:pPr algn="ctr"/>
            <a:r>
              <a:rPr lang="en-AU" sz="4400"/>
              <a:t>All these </a:t>
            </a:r>
            <a:r>
              <a:rPr lang="en-AU" sz="4400" b="1"/>
              <a:t>angles</a:t>
            </a:r>
            <a:r>
              <a:rPr lang="en-AU" sz="4400"/>
              <a:t> are the same size.</a:t>
            </a:r>
          </a:p>
        </p:txBody>
      </p:sp>
      <p:sp>
        <p:nvSpPr>
          <p:cNvPr id="17" name="TextBox 16">
            <a:extLst>
              <a:ext uri="{FF2B5EF4-FFF2-40B4-BE49-F238E27FC236}">
                <a16:creationId xmlns:a16="http://schemas.microsoft.com/office/drawing/2014/main" id="{9F109D30-7BEE-8D26-9E2E-F2E2DEA31156}"/>
              </a:ext>
            </a:extLst>
          </p:cNvPr>
          <p:cNvSpPr txBox="1"/>
          <p:nvPr/>
        </p:nvSpPr>
        <p:spPr>
          <a:xfrm>
            <a:off x="4886951" y="4029485"/>
            <a:ext cx="6597049" cy="1429264"/>
          </a:xfrm>
          <a:prstGeom prst="rect">
            <a:avLst/>
          </a:prstGeom>
          <a:noFill/>
        </p:spPr>
        <p:txBody>
          <a:bodyPr wrap="square" lIns="0" tIns="0" rIns="0" bIns="0" rtlCol="0">
            <a:noAutofit/>
          </a:bodyPr>
          <a:lstStyle/>
          <a:p>
            <a:pPr algn="ctr"/>
            <a:r>
              <a:rPr lang="en-AU" sz="4400"/>
              <a:t>What can you tell about the size of these </a:t>
            </a:r>
            <a:r>
              <a:rPr lang="en-AU" sz="4400" b="1"/>
              <a:t>angles</a:t>
            </a:r>
            <a:r>
              <a:rPr lang="en-AU" sz="4400"/>
              <a:t>?</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2" name="TextBox 11">
            <a:extLst>
              <a:ext uri="{FF2B5EF4-FFF2-40B4-BE49-F238E27FC236}">
                <a16:creationId xmlns:a16="http://schemas.microsoft.com/office/drawing/2014/main" id="{0DD59738-C6CB-DC6B-2F98-E0CA8EDA02E5}"/>
              </a:ext>
            </a:extLst>
          </p:cNvPr>
          <p:cNvSpPr txBox="1"/>
          <p:nvPr/>
        </p:nvSpPr>
        <p:spPr>
          <a:xfrm>
            <a:off x="8338253" y="1621130"/>
            <a:ext cx="3607723" cy="4052476"/>
          </a:xfrm>
          <a:prstGeom prst="rect">
            <a:avLst/>
          </a:prstGeom>
          <a:noFill/>
        </p:spPr>
        <p:txBody>
          <a:bodyPr wrap="square" lIns="0" tIns="0" rIns="0" bIns="0" rtlCol="0">
            <a:noAutofit/>
          </a:bodyPr>
          <a:lstStyle/>
          <a:p>
            <a:pPr algn="ctr"/>
            <a:r>
              <a:rPr lang="en-AU" sz="4400" b="1"/>
              <a:t>Explain</a:t>
            </a:r>
            <a:r>
              <a:rPr lang="en-AU" sz="4400"/>
              <a:t> what the </a:t>
            </a:r>
            <a:r>
              <a:rPr lang="en-AU" sz="4400" b="1"/>
              <a:t>distribution of data </a:t>
            </a:r>
            <a:r>
              <a:rPr lang="en-AU" sz="4400"/>
              <a:t>shows about pulse rates.</a:t>
            </a:r>
          </a:p>
        </p:txBody>
      </p:sp>
      <p:grpSp>
        <p:nvGrpSpPr>
          <p:cNvPr id="11" name="Group 10" descr="Pulse rate column graph showing Pulse rates in beats per minute resting and after exercise. &#10;Keira - 80 resting and 110 after exercise. &#10;Marli - 86 resting and 98 after exercise.&#10;Bella - 78 resting and 100 after exercise.&#10;Bayah - 82 resting and 120 after exercise.&#10;Kenji - 70 resting and 96 after exercise.&#10;Koen - 84 resting and 112 after exercise.&#10;Monaro - 76 resting and 116 after exercise. Tahnee - 82 resting and 124 after exercise.&#10;Kody - 88 resting and 118 after exercise.&#10;Naomi - 76 resting and 116 after exercise.">
            <a:extLst>
              <a:ext uri="{FF2B5EF4-FFF2-40B4-BE49-F238E27FC236}">
                <a16:creationId xmlns:a16="http://schemas.microsoft.com/office/drawing/2014/main" id="{8A8E2173-A531-2C42-38C6-69E3AAFC0F3C}"/>
              </a:ext>
            </a:extLst>
          </p:cNvPr>
          <p:cNvGrpSpPr/>
          <p:nvPr/>
        </p:nvGrpSpPr>
        <p:grpSpPr>
          <a:xfrm>
            <a:off x="359999" y="1184223"/>
            <a:ext cx="7746229" cy="4926291"/>
            <a:chOff x="359999" y="1184223"/>
            <a:chExt cx="7746229" cy="4926291"/>
          </a:xfrm>
        </p:grpSpPr>
        <p:sp>
          <p:nvSpPr>
            <p:cNvPr id="8" name="Rectangle 7">
              <a:extLst>
                <a:ext uri="{FF2B5EF4-FFF2-40B4-BE49-F238E27FC236}">
                  <a16:creationId xmlns:a16="http://schemas.microsoft.com/office/drawing/2014/main" id="{3CA4237A-4A83-86DC-6DEC-86756308B262}"/>
                </a:ext>
              </a:extLst>
            </p:cNvPr>
            <p:cNvSpPr/>
            <p:nvPr/>
          </p:nvSpPr>
          <p:spPr>
            <a:xfrm>
              <a:off x="359999" y="1184223"/>
              <a:ext cx="7746229" cy="4926291"/>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7" name="Picture 6" descr="Pulse rate column graph showing Pulse rates in beats per minute resting and after exercise. &#10;Keira - 80 resting and 110 after exercise. &#10;Marli - 86 resting and 98 after exercise.&#10;Bella - 78 resting and 100 after exercise.&#10;Bayah - 82 resting and 120 after exercise.&#10;Kenji - 70 resting and 96 after exercise.&#10;Koen - 84 resting and 112 after exercise.&#10;Monaro - 76 resting and 116 after exercise. Tahnee - 82 resting and 124 after exercise.&#10;Kody - 88 resting and 118 after exercise.&#10;Naomi - 76 resting and 116 after exercise.">
              <a:extLst>
                <a:ext uri="{FF2B5EF4-FFF2-40B4-BE49-F238E27FC236}">
                  <a16:creationId xmlns:a16="http://schemas.microsoft.com/office/drawing/2014/main" id="{FABD5E0F-B66B-ED1D-CBF6-5DEDBCFFC8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331" y="1385181"/>
              <a:ext cx="7312025" cy="4524375"/>
            </a:xfrm>
            <a:prstGeom prst="rect">
              <a:avLst/>
            </a:prstGeom>
          </p:spPr>
        </p:pic>
      </p:gr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04E1177-55BB-8163-49F1-52DCD4D714AB}"/>
              </a:ext>
            </a:extLst>
          </p:cNvPr>
          <p:cNvSpPr txBox="1"/>
          <p:nvPr/>
        </p:nvSpPr>
        <p:spPr>
          <a:xfrm>
            <a:off x="1237210" y="1770610"/>
            <a:ext cx="9717579" cy="1205346"/>
          </a:xfrm>
          <a:prstGeom prst="rect">
            <a:avLst/>
          </a:prstGeom>
          <a:noFill/>
        </p:spPr>
        <p:txBody>
          <a:bodyPr wrap="square" lIns="0" tIns="0" rIns="0" bIns="0" rtlCol="0">
            <a:noAutofit/>
          </a:bodyPr>
          <a:lstStyle/>
          <a:p>
            <a:pPr algn="ctr">
              <a:lnSpc>
                <a:spcPct val="150000"/>
              </a:lnSpc>
            </a:pPr>
            <a:r>
              <a:rPr lang="en-AU" sz="4400"/>
              <a:t>How much </a:t>
            </a:r>
            <a:r>
              <a:rPr lang="en-AU" sz="4400" b="1"/>
              <a:t>time</a:t>
            </a:r>
            <a:r>
              <a:rPr lang="en-AU" sz="4400"/>
              <a:t> has </a:t>
            </a:r>
            <a:r>
              <a:rPr lang="en-AU" sz="4400" b="1"/>
              <a:t>elapsed </a:t>
            </a:r>
            <a:r>
              <a:rPr lang="en-AU" sz="4400"/>
              <a:t>between 3:45 and 6:00?</a:t>
            </a: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C0A72-2996-CB1D-124F-F0184490F8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C18066-5363-5EA1-42A7-43C9E9C4CA76}"/>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3" name="Title 2">
            <a:extLst>
              <a:ext uri="{FF2B5EF4-FFF2-40B4-BE49-F238E27FC236}">
                <a16:creationId xmlns:a16="http://schemas.microsoft.com/office/drawing/2014/main" id="{A3A78C06-448C-5351-6974-261336393B3A}"/>
              </a:ext>
            </a:extLst>
          </p:cNvPr>
          <p:cNvSpPr>
            <a:spLocks noGrp="1"/>
          </p:cNvSpPr>
          <p:nvPr>
            <p:ph type="title"/>
          </p:nvPr>
        </p:nvSpPr>
        <p:spPr>
          <a:xfrm>
            <a:off x="360000" y="360000"/>
            <a:ext cx="11484000" cy="545601"/>
          </a:xfrm>
        </p:spPr>
        <p:txBody>
          <a:bodyPr/>
          <a:lstStyle/>
          <a:p>
            <a:r>
              <a:rPr lang="en-AU"/>
              <a:t>Activity 8 – strategies to multiply </a:t>
            </a:r>
          </a:p>
        </p:txBody>
      </p:sp>
      <p:pic>
        <p:nvPicPr>
          <p:cNvPr id="4" name="Picture 3" descr="image of a head with cogs turning inside">
            <a:extLst>
              <a:ext uri="{FF2B5EF4-FFF2-40B4-BE49-F238E27FC236}">
                <a16:creationId xmlns:a16="http://schemas.microsoft.com/office/drawing/2014/main" id="{480E3A92-79BA-B235-898E-990838C9F3A3}"/>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Two empty boxes to represent a 2-digit number multiplied by 2 empty boxes to represent another 2-digit number.">
            <a:extLst>
              <a:ext uri="{FF2B5EF4-FFF2-40B4-BE49-F238E27FC236}">
                <a16:creationId xmlns:a16="http://schemas.microsoft.com/office/drawing/2014/main" id="{2BE35B16-A50C-77DD-96E0-01C2D1C5CA70}"/>
              </a:ext>
            </a:extLst>
          </p:cNvPr>
          <p:cNvPicPr>
            <a:picLocks noChangeAspect="1"/>
          </p:cNvPicPr>
          <p:nvPr/>
        </p:nvPicPr>
        <p:blipFill>
          <a:blip r:embed="rId4"/>
          <a:srcRect r="2710"/>
          <a:stretch>
            <a:fillRect/>
          </a:stretch>
        </p:blipFill>
        <p:spPr>
          <a:xfrm>
            <a:off x="1211866" y="2169234"/>
            <a:ext cx="9768267" cy="2519531"/>
          </a:xfrm>
          <a:prstGeom prst="rect">
            <a:avLst/>
          </a:prstGeom>
        </p:spPr>
      </p:pic>
    </p:spTree>
    <p:extLst>
      <p:ext uri="{BB962C8B-B14F-4D97-AF65-F5344CB8AC3E}">
        <p14:creationId xmlns:p14="http://schemas.microsoft.com/office/powerpoint/2010/main" val="2484337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r>
              <a:rPr lang="en-AU">
                <a:hlinkClick r:id="rId2"/>
              </a:rPr>
              <a:t>Mathematics K–10 Syllabus </a:t>
            </a:r>
            <a:r>
              <a:rPr lang="en-AU"/>
              <a:t>© NSW Education Standards Authority (NESA) for and on behalf of the Crown in right of the State of New South Wales, 2022. </a:t>
            </a:r>
          </a:p>
          <a:p>
            <a:r>
              <a:rPr lang="en-AU">
                <a:hlinkClick r:id="rId3"/>
              </a:rPr>
              <a:t>National Numeracy Learning Progression </a:t>
            </a:r>
            <a:r>
              <a:rPr lang="en-AU"/>
              <a:t>© Australian Curriculum, Assessment and Reporting Authority (ACARA) 2010 to present, unless otherwise indicated. This material was downloaded from the </a:t>
            </a:r>
            <a:r>
              <a:rPr lang="en-AU">
                <a:hlinkClick r:id="rId4"/>
              </a:rPr>
              <a:t>Australian Curriculum </a:t>
            </a:r>
            <a:r>
              <a:rPr lang="en-AU"/>
              <a:t>website (National Numeracy Learning Progression) (accessed 29 February 2024) and was not modified. </a:t>
            </a:r>
          </a:p>
          <a:p>
            <a:r>
              <a:rPr lang="en-AU"/>
              <a:t>ACARA (2023a) </a:t>
            </a:r>
            <a:r>
              <a:rPr lang="en-AU">
                <a:hlinkClick r:id="rId5"/>
              </a:rPr>
              <a:t>NAPLAN 2014 Final test, Numeracy, Year 3 test papers and answers </a:t>
            </a:r>
            <a:r>
              <a:rPr lang="en-AU"/>
              <a:t>[PDF 4.48 MB], NAPLAN, accessed 29 February 2024. </a:t>
            </a:r>
          </a:p>
          <a:p>
            <a:r>
              <a:rPr lang="en-AU"/>
              <a:t>ACARA (2023b) </a:t>
            </a:r>
            <a:r>
              <a:rPr lang="en-AU">
                <a:hlinkClick r:id="rId6"/>
              </a:rPr>
              <a:t>NAPLAN 2015 Final test, Numeracy, Year 3 test papers and answers </a:t>
            </a:r>
            <a:r>
              <a:rPr lang="en-AU"/>
              <a:t>[PDF 2.89 MB], NAPLAN, accessed 29 February 2024. </a:t>
            </a:r>
          </a:p>
          <a:p>
            <a:r>
              <a:rPr lang="en-AU"/>
              <a:t>Amplify Education (n.d.) </a:t>
            </a:r>
            <a:r>
              <a:rPr lang="en-AU">
                <a:hlinkClick r:id="rId7"/>
              </a:rPr>
              <a:t>Virtual manipulatives</a:t>
            </a:r>
            <a:r>
              <a:rPr lang="en-AU"/>
              <a:t>, Amplify </a:t>
            </a:r>
            <a:r>
              <a:rPr lang="en-AU" err="1"/>
              <a:t>Polypad</a:t>
            </a:r>
            <a:r>
              <a:rPr lang="en-AU"/>
              <a:t> website, accessed 29 February 2024. </a:t>
            </a:r>
          </a:p>
          <a:p>
            <a:r>
              <a:rPr lang="en-AU"/>
              <a:t>Clarke D and Roche A (2014) ‘Colour in fractions’ in Clarke D and Roche A (eds) Engaging Maths: 25 favourite lessons, 2nd </a:t>
            </a:r>
            <a:r>
              <a:rPr lang="en-AU" err="1"/>
              <a:t>edn</a:t>
            </a:r>
            <a:r>
              <a:rPr lang="en-AU"/>
              <a:t>, Mathematics Teaching and Learning Centre, Australia. </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8">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9">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0">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3114146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(2) (1)</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r>
              <a:rPr lang="en-AU" err="1"/>
              <a:t>Didax</a:t>
            </a:r>
            <a:r>
              <a:rPr lang="en-AU"/>
              <a:t>, Inc (2023) ‘</a:t>
            </a:r>
            <a:r>
              <a:rPr lang="en-AU">
                <a:hlinkClick r:id="rId2"/>
              </a:rPr>
              <a:t>Fraction number line</a:t>
            </a:r>
            <a:r>
              <a:rPr lang="en-AU"/>
              <a:t>’, Virtual Manipulatives, </a:t>
            </a:r>
            <a:r>
              <a:rPr lang="en-AU" err="1"/>
              <a:t>Didax</a:t>
            </a:r>
            <a:r>
              <a:rPr lang="en-AU"/>
              <a:t> website, accessed 29 February 2024. </a:t>
            </a:r>
          </a:p>
          <a:p>
            <a:r>
              <a:rPr lang="en-AU"/>
              <a:t>ESA (Education Services Australia Ltd) and AAMT (The Australian Association of Mathematics Teachers) (n.d.) ‘Fraction wall game’, Fractions, Top Drawer Teachers: Resources for Teachers of Mathematics website, accessed 29 February 2024. </a:t>
            </a:r>
          </a:p>
          <a:p>
            <a:r>
              <a:rPr lang="en-AU" err="1"/>
              <a:t>Siemon</a:t>
            </a:r>
            <a:r>
              <a:rPr lang="en-AU"/>
              <a:t> D, Warren E, Beswick K, Faragher R, Miller J, Horne M, </a:t>
            </a:r>
            <a:r>
              <a:rPr lang="en-AU" err="1"/>
              <a:t>Jazby</a:t>
            </a:r>
            <a:r>
              <a:rPr lang="en-AU"/>
              <a:t> D, Breed M, Clark J and Brady K (2022) Teaching Mathematics: Foundations to Middle Years, 3rd </a:t>
            </a:r>
            <a:r>
              <a:rPr lang="en-AU" err="1"/>
              <a:t>edn</a:t>
            </a:r>
            <a:r>
              <a:rPr lang="en-AU"/>
              <a:t>, Oxford University Press, Australia. </a:t>
            </a:r>
          </a:p>
          <a:p>
            <a:r>
              <a:rPr lang="en-AU"/>
              <a:t>Valentine J (2024) ‘</a:t>
            </a:r>
            <a:r>
              <a:rPr lang="en-AU">
                <a:hlinkClick r:id="rId3"/>
              </a:rPr>
              <a:t>Fractions on a Number Line - Beyond One Whole</a:t>
            </a:r>
            <a:r>
              <a:rPr lang="en-AU"/>
              <a:t>’, Unit 9: Fractions, </a:t>
            </a:r>
            <a:r>
              <a:rPr lang="en-AU" err="1"/>
              <a:t>BetterLesson</a:t>
            </a:r>
            <a:r>
              <a:rPr lang="en-AU"/>
              <a:t> website, accessed 29 February 2024. </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6">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109571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40EDD703-71B5-4294-919E-34563A64235E}" vid="{64077C9F-2B72-4F25-81A2-2C123044CA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e763d47-3c66-4c58-9425-1477fd3ccd1e">
      <Terms xmlns="http://schemas.microsoft.com/office/infopath/2007/PartnerControls"/>
    </lcf76f155ced4ddcb4097134ff3c332f>
    <TaxCatchAll xmlns="60129b06-f64b-40a8-96e2-c5b2f86112b1" xsi:nil="true"/>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B2FC408-EBDE-466E-8DF7-2730697F37F7}">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E555570-2BD4-426B-AA32-0A79CB6508A8}">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Review of learning template</Template>
  <TotalTime>0</TotalTime>
  <Words>6614</Words>
  <Application>Microsoft Office PowerPoint</Application>
  <PresentationFormat>Widescreen</PresentationFormat>
  <Paragraphs>840</Paragraphs>
  <Slides>69</Slides>
  <Notes>67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69</vt:i4>
      </vt:variant>
    </vt:vector>
  </HeadingPairs>
  <TitlesOfParts>
    <vt:vector size="79" baseType="lpstr">
      <vt:lpstr>Calibri</vt:lpstr>
      <vt:lpstr>Montserrat</vt:lpstr>
      <vt:lpstr>Cambria Math</vt:lpstr>
      <vt:lpstr>Times New Roman</vt:lpstr>
      <vt:lpstr>Wingdings</vt:lpstr>
      <vt:lpstr>Arial Black</vt:lpstr>
      <vt:lpstr>Public Sans Light</vt:lpstr>
      <vt:lpstr>Public Sans</vt:lpstr>
      <vt:lpstr>Arial</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strategies to estimate discounts</vt:lpstr>
      <vt:lpstr>Review of learning 2</vt:lpstr>
      <vt:lpstr>True or false (1)</vt:lpstr>
      <vt:lpstr>Short response (5)</vt:lpstr>
      <vt:lpstr>Short response (6)</vt:lpstr>
      <vt:lpstr>Short response (7)</vt:lpstr>
      <vt:lpstr>Short response (8)</vt:lpstr>
      <vt:lpstr>Activity 2 – percentage discounts</vt:lpstr>
      <vt:lpstr>Review of learning 3</vt:lpstr>
      <vt:lpstr>Multiple choice (2)</vt:lpstr>
      <vt:lpstr>Short response (9)</vt:lpstr>
      <vt:lpstr>Short response (10)</vt:lpstr>
      <vt:lpstr>Short response (11)</vt:lpstr>
      <vt:lpstr>Short response (12)</vt:lpstr>
      <vt:lpstr>Activity 3 – strategies to estimate discounts</vt:lpstr>
      <vt:lpstr>Review of learning 4</vt:lpstr>
      <vt:lpstr>True or false (2)</vt:lpstr>
      <vt:lpstr>Short response (13)</vt:lpstr>
      <vt:lpstr>Short response (14)</vt:lpstr>
      <vt:lpstr>Short response (15)</vt:lpstr>
      <vt:lpstr>Short response (16)</vt:lpstr>
      <vt:lpstr>Activity 4 – negative number line</vt:lpstr>
      <vt:lpstr>Review of learning 5</vt:lpstr>
      <vt:lpstr>Multiple choice (3)</vt:lpstr>
      <vt:lpstr>Short response (17)</vt:lpstr>
      <vt:lpstr>Short response (18)</vt:lpstr>
      <vt:lpstr>Short response (19)</vt:lpstr>
      <vt:lpstr>Short response (20)</vt:lpstr>
      <vt:lpstr>Activity 5 – number patterns</vt:lpstr>
      <vt:lpstr>Review of learning 6</vt:lpstr>
      <vt:lpstr>True or false (3)</vt:lpstr>
      <vt:lpstr>Short response (21)</vt:lpstr>
      <vt:lpstr>Short response (22)</vt:lpstr>
      <vt:lpstr>Short response (23)</vt:lpstr>
      <vt:lpstr>Short response (24)</vt:lpstr>
      <vt:lpstr>Activity 6 – multiplication to solve division problems</vt:lpstr>
      <vt:lpstr>Review of learning 7</vt:lpstr>
      <vt:lpstr>Multiple choice (4)</vt:lpstr>
      <vt:lpstr>Short response (25)</vt:lpstr>
      <vt:lpstr>Short response (26)</vt:lpstr>
      <vt:lpstr>Short response (27)</vt:lpstr>
      <vt:lpstr>Short response (28)</vt:lpstr>
      <vt:lpstr>Activity 7 – integers to describe numbers(1)</vt:lpstr>
      <vt:lpstr>Review of learning 8</vt:lpstr>
      <vt:lpstr>True or false (4)</vt:lpstr>
      <vt:lpstr>Short response (29)</vt:lpstr>
      <vt:lpstr>Short response (30)</vt:lpstr>
      <vt:lpstr>Short response (31)</vt:lpstr>
      <vt:lpstr>Short response (32)</vt:lpstr>
      <vt:lpstr>Activity 8 – strategies to multiply </vt:lpstr>
      <vt:lpstr>Double Venn diagram</vt:lpstr>
      <vt:lpstr>Frayer</vt:lpstr>
      <vt:lpstr>Spider map</vt:lpstr>
      <vt:lpstr>Cline</vt:lpstr>
      <vt:lpstr>Compare and contrast</vt:lpstr>
      <vt:lpstr>Multiple choice (5)</vt:lpstr>
      <vt:lpstr>Multiple choice (6)</vt:lpstr>
      <vt:lpstr>References</vt:lpstr>
      <vt:lpstr>References (2) (1)</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2025-08-17T22:34:22Z</dcterms:created>
  <dcterms:modified xsi:type="dcterms:W3CDTF">2025-09-03T03:10:47Z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