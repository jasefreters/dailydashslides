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80"/>
  </p:notesMasterIdLst>
  <p:handoutMasterIdLst>
    <p:handoutMasterId r:id="rId81"/>
  </p:handoutMasterIdLst>
  <p:sldIdLst>
    <p:sldId id="365" r:id="rId5"/>
    <p:sldId id="26579" r:id="rId6"/>
    <p:sldId id="26359" r:id="rId7"/>
    <p:sldId id="271" r:id="rId8"/>
    <p:sldId id="26577"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456" r:id="rId50"/>
    <p:sldId id="26457" r:id="rId51"/>
    <p:sldId id="26458" r:id="rId52"/>
    <p:sldId id="26459" r:id="rId53"/>
    <p:sldId id="26460" r:id="rId54"/>
    <p:sldId id="26461" r:id="rId55"/>
    <p:sldId id="26628" r:id="rId56"/>
    <p:sldId id="26629" r:id="rId57"/>
    <p:sldId id="26632" r:id="rId58"/>
    <p:sldId id="26633" r:id="rId59"/>
    <p:sldId id="26634" r:id="rId60"/>
    <p:sldId id="26635" r:id="rId61"/>
    <p:sldId id="26636" r:id="rId62"/>
    <p:sldId id="26650" r:id="rId63"/>
    <p:sldId id="26637" r:id="rId64"/>
    <p:sldId id="26640" r:id="rId65"/>
    <p:sldId id="26641" r:id="rId66"/>
    <p:sldId id="26642" r:id="rId67"/>
    <p:sldId id="26643" r:id="rId68"/>
    <p:sldId id="26644" r:id="rId69"/>
    <p:sldId id="26645" r:id="rId70"/>
    <p:sldId id="26393" r:id="rId71"/>
    <p:sldId id="26387" r:id="rId72"/>
    <p:sldId id="26395" r:id="rId73"/>
    <p:sldId id="26391" r:id="rId74"/>
    <p:sldId id="26402" r:id="rId75"/>
    <p:sldId id="26507" r:id="rId76"/>
    <p:sldId id="26649" r:id="rId77"/>
    <p:sldId id="360" r:id="rId78"/>
    <p:sldId id="361" r:id="rId79"/>
  </p:sldIdLst>
  <p:sldSz cx="12192000" cy="6858000"/>
  <p:notesSz cx="6858000" cy="9144000"/>
  <p:embeddedFontLst>
    <p:embeddedFont>
      <p:font typeface="Aptos Narrow" panose="020B0004020202020204" pitchFamily="34" charset="0"/>
      <p:regular r:id="rId82"/>
      <p:bold r:id="rId83"/>
      <p:italic r:id="rId84"/>
      <p:boldItalic r:id="rId85"/>
    </p:embeddedFont>
    <p:embeddedFont>
      <p:font typeface="Arial Black" panose="020B0A04020102020204" pitchFamily="34" charset="0"/>
      <p:bold r:id="rId86"/>
    </p:embeddedFont>
    <p:embeddedFont>
      <p:font typeface="Cambria Math" panose="02040503050406030204" pitchFamily="18" charset="0"/>
      <p:regular r:id="rId87"/>
    </p:embeddedFont>
    <p:embeddedFont>
      <p:font typeface="Montserrat" panose="00000500000000000000" pitchFamily="2" charset="0"/>
      <p:regular r:id="rId88"/>
      <p:bold r:id="rId89"/>
      <p:italic r:id="rId90"/>
      <p:boldItalic r:id="rId91"/>
    </p:embeddedFont>
    <p:embeddedFont>
      <p:font typeface="Public Sans" pitchFamily="2" charset="0"/>
      <p:regular r:id="rId92"/>
      <p:bold r:id="rId93"/>
      <p:italic r:id="rId94"/>
      <p:boldItalic r:id="rId95"/>
    </p:embeddedFont>
    <p:embeddedFont>
      <p:font typeface="Public Sans Light" pitchFamily="2" charset="0"/>
      <p:regular r:id="rId96"/>
      <p:italic r:id="rId97"/>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 id="26456"/>
            <p14:sldId id="26457"/>
            <p14:sldId id="26458"/>
            <p14:sldId id="26459"/>
            <p14:sldId id="26460"/>
            <p14:sldId id="26461"/>
          </p14:sldIdLst>
        </p14:section>
        <p14:section name="Review of learning 7" id="{CF63834E-0BE9-495B-9761-037C836F185E}">
          <p14:sldIdLst>
            <p14:sldId id="26628"/>
            <p14:sldId id="26629"/>
            <p14:sldId id="26632"/>
            <p14:sldId id="26633"/>
            <p14:sldId id="26634"/>
            <p14:sldId id="26635"/>
            <p14:sldId id="26636"/>
            <p14:sldId id="26650"/>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4021882F-C6B3-C55E-767D-27181BD16F2B}" name="Melinda Ojeda" initials="MO" userId="S::Melinda.Ojeda@det.nsw.edu.au::d90aca96-824c-4874-b48e-bcce1db91155" providerId="AD"/>
  <p188:author id="{B36B902F-6F14-FDC8-5F7B-570CA3145C15}" name="Melinda Ojeda" initials="MO" userId="S::melinda.ojeda@det.nsw.edu.au::d90aca96-824c-4874-b48e-bcce1db91155"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153A"/>
    <a:srgbClr val="9933FF"/>
    <a:srgbClr val="64BB47"/>
    <a:srgbClr val="8844F5"/>
    <a:srgbClr val="EE6314"/>
    <a:srgbClr val="FFFFFF"/>
    <a:srgbClr val="EA9B0C"/>
    <a:srgbClr val="FFFFCC"/>
    <a:srgbClr val="007A8A"/>
    <a:srgbClr val="9B68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638" autoAdjust="0"/>
  </p:normalViewPr>
  <p:slideViewPr>
    <p:cSldViewPr snapToGrid="0">
      <p:cViewPr varScale="1">
        <p:scale>
          <a:sx n="16" d="100"/>
          <a:sy n="16" d="100"/>
        </p:scale>
        <p:origin x="924" y="36"/>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microsoft.com/office/2018/10/relationships/authors" Target="authors.xml"/><Relationship Id="rId5" Type="http://schemas.openxmlformats.org/officeDocument/2006/relationships/slide" Target="slides/slide1.xml"/><Relationship Id="rId90" Type="http://schemas.openxmlformats.org/officeDocument/2006/relationships/font" Target="fonts/font9.fntdata"/><Relationship Id="rId95" Type="http://schemas.openxmlformats.org/officeDocument/2006/relationships/font" Target="fonts/font14.fntdata"/><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notesMaster" Target="notesMasters/notesMaster1.xml"/><Relationship Id="rId85" Type="http://schemas.openxmlformats.org/officeDocument/2006/relationships/font" Target="fonts/font4.fntdata"/><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font" Target="fonts/font15.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handoutMaster" Target="handoutMasters/handoutMaster1.xml"/><Relationship Id="rId86" Type="http://schemas.openxmlformats.org/officeDocument/2006/relationships/font" Target="fonts/font5.fntdata"/><Relationship Id="rId94" Type="http://schemas.openxmlformats.org/officeDocument/2006/relationships/font" Target="fonts/font13.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16.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1.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6.fntdata"/><Relationship Id="rId61" Type="http://schemas.openxmlformats.org/officeDocument/2006/relationships/slide" Target="slides/slide57.xml"/><Relationship Id="rId82" Type="http://schemas.openxmlformats.org/officeDocument/2006/relationships/font" Target="fonts/font1.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2.fntdata"/><Relationship Id="rId98" Type="http://schemas.openxmlformats.org/officeDocument/2006/relationships/presProps" Target="presProps.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2/04/2026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9</a:t>
            </a:r>
          </a:p>
          <a:p>
            <a:pPr marL="285750" indent="-285750">
              <a:buFont typeface="Arial" panose="020B0604020202020204" pitchFamily="34" charset="0"/>
              <a:buChar char="•"/>
            </a:pPr>
            <a:r>
              <a:rPr lang="en-AU"/>
              <a:t>Stage 3 Year A Unit 8</a:t>
            </a:r>
          </a:p>
          <a:p>
            <a:pPr marL="285750" indent="-285750">
              <a:buFont typeface="Arial" panose="020B0604020202020204" pitchFamily="34" charset="0"/>
              <a:buChar char="•"/>
            </a:pPr>
            <a:r>
              <a:rPr lang="en-AU"/>
              <a:t>Stage 3 Year A Unit 7</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highlight>
                  <a:srgbClr val="FFFF00"/>
                </a:highlight>
              </a:rPr>
              <a:t>Represents numbers A</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B (stage 2 content)</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 (Stage 2 content)</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Decimals on a number line</a:t>
            </a:r>
          </a:p>
          <a:p>
            <a:endParaRPr lang="en-AU" b="1"/>
          </a:p>
          <a:p>
            <a:r>
              <a:rPr lang="en-AU" b="0"/>
              <a:t>This resource corresponds to Resource 20 – decimal cards in Stage 3 Year A Unit 9.</a:t>
            </a:r>
          </a:p>
          <a:p>
            <a:endParaRPr lang="en-AU" b="0"/>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pre-cut Resource 20 – decimal cards before the start of the lesson. To support place value conceptual understanding, 1.429 would be read as one and four hundred and twenty-nine thousandths. The language connects the decimal fraction with the whole number and makes a connection with common fractions.</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Give each student a card from Resource 20 – decimal cards.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read their decimal number aloud and then place it on the number line </a:t>
            </a:r>
            <a:r>
              <a:rPr lang="en-AU" b="0"/>
              <a: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explain their reasoning for placing the card in that position.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use the existing whole numbers and decimals on the number line to help determine where their card should be placed.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Once students have placed numbers, ask:</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Are there any numbers that need to have their position adjusted? If yes, explain why.</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Which decimals are closest to the whole numbers?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Are there any numbers you have seen represented in more than one way? For example, 0.50 and 0.5</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If I have a card with the number 2.25, where would I place it?</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 A</a:t>
            </a:r>
          </a:p>
          <a:p>
            <a:endParaRPr lang="en-AU"/>
          </a:p>
          <a:p>
            <a:r>
              <a:rPr lang="en-AU" b="1"/>
              <a:t>Approximating decimals</a:t>
            </a:r>
          </a:p>
          <a:p>
            <a:endParaRPr lang="en-AU" b="1"/>
          </a:p>
          <a:p>
            <a:r>
              <a:rPr lang="en-AU" b="0"/>
              <a:t>This resource corresponds to Resource 21 – decimals with zeros in Stage 3 Year A Unit 9. </a:t>
            </a:r>
          </a:p>
          <a:p>
            <a:endParaRPr lang="en-AU" b="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the Stage 3 teaching advice states that the role of zero as a place holder assists in understanding how we say and write decimals. Zero is written in the ones place in a decimal to reduce the risk of misreading the decimal as a whole number. The number 0.2 has the same value as 0.20 and the number 2 has the same value as 2.0. In measurement, zeros at the end of a decimal have a different meaning as they are used to record precision. A measurement recorded as 0.2 seconds is measured in tenths of a second. A measurement recorded as 0.20 seconds is measured in hundredths of a second.</a:t>
            </a:r>
          </a:p>
          <a:p>
            <a:endParaRPr lang="en-AU" b="0"/>
          </a:p>
          <a:p>
            <a:pPr marL="285750" indent="-285750">
              <a:buFont typeface="Arial" panose="020B0604020202020204" pitchFamily="34" charset="0"/>
              <a:buChar char="•"/>
            </a:pPr>
            <a:r>
              <a:rPr lang="en-AU" b="0"/>
              <a:t>Revise with students the role of zero as a placeholder to support saying and writing decimals. Revise how we must write a zero in the ones place if the decimal is smaller than 1.</a:t>
            </a:r>
          </a:p>
          <a:p>
            <a:pPr marL="285750" indent="-285750">
              <a:buFont typeface="Arial" panose="020B0604020202020204" pitchFamily="34" charset="0"/>
              <a:buChar char="•"/>
            </a:pPr>
            <a:r>
              <a:rPr lang="en-AU" b="0"/>
              <a:t>Small groups of students cut up Resource 24 – decimals with zeros.</a:t>
            </a:r>
          </a:p>
          <a:p>
            <a:pPr marL="285750" indent="-285750">
              <a:buFont typeface="Arial" panose="020B0604020202020204" pitchFamily="34" charset="0"/>
              <a:buChar char="•"/>
            </a:pPr>
            <a:r>
              <a:rPr lang="en-AU" b="0"/>
              <a:t>Students take turns to select a card, read the decimal aloud and sort the cards from smallest to largest, justifying decisions. Students decide which zeros matter. For example, the zeros in 0.025 are important, but the zero in 1.590 does not affect the place value if removed.</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when reading aloud, the normal convention is to ignore the end zeros. For example, 0.500 is interpreted as 0.5 and read as 5 tenths.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groups are working, monitor any misconceptions about the role of zeros in decimals.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Once groups have ordered the cards, they compare their card order to another group.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Were there any groups that had any cards in a different position? Why do you think that is?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Did your group face any challenges while deciding on the order of cards?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Are all zeros in decimal numbers important? Why or why not?</a:t>
            </a:r>
          </a:p>
          <a:p>
            <a:pPr marL="285750" indent="-285750">
              <a:buFont typeface="Arial" panose="020B0604020202020204" pitchFamily="34" charset="0"/>
              <a:buChar char="•"/>
            </a:pPr>
            <a:endParaRPr lang="en-AU" b="0"/>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highlight>
                  <a:srgbClr val="FFFF00"/>
                </a:highlight>
              </a:rPr>
              <a:t>Represents numbers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B</a:t>
            </a:r>
            <a:br>
              <a:rPr lang="en-AU" sz="1600" b="0" i="0" u="none" strike="noStrike" kern="1200">
                <a:solidFill>
                  <a:schemeClr val="tx1"/>
                </a:solidFill>
                <a:effectLst/>
                <a:latin typeface="Arial" panose="020B0604020202020204" pitchFamily="34" charset="0"/>
                <a:ea typeface="+mn-ea"/>
                <a:cs typeface="Arial" panose="020B0604020202020204" pitchFamily="34" charset="0"/>
              </a:rPr>
            </a:br>
            <a:endParaRPr lang="en-AU">
              <a:effectLst/>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b="1"/>
                  <a:t>Note: </a:t>
                </a:r>
                <a:r>
                  <a:rPr lang="en-AU" b="0"/>
                  <a:t>this slide is designed to be viewed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Approximating decimals</a:t>
                </a:r>
              </a:p>
              <a:p>
                <a:endParaRPr lang="en-AU" b="1"/>
              </a:p>
              <a:p>
                <a:r>
                  <a:rPr lang="en-AU" b="0"/>
                  <a:t>This resource corresponds to Resource 22 – decimal flash cards in Stage 3 Year A Unit 9. </a:t>
                </a:r>
              </a:p>
              <a:p>
                <a:endParaRPr lang="en-AU" b="1"/>
              </a:p>
              <a:p>
                <a:pPr marL="0" indent="0">
                  <a:buFont typeface="+mj-lt"/>
                  <a:buNone/>
                </a:pPr>
                <a:r>
                  <a:rPr lang="en-AU" b="1"/>
                  <a:t>Approximate:</a:t>
                </a:r>
                <a:r>
                  <a:rPr lang="en-AU" b="0"/>
                  <a:t> an estimate of a number or an amount to a particular accuracy. For example, to 2 decimal places 1.254 is 1.25.</a:t>
                </a:r>
              </a:p>
              <a:p>
                <a:pPr marL="0" indent="0">
                  <a:buFont typeface="+mj-lt"/>
                  <a:buNone/>
                </a:pPr>
                <a:endParaRPr lang="en-AU" b="0"/>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b="0"/>
                  <a:t>Revise benchmark fractions as decimal numbers. For example, </a:t>
                </a:r>
                <a:r>
                  <a:rPr lang="en-AU" sz="1600" kern="1200">
                    <a:solidFill>
                      <a:schemeClr val="tx1"/>
                    </a:solidFill>
                    <a:effectLst/>
                    <a:latin typeface="Arial" panose="020B0604020202020204" pitchFamily="34" charset="0"/>
                    <a:ea typeface="+mn-ea"/>
                    <a:cs typeface="Arial" panose="020B0604020202020204" pitchFamily="34" charset="0"/>
                  </a:rPr>
                  <a:t>,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4</m:t>
                        </m:r>
                      </m:den>
                    </m:f>
                  </m:oMath>
                </a14:m>
                <a:r>
                  <a:rPr lang="en-AU" sz="1600" kern="1200">
                    <a:solidFill>
                      <a:schemeClr val="tx1"/>
                    </a:solidFill>
                    <a:effectLst/>
                    <a:latin typeface="Arial" panose="020B0604020202020204" pitchFamily="34" charset="0"/>
                    <a:ea typeface="+mn-ea"/>
                    <a:cs typeface="Arial" panose="020B0604020202020204" pitchFamily="34" charset="0"/>
                  </a:rPr>
                  <a:t> is 0.25,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2</m:t>
                        </m:r>
                      </m:den>
                    </m:f>
                  </m:oMath>
                </a14:m>
                <a:r>
                  <a:rPr lang="en-AU" sz="1600" kern="1200">
                    <a:solidFill>
                      <a:schemeClr val="tx1"/>
                    </a:solidFill>
                    <a:effectLst/>
                    <a:latin typeface="Arial" panose="020B0604020202020204" pitchFamily="34" charset="0"/>
                    <a:ea typeface="+mn-ea"/>
                    <a:cs typeface="Arial" panose="020B0604020202020204" pitchFamily="34" charset="0"/>
                  </a:rPr>
                  <a:t> is 0.50 and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3</m:t>
                        </m:r>
                      </m:num>
                      <m:den>
                        <m:r>
                          <a:rPr lang="en-AU" sz="1600" i="1" kern="1200">
                            <a:solidFill>
                              <a:schemeClr val="tx1"/>
                            </a:solidFill>
                            <a:effectLst/>
                            <a:latin typeface="Cambria Math" panose="02040503050406030204" pitchFamily="18" charset="0"/>
                            <a:ea typeface="+mn-ea"/>
                            <a:cs typeface="Arial" panose="020B0604020202020204" pitchFamily="34" charset="0"/>
                          </a:rPr>
                          <m:t>4</m:t>
                        </m:r>
                      </m:den>
                    </m:f>
                  </m:oMath>
                </a14:m>
                <a:r>
                  <a:rPr lang="en-AU" sz="1600" kern="1200">
                    <a:solidFill>
                      <a:schemeClr val="tx1"/>
                    </a:solidFill>
                    <a:effectLst/>
                    <a:latin typeface="Arial" panose="020B0604020202020204" pitchFamily="34" charset="0"/>
                    <a:ea typeface="+mn-ea"/>
                    <a:cs typeface="Arial" panose="020B0604020202020204" pitchFamily="34" charset="0"/>
                  </a:rPr>
                  <a:t> is 0.75.</a:t>
                </a:r>
                <a:endParaRPr lang="en-AU" b="0"/>
              </a:p>
              <a:p>
                <a:pPr marL="285750" indent="-285750">
                  <a:buFont typeface="Arial" panose="020B0604020202020204" pitchFamily="34" charset="0"/>
                  <a:buChar char="•"/>
                </a:pPr>
                <a:r>
                  <a:rPr lang="en-AU" b="0"/>
                  <a:t>Explain to students that they will be approximating decimals to the nearest benchmark fraction. </a:t>
                </a:r>
                <a:r>
                  <a:rPr lang="en-AU" sz="1600" kern="1200">
                    <a:solidFill>
                      <a:schemeClr val="tx1"/>
                    </a:solidFill>
                    <a:effectLst/>
                    <a:latin typeface="Arial" panose="020B0604020202020204" pitchFamily="34" charset="0"/>
                    <a:ea typeface="+mn-ea"/>
                    <a:cs typeface="Arial" panose="020B0604020202020204" pitchFamily="34" charset="0"/>
                  </a:rPr>
                  <a:t>0.254 is approximated to 2 decimal places as 0.25 or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4</m:t>
                        </m:r>
                      </m:den>
                    </m:f>
                  </m:oMath>
                </a14:m>
                <a:endParaRPr lang="en-AU" b="0"/>
              </a:p>
              <a:p>
                <a:pPr marL="285750" indent="-285750">
                  <a:buFont typeface="Arial" panose="020B0604020202020204" pitchFamily="34" charset="0"/>
                  <a:buChar char="•"/>
                </a:pPr>
                <a:r>
                  <a:rPr lang="en-AU" b="0"/>
                  <a:t>Display a decimal card from Resource 22 – decimal flash cards. Ask students what the closest benchmark is. </a:t>
                </a:r>
                <a:r>
                  <a:rPr lang="en-AU" sz="1600" kern="1200">
                    <a:solidFill>
                      <a:schemeClr val="tx1"/>
                    </a:solidFill>
                    <a:effectLst/>
                    <a:latin typeface="Arial" panose="020B0604020202020204" pitchFamily="34" charset="0"/>
                    <a:ea typeface="+mn-ea"/>
                    <a:cs typeface="Arial" panose="020B0604020202020204" pitchFamily="34" charset="0"/>
                  </a:rPr>
                  <a:t>For example, 0.254 is closest to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4</m:t>
                        </m:r>
                      </m:den>
                    </m:f>
                  </m:oMath>
                </a14:m>
                <a:r>
                  <a:rPr lang="en-AU" sz="1600" kern="1200">
                    <a:solidFill>
                      <a:schemeClr val="tx1"/>
                    </a:solidFill>
                    <a:effectLst/>
                    <a:latin typeface="Arial" panose="020B0604020202020204" pitchFamily="34" charset="0"/>
                    <a:ea typeface="+mn-ea"/>
                    <a:cs typeface="Arial" panose="020B0604020202020204" pitchFamily="34" charset="0"/>
                  </a:rPr>
                  <a:t> or 0.25</a:t>
                </a:r>
                <a:r>
                  <a:rPr lang="en-AU" b="0"/>
                  <a:t>.</a:t>
                </a:r>
              </a:p>
              <a:p>
                <a:pPr marL="285750" indent="-285750">
                  <a:buFont typeface="Arial" panose="020B0604020202020204" pitchFamily="34" charset="0"/>
                  <a:buChar char="•"/>
                </a:pPr>
                <a:r>
                  <a:rPr lang="en-AU" b="0"/>
                  <a:t>Provide small groups of students with Resource 22 – decimal flash cards. Students sort cards into 3 groups: close to one-quarter, one-half and three-quarters.</a:t>
                </a:r>
              </a:p>
              <a:p>
                <a:pPr marL="285750" indent="-285750">
                  <a:buFont typeface="Arial" panose="020B0604020202020204" pitchFamily="34" charset="0"/>
                  <a:buChar char="•"/>
                </a:pPr>
                <a:r>
                  <a:rPr lang="en-AU" b="0"/>
                  <a:t>As groups are sorting, monitor and correct any misconceptions about the place value of decimals.</a:t>
                </a:r>
              </a:p>
              <a:p>
                <a:pPr marL="285750" indent="-285750">
                  <a:buFont typeface="Arial" panose="020B0604020202020204" pitchFamily="34" charset="0"/>
                  <a:buChar char="•"/>
                </a:pPr>
                <a:endParaRPr lang="en-AU" b="0"/>
              </a:p>
              <a:p>
                <a:endParaRPr lang="en-AU" b="1"/>
              </a:p>
              <a:p>
                <a:pPr marL="342900" indent="-342900">
                  <a:buFont typeface="+mj-lt"/>
                  <a:buAutoNum type="arabicPeriod"/>
                </a:pPr>
                <a:endParaRPr lang="en-AU"/>
              </a:p>
              <a:p>
                <a:endParaRPr lang="en-AU"/>
              </a:p>
            </p:txBody>
          </p:sp>
        </mc:Choice>
        <mc:Fallback xmlns="">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b="1"/>
                  <a:t>Note: </a:t>
                </a:r>
                <a:r>
                  <a:rPr lang="en-AU" b="0"/>
                  <a:t>this slide is designed to be viewed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Approximating decimals</a:t>
                </a:r>
              </a:p>
              <a:p>
                <a:endParaRPr lang="en-AU" b="1"/>
              </a:p>
              <a:p>
                <a:r>
                  <a:rPr lang="en-AU" b="0"/>
                  <a:t>This resource corresponds to Resource 22 – decimal flash cards in Stage 3 Year A Unit 9. </a:t>
                </a:r>
              </a:p>
              <a:p>
                <a:endParaRPr lang="en-AU" b="1"/>
              </a:p>
              <a:p>
                <a:pPr marL="0" indent="0">
                  <a:buFont typeface="+mj-lt"/>
                  <a:buNone/>
                </a:pPr>
                <a:r>
                  <a:rPr lang="en-AU" b="1"/>
                  <a:t>Approximate:</a:t>
                </a:r>
                <a:r>
                  <a:rPr lang="en-AU" b="0"/>
                  <a:t> an estimate of a number or an amount to a particular accuracy. For example, to 2 decimal places 1.254 is 1.25.</a:t>
                </a:r>
              </a:p>
              <a:p>
                <a:pPr marL="0" indent="0">
                  <a:buFont typeface="+mj-lt"/>
                  <a:buNone/>
                </a:pPr>
                <a:endParaRPr lang="en-AU" b="0"/>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b="0"/>
                  <a:t>Revise benchmark fractions as decimal numbers. For example, </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i="0" kern="1200">
                    <a:solidFill>
                      <a:schemeClr val="tx1"/>
                    </a:solidFill>
                    <a:effectLst/>
                    <a:latin typeface="Cambria Math" panose="02040503050406030204" pitchFamily="18" charset="0"/>
                    <a:ea typeface="+mn-ea"/>
                    <a:cs typeface="Arial" panose="020B0604020202020204" pitchFamily="34" charset="0"/>
                  </a:rPr>
                  <a:t>1/4</a:t>
                </a:r>
                <a:r>
                  <a:rPr lang="en-AU" sz="1600" kern="1200">
                    <a:solidFill>
                      <a:schemeClr val="tx1"/>
                    </a:solidFill>
                    <a:effectLst/>
                    <a:latin typeface="Arial" panose="020B0604020202020204" pitchFamily="34" charset="0"/>
                    <a:ea typeface="+mn-ea"/>
                    <a:cs typeface="Arial" panose="020B0604020202020204" pitchFamily="34" charset="0"/>
                  </a:rPr>
                  <a:t> is 0.25, </a:t>
                </a:r>
                <a:r>
                  <a:rPr lang="en-AU" sz="1600" i="0" kern="1200">
                    <a:solidFill>
                      <a:schemeClr val="tx1"/>
                    </a:solidFill>
                    <a:effectLst/>
                    <a:latin typeface="Cambria Math" panose="02040503050406030204" pitchFamily="18" charset="0"/>
                    <a:ea typeface="+mn-ea"/>
                    <a:cs typeface="Arial" panose="020B0604020202020204" pitchFamily="34" charset="0"/>
                  </a:rPr>
                  <a:t>1/2</a:t>
                </a:r>
                <a:r>
                  <a:rPr lang="en-AU" sz="1600" kern="1200">
                    <a:solidFill>
                      <a:schemeClr val="tx1"/>
                    </a:solidFill>
                    <a:effectLst/>
                    <a:latin typeface="Arial" panose="020B0604020202020204" pitchFamily="34" charset="0"/>
                    <a:ea typeface="+mn-ea"/>
                    <a:cs typeface="Arial" panose="020B0604020202020204" pitchFamily="34" charset="0"/>
                  </a:rPr>
                  <a:t> is 0.50 and </a:t>
                </a:r>
                <a:r>
                  <a:rPr lang="en-AU" sz="1600" i="0" kern="1200">
                    <a:solidFill>
                      <a:schemeClr val="tx1"/>
                    </a:solidFill>
                    <a:effectLst/>
                    <a:latin typeface="Cambria Math" panose="02040503050406030204" pitchFamily="18" charset="0"/>
                    <a:ea typeface="+mn-ea"/>
                    <a:cs typeface="Arial" panose="020B0604020202020204" pitchFamily="34" charset="0"/>
                  </a:rPr>
                  <a:t>3/4</a:t>
                </a:r>
                <a:r>
                  <a:rPr lang="en-AU" sz="1600" kern="1200">
                    <a:solidFill>
                      <a:schemeClr val="tx1"/>
                    </a:solidFill>
                    <a:effectLst/>
                    <a:latin typeface="Arial" panose="020B0604020202020204" pitchFamily="34" charset="0"/>
                    <a:ea typeface="+mn-ea"/>
                    <a:cs typeface="Arial" panose="020B0604020202020204" pitchFamily="34" charset="0"/>
                  </a:rPr>
                  <a:t> is 0.75.</a:t>
                </a:r>
                <a:endParaRPr lang="en-AU" b="0"/>
              </a:p>
              <a:p>
                <a:pPr marL="285750" indent="-285750">
                  <a:buFont typeface="Arial" panose="020B0604020202020204" pitchFamily="34" charset="0"/>
                  <a:buChar char="•"/>
                </a:pPr>
                <a:r>
                  <a:rPr lang="en-AU" b="0"/>
                  <a:t>Explain to students that they will be approximating decimals to the nearest benchmark fraction. </a:t>
                </a:r>
                <a:r>
                  <a:rPr lang="en-AU" sz="1600" kern="1200">
                    <a:solidFill>
                      <a:schemeClr val="tx1"/>
                    </a:solidFill>
                    <a:effectLst/>
                    <a:latin typeface="Arial" panose="020B0604020202020204" pitchFamily="34" charset="0"/>
                    <a:ea typeface="+mn-ea"/>
                    <a:cs typeface="Arial" panose="020B0604020202020204" pitchFamily="34" charset="0"/>
                  </a:rPr>
                  <a:t>0.254 is approximated to 2 decimal places as 0.25 or </a:t>
                </a:r>
                <a:r>
                  <a:rPr lang="en-AU" sz="1600" i="0" kern="1200">
                    <a:solidFill>
                      <a:schemeClr val="tx1"/>
                    </a:solidFill>
                    <a:effectLst/>
                    <a:latin typeface="Cambria Math" panose="02040503050406030204" pitchFamily="18" charset="0"/>
                    <a:ea typeface="+mn-ea"/>
                    <a:cs typeface="Arial" panose="020B0604020202020204" pitchFamily="34" charset="0"/>
                  </a:rPr>
                  <a:t>1/4</a:t>
                </a:r>
                <a:endParaRPr lang="en-AU" b="0"/>
              </a:p>
              <a:p>
                <a:pPr marL="285750" indent="-285750">
                  <a:buFont typeface="Arial" panose="020B0604020202020204" pitchFamily="34" charset="0"/>
                  <a:buChar char="•"/>
                </a:pPr>
                <a:r>
                  <a:rPr lang="en-AU" b="0"/>
                  <a:t>Display a decimal card from Resource 22 – decimal flash cards. Ask students what the closest benchmark is. </a:t>
                </a:r>
                <a:r>
                  <a:rPr lang="en-AU" sz="1600" kern="1200">
                    <a:solidFill>
                      <a:schemeClr val="tx1"/>
                    </a:solidFill>
                    <a:effectLst/>
                    <a:latin typeface="Arial" panose="020B0604020202020204" pitchFamily="34" charset="0"/>
                    <a:ea typeface="+mn-ea"/>
                    <a:cs typeface="Arial" panose="020B0604020202020204" pitchFamily="34" charset="0"/>
                  </a:rPr>
                  <a:t>For example, 0.254 is closest to </a:t>
                </a:r>
                <a:r>
                  <a:rPr lang="en-AU" sz="1600" i="0" kern="1200">
                    <a:solidFill>
                      <a:schemeClr val="tx1"/>
                    </a:solidFill>
                    <a:effectLst/>
                    <a:latin typeface="Cambria Math" panose="02040503050406030204" pitchFamily="18" charset="0"/>
                    <a:ea typeface="+mn-ea"/>
                    <a:cs typeface="Arial" panose="020B0604020202020204" pitchFamily="34" charset="0"/>
                  </a:rPr>
                  <a:t>1/4</a:t>
                </a:r>
                <a:r>
                  <a:rPr lang="en-AU" sz="1600" kern="1200">
                    <a:solidFill>
                      <a:schemeClr val="tx1"/>
                    </a:solidFill>
                    <a:effectLst/>
                    <a:latin typeface="Arial" panose="020B0604020202020204" pitchFamily="34" charset="0"/>
                    <a:ea typeface="+mn-ea"/>
                    <a:cs typeface="Arial" panose="020B0604020202020204" pitchFamily="34" charset="0"/>
                  </a:rPr>
                  <a:t> or 0.25</a:t>
                </a:r>
                <a:r>
                  <a:rPr lang="en-AU" b="0"/>
                  <a:t>.</a:t>
                </a:r>
              </a:p>
              <a:p>
                <a:pPr marL="285750" indent="-285750">
                  <a:buFont typeface="Arial" panose="020B0604020202020204" pitchFamily="34" charset="0"/>
                  <a:buChar char="•"/>
                </a:pPr>
                <a:r>
                  <a:rPr lang="en-AU" b="0"/>
                  <a:t>Provide small groups of students with Resource 22 – decimal flash cards. Students sort cards into 3 groups: close to one-quarter, one-half and three-quarters.</a:t>
                </a:r>
              </a:p>
              <a:p>
                <a:pPr marL="285750" indent="-285750">
                  <a:buFont typeface="Arial" panose="020B0604020202020204" pitchFamily="34" charset="0"/>
                  <a:buChar char="•"/>
                </a:pPr>
                <a:r>
                  <a:rPr lang="en-AU" b="0"/>
                  <a:t>As groups are sorting, monitor and correct any misconceptions about the place value of decimals.</a:t>
                </a:r>
              </a:p>
              <a:p>
                <a:pPr marL="285750" indent="-285750">
                  <a:buFont typeface="Arial" panose="020B0604020202020204" pitchFamily="34" charset="0"/>
                  <a:buChar char="•"/>
                </a:pPr>
                <a:endParaRPr lang="en-AU" b="0"/>
              </a:p>
              <a:p>
                <a:endParaRPr lang="en-AU" b="1"/>
              </a:p>
              <a:p>
                <a:pPr marL="342900" indent="-342900">
                  <a:buFont typeface="+mj-lt"/>
                  <a:buAutoNum type="arabicPeriod"/>
                </a:pPr>
                <a:endParaRPr lang="en-AU"/>
              </a:p>
              <a:p>
                <a:endParaRPr lang="en-AU"/>
              </a:p>
            </p:txBody>
          </p:sp>
        </mc:Fallback>
      </mc:AlternateContent>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Comparing and ordering decimals</a:t>
            </a:r>
          </a:p>
          <a:p>
            <a:r>
              <a:rPr lang="en-AU" b="0"/>
              <a:t>This resource corresponds to Resource 22 – decimal flash cards in Stage 3 Year A Unit 9. </a:t>
            </a:r>
          </a:p>
          <a:p>
            <a:endParaRPr lang="en-AU" b="1"/>
          </a:p>
          <a:p>
            <a:pPr marL="285750" indent="-285750">
              <a:buFont typeface="Arial" panose="020B0604020202020204" pitchFamily="34" charset="0"/>
              <a:buChar char="•"/>
            </a:pPr>
            <a:r>
              <a:rPr lang="en-AU" b="0"/>
              <a:t>Provide small groups of students with Resource 22 – decimal flash cards. </a:t>
            </a:r>
          </a:p>
          <a:p>
            <a:pPr marL="285750" indent="-285750">
              <a:buFont typeface="Arial" panose="020B0604020202020204" pitchFamily="34" charset="0"/>
              <a:buChar char="•"/>
            </a:pPr>
            <a:r>
              <a:rPr lang="en-AU" b="0"/>
              <a:t>Students take turns to select a card, read the decimal aloud and sort the cards from smallest to largest.</a:t>
            </a:r>
          </a:p>
          <a:p>
            <a:pPr marL="285750" indent="-285750">
              <a:buFont typeface="Arial" panose="020B0604020202020204" pitchFamily="34" charset="0"/>
              <a:buChar char="•"/>
            </a:pPr>
            <a:r>
              <a:rPr lang="en-AU" b="0"/>
              <a:t>As groups are ordering, monitor and correct any misconceptions about the place value of decimals.</a:t>
            </a:r>
          </a:p>
          <a:p>
            <a:pPr marL="285750" indent="-285750">
              <a:buFont typeface="Arial" panose="020B0604020202020204" pitchFamily="34" charset="0"/>
              <a:buChar char="•"/>
            </a:pPr>
            <a:r>
              <a:rPr lang="en-AU" b="0"/>
              <a:t>Once groups have ordered the cards, they compare their card order to another group. </a:t>
            </a:r>
          </a:p>
          <a:p>
            <a:pPr marL="285750" indent="-285750">
              <a:buFont typeface="Arial" panose="020B0604020202020204" pitchFamily="34" charset="0"/>
              <a:buChar char="•"/>
            </a:pPr>
            <a:r>
              <a:rPr lang="en-AU" b="0"/>
              <a:t>Ask:</a:t>
            </a:r>
          </a:p>
          <a:p>
            <a:pPr marL="0" indent="0">
              <a:buFont typeface="+mj-lt"/>
              <a:buNone/>
            </a:pPr>
            <a:r>
              <a:rPr lang="en-AU" b="0"/>
              <a:t>—	How did you decide which number was the largest and/or smallest?</a:t>
            </a:r>
          </a:p>
          <a:p>
            <a:pPr marL="0" indent="0">
              <a:buFont typeface="+mj-lt"/>
              <a:buNone/>
            </a:pPr>
            <a:r>
              <a:rPr lang="en-AU" b="0"/>
              <a:t>—	How is ordering decimals similar to ordering whole numbers?</a:t>
            </a:r>
          </a:p>
          <a:p>
            <a:pPr marL="0" indent="0">
              <a:buFont typeface="+mj-lt"/>
              <a:buNone/>
            </a:pPr>
            <a:r>
              <a:rPr lang="en-AU" b="0"/>
              <a:t>—	Which digit was most important when comparing these numbers?</a:t>
            </a:r>
          </a:p>
          <a:p>
            <a:pPr marL="0" indent="0">
              <a:buFont typeface="+mj-lt"/>
              <a:buNone/>
            </a:pPr>
            <a:r>
              <a:rPr lang="en-AU" b="0"/>
              <a:t>—	When did you need to compare the digit in the hundredths or thousandths place?</a:t>
            </a:r>
          </a:p>
          <a:p>
            <a:pPr marL="0" indent="0">
              <a:buFont typeface="+mj-lt"/>
              <a:buNone/>
            </a:pPr>
            <a:r>
              <a:rPr lang="en-AU" b="0"/>
              <a:t>—	Were any cards challenging to compare? Why?</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i="0" u="none" strike="noStrike">
                <a:solidFill>
                  <a:srgbClr val="000000"/>
                </a:solidFill>
                <a:effectLst/>
                <a:highlight>
                  <a:srgbClr val="F5F5F5"/>
                </a:highlight>
                <a:latin typeface="Public Sans"/>
              </a:rPr>
              <a:t>Note: </a:t>
            </a:r>
            <a:r>
              <a:rPr lang="en-AU" sz="1600" b="0" i="0" u="none" strike="noStrike">
                <a:solidFill>
                  <a:srgbClr val="000000"/>
                </a:solidFill>
                <a:effectLst/>
                <a:highlight>
                  <a:srgbClr val="F5F5F5"/>
                </a:highlight>
                <a:latin typeface="Public Sans"/>
              </a:rPr>
              <a:t>This slide is designed to be viewed in presentation mode.</a:t>
            </a:r>
            <a:r>
              <a:rPr lang="en-AU" sz="1600" b="0" i="0">
                <a:solidFill>
                  <a:srgbClr val="000000"/>
                </a:solidFill>
                <a:effectLst/>
                <a:highlight>
                  <a:srgbClr val="F5F5F5"/>
                </a:highlight>
                <a:latin typeface="Public Sans"/>
              </a:rPr>
              <a:t>​ </a:t>
            </a:r>
            <a:r>
              <a:rPr lang="en-AU" b="0" i="0" u="none" strike="noStrike">
                <a:solidFill>
                  <a:srgbClr val="000000"/>
                </a:solidFill>
                <a:effectLst/>
                <a:highlight>
                  <a:srgbClr val="F5F5F5"/>
                </a:highlight>
                <a:latin typeface="Public Sans" pitchFamily="2" charset="0"/>
              </a:rPr>
              <a:t>Click on the ‘Spin’ button to make the spinner spin. Click again on the ‘Spin’ button to make it stop.</a:t>
            </a:r>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Thousandths as decimals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figure corresponds to Figure 11 –  whiteboard recording and </a:t>
            </a:r>
            <a:r>
              <a:rPr lang="en-AU" sz="1600" kern="1200">
                <a:solidFill>
                  <a:schemeClr val="tx1"/>
                </a:solidFill>
                <a:effectLst/>
                <a:latin typeface="Arial" panose="020B0604020202020204" pitchFamily="34" charset="0"/>
                <a:ea typeface="+mn-ea"/>
                <a:cs typeface="Arial" panose="020B0604020202020204" pitchFamily="34" charset="0"/>
              </a:rPr>
              <a:t>Figure 12 – student non-standard partitioning sample </a:t>
            </a:r>
            <a:r>
              <a:rPr lang="en-AU" b="0"/>
              <a:t>in Stage 3 Year A Unit 9. </a:t>
            </a:r>
          </a:p>
          <a:p>
            <a:endParaRPr lang="en-AU" b="1"/>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On the whiteboard, draw a place value chart, showing the decimal point and 3 decimal places (see Figure 11).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Spin a 0–9 spinner (or roll a 9-sided dice) 4 times and record a decimal on the board (see Figure 11).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Identify the place value parts and read the decimal number aloud to demonstrate place value understanding. For example, 5.429 is 5 ones, 4 tenths, 2 hundredths and 9 thousandths. However, it is read as 5 and 429 thousandths (see Figure 11).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with a 0–9 spinner (or 9-sided dice). Students take turns to repeat Steps 1–3 on whiteboards. Partners provide feedback on whether the decimal has been read correctly according to its place value.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spin (or roll) another number. Challenge students to consider non-standard place value partitioning:</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If you cannot have a whole number, how many thousandths would you have? For example, 7.264 could be recorded in a non-standard place value form as 7264 thousandths.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If you cannot have tenths, how could you say this number? 7 wholes, 26 hundredths and 4 thousandths.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If you cannot have hundredths, how could you say this number? 7 wholes, 2 tenths and 64 thousandths.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take turns to repeat Step 5 on whiteboards. Partners state the whole number or decimal place that cannot be used. </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the non-standard partitioning. (see Figure 12)</a:t>
            </a:r>
            <a:endParaRPr lang="en-AU" b="0"/>
          </a:p>
          <a:p>
            <a:pPr marL="285750" indent="-285750">
              <a:buFont typeface="Arial" panose="020B0604020202020204" pitchFamily="34" charset="0"/>
              <a:buChar char="•"/>
            </a:pPr>
            <a:endParaRPr lang="en-AU" b="1"/>
          </a:p>
          <a:p>
            <a:pPr marL="342900" indent="-342900">
              <a:buFont typeface="Arial" panose="020B0604020202020204" pitchFamily="34" charset="0"/>
              <a:buChar char="•"/>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Decimals with MAB materials</a:t>
            </a:r>
          </a:p>
          <a:p>
            <a:r>
              <a:rPr lang="en-AU" b="0"/>
              <a:t>This figure corresponds to Figure 13 – MAB representing decimals in Stage 3 Year A Unit 9. </a:t>
            </a:r>
          </a:p>
          <a:p>
            <a:endParaRPr lang="en-AU" b="1"/>
          </a:p>
          <a:p>
            <a:r>
              <a:rPr lang="en-AU" b="0"/>
              <a:t>This activity is an adaptation of ‘Identifies, represents and compares decimals’ from the Universal Resources Hub. </a:t>
            </a:r>
          </a:p>
          <a:p>
            <a:endParaRPr lang="en-AU" b="0"/>
          </a:p>
          <a:p>
            <a:r>
              <a:rPr lang="en-AU" b="0"/>
              <a:t>Show students a collection of MAB materials and explain that, as per Figure 13:</a:t>
            </a:r>
          </a:p>
          <a:p>
            <a:r>
              <a:rPr lang="en-AU" b="0"/>
              <a:t>—	the block represents one whole</a:t>
            </a:r>
          </a:p>
          <a:p>
            <a:r>
              <a:rPr lang="en-AU" b="0"/>
              <a:t>—	the flat represents one tenth</a:t>
            </a:r>
          </a:p>
          <a:p>
            <a:r>
              <a:rPr lang="en-AU" b="0"/>
              <a:t>—	the long represents one hundredth</a:t>
            </a:r>
          </a:p>
          <a:p>
            <a:r>
              <a:rPr lang="en-AU" b="0"/>
              <a:t>—	the one represents one thousandth.</a:t>
            </a:r>
          </a:p>
          <a:p>
            <a:endParaRPr lang="en-AU" b="0"/>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students who have previously only used MAB materials for whole numbers may require support to adjust their thinking.</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Write the following decimal numbers on the board and instruct students to represent them using MAB materials:</a:t>
            </a:r>
          </a:p>
          <a:p>
            <a:endParaRPr lang="en-AU" b="0"/>
          </a:p>
          <a:p>
            <a:pPr lvl="0"/>
            <a:r>
              <a:rPr lang="en-AU" sz="1600" kern="1200">
                <a:solidFill>
                  <a:schemeClr val="tx1"/>
                </a:solidFill>
                <a:effectLst/>
                <a:latin typeface="Arial" panose="020B0604020202020204" pitchFamily="34" charset="0"/>
                <a:ea typeface="+mn-ea"/>
                <a:cs typeface="Arial" panose="020B0604020202020204" pitchFamily="34" charset="0"/>
              </a:rPr>
              <a:t>—	1.594</a:t>
            </a:r>
          </a:p>
          <a:p>
            <a:pPr lvl="0"/>
            <a:r>
              <a:rPr lang="en-AU" sz="1600" kern="1200">
                <a:solidFill>
                  <a:schemeClr val="tx1"/>
                </a:solidFill>
                <a:effectLst/>
                <a:latin typeface="Arial" panose="020B0604020202020204" pitchFamily="34" charset="0"/>
                <a:ea typeface="+mn-ea"/>
                <a:cs typeface="Arial" panose="020B0604020202020204" pitchFamily="34" charset="0"/>
              </a:rPr>
              <a:t>—	2.637</a:t>
            </a:r>
          </a:p>
          <a:p>
            <a:pPr lvl="0"/>
            <a:r>
              <a:rPr lang="en-AU" sz="1600" kern="1200">
                <a:solidFill>
                  <a:schemeClr val="tx1"/>
                </a:solidFill>
                <a:effectLst/>
                <a:latin typeface="Arial" panose="020B0604020202020204" pitchFamily="34" charset="0"/>
                <a:ea typeface="+mn-ea"/>
                <a:cs typeface="Arial" panose="020B0604020202020204" pitchFamily="34" charset="0"/>
              </a:rPr>
              <a:t>—	0.186</a:t>
            </a:r>
          </a:p>
          <a:p>
            <a:pPr lvl="0"/>
            <a:r>
              <a:rPr lang="en-AU" sz="1600" kern="1200">
                <a:solidFill>
                  <a:schemeClr val="tx1"/>
                </a:solidFill>
                <a:effectLst/>
                <a:latin typeface="Arial" panose="020B0604020202020204" pitchFamily="34" charset="0"/>
                <a:ea typeface="+mn-ea"/>
                <a:cs typeface="Arial" panose="020B0604020202020204" pitchFamily="34" charset="0"/>
              </a:rPr>
              <a:t>—	3.045</a:t>
            </a:r>
          </a:p>
          <a:p>
            <a:pPr lvl="0"/>
            <a:r>
              <a:rPr lang="en-AU" sz="1600" kern="1200">
                <a:solidFill>
                  <a:schemeClr val="tx1"/>
                </a:solidFill>
                <a:effectLst/>
                <a:latin typeface="Arial" panose="020B0604020202020204" pitchFamily="34" charset="0"/>
                <a:ea typeface="+mn-ea"/>
                <a:cs typeface="Arial" panose="020B0604020202020204" pitchFamily="34" charset="0"/>
              </a:rPr>
              <a:t>—	2.108</a:t>
            </a:r>
          </a:p>
          <a:p>
            <a:pPr lvl="0"/>
            <a:r>
              <a:rPr lang="en-AU" sz="1600" kern="1200">
                <a:solidFill>
                  <a:schemeClr val="tx1"/>
                </a:solidFill>
                <a:effectLst/>
                <a:latin typeface="Arial" panose="020B0604020202020204" pitchFamily="34" charset="0"/>
                <a:ea typeface="+mn-ea"/>
                <a:cs typeface="Arial" panose="020B0604020202020204" pitchFamily="34" charset="0"/>
              </a:rPr>
              <a:t>—	1.770. </a:t>
            </a:r>
          </a:p>
          <a:p>
            <a:pPr lvl="0"/>
            <a:r>
              <a:rPr lang="en-AU" sz="1600" kern="1200">
                <a:solidFill>
                  <a:schemeClr val="tx1"/>
                </a:solidFill>
                <a:effectLst/>
                <a:latin typeface="Arial" panose="020B0604020202020204" pitchFamily="34" charset="0"/>
                <a:ea typeface="+mn-ea"/>
                <a:cs typeface="Arial" panose="020B0604020202020204" pitchFamily="34" charset="0"/>
              </a:rPr>
              <a:t> </a:t>
            </a:r>
          </a:p>
          <a:p>
            <a:r>
              <a:rPr lang="en-AU" b="0"/>
              <a:t>Ask:</a:t>
            </a:r>
          </a:p>
          <a:p>
            <a:r>
              <a:rPr lang="en-AU" b="0"/>
              <a:t>—	How many whole numbers are there?</a:t>
            </a:r>
          </a:p>
          <a:p>
            <a:r>
              <a:rPr lang="en-AU" b="0"/>
              <a:t>—	How many tenths?</a:t>
            </a:r>
          </a:p>
          <a:p>
            <a:r>
              <a:rPr lang="en-AU" b="0"/>
              <a:t>—	How many hundredths?</a:t>
            </a:r>
          </a:p>
          <a:p>
            <a:r>
              <a:rPr lang="en-AU" b="0"/>
              <a:t>—	How many thousandths?</a:t>
            </a:r>
          </a:p>
          <a:p>
            <a:r>
              <a:rPr lang="en-AU" b="0"/>
              <a:t>—	What was the role of zero?</a:t>
            </a:r>
          </a:p>
          <a:p>
            <a:endParaRPr lang="en-AU" b="0"/>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Note: </a:t>
            </a:r>
            <a:r>
              <a:rPr lang="en-AU"/>
              <a:t>This slide is designed to be interactive. Drag the MAB blocks to make the decimal.</a:t>
            </a:r>
          </a:p>
          <a:p>
            <a:endParaRPr lang="en-AU"/>
          </a:p>
          <a:p>
            <a:r>
              <a:rPr lang="en-AU"/>
              <a:t>Ask:</a:t>
            </a:r>
          </a:p>
          <a:p>
            <a:r>
              <a:rPr lang="en-AU"/>
              <a:t>—	How many whole numbers are there?</a:t>
            </a:r>
          </a:p>
          <a:p>
            <a:r>
              <a:rPr lang="en-AU"/>
              <a:t>—	How many tenths?</a:t>
            </a:r>
          </a:p>
          <a:p>
            <a:r>
              <a:rPr lang="en-AU"/>
              <a:t>—	How many hundredths?</a:t>
            </a:r>
          </a:p>
          <a:p>
            <a:r>
              <a:rPr lang="en-AU"/>
              <a:t>—	How many thousandths?</a:t>
            </a:r>
          </a:p>
          <a:p>
            <a:r>
              <a:rPr lang="en-AU"/>
              <a:t>—	What was the role of zero?</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36690666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Note: </a:t>
            </a:r>
            <a:r>
              <a:rPr lang="en-AU"/>
              <a:t>This slide is designed to be interactive. Drag the MAB blocks to make the decimal.</a:t>
            </a:r>
          </a:p>
          <a:p>
            <a:endParaRPr lang="en-AU"/>
          </a:p>
          <a:p>
            <a:r>
              <a:rPr lang="en-AU"/>
              <a:t>Ask:</a:t>
            </a:r>
          </a:p>
          <a:p>
            <a:r>
              <a:rPr lang="en-AU"/>
              <a:t>—	How many whole numbers are there?</a:t>
            </a:r>
          </a:p>
          <a:p>
            <a:r>
              <a:rPr lang="en-AU"/>
              <a:t>—	How many tenths?</a:t>
            </a:r>
          </a:p>
          <a:p>
            <a:r>
              <a:rPr lang="en-AU"/>
              <a:t>—	How many hundredths?</a:t>
            </a:r>
          </a:p>
          <a:p>
            <a:r>
              <a:rPr lang="en-AU"/>
              <a:t>—	How many thousandths?</a:t>
            </a:r>
          </a:p>
          <a:p>
            <a:r>
              <a:rPr lang="en-AU"/>
              <a:t>—	What was the role of zero?</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1762145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Note: </a:t>
            </a:r>
            <a:r>
              <a:rPr lang="en-AU"/>
              <a:t>This slide is designed to be interactive. Drag the MAB blocks to make the decimal.</a:t>
            </a:r>
          </a:p>
          <a:p>
            <a:endParaRPr lang="en-AU"/>
          </a:p>
          <a:p>
            <a:r>
              <a:rPr lang="en-AU"/>
              <a:t>Ask:</a:t>
            </a:r>
          </a:p>
          <a:p>
            <a:r>
              <a:rPr lang="en-AU"/>
              <a:t>—	How many whole numbers are there?</a:t>
            </a:r>
          </a:p>
          <a:p>
            <a:r>
              <a:rPr lang="en-AU"/>
              <a:t>—	How many tenths?</a:t>
            </a:r>
          </a:p>
          <a:p>
            <a:r>
              <a:rPr lang="en-AU"/>
              <a:t>—	How many hundredths?</a:t>
            </a:r>
          </a:p>
          <a:p>
            <a:r>
              <a:rPr lang="en-AU"/>
              <a:t>—	How many thousandths?</a:t>
            </a:r>
          </a:p>
          <a:p>
            <a:r>
              <a:rPr lang="en-AU"/>
              <a:t>—	What was the role of zero?</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20168375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Note: </a:t>
            </a:r>
            <a:r>
              <a:rPr lang="en-AU"/>
              <a:t>This slide is designed to be interactive. Drag the MAB blocks to make the decimal.</a:t>
            </a:r>
          </a:p>
          <a:p>
            <a:endParaRPr lang="en-AU"/>
          </a:p>
          <a:p>
            <a:r>
              <a:rPr lang="en-AU"/>
              <a:t>Ask:</a:t>
            </a:r>
          </a:p>
          <a:p>
            <a:r>
              <a:rPr lang="en-AU"/>
              <a:t>—	How many whole numbers are there?</a:t>
            </a:r>
          </a:p>
          <a:p>
            <a:r>
              <a:rPr lang="en-AU"/>
              <a:t>—	How many tenths?</a:t>
            </a:r>
          </a:p>
          <a:p>
            <a:r>
              <a:rPr lang="en-AU"/>
              <a:t>—	How many hundredths?</a:t>
            </a:r>
          </a:p>
          <a:p>
            <a:r>
              <a:rPr lang="en-AU"/>
              <a:t>—	How many thousandths?</a:t>
            </a:r>
          </a:p>
          <a:p>
            <a:r>
              <a:rPr lang="en-AU"/>
              <a:t>—	What was the role of zero?</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6665674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Note: </a:t>
            </a:r>
            <a:r>
              <a:rPr lang="en-AU"/>
              <a:t>This slide is designed to be interactive. Drag the MAB blocks to make the decimal.</a:t>
            </a:r>
          </a:p>
          <a:p>
            <a:endParaRPr lang="en-AU"/>
          </a:p>
          <a:p>
            <a:r>
              <a:rPr lang="en-AU"/>
              <a:t>Ask:</a:t>
            </a:r>
          </a:p>
          <a:p>
            <a:r>
              <a:rPr lang="en-AU"/>
              <a:t>—	How many whole numbers are there?</a:t>
            </a:r>
          </a:p>
          <a:p>
            <a:r>
              <a:rPr lang="en-AU"/>
              <a:t>—	How many tenths?</a:t>
            </a:r>
          </a:p>
          <a:p>
            <a:r>
              <a:rPr lang="en-AU"/>
              <a:t>—	How many hundredths?</a:t>
            </a:r>
          </a:p>
          <a:p>
            <a:r>
              <a:rPr lang="en-AU"/>
              <a:t>—	How many thousandths?</a:t>
            </a:r>
          </a:p>
          <a:p>
            <a:r>
              <a:rPr lang="en-AU"/>
              <a:t>—	What was the role of zero?</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3000500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Note: </a:t>
            </a:r>
            <a:r>
              <a:rPr lang="en-AU"/>
              <a:t>This slide is designed to be interactive. Drag the MAB blocks to make the decimal.</a:t>
            </a:r>
          </a:p>
          <a:p>
            <a:endParaRPr lang="en-AU"/>
          </a:p>
          <a:p>
            <a:r>
              <a:rPr lang="en-AU"/>
              <a:t>Ask:</a:t>
            </a:r>
          </a:p>
          <a:p>
            <a:r>
              <a:rPr lang="en-AU"/>
              <a:t>—	How many whole numbers are there?</a:t>
            </a:r>
          </a:p>
          <a:p>
            <a:r>
              <a:rPr lang="en-AU"/>
              <a:t>—	How many tenths?</a:t>
            </a:r>
          </a:p>
          <a:p>
            <a:r>
              <a:rPr lang="en-AU"/>
              <a:t>—	How many hundredths?</a:t>
            </a:r>
          </a:p>
          <a:p>
            <a:r>
              <a:rPr lang="en-AU"/>
              <a:t>—	How many thousandths?</a:t>
            </a:r>
          </a:p>
          <a:p>
            <a:r>
              <a:rPr lang="en-AU"/>
              <a:t>—	What was the role of zero?</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9754316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b="1"/>
              <a:t>Note: </a:t>
            </a:r>
            <a:r>
              <a:rPr lang="en-AU" b="0"/>
              <a:t>this slide is designed to be viewed in presentation mode.</a:t>
            </a:r>
            <a:endParaRPr lang="en-AU" b="1"/>
          </a:p>
          <a:p>
            <a:endParaRPr lang="en-AU"/>
          </a:p>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Activity title</a:t>
            </a:r>
          </a:p>
          <a:p>
            <a:r>
              <a:rPr lang="en-AU" b="0"/>
              <a:t>This resource corresponds to Resource 23 – metre ruler in Stage 3 Year A Unit 9. </a:t>
            </a:r>
          </a:p>
          <a:p>
            <a:r>
              <a:rPr lang="en-AU" b="0"/>
              <a:t>	</a:t>
            </a:r>
          </a:p>
          <a:p>
            <a:pPr marL="285750" indent="-285750">
              <a:buFont typeface="Arial" panose="020B0604020202020204" pitchFamily="34" charset="0"/>
              <a:buChar char="•"/>
            </a:pPr>
            <a:r>
              <a:rPr lang="en-AU" b="0"/>
              <a:t>Display a metre ruler and Resource 23 – metre ruler. Highlight the millimetre markings on the metre ruler. </a:t>
            </a:r>
          </a:p>
          <a:p>
            <a:pPr marL="285750" indent="-285750">
              <a:buFont typeface="Arial" panose="020B0604020202020204" pitchFamily="34" charset="0"/>
              <a:buChar char="•"/>
            </a:pPr>
            <a:r>
              <a:rPr lang="en-AU" b="0"/>
              <a:t>Revise with students that there are 10 mm in one centimetre and 1000 millimetres in one metre. Explain that 1 mm is equal to 0.001 m, 10 mm is equal to 0.01 m (one centimetre) and 100 mm is equal to 0.1 m (10 centimetres).</a:t>
            </a:r>
          </a:p>
          <a:p>
            <a:pPr marL="285750" indent="-285750">
              <a:buFont typeface="Arial" panose="020B0604020202020204" pitchFamily="34" charset="0"/>
              <a:buChar char="•"/>
            </a:pPr>
            <a:r>
              <a:rPr lang="en-AU" b="0"/>
              <a:t>Write 301 mm on the board.</a:t>
            </a:r>
          </a:p>
          <a:p>
            <a:pPr marL="285750" indent="-285750">
              <a:buFont typeface="Arial" panose="020B0604020202020204" pitchFamily="34" charset="0"/>
              <a:buChar char="•"/>
            </a:pPr>
            <a:r>
              <a:rPr lang="en-AU" b="0"/>
              <a:t>Revise with students that because there are 1000 millimetres in one metre 301 mm is equivalent to 0.301 m. Explain that we read 0.301 m as 301 thousandths of a metre.</a:t>
            </a:r>
          </a:p>
          <a:p>
            <a:pPr marL="285750" indent="-285750">
              <a:buFont typeface="Arial" panose="020B0604020202020204" pitchFamily="34" charset="0"/>
              <a:buChar char="•"/>
            </a:pPr>
            <a:endParaRPr lang="en-AU" b="0"/>
          </a:p>
          <a:p>
            <a:r>
              <a:rPr lang="en-AU" b="1"/>
              <a:t>Note</a:t>
            </a:r>
            <a:r>
              <a:rPr lang="en-AU" b="0"/>
              <a:t>: some students may benefit from the use of a number slider to convert between millimetres and metres. </a:t>
            </a:r>
          </a:p>
          <a:p>
            <a:endParaRPr lang="en-AU" b="0"/>
          </a:p>
          <a:p>
            <a:pPr marL="285750" indent="-285750">
              <a:buFont typeface="Arial" panose="020B0604020202020204" pitchFamily="34" charset="0"/>
              <a:buChar char="•"/>
            </a:pPr>
            <a:r>
              <a:rPr lang="en-AU" b="0"/>
              <a:t>Give students writing materials and a ruler. Students measure items around the room and record the millimetre measurement. Then they record the equivalent measurement in metres (see next slide).</a:t>
            </a:r>
          </a:p>
          <a:p>
            <a:pPr marL="285750" indent="-285750">
              <a:buFont typeface="Arial" panose="020B0604020202020204" pitchFamily="34" charset="0"/>
              <a:buChar char="•"/>
            </a:pPr>
            <a:r>
              <a:rPr lang="en-AU" b="0"/>
              <a:t>Ask:</a:t>
            </a:r>
          </a:p>
          <a:p>
            <a:pPr marL="285750" indent="-285750">
              <a:buFont typeface="Arial" panose="020B0604020202020204" pitchFamily="34" charset="0"/>
              <a:buChar char="•"/>
            </a:pPr>
            <a:r>
              <a:rPr lang="en-AU" b="0"/>
              <a:t>—	How does your knowledge of decimal place value help you convert millimetres to metres?</a:t>
            </a:r>
          </a:p>
          <a:p>
            <a:pPr marL="285750" indent="-285750">
              <a:buFont typeface="Arial" panose="020B0604020202020204" pitchFamily="34" charset="0"/>
              <a:buChar char="•"/>
            </a:pPr>
            <a:r>
              <a:rPr lang="en-AU" b="0"/>
              <a:t>—	What patterns do you notice when converting millimetres to metres?</a:t>
            </a:r>
          </a:p>
          <a:p>
            <a:pPr marL="285750" indent="-285750">
              <a:buFont typeface="Arial" panose="020B0604020202020204" pitchFamily="34" charset="0"/>
              <a:buChar char="•"/>
            </a:pPr>
            <a:r>
              <a:rPr lang="en-AU" b="0"/>
              <a:t>—	What were the smallest and largest decimal notations you recorded? What were the items?</a:t>
            </a:r>
          </a:p>
          <a:p>
            <a:pPr marL="285750" indent="-285750">
              <a:buFont typeface="Arial" panose="020B0604020202020204" pitchFamily="34" charset="0"/>
              <a:buChar char="•"/>
            </a:pPr>
            <a:endParaRPr lang="en-AU" b="0"/>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BE4D7-6FE4-60A3-ED68-D3BB52026B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40B39-0DE8-7D5E-9B54-BA167C3E93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DC610-0878-4768-EAB1-C6DAC63A8B2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Activity title</a:t>
            </a:r>
          </a:p>
          <a:p>
            <a:r>
              <a:rPr lang="en-AU" b="0"/>
              <a:t>This table corresponds to Table 2 – student recording in Stage 3 Year A Unit 9. </a:t>
            </a:r>
          </a:p>
          <a:p>
            <a:r>
              <a:rPr lang="en-AU" b="0"/>
              <a:t>	</a:t>
            </a:r>
          </a:p>
          <a:p>
            <a:pPr marL="285750" indent="-285750">
              <a:buFont typeface="Arial" panose="020B0604020202020204" pitchFamily="34" charset="0"/>
              <a:buChar char="•"/>
            </a:pPr>
            <a:r>
              <a:rPr lang="en-AU" b="0"/>
              <a:t>Display a metre ruler and Resource 23 – metre ruler. Highlight the millimetre markings on the metre ruler. </a:t>
            </a:r>
          </a:p>
          <a:p>
            <a:pPr marL="285750" indent="-285750">
              <a:buFont typeface="Arial" panose="020B0604020202020204" pitchFamily="34" charset="0"/>
              <a:buChar char="•"/>
            </a:pPr>
            <a:r>
              <a:rPr lang="en-AU" b="0"/>
              <a:t>Revise with students that there are 10 mm in one centimetre and 1000 millimetres in one metre. Explain that 1 mm is equal to 0.001 m, 10 mm is equal to 0.01 m (one centimetre) and 100 mm is equal to 0.1 m (10 centimetres).</a:t>
            </a:r>
          </a:p>
          <a:p>
            <a:pPr marL="285750" indent="-285750">
              <a:buFont typeface="Arial" panose="020B0604020202020204" pitchFamily="34" charset="0"/>
              <a:buChar char="•"/>
            </a:pPr>
            <a:r>
              <a:rPr lang="en-AU" b="0"/>
              <a:t>Write 301 mm on the board.</a:t>
            </a:r>
          </a:p>
          <a:p>
            <a:pPr marL="285750" indent="-285750">
              <a:buFont typeface="Arial" panose="020B0604020202020204" pitchFamily="34" charset="0"/>
              <a:buChar char="•"/>
            </a:pPr>
            <a:r>
              <a:rPr lang="en-AU" b="0"/>
              <a:t>Revise with students that because there are 1000 millimetres in one metre 301 mm is equivalent to 0.301 m. Explain that we read 0.301 m as 301 thousandths of a metre.</a:t>
            </a:r>
          </a:p>
          <a:p>
            <a:pPr marL="285750" indent="-285750">
              <a:buFont typeface="Arial" panose="020B0604020202020204" pitchFamily="34" charset="0"/>
              <a:buChar char="•"/>
            </a:pPr>
            <a:endParaRPr lang="en-AU" b="0"/>
          </a:p>
          <a:p>
            <a:r>
              <a:rPr lang="en-AU" b="1"/>
              <a:t>Note</a:t>
            </a:r>
            <a:r>
              <a:rPr lang="en-AU" b="0"/>
              <a:t>: some students may benefit from the use of a number slider to convert between millimetres and metres. </a:t>
            </a:r>
          </a:p>
          <a:p>
            <a:endParaRPr lang="en-AU" b="0"/>
          </a:p>
          <a:p>
            <a:pPr marL="285750" indent="-285750">
              <a:buFont typeface="Arial" panose="020B0604020202020204" pitchFamily="34" charset="0"/>
              <a:buChar char="•"/>
            </a:pPr>
            <a:r>
              <a:rPr lang="en-AU" b="0"/>
              <a:t>Give students writing materials and a ruler. Students measure items around the room and record the millimetre measurement. Then they record the equivalent measurement in metres.</a:t>
            </a:r>
          </a:p>
          <a:p>
            <a:pPr marL="285750" indent="-285750">
              <a:buFont typeface="Arial" panose="020B0604020202020204" pitchFamily="34" charset="0"/>
              <a:buChar char="•"/>
            </a:pPr>
            <a:r>
              <a:rPr lang="en-AU" b="0"/>
              <a:t>Ask:</a:t>
            </a:r>
          </a:p>
          <a:p>
            <a:pPr marL="285750" indent="-285750">
              <a:buFont typeface="Arial" panose="020B0604020202020204" pitchFamily="34" charset="0"/>
              <a:buChar char="•"/>
            </a:pPr>
            <a:r>
              <a:rPr lang="en-AU" b="0"/>
              <a:t>—	How does your knowledge of decimal place value help you convert millimetres to metres?</a:t>
            </a:r>
          </a:p>
          <a:p>
            <a:pPr marL="285750" indent="-285750">
              <a:buFont typeface="Arial" panose="020B0604020202020204" pitchFamily="34" charset="0"/>
              <a:buChar char="•"/>
            </a:pPr>
            <a:r>
              <a:rPr lang="en-AU" b="0"/>
              <a:t>—	What patterns do you notice when converting millimetres to metres?</a:t>
            </a:r>
          </a:p>
          <a:p>
            <a:pPr marL="285750" indent="-285750">
              <a:buFont typeface="Arial" panose="020B0604020202020204" pitchFamily="34" charset="0"/>
              <a:buChar char="•"/>
            </a:pPr>
            <a:r>
              <a:rPr lang="en-AU" b="0"/>
              <a:t>—	What were the smallest and largest decimal notations you recorded? What were the items?</a:t>
            </a:r>
          </a:p>
          <a:p>
            <a:pPr marL="285750" indent="-285750">
              <a:buFont typeface="Arial" panose="020B0604020202020204" pitchFamily="34" charset="0"/>
              <a:buChar char="•"/>
            </a:pPr>
            <a:endParaRPr lang="en-AU" b="0"/>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511E853-1DA1-E388-4526-A577A20B2EAD}"/>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080203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Decimals in the place value system</a:t>
            </a:r>
          </a:p>
          <a:p>
            <a:r>
              <a:rPr lang="en-AU" b="0"/>
              <a:t>This resource corresponds to Resource 24 – 2 truths 1 lie in Stage 3 Year A Unit 9. </a:t>
            </a:r>
          </a:p>
          <a:p>
            <a:endParaRPr lang="en-AU" b="1"/>
          </a:p>
          <a:p>
            <a:pPr marL="0" indent="0">
              <a:buFont typeface="+mj-lt"/>
              <a:buNone/>
            </a:pPr>
            <a:r>
              <a:rPr lang="en-AU" b="0"/>
              <a:t>This activity is an adaptation of ‘2 truths 1 lie’ from Thinking mathematically resources by the State of New South Wales (Department of Education).</a:t>
            </a:r>
          </a:p>
          <a:p>
            <a:pPr marL="0" indent="0">
              <a:buFont typeface="+mj-lt"/>
              <a:buNone/>
            </a:pPr>
            <a:endParaRPr lang="en-AU" b="0"/>
          </a:p>
          <a:p>
            <a:pPr marL="285750" indent="-285750">
              <a:buFont typeface="Arial" panose="020B0604020202020204" pitchFamily="34" charset="0"/>
              <a:buChar char="•"/>
            </a:pPr>
            <a:r>
              <a:rPr lang="en-AU" b="0"/>
              <a:t>Display and provide students with Resource 24 – 2 truths 1 lie.</a:t>
            </a:r>
          </a:p>
          <a:p>
            <a:pPr marL="285750" indent="-285750">
              <a:buFont typeface="Arial" panose="020B0604020202020204" pitchFamily="34" charset="0"/>
              <a:buChar char="•"/>
            </a:pPr>
            <a:r>
              <a:rPr lang="en-AU" b="0"/>
              <a:t>Instruct students to work in pairs to determine whether statements are true or false.</a:t>
            </a:r>
          </a:p>
          <a:p>
            <a:pPr marL="285750" indent="-285750">
              <a:buFont typeface="Arial" panose="020B0604020202020204" pitchFamily="34" charset="0"/>
              <a:buChar char="•"/>
            </a:pPr>
            <a:r>
              <a:rPr lang="en-AU" b="0"/>
              <a:t>Students select and record the lie in the table on Resource 24 – 2 truths 1 lie, justifying their decisions by providing reasons for their choice.</a:t>
            </a:r>
          </a:p>
          <a:p>
            <a:pPr marL="285750" indent="-285750">
              <a:buFont typeface="Arial" panose="020B0604020202020204" pitchFamily="34" charset="0"/>
              <a:buChar char="•"/>
            </a:pPr>
            <a:r>
              <a:rPr lang="en-AU" b="0"/>
              <a:t>Select pairs to share their ideas and justification with the class.</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72</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73</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74</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75</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60.xml"/><Relationship Id="rId4" Type="http://schemas.openxmlformats.org/officeDocument/2006/relationships/slide" Target="slide11.xml"/><Relationship Id="rId9" Type="http://schemas.openxmlformats.org/officeDocument/2006/relationships/slide" Target="slide5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8.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notesSlide" Target="../notesSlides/notesSlide14.xml"/><Relationship Id="rId16" Type="http://schemas.openxmlformats.org/officeDocument/2006/relationships/image" Target="../media/image25.svg"/><Relationship Id="rId1" Type="http://schemas.openxmlformats.org/officeDocument/2006/relationships/slideLayout" Target="../slideLayouts/slideLayout4.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sv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240.png"/><Relationship Id="rId5" Type="http://schemas.openxmlformats.org/officeDocument/2006/relationships/image" Target="../media/image23.png"/><Relationship Id="rId4" Type="http://schemas.openxmlformats.org/officeDocument/2006/relationships/image" Target="../media/image220.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8.png"/><Relationship Id="rId7" Type="http://schemas.openxmlformats.org/officeDocument/2006/relationships/image" Target="../media/image30.png"/><Relationship Id="rId12" Type="http://schemas.microsoft.com/office/2007/relationships/hdphoto" Target="../media/hdphoto4.wdp"/><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microsoft.com/office/2007/relationships/hdphoto" Target="../media/hdphoto1.wdp"/><Relationship Id="rId11" Type="http://schemas.openxmlformats.org/officeDocument/2006/relationships/image" Target="../media/image32.png"/><Relationship Id="rId5" Type="http://schemas.openxmlformats.org/officeDocument/2006/relationships/image" Target="../media/image29.png"/><Relationship Id="rId10" Type="http://schemas.microsoft.com/office/2007/relationships/hdphoto" Target="../media/hdphoto3.wdp"/><Relationship Id="rId4" Type="http://schemas.openxmlformats.org/officeDocument/2006/relationships/image" Target="../media/image28.png"/><Relationship Id="rId9"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31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400.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1.png"/><Relationship Id="rId7" Type="http://schemas.openxmlformats.org/officeDocument/2006/relationships/image" Target="../media/image46.svg"/><Relationship Id="rId12" Type="http://schemas.openxmlformats.org/officeDocument/2006/relationships/image" Target="../media/image51.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45.png"/><Relationship Id="rId11" Type="http://schemas.openxmlformats.org/officeDocument/2006/relationships/image" Target="../media/image50.svg"/><Relationship Id="rId5" Type="http://schemas.openxmlformats.org/officeDocument/2006/relationships/image" Target="../media/image44.sv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svg"/></Relationships>
</file>

<file path=ppt/slides/_rels/slide46.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image" Target="../media/image46.sv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52.svg"/><Relationship Id="rId9" Type="http://schemas.openxmlformats.org/officeDocument/2006/relationships/image" Target="../media/image49.png"/></Relationships>
</file>

<file path=ppt/slides/_rels/slide4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47.xml"/><Relationship Id="rId1" Type="http://schemas.openxmlformats.org/officeDocument/2006/relationships/slideLayout" Target="../slideLayouts/slideLayout4.xml"/><Relationship Id="rId6" Type="http://schemas.openxmlformats.org/officeDocument/2006/relationships/image" Target="../media/image46.sv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52.svg"/><Relationship Id="rId9" Type="http://schemas.openxmlformats.org/officeDocument/2006/relationships/image" Target="../media/image49.png"/></Relationships>
</file>

<file path=ppt/slides/_rels/slide48.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48.xml"/><Relationship Id="rId1" Type="http://schemas.openxmlformats.org/officeDocument/2006/relationships/slideLayout" Target="../slideLayouts/slideLayout4.xml"/><Relationship Id="rId6" Type="http://schemas.openxmlformats.org/officeDocument/2006/relationships/image" Target="../media/image46.sv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52.svg"/><Relationship Id="rId9" Type="http://schemas.openxmlformats.org/officeDocument/2006/relationships/image" Target="../media/image49.png"/></Relationships>
</file>

<file path=ppt/slides/_rels/slide49.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49.xml"/><Relationship Id="rId1" Type="http://schemas.openxmlformats.org/officeDocument/2006/relationships/slideLayout" Target="../slideLayouts/slideLayout4.xml"/><Relationship Id="rId6" Type="http://schemas.openxmlformats.org/officeDocument/2006/relationships/image" Target="../media/image46.sv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52.svg"/><Relationship Id="rId9" Type="http://schemas.openxmlformats.org/officeDocument/2006/relationships/image" Target="../media/image49.png"/></Relationships>
</file>

<file path=ppt/slides/_rels/slide50.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50.xml"/><Relationship Id="rId1" Type="http://schemas.openxmlformats.org/officeDocument/2006/relationships/slideLayout" Target="../slideLayouts/slideLayout4.xml"/><Relationship Id="rId6" Type="http://schemas.openxmlformats.org/officeDocument/2006/relationships/image" Target="../media/image46.sv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52.svg"/><Relationship Id="rId9" Type="http://schemas.openxmlformats.org/officeDocument/2006/relationships/image" Target="../media/image49.png"/></Relationships>
</file>

<file path=ppt/slides/_rels/slide51.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51.xml"/><Relationship Id="rId1" Type="http://schemas.openxmlformats.org/officeDocument/2006/relationships/slideLayout" Target="../slideLayouts/slideLayout4.xml"/><Relationship Id="rId6" Type="http://schemas.openxmlformats.org/officeDocument/2006/relationships/image" Target="../media/image46.sv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52.svg"/><Relationship Id="rId9" Type="http://schemas.openxmlformats.org/officeDocument/2006/relationships/image" Target="../media/image49.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5.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1.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3.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4.xml"/><Relationship Id="rId1" Type="http://schemas.openxmlformats.org/officeDocument/2006/relationships/slideLayout" Target="../slideLayouts/slideLayout4.xml"/><Relationship Id="rId4" Type="http://schemas.openxmlformats.org/officeDocument/2006/relationships/image" Target="../media/image600.png"/></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5.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6.xml"/><Relationship Id="rId1" Type="http://schemas.openxmlformats.org/officeDocument/2006/relationships/slideLayout" Target="../slideLayouts/slideLayout4.xml"/><Relationship Id="rId4" Type="http://schemas.openxmlformats.org/officeDocument/2006/relationships/image" Target="../media/image62.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1.xml"/><Relationship Id="rId1" Type="http://schemas.openxmlformats.org/officeDocument/2006/relationships/slideLayout" Target="../slideLayouts/slideLayout11.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slide" Target="slide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74.xml"/><Relationship Id="rId1" Type="http://schemas.openxmlformats.org/officeDocument/2006/relationships/slideLayout" Target="../slideLayouts/slideLayout13.xm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5.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A Unit 9.</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9</a:t>
            </a:r>
          </a:p>
        </p:txBody>
      </p:sp>
      <p:pic>
        <p:nvPicPr>
          <p:cNvPr id="5" name="Picture Placeholder 4" descr="A row of dice on a blue background">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60000" y="1184019"/>
            <a:ext cx="11243037" cy="893226"/>
          </a:xfrm>
        </p:spPr>
        <p:txBody>
          <a:bodyPr/>
          <a:lstStyle/>
          <a:p>
            <a:pPr algn="ctr"/>
            <a:r>
              <a:rPr lang="en-US" sz="4000"/>
              <a:t>The decimal </a:t>
            </a:r>
            <a:r>
              <a:rPr lang="en-US" sz="4000" b="1"/>
              <a:t>1.429</a:t>
            </a:r>
            <a:r>
              <a:rPr lang="en-US" sz="4000"/>
              <a:t> would be </a:t>
            </a:r>
            <a:r>
              <a:rPr lang="en-US" sz="4000" b="1"/>
              <a:t>placed</a:t>
            </a:r>
            <a:r>
              <a:rPr lang="en-US" sz="4000"/>
              <a:t> on the number line at:</a:t>
            </a:r>
          </a:p>
        </p:txBody>
      </p:sp>
      <p:grpSp>
        <p:nvGrpSpPr>
          <p:cNvPr id="16" name="Group 15" descr="Number line 0-2 with arrows pointing at approximately 0.5, 0.9, 1.492 and 1.8">
            <a:extLst>
              <a:ext uri="{FF2B5EF4-FFF2-40B4-BE49-F238E27FC236}">
                <a16:creationId xmlns:a16="http://schemas.microsoft.com/office/drawing/2014/main" id="{0FD8F71C-C4E1-4893-CBE5-160E8EDA0556}"/>
              </a:ext>
            </a:extLst>
          </p:cNvPr>
          <p:cNvGrpSpPr/>
          <p:nvPr/>
        </p:nvGrpSpPr>
        <p:grpSpPr>
          <a:xfrm>
            <a:off x="626612" y="3500113"/>
            <a:ext cx="10709811" cy="1570024"/>
            <a:chOff x="567789" y="3717445"/>
            <a:chExt cx="10709811" cy="1570024"/>
          </a:xfrm>
        </p:grpSpPr>
        <p:pic>
          <p:nvPicPr>
            <p:cNvPr id="6" name="Picture 5" descr="Number line 0-2 with arrows pointing at approximately 0.5, 0.9, 1.492 and 1.8">
              <a:extLst>
                <a:ext uri="{FF2B5EF4-FFF2-40B4-BE49-F238E27FC236}">
                  <a16:creationId xmlns:a16="http://schemas.microsoft.com/office/drawing/2014/main" id="{E0A0ACEF-6169-21FB-1108-877876D00F9D}"/>
                </a:ext>
              </a:extLst>
            </p:cNvPr>
            <p:cNvPicPr>
              <a:picLocks noChangeAspect="1"/>
            </p:cNvPicPr>
            <p:nvPr/>
          </p:nvPicPr>
          <p:blipFill>
            <a:blip r:embed="rId4"/>
            <a:stretch>
              <a:fillRect/>
            </a:stretch>
          </p:blipFill>
          <p:spPr>
            <a:xfrm>
              <a:off x="567789" y="3717445"/>
              <a:ext cx="10709811" cy="1570024"/>
            </a:xfrm>
            <a:prstGeom prst="rect">
              <a:avLst/>
            </a:prstGeom>
            <a:ln>
              <a:noFill/>
            </a:ln>
            <a:effectLst>
              <a:outerShdw blurRad="292100" dist="139700" dir="2700000" algn="tl" rotWithShape="0">
                <a:srgbClr val="333333">
                  <a:alpha val="65000"/>
                </a:srgbClr>
              </a:outerShdw>
            </a:effectLst>
          </p:spPr>
        </p:pic>
        <p:sp>
          <p:nvSpPr>
            <p:cNvPr id="7" name="Arrow: Up 6">
              <a:extLst>
                <a:ext uri="{FF2B5EF4-FFF2-40B4-BE49-F238E27FC236}">
                  <a16:creationId xmlns:a16="http://schemas.microsoft.com/office/drawing/2014/main" id="{6087B0BF-9962-1047-BA0A-5A687046BEF6}"/>
                </a:ext>
              </a:extLst>
            </p:cNvPr>
            <p:cNvSpPr/>
            <p:nvPr/>
          </p:nvSpPr>
          <p:spPr>
            <a:xfrm>
              <a:off x="2976602" y="4234137"/>
              <a:ext cx="144000" cy="360000"/>
            </a:xfrm>
            <a:prstGeom prst="up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Up 7">
              <a:extLst>
                <a:ext uri="{FF2B5EF4-FFF2-40B4-BE49-F238E27FC236}">
                  <a16:creationId xmlns:a16="http://schemas.microsoft.com/office/drawing/2014/main" id="{53D43615-831B-6055-427B-9E587B790FAB}"/>
                </a:ext>
              </a:extLst>
            </p:cNvPr>
            <p:cNvSpPr/>
            <p:nvPr/>
          </p:nvSpPr>
          <p:spPr>
            <a:xfrm>
              <a:off x="4127107" y="4234137"/>
              <a:ext cx="144000" cy="360000"/>
            </a:xfrm>
            <a:prstGeom prst="up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Arrow: Up 13">
              <a:extLst>
                <a:ext uri="{FF2B5EF4-FFF2-40B4-BE49-F238E27FC236}">
                  <a16:creationId xmlns:a16="http://schemas.microsoft.com/office/drawing/2014/main" id="{413BF82C-BB08-345F-AE56-905F48CC4601}"/>
                </a:ext>
              </a:extLst>
            </p:cNvPr>
            <p:cNvSpPr/>
            <p:nvPr/>
          </p:nvSpPr>
          <p:spPr>
            <a:xfrm>
              <a:off x="7841984" y="4234137"/>
              <a:ext cx="144000" cy="360000"/>
            </a:xfrm>
            <a:prstGeom prst="upArrow">
              <a:avLst/>
            </a:prstGeom>
            <a:solidFill>
              <a:srgbClr val="8844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Arrow: Up 14">
              <a:extLst>
                <a:ext uri="{FF2B5EF4-FFF2-40B4-BE49-F238E27FC236}">
                  <a16:creationId xmlns:a16="http://schemas.microsoft.com/office/drawing/2014/main" id="{5E1EB7C8-59F5-E8EF-2914-AB2505E6BBD6}"/>
                </a:ext>
              </a:extLst>
            </p:cNvPr>
            <p:cNvSpPr/>
            <p:nvPr/>
          </p:nvSpPr>
          <p:spPr>
            <a:xfrm>
              <a:off x="9564338" y="4234137"/>
              <a:ext cx="144000" cy="360000"/>
            </a:xfrm>
            <a:prstGeom prst="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 name="TextBox 8">
            <a:extLst>
              <a:ext uri="{FF2B5EF4-FFF2-40B4-BE49-F238E27FC236}">
                <a16:creationId xmlns:a16="http://schemas.microsoft.com/office/drawing/2014/main" id="{055D882C-AF43-C390-844D-CF785253532C}"/>
              </a:ext>
            </a:extLst>
          </p:cNvPr>
          <p:cNvSpPr txBox="1"/>
          <p:nvPr/>
        </p:nvSpPr>
        <p:spPr>
          <a:xfrm>
            <a:off x="2978581" y="4395062"/>
            <a:ext cx="418172"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b="1">
                <a:solidFill>
                  <a:schemeClr val="accent2"/>
                </a:solidFill>
              </a:rPr>
              <a:t>A</a:t>
            </a:r>
          </a:p>
        </p:txBody>
      </p:sp>
      <p:sp>
        <p:nvSpPr>
          <p:cNvPr id="10" name="TextBox 9">
            <a:extLst>
              <a:ext uri="{FF2B5EF4-FFF2-40B4-BE49-F238E27FC236}">
                <a16:creationId xmlns:a16="http://schemas.microsoft.com/office/drawing/2014/main" id="{3A7CB9AE-0F31-FA92-BCB3-C4AD3EF18B05}"/>
              </a:ext>
            </a:extLst>
          </p:cNvPr>
          <p:cNvSpPr txBox="1"/>
          <p:nvPr/>
        </p:nvSpPr>
        <p:spPr>
          <a:xfrm>
            <a:off x="4160949" y="4411506"/>
            <a:ext cx="529429"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b="1">
                <a:solidFill>
                  <a:schemeClr val="tx2"/>
                </a:solidFill>
              </a:rPr>
              <a:t>B</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900807" y="4395062"/>
            <a:ext cx="529429"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b="1">
                <a:solidFill>
                  <a:srgbClr val="8844F5"/>
                </a:solidFill>
              </a:rPr>
              <a:t>C</a:t>
            </a:r>
          </a:p>
        </p:txBody>
      </p:sp>
      <p:sp>
        <p:nvSpPr>
          <p:cNvPr id="11" name="TextBox 10">
            <a:extLst>
              <a:ext uri="{FF2B5EF4-FFF2-40B4-BE49-F238E27FC236}">
                <a16:creationId xmlns:a16="http://schemas.microsoft.com/office/drawing/2014/main" id="{F2C63D4C-D53C-5250-A986-AB949B67DEB8}"/>
              </a:ext>
            </a:extLst>
          </p:cNvPr>
          <p:cNvSpPr txBox="1"/>
          <p:nvPr/>
        </p:nvSpPr>
        <p:spPr>
          <a:xfrm>
            <a:off x="9618615" y="4395062"/>
            <a:ext cx="529429"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b="1">
                <a:solidFill>
                  <a:srgbClr val="00B050"/>
                </a:solidFill>
              </a:rPr>
              <a:t>D</a:t>
            </a:r>
          </a:p>
        </p:txBody>
      </p:sp>
      <p:sp>
        <p:nvSpPr>
          <p:cNvPr id="5" name="TextBox 4">
            <a:extLst>
              <a:ext uri="{FF2B5EF4-FFF2-40B4-BE49-F238E27FC236}">
                <a16:creationId xmlns:a16="http://schemas.microsoft.com/office/drawing/2014/main" id="{2D9A3B08-C10D-2FA4-82B7-31029B4E16C4}"/>
              </a:ext>
            </a:extLst>
          </p:cNvPr>
          <p:cNvSpPr txBox="1"/>
          <p:nvPr/>
        </p:nvSpPr>
        <p:spPr>
          <a:xfrm>
            <a:off x="1415275" y="59125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3" name="TextBox 12">
            <a:extLst>
              <a:ext uri="{FF2B5EF4-FFF2-40B4-BE49-F238E27FC236}">
                <a16:creationId xmlns:a16="http://schemas.microsoft.com/office/drawing/2014/main" id="{80F881FF-3251-FB5B-C742-878BB0DBB586}"/>
              </a:ext>
            </a:extLst>
          </p:cNvPr>
          <p:cNvSpPr txBox="1"/>
          <p:nvPr/>
        </p:nvSpPr>
        <p:spPr>
          <a:xfrm>
            <a:off x="4329930" y="59125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Box 16">
            <a:extLst>
              <a:ext uri="{FF2B5EF4-FFF2-40B4-BE49-F238E27FC236}">
                <a16:creationId xmlns:a16="http://schemas.microsoft.com/office/drawing/2014/main" id="{3938D003-CB82-C4EA-4D83-B42556A6B8FC}"/>
              </a:ext>
            </a:extLst>
          </p:cNvPr>
          <p:cNvSpPr txBox="1"/>
          <p:nvPr/>
        </p:nvSpPr>
        <p:spPr>
          <a:xfrm>
            <a:off x="7437072" y="59125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9" name="TextBox 18">
            <a:extLst>
              <a:ext uri="{FF2B5EF4-FFF2-40B4-BE49-F238E27FC236}">
                <a16:creationId xmlns:a16="http://schemas.microsoft.com/office/drawing/2014/main" id="{CCD4E7C8-37E9-CFE4-EFBF-F60A8FE112AF}"/>
              </a:ext>
            </a:extLst>
          </p:cNvPr>
          <p:cNvSpPr txBox="1"/>
          <p:nvPr/>
        </p:nvSpPr>
        <p:spPr>
          <a:xfrm>
            <a:off x="10441046" y="59125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5" name="TextBox 4">
            <a:extLst>
              <a:ext uri="{FF2B5EF4-FFF2-40B4-BE49-F238E27FC236}">
                <a16:creationId xmlns:a16="http://schemas.microsoft.com/office/drawing/2014/main" id="{8B6A41E0-D6E3-3C63-C79D-11309423910D}"/>
              </a:ext>
            </a:extLst>
          </p:cNvPr>
          <p:cNvSpPr txBox="1"/>
          <p:nvPr/>
        </p:nvSpPr>
        <p:spPr>
          <a:xfrm>
            <a:off x="1861767" y="2232612"/>
            <a:ext cx="8865501" cy="2317086"/>
          </a:xfrm>
          <a:prstGeom prst="rect">
            <a:avLst/>
          </a:prstGeom>
          <a:noFill/>
        </p:spPr>
        <p:txBody>
          <a:bodyPr wrap="square" lIns="0" tIns="0" rIns="0" bIns="0" rtlCol="0">
            <a:noAutofit/>
          </a:bodyPr>
          <a:lstStyle/>
          <a:p>
            <a:pPr algn="ctr">
              <a:lnSpc>
                <a:spcPct val="150000"/>
              </a:lnSpc>
            </a:pPr>
            <a:r>
              <a:rPr lang="en-AU" sz="4400" b="1"/>
              <a:t>Sketch</a:t>
            </a:r>
            <a:r>
              <a:rPr lang="en-AU" sz="4400"/>
              <a:t> a </a:t>
            </a:r>
            <a:r>
              <a:rPr lang="en-AU" sz="4400" b="1">
                <a:solidFill>
                  <a:schemeClr val="accent2"/>
                </a:solidFill>
              </a:rPr>
              <a:t>rectangular prism </a:t>
            </a:r>
            <a:r>
              <a:rPr lang="en-AU" sz="4400"/>
              <a:t>and a </a:t>
            </a:r>
            <a:r>
              <a:rPr lang="en-AU" sz="4400" b="1">
                <a:solidFill>
                  <a:schemeClr val="accent2"/>
                </a:solidFill>
              </a:rPr>
              <a:t>rectangular pyramid</a:t>
            </a:r>
            <a:r>
              <a:rPr lang="en-AU" sz="4400"/>
              <a:t>.</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13" name="TextBox 12">
            <a:extLst>
              <a:ext uri="{FF2B5EF4-FFF2-40B4-BE49-F238E27FC236}">
                <a16:creationId xmlns:a16="http://schemas.microsoft.com/office/drawing/2014/main" id="{743EAC27-349E-CC10-2C72-EB35435BFAFE}"/>
              </a:ext>
            </a:extLst>
          </p:cNvPr>
          <p:cNvSpPr txBox="1"/>
          <p:nvPr/>
        </p:nvSpPr>
        <p:spPr>
          <a:xfrm>
            <a:off x="857250" y="1345003"/>
            <a:ext cx="10106551" cy="3313664"/>
          </a:xfrm>
          <a:prstGeom prst="rect">
            <a:avLst/>
          </a:prstGeom>
          <a:noFill/>
        </p:spPr>
        <p:txBody>
          <a:bodyPr wrap="square">
            <a:spAutoFit/>
          </a:bodyPr>
          <a:lstStyle/>
          <a:p>
            <a:pPr lvl="0" algn="ctr">
              <a:lnSpc>
                <a:spcPct val="150000"/>
              </a:lnSpc>
            </a:pPr>
            <a:r>
              <a:rPr lang="en-AU" sz="3600"/>
              <a:t>Which of these identifies a specific point:</a:t>
            </a:r>
          </a:p>
          <a:p>
            <a:pPr lvl="0" algn="ctr">
              <a:lnSpc>
                <a:spcPct val="150000"/>
              </a:lnSpc>
            </a:pPr>
            <a:r>
              <a:rPr lang="en-AU" sz="3600" b="1">
                <a:solidFill>
                  <a:schemeClr val="tx2"/>
                </a:solidFill>
              </a:rPr>
              <a:t>grid-map reference </a:t>
            </a:r>
            <a:r>
              <a:rPr lang="en-AU" sz="3600"/>
              <a:t>system</a:t>
            </a:r>
            <a:r>
              <a:rPr lang="en-AU" sz="3600" b="1"/>
              <a:t> </a:t>
            </a:r>
          </a:p>
          <a:p>
            <a:pPr lvl="0" algn="ctr">
              <a:lnSpc>
                <a:spcPct val="150000"/>
              </a:lnSpc>
            </a:pPr>
            <a:r>
              <a:rPr lang="en-AU" sz="3600"/>
              <a:t>or</a:t>
            </a:r>
          </a:p>
          <a:p>
            <a:pPr lvl="0" algn="ctr">
              <a:lnSpc>
                <a:spcPct val="150000"/>
              </a:lnSpc>
            </a:pPr>
            <a:r>
              <a:rPr lang="en-AU" sz="3600" b="1">
                <a:solidFill>
                  <a:schemeClr val="accent2"/>
                </a:solidFill>
              </a:rPr>
              <a:t>Cartesian plane coordinate </a:t>
            </a:r>
            <a:r>
              <a:rPr lang="en-AU" sz="3600"/>
              <a:t>system?</a:t>
            </a:r>
          </a:p>
        </p:txBody>
      </p:sp>
      <p:sp>
        <p:nvSpPr>
          <p:cNvPr id="14" name="TextBox 13">
            <a:extLst>
              <a:ext uri="{FF2B5EF4-FFF2-40B4-BE49-F238E27FC236}">
                <a16:creationId xmlns:a16="http://schemas.microsoft.com/office/drawing/2014/main" id="{03BABB8F-A355-9009-3E57-4202E5406C93}"/>
              </a:ext>
            </a:extLst>
          </p:cNvPr>
          <p:cNvSpPr txBox="1"/>
          <p:nvPr/>
        </p:nvSpPr>
        <p:spPr>
          <a:xfrm>
            <a:off x="2685035" y="5518063"/>
            <a:ext cx="9627093" cy="820674"/>
          </a:xfrm>
          <a:prstGeom prst="rect">
            <a:avLst/>
          </a:prstGeom>
          <a:noFill/>
        </p:spPr>
        <p:txBody>
          <a:bodyPr wrap="square">
            <a:spAutoFit/>
          </a:bodyPr>
          <a:lstStyle/>
          <a:p>
            <a:pPr lvl="0">
              <a:lnSpc>
                <a:spcPct val="150000"/>
              </a:lnSpc>
            </a:pPr>
            <a:r>
              <a:rPr lang="en-AU" sz="3600" b="1"/>
              <a:t>Communicate</a:t>
            </a:r>
            <a:r>
              <a:rPr lang="en-AU" sz="3600"/>
              <a:t> your </a:t>
            </a:r>
            <a:r>
              <a:rPr lang="en-AU" sz="3600" b="1"/>
              <a:t>reasoning</a:t>
            </a:r>
            <a:r>
              <a:rPr lang="en-AU" sz="3600"/>
              <a:t>.</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B7FAB48-5118-B6FA-C505-9EAB207C3689}"/>
              </a:ext>
            </a:extLst>
          </p:cNvPr>
          <p:cNvSpPr txBox="1"/>
          <p:nvPr/>
        </p:nvSpPr>
        <p:spPr>
          <a:xfrm>
            <a:off x="803583" y="1317321"/>
            <a:ext cx="10966076" cy="820674"/>
          </a:xfrm>
          <a:prstGeom prst="rect">
            <a:avLst/>
          </a:prstGeom>
          <a:noFill/>
        </p:spPr>
        <p:txBody>
          <a:bodyPr wrap="square">
            <a:spAutoFit/>
          </a:bodyPr>
          <a:lstStyle/>
          <a:p>
            <a:pPr lvl="0">
              <a:lnSpc>
                <a:spcPct val="150000"/>
              </a:lnSpc>
              <a:spcBef>
                <a:spcPts val="1200"/>
              </a:spcBef>
              <a:spcAft>
                <a:spcPts val="600"/>
              </a:spcAft>
            </a:pPr>
            <a:r>
              <a:rPr lang="en-AU" sz="3200">
                <a:effectLst/>
                <a:latin typeface="Arial" panose="020B0604020202020204" pitchFamily="34" charset="0"/>
                <a:ea typeface="Calibri" panose="020F0502020204030204" pitchFamily="34" charset="0"/>
              </a:rPr>
              <a:t>Write the </a:t>
            </a:r>
            <a:r>
              <a:rPr lang="en-AU" sz="3200" b="1">
                <a:effectLst/>
                <a:latin typeface="Arial" panose="020B0604020202020204" pitchFamily="34" charset="0"/>
                <a:ea typeface="Calibri" panose="020F0502020204030204" pitchFamily="34" charset="0"/>
              </a:rPr>
              <a:t>missing number </a:t>
            </a:r>
            <a:r>
              <a:rPr lang="en-AU" sz="3200">
                <a:effectLst/>
                <a:latin typeface="Arial" panose="020B0604020202020204" pitchFamily="34" charset="0"/>
                <a:ea typeface="Calibri" panose="020F0502020204030204" pitchFamily="34" charset="0"/>
              </a:rPr>
              <a:t>from each </a:t>
            </a:r>
            <a:r>
              <a:rPr lang="en-AU" sz="3200" b="1">
                <a:effectLst/>
                <a:latin typeface="Arial" panose="020B0604020202020204" pitchFamily="34" charset="0"/>
                <a:ea typeface="Calibri" panose="020F0502020204030204" pitchFamily="34" charset="0"/>
              </a:rPr>
              <a:t>fact family </a:t>
            </a:r>
            <a:r>
              <a:rPr lang="en-AU" sz="3200">
                <a:effectLst/>
                <a:latin typeface="Arial" panose="020B0604020202020204" pitchFamily="34" charset="0"/>
                <a:ea typeface="Calibri" panose="020F0502020204030204" pitchFamily="34" charset="0"/>
              </a:rPr>
              <a:t>triangle</a:t>
            </a:r>
            <a:r>
              <a:rPr lang="en-AU" sz="3600">
                <a:effectLst/>
                <a:latin typeface="Arial" panose="020B0604020202020204" pitchFamily="34" charset="0"/>
                <a:ea typeface="Calibri" panose="020F0502020204030204" pitchFamily="34" charset="0"/>
              </a:rPr>
              <a:t>.</a:t>
            </a:r>
            <a:endParaRPr lang="en-AU" sz="2800">
              <a:effectLst/>
              <a:latin typeface="Arial" panose="020B0604020202020204" pitchFamily="34" charset="0"/>
              <a:ea typeface="Calibri" panose="020F0502020204030204" pitchFamily="34" charset="0"/>
            </a:endParaRPr>
          </a:p>
        </p:txBody>
      </p:sp>
      <p:pic>
        <p:nvPicPr>
          <p:cNvPr id="7" name="Picture 6" descr="3 fact family triangles&#10;1: ?, 5, 15&#10;2: 4, 6, ?&#10;3: 2, ?, 16">
            <a:extLst>
              <a:ext uri="{FF2B5EF4-FFF2-40B4-BE49-F238E27FC236}">
                <a16:creationId xmlns:a16="http://schemas.microsoft.com/office/drawing/2014/main" id="{0CB5D946-E9C4-6777-3A27-9D3D7118765A}"/>
              </a:ext>
            </a:extLst>
          </p:cNvPr>
          <p:cNvPicPr>
            <a:picLocks noChangeAspect="1"/>
          </p:cNvPicPr>
          <p:nvPr/>
        </p:nvPicPr>
        <p:blipFill>
          <a:blip r:embed="rId4"/>
          <a:stretch>
            <a:fillRect/>
          </a:stretch>
        </p:blipFill>
        <p:spPr>
          <a:xfrm>
            <a:off x="953082" y="2733546"/>
            <a:ext cx="9774186" cy="3186903"/>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BA72AEF7-D4DF-BDD2-CF47-724FA488E0A0}"/>
              </a:ext>
            </a:extLst>
          </p:cNvPr>
          <p:cNvSpPr txBox="1"/>
          <p:nvPr/>
        </p:nvSpPr>
        <p:spPr>
          <a:xfrm>
            <a:off x="1275347" y="1184223"/>
            <a:ext cx="9665369" cy="739754"/>
          </a:xfrm>
          <a:prstGeom prst="rect">
            <a:avLst/>
          </a:prstGeom>
          <a:noFill/>
        </p:spPr>
        <p:txBody>
          <a:bodyPr wrap="square">
            <a:spAutoFit/>
          </a:bodyPr>
          <a:lstStyle/>
          <a:p>
            <a:pPr lvl="0" algn="ctr">
              <a:lnSpc>
                <a:spcPct val="150000"/>
              </a:lnSpc>
              <a:spcBef>
                <a:spcPts val="1200"/>
              </a:spcBef>
              <a:spcAft>
                <a:spcPts val="600"/>
              </a:spcAft>
            </a:pPr>
            <a:r>
              <a:rPr lang="en-AU" sz="3200" b="1" dirty="0">
                <a:effectLst/>
                <a:latin typeface="Arial" panose="020B0604020202020204" pitchFamily="34" charset="0"/>
                <a:ea typeface="Calibri" panose="020F0502020204030204" pitchFamily="34" charset="0"/>
              </a:rPr>
              <a:t>Calculate</a:t>
            </a:r>
            <a:r>
              <a:rPr lang="en-AU" sz="3200" dirty="0">
                <a:effectLst/>
                <a:latin typeface="Arial" panose="020B0604020202020204" pitchFamily="34" charset="0"/>
                <a:ea typeface="Calibri" panose="020F0502020204030204" pitchFamily="34" charset="0"/>
              </a:rPr>
              <a:t> the </a:t>
            </a:r>
            <a:r>
              <a:rPr lang="en-AU" sz="3200" b="1" dirty="0">
                <a:effectLst/>
                <a:latin typeface="Arial" panose="020B0604020202020204" pitchFamily="34" charset="0"/>
                <a:ea typeface="Calibri" panose="020F0502020204030204" pitchFamily="34" charset="0"/>
              </a:rPr>
              <a:t>perimeter</a:t>
            </a:r>
            <a:r>
              <a:rPr lang="en-AU" sz="3200" dirty="0">
                <a:effectLst/>
                <a:latin typeface="Arial" panose="020B0604020202020204" pitchFamily="34" charset="0"/>
                <a:ea typeface="Calibri" panose="020F0502020204030204" pitchFamily="34" charset="0"/>
              </a:rPr>
              <a:t> of the </a:t>
            </a:r>
            <a:r>
              <a:rPr lang="en-AU" sz="3200" b="1" dirty="0">
                <a:effectLst/>
                <a:latin typeface="Arial" panose="020B0604020202020204" pitchFamily="34" charset="0"/>
                <a:ea typeface="Calibri" panose="020F0502020204030204" pitchFamily="34" charset="0"/>
              </a:rPr>
              <a:t>isosceles</a:t>
            </a:r>
            <a:r>
              <a:rPr lang="en-AU" sz="3200" dirty="0">
                <a:effectLst/>
                <a:latin typeface="Arial" panose="020B0604020202020204" pitchFamily="34" charset="0"/>
                <a:ea typeface="Calibri" panose="020F0502020204030204" pitchFamily="34" charset="0"/>
              </a:rPr>
              <a:t> triangle.</a:t>
            </a:r>
            <a:endParaRPr lang="en-AU" sz="2800" dirty="0">
              <a:effectLst/>
              <a:latin typeface="Arial" panose="020B0604020202020204" pitchFamily="34" charset="0"/>
              <a:ea typeface="Calibri" panose="020F0502020204030204" pitchFamily="34" charset="0"/>
            </a:endParaRPr>
          </a:p>
        </p:txBody>
      </p:sp>
      <p:pic>
        <p:nvPicPr>
          <p:cNvPr id="5" name="Picture 4" descr="An isosceles triangle with the measurement 45 cm (equal side) and a 35 cm base.">
            <a:extLst>
              <a:ext uri="{FF2B5EF4-FFF2-40B4-BE49-F238E27FC236}">
                <a16:creationId xmlns:a16="http://schemas.microsoft.com/office/drawing/2014/main" id="{BC18428E-D2F7-B7C7-101D-26E4D4D0A03C}"/>
              </a:ext>
            </a:extLst>
          </p:cNvPr>
          <p:cNvPicPr>
            <a:picLocks noChangeAspect="1"/>
          </p:cNvPicPr>
          <p:nvPr/>
        </p:nvPicPr>
        <p:blipFill>
          <a:blip r:embed="rId4"/>
          <a:stretch>
            <a:fillRect/>
          </a:stretch>
        </p:blipFill>
        <p:spPr>
          <a:xfrm>
            <a:off x="4791935" y="2049736"/>
            <a:ext cx="2608130" cy="3690750"/>
          </a:xfrm>
          <a:prstGeom prst="rect">
            <a:avLst/>
          </a:prstGeom>
        </p:spPr>
      </p:pic>
      <p:sp>
        <p:nvSpPr>
          <p:cNvPr id="9" name="TextBox 8">
            <a:extLst>
              <a:ext uri="{FF2B5EF4-FFF2-40B4-BE49-F238E27FC236}">
                <a16:creationId xmlns:a16="http://schemas.microsoft.com/office/drawing/2014/main" id="{584B8DE4-C5D0-ED45-EBC6-FC62DF57EFCB}"/>
              </a:ext>
            </a:extLst>
          </p:cNvPr>
          <p:cNvSpPr txBox="1"/>
          <p:nvPr/>
        </p:nvSpPr>
        <p:spPr>
          <a:xfrm>
            <a:off x="2137665" y="5866246"/>
            <a:ext cx="7396976" cy="739754"/>
          </a:xfrm>
          <a:prstGeom prst="rect">
            <a:avLst/>
          </a:prstGeom>
          <a:noFill/>
        </p:spPr>
        <p:txBody>
          <a:bodyPr wrap="square">
            <a:spAutoFit/>
          </a:bodyPr>
          <a:lstStyle/>
          <a:p>
            <a:pPr lvl="0" algn="ctr">
              <a:lnSpc>
                <a:spcPct val="150000"/>
              </a:lnSpc>
              <a:spcBef>
                <a:spcPts val="1200"/>
              </a:spcBef>
              <a:spcAft>
                <a:spcPts val="600"/>
              </a:spcAft>
            </a:pPr>
            <a:r>
              <a:rPr lang="en-AU" sz="3200" b="1">
                <a:effectLst/>
                <a:latin typeface="Arial" panose="020B0604020202020204" pitchFamily="34" charset="0"/>
                <a:ea typeface="Calibri" panose="020F0502020204030204" pitchFamily="34" charset="0"/>
              </a:rPr>
              <a:t>Communicate</a:t>
            </a:r>
            <a:r>
              <a:rPr lang="en-AU" sz="3200">
                <a:effectLst/>
                <a:latin typeface="Arial" panose="020B0604020202020204" pitchFamily="34" charset="0"/>
                <a:ea typeface="Calibri" panose="020F0502020204030204" pitchFamily="34" charset="0"/>
              </a:rPr>
              <a:t> your </a:t>
            </a:r>
            <a:r>
              <a:rPr lang="en-AU" sz="3200" b="1"/>
              <a:t>reasoning</a:t>
            </a:r>
            <a:r>
              <a:rPr lang="en-AU" sz="3200" b="1">
                <a:effectLst/>
                <a:latin typeface="Arial" panose="020B0604020202020204" pitchFamily="34" charset="0"/>
                <a:ea typeface="Calibri" panose="020F0502020204030204" pitchFamily="34" charset="0"/>
              </a:rPr>
              <a:t>.</a:t>
            </a:r>
            <a:endParaRPr lang="en-AU" sz="2800">
              <a:effectLst/>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decimals on a number line</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48" name="TextBox 47">
            <a:extLst>
              <a:ext uri="{FF2B5EF4-FFF2-40B4-BE49-F238E27FC236}">
                <a16:creationId xmlns:a16="http://schemas.microsoft.com/office/drawing/2014/main" id="{1007317C-6B46-F3D9-B447-773D5DD2F92A}"/>
              </a:ext>
            </a:extLst>
          </p:cNvPr>
          <p:cNvSpPr txBox="1"/>
          <p:nvPr/>
        </p:nvSpPr>
        <p:spPr>
          <a:xfrm>
            <a:off x="904664" y="1094915"/>
            <a:ext cx="10219335" cy="461665"/>
          </a:xfrm>
          <a:prstGeom prst="rect">
            <a:avLst/>
          </a:prstGeom>
          <a:noFill/>
        </p:spPr>
        <p:txBody>
          <a:bodyPr wrap="square">
            <a:spAutoFit/>
          </a:bodyPr>
          <a:lstStyle/>
          <a:p>
            <a:r>
              <a:rPr lang="en-AU" sz="2400">
                <a:effectLst/>
                <a:latin typeface="Arial" panose="020B0604020202020204" pitchFamily="34" charset="0"/>
                <a:ea typeface="Arial" panose="020B0604020202020204" pitchFamily="34" charset="0"/>
              </a:rPr>
              <a:t>Say the number aloud and then place the number on the number line.</a:t>
            </a:r>
            <a:endParaRPr lang="en-AU"/>
          </a:p>
        </p:txBody>
      </p:sp>
      <p:grpSp>
        <p:nvGrpSpPr>
          <p:cNvPr id="10" name="Group 9" descr="Number line 0-2">
            <a:extLst>
              <a:ext uri="{FF2B5EF4-FFF2-40B4-BE49-F238E27FC236}">
                <a16:creationId xmlns:a16="http://schemas.microsoft.com/office/drawing/2014/main" id="{98EB5398-50DF-222D-D783-5F991BC5C5A8}"/>
              </a:ext>
            </a:extLst>
          </p:cNvPr>
          <p:cNvGrpSpPr/>
          <p:nvPr/>
        </p:nvGrpSpPr>
        <p:grpSpPr>
          <a:xfrm>
            <a:off x="613923" y="2771548"/>
            <a:ext cx="11193061" cy="1534196"/>
            <a:chOff x="561287" y="2222100"/>
            <a:chExt cx="11193061" cy="1534196"/>
          </a:xfrm>
        </p:grpSpPr>
        <p:sp>
          <p:nvSpPr>
            <p:cNvPr id="3" name="AutoShape 2" descr="A number line from zero to 2.">
              <a:extLst>
                <a:ext uri="{FF2B5EF4-FFF2-40B4-BE49-F238E27FC236}">
                  <a16:creationId xmlns:a16="http://schemas.microsoft.com/office/drawing/2014/main" id="{ED58E967-CE46-DFF3-5006-581808CE0DAD}"/>
                </a:ext>
              </a:extLst>
            </p:cNvPr>
            <p:cNvSpPr/>
            <p:nvPr/>
          </p:nvSpPr>
          <p:spPr>
            <a:xfrm flipV="1">
              <a:off x="679173" y="2585370"/>
              <a:ext cx="11075175" cy="28434"/>
            </a:xfrm>
            <a:prstGeom prst="line">
              <a:avLst/>
            </a:prstGeom>
            <a:ln w="57150" cap="flat">
              <a:solidFill>
                <a:srgbClr val="000000"/>
              </a:solidFill>
              <a:prstDash val="solid"/>
              <a:headEnd type="none" w="sm" len="sm"/>
              <a:tailEnd type="arrow" w="med" len="sm"/>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5" name="AutoShape 3">
              <a:extLst>
                <a:ext uri="{FF2B5EF4-FFF2-40B4-BE49-F238E27FC236}">
                  <a16:creationId xmlns:a16="http://schemas.microsoft.com/office/drawing/2014/main" id="{9BB3C92E-5744-968F-A8BA-D929A0C371AC}"/>
                </a:ext>
                <a:ext uri="{C183D7F6-B498-43B3-948B-1728B52AA6E4}">
                  <adec:decorative xmlns:adec="http://schemas.microsoft.com/office/drawing/2017/decorative" val="1"/>
                </a:ext>
              </a:extLst>
            </p:cNvPr>
            <p:cNvSpPr/>
            <p:nvPr/>
          </p:nvSpPr>
          <p:spPr>
            <a:xfrm>
              <a:off x="706658" y="2250534"/>
              <a:ext cx="0" cy="726539"/>
            </a:xfrm>
            <a:prstGeom prst="line">
              <a:avLst/>
            </a:prstGeom>
            <a:ln w="57150" cap="flat">
              <a:solidFill>
                <a:srgbClr val="000000"/>
              </a:solidFill>
              <a:prstDash val="solid"/>
              <a:headEnd type="none" w="sm" len="sm"/>
              <a:tailEnd type="none" w="sm" len="sm"/>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7" name="AutoShape 4">
              <a:extLst>
                <a:ext uri="{FF2B5EF4-FFF2-40B4-BE49-F238E27FC236}">
                  <a16:creationId xmlns:a16="http://schemas.microsoft.com/office/drawing/2014/main" id="{12C9C192-2CEE-8BEC-4213-52B420C9FDD6}"/>
                </a:ext>
                <a:ext uri="{C183D7F6-B498-43B3-948B-1728B52AA6E4}">
                  <adec:decorative xmlns:adec="http://schemas.microsoft.com/office/drawing/2017/decorative" val="1"/>
                </a:ext>
              </a:extLst>
            </p:cNvPr>
            <p:cNvSpPr/>
            <p:nvPr/>
          </p:nvSpPr>
          <p:spPr>
            <a:xfrm>
              <a:off x="11351168" y="2222100"/>
              <a:ext cx="0" cy="726539"/>
            </a:xfrm>
            <a:prstGeom prst="line">
              <a:avLst/>
            </a:prstGeom>
            <a:ln w="57150" cap="flat">
              <a:solidFill>
                <a:srgbClr val="000000"/>
              </a:solidFill>
              <a:prstDash val="solid"/>
              <a:headEnd type="none" w="sm" len="sm"/>
              <a:tailEnd type="none" w="sm" len="sm"/>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8" name="TextBox 5">
              <a:extLst>
                <a:ext uri="{FF2B5EF4-FFF2-40B4-BE49-F238E27FC236}">
                  <a16:creationId xmlns:a16="http://schemas.microsoft.com/office/drawing/2014/main" id="{532B0BFB-2EB2-C49D-476B-ABF38AEF33C0}"/>
                </a:ext>
              </a:extLst>
            </p:cNvPr>
            <p:cNvSpPr txBox="1"/>
            <p:nvPr/>
          </p:nvSpPr>
          <p:spPr>
            <a:xfrm>
              <a:off x="561287" y="2948574"/>
              <a:ext cx="290742" cy="807722"/>
            </a:xfrm>
            <a:prstGeom prst="rect">
              <a:avLst/>
            </a:prstGeom>
          </p:spPr>
          <p:txBody>
            <a:bodyPr wrap="square" lIns="0" tIns="0" rIns="0" bIns="0" rtlCol="0" anchor="t">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ts val="6906"/>
                </a:lnSpc>
                <a:spcBef>
                  <a:spcPct val="0"/>
                </a:spcBef>
              </a:pPr>
              <a:r>
                <a:rPr lang="en-US" sz="4400">
                  <a:solidFill>
                    <a:srgbClr val="000000"/>
                  </a:solidFill>
                  <a:latin typeface="Arial" panose="020B0604020202020204" pitchFamily="34" charset="0"/>
                  <a:ea typeface="Canva Student Font"/>
                  <a:cs typeface="Canva Student Font"/>
                  <a:sym typeface="Canva Student Font"/>
                </a:rPr>
                <a:t>0</a:t>
              </a:r>
            </a:p>
          </p:txBody>
        </p:sp>
        <p:sp>
          <p:nvSpPr>
            <p:cNvPr id="9" name="TextBox 6">
              <a:extLst>
                <a:ext uri="{FF2B5EF4-FFF2-40B4-BE49-F238E27FC236}">
                  <a16:creationId xmlns:a16="http://schemas.microsoft.com/office/drawing/2014/main" id="{B9947118-ED0F-549A-27D3-CABDD0D09FCB}"/>
                </a:ext>
              </a:extLst>
            </p:cNvPr>
            <p:cNvSpPr txBox="1"/>
            <p:nvPr/>
          </p:nvSpPr>
          <p:spPr>
            <a:xfrm>
              <a:off x="11297257" y="2948639"/>
              <a:ext cx="107822" cy="807657"/>
            </a:xfrm>
            <a:prstGeom prst="rect">
              <a:avLst/>
            </a:prstGeom>
          </p:spPr>
          <p:txBody>
            <a:bodyPr wrap="square" lIns="0" tIns="0" rIns="0" bIns="0" rtlCol="0" anchor="t">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ts val="6906"/>
                </a:lnSpc>
                <a:spcBef>
                  <a:spcPct val="0"/>
                </a:spcBef>
              </a:pPr>
              <a:r>
                <a:rPr lang="en-US" sz="4400">
                  <a:solidFill>
                    <a:srgbClr val="000000"/>
                  </a:solidFill>
                  <a:latin typeface="Arial" panose="020B0604020202020204" pitchFamily="34" charset="0"/>
                  <a:ea typeface="Canva Student Font"/>
                  <a:cs typeface="Canva Student Font"/>
                  <a:sym typeface="Canva Student Font"/>
                </a:rPr>
                <a:t>2</a:t>
              </a:r>
            </a:p>
          </p:txBody>
        </p:sp>
        <p:sp>
          <p:nvSpPr>
            <p:cNvPr id="11" name="AutoShape 3">
              <a:extLst>
                <a:ext uri="{FF2B5EF4-FFF2-40B4-BE49-F238E27FC236}">
                  <a16:creationId xmlns:a16="http://schemas.microsoft.com/office/drawing/2014/main" id="{7CB51498-D83C-F9E0-4E80-27D4E7AF2E19}"/>
                </a:ext>
                <a:ext uri="{C183D7F6-B498-43B3-948B-1728B52AA6E4}">
                  <adec:decorative xmlns:adec="http://schemas.microsoft.com/office/drawing/2017/decorative" val="1"/>
                </a:ext>
              </a:extLst>
            </p:cNvPr>
            <p:cNvSpPr/>
            <p:nvPr/>
          </p:nvSpPr>
          <p:spPr>
            <a:xfrm>
              <a:off x="5838805" y="2222100"/>
              <a:ext cx="0" cy="726539"/>
            </a:xfrm>
            <a:prstGeom prst="line">
              <a:avLst/>
            </a:prstGeom>
            <a:ln w="57150" cap="flat">
              <a:solidFill>
                <a:srgbClr val="000000"/>
              </a:solidFill>
              <a:prstDash val="solid"/>
              <a:headEnd type="none" w="sm" len="sm"/>
              <a:tailEnd type="none" w="sm" len="sm"/>
            </a:ln>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7" name="TextBox 5">
              <a:extLst>
                <a:ext uri="{FF2B5EF4-FFF2-40B4-BE49-F238E27FC236}">
                  <a16:creationId xmlns:a16="http://schemas.microsoft.com/office/drawing/2014/main" id="{1719BF88-9873-0F59-489C-7C2877DC2FBF}"/>
                </a:ext>
              </a:extLst>
            </p:cNvPr>
            <p:cNvSpPr txBox="1"/>
            <p:nvPr/>
          </p:nvSpPr>
          <p:spPr>
            <a:xfrm>
              <a:off x="5667558" y="2948574"/>
              <a:ext cx="290742" cy="807722"/>
            </a:xfrm>
            <a:prstGeom prst="rect">
              <a:avLst/>
            </a:prstGeom>
          </p:spPr>
          <p:txBody>
            <a:bodyPr wrap="square" lIns="0" tIns="0" rIns="0" bIns="0" rtlCol="0" anchor="t">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ts val="6906"/>
                </a:lnSpc>
                <a:spcBef>
                  <a:spcPct val="0"/>
                </a:spcBef>
              </a:pPr>
              <a:r>
                <a:rPr lang="en-US" sz="4400">
                  <a:solidFill>
                    <a:srgbClr val="000000"/>
                  </a:solidFill>
                  <a:latin typeface="Arial" panose="020B0604020202020204" pitchFamily="34" charset="0"/>
                  <a:ea typeface="Canva Student Font"/>
                  <a:cs typeface="Canva Student Font"/>
                  <a:sym typeface="Canva Student Font"/>
                </a:rPr>
                <a:t>1</a:t>
              </a:r>
            </a:p>
          </p:txBody>
        </p:sp>
      </p:grpSp>
      <p:sp>
        <p:nvSpPr>
          <p:cNvPr id="12" name="TextBox 11">
            <a:extLst>
              <a:ext uri="{FF2B5EF4-FFF2-40B4-BE49-F238E27FC236}">
                <a16:creationId xmlns:a16="http://schemas.microsoft.com/office/drawing/2014/main" id="{69FEEFA5-CD5E-1296-1848-8DAFE8DDDF34}"/>
              </a:ext>
            </a:extLst>
          </p:cNvPr>
          <p:cNvSpPr txBox="1"/>
          <p:nvPr/>
        </p:nvSpPr>
        <p:spPr>
          <a:xfrm>
            <a:off x="1188136" y="5348377"/>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1.50</a:t>
            </a:r>
          </a:p>
        </p:txBody>
      </p:sp>
      <p:sp>
        <p:nvSpPr>
          <p:cNvPr id="13" name="TextBox 12">
            <a:extLst>
              <a:ext uri="{FF2B5EF4-FFF2-40B4-BE49-F238E27FC236}">
                <a16:creationId xmlns:a16="http://schemas.microsoft.com/office/drawing/2014/main" id="{A1FFC1B6-7560-1CB0-BCB3-5FC0104D4E76}"/>
              </a:ext>
            </a:extLst>
          </p:cNvPr>
          <p:cNvSpPr txBox="1"/>
          <p:nvPr/>
        </p:nvSpPr>
        <p:spPr>
          <a:xfrm>
            <a:off x="1823615" y="5348377"/>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1.20</a:t>
            </a:r>
          </a:p>
        </p:txBody>
      </p:sp>
      <p:sp>
        <p:nvSpPr>
          <p:cNvPr id="14" name="TextBox 13">
            <a:extLst>
              <a:ext uri="{FF2B5EF4-FFF2-40B4-BE49-F238E27FC236}">
                <a16:creationId xmlns:a16="http://schemas.microsoft.com/office/drawing/2014/main" id="{6395D8D3-3F74-8BDB-3ED3-2C018A582F44}"/>
              </a:ext>
            </a:extLst>
          </p:cNvPr>
          <p:cNvSpPr txBox="1"/>
          <p:nvPr/>
        </p:nvSpPr>
        <p:spPr>
          <a:xfrm>
            <a:off x="2442405" y="5342625"/>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1.99</a:t>
            </a:r>
          </a:p>
        </p:txBody>
      </p:sp>
      <p:sp>
        <p:nvSpPr>
          <p:cNvPr id="15" name="TextBox 14">
            <a:extLst>
              <a:ext uri="{FF2B5EF4-FFF2-40B4-BE49-F238E27FC236}">
                <a16:creationId xmlns:a16="http://schemas.microsoft.com/office/drawing/2014/main" id="{7383B7EA-E7A6-0E2C-9B0E-452F38F17BB3}"/>
              </a:ext>
            </a:extLst>
          </p:cNvPr>
          <p:cNvSpPr txBox="1"/>
          <p:nvPr/>
        </p:nvSpPr>
        <p:spPr>
          <a:xfrm>
            <a:off x="3094573" y="5354128"/>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1.10</a:t>
            </a:r>
          </a:p>
        </p:txBody>
      </p:sp>
      <p:sp>
        <p:nvSpPr>
          <p:cNvPr id="16" name="TextBox 15">
            <a:extLst>
              <a:ext uri="{FF2B5EF4-FFF2-40B4-BE49-F238E27FC236}">
                <a16:creationId xmlns:a16="http://schemas.microsoft.com/office/drawing/2014/main" id="{390C3CDB-D314-39BC-B93A-0C8F147ADE2A}"/>
              </a:ext>
            </a:extLst>
          </p:cNvPr>
          <p:cNvSpPr txBox="1"/>
          <p:nvPr/>
        </p:nvSpPr>
        <p:spPr>
          <a:xfrm>
            <a:off x="3730052" y="5348377"/>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0.80</a:t>
            </a:r>
          </a:p>
        </p:txBody>
      </p:sp>
      <p:sp>
        <p:nvSpPr>
          <p:cNvPr id="17" name="TextBox 16">
            <a:extLst>
              <a:ext uri="{FF2B5EF4-FFF2-40B4-BE49-F238E27FC236}">
                <a16:creationId xmlns:a16="http://schemas.microsoft.com/office/drawing/2014/main" id="{AA0CF8D2-7530-2CD1-57FD-9D1407F5926C}"/>
              </a:ext>
            </a:extLst>
          </p:cNvPr>
          <p:cNvSpPr txBox="1"/>
          <p:nvPr/>
        </p:nvSpPr>
        <p:spPr>
          <a:xfrm>
            <a:off x="4382220" y="5342626"/>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1.80</a:t>
            </a:r>
          </a:p>
        </p:txBody>
      </p:sp>
      <p:sp>
        <p:nvSpPr>
          <p:cNvPr id="18" name="TextBox 17">
            <a:extLst>
              <a:ext uri="{FF2B5EF4-FFF2-40B4-BE49-F238E27FC236}">
                <a16:creationId xmlns:a16="http://schemas.microsoft.com/office/drawing/2014/main" id="{F97275D5-EABB-03F9-A94F-94E0A3BEBF8A}"/>
              </a:ext>
            </a:extLst>
          </p:cNvPr>
          <p:cNvSpPr txBox="1"/>
          <p:nvPr/>
        </p:nvSpPr>
        <p:spPr>
          <a:xfrm>
            <a:off x="5017699" y="5342626"/>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1.25</a:t>
            </a:r>
          </a:p>
        </p:txBody>
      </p:sp>
      <p:sp>
        <p:nvSpPr>
          <p:cNvPr id="19" name="TextBox 18">
            <a:extLst>
              <a:ext uri="{FF2B5EF4-FFF2-40B4-BE49-F238E27FC236}">
                <a16:creationId xmlns:a16="http://schemas.microsoft.com/office/drawing/2014/main" id="{4E1B1DC1-FE6F-D189-6CF2-49FEBFCF9719}"/>
              </a:ext>
            </a:extLst>
          </p:cNvPr>
          <p:cNvSpPr txBox="1"/>
          <p:nvPr/>
        </p:nvSpPr>
        <p:spPr>
          <a:xfrm>
            <a:off x="5653178" y="5342626"/>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0.20</a:t>
            </a:r>
          </a:p>
        </p:txBody>
      </p:sp>
      <p:sp>
        <p:nvSpPr>
          <p:cNvPr id="20" name="TextBox 19">
            <a:extLst>
              <a:ext uri="{FF2B5EF4-FFF2-40B4-BE49-F238E27FC236}">
                <a16:creationId xmlns:a16="http://schemas.microsoft.com/office/drawing/2014/main" id="{F1F3769F-A8D8-1529-41F0-8149539CF6FE}"/>
              </a:ext>
            </a:extLst>
          </p:cNvPr>
          <p:cNvSpPr txBox="1"/>
          <p:nvPr/>
        </p:nvSpPr>
        <p:spPr>
          <a:xfrm>
            <a:off x="10118220" y="5351252"/>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1.55</a:t>
            </a:r>
          </a:p>
        </p:txBody>
      </p:sp>
      <p:sp>
        <p:nvSpPr>
          <p:cNvPr id="21" name="TextBox 20">
            <a:extLst>
              <a:ext uri="{FF2B5EF4-FFF2-40B4-BE49-F238E27FC236}">
                <a16:creationId xmlns:a16="http://schemas.microsoft.com/office/drawing/2014/main" id="{22AECE75-6B47-48D8-8E4C-115C5595962B}"/>
              </a:ext>
            </a:extLst>
          </p:cNvPr>
          <p:cNvSpPr txBox="1"/>
          <p:nvPr/>
        </p:nvSpPr>
        <p:spPr>
          <a:xfrm>
            <a:off x="6288657" y="5354127"/>
            <a:ext cx="563026" cy="301925"/>
          </a:xfrm>
          <a:prstGeom prst="rect">
            <a:avLst/>
          </a:prstGeom>
          <a:solidFill>
            <a:schemeClr val="accent4"/>
          </a:solidFill>
        </p:spPr>
        <p:txBody>
          <a:bodyPr wrap="square" lIns="0" tIns="0" rIns="0" bIns="0" rtlCol="0">
            <a:noAutofit/>
          </a:bodyPr>
          <a:lstStyle/>
          <a:p>
            <a:pPr algn="l"/>
            <a:r>
              <a:rPr lang="en-AU" sz="1600">
                <a:latin typeface="Arial" panose="020B0604020202020204" pitchFamily="34" charset="0"/>
                <a:cs typeface="Arial" panose="020B0604020202020204" pitchFamily="34" charset="0"/>
              </a:rPr>
              <a:t>1.494</a:t>
            </a:r>
            <a:endParaRPr lang="en-AU" sz="180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266E00A1-FF27-1452-5EC5-C1B6C8FB8806}"/>
              </a:ext>
            </a:extLst>
          </p:cNvPr>
          <p:cNvSpPr txBox="1"/>
          <p:nvPr/>
        </p:nvSpPr>
        <p:spPr>
          <a:xfrm>
            <a:off x="6940825" y="5348376"/>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0.75</a:t>
            </a:r>
          </a:p>
        </p:txBody>
      </p:sp>
      <p:sp>
        <p:nvSpPr>
          <p:cNvPr id="23" name="TextBox 22">
            <a:extLst>
              <a:ext uri="{FF2B5EF4-FFF2-40B4-BE49-F238E27FC236}">
                <a16:creationId xmlns:a16="http://schemas.microsoft.com/office/drawing/2014/main" id="{A6671230-2616-4CCE-7794-AD74651F64E7}"/>
              </a:ext>
            </a:extLst>
          </p:cNvPr>
          <p:cNvSpPr txBox="1"/>
          <p:nvPr/>
        </p:nvSpPr>
        <p:spPr>
          <a:xfrm>
            <a:off x="7576304" y="5348376"/>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1.60</a:t>
            </a:r>
          </a:p>
        </p:txBody>
      </p:sp>
      <p:sp>
        <p:nvSpPr>
          <p:cNvPr id="24" name="TextBox 23">
            <a:extLst>
              <a:ext uri="{FF2B5EF4-FFF2-40B4-BE49-F238E27FC236}">
                <a16:creationId xmlns:a16="http://schemas.microsoft.com/office/drawing/2014/main" id="{B1B4ABDE-4C11-2C92-9BBF-EE4546C058F8}"/>
              </a:ext>
            </a:extLst>
          </p:cNvPr>
          <p:cNvSpPr txBox="1"/>
          <p:nvPr/>
        </p:nvSpPr>
        <p:spPr>
          <a:xfrm>
            <a:off x="8211783" y="5348376"/>
            <a:ext cx="563026" cy="301925"/>
          </a:xfrm>
          <a:prstGeom prst="rect">
            <a:avLst/>
          </a:prstGeom>
          <a:solidFill>
            <a:schemeClr val="accent4"/>
          </a:solidFill>
        </p:spPr>
        <p:txBody>
          <a:bodyPr wrap="square" lIns="0" tIns="0" rIns="0" bIns="0" rtlCol="0">
            <a:noAutofit/>
          </a:bodyPr>
          <a:lstStyle/>
          <a:p>
            <a:pPr algn="l"/>
            <a:r>
              <a:rPr lang="en-AU" sz="1600">
                <a:latin typeface="Arial" panose="020B0604020202020204" pitchFamily="34" charset="0"/>
                <a:cs typeface="Arial" panose="020B0604020202020204" pitchFamily="34" charset="0"/>
              </a:rPr>
              <a:t>0.125</a:t>
            </a:r>
          </a:p>
        </p:txBody>
      </p:sp>
      <p:sp>
        <p:nvSpPr>
          <p:cNvPr id="25" name="TextBox 24">
            <a:extLst>
              <a:ext uri="{FF2B5EF4-FFF2-40B4-BE49-F238E27FC236}">
                <a16:creationId xmlns:a16="http://schemas.microsoft.com/office/drawing/2014/main" id="{5C290145-AB56-5FE0-9C38-F83239104F80}"/>
              </a:ext>
            </a:extLst>
          </p:cNvPr>
          <p:cNvSpPr txBox="1"/>
          <p:nvPr/>
        </p:nvSpPr>
        <p:spPr>
          <a:xfrm>
            <a:off x="8847262" y="5354127"/>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0.50</a:t>
            </a:r>
          </a:p>
        </p:txBody>
      </p:sp>
      <p:sp>
        <p:nvSpPr>
          <p:cNvPr id="26" name="TextBox 25">
            <a:extLst>
              <a:ext uri="{FF2B5EF4-FFF2-40B4-BE49-F238E27FC236}">
                <a16:creationId xmlns:a16="http://schemas.microsoft.com/office/drawing/2014/main" id="{667BA714-739D-F715-F3A0-766AF4270031}"/>
              </a:ext>
            </a:extLst>
          </p:cNvPr>
          <p:cNvSpPr txBox="1"/>
          <p:nvPr/>
        </p:nvSpPr>
        <p:spPr>
          <a:xfrm>
            <a:off x="9482741" y="5348376"/>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0.20</a:t>
            </a:r>
          </a:p>
        </p:txBody>
      </p:sp>
      <p:sp>
        <p:nvSpPr>
          <p:cNvPr id="27" name="TextBox 26">
            <a:extLst>
              <a:ext uri="{FF2B5EF4-FFF2-40B4-BE49-F238E27FC236}">
                <a16:creationId xmlns:a16="http://schemas.microsoft.com/office/drawing/2014/main" id="{EAF3F799-997A-C581-26F3-9516A6B38E44}"/>
              </a:ext>
            </a:extLst>
          </p:cNvPr>
          <p:cNvSpPr txBox="1"/>
          <p:nvPr/>
        </p:nvSpPr>
        <p:spPr>
          <a:xfrm>
            <a:off x="1188136" y="5794075"/>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0.70</a:t>
            </a:r>
          </a:p>
        </p:txBody>
      </p:sp>
      <p:sp>
        <p:nvSpPr>
          <p:cNvPr id="28" name="TextBox 27">
            <a:extLst>
              <a:ext uri="{FF2B5EF4-FFF2-40B4-BE49-F238E27FC236}">
                <a16:creationId xmlns:a16="http://schemas.microsoft.com/office/drawing/2014/main" id="{15FFF3D7-C46A-E9C5-8C13-1A1C46C9F88D}"/>
              </a:ext>
            </a:extLst>
          </p:cNvPr>
          <p:cNvSpPr txBox="1"/>
          <p:nvPr/>
        </p:nvSpPr>
        <p:spPr>
          <a:xfrm>
            <a:off x="1823615" y="5794075"/>
            <a:ext cx="563026" cy="301925"/>
          </a:xfrm>
          <a:prstGeom prst="rect">
            <a:avLst/>
          </a:prstGeom>
          <a:solidFill>
            <a:schemeClr val="accent4"/>
          </a:solidFill>
        </p:spPr>
        <p:txBody>
          <a:bodyPr wrap="square" lIns="0" tIns="0" rIns="0" bIns="0" rtlCol="0">
            <a:noAutofit/>
          </a:bodyPr>
          <a:lstStyle/>
          <a:p>
            <a:pPr algn="l"/>
            <a:r>
              <a:rPr lang="en-AU" sz="1600">
                <a:latin typeface="Arial" panose="020B0604020202020204" pitchFamily="34" charset="0"/>
                <a:cs typeface="Arial" panose="020B0604020202020204" pitchFamily="34" charset="0"/>
              </a:rPr>
              <a:t>0.089</a:t>
            </a:r>
          </a:p>
        </p:txBody>
      </p:sp>
      <p:sp>
        <p:nvSpPr>
          <p:cNvPr id="29" name="TextBox 28">
            <a:extLst>
              <a:ext uri="{FF2B5EF4-FFF2-40B4-BE49-F238E27FC236}">
                <a16:creationId xmlns:a16="http://schemas.microsoft.com/office/drawing/2014/main" id="{75B66103-5103-A695-2063-959A5AA49620}"/>
              </a:ext>
            </a:extLst>
          </p:cNvPr>
          <p:cNvSpPr txBox="1"/>
          <p:nvPr/>
        </p:nvSpPr>
        <p:spPr>
          <a:xfrm>
            <a:off x="2459094" y="5794075"/>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1.70</a:t>
            </a:r>
          </a:p>
        </p:txBody>
      </p:sp>
      <p:sp>
        <p:nvSpPr>
          <p:cNvPr id="30" name="TextBox 29">
            <a:extLst>
              <a:ext uri="{FF2B5EF4-FFF2-40B4-BE49-F238E27FC236}">
                <a16:creationId xmlns:a16="http://schemas.microsoft.com/office/drawing/2014/main" id="{A30C5D3A-EED0-E64B-AE1E-1D968361BA5A}"/>
              </a:ext>
            </a:extLst>
          </p:cNvPr>
          <p:cNvSpPr txBox="1"/>
          <p:nvPr/>
        </p:nvSpPr>
        <p:spPr>
          <a:xfrm>
            <a:off x="3094573" y="5799826"/>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0.02</a:t>
            </a:r>
          </a:p>
        </p:txBody>
      </p:sp>
      <p:sp>
        <p:nvSpPr>
          <p:cNvPr id="31" name="TextBox 30">
            <a:extLst>
              <a:ext uri="{FF2B5EF4-FFF2-40B4-BE49-F238E27FC236}">
                <a16:creationId xmlns:a16="http://schemas.microsoft.com/office/drawing/2014/main" id="{FA6D2FAE-81AC-9C5C-8C2D-98C341159131}"/>
              </a:ext>
            </a:extLst>
          </p:cNvPr>
          <p:cNvSpPr txBox="1"/>
          <p:nvPr/>
        </p:nvSpPr>
        <p:spPr>
          <a:xfrm>
            <a:off x="3730052" y="5794075"/>
            <a:ext cx="563026" cy="301925"/>
          </a:xfrm>
          <a:prstGeom prst="rect">
            <a:avLst/>
          </a:prstGeom>
          <a:solidFill>
            <a:schemeClr val="accent4"/>
          </a:solidFill>
        </p:spPr>
        <p:txBody>
          <a:bodyPr wrap="square" lIns="0" tIns="0" rIns="0" bIns="0" rtlCol="0">
            <a:noAutofit/>
          </a:bodyPr>
          <a:lstStyle/>
          <a:p>
            <a:pPr algn="l"/>
            <a:r>
              <a:rPr lang="en-AU" sz="1600">
                <a:latin typeface="Arial" panose="020B0604020202020204" pitchFamily="34" charset="0"/>
                <a:cs typeface="Arial" panose="020B0604020202020204" pitchFamily="34" charset="0"/>
              </a:rPr>
              <a:t>0.170</a:t>
            </a:r>
          </a:p>
        </p:txBody>
      </p:sp>
      <p:sp>
        <p:nvSpPr>
          <p:cNvPr id="32" name="TextBox 31">
            <a:extLst>
              <a:ext uri="{FF2B5EF4-FFF2-40B4-BE49-F238E27FC236}">
                <a16:creationId xmlns:a16="http://schemas.microsoft.com/office/drawing/2014/main" id="{65329736-12D4-0522-E359-BF32B50B3A38}"/>
              </a:ext>
            </a:extLst>
          </p:cNvPr>
          <p:cNvSpPr txBox="1"/>
          <p:nvPr/>
        </p:nvSpPr>
        <p:spPr>
          <a:xfrm>
            <a:off x="4382220" y="5788324"/>
            <a:ext cx="563026" cy="301925"/>
          </a:xfrm>
          <a:prstGeom prst="rect">
            <a:avLst/>
          </a:prstGeom>
          <a:solidFill>
            <a:schemeClr val="accent4"/>
          </a:solidFill>
        </p:spPr>
        <p:txBody>
          <a:bodyPr wrap="square" lIns="0" tIns="0" rIns="0" bIns="0" rtlCol="0">
            <a:noAutofit/>
          </a:bodyPr>
          <a:lstStyle/>
          <a:p>
            <a:pPr algn="l"/>
            <a:r>
              <a:rPr lang="en-AU" sz="1600">
                <a:latin typeface="Arial" panose="020B0604020202020204" pitchFamily="34" charset="0"/>
                <a:cs typeface="Arial" panose="020B0604020202020204" pitchFamily="34" charset="0"/>
              </a:rPr>
              <a:t>1.075</a:t>
            </a:r>
            <a:endParaRPr lang="en-AU" sz="180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A3EEB867-1BB5-538D-568A-305ACAB858FD}"/>
              </a:ext>
            </a:extLst>
          </p:cNvPr>
          <p:cNvSpPr txBox="1"/>
          <p:nvPr/>
        </p:nvSpPr>
        <p:spPr>
          <a:xfrm>
            <a:off x="5017699" y="5788324"/>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0.25</a:t>
            </a:r>
          </a:p>
        </p:txBody>
      </p:sp>
      <p:sp>
        <p:nvSpPr>
          <p:cNvPr id="34" name="TextBox 33">
            <a:extLst>
              <a:ext uri="{FF2B5EF4-FFF2-40B4-BE49-F238E27FC236}">
                <a16:creationId xmlns:a16="http://schemas.microsoft.com/office/drawing/2014/main" id="{9B6D6E9A-E91E-8427-19E8-33F147164319}"/>
              </a:ext>
            </a:extLst>
          </p:cNvPr>
          <p:cNvSpPr txBox="1"/>
          <p:nvPr/>
        </p:nvSpPr>
        <p:spPr>
          <a:xfrm>
            <a:off x="5653178" y="5788324"/>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0.60</a:t>
            </a:r>
          </a:p>
        </p:txBody>
      </p:sp>
      <p:sp>
        <p:nvSpPr>
          <p:cNvPr id="35" name="TextBox 34">
            <a:extLst>
              <a:ext uri="{FF2B5EF4-FFF2-40B4-BE49-F238E27FC236}">
                <a16:creationId xmlns:a16="http://schemas.microsoft.com/office/drawing/2014/main" id="{2F90DD70-79A3-F887-D1BF-EA00B1D42F00}"/>
              </a:ext>
            </a:extLst>
          </p:cNvPr>
          <p:cNvSpPr txBox="1"/>
          <p:nvPr/>
        </p:nvSpPr>
        <p:spPr>
          <a:xfrm>
            <a:off x="10118220" y="5796950"/>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1.75</a:t>
            </a:r>
          </a:p>
        </p:txBody>
      </p:sp>
      <p:sp>
        <p:nvSpPr>
          <p:cNvPr id="36" name="TextBox 35">
            <a:extLst>
              <a:ext uri="{FF2B5EF4-FFF2-40B4-BE49-F238E27FC236}">
                <a16:creationId xmlns:a16="http://schemas.microsoft.com/office/drawing/2014/main" id="{9463B8EB-0BE1-BF41-6A1D-4DFDB6725201}"/>
              </a:ext>
            </a:extLst>
          </p:cNvPr>
          <p:cNvSpPr txBox="1"/>
          <p:nvPr/>
        </p:nvSpPr>
        <p:spPr>
          <a:xfrm>
            <a:off x="6288657" y="5799825"/>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a:t>
            </a:r>
            <a:r>
              <a:rPr lang="en-AU" sz="1400">
                <a:latin typeface="Arial" panose="020B0604020202020204" pitchFamily="34" charset="0"/>
                <a:cs typeface="Arial" panose="020B0604020202020204" pitchFamily="34" charset="0"/>
              </a:rPr>
              <a:t>0.909</a:t>
            </a:r>
            <a:endParaRPr lang="en-AU" sz="180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677742A4-9AA2-9E3A-8E37-3C5D0344990A}"/>
              </a:ext>
            </a:extLst>
          </p:cNvPr>
          <p:cNvSpPr txBox="1"/>
          <p:nvPr/>
        </p:nvSpPr>
        <p:spPr>
          <a:xfrm>
            <a:off x="6940825" y="5794074"/>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a:t>
            </a:r>
            <a:r>
              <a:rPr lang="en-AU" sz="1400">
                <a:latin typeface="Arial" panose="020B0604020202020204" pitchFamily="34" charset="0"/>
                <a:cs typeface="Arial" panose="020B0604020202020204" pitchFamily="34" charset="0"/>
              </a:rPr>
              <a:t>0.375</a:t>
            </a:r>
            <a:endParaRPr lang="en-AU" sz="180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08EE3631-0B14-9788-9C32-39F4E51A0063}"/>
              </a:ext>
            </a:extLst>
          </p:cNvPr>
          <p:cNvSpPr txBox="1"/>
          <p:nvPr/>
        </p:nvSpPr>
        <p:spPr>
          <a:xfrm>
            <a:off x="7576304" y="5794074"/>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1.40</a:t>
            </a:r>
          </a:p>
        </p:txBody>
      </p:sp>
      <p:sp>
        <p:nvSpPr>
          <p:cNvPr id="39" name="TextBox 38">
            <a:extLst>
              <a:ext uri="{FF2B5EF4-FFF2-40B4-BE49-F238E27FC236}">
                <a16:creationId xmlns:a16="http://schemas.microsoft.com/office/drawing/2014/main" id="{C49C0853-058E-8DFF-C304-38C2F255B29C}"/>
              </a:ext>
            </a:extLst>
          </p:cNvPr>
          <p:cNvSpPr txBox="1"/>
          <p:nvPr/>
        </p:nvSpPr>
        <p:spPr>
          <a:xfrm>
            <a:off x="8211783" y="5794074"/>
            <a:ext cx="563026" cy="301925"/>
          </a:xfrm>
          <a:prstGeom prst="rect">
            <a:avLst/>
          </a:prstGeom>
          <a:solidFill>
            <a:schemeClr val="accent4"/>
          </a:solidFill>
        </p:spPr>
        <p:txBody>
          <a:bodyPr wrap="square" lIns="0" tIns="0" rIns="0" bIns="0" rtlCol="0">
            <a:noAutofit/>
          </a:bodyPr>
          <a:lstStyle/>
          <a:p>
            <a:pPr algn="l"/>
            <a:r>
              <a:rPr lang="en-AU" sz="1600">
                <a:latin typeface="Arial" panose="020B0604020202020204" pitchFamily="34" charset="0"/>
                <a:cs typeface="Arial" panose="020B0604020202020204" pitchFamily="34" charset="0"/>
              </a:rPr>
              <a:t> </a:t>
            </a:r>
            <a:r>
              <a:rPr lang="en-AU" sz="1400">
                <a:latin typeface="Arial" panose="020B0604020202020204" pitchFamily="34" charset="0"/>
                <a:cs typeface="Arial" panose="020B0604020202020204" pitchFamily="34" charset="0"/>
              </a:rPr>
              <a:t>0.025</a:t>
            </a:r>
            <a:endParaRPr lang="en-AU" sz="1600">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38CE697B-988B-16C5-0C94-0452D50CF5D6}"/>
              </a:ext>
            </a:extLst>
          </p:cNvPr>
          <p:cNvSpPr txBox="1"/>
          <p:nvPr/>
        </p:nvSpPr>
        <p:spPr>
          <a:xfrm>
            <a:off x="8847262" y="5799825"/>
            <a:ext cx="563026" cy="301925"/>
          </a:xfrm>
          <a:prstGeom prst="rect">
            <a:avLst/>
          </a:prstGeom>
          <a:solidFill>
            <a:schemeClr val="accent4"/>
          </a:solidFill>
        </p:spPr>
        <p:txBody>
          <a:bodyPr wrap="square" lIns="0" tIns="0" rIns="0" bIns="0" rtlCol="0">
            <a:noAutofit/>
          </a:bodyPr>
          <a:lstStyle/>
          <a:p>
            <a:pPr algn="l"/>
            <a:r>
              <a:rPr lang="en-AU" sz="1600">
                <a:latin typeface="Arial" panose="020B0604020202020204" pitchFamily="34" charset="0"/>
                <a:cs typeface="Arial" panose="020B0604020202020204" pitchFamily="34" charset="0"/>
              </a:rPr>
              <a:t>1.429</a:t>
            </a:r>
            <a:endParaRPr lang="en-AU" sz="180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80423729-B2F3-C866-BB6D-4BBDF0EB9BBD}"/>
              </a:ext>
            </a:extLst>
          </p:cNvPr>
          <p:cNvSpPr txBox="1"/>
          <p:nvPr/>
        </p:nvSpPr>
        <p:spPr>
          <a:xfrm>
            <a:off x="9482741" y="5794074"/>
            <a:ext cx="563026" cy="301925"/>
          </a:xfrm>
          <a:prstGeom prst="rect">
            <a:avLst/>
          </a:prstGeom>
          <a:solidFill>
            <a:schemeClr val="accent4"/>
          </a:solidFill>
        </p:spPr>
        <p:txBody>
          <a:bodyPr wrap="square" lIns="0" tIns="0" rIns="0" bIns="0" rtlCol="0">
            <a:noAutofit/>
          </a:bodyPr>
          <a:lstStyle/>
          <a:p>
            <a:pPr algn="l"/>
            <a:r>
              <a:rPr lang="en-AU" sz="1600">
                <a:latin typeface="Arial" panose="020B0604020202020204" pitchFamily="34" charset="0"/>
                <a:cs typeface="Arial" panose="020B0604020202020204" pitchFamily="34" charset="0"/>
              </a:rPr>
              <a:t>1.125</a:t>
            </a:r>
            <a:endParaRPr lang="en-AU" sz="180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067AEF6F-33E1-B6E4-3309-64539630EC15}"/>
              </a:ext>
            </a:extLst>
          </p:cNvPr>
          <p:cNvSpPr txBox="1"/>
          <p:nvPr/>
        </p:nvSpPr>
        <p:spPr>
          <a:xfrm>
            <a:off x="4376470" y="6177441"/>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0.10</a:t>
            </a:r>
          </a:p>
        </p:txBody>
      </p:sp>
      <p:sp>
        <p:nvSpPr>
          <p:cNvPr id="43" name="TextBox 42">
            <a:extLst>
              <a:ext uri="{FF2B5EF4-FFF2-40B4-BE49-F238E27FC236}">
                <a16:creationId xmlns:a16="http://schemas.microsoft.com/office/drawing/2014/main" id="{19613371-132D-7610-5498-6A3CEC92B169}"/>
              </a:ext>
            </a:extLst>
          </p:cNvPr>
          <p:cNvSpPr txBox="1"/>
          <p:nvPr/>
        </p:nvSpPr>
        <p:spPr>
          <a:xfrm>
            <a:off x="5011949" y="6177441"/>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1.90</a:t>
            </a:r>
          </a:p>
        </p:txBody>
      </p:sp>
      <p:sp>
        <p:nvSpPr>
          <p:cNvPr id="44" name="TextBox 43">
            <a:extLst>
              <a:ext uri="{FF2B5EF4-FFF2-40B4-BE49-F238E27FC236}">
                <a16:creationId xmlns:a16="http://schemas.microsoft.com/office/drawing/2014/main" id="{0ED0080E-AE4C-9D79-6BEE-26DD801574DB}"/>
              </a:ext>
            </a:extLst>
          </p:cNvPr>
          <p:cNvSpPr txBox="1"/>
          <p:nvPr/>
        </p:nvSpPr>
        <p:spPr>
          <a:xfrm>
            <a:off x="5647428" y="6177441"/>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0.90</a:t>
            </a:r>
          </a:p>
        </p:txBody>
      </p:sp>
      <p:sp>
        <p:nvSpPr>
          <p:cNvPr id="45" name="TextBox 44">
            <a:extLst>
              <a:ext uri="{FF2B5EF4-FFF2-40B4-BE49-F238E27FC236}">
                <a16:creationId xmlns:a16="http://schemas.microsoft.com/office/drawing/2014/main" id="{7F7E9652-4FAC-B7BC-5D98-118E59B1C7B2}"/>
              </a:ext>
            </a:extLst>
          </p:cNvPr>
          <p:cNvSpPr txBox="1"/>
          <p:nvPr/>
        </p:nvSpPr>
        <p:spPr>
          <a:xfrm>
            <a:off x="6282907" y="6183192"/>
            <a:ext cx="563026" cy="301925"/>
          </a:xfrm>
          <a:prstGeom prst="rect">
            <a:avLst/>
          </a:prstGeom>
          <a:solidFill>
            <a:schemeClr val="accent4"/>
          </a:solidFill>
        </p:spPr>
        <p:txBody>
          <a:bodyPr wrap="square" lIns="0" tIns="0" rIns="0" bIns="0" rtlCol="0">
            <a:noAutofit/>
          </a:bodyPr>
          <a:lstStyle/>
          <a:p>
            <a:pPr algn="l"/>
            <a:r>
              <a:rPr lang="en-AU" sz="1600">
                <a:latin typeface="Arial" panose="020B0604020202020204" pitchFamily="34" charset="0"/>
                <a:cs typeface="Arial" panose="020B0604020202020204" pitchFamily="34" charset="0"/>
              </a:rPr>
              <a:t>1.804</a:t>
            </a:r>
            <a:endParaRPr lang="en-AU" sz="180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7AD7770C-603D-5146-4F08-11A3FF1BC2D4}"/>
              </a:ext>
            </a:extLst>
          </p:cNvPr>
          <p:cNvSpPr txBox="1"/>
          <p:nvPr/>
        </p:nvSpPr>
        <p:spPr>
          <a:xfrm>
            <a:off x="6918386" y="6177441"/>
            <a:ext cx="563026" cy="301925"/>
          </a:xfrm>
          <a:prstGeom prst="rect">
            <a:avLst/>
          </a:prstGeom>
          <a:solidFill>
            <a:schemeClr val="accent4"/>
          </a:solidFill>
        </p:spPr>
        <p:txBody>
          <a:bodyPr wrap="square" lIns="0" tIns="0" rIns="0" bIns="0" rtlCol="0">
            <a:noAutofit/>
          </a:bodyPr>
          <a:lstStyle/>
          <a:p>
            <a:pPr algn="l"/>
            <a:r>
              <a:rPr lang="en-AU" sz="1800">
                <a:latin typeface="Arial" panose="020B0604020202020204" pitchFamily="34" charset="0"/>
                <a:cs typeface="Arial" panose="020B0604020202020204" pitchFamily="34" charset="0"/>
              </a:rPr>
              <a:t> 1.30</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1816874" y="1122249"/>
            <a:ext cx="8991034" cy="893226"/>
          </a:xfrm>
        </p:spPr>
        <p:txBody>
          <a:bodyPr/>
          <a:lstStyle/>
          <a:p>
            <a:pPr algn="ctr"/>
            <a:r>
              <a:rPr lang="en-AU" sz="4400"/>
              <a:t>A </a:t>
            </a:r>
            <a:r>
              <a:rPr lang="en-AU" sz="4400" b="1"/>
              <a:t>zero</a:t>
            </a:r>
            <a:r>
              <a:rPr lang="en-AU" sz="4400"/>
              <a:t> can be a </a:t>
            </a:r>
            <a:r>
              <a:rPr lang="en-AU" sz="4400" b="1"/>
              <a:t>placeholder</a:t>
            </a:r>
            <a:r>
              <a:rPr lang="en-AU" sz="4400"/>
              <a:t> in a decimal number.</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2537596504"/>
              </p:ext>
            </p:extLst>
          </p:nvPr>
        </p:nvGraphicFramePr>
        <p:xfrm>
          <a:off x="2442980" y="377590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5" name="Text Placeholder 5">
            <a:extLst>
              <a:ext uri="{FF2B5EF4-FFF2-40B4-BE49-F238E27FC236}">
                <a16:creationId xmlns:a16="http://schemas.microsoft.com/office/drawing/2014/main" id="{FF4913C4-4581-508E-581F-F8B27A1B30F2}"/>
              </a:ext>
            </a:extLst>
          </p:cNvPr>
          <p:cNvSpPr txBox="1">
            <a:spLocks/>
          </p:cNvSpPr>
          <p:nvPr/>
        </p:nvSpPr>
        <p:spPr>
          <a:xfrm>
            <a:off x="359999" y="5180847"/>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311A2FDD-716E-C587-2432-492E8EEFB207}"/>
              </a:ext>
            </a:extLst>
          </p:cNvPr>
          <p:cNvSpPr txBox="1"/>
          <p:nvPr/>
        </p:nvSpPr>
        <p:spPr>
          <a:xfrm>
            <a:off x="1192687" y="1464187"/>
            <a:ext cx="9620762" cy="2146853"/>
          </a:xfrm>
          <a:prstGeom prst="rect">
            <a:avLst/>
          </a:prstGeom>
          <a:noFill/>
        </p:spPr>
        <p:txBody>
          <a:bodyPr wrap="square" lIns="0" tIns="0" rIns="0" bIns="0" rtlCol="0">
            <a:noAutofit/>
          </a:bodyPr>
          <a:lstStyle/>
          <a:p>
            <a:pPr algn="ctr">
              <a:lnSpc>
                <a:spcPct val="150000"/>
              </a:lnSpc>
            </a:pPr>
            <a:r>
              <a:rPr lang="en-AU" sz="4400" b="1"/>
              <a:t>Name </a:t>
            </a:r>
            <a:r>
              <a:rPr lang="en-AU" sz="4400"/>
              <a:t>the </a:t>
            </a:r>
            <a:r>
              <a:rPr lang="en-AU" sz="4400" b="1"/>
              <a:t>prisms</a:t>
            </a:r>
            <a:r>
              <a:rPr lang="en-AU" sz="4400"/>
              <a:t> and </a:t>
            </a:r>
            <a:r>
              <a:rPr lang="en-AU" sz="4400" b="1"/>
              <a:t>pyramids</a:t>
            </a:r>
            <a:r>
              <a:rPr lang="en-AU" sz="4400"/>
              <a:t>.</a:t>
            </a:r>
          </a:p>
        </p:txBody>
      </p:sp>
      <p:pic>
        <p:nvPicPr>
          <p:cNvPr id="7" name="Picture 6" descr="images of the following prisms and pyramids:&#10;1. pyramid with a three-sided base&#10;2.  prism with 2 five-sided faces&#10;3. pyramid with a five-sided base.&#10;">
            <a:extLst>
              <a:ext uri="{FF2B5EF4-FFF2-40B4-BE49-F238E27FC236}">
                <a16:creationId xmlns:a16="http://schemas.microsoft.com/office/drawing/2014/main" id="{066BADE7-6F34-8F9B-192C-B75B178070AE}"/>
              </a:ext>
            </a:extLst>
          </p:cNvPr>
          <p:cNvPicPr>
            <a:picLocks noChangeAspect="1"/>
          </p:cNvPicPr>
          <p:nvPr/>
        </p:nvPicPr>
        <p:blipFill>
          <a:blip r:embed="rId4"/>
          <a:stretch>
            <a:fillRect/>
          </a:stretch>
        </p:blipFill>
        <p:spPr>
          <a:xfrm>
            <a:off x="1331120" y="2920207"/>
            <a:ext cx="9343896" cy="2473606"/>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8" name="TextBox 7">
            <a:extLst>
              <a:ext uri="{FF2B5EF4-FFF2-40B4-BE49-F238E27FC236}">
                <a16:creationId xmlns:a16="http://schemas.microsoft.com/office/drawing/2014/main" id="{2B3E882A-BCFA-23F2-9FB6-27074D818D59}"/>
              </a:ext>
            </a:extLst>
          </p:cNvPr>
          <p:cNvSpPr txBox="1"/>
          <p:nvPr/>
        </p:nvSpPr>
        <p:spPr>
          <a:xfrm>
            <a:off x="521813" y="897912"/>
            <a:ext cx="5376205" cy="4975657"/>
          </a:xfrm>
          <a:prstGeom prst="rect">
            <a:avLst/>
          </a:prstGeom>
          <a:noFill/>
        </p:spPr>
        <p:txBody>
          <a:bodyPr wrap="square">
            <a:spAutoFit/>
          </a:bodyPr>
          <a:lstStyle/>
          <a:p>
            <a:pPr>
              <a:lnSpc>
                <a:spcPct val="150000"/>
              </a:lnSpc>
            </a:pPr>
            <a:r>
              <a:rPr lang="en-AU" sz="3600" b="1" dirty="0">
                <a:effectLst/>
                <a:latin typeface="Arial" panose="020B0604020202020204" pitchFamily="34" charset="0"/>
                <a:ea typeface="Calibri" panose="020F0502020204030204" pitchFamily="34" charset="0"/>
              </a:rPr>
              <a:t>Record</a:t>
            </a:r>
            <a:r>
              <a:rPr lang="en-AU" sz="3600" dirty="0">
                <a:effectLst/>
                <a:latin typeface="Arial" panose="020B0604020202020204" pitchFamily="34" charset="0"/>
                <a:ea typeface="Calibri" panose="020F0502020204030204" pitchFamily="34" charset="0"/>
              </a:rPr>
              <a:t> the </a:t>
            </a:r>
            <a:r>
              <a:rPr lang="en-AU" sz="3600" b="1" dirty="0">
                <a:effectLst/>
                <a:latin typeface="Arial" panose="020B0604020202020204" pitchFamily="34" charset="0"/>
                <a:ea typeface="Calibri" panose="020F0502020204030204" pitchFamily="34" charset="0"/>
              </a:rPr>
              <a:t>coordinates</a:t>
            </a:r>
            <a:r>
              <a:rPr lang="en-AU" sz="3600" dirty="0">
                <a:effectLst/>
                <a:latin typeface="Arial" panose="020B0604020202020204" pitchFamily="34" charset="0"/>
                <a:ea typeface="Calibri" panose="020F0502020204030204" pitchFamily="34" charset="0"/>
              </a:rPr>
              <a:t> of the books plotted on the Cartesian plane.</a:t>
            </a:r>
          </a:p>
          <a:p>
            <a:pPr marL="571500" indent="-571500">
              <a:lnSpc>
                <a:spcPct val="150000"/>
              </a:lnSpc>
              <a:buFont typeface="Arial" panose="020B0604020202020204" pitchFamily="34" charset="0"/>
              <a:buChar char="•"/>
            </a:pPr>
            <a:r>
              <a:rPr lang="en-AU" sz="3600" dirty="0">
                <a:solidFill>
                  <a:srgbClr val="64BB47"/>
                </a:solidFill>
                <a:latin typeface="Arial" panose="020B0604020202020204" pitchFamily="34" charset="0"/>
                <a:ea typeface="Calibri" panose="020F0502020204030204" pitchFamily="34" charset="0"/>
              </a:rPr>
              <a:t>green</a:t>
            </a:r>
          </a:p>
          <a:p>
            <a:pPr marL="571500" indent="-571500">
              <a:lnSpc>
                <a:spcPct val="150000"/>
              </a:lnSpc>
              <a:buFont typeface="Arial" panose="020B0604020202020204" pitchFamily="34" charset="0"/>
              <a:buChar char="•"/>
            </a:pPr>
            <a:r>
              <a:rPr lang="en-AU" sz="3600" dirty="0">
                <a:solidFill>
                  <a:srgbClr val="9933FF"/>
                </a:solidFill>
                <a:latin typeface="Arial" panose="020B0604020202020204" pitchFamily="34" charset="0"/>
                <a:ea typeface="Calibri" panose="020F0502020204030204" pitchFamily="34" charset="0"/>
              </a:rPr>
              <a:t>purple</a:t>
            </a:r>
          </a:p>
          <a:p>
            <a:pPr marL="571500" indent="-571500">
              <a:lnSpc>
                <a:spcPct val="150000"/>
              </a:lnSpc>
              <a:buFont typeface="Arial" panose="020B0604020202020204" pitchFamily="34" charset="0"/>
              <a:buChar char="•"/>
            </a:pPr>
            <a:r>
              <a:rPr lang="en-AU" sz="3600" dirty="0">
                <a:solidFill>
                  <a:schemeClr val="accent2">
                    <a:lumMod val="75000"/>
                  </a:schemeClr>
                </a:solidFill>
                <a:latin typeface="Arial" panose="020B0604020202020204" pitchFamily="34" charset="0"/>
                <a:ea typeface="Calibri" panose="020F0502020204030204" pitchFamily="34" charset="0"/>
              </a:rPr>
              <a:t>blue</a:t>
            </a:r>
            <a:endParaRPr lang="en-AU" sz="3600" dirty="0">
              <a:solidFill>
                <a:schemeClr val="accent2">
                  <a:lumMod val="75000"/>
                </a:schemeClr>
              </a:solidFill>
            </a:endParaRPr>
          </a:p>
        </p:txBody>
      </p:sp>
      <p:grpSp>
        <p:nvGrpSpPr>
          <p:cNvPr id="9" name="Group 8">
            <a:extLst>
              <a:ext uri="{FF2B5EF4-FFF2-40B4-BE49-F238E27FC236}">
                <a16:creationId xmlns:a16="http://schemas.microsoft.com/office/drawing/2014/main" id="{9A286445-CD97-026F-B3D4-7373917F0FA1}"/>
              </a:ext>
              <a:ext uri="{C183D7F6-B498-43B3-948B-1728B52AA6E4}">
                <adec:decorative xmlns:adec="http://schemas.microsoft.com/office/drawing/2017/decorative" val="1"/>
              </a:ext>
            </a:extLst>
          </p:cNvPr>
          <p:cNvGrpSpPr/>
          <p:nvPr/>
        </p:nvGrpSpPr>
        <p:grpSpPr>
          <a:xfrm>
            <a:off x="6096000" y="1257500"/>
            <a:ext cx="5376205" cy="5331777"/>
            <a:chOff x="6862816" y="1518082"/>
            <a:chExt cx="4657668" cy="4719296"/>
          </a:xfrm>
        </p:grpSpPr>
        <p:pic>
          <p:nvPicPr>
            <p:cNvPr id="5" name="Picture 4" descr="A number plane with grid lines. The x-axis is labelled zero to 7 and y-axis is labelled zero to 7. &#10;&#10;The green book sits on the 4th point on the x-axis and the second point on the y-axis.&#10;&#10;The purple book sits on the seventh point on the x-axis and the 6th point on the y-axis.&#10;&#10;The blue book sits on the 1st point on the x-axis and the 3d point on the y-axis.">
              <a:extLst>
                <a:ext uri="{FF2B5EF4-FFF2-40B4-BE49-F238E27FC236}">
                  <a16:creationId xmlns:a16="http://schemas.microsoft.com/office/drawing/2014/main" id="{B455EE0F-5636-83D1-FC9D-0ED190EC858E}"/>
                </a:ext>
              </a:extLst>
            </p:cNvPr>
            <p:cNvPicPr>
              <a:picLocks noChangeAspect="1"/>
            </p:cNvPicPr>
            <p:nvPr/>
          </p:nvPicPr>
          <p:blipFill>
            <a:blip r:embed="rId4"/>
            <a:srcRect l="8258" r="11367" b="695"/>
            <a:stretch>
              <a:fillRect/>
            </a:stretch>
          </p:blipFill>
          <p:spPr>
            <a:xfrm>
              <a:off x="6862816" y="1518082"/>
              <a:ext cx="4657668" cy="4719296"/>
            </a:xfrm>
            <a:prstGeom prst="rect">
              <a:avLst/>
            </a:prstGeom>
            <a:ln>
              <a:noFill/>
            </a:ln>
            <a:effectLst>
              <a:outerShdw blurRad="292100" dist="139700" dir="2700000" algn="tl" rotWithShape="0">
                <a:srgbClr val="333333">
                  <a:alpha val="65000"/>
                </a:srgbClr>
              </a:outerShdw>
            </a:effectLst>
          </p:spPr>
        </p:pic>
        <p:sp>
          <p:nvSpPr>
            <p:cNvPr id="7" name="Freeform 8"/>
            <p:cNvSpPr/>
            <p:nvPr/>
          </p:nvSpPr>
          <p:spPr>
            <a:xfrm>
              <a:off x="7682911" y="4037814"/>
              <a:ext cx="301321" cy="496672"/>
            </a:xfrm>
            <a:custGeom>
              <a:avLst/>
              <a:gdLst/>
              <a:ahLst/>
              <a:cxnLst/>
              <a:rect l="l" t="t" r="r" b="b"/>
              <a:pathLst>
                <a:path w="301320" h="367008">
                  <a:moveTo>
                    <a:pt x="0" y="0"/>
                  </a:moveTo>
                  <a:lnTo>
                    <a:pt x="301320" y="0"/>
                  </a:lnTo>
                  <a:lnTo>
                    <a:pt x="301320" y="367008"/>
                  </a:lnTo>
                  <a:lnTo>
                    <a:pt x="0" y="3670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9" name="Freeform 39"/>
            <p:cNvSpPr/>
            <p:nvPr/>
          </p:nvSpPr>
          <p:spPr>
            <a:xfrm>
              <a:off x="10494263" y="2594265"/>
              <a:ext cx="359834" cy="459612"/>
            </a:xfrm>
            <a:custGeom>
              <a:avLst/>
              <a:gdLst/>
              <a:ahLst/>
              <a:cxnLst/>
              <a:rect l="l" t="t" r="r" b="b"/>
              <a:pathLst>
                <a:path w="301320" h="367008">
                  <a:moveTo>
                    <a:pt x="0" y="0"/>
                  </a:moveTo>
                  <a:lnTo>
                    <a:pt x="301320" y="0"/>
                  </a:lnTo>
                  <a:lnTo>
                    <a:pt x="301320" y="367009"/>
                  </a:lnTo>
                  <a:lnTo>
                    <a:pt x="0" y="36700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40" name="Freeform 40"/>
            <p:cNvSpPr/>
            <p:nvPr/>
          </p:nvSpPr>
          <p:spPr>
            <a:xfrm>
              <a:off x="9037408" y="4467040"/>
              <a:ext cx="301321" cy="423197"/>
            </a:xfrm>
            <a:custGeom>
              <a:avLst/>
              <a:gdLst/>
              <a:ahLst/>
              <a:cxnLst/>
              <a:rect l="l" t="t" r="r" b="b"/>
              <a:pathLst>
                <a:path w="301320" h="367008">
                  <a:moveTo>
                    <a:pt x="0" y="0"/>
                  </a:moveTo>
                  <a:lnTo>
                    <a:pt x="301320" y="0"/>
                  </a:lnTo>
                  <a:lnTo>
                    <a:pt x="301320" y="367008"/>
                  </a:lnTo>
                  <a:lnTo>
                    <a:pt x="0" y="36700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AU"/>
            </a:p>
          </p:txBody>
        </p:sp>
        <p:sp>
          <p:nvSpPr>
            <p:cNvPr id="41" name="Freeform 41"/>
            <p:cNvSpPr/>
            <p:nvPr/>
          </p:nvSpPr>
          <p:spPr>
            <a:xfrm>
              <a:off x="10504601" y="5463313"/>
              <a:ext cx="301320" cy="367008"/>
            </a:xfrm>
            <a:custGeom>
              <a:avLst/>
              <a:gdLst/>
              <a:ahLst/>
              <a:cxnLst/>
              <a:rect l="l" t="t" r="r" b="b"/>
              <a:pathLst>
                <a:path w="301320" h="367008">
                  <a:moveTo>
                    <a:pt x="0" y="0"/>
                  </a:moveTo>
                  <a:lnTo>
                    <a:pt x="301321" y="0"/>
                  </a:lnTo>
                  <a:lnTo>
                    <a:pt x="301321" y="367008"/>
                  </a:lnTo>
                  <a:lnTo>
                    <a:pt x="0" y="36700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AU"/>
            </a:p>
          </p:txBody>
        </p:sp>
        <p:sp>
          <p:nvSpPr>
            <p:cNvPr id="42" name="Freeform 42"/>
            <p:cNvSpPr/>
            <p:nvPr/>
          </p:nvSpPr>
          <p:spPr>
            <a:xfrm>
              <a:off x="8597172" y="3053876"/>
              <a:ext cx="317370" cy="428410"/>
            </a:xfrm>
            <a:custGeom>
              <a:avLst/>
              <a:gdLst/>
              <a:ahLst/>
              <a:cxnLst/>
              <a:rect l="l" t="t" r="r" b="b"/>
              <a:pathLst>
                <a:path w="301320" h="367008">
                  <a:moveTo>
                    <a:pt x="0" y="0"/>
                  </a:moveTo>
                  <a:lnTo>
                    <a:pt x="301321" y="0"/>
                  </a:lnTo>
                  <a:lnTo>
                    <a:pt x="301321" y="367008"/>
                  </a:lnTo>
                  <a:lnTo>
                    <a:pt x="0" y="36700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AU"/>
            </a:p>
          </p:txBody>
        </p:sp>
        <p:sp>
          <p:nvSpPr>
            <p:cNvPr id="43" name="Freeform 43"/>
            <p:cNvSpPr/>
            <p:nvPr/>
          </p:nvSpPr>
          <p:spPr>
            <a:xfrm>
              <a:off x="7271255" y="2161779"/>
              <a:ext cx="301320" cy="367008"/>
            </a:xfrm>
            <a:custGeom>
              <a:avLst/>
              <a:gdLst/>
              <a:ahLst/>
              <a:cxnLst/>
              <a:rect l="l" t="t" r="r" b="b"/>
              <a:pathLst>
                <a:path w="301320" h="367008">
                  <a:moveTo>
                    <a:pt x="0" y="0"/>
                  </a:moveTo>
                  <a:lnTo>
                    <a:pt x="301320" y="0"/>
                  </a:lnTo>
                  <a:lnTo>
                    <a:pt x="301320" y="367008"/>
                  </a:lnTo>
                  <a:lnTo>
                    <a:pt x="0" y="36700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AU"/>
            </a:p>
          </p:txBody>
        </p:sp>
      </p:gr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7" name="TextBox 6">
            <a:extLst>
              <a:ext uri="{FF2B5EF4-FFF2-40B4-BE49-F238E27FC236}">
                <a16:creationId xmlns:a16="http://schemas.microsoft.com/office/drawing/2014/main" id="{EBE3A4CA-B334-D981-BD6F-75B9E265C407}"/>
              </a:ext>
            </a:extLst>
          </p:cNvPr>
          <p:cNvSpPr txBox="1"/>
          <p:nvPr/>
        </p:nvSpPr>
        <p:spPr>
          <a:xfrm>
            <a:off x="360000" y="959458"/>
            <a:ext cx="11146073" cy="1478418"/>
          </a:xfrm>
          <a:prstGeom prst="rect">
            <a:avLst/>
          </a:prstGeom>
          <a:noFill/>
        </p:spPr>
        <p:txBody>
          <a:bodyPr wrap="square">
            <a:spAutoFit/>
          </a:bodyPr>
          <a:lstStyle/>
          <a:p>
            <a:pPr lvl="0">
              <a:lnSpc>
                <a:spcPct val="150000"/>
              </a:lnSpc>
              <a:spcBef>
                <a:spcPts val="1200"/>
              </a:spcBef>
              <a:spcAft>
                <a:spcPts val="600"/>
              </a:spcAft>
            </a:pPr>
            <a:r>
              <a:rPr lang="en-AU" sz="3200" b="1">
                <a:latin typeface="Arial" panose="020B0604020202020204" pitchFamily="34" charset="0"/>
                <a:ea typeface="Calibri" panose="020F0502020204030204" pitchFamily="34" charset="0"/>
              </a:rPr>
              <a:t>C</a:t>
            </a:r>
            <a:r>
              <a:rPr lang="en-AU" sz="3200" b="1">
                <a:effectLst/>
                <a:latin typeface="Arial" panose="020B0604020202020204" pitchFamily="34" charset="0"/>
                <a:ea typeface="Calibri" panose="020F0502020204030204" pitchFamily="34" charset="0"/>
              </a:rPr>
              <a:t>ategorise</a:t>
            </a:r>
            <a:r>
              <a:rPr lang="en-AU" sz="3200">
                <a:effectLst/>
                <a:latin typeface="Arial" panose="020B0604020202020204" pitchFamily="34" charset="0"/>
                <a:ea typeface="Calibri" panose="020F0502020204030204" pitchFamily="34" charset="0"/>
              </a:rPr>
              <a:t> the following numbers into </a:t>
            </a:r>
            <a:r>
              <a:rPr lang="en-AU" sz="3200" b="1">
                <a:effectLst/>
                <a:latin typeface="Arial" panose="020B0604020202020204" pitchFamily="34" charset="0"/>
                <a:ea typeface="Calibri" panose="020F0502020204030204" pitchFamily="34" charset="0"/>
              </a:rPr>
              <a:t>prime, composite </a:t>
            </a:r>
            <a:r>
              <a:rPr lang="en-AU" sz="3200">
                <a:effectLst/>
                <a:latin typeface="Arial" panose="020B0604020202020204" pitchFamily="34" charset="0"/>
                <a:ea typeface="Calibri" panose="020F0502020204030204" pitchFamily="34" charset="0"/>
              </a:rPr>
              <a:t>or </a:t>
            </a:r>
            <a:r>
              <a:rPr lang="en-AU" sz="3200" b="1">
                <a:effectLst/>
                <a:latin typeface="Arial" panose="020B0604020202020204" pitchFamily="34" charset="0"/>
                <a:ea typeface="Calibri" panose="020F0502020204030204" pitchFamily="34" charset="0"/>
              </a:rPr>
              <a:t>neither</a:t>
            </a:r>
            <a:r>
              <a:rPr lang="en-AU" sz="3200">
                <a:effectLst/>
                <a:latin typeface="Arial" panose="020B0604020202020204" pitchFamily="34" charset="0"/>
                <a:ea typeface="Calibri" panose="020F0502020204030204" pitchFamily="34" charset="0"/>
              </a:rPr>
              <a:t>.</a:t>
            </a:r>
          </a:p>
        </p:txBody>
      </p:sp>
      <p:sp>
        <p:nvSpPr>
          <p:cNvPr id="9" name="TextBox 8">
            <a:extLst>
              <a:ext uri="{FF2B5EF4-FFF2-40B4-BE49-F238E27FC236}">
                <a16:creationId xmlns:a16="http://schemas.microsoft.com/office/drawing/2014/main" id="{B89B5E8E-1F12-3CC3-33BD-43AF7E7CEF55}"/>
              </a:ext>
            </a:extLst>
          </p:cNvPr>
          <p:cNvSpPr txBox="1"/>
          <p:nvPr/>
        </p:nvSpPr>
        <p:spPr>
          <a:xfrm>
            <a:off x="2720020" y="2150384"/>
            <a:ext cx="1637690" cy="4040337"/>
          </a:xfrm>
          <a:prstGeom prst="rect">
            <a:avLst/>
          </a:prstGeom>
          <a:noFill/>
        </p:spPr>
        <p:txBody>
          <a:bodyPr wrap="square">
            <a:spAutoFit/>
          </a:bodyPr>
          <a:lstStyle/>
          <a:p>
            <a:pPr marL="342900" lvl="0" indent="-342900">
              <a:lnSpc>
                <a:spcPct val="150000"/>
              </a:lnSpc>
              <a:spcBef>
                <a:spcPts val="1200"/>
              </a:spcBef>
              <a:spcAft>
                <a:spcPts val="600"/>
              </a:spcAft>
              <a:buFont typeface="Arial" panose="020B0604020202020204" pitchFamily="34" charset="0"/>
              <a:buChar char="•"/>
            </a:pPr>
            <a:r>
              <a:rPr lang="en-AU" sz="4000" b="1">
                <a:latin typeface="Arial" panose="020B0604020202020204" pitchFamily="34" charset="0"/>
                <a:ea typeface="Calibri" panose="020F0502020204030204" pitchFamily="34" charset="0"/>
              </a:rPr>
              <a:t>0</a:t>
            </a:r>
          </a:p>
          <a:p>
            <a:pPr marL="342900" lvl="0" indent="-342900">
              <a:lnSpc>
                <a:spcPct val="150000"/>
              </a:lnSpc>
              <a:spcBef>
                <a:spcPts val="1200"/>
              </a:spcBef>
              <a:spcAft>
                <a:spcPts val="600"/>
              </a:spcAft>
              <a:buFont typeface="Arial" panose="020B0604020202020204" pitchFamily="34" charset="0"/>
              <a:buChar char="•"/>
            </a:pPr>
            <a:r>
              <a:rPr lang="en-AU" sz="4000" b="1">
                <a:latin typeface="Arial" panose="020B0604020202020204" pitchFamily="34" charset="0"/>
                <a:ea typeface="Calibri" panose="020F0502020204030204" pitchFamily="34" charset="0"/>
              </a:rPr>
              <a:t>12</a:t>
            </a:r>
          </a:p>
          <a:p>
            <a:pPr marL="342900" lvl="0" indent="-342900">
              <a:lnSpc>
                <a:spcPct val="150000"/>
              </a:lnSpc>
              <a:spcBef>
                <a:spcPts val="1200"/>
              </a:spcBef>
              <a:spcAft>
                <a:spcPts val="600"/>
              </a:spcAft>
              <a:buFont typeface="Arial" panose="020B0604020202020204" pitchFamily="34" charset="0"/>
              <a:buChar char="•"/>
            </a:pPr>
            <a:r>
              <a:rPr lang="en-AU" sz="4000" b="1">
                <a:effectLst/>
                <a:latin typeface="Arial" panose="020B0604020202020204" pitchFamily="34" charset="0"/>
                <a:ea typeface="Calibri" panose="020F0502020204030204" pitchFamily="34" charset="0"/>
              </a:rPr>
              <a:t>2</a:t>
            </a:r>
            <a:r>
              <a:rPr lang="en-AU" sz="4000" b="1">
                <a:latin typeface="Arial" panose="020B0604020202020204" pitchFamily="34" charset="0"/>
                <a:ea typeface="Calibri" panose="020F0502020204030204" pitchFamily="34" charset="0"/>
              </a:rPr>
              <a:t>3</a:t>
            </a:r>
          </a:p>
          <a:p>
            <a:pPr marL="342900" lvl="0" indent="-342900">
              <a:lnSpc>
                <a:spcPct val="150000"/>
              </a:lnSpc>
              <a:spcBef>
                <a:spcPts val="1200"/>
              </a:spcBef>
              <a:spcAft>
                <a:spcPts val="600"/>
              </a:spcAft>
              <a:buFont typeface="Arial" panose="020B0604020202020204" pitchFamily="34" charset="0"/>
              <a:buChar char="•"/>
            </a:pPr>
            <a:endParaRPr lang="en-AU" sz="2400" b="1">
              <a:effectLst/>
              <a:latin typeface="Arial" panose="020B0604020202020204" pitchFamily="34" charset="0"/>
              <a:ea typeface="Calibri" panose="020F0502020204030204" pitchFamily="34" charset="0"/>
            </a:endParaRPr>
          </a:p>
        </p:txBody>
      </p:sp>
      <p:sp>
        <p:nvSpPr>
          <p:cNvPr id="11" name="TextBox 10">
            <a:extLst>
              <a:ext uri="{FF2B5EF4-FFF2-40B4-BE49-F238E27FC236}">
                <a16:creationId xmlns:a16="http://schemas.microsoft.com/office/drawing/2014/main" id="{D133A0C9-8F74-8936-D6C0-B4F56726FC6C}"/>
              </a:ext>
            </a:extLst>
          </p:cNvPr>
          <p:cNvSpPr txBox="1"/>
          <p:nvPr/>
        </p:nvSpPr>
        <p:spPr>
          <a:xfrm>
            <a:off x="5815477" y="2135346"/>
            <a:ext cx="1804505" cy="4040337"/>
          </a:xfrm>
          <a:prstGeom prst="rect">
            <a:avLst/>
          </a:prstGeom>
          <a:noFill/>
        </p:spPr>
        <p:txBody>
          <a:bodyPr wrap="square">
            <a:spAutoFit/>
          </a:bodyPr>
          <a:lstStyle/>
          <a:p>
            <a:pPr marL="342900" lvl="0" indent="-342900">
              <a:lnSpc>
                <a:spcPct val="150000"/>
              </a:lnSpc>
              <a:spcBef>
                <a:spcPts val="1200"/>
              </a:spcBef>
              <a:spcAft>
                <a:spcPts val="600"/>
              </a:spcAft>
              <a:buFont typeface="Arial" panose="020B0604020202020204" pitchFamily="34" charset="0"/>
              <a:buChar char="•"/>
            </a:pPr>
            <a:r>
              <a:rPr lang="en-AU" sz="4000" b="1">
                <a:latin typeface="Arial" panose="020B0604020202020204" pitchFamily="34" charset="0"/>
                <a:ea typeface="Calibri" panose="020F0502020204030204" pitchFamily="34" charset="0"/>
              </a:rPr>
              <a:t>3</a:t>
            </a:r>
          </a:p>
          <a:p>
            <a:pPr marL="342900" lvl="0" indent="-342900">
              <a:lnSpc>
                <a:spcPct val="150000"/>
              </a:lnSpc>
              <a:spcBef>
                <a:spcPts val="1200"/>
              </a:spcBef>
              <a:spcAft>
                <a:spcPts val="600"/>
              </a:spcAft>
              <a:buFont typeface="Arial" panose="020B0604020202020204" pitchFamily="34" charset="0"/>
              <a:buChar char="•"/>
            </a:pPr>
            <a:r>
              <a:rPr lang="en-AU" sz="4000" b="1">
                <a:latin typeface="Arial" panose="020B0604020202020204" pitchFamily="34" charset="0"/>
                <a:ea typeface="Calibri" panose="020F0502020204030204" pitchFamily="34" charset="0"/>
              </a:rPr>
              <a:t>11</a:t>
            </a:r>
          </a:p>
          <a:p>
            <a:pPr marL="342900" lvl="0" indent="-342900">
              <a:lnSpc>
                <a:spcPct val="150000"/>
              </a:lnSpc>
              <a:spcBef>
                <a:spcPts val="1200"/>
              </a:spcBef>
              <a:spcAft>
                <a:spcPts val="600"/>
              </a:spcAft>
              <a:buFont typeface="Arial" panose="020B0604020202020204" pitchFamily="34" charset="0"/>
              <a:buChar char="•"/>
            </a:pPr>
            <a:r>
              <a:rPr lang="en-AU" sz="4000" b="1">
                <a:latin typeface="Arial" panose="020B0604020202020204" pitchFamily="34" charset="0"/>
                <a:ea typeface="Calibri" panose="020F0502020204030204" pitchFamily="34" charset="0"/>
              </a:rPr>
              <a:t>16</a:t>
            </a:r>
          </a:p>
          <a:p>
            <a:pPr marL="342900" lvl="0" indent="-342900">
              <a:lnSpc>
                <a:spcPct val="150000"/>
              </a:lnSpc>
              <a:spcBef>
                <a:spcPts val="1200"/>
              </a:spcBef>
              <a:spcAft>
                <a:spcPts val="600"/>
              </a:spcAft>
              <a:buFont typeface="Arial" panose="020B0604020202020204" pitchFamily="34" charset="0"/>
              <a:buChar char="•"/>
            </a:pPr>
            <a:endParaRPr lang="en-AU" sz="2400" b="1">
              <a:effectLst/>
              <a:latin typeface="Arial" panose="020B0604020202020204" pitchFamily="34" charset="0"/>
              <a:ea typeface="Calibri" panose="020F0502020204030204" pitchFamily="34" charset="0"/>
            </a:endParaRPr>
          </a:p>
        </p:txBody>
      </p:sp>
      <p:sp>
        <p:nvSpPr>
          <p:cNvPr id="12" name="TextBox 11">
            <a:extLst>
              <a:ext uri="{FF2B5EF4-FFF2-40B4-BE49-F238E27FC236}">
                <a16:creationId xmlns:a16="http://schemas.microsoft.com/office/drawing/2014/main" id="{C7065680-7F0E-D6CE-1166-D257600F711A}"/>
              </a:ext>
            </a:extLst>
          </p:cNvPr>
          <p:cNvSpPr txBox="1"/>
          <p:nvPr/>
        </p:nvSpPr>
        <p:spPr>
          <a:xfrm>
            <a:off x="8653136" y="2135345"/>
            <a:ext cx="1994592" cy="4040337"/>
          </a:xfrm>
          <a:prstGeom prst="rect">
            <a:avLst/>
          </a:prstGeom>
          <a:noFill/>
        </p:spPr>
        <p:txBody>
          <a:bodyPr wrap="square">
            <a:spAutoFit/>
          </a:bodyPr>
          <a:lstStyle/>
          <a:p>
            <a:pPr marL="342900" lvl="0" indent="-342900">
              <a:lnSpc>
                <a:spcPct val="150000"/>
              </a:lnSpc>
              <a:spcBef>
                <a:spcPts val="1200"/>
              </a:spcBef>
              <a:spcAft>
                <a:spcPts val="600"/>
              </a:spcAft>
              <a:buFont typeface="Arial" panose="020B0604020202020204" pitchFamily="34" charset="0"/>
              <a:buChar char="•"/>
            </a:pPr>
            <a:r>
              <a:rPr lang="en-AU" sz="4000" b="1">
                <a:latin typeface="Arial" panose="020B0604020202020204" pitchFamily="34" charset="0"/>
                <a:ea typeface="Calibri" panose="020F0502020204030204" pitchFamily="34" charset="0"/>
              </a:rPr>
              <a:t>1</a:t>
            </a:r>
          </a:p>
          <a:p>
            <a:pPr marL="342900" lvl="0" indent="-342900">
              <a:lnSpc>
                <a:spcPct val="150000"/>
              </a:lnSpc>
              <a:spcBef>
                <a:spcPts val="1200"/>
              </a:spcBef>
              <a:spcAft>
                <a:spcPts val="600"/>
              </a:spcAft>
              <a:buFont typeface="Arial" panose="020B0604020202020204" pitchFamily="34" charset="0"/>
              <a:buChar char="•"/>
            </a:pPr>
            <a:r>
              <a:rPr lang="en-AU" sz="4000" b="1">
                <a:latin typeface="Arial" panose="020B0604020202020204" pitchFamily="34" charset="0"/>
                <a:ea typeface="Calibri" panose="020F0502020204030204" pitchFamily="34" charset="0"/>
              </a:rPr>
              <a:t>17</a:t>
            </a:r>
          </a:p>
          <a:p>
            <a:pPr marL="342900" lvl="0" indent="-342900">
              <a:lnSpc>
                <a:spcPct val="150000"/>
              </a:lnSpc>
              <a:spcBef>
                <a:spcPts val="1200"/>
              </a:spcBef>
              <a:spcAft>
                <a:spcPts val="600"/>
              </a:spcAft>
              <a:buFont typeface="Arial" panose="020B0604020202020204" pitchFamily="34" charset="0"/>
              <a:buChar char="•"/>
            </a:pPr>
            <a:r>
              <a:rPr lang="en-AU" sz="4000" b="1">
                <a:latin typeface="Arial" panose="020B0604020202020204" pitchFamily="34" charset="0"/>
                <a:ea typeface="Calibri" panose="020F0502020204030204" pitchFamily="34" charset="0"/>
              </a:rPr>
              <a:t>25</a:t>
            </a:r>
          </a:p>
          <a:p>
            <a:pPr marL="342900" lvl="0" indent="-342900">
              <a:lnSpc>
                <a:spcPct val="150000"/>
              </a:lnSpc>
              <a:spcBef>
                <a:spcPts val="1200"/>
              </a:spcBef>
              <a:spcAft>
                <a:spcPts val="600"/>
              </a:spcAft>
              <a:buFont typeface="Arial" panose="020B0604020202020204" pitchFamily="34" charset="0"/>
              <a:buChar char="•"/>
            </a:pPr>
            <a:endParaRPr lang="en-AU" sz="2400" b="1">
              <a:effectLst/>
              <a:latin typeface="Arial" panose="020B0604020202020204" pitchFamily="34" charset="0"/>
              <a:ea typeface="Calibri" panose="020F0502020204030204" pitchFamily="34" charset="0"/>
            </a:endParaRPr>
          </a:p>
        </p:txBody>
      </p:sp>
      <p:sp>
        <p:nvSpPr>
          <p:cNvPr id="8" name="TextBox 7">
            <a:extLst>
              <a:ext uri="{FF2B5EF4-FFF2-40B4-BE49-F238E27FC236}">
                <a16:creationId xmlns:a16="http://schemas.microsoft.com/office/drawing/2014/main" id="{0BF23635-AE3C-DCC3-6CDF-35885D55448A}"/>
              </a:ext>
            </a:extLst>
          </p:cNvPr>
          <p:cNvSpPr txBox="1"/>
          <p:nvPr/>
        </p:nvSpPr>
        <p:spPr>
          <a:xfrm>
            <a:off x="2438401" y="5677326"/>
            <a:ext cx="7927708" cy="820674"/>
          </a:xfrm>
          <a:prstGeom prst="rect">
            <a:avLst/>
          </a:prstGeom>
          <a:noFill/>
        </p:spPr>
        <p:txBody>
          <a:bodyPr wrap="square">
            <a:spAutoFit/>
          </a:bodyPr>
          <a:lstStyle/>
          <a:p>
            <a:pPr lvl="0">
              <a:lnSpc>
                <a:spcPct val="150000"/>
              </a:lnSpc>
              <a:spcBef>
                <a:spcPts val="1200"/>
              </a:spcBef>
              <a:spcAft>
                <a:spcPts val="600"/>
              </a:spcAft>
            </a:pPr>
            <a:r>
              <a:rPr lang="en-AU" sz="3600" b="1">
                <a:effectLst/>
                <a:latin typeface="Arial" panose="020B0604020202020204" pitchFamily="34" charset="0"/>
                <a:ea typeface="Calibri" panose="020F0502020204030204" pitchFamily="34" charset="0"/>
              </a:rPr>
              <a:t>Communicate</a:t>
            </a:r>
            <a:r>
              <a:rPr lang="en-AU" sz="3600">
                <a:effectLst/>
                <a:latin typeface="Arial" panose="020B0604020202020204" pitchFamily="34" charset="0"/>
                <a:ea typeface="Calibri" panose="020F0502020204030204" pitchFamily="34" charset="0"/>
              </a:rPr>
              <a:t> your </a:t>
            </a:r>
            <a:r>
              <a:rPr lang="en-AU" sz="3600" b="1"/>
              <a:t>reasoning</a:t>
            </a:r>
            <a:r>
              <a:rPr lang="en-AU" sz="3600">
                <a:effectLst/>
                <a:latin typeface="Arial" panose="020B0604020202020204" pitchFamily="34" charset="0"/>
                <a:ea typeface="Calibri" panose="020F0502020204030204" pitchFamily="34" charset="0"/>
              </a:rPr>
              <a:t>.</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7" name="TextBox 6">
            <a:extLst>
              <a:ext uri="{FF2B5EF4-FFF2-40B4-BE49-F238E27FC236}">
                <a16:creationId xmlns:a16="http://schemas.microsoft.com/office/drawing/2014/main" id="{32B6E5E1-8CA8-3925-B018-43002EB87783}"/>
              </a:ext>
            </a:extLst>
          </p:cNvPr>
          <p:cNvSpPr txBox="1"/>
          <p:nvPr/>
        </p:nvSpPr>
        <p:spPr>
          <a:xfrm>
            <a:off x="360001" y="1059622"/>
            <a:ext cx="11484000" cy="5160323"/>
          </a:xfrm>
          <a:prstGeom prst="rect">
            <a:avLst/>
          </a:prstGeom>
          <a:noFill/>
        </p:spPr>
        <p:txBody>
          <a:bodyPr wrap="square">
            <a:spAutoFit/>
          </a:bodyPr>
          <a:lstStyle/>
          <a:p>
            <a:pPr algn="ctr">
              <a:lnSpc>
                <a:spcPct val="150000"/>
              </a:lnSpc>
            </a:pPr>
            <a:r>
              <a:rPr lang="en-AU" sz="4000" b="1">
                <a:latin typeface="+mj-lt"/>
              </a:rPr>
              <a:t>C</a:t>
            </a:r>
            <a:r>
              <a:rPr lang="en-AU" sz="4000" b="1" i="0">
                <a:effectLst/>
                <a:latin typeface="+mj-lt"/>
              </a:rPr>
              <a:t>onvert</a:t>
            </a:r>
            <a:r>
              <a:rPr lang="en-AU" sz="4000" b="0" i="0">
                <a:effectLst/>
                <a:latin typeface="+mj-lt"/>
              </a:rPr>
              <a:t> these measurements from </a:t>
            </a:r>
            <a:r>
              <a:rPr lang="en-AU" sz="4000" b="1" i="0">
                <a:effectLst/>
                <a:latin typeface="+mj-lt"/>
              </a:rPr>
              <a:t>metres</a:t>
            </a:r>
            <a:r>
              <a:rPr lang="en-AU" sz="4000" b="0" i="0">
                <a:effectLst/>
                <a:latin typeface="+mj-lt"/>
              </a:rPr>
              <a:t> to </a:t>
            </a:r>
            <a:r>
              <a:rPr lang="en-AU" sz="4000" b="1" i="0">
                <a:effectLst/>
                <a:latin typeface="+mj-lt"/>
              </a:rPr>
              <a:t>kilometres</a:t>
            </a:r>
            <a:endParaRPr lang="en-AU" sz="3600" b="1">
              <a:latin typeface="+mj-lt"/>
            </a:endParaRPr>
          </a:p>
          <a:p>
            <a:pPr marL="342900" indent="-342900" algn="ctr">
              <a:lnSpc>
                <a:spcPct val="150000"/>
              </a:lnSpc>
              <a:buFont typeface="Arial" panose="020B0604020202020204" pitchFamily="34" charset="0"/>
              <a:buChar char="•"/>
            </a:pPr>
            <a:r>
              <a:rPr lang="en-AU" sz="3600">
                <a:latin typeface="+mj-lt"/>
              </a:rPr>
              <a:t>2600 m</a:t>
            </a:r>
          </a:p>
          <a:p>
            <a:pPr marL="342900" indent="-342900" algn="ctr">
              <a:lnSpc>
                <a:spcPct val="150000"/>
              </a:lnSpc>
              <a:buFont typeface="Arial" panose="020B0604020202020204" pitchFamily="34" charset="0"/>
              <a:buChar char="•"/>
            </a:pPr>
            <a:r>
              <a:rPr lang="en-AU" sz="3600">
                <a:latin typeface="+mj-lt"/>
              </a:rPr>
              <a:t>367 m</a:t>
            </a:r>
          </a:p>
          <a:p>
            <a:pPr marL="342900" indent="-342900" algn="ctr">
              <a:lnSpc>
                <a:spcPct val="150000"/>
              </a:lnSpc>
              <a:buFont typeface="Arial" panose="020B0604020202020204" pitchFamily="34" charset="0"/>
              <a:buChar char="•"/>
            </a:pPr>
            <a:r>
              <a:rPr lang="en-AU" sz="3600">
                <a:latin typeface="+mj-lt"/>
              </a:rPr>
              <a:t>1008 m</a:t>
            </a:r>
          </a:p>
          <a:p>
            <a:pPr marL="342900" indent="-342900" algn="ctr">
              <a:lnSpc>
                <a:spcPct val="150000"/>
              </a:lnSpc>
              <a:buFont typeface="Arial" panose="020B0604020202020204" pitchFamily="34" charset="0"/>
              <a:buChar char="•"/>
            </a:pPr>
            <a:r>
              <a:rPr lang="en-AU" sz="3600">
                <a:latin typeface="+mj-lt"/>
              </a:rPr>
              <a:t>6050 m</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approximating decimals</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0583D628-75C3-AD4E-BD2E-601ADDBB535F}"/>
              </a:ext>
            </a:extLst>
          </p:cNvPr>
          <p:cNvSpPr txBox="1"/>
          <p:nvPr/>
        </p:nvSpPr>
        <p:spPr>
          <a:xfrm>
            <a:off x="360000" y="1273094"/>
            <a:ext cx="11588160" cy="461665"/>
          </a:xfrm>
          <a:prstGeom prst="rect">
            <a:avLst/>
          </a:prstGeom>
          <a:noFill/>
        </p:spPr>
        <p:txBody>
          <a:bodyPr wrap="square">
            <a:spAutoFit/>
          </a:bodyPr>
          <a:lstStyle/>
          <a:p>
            <a:r>
              <a:rPr lang="en-AU" sz="2400">
                <a:effectLst/>
                <a:latin typeface="Arial" panose="020B0604020202020204" pitchFamily="34" charset="0"/>
                <a:ea typeface="Arial" panose="020B0604020202020204" pitchFamily="34" charset="0"/>
              </a:rPr>
              <a:t>Remember we must write a </a:t>
            </a:r>
            <a:r>
              <a:rPr lang="en-AU" sz="2400" b="1">
                <a:effectLst/>
                <a:latin typeface="Arial" panose="020B0604020202020204" pitchFamily="34" charset="0"/>
                <a:ea typeface="Arial" panose="020B0604020202020204" pitchFamily="34" charset="0"/>
              </a:rPr>
              <a:t>zero</a:t>
            </a:r>
            <a:r>
              <a:rPr lang="en-AU" sz="2400">
                <a:effectLst/>
                <a:latin typeface="Arial" panose="020B0604020202020204" pitchFamily="34" charset="0"/>
                <a:ea typeface="Arial" panose="020B0604020202020204" pitchFamily="34" charset="0"/>
              </a:rPr>
              <a:t> in the </a:t>
            </a:r>
            <a:r>
              <a:rPr lang="en-AU" sz="2400" b="1">
                <a:effectLst/>
                <a:latin typeface="Arial" panose="020B0604020202020204" pitchFamily="34" charset="0"/>
                <a:ea typeface="Arial" panose="020B0604020202020204" pitchFamily="34" charset="0"/>
              </a:rPr>
              <a:t>ones place </a:t>
            </a:r>
            <a:r>
              <a:rPr lang="en-AU" sz="2400">
                <a:effectLst/>
                <a:latin typeface="Arial" panose="020B0604020202020204" pitchFamily="34" charset="0"/>
                <a:ea typeface="Arial" panose="020B0604020202020204" pitchFamily="34" charset="0"/>
              </a:rPr>
              <a:t>if the decimal is </a:t>
            </a:r>
            <a:r>
              <a:rPr lang="en-AU" sz="2400" b="1">
                <a:effectLst/>
                <a:latin typeface="Arial" panose="020B0604020202020204" pitchFamily="34" charset="0"/>
                <a:ea typeface="Arial" panose="020B0604020202020204" pitchFamily="34" charset="0"/>
              </a:rPr>
              <a:t>smaller</a:t>
            </a:r>
            <a:r>
              <a:rPr lang="en-AU" sz="2400">
                <a:effectLst/>
                <a:latin typeface="Arial" panose="020B0604020202020204" pitchFamily="34" charset="0"/>
                <a:ea typeface="Arial" panose="020B0604020202020204" pitchFamily="34" charset="0"/>
              </a:rPr>
              <a:t> than </a:t>
            </a:r>
            <a:r>
              <a:rPr lang="en-AU" sz="2400" b="1">
                <a:effectLst/>
                <a:latin typeface="Arial" panose="020B0604020202020204" pitchFamily="34" charset="0"/>
                <a:ea typeface="Arial" panose="020B0604020202020204" pitchFamily="34" charset="0"/>
              </a:rPr>
              <a:t>1</a:t>
            </a:r>
            <a:r>
              <a:rPr lang="en-AU" sz="2400">
                <a:effectLst/>
                <a:latin typeface="Arial" panose="020B0604020202020204" pitchFamily="34" charset="0"/>
                <a:ea typeface="Arial" panose="020B0604020202020204" pitchFamily="34" charset="0"/>
              </a:rPr>
              <a:t>.</a:t>
            </a:r>
            <a:endParaRPr lang="en-AU"/>
          </a:p>
        </p:txBody>
      </p:sp>
      <p:pic>
        <p:nvPicPr>
          <p:cNvPr id="10" name="Picture 9" descr="Table with the following decimals:&#10;&#10;0.150, 0.390, 0.602, 0.209, 0.375, 0.005, 0.750, 0.500, 0.025, 0.904">
            <a:extLst>
              <a:ext uri="{FF2B5EF4-FFF2-40B4-BE49-F238E27FC236}">
                <a16:creationId xmlns:a16="http://schemas.microsoft.com/office/drawing/2014/main" id="{4ED50E7D-0BE9-4FA4-304A-3DEA7E4EDFD3}"/>
              </a:ext>
            </a:extLst>
          </p:cNvPr>
          <p:cNvPicPr>
            <a:picLocks noChangeAspect="1"/>
          </p:cNvPicPr>
          <p:nvPr/>
        </p:nvPicPr>
        <p:blipFill>
          <a:blip r:embed="rId4"/>
          <a:stretch>
            <a:fillRect/>
          </a:stretch>
        </p:blipFill>
        <p:spPr>
          <a:xfrm>
            <a:off x="1672972" y="2076243"/>
            <a:ext cx="8730229" cy="1700931"/>
          </a:xfrm>
          <a:prstGeom prst="rect">
            <a:avLst/>
          </a:prstGeom>
        </p:spPr>
      </p:pic>
      <p:grpSp>
        <p:nvGrpSpPr>
          <p:cNvPr id="7" name="Group 6">
            <a:extLst>
              <a:ext uri="{FF2B5EF4-FFF2-40B4-BE49-F238E27FC236}">
                <a16:creationId xmlns:a16="http://schemas.microsoft.com/office/drawing/2014/main" id="{2E78081B-51C1-FE67-BD19-2414E9EC3CE3}"/>
              </a:ext>
              <a:ext uri="{C183D7F6-B498-43B3-948B-1728B52AA6E4}">
                <adec:decorative xmlns:adec="http://schemas.microsoft.com/office/drawing/2017/decorative" val="1"/>
              </a:ext>
            </a:extLst>
          </p:cNvPr>
          <p:cNvGrpSpPr/>
          <p:nvPr/>
        </p:nvGrpSpPr>
        <p:grpSpPr>
          <a:xfrm>
            <a:off x="676655" y="4118659"/>
            <a:ext cx="10838688" cy="2397341"/>
            <a:chOff x="676655" y="4118659"/>
            <a:chExt cx="10838688" cy="2397341"/>
          </a:xfrm>
        </p:grpSpPr>
        <p:sp>
          <p:nvSpPr>
            <p:cNvPr id="8" name="TextBox 7">
              <a:extLst>
                <a:ext uri="{FF2B5EF4-FFF2-40B4-BE49-F238E27FC236}">
                  <a16:creationId xmlns:a16="http://schemas.microsoft.com/office/drawing/2014/main" id="{4CAE02B5-9C47-D333-5031-544CC2734A28}"/>
                </a:ext>
              </a:extLst>
            </p:cNvPr>
            <p:cNvSpPr txBox="1"/>
            <p:nvPr/>
          </p:nvSpPr>
          <p:spPr>
            <a:xfrm>
              <a:off x="676655" y="4118659"/>
              <a:ext cx="10838688" cy="113184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AU" b="1">
                  <a:latin typeface="Arial" panose="020B0604020202020204" pitchFamily="34" charset="0"/>
                  <a:ea typeface="Arial" panose="020B0604020202020204" pitchFamily="34" charset="0"/>
                </a:rPr>
                <a:t>C</a:t>
              </a:r>
              <a:r>
                <a:rPr lang="en-AU" b="1">
                  <a:effectLst/>
                  <a:latin typeface="Arial" panose="020B0604020202020204" pitchFamily="34" charset="0"/>
                  <a:ea typeface="Arial" panose="020B0604020202020204" pitchFamily="34" charset="0"/>
                </a:rPr>
                <a:t>ut up </a:t>
              </a:r>
              <a:r>
                <a:rPr lang="en-AU">
                  <a:effectLst/>
                  <a:latin typeface="Arial" panose="020B0604020202020204" pitchFamily="34" charset="0"/>
                  <a:ea typeface="Calibri" panose="020F0502020204030204" pitchFamily="34" charset="0"/>
                </a:rPr>
                <a:t>take turns to select a card, </a:t>
              </a:r>
              <a:r>
                <a:rPr lang="en-AU" b="1">
                  <a:effectLst/>
                  <a:latin typeface="Arial" panose="020B0604020202020204" pitchFamily="34" charset="0"/>
                  <a:ea typeface="Calibri" panose="020F0502020204030204" pitchFamily="34" charset="0"/>
                </a:rPr>
                <a:t>read</a:t>
              </a:r>
              <a:r>
                <a:rPr lang="en-AU">
                  <a:effectLst/>
                  <a:latin typeface="Arial" panose="020B0604020202020204" pitchFamily="34" charset="0"/>
                  <a:ea typeface="Calibri" panose="020F0502020204030204" pitchFamily="34" charset="0"/>
                </a:rPr>
                <a:t> the decimal aloud and </a:t>
              </a:r>
              <a:r>
                <a:rPr lang="en-AU" b="1">
                  <a:effectLst/>
                  <a:latin typeface="Arial" panose="020B0604020202020204" pitchFamily="34" charset="0"/>
                  <a:ea typeface="Calibri" panose="020F0502020204030204" pitchFamily="34" charset="0"/>
                </a:rPr>
                <a:t>sort</a:t>
              </a:r>
              <a:r>
                <a:rPr lang="en-AU">
                  <a:effectLst/>
                  <a:latin typeface="Arial" panose="020B0604020202020204" pitchFamily="34" charset="0"/>
                  <a:ea typeface="Calibri" panose="020F0502020204030204" pitchFamily="34" charset="0"/>
                </a:rPr>
                <a:t> the cards from </a:t>
              </a:r>
              <a:r>
                <a:rPr lang="en-AU" b="1">
                  <a:effectLst/>
                  <a:latin typeface="Arial" panose="020B0604020202020204" pitchFamily="34" charset="0"/>
                  <a:ea typeface="Calibri" panose="020F0502020204030204" pitchFamily="34" charset="0"/>
                </a:rPr>
                <a:t>smallest</a:t>
              </a:r>
              <a:r>
                <a:rPr lang="en-AU">
                  <a:effectLst/>
                  <a:latin typeface="Arial" panose="020B0604020202020204" pitchFamily="34" charset="0"/>
                  <a:ea typeface="Calibri" panose="020F0502020204030204" pitchFamily="34" charset="0"/>
                </a:rPr>
                <a:t> to </a:t>
              </a:r>
              <a:r>
                <a:rPr lang="en-AU" b="1">
                  <a:effectLst/>
                  <a:latin typeface="Arial" panose="020B0604020202020204" pitchFamily="34" charset="0"/>
                  <a:ea typeface="Calibri" panose="020F0502020204030204" pitchFamily="34" charset="0"/>
                </a:rPr>
                <a:t>largest</a:t>
              </a:r>
              <a:r>
                <a:rPr lang="en-AU">
                  <a:effectLst/>
                  <a:latin typeface="Arial" panose="020B0604020202020204" pitchFamily="34" charset="0"/>
                  <a:ea typeface="Calibri" panose="020F0502020204030204" pitchFamily="34" charset="0"/>
                </a:rPr>
                <a:t>, </a:t>
              </a:r>
              <a:r>
                <a:rPr lang="en-AU" b="1">
                  <a:effectLst/>
                  <a:latin typeface="Arial" panose="020B0604020202020204" pitchFamily="34" charset="0"/>
                  <a:ea typeface="Calibri" panose="020F0502020204030204" pitchFamily="34" charset="0"/>
                </a:rPr>
                <a:t>justifying</a:t>
              </a:r>
              <a:r>
                <a:rPr lang="en-AU">
                  <a:effectLst/>
                  <a:latin typeface="Arial" panose="020B0604020202020204" pitchFamily="34" charset="0"/>
                  <a:ea typeface="Calibri" panose="020F0502020204030204" pitchFamily="34" charset="0"/>
                </a:rPr>
                <a:t> your decision. </a:t>
              </a:r>
            </a:p>
          </p:txBody>
        </p:sp>
        <p:sp>
          <p:nvSpPr>
            <p:cNvPr id="9" name="TextBox 8">
              <a:extLst>
                <a:ext uri="{FF2B5EF4-FFF2-40B4-BE49-F238E27FC236}">
                  <a16:creationId xmlns:a16="http://schemas.microsoft.com/office/drawing/2014/main" id="{2C5EC8FE-7E8B-FD42-7BEF-A2BF9267BACF}"/>
                </a:ext>
              </a:extLst>
            </p:cNvPr>
            <p:cNvSpPr txBox="1"/>
            <p:nvPr/>
          </p:nvSpPr>
          <p:spPr>
            <a:xfrm>
              <a:off x="676655" y="5384152"/>
              <a:ext cx="10722865" cy="1131848"/>
            </a:xfrm>
            <a:prstGeom prst="rect">
              <a:avLst/>
            </a:prstGeom>
            <a:noFill/>
          </p:spPr>
          <p:txBody>
            <a:bodyPr wrap="square">
              <a:spAutoFit/>
            </a:bodyPr>
            <a:lstStyle/>
            <a:p>
              <a:pPr marL="342900" lvl="0" indent="-342900">
                <a:lnSpc>
                  <a:spcPct val="150000"/>
                </a:lnSpc>
                <a:spcBef>
                  <a:spcPts val="1200"/>
                </a:spcBef>
                <a:spcAft>
                  <a:spcPts val="600"/>
                </a:spcAft>
                <a:buFont typeface="Arial" panose="020B0604020202020204" pitchFamily="34" charset="0"/>
                <a:buChar char="•"/>
              </a:pPr>
              <a:r>
                <a:rPr lang="en-AU">
                  <a:latin typeface="Arial" panose="020B0604020202020204" pitchFamily="34" charset="0"/>
                  <a:ea typeface="Calibri" panose="020F0502020204030204" pitchFamily="34" charset="0"/>
                </a:rPr>
                <a:t>Then </a:t>
              </a:r>
              <a:r>
                <a:rPr lang="en-AU" sz="2400" b="1">
                  <a:effectLst/>
                  <a:latin typeface="Arial" panose="020B0604020202020204" pitchFamily="34" charset="0"/>
                  <a:ea typeface="Calibri" panose="020F0502020204030204" pitchFamily="34" charset="0"/>
                </a:rPr>
                <a:t>decide</a:t>
              </a:r>
              <a:r>
                <a:rPr lang="en-AU" sz="2400">
                  <a:effectLst/>
                  <a:latin typeface="Arial" panose="020B0604020202020204" pitchFamily="34" charset="0"/>
                  <a:ea typeface="Calibri" panose="020F0502020204030204" pitchFamily="34" charset="0"/>
                </a:rPr>
                <a:t> </a:t>
              </a:r>
              <a:r>
                <a:rPr lang="en-AU" sz="2400" b="1">
                  <a:effectLst/>
                  <a:latin typeface="Arial" panose="020B0604020202020204" pitchFamily="34" charset="0"/>
                  <a:ea typeface="Calibri" panose="020F0502020204030204" pitchFamily="34" charset="0"/>
                </a:rPr>
                <a:t>which zeros matter</a:t>
              </a:r>
              <a:r>
                <a:rPr lang="en-AU" sz="2400">
                  <a:effectLst/>
                  <a:latin typeface="Arial" panose="020B0604020202020204" pitchFamily="34" charset="0"/>
                  <a:ea typeface="Calibri" panose="020F0502020204030204" pitchFamily="34" charset="0"/>
                </a:rPr>
                <a:t>. For example, the zeros in 0.025 are important, but the zero in 1.590 does not affect the place value if removed</a:t>
              </a:r>
            </a:p>
          </p:txBody>
        </p:sp>
      </p:gr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360000" y="1300771"/>
            <a:ext cx="11243037" cy="893226"/>
          </a:xfrm>
        </p:spPr>
        <p:txBody>
          <a:bodyPr/>
          <a:lstStyle/>
          <a:p>
            <a:pPr algn="ctr"/>
            <a:r>
              <a:rPr lang="en-US" sz="4400"/>
              <a:t>What is the closest </a:t>
            </a:r>
            <a:r>
              <a:rPr lang="en-US" sz="4400" b="1"/>
              <a:t>benchmark fraction </a:t>
            </a:r>
          </a:p>
          <a:p>
            <a:pPr algn="ctr"/>
            <a:r>
              <a:rPr lang="en-US" sz="4400"/>
              <a:t>to </a:t>
            </a:r>
            <a:r>
              <a:rPr lang="en-US" sz="4400" b="1">
                <a:solidFill>
                  <a:schemeClr val="accent2"/>
                </a:solidFill>
              </a:rPr>
              <a:t>0.254</a:t>
            </a:r>
            <a:r>
              <a:rPr lang="en-US" sz="4400"/>
              <a:t>?</a:t>
            </a:r>
          </a:p>
        </p:txBody>
      </p:sp>
      <p:sp>
        <p:nvSpPr>
          <p:cNvPr id="9" name="TextBox 8">
            <a:extLst>
              <a:ext uri="{FF2B5EF4-FFF2-40B4-BE49-F238E27FC236}">
                <a16:creationId xmlns:a16="http://schemas.microsoft.com/office/drawing/2014/main" id="{AF13415D-5ABE-8CE1-9EF6-D83C6FF3BAC9}"/>
              </a:ext>
            </a:extLst>
          </p:cNvPr>
          <p:cNvSpPr txBox="1"/>
          <p:nvPr/>
        </p:nvSpPr>
        <p:spPr>
          <a:xfrm>
            <a:off x="1201915" y="41851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F247731-3429-9B84-6BC3-9D5A44F68F4F}"/>
                  </a:ext>
                </a:extLst>
              </p:cNvPr>
              <p:cNvSpPr txBox="1"/>
              <p:nvPr/>
            </p:nvSpPr>
            <p:spPr>
              <a:xfrm>
                <a:off x="926892" y="504054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600" i="1" smtClean="0">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2</m:t>
                          </m:r>
                        </m:den>
                      </m:f>
                    </m:oMath>
                  </m:oMathPara>
                </a14:m>
                <a:endParaRPr lang="en-AU" sz="1800"/>
              </a:p>
            </p:txBody>
          </p:sp>
        </mc:Choice>
        <mc:Fallback xmlns="">
          <p:sp>
            <p:nvSpPr>
              <p:cNvPr id="5" name="TextBox 4">
                <a:extLst>
                  <a:ext uri="{FF2B5EF4-FFF2-40B4-BE49-F238E27FC236}">
                    <a16:creationId xmlns:a16="http://schemas.microsoft.com/office/drawing/2014/main" id="{0F247731-3429-9B84-6BC3-9D5A44F68F4F}"/>
                  </a:ext>
                </a:extLst>
              </p:cNvPr>
              <p:cNvSpPr txBox="1">
                <a:spLocks noRot="1" noChangeAspect="1" noMove="1" noResize="1" noEditPoints="1" noAdjustHandles="1" noChangeArrowheads="1" noChangeShapeType="1" noTextEdit="1"/>
              </p:cNvSpPr>
              <p:nvPr/>
            </p:nvSpPr>
            <p:spPr>
              <a:xfrm>
                <a:off x="926892" y="5040540"/>
                <a:ext cx="914400" cy="914400"/>
              </a:xfrm>
              <a:prstGeom prst="rect">
                <a:avLst/>
              </a:prstGeom>
              <a:blipFill>
                <a:blip r:embed="rId3"/>
                <a:stretch>
                  <a:fillRect b="-12000"/>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06BFC4FD-CDBD-E74C-2B4B-957276E8D806}"/>
              </a:ext>
            </a:extLst>
          </p:cNvPr>
          <p:cNvSpPr txBox="1"/>
          <p:nvPr/>
        </p:nvSpPr>
        <p:spPr>
          <a:xfrm>
            <a:off x="4116570" y="41851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E01A69-5E2C-AE37-AD7A-D1C0ECA27332}"/>
                  </a:ext>
                </a:extLst>
              </p:cNvPr>
              <p:cNvSpPr txBox="1"/>
              <p:nvPr/>
            </p:nvSpPr>
            <p:spPr>
              <a:xfrm>
                <a:off x="3924085" y="504054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600" i="1" smtClean="0">
                              <a:latin typeface="Cambria Math" panose="02040503050406030204" pitchFamily="18" charset="0"/>
                            </a:rPr>
                          </m:ctrlPr>
                        </m:fPr>
                        <m:num>
                          <m:r>
                            <a:rPr lang="en-AU" sz="3600" b="0" i="1" smtClean="0">
                              <a:latin typeface="Cambria Math" panose="02040503050406030204" pitchFamily="18" charset="0"/>
                            </a:rPr>
                            <m:t>2</m:t>
                          </m:r>
                        </m:num>
                        <m:den>
                          <m:r>
                            <a:rPr lang="en-AU" sz="3600" b="0" i="1" smtClean="0">
                              <a:latin typeface="Cambria Math" panose="02040503050406030204" pitchFamily="18" charset="0"/>
                            </a:rPr>
                            <m:t>10</m:t>
                          </m:r>
                        </m:den>
                      </m:f>
                    </m:oMath>
                  </m:oMathPara>
                </a14:m>
                <a:endParaRPr lang="en-AU" sz="1800"/>
              </a:p>
            </p:txBody>
          </p:sp>
        </mc:Choice>
        <mc:Fallback xmlns="">
          <p:sp>
            <p:nvSpPr>
              <p:cNvPr id="6" name="TextBox 5">
                <a:extLst>
                  <a:ext uri="{FF2B5EF4-FFF2-40B4-BE49-F238E27FC236}">
                    <a16:creationId xmlns:a16="http://schemas.microsoft.com/office/drawing/2014/main" id="{90E01A69-5E2C-AE37-AD7A-D1C0ECA27332}"/>
                  </a:ext>
                </a:extLst>
              </p:cNvPr>
              <p:cNvSpPr txBox="1">
                <a:spLocks noRot="1" noChangeAspect="1" noMove="1" noResize="1" noEditPoints="1" noAdjustHandles="1" noChangeArrowheads="1" noChangeShapeType="1" noTextEdit="1"/>
              </p:cNvSpPr>
              <p:nvPr/>
            </p:nvSpPr>
            <p:spPr>
              <a:xfrm>
                <a:off x="3924085" y="5040540"/>
                <a:ext cx="914400" cy="914400"/>
              </a:xfrm>
              <a:prstGeom prst="rect">
                <a:avLst/>
              </a:prstGeom>
              <a:blipFill>
                <a:blip r:embed="rId4"/>
                <a:stretch>
                  <a:fillRect b="-1266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0CCBA3B1-EB4D-D918-A8D0-B78C7621C52A}"/>
              </a:ext>
            </a:extLst>
          </p:cNvPr>
          <p:cNvSpPr txBox="1"/>
          <p:nvPr/>
        </p:nvSpPr>
        <p:spPr>
          <a:xfrm>
            <a:off x="7223712" y="41851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20A35D5-450D-4208-5522-CBC2EC4A117F}"/>
                  </a:ext>
                </a:extLst>
              </p:cNvPr>
              <p:cNvSpPr txBox="1"/>
              <p:nvPr/>
            </p:nvSpPr>
            <p:spPr>
              <a:xfrm>
                <a:off x="7031226" y="504054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600" i="1" smtClean="0">
                              <a:latin typeface="Cambria Math" panose="02040503050406030204" pitchFamily="18" charset="0"/>
                            </a:rPr>
                          </m:ctrlPr>
                        </m:fPr>
                        <m:num>
                          <m:r>
                            <a:rPr lang="en-AU" sz="3600" b="0" i="1" smtClean="0">
                              <a:latin typeface="Cambria Math" panose="02040503050406030204" pitchFamily="18" charset="0"/>
                            </a:rPr>
                            <m:t>3</m:t>
                          </m:r>
                        </m:num>
                        <m:den>
                          <m:r>
                            <a:rPr lang="en-AU" sz="3600" b="0" i="1" smtClean="0">
                              <a:latin typeface="Cambria Math" panose="02040503050406030204" pitchFamily="18" charset="0"/>
                            </a:rPr>
                            <m:t>4</m:t>
                          </m:r>
                        </m:den>
                      </m:f>
                    </m:oMath>
                  </m:oMathPara>
                </a14:m>
                <a:endParaRPr lang="en-AU" sz="1800"/>
              </a:p>
            </p:txBody>
          </p:sp>
        </mc:Choice>
        <mc:Fallback xmlns="">
          <p:sp>
            <p:nvSpPr>
              <p:cNvPr id="7" name="TextBox 6">
                <a:extLst>
                  <a:ext uri="{FF2B5EF4-FFF2-40B4-BE49-F238E27FC236}">
                    <a16:creationId xmlns:a16="http://schemas.microsoft.com/office/drawing/2014/main" id="{020A35D5-450D-4208-5522-CBC2EC4A117F}"/>
                  </a:ext>
                </a:extLst>
              </p:cNvPr>
              <p:cNvSpPr txBox="1">
                <a:spLocks noRot="1" noChangeAspect="1" noMove="1" noResize="1" noEditPoints="1" noAdjustHandles="1" noChangeArrowheads="1" noChangeShapeType="1" noTextEdit="1"/>
              </p:cNvSpPr>
              <p:nvPr/>
            </p:nvSpPr>
            <p:spPr>
              <a:xfrm>
                <a:off x="7031226" y="5040540"/>
                <a:ext cx="914400" cy="914400"/>
              </a:xfrm>
              <a:prstGeom prst="rect">
                <a:avLst/>
              </a:prstGeom>
              <a:blipFill>
                <a:blip r:embed="rId5"/>
                <a:stretch>
                  <a:fillRect b="-1200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002A7C63-4C7D-5EB4-47F9-AF81CCED5985}"/>
              </a:ext>
            </a:extLst>
          </p:cNvPr>
          <p:cNvSpPr txBox="1"/>
          <p:nvPr/>
        </p:nvSpPr>
        <p:spPr>
          <a:xfrm>
            <a:off x="10227686" y="41851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1D4992D-DE08-604D-2508-116B3045081C}"/>
                  </a:ext>
                </a:extLst>
              </p:cNvPr>
              <p:cNvSpPr txBox="1"/>
              <p:nvPr/>
            </p:nvSpPr>
            <p:spPr>
              <a:xfrm>
                <a:off x="9893508" y="504054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600" i="1" smtClean="0">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4</m:t>
                          </m:r>
                        </m:den>
                      </m:f>
                    </m:oMath>
                  </m:oMathPara>
                </a14:m>
                <a:endParaRPr lang="en-AU" sz="1800"/>
              </a:p>
            </p:txBody>
          </p:sp>
        </mc:Choice>
        <mc:Fallback xmlns="">
          <p:sp>
            <p:nvSpPr>
              <p:cNvPr id="8" name="TextBox 7">
                <a:extLst>
                  <a:ext uri="{FF2B5EF4-FFF2-40B4-BE49-F238E27FC236}">
                    <a16:creationId xmlns:a16="http://schemas.microsoft.com/office/drawing/2014/main" id="{E1D4992D-DE08-604D-2508-116B3045081C}"/>
                  </a:ext>
                </a:extLst>
              </p:cNvPr>
              <p:cNvSpPr txBox="1">
                <a:spLocks noRot="1" noChangeAspect="1" noMove="1" noResize="1" noEditPoints="1" noAdjustHandles="1" noChangeArrowheads="1" noChangeShapeType="1" noTextEdit="1"/>
              </p:cNvSpPr>
              <p:nvPr/>
            </p:nvSpPr>
            <p:spPr>
              <a:xfrm>
                <a:off x="9893508" y="5040540"/>
                <a:ext cx="914400" cy="914400"/>
              </a:xfrm>
              <a:prstGeom prst="rect">
                <a:avLst/>
              </a:prstGeom>
              <a:blipFill>
                <a:blip r:embed="rId6"/>
                <a:stretch>
                  <a:fillRect b="-1200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A0F1E37-B536-0271-A112-3EC880058C99}"/>
              </a:ext>
            </a:extLst>
          </p:cNvPr>
          <p:cNvSpPr txBox="1"/>
          <p:nvPr/>
        </p:nvSpPr>
        <p:spPr>
          <a:xfrm>
            <a:off x="638629" y="1007734"/>
            <a:ext cx="10914742" cy="2146853"/>
          </a:xfrm>
          <a:prstGeom prst="rect">
            <a:avLst/>
          </a:prstGeom>
          <a:noFill/>
        </p:spPr>
        <p:txBody>
          <a:bodyPr wrap="square" lIns="0" tIns="0" rIns="0" bIns="0" rtlCol="0">
            <a:noAutofit/>
          </a:bodyPr>
          <a:lstStyle/>
          <a:p>
            <a:pPr algn="ctr">
              <a:lnSpc>
                <a:spcPct val="150000"/>
              </a:lnSpc>
            </a:pPr>
            <a:r>
              <a:rPr lang="en-AU" sz="4400" b="1" dirty="0"/>
              <a:t>Sketch </a:t>
            </a:r>
            <a:r>
              <a:rPr lang="en-AU" sz="4400" dirty="0"/>
              <a:t>the 3D object from the</a:t>
            </a:r>
            <a:r>
              <a:rPr lang="en-AU" sz="4400" b="1" dirty="0"/>
              <a:t> top, front </a:t>
            </a:r>
            <a:r>
              <a:rPr lang="en-AU" sz="4400" dirty="0"/>
              <a:t>and</a:t>
            </a:r>
            <a:r>
              <a:rPr lang="en-AU" sz="4400" b="1" dirty="0"/>
              <a:t> side views</a:t>
            </a:r>
            <a:r>
              <a:rPr lang="en-AU" sz="4400" dirty="0"/>
              <a:t>.</a:t>
            </a:r>
          </a:p>
        </p:txBody>
      </p:sp>
      <p:pic>
        <p:nvPicPr>
          <p:cNvPr id="7" name="Picture 6" descr="An image of a pentagonal pyramid.">
            <a:extLst>
              <a:ext uri="{FF2B5EF4-FFF2-40B4-BE49-F238E27FC236}">
                <a16:creationId xmlns:a16="http://schemas.microsoft.com/office/drawing/2014/main" id="{ADE064D1-329D-A791-7E37-2E7D6DD7A72B}"/>
              </a:ext>
            </a:extLst>
          </p:cNvPr>
          <p:cNvPicPr>
            <a:picLocks noChangeAspect="1"/>
          </p:cNvPicPr>
          <p:nvPr/>
        </p:nvPicPr>
        <p:blipFill>
          <a:blip r:embed="rId4"/>
          <a:stretch>
            <a:fillRect/>
          </a:stretch>
        </p:blipFill>
        <p:spPr>
          <a:xfrm>
            <a:off x="4653956" y="3256720"/>
            <a:ext cx="3256048" cy="314979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0B51EFF-8E20-F8C3-DBD2-3E086E35C8B6}"/>
              </a:ext>
            </a:extLst>
          </p:cNvPr>
          <p:cNvSpPr txBox="1"/>
          <p:nvPr/>
        </p:nvSpPr>
        <p:spPr>
          <a:xfrm>
            <a:off x="360000" y="1313250"/>
            <a:ext cx="5301435" cy="4820037"/>
          </a:xfrm>
          <a:prstGeom prst="rect">
            <a:avLst/>
          </a:prstGeom>
          <a:noFill/>
        </p:spPr>
        <p:txBody>
          <a:bodyPr wrap="square">
            <a:spAutoFit/>
          </a:bodyPr>
          <a:lstStyle/>
          <a:p>
            <a:pPr>
              <a:lnSpc>
                <a:spcPct val="150000"/>
              </a:lnSpc>
              <a:spcBef>
                <a:spcPts val="600"/>
              </a:spcBef>
              <a:spcAft>
                <a:spcPts val="600"/>
              </a:spcAft>
            </a:pPr>
            <a:r>
              <a:rPr lang="en-AU" sz="4200">
                <a:latin typeface="Arial" panose="020B0604020202020204" pitchFamily="34" charset="0"/>
                <a:ea typeface="Calibri" panose="020F0502020204030204" pitchFamily="34" charset="0"/>
              </a:rPr>
              <a:t>Record</a:t>
            </a:r>
            <a:r>
              <a:rPr lang="en-AU" sz="4200">
                <a:effectLst/>
                <a:latin typeface="Arial" panose="020B0604020202020204" pitchFamily="34" charset="0"/>
                <a:ea typeface="Calibri" panose="020F0502020204030204" pitchFamily="34" charset="0"/>
              </a:rPr>
              <a:t> the </a:t>
            </a:r>
            <a:r>
              <a:rPr lang="en-AU" sz="4200" b="1">
                <a:effectLst/>
                <a:latin typeface="Arial" panose="020B0604020202020204" pitchFamily="34" charset="0"/>
                <a:ea typeface="Calibri" panose="020F0502020204030204" pitchFamily="34" charset="0"/>
              </a:rPr>
              <a:t>coordinates</a:t>
            </a:r>
            <a:r>
              <a:rPr lang="en-AU" sz="4200">
                <a:effectLst/>
                <a:latin typeface="Arial" panose="020B0604020202020204" pitchFamily="34" charset="0"/>
                <a:ea typeface="Calibri" panose="020F0502020204030204" pitchFamily="34" charset="0"/>
              </a:rPr>
              <a:t> of the </a:t>
            </a:r>
            <a:r>
              <a:rPr lang="en-AU" sz="4200" b="1">
                <a:effectLst/>
                <a:latin typeface="Arial" panose="020B0604020202020204" pitchFamily="34" charset="0"/>
                <a:ea typeface="Calibri" panose="020F0502020204030204" pitchFamily="34" charset="0"/>
              </a:rPr>
              <a:t>carrots</a:t>
            </a:r>
            <a:r>
              <a:rPr lang="en-AU" sz="4200">
                <a:effectLst/>
                <a:latin typeface="Arial" panose="020B0604020202020204" pitchFamily="34" charset="0"/>
                <a:ea typeface="Calibri" panose="020F0502020204030204" pitchFamily="34" charset="0"/>
              </a:rPr>
              <a:t> </a:t>
            </a:r>
            <a:r>
              <a:rPr lang="en-AU" sz="4200" b="1">
                <a:effectLst/>
                <a:latin typeface="Arial" panose="020B0604020202020204" pitchFamily="34" charset="0"/>
                <a:ea typeface="Calibri" panose="020F0502020204030204" pitchFamily="34" charset="0"/>
              </a:rPr>
              <a:t>plotted</a:t>
            </a:r>
            <a:r>
              <a:rPr lang="en-AU" sz="4200">
                <a:effectLst/>
                <a:latin typeface="Arial" panose="020B0604020202020204" pitchFamily="34" charset="0"/>
                <a:ea typeface="Calibri" panose="020F0502020204030204" pitchFamily="34" charset="0"/>
              </a:rPr>
              <a:t> on the </a:t>
            </a:r>
            <a:r>
              <a:rPr lang="en-AU" sz="4200" b="1">
                <a:effectLst/>
                <a:latin typeface="Arial" panose="020B0604020202020204" pitchFamily="34" charset="0"/>
                <a:ea typeface="Calibri" panose="020F0502020204030204" pitchFamily="34" charset="0"/>
              </a:rPr>
              <a:t>4 quadrants </a:t>
            </a:r>
            <a:r>
              <a:rPr lang="en-AU" sz="4200">
                <a:effectLst/>
                <a:latin typeface="Arial" panose="020B0604020202020204" pitchFamily="34" charset="0"/>
                <a:ea typeface="Calibri" panose="020F0502020204030204" pitchFamily="34" charset="0"/>
              </a:rPr>
              <a:t>of the Cartesian plane.</a:t>
            </a:r>
            <a:endParaRPr lang="en-AU" sz="4200"/>
          </a:p>
        </p:txBody>
      </p:sp>
      <p:grpSp>
        <p:nvGrpSpPr>
          <p:cNvPr id="25" name="Group 24" descr="A Cartesian plane showing all 4 quadrants labelled from the origin to -6 and 6.&#10;&#10;Carrots at the following locations:&#10;&#10;The white carrot is in Quadrant 1,  on the 3rd point on the x axis and the 4th point on the y axis.  &#10;&#10;The orange carrot is in Quadrant 2 on the negative 4th point on the x axis and the 2nd point on the y axis. &#10;&#10;The purple carrot is in Quadrant 3 on the negative 2nd point on the x axis and the negative 5th point on the y axis.  The green carrot is in Quadrant 4 on the 1st point on the x axis and the negative first point on the y axis.  .">
            <a:extLst>
              <a:ext uri="{FF2B5EF4-FFF2-40B4-BE49-F238E27FC236}">
                <a16:creationId xmlns:a16="http://schemas.microsoft.com/office/drawing/2014/main" id="{025F861B-22B1-4CBB-4DD1-A1677CAC89F5}"/>
              </a:ext>
            </a:extLst>
          </p:cNvPr>
          <p:cNvGrpSpPr/>
          <p:nvPr/>
        </p:nvGrpSpPr>
        <p:grpSpPr>
          <a:xfrm>
            <a:off x="5849257" y="1313250"/>
            <a:ext cx="5634743" cy="5382750"/>
            <a:chOff x="6574592" y="1346483"/>
            <a:chExt cx="5020858" cy="5007257"/>
          </a:xfrm>
        </p:grpSpPr>
        <p:pic>
          <p:nvPicPr>
            <p:cNvPr id="15" name="Picture 14" descr="A Cartesian plane showing all 4 quadrants labelled from the origin to -6 and 6.">
              <a:extLst>
                <a:ext uri="{FF2B5EF4-FFF2-40B4-BE49-F238E27FC236}">
                  <a16:creationId xmlns:a16="http://schemas.microsoft.com/office/drawing/2014/main" id="{500BAF9B-2417-88D8-9146-B772E42A5367}"/>
                </a:ext>
              </a:extLst>
            </p:cNvPr>
            <p:cNvPicPr>
              <a:picLocks noChangeAspect="1"/>
            </p:cNvPicPr>
            <p:nvPr/>
          </p:nvPicPr>
          <p:blipFill rotWithShape="1">
            <a:blip r:embed="rId4"/>
            <a:srcRect l="4853" t="-1" r="2797" b="3310"/>
            <a:stretch>
              <a:fillRect/>
            </a:stretch>
          </p:blipFill>
          <p:spPr bwMode="auto">
            <a:xfrm>
              <a:off x="6574592" y="1346483"/>
              <a:ext cx="5020858" cy="5007257"/>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pic>
          <p:nvPicPr>
            <p:cNvPr id="17" name="Picture 16">
              <a:extLst>
                <a:ext uri="{FF2B5EF4-FFF2-40B4-BE49-F238E27FC236}">
                  <a16:creationId xmlns:a16="http://schemas.microsoft.com/office/drawing/2014/main" id="{7629D7D3-7BBD-92F6-5F07-6EB0DA1B45F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7252897" y="2813783"/>
              <a:ext cx="575948" cy="615217"/>
            </a:xfrm>
            <a:prstGeom prst="rect">
              <a:avLst/>
            </a:prstGeom>
            <a:ln>
              <a:no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C64D1A06-02C5-55E9-80D3-6CB2957F846B}"/>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3415" r="88780">
                          <a14:foregroundMark x1="9268" y1="76190" x2="10244" y2="84286"/>
                          <a14:foregroundMark x1="6341" y1="82857" x2="6341" y2="82857"/>
                          <a14:foregroundMark x1="3415" y1="85714" x2="3415" y2="85714"/>
                          <a14:foregroundMark x1="4878" y1="87619" x2="5854" y2="87619"/>
                          <a14:foregroundMark x1="7317" y1="77619" x2="7317" y2="77619"/>
                        </a14:backgroundRemoval>
                      </a14:imgEffect>
                    </a14:imgLayer>
                  </a14:imgProps>
                </a:ext>
              </a:extLst>
            </a:blip>
            <a:stretch>
              <a:fillRect/>
            </a:stretch>
          </p:blipFill>
          <p:spPr>
            <a:xfrm>
              <a:off x="10002504" y="2036068"/>
              <a:ext cx="597434" cy="612006"/>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138B02E4-DAD7-CE5F-66EF-6AF8CAFBD732}"/>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9865" b="92825" l="9766" r="89844">
                          <a14:foregroundMark x1="23438" y1="92825" x2="23828" y2="86996"/>
                          <a14:foregroundMark x1="20703" y1="91480" x2="20703" y2="91480"/>
                          <a14:foregroundMark x1="21484" y1="88789" x2="23828" y2="89238"/>
                          <a14:backgroundMark x1="22656" y1="91480" x2="22656" y2="91480"/>
                        </a14:backgroundRemoval>
                      </a14:imgEffect>
                    </a14:imgLayer>
                  </a14:imgProps>
                </a:ext>
              </a:extLst>
            </a:blip>
            <a:stretch>
              <a:fillRect/>
            </a:stretch>
          </p:blipFill>
          <p:spPr>
            <a:xfrm>
              <a:off x="7956556" y="5511517"/>
              <a:ext cx="603292" cy="525524"/>
            </a:xfrm>
            <a:prstGeom prst="rect">
              <a:avLst/>
            </a:prstGeom>
            <a:ln>
              <a:noFill/>
            </a:ln>
            <a:effectLst>
              <a:outerShdw blurRad="292100" dist="139700" dir="2700000" algn="tl" rotWithShape="0">
                <a:srgbClr val="333333">
                  <a:alpha val="65000"/>
                </a:srgbClr>
              </a:outerShdw>
            </a:effectLst>
          </p:spPr>
        </p:pic>
        <p:pic>
          <p:nvPicPr>
            <p:cNvPr id="24" name="Picture 23">
              <a:extLst>
                <a:ext uri="{FF2B5EF4-FFF2-40B4-BE49-F238E27FC236}">
                  <a16:creationId xmlns:a16="http://schemas.microsoft.com/office/drawing/2014/main" id="{C6824E53-D28A-E827-DE01-AC2BAE7852C6}"/>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10000" b="90000" l="10000" r="90000"/>
                      </a14:imgEffect>
                    </a14:imgLayer>
                  </a14:imgProps>
                </a:ext>
              </a:extLst>
            </a:blip>
            <a:stretch>
              <a:fillRect/>
            </a:stretch>
          </p:blipFill>
          <p:spPr>
            <a:xfrm>
              <a:off x="9144137" y="3912349"/>
              <a:ext cx="677586" cy="648000"/>
            </a:xfrm>
            <a:prstGeom prst="rect">
              <a:avLst/>
            </a:prstGeom>
            <a:ln>
              <a:noFill/>
            </a:ln>
            <a:effectLst>
              <a:outerShdw blurRad="292100" dist="139700" dir="2700000" algn="tl" rotWithShape="0">
                <a:srgbClr val="333333">
                  <a:alpha val="65000"/>
                </a:srgbClr>
              </a:outerShdw>
            </a:effectLst>
          </p:spPr>
        </p:pic>
      </p:gr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7" name="TextBox 6">
            <a:extLst>
              <a:ext uri="{FF2B5EF4-FFF2-40B4-BE49-F238E27FC236}">
                <a16:creationId xmlns:a16="http://schemas.microsoft.com/office/drawing/2014/main" id="{2DF7FCB3-B273-5811-FE7F-4372EE111FC9}"/>
              </a:ext>
            </a:extLst>
          </p:cNvPr>
          <p:cNvSpPr txBox="1"/>
          <p:nvPr/>
        </p:nvSpPr>
        <p:spPr>
          <a:xfrm>
            <a:off x="740228" y="1431940"/>
            <a:ext cx="10915462" cy="4853188"/>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cs typeface="Times New Roman" panose="02020603050405020304" pitchFamily="18" charset="0"/>
              </a:rPr>
              <a:t>Use </a:t>
            </a:r>
            <a:r>
              <a:rPr lang="en-AU" sz="4400" b="1">
                <a:effectLst/>
                <a:latin typeface="Arial" panose="020B0604020202020204" pitchFamily="34" charset="0"/>
                <a:ea typeface="Calibri" panose="020F0502020204030204" pitchFamily="34" charset="0"/>
                <a:cs typeface="Times New Roman" panose="02020603050405020304" pitchFamily="18" charset="0"/>
              </a:rPr>
              <a:t>place value </a:t>
            </a:r>
            <a:r>
              <a:rPr lang="en-AU" sz="4400">
                <a:effectLst/>
                <a:latin typeface="Arial" panose="020B0604020202020204" pitchFamily="34" charset="0"/>
                <a:ea typeface="Calibri" panose="020F0502020204030204" pitchFamily="34" charset="0"/>
                <a:cs typeface="Times New Roman" panose="02020603050405020304" pitchFamily="18" charset="0"/>
              </a:rPr>
              <a:t>understanding and </a:t>
            </a:r>
            <a:r>
              <a:rPr lang="en-AU" sz="4400" b="1">
                <a:effectLst/>
                <a:latin typeface="Arial" panose="020B0604020202020204" pitchFamily="34" charset="0"/>
                <a:ea typeface="Calibri" panose="020F0502020204030204" pitchFamily="34" charset="0"/>
                <a:cs typeface="Times New Roman" panose="02020603050405020304" pitchFamily="18" charset="0"/>
              </a:rPr>
              <a:t>mental strategies </a:t>
            </a:r>
            <a:r>
              <a:rPr lang="en-AU" sz="4400">
                <a:effectLst/>
                <a:latin typeface="Arial" panose="020B0604020202020204" pitchFamily="34" charset="0"/>
                <a:ea typeface="Calibri" panose="020F0502020204030204" pitchFamily="34" charset="0"/>
                <a:cs typeface="Times New Roman" panose="02020603050405020304" pitchFamily="18" charset="0"/>
              </a:rPr>
              <a:t>to </a:t>
            </a:r>
            <a:r>
              <a:rPr lang="en-AU" sz="4400" b="1">
                <a:effectLst/>
                <a:latin typeface="Arial" panose="020B0604020202020204" pitchFamily="34" charset="0"/>
                <a:ea typeface="Calibri" panose="020F0502020204030204" pitchFamily="34" charset="0"/>
                <a:cs typeface="Times New Roman" panose="02020603050405020304" pitchFamily="18" charset="0"/>
              </a:rPr>
              <a:t>multiply by 10 </a:t>
            </a:r>
            <a:r>
              <a:rPr lang="en-AU" sz="4400">
                <a:effectLst/>
                <a:latin typeface="Arial" panose="020B0604020202020204" pitchFamily="34" charset="0"/>
                <a:ea typeface="Calibri" panose="020F0502020204030204" pitchFamily="34" charset="0"/>
                <a:cs typeface="Times New Roman" panose="02020603050405020304" pitchFamily="18" charset="0"/>
              </a:rPr>
              <a:t>to solve:</a:t>
            </a:r>
          </a:p>
          <a:p>
            <a:pPr lvl="0" algn="ctr">
              <a:lnSpc>
                <a:spcPct val="150000"/>
              </a:lnSpc>
              <a:spcBef>
                <a:spcPts val="1200"/>
              </a:spcBef>
              <a:spcAft>
                <a:spcPts val="600"/>
              </a:spcAft>
            </a:pPr>
            <a:r>
              <a:rPr lang="en-AU" sz="4000">
                <a:effectLst/>
                <a:latin typeface="Arial" panose="020B0604020202020204" pitchFamily="34" charset="0"/>
                <a:ea typeface="Calibri" panose="020F0502020204030204" pitchFamily="34" charset="0"/>
                <a:cs typeface="Times New Roman" panose="02020603050405020304" pitchFamily="18" charset="0"/>
              </a:rPr>
              <a:t> </a:t>
            </a:r>
            <a:r>
              <a:rPr lang="en-AU" sz="7200" b="1">
                <a:solidFill>
                  <a:schemeClr val="accent2"/>
                </a:solidFill>
                <a:effectLst/>
                <a:latin typeface="Arial" panose="020B0604020202020204" pitchFamily="34" charset="0"/>
                <a:ea typeface="Calibri" panose="020F0502020204030204" pitchFamily="34" charset="0"/>
                <a:cs typeface="Times New Roman" panose="02020603050405020304" pitchFamily="18" charset="0"/>
              </a:rPr>
              <a:t>7 × 74  </a:t>
            </a:r>
            <a:endParaRPr lang="en-AU" sz="4000" b="1">
              <a:solidFill>
                <a:schemeClr val="accent2"/>
              </a:solidFill>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5" name="TextBox 4">
            <a:extLst>
              <a:ext uri="{FF2B5EF4-FFF2-40B4-BE49-F238E27FC236}">
                <a16:creationId xmlns:a16="http://schemas.microsoft.com/office/drawing/2014/main" id="{535B7C9C-41C6-FC5C-EE0C-5546A91182B9}"/>
              </a:ext>
            </a:extLst>
          </p:cNvPr>
          <p:cNvSpPr txBox="1"/>
          <p:nvPr/>
        </p:nvSpPr>
        <p:spPr>
          <a:xfrm>
            <a:off x="594264" y="1240255"/>
            <a:ext cx="11350513" cy="5046381"/>
          </a:xfrm>
          <a:prstGeom prst="rect">
            <a:avLst/>
          </a:prstGeom>
          <a:noFill/>
        </p:spPr>
        <p:txBody>
          <a:bodyPr wrap="square">
            <a:spAutoFit/>
          </a:bodyPr>
          <a:lstStyle/>
          <a:p>
            <a:pPr algn="ctr">
              <a:lnSpc>
                <a:spcPct val="150000"/>
              </a:lnSpc>
            </a:pPr>
            <a:r>
              <a:rPr lang="en-AU" sz="4400" b="1">
                <a:latin typeface="Public Sans" pitchFamily="2" charset="0"/>
              </a:rPr>
              <a:t>C</a:t>
            </a:r>
            <a:r>
              <a:rPr lang="en-AU" sz="4400" b="1" i="0">
                <a:effectLst/>
                <a:latin typeface="Public Sans" pitchFamily="2" charset="0"/>
              </a:rPr>
              <a:t>onvert</a:t>
            </a:r>
            <a:r>
              <a:rPr lang="en-AU" sz="4400" b="0" i="0">
                <a:effectLst/>
                <a:latin typeface="Public Sans" pitchFamily="2" charset="0"/>
              </a:rPr>
              <a:t> these measurements from </a:t>
            </a:r>
            <a:r>
              <a:rPr lang="en-AU" sz="4400" b="1">
                <a:latin typeface="Public Sans" pitchFamily="2" charset="0"/>
              </a:rPr>
              <a:t>kilo</a:t>
            </a:r>
            <a:r>
              <a:rPr lang="en-AU" sz="4400" b="1" i="0">
                <a:effectLst/>
                <a:latin typeface="Public Sans" pitchFamily="2" charset="0"/>
              </a:rPr>
              <a:t>metres</a:t>
            </a:r>
            <a:r>
              <a:rPr lang="en-AU" sz="4400" b="0" i="0">
                <a:effectLst/>
                <a:latin typeface="Public Sans" pitchFamily="2" charset="0"/>
              </a:rPr>
              <a:t> to </a:t>
            </a:r>
            <a:r>
              <a:rPr lang="en-AU" sz="4400" b="1" i="0">
                <a:effectLst/>
                <a:latin typeface="Public Sans" pitchFamily="2" charset="0"/>
              </a:rPr>
              <a:t>metres</a:t>
            </a:r>
          </a:p>
          <a:p>
            <a:pPr marL="342900" indent="-342900" algn="ctr">
              <a:lnSpc>
                <a:spcPct val="150000"/>
              </a:lnSpc>
              <a:buFont typeface="Arial" panose="020B0604020202020204" pitchFamily="34" charset="0"/>
              <a:buChar char="•"/>
            </a:pPr>
            <a:r>
              <a:rPr lang="en-AU" sz="4400">
                <a:latin typeface="Public Sans" pitchFamily="2" charset="0"/>
              </a:rPr>
              <a:t>2.3 km</a:t>
            </a:r>
          </a:p>
          <a:p>
            <a:pPr marL="342900" indent="-342900" algn="ctr">
              <a:lnSpc>
                <a:spcPct val="150000"/>
              </a:lnSpc>
              <a:buFont typeface="Arial" panose="020B0604020202020204" pitchFamily="34" charset="0"/>
              <a:buChar char="•"/>
            </a:pPr>
            <a:r>
              <a:rPr lang="en-AU" sz="4400">
                <a:latin typeface="Public Sans" pitchFamily="2" charset="0"/>
              </a:rPr>
              <a:t>0.045 km</a:t>
            </a:r>
          </a:p>
          <a:p>
            <a:pPr marL="342900" indent="-342900" algn="ctr">
              <a:lnSpc>
                <a:spcPct val="150000"/>
              </a:lnSpc>
              <a:buFont typeface="Arial" panose="020B0604020202020204" pitchFamily="34" charset="0"/>
              <a:buChar char="•"/>
            </a:pPr>
            <a:r>
              <a:rPr lang="en-AU" sz="4400">
                <a:latin typeface="Public Sans" pitchFamily="2" charset="0"/>
              </a:rPr>
              <a:t>10.07 km</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approximating decimals</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9" name="TextBox 8">
            <a:extLst>
              <a:ext uri="{FF2B5EF4-FFF2-40B4-BE49-F238E27FC236}">
                <a16:creationId xmlns:a16="http://schemas.microsoft.com/office/drawing/2014/main" id="{A4C65478-2943-ECD8-0646-DD6D6CE04BCC}"/>
              </a:ext>
            </a:extLst>
          </p:cNvPr>
          <p:cNvSpPr txBox="1"/>
          <p:nvPr/>
        </p:nvSpPr>
        <p:spPr>
          <a:xfrm>
            <a:off x="3262217" y="3187711"/>
            <a:ext cx="5152913" cy="1775012"/>
          </a:xfrm>
          <a:prstGeom prst="rect">
            <a:avLst/>
          </a:prstGeom>
          <a:solidFill>
            <a:schemeClr val="accent4"/>
          </a:solidFill>
          <a:ln>
            <a:solidFill>
              <a:srgbClr val="002060"/>
            </a:solidFill>
          </a:ln>
        </p:spPr>
        <p:txBody>
          <a:bodyPr wrap="square" lIns="0" tIns="0" rIns="0" bIns="0" rtlCol="0">
            <a:noAutofit/>
          </a:bodyPr>
          <a:lstStyle/>
          <a:p>
            <a:pPr algn="ctr"/>
            <a:r>
              <a:rPr lang="en-AU" sz="11500">
                <a:latin typeface="Arial" panose="020B0604020202020204" pitchFamily="34" charset="0"/>
                <a:cs typeface="Arial" panose="020B0604020202020204" pitchFamily="34" charset="0"/>
              </a:rPr>
              <a:t>0.254</a:t>
            </a:r>
            <a:endParaRPr lang="en-AU" sz="180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1C33617-9EC8-0D41-3184-536ACEE4BF50}"/>
              </a:ext>
            </a:extLst>
          </p:cNvPr>
          <p:cNvSpPr txBox="1"/>
          <p:nvPr/>
        </p:nvSpPr>
        <p:spPr>
          <a:xfrm>
            <a:off x="3262217" y="3241048"/>
            <a:ext cx="5152913" cy="1775012"/>
          </a:xfrm>
          <a:prstGeom prst="rect">
            <a:avLst/>
          </a:prstGeom>
          <a:solidFill>
            <a:schemeClr val="accent4"/>
          </a:solidFill>
          <a:ln>
            <a:solidFill>
              <a:srgbClr val="002060"/>
            </a:solidFill>
          </a:ln>
        </p:spPr>
        <p:txBody>
          <a:bodyPr wrap="square" lIns="0" tIns="0" rIns="0" bIns="0" rtlCol="0">
            <a:noAutofit/>
          </a:bodyPr>
          <a:lstStyle/>
          <a:p>
            <a:pPr algn="ctr"/>
            <a:r>
              <a:rPr lang="en-AU" sz="11500">
                <a:latin typeface="Arial" panose="020B0604020202020204" pitchFamily="34" charset="0"/>
                <a:cs typeface="Arial" panose="020B0604020202020204" pitchFamily="34" charset="0"/>
              </a:rPr>
              <a:t>0.189</a:t>
            </a:r>
            <a:endParaRPr lang="en-AU" sz="180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19AE451-BF38-6A3F-061A-2525B92C7105}"/>
              </a:ext>
            </a:extLst>
          </p:cNvPr>
          <p:cNvSpPr txBox="1"/>
          <p:nvPr/>
        </p:nvSpPr>
        <p:spPr>
          <a:xfrm>
            <a:off x="3214366" y="3187711"/>
            <a:ext cx="5152913" cy="1775012"/>
          </a:xfrm>
          <a:prstGeom prst="rect">
            <a:avLst/>
          </a:prstGeom>
          <a:solidFill>
            <a:schemeClr val="accent4"/>
          </a:solidFill>
          <a:ln>
            <a:solidFill>
              <a:srgbClr val="002060"/>
            </a:solidFill>
          </a:ln>
        </p:spPr>
        <p:txBody>
          <a:bodyPr wrap="square" lIns="0" tIns="0" rIns="0" bIns="0" rtlCol="0">
            <a:noAutofit/>
          </a:bodyPr>
          <a:lstStyle/>
          <a:p>
            <a:pPr algn="ctr"/>
            <a:r>
              <a:rPr lang="en-AU" sz="11500">
                <a:latin typeface="Arial" panose="020B0604020202020204" pitchFamily="34" charset="0"/>
                <a:cs typeface="Arial" panose="020B0604020202020204" pitchFamily="34" charset="0"/>
              </a:rPr>
              <a:t>0.790</a:t>
            </a:r>
            <a:endParaRPr lang="en-AU" sz="180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F9C0FD3D-459B-5643-E3E9-1CF6DF98A22C}"/>
              </a:ext>
            </a:extLst>
          </p:cNvPr>
          <p:cNvSpPr txBox="1"/>
          <p:nvPr/>
        </p:nvSpPr>
        <p:spPr>
          <a:xfrm>
            <a:off x="3262218" y="3195965"/>
            <a:ext cx="5152913" cy="1775012"/>
          </a:xfrm>
          <a:prstGeom prst="rect">
            <a:avLst/>
          </a:prstGeom>
          <a:solidFill>
            <a:schemeClr val="accent4"/>
          </a:solidFill>
          <a:ln>
            <a:solidFill>
              <a:srgbClr val="002060"/>
            </a:solidFill>
          </a:ln>
        </p:spPr>
        <p:txBody>
          <a:bodyPr wrap="square" lIns="0" tIns="0" rIns="0" bIns="0" rtlCol="0">
            <a:noAutofit/>
          </a:bodyPr>
          <a:lstStyle/>
          <a:p>
            <a:pPr algn="ctr"/>
            <a:r>
              <a:rPr lang="en-AU" sz="11500">
                <a:latin typeface="Arial" panose="020B0604020202020204" pitchFamily="34" charset="0"/>
                <a:cs typeface="Arial" panose="020B0604020202020204" pitchFamily="34" charset="0"/>
              </a:rPr>
              <a:t>0.551</a:t>
            </a:r>
            <a:endParaRPr lang="en-AU" sz="180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334CC31E-7C1D-A8AE-71AB-44E13DFD8F33}"/>
              </a:ext>
            </a:extLst>
          </p:cNvPr>
          <p:cNvSpPr txBox="1"/>
          <p:nvPr/>
        </p:nvSpPr>
        <p:spPr>
          <a:xfrm>
            <a:off x="755269" y="5341830"/>
            <a:ext cx="11088731" cy="982513"/>
          </a:xfrm>
          <a:prstGeom prst="rect">
            <a:avLst/>
          </a:prstGeom>
          <a:noFill/>
        </p:spPr>
        <p:txBody>
          <a:bodyPr wrap="square">
            <a:spAutoFit/>
          </a:bodyPr>
          <a:lstStyle/>
          <a:p>
            <a:pPr lvl="0">
              <a:lnSpc>
                <a:spcPct val="150000"/>
              </a:lnSpc>
              <a:spcBef>
                <a:spcPts val="1200"/>
              </a:spcBef>
              <a:spcAft>
                <a:spcPts val="600"/>
              </a:spcAft>
            </a:pPr>
            <a:r>
              <a:rPr lang="en-AU" sz="4400"/>
              <a:t>What is the </a:t>
            </a:r>
            <a:r>
              <a:rPr lang="en-AU" sz="4400" b="1"/>
              <a:t>closest</a:t>
            </a:r>
            <a:r>
              <a:rPr lang="en-AU" sz="4400" b="1">
                <a:solidFill>
                  <a:schemeClr val="accent2"/>
                </a:solidFill>
              </a:rPr>
              <a:t> benchmark </a:t>
            </a:r>
            <a:r>
              <a:rPr lang="en-AU" sz="4400" b="1"/>
              <a:t>fraction</a:t>
            </a:r>
            <a:r>
              <a:rPr lang="en-AU" sz="4400"/>
              <a:t>?</a:t>
            </a:r>
            <a:endParaRPr lang="en-AU" sz="4400">
              <a:effectLst/>
              <a:latin typeface="Arial" panose="020B0604020202020204" pitchFamily="34" charset="0"/>
              <a:ea typeface="Calibri" panose="020F0502020204030204" pitchFamily="34" charset="0"/>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21FC7E2-EA88-675C-5AA4-14E8756A5619}"/>
                  </a:ext>
                </a:extLst>
              </p:cNvPr>
              <p:cNvSpPr txBox="1"/>
              <p:nvPr/>
            </p:nvSpPr>
            <p:spPr>
              <a:xfrm>
                <a:off x="535671" y="1024539"/>
                <a:ext cx="10853582" cy="1554593"/>
              </a:xfrm>
              <a:prstGeom prst="rect">
                <a:avLst/>
              </a:prstGeom>
              <a:noFill/>
            </p:spPr>
            <p:txBody>
              <a:bodyPr wrap="square">
                <a:spAutoFit/>
              </a:bodyPr>
              <a:lstStyle/>
              <a:p>
                <a:pPr lvl="0" algn="ctr">
                  <a:lnSpc>
                    <a:spcPct val="150000"/>
                  </a:lnSpc>
                  <a:spcBef>
                    <a:spcPts val="1200"/>
                  </a:spcBef>
                  <a:spcAft>
                    <a:spcPts val="600"/>
                  </a:spcAft>
                </a:pPr>
                <a:r>
                  <a:rPr lang="en-AU" sz="4800">
                    <a:effectLst/>
                    <a:latin typeface="+mj-lt"/>
                    <a:ea typeface="Arial" panose="020B0604020202020204" pitchFamily="34" charset="0"/>
                  </a:rPr>
                  <a:t> </a:t>
                </a:r>
                <a14:m>
                  <m:oMath xmlns:m="http://schemas.openxmlformats.org/officeDocument/2006/math">
                    <m:f>
                      <m:fPr>
                        <m:ctrlPr>
                          <a:rPr lang="en-AU" sz="4800" i="1" smtClean="0">
                            <a:effectLst/>
                            <a:latin typeface="Cambria Math" panose="02040503050406030204" pitchFamily="18" charset="0"/>
                            <a:ea typeface="Calibri" panose="020F0502020204030204" pitchFamily="34" charset="0"/>
                          </a:rPr>
                        </m:ctrlPr>
                      </m:fPr>
                      <m:num>
                        <m:r>
                          <a:rPr lang="en-AU" sz="4800" i="1">
                            <a:effectLst/>
                            <a:latin typeface="Cambria Math" panose="02040503050406030204" pitchFamily="18" charset="0"/>
                            <a:ea typeface="Calibri" panose="020F0502020204030204" pitchFamily="34" charset="0"/>
                          </a:rPr>
                          <m:t>1</m:t>
                        </m:r>
                      </m:num>
                      <m:den>
                        <m:r>
                          <a:rPr lang="en-AU" sz="4800" i="1">
                            <a:effectLst/>
                            <a:latin typeface="Cambria Math" panose="02040503050406030204" pitchFamily="18" charset="0"/>
                            <a:ea typeface="Calibri" panose="020F0502020204030204" pitchFamily="34" charset="0"/>
                          </a:rPr>
                          <m:t>4</m:t>
                        </m:r>
                      </m:den>
                    </m:f>
                  </m:oMath>
                </a14:m>
                <a:r>
                  <a:rPr lang="en-AU" sz="4800">
                    <a:effectLst/>
                    <a:latin typeface="+mj-lt"/>
                    <a:ea typeface="Arial" panose="020B0604020202020204" pitchFamily="34" charset="0"/>
                  </a:rPr>
                  <a:t> is 0.25,  </a:t>
                </a:r>
                <a14:m>
                  <m:oMath xmlns:m="http://schemas.openxmlformats.org/officeDocument/2006/math">
                    <m:f>
                      <m:fPr>
                        <m:ctrlPr>
                          <a:rPr lang="en-AU" sz="4800" i="1">
                            <a:effectLst/>
                            <a:latin typeface="Cambria Math" panose="02040503050406030204" pitchFamily="18" charset="0"/>
                            <a:ea typeface="Calibri" panose="020F0502020204030204" pitchFamily="34" charset="0"/>
                          </a:rPr>
                        </m:ctrlPr>
                      </m:fPr>
                      <m:num>
                        <m:r>
                          <a:rPr lang="en-AU" sz="4800" i="1">
                            <a:effectLst/>
                            <a:latin typeface="Cambria Math" panose="02040503050406030204" pitchFamily="18" charset="0"/>
                            <a:ea typeface="Calibri" panose="020F0502020204030204" pitchFamily="34" charset="0"/>
                          </a:rPr>
                          <m:t>1</m:t>
                        </m:r>
                      </m:num>
                      <m:den>
                        <m:r>
                          <a:rPr lang="en-AU" sz="4800" i="1">
                            <a:effectLst/>
                            <a:latin typeface="Cambria Math" panose="02040503050406030204" pitchFamily="18" charset="0"/>
                            <a:ea typeface="Calibri" panose="020F0502020204030204" pitchFamily="34" charset="0"/>
                          </a:rPr>
                          <m:t>2</m:t>
                        </m:r>
                      </m:den>
                    </m:f>
                  </m:oMath>
                </a14:m>
                <a:r>
                  <a:rPr lang="en-AU" sz="4800">
                    <a:effectLst/>
                    <a:latin typeface="+mj-lt"/>
                    <a:ea typeface="Arial" panose="020B0604020202020204" pitchFamily="34" charset="0"/>
                  </a:rPr>
                  <a:t> is 0.50 and  </a:t>
                </a:r>
                <a14:m>
                  <m:oMath xmlns:m="http://schemas.openxmlformats.org/officeDocument/2006/math">
                    <m:f>
                      <m:fPr>
                        <m:ctrlPr>
                          <a:rPr lang="en-AU" sz="4800" i="1">
                            <a:effectLst/>
                            <a:latin typeface="Cambria Math" panose="02040503050406030204" pitchFamily="18" charset="0"/>
                            <a:ea typeface="Calibri" panose="020F0502020204030204" pitchFamily="34" charset="0"/>
                          </a:rPr>
                        </m:ctrlPr>
                      </m:fPr>
                      <m:num>
                        <m:r>
                          <a:rPr lang="en-AU" sz="4800" i="1">
                            <a:effectLst/>
                            <a:latin typeface="Cambria Math" panose="02040503050406030204" pitchFamily="18" charset="0"/>
                            <a:ea typeface="Calibri" panose="020F0502020204030204" pitchFamily="34" charset="0"/>
                          </a:rPr>
                          <m:t>3</m:t>
                        </m:r>
                      </m:num>
                      <m:den>
                        <m:r>
                          <a:rPr lang="en-AU" sz="4800" i="1">
                            <a:effectLst/>
                            <a:latin typeface="Cambria Math" panose="02040503050406030204" pitchFamily="18" charset="0"/>
                            <a:ea typeface="Calibri" panose="020F0502020204030204" pitchFamily="34" charset="0"/>
                          </a:rPr>
                          <m:t>4</m:t>
                        </m:r>
                      </m:den>
                    </m:f>
                  </m:oMath>
                </a14:m>
                <a:r>
                  <a:rPr lang="en-AU" sz="4800">
                    <a:effectLst/>
                    <a:latin typeface="+mj-lt"/>
                    <a:ea typeface="Arial" panose="020B0604020202020204" pitchFamily="34" charset="0"/>
                  </a:rPr>
                  <a:t> is 0.75</a:t>
                </a:r>
                <a:r>
                  <a:rPr lang="en-AU" sz="3200">
                    <a:effectLst/>
                    <a:latin typeface="Arial" panose="020B0604020202020204" pitchFamily="34" charset="0"/>
                    <a:ea typeface="Arial" panose="020B0604020202020204" pitchFamily="34" charset="0"/>
                  </a:rPr>
                  <a:t>.</a:t>
                </a:r>
                <a:endParaRPr lang="en-AU" sz="3200">
                  <a:effectLst/>
                  <a:latin typeface="Arial" panose="020B0604020202020204" pitchFamily="34" charset="0"/>
                  <a:ea typeface="Calibri" panose="020F0502020204030204" pitchFamily="34" charset="0"/>
                </a:endParaRPr>
              </a:p>
            </p:txBody>
          </p:sp>
        </mc:Choice>
        <mc:Fallback xmlns="">
          <p:sp>
            <p:nvSpPr>
              <p:cNvPr id="14" name="TextBox 13">
                <a:extLst>
                  <a:ext uri="{FF2B5EF4-FFF2-40B4-BE49-F238E27FC236}">
                    <a16:creationId xmlns:a16="http://schemas.microsoft.com/office/drawing/2014/main" id="{421FC7E2-EA88-675C-5AA4-14E8756A5619}"/>
                  </a:ext>
                </a:extLst>
              </p:cNvPr>
              <p:cNvSpPr txBox="1">
                <a:spLocks noRot="1" noChangeAspect="1" noMove="1" noResize="1" noEditPoints="1" noAdjustHandles="1" noChangeArrowheads="1" noChangeShapeType="1" noTextEdit="1"/>
              </p:cNvSpPr>
              <p:nvPr/>
            </p:nvSpPr>
            <p:spPr>
              <a:xfrm>
                <a:off x="535671" y="1024539"/>
                <a:ext cx="10853582" cy="1554593"/>
              </a:xfrm>
              <a:prstGeom prst="rect">
                <a:avLst/>
              </a:prstGeom>
              <a:blipFill>
                <a:blip r:embed="rId4"/>
                <a:stretch>
                  <a:fillRect b="-7059"/>
                </a:stretch>
              </a:blipFill>
            </p:spPr>
            <p:txBody>
              <a:bodyPr/>
              <a:lstStyle/>
              <a:p>
                <a:r>
                  <a:rPr lang="en-US">
                    <a:noFill/>
                  </a:rPr>
                  <a:t> </a:t>
                </a:r>
              </a:p>
            </p:txBody>
          </p:sp>
        </mc:Fallback>
      </mc:AlternateContent>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0" y="1184019"/>
            <a:ext cx="10946629" cy="893226"/>
          </a:xfrm>
        </p:spPr>
        <p:txBody>
          <a:bodyPr/>
          <a:lstStyle/>
          <a:p>
            <a:pPr algn="ctr"/>
            <a:r>
              <a:rPr lang="en-AU" sz="4400"/>
              <a:t>These </a:t>
            </a:r>
            <a:r>
              <a:rPr lang="en-AU" sz="4400" b="1"/>
              <a:t>decimal</a:t>
            </a:r>
            <a:r>
              <a:rPr lang="en-AU" sz="4400"/>
              <a:t> cards have been </a:t>
            </a:r>
            <a:r>
              <a:rPr lang="en-AU" sz="4400" b="1"/>
              <a:t>ordered </a:t>
            </a:r>
            <a:r>
              <a:rPr lang="en-AU" sz="4400"/>
              <a:t>from </a:t>
            </a:r>
            <a:r>
              <a:rPr lang="en-AU" sz="4400" b="1"/>
              <a:t>smallest</a:t>
            </a:r>
            <a:r>
              <a:rPr lang="en-AU" sz="4400"/>
              <a:t> to </a:t>
            </a:r>
            <a:r>
              <a:rPr lang="en-AU" sz="4400" b="1"/>
              <a:t>largest.</a:t>
            </a:r>
            <a:endParaRPr lang="en-AU" sz="4400"/>
          </a:p>
        </p:txBody>
      </p:sp>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7" name="TextBox 6">
            <a:extLst>
              <a:ext uri="{FF2B5EF4-FFF2-40B4-BE49-F238E27FC236}">
                <a16:creationId xmlns:a16="http://schemas.microsoft.com/office/drawing/2014/main" id="{7CFAB54F-5ED9-5079-1309-63D6D32BFDB2}"/>
              </a:ext>
            </a:extLst>
          </p:cNvPr>
          <p:cNvSpPr txBox="1"/>
          <p:nvPr/>
        </p:nvSpPr>
        <p:spPr>
          <a:xfrm>
            <a:off x="240984" y="4103419"/>
            <a:ext cx="2592000" cy="1067081"/>
          </a:xfrm>
          <a:prstGeom prst="rect">
            <a:avLst/>
          </a:prstGeom>
          <a:solidFill>
            <a:schemeClr val="accent4"/>
          </a:solidFill>
          <a:ln>
            <a:solidFill>
              <a:srgbClr val="002060"/>
            </a:solidFill>
          </a:ln>
        </p:spPr>
        <p:txBody>
          <a:bodyPr wrap="square" lIns="0" tIns="0" rIns="0" bIns="0" rtlCol="0" anchor="ctr">
            <a:noAutofit/>
          </a:bodyPr>
          <a:lstStyle/>
          <a:p>
            <a:pPr algn="ctr"/>
            <a:r>
              <a:rPr lang="en-AU" sz="6000">
                <a:latin typeface="Arial" panose="020B0604020202020204" pitchFamily="34" charset="0"/>
                <a:cs typeface="Arial" panose="020B0604020202020204" pitchFamily="34" charset="0"/>
              </a:rPr>
              <a:t>0.189</a:t>
            </a:r>
            <a:endParaRPr lang="en-AU" sz="100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44409C7-81CA-C28D-B78A-1F7B2EFCE676}"/>
              </a:ext>
            </a:extLst>
          </p:cNvPr>
          <p:cNvSpPr txBox="1"/>
          <p:nvPr/>
        </p:nvSpPr>
        <p:spPr>
          <a:xfrm>
            <a:off x="3190626" y="4103419"/>
            <a:ext cx="2592000" cy="1067081"/>
          </a:xfrm>
          <a:prstGeom prst="rect">
            <a:avLst/>
          </a:prstGeom>
          <a:solidFill>
            <a:schemeClr val="accent4"/>
          </a:solidFill>
          <a:ln>
            <a:solidFill>
              <a:srgbClr val="002060"/>
            </a:solidFill>
          </a:ln>
        </p:spPr>
        <p:txBody>
          <a:bodyPr wrap="square" lIns="0" tIns="0" rIns="0" bIns="0" rtlCol="0" anchor="ctr">
            <a:noAutofit/>
          </a:bodyPr>
          <a:lstStyle/>
          <a:p>
            <a:pPr algn="ctr"/>
            <a:r>
              <a:rPr lang="en-AU" sz="6000">
                <a:latin typeface="Arial" panose="020B0604020202020204" pitchFamily="34" charset="0"/>
                <a:cs typeface="Arial" panose="020B0604020202020204" pitchFamily="34" charset="0"/>
              </a:rPr>
              <a:t>0.198</a:t>
            </a:r>
          </a:p>
        </p:txBody>
      </p:sp>
      <p:sp>
        <p:nvSpPr>
          <p:cNvPr id="9" name="TextBox 8">
            <a:extLst>
              <a:ext uri="{FF2B5EF4-FFF2-40B4-BE49-F238E27FC236}">
                <a16:creationId xmlns:a16="http://schemas.microsoft.com/office/drawing/2014/main" id="{C2352107-3358-B7B4-C909-24F340E96C69}"/>
              </a:ext>
            </a:extLst>
          </p:cNvPr>
          <p:cNvSpPr txBox="1"/>
          <p:nvPr/>
        </p:nvSpPr>
        <p:spPr>
          <a:xfrm>
            <a:off x="6067813" y="4113809"/>
            <a:ext cx="2592000" cy="1043441"/>
          </a:xfrm>
          <a:prstGeom prst="rect">
            <a:avLst/>
          </a:prstGeom>
          <a:solidFill>
            <a:schemeClr val="accent4"/>
          </a:solidFill>
          <a:ln>
            <a:solidFill>
              <a:srgbClr val="002060"/>
            </a:solidFill>
          </a:ln>
        </p:spPr>
        <p:txBody>
          <a:bodyPr wrap="square" lIns="0" tIns="0" rIns="0" bIns="0" rtlCol="0" anchor="ctr">
            <a:noAutofit/>
          </a:bodyPr>
          <a:lstStyle/>
          <a:p>
            <a:pPr algn="ctr"/>
            <a:r>
              <a:rPr lang="en-AU" sz="6000">
                <a:latin typeface="Arial" panose="020B0604020202020204" pitchFamily="34" charset="0"/>
                <a:cs typeface="Arial" panose="020B0604020202020204" pitchFamily="34" charset="0"/>
              </a:rPr>
              <a:t>1.222</a:t>
            </a:r>
          </a:p>
        </p:txBody>
      </p:sp>
      <p:sp>
        <p:nvSpPr>
          <p:cNvPr id="8" name="TextBox 7">
            <a:extLst>
              <a:ext uri="{FF2B5EF4-FFF2-40B4-BE49-F238E27FC236}">
                <a16:creationId xmlns:a16="http://schemas.microsoft.com/office/drawing/2014/main" id="{0DF049F4-BCD0-0646-CE4C-0EF9F4495741}"/>
              </a:ext>
            </a:extLst>
          </p:cNvPr>
          <p:cNvSpPr txBox="1"/>
          <p:nvPr/>
        </p:nvSpPr>
        <p:spPr>
          <a:xfrm>
            <a:off x="8945000" y="4103419"/>
            <a:ext cx="2592000" cy="1067081"/>
          </a:xfrm>
          <a:prstGeom prst="rect">
            <a:avLst/>
          </a:prstGeom>
          <a:solidFill>
            <a:schemeClr val="accent4"/>
          </a:solidFill>
          <a:ln>
            <a:solidFill>
              <a:srgbClr val="002060"/>
            </a:solidFill>
          </a:ln>
        </p:spPr>
        <p:txBody>
          <a:bodyPr wrap="square" lIns="0" tIns="0" rIns="0" bIns="0" rtlCol="0" anchor="ctr">
            <a:noAutofit/>
          </a:bodyPr>
          <a:lstStyle/>
          <a:p>
            <a:pPr algn="ctr"/>
            <a:r>
              <a:rPr lang="en-AU" sz="6000">
                <a:latin typeface="Arial" panose="020B0604020202020204" pitchFamily="34" charset="0"/>
                <a:cs typeface="Arial" panose="020B0604020202020204" pitchFamily="34" charset="0"/>
              </a:rPr>
              <a:t>0.033</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4275676623"/>
              </p:ext>
            </p:extLst>
          </p:nvPr>
        </p:nvGraphicFramePr>
        <p:xfrm>
          <a:off x="2294776" y="5673981"/>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934C9A7-4A75-1622-E54E-F0FEC5389ECD}"/>
              </a:ext>
            </a:extLst>
          </p:cNvPr>
          <p:cNvSpPr txBox="1"/>
          <p:nvPr/>
        </p:nvSpPr>
        <p:spPr>
          <a:xfrm>
            <a:off x="1070517" y="1450874"/>
            <a:ext cx="9871486" cy="1143644"/>
          </a:xfrm>
          <a:prstGeom prst="rect">
            <a:avLst/>
          </a:prstGeom>
          <a:noFill/>
        </p:spPr>
        <p:txBody>
          <a:bodyPr wrap="square" lIns="0" tIns="0" rIns="0" bIns="0" rtlCol="0">
            <a:noAutofit/>
          </a:bodyPr>
          <a:lstStyle/>
          <a:p>
            <a:pPr algn="ctr">
              <a:lnSpc>
                <a:spcPct val="150000"/>
              </a:lnSpc>
            </a:pPr>
            <a:r>
              <a:rPr lang="en-AU" sz="4400" b="1"/>
              <a:t>Sketch </a:t>
            </a:r>
            <a:r>
              <a:rPr lang="en-AU" sz="4400"/>
              <a:t>the </a:t>
            </a:r>
            <a:r>
              <a:rPr lang="en-AU" sz="4400" b="1"/>
              <a:t>net</a:t>
            </a:r>
            <a:r>
              <a:rPr lang="en-AU" sz="4400"/>
              <a:t> of the square pyramid.</a:t>
            </a:r>
          </a:p>
        </p:txBody>
      </p:sp>
      <p:pic>
        <p:nvPicPr>
          <p:cNvPr id="8" name="Picture 7" descr="square pyramid">
            <a:extLst>
              <a:ext uri="{FF2B5EF4-FFF2-40B4-BE49-F238E27FC236}">
                <a16:creationId xmlns:a16="http://schemas.microsoft.com/office/drawing/2014/main" id="{73832790-3143-E405-82E2-029F422A4D9E}"/>
              </a:ext>
            </a:extLst>
          </p:cNvPr>
          <p:cNvPicPr>
            <a:picLocks noChangeAspect="1"/>
          </p:cNvPicPr>
          <p:nvPr/>
        </p:nvPicPr>
        <p:blipFill>
          <a:blip r:embed="rId4"/>
          <a:stretch>
            <a:fillRect/>
          </a:stretch>
        </p:blipFill>
        <p:spPr>
          <a:xfrm>
            <a:off x="4280529" y="2594518"/>
            <a:ext cx="3848390" cy="3735965"/>
          </a:xfrm>
          <a:prstGeom prst="rect">
            <a:avLst/>
          </a:prstGeom>
          <a:ln>
            <a:noFill/>
          </a:ln>
          <a:effectLst/>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250B2EE-3890-A2F3-E9B8-8B32EF577B41}"/>
              </a:ext>
            </a:extLst>
          </p:cNvPr>
          <p:cNvSpPr txBox="1"/>
          <p:nvPr/>
        </p:nvSpPr>
        <p:spPr>
          <a:xfrm>
            <a:off x="246024" y="905601"/>
            <a:ext cx="6819369" cy="5875647"/>
          </a:xfrm>
          <a:prstGeom prst="rect">
            <a:avLst/>
          </a:prstGeom>
          <a:noFill/>
        </p:spPr>
        <p:txBody>
          <a:bodyPr wrap="square" lIns="91440" tIns="45720" rIns="91440" bIns="45720" anchor="t">
            <a:spAutoFit/>
          </a:bodyPr>
          <a:lstStyle/>
          <a:p>
            <a:pPr>
              <a:lnSpc>
                <a:spcPct val="150000"/>
              </a:lnSpc>
              <a:spcBef>
                <a:spcPts val="1200"/>
              </a:spcBef>
              <a:spcAft>
                <a:spcPts val="600"/>
              </a:spcAft>
            </a:pPr>
            <a:r>
              <a:rPr lang="en-AU" sz="2800" b="1">
                <a:latin typeface="Arial"/>
                <a:ea typeface="Calibri"/>
                <a:cs typeface="Arial"/>
              </a:rPr>
              <a:t>Record</a:t>
            </a:r>
            <a:r>
              <a:rPr lang="en-AU" sz="2800">
                <a:latin typeface="Arial"/>
                <a:ea typeface="Calibri"/>
                <a:cs typeface="Arial"/>
              </a:rPr>
              <a:t> the following </a:t>
            </a:r>
            <a:r>
              <a:rPr lang="en-AU" sz="2800" b="1">
                <a:latin typeface="Arial"/>
                <a:ea typeface="Calibri"/>
                <a:cs typeface="Arial"/>
              </a:rPr>
              <a:t>coordinates of the point:</a:t>
            </a:r>
            <a:endParaRPr lang="en-AU" b="1">
              <a:latin typeface="Arial"/>
              <a:ea typeface="Calibri"/>
              <a:cs typeface="Arial"/>
            </a:endParaRPr>
          </a:p>
          <a:p>
            <a:pPr marL="457200" indent="-457200">
              <a:lnSpc>
                <a:spcPct val="150000"/>
              </a:lnSpc>
              <a:spcBef>
                <a:spcPts val="1200"/>
              </a:spcBef>
              <a:spcAft>
                <a:spcPts val="600"/>
              </a:spcAft>
              <a:buFont typeface="Arial"/>
              <a:buChar char="•"/>
            </a:pPr>
            <a:r>
              <a:rPr lang="en-AU" sz="2800">
                <a:latin typeface="Arial"/>
                <a:ea typeface="Calibri"/>
                <a:cs typeface="Arial"/>
              </a:rPr>
              <a:t>marked in the first quadrant.</a:t>
            </a:r>
          </a:p>
          <a:p>
            <a:pPr marL="457200" indent="-457200">
              <a:lnSpc>
                <a:spcPct val="150000"/>
              </a:lnSpc>
              <a:spcBef>
                <a:spcPts val="1200"/>
              </a:spcBef>
              <a:spcAft>
                <a:spcPts val="600"/>
              </a:spcAft>
              <a:buFont typeface="Arial" panose="020B0604020202020204" pitchFamily="34" charset="0"/>
              <a:buChar char="•"/>
            </a:pPr>
            <a:r>
              <a:rPr lang="en-AU" sz="2800">
                <a:latin typeface="Arial"/>
                <a:ea typeface="Calibri"/>
                <a:cs typeface="Arial"/>
              </a:rPr>
              <a:t>if it was </a:t>
            </a:r>
            <a:r>
              <a:rPr lang="en-AU" sz="2800" b="1">
                <a:latin typeface="Arial"/>
                <a:ea typeface="Calibri"/>
                <a:cs typeface="Arial"/>
              </a:rPr>
              <a:t>reflected</a:t>
            </a:r>
            <a:r>
              <a:rPr lang="en-AU" sz="2800">
                <a:latin typeface="Arial"/>
                <a:ea typeface="Calibri"/>
                <a:cs typeface="Arial"/>
              </a:rPr>
              <a:t> across the</a:t>
            </a:r>
            <a:r>
              <a:rPr lang="en-AU" sz="2800" b="1">
                <a:latin typeface="Arial"/>
                <a:ea typeface="Calibri"/>
                <a:cs typeface="Arial"/>
              </a:rPr>
              <a:t> y-axis  </a:t>
            </a:r>
            <a:r>
              <a:rPr lang="en-AU" sz="2800">
                <a:latin typeface="Arial"/>
                <a:ea typeface="Calibri"/>
                <a:cs typeface="Arial"/>
              </a:rPr>
              <a:t>to </a:t>
            </a:r>
            <a:r>
              <a:rPr lang="en-AU" sz="2800">
                <a:effectLst/>
                <a:latin typeface="Arial"/>
                <a:ea typeface="Calibri"/>
                <a:cs typeface="Arial"/>
              </a:rPr>
              <a:t>create a </a:t>
            </a:r>
            <a:r>
              <a:rPr lang="en-AU" sz="2800" b="1">
                <a:effectLst/>
                <a:latin typeface="Arial"/>
                <a:ea typeface="Calibri"/>
                <a:cs typeface="Arial"/>
              </a:rPr>
              <a:t>mirror</a:t>
            </a:r>
            <a:r>
              <a:rPr lang="en-AU" sz="2800">
                <a:effectLst/>
                <a:latin typeface="Arial"/>
                <a:ea typeface="Calibri"/>
                <a:cs typeface="Arial"/>
              </a:rPr>
              <a:t> image in the </a:t>
            </a:r>
            <a:r>
              <a:rPr lang="en-AU" sz="2800" b="1">
                <a:effectLst/>
                <a:latin typeface="Arial"/>
                <a:ea typeface="Calibri"/>
                <a:cs typeface="Arial"/>
              </a:rPr>
              <a:t>second</a:t>
            </a:r>
            <a:r>
              <a:rPr lang="en-AU" sz="2800">
                <a:effectLst/>
                <a:latin typeface="Arial"/>
                <a:ea typeface="Calibri"/>
                <a:cs typeface="Arial"/>
              </a:rPr>
              <a:t> quadrant. </a:t>
            </a:r>
            <a:endParaRPr lang="en-AU">
              <a:cs typeface="Arial"/>
            </a:endParaRPr>
          </a:p>
          <a:p>
            <a:pPr marL="457200" indent="-457200">
              <a:lnSpc>
                <a:spcPct val="150000"/>
              </a:lnSpc>
              <a:spcBef>
                <a:spcPts val="1200"/>
              </a:spcBef>
              <a:spcAft>
                <a:spcPts val="600"/>
              </a:spcAft>
              <a:buFont typeface="Arial" panose="020B0604020202020204" pitchFamily="34" charset="0"/>
              <a:buChar char="•"/>
            </a:pPr>
            <a:r>
              <a:rPr lang="en-AU" sz="2800">
                <a:latin typeface="Arial"/>
                <a:ea typeface="Calibri"/>
                <a:cs typeface="Arial"/>
              </a:rPr>
              <a:t>if it was </a:t>
            </a:r>
            <a:r>
              <a:rPr lang="en-AU" sz="2800" b="1">
                <a:latin typeface="Arial"/>
                <a:ea typeface="Calibri"/>
                <a:cs typeface="Arial"/>
              </a:rPr>
              <a:t>reflected</a:t>
            </a:r>
            <a:r>
              <a:rPr lang="en-AU" sz="2800">
                <a:effectLst/>
                <a:latin typeface="Arial"/>
                <a:ea typeface="Calibri"/>
                <a:cs typeface="Arial"/>
              </a:rPr>
              <a:t> </a:t>
            </a:r>
            <a:r>
              <a:rPr lang="en-AU" sz="2800">
                <a:latin typeface="Arial"/>
                <a:ea typeface="Calibri"/>
                <a:cs typeface="Arial"/>
              </a:rPr>
              <a:t>across the </a:t>
            </a:r>
            <a:r>
              <a:rPr lang="en-AU" sz="2800" b="1">
                <a:latin typeface="Arial"/>
                <a:ea typeface="Calibri"/>
                <a:cs typeface="Arial"/>
              </a:rPr>
              <a:t>x-axis </a:t>
            </a:r>
            <a:r>
              <a:rPr lang="en-AU" sz="2800">
                <a:effectLst/>
                <a:latin typeface="Arial"/>
                <a:ea typeface="Calibri"/>
                <a:cs typeface="Arial"/>
              </a:rPr>
              <a:t>into the </a:t>
            </a:r>
            <a:r>
              <a:rPr lang="en-AU" sz="2800" b="1">
                <a:effectLst/>
                <a:latin typeface="Arial"/>
                <a:ea typeface="Calibri"/>
                <a:cs typeface="Arial"/>
              </a:rPr>
              <a:t>fourth</a:t>
            </a:r>
            <a:r>
              <a:rPr lang="en-AU" sz="2800">
                <a:effectLst/>
                <a:latin typeface="Arial"/>
                <a:ea typeface="Calibri"/>
                <a:cs typeface="Arial"/>
              </a:rPr>
              <a:t> qua</a:t>
            </a:r>
            <a:r>
              <a:rPr lang="en-AU" sz="2800">
                <a:latin typeface="Arial"/>
                <a:ea typeface="Calibri"/>
                <a:cs typeface="Arial"/>
              </a:rPr>
              <a:t>drant.</a:t>
            </a:r>
            <a:endParaRPr lang="en-AU" sz="2800">
              <a:effectLst/>
              <a:latin typeface="Arial"/>
              <a:ea typeface="Calibri"/>
              <a:cs typeface="Arial"/>
            </a:endParaRPr>
          </a:p>
        </p:txBody>
      </p:sp>
      <p:pic>
        <p:nvPicPr>
          <p:cNvPr id="8" name="Picture 7" descr="A Cartesian plane showing all 4 quadrants labelled from the origin to -6 and 6.&#10;&#10;Point is plotted at 2 on the x-axis and 5 on the y-axis">
            <a:extLst>
              <a:ext uri="{FF2B5EF4-FFF2-40B4-BE49-F238E27FC236}">
                <a16:creationId xmlns:a16="http://schemas.microsoft.com/office/drawing/2014/main" id="{F355B770-DBCF-8930-2A74-836AF3DE09D0}"/>
              </a:ext>
            </a:extLst>
          </p:cNvPr>
          <p:cNvPicPr>
            <a:picLocks noChangeAspect="1"/>
          </p:cNvPicPr>
          <p:nvPr/>
        </p:nvPicPr>
        <p:blipFill rotWithShape="1">
          <a:blip r:embed="rId4"/>
          <a:srcRect l="4853" t="-1" r="2797" b="3310"/>
          <a:stretch>
            <a:fillRect/>
          </a:stretch>
        </p:blipFill>
        <p:spPr bwMode="auto">
          <a:xfrm>
            <a:off x="7208150" y="1375058"/>
            <a:ext cx="4635850" cy="4620971"/>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
        <p:nvSpPr>
          <p:cNvPr id="13" name="Oval 12" descr="A Cartesian plane showing all 4 quadrants labelled from the origin to -6 and 6.&#10;&#10;Point is plotted at (2, 5).">
            <a:extLst>
              <a:ext uri="{FF2B5EF4-FFF2-40B4-BE49-F238E27FC236}">
                <a16:creationId xmlns:a16="http://schemas.microsoft.com/office/drawing/2014/main" id="{D4E1329E-360F-D0D7-C511-EE95557136D3}"/>
              </a:ext>
            </a:extLst>
          </p:cNvPr>
          <p:cNvSpPr/>
          <p:nvPr/>
        </p:nvSpPr>
        <p:spPr>
          <a:xfrm>
            <a:off x="10038985" y="1861507"/>
            <a:ext cx="250078" cy="240337"/>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5" name="TextBox 4">
            <a:extLst>
              <a:ext uri="{FF2B5EF4-FFF2-40B4-BE49-F238E27FC236}">
                <a16:creationId xmlns:a16="http://schemas.microsoft.com/office/drawing/2014/main" id="{2B8D0E98-4DB6-E645-B5F7-83C906290C7C}"/>
              </a:ext>
            </a:extLst>
          </p:cNvPr>
          <p:cNvSpPr txBox="1"/>
          <p:nvPr/>
        </p:nvSpPr>
        <p:spPr>
          <a:xfrm>
            <a:off x="2181922" y="1968969"/>
            <a:ext cx="7828156" cy="2451120"/>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cs typeface="Times New Roman" panose="02020603050405020304" pitchFamily="18" charset="0"/>
              </a:rPr>
              <a:t>Use an </a:t>
            </a:r>
            <a:r>
              <a:rPr lang="en-AU" sz="4400" b="1">
                <a:effectLst/>
                <a:latin typeface="Arial" panose="020B0604020202020204" pitchFamily="34" charset="0"/>
                <a:ea typeface="Calibri" panose="020F0502020204030204" pitchFamily="34" charset="0"/>
                <a:cs typeface="Times New Roman" panose="02020603050405020304" pitchFamily="18" charset="0"/>
              </a:rPr>
              <a:t>area model </a:t>
            </a:r>
            <a:r>
              <a:rPr lang="en-AU" sz="4400">
                <a:effectLst/>
                <a:latin typeface="Arial" panose="020B0604020202020204" pitchFamily="34" charset="0"/>
                <a:ea typeface="Calibri" panose="020F0502020204030204" pitchFamily="34" charset="0"/>
                <a:cs typeface="Times New Roman" panose="02020603050405020304" pitchFamily="18" charset="0"/>
              </a:rPr>
              <a:t>to solve:</a:t>
            </a:r>
          </a:p>
          <a:p>
            <a:pPr lvl="0" algn="ctr">
              <a:lnSpc>
                <a:spcPct val="150000"/>
              </a:lnSpc>
              <a:spcBef>
                <a:spcPts val="1200"/>
              </a:spcBef>
              <a:spcAft>
                <a:spcPts val="600"/>
              </a:spcAft>
            </a:pPr>
            <a:r>
              <a:rPr lang="en-AU" sz="5400">
                <a:effectLst/>
                <a:latin typeface="Arial" panose="020B0604020202020204" pitchFamily="34" charset="0"/>
                <a:ea typeface="Calibri" panose="020F0502020204030204" pitchFamily="34" charset="0"/>
                <a:cs typeface="Times New Roman" panose="02020603050405020304" pitchFamily="18" charset="0"/>
              </a:rPr>
              <a:t> </a:t>
            </a:r>
            <a:r>
              <a:rPr lang="en-AU" sz="5400" b="1">
                <a:solidFill>
                  <a:schemeClr val="accent2"/>
                </a:solidFill>
                <a:latin typeface="Arial" panose="020B0604020202020204" pitchFamily="34" charset="0"/>
                <a:ea typeface="Calibri" panose="020F0502020204030204" pitchFamily="34" charset="0"/>
                <a:cs typeface="Times New Roman" panose="02020603050405020304" pitchFamily="18" charset="0"/>
              </a:rPr>
              <a:t>56</a:t>
            </a:r>
            <a:r>
              <a:rPr lang="en-AU" sz="5400" b="1">
                <a:solidFill>
                  <a:schemeClr val="accent2"/>
                </a:solidFill>
                <a:effectLst/>
                <a:latin typeface="Arial" panose="020B0604020202020204" pitchFamily="34" charset="0"/>
                <a:ea typeface="Calibri" panose="020F0502020204030204" pitchFamily="34" charset="0"/>
                <a:cs typeface="Times New Roman" panose="02020603050405020304" pitchFamily="18" charset="0"/>
              </a:rPr>
              <a:t> × </a:t>
            </a:r>
            <a:r>
              <a:rPr lang="en-AU" sz="5400" b="1">
                <a:solidFill>
                  <a:schemeClr val="accent2"/>
                </a:solidFill>
                <a:latin typeface="Arial" panose="020B0604020202020204" pitchFamily="34" charset="0"/>
                <a:ea typeface="Calibri" panose="020F0502020204030204" pitchFamily="34" charset="0"/>
                <a:cs typeface="Times New Roman" panose="02020603050405020304" pitchFamily="18" charset="0"/>
              </a:rPr>
              <a:t>8</a:t>
            </a:r>
            <a:r>
              <a:rPr lang="en-AU" sz="5400" b="1">
                <a:solidFill>
                  <a:schemeClr val="accent2"/>
                </a:solidFill>
                <a:effectLst/>
                <a:latin typeface="Arial" panose="020B060402020202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59721736-41BD-B2E5-B432-9BECF34B066E}"/>
              </a:ext>
            </a:extLst>
          </p:cNvPr>
          <p:cNvSpPr txBox="1"/>
          <p:nvPr/>
        </p:nvSpPr>
        <p:spPr>
          <a:xfrm>
            <a:off x="1426330" y="977216"/>
            <a:ext cx="10270672" cy="584775"/>
          </a:xfrm>
          <a:prstGeom prst="rect">
            <a:avLst/>
          </a:prstGeom>
          <a:noFill/>
        </p:spPr>
        <p:txBody>
          <a:bodyPr wrap="square">
            <a:spAutoFit/>
          </a:bodyPr>
          <a:lstStyle/>
          <a:p>
            <a:pPr>
              <a:buNone/>
            </a:pPr>
            <a:r>
              <a:rPr lang="en-AU" sz="3200"/>
              <a:t>Use</a:t>
            </a:r>
            <a:r>
              <a:rPr lang="en-AU" sz="3200" b="1"/>
              <a:t> decimal notation </a:t>
            </a:r>
            <a:r>
              <a:rPr lang="en-AU" sz="3200"/>
              <a:t>to</a:t>
            </a:r>
            <a:r>
              <a:rPr lang="en-AU" sz="3200" b="1"/>
              <a:t> record </a:t>
            </a:r>
            <a:r>
              <a:rPr lang="en-AU" sz="3200"/>
              <a:t>the lengths in:</a:t>
            </a:r>
          </a:p>
        </p:txBody>
      </p:sp>
      <p:sp>
        <p:nvSpPr>
          <p:cNvPr id="7" name="TextBox 6">
            <a:extLst>
              <a:ext uri="{FF2B5EF4-FFF2-40B4-BE49-F238E27FC236}">
                <a16:creationId xmlns:a16="http://schemas.microsoft.com/office/drawing/2014/main" id="{52E7D24D-B3C3-61A1-4622-6127188B9040}"/>
              </a:ext>
            </a:extLst>
          </p:cNvPr>
          <p:cNvSpPr txBox="1"/>
          <p:nvPr/>
        </p:nvSpPr>
        <p:spPr>
          <a:xfrm>
            <a:off x="710569" y="2898286"/>
            <a:ext cx="3690957" cy="954107"/>
          </a:xfrm>
          <a:prstGeom prst="rect">
            <a:avLst/>
          </a:prstGeom>
          <a:noFill/>
        </p:spPr>
        <p:txBody>
          <a:bodyPr wrap="square">
            <a:spAutoFit/>
          </a:bodyPr>
          <a:lstStyle/>
          <a:p>
            <a:pPr marL="514350" indent="-514350">
              <a:buAutoNum type="alphaLcParenR"/>
            </a:pPr>
            <a:r>
              <a:rPr lang="en-AU" sz="2800" b="1"/>
              <a:t>metres   </a:t>
            </a:r>
          </a:p>
          <a:p>
            <a:endParaRPr lang="en-AU" sz="2800" b="1"/>
          </a:p>
        </p:txBody>
      </p:sp>
      <p:grpSp>
        <p:nvGrpSpPr>
          <p:cNvPr id="8" name="Group 7" descr="tree - 375cm">
            <a:extLst>
              <a:ext uri="{FF2B5EF4-FFF2-40B4-BE49-F238E27FC236}">
                <a16:creationId xmlns:a16="http://schemas.microsoft.com/office/drawing/2014/main" id="{7ECB87A9-80FC-FF72-8279-7ADEDBFE9ACD}"/>
              </a:ext>
            </a:extLst>
          </p:cNvPr>
          <p:cNvGrpSpPr/>
          <p:nvPr/>
        </p:nvGrpSpPr>
        <p:grpSpPr>
          <a:xfrm>
            <a:off x="2984146" y="1633606"/>
            <a:ext cx="1688798" cy="2461684"/>
            <a:chOff x="2984146" y="1633606"/>
            <a:chExt cx="1688798" cy="2461684"/>
          </a:xfrm>
        </p:grpSpPr>
        <p:pic>
          <p:nvPicPr>
            <p:cNvPr id="5" name="Picture 4" descr="tree -- 375cm&#10;&#10;">
              <a:extLst>
                <a:ext uri="{FF2B5EF4-FFF2-40B4-BE49-F238E27FC236}">
                  <a16:creationId xmlns:a16="http://schemas.microsoft.com/office/drawing/2014/main" id="{F1D506BB-EDBF-EA2E-D36E-3C7E63C091A4}"/>
                </a:ext>
              </a:extLst>
            </p:cNvPr>
            <p:cNvPicPr>
              <a:picLocks noChangeAspect="1"/>
            </p:cNvPicPr>
            <p:nvPr/>
          </p:nvPicPr>
          <p:blipFill>
            <a:blip r:embed="rId4"/>
            <a:stretch>
              <a:fillRect/>
            </a:stretch>
          </p:blipFill>
          <p:spPr>
            <a:xfrm>
              <a:off x="2984146" y="1633606"/>
              <a:ext cx="1688798" cy="2069117"/>
            </a:xfrm>
            <a:prstGeom prst="rect">
              <a:avLst/>
            </a:prstGeom>
          </p:spPr>
        </p:pic>
        <p:sp>
          <p:nvSpPr>
            <p:cNvPr id="11" name="TextBox 10">
              <a:extLst>
                <a:ext uri="{FF2B5EF4-FFF2-40B4-BE49-F238E27FC236}">
                  <a16:creationId xmlns:a16="http://schemas.microsoft.com/office/drawing/2014/main" id="{7BA1B6D8-2A22-3644-F8EE-3A061460BC7E}"/>
                </a:ext>
                <a:ext uri="{C183D7F6-B498-43B3-948B-1728B52AA6E4}">
                  <adec:decorative xmlns:adec="http://schemas.microsoft.com/office/drawing/2017/decorative" val="1"/>
                </a:ext>
              </a:extLst>
            </p:cNvPr>
            <p:cNvSpPr txBox="1"/>
            <p:nvPr/>
          </p:nvSpPr>
          <p:spPr>
            <a:xfrm>
              <a:off x="3235274" y="3695180"/>
              <a:ext cx="1186542" cy="400110"/>
            </a:xfrm>
            <a:prstGeom prst="rect">
              <a:avLst/>
            </a:prstGeom>
            <a:noFill/>
          </p:spPr>
          <p:txBody>
            <a:bodyPr wrap="square">
              <a:spAutoFit/>
            </a:bodyPr>
            <a:lstStyle/>
            <a:p>
              <a:pPr>
                <a:buNone/>
              </a:pPr>
              <a:r>
                <a:rPr lang="en-AU" sz="2000"/>
                <a:t>375 cm</a:t>
              </a:r>
              <a:endParaRPr lang="en-AU" sz="2000" b="1"/>
            </a:p>
          </p:txBody>
        </p:sp>
      </p:grpSp>
      <p:sp>
        <p:nvSpPr>
          <p:cNvPr id="4" name="TextBox 3">
            <a:extLst>
              <a:ext uri="{FF2B5EF4-FFF2-40B4-BE49-F238E27FC236}">
                <a16:creationId xmlns:a16="http://schemas.microsoft.com/office/drawing/2014/main" id="{66C44C38-272C-D067-C9B4-84127370BBA8}"/>
              </a:ext>
            </a:extLst>
          </p:cNvPr>
          <p:cNvSpPr txBox="1"/>
          <p:nvPr/>
        </p:nvSpPr>
        <p:spPr>
          <a:xfrm>
            <a:off x="730859" y="5482903"/>
            <a:ext cx="3690957" cy="954107"/>
          </a:xfrm>
          <a:prstGeom prst="rect">
            <a:avLst/>
          </a:prstGeom>
          <a:noFill/>
        </p:spPr>
        <p:txBody>
          <a:bodyPr wrap="square">
            <a:spAutoFit/>
          </a:bodyPr>
          <a:lstStyle/>
          <a:p>
            <a:r>
              <a:rPr lang="en-AU" sz="2800" b="1"/>
              <a:t>b) metres    </a:t>
            </a:r>
          </a:p>
          <a:p>
            <a:endParaRPr lang="en-AU" sz="2800" b="1"/>
          </a:p>
        </p:txBody>
      </p:sp>
      <p:grpSp>
        <p:nvGrpSpPr>
          <p:cNvPr id="9" name="Group 8" descr="rope - 245cm">
            <a:extLst>
              <a:ext uri="{FF2B5EF4-FFF2-40B4-BE49-F238E27FC236}">
                <a16:creationId xmlns:a16="http://schemas.microsoft.com/office/drawing/2014/main" id="{60115530-DA28-9D34-8795-F36A5AE91854}"/>
              </a:ext>
            </a:extLst>
          </p:cNvPr>
          <p:cNvGrpSpPr/>
          <p:nvPr/>
        </p:nvGrpSpPr>
        <p:grpSpPr>
          <a:xfrm>
            <a:off x="2902265" y="4713522"/>
            <a:ext cx="1523572" cy="2002533"/>
            <a:chOff x="2902265" y="4713522"/>
            <a:chExt cx="1523572" cy="2002533"/>
          </a:xfrm>
        </p:grpSpPr>
        <p:pic>
          <p:nvPicPr>
            <p:cNvPr id="15" name="Picture 14" descr="rope - 245cm">
              <a:extLst>
                <a:ext uri="{FF2B5EF4-FFF2-40B4-BE49-F238E27FC236}">
                  <a16:creationId xmlns:a16="http://schemas.microsoft.com/office/drawing/2014/main" id="{2EBF91A2-A3DD-0B94-B571-F76C7772C722}"/>
                </a:ext>
              </a:extLst>
            </p:cNvPr>
            <p:cNvPicPr>
              <a:picLocks noChangeAspect="1"/>
            </p:cNvPicPr>
            <p:nvPr/>
          </p:nvPicPr>
          <p:blipFill>
            <a:blip r:embed="rId5"/>
            <a:stretch>
              <a:fillRect/>
            </a:stretch>
          </p:blipFill>
          <p:spPr>
            <a:xfrm>
              <a:off x="2902265" y="4713522"/>
              <a:ext cx="1321331" cy="1784478"/>
            </a:xfrm>
            <a:prstGeom prst="rect">
              <a:avLst/>
            </a:prstGeom>
          </p:spPr>
        </p:pic>
        <p:sp>
          <p:nvSpPr>
            <p:cNvPr id="12" name="TextBox 11">
              <a:extLst>
                <a:ext uri="{FF2B5EF4-FFF2-40B4-BE49-F238E27FC236}">
                  <a16:creationId xmlns:a16="http://schemas.microsoft.com/office/drawing/2014/main" id="{F149D484-EBAD-ED63-B372-418870A6D804}"/>
                </a:ext>
              </a:extLst>
            </p:cNvPr>
            <p:cNvSpPr txBox="1"/>
            <p:nvPr/>
          </p:nvSpPr>
          <p:spPr>
            <a:xfrm>
              <a:off x="3239295" y="6315945"/>
              <a:ext cx="1186542" cy="400110"/>
            </a:xfrm>
            <a:prstGeom prst="rect">
              <a:avLst/>
            </a:prstGeom>
            <a:noFill/>
          </p:spPr>
          <p:txBody>
            <a:bodyPr wrap="square">
              <a:spAutoFit/>
            </a:bodyPr>
            <a:lstStyle/>
            <a:p>
              <a:pPr>
                <a:buNone/>
              </a:pPr>
              <a:r>
                <a:rPr lang="en-AU" sz="2000"/>
                <a:t>245 cm</a:t>
              </a:r>
              <a:endParaRPr lang="en-AU" sz="2000" b="1"/>
            </a:p>
          </p:txBody>
        </p:sp>
      </p:grpSp>
      <p:sp>
        <p:nvSpPr>
          <p:cNvPr id="18" name="TextBox 17">
            <a:extLst>
              <a:ext uri="{FF2B5EF4-FFF2-40B4-BE49-F238E27FC236}">
                <a16:creationId xmlns:a16="http://schemas.microsoft.com/office/drawing/2014/main" id="{C577EB48-9BEE-4D76-0982-639FA2ED90AA}"/>
              </a:ext>
            </a:extLst>
          </p:cNvPr>
          <p:cNvSpPr txBox="1"/>
          <p:nvPr/>
        </p:nvSpPr>
        <p:spPr>
          <a:xfrm>
            <a:off x="6217818" y="2930208"/>
            <a:ext cx="3498209" cy="3029749"/>
          </a:xfrm>
          <a:prstGeom prst="rect">
            <a:avLst/>
          </a:prstGeom>
          <a:noFill/>
        </p:spPr>
        <p:txBody>
          <a:bodyPr wrap="square" lIns="0" tIns="0" rIns="0" bIns="0" rtlCol="0">
            <a:noAutofit/>
          </a:bodyPr>
          <a:lstStyle/>
          <a:p>
            <a:pPr algn="l"/>
            <a:r>
              <a:rPr lang="en-AU" sz="2800" b="1"/>
              <a:t>c) centimetres</a:t>
            </a:r>
          </a:p>
        </p:txBody>
      </p:sp>
      <p:grpSp>
        <p:nvGrpSpPr>
          <p:cNvPr id="17" name="Group 16" descr="pencil - 168mm">
            <a:extLst>
              <a:ext uri="{FF2B5EF4-FFF2-40B4-BE49-F238E27FC236}">
                <a16:creationId xmlns:a16="http://schemas.microsoft.com/office/drawing/2014/main" id="{9210F9D6-5477-AAD8-32F5-69C0F632C075}"/>
              </a:ext>
            </a:extLst>
          </p:cNvPr>
          <p:cNvGrpSpPr/>
          <p:nvPr/>
        </p:nvGrpSpPr>
        <p:grpSpPr>
          <a:xfrm>
            <a:off x="8733215" y="1871668"/>
            <a:ext cx="1693274" cy="1795776"/>
            <a:chOff x="8733215" y="1871668"/>
            <a:chExt cx="1693274" cy="1795776"/>
          </a:xfrm>
        </p:grpSpPr>
        <p:sp>
          <p:nvSpPr>
            <p:cNvPr id="13" name="TextBox 12">
              <a:extLst>
                <a:ext uri="{FF2B5EF4-FFF2-40B4-BE49-F238E27FC236}">
                  <a16:creationId xmlns:a16="http://schemas.microsoft.com/office/drawing/2014/main" id="{AA7EADBA-C412-08BA-165E-BE2037DB79DA}"/>
                </a:ext>
              </a:extLst>
            </p:cNvPr>
            <p:cNvSpPr txBox="1"/>
            <p:nvPr/>
          </p:nvSpPr>
          <p:spPr>
            <a:xfrm>
              <a:off x="9112040" y="3267334"/>
              <a:ext cx="1314449" cy="400110"/>
            </a:xfrm>
            <a:prstGeom prst="rect">
              <a:avLst/>
            </a:prstGeom>
            <a:noFill/>
          </p:spPr>
          <p:txBody>
            <a:bodyPr wrap="square">
              <a:spAutoFit/>
            </a:bodyPr>
            <a:lstStyle/>
            <a:p>
              <a:pPr>
                <a:buNone/>
              </a:pPr>
              <a:r>
                <a:rPr lang="en-AU" sz="2000"/>
                <a:t>168 mm</a:t>
              </a:r>
              <a:endParaRPr lang="en-AU" sz="2000" b="1"/>
            </a:p>
          </p:txBody>
        </p:sp>
        <p:pic>
          <p:nvPicPr>
            <p:cNvPr id="20" name="Picture 19" descr="pencil - 168 mm">
              <a:extLst>
                <a:ext uri="{FF2B5EF4-FFF2-40B4-BE49-F238E27FC236}">
                  <a16:creationId xmlns:a16="http://schemas.microsoft.com/office/drawing/2014/main" id="{7B6C02CD-62C9-C6BA-D13F-57F58A93F909}"/>
                </a:ext>
              </a:extLst>
            </p:cNvPr>
            <p:cNvPicPr>
              <a:picLocks noChangeAspect="1"/>
            </p:cNvPicPr>
            <p:nvPr/>
          </p:nvPicPr>
          <p:blipFill>
            <a:blip r:embed="rId6"/>
            <a:stretch>
              <a:fillRect/>
            </a:stretch>
          </p:blipFill>
          <p:spPr>
            <a:xfrm>
              <a:off x="8733215" y="1871668"/>
              <a:ext cx="1410910" cy="1410910"/>
            </a:xfrm>
            <a:prstGeom prst="rect">
              <a:avLst/>
            </a:prstGeom>
          </p:spPr>
        </p:pic>
      </p:grpSp>
      <p:sp>
        <p:nvSpPr>
          <p:cNvPr id="16" name="TextBox 15">
            <a:extLst>
              <a:ext uri="{FF2B5EF4-FFF2-40B4-BE49-F238E27FC236}">
                <a16:creationId xmlns:a16="http://schemas.microsoft.com/office/drawing/2014/main" id="{2133A701-73BB-3661-64D9-C57D91DE963B}"/>
              </a:ext>
            </a:extLst>
          </p:cNvPr>
          <p:cNvSpPr txBox="1"/>
          <p:nvPr/>
        </p:nvSpPr>
        <p:spPr>
          <a:xfrm>
            <a:off x="6096000" y="5569992"/>
            <a:ext cx="3498209" cy="3029749"/>
          </a:xfrm>
          <a:prstGeom prst="rect">
            <a:avLst/>
          </a:prstGeom>
          <a:noFill/>
        </p:spPr>
        <p:txBody>
          <a:bodyPr wrap="square" lIns="0" tIns="0" rIns="0" bIns="0" rtlCol="0">
            <a:noAutofit/>
          </a:bodyPr>
          <a:lstStyle/>
          <a:p>
            <a:pPr algn="l"/>
            <a:r>
              <a:rPr lang="en-AU" sz="2800" b="1"/>
              <a:t>d) kilometres</a:t>
            </a:r>
          </a:p>
        </p:txBody>
      </p:sp>
      <p:grpSp>
        <p:nvGrpSpPr>
          <p:cNvPr id="19" name="Group 18" descr="two towns joined by a path - 12 600m">
            <a:extLst>
              <a:ext uri="{FF2B5EF4-FFF2-40B4-BE49-F238E27FC236}">
                <a16:creationId xmlns:a16="http://schemas.microsoft.com/office/drawing/2014/main" id="{FC618BF8-7663-F343-AE9D-133DA11A5860}"/>
              </a:ext>
            </a:extLst>
          </p:cNvPr>
          <p:cNvGrpSpPr/>
          <p:nvPr/>
        </p:nvGrpSpPr>
        <p:grpSpPr>
          <a:xfrm>
            <a:off x="8662881" y="3895235"/>
            <a:ext cx="2064387" cy="2650932"/>
            <a:chOff x="8662881" y="3895235"/>
            <a:chExt cx="2064387" cy="2650932"/>
          </a:xfrm>
        </p:grpSpPr>
        <p:sp>
          <p:nvSpPr>
            <p:cNvPr id="14" name="TextBox 13">
              <a:extLst>
                <a:ext uri="{FF2B5EF4-FFF2-40B4-BE49-F238E27FC236}">
                  <a16:creationId xmlns:a16="http://schemas.microsoft.com/office/drawing/2014/main" id="{3AD5BDE6-B0E2-B849-714F-2B8A1254F64A}"/>
                </a:ext>
              </a:extLst>
            </p:cNvPr>
            <p:cNvSpPr txBox="1"/>
            <p:nvPr/>
          </p:nvSpPr>
          <p:spPr>
            <a:xfrm>
              <a:off x="9037849" y="6146057"/>
              <a:ext cx="1314449" cy="400110"/>
            </a:xfrm>
            <a:prstGeom prst="rect">
              <a:avLst/>
            </a:prstGeom>
            <a:noFill/>
          </p:spPr>
          <p:txBody>
            <a:bodyPr wrap="square">
              <a:spAutoFit/>
            </a:bodyPr>
            <a:lstStyle/>
            <a:p>
              <a:pPr>
                <a:buNone/>
              </a:pPr>
              <a:r>
                <a:rPr lang="en-AU" sz="2000"/>
                <a:t>12 600 m</a:t>
              </a:r>
              <a:endParaRPr lang="en-AU" sz="2000" b="1"/>
            </a:p>
          </p:txBody>
        </p:sp>
        <p:pic>
          <p:nvPicPr>
            <p:cNvPr id="22" name="Picture 21" descr="path between cities 12 600m">
              <a:extLst>
                <a:ext uri="{FF2B5EF4-FFF2-40B4-BE49-F238E27FC236}">
                  <a16:creationId xmlns:a16="http://schemas.microsoft.com/office/drawing/2014/main" id="{557E3762-1097-ADBB-2F52-6023839303FF}"/>
                </a:ext>
              </a:extLst>
            </p:cNvPr>
            <p:cNvPicPr>
              <a:picLocks noChangeAspect="1"/>
            </p:cNvPicPr>
            <p:nvPr/>
          </p:nvPicPr>
          <p:blipFill>
            <a:blip r:embed="rId7"/>
            <a:stretch>
              <a:fillRect/>
            </a:stretch>
          </p:blipFill>
          <p:spPr>
            <a:xfrm>
              <a:off x="8662881" y="3895235"/>
              <a:ext cx="2064387" cy="2210578"/>
            </a:xfrm>
            <a:prstGeom prst="rect">
              <a:avLst/>
            </a:prstGeom>
          </p:spPr>
        </p:pic>
      </p:gr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comparing and ordering decimals</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5" name="TextBox 4">
            <a:extLst>
              <a:ext uri="{FF2B5EF4-FFF2-40B4-BE49-F238E27FC236}">
                <a16:creationId xmlns:a16="http://schemas.microsoft.com/office/drawing/2014/main" id="{89A295DE-8262-B01E-3368-F58099585588}"/>
              </a:ext>
            </a:extLst>
          </p:cNvPr>
          <p:cNvSpPr txBox="1"/>
          <p:nvPr/>
        </p:nvSpPr>
        <p:spPr>
          <a:xfrm>
            <a:off x="682171" y="1279448"/>
            <a:ext cx="6400800" cy="4837158"/>
          </a:xfrm>
          <a:prstGeom prst="rect">
            <a:avLst/>
          </a:prstGeom>
          <a:noFill/>
        </p:spPr>
        <p:txBody>
          <a:bodyPr wrap="square">
            <a:spAutoFit/>
          </a:bodyPr>
          <a:lstStyle/>
          <a:p>
            <a:pPr lvl="0">
              <a:lnSpc>
                <a:spcPct val="150000"/>
              </a:lnSpc>
              <a:spcBef>
                <a:spcPts val="1200"/>
              </a:spcBef>
              <a:spcAft>
                <a:spcPts val="600"/>
              </a:spcAft>
            </a:pPr>
            <a:r>
              <a:rPr lang="en-AU" sz="3600">
                <a:latin typeface="Arial" panose="020B0604020202020204" pitchFamily="34" charset="0"/>
                <a:ea typeface="Calibri" panose="020F0502020204030204" pitchFamily="34" charset="0"/>
              </a:rPr>
              <a:t>T</a:t>
            </a:r>
            <a:r>
              <a:rPr lang="en-AU" sz="3600">
                <a:effectLst/>
                <a:latin typeface="Arial" panose="020B0604020202020204" pitchFamily="34" charset="0"/>
                <a:ea typeface="Calibri" panose="020F0502020204030204" pitchFamily="34" charset="0"/>
              </a:rPr>
              <a:t>ake turns to </a:t>
            </a:r>
          </a:p>
          <a:p>
            <a:pPr marL="342900" lvl="0" indent="-342900">
              <a:lnSpc>
                <a:spcPct val="150000"/>
              </a:lnSpc>
              <a:spcBef>
                <a:spcPts val="1200"/>
              </a:spcBef>
              <a:spcAft>
                <a:spcPts val="600"/>
              </a:spcAft>
              <a:buFont typeface="Arial" panose="020B0604020202020204" pitchFamily="34" charset="0"/>
              <a:buChar char="•"/>
            </a:pPr>
            <a:r>
              <a:rPr lang="en-AU" sz="3600" b="1">
                <a:effectLst/>
                <a:latin typeface="Arial" panose="020B0604020202020204" pitchFamily="34" charset="0"/>
                <a:ea typeface="Calibri" panose="020F0502020204030204" pitchFamily="34" charset="0"/>
              </a:rPr>
              <a:t>select</a:t>
            </a:r>
            <a:r>
              <a:rPr lang="en-AU" sz="3600">
                <a:effectLst/>
                <a:latin typeface="Arial" panose="020B0604020202020204" pitchFamily="34" charset="0"/>
                <a:ea typeface="Calibri" panose="020F0502020204030204" pitchFamily="34" charset="0"/>
              </a:rPr>
              <a:t> a card</a:t>
            </a:r>
            <a:endParaRPr lang="en-AU" sz="3600">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Arial" panose="020B0604020202020204" pitchFamily="34" charset="0"/>
              <a:buChar char="•"/>
            </a:pPr>
            <a:r>
              <a:rPr lang="en-AU" sz="3600" b="1">
                <a:effectLst/>
                <a:latin typeface="Arial" panose="020B0604020202020204" pitchFamily="34" charset="0"/>
                <a:ea typeface="Calibri" panose="020F0502020204030204" pitchFamily="34" charset="0"/>
              </a:rPr>
              <a:t>read</a:t>
            </a:r>
            <a:r>
              <a:rPr lang="en-AU" sz="3600">
                <a:effectLst/>
                <a:latin typeface="Arial" panose="020B0604020202020204" pitchFamily="34" charset="0"/>
                <a:ea typeface="Calibri" panose="020F0502020204030204" pitchFamily="34" charset="0"/>
              </a:rPr>
              <a:t> the decimal aloud</a:t>
            </a:r>
          </a:p>
          <a:p>
            <a:pPr marL="342900" lvl="0" indent="-342900">
              <a:lnSpc>
                <a:spcPct val="150000"/>
              </a:lnSpc>
              <a:spcBef>
                <a:spcPts val="1200"/>
              </a:spcBef>
              <a:spcAft>
                <a:spcPts val="600"/>
              </a:spcAft>
              <a:buFont typeface="Arial" panose="020B0604020202020204" pitchFamily="34" charset="0"/>
              <a:buChar char="•"/>
            </a:pPr>
            <a:r>
              <a:rPr lang="en-AU" sz="3600" b="1">
                <a:effectLst/>
                <a:latin typeface="Arial" panose="020B0604020202020204" pitchFamily="34" charset="0"/>
                <a:ea typeface="Calibri" panose="020F0502020204030204" pitchFamily="34" charset="0"/>
              </a:rPr>
              <a:t>sort</a:t>
            </a:r>
            <a:r>
              <a:rPr lang="en-AU" sz="3600">
                <a:effectLst/>
                <a:latin typeface="Arial" panose="020B0604020202020204" pitchFamily="34" charset="0"/>
                <a:ea typeface="Calibri" panose="020F0502020204030204" pitchFamily="34" charset="0"/>
              </a:rPr>
              <a:t> the cards from </a:t>
            </a:r>
            <a:r>
              <a:rPr lang="en-AU" sz="3600" b="1">
                <a:effectLst/>
                <a:latin typeface="Arial" panose="020B0604020202020204" pitchFamily="34" charset="0"/>
                <a:ea typeface="Calibri" panose="020F0502020204030204" pitchFamily="34" charset="0"/>
              </a:rPr>
              <a:t>smallest</a:t>
            </a:r>
            <a:r>
              <a:rPr lang="en-AU" sz="3600">
                <a:effectLst/>
                <a:latin typeface="Arial" panose="020B0604020202020204" pitchFamily="34" charset="0"/>
                <a:ea typeface="Calibri" panose="020F0502020204030204" pitchFamily="34" charset="0"/>
              </a:rPr>
              <a:t> to </a:t>
            </a:r>
            <a:r>
              <a:rPr lang="en-AU" sz="3600" b="1">
                <a:effectLst/>
                <a:latin typeface="Arial" panose="020B0604020202020204" pitchFamily="34" charset="0"/>
                <a:ea typeface="Calibri" panose="020F0502020204030204" pitchFamily="34" charset="0"/>
              </a:rPr>
              <a:t>largest</a:t>
            </a:r>
            <a:r>
              <a:rPr lang="en-AU" sz="3600">
                <a:effectLst/>
                <a:latin typeface="Arial" panose="020B0604020202020204" pitchFamily="34" charset="0"/>
                <a:ea typeface="Calibri" panose="020F0502020204030204" pitchFamily="34" charset="0"/>
              </a:rPr>
              <a:t>.</a:t>
            </a:r>
          </a:p>
        </p:txBody>
      </p:sp>
      <p:sp>
        <p:nvSpPr>
          <p:cNvPr id="8" name="TextBox 7">
            <a:extLst>
              <a:ext uri="{FF2B5EF4-FFF2-40B4-BE49-F238E27FC236}">
                <a16:creationId xmlns:a16="http://schemas.microsoft.com/office/drawing/2014/main" id="{DD2B5A39-6D79-C255-98AE-439C9E680410}"/>
              </a:ext>
            </a:extLst>
          </p:cNvPr>
          <p:cNvSpPr txBox="1"/>
          <p:nvPr/>
        </p:nvSpPr>
        <p:spPr>
          <a:xfrm>
            <a:off x="7730176" y="1540210"/>
            <a:ext cx="2887000" cy="1067081"/>
          </a:xfrm>
          <a:prstGeom prst="rect">
            <a:avLst/>
          </a:prstGeom>
          <a:solidFill>
            <a:schemeClr val="accent4"/>
          </a:solidFill>
          <a:ln>
            <a:solidFill>
              <a:srgbClr val="002060"/>
            </a:solidFill>
          </a:ln>
        </p:spPr>
        <p:txBody>
          <a:bodyPr wrap="square" lIns="0" tIns="0" rIns="0" bIns="0" rtlCol="0">
            <a:noAutofit/>
          </a:bodyPr>
          <a:lstStyle/>
          <a:p>
            <a:pPr algn="ctr"/>
            <a:r>
              <a:rPr lang="en-AU" sz="6000">
                <a:latin typeface="Arial" panose="020B0604020202020204" pitchFamily="34" charset="0"/>
                <a:cs typeface="Arial" panose="020B0604020202020204" pitchFamily="34" charset="0"/>
              </a:rPr>
              <a:t>0.189</a:t>
            </a:r>
            <a:endParaRPr lang="en-AU" sz="10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3C00295-4EB4-7FCD-387A-E33F869C4D3C}"/>
              </a:ext>
            </a:extLst>
          </p:cNvPr>
          <p:cNvSpPr txBox="1"/>
          <p:nvPr/>
        </p:nvSpPr>
        <p:spPr>
          <a:xfrm>
            <a:off x="7730176" y="2806819"/>
            <a:ext cx="2887000" cy="1067081"/>
          </a:xfrm>
          <a:prstGeom prst="rect">
            <a:avLst/>
          </a:prstGeom>
          <a:solidFill>
            <a:schemeClr val="accent4"/>
          </a:solidFill>
          <a:ln>
            <a:solidFill>
              <a:srgbClr val="002060"/>
            </a:solidFill>
          </a:ln>
        </p:spPr>
        <p:txBody>
          <a:bodyPr wrap="square" lIns="0" tIns="0" rIns="0" bIns="0" rtlCol="0">
            <a:noAutofit/>
          </a:bodyPr>
          <a:lstStyle/>
          <a:p>
            <a:pPr algn="ctr"/>
            <a:r>
              <a:rPr lang="en-AU" sz="6000">
                <a:latin typeface="Arial" panose="020B0604020202020204" pitchFamily="34" charset="0"/>
                <a:cs typeface="Arial" panose="020B0604020202020204" pitchFamily="34" charset="0"/>
              </a:rPr>
              <a:t>0.254</a:t>
            </a:r>
          </a:p>
        </p:txBody>
      </p:sp>
      <p:sp>
        <p:nvSpPr>
          <p:cNvPr id="10" name="TextBox 9">
            <a:extLst>
              <a:ext uri="{FF2B5EF4-FFF2-40B4-BE49-F238E27FC236}">
                <a16:creationId xmlns:a16="http://schemas.microsoft.com/office/drawing/2014/main" id="{BBD8A667-11E8-B635-EC5F-85374285CA0B}"/>
              </a:ext>
            </a:extLst>
          </p:cNvPr>
          <p:cNvSpPr txBox="1"/>
          <p:nvPr/>
        </p:nvSpPr>
        <p:spPr>
          <a:xfrm>
            <a:off x="7730176" y="4073428"/>
            <a:ext cx="2887000" cy="1043441"/>
          </a:xfrm>
          <a:prstGeom prst="rect">
            <a:avLst/>
          </a:prstGeom>
          <a:solidFill>
            <a:schemeClr val="accent4"/>
          </a:solidFill>
          <a:ln>
            <a:solidFill>
              <a:srgbClr val="002060"/>
            </a:solidFill>
          </a:ln>
        </p:spPr>
        <p:txBody>
          <a:bodyPr wrap="square" lIns="0" tIns="0" rIns="0" bIns="0" rtlCol="0">
            <a:noAutofit/>
          </a:bodyPr>
          <a:lstStyle/>
          <a:p>
            <a:pPr algn="ctr"/>
            <a:r>
              <a:rPr lang="en-AU" sz="6000">
                <a:latin typeface="Arial" panose="020B0604020202020204" pitchFamily="34" charset="0"/>
                <a:cs typeface="Arial" panose="020B0604020202020204" pitchFamily="34" charset="0"/>
              </a:rPr>
              <a:t>0.551</a:t>
            </a:r>
          </a:p>
        </p:txBody>
      </p:sp>
      <p:sp>
        <p:nvSpPr>
          <p:cNvPr id="9" name="TextBox 8">
            <a:extLst>
              <a:ext uri="{FF2B5EF4-FFF2-40B4-BE49-F238E27FC236}">
                <a16:creationId xmlns:a16="http://schemas.microsoft.com/office/drawing/2014/main" id="{A54B4E68-746E-CAAF-5B9A-3A60E032A019}"/>
              </a:ext>
            </a:extLst>
          </p:cNvPr>
          <p:cNvSpPr txBox="1"/>
          <p:nvPr/>
        </p:nvSpPr>
        <p:spPr>
          <a:xfrm>
            <a:off x="7730176" y="5316397"/>
            <a:ext cx="2887000" cy="1067081"/>
          </a:xfrm>
          <a:prstGeom prst="rect">
            <a:avLst/>
          </a:prstGeom>
          <a:solidFill>
            <a:schemeClr val="accent4"/>
          </a:solidFill>
          <a:ln>
            <a:solidFill>
              <a:srgbClr val="002060"/>
            </a:solidFill>
          </a:ln>
        </p:spPr>
        <p:txBody>
          <a:bodyPr wrap="square" lIns="0" tIns="0" rIns="0" bIns="0" rtlCol="0">
            <a:noAutofit/>
          </a:bodyPr>
          <a:lstStyle/>
          <a:p>
            <a:pPr algn="ctr"/>
            <a:r>
              <a:rPr lang="en-AU" sz="6000">
                <a:latin typeface="Arial" panose="020B0604020202020204" pitchFamily="34" charset="0"/>
                <a:cs typeface="Arial" panose="020B0604020202020204" pitchFamily="34" charset="0"/>
              </a:rPr>
              <a:t>0.790</a:t>
            </a:r>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p:txBody>
          <a:bodyPr/>
          <a:lstStyle/>
          <a:p>
            <a:pPr algn="ctr"/>
            <a:r>
              <a:rPr lang="en-US" sz="6000" b="1"/>
              <a:t>5 + 0.4 + 0.02 + 0.009 =</a:t>
            </a:r>
          </a:p>
        </p:txBody>
      </p:sp>
      <p:sp>
        <p:nvSpPr>
          <p:cNvPr id="9" name="TextBox 8">
            <a:extLst>
              <a:ext uri="{FF2B5EF4-FFF2-40B4-BE49-F238E27FC236}">
                <a16:creationId xmlns:a16="http://schemas.microsoft.com/office/drawing/2014/main" id="{4E6EA9CC-6235-8807-420B-A4371AC418C0}"/>
              </a:ext>
            </a:extLst>
          </p:cNvPr>
          <p:cNvSpPr txBox="1"/>
          <p:nvPr/>
        </p:nvSpPr>
        <p:spPr>
          <a:xfrm>
            <a:off x="1195543" y="41864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 Placeholder 17">
            <a:extLst>
              <a:ext uri="{FF2B5EF4-FFF2-40B4-BE49-F238E27FC236}">
                <a16:creationId xmlns:a16="http://schemas.microsoft.com/office/drawing/2014/main" id="{A93F0703-83CB-B703-052E-13F812165D2F}"/>
              </a:ext>
            </a:extLst>
          </p:cNvPr>
          <p:cNvSpPr txBox="1">
            <a:spLocks/>
          </p:cNvSpPr>
          <p:nvPr/>
        </p:nvSpPr>
        <p:spPr>
          <a:xfrm>
            <a:off x="94210" y="4785441"/>
            <a:ext cx="272179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5 .429</a:t>
            </a:r>
          </a:p>
        </p:txBody>
      </p:sp>
      <p:sp>
        <p:nvSpPr>
          <p:cNvPr id="10" name="TextBox 9">
            <a:extLst>
              <a:ext uri="{FF2B5EF4-FFF2-40B4-BE49-F238E27FC236}">
                <a16:creationId xmlns:a16="http://schemas.microsoft.com/office/drawing/2014/main" id="{4AB24A3E-5574-D79C-6A0F-06D3F8A29BB1}"/>
              </a:ext>
            </a:extLst>
          </p:cNvPr>
          <p:cNvSpPr txBox="1"/>
          <p:nvPr/>
        </p:nvSpPr>
        <p:spPr>
          <a:xfrm>
            <a:off x="4199516" y="41864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 Placeholder 17">
            <a:extLst>
              <a:ext uri="{FF2B5EF4-FFF2-40B4-BE49-F238E27FC236}">
                <a16:creationId xmlns:a16="http://schemas.microsoft.com/office/drawing/2014/main" id="{BC5930B1-6888-B0A7-77C7-1D260D055DBC}"/>
              </a:ext>
            </a:extLst>
          </p:cNvPr>
          <p:cNvSpPr txBox="1">
            <a:spLocks/>
          </p:cNvSpPr>
          <p:nvPr/>
        </p:nvSpPr>
        <p:spPr>
          <a:xfrm>
            <a:off x="3103332" y="4785441"/>
            <a:ext cx="272179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5 .492</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203489" y="41864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 Placeholder 17">
            <a:extLst>
              <a:ext uri="{FF2B5EF4-FFF2-40B4-BE49-F238E27FC236}">
                <a16:creationId xmlns:a16="http://schemas.microsoft.com/office/drawing/2014/main" id="{2149E86D-5FE1-4AA4-CBB2-648231457BA4}"/>
              </a:ext>
            </a:extLst>
          </p:cNvPr>
          <p:cNvSpPr txBox="1">
            <a:spLocks/>
          </p:cNvSpPr>
          <p:nvPr/>
        </p:nvSpPr>
        <p:spPr>
          <a:xfrm>
            <a:off x="6096000" y="4785441"/>
            <a:ext cx="272179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5 .942</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207463" y="41864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 Placeholder 17">
            <a:extLst>
              <a:ext uri="{FF2B5EF4-FFF2-40B4-BE49-F238E27FC236}">
                <a16:creationId xmlns:a16="http://schemas.microsoft.com/office/drawing/2014/main" id="{839CDA1D-A514-2DE6-4680-1E599917AD10}"/>
              </a:ext>
            </a:extLst>
          </p:cNvPr>
          <p:cNvSpPr txBox="1">
            <a:spLocks/>
          </p:cNvSpPr>
          <p:nvPr/>
        </p:nvSpPr>
        <p:spPr>
          <a:xfrm>
            <a:off x="9122205" y="4785441"/>
            <a:ext cx="272179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5 .924</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D368C75-15DB-9876-23A7-9E5BD0D4BB3E}"/>
              </a:ext>
            </a:extLst>
          </p:cNvPr>
          <p:cNvSpPr txBox="1"/>
          <p:nvPr/>
        </p:nvSpPr>
        <p:spPr>
          <a:xfrm>
            <a:off x="360000" y="1194914"/>
            <a:ext cx="10854340" cy="2146853"/>
          </a:xfrm>
          <a:prstGeom prst="rect">
            <a:avLst/>
          </a:prstGeom>
          <a:noFill/>
        </p:spPr>
        <p:txBody>
          <a:bodyPr wrap="square" lIns="0" tIns="0" rIns="0" bIns="0" rtlCol="0">
            <a:noAutofit/>
          </a:bodyPr>
          <a:lstStyle/>
          <a:p>
            <a:pPr algn="ctr">
              <a:lnSpc>
                <a:spcPct val="150000"/>
              </a:lnSpc>
            </a:pPr>
            <a:r>
              <a:rPr lang="en-AU" sz="4400" b="1"/>
              <a:t>Visualise </a:t>
            </a:r>
            <a:r>
              <a:rPr lang="en-AU" sz="4400"/>
              <a:t>folding these </a:t>
            </a:r>
            <a:r>
              <a:rPr lang="en-AU" sz="4400" b="1"/>
              <a:t>nets.</a:t>
            </a:r>
          </a:p>
          <a:p>
            <a:pPr algn="ctr">
              <a:lnSpc>
                <a:spcPct val="150000"/>
              </a:lnSpc>
            </a:pPr>
            <a:r>
              <a:rPr lang="en-AU" sz="4400" b="1"/>
              <a:t>Name </a:t>
            </a:r>
            <a:r>
              <a:rPr lang="en-AU" sz="4400"/>
              <a:t>the 3D objects they would make.</a:t>
            </a:r>
          </a:p>
        </p:txBody>
      </p:sp>
      <p:pic>
        <p:nvPicPr>
          <p:cNvPr id="7" name="Picture 6" descr="Nets with:&#10;1. 2 triangles and 3 rectangles.&#10;2. 4 triangles and 1 square&#10;3. 2 pentagons and 5 rectangles">
            <a:extLst>
              <a:ext uri="{FF2B5EF4-FFF2-40B4-BE49-F238E27FC236}">
                <a16:creationId xmlns:a16="http://schemas.microsoft.com/office/drawing/2014/main" id="{99929B83-8765-CCBE-7FF5-923AFD955C06}"/>
              </a:ext>
            </a:extLst>
          </p:cNvPr>
          <p:cNvPicPr>
            <a:picLocks noChangeAspect="1"/>
          </p:cNvPicPr>
          <p:nvPr/>
        </p:nvPicPr>
        <p:blipFill>
          <a:blip r:embed="rId4"/>
          <a:stretch>
            <a:fillRect/>
          </a:stretch>
        </p:blipFill>
        <p:spPr>
          <a:xfrm>
            <a:off x="1990787" y="3352458"/>
            <a:ext cx="7454591" cy="2999766"/>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038EC08-CE46-22E7-8DAF-E8CDD70602EC}"/>
              </a:ext>
            </a:extLst>
          </p:cNvPr>
          <p:cNvSpPr txBox="1"/>
          <p:nvPr/>
        </p:nvSpPr>
        <p:spPr>
          <a:xfrm>
            <a:off x="534451" y="1001674"/>
            <a:ext cx="11123098" cy="820674"/>
          </a:xfrm>
          <a:prstGeom prst="rect">
            <a:avLst/>
          </a:prstGeom>
          <a:noFill/>
        </p:spPr>
        <p:txBody>
          <a:bodyPr wrap="square">
            <a:spAutoFit/>
          </a:bodyPr>
          <a:lstStyle/>
          <a:p>
            <a:pPr lvl="0">
              <a:lnSpc>
                <a:spcPct val="150000"/>
              </a:lnSpc>
              <a:spcBef>
                <a:spcPts val="1200"/>
              </a:spcBef>
              <a:spcAft>
                <a:spcPts val="600"/>
              </a:spcAft>
            </a:pPr>
            <a:r>
              <a:rPr lang="en-AU" sz="3600">
                <a:latin typeface="Arial" panose="020B0604020202020204" pitchFamily="34" charset="0"/>
                <a:ea typeface="Calibri" panose="020F0502020204030204" pitchFamily="34" charset="0"/>
              </a:rPr>
              <a:t>Using </a:t>
            </a:r>
            <a:r>
              <a:rPr lang="en-AU" sz="3600" b="1">
                <a:latin typeface="Arial" panose="020B0604020202020204" pitchFamily="34" charset="0"/>
                <a:ea typeface="Calibri" panose="020F0502020204030204" pitchFamily="34" charset="0"/>
              </a:rPr>
              <a:t>numerical values</a:t>
            </a:r>
            <a:r>
              <a:rPr lang="en-AU" sz="3600">
                <a:latin typeface="Arial" panose="020B0604020202020204" pitchFamily="34" charset="0"/>
                <a:ea typeface="Calibri" panose="020F0502020204030204" pitchFamily="34" charset="0"/>
              </a:rPr>
              <a:t>, </a:t>
            </a:r>
            <a:r>
              <a:rPr lang="en-AU" sz="3600" b="1">
                <a:latin typeface="Arial" panose="020B0604020202020204" pitchFamily="34" charset="0"/>
                <a:ea typeface="Calibri" panose="020F0502020204030204" pitchFamily="34" charset="0"/>
              </a:rPr>
              <a:t>record</a:t>
            </a:r>
            <a:r>
              <a:rPr lang="en-AU" sz="3600">
                <a:latin typeface="Arial" panose="020B0604020202020204" pitchFamily="34" charset="0"/>
                <a:ea typeface="Calibri" panose="020F0502020204030204" pitchFamily="34" charset="0"/>
              </a:rPr>
              <a:t> the </a:t>
            </a:r>
            <a:r>
              <a:rPr lang="en-AU" sz="3600" b="1">
                <a:latin typeface="Arial" panose="020B0604020202020204" pitchFamily="34" charset="0"/>
                <a:ea typeface="Calibri" panose="020F0502020204030204" pitchFamily="34" charset="0"/>
              </a:rPr>
              <a:t>probability</a:t>
            </a:r>
            <a:r>
              <a:rPr lang="en-AU" sz="3600">
                <a:latin typeface="Arial" panose="020B0604020202020204" pitchFamily="34" charset="0"/>
                <a:ea typeface="Calibri" panose="020F0502020204030204" pitchFamily="34" charset="0"/>
              </a:rPr>
              <a:t> of</a:t>
            </a:r>
            <a:r>
              <a:rPr lang="en-AU" sz="3600">
                <a:effectLst/>
                <a:latin typeface="Arial" panose="020B0604020202020204" pitchFamily="34" charset="0"/>
                <a:ea typeface="Calibri" panose="020F0502020204030204" pitchFamily="34" charset="0"/>
              </a:rPr>
              <a:t>:</a:t>
            </a:r>
          </a:p>
        </p:txBody>
      </p:sp>
      <p:sp>
        <p:nvSpPr>
          <p:cNvPr id="8" name="TextBox 7">
            <a:extLst>
              <a:ext uri="{FF2B5EF4-FFF2-40B4-BE49-F238E27FC236}">
                <a16:creationId xmlns:a16="http://schemas.microsoft.com/office/drawing/2014/main" id="{2298053B-7EE7-9C8E-9874-2E7A7D7B45D4}"/>
              </a:ext>
            </a:extLst>
          </p:cNvPr>
          <p:cNvSpPr txBox="1"/>
          <p:nvPr/>
        </p:nvSpPr>
        <p:spPr>
          <a:xfrm>
            <a:off x="809721" y="2347713"/>
            <a:ext cx="5831279" cy="4040337"/>
          </a:xfrm>
          <a:prstGeom prst="rect">
            <a:avLst/>
          </a:prstGeom>
          <a:noFill/>
        </p:spPr>
        <p:txBody>
          <a:bodyPr wrap="square">
            <a:spAutoFit/>
          </a:bodyPr>
          <a:lstStyle/>
          <a:p>
            <a:pPr marL="342900" lvl="0" indent="-342900">
              <a:lnSpc>
                <a:spcPct val="150000"/>
              </a:lnSpc>
              <a:spcBef>
                <a:spcPts val="1200"/>
              </a:spcBef>
              <a:spcAft>
                <a:spcPts val="600"/>
              </a:spcAft>
              <a:buFont typeface="Arial" panose="020B0604020202020204" pitchFamily="34" charset="0"/>
              <a:buChar char="•"/>
            </a:pPr>
            <a:r>
              <a:rPr lang="en-AU" sz="4000">
                <a:latin typeface="Arial" panose="020B0604020202020204" pitchFamily="34" charset="0"/>
                <a:ea typeface="Calibri" panose="020F0502020204030204" pitchFamily="34" charset="0"/>
              </a:rPr>
              <a:t>tossing </a:t>
            </a:r>
            <a:r>
              <a:rPr lang="en-AU" sz="4000" b="1">
                <a:latin typeface="Arial" panose="020B0604020202020204" pitchFamily="34" charset="0"/>
                <a:ea typeface="Calibri" panose="020F0502020204030204" pitchFamily="34" charset="0"/>
              </a:rPr>
              <a:t>heads</a:t>
            </a:r>
          </a:p>
          <a:p>
            <a:pPr marL="342900" lvl="0" indent="-342900">
              <a:lnSpc>
                <a:spcPct val="150000"/>
              </a:lnSpc>
              <a:spcBef>
                <a:spcPts val="1200"/>
              </a:spcBef>
              <a:spcAft>
                <a:spcPts val="600"/>
              </a:spcAft>
              <a:buFont typeface="Arial" panose="020B0604020202020204" pitchFamily="34" charset="0"/>
              <a:buChar char="•"/>
            </a:pPr>
            <a:r>
              <a:rPr lang="en-AU" sz="4000">
                <a:latin typeface="Arial" panose="020B0604020202020204" pitchFamily="34" charset="0"/>
                <a:ea typeface="Calibri" panose="020F0502020204030204" pitchFamily="34" charset="0"/>
              </a:rPr>
              <a:t>rolling a </a:t>
            </a:r>
            <a:r>
              <a:rPr lang="en-AU" sz="4000" b="1">
                <a:latin typeface="Arial" panose="020B0604020202020204" pitchFamily="34" charset="0"/>
                <a:ea typeface="Calibri" panose="020F0502020204030204" pitchFamily="34" charset="0"/>
              </a:rPr>
              <a:t>3</a:t>
            </a:r>
          </a:p>
          <a:p>
            <a:pPr marL="342900" lvl="0" indent="-342900">
              <a:lnSpc>
                <a:spcPct val="150000"/>
              </a:lnSpc>
              <a:spcBef>
                <a:spcPts val="1200"/>
              </a:spcBef>
              <a:spcAft>
                <a:spcPts val="600"/>
              </a:spcAft>
              <a:buFont typeface="Arial" panose="020B0604020202020204" pitchFamily="34" charset="0"/>
              <a:buChar char="•"/>
            </a:pPr>
            <a:r>
              <a:rPr lang="en-AU" sz="4000">
                <a:latin typeface="Arial" panose="020B0604020202020204" pitchFamily="34" charset="0"/>
                <a:ea typeface="Calibri" panose="020F0502020204030204" pitchFamily="34" charset="0"/>
              </a:rPr>
              <a:t>spinning </a:t>
            </a:r>
            <a:r>
              <a:rPr lang="en-AU" sz="4000" b="1">
                <a:solidFill>
                  <a:srgbClr val="EE6314"/>
                </a:solidFill>
                <a:latin typeface="Arial" panose="020B0604020202020204" pitchFamily="34" charset="0"/>
                <a:ea typeface="Calibri" panose="020F0502020204030204" pitchFamily="34" charset="0"/>
              </a:rPr>
              <a:t>orange</a:t>
            </a:r>
            <a:r>
              <a:rPr lang="en-AU" sz="4000">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Font typeface="Arial" panose="020B0604020202020204" pitchFamily="34" charset="0"/>
              <a:buChar char="•"/>
            </a:pPr>
            <a:endParaRPr lang="en-AU" sz="2400">
              <a:effectLst/>
              <a:latin typeface="Arial" panose="020B0604020202020204" pitchFamily="34" charset="0"/>
              <a:ea typeface="Calibri" panose="020F0502020204030204" pitchFamily="34" charset="0"/>
            </a:endParaRPr>
          </a:p>
        </p:txBody>
      </p:sp>
      <p:pic>
        <p:nvPicPr>
          <p:cNvPr id="10" name="Picture 9" descr="A dice with 3 rolled, 'heads' on a coin, a spinner with 5 segments (blue, orange, white, green, yellow)">
            <a:extLst>
              <a:ext uri="{FF2B5EF4-FFF2-40B4-BE49-F238E27FC236}">
                <a16:creationId xmlns:a16="http://schemas.microsoft.com/office/drawing/2014/main" id="{D69F93BE-31B7-4D65-61D5-29E9B8D8B1B4}"/>
              </a:ext>
            </a:extLst>
          </p:cNvPr>
          <p:cNvPicPr>
            <a:picLocks noChangeAspect="1"/>
          </p:cNvPicPr>
          <p:nvPr/>
        </p:nvPicPr>
        <p:blipFill>
          <a:blip r:embed="rId4"/>
          <a:stretch>
            <a:fillRect/>
          </a:stretch>
        </p:blipFill>
        <p:spPr>
          <a:xfrm>
            <a:off x="6934430" y="2100970"/>
            <a:ext cx="4909570" cy="3498282"/>
          </a:xfrm>
          <a:prstGeom prst="rect">
            <a:avLst/>
          </a:prstGeom>
          <a:ln>
            <a:noFill/>
          </a:ln>
          <a:effectLst/>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5" name="TextBox 4">
            <a:extLst>
              <a:ext uri="{FF2B5EF4-FFF2-40B4-BE49-F238E27FC236}">
                <a16:creationId xmlns:a16="http://schemas.microsoft.com/office/drawing/2014/main" id="{4ED58702-D03D-004A-14A7-40000D041E5A}"/>
              </a:ext>
            </a:extLst>
          </p:cNvPr>
          <p:cNvSpPr txBox="1"/>
          <p:nvPr/>
        </p:nvSpPr>
        <p:spPr>
          <a:xfrm>
            <a:off x="391510" y="1290754"/>
            <a:ext cx="11452490" cy="4482446"/>
          </a:xfrm>
          <a:prstGeom prst="rect">
            <a:avLst/>
          </a:prstGeom>
          <a:noFill/>
        </p:spPr>
        <p:txBody>
          <a:bodyPr wrap="square">
            <a:spAutoFit/>
          </a:bodyPr>
          <a:lstStyle/>
          <a:p>
            <a:pPr lvl="0" algn="ctr">
              <a:lnSpc>
                <a:spcPct val="150000"/>
              </a:lnSpc>
              <a:spcBef>
                <a:spcPts val="1200"/>
              </a:spcBef>
              <a:spcAft>
                <a:spcPts val="600"/>
              </a:spcAft>
            </a:pPr>
            <a:r>
              <a:rPr lang="en-AU" sz="4400" b="1">
                <a:effectLst/>
                <a:latin typeface="Arial" panose="020B0604020202020204" pitchFamily="34" charset="0"/>
                <a:ea typeface="Calibri" panose="020F0502020204030204" pitchFamily="34" charset="0"/>
                <a:cs typeface="Times New Roman" panose="02020603050405020304" pitchFamily="18" charset="0"/>
              </a:rPr>
              <a:t>Partition</a:t>
            </a:r>
            <a:r>
              <a:rPr lang="en-AU" sz="4400">
                <a:effectLst/>
                <a:latin typeface="Arial" panose="020B0604020202020204" pitchFamily="34" charset="0"/>
                <a:ea typeface="Calibri" panose="020F0502020204030204" pitchFamily="34" charset="0"/>
                <a:cs typeface="Times New Roman" panose="02020603050405020304" pitchFamily="18" charset="0"/>
              </a:rPr>
              <a:t> </a:t>
            </a:r>
            <a:r>
              <a:rPr lang="en-AU" sz="4400">
                <a:latin typeface="Arial" panose="020B0604020202020204" pitchFamily="34" charset="0"/>
                <a:ea typeface="Calibri" panose="020F0502020204030204" pitchFamily="34" charset="0"/>
                <a:cs typeface="Times New Roman" panose="02020603050405020304" pitchFamily="18" charset="0"/>
              </a:rPr>
              <a:t>the </a:t>
            </a:r>
            <a:r>
              <a:rPr lang="en-AU" sz="4400" b="1">
                <a:latin typeface="Arial" panose="020B0604020202020204" pitchFamily="34" charset="0"/>
                <a:ea typeface="Calibri" panose="020F0502020204030204" pitchFamily="34" charset="0"/>
                <a:cs typeface="Times New Roman" panose="02020603050405020304" pitchFamily="18" charset="0"/>
              </a:rPr>
              <a:t>dividend (72) </a:t>
            </a:r>
            <a:r>
              <a:rPr lang="en-AU" sz="4400">
                <a:latin typeface="Arial" panose="020B0604020202020204" pitchFamily="34" charset="0"/>
                <a:ea typeface="Calibri" panose="020F0502020204030204" pitchFamily="34" charset="0"/>
                <a:cs typeface="Times New Roman" panose="02020603050405020304" pitchFamily="18" charset="0"/>
              </a:rPr>
              <a:t>into </a:t>
            </a:r>
            <a:r>
              <a:rPr lang="en-AU" sz="4400" b="1">
                <a:latin typeface="Arial" panose="020B0604020202020204" pitchFamily="34" charset="0"/>
                <a:ea typeface="Calibri" panose="020F0502020204030204" pitchFamily="34" charset="0"/>
                <a:cs typeface="Times New Roman" panose="02020603050405020304" pitchFamily="18" charset="0"/>
              </a:rPr>
              <a:t>smaller multiples </a:t>
            </a:r>
            <a:r>
              <a:rPr lang="en-AU" sz="4400">
                <a:latin typeface="Arial" panose="020B0604020202020204" pitchFamily="34" charset="0"/>
                <a:ea typeface="Calibri" panose="020F0502020204030204" pitchFamily="34" charset="0"/>
                <a:cs typeface="Times New Roman" panose="02020603050405020304" pitchFamily="18" charset="0"/>
              </a:rPr>
              <a:t>of the </a:t>
            </a:r>
            <a:r>
              <a:rPr lang="en-AU" sz="4400" b="1">
                <a:latin typeface="Arial" panose="020B0604020202020204" pitchFamily="34" charset="0"/>
                <a:ea typeface="Calibri" panose="020F0502020204030204" pitchFamily="34" charset="0"/>
                <a:cs typeface="Times New Roman" panose="02020603050405020304" pitchFamily="18" charset="0"/>
              </a:rPr>
              <a:t>divisor (4)</a:t>
            </a:r>
            <a:r>
              <a:rPr lang="en-AU" sz="4400">
                <a:latin typeface="Arial" panose="020B0604020202020204" pitchFamily="34" charset="0"/>
                <a:ea typeface="Calibri" panose="020F0502020204030204" pitchFamily="34" charset="0"/>
                <a:cs typeface="Times New Roman" panose="02020603050405020304" pitchFamily="18" charset="0"/>
              </a:rPr>
              <a:t> and then u</a:t>
            </a:r>
            <a:r>
              <a:rPr lang="en-AU" sz="4400">
                <a:effectLst/>
                <a:latin typeface="Arial" panose="020B0604020202020204" pitchFamily="34" charset="0"/>
                <a:ea typeface="Calibri" panose="020F0502020204030204" pitchFamily="34" charset="0"/>
                <a:cs typeface="Times New Roman" panose="02020603050405020304" pitchFamily="18" charset="0"/>
              </a:rPr>
              <a:t>se an </a:t>
            </a:r>
            <a:r>
              <a:rPr lang="en-AU" sz="4400" b="1">
                <a:effectLst/>
                <a:latin typeface="Arial" panose="020B0604020202020204" pitchFamily="34" charset="0"/>
                <a:ea typeface="Calibri" panose="020F0502020204030204" pitchFamily="34" charset="0"/>
                <a:cs typeface="Times New Roman" panose="02020603050405020304" pitchFamily="18" charset="0"/>
              </a:rPr>
              <a:t>area model </a:t>
            </a:r>
            <a:r>
              <a:rPr lang="en-AU" sz="4400">
                <a:effectLst/>
                <a:latin typeface="Arial" panose="020B0604020202020204" pitchFamily="34" charset="0"/>
                <a:ea typeface="Calibri" panose="020F0502020204030204" pitchFamily="34" charset="0"/>
                <a:cs typeface="Times New Roman" panose="02020603050405020304" pitchFamily="18" charset="0"/>
              </a:rPr>
              <a:t>to solve:</a:t>
            </a:r>
          </a:p>
          <a:p>
            <a:pPr lvl="0" algn="ctr">
              <a:lnSpc>
                <a:spcPct val="150000"/>
              </a:lnSpc>
              <a:spcBef>
                <a:spcPts val="1200"/>
              </a:spcBef>
              <a:spcAft>
                <a:spcPts val="600"/>
              </a:spcAft>
            </a:pPr>
            <a:r>
              <a:rPr lang="en-AU" sz="5400">
                <a:effectLst/>
                <a:latin typeface="Arial" panose="020B0604020202020204" pitchFamily="34" charset="0"/>
                <a:ea typeface="Calibri" panose="020F0502020204030204" pitchFamily="34" charset="0"/>
                <a:cs typeface="Times New Roman" panose="02020603050405020304" pitchFamily="18" charset="0"/>
              </a:rPr>
              <a:t> </a:t>
            </a:r>
            <a:r>
              <a:rPr lang="en-AU" sz="5400" b="1">
                <a:solidFill>
                  <a:schemeClr val="accent2"/>
                </a:solidFill>
                <a:latin typeface="Arial" panose="020B0604020202020204" pitchFamily="34" charset="0"/>
                <a:ea typeface="Calibri" panose="020F0502020204030204" pitchFamily="34" charset="0"/>
                <a:cs typeface="Times New Roman" panose="02020603050405020304" pitchFamily="18" charset="0"/>
              </a:rPr>
              <a:t>72 ÷</a:t>
            </a:r>
            <a:r>
              <a:rPr lang="en-AU" sz="5400" b="1">
                <a:solidFill>
                  <a:schemeClr val="accent2"/>
                </a:solidFill>
                <a:effectLst/>
                <a:latin typeface="Arial" panose="020B0604020202020204" pitchFamily="34" charset="0"/>
                <a:ea typeface="Calibri" panose="020F0502020204030204" pitchFamily="34" charset="0"/>
                <a:cs typeface="Times New Roman" panose="02020603050405020304" pitchFamily="18" charset="0"/>
              </a:rPr>
              <a:t> 4 </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5" name="TextBox 4">
            <a:extLst>
              <a:ext uri="{FF2B5EF4-FFF2-40B4-BE49-F238E27FC236}">
                <a16:creationId xmlns:a16="http://schemas.microsoft.com/office/drawing/2014/main" id="{5150C171-7B86-C410-F0DB-C1508166669E}"/>
              </a:ext>
            </a:extLst>
          </p:cNvPr>
          <p:cNvSpPr txBox="1"/>
          <p:nvPr/>
        </p:nvSpPr>
        <p:spPr>
          <a:xfrm>
            <a:off x="701748" y="1425919"/>
            <a:ext cx="10328727" cy="4721998"/>
          </a:xfrm>
          <a:prstGeom prst="rect">
            <a:avLst/>
          </a:prstGeom>
          <a:noFill/>
        </p:spPr>
        <p:txBody>
          <a:bodyPr wrap="square">
            <a:spAutoFit/>
          </a:bodyPr>
          <a:lstStyle/>
          <a:p>
            <a:pPr lvl="0" algn="ctr">
              <a:lnSpc>
                <a:spcPct val="150000"/>
              </a:lnSpc>
              <a:spcBef>
                <a:spcPts val="1200"/>
              </a:spcBef>
              <a:spcAft>
                <a:spcPts val="600"/>
              </a:spcAft>
            </a:pPr>
            <a:r>
              <a:rPr lang="en-AU" sz="4400" b="1">
                <a:effectLst/>
                <a:latin typeface="Arial" panose="020B0604020202020204" pitchFamily="34" charset="0"/>
                <a:ea typeface="Calibri" panose="020F0502020204030204" pitchFamily="34" charset="0"/>
                <a:cs typeface="Times New Roman" panose="02020603050405020304" pitchFamily="18" charset="0"/>
              </a:rPr>
              <a:t>Read </a:t>
            </a:r>
            <a:r>
              <a:rPr lang="en-AU" sz="4400">
                <a:effectLst/>
                <a:latin typeface="Arial" panose="020B0604020202020204" pitchFamily="34" charset="0"/>
                <a:ea typeface="Calibri" panose="020F0502020204030204" pitchFamily="34" charset="0"/>
                <a:cs typeface="Times New Roman" panose="02020603050405020304" pitchFamily="18" charset="0"/>
              </a:rPr>
              <a:t>the following 24-hour times </a:t>
            </a:r>
            <a:r>
              <a:rPr lang="en-AU" sz="4400" b="1">
                <a:effectLst/>
                <a:latin typeface="Arial" panose="020B0604020202020204" pitchFamily="34" charset="0"/>
                <a:ea typeface="Calibri" panose="020F0502020204030204" pitchFamily="34" charset="0"/>
                <a:cs typeface="Times New Roman" panose="02020603050405020304" pitchFamily="18" charset="0"/>
              </a:rPr>
              <a:t>aloud:</a:t>
            </a:r>
          </a:p>
          <a:p>
            <a:pPr marL="571500" lvl="0" indent="-571500" algn="ctr">
              <a:lnSpc>
                <a:spcPct val="150000"/>
              </a:lnSpc>
              <a:spcBef>
                <a:spcPts val="1200"/>
              </a:spcBef>
              <a:spcAft>
                <a:spcPts val="600"/>
              </a:spcAft>
              <a:buFont typeface="Arial" panose="020B0604020202020204" pitchFamily="34" charset="0"/>
              <a:buChar char="•"/>
            </a:pPr>
            <a:r>
              <a:rPr lang="en-AU" sz="4400" b="1">
                <a:latin typeface="Arial" panose="020B0604020202020204" pitchFamily="34" charset="0"/>
                <a:ea typeface="Calibri" panose="020F0502020204030204" pitchFamily="34" charset="0"/>
                <a:cs typeface="Times New Roman" panose="02020603050405020304" pitchFamily="18" charset="0"/>
              </a:rPr>
              <a:t>1800 </a:t>
            </a:r>
            <a:r>
              <a:rPr lang="en-AU" sz="4400">
                <a:latin typeface="Arial" panose="020B0604020202020204" pitchFamily="34" charset="0"/>
                <a:ea typeface="Calibri" panose="020F0502020204030204" pitchFamily="34" charset="0"/>
                <a:cs typeface="Times New Roman" panose="02020603050405020304" pitchFamily="18" charset="0"/>
              </a:rPr>
              <a:t>hours</a:t>
            </a:r>
          </a:p>
          <a:p>
            <a:pPr marL="571500" lvl="0" indent="-571500" algn="ctr">
              <a:lnSpc>
                <a:spcPct val="150000"/>
              </a:lnSpc>
              <a:spcBef>
                <a:spcPts val="1200"/>
              </a:spcBef>
              <a:spcAft>
                <a:spcPts val="600"/>
              </a:spcAft>
              <a:buFont typeface="Arial" panose="020B0604020202020204" pitchFamily="34" charset="0"/>
              <a:buChar char="•"/>
            </a:pPr>
            <a:r>
              <a:rPr lang="en-AU" sz="4400" b="1">
                <a:effectLst/>
                <a:latin typeface="Arial" panose="020B0604020202020204" pitchFamily="34" charset="0"/>
                <a:ea typeface="Calibri" panose="020F0502020204030204" pitchFamily="34" charset="0"/>
                <a:cs typeface="Times New Roman" panose="02020603050405020304" pitchFamily="18" charset="0"/>
              </a:rPr>
              <a:t>1630 </a:t>
            </a:r>
            <a:r>
              <a:rPr lang="en-AU" sz="4400">
                <a:effectLst/>
                <a:latin typeface="Arial" panose="020B0604020202020204" pitchFamily="34" charset="0"/>
                <a:ea typeface="Calibri" panose="020F0502020204030204" pitchFamily="34" charset="0"/>
                <a:cs typeface="Times New Roman" panose="02020603050405020304" pitchFamily="18" charset="0"/>
              </a:rPr>
              <a:t>hours</a:t>
            </a:r>
          </a:p>
          <a:p>
            <a:pPr marL="571500" lvl="0" indent="-571500" algn="ctr">
              <a:lnSpc>
                <a:spcPct val="150000"/>
              </a:lnSpc>
              <a:spcBef>
                <a:spcPts val="1200"/>
              </a:spcBef>
              <a:spcAft>
                <a:spcPts val="600"/>
              </a:spcAft>
              <a:buFont typeface="Arial" panose="020B0604020202020204" pitchFamily="34" charset="0"/>
              <a:buChar char="•"/>
            </a:pPr>
            <a:r>
              <a:rPr lang="en-AU" sz="4400" b="1">
                <a:latin typeface="Arial" panose="020B0604020202020204" pitchFamily="34" charset="0"/>
                <a:ea typeface="Calibri" panose="020F0502020204030204" pitchFamily="34" charset="0"/>
                <a:cs typeface="Times New Roman" panose="02020603050405020304" pitchFamily="18" charset="0"/>
              </a:rPr>
              <a:t>0630 </a:t>
            </a:r>
            <a:r>
              <a:rPr lang="en-AU" sz="4400">
                <a:latin typeface="Arial" panose="020B0604020202020204" pitchFamily="34" charset="0"/>
                <a:ea typeface="Calibri" panose="020F0502020204030204" pitchFamily="34" charset="0"/>
                <a:cs typeface="Times New Roman" panose="02020603050405020304" pitchFamily="18" charset="0"/>
              </a:rPr>
              <a:t>hours</a:t>
            </a:r>
            <a:r>
              <a:rPr lang="en-AU" sz="4400">
                <a:effectLst/>
                <a:latin typeface="Arial" panose="020B0604020202020204" pitchFamily="34" charset="0"/>
                <a:ea typeface="Calibri" panose="020F0502020204030204" pitchFamily="34" charset="0"/>
                <a:cs typeface="Times New Roman" panose="02020603050405020304" pitchFamily="18" charset="0"/>
              </a:rPr>
              <a:t> </a:t>
            </a:r>
            <a:endParaRPr lang="en-AU" sz="4400" b="1">
              <a:solidFill>
                <a:schemeClr val="accent2"/>
              </a:solidFill>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thousandths as decimals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216254" y="204337"/>
            <a:ext cx="720000" cy="856364"/>
          </a:xfrm>
          <a:prstGeom prst="rect">
            <a:avLst/>
          </a:prstGeom>
        </p:spPr>
      </p:pic>
      <p:pic>
        <p:nvPicPr>
          <p:cNvPr id="3" name="Picture 2" descr="Interactive spinner with the numbers 0-9">
            <a:extLst>
              <a:ext uri="{FF2B5EF4-FFF2-40B4-BE49-F238E27FC236}">
                <a16:creationId xmlns:a16="http://schemas.microsoft.com/office/drawing/2014/main" id="{E99F6E6E-25C8-BF83-070B-CE2A7A1CFFF3}"/>
              </a:ext>
            </a:extLst>
          </p:cNvPr>
          <p:cNvPicPr>
            <a:picLocks noChangeAspect="1"/>
          </p:cNvPicPr>
          <p:nvPr/>
        </p:nvPicPr>
        <p:blipFill rotWithShape="1">
          <a:blip r:embed="rId4"/>
          <a:srcRect l="16719" r="16904"/>
          <a:stretch/>
        </p:blipFill>
        <p:spPr>
          <a:xfrm>
            <a:off x="8710153" y="360000"/>
            <a:ext cx="2699133" cy="2709907"/>
          </a:xfrm>
          <a:prstGeom prst="rect">
            <a:avLst/>
          </a:prstGeom>
        </p:spPr>
      </p:pic>
      <p:grpSp>
        <p:nvGrpSpPr>
          <p:cNvPr id="17" name="Group 16" descr="A whiteboard representation with boxes labelled with ones, tenths, hundredths and thousandths headings.">
            <a:extLst>
              <a:ext uri="{FF2B5EF4-FFF2-40B4-BE49-F238E27FC236}">
                <a16:creationId xmlns:a16="http://schemas.microsoft.com/office/drawing/2014/main" id="{16F10A15-81B3-ECE2-33BA-EA600225D1ED}"/>
              </a:ext>
            </a:extLst>
          </p:cNvPr>
          <p:cNvGrpSpPr/>
          <p:nvPr/>
        </p:nvGrpSpPr>
        <p:grpSpPr>
          <a:xfrm>
            <a:off x="1742842" y="1488875"/>
            <a:ext cx="6095435" cy="3788071"/>
            <a:chOff x="914400" y="707262"/>
            <a:chExt cx="6095435" cy="3788071"/>
          </a:xfrm>
        </p:grpSpPr>
        <p:grpSp>
          <p:nvGrpSpPr>
            <p:cNvPr id="11" name="Group 10">
              <a:extLst>
                <a:ext uri="{FF2B5EF4-FFF2-40B4-BE49-F238E27FC236}">
                  <a16:creationId xmlns:a16="http://schemas.microsoft.com/office/drawing/2014/main" id="{DD8D2D5E-B958-2190-F68D-E62DA44D4EED}"/>
                </a:ext>
              </a:extLst>
            </p:cNvPr>
            <p:cNvGrpSpPr/>
            <p:nvPr/>
          </p:nvGrpSpPr>
          <p:grpSpPr>
            <a:xfrm>
              <a:off x="914400" y="3121968"/>
              <a:ext cx="5846421" cy="1373365"/>
              <a:chOff x="914400" y="3121968"/>
              <a:chExt cx="5846421" cy="1373365"/>
            </a:xfrm>
          </p:grpSpPr>
          <p:sp>
            <p:nvSpPr>
              <p:cNvPr id="8" name="TextBox 7">
                <a:extLst>
                  <a:ext uri="{FF2B5EF4-FFF2-40B4-BE49-F238E27FC236}">
                    <a16:creationId xmlns:a16="http://schemas.microsoft.com/office/drawing/2014/main" id="{52D1263C-FEE4-D714-7B13-09FED832272D}"/>
                  </a:ext>
                  <a:ext uri="{C183D7F6-B498-43B3-948B-1728B52AA6E4}">
                    <adec:decorative xmlns:adec="http://schemas.microsoft.com/office/drawing/2017/decorative" val="1"/>
                  </a:ext>
                </a:extLst>
              </p:cNvPr>
              <p:cNvSpPr txBox="1"/>
              <p:nvPr/>
            </p:nvSpPr>
            <p:spPr>
              <a:xfrm>
                <a:off x="914400" y="3121970"/>
                <a:ext cx="1129552" cy="1108037"/>
              </a:xfrm>
              <a:prstGeom prst="rect">
                <a:avLst/>
              </a:prstGeom>
              <a:noFill/>
              <a:ln w="9525">
                <a:solidFill>
                  <a:schemeClr val="tx1"/>
                </a:solidFill>
              </a:ln>
            </p:spPr>
            <p:txBody>
              <a:bodyPr wrap="square" lIns="0" tIns="0" rIns="0" bIns="0" rtlCol="0">
                <a:noAutofit/>
              </a:bodyPr>
              <a:lstStyle/>
              <a:p>
                <a:pPr algn="l"/>
                <a:endParaRPr lang="en-AU" sz="600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1D56AE3B-C9CF-DA0B-36EF-69B953D78A3F}"/>
                  </a:ext>
                  <a:ext uri="{C183D7F6-B498-43B3-948B-1728B52AA6E4}">
                    <adec:decorative xmlns:adec="http://schemas.microsoft.com/office/drawing/2017/decorative" val="1"/>
                  </a:ext>
                </a:extLst>
              </p:cNvPr>
              <p:cNvSpPr txBox="1"/>
              <p:nvPr/>
            </p:nvSpPr>
            <p:spPr>
              <a:xfrm>
                <a:off x="2820297" y="3121970"/>
                <a:ext cx="1129552" cy="1108037"/>
              </a:xfrm>
              <a:prstGeom prst="rect">
                <a:avLst/>
              </a:prstGeom>
              <a:noFill/>
              <a:ln w="9525">
                <a:solidFill>
                  <a:schemeClr val="tx1"/>
                </a:solidFill>
              </a:ln>
            </p:spPr>
            <p:txBody>
              <a:bodyPr wrap="square" lIns="0" tIns="0" rIns="0" bIns="0" rtlCol="0">
                <a:noAutofit/>
              </a:bodyPr>
              <a:lstStyle/>
              <a:p>
                <a:pPr algn="l"/>
                <a:endParaRPr lang="en-AU" sz="600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61F046D-5681-DFD8-C06A-58B6EFA1CE43}"/>
                  </a:ext>
                  <a:ext uri="{C183D7F6-B498-43B3-948B-1728B52AA6E4}">
                    <adec:decorative xmlns:adec="http://schemas.microsoft.com/office/drawing/2017/decorative" val="1"/>
                  </a:ext>
                </a:extLst>
              </p:cNvPr>
              <p:cNvSpPr txBox="1"/>
              <p:nvPr/>
            </p:nvSpPr>
            <p:spPr>
              <a:xfrm>
                <a:off x="4225783" y="3121969"/>
                <a:ext cx="1129552" cy="1108037"/>
              </a:xfrm>
              <a:prstGeom prst="rect">
                <a:avLst/>
              </a:prstGeom>
              <a:noFill/>
              <a:ln w="9525">
                <a:solidFill>
                  <a:schemeClr val="tx1"/>
                </a:solidFill>
              </a:ln>
            </p:spPr>
            <p:txBody>
              <a:bodyPr wrap="square" lIns="0" tIns="0" rIns="0" bIns="0" rtlCol="0">
                <a:noAutofit/>
              </a:bodyPr>
              <a:lstStyle/>
              <a:p>
                <a:pPr algn="l"/>
                <a:endParaRPr lang="en-AU" sz="600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295EC0C-7935-1DF7-F500-2CD7BA851E1A}"/>
                  </a:ext>
                  <a:ext uri="{C183D7F6-B498-43B3-948B-1728B52AA6E4}">
                    <adec:decorative xmlns:adec="http://schemas.microsoft.com/office/drawing/2017/decorative" val="1"/>
                  </a:ext>
                </a:extLst>
              </p:cNvPr>
              <p:cNvSpPr txBox="1"/>
              <p:nvPr/>
            </p:nvSpPr>
            <p:spPr>
              <a:xfrm>
                <a:off x="5631269" y="3121968"/>
                <a:ext cx="1129552" cy="1108037"/>
              </a:xfrm>
              <a:prstGeom prst="rect">
                <a:avLst/>
              </a:prstGeom>
              <a:noFill/>
              <a:ln w="9525">
                <a:solidFill>
                  <a:schemeClr val="tx1"/>
                </a:solidFill>
              </a:ln>
            </p:spPr>
            <p:txBody>
              <a:bodyPr wrap="square" lIns="0" tIns="0" rIns="0" bIns="0" rtlCol="0">
                <a:noAutofit/>
              </a:bodyPr>
              <a:lstStyle/>
              <a:p>
                <a:pPr algn="l"/>
                <a:endParaRPr lang="en-AU" sz="600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69C2AFBD-19E4-74A5-267E-FE26EE031E6C}"/>
                  </a:ext>
                </a:extLst>
              </p:cNvPr>
              <p:cNvSpPr txBox="1"/>
              <p:nvPr/>
            </p:nvSpPr>
            <p:spPr>
              <a:xfrm>
                <a:off x="2201737" y="3295004"/>
                <a:ext cx="342626" cy="1200329"/>
              </a:xfrm>
              <a:prstGeom prst="rect">
                <a:avLst/>
              </a:prstGeom>
              <a:noFill/>
            </p:spPr>
            <p:txBody>
              <a:bodyPr wrap="square">
                <a:spAutoFit/>
              </a:bodyPr>
              <a:lstStyle/>
              <a:p>
                <a:r>
                  <a:rPr lang="en-AU" sz="7200">
                    <a:latin typeface="Arial" panose="020B0604020202020204" pitchFamily="34" charset="0"/>
                    <a:cs typeface="Arial" panose="020B0604020202020204" pitchFamily="34" charset="0"/>
                  </a:rPr>
                  <a:t>.</a:t>
                </a:r>
                <a:endParaRPr lang="en-AU">
                  <a:latin typeface="Arial" panose="020B0604020202020204" pitchFamily="34" charset="0"/>
                  <a:cs typeface="Arial" panose="020B0604020202020204" pitchFamily="34" charset="0"/>
                </a:endParaRPr>
              </a:p>
            </p:txBody>
          </p:sp>
        </p:grpSp>
        <p:sp>
          <p:nvSpPr>
            <p:cNvPr id="13" name="TextBox 12">
              <a:extLst>
                <a:ext uri="{FF2B5EF4-FFF2-40B4-BE49-F238E27FC236}">
                  <a16:creationId xmlns:a16="http://schemas.microsoft.com/office/drawing/2014/main" id="{15E6D77E-F289-D85C-07F0-B0F60D4E93BC}"/>
                </a:ext>
              </a:extLst>
            </p:cNvPr>
            <p:cNvSpPr txBox="1"/>
            <p:nvPr/>
          </p:nvSpPr>
          <p:spPr>
            <a:xfrm rot="18144190">
              <a:off x="729592" y="1654468"/>
              <a:ext cx="2440014" cy="545601"/>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ones</a:t>
              </a:r>
              <a:endParaRPr lang="en-AU" sz="180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B79ED838-C95F-107D-A29F-FF4CE9798CE6}"/>
                </a:ext>
              </a:extLst>
            </p:cNvPr>
            <p:cNvSpPr txBox="1"/>
            <p:nvPr/>
          </p:nvSpPr>
          <p:spPr>
            <a:xfrm rot="18144190">
              <a:off x="2686457" y="1715609"/>
              <a:ext cx="2440014" cy="545601"/>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tenths</a:t>
              </a:r>
              <a:endParaRPr lang="en-AU" sz="180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70065635-F52B-F18E-8FE6-C5B8F45B0DD7}"/>
                </a:ext>
              </a:extLst>
            </p:cNvPr>
            <p:cNvSpPr txBox="1"/>
            <p:nvPr/>
          </p:nvSpPr>
          <p:spPr>
            <a:xfrm rot="18144190">
              <a:off x="4101742" y="1712999"/>
              <a:ext cx="2440014" cy="545601"/>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hundredths</a:t>
              </a:r>
              <a:endParaRPr lang="en-AU" sz="180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196A8EC3-AD05-451E-3C05-89518AA8E770}"/>
                </a:ext>
              </a:extLst>
            </p:cNvPr>
            <p:cNvSpPr txBox="1"/>
            <p:nvPr/>
          </p:nvSpPr>
          <p:spPr>
            <a:xfrm rot="18144190">
              <a:off x="5517028" y="1670320"/>
              <a:ext cx="2440014" cy="545601"/>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thousandths</a:t>
              </a:r>
              <a:endParaRPr lang="en-AU" sz="1800">
                <a:latin typeface="Arial" panose="020B0604020202020204" pitchFamily="34" charset="0"/>
                <a:cs typeface="Arial" panose="020B0604020202020204" pitchFamily="34" charset="0"/>
              </a:endParaRPr>
            </a:p>
          </p:txBody>
        </p:sp>
      </p:grpSp>
      <p:sp>
        <p:nvSpPr>
          <p:cNvPr id="5" name="Isosceles Triangle 4">
            <a:extLst>
              <a:ext uri="{FF2B5EF4-FFF2-40B4-BE49-F238E27FC236}">
                <a16:creationId xmlns:a16="http://schemas.microsoft.com/office/drawing/2014/main" id="{BB07E4A6-A6C3-223E-DB9B-28270855AC8F}"/>
              </a:ext>
              <a:ext uri="{C183D7F6-B498-43B3-948B-1728B52AA6E4}">
                <adec:decorative xmlns:adec="http://schemas.microsoft.com/office/drawing/2017/decorative" val="1"/>
              </a:ext>
            </a:extLst>
          </p:cNvPr>
          <p:cNvSpPr/>
          <p:nvPr/>
        </p:nvSpPr>
        <p:spPr>
          <a:xfrm rot="10800000">
            <a:off x="9733622" y="0"/>
            <a:ext cx="581891" cy="800220"/>
          </a:xfrm>
          <a:prstGeom prst="triangle">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a:extLst>
              <a:ext uri="{FF2B5EF4-FFF2-40B4-BE49-F238E27FC236}">
                <a16:creationId xmlns:a16="http://schemas.microsoft.com/office/drawing/2014/main" id="{4D912287-2144-F95F-0E4B-D32B321833AD}"/>
              </a:ext>
            </a:extLst>
          </p:cNvPr>
          <p:cNvSpPr/>
          <p:nvPr/>
        </p:nvSpPr>
        <p:spPr>
          <a:xfrm>
            <a:off x="9742668" y="1476922"/>
            <a:ext cx="556282" cy="55628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AU" sz="900">
                <a:solidFill>
                  <a:schemeClr val="tx1"/>
                </a:solidFill>
                <a:latin typeface="Arial Black" panose="020B0A04020102020204" pitchFamily="34" charset="0"/>
              </a:rPr>
              <a:t>Spin!</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500" fill="hold"/>
                                        <p:tgtEl>
                                          <p:spTgt spid="3"/>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nextCondLst>
                <p:cond evt="onClick" delay="0">
                  <p:tgtEl>
                    <p:spTgt spid="7"/>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sp>
        <p:nvSpPr>
          <p:cNvPr id="6" name="Text Placeholder 5">
            <a:extLst>
              <a:ext uri="{FF2B5EF4-FFF2-40B4-BE49-F238E27FC236}">
                <a16:creationId xmlns:a16="http://schemas.microsoft.com/office/drawing/2014/main" id="{B4E45FD3-3CB9-7929-21B5-6CF9A37684C0}"/>
              </a:ext>
              <a:ext uri="{C183D7F6-B498-43B3-948B-1728B52AA6E4}">
                <adec:decorative xmlns:adec="http://schemas.microsoft.com/office/drawing/2017/decorative" val="0"/>
              </a:ext>
            </a:extLst>
          </p:cNvPr>
          <p:cNvSpPr>
            <a:spLocks noGrp="1"/>
          </p:cNvSpPr>
          <p:nvPr>
            <p:ph type="body" sz="quarter" idx="22"/>
          </p:nvPr>
        </p:nvSpPr>
        <p:spPr>
          <a:xfrm>
            <a:off x="1676583" y="1436714"/>
            <a:ext cx="9131325" cy="893226"/>
          </a:xfrm>
        </p:spPr>
        <p:txBody>
          <a:bodyPr/>
          <a:lstStyle/>
          <a:p>
            <a:pPr algn="ctr"/>
            <a:r>
              <a:rPr lang="en-AU" sz="4400" b="1"/>
              <a:t>One </a:t>
            </a:r>
            <a:r>
              <a:rPr lang="en-AU" sz="4400"/>
              <a:t>and</a:t>
            </a:r>
            <a:r>
              <a:rPr lang="en-AU" sz="4400" b="1"/>
              <a:t> five hundred and sixty-one thousandths </a:t>
            </a:r>
            <a:r>
              <a:rPr lang="en-AU" sz="4400"/>
              <a:t>written as a decimal is </a:t>
            </a:r>
            <a:r>
              <a:rPr lang="en-AU" sz="4400" b="1">
                <a:solidFill>
                  <a:schemeClr val="accent2"/>
                </a:solidFill>
              </a:rPr>
              <a:t>1.561</a:t>
            </a:r>
            <a:r>
              <a:rPr lang="en-AU" sz="4400"/>
              <a:t>.</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7" name="TextBox 6">
            <a:extLst>
              <a:ext uri="{FF2B5EF4-FFF2-40B4-BE49-F238E27FC236}">
                <a16:creationId xmlns:a16="http://schemas.microsoft.com/office/drawing/2014/main" id="{0E9997CD-4361-2191-ACC8-2F4B3DB8B1E6}"/>
              </a:ext>
            </a:extLst>
          </p:cNvPr>
          <p:cNvSpPr txBox="1"/>
          <p:nvPr/>
        </p:nvSpPr>
        <p:spPr>
          <a:xfrm>
            <a:off x="752475" y="905601"/>
            <a:ext cx="10687050" cy="5287409"/>
          </a:xfrm>
          <a:prstGeom prst="rect">
            <a:avLst/>
          </a:prstGeom>
          <a:noFill/>
        </p:spPr>
        <p:txBody>
          <a:bodyPr wrap="square">
            <a:spAutoFit/>
          </a:bodyPr>
          <a:lstStyle/>
          <a:p>
            <a:pPr lvl="0">
              <a:lnSpc>
                <a:spcPct val="150000"/>
              </a:lnSpc>
              <a:spcBef>
                <a:spcPts val="1200"/>
              </a:spcBef>
              <a:spcAft>
                <a:spcPts val="600"/>
              </a:spcAft>
            </a:pPr>
            <a:r>
              <a:rPr lang="en-AU" sz="4000" b="1" dirty="0">
                <a:latin typeface="Arial" panose="020B0604020202020204" pitchFamily="34" charset="0"/>
                <a:ea typeface="Calibri" panose="020F0502020204030204" pitchFamily="34" charset="0"/>
              </a:rPr>
              <a:t>Convert</a:t>
            </a:r>
            <a:r>
              <a:rPr lang="en-AU" sz="4000" dirty="0">
                <a:latin typeface="Arial" panose="020B0604020202020204" pitchFamily="34" charset="0"/>
                <a:ea typeface="Calibri" panose="020F0502020204030204" pitchFamily="34" charset="0"/>
              </a:rPr>
              <a:t> the </a:t>
            </a:r>
            <a:r>
              <a:rPr lang="en-AU" sz="4000" b="1" dirty="0">
                <a:latin typeface="Arial" panose="020B0604020202020204" pitchFamily="34" charset="0"/>
                <a:ea typeface="Calibri" panose="020F0502020204030204" pitchFamily="34" charset="0"/>
              </a:rPr>
              <a:t>millilitres to litres </a:t>
            </a:r>
            <a:r>
              <a:rPr lang="en-AU" sz="4000" dirty="0">
                <a:latin typeface="Arial" panose="020B0604020202020204" pitchFamily="34" charset="0"/>
                <a:ea typeface="Calibri" panose="020F0502020204030204" pitchFamily="34" charset="0"/>
              </a:rPr>
              <a:t>and the </a:t>
            </a:r>
            <a:r>
              <a:rPr lang="en-AU" sz="4000" b="1" dirty="0">
                <a:latin typeface="Arial" panose="020B0604020202020204" pitchFamily="34" charset="0"/>
                <a:ea typeface="Calibri" panose="020F0502020204030204" pitchFamily="34" charset="0"/>
              </a:rPr>
              <a:t>litres to millilitres</a:t>
            </a:r>
            <a:r>
              <a:rPr lang="en-AU" sz="4000" dirty="0">
                <a:latin typeface="Arial" panose="020B0604020202020204" pitchFamily="34" charset="0"/>
                <a:ea typeface="Calibri" panose="020F0502020204030204" pitchFamily="34" charset="0"/>
              </a:rPr>
              <a:t>:</a:t>
            </a:r>
          </a:p>
          <a:p>
            <a:pPr marL="342900" lvl="0" indent="-342900" algn="ctr">
              <a:lnSpc>
                <a:spcPct val="150000"/>
              </a:lnSpc>
              <a:spcBef>
                <a:spcPts val="1200"/>
              </a:spcBef>
              <a:spcAft>
                <a:spcPts val="600"/>
              </a:spcAft>
              <a:buFont typeface="Arial" panose="020B0604020202020204" pitchFamily="34" charset="0"/>
              <a:buChar char="•"/>
            </a:pPr>
            <a:r>
              <a:rPr lang="en-AU" sz="4000" dirty="0">
                <a:effectLst/>
                <a:latin typeface="Arial" panose="020B0604020202020204" pitchFamily="34" charset="0"/>
                <a:ea typeface="Calibri" panose="020F0502020204030204" pitchFamily="34" charset="0"/>
                <a:cs typeface="Times New Roman" panose="02020603050405020304" pitchFamily="18" charset="0"/>
              </a:rPr>
              <a:t>125 mL</a:t>
            </a:r>
          </a:p>
          <a:p>
            <a:pPr marL="342900" indent="-342900" algn="ctr">
              <a:lnSpc>
                <a:spcPct val="150000"/>
              </a:lnSpc>
              <a:spcBef>
                <a:spcPts val="1200"/>
              </a:spcBef>
              <a:spcAft>
                <a:spcPts val="600"/>
              </a:spcAft>
              <a:buFont typeface="Arial" panose="020B0604020202020204" pitchFamily="34" charset="0"/>
              <a:buChar char="•"/>
            </a:pPr>
            <a:r>
              <a:rPr lang="en-AU" sz="4000" dirty="0">
                <a:latin typeface="Arial" panose="020B0604020202020204" pitchFamily="34" charset="0"/>
                <a:ea typeface="Calibri" panose="020F0502020204030204" pitchFamily="34" charset="0"/>
                <a:cs typeface="Times New Roman" panose="02020603050405020304" pitchFamily="18" charset="0"/>
              </a:rPr>
              <a:t>2.03L</a:t>
            </a:r>
          </a:p>
          <a:p>
            <a:pPr marL="342900" lvl="0" indent="-342900" algn="ctr">
              <a:lnSpc>
                <a:spcPct val="150000"/>
              </a:lnSpc>
              <a:spcBef>
                <a:spcPts val="1200"/>
              </a:spcBef>
              <a:spcAft>
                <a:spcPts val="600"/>
              </a:spcAft>
              <a:buFont typeface="Arial" panose="020B0604020202020204" pitchFamily="34" charset="0"/>
              <a:buChar char="•"/>
            </a:pPr>
            <a:r>
              <a:rPr lang="en-AU" sz="4000" dirty="0">
                <a:latin typeface="Arial" panose="020B0604020202020204" pitchFamily="34" charset="0"/>
                <a:ea typeface="Calibri" panose="020F0502020204030204" pitchFamily="34" charset="0"/>
                <a:cs typeface="Times New Roman" panose="02020603050405020304" pitchFamily="18" charset="0"/>
              </a:rPr>
              <a:t>6</a:t>
            </a:r>
            <a:r>
              <a:rPr lang="en-AU" sz="4000" dirty="0">
                <a:effectLst/>
                <a:latin typeface="Arial" panose="020B0604020202020204" pitchFamily="34" charset="0"/>
                <a:ea typeface="Calibri" panose="020F0502020204030204" pitchFamily="34" charset="0"/>
                <a:cs typeface="Times New Roman" panose="02020603050405020304" pitchFamily="18" charset="0"/>
              </a:rPr>
              <a:t> mL</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0000E38-DE8C-7199-F4C2-44992FDB6F14}"/>
                  </a:ext>
                </a:extLst>
              </p:cNvPr>
              <p:cNvSpPr txBox="1"/>
              <p:nvPr/>
            </p:nvSpPr>
            <p:spPr>
              <a:xfrm>
                <a:off x="246024" y="1184223"/>
                <a:ext cx="6377800" cy="4886722"/>
              </a:xfrm>
              <a:prstGeom prst="rect">
                <a:avLst/>
              </a:prstGeom>
              <a:noFill/>
            </p:spPr>
            <p:txBody>
              <a:bodyPr wrap="square">
                <a:spAutoFit/>
              </a:bodyPr>
              <a:lstStyle/>
              <a:p>
                <a:pPr lvl="0">
                  <a:lnSpc>
                    <a:spcPct val="150000"/>
                  </a:lnSpc>
                  <a:spcBef>
                    <a:spcPts val="1200"/>
                  </a:spcBef>
                  <a:spcAft>
                    <a:spcPts val="600"/>
                  </a:spcAft>
                </a:pPr>
                <a:r>
                  <a:rPr lang="en-AU" sz="3200">
                    <a:latin typeface="Arial" panose="020B0604020202020204" pitchFamily="34" charset="0"/>
                    <a:ea typeface="Calibri" panose="020F0502020204030204" pitchFamily="34" charset="0"/>
                  </a:rPr>
                  <a:t>Which </a:t>
                </a:r>
                <a:r>
                  <a:rPr lang="en-AU" sz="3200" b="1">
                    <a:latin typeface="Arial" panose="020B0604020202020204" pitchFamily="34" charset="0"/>
                    <a:ea typeface="Calibri" panose="020F0502020204030204" pitchFamily="34" charset="0"/>
                  </a:rPr>
                  <a:t>random generator </a:t>
                </a:r>
                <a:r>
                  <a:rPr lang="en-AU" sz="3200">
                    <a:latin typeface="Arial" panose="020B0604020202020204" pitchFamily="34" charset="0"/>
                    <a:ea typeface="Calibri" panose="020F0502020204030204" pitchFamily="34" charset="0"/>
                  </a:rPr>
                  <a:t>matches the following statements:</a:t>
                </a:r>
                <a:endParaRPr lang="en-AU" sz="2000">
                  <a:latin typeface="Arial" panose="020B0604020202020204" pitchFamily="34" charset="0"/>
                  <a:ea typeface="Calibri" panose="020F0502020204030204" pitchFamily="34" charset="0"/>
                </a:endParaRPr>
              </a:p>
              <a:p>
                <a:pPr marL="457200" lvl="0" indent="-457200">
                  <a:lnSpc>
                    <a:spcPct val="150000"/>
                  </a:lnSpc>
                  <a:spcBef>
                    <a:spcPts val="1200"/>
                  </a:spcBef>
                  <a:spcAft>
                    <a:spcPts val="600"/>
                  </a:spcAft>
                  <a:buFont typeface="+mj-lt"/>
                  <a:buAutoNum type="arabicPeriod"/>
                </a:pPr>
                <a:r>
                  <a:rPr lang="en-AU">
                    <a:effectLst/>
                    <a:latin typeface="Arial" panose="020B0604020202020204" pitchFamily="34" charset="0"/>
                    <a:ea typeface="Calibri" panose="020F0502020204030204" pitchFamily="34" charset="0"/>
                    <a:cs typeface="Times New Roman" panose="02020603050405020304" pitchFamily="18" charset="0"/>
                  </a:rPr>
                  <a:t>There is a </a:t>
                </a:r>
                <a:r>
                  <a:rPr lang="en-AU" b="1">
                    <a:effectLst/>
                    <a:latin typeface="Arial" panose="020B0604020202020204" pitchFamily="34" charset="0"/>
                    <a:ea typeface="Calibri" panose="020F0502020204030204" pitchFamily="34" charset="0"/>
                    <a:cs typeface="Times New Roman" panose="02020603050405020304" pitchFamily="18" charset="0"/>
                  </a:rPr>
                  <a:t>1 in 3 </a:t>
                </a:r>
                <a:r>
                  <a:rPr lang="en-AU">
                    <a:effectLst/>
                    <a:latin typeface="Arial" panose="020B0604020202020204" pitchFamily="34" charset="0"/>
                    <a:ea typeface="Calibri" panose="020F0502020204030204" pitchFamily="34" charset="0"/>
                    <a:cs typeface="Times New Roman" panose="02020603050405020304" pitchFamily="18" charset="0"/>
                  </a:rPr>
                  <a:t>chance of an outcome</a:t>
                </a:r>
              </a:p>
              <a:p>
                <a:pPr marL="457200" lvl="0" indent="-457200">
                  <a:lnSpc>
                    <a:spcPct val="150000"/>
                  </a:lnSpc>
                  <a:spcBef>
                    <a:spcPts val="1200"/>
                  </a:spcBef>
                  <a:spcAft>
                    <a:spcPts val="600"/>
                  </a:spcAft>
                  <a:buFont typeface="+mj-lt"/>
                  <a:buAutoNum type="arabicPeriod"/>
                </a:pPr>
                <a:r>
                  <a:rPr lang="en-AU">
                    <a:latin typeface="Arial" panose="020B0604020202020204" pitchFamily="34" charset="0"/>
                    <a:ea typeface="Calibri" panose="020F0502020204030204" pitchFamily="34" charset="0"/>
                    <a:cs typeface="Times New Roman" panose="02020603050405020304" pitchFamily="18" charset="0"/>
                  </a:rPr>
                  <a:t>There is a </a:t>
                </a:r>
                <a:r>
                  <a:rPr lang="en-AU" b="1">
                    <a:latin typeface="Arial" panose="020B0604020202020204" pitchFamily="34" charset="0"/>
                    <a:ea typeface="Calibri" panose="020F0502020204030204" pitchFamily="34" charset="0"/>
                    <a:cs typeface="Times New Roman" panose="02020603050405020304" pitchFamily="18" charset="0"/>
                  </a:rPr>
                  <a:t>50-50 </a:t>
                </a:r>
                <a:r>
                  <a:rPr lang="en-AU">
                    <a:latin typeface="Arial" panose="020B0604020202020204" pitchFamily="34" charset="0"/>
                    <a:ea typeface="Calibri" panose="020F0502020204030204" pitchFamily="34" charset="0"/>
                    <a:cs typeface="Times New Roman" panose="02020603050405020304" pitchFamily="18" charset="0"/>
                  </a:rPr>
                  <a:t>chance of an outcome</a:t>
                </a:r>
                <a:endParaRPr lang="en-AU">
                  <a:effectLst/>
                  <a:latin typeface="Arial" panose="020B0604020202020204" pitchFamily="34" charset="0"/>
                  <a:ea typeface="Calibri" panose="020F0502020204030204" pitchFamily="34" charset="0"/>
                  <a:cs typeface="Times New Roman" panose="02020603050405020304" pitchFamily="18" charset="0"/>
                </a:endParaRPr>
              </a:p>
              <a:p>
                <a:pPr marL="457200" lvl="0" indent="-457200">
                  <a:lnSpc>
                    <a:spcPct val="150000"/>
                  </a:lnSpc>
                  <a:spcBef>
                    <a:spcPts val="1200"/>
                  </a:spcBef>
                  <a:spcAft>
                    <a:spcPts val="600"/>
                  </a:spcAft>
                  <a:buFont typeface="+mj-lt"/>
                  <a:buAutoNum type="arabicPeriod"/>
                </a:pPr>
                <a:r>
                  <a:rPr lang="en-AU">
                    <a:effectLst/>
                    <a:latin typeface="Arial" panose="020B0604020202020204" pitchFamily="34" charset="0"/>
                    <a:ea typeface="Calibri" panose="020F0502020204030204" pitchFamily="34" charset="0"/>
                    <a:cs typeface="Times New Roman" panose="02020603050405020304" pitchFamily="18" charset="0"/>
                  </a:rPr>
                  <a:t>There is </a:t>
                </a:r>
                <a14:m>
                  <m:oMath xmlns:m="http://schemas.openxmlformats.org/officeDocument/2006/math">
                    <m:f>
                      <m:fPr>
                        <m:ctrlPr>
                          <a:rPr lang="en-AU" b="1" i="1"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AU" b="1" i="1" smtClean="0">
                            <a:effectLst/>
                            <a:latin typeface="Cambria Math" panose="02040503050406030204" pitchFamily="18" charset="0"/>
                            <a:ea typeface="Calibri" panose="020F0502020204030204" pitchFamily="34" charset="0"/>
                            <a:cs typeface="Times New Roman" panose="02020603050405020304" pitchFamily="18" charset="0"/>
                          </a:rPr>
                          <m:t>𝟏</m:t>
                        </m:r>
                      </m:num>
                      <m:den>
                        <m:r>
                          <a:rPr lang="en-AU" b="1" i="1" smtClean="0">
                            <a:effectLst/>
                            <a:latin typeface="Cambria Math" panose="02040503050406030204" pitchFamily="18" charset="0"/>
                            <a:ea typeface="Calibri" panose="020F0502020204030204" pitchFamily="34" charset="0"/>
                            <a:cs typeface="Times New Roman" panose="02020603050405020304" pitchFamily="18" charset="0"/>
                          </a:rPr>
                          <m:t>𝟔</m:t>
                        </m:r>
                      </m:den>
                    </m:f>
                  </m:oMath>
                </a14:m>
                <a:r>
                  <a:rPr lang="en-AU">
                    <a:effectLst/>
                    <a:latin typeface="Arial" panose="020B0604020202020204" pitchFamily="34" charset="0"/>
                    <a:ea typeface="Calibri" panose="020F0502020204030204" pitchFamily="34" charset="0"/>
                    <a:cs typeface="Times New Roman" panose="02020603050405020304" pitchFamily="18" charset="0"/>
                  </a:rPr>
                  <a:t> chance of an outcome</a:t>
                </a:r>
              </a:p>
              <a:p>
                <a:pPr marL="457200" lvl="0" indent="-457200">
                  <a:lnSpc>
                    <a:spcPct val="150000"/>
                  </a:lnSpc>
                  <a:spcBef>
                    <a:spcPts val="1200"/>
                  </a:spcBef>
                  <a:spcAft>
                    <a:spcPts val="600"/>
                  </a:spcAft>
                  <a:buFont typeface="+mj-lt"/>
                  <a:buAutoNum type="arabicPeriod"/>
                </a:pPr>
                <a:r>
                  <a:rPr lang="en-AU">
                    <a:latin typeface="Arial" panose="020B0604020202020204" pitchFamily="34" charset="0"/>
                    <a:ea typeface="Calibri" panose="020F0502020204030204" pitchFamily="34" charset="0"/>
                    <a:cs typeface="Times New Roman" panose="02020603050405020304" pitchFamily="18" charset="0"/>
                  </a:rPr>
                  <a:t>There is </a:t>
                </a:r>
                <a:r>
                  <a:rPr lang="en-AU" b="1">
                    <a:latin typeface="Arial" panose="020B0604020202020204" pitchFamily="34" charset="0"/>
                    <a:ea typeface="Calibri" panose="020F0502020204030204" pitchFamily="34" charset="0"/>
                    <a:cs typeface="Times New Roman" panose="02020603050405020304" pitchFamily="18" charset="0"/>
                  </a:rPr>
                  <a:t>25%</a:t>
                </a:r>
                <a:r>
                  <a:rPr lang="en-AU">
                    <a:latin typeface="Arial" panose="020B0604020202020204" pitchFamily="34" charset="0"/>
                    <a:ea typeface="Calibri" panose="020F0502020204030204" pitchFamily="34" charset="0"/>
                    <a:cs typeface="Times New Roman" panose="02020603050405020304" pitchFamily="18" charset="0"/>
                  </a:rPr>
                  <a:t> chance of an outcome.</a:t>
                </a:r>
                <a:endParaRPr lang="en-AU">
                  <a:effectLst/>
                  <a:latin typeface="Arial" panose="020B0604020202020204" pitchFamily="34" charset="0"/>
                  <a:ea typeface="Calibri" panose="020F0502020204030204" pitchFamily="34"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60000E38-DE8C-7199-F4C2-44992FDB6F14}"/>
                  </a:ext>
                </a:extLst>
              </p:cNvPr>
              <p:cNvSpPr txBox="1">
                <a:spLocks noRot="1" noChangeAspect="1" noMove="1" noResize="1" noEditPoints="1" noAdjustHandles="1" noChangeArrowheads="1" noChangeShapeType="1" noTextEdit="1"/>
              </p:cNvSpPr>
              <p:nvPr/>
            </p:nvSpPr>
            <p:spPr>
              <a:xfrm>
                <a:off x="246024" y="1184223"/>
                <a:ext cx="6377800" cy="4886722"/>
              </a:xfrm>
              <a:prstGeom prst="rect">
                <a:avLst/>
              </a:prstGeom>
              <a:blipFill>
                <a:blip r:embed="rId4"/>
                <a:stretch>
                  <a:fillRect l="-2388" r="-1433" b="-1995"/>
                </a:stretch>
              </a:blipFill>
            </p:spPr>
            <p:txBody>
              <a:bodyPr/>
              <a:lstStyle/>
              <a:p>
                <a:r>
                  <a:rPr lang="en-US">
                    <a:noFill/>
                  </a:rPr>
                  <a:t> </a:t>
                </a:r>
              </a:p>
            </p:txBody>
          </p:sp>
        </mc:Fallback>
      </mc:AlternateContent>
      <p:grpSp>
        <p:nvGrpSpPr>
          <p:cNvPr id="10" name="Group 9" descr="A resource titled random generators. There is an image of both sides of a $2 coin. There is a circular spinner divided into three equal parts shaded orange, green and blue. There is a drawing of a bag containing a yellow, blue, green and purple counter. There is a drawing of each face of a standard dot die. ">
            <a:extLst>
              <a:ext uri="{FF2B5EF4-FFF2-40B4-BE49-F238E27FC236}">
                <a16:creationId xmlns:a16="http://schemas.microsoft.com/office/drawing/2014/main" id="{5A1CFC28-4970-40B8-F0AF-85E4DB7E79A0}"/>
              </a:ext>
            </a:extLst>
          </p:cNvPr>
          <p:cNvGrpSpPr/>
          <p:nvPr/>
        </p:nvGrpSpPr>
        <p:grpSpPr>
          <a:xfrm>
            <a:off x="6623824" y="1964822"/>
            <a:ext cx="5395926" cy="3769228"/>
            <a:chOff x="7193770" y="2133867"/>
            <a:chExt cx="4565899" cy="3047733"/>
          </a:xfrm>
        </p:grpSpPr>
        <p:pic>
          <p:nvPicPr>
            <p:cNvPr id="7" name="Picture 6" descr="There is an image of both sides of a $2 coin. There is a circular spinner divided into three equal parts shaded orange, green and blue. There is a drawing of a bag containing a yellow, blue, green and purple counter. There is a drawing of each face of a standard dot die. ">
              <a:extLst>
                <a:ext uri="{FF2B5EF4-FFF2-40B4-BE49-F238E27FC236}">
                  <a16:creationId xmlns:a16="http://schemas.microsoft.com/office/drawing/2014/main" id="{C2FD0C85-A689-E2A5-DE19-DA78FE00208D}"/>
                </a:ext>
              </a:extLst>
            </p:cNvPr>
            <p:cNvPicPr>
              <a:picLocks noChangeAspect="1"/>
            </p:cNvPicPr>
            <p:nvPr/>
          </p:nvPicPr>
          <p:blipFill>
            <a:blip r:embed="rId5"/>
            <a:srcRect l="6393" t="12007"/>
            <a:stretch>
              <a:fillRect/>
            </a:stretch>
          </p:blipFill>
          <p:spPr>
            <a:xfrm>
              <a:off x="7193770" y="2133867"/>
              <a:ext cx="4565899" cy="3047733"/>
            </a:xfrm>
            <a:prstGeom prst="rect">
              <a:avLst/>
            </a:prstGeom>
            <a:ln>
              <a:noFill/>
            </a:ln>
            <a:effectLst>
              <a:outerShdw blurRad="292100" dist="139700" dir="2700000" algn="tl" rotWithShape="0">
                <a:srgbClr val="333333">
                  <a:alpha val="65000"/>
                </a:srgbClr>
              </a:outerShdw>
            </a:effectLst>
          </p:spPr>
        </p:pic>
        <p:sp>
          <p:nvSpPr>
            <p:cNvPr id="9" name="Rectangle 8">
              <a:extLst>
                <a:ext uri="{FF2B5EF4-FFF2-40B4-BE49-F238E27FC236}">
                  <a16:creationId xmlns:a16="http://schemas.microsoft.com/office/drawing/2014/main" id="{1EC6E58F-3FA7-166C-E2FF-45BD3E9F23F5}"/>
                </a:ext>
              </a:extLst>
            </p:cNvPr>
            <p:cNvSpPr/>
            <p:nvPr/>
          </p:nvSpPr>
          <p:spPr>
            <a:xfrm>
              <a:off x="8244468" y="3806283"/>
              <a:ext cx="1419922" cy="12712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5" name="TextBox 4">
            <a:extLst>
              <a:ext uri="{FF2B5EF4-FFF2-40B4-BE49-F238E27FC236}">
                <a16:creationId xmlns:a16="http://schemas.microsoft.com/office/drawing/2014/main" id="{9BA78AEF-6ED3-ACDD-8945-C01BA4161DFF}"/>
              </a:ext>
            </a:extLst>
          </p:cNvPr>
          <p:cNvSpPr txBox="1"/>
          <p:nvPr/>
        </p:nvSpPr>
        <p:spPr>
          <a:xfrm>
            <a:off x="360001" y="1976464"/>
            <a:ext cx="11186958" cy="3281091"/>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cs typeface="Times New Roman" panose="02020603050405020304" pitchFamily="18" charset="0"/>
              </a:rPr>
              <a:t>Use the </a:t>
            </a:r>
            <a:r>
              <a:rPr lang="en-AU" sz="4400" b="1">
                <a:effectLst/>
                <a:latin typeface="Arial" panose="020B0604020202020204" pitchFamily="34" charset="0"/>
                <a:ea typeface="Calibri" panose="020F0502020204030204" pitchFamily="34" charset="0"/>
                <a:cs typeface="Times New Roman" panose="02020603050405020304" pitchFamily="18" charset="0"/>
              </a:rPr>
              <a:t>distributive property </a:t>
            </a:r>
            <a:r>
              <a:rPr lang="en-AU" sz="4400">
                <a:effectLst/>
                <a:latin typeface="Arial" panose="020B0604020202020204" pitchFamily="34" charset="0"/>
                <a:ea typeface="Calibri" panose="020F0502020204030204" pitchFamily="34" charset="0"/>
                <a:cs typeface="Times New Roman" panose="02020603050405020304" pitchFamily="18" charset="0"/>
              </a:rPr>
              <a:t>to solve</a:t>
            </a:r>
            <a:r>
              <a:rPr lang="en-AU" sz="3600">
                <a:effectLst/>
                <a:latin typeface="Arial" panose="020B0604020202020204" pitchFamily="34" charset="0"/>
                <a:ea typeface="Calibri" panose="020F0502020204030204" pitchFamily="34" charset="0"/>
                <a:cs typeface="Times New Roman" panose="02020603050405020304" pitchFamily="18" charset="0"/>
              </a:rPr>
              <a:t>:</a:t>
            </a:r>
          </a:p>
          <a:p>
            <a:pPr lvl="0" algn="ctr">
              <a:lnSpc>
                <a:spcPct val="150000"/>
              </a:lnSpc>
              <a:spcBef>
                <a:spcPts val="1200"/>
              </a:spcBef>
              <a:spcAft>
                <a:spcPts val="600"/>
              </a:spcAft>
            </a:pPr>
            <a:r>
              <a:rPr lang="en-AU" sz="5400">
                <a:effectLst/>
                <a:latin typeface="Arial" panose="020B0604020202020204" pitchFamily="34" charset="0"/>
                <a:ea typeface="Calibri" panose="020F0502020204030204" pitchFamily="34" charset="0"/>
                <a:cs typeface="Times New Roman" panose="02020603050405020304" pitchFamily="18" charset="0"/>
              </a:rPr>
              <a:t> </a:t>
            </a:r>
            <a:r>
              <a:rPr lang="en-AU" sz="9600" b="1">
                <a:solidFill>
                  <a:schemeClr val="accent2"/>
                </a:solidFill>
                <a:latin typeface="Arial" panose="020B0604020202020204" pitchFamily="34" charset="0"/>
                <a:ea typeface="Calibri" panose="020F0502020204030204" pitchFamily="34" charset="0"/>
                <a:cs typeface="Times New Roman" panose="02020603050405020304" pitchFamily="18" charset="0"/>
              </a:rPr>
              <a:t>382 x</a:t>
            </a:r>
            <a:r>
              <a:rPr lang="en-AU" sz="9600" b="1">
                <a:solidFill>
                  <a:schemeClr val="accent2"/>
                </a:solidFill>
                <a:effectLst/>
                <a:latin typeface="Arial" panose="020B0604020202020204" pitchFamily="34" charset="0"/>
                <a:ea typeface="Calibri" panose="020F0502020204030204" pitchFamily="34" charset="0"/>
                <a:cs typeface="Times New Roman" panose="02020603050405020304" pitchFamily="18" charset="0"/>
              </a:rPr>
              <a:t> </a:t>
            </a:r>
            <a:r>
              <a:rPr lang="en-AU" sz="9600" b="1">
                <a:solidFill>
                  <a:schemeClr val="accent2"/>
                </a:solidFill>
                <a:latin typeface="Arial" panose="020B0604020202020204" pitchFamily="34" charset="0"/>
                <a:ea typeface="Calibri" panose="020F0502020204030204" pitchFamily="34" charset="0"/>
                <a:cs typeface="Times New Roman" panose="02020603050405020304" pitchFamily="18" charset="0"/>
              </a:rPr>
              <a:t>3</a:t>
            </a:r>
            <a:r>
              <a:rPr lang="en-AU" sz="9600" b="1">
                <a:solidFill>
                  <a:schemeClr val="accent2"/>
                </a:solidFill>
                <a:effectLst/>
                <a:latin typeface="Arial" panose="020B0604020202020204" pitchFamily="34" charset="0"/>
                <a:ea typeface="Calibri" panose="020F0502020204030204" pitchFamily="34" charset="0"/>
                <a:cs typeface="Times New Roman" panose="02020603050405020304" pitchFamily="18" charset="0"/>
              </a:rPr>
              <a:t> </a:t>
            </a:r>
            <a:endParaRPr lang="en-AU" sz="5400" b="1">
              <a:solidFill>
                <a:schemeClr val="accent2"/>
              </a:solidFill>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E7781A95-B679-FD7A-0DA1-AE2A5014D590}"/>
              </a:ext>
            </a:extLst>
          </p:cNvPr>
          <p:cNvSpPr txBox="1"/>
          <p:nvPr/>
        </p:nvSpPr>
        <p:spPr>
          <a:xfrm>
            <a:off x="246024" y="1051185"/>
            <a:ext cx="5575112" cy="5644815"/>
          </a:xfrm>
          <a:prstGeom prst="rect">
            <a:avLst/>
          </a:prstGeom>
          <a:noFill/>
        </p:spPr>
        <p:txBody>
          <a:bodyPr wrap="square">
            <a:spAutoFit/>
          </a:bodyPr>
          <a:lstStyle/>
          <a:p>
            <a:pPr marL="457200" lvl="0" indent="-457200">
              <a:lnSpc>
                <a:spcPct val="150000"/>
              </a:lnSpc>
              <a:spcBef>
                <a:spcPts val="1200"/>
              </a:spcBef>
              <a:spcAft>
                <a:spcPts val="600"/>
              </a:spcAft>
              <a:buFont typeface="Arial" panose="020B0604020202020204" pitchFamily="34" charset="0"/>
              <a:buChar char="•"/>
            </a:pPr>
            <a:r>
              <a:rPr lang="en-AU" sz="2800">
                <a:latin typeface="Arial" panose="020B0604020202020204" pitchFamily="34" charset="0"/>
                <a:ea typeface="Calibri" panose="020F0502020204030204" pitchFamily="34" charset="0"/>
              </a:rPr>
              <a:t>Which </a:t>
            </a:r>
            <a:r>
              <a:rPr lang="en-AU" sz="2800" b="1">
                <a:latin typeface="Arial" panose="020B0604020202020204" pitchFamily="34" charset="0"/>
                <a:ea typeface="Calibri" panose="020F0502020204030204" pitchFamily="34" charset="0"/>
              </a:rPr>
              <a:t>class </a:t>
            </a:r>
            <a:r>
              <a:rPr lang="en-AU" sz="2800">
                <a:latin typeface="Arial" panose="020B0604020202020204" pitchFamily="34" charset="0"/>
                <a:ea typeface="Calibri" panose="020F0502020204030204" pitchFamily="34" charset="0"/>
              </a:rPr>
              <a:t>is scheduled on </a:t>
            </a:r>
            <a:r>
              <a:rPr lang="en-AU" sz="2800" b="1">
                <a:latin typeface="Arial" panose="020B0604020202020204" pitchFamily="34" charset="0"/>
                <a:ea typeface="Calibri" panose="020F0502020204030204" pitchFamily="34" charset="0"/>
              </a:rPr>
              <a:t>Monday, Thursday </a:t>
            </a:r>
            <a:r>
              <a:rPr lang="en-AU" sz="2800">
                <a:latin typeface="Arial" panose="020B0604020202020204" pitchFamily="34" charset="0"/>
                <a:ea typeface="Calibri" panose="020F0502020204030204" pitchFamily="34" charset="0"/>
              </a:rPr>
              <a:t>and </a:t>
            </a:r>
            <a:r>
              <a:rPr lang="en-AU" sz="2800" b="1">
                <a:latin typeface="Arial" panose="020B0604020202020204" pitchFamily="34" charset="0"/>
                <a:ea typeface="Calibri" panose="020F0502020204030204" pitchFamily="34" charset="0"/>
              </a:rPr>
              <a:t>Sunday </a:t>
            </a:r>
            <a:r>
              <a:rPr lang="en-AU" sz="2800">
                <a:latin typeface="Arial" panose="020B0604020202020204" pitchFamily="34" charset="0"/>
                <a:ea typeface="Calibri" panose="020F0502020204030204" pitchFamily="34" charset="0"/>
              </a:rPr>
              <a:t>at</a:t>
            </a:r>
            <a:r>
              <a:rPr lang="en-AU" sz="2800" b="1">
                <a:latin typeface="Arial" panose="020B0604020202020204" pitchFamily="34" charset="0"/>
                <a:ea typeface="Calibri" panose="020F0502020204030204" pitchFamily="34" charset="0"/>
              </a:rPr>
              <a:t> 7:00 am?</a:t>
            </a:r>
          </a:p>
          <a:p>
            <a:pPr marL="457200" lvl="0" indent="-457200">
              <a:lnSpc>
                <a:spcPct val="150000"/>
              </a:lnSpc>
              <a:spcBef>
                <a:spcPts val="1200"/>
              </a:spcBef>
              <a:spcAft>
                <a:spcPts val="600"/>
              </a:spcAft>
              <a:buFont typeface="Arial" panose="020B0604020202020204" pitchFamily="34" charset="0"/>
              <a:buChar char="•"/>
            </a:pPr>
            <a:r>
              <a:rPr lang="en-AU" sz="2800">
                <a:effectLst/>
                <a:latin typeface="Arial" panose="020B0604020202020204" pitchFamily="34" charset="0"/>
                <a:ea typeface="Calibri" panose="020F0502020204030204" pitchFamily="34" charset="0"/>
                <a:cs typeface="Times New Roman" panose="02020603050405020304" pitchFamily="18" charset="0"/>
              </a:rPr>
              <a:t>What time is </a:t>
            </a:r>
            <a:r>
              <a:rPr lang="en-AU" sz="2800" b="1">
                <a:effectLst/>
                <a:latin typeface="Arial" panose="020B0604020202020204" pitchFamily="34" charset="0"/>
                <a:ea typeface="Calibri" panose="020F0502020204030204" pitchFamily="34" charset="0"/>
                <a:cs typeface="Times New Roman" panose="02020603050405020304" pitchFamily="18" charset="0"/>
              </a:rPr>
              <a:t>boxing </a:t>
            </a:r>
            <a:r>
              <a:rPr lang="en-AU" sz="2800">
                <a:effectLst/>
                <a:latin typeface="Arial" panose="020B0604020202020204" pitchFamily="34" charset="0"/>
                <a:ea typeface="Calibri" panose="020F0502020204030204" pitchFamily="34" charset="0"/>
                <a:cs typeface="Times New Roman" panose="02020603050405020304" pitchFamily="18" charset="0"/>
              </a:rPr>
              <a:t>on </a:t>
            </a:r>
            <a:r>
              <a:rPr lang="en-AU" sz="2800" b="1">
                <a:effectLst/>
                <a:latin typeface="Arial" panose="020B0604020202020204" pitchFamily="34" charset="0"/>
                <a:ea typeface="Calibri" panose="020F0502020204030204" pitchFamily="34" charset="0"/>
                <a:cs typeface="Times New Roman" panose="02020603050405020304" pitchFamily="18" charset="0"/>
              </a:rPr>
              <a:t>Wednesdays?</a:t>
            </a:r>
          </a:p>
          <a:p>
            <a:pPr marL="457200" lvl="0" indent="-457200">
              <a:lnSpc>
                <a:spcPct val="150000"/>
              </a:lnSpc>
              <a:spcBef>
                <a:spcPts val="1200"/>
              </a:spcBef>
              <a:spcAft>
                <a:spcPts val="600"/>
              </a:spcAft>
              <a:buFont typeface="Arial" panose="020B0604020202020204" pitchFamily="34" charset="0"/>
              <a:buChar char="•"/>
            </a:pPr>
            <a:r>
              <a:rPr lang="en-AU" sz="2800">
                <a:latin typeface="Arial" panose="020B0604020202020204" pitchFamily="34" charset="0"/>
                <a:ea typeface="Calibri" panose="020F0502020204030204" pitchFamily="34" charset="0"/>
                <a:cs typeface="Times New Roman" panose="02020603050405020304" pitchFamily="18" charset="0"/>
              </a:rPr>
              <a:t>What time do you think the gym </a:t>
            </a:r>
            <a:r>
              <a:rPr lang="en-AU" sz="2800" b="1">
                <a:latin typeface="Arial" panose="020B0604020202020204" pitchFamily="34" charset="0"/>
                <a:ea typeface="Calibri" panose="020F0502020204030204" pitchFamily="34" charset="0"/>
                <a:cs typeface="Times New Roman" panose="02020603050405020304" pitchFamily="18" charset="0"/>
              </a:rPr>
              <a:t>closes </a:t>
            </a:r>
            <a:r>
              <a:rPr lang="en-AU" sz="2800">
                <a:latin typeface="Arial" panose="020B0604020202020204" pitchFamily="34" charset="0"/>
                <a:ea typeface="Calibri" panose="020F0502020204030204" pitchFamily="34" charset="0"/>
                <a:cs typeface="Times New Roman" panose="02020603050405020304" pitchFamily="18" charset="0"/>
              </a:rPr>
              <a:t>on </a:t>
            </a:r>
            <a:r>
              <a:rPr lang="en-AU" sz="2800" b="1">
                <a:latin typeface="Arial" panose="020B0604020202020204" pitchFamily="34" charset="0"/>
                <a:ea typeface="Calibri" panose="020F0502020204030204" pitchFamily="34" charset="0"/>
                <a:cs typeface="Times New Roman" panose="02020603050405020304" pitchFamily="18" charset="0"/>
              </a:rPr>
              <a:t>Wednesdays </a:t>
            </a:r>
            <a:r>
              <a:rPr lang="en-AU" sz="2800">
                <a:latin typeface="Arial" panose="020B0604020202020204" pitchFamily="34" charset="0"/>
                <a:ea typeface="Calibri" panose="020F0502020204030204" pitchFamily="34" charset="0"/>
                <a:cs typeface="Times New Roman" panose="02020603050405020304" pitchFamily="18" charset="0"/>
              </a:rPr>
              <a:t>and</a:t>
            </a:r>
            <a:r>
              <a:rPr lang="en-AU" sz="2800" b="1">
                <a:latin typeface="Arial" panose="020B0604020202020204" pitchFamily="34" charset="0"/>
                <a:ea typeface="Calibri" panose="020F0502020204030204" pitchFamily="34" charset="0"/>
                <a:cs typeface="Times New Roman" panose="02020603050405020304" pitchFamily="18" charset="0"/>
              </a:rPr>
              <a:t> Saturdays? Explain </a:t>
            </a:r>
            <a:r>
              <a:rPr lang="en-AU" sz="2800">
                <a:latin typeface="Arial" panose="020B0604020202020204" pitchFamily="34" charset="0"/>
                <a:ea typeface="Calibri" panose="020F0502020204030204" pitchFamily="34" charset="0"/>
                <a:cs typeface="Times New Roman" panose="02020603050405020304" pitchFamily="18" charset="0"/>
              </a:rPr>
              <a:t>why.</a:t>
            </a:r>
            <a:endParaRPr lang="en-AU" sz="200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7" name="Picture 6" descr="Gym class schedule:&#10;Cardio: Monday 7:00AM, Tuesday 6:00AM, Wednesday 9:00AM, Thursday 7:00AM, Friday 6:00AM, Saturday 9:00AM, Sunday 7:00AM.&#10;&#10;Pilates: Monday 9:00AM, Tuesday 8:15 AM, Wednesday 10:00AM, Thursday 9:00AM, Friday 8:15AM, Saturday 10:00AM, Sunday 9:00AM.&#10;&#10;Core workout: Monday 2:00PM, Tuesday 3:00PM, Wednesday 4:00PM, Thursday 2:00PM, Friday 3:00PM, Saturday 4:00PM, Sunday 2:00PM&#10;&#10;Boxing: Monday 4:30PM, Tuesday 3:30PM, Wednesday 6:00PM, Thursday 4:30PM, Friday 3:30PM, Saturday 6:00PM, Sunday 4:30PM">
            <a:extLst>
              <a:ext uri="{FF2B5EF4-FFF2-40B4-BE49-F238E27FC236}">
                <a16:creationId xmlns:a16="http://schemas.microsoft.com/office/drawing/2014/main" id="{090A2A17-A50C-5726-91EF-5CF0F719CEAC}"/>
              </a:ext>
            </a:extLst>
          </p:cNvPr>
          <p:cNvPicPr>
            <a:picLocks noChangeAspect="1"/>
          </p:cNvPicPr>
          <p:nvPr/>
        </p:nvPicPr>
        <p:blipFill>
          <a:blip r:embed="rId4"/>
          <a:stretch>
            <a:fillRect/>
          </a:stretch>
        </p:blipFill>
        <p:spPr>
          <a:xfrm>
            <a:off x="5821136" y="1828799"/>
            <a:ext cx="6124840" cy="3752036"/>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decimals with MAB materials</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12" name="Group 11" descr="MAB materials equivalence for decimals.&#10;&#10;thousands block: 1.0 This block represents on whole.&#10;hundreds block: 0.1 This flat represents one-tenth&#10;tens block: 0.01 This rod represents one-hundredth&#10;ones block: 0.001 This centicube represents one-thousandth">
            <a:extLst>
              <a:ext uri="{FF2B5EF4-FFF2-40B4-BE49-F238E27FC236}">
                <a16:creationId xmlns:a16="http://schemas.microsoft.com/office/drawing/2014/main" id="{29120074-6FC3-8820-292D-BBDA32906AE4}"/>
              </a:ext>
            </a:extLst>
          </p:cNvPr>
          <p:cNvGrpSpPr/>
          <p:nvPr/>
        </p:nvGrpSpPr>
        <p:grpSpPr>
          <a:xfrm>
            <a:off x="633510" y="1203648"/>
            <a:ext cx="10924979" cy="4090771"/>
            <a:chOff x="633510" y="1203648"/>
            <a:chExt cx="10924979" cy="4090771"/>
          </a:xfrm>
        </p:grpSpPr>
        <p:sp>
          <p:nvSpPr>
            <p:cNvPr id="5" name="Freeform 2" descr="MAB materials in a table. There is an explanation that a block represents one whole, a flat represents one tenth, a long represents one hundredth and a one represents one thousandth.">
              <a:extLst>
                <a:ext uri="{FF2B5EF4-FFF2-40B4-BE49-F238E27FC236}">
                  <a16:creationId xmlns:a16="http://schemas.microsoft.com/office/drawing/2014/main" id="{174A9A9C-A6A1-6567-239C-722360850026}"/>
                </a:ext>
              </a:extLst>
            </p:cNvPr>
            <p:cNvSpPr/>
            <p:nvPr/>
          </p:nvSpPr>
          <p:spPr>
            <a:xfrm>
              <a:off x="1563476" y="2001719"/>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7" name="Freeform 5" descr="MAB materials in a table. There is an explanation that a block represents one whole, a flat represents one tenth, a long represents one hundredth and a one represents one thousandth.">
              <a:extLst>
                <a:ext uri="{FF2B5EF4-FFF2-40B4-BE49-F238E27FC236}">
                  <a16:creationId xmlns:a16="http://schemas.microsoft.com/office/drawing/2014/main" id="{01762F86-5BE3-A52F-38BD-D725CFDEF51C}"/>
                </a:ext>
              </a:extLst>
            </p:cNvPr>
            <p:cNvSpPr/>
            <p:nvPr/>
          </p:nvSpPr>
          <p:spPr>
            <a:xfrm>
              <a:off x="4076219" y="2044750"/>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8" name="Freeform 3" descr="MAB materials in a table. There is an explanation that a block represents one whole, a flat represents one tenth, a long represents one hundredth and a one represents one thousandth.">
              <a:extLst>
                <a:ext uri="{FF2B5EF4-FFF2-40B4-BE49-F238E27FC236}">
                  <a16:creationId xmlns:a16="http://schemas.microsoft.com/office/drawing/2014/main" id="{E1667D93-795A-1495-A191-C7CA620DFA72}"/>
                </a:ext>
              </a:extLst>
            </p:cNvPr>
            <p:cNvSpPr/>
            <p:nvPr/>
          </p:nvSpPr>
          <p:spPr>
            <a:xfrm>
              <a:off x="7452364" y="1796096"/>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9" name="Freeform 4" descr="MAB materials in a table. There is an explanation that a block represents one whole, a flat represents one tenth, a long represents one hundredth and a one represents one thousandth.">
              <a:extLst>
                <a:ext uri="{FF2B5EF4-FFF2-40B4-BE49-F238E27FC236}">
                  <a16:creationId xmlns:a16="http://schemas.microsoft.com/office/drawing/2014/main" id="{63585AED-8452-5659-37FA-0540BA57B495}"/>
                </a:ext>
              </a:extLst>
            </p:cNvPr>
            <p:cNvSpPr/>
            <p:nvPr/>
          </p:nvSpPr>
          <p:spPr>
            <a:xfrm>
              <a:off x="10141383" y="2339490"/>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pic>
          <p:nvPicPr>
            <p:cNvPr id="11" name="Picture 10" descr="Diagram illustrating place value for decimal numbers, divided into four labeled columns: Ones, Tenths, Hundredths, and Thousandths. Each column contains a visual block (block, flat, rod, or centicube) with corresponding decimal values and fractional representations, highlighting the decreasing value scale from one whole to one-thousandth.&#10;">
              <a:extLst>
                <a:ext uri="{FF2B5EF4-FFF2-40B4-BE49-F238E27FC236}">
                  <a16:creationId xmlns:a16="http://schemas.microsoft.com/office/drawing/2014/main" id="{E4D65683-30EC-011F-A457-8EC7519A4B88}"/>
                </a:ext>
              </a:extLst>
            </p:cNvPr>
            <p:cNvPicPr>
              <a:picLocks noChangeAspect="1"/>
            </p:cNvPicPr>
            <p:nvPr/>
          </p:nvPicPr>
          <p:blipFill>
            <a:blip r:embed="rId12"/>
            <a:stretch>
              <a:fillRect/>
            </a:stretch>
          </p:blipFill>
          <p:spPr>
            <a:xfrm>
              <a:off x="633510" y="1203648"/>
              <a:ext cx="10924979" cy="4090771"/>
            </a:xfrm>
            <a:prstGeom prst="rect">
              <a:avLst/>
            </a:prstGeom>
          </p:spPr>
        </p:pic>
      </p:gr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8 – decimals with MAB materials (2) </a:t>
            </a:r>
            <a:r>
              <a:rPr lang="en-AU">
                <a:solidFill>
                  <a:schemeClr val="bg1"/>
                </a:solidFill>
              </a:rPr>
              <a:t>(2)</a:t>
            </a:r>
          </a:p>
        </p:txBody>
      </p:sp>
      <p:sp>
        <p:nvSpPr>
          <p:cNvPr id="51" name="TextBox 50">
            <a:extLst>
              <a:ext uri="{FF2B5EF4-FFF2-40B4-BE49-F238E27FC236}">
                <a16:creationId xmlns:a16="http://schemas.microsoft.com/office/drawing/2014/main" id="{5E2C3D34-BD87-B1DA-A79E-08B4BCE6DA4C}"/>
              </a:ext>
            </a:extLst>
          </p:cNvPr>
          <p:cNvSpPr txBox="1"/>
          <p:nvPr/>
        </p:nvSpPr>
        <p:spPr>
          <a:xfrm>
            <a:off x="256032" y="1181802"/>
            <a:ext cx="3535680" cy="1200329"/>
          </a:xfrm>
          <a:prstGeom prst="rect">
            <a:avLst/>
          </a:prstGeom>
          <a:noFill/>
        </p:spPr>
        <p:txBody>
          <a:bodyPr wrap="square">
            <a:spAutoFit/>
          </a:bodyPr>
          <a:lstStyle/>
          <a:p>
            <a:r>
              <a:rPr lang="en-AU">
                <a:latin typeface="Arial" panose="020B0604020202020204" pitchFamily="34" charset="0"/>
                <a:ea typeface="Calibri" panose="020F0502020204030204" pitchFamily="34" charset="0"/>
              </a:rPr>
              <a:t>R</a:t>
            </a:r>
            <a:r>
              <a:rPr lang="en-AU" sz="2400">
                <a:effectLst/>
                <a:latin typeface="Arial" panose="020B0604020202020204" pitchFamily="34" charset="0"/>
                <a:ea typeface="Calibri" panose="020F0502020204030204" pitchFamily="34" charset="0"/>
              </a:rPr>
              <a:t>ead the number aloud and represent it using MAB materials</a:t>
            </a:r>
            <a:endParaRPr lang="en-AU"/>
          </a:p>
        </p:txBody>
      </p:sp>
      <p:sp>
        <p:nvSpPr>
          <p:cNvPr id="9" name="TextBox 8">
            <a:extLst>
              <a:ext uri="{FF2B5EF4-FFF2-40B4-BE49-F238E27FC236}">
                <a16:creationId xmlns:a16="http://schemas.microsoft.com/office/drawing/2014/main" id="{CC470BEF-AA63-9F5A-15DD-194A9B3A0945}"/>
              </a:ext>
            </a:extLst>
          </p:cNvPr>
          <p:cNvSpPr txBox="1"/>
          <p:nvPr/>
        </p:nvSpPr>
        <p:spPr>
          <a:xfrm>
            <a:off x="4152450" y="1181802"/>
            <a:ext cx="3646844" cy="666973"/>
          </a:xfrm>
          <a:prstGeom prst="rect">
            <a:avLst/>
          </a:prstGeom>
          <a:solidFill>
            <a:schemeClr val="accent4"/>
          </a:solidFill>
          <a:ln>
            <a:solidFill>
              <a:srgbClr val="002060"/>
            </a:solidFill>
          </a:ln>
        </p:spPr>
        <p:txBody>
          <a:bodyPr wrap="square" lIns="0" tIns="0" rIns="0" bIns="0" rtlCol="0">
            <a:noAutofit/>
          </a:bodyPr>
          <a:lstStyle/>
          <a:p>
            <a:pPr algn="ctr"/>
            <a:r>
              <a:rPr lang="en-AU" sz="4000">
                <a:latin typeface="Arial" panose="020B0604020202020204" pitchFamily="34" charset="0"/>
                <a:cs typeface="Arial" panose="020B0604020202020204" pitchFamily="34" charset="0"/>
              </a:rPr>
              <a:t>1.594</a:t>
            </a:r>
            <a:endParaRPr lang="en-AU" sz="600">
              <a:latin typeface="Arial" panose="020B0604020202020204" pitchFamily="34" charset="0"/>
              <a:cs typeface="Arial" panose="020B0604020202020204" pitchFamily="34" charset="0"/>
            </a:endParaRPr>
          </a:p>
        </p:txBody>
      </p:sp>
      <p:sp>
        <p:nvSpPr>
          <p:cNvPr id="5" name="Freeform 2" descr="MAB blocks at the bottom of the screen: 1000 block, 100 flat, ten and one.">
            <a:extLst>
              <a:ext uri="{FF2B5EF4-FFF2-40B4-BE49-F238E27FC236}">
                <a16:creationId xmlns:a16="http://schemas.microsoft.com/office/drawing/2014/main" id="{174A9A9C-A6A1-6567-239C-722360850026}"/>
              </a:ext>
            </a:extLst>
          </p:cNvPr>
          <p:cNvSpPr/>
          <p:nvPr/>
        </p:nvSpPr>
        <p:spPr>
          <a:xfrm>
            <a:off x="2641201" y="5530124"/>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6" name="Freeform 5" descr="MAB blocks at the bottom of the screen: 1000 block, 100 flat, ten and one.">
            <a:extLst>
              <a:ext uri="{FF2B5EF4-FFF2-40B4-BE49-F238E27FC236}">
                <a16:creationId xmlns:a16="http://schemas.microsoft.com/office/drawing/2014/main" id="{01762F86-5BE3-A52F-38BD-D725CFDEF51C}"/>
              </a:ext>
            </a:extLst>
          </p:cNvPr>
          <p:cNvSpPr/>
          <p:nvPr/>
        </p:nvSpPr>
        <p:spPr>
          <a:xfrm>
            <a:off x="4743193"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7" name="Freeform 3" descr="MAB blocks at the bottom of the screen: 1000 block, 100 flat, ten and one.">
            <a:extLst>
              <a:ext uri="{FF2B5EF4-FFF2-40B4-BE49-F238E27FC236}">
                <a16:creationId xmlns:a16="http://schemas.microsoft.com/office/drawing/2014/main" id="{E1667D93-795A-1495-A191-C7CA620DFA72}"/>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8" name="Freeform 4" descr="MAB blocks at the bottom of the screen: 1000 block, 100 flat, ten and one.">
            <a:extLst>
              <a:ext uri="{FF2B5EF4-FFF2-40B4-BE49-F238E27FC236}">
                <a16:creationId xmlns:a16="http://schemas.microsoft.com/office/drawing/2014/main" id="{63585AED-8452-5659-37FA-0540BA57B495}"/>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 name="Freeform 2">
            <a:extLst>
              <a:ext uri="{FF2B5EF4-FFF2-40B4-BE49-F238E27FC236}">
                <a16:creationId xmlns:a16="http://schemas.microsoft.com/office/drawing/2014/main" id="{5CD79681-1315-410B-EB87-2CB399788FBA}"/>
              </a:ext>
              <a:ext uri="{C183D7F6-B498-43B3-948B-1728B52AA6E4}">
                <adec:decorative xmlns:adec="http://schemas.microsoft.com/office/drawing/2017/decorative" val="1"/>
              </a:ext>
            </a:extLst>
          </p:cNvPr>
          <p:cNvSpPr/>
          <p:nvPr/>
        </p:nvSpPr>
        <p:spPr>
          <a:xfrm>
            <a:off x="2641201" y="5535073"/>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1" name="Freeform 2">
            <a:extLst>
              <a:ext uri="{FF2B5EF4-FFF2-40B4-BE49-F238E27FC236}">
                <a16:creationId xmlns:a16="http://schemas.microsoft.com/office/drawing/2014/main" id="{09826A5A-61A2-0FEC-32CE-867FEDC6E67C}"/>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2" name="Freeform 2">
            <a:extLst>
              <a:ext uri="{FF2B5EF4-FFF2-40B4-BE49-F238E27FC236}">
                <a16:creationId xmlns:a16="http://schemas.microsoft.com/office/drawing/2014/main" id="{36966EB4-4735-3CF7-B8E7-457D1D4B6D9C}"/>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3" name="Freeform 2">
            <a:extLst>
              <a:ext uri="{FF2B5EF4-FFF2-40B4-BE49-F238E27FC236}">
                <a16:creationId xmlns:a16="http://schemas.microsoft.com/office/drawing/2014/main" id="{6E4D293F-8190-C18C-4DB6-FB829F2B636F}"/>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4" name="Freeform 2">
            <a:extLst>
              <a:ext uri="{FF2B5EF4-FFF2-40B4-BE49-F238E27FC236}">
                <a16:creationId xmlns:a16="http://schemas.microsoft.com/office/drawing/2014/main" id="{0F8B8172-C953-4F08-FF45-83846F7A352D}"/>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5" name="Freeform 2">
            <a:extLst>
              <a:ext uri="{FF2B5EF4-FFF2-40B4-BE49-F238E27FC236}">
                <a16:creationId xmlns:a16="http://schemas.microsoft.com/office/drawing/2014/main" id="{1C5A184C-8B2A-CA9D-7D7C-51310E7CAD9E}"/>
              </a:ext>
              <a:ext uri="{C183D7F6-B498-43B3-948B-1728B52AA6E4}">
                <adec:decorative xmlns:adec="http://schemas.microsoft.com/office/drawing/2017/decorative" val="1"/>
              </a:ext>
            </a:extLst>
          </p:cNvPr>
          <p:cNvSpPr/>
          <p:nvPr/>
        </p:nvSpPr>
        <p:spPr>
          <a:xfrm>
            <a:off x="2641201" y="5518132"/>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6" name="Freeform 5">
            <a:extLst>
              <a:ext uri="{FF2B5EF4-FFF2-40B4-BE49-F238E27FC236}">
                <a16:creationId xmlns:a16="http://schemas.microsoft.com/office/drawing/2014/main" id="{F9CC538E-E6FA-5EDF-1E50-835DD2E0D1B5}"/>
              </a:ext>
              <a:ext uri="{C183D7F6-B498-43B3-948B-1728B52AA6E4}">
                <adec:decorative xmlns:adec="http://schemas.microsoft.com/office/drawing/2017/decorative" val="1"/>
              </a:ext>
            </a:extLst>
          </p:cNvPr>
          <p:cNvSpPr/>
          <p:nvPr/>
        </p:nvSpPr>
        <p:spPr>
          <a:xfrm>
            <a:off x="4743193"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7" name="Freeform 5">
            <a:extLst>
              <a:ext uri="{FF2B5EF4-FFF2-40B4-BE49-F238E27FC236}">
                <a16:creationId xmlns:a16="http://schemas.microsoft.com/office/drawing/2014/main" id="{4E66E42E-ABB3-9334-30FA-3B725C941C7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8" name="Freeform 5">
            <a:extLst>
              <a:ext uri="{FF2B5EF4-FFF2-40B4-BE49-F238E27FC236}">
                <a16:creationId xmlns:a16="http://schemas.microsoft.com/office/drawing/2014/main" id="{F51A65A2-E35D-116D-5C25-7ADCDDB5C46F}"/>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9" name="Freeform 5">
            <a:extLst>
              <a:ext uri="{FF2B5EF4-FFF2-40B4-BE49-F238E27FC236}">
                <a16:creationId xmlns:a16="http://schemas.microsoft.com/office/drawing/2014/main" id="{FF4777D7-A820-DA8A-2FCF-77055280BDCB}"/>
              </a:ext>
              <a:ext uri="{C183D7F6-B498-43B3-948B-1728B52AA6E4}">
                <adec:decorative xmlns:adec="http://schemas.microsoft.com/office/drawing/2017/decorative" val="1"/>
              </a:ext>
            </a:extLst>
          </p:cNvPr>
          <p:cNvSpPr/>
          <p:nvPr/>
        </p:nvSpPr>
        <p:spPr>
          <a:xfrm>
            <a:off x="4739350"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0" name="Freeform 5">
            <a:extLst>
              <a:ext uri="{FF2B5EF4-FFF2-40B4-BE49-F238E27FC236}">
                <a16:creationId xmlns:a16="http://schemas.microsoft.com/office/drawing/2014/main" id="{6209B7D3-1328-FDEC-F9D8-DEEA5A65CA7F}"/>
              </a:ext>
              <a:ext uri="{C183D7F6-B498-43B3-948B-1728B52AA6E4}">
                <adec:decorative xmlns:adec="http://schemas.microsoft.com/office/drawing/2017/decorative" val="1"/>
              </a:ext>
            </a:extLst>
          </p:cNvPr>
          <p:cNvSpPr/>
          <p:nvPr/>
        </p:nvSpPr>
        <p:spPr>
          <a:xfrm>
            <a:off x="4739350"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1" name="Freeform 5">
            <a:extLst>
              <a:ext uri="{FF2B5EF4-FFF2-40B4-BE49-F238E27FC236}">
                <a16:creationId xmlns:a16="http://schemas.microsoft.com/office/drawing/2014/main" id="{A8FB48A1-9D5D-3642-D0CD-E3B476789E51}"/>
              </a:ext>
              <a:ext uri="{C183D7F6-B498-43B3-948B-1728B52AA6E4}">
                <adec:decorative xmlns:adec="http://schemas.microsoft.com/office/drawing/2017/decorative" val="1"/>
              </a:ext>
            </a:extLst>
          </p:cNvPr>
          <p:cNvSpPr/>
          <p:nvPr/>
        </p:nvSpPr>
        <p:spPr>
          <a:xfrm>
            <a:off x="4747036"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2" name="Freeform 5">
            <a:extLst>
              <a:ext uri="{FF2B5EF4-FFF2-40B4-BE49-F238E27FC236}">
                <a16:creationId xmlns:a16="http://schemas.microsoft.com/office/drawing/2014/main" id="{0E70E909-01FE-4A37-7065-BD9C476D5BC5}"/>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3" name="Freeform 5">
            <a:extLst>
              <a:ext uri="{FF2B5EF4-FFF2-40B4-BE49-F238E27FC236}">
                <a16:creationId xmlns:a16="http://schemas.microsoft.com/office/drawing/2014/main" id="{395A2050-74E0-C34F-C17A-551D62A755B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4" name="Freeform 5">
            <a:extLst>
              <a:ext uri="{FF2B5EF4-FFF2-40B4-BE49-F238E27FC236}">
                <a16:creationId xmlns:a16="http://schemas.microsoft.com/office/drawing/2014/main" id="{73CEA1BF-A623-C629-ABE8-9ECAECA4277C}"/>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5" name="Freeform 3">
            <a:extLst>
              <a:ext uri="{FF2B5EF4-FFF2-40B4-BE49-F238E27FC236}">
                <a16:creationId xmlns:a16="http://schemas.microsoft.com/office/drawing/2014/main" id="{E180C9C8-F1F7-D118-0DD0-BCD62E18A8AF}"/>
              </a:ext>
              <a:ext uri="{C183D7F6-B498-43B3-948B-1728B52AA6E4}">
                <adec:decorative xmlns:adec="http://schemas.microsoft.com/office/drawing/2017/decorative" val="1"/>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6" name="Freeform 3">
            <a:extLst>
              <a:ext uri="{FF2B5EF4-FFF2-40B4-BE49-F238E27FC236}">
                <a16:creationId xmlns:a16="http://schemas.microsoft.com/office/drawing/2014/main" id="{1706D9C7-EF42-0C12-F56E-9C7D6E8EA38C}"/>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7" name="Freeform 3">
            <a:extLst>
              <a:ext uri="{FF2B5EF4-FFF2-40B4-BE49-F238E27FC236}">
                <a16:creationId xmlns:a16="http://schemas.microsoft.com/office/drawing/2014/main" id="{2DFA1667-832F-5E4D-6954-CE0FA499C12A}"/>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8" name="Freeform 3">
            <a:extLst>
              <a:ext uri="{FF2B5EF4-FFF2-40B4-BE49-F238E27FC236}">
                <a16:creationId xmlns:a16="http://schemas.microsoft.com/office/drawing/2014/main" id="{01F6938B-9D7D-A6BF-363A-78C561E4E37A}"/>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9" name="Freeform 3">
            <a:extLst>
              <a:ext uri="{FF2B5EF4-FFF2-40B4-BE49-F238E27FC236}">
                <a16:creationId xmlns:a16="http://schemas.microsoft.com/office/drawing/2014/main" id="{47BC0655-5A4E-EFEF-C4C6-AE962B5F7B61}"/>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0" name="Freeform 3">
            <a:extLst>
              <a:ext uri="{FF2B5EF4-FFF2-40B4-BE49-F238E27FC236}">
                <a16:creationId xmlns:a16="http://schemas.microsoft.com/office/drawing/2014/main" id="{5503D550-0C32-A031-221E-8039D38BB044}"/>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1" name="Freeform 3">
            <a:extLst>
              <a:ext uri="{FF2B5EF4-FFF2-40B4-BE49-F238E27FC236}">
                <a16:creationId xmlns:a16="http://schemas.microsoft.com/office/drawing/2014/main" id="{996C7B6B-2DC2-7E7C-EF89-5070A9CD9911}"/>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2" name="Freeform 3">
            <a:extLst>
              <a:ext uri="{FF2B5EF4-FFF2-40B4-BE49-F238E27FC236}">
                <a16:creationId xmlns:a16="http://schemas.microsoft.com/office/drawing/2014/main" id="{F7738D38-E706-49B9-EB13-3F6AC9DD3663}"/>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3" name="Freeform 3">
            <a:extLst>
              <a:ext uri="{FF2B5EF4-FFF2-40B4-BE49-F238E27FC236}">
                <a16:creationId xmlns:a16="http://schemas.microsoft.com/office/drawing/2014/main" id="{2E52D789-D70C-03A9-8FC3-ACE8FE25E62E}"/>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4" name="Freeform 3">
            <a:extLst>
              <a:ext uri="{FF2B5EF4-FFF2-40B4-BE49-F238E27FC236}">
                <a16:creationId xmlns:a16="http://schemas.microsoft.com/office/drawing/2014/main" id="{AACCFE86-3F9F-5AA7-4782-F7D5F52C04B7}"/>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5" name="Freeform 3">
            <a:extLst>
              <a:ext uri="{FF2B5EF4-FFF2-40B4-BE49-F238E27FC236}">
                <a16:creationId xmlns:a16="http://schemas.microsoft.com/office/drawing/2014/main" id="{11D7CC7B-E023-90DF-F173-491B833E7873}"/>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6" name="Freeform 4">
            <a:extLst>
              <a:ext uri="{FF2B5EF4-FFF2-40B4-BE49-F238E27FC236}">
                <a16:creationId xmlns:a16="http://schemas.microsoft.com/office/drawing/2014/main" id="{D70710DB-F5C9-4787-45D9-16C0AB402B69}"/>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7" name="Freeform 4">
            <a:extLst>
              <a:ext uri="{FF2B5EF4-FFF2-40B4-BE49-F238E27FC236}">
                <a16:creationId xmlns:a16="http://schemas.microsoft.com/office/drawing/2014/main" id="{EC5D1ABF-9C31-56D5-ABB5-AC95FDA48BBB}"/>
              </a:ext>
              <a:ext uri="{C183D7F6-B498-43B3-948B-1728B52AA6E4}">
                <adec:decorative xmlns:adec="http://schemas.microsoft.com/office/drawing/2017/decorative" val="1"/>
              </a:ext>
            </a:extLst>
          </p:cNvPr>
          <p:cNvSpPr/>
          <p:nvPr/>
        </p:nvSpPr>
        <p:spPr>
          <a:xfrm>
            <a:off x="8995806"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8" name="Freeform 4">
            <a:extLst>
              <a:ext uri="{FF2B5EF4-FFF2-40B4-BE49-F238E27FC236}">
                <a16:creationId xmlns:a16="http://schemas.microsoft.com/office/drawing/2014/main" id="{52408F1A-E51B-A5FD-1F85-F9F0CC5D66F7}"/>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9" name="Freeform 4">
            <a:extLst>
              <a:ext uri="{FF2B5EF4-FFF2-40B4-BE49-F238E27FC236}">
                <a16:creationId xmlns:a16="http://schemas.microsoft.com/office/drawing/2014/main" id="{64FC700E-EB19-9771-DE33-CFB657EF6864}"/>
              </a:ext>
              <a:ext uri="{C183D7F6-B498-43B3-948B-1728B52AA6E4}">
                <adec:decorative xmlns:adec="http://schemas.microsoft.com/office/drawing/2017/decorative" val="1"/>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0" name="Freeform 4">
            <a:extLst>
              <a:ext uri="{FF2B5EF4-FFF2-40B4-BE49-F238E27FC236}">
                <a16:creationId xmlns:a16="http://schemas.microsoft.com/office/drawing/2014/main" id="{35E9A59F-FF00-8484-8F7C-9F9617B1702B}"/>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1" name="Freeform 4">
            <a:extLst>
              <a:ext uri="{FF2B5EF4-FFF2-40B4-BE49-F238E27FC236}">
                <a16:creationId xmlns:a16="http://schemas.microsoft.com/office/drawing/2014/main" id="{24B60312-3D6E-D0E9-D606-7AF336572EB8}"/>
              </a:ext>
              <a:ext uri="{C183D7F6-B498-43B3-948B-1728B52AA6E4}">
                <adec:decorative xmlns:adec="http://schemas.microsoft.com/office/drawing/2017/decorative" val="1"/>
              </a:ext>
            </a:extLst>
          </p:cNvPr>
          <p:cNvSpPr/>
          <p:nvPr/>
        </p:nvSpPr>
        <p:spPr>
          <a:xfrm>
            <a:off x="9002482"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2" name="Freeform 4">
            <a:extLst>
              <a:ext uri="{FF2B5EF4-FFF2-40B4-BE49-F238E27FC236}">
                <a16:creationId xmlns:a16="http://schemas.microsoft.com/office/drawing/2014/main" id="{830EF770-5B1D-8AAB-3375-C9591F4D3869}"/>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3" name="Freeform 4">
            <a:extLst>
              <a:ext uri="{FF2B5EF4-FFF2-40B4-BE49-F238E27FC236}">
                <a16:creationId xmlns:a16="http://schemas.microsoft.com/office/drawing/2014/main" id="{069C40CC-EEE2-12D9-D8DB-49C009634E6E}"/>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4" name="Freeform 4">
            <a:extLst>
              <a:ext uri="{FF2B5EF4-FFF2-40B4-BE49-F238E27FC236}">
                <a16:creationId xmlns:a16="http://schemas.microsoft.com/office/drawing/2014/main" id="{848FEA3F-7AF0-5A7B-213E-F8BD9C561882}"/>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5" name="Freeform 4">
            <a:extLst>
              <a:ext uri="{FF2B5EF4-FFF2-40B4-BE49-F238E27FC236}">
                <a16:creationId xmlns:a16="http://schemas.microsoft.com/office/drawing/2014/main" id="{240623FB-5FB6-5E12-B815-BBBCA00EB7E4}"/>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6" name="Freeform 4">
            <a:extLst>
              <a:ext uri="{FF2B5EF4-FFF2-40B4-BE49-F238E27FC236}">
                <a16:creationId xmlns:a16="http://schemas.microsoft.com/office/drawing/2014/main" id="{774B1E62-43EE-EB61-D2CE-C22FFEE10B7B}"/>
              </a:ext>
              <a:ext uri="{C183D7F6-B498-43B3-948B-1728B52AA6E4}">
                <adec:decorative xmlns:adec="http://schemas.microsoft.com/office/drawing/2017/decorative" val="1"/>
              </a:ext>
            </a:extLst>
          </p:cNvPr>
          <p:cNvSpPr/>
          <p:nvPr/>
        </p:nvSpPr>
        <p:spPr>
          <a:xfrm>
            <a:off x="897394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7" name="Freeform 4">
            <a:extLst>
              <a:ext uri="{FF2B5EF4-FFF2-40B4-BE49-F238E27FC236}">
                <a16:creationId xmlns:a16="http://schemas.microsoft.com/office/drawing/2014/main" id="{65194FD2-EEF3-B914-C1D4-0CE471A66CB8}"/>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8" name="Freeform 4">
            <a:extLst>
              <a:ext uri="{FF2B5EF4-FFF2-40B4-BE49-F238E27FC236}">
                <a16:creationId xmlns:a16="http://schemas.microsoft.com/office/drawing/2014/main" id="{423A6652-D70C-2B01-E1D5-2320D030FB05}"/>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9" name="Freeform 4">
            <a:extLst>
              <a:ext uri="{FF2B5EF4-FFF2-40B4-BE49-F238E27FC236}">
                <a16:creationId xmlns:a16="http://schemas.microsoft.com/office/drawing/2014/main" id="{2135415A-97F5-2236-9BB7-130EBFB0B8CF}"/>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50" name="Freeform 4">
            <a:extLst>
              <a:ext uri="{FF2B5EF4-FFF2-40B4-BE49-F238E27FC236}">
                <a16:creationId xmlns:a16="http://schemas.microsoft.com/office/drawing/2014/main" id="{4B75A24E-A273-5F1B-F882-9F739F6D67D9}"/>
              </a:ext>
              <a:ext uri="{C183D7F6-B498-43B3-948B-1728B52AA6E4}">
                <adec:decorative xmlns:adec="http://schemas.microsoft.com/office/drawing/2017/decorative" val="1"/>
              </a:ext>
            </a:extLst>
          </p:cNvPr>
          <p:cNvSpPr/>
          <p:nvPr/>
        </p:nvSpPr>
        <p:spPr>
          <a:xfrm>
            <a:off x="8980624"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Tree>
    <p:extLst>
      <p:ext uri="{BB962C8B-B14F-4D97-AF65-F5344CB8AC3E}">
        <p14:creationId xmlns:p14="http://schemas.microsoft.com/office/powerpoint/2010/main" val="805623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8 – decimals with MAB materials (3) </a:t>
            </a:r>
            <a:r>
              <a:rPr lang="en-AU">
                <a:solidFill>
                  <a:schemeClr val="bg1"/>
                </a:solidFill>
              </a:rPr>
              <a:t>(3)</a:t>
            </a:r>
          </a:p>
        </p:txBody>
      </p:sp>
      <p:sp>
        <p:nvSpPr>
          <p:cNvPr id="4" name="TextBox 3">
            <a:extLst>
              <a:ext uri="{FF2B5EF4-FFF2-40B4-BE49-F238E27FC236}">
                <a16:creationId xmlns:a16="http://schemas.microsoft.com/office/drawing/2014/main" id="{2AED7934-25B8-0D5A-40EF-834DEF273573}"/>
              </a:ext>
            </a:extLst>
          </p:cNvPr>
          <p:cNvSpPr txBox="1"/>
          <p:nvPr/>
        </p:nvSpPr>
        <p:spPr>
          <a:xfrm>
            <a:off x="256032" y="1181802"/>
            <a:ext cx="3535680" cy="1200329"/>
          </a:xfrm>
          <a:prstGeom prst="rect">
            <a:avLst/>
          </a:prstGeom>
          <a:noFill/>
        </p:spPr>
        <p:txBody>
          <a:bodyPr wrap="square">
            <a:spAutoFit/>
          </a:bodyPr>
          <a:lstStyle/>
          <a:p>
            <a:r>
              <a:rPr lang="en-AU">
                <a:latin typeface="Arial" panose="020B0604020202020204" pitchFamily="34" charset="0"/>
                <a:ea typeface="Calibri" panose="020F0502020204030204" pitchFamily="34" charset="0"/>
              </a:rPr>
              <a:t>R</a:t>
            </a:r>
            <a:r>
              <a:rPr lang="en-AU" sz="2400">
                <a:effectLst/>
                <a:latin typeface="Arial" panose="020B0604020202020204" pitchFamily="34" charset="0"/>
                <a:ea typeface="Calibri" panose="020F0502020204030204" pitchFamily="34" charset="0"/>
              </a:rPr>
              <a:t>ead the number aloud and represent it using MAB materials</a:t>
            </a:r>
            <a:endParaRPr lang="en-AU"/>
          </a:p>
        </p:txBody>
      </p:sp>
      <p:sp>
        <p:nvSpPr>
          <p:cNvPr id="9" name="TextBox 8">
            <a:extLst>
              <a:ext uri="{FF2B5EF4-FFF2-40B4-BE49-F238E27FC236}">
                <a16:creationId xmlns:a16="http://schemas.microsoft.com/office/drawing/2014/main" id="{CC470BEF-AA63-9F5A-15DD-194A9B3A0945}"/>
              </a:ext>
            </a:extLst>
          </p:cNvPr>
          <p:cNvSpPr txBox="1"/>
          <p:nvPr/>
        </p:nvSpPr>
        <p:spPr>
          <a:xfrm>
            <a:off x="4115874" y="1120842"/>
            <a:ext cx="3646844" cy="666973"/>
          </a:xfrm>
          <a:prstGeom prst="rect">
            <a:avLst/>
          </a:prstGeom>
          <a:solidFill>
            <a:schemeClr val="accent4"/>
          </a:solidFill>
          <a:ln>
            <a:solidFill>
              <a:srgbClr val="002060"/>
            </a:solidFill>
          </a:ln>
        </p:spPr>
        <p:txBody>
          <a:bodyPr wrap="square" lIns="0" tIns="0" rIns="0" bIns="0" rtlCol="0">
            <a:noAutofit/>
          </a:bodyPr>
          <a:lstStyle/>
          <a:p>
            <a:pPr algn="ctr"/>
            <a:r>
              <a:rPr lang="en-AU" sz="4000">
                <a:latin typeface="Arial" panose="020B0604020202020204" pitchFamily="34" charset="0"/>
                <a:cs typeface="Arial" panose="020B0604020202020204" pitchFamily="34" charset="0"/>
              </a:rPr>
              <a:t>2.637</a:t>
            </a:r>
            <a:endParaRPr lang="en-AU" sz="600">
              <a:latin typeface="Arial" panose="020B0604020202020204" pitchFamily="34" charset="0"/>
              <a:cs typeface="Arial" panose="020B0604020202020204" pitchFamily="34" charset="0"/>
            </a:endParaRPr>
          </a:p>
        </p:txBody>
      </p:sp>
      <p:sp>
        <p:nvSpPr>
          <p:cNvPr id="5" name="Freeform 2" descr="MAB blocks at the bottom of the screen: 1000 block, 100 flat, ten and one.">
            <a:extLst>
              <a:ext uri="{FF2B5EF4-FFF2-40B4-BE49-F238E27FC236}">
                <a16:creationId xmlns:a16="http://schemas.microsoft.com/office/drawing/2014/main" id="{174A9A9C-A6A1-6567-239C-722360850026}"/>
              </a:ext>
            </a:extLst>
          </p:cNvPr>
          <p:cNvSpPr/>
          <p:nvPr/>
        </p:nvSpPr>
        <p:spPr>
          <a:xfrm>
            <a:off x="2641201" y="5530124"/>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6" name="Freeform 5" descr="MAB blocks at the bottom of the screen: 1000 block, 100 flat, ten and one.">
            <a:extLst>
              <a:ext uri="{FF2B5EF4-FFF2-40B4-BE49-F238E27FC236}">
                <a16:creationId xmlns:a16="http://schemas.microsoft.com/office/drawing/2014/main" id="{01762F86-5BE3-A52F-38BD-D725CFDEF51C}"/>
              </a:ext>
            </a:extLst>
          </p:cNvPr>
          <p:cNvSpPr/>
          <p:nvPr/>
        </p:nvSpPr>
        <p:spPr>
          <a:xfrm>
            <a:off x="4743193"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7" name="Freeform 3" descr="MAB blocks at the bottom of the screen: 1000 block, 100 flat, ten and one.">
            <a:extLst>
              <a:ext uri="{FF2B5EF4-FFF2-40B4-BE49-F238E27FC236}">
                <a16:creationId xmlns:a16="http://schemas.microsoft.com/office/drawing/2014/main" id="{E1667D93-795A-1495-A191-C7CA620DFA72}"/>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8" name="Freeform 4" descr="MAB blocks at the bottom of the screen: 1000 block, 100 flat, ten and one.">
            <a:extLst>
              <a:ext uri="{FF2B5EF4-FFF2-40B4-BE49-F238E27FC236}">
                <a16:creationId xmlns:a16="http://schemas.microsoft.com/office/drawing/2014/main" id="{63585AED-8452-5659-37FA-0540BA57B495}"/>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 name="Freeform 2">
            <a:extLst>
              <a:ext uri="{FF2B5EF4-FFF2-40B4-BE49-F238E27FC236}">
                <a16:creationId xmlns:a16="http://schemas.microsoft.com/office/drawing/2014/main" id="{5CD79681-1315-410B-EB87-2CB399788FBA}"/>
              </a:ext>
              <a:ext uri="{C183D7F6-B498-43B3-948B-1728B52AA6E4}">
                <adec:decorative xmlns:adec="http://schemas.microsoft.com/office/drawing/2017/decorative" val="1"/>
              </a:ext>
            </a:extLst>
          </p:cNvPr>
          <p:cNvSpPr/>
          <p:nvPr/>
        </p:nvSpPr>
        <p:spPr>
          <a:xfrm>
            <a:off x="2641201" y="5535073"/>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1" name="Freeform 2">
            <a:extLst>
              <a:ext uri="{FF2B5EF4-FFF2-40B4-BE49-F238E27FC236}">
                <a16:creationId xmlns:a16="http://schemas.microsoft.com/office/drawing/2014/main" id="{09826A5A-61A2-0FEC-32CE-867FEDC6E67C}"/>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2" name="Freeform 2">
            <a:extLst>
              <a:ext uri="{FF2B5EF4-FFF2-40B4-BE49-F238E27FC236}">
                <a16:creationId xmlns:a16="http://schemas.microsoft.com/office/drawing/2014/main" id="{36966EB4-4735-3CF7-B8E7-457D1D4B6D9C}"/>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3" name="Freeform 2">
            <a:extLst>
              <a:ext uri="{FF2B5EF4-FFF2-40B4-BE49-F238E27FC236}">
                <a16:creationId xmlns:a16="http://schemas.microsoft.com/office/drawing/2014/main" id="{6E4D293F-8190-C18C-4DB6-FB829F2B636F}"/>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4" name="Freeform 2">
            <a:extLst>
              <a:ext uri="{FF2B5EF4-FFF2-40B4-BE49-F238E27FC236}">
                <a16:creationId xmlns:a16="http://schemas.microsoft.com/office/drawing/2014/main" id="{0F8B8172-C953-4F08-FF45-83846F7A352D}"/>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5" name="Freeform 2">
            <a:extLst>
              <a:ext uri="{FF2B5EF4-FFF2-40B4-BE49-F238E27FC236}">
                <a16:creationId xmlns:a16="http://schemas.microsoft.com/office/drawing/2014/main" id="{1C5A184C-8B2A-CA9D-7D7C-51310E7CAD9E}"/>
              </a:ext>
              <a:ext uri="{C183D7F6-B498-43B3-948B-1728B52AA6E4}">
                <adec:decorative xmlns:adec="http://schemas.microsoft.com/office/drawing/2017/decorative" val="1"/>
              </a:ext>
            </a:extLst>
          </p:cNvPr>
          <p:cNvSpPr/>
          <p:nvPr/>
        </p:nvSpPr>
        <p:spPr>
          <a:xfrm>
            <a:off x="2641201" y="5518132"/>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6" name="Freeform 5">
            <a:extLst>
              <a:ext uri="{FF2B5EF4-FFF2-40B4-BE49-F238E27FC236}">
                <a16:creationId xmlns:a16="http://schemas.microsoft.com/office/drawing/2014/main" id="{F9CC538E-E6FA-5EDF-1E50-835DD2E0D1B5}"/>
              </a:ext>
              <a:ext uri="{C183D7F6-B498-43B3-948B-1728B52AA6E4}">
                <adec:decorative xmlns:adec="http://schemas.microsoft.com/office/drawing/2017/decorative" val="1"/>
              </a:ext>
            </a:extLst>
          </p:cNvPr>
          <p:cNvSpPr/>
          <p:nvPr/>
        </p:nvSpPr>
        <p:spPr>
          <a:xfrm>
            <a:off x="4743193"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7" name="Freeform 5">
            <a:extLst>
              <a:ext uri="{FF2B5EF4-FFF2-40B4-BE49-F238E27FC236}">
                <a16:creationId xmlns:a16="http://schemas.microsoft.com/office/drawing/2014/main" id="{4E66E42E-ABB3-9334-30FA-3B725C941C7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8" name="Freeform 5">
            <a:extLst>
              <a:ext uri="{FF2B5EF4-FFF2-40B4-BE49-F238E27FC236}">
                <a16:creationId xmlns:a16="http://schemas.microsoft.com/office/drawing/2014/main" id="{F51A65A2-E35D-116D-5C25-7ADCDDB5C46F}"/>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9" name="Freeform 5">
            <a:extLst>
              <a:ext uri="{FF2B5EF4-FFF2-40B4-BE49-F238E27FC236}">
                <a16:creationId xmlns:a16="http://schemas.microsoft.com/office/drawing/2014/main" id="{FF4777D7-A820-DA8A-2FCF-77055280BDCB}"/>
              </a:ext>
              <a:ext uri="{C183D7F6-B498-43B3-948B-1728B52AA6E4}">
                <adec:decorative xmlns:adec="http://schemas.microsoft.com/office/drawing/2017/decorative" val="1"/>
              </a:ext>
            </a:extLst>
          </p:cNvPr>
          <p:cNvSpPr/>
          <p:nvPr/>
        </p:nvSpPr>
        <p:spPr>
          <a:xfrm>
            <a:off x="4739350"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0" name="Freeform 5">
            <a:extLst>
              <a:ext uri="{FF2B5EF4-FFF2-40B4-BE49-F238E27FC236}">
                <a16:creationId xmlns:a16="http://schemas.microsoft.com/office/drawing/2014/main" id="{6209B7D3-1328-FDEC-F9D8-DEEA5A65CA7F}"/>
              </a:ext>
              <a:ext uri="{C183D7F6-B498-43B3-948B-1728B52AA6E4}">
                <adec:decorative xmlns:adec="http://schemas.microsoft.com/office/drawing/2017/decorative" val="1"/>
              </a:ext>
            </a:extLst>
          </p:cNvPr>
          <p:cNvSpPr/>
          <p:nvPr/>
        </p:nvSpPr>
        <p:spPr>
          <a:xfrm>
            <a:off x="4739350"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1" name="Freeform 5">
            <a:extLst>
              <a:ext uri="{FF2B5EF4-FFF2-40B4-BE49-F238E27FC236}">
                <a16:creationId xmlns:a16="http://schemas.microsoft.com/office/drawing/2014/main" id="{A8FB48A1-9D5D-3642-D0CD-E3B476789E51}"/>
              </a:ext>
              <a:ext uri="{C183D7F6-B498-43B3-948B-1728B52AA6E4}">
                <adec:decorative xmlns:adec="http://schemas.microsoft.com/office/drawing/2017/decorative" val="1"/>
              </a:ext>
            </a:extLst>
          </p:cNvPr>
          <p:cNvSpPr/>
          <p:nvPr/>
        </p:nvSpPr>
        <p:spPr>
          <a:xfrm>
            <a:off x="4747036"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2" name="Freeform 5">
            <a:extLst>
              <a:ext uri="{FF2B5EF4-FFF2-40B4-BE49-F238E27FC236}">
                <a16:creationId xmlns:a16="http://schemas.microsoft.com/office/drawing/2014/main" id="{0E70E909-01FE-4A37-7065-BD9C476D5BC5}"/>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3" name="Freeform 5">
            <a:extLst>
              <a:ext uri="{FF2B5EF4-FFF2-40B4-BE49-F238E27FC236}">
                <a16:creationId xmlns:a16="http://schemas.microsoft.com/office/drawing/2014/main" id="{395A2050-74E0-C34F-C17A-551D62A755B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4" name="Freeform 5">
            <a:extLst>
              <a:ext uri="{FF2B5EF4-FFF2-40B4-BE49-F238E27FC236}">
                <a16:creationId xmlns:a16="http://schemas.microsoft.com/office/drawing/2014/main" id="{73CEA1BF-A623-C629-ABE8-9ECAECA4277C}"/>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5" name="Freeform 3">
            <a:extLst>
              <a:ext uri="{FF2B5EF4-FFF2-40B4-BE49-F238E27FC236}">
                <a16:creationId xmlns:a16="http://schemas.microsoft.com/office/drawing/2014/main" id="{E180C9C8-F1F7-D118-0DD0-BCD62E18A8AF}"/>
              </a:ext>
              <a:ext uri="{C183D7F6-B498-43B3-948B-1728B52AA6E4}">
                <adec:decorative xmlns:adec="http://schemas.microsoft.com/office/drawing/2017/decorative" val="1"/>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6" name="Freeform 3">
            <a:extLst>
              <a:ext uri="{FF2B5EF4-FFF2-40B4-BE49-F238E27FC236}">
                <a16:creationId xmlns:a16="http://schemas.microsoft.com/office/drawing/2014/main" id="{1706D9C7-EF42-0C12-F56E-9C7D6E8EA38C}"/>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7" name="Freeform 3">
            <a:extLst>
              <a:ext uri="{FF2B5EF4-FFF2-40B4-BE49-F238E27FC236}">
                <a16:creationId xmlns:a16="http://schemas.microsoft.com/office/drawing/2014/main" id="{2DFA1667-832F-5E4D-6954-CE0FA499C12A}"/>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8" name="Freeform 3">
            <a:extLst>
              <a:ext uri="{FF2B5EF4-FFF2-40B4-BE49-F238E27FC236}">
                <a16:creationId xmlns:a16="http://schemas.microsoft.com/office/drawing/2014/main" id="{01F6938B-9D7D-A6BF-363A-78C561E4E37A}"/>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9" name="Freeform 3">
            <a:extLst>
              <a:ext uri="{FF2B5EF4-FFF2-40B4-BE49-F238E27FC236}">
                <a16:creationId xmlns:a16="http://schemas.microsoft.com/office/drawing/2014/main" id="{47BC0655-5A4E-EFEF-C4C6-AE962B5F7B61}"/>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0" name="Freeform 3">
            <a:extLst>
              <a:ext uri="{FF2B5EF4-FFF2-40B4-BE49-F238E27FC236}">
                <a16:creationId xmlns:a16="http://schemas.microsoft.com/office/drawing/2014/main" id="{5503D550-0C32-A031-221E-8039D38BB044}"/>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1" name="Freeform 3">
            <a:extLst>
              <a:ext uri="{FF2B5EF4-FFF2-40B4-BE49-F238E27FC236}">
                <a16:creationId xmlns:a16="http://schemas.microsoft.com/office/drawing/2014/main" id="{996C7B6B-2DC2-7E7C-EF89-5070A9CD9911}"/>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2" name="Freeform 3">
            <a:extLst>
              <a:ext uri="{FF2B5EF4-FFF2-40B4-BE49-F238E27FC236}">
                <a16:creationId xmlns:a16="http://schemas.microsoft.com/office/drawing/2014/main" id="{F7738D38-E706-49B9-EB13-3F6AC9DD3663}"/>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3" name="Freeform 3">
            <a:extLst>
              <a:ext uri="{FF2B5EF4-FFF2-40B4-BE49-F238E27FC236}">
                <a16:creationId xmlns:a16="http://schemas.microsoft.com/office/drawing/2014/main" id="{2E52D789-D70C-03A9-8FC3-ACE8FE25E62E}"/>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4" name="Freeform 3">
            <a:extLst>
              <a:ext uri="{FF2B5EF4-FFF2-40B4-BE49-F238E27FC236}">
                <a16:creationId xmlns:a16="http://schemas.microsoft.com/office/drawing/2014/main" id="{AACCFE86-3F9F-5AA7-4782-F7D5F52C04B7}"/>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5" name="Freeform 3">
            <a:extLst>
              <a:ext uri="{FF2B5EF4-FFF2-40B4-BE49-F238E27FC236}">
                <a16:creationId xmlns:a16="http://schemas.microsoft.com/office/drawing/2014/main" id="{11D7CC7B-E023-90DF-F173-491B833E7873}"/>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6" name="Freeform 4">
            <a:extLst>
              <a:ext uri="{FF2B5EF4-FFF2-40B4-BE49-F238E27FC236}">
                <a16:creationId xmlns:a16="http://schemas.microsoft.com/office/drawing/2014/main" id="{D70710DB-F5C9-4787-45D9-16C0AB402B69}"/>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7" name="Freeform 4">
            <a:extLst>
              <a:ext uri="{FF2B5EF4-FFF2-40B4-BE49-F238E27FC236}">
                <a16:creationId xmlns:a16="http://schemas.microsoft.com/office/drawing/2014/main" id="{EC5D1ABF-9C31-56D5-ABB5-AC95FDA48BBB}"/>
              </a:ext>
              <a:ext uri="{C183D7F6-B498-43B3-948B-1728B52AA6E4}">
                <adec:decorative xmlns:adec="http://schemas.microsoft.com/office/drawing/2017/decorative" val="1"/>
              </a:ext>
            </a:extLst>
          </p:cNvPr>
          <p:cNvSpPr/>
          <p:nvPr/>
        </p:nvSpPr>
        <p:spPr>
          <a:xfrm>
            <a:off x="8995806"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8" name="Freeform 4">
            <a:extLst>
              <a:ext uri="{FF2B5EF4-FFF2-40B4-BE49-F238E27FC236}">
                <a16:creationId xmlns:a16="http://schemas.microsoft.com/office/drawing/2014/main" id="{52408F1A-E51B-A5FD-1F85-F9F0CC5D66F7}"/>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9" name="Freeform 4">
            <a:extLst>
              <a:ext uri="{FF2B5EF4-FFF2-40B4-BE49-F238E27FC236}">
                <a16:creationId xmlns:a16="http://schemas.microsoft.com/office/drawing/2014/main" id="{64FC700E-EB19-9771-DE33-CFB657EF6864}"/>
              </a:ext>
              <a:ext uri="{C183D7F6-B498-43B3-948B-1728B52AA6E4}">
                <adec:decorative xmlns:adec="http://schemas.microsoft.com/office/drawing/2017/decorative" val="1"/>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0" name="Freeform 4">
            <a:extLst>
              <a:ext uri="{FF2B5EF4-FFF2-40B4-BE49-F238E27FC236}">
                <a16:creationId xmlns:a16="http://schemas.microsoft.com/office/drawing/2014/main" id="{35E9A59F-FF00-8484-8F7C-9F9617B1702B}"/>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1" name="Freeform 4">
            <a:extLst>
              <a:ext uri="{FF2B5EF4-FFF2-40B4-BE49-F238E27FC236}">
                <a16:creationId xmlns:a16="http://schemas.microsoft.com/office/drawing/2014/main" id="{24B60312-3D6E-D0E9-D606-7AF336572EB8}"/>
              </a:ext>
              <a:ext uri="{C183D7F6-B498-43B3-948B-1728B52AA6E4}">
                <adec:decorative xmlns:adec="http://schemas.microsoft.com/office/drawing/2017/decorative" val="1"/>
              </a:ext>
            </a:extLst>
          </p:cNvPr>
          <p:cNvSpPr/>
          <p:nvPr/>
        </p:nvSpPr>
        <p:spPr>
          <a:xfrm>
            <a:off x="9002482"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2" name="Freeform 4">
            <a:extLst>
              <a:ext uri="{FF2B5EF4-FFF2-40B4-BE49-F238E27FC236}">
                <a16:creationId xmlns:a16="http://schemas.microsoft.com/office/drawing/2014/main" id="{830EF770-5B1D-8AAB-3375-C9591F4D3869}"/>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3" name="Freeform 4">
            <a:extLst>
              <a:ext uri="{FF2B5EF4-FFF2-40B4-BE49-F238E27FC236}">
                <a16:creationId xmlns:a16="http://schemas.microsoft.com/office/drawing/2014/main" id="{069C40CC-EEE2-12D9-D8DB-49C009634E6E}"/>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4" name="Freeform 4">
            <a:extLst>
              <a:ext uri="{FF2B5EF4-FFF2-40B4-BE49-F238E27FC236}">
                <a16:creationId xmlns:a16="http://schemas.microsoft.com/office/drawing/2014/main" id="{848FEA3F-7AF0-5A7B-213E-F8BD9C561882}"/>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5" name="Freeform 4">
            <a:extLst>
              <a:ext uri="{FF2B5EF4-FFF2-40B4-BE49-F238E27FC236}">
                <a16:creationId xmlns:a16="http://schemas.microsoft.com/office/drawing/2014/main" id="{240623FB-5FB6-5E12-B815-BBBCA00EB7E4}"/>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6" name="Freeform 4">
            <a:extLst>
              <a:ext uri="{FF2B5EF4-FFF2-40B4-BE49-F238E27FC236}">
                <a16:creationId xmlns:a16="http://schemas.microsoft.com/office/drawing/2014/main" id="{774B1E62-43EE-EB61-D2CE-C22FFEE10B7B}"/>
              </a:ext>
              <a:ext uri="{C183D7F6-B498-43B3-948B-1728B52AA6E4}">
                <adec:decorative xmlns:adec="http://schemas.microsoft.com/office/drawing/2017/decorative" val="1"/>
              </a:ext>
            </a:extLst>
          </p:cNvPr>
          <p:cNvSpPr/>
          <p:nvPr/>
        </p:nvSpPr>
        <p:spPr>
          <a:xfrm>
            <a:off x="897394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7" name="Freeform 4">
            <a:extLst>
              <a:ext uri="{FF2B5EF4-FFF2-40B4-BE49-F238E27FC236}">
                <a16:creationId xmlns:a16="http://schemas.microsoft.com/office/drawing/2014/main" id="{65194FD2-EEF3-B914-C1D4-0CE471A66CB8}"/>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8" name="Freeform 4">
            <a:extLst>
              <a:ext uri="{FF2B5EF4-FFF2-40B4-BE49-F238E27FC236}">
                <a16:creationId xmlns:a16="http://schemas.microsoft.com/office/drawing/2014/main" id="{423A6652-D70C-2B01-E1D5-2320D030FB05}"/>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9" name="Freeform 4">
            <a:extLst>
              <a:ext uri="{FF2B5EF4-FFF2-40B4-BE49-F238E27FC236}">
                <a16:creationId xmlns:a16="http://schemas.microsoft.com/office/drawing/2014/main" id="{2135415A-97F5-2236-9BB7-130EBFB0B8CF}"/>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50" name="Freeform 4">
            <a:extLst>
              <a:ext uri="{FF2B5EF4-FFF2-40B4-BE49-F238E27FC236}">
                <a16:creationId xmlns:a16="http://schemas.microsoft.com/office/drawing/2014/main" id="{4B75A24E-A273-5F1B-F882-9F739F6D67D9}"/>
              </a:ext>
              <a:ext uri="{C183D7F6-B498-43B3-948B-1728B52AA6E4}">
                <adec:decorative xmlns:adec="http://schemas.microsoft.com/office/drawing/2017/decorative" val="1"/>
              </a:ext>
            </a:extLst>
          </p:cNvPr>
          <p:cNvSpPr/>
          <p:nvPr/>
        </p:nvSpPr>
        <p:spPr>
          <a:xfrm>
            <a:off x="8980624"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Tree>
    <p:extLst>
      <p:ext uri="{BB962C8B-B14F-4D97-AF65-F5344CB8AC3E}">
        <p14:creationId xmlns:p14="http://schemas.microsoft.com/office/powerpoint/2010/main" val="2529396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8 – decimals with MAB materials (4) </a:t>
            </a:r>
            <a:r>
              <a:rPr lang="en-AU">
                <a:solidFill>
                  <a:schemeClr val="bg1"/>
                </a:solidFill>
              </a:rPr>
              <a:t>(4)</a:t>
            </a:r>
          </a:p>
        </p:txBody>
      </p:sp>
      <p:sp>
        <p:nvSpPr>
          <p:cNvPr id="4" name="TextBox 3">
            <a:extLst>
              <a:ext uri="{FF2B5EF4-FFF2-40B4-BE49-F238E27FC236}">
                <a16:creationId xmlns:a16="http://schemas.microsoft.com/office/drawing/2014/main" id="{1AAECCC7-F3E4-57D8-1425-46709875817E}"/>
              </a:ext>
            </a:extLst>
          </p:cNvPr>
          <p:cNvSpPr txBox="1"/>
          <p:nvPr/>
        </p:nvSpPr>
        <p:spPr>
          <a:xfrm>
            <a:off x="256032" y="1181802"/>
            <a:ext cx="3535680" cy="1200329"/>
          </a:xfrm>
          <a:prstGeom prst="rect">
            <a:avLst/>
          </a:prstGeom>
          <a:noFill/>
        </p:spPr>
        <p:txBody>
          <a:bodyPr wrap="square">
            <a:spAutoFit/>
          </a:bodyPr>
          <a:lstStyle/>
          <a:p>
            <a:r>
              <a:rPr lang="en-AU">
                <a:latin typeface="Arial" panose="020B0604020202020204" pitchFamily="34" charset="0"/>
                <a:ea typeface="Calibri" panose="020F0502020204030204" pitchFamily="34" charset="0"/>
              </a:rPr>
              <a:t>R</a:t>
            </a:r>
            <a:r>
              <a:rPr lang="en-AU" sz="2400">
                <a:effectLst/>
                <a:latin typeface="Arial" panose="020B0604020202020204" pitchFamily="34" charset="0"/>
                <a:ea typeface="Calibri" panose="020F0502020204030204" pitchFamily="34" charset="0"/>
              </a:rPr>
              <a:t>ead the number aloud and represent it using MAB materials</a:t>
            </a:r>
            <a:endParaRPr lang="en-AU"/>
          </a:p>
        </p:txBody>
      </p:sp>
      <p:sp>
        <p:nvSpPr>
          <p:cNvPr id="9" name="TextBox 8">
            <a:extLst>
              <a:ext uri="{FF2B5EF4-FFF2-40B4-BE49-F238E27FC236}">
                <a16:creationId xmlns:a16="http://schemas.microsoft.com/office/drawing/2014/main" id="{CC470BEF-AA63-9F5A-15DD-194A9B3A0945}"/>
              </a:ext>
            </a:extLst>
          </p:cNvPr>
          <p:cNvSpPr txBox="1"/>
          <p:nvPr/>
        </p:nvSpPr>
        <p:spPr>
          <a:xfrm>
            <a:off x="4243154" y="1084266"/>
            <a:ext cx="3646844" cy="666973"/>
          </a:xfrm>
          <a:prstGeom prst="rect">
            <a:avLst/>
          </a:prstGeom>
          <a:solidFill>
            <a:schemeClr val="accent4"/>
          </a:solidFill>
          <a:ln>
            <a:solidFill>
              <a:srgbClr val="002060"/>
            </a:solidFill>
          </a:ln>
        </p:spPr>
        <p:txBody>
          <a:bodyPr wrap="square" lIns="0" tIns="0" rIns="0" bIns="0" rtlCol="0">
            <a:noAutofit/>
          </a:bodyPr>
          <a:lstStyle/>
          <a:p>
            <a:pPr algn="ctr"/>
            <a:r>
              <a:rPr lang="en-AU" sz="4000">
                <a:latin typeface="Arial" panose="020B0604020202020204" pitchFamily="34" charset="0"/>
                <a:cs typeface="Arial" panose="020B0604020202020204" pitchFamily="34" charset="0"/>
              </a:rPr>
              <a:t>0.186</a:t>
            </a:r>
            <a:endParaRPr lang="en-AU" sz="600">
              <a:latin typeface="Arial" panose="020B0604020202020204" pitchFamily="34" charset="0"/>
              <a:cs typeface="Arial" panose="020B0604020202020204" pitchFamily="34" charset="0"/>
            </a:endParaRPr>
          </a:p>
        </p:txBody>
      </p:sp>
      <p:sp>
        <p:nvSpPr>
          <p:cNvPr id="5" name="Freeform 2" descr="MAB blocks at the bottom of the screen: 1000 block, 100 flat, ten and one.">
            <a:extLst>
              <a:ext uri="{FF2B5EF4-FFF2-40B4-BE49-F238E27FC236}">
                <a16:creationId xmlns:a16="http://schemas.microsoft.com/office/drawing/2014/main" id="{174A9A9C-A6A1-6567-239C-722360850026}"/>
              </a:ext>
            </a:extLst>
          </p:cNvPr>
          <p:cNvSpPr/>
          <p:nvPr/>
        </p:nvSpPr>
        <p:spPr>
          <a:xfrm>
            <a:off x="2641201" y="5530124"/>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6" name="Freeform 5" descr="MAB blocks at the bottom of the screen: 1000 block, 100 flat, ten and one.">
            <a:extLst>
              <a:ext uri="{FF2B5EF4-FFF2-40B4-BE49-F238E27FC236}">
                <a16:creationId xmlns:a16="http://schemas.microsoft.com/office/drawing/2014/main" id="{01762F86-5BE3-A52F-38BD-D725CFDEF51C}"/>
              </a:ext>
            </a:extLst>
          </p:cNvPr>
          <p:cNvSpPr/>
          <p:nvPr/>
        </p:nvSpPr>
        <p:spPr>
          <a:xfrm>
            <a:off x="4743193"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7" name="Freeform 3" descr="MAB blocks at the bottom of the screen: 1000 block, 100 flat, ten and one.">
            <a:extLst>
              <a:ext uri="{FF2B5EF4-FFF2-40B4-BE49-F238E27FC236}">
                <a16:creationId xmlns:a16="http://schemas.microsoft.com/office/drawing/2014/main" id="{E1667D93-795A-1495-A191-C7CA620DFA72}"/>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8" name="Freeform 4" descr="MAB blocks at the bottom of the screen: 1000 block, 100 flat, ten and one.">
            <a:extLst>
              <a:ext uri="{FF2B5EF4-FFF2-40B4-BE49-F238E27FC236}">
                <a16:creationId xmlns:a16="http://schemas.microsoft.com/office/drawing/2014/main" id="{63585AED-8452-5659-37FA-0540BA57B495}"/>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 name="Freeform 2">
            <a:extLst>
              <a:ext uri="{FF2B5EF4-FFF2-40B4-BE49-F238E27FC236}">
                <a16:creationId xmlns:a16="http://schemas.microsoft.com/office/drawing/2014/main" id="{5CD79681-1315-410B-EB87-2CB399788FBA}"/>
              </a:ext>
              <a:ext uri="{C183D7F6-B498-43B3-948B-1728B52AA6E4}">
                <adec:decorative xmlns:adec="http://schemas.microsoft.com/office/drawing/2017/decorative" val="1"/>
              </a:ext>
            </a:extLst>
          </p:cNvPr>
          <p:cNvSpPr/>
          <p:nvPr/>
        </p:nvSpPr>
        <p:spPr>
          <a:xfrm>
            <a:off x="2641201" y="5535073"/>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1" name="Freeform 2">
            <a:extLst>
              <a:ext uri="{FF2B5EF4-FFF2-40B4-BE49-F238E27FC236}">
                <a16:creationId xmlns:a16="http://schemas.microsoft.com/office/drawing/2014/main" id="{09826A5A-61A2-0FEC-32CE-867FEDC6E67C}"/>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2" name="Freeform 2">
            <a:extLst>
              <a:ext uri="{FF2B5EF4-FFF2-40B4-BE49-F238E27FC236}">
                <a16:creationId xmlns:a16="http://schemas.microsoft.com/office/drawing/2014/main" id="{36966EB4-4735-3CF7-B8E7-457D1D4B6D9C}"/>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3" name="Freeform 2">
            <a:extLst>
              <a:ext uri="{FF2B5EF4-FFF2-40B4-BE49-F238E27FC236}">
                <a16:creationId xmlns:a16="http://schemas.microsoft.com/office/drawing/2014/main" id="{6E4D293F-8190-C18C-4DB6-FB829F2B636F}"/>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4" name="Freeform 2">
            <a:extLst>
              <a:ext uri="{FF2B5EF4-FFF2-40B4-BE49-F238E27FC236}">
                <a16:creationId xmlns:a16="http://schemas.microsoft.com/office/drawing/2014/main" id="{0F8B8172-C953-4F08-FF45-83846F7A352D}"/>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5" name="Freeform 2">
            <a:extLst>
              <a:ext uri="{FF2B5EF4-FFF2-40B4-BE49-F238E27FC236}">
                <a16:creationId xmlns:a16="http://schemas.microsoft.com/office/drawing/2014/main" id="{1C5A184C-8B2A-CA9D-7D7C-51310E7CAD9E}"/>
              </a:ext>
              <a:ext uri="{C183D7F6-B498-43B3-948B-1728B52AA6E4}">
                <adec:decorative xmlns:adec="http://schemas.microsoft.com/office/drawing/2017/decorative" val="1"/>
              </a:ext>
            </a:extLst>
          </p:cNvPr>
          <p:cNvSpPr/>
          <p:nvPr/>
        </p:nvSpPr>
        <p:spPr>
          <a:xfrm>
            <a:off x="2641201" y="5518132"/>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6" name="Freeform 5">
            <a:extLst>
              <a:ext uri="{FF2B5EF4-FFF2-40B4-BE49-F238E27FC236}">
                <a16:creationId xmlns:a16="http://schemas.microsoft.com/office/drawing/2014/main" id="{F9CC538E-E6FA-5EDF-1E50-835DD2E0D1B5}"/>
              </a:ext>
              <a:ext uri="{C183D7F6-B498-43B3-948B-1728B52AA6E4}">
                <adec:decorative xmlns:adec="http://schemas.microsoft.com/office/drawing/2017/decorative" val="1"/>
              </a:ext>
            </a:extLst>
          </p:cNvPr>
          <p:cNvSpPr/>
          <p:nvPr/>
        </p:nvSpPr>
        <p:spPr>
          <a:xfrm>
            <a:off x="4743193"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7" name="Freeform 5">
            <a:extLst>
              <a:ext uri="{FF2B5EF4-FFF2-40B4-BE49-F238E27FC236}">
                <a16:creationId xmlns:a16="http://schemas.microsoft.com/office/drawing/2014/main" id="{4E66E42E-ABB3-9334-30FA-3B725C941C7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8" name="Freeform 5">
            <a:extLst>
              <a:ext uri="{FF2B5EF4-FFF2-40B4-BE49-F238E27FC236}">
                <a16:creationId xmlns:a16="http://schemas.microsoft.com/office/drawing/2014/main" id="{F51A65A2-E35D-116D-5C25-7ADCDDB5C46F}"/>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9" name="Freeform 5">
            <a:extLst>
              <a:ext uri="{FF2B5EF4-FFF2-40B4-BE49-F238E27FC236}">
                <a16:creationId xmlns:a16="http://schemas.microsoft.com/office/drawing/2014/main" id="{FF4777D7-A820-DA8A-2FCF-77055280BDCB}"/>
              </a:ext>
              <a:ext uri="{C183D7F6-B498-43B3-948B-1728B52AA6E4}">
                <adec:decorative xmlns:adec="http://schemas.microsoft.com/office/drawing/2017/decorative" val="1"/>
              </a:ext>
            </a:extLst>
          </p:cNvPr>
          <p:cNvSpPr/>
          <p:nvPr/>
        </p:nvSpPr>
        <p:spPr>
          <a:xfrm>
            <a:off x="4739350"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0" name="Freeform 5">
            <a:extLst>
              <a:ext uri="{FF2B5EF4-FFF2-40B4-BE49-F238E27FC236}">
                <a16:creationId xmlns:a16="http://schemas.microsoft.com/office/drawing/2014/main" id="{6209B7D3-1328-FDEC-F9D8-DEEA5A65CA7F}"/>
              </a:ext>
              <a:ext uri="{C183D7F6-B498-43B3-948B-1728B52AA6E4}">
                <adec:decorative xmlns:adec="http://schemas.microsoft.com/office/drawing/2017/decorative" val="1"/>
              </a:ext>
            </a:extLst>
          </p:cNvPr>
          <p:cNvSpPr/>
          <p:nvPr/>
        </p:nvSpPr>
        <p:spPr>
          <a:xfrm>
            <a:off x="4739350"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1" name="Freeform 5">
            <a:extLst>
              <a:ext uri="{FF2B5EF4-FFF2-40B4-BE49-F238E27FC236}">
                <a16:creationId xmlns:a16="http://schemas.microsoft.com/office/drawing/2014/main" id="{A8FB48A1-9D5D-3642-D0CD-E3B476789E51}"/>
              </a:ext>
              <a:ext uri="{C183D7F6-B498-43B3-948B-1728B52AA6E4}">
                <adec:decorative xmlns:adec="http://schemas.microsoft.com/office/drawing/2017/decorative" val="1"/>
              </a:ext>
            </a:extLst>
          </p:cNvPr>
          <p:cNvSpPr/>
          <p:nvPr/>
        </p:nvSpPr>
        <p:spPr>
          <a:xfrm>
            <a:off x="4747036"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2" name="Freeform 5">
            <a:extLst>
              <a:ext uri="{FF2B5EF4-FFF2-40B4-BE49-F238E27FC236}">
                <a16:creationId xmlns:a16="http://schemas.microsoft.com/office/drawing/2014/main" id="{0E70E909-01FE-4A37-7065-BD9C476D5BC5}"/>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3" name="Freeform 5">
            <a:extLst>
              <a:ext uri="{FF2B5EF4-FFF2-40B4-BE49-F238E27FC236}">
                <a16:creationId xmlns:a16="http://schemas.microsoft.com/office/drawing/2014/main" id="{395A2050-74E0-C34F-C17A-551D62A755B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4" name="Freeform 5">
            <a:extLst>
              <a:ext uri="{FF2B5EF4-FFF2-40B4-BE49-F238E27FC236}">
                <a16:creationId xmlns:a16="http://schemas.microsoft.com/office/drawing/2014/main" id="{73CEA1BF-A623-C629-ABE8-9ECAECA4277C}"/>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5" name="Freeform 3">
            <a:extLst>
              <a:ext uri="{FF2B5EF4-FFF2-40B4-BE49-F238E27FC236}">
                <a16:creationId xmlns:a16="http://schemas.microsoft.com/office/drawing/2014/main" id="{E180C9C8-F1F7-D118-0DD0-BCD62E18A8AF}"/>
              </a:ext>
              <a:ext uri="{C183D7F6-B498-43B3-948B-1728B52AA6E4}">
                <adec:decorative xmlns:adec="http://schemas.microsoft.com/office/drawing/2017/decorative" val="1"/>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6" name="Freeform 3">
            <a:extLst>
              <a:ext uri="{FF2B5EF4-FFF2-40B4-BE49-F238E27FC236}">
                <a16:creationId xmlns:a16="http://schemas.microsoft.com/office/drawing/2014/main" id="{1706D9C7-EF42-0C12-F56E-9C7D6E8EA38C}"/>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7" name="Freeform 3">
            <a:extLst>
              <a:ext uri="{FF2B5EF4-FFF2-40B4-BE49-F238E27FC236}">
                <a16:creationId xmlns:a16="http://schemas.microsoft.com/office/drawing/2014/main" id="{2DFA1667-832F-5E4D-6954-CE0FA499C12A}"/>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8" name="Freeform 3">
            <a:extLst>
              <a:ext uri="{FF2B5EF4-FFF2-40B4-BE49-F238E27FC236}">
                <a16:creationId xmlns:a16="http://schemas.microsoft.com/office/drawing/2014/main" id="{01F6938B-9D7D-A6BF-363A-78C561E4E37A}"/>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9" name="Freeform 3">
            <a:extLst>
              <a:ext uri="{FF2B5EF4-FFF2-40B4-BE49-F238E27FC236}">
                <a16:creationId xmlns:a16="http://schemas.microsoft.com/office/drawing/2014/main" id="{47BC0655-5A4E-EFEF-C4C6-AE962B5F7B61}"/>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0" name="Freeform 3">
            <a:extLst>
              <a:ext uri="{FF2B5EF4-FFF2-40B4-BE49-F238E27FC236}">
                <a16:creationId xmlns:a16="http://schemas.microsoft.com/office/drawing/2014/main" id="{5503D550-0C32-A031-221E-8039D38BB044}"/>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1" name="Freeform 3">
            <a:extLst>
              <a:ext uri="{FF2B5EF4-FFF2-40B4-BE49-F238E27FC236}">
                <a16:creationId xmlns:a16="http://schemas.microsoft.com/office/drawing/2014/main" id="{996C7B6B-2DC2-7E7C-EF89-5070A9CD9911}"/>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2" name="Freeform 3">
            <a:extLst>
              <a:ext uri="{FF2B5EF4-FFF2-40B4-BE49-F238E27FC236}">
                <a16:creationId xmlns:a16="http://schemas.microsoft.com/office/drawing/2014/main" id="{F7738D38-E706-49B9-EB13-3F6AC9DD3663}"/>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3" name="Freeform 3">
            <a:extLst>
              <a:ext uri="{FF2B5EF4-FFF2-40B4-BE49-F238E27FC236}">
                <a16:creationId xmlns:a16="http://schemas.microsoft.com/office/drawing/2014/main" id="{2E52D789-D70C-03A9-8FC3-ACE8FE25E62E}"/>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4" name="Freeform 3">
            <a:extLst>
              <a:ext uri="{FF2B5EF4-FFF2-40B4-BE49-F238E27FC236}">
                <a16:creationId xmlns:a16="http://schemas.microsoft.com/office/drawing/2014/main" id="{AACCFE86-3F9F-5AA7-4782-F7D5F52C04B7}"/>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5" name="Freeform 3">
            <a:extLst>
              <a:ext uri="{FF2B5EF4-FFF2-40B4-BE49-F238E27FC236}">
                <a16:creationId xmlns:a16="http://schemas.microsoft.com/office/drawing/2014/main" id="{11D7CC7B-E023-90DF-F173-491B833E7873}"/>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6" name="Freeform 4">
            <a:extLst>
              <a:ext uri="{FF2B5EF4-FFF2-40B4-BE49-F238E27FC236}">
                <a16:creationId xmlns:a16="http://schemas.microsoft.com/office/drawing/2014/main" id="{D70710DB-F5C9-4787-45D9-16C0AB402B69}"/>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7" name="Freeform 4">
            <a:extLst>
              <a:ext uri="{FF2B5EF4-FFF2-40B4-BE49-F238E27FC236}">
                <a16:creationId xmlns:a16="http://schemas.microsoft.com/office/drawing/2014/main" id="{EC5D1ABF-9C31-56D5-ABB5-AC95FDA48BBB}"/>
              </a:ext>
              <a:ext uri="{C183D7F6-B498-43B3-948B-1728B52AA6E4}">
                <adec:decorative xmlns:adec="http://schemas.microsoft.com/office/drawing/2017/decorative" val="1"/>
              </a:ext>
            </a:extLst>
          </p:cNvPr>
          <p:cNvSpPr/>
          <p:nvPr/>
        </p:nvSpPr>
        <p:spPr>
          <a:xfrm>
            <a:off x="8995806"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8" name="Freeform 4">
            <a:extLst>
              <a:ext uri="{FF2B5EF4-FFF2-40B4-BE49-F238E27FC236}">
                <a16:creationId xmlns:a16="http://schemas.microsoft.com/office/drawing/2014/main" id="{52408F1A-E51B-A5FD-1F85-F9F0CC5D66F7}"/>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9" name="Freeform 4">
            <a:extLst>
              <a:ext uri="{FF2B5EF4-FFF2-40B4-BE49-F238E27FC236}">
                <a16:creationId xmlns:a16="http://schemas.microsoft.com/office/drawing/2014/main" id="{64FC700E-EB19-9771-DE33-CFB657EF6864}"/>
              </a:ext>
              <a:ext uri="{C183D7F6-B498-43B3-948B-1728B52AA6E4}">
                <adec:decorative xmlns:adec="http://schemas.microsoft.com/office/drawing/2017/decorative" val="1"/>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0" name="Freeform 4">
            <a:extLst>
              <a:ext uri="{FF2B5EF4-FFF2-40B4-BE49-F238E27FC236}">
                <a16:creationId xmlns:a16="http://schemas.microsoft.com/office/drawing/2014/main" id="{35E9A59F-FF00-8484-8F7C-9F9617B1702B}"/>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1" name="Freeform 4">
            <a:extLst>
              <a:ext uri="{FF2B5EF4-FFF2-40B4-BE49-F238E27FC236}">
                <a16:creationId xmlns:a16="http://schemas.microsoft.com/office/drawing/2014/main" id="{24B60312-3D6E-D0E9-D606-7AF336572EB8}"/>
              </a:ext>
              <a:ext uri="{C183D7F6-B498-43B3-948B-1728B52AA6E4}">
                <adec:decorative xmlns:adec="http://schemas.microsoft.com/office/drawing/2017/decorative" val="1"/>
              </a:ext>
            </a:extLst>
          </p:cNvPr>
          <p:cNvSpPr/>
          <p:nvPr/>
        </p:nvSpPr>
        <p:spPr>
          <a:xfrm>
            <a:off x="9002482"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2" name="Freeform 4">
            <a:extLst>
              <a:ext uri="{FF2B5EF4-FFF2-40B4-BE49-F238E27FC236}">
                <a16:creationId xmlns:a16="http://schemas.microsoft.com/office/drawing/2014/main" id="{830EF770-5B1D-8AAB-3375-C9591F4D3869}"/>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3" name="Freeform 4">
            <a:extLst>
              <a:ext uri="{FF2B5EF4-FFF2-40B4-BE49-F238E27FC236}">
                <a16:creationId xmlns:a16="http://schemas.microsoft.com/office/drawing/2014/main" id="{069C40CC-EEE2-12D9-D8DB-49C009634E6E}"/>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4" name="Freeform 4">
            <a:extLst>
              <a:ext uri="{FF2B5EF4-FFF2-40B4-BE49-F238E27FC236}">
                <a16:creationId xmlns:a16="http://schemas.microsoft.com/office/drawing/2014/main" id="{848FEA3F-7AF0-5A7B-213E-F8BD9C561882}"/>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5" name="Freeform 4">
            <a:extLst>
              <a:ext uri="{FF2B5EF4-FFF2-40B4-BE49-F238E27FC236}">
                <a16:creationId xmlns:a16="http://schemas.microsoft.com/office/drawing/2014/main" id="{240623FB-5FB6-5E12-B815-BBBCA00EB7E4}"/>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6" name="Freeform 4">
            <a:extLst>
              <a:ext uri="{FF2B5EF4-FFF2-40B4-BE49-F238E27FC236}">
                <a16:creationId xmlns:a16="http://schemas.microsoft.com/office/drawing/2014/main" id="{774B1E62-43EE-EB61-D2CE-C22FFEE10B7B}"/>
              </a:ext>
              <a:ext uri="{C183D7F6-B498-43B3-948B-1728B52AA6E4}">
                <adec:decorative xmlns:adec="http://schemas.microsoft.com/office/drawing/2017/decorative" val="1"/>
              </a:ext>
            </a:extLst>
          </p:cNvPr>
          <p:cNvSpPr/>
          <p:nvPr/>
        </p:nvSpPr>
        <p:spPr>
          <a:xfrm>
            <a:off x="897394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7" name="Freeform 4">
            <a:extLst>
              <a:ext uri="{FF2B5EF4-FFF2-40B4-BE49-F238E27FC236}">
                <a16:creationId xmlns:a16="http://schemas.microsoft.com/office/drawing/2014/main" id="{65194FD2-EEF3-B914-C1D4-0CE471A66CB8}"/>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8" name="Freeform 4">
            <a:extLst>
              <a:ext uri="{FF2B5EF4-FFF2-40B4-BE49-F238E27FC236}">
                <a16:creationId xmlns:a16="http://schemas.microsoft.com/office/drawing/2014/main" id="{423A6652-D70C-2B01-E1D5-2320D030FB05}"/>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9" name="Freeform 4">
            <a:extLst>
              <a:ext uri="{FF2B5EF4-FFF2-40B4-BE49-F238E27FC236}">
                <a16:creationId xmlns:a16="http://schemas.microsoft.com/office/drawing/2014/main" id="{2135415A-97F5-2236-9BB7-130EBFB0B8CF}"/>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50" name="Freeform 4">
            <a:extLst>
              <a:ext uri="{FF2B5EF4-FFF2-40B4-BE49-F238E27FC236}">
                <a16:creationId xmlns:a16="http://schemas.microsoft.com/office/drawing/2014/main" id="{4B75A24E-A273-5F1B-F882-9F739F6D67D9}"/>
              </a:ext>
              <a:ext uri="{C183D7F6-B498-43B3-948B-1728B52AA6E4}">
                <adec:decorative xmlns:adec="http://schemas.microsoft.com/office/drawing/2017/decorative" val="1"/>
              </a:ext>
            </a:extLst>
          </p:cNvPr>
          <p:cNvSpPr/>
          <p:nvPr/>
        </p:nvSpPr>
        <p:spPr>
          <a:xfrm>
            <a:off x="8980624"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Tree>
    <p:extLst>
      <p:ext uri="{BB962C8B-B14F-4D97-AF65-F5344CB8AC3E}">
        <p14:creationId xmlns:p14="http://schemas.microsoft.com/office/powerpoint/2010/main" val="20412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8 – decimals with MAB materials (5)</a:t>
            </a:r>
            <a:r>
              <a:rPr lang="en-AU">
                <a:solidFill>
                  <a:schemeClr val="bg1"/>
                </a:solidFill>
              </a:rPr>
              <a:t>(5)</a:t>
            </a:r>
          </a:p>
        </p:txBody>
      </p:sp>
      <p:sp>
        <p:nvSpPr>
          <p:cNvPr id="4" name="TextBox 3">
            <a:extLst>
              <a:ext uri="{FF2B5EF4-FFF2-40B4-BE49-F238E27FC236}">
                <a16:creationId xmlns:a16="http://schemas.microsoft.com/office/drawing/2014/main" id="{E51CA801-9F2B-A2E3-1B3D-15FC228AA1D6}"/>
              </a:ext>
            </a:extLst>
          </p:cNvPr>
          <p:cNvSpPr txBox="1"/>
          <p:nvPr/>
        </p:nvSpPr>
        <p:spPr>
          <a:xfrm>
            <a:off x="256032" y="1181802"/>
            <a:ext cx="3535680" cy="1200329"/>
          </a:xfrm>
          <a:prstGeom prst="rect">
            <a:avLst/>
          </a:prstGeom>
          <a:noFill/>
        </p:spPr>
        <p:txBody>
          <a:bodyPr wrap="square">
            <a:spAutoFit/>
          </a:bodyPr>
          <a:lstStyle/>
          <a:p>
            <a:r>
              <a:rPr lang="en-AU">
                <a:latin typeface="Arial" panose="020B0604020202020204" pitchFamily="34" charset="0"/>
                <a:ea typeface="Calibri" panose="020F0502020204030204" pitchFamily="34" charset="0"/>
              </a:rPr>
              <a:t>R</a:t>
            </a:r>
            <a:r>
              <a:rPr lang="en-AU" sz="2400">
                <a:effectLst/>
                <a:latin typeface="Arial" panose="020B0604020202020204" pitchFamily="34" charset="0"/>
                <a:ea typeface="Calibri" panose="020F0502020204030204" pitchFamily="34" charset="0"/>
              </a:rPr>
              <a:t>ead the number aloud and represent it using MAB materials</a:t>
            </a:r>
            <a:endParaRPr lang="en-AU"/>
          </a:p>
        </p:txBody>
      </p:sp>
      <p:sp>
        <p:nvSpPr>
          <p:cNvPr id="9" name="TextBox 8">
            <a:extLst>
              <a:ext uri="{FF2B5EF4-FFF2-40B4-BE49-F238E27FC236}">
                <a16:creationId xmlns:a16="http://schemas.microsoft.com/office/drawing/2014/main" id="{CC470BEF-AA63-9F5A-15DD-194A9B3A0945}"/>
              </a:ext>
            </a:extLst>
          </p:cNvPr>
          <p:cNvSpPr txBox="1"/>
          <p:nvPr/>
        </p:nvSpPr>
        <p:spPr>
          <a:xfrm>
            <a:off x="4091490" y="1084266"/>
            <a:ext cx="3646844" cy="666973"/>
          </a:xfrm>
          <a:prstGeom prst="rect">
            <a:avLst/>
          </a:prstGeom>
          <a:solidFill>
            <a:schemeClr val="accent4"/>
          </a:solidFill>
          <a:ln>
            <a:solidFill>
              <a:srgbClr val="002060"/>
            </a:solidFill>
          </a:ln>
        </p:spPr>
        <p:txBody>
          <a:bodyPr wrap="square" lIns="0" tIns="0" rIns="0" bIns="0" rtlCol="0">
            <a:noAutofit/>
          </a:bodyPr>
          <a:lstStyle/>
          <a:p>
            <a:pPr algn="ctr"/>
            <a:r>
              <a:rPr lang="en-AU" sz="4000">
                <a:latin typeface="Arial" panose="020B0604020202020204" pitchFamily="34" charset="0"/>
                <a:cs typeface="Arial" panose="020B0604020202020204" pitchFamily="34" charset="0"/>
              </a:rPr>
              <a:t>3.045</a:t>
            </a:r>
            <a:endParaRPr lang="en-AU" sz="600">
              <a:latin typeface="Arial" panose="020B0604020202020204" pitchFamily="34" charset="0"/>
              <a:cs typeface="Arial" panose="020B0604020202020204" pitchFamily="34" charset="0"/>
            </a:endParaRPr>
          </a:p>
        </p:txBody>
      </p:sp>
      <p:sp>
        <p:nvSpPr>
          <p:cNvPr id="5" name="Freeform 2" descr="MAB blocks at the bottom of the screen: 1000 block, 100 flat, ten and one.">
            <a:extLst>
              <a:ext uri="{FF2B5EF4-FFF2-40B4-BE49-F238E27FC236}">
                <a16:creationId xmlns:a16="http://schemas.microsoft.com/office/drawing/2014/main" id="{174A9A9C-A6A1-6567-239C-722360850026}"/>
              </a:ext>
            </a:extLst>
          </p:cNvPr>
          <p:cNvSpPr/>
          <p:nvPr/>
        </p:nvSpPr>
        <p:spPr>
          <a:xfrm>
            <a:off x="2641201" y="5530124"/>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6" name="Freeform 5" descr="MAB blocks at the bottom of the screen: 1000 block, 100 flat, ten and one.">
            <a:extLst>
              <a:ext uri="{FF2B5EF4-FFF2-40B4-BE49-F238E27FC236}">
                <a16:creationId xmlns:a16="http://schemas.microsoft.com/office/drawing/2014/main" id="{01762F86-5BE3-A52F-38BD-D725CFDEF51C}"/>
              </a:ext>
            </a:extLst>
          </p:cNvPr>
          <p:cNvSpPr/>
          <p:nvPr/>
        </p:nvSpPr>
        <p:spPr>
          <a:xfrm>
            <a:off x="4743193"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7" name="Freeform 3" descr="MAB blocks at the bottom of the screen: 1000 block, 100 flat, ten and one.">
            <a:extLst>
              <a:ext uri="{FF2B5EF4-FFF2-40B4-BE49-F238E27FC236}">
                <a16:creationId xmlns:a16="http://schemas.microsoft.com/office/drawing/2014/main" id="{E1667D93-795A-1495-A191-C7CA620DFA72}"/>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8" name="Freeform 4" descr="MAB blocks at the bottom of the screen: 1000 block, 100 flat, ten and one.">
            <a:extLst>
              <a:ext uri="{FF2B5EF4-FFF2-40B4-BE49-F238E27FC236}">
                <a16:creationId xmlns:a16="http://schemas.microsoft.com/office/drawing/2014/main" id="{63585AED-8452-5659-37FA-0540BA57B495}"/>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 name="Freeform 2">
            <a:extLst>
              <a:ext uri="{FF2B5EF4-FFF2-40B4-BE49-F238E27FC236}">
                <a16:creationId xmlns:a16="http://schemas.microsoft.com/office/drawing/2014/main" id="{5CD79681-1315-410B-EB87-2CB399788FBA}"/>
              </a:ext>
              <a:ext uri="{C183D7F6-B498-43B3-948B-1728B52AA6E4}">
                <adec:decorative xmlns:adec="http://schemas.microsoft.com/office/drawing/2017/decorative" val="1"/>
              </a:ext>
            </a:extLst>
          </p:cNvPr>
          <p:cNvSpPr/>
          <p:nvPr/>
        </p:nvSpPr>
        <p:spPr>
          <a:xfrm>
            <a:off x="2641201" y="5535073"/>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1" name="Freeform 2">
            <a:extLst>
              <a:ext uri="{FF2B5EF4-FFF2-40B4-BE49-F238E27FC236}">
                <a16:creationId xmlns:a16="http://schemas.microsoft.com/office/drawing/2014/main" id="{09826A5A-61A2-0FEC-32CE-867FEDC6E67C}"/>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2" name="Freeform 2">
            <a:extLst>
              <a:ext uri="{FF2B5EF4-FFF2-40B4-BE49-F238E27FC236}">
                <a16:creationId xmlns:a16="http://schemas.microsoft.com/office/drawing/2014/main" id="{36966EB4-4735-3CF7-B8E7-457D1D4B6D9C}"/>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3" name="Freeform 2">
            <a:extLst>
              <a:ext uri="{FF2B5EF4-FFF2-40B4-BE49-F238E27FC236}">
                <a16:creationId xmlns:a16="http://schemas.microsoft.com/office/drawing/2014/main" id="{6E4D293F-8190-C18C-4DB6-FB829F2B636F}"/>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4" name="Freeform 2">
            <a:extLst>
              <a:ext uri="{FF2B5EF4-FFF2-40B4-BE49-F238E27FC236}">
                <a16:creationId xmlns:a16="http://schemas.microsoft.com/office/drawing/2014/main" id="{0F8B8172-C953-4F08-FF45-83846F7A352D}"/>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5" name="Freeform 2">
            <a:extLst>
              <a:ext uri="{FF2B5EF4-FFF2-40B4-BE49-F238E27FC236}">
                <a16:creationId xmlns:a16="http://schemas.microsoft.com/office/drawing/2014/main" id="{1C5A184C-8B2A-CA9D-7D7C-51310E7CAD9E}"/>
              </a:ext>
              <a:ext uri="{C183D7F6-B498-43B3-948B-1728B52AA6E4}">
                <adec:decorative xmlns:adec="http://schemas.microsoft.com/office/drawing/2017/decorative" val="1"/>
              </a:ext>
            </a:extLst>
          </p:cNvPr>
          <p:cNvSpPr/>
          <p:nvPr/>
        </p:nvSpPr>
        <p:spPr>
          <a:xfrm>
            <a:off x="2641201" y="5518132"/>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6" name="Freeform 5">
            <a:extLst>
              <a:ext uri="{FF2B5EF4-FFF2-40B4-BE49-F238E27FC236}">
                <a16:creationId xmlns:a16="http://schemas.microsoft.com/office/drawing/2014/main" id="{F9CC538E-E6FA-5EDF-1E50-835DD2E0D1B5}"/>
              </a:ext>
              <a:ext uri="{C183D7F6-B498-43B3-948B-1728B52AA6E4}">
                <adec:decorative xmlns:adec="http://schemas.microsoft.com/office/drawing/2017/decorative" val="1"/>
              </a:ext>
            </a:extLst>
          </p:cNvPr>
          <p:cNvSpPr/>
          <p:nvPr/>
        </p:nvSpPr>
        <p:spPr>
          <a:xfrm>
            <a:off x="4743193"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7" name="Freeform 5">
            <a:extLst>
              <a:ext uri="{FF2B5EF4-FFF2-40B4-BE49-F238E27FC236}">
                <a16:creationId xmlns:a16="http://schemas.microsoft.com/office/drawing/2014/main" id="{4E66E42E-ABB3-9334-30FA-3B725C941C7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8" name="Freeform 5">
            <a:extLst>
              <a:ext uri="{FF2B5EF4-FFF2-40B4-BE49-F238E27FC236}">
                <a16:creationId xmlns:a16="http://schemas.microsoft.com/office/drawing/2014/main" id="{F51A65A2-E35D-116D-5C25-7ADCDDB5C46F}"/>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9" name="Freeform 5">
            <a:extLst>
              <a:ext uri="{FF2B5EF4-FFF2-40B4-BE49-F238E27FC236}">
                <a16:creationId xmlns:a16="http://schemas.microsoft.com/office/drawing/2014/main" id="{FF4777D7-A820-DA8A-2FCF-77055280BDCB}"/>
              </a:ext>
              <a:ext uri="{C183D7F6-B498-43B3-948B-1728B52AA6E4}">
                <adec:decorative xmlns:adec="http://schemas.microsoft.com/office/drawing/2017/decorative" val="1"/>
              </a:ext>
            </a:extLst>
          </p:cNvPr>
          <p:cNvSpPr/>
          <p:nvPr/>
        </p:nvSpPr>
        <p:spPr>
          <a:xfrm>
            <a:off x="4739350"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0" name="Freeform 5">
            <a:extLst>
              <a:ext uri="{FF2B5EF4-FFF2-40B4-BE49-F238E27FC236}">
                <a16:creationId xmlns:a16="http://schemas.microsoft.com/office/drawing/2014/main" id="{6209B7D3-1328-FDEC-F9D8-DEEA5A65CA7F}"/>
              </a:ext>
              <a:ext uri="{C183D7F6-B498-43B3-948B-1728B52AA6E4}">
                <adec:decorative xmlns:adec="http://schemas.microsoft.com/office/drawing/2017/decorative" val="1"/>
              </a:ext>
            </a:extLst>
          </p:cNvPr>
          <p:cNvSpPr/>
          <p:nvPr/>
        </p:nvSpPr>
        <p:spPr>
          <a:xfrm>
            <a:off x="4739350"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1" name="Freeform 5">
            <a:extLst>
              <a:ext uri="{FF2B5EF4-FFF2-40B4-BE49-F238E27FC236}">
                <a16:creationId xmlns:a16="http://schemas.microsoft.com/office/drawing/2014/main" id="{A8FB48A1-9D5D-3642-D0CD-E3B476789E51}"/>
              </a:ext>
              <a:ext uri="{C183D7F6-B498-43B3-948B-1728B52AA6E4}">
                <adec:decorative xmlns:adec="http://schemas.microsoft.com/office/drawing/2017/decorative" val="1"/>
              </a:ext>
            </a:extLst>
          </p:cNvPr>
          <p:cNvSpPr/>
          <p:nvPr/>
        </p:nvSpPr>
        <p:spPr>
          <a:xfrm>
            <a:off x="4747036"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2" name="Freeform 5">
            <a:extLst>
              <a:ext uri="{FF2B5EF4-FFF2-40B4-BE49-F238E27FC236}">
                <a16:creationId xmlns:a16="http://schemas.microsoft.com/office/drawing/2014/main" id="{0E70E909-01FE-4A37-7065-BD9C476D5BC5}"/>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3" name="Freeform 5">
            <a:extLst>
              <a:ext uri="{FF2B5EF4-FFF2-40B4-BE49-F238E27FC236}">
                <a16:creationId xmlns:a16="http://schemas.microsoft.com/office/drawing/2014/main" id="{395A2050-74E0-C34F-C17A-551D62A755B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4" name="Freeform 5">
            <a:extLst>
              <a:ext uri="{FF2B5EF4-FFF2-40B4-BE49-F238E27FC236}">
                <a16:creationId xmlns:a16="http://schemas.microsoft.com/office/drawing/2014/main" id="{73CEA1BF-A623-C629-ABE8-9ECAECA4277C}"/>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5" name="Freeform 3">
            <a:extLst>
              <a:ext uri="{FF2B5EF4-FFF2-40B4-BE49-F238E27FC236}">
                <a16:creationId xmlns:a16="http://schemas.microsoft.com/office/drawing/2014/main" id="{E180C9C8-F1F7-D118-0DD0-BCD62E18A8AF}"/>
              </a:ext>
              <a:ext uri="{C183D7F6-B498-43B3-948B-1728B52AA6E4}">
                <adec:decorative xmlns:adec="http://schemas.microsoft.com/office/drawing/2017/decorative" val="1"/>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6" name="Freeform 3">
            <a:extLst>
              <a:ext uri="{FF2B5EF4-FFF2-40B4-BE49-F238E27FC236}">
                <a16:creationId xmlns:a16="http://schemas.microsoft.com/office/drawing/2014/main" id="{1706D9C7-EF42-0C12-F56E-9C7D6E8EA38C}"/>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7" name="Freeform 3">
            <a:extLst>
              <a:ext uri="{FF2B5EF4-FFF2-40B4-BE49-F238E27FC236}">
                <a16:creationId xmlns:a16="http://schemas.microsoft.com/office/drawing/2014/main" id="{2DFA1667-832F-5E4D-6954-CE0FA499C12A}"/>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8" name="Freeform 3">
            <a:extLst>
              <a:ext uri="{FF2B5EF4-FFF2-40B4-BE49-F238E27FC236}">
                <a16:creationId xmlns:a16="http://schemas.microsoft.com/office/drawing/2014/main" id="{01F6938B-9D7D-A6BF-363A-78C561E4E37A}"/>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9" name="Freeform 3">
            <a:extLst>
              <a:ext uri="{FF2B5EF4-FFF2-40B4-BE49-F238E27FC236}">
                <a16:creationId xmlns:a16="http://schemas.microsoft.com/office/drawing/2014/main" id="{47BC0655-5A4E-EFEF-C4C6-AE962B5F7B61}"/>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0" name="Freeform 3">
            <a:extLst>
              <a:ext uri="{FF2B5EF4-FFF2-40B4-BE49-F238E27FC236}">
                <a16:creationId xmlns:a16="http://schemas.microsoft.com/office/drawing/2014/main" id="{5503D550-0C32-A031-221E-8039D38BB044}"/>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1" name="Freeform 3">
            <a:extLst>
              <a:ext uri="{FF2B5EF4-FFF2-40B4-BE49-F238E27FC236}">
                <a16:creationId xmlns:a16="http://schemas.microsoft.com/office/drawing/2014/main" id="{996C7B6B-2DC2-7E7C-EF89-5070A9CD9911}"/>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2" name="Freeform 3">
            <a:extLst>
              <a:ext uri="{FF2B5EF4-FFF2-40B4-BE49-F238E27FC236}">
                <a16:creationId xmlns:a16="http://schemas.microsoft.com/office/drawing/2014/main" id="{F7738D38-E706-49B9-EB13-3F6AC9DD3663}"/>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3" name="Freeform 3">
            <a:extLst>
              <a:ext uri="{FF2B5EF4-FFF2-40B4-BE49-F238E27FC236}">
                <a16:creationId xmlns:a16="http://schemas.microsoft.com/office/drawing/2014/main" id="{2E52D789-D70C-03A9-8FC3-ACE8FE25E62E}"/>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4" name="Freeform 3">
            <a:extLst>
              <a:ext uri="{FF2B5EF4-FFF2-40B4-BE49-F238E27FC236}">
                <a16:creationId xmlns:a16="http://schemas.microsoft.com/office/drawing/2014/main" id="{AACCFE86-3F9F-5AA7-4782-F7D5F52C04B7}"/>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5" name="Freeform 3">
            <a:extLst>
              <a:ext uri="{FF2B5EF4-FFF2-40B4-BE49-F238E27FC236}">
                <a16:creationId xmlns:a16="http://schemas.microsoft.com/office/drawing/2014/main" id="{11D7CC7B-E023-90DF-F173-491B833E7873}"/>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6" name="Freeform 4">
            <a:extLst>
              <a:ext uri="{FF2B5EF4-FFF2-40B4-BE49-F238E27FC236}">
                <a16:creationId xmlns:a16="http://schemas.microsoft.com/office/drawing/2014/main" id="{D70710DB-F5C9-4787-45D9-16C0AB402B69}"/>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7" name="Freeform 4">
            <a:extLst>
              <a:ext uri="{FF2B5EF4-FFF2-40B4-BE49-F238E27FC236}">
                <a16:creationId xmlns:a16="http://schemas.microsoft.com/office/drawing/2014/main" id="{EC5D1ABF-9C31-56D5-ABB5-AC95FDA48BBB}"/>
              </a:ext>
              <a:ext uri="{C183D7F6-B498-43B3-948B-1728B52AA6E4}">
                <adec:decorative xmlns:adec="http://schemas.microsoft.com/office/drawing/2017/decorative" val="1"/>
              </a:ext>
            </a:extLst>
          </p:cNvPr>
          <p:cNvSpPr/>
          <p:nvPr/>
        </p:nvSpPr>
        <p:spPr>
          <a:xfrm>
            <a:off x="8995806"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8" name="Freeform 4">
            <a:extLst>
              <a:ext uri="{FF2B5EF4-FFF2-40B4-BE49-F238E27FC236}">
                <a16:creationId xmlns:a16="http://schemas.microsoft.com/office/drawing/2014/main" id="{52408F1A-E51B-A5FD-1F85-F9F0CC5D66F7}"/>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9" name="Freeform 4">
            <a:extLst>
              <a:ext uri="{FF2B5EF4-FFF2-40B4-BE49-F238E27FC236}">
                <a16:creationId xmlns:a16="http://schemas.microsoft.com/office/drawing/2014/main" id="{64FC700E-EB19-9771-DE33-CFB657EF6864}"/>
              </a:ext>
              <a:ext uri="{C183D7F6-B498-43B3-948B-1728B52AA6E4}">
                <adec:decorative xmlns:adec="http://schemas.microsoft.com/office/drawing/2017/decorative" val="1"/>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0" name="Freeform 4">
            <a:extLst>
              <a:ext uri="{FF2B5EF4-FFF2-40B4-BE49-F238E27FC236}">
                <a16:creationId xmlns:a16="http://schemas.microsoft.com/office/drawing/2014/main" id="{35E9A59F-FF00-8484-8F7C-9F9617B1702B}"/>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1" name="Freeform 4">
            <a:extLst>
              <a:ext uri="{FF2B5EF4-FFF2-40B4-BE49-F238E27FC236}">
                <a16:creationId xmlns:a16="http://schemas.microsoft.com/office/drawing/2014/main" id="{24B60312-3D6E-D0E9-D606-7AF336572EB8}"/>
              </a:ext>
              <a:ext uri="{C183D7F6-B498-43B3-948B-1728B52AA6E4}">
                <adec:decorative xmlns:adec="http://schemas.microsoft.com/office/drawing/2017/decorative" val="1"/>
              </a:ext>
            </a:extLst>
          </p:cNvPr>
          <p:cNvSpPr/>
          <p:nvPr/>
        </p:nvSpPr>
        <p:spPr>
          <a:xfrm>
            <a:off x="9002482"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2" name="Freeform 4">
            <a:extLst>
              <a:ext uri="{FF2B5EF4-FFF2-40B4-BE49-F238E27FC236}">
                <a16:creationId xmlns:a16="http://schemas.microsoft.com/office/drawing/2014/main" id="{830EF770-5B1D-8AAB-3375-C9591F4D3869}"/>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3" name="Freeform 4">
            <a:extLst>
              <a:ext uri="{FF2B5EF4-FFF2-40B4-BE49-F238E27FC236}">
                <a16:creationId xmlns:a16="http://schemas.microsoft.com/office/drawing/2014/main" id="{069C40CC-EEE2-12D9-D8DB-49C009634E6E}"/>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4" name="Freeform 4">
            <a:extLst>
              <a:ext uri="{FF2B5EF4-FFF2-40B4-BE49-F238E27FC236}">
                <a16:creationId xmlns:a16="http://schemas.microsoft.com/office/drawing/2014/main" id="{848FEA3F-7AF0-5A7B-213E-F8BD9C561882}"/>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5" name="Freeform 4">
            <a:extLst>
              <a:ext uri="{FF2B5EF4-FFF2-40B4-BE49-F238E27FC236}">
                <a16:creationId xmlns:a16="http://schemas.microsoft.com/office/drawing/2014/main" id="{240623FB-5FB6-5E12-B815-BBBCA00EB7E4}"/>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6" name="Freeform 4">
            <a:extLst>
              <a:ext uri="{FF2B5EF4-FFF2-40B4-BE49-F238E27FC236}">
                <a16:creationId xmlns:a16="http://schemas.microsoft.com/office/drawing/2014/main" id="{774B1E62-43EE-EB61-D2CE-C22FFEE10B7B}"/>
              </a:ext>
              <a:ext uri="{C183D7F6-B498-43B3-948B-1728B52AA6E4}">
                <adec:decorative xmlns:adec="http://schemas.microsoft.com/office/drawing/2017/decorative" val="1"/>
              </a:ext>
            </a:extLst>
          </p:cNvPr>
          <p:cNvSpPr/>
          <p:nvPr/>
        </p:nvSpPr>
        <p:spPr>
          <a:xfrm>
            <a:off x="897394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7" name="Freeform 4">
            <a:extLst>
              <a:ext uri="{FF2B5EF4-FFF2-40B4-BE49-F238E27FC236}">
                <a16:creationId xmlns:a16="http://schemas.microsoft.com/office/drawing/2014/main" id="{65194FD2-EEF3-B914-C1D4-0CE471A66CB8}"/>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8" name="Freeform 4">
            <a:extLst>
              <a:ext uri="{FF2B5EF4-FFF2-40B4-BE49-F238E27FC236}">
                <a16:creationId xmlns:a16="http://schemas.microsoft.com/office/drawing/2014/main" id="{423A6652-D70C-2B01-E1D5-2320D030FB05}"/>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9" name="Freeform 4">
            <a:extLst>
              <a:ext uri="{FF2B5EF4-FFF2-40B4-BE49-F238E27FC236}">
                <a16:creationId xmlns:a16="http://schemas.microsoft.com/office/drawing/2014/main" id="{2135415A-97F5-2236-9BB7-130EBFB0B8CF}"/>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50" name="Freeform 4">
            <a:extLst>
              <a:ext uri="{FF2B5EF4-FFF2-40B4-BE49-F238E27FC236}">
                <a16:creationId xmlns:a16="http://schemas.microsoft.com/office/drawing/2014/main" id="{4B75A24E-A273-5F1B-F882-9F739F6D67D9}"/>
              </a:ext>
              <a:ext uri="{C183D7F6-B498-43B3-948B-1728B52AA6E4}">
                <adec:decorative xmlns:adec="http://schemas.microsoft.com/office/drawing/2017/decorative" val="1"/>
              </a:ext>
            </a:extLst>
          </p:cNvPr>
          <p:cNvSpPr/>
          <p:nvPr/>
        </p:nvSpPr>
        <p:spPr>
          <a:xfrm>
            <a:off x="8980624"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Tree>
    <p:extLst>
      <p:ext uri="{BB962C8B-B14F-4D97-AF65-F5344CB8AC3E}">
        <p14:creationId xmlns:p14="http://schemas.microsoft.com/office/powerpoint/2010/main" val="3336293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8 – decimals with MAB materials (6) </a:t>
            </a:r>
            <a:r>
              <a:rPr lang="en-AU">
                <a:solidFill>
                  <a:schemeClr val="bg1"/>
                </a:solidFill>
              </a:rPr>
              <a:t>(6)</a:t>
            </a:r>
          </a:p>
        </p:txBody>
      </p:sp>
      <p:sp>
        <p:nvSpPr>
          <p:cNvPr id="4" name="TextBox 3">
            <a:extLst>
              <a:ext uri="{FF2B5EF4-FFF2-40B4-BE49-F238E27FC236}">
                <a16:creationId xmlns:a16="http://schemas.microsoft.com/office/drawing/2014/main" id="{BF4C149F-0E3D-6402-19E6-7E10FF9D92DD}"/>
              </a:ext>
            </a:extLst>
          </p:cNvPr>
          <p:cNvSpPr txBox="1"/>
          <p:nvPr/>
        </p:nvSpPr>
        <p:spPr>
          <a:xfrm>
            <a:off x="256032" y="1181802"/>
            <a:ext cx="3535680" cy="1200329"/>
          </a:xfrm>
          <a:prstGeom prst="rect">
            <a:avLst/>
          </a:prstGeom>
          <a:noFill/>
        </p:spPr>
        <p:txBody>
          <a:bodyPr wrap="square">
            <a:spAutoFit/>
          </a:bodyPr>
          <a:lstStyle/>
          <a:p>
            <a:r>
              <a:rPr lang="en-AU">
                <a:latin typeface="Arial" panose="020B0604020202020204" pitchFamily="34" charset="0"/>
                <a:ea typeface="Calibri" panose="020F0502020204030204" pitchFamily="34" charset="0"/>
              </a:rPr>
              <a:t>R</a:t>
            </a:r>
            <a:r>
              <a:rPr lang="en-AU" sz="2400">
                <a:effectLst/>
                <a:latin typeface="Arial" panose="020B0604020202020204" pitchFamily="34" charset="0"/>
                <a:ea typeface="Calibri" panose="020F0502020204030204" pitchFamily="34" charset="0"/>
              </a:rPr>
              <a:t>ead the number aloud and represent it using MAB materials</a:t>
            </a:r>
            <a:endParaRPr lang="en-AU"/>
          </a:p>
        </p:txBody>
      </p:sp>
      <p:sp>
        <p:nvSpPr>
          <p:cNvPr id="9" name="TextBox 8">
            <a:extLst>
              <a:ext uri="{FF2B5EF4-FFF2-40B4-BE49-F238E27FC236}">
                <a16:creationId xmlns:a16="http://schemas.microsoft.com/office/drawing/2014/main" id="{CC470BEF-AA63-9F5A-15DD-194A9B3A0945}"/>
              </a:ext>
            </a:extLst>
          </p:cNvPr>
          <p:cNvSpPr txBox="1"/>
          <p:nvPr/>
        </p:nvSpPr>
        <p:spPr>
          <a:xfrm>
            <a:off x="4152450" y="973384"/>
            <a:ext cx="3646844" cy="666973"/>
          </a:xfrm>
          <a:prstGeom prst="rect">
            <a:avLst/>
          </a:prstGeom>
          <a:solidFill>
            <a:schemeClr val="accent4"/>
          </a:solidFill>
          <a:ln>
            <a:solidFill>
              <a:srgbClr val="002060"/>
            </a:solidFill>
          </a:ln>
        </p:spPr>
        <p:txBody>
          <a:bodyPr wrap="square" lIns="0" tIns="0" rIns="0" bIns="0" rtlCol="0">
            <a:noAutofit/>
          </a:bodyPr>
          <a:lstStyle/>
          <a:p>
            <a:pPr algn="ctr"/>
            <a:r>
              <a:rPr lang="en-AU" sz="4000">
                <a:latin typeface="Arial" panose="020B0604020202020204" pitchFamily="34" charset="0"/>
                <a:cs typeface="Arial" panose="020B0604020202020204" pitchFamily="34" charset="0"/>
              </a:rPr>
              <a:t>2.108</a:t>
            </a:r>
            <a:endParaRPr lang="en-AU" sz="600">
              <a:latin typeface="Arial" panose="020B0604020202020204" pitchFamily="34" charset="0"/>
              <a:cs typeface="Arial" panose="020B0604020202020204" pitchFamily="34" charset="0"/>
            </a:endParaRPr>
          </a:p>
        </p:txBody>
      </p:sp>
      <p:sp>
        <p:nvSpPr>
          <p:cNvPr id="5" name="Freeform 2" descr="MAB blocks at the bottom of the screen: 1000 block, 100 flat, ten and one.">
            <a:extLst>
              <a:ext uri="{FF2B5EF4-FFF2-40B4-BE49-F238E27FC236}">
                <a16:creationId xmlns:a16="http://schemas.microsoft.com/office/drawing/2014/main" id="{174A9A9C-A6A1-6567-239C-722360850026}"/>
              </a:ext>
            </a:extLst>
          </p:cNvPr>
          <p:cNvSpPr/>
          <p:nvPr/>
        </p:nvSpPr>
        <p:spPr>
          <a:xfrm>
            <a:off x="2641201" y="5530124"/>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6" name="Freeform 5" descr="MAB blocks at the bottom of the screen: 1000 block, 100 flat, ten and one.">
            <a:extLst>
              <a:ext uri="{FF2B5EF4-FFF2-40B4-BE49-F238E27FC236}">
                <a16:creationId xmlns:a16="http://schemas.microsoft.com/office/drawing/2014/main" id="{01762F86-5BE3-A52F-38BD-D725CFDEF51C}"/>
              </a:ext>
            </a:extLst>
          </p:cNvPr>
          <p:cNvSpPr/>
          <p:nvPr/>
        </p:nvSpPr>
        <p:spPr>
          <a:xfrm>
            <a:off x="4743193"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7" name="Freeform 3" descr="MAB blocks at the bottom of the screen: 1000 block, 100 flat, ten and one.">
            <a:extLst>
              <a:ext uri="{FF2B5EF4-FFF2-40B4-BE49-F238E27FC236}">
                <a16:creationId xmlns:a16="http://schemas.microsoft.com/office/drawing/2014/main" id="{E1667D93-795A-1495-A191-C7CA620DFA72}"/>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8" name="Freeform 4" descr="MAB blocks at the bottom of the screen: 1000 block, 100 flat, ten and one.">
            <a:extLst>
              <a:ext uri="{FF2B5EF4-FFF2-40B4-BE49-F238E27FC236}">
                <a16:creationId xmlns:a16="http://schemas.microsoft.com/office/drawing/2014/main" id="{63585AED-8452-5659-37FA-0540BA57B495}"/>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 name="Freeform 2">
            <a:extLst>
              <a:ext uri="{FF2B5EF4-FFF2-40B4-BE49-F238E27FC236}">
                <a16:creationId xmlns:a16="http://schemas.microsoft.com/office/drawing/2014/main" id="{5CD79681-1315-410B-EB87-2CB399788FBA}"/>
              </a:ext>
              <a:ext uri="{C183D7F6-B498-43B3-948B-1728B52AA6E4}">
                <adec:decorative xmlns:adec="http://schemas.microsoft.com/office/drawing/2017/decorative" val="1"/>
              </a:ext>
            </a:extLst>
          </p:cNvPr>
          <p:cNvSpPr/>
          <p:nvPr/>
        </p:nvSpPr>
        <p:spPr>
          <a:xfrm>
            <a:off x="2641201" y="5535073"/>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1" name="Freeform 2">
            <a:extLst>
              <a:ext uri="{FF2B5EF4-FFF2-40B4-BE49-F238E27FC236}">
                <a16:creationId xmlns:a16="http://schemas.microsoft.com/office/drawing/2014/main" id="{09826A5A-61A2-0FEC-32CE-867FEDC6E67C}"/>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2" name="Freeform 2">
            <a:extLst>
              <a:ext uri="{FF2B5EF4-FFF2-40B4-BE49-F238E27FC236}">
                <a16:creationId xmlns:a16="http://schemas.microsoft.com/office/drawing/2014/main" id="{36966EB4-4735-3CF7-B8E7-457D1D4B6D9C}"/>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3" name="Freeform 2">
            <a:extLst>
              <a:ext uri="{FF2B5EF4-FFF2-40B4-BE49-F238E27FC236}">
                <a16:creationId xmlns:a16="http://schemas.microsoft.com/office/drawing/2014/main" id="{6E4D293F-8190-C18C-4DB6-FB829F2B636F}"/>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4" name="Freeform 2">
            <a:extLst>
              <a:ext uri="{FF2B5EF4-FFF2-40B4-BE49-F238E27FC236}">
                <a16:creationId xmlns:a16="http://schemas.microsoft.com/office/drawing/2014/main" id="{0F8B8172-C953-4F08-FF45-83846F7A352D}"/>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5" name="Freeform 2">
            <a:extLst>
              <a:ext uri="{FF2B5EF4-FFF2-40B4-BE49-F238E27FC236}">
                <a16:creationId xmlns:a16="http://schemas.microsoft.com/office/drawing/2014/main" id="{1C5A184C-8B2A-CA9D-7D7C-51310E7CAD9E}"/>
              </a:ext>
              <a:ext uri="{C183D7F6-B498-43B3-948B-1728B52AA6E4}">
                <adec:decorative xmlns:adec="http://schemas.microsoft.com/office/drawing/2017/decorative" val="1"/>
              </a:ext>
            </a:extLst>
          </p:cNvPr>
          <p:cNvSpPr/>
          <p:nvPr/>
        </p:nvSpPr>
        <p:spPr>
          <a:xfrm>
            <a:off x="2641201" y="5518132"/>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6" name="Freeform 5">
            <a:extLst>
              <a:ext uri="{FF2B5EF4-FFF2-40B4-BE49-F238E27FC236}">
                <a16:creationId xmlns:a16="http://schemas.microsoft.com/office/drawing/2014/main" id="{F9CC538E-E6FA-5EDF-1E50-835DD2E0D1B5}"/>
              </a:ext>
              <a:ext uri="{C183D7F6-B498-43B3-948B-1728B52AA6E4}">
                <adec:decorative xmlns:adec="http://schemas.microsoft.com/office/drawing/2017/decorative" val="1"/>
              </a:ext>
            </a:extLst>
          </p:cNvPr>
          <p:cNvSpPr/>
          <p:nvPr/>
        </p:nvSpPr>
        <p:spPr>
          <a:xfrm>
            <a:off x="4743193"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7" name="Freeform 5">
            <a:extLst>
              <a:ext uri="{FF2B5EF4-FFF2-40B4-BE49-F238E27FC236}">
                <a16:creationId xmlns:a16="http://schemas.microsoft.com/office/drawing/2014/main" id="{4E66E42E-ABB3-9334-30FA-3B725C941C7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8" name="Freeform 5">
            <a:extLst>
              <a:ext uri="{FF2B5EF4-FFF2-40B4-BE49-F238E27FC236}">
                <a16:creationId xmlns:a16="http://schemas.microsoft.com/office/drawing/2014/main" id="{F51A65A2-E35D-116D-5C25-7ADCDDB5C46F}"/>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9" name="Freeform 5">
            <a:extLst>
              <a:ext uri="{FF2B5EF4-FFF2-40B4-BE49-F238E27FC236}">
                <a16:creationId xmlns:a16="http://schemas.microsoft.com/office/drawing/2014/main" id="{FF4777D7-A820-DA8A-2FCF-77055280BDCB}"/>
              </a:ext>
              <a:ext uri="{C183D7F6-B498-43B3-948B-1728B52AA6E4}">
                <adec:decorative xmlns:adec="http://schemas.microsoft.com/office/drawing/2017/decorative" val="1"/>
              </a:ext>
            </a:extLst>
          </p:cNvPr>
          <p:cNvSpPr/>
          <p:nvPr/>
        </p:nvSpPr>
        <p:spPr>
          <a:xfrm>
            <a:off x="4739350"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0" name="Freeform 5">
            <a:extLst>
              <a:ext uri="{FF2B5EF4-FFF2-40B4-BE49-F238E27FC236}">
                <a16:creationId xmlns:a16="http://schemas.microsoft.com/office/drawing/2014/main" id="{6209B7D3-1328-FDEC-F9D8-DEEA5A65CA7F}"/>
              </a:ext>
              <a:ext uri="{C183D7F6-B498-43B3-948B-1728B52AA6E4}">
                <adec:decorative xmlns:adec="http://schemas.microsoft.com/office/drawing/2017/decorative" val="1"/>
              </a:ext>
            </a:extLst>
          </p:cNvPr>
          <p:cNvSpPr/>
          <p:nvPr/>
        </p:nvSpPr>
        <p:spPr>
          <a:xfrm>
            <a:off x="4739350"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1" name="Freeform 5">
            <a:extLst>
              <a:ext uri="{FF2B5EF4-FFF2-40B4-BE49-F238E27FC236}">
                <a16:creationId xmlns:a16="http://schemas.microsoft.com/office/drawing/2014/main" id="{A8FB48A1-9D5D-3642-D0CD-E3B476789E51}"/>
              </a:ext>
              <a:ext uri="{C183D7F6-B498-43B3-948B-1728B52AA6E4}">
                <adec:decorative xmlns:adec="http://schemas.microsoft.com/office/drawing/2017/decorative" val="1"/>
              </a:ext>
            </a:extLst>
          </p:cNvPr>
          <p:cNvSpPr/>
          <p:nvPr/>
        </p:nvSpPr>
        <p:spPr>
          <a:xfrm>
            <a:off x="4747036"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3" name="Freeform 5">
            <a:extLst>
              <a:ext uri="{FF2B5EF4-FFF2-40B4-BE49-F238E27FC236}">
                <a16:creationId xmlns:a16="http://schemas.microsoft.com/office/drawing/2014/main" id="{395A2050-74E0-C34F-C17A-551D62A755B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4" name="Freeform 5">
            <a:extLst>
              <a:ext uri="{FF2B5EF4-FFF2-40B4-BE49-F238E27FC236}">
                <a16:creationId xmlns:a16="http://schemas.microsoft.com/office/drawing/2014/main" id="{73CEA1BF-A623-C629-ABE8-9ECAECA4277C}"/>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5" name="Freeform 3">
            <a:extLst>
              <a:ext uri="{FF2B5EF4-FFF2-40B4-BE49-F238E27FC236}">
                <a16:creationId xmlns:a16="http://schemas.microsoft.com/office/drawing/2014/main" id="{E180C9C8-F1F7-D118-0DD0-BCD62E18A8AF}"/>
              </a:ext>
              <a:ext uri="{C183D7F6-B498-43B3-948B-1728B52AA6E4}">
                <adec:decorative xmlns:adec="http://schemas.microsoft.com/office/drawing/2017/decorative" val="1"/>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6" name="Freeform 3">
            <a:extLst>
              <a:ext uri="{FF2B5EF4-FFF2-40B4-BE49-F238E27FC236}">
                <a16:creationId xmlns:a16="http://schemas.microsoft.com/office/drawing/2014/main" id="{1706D9C7-EF42-0C12-F56E-9C7D6E8EA38C}"/>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7" name="Freeform 3">
            <a:extLst>
              <a:ext uri="{FF2B5EF4-FFF2-40B4-BE49-F238E27FC236}">
                <a16:creationId xmlns:a16="http://schemas.microsoft.com/office/drawing/2014/main" id="{2DFA1667-832F-5E4D-6954-CE0FA499C12A}"/>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8" name="Freeform 3">
            <a:extLst>
              <a:ext uri="{FF2B5EF4-FFF2-40B4-BE49-F238E27FC236}">
                <a16:creationId xmlns:a16="http://schemas.microsoft.com/office/drawing/2014/main" id="{01F6938B-9D7D-A6BF-363A-78C561E4E37A}"/>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9" name="Freeform 3">
            <a:extLst>
              <a:ext uri="{FF2B5EF4-FFF2-40B4-BE49-F238E27FC236}">
                <a16:creationId xmlns:a16="http://schemas.microsoft.com/office/drawing/2014/main" id="{47BC0655-5A4E-EFEF-C4C6-AE962B5F7B61}"/>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0" name="Freeform 3">
            <a:extLst>
              <a:ext uri="{FF2B5EF4-FFF2-40B4-BE49-F238E27FC236}">
                <a16:creationId xmlns:a16="http://schemas.microsoft.com/office/drawing/2014/main" id="{5503D550-0C32-A031-221E-8039D38BB044}"/>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1" name="Freeform 3">
            <a:extLst>
              <a:ext uri="{FF2B5EF4-FFF2-40B4-BE49-F238E27FC236}">
                <a16:creationId xmlns:a16="http://schemas.microsoft.com/office/drawing/2014/main" id="{996C7B6B-2DC2-7E7C-EF89-5070A9CD9911}"/>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2" name="Freeform 3">
            <a:extLst>
              <a:ext uri="{FF2B5EF4-FFF2-40B4-BE49-F238E27FC236}">
                <a16:creationId xmlns:a16="http://schemas.microsoft.com/office/drawing/2014/main" id="{F7738D38-E706-49B9-EB13-3F6AC9DD3663}"/>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2" name="Freeform 5">
            <a:extLst>
              <a:ext uri="{FF2B5EF4-FFF2-40B4-BE49-F238E27FC236}">
                <a16:creationId xmlns:a16="http://schemas.microsoft.com/office/drawing/2014/main" id="{0E70E909-01FE-4A37-7065-BD9C476D5BC5}"/>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3" name="Freeform 3">
            <a:extLst>
              <a:ext uri="{FF2B5EF4-FFF2-40B4-BE49-F238E27FC236}">
                <a16:creationId xmlns:a16="http://schemas.microsoft.com/office/drawing/2014/main" id="{2E52D789-D70C-03A9-8FC3-ACE8FE25E62E}"/>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4" name="Freeform 3">
            <a:extLst>
              <a:ext uri="{FF2B5EF4-FFF2-40B4-BE49-F238E27FC236}">
                <a16:creationId xmlns:a16="http://schemas.microsoft.com/office/drawing/2014/main" id="{AACCFE86-3F9F-5AA7-4782-F7D5F52C04B7}"/>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5" name="Freeform 3">
            <a:extLst>
              <a:ext uri="{FF2B5EF4-FFF2-40B4-BE49-F238E27FC236}">
                <a16:creationId xmlns:a16="http://schemas.microsoft.com/office/drawing/2014/main" id="{11D7CC7B-E023-90DF-F173-491B833E7873}"/>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6" name="Freeform 4">
            <a:extLst>
              <a:ext uri="{FF2B5EF4-FFF2-40B4-BE49-F238E27FC236}">
                <a16:creationId xmlns:a16="http://schemas.microsoft.com/office/drawing/2014/main" id="{D70710DB-F5C9-4787-45D9-16C0AB402B69}"/>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7" name="Freeform 4">
            <a:extLst>
              <a:ext uri="{FF2B5EF4-FFF2-40B4-BE49-F238E27FC236}">
                <a16:creationId xmlns:a16="http://schemas.microsoft.com/office/drawing/2014/main" id="{EC5D1ABF-9C31-56D5-ABB5-AC95FDA48BBB}"/>
              </a:ext>
              <a:ext uri="{C183D7F6-B498-43B3-948B-1728B52AA6E4}">
                <adec:decorative xmlns:adec="http://schemas.microsoft.com/office/drawing/2017/decorative" val="1"/>
              </a:ext>
            </a:extLst>
          </p:cNvPr>
          <p:cNvSpPr/>
          <p:nvPr/>
        </p:nvSpPr>
        <p:spPr>
          <a:xfrm>
            <a:off x="8995806"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8" name="Freeform 4">
            <a:extLst>
              <a:ext uri="{FF2B5EF4-FFF2-40B4-BE49-F238E27FC236}">
                <a16:creationId xmlns:a16="http://schemas.microsoft.com/office/drawing/2014/main" id="{52408F1A-E51B-A5FD-1F85-F9F0CC5D66F7}"/>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9" name="Freeform 4">
            <a:extLst>
              <a:ext uri="{FF2B5EF4-FFF2-40B4-BE49-F238E27FC236}">
                <a16:creationId xmlns:a16="http://schemas.microsoft.com/office/drawing/2014/main" id="{64FC700E-EB19-9771-DE33-CFB657EF6864}"/>
              </a:ext>
              <a:ext uri="{C183D7F6-B498-43B3-948B-1728B52AA6E4}">
                <adec:decorative xmlns:adec="http://schemas.microsoft.com/office/drawing/2017/decorative" val="1"/>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0" name="Freeform 4">
            <a:extLst>
              <a:ext uri="{FF2B5EF4-FFF2-40B4-BE49-F238E27FC236}">
                <a16:creationId xmlns:a16="http://schemas.microsoft.com/office/drawing/2014/main" id="{35E9A59F-FF00-8484-8F7C-9F9617B1702B}"/>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1" name="Freeform 4">
            <a:extLst>
              <a:ext uri="{FF2B5EF4-FFF2-40B4-BE49-F238E27FC236}">
                <a16:creationId xmlns:a16="http://schemas.microsoft.com/office/drawing/2014/main" id="{24B60312-3D6E-D0E9-D606-7AF336572EB8}"/>
              </a:ext>
              <a:ext uri="{C183D7F6-B498-43B3-948B-1728B52AA6E4}">
                <adec:decorative xmlns:adec="http://schemas.microsoft.com/office/drawing/2017/decorative" val="1"/>
              </a:ext>
            </a:extLst>
          </p:cNvPr>
          <p:cNvSpPr/>
          <p:nvPr/>
        </p:nvSpPr>
        <p:spPr>
          <a:xfrm>
            <a:off x="9002482"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2" name="Freeform 4">
            <a:extLst>
              <a:ext uri="{FF2B5EF4-FFF2-40B4-BE49-F238E27FC236}">
                <a16:creationId xmlns:a16="http://schemas.microsoft.com/office/drawing/2014/main" id="{830EF770-5B1D-8AAB-3375-C9591F4D3869}"/>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3" name="Freeform 4">
            <a:extLst>
              <a:ext uri="{FF2B5EF4-FFF2-40B4-BE49-F238E27FC236}">
                <a16:creationId xmlns:a16="http://schemas.microsoft.com/office/drawing/2014/main" id="{069C40CC-EEE2-12D9-D8DB-49C009634E6E}"/>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4" name="Freeform 4">
            <a:extLst>
              <a:ext uri="{FF2B5EF4-FFF2-40B4-BE49-F238E27FC236}">
                <a16:creationId xmlns:a16="http://schemas.microsoft.com/office/drawing/2014/main" id="{848FEA3F-7AF0-5A7B-213E-F8BD9C561882}"/>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5" name="Freeform 4">
            <a:extLst>
              <a:ext uri="{FF2B5EF4-FFF2-40B4-BE49-F238E27FC236}">
                <a16:creationId xmlns:a16="http://schemas.microsoft.com/office/drawing/2014/main" id="{240623FB-5FB6-5E12-B815-BBBCA00EB7E4}"/>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6" name="Freeform 4">
            <a:extLst>
              <a:ext uri="{FF2B5EF4-FFF2-40B4-BE49-F238E27FC236}">
                <a16:creationId xmlns:a16="http://schemas.microsoft.com/office/drawing/2014/main" id="{774B1E62-43EE-EB61-D2CE-C22FFEE10B7B}"/>
              </a:ext>
              <a:ext uri="{C183D7F6-B498-43B3-948B-1728B52AA6E4}">
                <adec:decorative xmlns:adec="http://schemas.microsoft.com/office/drawing/2017/decorative" val="1"/>
              </a:ext>
            </a:extLst>
          </p:cNvPr>
          <p:cNvSpPr/>
          <p:nvPr/>
        </p:nvSpPr>
        <p:spPr>
          <a:xfrm>
            <a:off x="897394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7" name="Freeform 4">
            <a:extLst>
              <a:ext uri="{FF2B5EF4-FFF2-40B4-BE49-F238E27FC236}">
                <a16:creationId xmlns:a16="http://schemas.microsoft.com/office/drawing/2014/main" id="{65194FD2-EEF3-B914-C1D4-0CE471A66CB8}"/>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8" name="Freeform 4">
            <a:extLst>
              <a:ext uri="{FF2B5EF4-FFF2-40B4-BE49-F238E27FC236}">
                <a16:creationId xmlns:a16="http://schemas.microsoft.com/office/drawing/2014/main" id="{423A6652-D70C-2B01-E1D5-2320D030FB05}"/>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9" name="Freeform 4">
            <a:extLst>
              <a:ext uri="{FF2B5EF4-FFF2-40B4-BE49-F238E27FC236}">
                <a16:creationId xmlns:a16="http://schemas.microsoft.com/office/drawing/2014/main" id="{2135415A-97F5-2236-9BB7-130EBFB0B8CF}"/>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50" name="Freeform 4">
            <a:extLst>
              <a:ext uri="{FF2B5EF4-FFF2-40B4-BE49-F238E27FC236}">
                <a16:creationId xmlns:a16="http://schemas.microsoft.com/office/drawing/2014/main" id="{4B75A24E-A273-5F1B-F882-9F739F6D67D9}"/>
              </a:ext>
              <a:ext uri="{C183D7F6-B498-43B3-948B-1728B52AA6E4}">
                <adec:decorative xmlns:adec="http://schemas.microsoft.com/office/drawing/2017/decorative" val="1"/>
              </a:ext>
            </a:extLst>
          </p:cNvPr>
          <p:cNvSpPr/>
          <p:nvPr/>
        </p:nvSpPr>
        <p:spPr>
          <a:xfrm>
            <a:off x="8980624"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Tree>
    <p:extLst>
      <p:ext uri="{BB962C8B-B14F-4D97-AF65-F5344CB8AC3E}">
        <p14:creationId xmlns:p14="http://schemas.microsoft.com/office/powerpoint/2010/main" val="679563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8  – decimals with MAB materials (7)</a:t>
            </a:r>
            <a:r>
              <a:rPr lang="en-AU">
                <a:solidFill>
                  <a:schemeClr val="bg1"/>
                </a:solidFill>
              </a:rPr>
              <a:t>(7)</a:t>
            </a:r>
          </a:p>
        </p:txBody>
      </p:sp>
      <p:sp>
        <p:nvSpPr>
          <p:cNvPr id="4" name="TextBox 3">
            <a:extLst>
              <a:ext uri="{FF2B5EF4-FFF2-40B4-BE49-F238E27FC236}">
                <a16:creationId xmlns:a16="http://schemas.microsoft.com/office/drawing/2014/main" id="{8477D8C5-07E1-D8A6-5C25-2C5C8E5641A6}"/>
              </a:ext>
            </a:extLst>
          </p:cNvPr>
          <p:cNvSpPr txBox="1"/>
          <p:nvPr/>
        </p:nvSpPr>
        <p:spPr>
          <a:xfrm>
            <a:off x="256032" y="1181802"/>
            <a:ext cx="3535680" cy="1200329"/>
          </a:xfrm>
          <a:prstGeom prst="rect">
            <a:avLst/>
          </a:prstGeom>
          <a:noFill/>
        </p:spPr>
        <p:txBody>
          <a:bodyPr wrap="square">
            <a:spAutoFit/>
          </a:bodyPr>
          <a:lstStyle/>
          <a:p>
            <a:r>
              <a:rPr lang="en-AU">
                <a:latin typeface="Arial" panose="020B0604020202020204" pitchFamily="34" charset="0"/>
                <a:ea typeface="Calibri" panose="020F0502020204030204" pitchFamily="34" charset="0"/>
              </a:rPr>
              <a:t>R</a:t>
            </a:r>
            <a:r>
              <a:rPr lang="en-AU" sz="2400">
                <a:effectLst/>
                <a:latin typeface="Arial" panose="020B0604020202020204" pitchFamily="34" charset="0"/>
                <a:ea typeface="Calibri" panose="020F0502020204030204" pitchFamily="34" charset="0"/>
              </a:rPr>
              <a:t>ead the number aloud and represent it using MAB materials</a:t>
            </a:r>
            <a:endParaRPr lang="en-AU"/>
          </a:p>
        </p:txBody>
      </p:sp>
      <p:sp>
        <p:nvSpPr>
          <p:cNvPr id="9" name="TextBox 8">
            <a:extLst>
              <a:ext uri="{FF2B5EF4-FFF2-40B4-BE49-F238E27FC236}">
                <a16:creationId xmlns:a16="http://schemas.microsoft.com/office/drawing/2014/main" id="{CC470BEF-AA63-9F5A-15DD-194A9B3A0945}"/>
              </a:ext>
            </a:extLst>
          </p:cNvPr>
          <p:cNvSpPr txBox="1"/>
          <p:nvPr/>
        </p:nvSpPr>
        <p:spPr>
          <a:xfrm>
            <a:off x="4243154" y="1023306"/>
            <a:ext cx="3646844" cy="666973"/>
          </a:xfrm>
          <a:prstGeom prst="rect">
            <a:avLst/>
          </a:prstGeom>
          <a:solidFill>
            <a:schemeClr val="accent4"/>
          </a:solidFill>
          <a:ln>
            <a:solidFill>
              <a:srgbClr val="002060"/>
            </a:solidFill>
          </a:ln>
        </p:spPr>
        <p:txBody>
          <a:bodyPr wrap="square" lIns="0" tIns="0" rIns="0" bIns="0" rtlCol="0">
            <a:noAutofit/>
          </a:bodyPr>
          <a:lstStyle/>
          <a:p>
            <a:pPr algn="ctr"/>
            <a:r>
              <a:rPr lang="en-AU" sz="4000">
                <a:latin typeface="Arial" panose="020B0604020202020204" pitchFamily="34" charset="0"/>
                <a:cs typeface="Arial" panose="020B0604020202020204" pitchFamily="34" charset="0"/>
              </a:rPr>
              <a:t>1.770</a:t>
            </a:r>
            <a:endParaRPr lang="en-AU" sz="600">
              <a:latin typeface="Arial" panose="020B0604020202020204" pitchFamily="34" charset="0"/>
              <a:cs typeface="Arial" panose="020B0604020202020204" pitchFamily="34" charset="0"/>
            </a:endParaRPr>
          </a:p>
        </p:txBody>
      </p:sp>
      <p:sp>
        <p:nvSpPr>
          <p:cNvPr id="5" name="Freeform 2" descr="MAB blocks at the bottom of the screen: 1000 block, 100 flat, ten and one.">
            <a:extLst>
              <a:ext uri="{FF2B5EF4-FFF2-40B4-BE49-F238E27FC236}">
                <a16:creationId xmlns:a16="http://schemas.microsoft.com/office/drawing/2014/main" id="{174A9A9C-A6A1-6567-239C-722360850026}"/>
              </a:ext>
            </a:extLst>
          </p:cNvPr>
          <p:cNvSpPr/>
          <p:nvPr/>
        </p:nvSpPr>
        <p:spPr>
          <a:xfrm>
            <a:off x="2641201" y="5530124"/>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6" name="Freeform 5" descr="MAB blocks at the bottom of the screen: 1000 block, 100 flat, ten and one.">
            <a:extLst>
              <a:ext uri="{FF2B5EF4-FFF2-40B4-BE49-F238E27FC236}">
                <a16:creationId xmlns:a16="http://schemas.microsoft.com/office/drawing/2014/main" id="{01762F86-5BE3-A52F-38BD-D725CFDEF51C}"/>
              </a:ext>
            </a:extLst>
          </p:cNvPr>
          <p:cNvSpPr/>
          <p:nvPr/>
        </p:nvSpPr>
        <p:spPr>
          <a:xfrm>
            <a:off x="4743193"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7" name="Freeform 3" descr="MAB blocks at the bottom of the screen: 1000 block, 100 flat, ten and one.">
            <a:extLst>
              <a:ext uri="{FF2B5EF4-FFF2-40B4-BE49-F238E27FC236}">
                <a16:creationId xmlns:a16="http://schemas.microsoft.com/office/drawing/2014/main" id="{E1667D93-795A-1495-A191-C7CA620DFA72}"/>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8" name="Freeform 4" descr="MAB blocks at the bottom of the screen: 1000 block, 100 flat, ten and one.">
            <a:extLst>
              <a:ext uri="{FF2B5EF4-FFF2-40B4-BE49-F238E27FC236}">
                <a16:creationId xmlns:a16="http://schemas.microsoft.com/office/drawing/2014/main" id="{63585AED-8452-5659-37FA-0540BA57B495}"/>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0" name="Freeform 2">
            <a:extLst>
              <a:ext uri="{FF2B5EF4-FFF2-40B4-BE49-F238E27FC236}">
                <a16:creationId xmlns:a16="http://schemas.microsoft.com/office/drawing/2014/main" id="{5CD79681-1315-410B-EB87-2CB399788FBA}"/>
              </a:ext>
              <a:ext uri="{C183D7F6-B498-43B3-948B-1728B52AA6E4}">
                <adec:decorative xmlns:adec="http://schemas.microsoft.com/office/drawing/2017/decorative" val="1"/>
              </a:ext>
            </a:extLst>
          </p:cNvPr>
          <p:cNvSpPr/>
          <p:nvPr/>
        </p:nvSpPr>
        <p:spPr>
          <a:xfrm>
            <a:off x="2641201" y="5535073"/>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1" name="Freeform 2">
            <a:extLst>
              <a:ext uri="{FF2B5EF4-FFF2-40B4-BE49-F238E27FC236}">
                <a16:creationId xmlns:a16="http://schemas.microsoft.com/office/drawing/2014/main" id="{09826A5A-61A2-0FEC-32CE-867FEDC6E67C}"/>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2" name="Freeform 2">
            <a:extLst>
              <a:ext uri="{FF2B5EF4-FFF2-40B4-BE49-F238E27FC236}">
                <a16:creationId xmlns:a16="http://schemas.microsoft.com/office/drawing/2014/main" id="{36966EB4-4735-3CF7-B8E7-457D1D4B6D9C}"/>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3" name="Freeform 2">
            <a:extLst>
              <a:ext uri="{FF2B5EF4-FFF2-40B4-BE49-F238E27FC236}">
                <a16:creationId xmlns:a16="http://schemas.microsoft.com/office/drawing/2014/main" id="{6E4D293F-8190-C18C-4DB6-FB829F2B636F}"/>
              </a:ext>
              <a:ext uri="{C183D7F6-B498-43B3-948B-1728B52AA6E4}">
                <adec:decorative xmlns:adec="http://schemas.microsoft.com/office/drawing/2017/decorative" val="1"/>
              </a:ext>
            </a:extLst>
          </p:cNvPr>
          <p:cNvSpPr/>
          <p:nvPr/>
        </p:nvSpPr>
        <p:spPr>
          <a:xfrm>
            <a:off x="2641201" y="5494480"/>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4" name="Freeform 2">
            <a:extLst>
              <a:ext uri="{FF2B5EF4-FFF2-40B4-BE49-F238E27FC236}">
                <a16:creationId xmlns:a16="http://schemas.microsoft.com/office/drawing/2014/main" id="{0F8B8172-C953-4F08-FF45-83846F7A352D}"/>
              </a:ext>
              <a:ext uri="{C183D7F6-B498-43B3-948B-1728B52AA6E4}">
                <adec:decorative xmlns:adec="http://schemas.microsoft.com/office/drawing/2017/decorative" val="1"/>
              </a:ext>
            </a:extLst>
          </p:cNvPr>
          <p:cNvSpPr/>
          <p:nvPr/>
        </p:nvSpPr>
        <p:spPr>
          <a:xfrm>
            <a:off x="2641201" y="5506306"/>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5" name="Freeform 2">
            <a:extLst>
              <a:ext uri="{FF2B5EF4-FFF2-40B4-BE49-F238E27FC236}">
                <a16:creationId xmlns:a16="http://schemas.microsoft.com/office/drawing/2014/main" id="{1C5A184C-8B2A-CA9D-7D7C-51310E7CAD9E}"/>
              </a:ext>
              <a:ext uri="{C183D7F6-B498-43B3-948B-1728B52AA6E4}">
                <adec:decorative xmlns:adec="http://schemas.microsoft.com/office/drawing/2017/decorative" val="1"/>
              </a:ext>
            </a:extLst>
          </p:cNvPr>
          <p:cNvSpPr/>
          <p:nvPr/>
        </p:nvSpPr>
        <p:spPr>
          <a:xfrm>
            <a:off x="2641201" y="5518132"/>
            <a:ext cx="900026" cy="913604"/>
          </a:xfrm>
          <a:custGeom>
            <a:avLst/>
            <a:gdLst/>
            <a:ahLst/>
            <a:cxnLst/>
            <a:rect l="l" t="t" r="r" b="b"/>
            <a:pathLst>
              <a:path w="3187352" h="3024000">
                <a:moveTo>
                  <a:pt x="0" y="0"/>
                </a:moveTo>
                <a:lnTo>
                  <a:pt x="3187352" y="0"/>
                </a:lnTo>
                <a:lnTo>
                  <a:pt x="3187352"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AU"/>
          </a:p>
        </p:txBody>
      </p:sp>
      <p:sp>
        <p:nvSpPr>
          <p:cNvPr id="16" name="Freeform 5">
            <a:extLst>
              <a:ext uri="{FF2B5EF4-FFF2-40B4-BE49-F238E27FC236}">
                <a16:creationId xmlns:a16="http://schemas.microsoft.com/office/drawing/2014/main" id="{F9CC538E-E6FA-5EDF-1E50-835DD2E0D1B5}"/>
              </a:ext>
              <a:ext uri="{C183D7F6-B498-43B3-948B-1728B52AA6E4}">
                <adec:decorative xmlns:adec="http://schemas.microsoft.com/office/drawing/2017/decorative" val="1"/>
              </a:ext>
            </a:extLst>
          </p:cNvPr>
          <p:cNvSpPr/>
          <p:nvPr/>
        </p:nvSpPr>
        <p:spPr>
          <a:xfrm>
            <a:off x="4743193"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7" name="Freeform 5">
            <a:extLst>
              <a:ext uri="{FF2B5EF4-FFF2-40B4-BE49-F238E27FC236}">
                <a16:creationId xmlns:a16="http://schemas.microsoft.com/office/drawing/2014/main" id="{4E66E42E-ABB3-9334-30FA-3B725C941C7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8" name="Freeform 5">
            <a:extLst>
              <a:ext uri="{FF2B5EF4-FFF2-40B4-BE49-F238E27FC236}">
                <a16:creationId xmlns:a16="http://schemas.microsoft.com/office/drawing/2014/main" id="{F51A65A2-E35D-116D-5C25-7ADCDDB5C46F}"/>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9" name="Freeform 5">
            <a:extLst>
              <a:ext uri="{FF2B5EF4-FFF2-40B4-BE49-F238E27FC236}">
                <a16:creationId xmlns:a16="http://schemas.microsoft.com/office/drawing/2014/main" id="{FF4777D7-A820-DA8A-2FCF-77055280BDCB}"/>
              </a:ext>
              <a:ext uri="{C183D7F6-B498-43B3-948B-1728B52AA6E4}">
                <adec:decorative xmlns:adec="http://schemas.microsoft.com/office/drawing/2017/decorative" val="1"/>
              </a:ext>
            </a:extLst>
          </p:cNvPr>
          <p:cNvSpPr/>
          <p:nvPr/>
        </p:nvSpPr>
        <p:spPr>
          <a:xfrm>
            <a:off x="4739350"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0" name="Freeform 5">
            <a:extLst>
              <a:ext uri="{FF2B5EF4-FFF2-40B4-BE49-F238E27FC236}">
                <a16:creationId xmlns:a16="http://schemas.microsoft.com/office/drawing/2014/main" id="{6209B7D3-1328-FDEC-F9D8-DEEA5A65CA7F}"/>
              </a:ext>
              <a:ext uri="{C183D7F6-B498-43B3-948B-1728B52AA6E4}">
                <adec:decorative xmlns:adec="http://schemas.microsoft.com/office/drawing/2017/decorative" val="1"/>
              </a:ext>
            </a:extLst>
          </p:cNvPr>
          <p:cNvSpPr/>
          <p:nvPr/>
        </p:nvSpPr>
        <p:spPr>
          <a:xfrm>
            <a:off x="4739350"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1" name="Freeform 5">
            <a:extLst>
              <a:ext uri="{FF2B5EF4-FFF2-40B4-BE49-F238E27FC236}">
                <a16:creationId xmlns:a16="http://schemas.microsoft.com/office/drawing/2014/main" id="{A8FB48A1-9D5D-3642-D0CD-E3B476789E51}"/>
              </a:ext>
              <a:ext uri="{C183D7F6-B498-43B3-948B-1728B52AA6E4}">
                <adec:decorative xmlns:adec="http://schemas.microsoft.com/office/drawing/2017/decorative" val="1"/>
              </a:ext>
            </a:extLst>
          </p:cNvPr>
          <p:cNvSpPr/>
          <p:nvPr/>
        </p:nvSpPr>
        <p:spPr>
          <a:xfrm>
            <a:off x="4747036" y="5658143"/>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2" name="Freeform 5">
            <a:extLst>
              <a:ext uri="{FF2B5EF4-FFF2-40B4-BE49-F238E27FC236}">
                <a16:creationId xmlns:a16="http://schemas.microsoft.com/office/drawing/2014/main" id="{0E70E909-01FE-4A37-7065-BD9C476D5BC5}"/>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3" name="Freeform 5">
            <a:extLst>
              <a:ext uri="{FF2B5EF4-FFF2-40B4-BE49-F238E27FC236}">
                <a16:creationId xmlns:a16="http://schemas.microsoft.com/office/drawing/2014/main" id="{395A2050-74E0-C34F-C17A-551D62A755B2}"/>
              </a:ext>
              <a:ext uri="{C183D7F6-B498-43B3-948B-1728B52AA6E4}">
                <adec:decorative xmlns:adec="http://schemas.microsoft.com/office/drawing/2017/decorative" val="1"/>
              </a:ext>
            </a:extLst>
          </p:cNvPr>
          <p:cNvSpPr/>
          <p:nvPr/>
        </p:nvSpPr>
        <p:spPr>
          <a:xfrm>
            <a:off x="4747036" y="5646911"/>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4" name="Freeform 5">
            <a:extLst>
              <a:ext uri="{FF2B5EF4-FFF2-40B4-BE49-F238E27FC236}">
                <a16:creationId xmlns:a16="http://schemas.microsoft.com/office/drawing/2014/main" id="{73CEA1BF-A623-C629-ABE8-9ECAECA4277C}"/>
              </a:ext>
              <a:ext uri="{C183D7F6-B498-43B3-948B-1728B52AA6E4}">
                <adec:decorative xmlns:adec="http://schemas.microsoft.com/office/drawing/2017/decorative" val="1"/>
              </a:ext>
            </a:extLst>
          </p:cNvPr>
          <p:cNvSpPr/>
          <p:nvPr/>
        </p:nvSpPr>
        <p:spPr>
          <a:xfrm>
            <a:off x="4747036" y="5635679"/>
            <a:ext cx="1327226" cy="761767"/>
          </a:xfrm>
          <a:custGeom>
            <a:avLst/>
            <a:gdLst/>
            <a:ahLst/>
            <a:cxnLst/>
            <a:rect l="l" t="t" r="r" b="b"/>
            <a:pathLst>
              <a:path w="4276800" h="2731806">
                <a:moveTo>
                  <a:pt x="0" y="0"/>
                </a:moveTo>
                <a:lnTo>
                  <a:pt x="4276800" y="0"/>
                </a:lnTo>
                <a:lnTo>
                  <a:pt x="4276800" y="2731806"/>
                </a:lnTo>
                <a:lnTo>
                  <a:pt x="0" y="2731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5" name="Freeform 3">
            <a:extLst>
              <a:ext uri="{FF2B5EF4-FFF2-40B4-BE49-F238E27FC236}">
                <a16:creationId xmlns:a16="http://schemas.microsoft.com/office/drawing/2014/main" id="{E180C9C8-F1F7-D118-0DD0-BCD62E18A8AF}"/>
              </a:ext>
              <a:ext uri="{C183D7F6-B498-43B3-948B-1728B52AA6E4}">
                <adec:decorative xmlns:adec="http://schemas.microsoft.com/office/drawing/2017/decorative" val="1"/>
              </a:ext>
            </a:extLst>
          </p:cNvPr>
          <p:cNvSpPr/>
          <p:nvPr/>
        </p:nvSpPr>
        <p:spPr>
          <a:xfrm>
            <a:off x="7344787" y="542739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6" name="Freeform 3">
            <a:extLst>
              <a:ext uri="{FF2B5EF4-FFF2-40B4-BE49-F238E27FC236}">
                <a16:creationId xmlns:a16="http://schemas.microsoft.com/office/drawing/2014/main" id="{1706D9C7-EF42-0C12-F56E-9C7D6E8EA38C}"/>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7" name="Freeform 3">
            <a:extLst>
              <a:ext uri="{FF2B5EF4-FFF2-40B4-BE49-F238E27FC236}">
                <a16:creationId xmlns:a16="http://schemas.microsoft.com/office/drawing/2014/main" id="{2DFA1667-832F-5E4D-6954-CE0FA499C12A}"/>
              </a:ext>
              <a:ext uri="{C183D7F6-B498-43B3-948B-1728B52AA6E4}">
                <adec:decorative xmlns:adec="http://schemas.microsoft.com/office/drawing/2017/decorative" val="1"/>
              </a:ext>
            </a:extLst>
          </p:cNvPr>
          <p:cNvSpPr/>
          <p:nvPr/>
        </p:nvSpPr>
        <p:spPr>
          <a:xfrm>
            <a:off x="7337101"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8" name="Freeform 3">
            <a:extLst>
              <a:ext uri="{FF2B5EF4-FFF2-40B4-BE49-F238E27FC236}">
                <a16:creationId xmlns:a16="http://schemas.microsoft.com/office/drawing/2014/main" id="{01F6938B-9D7D-A6BF-363A-78C561E4E37A}"/>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9" name="Freeform 3">
            <a:extLst>
              <a:ext uri="{FF2B5EF4-FFF2-40B4-BE49-F238E27FC236}">
                <a16:creationId xmlns:a16="http://schemas.microsoft.com/office/drawing/2014/main" id="{47BC0655-5A4E-EFEF-C4C6-AE962B5F7B61}"/>
              </a:ext>
              <a:ext uri="{C183D7F6-B498-43B3-948B-1728B52AA6E4}">
                <adec:decorative xmlns:adec="http://schemas.microsoft.com/office/drawing/2017/decorative" val="1"/>
              </a:ext>
            </a:extLst>
          </p:cNvPr>
          <p:cNvSpPr/>
          <p:nvPr/>
        </p:nvSpPr>
        <p:spPr>
          <a:xfrm>
            <a:off x="7337101" y="542961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0" name="Freeform 3">
            <a:extLst>
              <a:ext uri="{FF2B5EF4-FFF2-40B4-BE49-F238E27FC236}">
                <a16:creationId xmlns:a16="http://schemas.microsoft.com/office/drawing/2014/main" id="{5503D550-0C32-A031-221E-8039D38BB044}"/>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1" name="Freeform 3">
            <a:extLst>
              <a:ext uri="{FF2B5EF4-FFF2-40B4-BE49-F238E27FC236}">
                <a16:creationId xmlns:a16="http://schemas.microsoft.com/office/drawing/2014/main" id="{996C7B6B-2DC2-7E7C-EF89-5070A9CD9911}"/>
              </a:ext>
              <a:ext uri="{C183D7F6-B498-43B3-948B-1728B52AA6E4}">
                <adec:decorative xmlns:adec="http://schemas.microsoft.com/office/drawing/2017/decorative" val="1"/>
              </a:ext>
            </a:extLst>
          </p:cNvPr>
          <p:cNvSpPr/>
          <p:nvPr/>
        </p:nvSpPr>
        <p:spPr>
          <a:xfrm>
            <a:off x="7355716" y="543183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2" name="Freeform 3">
            <a:extLst>
              <a:ext uri="{FF2B5EF4-FFF2-40B4-BE49-F238E27FC236}">
                <a16:creationId xmlns:a16="http://schemas.microsoft.com/office/drawing/2014/main" id="{F7738D38-E706-49B9-EB13-3F6AC9DD3663}"/>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3" name="Freeform 3">
            <a:extLst>
              <a:ext uri="{FF2B5EF4-FFF2-40B4-BE49-F238E27FC236}">
                <a16:creationId xmlns:a16="http://schemas.microsoft.com/office/drawing/2014/main" id="{2E52D789-D70C-03A9-8FC3-ACE8FE25E62E}"/>
              </a:ext>
              <a:ext uri="{C183D7F6-B498-43B3-948B-1728B52AA6E4}">
                <adec:decorative xmlns:adec="http://schemas.microsoft.com/office/drawing/2017/decorative" val="1"/>
              </a:ext>
            </a:extLst>
          </p:cNvPr>
          <p:cNvSpPr/>
          <p:nvPr/>
        </p:nvSpPr>
        <p:spPr>
          <a:xfrm>
            <a:off x="7348030" y="543627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4" name="Freeform 3">
            <a:extLst>
              <a:ext uri="{FF2B5EF4-FFF2-40B4-BE49-F238E27FC236}">
                <a16:creationId xmlns:a16="http://schemas.microsoft.com/office/drawing/2014/main" id="{AACCFE86-3F9F-5AA7-4782-F7D5F52C04B7}"/>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5" name="Freeform 3">
            <a:extLst>
              <a:ext uri="{FF2B5EF4-FFF2-40B4-BE49-F238E27FC236}">
                <a16:creationId xmlns:a16="http://schemas.microsoft.com/office/drawing/2014/main" id="{11D7CC7B-E023-90DF-F173-491B833E7873}"/>
              </a:ext>
              <a:ext uri="{C183D7F6-B498-43B3-948B-1728B52AA6E4}">
                <adec:decorative xmlns:adec="http://schemas.microsoft.com/office/drawing/2017/decorative" val="1"/>
              </a:ext>
            </a:extLst>
          </p:cNvPr>
          <p:cNvSpPr/>
          <p:nvPr/>
        </p:nvSpPr>
        <p:spPr>
          <a:xfrm>
            <a:off x="7348030" y="5434055"/>
            <a:ext cx="160464" cy="1268605"/>
          </a:xfrm>
          <a:custGeom>
            <a:avLst/>
            <a:gdLst/>
            <a:ahLst/>
            <a:cxnLst/>
            <a:rect l="l" t="t" r="r" b="b"/>
            <a:pathLst>
              <a:path w="430920" h="3024000">
                <a:moveTo>
                  <a:pt x="0" y="0"/>
                </a:moveTo>
                <a:lnTo>
                  <a:pt x="430920" y="0"/>
                </a:lnTo>
                <a:lnTo>
                  <a:pt x="430920" y="3024000"/>
                </a:lnTo>
                <a:lnTo>
                  <a:pt x="0" y="302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6" name="Freeform 4">
            <a:extLst>
              <a:ext uri="{FF2B5EF4-FFF2-40B4-BE49-F238E27FC236}">
                <a16:creationId xmlns:a16="http://schemas.microsoft.com/office/drawing/2014/main" id="{D70710DB-F5C9-4787-45D9-16C0AB402B69}"/>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7" name="Freeform 4">
            <a:extLst>
              <a:ext uri="{FF2B5EF4-FFF2-40B4-BE49-F238E27FC236}">
                <a16:creationId xmlns:a16="http://schemas.microsoft.com/office/drawing/2014/main" id="{EC5D1ABF-9C31-56D5-ABB5-AC95FDA48BBB}"/>
              </a:ext>
              <a:ext uri="{C183D7F6-B498-43B3-948B-1728B52AA6E4}">
                <adec:decorative xmlns:adec="http://schemas.microsoft.com/office/drawing/2017/decorative" val="1"/>
              </a:ext>
            </a:extLst>
          </p:cNvPr>
          <p:cNvSpPr/>
          <p:nvPr/>
        </p:nvSpPr>
        <p:spPr>
          <a:xfrm>
            <a:off x="8995806"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8" name="Freeform 4">
            <a:extLst>
              <a:ext uri="{FF2B5EF4-FFF2-40B4-BE49-F238E27FC236}">
                <a16:creationId xmlns:a16="http://schemas.microsoft.com/office/drawing/2014/main" id="{52408F1A-E51B-A5FD-1F85-F9F0CC5D66F7}"/>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39" name="Freeform 4">
            <a:extLst>
              <a:ext uri="{FF2B5EF4-FFF2-40B4-BE49-F238E27FC236}">
                <a16:creationId xmlns:a16="http://schemas.microsoft.com/office/drawing/2014/main" id="{64FC700E-EB19-9771-DE33-CFB657EF6864}"/>
              </a:ext>
              <a:ext uri="{C183D7F6-B498-43B3-948B-1728B52AA6E4}">
                <adec:decorative xmlns:adec="http://schemas.microsoft.com/office/drawing/2017/decorative" val="1"/>
              </a:ext>
            </a:extLst>
          </p:cNvPr>
          <p:cNvSpPr/>
          <p:nvPr/>
        </p:nvSpPr>
        <p:spPr>
          <a:xfrm>
            <a:off x="900915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0" name="Freeform 4">
            <a:extLst>
              <a:ext uri="{FF2B5EF4-FFF2-40B4-BE49-F238E27FC236}">
                <a16:creationId xmlns:a16="http://schemas.microsoft.com/office/drawing/2014/main" id="{35E9A59F-FF00-8484-8F7C-9F9617B1702B}"/>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1" name="Freeform 4">
            <a:extLst>
              <a:ext uri="{FF2B5EF4-FFF2-40B4-BE49-F238E27FC236}">
                <a16:creationId xmlns:a16="http://schemas.microsoft.com/office/drawing/2014/main" id="{24B60312-3D6E-D0E9-D606-7AF336572EB8}"/>
              </a:ext>
              <a:ext uri="{C183D7F6-B498-43B3-948B-1728B52AA6E4}">
                <adec:decorative xmlns:adec="http://schemas.microsoft.com/office/drawing/2017/decorative" val="1"/>
              </a:ext>
            </a:extLst>
          </p:cNvPr>
          <p:cNvSpPr/>
          <p:nvPr/>
        </p:nvSpPr>
        <p:spPr>
          <a:xfrm>
            <a:off x="9002482"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2" name="Freeform 4">
            <a:extLst>
              <a:ext uri="{FF2B5EF4-FFF2-40B4-BE49-F238E27FC236}">
                <a16:creationId xmlns:a16="http://schemas.microsoft.com/office/drawing/2014/main" id="{830EF770-5B1D-8AAB-3375-C9591F4D3869}"/>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3" name="Freeform 4">
            <a:extLst>
              <a:ext uri="{FF2B5EF4-FFF2-40B4-BE49-F238E27FC236}">
                <a16:creationId xmlns:a16="http://schemas.microsoft.com/office/drawing/2014/main" id="{069C40CC-EEE2-12D9-D8DB-49C009634E6E}"/>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4" name="Freeform 4">
            <a:extLst>
              <a:ext uri="{FF2B5EF4-FFF2-40B4-BE49-F238E27FC236}">
                <a16:creationId xmlns:a16="http://schemas.microsoft.com/office/drawing/2014/main" id="{848FEA3F-7AF0-5A7B-213E-F8BD9C561882}"/>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5" name="Freeform 4">
            <a:extLst>
              <a:ext uri="{FF2B5EF4-FFF2-40B4-BE49-F238E27FC236}">
                <a16:creationId xmlns:a16="http://schemas.microsoft.com/office/drawing/2014/main" id="{240623FB-5FB6-5E12-B815-BBBCA00EB7E4}"/>
              </a:ext>
              <a:ext uri="{C183D7F6-B498-43B3-948B-1728B52AA6E4}">
                <adec:decorative xmlns:adec="http://schemas.microsoft.com/office/drawing/2017/decorative" val="1"/>
              </a:ext>
            </a:extLst>
          </p:cNvPr>
          <p:cNvSpPr/>
          <p:nvPr/>
        </p:nvSpPr>
        <p:spPr>
          <a:xfrm>
            <a:off x="8984877"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6" name="Freeform 4">
            <a:extLst>
              <a:ext uri="{FF2B5EF4-FFF2-40B4-BE49-F238E27FC236}">
                <a16:creationId xmlns:a16="http://schemas.microsoft.com/office/drawing/2014/main" id="{774B1E62-43EE-EB61-D2CE-C22FFEE10B7B}"/>
              </a:ext>
              <a:ext uri="{C183D7F6-B498-43B3-948B-1728B52AA6E4}">
                <adec:decorative xmlns:adec="http://schemas.microsoft.com/office/drawing/2017/decorative" val="1"/>
              </a:ext>
            </a:extLst>
          </p:cNvPr>
          <p:cNvSpPr/>
          <p:nvPr/>
        </p:nvSpPr>
        <p:spPr>
          <a:xfrm>
            <a:off x="8973948"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7" name="Freeform 4">
            <a:extLst>
              <a:ext uri="{FF2B5EF4-FFF2-40B4-BE49-F238E27FC236}">
                <a16:creationId xmlns:a16="http://schemas.microsoft.com/office/drawing/2014/main" id="{65194FD2-EEF3-B914-C1D4-0CE471A66CB8}"/>
              </a:ext>
              <a:ext uri="{C183D7F6-B498-43B3-948B-1728B52AA6E4}">
                <adec:decorative xmlns:adec="http://schemas.microsoft.com/office/drawing/2017/decorative" val="1"/>
              </a:ext>
            </a:extLst>
          </p:cNvPr>
          <p:cNvSpPr/>
          <p:nvPr/>
        </p:nvSpPr>
        <p:spPr>
          <a:xfrm>
            <a:off x="8998229"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8" name="Freeform 4">
            <a:extLst>
              <a:ext uri="{FF2B5EF4-FFF2-40B4-BE49-F238E27FC236}">
                <a16:creationId xmlns:a16="http://schemas.microsoft.com/office/drawing/2014/main" id="{423A6652-D70C-2B01-E1D5-2320D030FB05}"/>
              </a:ext>
              <a:ext uri="{C183D7F6-B498-43B3-948B-1728B52AA6E4}">
                <adec:decorative xmlns:adec="http://schemas.microsoft.com/office/drawing/2017/decorative" val="1"/>
              </a:ext>
            </a:extLst>
          </p:cNvPr>
          <p:cNvSpPr/>
          <p:nvPr/>
        </p:nvSpPr>
        <p:spPr>
          <a:xfrm>
            <a:off x="8987300"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49" name="Freeform 4">
            <a:extLst>
              <a:ext uri="{FF2B5EF4-FFF2-40B4-BE49-F238E27FC236}">
                <a16:creationId xmlns:a16="http://schemas.microsoft.com/office/drawing/2014/main" id="{2135415A-97F5-2236-9BB7-130EBFB0B8CF}"/>
              </a:ext>
              <a:ext uri="{C183D7F6-B498-43B3-948B-1728B52AA6E4}">
                <adec:decorative xmlns:adec="http://schemas.microsoft.com/office/drawing/2017/decorative" val="1"/>
              </a:ext>
            </a:extLst>
          </p:cNvPr>
          <p:cNvSpPr/>
          <p:nvPr/>
        </p:nvSpPr>
        <p:spPr>
          <a:xfrm>
            <a:off x="8991553"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50" name="Freeform 4">
            <a:extLst>
              <a:ext uri="{FF2B5EF4-FFF2-40B4-BE49-F238E27FC236}">
                <a16:creationId xmlns:a16="http://schemas.microsoft.com/office/drawing/2014/main" id="{4B75A24E-A273-5F1B-F882-9F739F6D67D9}"/>
              </a:ext>
              <a:ext uri="{C183D7F6-B498-43B3-948B-1728B52AA6E4}">
                <adec:decorative xmlns:adec="http://schemas.microsoft.com/office/drawing/2017/decorative" val="1"/>
              </a:ext>
            </a:extLst>
          </p:cNvPr>
          <p:cNvSpPr/>
          <p:nvPr/>
        </p:nvSpPr>
        <p:spPr>
          <a:xfrm>
            <a:off x="8980624" y="5951282"/>
            <a:ext cx="250924" cy="220830"/>
          </a:xfrm>
          <a:custGeom>
            <a:avLst/>
            <a:gdLst/>
            <a:ahLst/>
            <a:cxnLst/>
            <a:rect l="l" t="t" r="r" b="b"/>
            <a:pathLst>
              <a:path w="336923" h="319656">
                <a:moveTo>
                  <a:pt x="0" y="0"/>
                </a:moveTo>
                <a:lnTo>
                  <a:pt x="336923" y="0"/>
                </a:lnTo>
                <a:lnTo>
                  <a:pt x="336923" y="319656"/>
                </a:lnTo>
                <a:lnTo>
                  <a:pt x="0" y="3196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Tree>
    <p:extLst>
      <p:ext uri="{BB962C8B-B14F-4D97-AF65-F5344CB8AC3E}">
        <p14:creationId xmlns:p14="http://schemas.microsoft.com/office/powerpoint/2010/main" val="1178762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p:txBody>
          <a:bodyPr/>
          <a:lstStyle/>
          <a:p>
            <a:pPr algn="ctr"/>
            <a:r>
              <a:rPr lang="en-US" sz="4400" b="1">
                <a:solidFill>
                  <a:schemeClr val="accent2"/>
                </a:solidFill>
              </a:rPr>
              <a:t>1600 mm </a:t>
            </a:r>
            <a:r>
              <a:rPr lang="en-US" sz="4400" b="1"/>
              <a:t>converted </a:t>
            </a:r>
            <a:r>
              <a:rPr lang="en-US" sz="4400"/>
              <a:t>to </a:t>
            </a:r>
            <a:r>
              <a:rPr lang="en-US" sz="4400" b="1" err="1"/>
              <a:t>metres</a:t>
            </a:r>
            <a:r>
              <a:rPr lang="en-US" sz="4400"/>
              <a:t> is:</a:t>
            </a:r>
          </a:p>
        </p:txBody>
      </p:sp>
      <p:sp>
        <p:nvSpPr>
          <p:cNvPr id="9" name="TextBox 8">
            <a:extLst>
              <a:ext uri="{FF2B5EF4-FFF2-40B4-BE49-F238E27FC236}">
                <a16:creationId xmlns:a16="http://schemas.microsoft.com/office/drawing/2014/main" id="{8B9CE09D-4912-352C-EDD3-2F5B22293E2B}"/>
              </a:ext>
            </a:extLst>
          </p:cNvPr>
          <p:cNvSpPr txBox="1"/>
          <p:nvPr/>
        </p:nvSpPr>
        <p:spPr>
          <a:xfrm>
            <a:off x="1215766" y="4776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 Placeholder 17">
            <a:extLst>
              <a:ext uri="{FF2B5EF4-FFF2-40B4-BE49-F238E27FC236}">
                <a16:creationId xmlns:a16="http://schemas.microsoft.com/office/drawing/2014/main" id="{19BF5421-78D8-80A1-EC02-C128EA60E40E}"/>
              </a:ext>
            </a:extLst>
          </p:cNvPr>
          <p:cNvSpPr txBox="1">
            <a:spLocks/>
          </p:cNvSpPr>
          <p:nvPr/>
        </p:nvSpPr>
        <p:spPr>
          <a:xfrm>
            <a:off x="292128" y="5515123"/>
            <a:ext cx="228551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16 m</a:t>
            </a:r>
          </a:p>
        </p:txBody>
      </p:sp>
      <p:sp>
        <p:nvSpPr>
          <p:cNvPr id="10" name="TextBox 9">
            <a:extLst>
              <a:ext uri="{FF2B5EF4-FFF2-40B4-BE49-F238E27FC236}">
                <a16:creationId xmlns:a16="http://schemas.microsoft.com/office/drawing/2014/main" id="{6720C9BD-206D-1246-CC58-B94DA2A9FDA7}"/>
              </a:ext>
            </a:extLst>
          </p:cNvPr>
          <p:cNvSpPr txBox="1"/>
          <p:nvPr/>
        </p:nvSpPr>
        <p:spPr>
          <a:xfrm>
            <a:off x="4219739" y="4776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 Placeholder 17">
            <a:extLst>
              <a:ext uri="{FF2B5EF4-FFF2-40B4-BE49-F238E27FC236}">
                <a16:creationId xmlns:a16="http://schemas.microsoft.com/office/drawing/2014/main" id="{EE7EE846-91F5-C6C0-431F-A6AD25C7EE72}"/>
              </a:ext>
            </a:extLst>
          </p:cNvPr>
          <p:cNvSpPr txBox="1">
            <a:spLocks/>
          </p:cNvSpPr>
          <p:nvPr/>
        </p:nvSpPr>
        <p:spPr>
          <a:xfrm>
            <a:off x="3273044" y="5542193"/>
            <a:ext cx="228551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1.6 m</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223712" y="4776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 Placeholder 17">
            <a:extLst>
              <a:ext uri="{FF2B5EF4-FFF2-40B4-BE49-F238E27FC236}">
                <a16:creationId xmlns:a16="http://schemas.microsoft.com/office/drawing/2014/main" id="{AEEFB8C6-99C5-4096-BE15-358DE509370A}"/>
              </a:ext>
            </a:extLst>
          </p:cNvPr>
          <p:cNvSpPr txBox="1">
            <a:spLocks/>
          </p:cNvSpPr>
          <p:nvPr/>
        </p:nvSpPr>
        <p:spPr>
          <a:xfrm>
            <a:off x="6489278" y="5515123"/>
            <a:ext cx="228551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160 m</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227686" y="4776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 Placeholder 17">
            <a:extLst>
              <a:ext uri="{FF2B5EF4-FFF2-40B4-BE49-F238E27FC236}">
                <a16:creationId xmlns:a16="http://schemas.microsoft.com/office/drawing/2014/main" id="{F19623C4-D24B-DCD6-9B7F-E23FFC2069D5}"/>
              </a:ext>
            </a:extLst>
          </p:cNvPr>
          <p:cNvSpPr txBox="1">
            <a:spLocks/>
          </p:cNvSpPr>
          <p:nvPr/>
        </p:nvSpPr>
        <p:spPr>
          <a:xfrm>
            <a:off x="9705512" y="5488053"/>
            <a:ext cx="228551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0.16 m</a:t>
            </a:r>
          </a:p>
        </p:txBody>
      </p:sp>
      <p:pic>
        <p:nvPicPr>
          <p:cNvPr id="4" name="Picture 3">
            <a:extLst>
              <a:ext uri="{FF2B5EF4-FFF2-40B4-BE49-F238E27FC236}">
                <a16:creationId xmlns:a16="http://schemas.microsoft.com/office/drawing/2014/main" id="{C493834B-1122-BF06-4664-175E7A7DB28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52EC35E9-B22F-201E-D405-233B13A28B98}"/>
              </a:ext>
            </a:extLst>
          </p:cNvPr>
          <p:cNvSpPr txBox="1"/>
          <p:nvPr/>
        </p:nvSpPr>
        <p:spPr>
          <a:xfrm>
            <a:off x="360000" y="1774186"/>
            <a:ext cx="4685529" cy="4144661"/>
          </a:xfrm>
          <a:prstGeom prst="rect">
            <a:avLst/>
          </a:prstGeom>
          <a:noFill/>
        </p:spPr>
        <p:txBody>
          <a:bodyPr wrap="square">
            <a:spAutoFit/>
          </a:bodyPr>
          <a:lstStyle/>
          <a:p>
            <a:pPr>
              <a:lnSpc>
                <a:spcPct val="150000"/>
              </a:lnSpc>
            </a:pPr>
            <a:r>
              <a:rPr lang="en-AU" sz="3600">
                <a:latin typeface="Arial" panose="020B0604020202020204" pitchFamily="34" charset="0"/>
                <a:ea typeface="Calibri" panose="020F0502020204030204" pitchFamily="34" charset="0"/>
              </a:rPr>
              <a:t>Which formal </a:t>
            </a:r>
            <a:r>
              <a:rPr lang="en-AU" sz="3600" b="1">
                <a:latin typeface="Arial" panose="020B0604020202020204" pitchFamily="34" charset="0"/>
                <a:ea typeface="Calibri" panose="020F0502020204030204" pitchFamily="34" charset="0"/>
              </a:rPr>
              <a:t>unit of measurement</a:t>
            </a:r>
            <a:r>
              <a:rPr lang="en-AU" sz="3600">
                <a:latin typeface="Arial" panose="020B0604020202020204" pitchFamily="34" charset="0"/>
                <a:ea typeface="Calibri" panose="020F0502020204030204" pitchFamily="34" charset="0"/>
              </a:rPr>
              <a:t> would be </a:t>
            </a:r>
            <a:r>
              <a:rPr lang="en-AU" sz="3600" b="1">
                <a:latin typeface="Arial" panose="020B0604020202020204" pitchFamily="34" charset="0"/>
                <a:ea typeface="Calibri" panose="020F0502020204030204" pitchFamily="34" charset="0"/>
              </a:rPr>
              <a:t>appropriate</a:t>
            </a:r>
            <a:r>
              <a:rPr lang="en-AU" sz="3600">
                <a:latin typeface="Arial" panose="020B0604020202020204" pitchFamily="34" charset="0"/>
                <a:ea typeface="Calibri" panose="020F0502020204030204" pitchFamily="34" charset="0"/>
              </a:rPr>
              <a:t> to measure the </a:t>
            </a:r>
            <a:r>
              <a:rPr lang="en-AU" sz="3600" b="1">
                <a:latin typeface="Arial" panose="020B0604020202020204" pitchFamily="34" charset="0"/>
                <a:ea typeface="Calibri" panose="020F0502020204030204" pitchFamily="34" charset="0"/>
              </a:rPr>
              <a:t>capacity</a:t>
            </a:r>
            <a:r>
              <a:rPr lang="en-AU" sz="3600">
                <a:latin typeface="Arial" panose="020B0604020202020204" pitchFamily="34" charset="0"/>
                <a:ea typeface="Calibri" panose="020F0502020204030204" pitchFamily="34" charset="0"/>
              </a:rPr>
              <a:t> of these containers?</a:t>
            </a:r>
            <a:endParaRPr lang="en-AU" sz="3600"/>
          </a:p>
        </p:txBody>
      </p:sp>
      <p:pic>
        <p:nvPicPr>
          <p:cNvPr id="9" name="Picture 8" descr="Images of different containers&#10;1. glass&#10;2. fish tank&#10;3. bucket&#10;4. perfume bottle">
            <a:extLst>
              <a:ext uri="{FF2B5EF4-FFF2-40B4-BE49-F238E27FC236}">
                <a16:creationId xmlns:a16="http://schemas.microsoft.com/office/drawing/2014/main" id="{D0AF6C38-14EA-AD9D-D1DE-34078DE3B977}"/>
              </a:ext>
            </a:extLst>
          </p:cNvPr>
          <p:cNvPicPr>
            <a:picLocks noChangeAspect="1"/>
          </p:cNvPicPr>
          <p:nvPr/>
        </p:nvPicPr>
        <p:blipFill>
          <a:blip r:embed="rId4"/>
          <a:stretch>
            <a:fillRect/>
          </a:stretch>
        </p:blipFill>
        <p:spPr>
          <a:xfrm>
            <a:off x="5347613" y="1774186"/>
            <a:ext cx="6191871" cy="422831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1" name="Picture 10" descr="A spinner with 3 equal parts (orange, green, blue)">
            <a:extLst>
              <a:ext uri="{FF2B5EF4-FFF2-40B4-BE49-F238E27FC236}">
                <a16:creationId xmlns:a16="http://schemas.microsoft.com/office/drawing/2014/main" id="{0FFBAEB5-1A8B-70C9-CAFB-71D4C1BF18ED}"/>
              </a:ext>
            </a:extLst>
          </p:cNvPr>
          <p:cNvPicPr>
            <a:picLocks noChangeAspect="1"/>
          </p:cNvPicPr>
          <p:nvPr/>
        </p:nvPicPr>
        <p:blipFill>
          <a:blip r:embed="rId4"/>
          <a:srcRect r="8474"/>
          <a:stretch>
            <a:fillRect/>
          </a:stretch>
        </p:blipFill>
        <p:spPr>
          <a:xfrm>
            <a:off x="5906856" y="451022"/>
            <a:ext cx="1771575" cy="1921275"/>
          </a:xfrm>
          <a:prstGeom prst="rect">
            <a:avLst/>
          </a:prstGeom>
          <a:solidFill>
            <a:srgbClr val="FFFFFF">
              <a:shade val="85000"/>
            </a:srgbClr>
          </a:solidFill>
          <a:ln w="88900" cap="sq">
            <a:noFill/>
            <a:miter lim="800000"/>
          </a:ln>
          <a:effectLst/>
          <a:scene3d>
            <a:camera prst="orthographicFront"/>
            <a:lightRig rig="twoPt" dir="t">
              <a:rot lat="0" lon="0" rev="7200000"/>
            </a:lightRig>
          </a:scene3d>
          <a:sp3d>
            <a:bevelT w="25400" h="19050"/>
            <a:contourClr>
              <a:srgbClr val="FFFFFF"/>
            </a:contourClr>
          </a:sp3d>
        </p:spPr>
      </p:pic>
      <p:pic>
        <p:nvPicPr>
          <p:cNvPr id="5" name="Picture 4" descr="Dot plot graph:&#10;orange (4)&#10;green (4)&#10;blue (4)">
            <a:extLst>
              <a:ext uri="{FF2B5EF4-FFF2-40B4-BE49-F238E27FC236}">
                <a16:creationId xmlns:a16="http://schemas.microsoft.com/office/drawing/2014/main" id="{6EB9EB44-0894-D2AE-EE10-572D6E7816A4}"/>
              </a:ext>
            </a:extLst>
          </p:cNvPr>
          <p:cNvPicPr>
            <a:picLocks noChangeAspect="1"/>
          </p:cNvPicPr>
          <p:nvPr/>
        </p:nvPicPr>
        <p:blipFill>
          <a:blip r:embed="rId5"/>
          <a:stretch>
            <a:fillRect/>
          </a:stretch>
        </p:blipFill>
        <p:spPr>
          <a:xfrm>
            <a:off x="360000" y="2134768"/>
            <a:ext cx="1714575" cy="1997852"/>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95CD82D7-DE40-E5D8-93FD-EEA9A7370A6D}"/>
              </a:ext>
            </a:extLst>
          </p:cNvPr>
          <p:cNvSpPr txBox="1"/>
          <p:nvPr/>
        </p:nvSpPr>
        <p:spPr>
          <a:xfrm>
            <a:off x="2376005" y="2367148"/>
            <a:ext cx="9289814" cy="1305165"/>
          </a:xfrm>
          <a:prstGeom prst="rect">
            <a:avLst/>
          </a:prstGeom>
          <a:noFill/>
        </p:spPr>
        <p:txBody>
          <a:bodyPr wrap="square">
            <a:spAutoFit/>
          </a:bodyPr>
          <a:lstStyle/>
          <a:p>
            <a:pPr>
              <a:lnSpc>
                <a:spcPct val="150000"/>
              </a:lnSpc>
            </a:pPr>
            <a:r>
              <a:rPr lang="en-AU" sz="2800">
                <a:latin typeface="Arial" panose="020B0604020202020204" pitchFamily="34" charset="0"/>
                <a:ea typeface="Calibri" panose="020F0502020204030204" pitchFamily="34" charset="0"/>
              </a:rPr>
              <a:t>This </a:t>
            </a:r>
            <a:r>
              <a:rPr lang="en-AU" sz="2800" b="1">
                <a:latin typeface="Arial" panose="020B0604020202020204" pitchFamily="34" charset="0"/>
                <a:ea typeface="Calibri" panose="020F0502020204030204" pitchFamily="34" charset="0"/>
              </a:rPr>
              <a:t>dot plot </a:t>
            </a:r>
            <a:r>
              <a:rPr lang="en-AU" sz="2800">
                <a:latin typeface="Arial" panose="020B0604020202020204" pitchFamily="34" charset="0"/>
                <a:ea typeface="Calibri" panose="020F0502020204030204" pitchFamily="34" charset="0"/>
              </a:rPr>
              <a:t>that shows the </a:t>
            </a:r>
            <a:r>
              <a:rPr lang="en-AU" sz="2800" b="1">
                <a:latin typeface="Arial" panose="020B0604020202020204" pitchFamily="34" charset="0"/>
                <a:ea typeface="Calibri" panose="020F0502020204030204" pitchFamily="34" charset="0"/>
              </a:rPr>
              <a:t>expected frequency</a:t>
            </a:r>
            <a:r>
              <a:rPr lang="en-AU" sz="2800">
                <a:latin typeface="Arial" panose="020B0604020202020204" pitchFamily="34" charset="0"/>
                <a:ea typeface="Calibri" panose="020F0502020204030204" pitchFamily="34" charset="0"/>
              </a:rPr>
              <a:t> of this spinner if there were </a:t>
            </a:r>
            <a:r>
              <a:rPr lang="en-AU" sz="2800" b="1">
                <a:latin typeface="Arial" panose="020B0604020202020204" pitchFamily="34" charset="0"/>
                <a:ea typeface="Calibri" panose="020F0502020204030204" pitchFamily="34" charset="0"/>
              </a:rPr>
              <a:t>12 trials.</a:t>
            </a:r>
            <a:endParaRPr lang="en-AU" sz="2800" b="1"/>
          </a:p>
        </p:txBody>
      </p:sp>
      <p:pic>
        <p:nvPicPr>
          <p:cNvPr id="15" name="Picture 14" descr="Dot plot graph:&#10;orange (2)&#10;green (7)&#10;blue (3)">
            <a:extLst>
              <a:ext uri="{FF2B5EF4-FFF2-40B4-BE49-F238E27FC236}">
                <a16:creationId xmlns:a16="http://schemas.microsoft.com/office/drawing/2014/main" id="{93CEF5EA-D37B-113F-F61D-F57D46B97F80}"/>
              </a:ext>
            </a:extLst>
          </p:cNvPr>
          <p:cNvPicPr>
            <a:picLocks noChangeAspect="1"/>
          </p:cNvPicPr>
          <p:nvPr/>
        </p:nvPicPr>
        <p:blipFill>
          <a:blip r:embed="rId6"/>
          <a:stretch>
            <a:fillRect/>
          </a:stretch>
        </p:blipFill>
        <p:spPr>
          <a:xfrm>
            <a:off x="322960" y="4486427"/>
            <a:ext cx="1788654" cy="1997852"/>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4FD90D21-7EDF-EA7B-385D-30D171441203}"/>
              </a:ext>
            </a:extLst>
          </p:cNvPr>
          <p:cNvSpPr txBox="1"/>
          <p:nvPr/>
        </p:nvSpPr>
        <p:spPr>
          <a:xfrm>
            <a:off x="2407831" y="4709204"/>
            <a:ext cx="9289814" cy="2597827"/>
          </a:xfrm>
          <a:prstGeom prst="rect">
            <a:avLst/>
          </a:prstGeom>
          <a:noFill/>
        </p:spPr>
        <p:txBody>
          <a:bodyPr wrap="square">
            <a:spAutoFit/>
          </a:bodyPr>
          <a:lstStyle/>
          <a:p>
            <a:pPr>
              <a:lnSpc>
                <a:spcPct val="150000"/>
              </a:lnSpc>
            </a:pPr>
            <a:r>
              <a:rPr lang="en-AU" sz="2800">
                <a:effectLst/>
                <a:latin typeface="Arial" panose="020B0604020202020204" pitchFamily="34" charset="0"/>
                <a:ea typeface="Calibri" panose="020F0502020204030204" pitchFamily="34" charset="0"/>
              </a:rPr>
              <a:t>This dot plot shows the </a:t>
            </a:r>
            <a:r>
              <a:rPr lang="en-AU" sz="2800" b="1">
                <a:solidFill>
                  <a:srgbClr val="8844F5"/>
                </a:solidFill>
                <a:effectLst/>
                <a:latin typeface="Arial" panose="020B0604020202020204" pitchFamily="34" charset="0"/>
                <a:ea typeface="Calibri" panose="020F0502020204030204" pitchFamily="34" charset="0"/>
              </a:rPr>
              <a:t>observed frequency </a:t>
            </a:r>
            <a:r>
              <a:rPr lang="en-AU" sz="2800">
                <a:effectLst/>
                <a:latin typeface="Arial" panose="020B0604020202020204" pitchFamily="34" charset="0"/>
                <a:ea typeface="Calibri" panose="020F0502020204030204" pitchFamily="34" charset="0"/>
              </a:rPr>
              <a:t>graph.</a:t>
            </a:r>
            <a:r>
              <a:rPr lang="en-AU" sz="2800">
                <a:latin typeface="Arial" panose="020B0604020202020204" pitchFamily="34" charset="0"/>
                <a:ea typeface="Calibri" panose="020F0502020204030204" pitchFamily="34" charset="0"/>
              </a:rPr>
              <a:t> Explain why the </a:t>
            </a:r>
            <a:r>
              <a:rPr lang="en-AU" sz="2800" b="1">
                <a:solidFill>
                  <a:srgbClr val="9933FF"/>
                </a:solidFill>
                <a:latin typeface="Arial" panose="020B0604020202020204" pitchFamily="34" charset="0"/>
                <a:ea typeface="Calibri" panose="020F0502020204030204" pitchFamily="34" charset="0"/>
              </a:rPr>
              <a:t>observed frequency </a:t>
            </a:r>
            <a:r>
              <a:rPr lang="en-AU" sz="2800">
                <a:latin typeface="Arial" panose="020B0604020202020204" pitchFamily="34" charset="0"/>
                <a:ea typeface="Calibri" panose="020F0502020204030204" pitchFamily="34" charset="0"/>
              </a:rPr>
              <a:t>is different to the </a:t>
            </a:r>
            <a:r>
              <a:rPr lang="en-AU" sz="2800" b="1">
                <a:latin typeface="Arial" panose="020B0604020202020204" pitchFamily="34" charset="0"/>
                <a:ea typeface="Calibri" panose="020F0502020204030204" pitchFamily="34" charset="0"/>
              </a:rPr>
              <a:t>expected frequency.</a:t>
            </a:r>
            <a:endParaRPr lang="en-AU" sz="2800"/>
          </a:p>
          <a:p>
            <a:pPr>
              <a:lnSpc>
                <a:spcPct val="150000"/>
              </a:lnSpc>
            </a:pPr>
            <a:endParaRPr lang="en-AU" sz="2800">
              <a:effectLst/>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5" name="TextBox 4">
            <a:extLst>
              <a:ext uri="{FF2B5EF4-FFF2-40B4-BE49-F238E27FC236}">
                <a16:creationId xmlns:a16="http://schemas.microsoft.com/office/drawing/2014/main" id="{23689D38-B1A9-0754-0644-AF4E1F900A8B}"/>
              </a:ext>
            </a:extLst>
          </p:cNvPr>
          <p:cNvSpPr txBox="1"/>
          <p:nvPr/>
        </p:nvSpPr>
        <p:spPr>
          <a:xfrm>
            <a:off x="5543634" y="2092223"/>
            <a:ext cx="2349190" cy="2564780"/>
          </a:xfrm>
          <a:prstGeom prst="rect">
            <a:avLst/>
          </a:prstGeom>
          <a:noFill/>
        </p:spPr>
        <p:txBody>
          <a:bodyPr wrap="square" lIns="0" tIns="0" rIns="0" bIns="0" rtlCol="0">
            <a:noAutofit/>
          </a:bodyPr>
          <a:lstStyle/>
          <a:p>
            <a:pPr algn="l"/>
            <a:r>
              <a:rPr lang="en-AU" sz="6600"/>
              <a:t>746 x</a:t>
            </a:r>
          </a:p>
          <a:p>
            <a:pPr algn="l"/>
            <a:r>
              <a:rPr lang="en-AU" sz="6600"/>
              <a:t>    5</a:t>
            </a:r>
          </a:p>
        </p:txBody>
      </p:sp>
      <p:cxnSp>
        <p:nvCxnSpPr>
          <p:cNvPr id="8" name="Straight Connector 7">
            <a:extLst>
              <a:ext uri="{FF2B5EF4-FFF2-40B4-BE49-F238E27FC236}">
                <a16:creationId xmlns:a16="http://schemas.microsoft.com/office/drawing/2014/main" id="{602FE98E-3D56-F1FA-A0F7-B35CD44D01B0}"/>
              </a:ext>
              <a:ext uri="{C183D7F6-B498-43B3-948B-1728B52AA6E4}">
                <adec:decorative xmlns:adec="http://schemas.microsoft.com/office/drawing/2017/decorative" val="1"/>
              </a:ext>
            </a:extLst>
          </p:cNvPr>
          <p:cNvCxnSpPr/>
          <p:nvPr/>
        </p:nvCxnSpPr>
        <p:spPr>
          <a:xfrm>
            <a:off x="5309663" y="4125670"/>
            <a:ext cx="224511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8931CE1-27A1-3C98-14C1-4159116D8AC1}"/>
              </a:ext>
            </a:extLst>
          </p:cNvPr>
          <p:cNvSpPr txBox="1"/>
          <p:nvPr/>
        </p:nvSpPr>
        <p:spPr>
          <a:xfrm>
            <a:off x="579133" y="1209987"/>
            <a:ext cx="6098874" cy="901593"/>
          </a:xfrm>
          <a:prstGeom prst="rect">
            <a:avLst/>
          </a:prstGeom>
          <a:noFill/>
        </p:spPr>
        <p:txBody>
          <a:bodyPr wrap="square">
            <a:spAutoFit/>
          </a:bodyPr>
          <a:lstStyle/>
          <a:p>
            <a:pPr lvl="0">
              <a:lnSpc>
                <a:spcPct val="150000"/>
              </a:lnSpc>
              <a:spcBef>
                <a:spcPts val="1200"/>
              </a:spcBef>
              <a:spcAft>
                <a:spcPts val="600"/>
              </a:spcAft>
            </a:pPr>
            <a:r>
              <a:rPr lang="en-AU" sz="4000">
                <a:latin typeface="Arial" panose="020B0604020202020204" pitchFamily="34" charset="0"/>
                <a:ea typeface="Calibri" panose="020F0502020204030204" pitchFamily="34" charset="0"/>
              </a:rPr>
              <a:t>Solve:</a:t>
            </a:r>
          </a:p>
        </p:txBody>
      </p:sp>
      <p:sp>
        <p:nvSpPr>
          <p:cNvPr id="9" name="TextBox 8">
            <a:extLst>
              <a:ext uri="{FF2B5EF4-FFF2-40B4-BE49-F238E27FC236}">
                <a16:creationId xmlns:a16="http://schemas.microsoft.com/office/drawing/2014/main" id="{EF5A9FA6-52D7-8235-BEF1-AB99BFF97AA3}"/>
              </a:ext>
            </a:extLst>
          </p:cNvPr>
          <p:cNvSpPr txBox="1"/>
          <p:nvPr/>
        </p:nvSpPr>
        <p:spPr>
          <a:xfrm>
            <a:off x="2438401" y="5677326"/>
            <a:ext cx="7927708" cy="820674"/>
          </a:xfrm>
          <a:prstGeom prst="rect">
            <a:avLst/>
          </a:prstGeom>
          <a:noFill/>
        </p:spPr>
        <p:txBody>
          <a:bodyPr wrap="square">
            <a:spAutoFit/>
          </a:bodyPr>
          <a:lstStyle/>
          <a:p>
            <a:pPr lvl="0">
              <a:lnSpc>
                <a:spcPct val="150000"/>
              </a:lnSpc>
              <a:spcBef>
                <a:spcPts val="1200"/>
              </a:spcBef>
              <a:spcAft>
                <a:spcPts val="600"/>
              </a:spcAft>
            </a:pPr>
            <a:r>
              <a:rPr lang="en-AU" sz="3600" b="1">
                <a:effectLst/>
                <a:latin typeface="Arial" panose="020B0604020202020204" pitchFamily="34" charset="0"/>
                <a:ea typeface="Calibri" panose="020F0502020204030204" pitchFamily="34" charset="0"/>
              </a:rPr>
              <a:t>Communicate</a:t>
            </a:r>
            <a:r>
              <a:rPr lang="en-AU" sz="3600">
                <a:effectLst/>
                <a:latin typeface="Arial" panose="020B0604020202020204" pitchFamily="34" charset="0"/>
                <a:ea typeface="Calibri" panose="020F0502020204030204" pitchFamily="34" charset="0"/>
              </a:rPr>
              <a:t> your </a:t>
            </a:r>
            <a:r>
              <a:rPr lang="en-AU" sz="3600" b="1"/>
              <a:t>strategy</a:t>
            </a:r>
            <a:r>
              <a:rPr lang="en-AU" sz="3600">
                <a:effectLst/>
                <a:latin typeface="Arial" panose="020B0604020202020204" pitchFamily="34" charset="0"/>
                <a:ea typeface="Calibri" panose="020F0502020204030204" pitchFamily="34" charset="0"/>
              </a:rPr>
              <a:t>.</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3F3B5538-D982-E55C-399E-42BC3D6BB3D4}"/>
              </a:ext>
            </a:extLst>
          </p:cNvPr>
          <p:cNvSpPr txBox="1"/>
          <p:nvPr/>
        </p:nvSpPr>
        <p:spPr>
          <a:xfrm>
            <a:off x="195289" y="1051346"/>
            <a:ext cx="4685529" cy="5806654"/>
          </a:xfrm>
          <a:prstGeom prst="rect">
            <a:avLst/>
          </a:prstGeom>
          <a:noFill/>
        </p:spPr>
        <p:txBody>
          <a:bodyPr wrap="square">
            <a:spAutoFit/>
          </a:bodyPr>
          <a:lstStyle/>
          <a:p>
            <a:pPr algn="ctr">
              <a:lnSpc>
                <a:spcPct val="150000"/>
              </a:lnSpc>
            </a:pPr>
            <a:r>
              <a:rPr lang="en-AU" sz="3600">
                <a:latin typeface="Arial" panose="020B0604020202020204" pitchFamily="34" charset="0"/>
                <a:ea typeface="Calibri" panose="020F0502020204030204" pitchFamily="34" charset="0"/>
              </a:rPr>
              <a:t>Which </a:t>
            </a:r>
            <a:r>
              <a:rPr lang="en-AU" sz="3600" b="1">
                <a:latin typeface="Arial" panose="020B0604020202020204" pitchFamily="34" charset="0"/>
                <a:ea typeface="Calibri" panose="020F0502020204030204" pitchFamily="34" charset="0"/>
              </a:rPr>
              <a:t>graph</a:t>
            </a:r>
            <a:r>
              <a:rPr lang="en-AU" sz="3600">
                <a:latin typeface="Arial" panose="020B0604020202020204" pitchFamily="34" charset="0"/>
                <a:ea typeface="Calibri" panose="020F0502020204030204" pitchFamily="34" charset="0"/>
              </a:rPr>
              <a:t> is more </a:t>
            </a:r>
            <a:r>
              <a:rPr lang="en-AU" sz="3600" b="1">
                <a:latin typeface="Arial" panose="020B0604020202020204" pitchFamily="34" charset="0"/>
                <a:ea typeface="Calibri" panose="020F0502020204030204" pitchFamily="34" charset="0"/>
              </a:rPr>
              <a:t>appropriate</a:t>
            </a:r>
            <a:r>
              <a:rPr lang="en-AU" sz="3600">
                <a:latin typeface="Arial" panose="020B0604020202020204" pitchFamily="34" charset="0"/>
                <a:ea typeface="Calibri" panose="020F0502020204030204" pitchFamily="34" charset="0"/>
              </a:rPr>
              <a:t> to display this type of </a:t>
            </a:r>
            <a:r>
              <a:rPr lang="en-AU" sz="3600" b="1">
                <a:latin typeface="Arial" panose="020B0604020202020204" pitchFamily="34" charset="0"/>
                <a:ea typeface="Calibri" panose="020F0502020204030204" pitchFamily="34" charset="0"/>
              </a:rPr>
              <a:t>data</a:t>
            </a:r>
            <a:r>
              <a:rPr lang="en-AU" sz="3600">
                <a:latin typeface="Arial" panose="020B0604020202020204" pitchFamily="34" charset="0"/>
                <a:ea typeface="Calibri" panose="020F0502020204030204" pitchFamily="34" charset="0"/>
              </a:rPr>
              <a:t>?</a:t>
            </a:r>
          </a:p>
          <a:p>
            <a:pPr algn="ctr">
              <a:lnSpc>
                <a:spcPct val="150000"/>
              </a:lnSpc>
            </a:pPr>
            <a:endParaRPr lang="en-AU" sz="3600">
              <a:latin typeface="Arial" panose="020B0604020202020204" pitchFamily="34" charset="0"/>
              <a:ea typeface="Calibri" panose="020F0502020204030204" pitchFamily="34" charset="0"/>
            </a:endParaRPr>
          </a:p>
          <a:p>
            <a:pPr algn="ctr">
              <a:lnSpc>
                <a:spcPct val="150000"/>
              </a:lnSpc>
            </a:pPr>
            <a:r>
              <a:rPr lang="en-AU" sz="3600" b="1">
                <a:latin typeface="Arial" panose="020B0604020202020204" pitchFamily="34" charset="0"/>
                <a:ea typeface="Calibri" panose="020F0502020204030204" pitchFamily="34" charset="0"/>
              </a:rPr>
              <a:t>Communicate</a:t>
            </a:r>
            <a:r>
              <a:rPr lang="en-AU" sz="3600">
                <a:latin typeface="Arial" panose="020B0604020202020204" pitchFamily="34" charset="0"/>
                <a:ea typeface="Calibri" panose="020F0502020204030204" pitchFamily="34" charset="0"/>
              </a:rPr>
              <a:t> your </a:t>
            </a:r>
            <a:r>
              <a:rPr lang="en-AU" sz="3600" b="1">
                <a:latin typeface="Arial" panose="020B0604020202020204" pitchFamily="34" charset="0"/>
                <a:ea typeface="Calibri" panose="020F0502020204030204" pitchFamily="34" charset="0"/>
              </a:rPr>
              <a:t>reasoning</a:t>
            </a:r>
            <a:r>
              <a:rPr lang="en-AU" sz="3600">
                <a:latin typeface="Arial" panose="020B0604020202020204" pitchFamily="34" charset="0"/>
                <a:ea typeface="Calibri" panose="020F0502020204030204" pitchFamily="34" charset="0"/>
              </a:rPr>
              <a:t>.</a:t>
            </a:r>
            <a:endParaRPr lang="en-AU" sz="3600"/>
          </a:p>
        </p:txBody>
      </p:sp>
      <p:pic>
        <p:nvPicPr>
          <p:cNvPr id="7" name="Picture 6" descr="2 graphs (Daily number if steps) with the first a column graph and the second a line graph. Both have the following data set:&#10;&#10;Monday 4500&#10;Tuesday 6200&#10;Wednesday 5800&#10;Thursday 7000&#10;Friday 8500&#10;Saturday 10 500&#10;Sunday 9000">
            <a:extLst>
              <a:ext uri="{FF2B5EF4-FFF2-40B4-BE49-F238E27FC236}">
                <a16:creationId xmlns:a16="http://schemas.microsoft.com/office/drawing/2014/main" id="{5B331CA6-C4F2-B6FF-5AD7-9A72427FB407}"/>
              </a:ext>
            </a:extLst>
          </p:cNvPr>
          <p:cNvPicPr>
            <a:picLocks noChangeAspect="1"/>
          </p:cNvPicPr>
          <p:nvPr/>
        </p:nvPicPr>
        <p:blipFill>
          <a:blip r:embed="rId4"/>
          <a:stretch>
            <a:fillRect/>
          </a:stretch>
        </p:blipFill>
        <p:spPr>
          <a:xfrm>
            <a:off x="4880817" y="1721809"/>
            <a:ext cx="7115893" cy="3889184"/>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decimal notation in measurement (1)</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7" name="Picture 6" descr="1 metre rule&#10;Underneath - a ruler divided into 10 equal parts and labelled 10cm = 0.1 metres.&#10;&#10;Below this - a ruler divided into 100 equal parts and labelled 1cm = 0.01 metres.&#10;&#10;Below this a 10cm ruler showing millimetres and labelled 1mm = 0.001metres.">
            <a:extLst>
              <a:ext uri="{FF2B5EF4-FFF2-40B4-BE49-F238E27FC236}">
                <a16:creationId xmlns:a16="http://schemas.microsoft.com/office/drawing/2014/main" id="{0D039739-C8EA-22E5-7A57-B334FCDEDB4F}"/>
              </a:ext>
            </a:extLst>
          </p:cNvPr>
          <p:cNvPicPr>
            <a:picLocks noChangeAspect="1"/>
          </p:cNvPicPr>
          <p:nvPr/>
        </p:nvPicPr>
        <p:blipFill>
          <a:blip r:embed="rId4"/>
          <a:srcRect b="5355"/>
          <a:stretch>
            <a:fillRect/>
          </a:stretch>
        </p:blipFill>
        <p:spPr>
          <a:xfrm>
            <a:off x="2268739" y="905601"/>
            <a:ext cx="7352340" cy="5790399"/>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08A5E-523E-C2B9-3892-EFE54F5FB53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88626B6-01BF-2EFE-A6F1-EF1260FB8A2A}"/>
              </a:ext>
            </a:extLst>
          </p:cNvPr>
          <p:cNvSpPr>
            <a:spLocks noGrp="1"/>
          </p:cNvSpPr>
          <p:nvPr>
            <p:ph type="title"/>
          </p:nvPr>
        </p:nvSpPr>
        <p:spPr>
          <a:xfrm>
            <a:off x="360000" y="360000"/>
            <a:ext cx="10367268" cy="545601"/>
          </a:xfrm>
        </p:spPr>
        <p:txBody>
          <a:bodyPr/>
          <a:lstStyle/>
          <a:p>
            <a:r>
              <a:rPr lang="en-AU"/>
              <a:t>Activity 7 – decimal notation in measurement (2)</a:t>
            </a:r>
          </a:p>
        </p:txBody>
      </p:sp>
      <p:pic>
        <p:nvPicPr>
          <p:cNvPr id="4" name="Picture 3">
            <a:extLst>
              <a:ext uri="{FF2B5EF4-FFF2-40B4-BE49-F238E27FC236}">
                <a16:creationId xmlns:a16="http://schemas.microsoft.com/office/drawing/2014/main" id="{4F687E8B-9FC4-292B-1D63-931A2B559CC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D38B2BA0-B3C0-6968-D22A-F1B26498EEE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8" name="TextBox 7">
            <a:extLst>
              <a:ext uri="{FF2B5EF4-FFF2-40B4-BE49-F238E27FC236}">
                <a16:creationId xmlns:a16="http://schemas.microsoft.com/office/drawing/2014/main" id="{B575ED8B-0A6B-51AA-7170-9F176D120411}"/>
              </a:ext>
            </a:extLst>
          </p:cNvPr>
          <p:cNvSpPr txBox="1"/>
          <p:nvPr/>
        </p:nvSpPr>
        <p:spPr>
          <a:xfrm>
            <a:off x="1140288" y="1097258"/>
            <a:ext cx="10343712" cy="1131848"/>
          </a:xfrm>
          <a:prstGeom prst="rect">
            <a:avLst/>
          </a:prstGeom>
          <a:noFill/>
        </p:spPr>
        <p:txBody>
          <a:bodyPr wrap="square">
            <a:spAutoFit/>
          </a:bodyPr>
          <a:lstStyle/>
          <a:p>
            <a:pPr>
              <a:lnSpc>
                <a:spcPct val="150000"/>
              </a:lnSpc>
            </a:pPr>
            <a:r>
              <a:rPr lang="en-AU" sz="2400">
                <a:effectLst/>
                <a:latin typeface="Arial" panose="020B0604020202020204" pitchFamily="34" charset="0"/>
                <a:ea typeface="Calibri" panose="020F0502020204030204" pitchFamily="34" charset="0"/>
              </a:rPr>
              <a:t>Use your ruler to measure items around the room and record the millimetre measurement. Then the equivalent measurement in metres.</a:t>
            </a:r>
            <a:endParaRPr lang="en-AU"/>
          </a:p>
        </p:txBody>
      </p:sp>
      <p:pic>
        <p:nvPicPr>
          <p:cNvPr id="3" name="Picture 2" descr="A table with the headings: object, mm, m">
            <a:extLst>
              <a:ext uri="{FF2B5EF4-FFF2-40B4-BE49-F238E27FC236}">
                <a16:creationId xmlns:a16="http://schemas.microsoft.com/office/drawing/2014/main" id="{E18BE2A5-6000-8DD2-FAF6-B4081E95CA4E}"/>
              </a:ext>
            </a:extLst>
          </p:cNvPr>
          <p:cNvPicPr>
            <a:picLocks noChangeAspect="1"/>
          </p:cNvPicPr>
          <p:nvPr/>
        </p:nvPicPr>
        <p:blipFill>
          <a:blip r:embed="rId4"/>
          <a:stretch>
            <a:fillRect/>
          </a:stretch>
        </p:blipFill>
        <p:spPr>
          <a:xfrm>
            <a:off x="1977795" y="2575603"/>
            <a:ext cx="8236410" cy="3889585"/>
          </a:xfrm>
          <a:prstGeom prst="rect">
            <a:avLst/>
          </a:prstGeom>
        </p:spPr>
      </p:pic>
    </p:spTree>
    <p:extLst>
      <p:ext uri="{BB962C8B-B14F-4D97-AF65-F5344CB8AC3E}">
        <p14:creationId xmlns:p14="http://schemas.microsoft.com/office/powerpoint/2010/main" val="2545229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2442981" y="1756575"/>
            <a:ext cx="11243037" cy="893226"/>
          </a:xfrm>
        </p:spPr>
        <p:txBody>
          <a:bodyPr/>
          <a:lstStyle/>
          <a:p>
            <a:r>
              <a:rPr lang="en-AU" sz="4400" b="1"/>
              <a:t>0.506</a:t>
            </a:r>
            <a:r>
              <a:rPr lang="en-AU" sz="4400"/>
              <a:t> is </a:t>
            </a:r>
            <a:r>
              <a:rPr lang="en-AU" sz="4400" b="1"/>
              <a:t>greater</a:t>
            </a:r>
            <a:r>
              <a:rPr lang="en-AU" sz="4400"/>
              <a:t> than </a:t>
            </a:r>
            <a:r>
              <a:rPr lang="en-AU" sz="4400" b="1"/>
              <a:t>0.56.</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46225645"/>
              </p:ext>
            </p:extLst>
          </p:nvPr>
        </p:nvGraphicFramePr>
        <p:xfrm>
          <a:off x="2438401" y="4201900"/>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
        <p:nvSpPr>
          <p:cNvPr id="5" name="TextBox 4">
            <a:extLst>
              <a:ext uri="{FF2B5EF4-FFF2-40B4-BE49-F238E27FC236}">
                <a16:creationId xmlns:a16="http://schemas.microsoft.com/office/drawing/2014/main" id="{D53C7348-59D0-D6CC-FD8E-8D06F29ED6FF}"/>
              </a:ext>
            </a:extLst>
          </p:cNvPr>
          <p:cNvSpPr txBox="1"/>
          <p:nvPr/>
        </p:nvSpPr>
        <p:spPr>
          <a:xfrm>
            <a:off x="2438401" y="5677326"/>
            <a:ext cx="7927708" cy="820674"/>
          </a:xfrm>
          <a:prstGeom prst="rect">
            <a:avLst/>
          </a:prstGeom>
          <a:noFill/>
        </p:spPr>
        <p:txBody>
          <a:bodyPr wrap="square">
            <a:spAutoFit/>
          </a:bodyPr>
          <a:lstStyle/>
          <a:p>
            <a:pPr lvl="0">
              <a:lnSpc>
                <a:spcPct val="150000"/>
              </a:lnSpc>
              <a:spcBef>
                <a:spcPts val="1200"/>
              </a:spcBef>
              <a:spcAft>
                <a:spcPts val="600"/>
              </a:spcAft>
            </a:pPr>
            <a:r>
              <a:rPr lang="en-AU" sz="3600" b="1">
                <a:effectLst/>
                <a:latin typeface="Arial" panose="020B0604020202020204" pitchFamily="34" charset="0"/>
                <a:ea typeface="Calibri" panose="020F0502020204030204" pitchFamily="34" charset="0"/>
              </a:rPr>
              <a:t>Communicate</a:t>
            </a:r>
            <a:r>
              <a:rPr lang="en-AU" sz="3600">
                <a:effectLst/>
                <a:latin typeface="Arial" panose="020B0604020202020204" pitchFamily="34" charset="0"/>
                <a:ea typeface="Calibri" panose="020F0502020204030204" pitchFamily="34" charset="0"/>
              </a:rPr>
              <a:t> your </a:t>
            </a:r>
            <a:r>
              <a:rPr lang="en-AU" sz="3600" b="1"/>
              <a:t>reasoning</a:t>
            </a:r>
            <a:r>
              <a:rPr lang="en-AU" sz="3600">
                <a:effectLst/>
                <a:latin typeface="Arial" panose="020B0604020202020204" pitchFamily="34" charset="0"/>
                <a:ea typeface="Calibri" panose="020F0502020204030204" pitchFamily="34" charset="0"/>
              </a:rPr>
              <a:t>.</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
        <p:nvSpPr>
          <p:cNvPr id="7" name="TextBox 6">
            <a:extLst>
              <a:ext uri="{FF2B5EF4-FFF2-40B4-BE49-F238E27FC236}">
                <a16:creationId xmlns:a16="http://schemas.microsoft.com/office/drawing/2014/main" id="{C5F8D8DB-9C49-7AAA-9B60-6A03BE801D50}"/>
              </a:ext>
            </a:extLst>
          </p:cNvPr>
          <p:cNvSpPr txBox="1"/>
          <p:nvPr/>
        </p:nvSpPr>
        <p:spPr>
          <a:xfrm>
            <a:off x="686604" y="1032054"/>
            <a:ext cx="10818791" cy="820674"/>
          </a:xfrm>
          <a:prstGeom prst="rect">
            <a:avLst/>
          </a:prstGeom>
          <a:noFill/>
        </p:spPr>
        <p:txBody>
          <a:bodyPr wrap="square">
            <a:spAutoFit/>
          </a:bodyPr>
          <a:lstStyle/>
          <a:p>
            <a:pPr lvl="0" algn="ctr">
              <a:lnSpc>
                <a:spcPct val="150000"/>
              </a:lnSpc>
              <a:spcBef>
                <a:spcPts val="1200"/>
              </a:spcBef>
              <a:spcAft>
                <a:spcPts val="600"/>
              </a:spcAft>
            </a:pPr>
            <a:r>
              <a:rPr lang="en-AU" sz="3600" b="1">
                <a:effectLst/>
                <a:latin typeface="Arial" panose="020B0604020202020204" pitchFamily="34" charset="0"/>
                <a:ea typeface="Calibri" panose="020F0502020204030204" pitchFamily="34" charset="0"/>
              </a:rPr>
              <a:t>Order</a:t>
            </a:r>
            <a:r>
              <a:rPr lang="en-AU" sz="3600">
                <a:effectLst/>
                <a:latin typeface="Arial" panose="020B0604020202020204" pitchFamily="34" charset="0"/>
                <a:ea typeface="Calibri" panose="020F0502020204030204" pitchFamily="34" charset="0"/>
              </a:rPr>
              <a:t> these capacities from </a:t>
            </a:r>
            <a:r>
              <a:rPr lang="en-AU" sz="3600" b="1">
                <a:effectLst/>
                <a:latin typeface="Arial" panose="020B0604020202020204" pitchFamily="34" charset="0"/>
                <a:ea typeface="Calibri" panose="020F0502020204030204" pitchFamily="34" charset="0"/>
              </a:rPr>
              <a:t>smallest to largest</a:t>
            </a:r>
            <a:r>
              <a:rPr lang="en-AU" sz="3600" b="1">
                <a:latin typeface="Arial" panose="020B0604020202020204" pitchFamily="34" charset="0"/>
                <a:ea typeface="Calibri" panose="020F0502020204030204" pitchFamily="34" charset="0"/>
              </a:rPr>
              <a:t>.</a:t>
            </a:r>
            <a:endParaRPr lang="en-AU" sz="3600">
              <a:effectLst/>
              <a:latin typeface="Arial" panose="020B0604020202020204" pitchFamily="34" charset="0"/>
              <a:ea typeface="Calibri" panose="020F0502020204030204" pitchFamily="34" charset="0"/>
            </a:endParaRPr>
          </a:p>
        </p:txBody>
      </p:sp>
      <p:sp>
        <p:nvSpPr>
          <p:cNvPr id="11" name="TextBox 10">
            <a:extLst>
              <a:ext uri="{FF2B5EF4-FFF2-40B4-BE49-F238E27FC236}">
                <a16:creationId xmlns:a16="http://schemas.microsoft.com/office/drawing/2014/main" id="{8D921014-52CA-1901-332D-610D372B6F8D}"/>
              </a:ext>
            </a:extLst>
          </p:cNvPr>
          <p:cNvSpPr txBox="1"/>
          <p:nvPr/>
        </p:nvSpPr>
        <p:spPr>
          <a:xfrm>
            <a:off x="5410875" y="1898261"/>
            <a:ext cx="6094520" cy="4617739"/>
          </a:xfrm>
          <a:prstGeom prst="rect">
            <a:avLst/>
          </a:prstGeom>
          <a:noFill/>
        </p:spPr>
        <p:txBody>
          <a:bodyPr wrap="square">
            <a:spAutoFit/>
          </a:bodyPr>
          <a:lstStyle/>
          <a:p>
            <a:pPr marL="342900" lvl="0" indent="-342900">
              <a:lnSpc>
                <a:spcPct val="150000"/>
              </a:lnSpc>
              <a:spcBef>
                <a:spcPts val="1200"/>
              </a:spcBef>
              <a:spcAft>
                <a:spcPts val="600"/>
              </a:spcAft>
              <a:buFont typeface="Symbol" panose="05050102010706020507" pitchFamily="18" charset="2"/>
              <a:buChar char=""/>
            </a:pPr>
            <a:r>
              <a:rPr lang="en-AU" sz="3200">
                <a:latin typeface="Arial" panose="020B0604020202020204" pitchFamily="34" charset="0"/>
                <a:ea typeface="Calibri" panose="020F0502020204030204" pitchFamily="34" charset="0"/>
              </a:rPr>
              <a:t>3</a:t>
            </a:r>
            <a:r>
              <a:rPr lang="en-AU" sz="3200">
                <a:effectLst/>
                <a:latin typeface="Arial" panose="020B0604020202020204" pitchFamily="34" charset="0"/>
                <a:ea typeface="Calibri" panose="020F0502020204030204" pitchFamily="34" charset="0"/>
              </a:rPr>
              <a:t>.05 L</a:t>
            </a:r>
          </a:p>
          <a:p>
            <a:pPr marL="342900" lvl="0" indent="-342900">
              <a:lnSpc>
                <a:spcPct val="150000"/>
              </a:lnSpc>
              <a:spcBef>
                <a:spcPts val="1200"/>
              </a:spcBef>
              <a:spcAft>
                <a:spcPts val="600"/>
              </a:spcAft>
              <a:buFont typeface="Symbol" panose="05050102010706020507" pitchFamily="18" charset="2"/>
              <a:buChar char=""/>
            </a:pPr>
            <a:r>
              <a:rPr lang="en-AU" sz="3200">
                <a:latin typeface="Arial" panose="020B0604020202020204" pitchFamily="34" charset="0"/>
                <a:ea typeface="Calibri" panose="020F0502020204030204" pitchFamily="34" charset="0"/>
              </a:rPr>
              <a:t>3</a:t>
            </a:r>
            <a:r>
              <a:rPr lang="en-AU" sz="3200">
                <a:effectLst/>
                <a:latin typeface="Arial" panose="020B0604020202020204" pitchFamily="34" charset="0"/>
                <a:ea typeface="Calibri" panose="020F0502020204030204" pitchFamily="34" charset="0"/>
              </a:rPr>
              <a:t>075 mL</a:t>
            </a:r>
          </a:p>
          <a:p>
            <a:pPr marL="342900" lvl="0" indent="-342900">
              <a:lnSpc>
                <a:spcPct val="150000"/>
              </a:lnSpc>
              <a:spcBef>
                <a:spcPts val="1200"/>
              </a:spcBef>
              <a:spcAft>
                <a:spcPts val="600"/>
              </a:spcAft>
              <a:buFont typeface="Symbol" panose="05050102010706020507" pitchFamily="18" charset="2"/>
              <a:buChar char=""/>
            </a:pPr>
            <a:r>
              <a:rPr lang="en-AU" sz="3200">
                <a:latin typeface="Arial" panose="020B0604020202020204" pitchFamily="34" charset="0"/>
                <a:ea typeface="Calibri" panose="020F0502020204030204" pitchFamily="34" charset="0"/>
              </a:rPr>
              <a:t>3</a:t>
            </a:r>
            <a:r>
              <a:rPr lang="en-AU" sz="3200">
                <a:effectLst/>
                <a:latin typeface="Arial" panose="020B0604020202020204" pitchFamily="34" charset="0"/>
                <a:ea typeface="Calibri" panose="020F0502020204030204" pitchFamily="34" charset="0"/>
              </a:rPr>
              <a:t>.2 L</a:t>
            </a:r>
          </a:p>
          <a:p>
            <a:pPr marL="342900" lvl="0" indent="-342900">
              <a:lnSpc>
                <a:spcPct val="150000"/>
              </a:lnSpc>
              <a:spcBef>
                <a:spcPts val="1200"/>
              </a:spcBef>
              <a:spcAft>
                <a:spcPts val="600"/>
              </a:spcAft>
              <a:buFont typeface="Symbol" panose="05050102010706020507" pitchFamily="18" charset="2"/>
              <a:buChar char=""/>
            </a:pPr>
            <a:r>
              <a:rPr lang="en-AU" sz="3200">
                <a:latin typeface="Arial" panose="020B0604020202020204" pitchFamily="34" charset="0"/>
                <a:ea typeface="Calibri" panose="020F0502020204030204" pitchFamily="34" charset="0"/>
              </a:rPr>
              <a:t>2</a:t>
            </a:r>
            <a:r>
              <a:rPr lang="en-AU" sz="3200">
                <a:effectLst/>
                <a:latin typeface="Arial" panose="020B0604020202020204" pitchFamily="34" charset="0"/>
                <a:ea typeface="Calibri" panose="020F0502020204030204" pitchFamily="34" charset="0"/>
              </a:rPr>
              <a:t>990 mL</a:t>
            </a:r>
          </a:p>
          <a:p>
            <a:pPr marL="342900" lvl="0" indent="-342900">
              <a:lnSpc>
                <a:spcPct val="150000"/>
              </a:lnSpc>
              <a:spcBef>
                <a:spcPts val="1200"/>
              </a:spcBef>
              <a:spcAft>
                <a:spcPts val="600"/>
              </a:spcAft>
              <a:buFont typeface="Symbol" panose="05050102010706020507" pitchFamily="18" charset="2"/>
              <a:buChar char=""/>
            </a:pPr>
            <a:r>
              <a:rPr lang="en-AU" sz="3200">
                <a:latin typeface="Arial" panose="020B0604020202020204" pitchFamily="34" charset="0"/>
                <a:ea typeface="Calibri" panose="020F0502020204030204" pitchFamily="34" charset="0"/>
              </a:rPr>
              <a:t>3</a:t>
            </a:r>
            <a:r>
              <a:rPr lang="en-AU" sz="3200">
                <a:effectLst/>
                <a:latin typeface="Arial" panose="020B0604020202020204" pitchFamily="34" charset="0"/>
                <a:ea typeface="Calibri" panose="020F0502020204030204" pitchFamily="34" charset="0"/>
              </a:rPr>
              <a:t>.125 L</a:t>
            </a:r>
            <a:endParaRPr lang="en-AU" sz="3200"/>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8F5CBA4A-858A-6D56-199A-FE4FE70AA26C}"/>
              </a:ext>
            </a:extLst>
          </p:cNvPr>
          <p:cNvSpPr txBox="1"/>
          <p:nvPr/>
        </p:nvSpPr>
        <p:spPr>
          <a:xfrm>
            <a:off x="593952" y="1414249"/>
            <a:ext cx="6856713" cy="4029501"/>
          </a:xfrm>
          <a:prstGeom prst="rect">
            <a:avLst/>
          </a:prstGeom>
          <a:noFill/>
        </p:spPr>
        <p:txBody>
          <a:bodyPr wrap="square">
            <a:spAutoFit/>
          </a:bodyPr>
          <a:lstStyle/>
          <a:p>
            <a:pPr lvl="0">
              <a:lnSpc>
                <a:spcPct val="150000"/>
              </a:lnSpc>
              <a:spcBef>
                <a:spcPts val="1200"/>
              </a:spcBef>
              <a:spcAft>
                <a:spcPts val="600"/>
              </a:spcAft>
            </a:pPr>
            <a:r>
              <a:rPr lang="en-AU" sz="4400" dirty="0">
                <a:effectLst/>
                <a:latin typeface="Arial" panose="020B0604020202020204" pitchFamily="34" charset="0"/>
                <a:ea typeface="Calibri" panose="020F0502020204030204" pitchFamily="34" charset="0"/>
              </a:rPr>
              <a:t>How would you </a:t>
            </a:r>
            <a:r>
              <a:rPr lang="en-AU" sz="4400" b="1" dirty="0">
                <a:effectLst/>
                <a:latin typeface="Arial" panose="020B0604020202020204" pitchFamily="34" charset="0"/>
                <a:ea typeface="Calibri" panose="020F0502020204030204" pitchFamily="34" charset="0"/>
              </a:rPr>
              <a:t>change </a:t>
            </a:r>
            <a:r>
              <a:rPr lang="en-AU" sz="4400" dirty="0">
                <a:effectLst/>
                <a:latin typeface="Arial" panose="020B0604020202020204" pitchFamily="34" charset="0"/>
                <a:ea typeface="Calibri" panose="020F0502020204030204" pitchFamily="34" charset="0"/>
              </a:rPr>
              <a:t>this spinner so that there is a </a:t>
            </a:r>
            <a:r>
              <a:rPr lang="en-AU" sz="4400" b="1" dirty="0">
                <a:effectLst/>
                <a:latin typeface="Arial" panose="020B0604020202020204" pitchFamily="34" charset="0"/>
                <a:ea typeface="Calibri" panose="020F0502020204030204" pitchFamily="34" charset="0"/>
              </a:rPr>
              <a:t>1 in 4 chance </a:t>
            </a:r>
            <a:r>
              <a:rPr lang="en-AU" sz="4400" dirty="0">
                <a:effectLst/>
                <a:latin typeface="Arial" panose="020B0604020202020204" pitchFamily="34" charset="0"/>
                <a:ea typeface="Calibri" panose="020F0502020204030204" pitchFamily="34" charset="0"/>
              </a:rPr>
              <a:t>of landing on </a:t>
            </a:r>
            <a:r>
              <a:rPr lang="en-AU" sz="4400" b="1" dirty="0">
                <a:solidFill>
                  <a:srgbClr val="D7153A"/>
                </a:solidFill>
                <a:effectLst/>
                <a:latin typeface="Arial" panose="020B0604020202020204" pitchFamily="34" charset="0"/>
                <a:ea typeface="Calibri" panose="020F0502020204030204" pitchFamily="34" charset="0"/>
              </a:rPr>
              <a:t>red</a:t>
            </a:r>
            <a:r>
              <a:rPr lang="en-AU" sz="4400" dirty="0">
                <a:effectLst/>
                <a:latin typeface="Arial" panose="020B0604020202020204" pitchFamily="34" charset="0"/>
                <a:ea typeface="Calibri" panose="020F0502020204030204" pitchFamily="34" charset="0"/>
              </a:rPr>
              <a:t>?</a:t>
            </a:r>
          </a:p>
        </p:txBody>
      </p:sp>
      <p:pic>
        <p:nvPicPr>
          <p:cNvPr id="10" name="Picture 9" descr="A spinner with 8 segments. Half are red and half are blue.">
            <a:extLst>
              <a:ext uri="{FF2B5EF4-FFF2-40B4-BE49-F238E27FC236}">
                <a16:creationId xmlns:a16="http://schemas.microsoft.com/office/drawing/2014/main" id="{CEFA343E-D860-4522-B4E6-8D16C2BAB2D9}"/>
              </a:ext>
            </a:extLst>
          </p:cNvPr>
          <p:cNvPicPr>
            <a:picLocks noChangeAspect="1"/>
          </p:cNvPicPr>
          <p:nvPr/>
        </p:nvPicPr>
        <p:blipFill>
          <a:blip r:embed="rId4"/>
          <a:stretch>
            <a:fillRect/>
          </a:stretch>
        </p:blipFill>
        <p:spPr>
          <a:xfrm>
            <a:off x="7379758" y="1414249"/>
            <a:ext cx="4566218" cy="4581116"/>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71F7748-A6B9-8B29-C93C-02E147AC2930}"/>
                  </a:ext>
                </a:extLst>
              </p:cNvPr>
              <p:cNvSpPr txBox="1"/>
              <p:nvPr/>
            </p:nvSpPr>
            <p:spPr>
              <a:xfrm>
                <a:off x="360000" y="1552629"/>
                <a:ext cx="11484000" cy="3706336"/>
              </a:xfrm>
              <a:prstGeom prst="rect">
                <a:avLst/>
              </a:prstGeom>
              <a:noFill/>
            </p:spPr>
            <p:txBody>
              <a:bodyPr wrap="square">
                <a:spAutoFit/>
              </a:bodyPr>
              <a:lstStyle/>
              <a:p>
                <a:pPr lvl="0" algn="ctr">
                  <a:lnSpc>
                    <a:spcPct val="150000"/>
                  </a:lnSpc>
                  <a:spcBef>
                    <a:spcPts val="1200"/>
                  </a:spcBef>
                  <a:spcAft>
                    <a:spcPts val="600"/>
                  </a:spcAft>
                </a:pPr>
                <a:r>
                  <a:rPr lang="en-AU" sz="4400" b="1" dirty="0">
                    <a:latin typeface="Arial" panose="020B0604020202020204" pitchFamily="34" charset="0"/>
                    <a:ea typeface="Calibri" panose="020F0502020204030204" pitchFamily="34" charset="0"/>
                    <a:cs typeface="Times New Roman" panose="02020603050405020304" pitchFamily="18" charset="0"/>
                  </a:rPr>
                  <a:t>Draw</a:t>
                </a:r>
                <a:r>
                  <a:rPr lang="en-AU" sz="4400" dirty="0">
                    <a:latin typeface="Arial" panose="020B0604020202020204" pitchFamily="34" charset="0"/>
                    <a:ea typeface="Calibri" panose="020F0502020204030204" pitchFamily="34" charset="0"/>
                    <a:cs typeface="Times New Roman" panose="02020603050405020304" pitchFamily="18" charset="0"/>
                  </a:rPr>
                  <a:t> an </a:t>
                </a:r>
                <a:r>
                  <a:rPr lang="en-AU" sz="4400" b="1" dirty="0">
                    <a:latin typeface="Arial" panose="020B0604020202020204" pitchFamily="34" charset="0"/>
                    <a:ea typeface="Calibri" panose="020F0502020204030204" pitchFamily="34" charset="0"/>
                    <a:cs typeface="Times New Roman" panose="02020603050405020304" pitchFamily="18" charset="0"/>
                  </a:rPr>
                  <a:t>array</a:t>
                </a:r>
                <a:r>
                  <a:rPr lang="en-AU" sz="4400" dirty="0">
                    <a:latin typeface="Arial" panose="020B0604020202020204" pitchFamily="34" charset="0"/>
                    <a:ea typeface="Calibri" panose="020F0502020204030204" pitchFamily="34" charset="0"/>
                    <a:cs typeface="Times New Roman" panose="02020603050405020304" pitchFamily="18" charset="0"/>
                  </a:rPr>
                  <a:t> to model:</a:t>
                </a:r>
              </a:p>
              <a:p>
                <a:pPr lvl="0" algn="ctr">
                  <a:lnSpc>
                    <a:spcPct val="150000"/>
                  </a:lnSpc>
                  <a:spcBef>
                    <a:spcPts val="1200"/>
                  </a:spcBef>
                  <a:spcAft>
                    <a:spcPts val="600"/>
                  </a:spcAft>
                </a:pPr>
                <a:r>
                  <a:rPr lang="en-AU" sz="5400" b="1" dirty="0">
                    <a:solidFill>
                      <a:schemeClr val="accent2"/>
                    </a:solidFill>
                    <a:effectLst/>
                    <a:latin typeface="Arial" panose="020B0604020202020204" pitchFamily="34" charset="0"/>
                    <a:ea typeface="Calibri" panose="020F0502020204030204" pitchFamily="34" charset="0"/>
                    <a:cs typeface="Times New Roman" panose="02020603050405020304" pitchFamily="18" charset="0"/>
                  </a:rPr>
                  <a:t>26 </a:t>
                </a:r>
                <a14:m>
                  <m:oMath xmlns:m="http://schemas.openxmlformats.org/officeDocument/2006/math">
                    <m:r>
                      <a:rPr lang="en-AU" sz="5400" b="1" i="1">
                        <a:solidFill>
                          <a:schemeClr val="accent2"/>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AU" sz="5400" b="1" dirty="0">
                    <a:solidFill>
                      <a:schemeClr val="accent2"/>
                    </a:solidFill>
                    <a:effectLst/>
                    <a:latin typeface="Arial" panose="020B0604020202020204" pitchFamily="34" charset="0"/>
                    <a:ea typeface="DengXian" panose="02010600030101010101" pitchFamily="2" charset="-122"/>
                    <a:cs typeface="Times New Roman" panose="02020603050405020304" pitchFamily="18" charset="0"/>
                  </a:rPr>
                  <a:t> 7</a:t>
                </a:r>
              </a:p>
              <a:p>
                <a:pPr lvl="0" algn="ctr">
                  <a:lnSpc>
                    <a:spcPct val="150000"/>
                  </a:lnSpc>
                  <a:spcBef>
                    <a:spcPts val="1200"/>
                  </a:spcBef>
                  <a:spcAft>
                    <a:spcPts val="600"/>
                  </a:spcAft>
                </a:pPr>
                <a:r>
                  <a:rPr lang="en-AU" sz="4400" dirty="0">
                    <a:latin typeface="Arial" panose="020B0604020202020204" pitchFamily="34" charset="0"/>
                    <a:ea typeface="DengXian" panose="02010600030101010101" pitchFamily="2" charset="-122"/>
                    <a:cs typeface="Times New Roman" panose="02020603050405020304" pitchFamily="18" charset="0"/>
                  </a:rPr>
                  <a:t>Record the </a:t>
                </a:r>
                <a:r>
                  <a:rPr lang="en-AU" sz="4400" b="1" dirty="0">
                    <a:latin typeface="Arial" panose="020B0604020202020204" pitchFamily="34" charset="0"/>
                    <a:ea typeface="DengXian" panose="02010600030101010101" pitchFamily="2" charset="-122"/>
                    <a:cs typeface="Times New Roman" panose="02020603050405020304" pitchFamily="18" charset="0"/>
                  </a:rPr>
                  <a:t>related multiplication fact.</a:t>
                </a:r>
                <a:endParaRPr lang="en-AU" sz="4400" b="1" dirty="0">
                  <a:effectLst/>
                  <a:latin typeface="Arial" panose="020B0604020202020204" pitchFamily="34" charset="0"/>
                  <a:ea typeface="Calibri" panose="020F0502020204030204"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271F7748-A6B9-8B29-C93C-02E147AC2930}"/>
                  </a:ext>
                </a:extLst>
              </p:cNvPr>
              <p:cNvSpPr txBox="1">
                <a:spLocks noRot="1" noChangeAspect="1" noMove="1" noResize="1" noEditPoints="1" noAdjustHandles="1" noChangeArrowheads="1" noChangeShapeType="1" noTextEdit="1"/>
              </p:cNvSpPr>
              <p:nvPr/>
            </p:nvSpPr>
            <p:spPr>
              <a:xfrm>
                <a:off x="360000" y="1552629"/>
                <a:ext cx="11484000" cy="3706336"/>
              </a:xfrm>
              <a:prstGeom prst="rect">
                <a:avLst/>
              </a:prstGeom>
              <a:blipFill>
                <a:blip r:embed="rId4"/>
                <a:stretch>
                  <a:fillRect b="-6743"/>
                </a:stretch>
              </a:blipFill>
            </p:spPr>
            <p:txBody>
              <a:bodyPr/>
              <a:lstStyle/>
              <a:p>
                <a:r>
                  <a:rPr lang="en-AU">
                    <a:noFill/>
                  </a:rPr>
                  <a:t> </a:t>
                </a:r>
              </a:p>
            </p:txBody>
          </p:sp>
        </mc:Fallback>
      </mc:AlternateContent>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5ADA7AC5-70B8-641F-0EC7-82C9E80BF793}"/>
              </a:ext>
            </a:extLst>
          </p:cNvPr>
          <p:cNvSpPr txBox="1"/>
          <p:nvPr/>
        </p:nvSpPr>
        <p:spPr>
          <a:xfrm>
            <a:off x="0" y="1610544"/>
            <a:ext cx="5610690" cy="4352153"/>
          </a:xfrm>
          <a:prstGeom prst="rect">
            <a:avLst/>
          </a:prstGeom>
          <a:noFill/>
        </p:spPr>
        <p:txBody>
          <a:bodyPr wrap="square">
            <a:spAutoFit/>
          </a:bodyPr>
          <a:lstStyle/>
          <a:p>
            <a:pPr marL="457200" lvl="0" indent="-457200">
              <a:lnSpc>
                <a:spcPct val="150000"/>
              </a:lnSpc>
              <a:spcBef>
                <a:spcPts val="1200"/>
              </a:spcBef>
              <a:spcAft>
                <a:spcPts val="600"/>
              </a:spcAft>
              <a:buFont typeface="Arial" panose="020B0604020202020204" pitchFamily="34" charset="0"/>
              <a:buChar char="•"/>
            </a:pPr>
            <a:r>
              <a:rPr lang="en-AU" sz="2800" dirty="0">
                <a:effectLst/>
                <a:latin typeface="Arial" panose="020B0604020202020204" pitchFamily="34" charset="0"/>
                <a:ea typeface="Calibri" panose="020F0502020204030204" pitchFamily="34" charset="0"/>
              </a:rPr>
              <a:t>How many</a:t>
            </a:r>
            <a:r>
              <a:rPr lang="en-AU" sz="2800" b="1" dirty="0">
                <a:effectLst/>
                <a:latin typeface="Arial" panose="020B0604020202020204" pitchFamily="34" charset="0"/>
                <a:ea typeface="Calibri" panose="020F0502020204030204" pitchFamily="34" charset="0"/>
              </a:rPr>
              <a:t> years </a:t>
            </a:r>
            <a:r>
              <a:rPr lang="en-AU" sz="2800" dirty="0">
                <a:effectLst/>
                <a:latin typeface="Arial" panose="020B0604020202020204" pitchFamily="34" charset="0"/>
                <a:ea typeface="Calibri" panose="020F0502020204030204" pitchFamily="34" charset="0"/>
              </a:rPr>
              <a:t>are</a:t>
            </a:r>
            <a:r>
              <a:rPr lang="en-AU" sz="2800" b="1" dirty="0">
                <a:effectLst/>
                <a:latin typeface="Arial" panose="020B0604020202020204" pitchFamily="34" charset="0"/>
                <a:ea typeface="Calibri" panose="020F0502020204030204" pitchFamily="34" charset="0"/>
              </a:rPr>
              <a:t> between</a:t>
            </a:r>
            <a:r>
              <a:rPr lang="en-AU" sz="2800" dirty="0">
                <a:effectLst/>
                <a:latin typeface="Arial" panose="020B0604020202020204" pitchFamily="34" charset="0"/>
                <a:ea typeface="Calibri" panose="020F0502020204030204" pitchFamily="34" charset="0"/>
              </a:rPr>
              <a:t> the </a:t>
            </a:r>
            <a:r>
              <a:rPr lang="en-AU" sz="2800" b="1" dirty="0">
                <a:effectLst/>
                <a:latin typeface="Arial" panose="020B0604020202020204" pitchFamily="34" charset="0"/>
                <a:ea typeface="Calibri" panose="020F0502020204030204" pitchFamily="34" charset="0"/>
              </a:rPr>
              <a:t>intervals</a:t>
            </a:r>
            <a:r>
              <a:rPr lang="en-AU" sz="2800" dirty="0">
                <a:effectLst/>
                <a:latin typeface="Arial" panose="020B0604020202020204" pitchFamily="34" charset="0"/>
                <a:ea typeface="Calibri" panose="020F0502020204030204" pitchFamily="34" charset="0"/>
              </a:rPr>
              <a:t> on the timeline?</a:t>
            </a:r>
          </a:p>
          <a:p>
            <a:pPr marL="457200" lvl="0" indent="-457200">
              <a:lnSpc>
                <a:spcPct val="150000"/>
              </a:lnSpc>
              <a:spcBef>
                <a:spcPts val="1200"/>
              </a:spcBef>
              <a:spcAft>
                <a:spcPts val="600"/>
              </a:spcAft>
              <a:buFont typeface="Arial" panose="020B0604020202020204" pitchFamily="34" charset="0"/>
              <a:buChar char="•"/>
            </a:pPr>
            <a:r>
              <a:rPr lang="en-AU" sz="2800" dirty="0">
                <a:effectLst/>
                <a:latin typeface="Arial" panose="020B0604020202020204" pitchFamily="34" charset="0"/>
                <a:ea typeface="Calibri" panose="020F0502020204030204" pitchFamily="34" charset="0"/>
              </a:rPr>
              <a:t>What </a:t>
            </a:r>
            <a:r>
              <a:rPr lang="en-AU" sz="2800" b="1" dirty="0">
                <a:effectLst/>
                <a:latin typeface="Arial" panose="020B0604020202020204" pitchFamily="34" charset="0"/>
                <a:ea typeface="Calibri" panose="020F0502020204030204" pitchFamily="34" charset="0"/>
              </a:rPr>
              <a:t>year</a:t>
            </a:r>
            <a:r>
              <a:rPr lang="en-AU" sz="2800" dirty="0">
                <a:effectLst/>
                <a:latin typeface="Arial" panose="020B0604020202020204" pitchFamily="34" charset="0"/>
                <a:ea typeface="Calibri" panose="020F0502020204030204" pitchFamily="34" charset="0"/>
              </a:rPr>
              <a:t> did I start playing </a:t>
            </a:r>
            <a:r>
              <a:rPr lang="en-AU" sz="2800" b="1" dirty="0">
                <a:effectLst/>
                <a:latin typeface="Arial" panose="020B0604020202020204" pitchFamily="34" charset="0"/>
                <a:ea typeface="Calibri" panose="020F0502020204030204" pitchFamily="34" charset="0"/>
              </a:rPr>
              <a:t>soccer</a:t>
            </a:r>
            <a:r>
              <a:rPr lang="en-AU" sz="2800" dirty="0">
                <a:effectLst/>
                <a:latin typeface="Arial" panose="020B0604020202020204" pitchFamily="34" charset="0"/>
                <a:ea typeface="Calibri" panose="020F0502020204030204" pitchFamily="34" charset="0"/>
              </a:rPr>
              <a:t>? </a:t>
            </a:r>
            <a:r>
              <a:rPr lang="en-AU" sz="2800" b="1" dirty="0">
                <a:effectLst/>
                <a:latin typeface="Arial" panose="020B0604020202020204" pitchFamily="34" charset="0"/>
                <a:ea typeface="Calibri" panose="020F0502020204030204" pitchFamily="34" charset="0"/>
              </a:rPr>
              <a:t>How old </a:t>
            </a:r>
            <a:r>
              <a:rPr lang="en-AU" sz="2800" dirty="0">
                <a:effectLst/>
                <a:latin typeface="Arial" panose="020B0604020202020204" pitchFamily="34" charset="0"/>
                <a:ea typeface="Calibri" panose="020F0502020204030204" pitchFamily="34" charset="0"/>
              </a:rPr>
              <a:t>was I?</a:t>
            </a:r>
          </a:p>
          <a:p>
            <a:pPr marL="457200" indent="-457200">
              <a:lnSpc>
                <a:spcPct val="150000"/>
              </a:lnSpc>
              <a:spcBef>
                <a:spcPts val="1200"/>
              </a:spcBef>
              <a:spcAft>
                <a:spcPts val="600"/>
              </a:spcAft>
              <a:buFont typeface="Arial" panose="020B0604020202020204" pitchFamily="34" charset="0"/>
              <a:buChar char="•"/>
            </a:pPr>
            <a:r>
              <a:rPr lang="en-AU" sz="2800" dirty="0">
                <a:latin typeface="Arial" panose="020B0604020202020204" pitchFamily="34" charset="0"/>
                <a:ea typeface="Calibri" panose="020F0502020204030204" pitchFamily="34" charset="0"/>
              </a:rPr>
              <a:t>What </a:t>
            </a:r>
            <a:r>
              <a:rPr lang="en-AU" sz="2800" b="1" dirty="0">
                <a:latin typeface="Arial" panose="020B0604020202020204" pitchFamily="34" charset="0"/>
                <a:ea typeface="Calibri" panose="020F0502020204030204" pitchFamily="34" charset="0"/>
              </a:rPr>
              <a:t>year</a:t>
            </a:r>
            <a:r>
              <a:rPr lang="en-AU" sz="2800" dirty="0">
                <a:latin typeface="Arial" panose="020B0604020202020204" pitchFamily="34" charset="0"/>
                <a:ea typeface="Calibri" panose="020F0502020204030204" pitchFamily="34" charset="0"/>
              </a:rPr>
              <a:t> would be </a:t>
            </a:r>
            <a:r>
              <a:rPr lang="en-AU" sz="2800" b="1" dirty="0">
                <a:latin typeface="Arial" panose="020B0604020202020204" pitchFamily="34" charset="0"/>
                <a:ea typeface="Calibri" panose="020F0502020204030204" pitchFamily="34" charset="0"/>
              </a:rPr>
              <a:t>next </a:t>
            </a:r>
            <a:r>
              <a:rPr lang="en-AU" sz="2800" dirty="0">
                <a:latin typeface="Arial" panose="020B0604020202020204" pitchFamily="34" charset="0"/>
                <a:ea typeface="Calibri" panose="020F0502020204030204" pitchFamily="34" charset="0"/>
              </a:rPr>
              <a:t>on the timeline?</a:t>
            </a:r>
          </a:p>
        </p:txBody>
      </p:sp>
      <p:pic>
        <p:nvPicPr>
          <p:cNvPr id="5" name="Picture 4" descr="Personal Timeline&#10;1980: I was born.&#10;1990: I travelled to USA and went to Disneyland.&#10;2000: I started playing soccer.&#10;2010: I got married.&#10;2020: I moved into a new house.">
            <a:extLst>
              <a:ext uri="{FF2B5EF4-FFF2-40B4-BE49-F238E27FC236}">
                <a16:creationId xmlns:a16="http://schemas.microsoft.com/office/drawing/2014/main" id="{D92C24CB-77B2-1FD6-7CC4-CF6F7D2A8490}"/>
              </a:ext>
            </a:extLst>
          </p:cNvPr>
          <p:cNvPicPr>
            <a:picLocks noChangeAspect="1"/>
          </p:cNvPicPr>
          <p:nvPr/>
        </p:nvPicPr>
        <p:blipFill>
          <a:blip r:embed="rId4"/>
          <a:stretch>
            <a:fillRect/>
          </a:stretch>
        </p:blipFill>
        <p:spPr>
          <a:xfrm>
            <a:off x="5873310" y="1619343"/>
            <a:ext cx="5610690" cy="4080502"/>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decimals in the place value system</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pic>
        <p:nvPicPr>
          <p:cNvPr id="8" name="Picture 7" descr="Set 1.&#10;1. 0.5 is the same as 0.50&#10;2. 0.205 is greater than 0.25&#10;3. 0.3 is greater than 0.030&#10;&#10;Space for the lie.&#10;&#10;Set 2:&#10;1. 0.40 and 0.4 have the same value&#10;2. 0.04 and 0.4 have the same value&#10;3. Adding a zero after a decimal number does not change its value&#10;&#10;Space for the lie.&#10;&#10;Set 3:&#10;1. 0.63 is the same as 6 hundredths and 3 tenths&#10;2. 0.63 is the same as 63 hundredths&#10;3. 0.63 is the same as 630 thousandths&#10;&#10;Space for a lie.&#10;&#10;Set 4:&#10;1. 2.5 is the same as 2 metres and 5 tenths of a metre&#10;2. 1250 mm is the same as 1.25m&#10;3. 604 mm is the same as 6.04 m">
            <a:extLst>
              <a:ext uri="{FF2B5EF4-FFF2-40B4-BE49-F238E27FC236}">
                <a16:creationId xmlns:a16="http://schemas.microsoft.com/office/drawing/2014/main" id="{9735346D-49BC-FD5D-66E5-509645BBA229}"/>
              </a:ext>
            </a:extLst>
          </p:cNvPr>
          <p:cNvPicPr>
            <a:picLocks noChangeAspect="1"/>
          </p:cNvPicPr>
          <p:nvPr/>
        </p:nvPicPr>
        <p:blipFill>
          <a:blip r:embed="rId4"/>
          <a:stretch>
            <a:fillRect/>
          </a:stretch>
        </p:blipFill>
        <p:spPr>
          <a:xfrm>
            <a:off x="2017422" y="905601"/>
            <a:ext cx="8157155" cy="5858764"/>
          </a:xfrm>
          <a:prstGeom prst="rect">
            <a:avLst/>
          </a:prstGeom>
        </p:spPr>
      </p:pic>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67</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68</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69</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70</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71</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72</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73</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a:cs typeface="Arial"/>
              </a:rPr>
              <a:t>[Subject] [Year–Year] © Syllabus NSW Education Standards Authority (NESA) for and on behalf of the Crown in right of the State of New South Wales, [Year of publication].</a:t>
            </a:r>
            <a:endParaRPr lang="en-US"/>
          </a:p>
          <a:p>
            <a:r>
              <a:rPr lang="en-AU">
                <a:cs typeface="Arial"/>
              </a:rPr>
              <a:t>[Insert references consulted to produce the presentation being developed.]</a:t>
            </a:r>
            <a:endParaRPr lang="en-AU"/>
          </a:p>
          <a:p>
            <a:r>
              <a:rPr lang="en-AU"/>
              <a:t>[Include any other full attributions here.]</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74</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CE555570-2BD4-426B-AA32-0A79CB6508A8}">
  <ds:schemaRefs>
    <ds:schemaRef ds:uri="http://purl.org/dc/terms/"/>
    <ds:schemaRef ds:uri="http://schemas.microsoft.com/office/2006/documentManagement/types"/>
    <ds:schemaRef ds:uri="60129b06-f64b-40a8-96e2-c5b2f86112b1"/>
    <ds:schemaRef ds:uri="http://purl.org/dc/elements/1.1/"/>
    <ds:schemaRef ds:uri="http://www.w3.org/XML/1998/namespace"/>
    <ds:schemaRef ds:uri="7e763d47-3c66-4c58-9425-1477fd3ccd1e"/>
    <ds:schemaRef ds:uri="http://purl.org/dc/dcmityp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AFE1067D-9D27-4822-AA3D-586846B145D8}"/>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21</TotalTime>
  <Words>7106</Words>
  <Application>Microsoft Office PowerPoint</Application>
  <PresentationFormat>Widescreen</PresentationFormat>
  <Paragraphs>1003</Paragraphs>
  <Slides>75</Slides>
  <Notes>75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75</vt:i4>
      </vt:variant>
    </vt:vector>
  </HeadingPairs>
  <TitlesOfParts>
    <vt:vector size="88" baseType="lpstr">
      <vt:lpstr>Cambria Math</vt:lpstr>
      <vt:lpstr>Arial Black</vt:lpstr>
      <vt:lpstr>Times New Roman</vt:lpstr>
      <vt:lpstr>Public Sans Light</vt:lpstr>
      <vt:lpstr>Wingdings</vt:lpstr>
      <vt:lpstr>Aptos Narrow</vt:lpstr>
      <vt:lpstr>Courier New</vt:lpstr>
      <vt:lpstr>Public Sans</vt:lpstr>
      <vt:lpstr>Montserrat</vt:lpstr>
      <vt:lpstr>Symbol</vt:lpstr>
      <vt:lpstr>Calibri</vt:lpstr>
      <vt:lpstr>Arial</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decimals on a number line</vt:lpstr>
      <vt:lpstr>Review of learning 2</vt:lpstr>
      <vt:lpstr>True or false (1)</vt:lpstr>
      <vt:lpstr>Short response (5)</vt:lpstr>
      <vt:lpstr>Short response (6)</vt:lpstr>
      <vt:lpstr>Short response (7)</vt:lpstr>
      <vt:lpstr>Short response (8)</vt:lpstr>
      <vt:lpstr>Activity 2 – approximating decimals</vt:lpstr>
      <vt:lpstr>Review of learning 3</vt:lpstr>
      <vt:lpstr>Multiple choice (2)</vt:lpstr>
      <vt:lpstr>Short response (9)</vt:lpstr>
      <vt:lpstr>Short response (10)</vt:lpstr>
      <vt:lpstr>Short response (11)</vt:lpstr>
      <vt:lpstr>Short response (12)</vt:lpstr>
      <vt:lpstr>Activity 3 – approximating decimals</vt:lpstr>
      <vt:lpstr>Review of learning 4</vt:lpstr>
      <vt:lpstr>True or false (2)</vt:lpstr>
      <vt:lpstr>Short response (13)</vt:lpstr>
      <vt:lpstr>Short response (14)</vt:lpstr>
      <vt:lpstr>Short response (15)</vt:lpstr>
      <vt:lpstr>Short response (16)</vt:lpstr>
      <vt:lpstr>Activity 4 – comparing and ordering decimals</vt:lpstr>
      <vt:lpstr>Review of learning 5</vt:lpstr>
      <vt:lpstr>Multiple choice (3)</vt:lpstr>
      <vt:lpstr>Short response (17)</vt:lpstr>
      <vt:lpstr>Short response (18)</vt:lpstr>
      <vt:lpstr>Short response (19)</vt:lpstr>
      <vt:lpstr>Short response (20)</vt:lpstr>
      <vt:lpstr>Activity 5 – thousandths as decimals</vt:lpstr>
      <vt:lpstr>Review of learning 6</vt:lpstr>
      <vt:lpstr>True or false (3)</vt:lpstr>
      <vt:lpstr>Short response (21)</vt:lpstr>
      <vt:lpstr>Short response (22)</vt:lpstr>
      <vt:lpstr>Short response (23)</vt:lpstr>
      <vt:lpstr>Short response (24)</vt:lpstr>
      <vt:lpstr>Activity 6 – decimals with MAB materials</vt:lpstr>
      <vt:lpstr>Activity 8 – decimals with MAB materials (2) (2)</vt:lpstr>
      <vt:lpstr>Activity 8 – decimals with MAB materials (3) (3)</vt:lpstr>
      <vt:lpstr>Activity 8 – decimals with MAB materials (4) (4)</vt:lpstr>
      <vt:lpstr>Activity 8 – decimals with MAB materials (5)(5)</vt:lpstr>
      <vt:lpstr>Activity 8 – decimals with MAB materials (6) (6)</vt:lpstr>
      <vt:lpstr>Activity 8  – decimals with MAB materials (7)(7)</vt:lpstr>
      <vt:lpstr>Review of learning 7</vt:lpstr>
      <vt:lpstr>Multiple choice (4)</vt:lpstr>
      <vt:lpstr>Short response (25)</vt:lpstr>
      <vt:lpstr>Short response (26)</vt:lpstr>
      <vt:lpstr>Short response (27)</vt:lpstr>
      <vt:lpstr>Short response (28)</vt:lpstr>
      <vt:lpstr>Activity 7 – decimal notation in measurement (1)</vt:lpstr>
      <vt:lpstr>Activity 7 – decimal notation in measurement (2)</vt:lpstr>
      <vt:lpstr>Review of learning 8</vt:lpstr>
      <vt:lpstr>True or false (4)</vt:lpstr>
      <vt:lpstr>Short response (29)</vt:lpstr>
      <vt:lpstr>Short response (30)</vt:lpstr>
      <vt:lpstr>Short response (31)</vt:lpstr>
      <vt:lpstr>Short response (32)</vt:lpstr>
      <vt:lpstr>Activity 8 – decimals in the place value system</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2026-04-01T22:04:38Z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