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43" r:id="rId54"/>
    <p:sldId id="26635" r:id="rId55"/>
    <p:sldId id="26636" r:id="rId56"/>
    <p:sldId id="26637" r:id="rId57"/>
    <p:sldId id="26640" r:id="rId58"/>
    <p:sldId id="26641" r:id="rId59"/>
    <p:sldId id="26642" r:id="rId60"/>
    <p:sldId id="26634" r:id="rId61"/>
    <p:sldId id="26644" r:id="rId62"/>
    <p:sldId id="26645" r:id="rId63"/>
    <p:sldId id="26393" r:id="rId64"/>
    <p:sldId id="26387" r:id="rId65"/>
    <p:sldId id="26395" r:id="rId66"/>
    <p:sldId id="26391" r:id="rId67"/>
    <p:sldId id="26402" r:id="rId68"/>
    <p:sldId id="26507" r:id="rId69"/>
    <p:sldId id="26649" r:id="rId70"/>
    <p:sldId id="360" r:id="rId71"/>
    <p:sldId id="361" r:id="rId72"/>
  </p:sldIdLst>
  <p:sldSz cx="12192000" cy="6858000"/>
  <p:notesSz cx="6858000" cy="9144000"/>
  <p:embeddedFontLst>
    <p:embeddedFont>
      <p:font typeface="Anton" pitchFamily="2" charset="0"/>
      <p:regular r:id="rId75"/>
    </p:embeddedFont>
    <p:embeddedFont>
      <p:font typeface="Aptos Narrow" panose="020B0004020202020204" pitchFamily="34" charset="0"/>
      <p:regular r:id="rId76"/>
      <p:bold r:id="rId77"/>
      <p:italic r:id="rId78"/>
      <p:boldItalic r:id="rId79"/>
    </p:embeddedFont>
    <p:embeddedFont>
      <p:font typeface="Cambria Math" panose="02040503050406030204" pitchFamily="18" charset="0"/>
      <p:regular r:id="rId80"/>
    </p:embeddedFont>
    <p:embeddedFont>
      <p:font typeface="League Spartan" panose="020B0604020202020204" charset="0"/>
      <p:regular r:id="rId81"/>
    </p:embeddedFont>
    <p:embeddedFont>
      <p:font typeface="Montserrat" panose="00000500000000000000" pitchFamily="2" charset="0"/>
      <p:regular r:id="rId82"/>
      <p:bold r:id="rId83"/>
      <p:italic r:id="rId84"/>
      <p:boldItalic r:id="rId85"/>
    </p:embeddedFont>
    <p:embeddedFont>
      <p:font typeface="Public Sans" pitchFamily="2" charset="0"/>
      <p:regular r:id="rId86"/>
      <p:bold r:id="rId87"/>
      <p:italic r:id="rId88"/>
      <p:boldItalic r:id="rId89"/>
    </p:embeddedFont>
    <p:embeddedFont>
      <p:font typeface="Public Sans Light" pitchFamily="2" charset="0"/>
      <p:regular r:id="rId90"/>
      <p: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43"/>
            <p14:sldId id="26635"/>
            <p14:sldId id="26636"/>
          </p14:sldIdLst>
        </p14:section>
        <p14:section name="Review of learning 8" id="{6FF8F7EC-803E-4F84-BA41-6B3ED673D597}">
          <p14:sldIdLst>
            <p14:sldId id="26637"/>
            <p14:sldId id="26640"/>
            <p14:sldId id="26641"/>
            <p14:sldId id="26642"/>
            <p14:sldId id="26634"/>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215"/>
    <a:srgbClr val="1CFF00"/>
    <a:srgbClr val="17FDFF"/>
    <a:srgbClr val="FF00E6"/>
    <a:srgbClr val="146CFD"/>
    <a:srgbClr val="EA9B0C"/>
    <a:srgbClr val="007A8A"/>
    <a:srgbClr val="9B6808"/>
    <a:srgbClr val="427B2D"/>
    <a:srgbClr val="B514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5F386-C28E-44F3-B7A0-24F547C2244E}" v="9" dt="2026-06-18T23:00:08.523"/>
    <p1510:client id="{6BED7BE5-05B1-4DDC-8645-30F2457B9BFA}" v="47" dt="2026-06-19T01:48:04.78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81" autoAdjust="0"/>
  </p:normalViewPr>
  <p:slideViewPr>
    <p:cSldViewPr snapToGrid="0">
      <p:cViewPr varScale="1">
        <p:scale>
          <a:sx n="30" d="100"/>
          <a:sy n="30" d="100"/>
        </p:scale>
        <p:origin x="764" y="2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font" Target="fonts/font15.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openxmlformats.org/officeDocument/2006/relationships/font" Target="fonts/font16.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font" Target="fonts/font17.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3.fntdata"/><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34</a:t>
            </a:r>
          </a:p>
          <a:p>
            <a:pPr marL="285750" indent="-285750">
              <a:buFont typeface="Arial" panose="020B0604020202020204" pitchFamily="34" charset="0"/>
              <a:buChar char="•"/>
            </a:pPr>
            <a:r>
              <a:rPr lang="en-AU"/>
              <a:t>Stage 3 Year B Unit 33</a:t>
            </a:r>
          </a:p>
          <a:p>
            <a:pPr marL="285750" indent="-285750">
              <a:buFont typeface="Arial" panose="020B0604020202020204" pitchFamily="34" charset="0"/>
              <a:buChar char="•"/>
            </a:pPr>
            <a:r>
              <a:rPr lang="en-AU"/>
              <a:t>Stage 3 Year B Unit 32</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 </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Fractions, decimals and percentages</a:t>
            </a:r>
          </a:p>
          <a:p>
            <a:r>
              <a:rPr lang="en-AU" b="0"/>
              <a:t>This resource corresponds to Resource 15 – grid paper in Stage 3 Year B Unit 34.</a:t>
            </a:r>
          </a:p>
          <a:p>
            <a:endParaRPr lang="en-AU" b="0"/>
          </a:p>
          <a:p>
            <a:pPr marL="342900" indent="-342900">
              <a:buFont typeface="+mj-lt"/>
              <a:buAutoNum type="arabicPeriod"/>
            </a:pPr>
            <a:r>
              <a:rPr lang="en-AU" b="0"/>
              <a:t>Provide students with Resource 15 – grid paper and writing materials. </a:t>
            </a:r>
          </a:p>
          <a:p>
            <a:pPr marL="342900" indent="-342900">
              <a:buFont typeface="+mj-lt"/>
              <a:buAutoNum type="arabicPeriod"/>
            </a:pPr>
            <a:r>
              <a:rPr lang="en-AU" b="0"/>
              <a:t>Ask students to turn and talk with a partner estimating how many squares there are all together. </a:t>
            </a:r>
          </a:p>
          <a:p>
            <a:pPr marL="342900" indent="-342900">
              <a:buFont typeface="+mj-lt"/>
              <a:buAutoNum type="arabicPeriod"/>
            </a:pPr>
            <a:r>
              <a:rPr lang="en-AU" b="0"/>
              <a:t>Display instructions on the board such as: </a:t>
            </a:r>
          </a:p>
          <a:p>
            <a:pPr marL="952485" lvl="1" indent="-342900">
              <a:buFont typeface="Arial" panose="020B0604020202020204" pitchFamily="34" charset="0"/>
              <a:buChar char="•"/>
            </a:pPr>
            <a:r>
              <a:rPr lang="en-AU" b="0"/>
              <a:t>Colour one third of the squares in blue. </a:t>
            </a:r>
          </a:p>
          <a:p>
            <a:pPr marL="952485" lvl="1" indent="-342900">
              <a:buFont typeface="Arial" panose="020B0604020202020204" pitchFamily="34" charset="0"/>
              <a:buChar char="•"/>
            </a:pPr>
            <a:r>
              <a:rPr lang="en-AU" b="0"/>
              <a:t>Put an ‘X’ in 50% of the remaining squares. </a:t>
            </a:r>
          </a:p>
          <a:p>
            <a:pPr marL="952485" lvl="1" indent="-342900">
              <a:buFont typeface="Arial" panose="020B0604020202020204" pitchFamily="34" charset="0"/>
              <a:buChar char="•"/>
            </a:pPr>
            <a:r>
              <a:rPr lang="en-AU" b="0"/>
              <a:t>Put a black dot in 0.25 of the remaining squares. </a:t>
            </a:r>
          </a:p>
          <a:p>
            <a:pPr marL="952485" lvl="1" indent="-342900">
              <a:buFont typeface="Arial" panose="020B0604020202020204" pitchFamily="34" charset="0"/>
              <a:buChar char="•"/>
            </a:pPr>
            <a:r>
              <a:rPr lang="en-AU" b="0"/>
              <a:t>Put your initials in one fifth of the remaining squares. </a:t>
            </a:r>
          </a:p>
          <a:p>
            <a:pPr marL="342900" indent="-342900">
              <a:buFont typeface="+mj-lt"/>
              <a:buAutoNum type="arabicPeriod"/>
            </a:pPr>
            <a:r>
              <a:rPr lang="en-AU" b="0"/>
              <a:t>Students can record solutions in various ways, such as in Figure 4.  </a:t>
            </a:r>
          </a:p>
          <a:p>
            <a:pPr marL="342900" indent="-342900">
              <a:buFont typeface="+mj-lt"/>
              <a:buAutoNum type="arabicPeriod"/>
            </a:pPr>
            <a:r>
              <a:rPr lang="en-AU" b="0"/>
              <a:t>Regroup as a class. Ask: </a:t>
            </a:r>
          </a:p>
          <a:p>
            <a:pPr marL="952485" lvl="1" indent="-342900">
              <a:buFont typeface="Arial" panose="020B0604020202020204" pitchFamily="34" charset="0"/>
              <a:buChar char="•"/>
            </a:pPr>
            <a:r>
              <a:rPr lang="en-AU" b="0"/>
              <a:t>How many squares did you start off with? </a:t>
            </a:r>
          </a:p>
          <a:p>
            <a:pPr marL="952485" lvl="1" indent="-342900">
              <a:buFont typeface="Arial" panose="020B0604020202020204" pitchFamily="34" charset="0"/>
              <a:buChar char="•"/>
            </a:pPr>
            <a:r>
              <a:rPr lang="en-AU" b="0"/>
              <a:t>How did you work out 0.25 of the remaining squares? </a:t>
            </a:r>
          </a:p>
          <a:p>
            <a:pPr marL="952485" lvl="1" indent="-342900">
              <a:buFont typeface="Arial" panose="020B0604020202020204" pitchFamily="34" charset="0"/>
              <a:buChar char="•"/>
            </a:pPr>
            <a:r>
              <a:rPr lang="en-AU" b="0"/>
              <a:t>How many squares are still blank? </a:t>
            </a:r>
          </a:p>
          <a:p>
            <a:pPr marL="342900" indent="-342900">
              <a:buFont typeface="+mj-lt"/>
              <a:buAutoNum type="arabicPeriod"/>
            </a:pPr>
            <a:r>
              <a:rPr lang="en-AU" b="0"/>
              <a:t>Display a student’s representation. Ask: If there are 12 blank squares, how can you represent that as a fraction of the whole you started with? (twelve sixtieths or two tenths or one fifth.) </a:t>
            </a:r>
          </a:p>
          <a:p>
            <a:pPr marL="342900" indent="-342900">
              <a:buFont typeface="+mj-lt"/>
              <a:buAutoNum type="arabicPeriod"/>
            </a:pPr>
            <a:r>
              <a:rPr lang="en-AU" b="0"/>
              <a:t>Model solutions displaying various strategies. For example, if both the numerator and denominator are even numbers, repeated division by 2 can be used to simplify both the numerator and denominator (12 ÷ 2 and 60 ÷ 2 and so on). </a:t>
            </a:r>
          </a:p>
          <a:p>
            <a:pPr marL="342900" indent="-342900">
              <a:buFont typeface="+mj-lt"/>
              <a:buAutoNum type="arabicPeriod"/>
            </a:pPr>
            <a:r>
              <a:rPr lang="en-AU" b="0"/>
              <a:t>Ask students if there are other factors that can be used to divide both the numerator and denominator, such as 12 ÷ 6 and 60 ÷ 6; 12 ÷ 4 and 60 ÷ 4; 12 ÷ 3 and 60 ÷ 3 and so on. </a:t>
            </a:r>
          </a:p>
          <a:p>
            <a:pPr marL="342900" indent="-342900">
              <a:buFont typeface="+mj-lt"/>
              <a:buAutoNum type="arabicPeriod"/>
            </a:pPr>
            <a:r>
              <a:rPr lang="en-AU" b="0"/>
              <a:t>Ask: How can we represent two tenths as a decimal? (0.2.) Select students to share solutions.</a:t>
            </a:r>
          </a:p>
          <a:p>
            <a:pPr marL="342900" indent="-342900">
              <a:buFont typeface="+mj-lt"/>
              <a:buAutoNum type="arabicPeriod"/>
            </a:pPr>
            <a:endParaRPr lang="en-AU" b="0"/>
          </a:p>
          <a:p>
            <a:pPr marL="342900" indent="-342900">
              <a:buFont typeface="+mj-lt"/>
              <a:buAutoNum type="arabicPeriod"/>
            </a:pPr>
            <a:endParaRPr lang="en-AU" b="1"/>
          </a:p>
          <a:p>
            <a:pPr marL="342900" indent="-342900">
              <a:buFont typeface="+mj-lt"/>
              <a:buAutoNum type="arabicPeriod"/>
            </a:pPr>
            <a:endParaRPr lang="en-AU" b="0"/>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Connections between benchmark fractions, decimals and percentages</a:t>
            </a:r>
          </a:p>
          <a:p>
            <a:r>
              <a:rPr lang="en-AU" b="0"/>
              <a:t>This resource corresponds to Resource 16 – solving problems in Stage 3 Year B Unit 34. </a:t>
            </a:r>
          </a:p>
          <a:p>
            <a:endParaRPr lang="en-AU" b="1"/>
          </a:p>
          <a:p>
            <a:pPr marL="342900" indent="-342900">
              <a:buFont typeface="+mj-lt"/>
              <a:buAutoNum type="arabicPeriod"/>
            </a:pPr>
            <a:r>
              <a:rPr lang="en-AU" b="0"/>
              <a:t>Ask students to turn and talk to discuss ideas and strategies for finding out the solution. Ask: </a:t>
            </a:r>
          </a:p>
          <a:p>
            <a:pPr marL="952485" lvl="1" indent="-342900">
              <a:buFont typeface="Arial" panose="020B0604020202020204" pitchFamily="34" charset="0"/>
              <a:buChar char="•"/>
            </a:pPr>
            <a:r>
              <a:rPr lang="en-AU" b="0"/>
              <a:t>What is the problem asking you to find out? </a:t>
            </a:r>
          </a:p>
          <a:p>
            <a:pPr marL="952485" lvl="1" indent="-342900">
              <a:buFont typeface="Arial" panose="020B0604020202020204" pitchFamily="34" charset="0"/>
              <a:buChar char="•"/>
            </a:pPr>
            <a:r>
              <a:rPr lang="en-AU" b="0"/>
              <a:t>What is a strategy you could use to work out the answer? </a:t>
            </a:r>
          </a:p>
          <a:p>
            <a:pPr marL="952485" lvl="1" indent="-342900">
              <a:buFont typeface="Arial" panose="020B0604020202020204" pitchFamily="34" charset="0"/>
              <a:buChar char="•"/>
            </a:pPr>
            <a:r>
              <a:rPr lang="en-AU" b="0"/>
              <a:t>How will you know you have the correct answer? </a:t>
            </a:r>
          </a:p>
          <a:p>
            <a:pPr marL="342900" indent="-342900">
              <a:buFont typeface="+mj-lt"/>
              <a:buAutoNum type="arabicPeriod"/>
            </a:pPr>
            <a:r>
              <a:rPr lang="en-AU" b="0"/>
              <a:t>Provide students with writing materials to solve the problem. </a:t>
            </a:r>
          </a:p>
          <a:p>
            <a:pPr marL="342900" indent="-342900">
              <a:buFont typeface="+mj-lt"/>
              <a:buAutoNum type="arabicPeriod"/>
            </a:pPr>
            <a:r>
              <a:rPr lang="en-AU" b="0"/>
              <a:t>Select students to share and justify their thinking.</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 </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Equivalent percentages, decimals and fractions</a:t>
            </a:r>
          </a:p>
          <a:p>
            <a:r>
              <a:rPr lang="en-AU" b="0"/>
              <a:t>This resource corresponds to Resource 17 – odd one out in Stage 3 Year B Unit 34. </a:t>
            </a:r>
          </a:p>
          <a:p>
            <a:endParaRPr lang="en-AU" b="1"/>
          </a:p>
          <a:p>
            <a:pPr marL="342900" indent="-342900">
              <a:buFont typeface="+mj-lt"/>
              <a:buAutoNum type="arabicPeriod"/>
            </a:pPr>
            <a:r>
              <a:rPr lang="en-AU" b="0"/>
              <a:t>Provide pairs of students with Resource 17 – odd one out and writing materials. </a:t>
            </a:r>
          </a:p>
          <a:p>
            <a:pPr marL="342900" indent="-342900">
              <a:buFont typeface="+mj-lt"/>
              <a:buAutoNum type="arabicPeriod"/>
            </a:pPr>
            <a:r>
              <a:rPr lang="en-AU" b="0"/>
              <a:t>Explain that students need to find pairs and match up fractions, decimals and/or percentages to determine which is the odd one out after they have all been paired up. </a:t>
            </a:r>
          </a:p>
          <a:p>
            <a:pPr marL="342900" indent="-342900">
              <a:buFont typeface="+mj-lt"/>
              <a:buAutoNum type="arabicPeriod"/>
            </a:pPr>
            <a:r>
              <a:rPr lang="en-AU" b="0"/>
              <a:t>As a class ask: </a:t>
            </a:r>
          </a:p>
          <a:p>
            <a:pPr marL="952485" lvl="1" indent="-342900">
              <a:buFont typeface="Arial" panose="020B0604020202020204" pitchFamily="34" charset="0"/>
              <a:buChar char="•"/>
            </a:pPr>
            <a:r>
              <a:rPr lang="en-AU" b="0"/>
              <a:t>What was an easy pair to identify? Why? </a:t>
            </a:r>
          </a:p>
          <a:p>
            <a:pPr marL="952485" lvl="1" indent="-342900">
              <a:buFont typeface="Arial" panose="020B0604020202020204" pitchFamily="34" charset="0"/>
              <a:buChar char="•"/>
            </a:pPr>
            <a:r>
              <a:rPr lang="en-AU" b="0"/>
              <a:t>Which pair was the most challenging and how did you solve it? </a:t>
            </a:r>
          </a:p>
          <a:p>
            <a:pPr marL="952485" lvl="1" indent="-342900">
              <a:buFont typeface="Arial" panose="020B0604020202020204" pitchFamily="34" charset="0"/>
              <a:buChar char="•"/>
            </a:pPr>
            <a:r>
              <a:rPr lang="en-AU" b="0"/>
              <a:t>Are there any pairs that you are still wondering about? </a:t>
            </a:r>
          </a:p>
          <a:p>
            <a:pPr marL="952485" lvl="1" indent="-342900">
              <a:buFont typeface="Arial" panose="020B0604020202020204" pitchFamily="34" charset="0"/>
              <a:buChar char="•"/>
            </a:pPr>
            <a:r>
              <a:rPr lang="en-AU" b="0"/>
              <a:t>Which fraction and decimal were easy to pair up? Why? </a:t>
            </a:r>
          </a:p>
          <a:p>
            <a:pPr marL="952485" lvl="1" indent="-342900">
              <a:buFont typeface="Arial" panose="020B0604020202020204" pitchFamily="34" charset="0"/>
              <a:buChar char="•"/>
            </a:pPr>
            <a:r>
              <a:rPr lang="en-AU" b="0"/>
              <a:t>Which decimal and percentage were easy to pair up? Why?</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u="none" strike="noStrike">
                <a:solidFill>
                  <a:srgbClr val="000000"/>
                </a:solidFill>
                <a:effectLst/>
                <a:latin typeface="Aptos Narrow" panose="020B0004020202020204" pitchFamily="34" charset="0"/>
              </a:rPr>
              <a:t>Represents numbers B</a:t>
            </a:r>
            <a:endParaRPr lang="en-AU"/>
          </a:p>
          <a:p>
            <a:endParaRPr lang="en-AU"/>
          </a:p>
          <a:p>
            <a:r>
              <a:rPr lang="en-AU" b="1"/>
              <a:t>Recall commonly used equivalent percentages, decimals and fractions</a:t>
            </a:r>
          </a:p>
          <a:p>
            <a:endParaRPr lang="en-AU" b="0"/>
          </a:p>
          <a:p>
            <a:pPr marL="342900" indent="-342900">
              <a:buFont typeface="+mj-lt"/>
              <a:buAutoNum type="arabicPeriod"/>
            </a:pPr>
            <a:r>
              <a:rPr lang="en-AU" b="0"/>
              <a:t>Provide students with whiteboards and markers.</a:t>
            </a:r>
          </a:p>
          <a:p>
            <a:pPr marL="342900" indent="-342900">
              <a:buFont typeface="+mj-lt"/>
              <a:buAutoNum type="arabicPeriod"/>
            </a:pPr>
            <a:r>
              <a:rPr lang="en-AU" b="0"/>
              <a:t>Explain that you are going to call out a percentage, decimal or factional value and the students will need to record the equal values in the other representations on their whiteboard. For example, if the value of 0.5 was called out, the students would record one half and 50%.</a:t>
            </a:r>
          </a:p>
          <a:p>
            <a:pPr marL="342900" indent="-342900">
              <a:buFont typeface="+mj-lt"/>
              <a:buAutoNum type="arabicPeriod"/>
            </a:pPr>
            <a:r>
              <a:rPr lang="en-AU" b="0"/>
              <a:t>Students display their whiteboard for a quick check and then the next value is called out.</a:t>
            </a:r>
          </a:p>
          <a:p>
            <a:endParaRPr lang="en-AU" b="0"/>
          </a:p>
          <a:p>
            <a:pPr marL="342900" indent="-342900">
              <a:buFont typeface="+mj-lt"/>
              <a:buAutoNum type="arabicPeriod"/>
            </a:pPr>
            <a:endParaRPr lang="en-AU" b="0"/>
          </a:p>
          <a:p>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 </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Build up to the whole 1</a:t>
            </a:r>
          </a:p>
          <a:p>
            <a:endParaRPr lang="en-AU" b="0"/>
          </a:p>
          <a:p>
            <a:pPr marL="342900" indent="-342900">
              <a:buFont typeface="+mj-lt"/>
              <a:buAutoNum type="arabicPeriod"/>
            </a:pPr>
            <a:r>
              <a:rPr lang="en-AU" b="0"/>
              <a:t>Ask students: If you are given 3-fifths of a length of ribbon, how can you find the total length? </a:t>
            </a:r>
          </a:p>
          <a:p>
            <a:pPr marL="342900" indent="-342900">
              <a:buFont typeface="+mj-lt"/>
              <a:buAutoNum type="arabicPeriod"/>
            </a:pPr>
            <a:r>
              <a:rPr lang="en-AU" b="0"/>
              <a:t>Provide students with whiteboards. Allow time for students to think and then turn and talk to discuss how they could find the total length. </a:t>
            </a:r>
          </a:p>
          <a:p>
            <a:pPr marL="342900" indent="-342900">
              <a:buFont typeface="+mj-lt"/>
              <a:buAutoNum type="arabicPeriod"/>
            </a:pPr>
            <a:r>
              <a:rPr lang="en-AU" b="0"/>
              <a:t>Select students to share and explain their strategy. Record and test student responses. Ask: </a:t>
            </a:r>
          </a:p>
          <a:p>
            <a:pPr marL="952485" lvl="1" indent="-342900">
              <a:buFont typeface="Arial" panose="020B0604020202020204" pitchFamily="34" charset="0"/>
              <a:buChar char="•"/>
            </a:pPr>
            <a:r>
              <a:rPr lang="en-AU" b="0"/>
              <a:t>Does it matter what fraction of the length of ribbon you are given? </a:t>
            </a:r>
          </a:p>
          <a:p>
            <a:pPr marL="952485" lvl="1" indent="-342900">
              <a:buFont typeface="Arial" panose="020B0604020202020204" pitchFamily="34" charset="0"/>
              <a:buChar char="•"/>
            </a:pPr>
            <a:r>
              <a:rPr lang="en-AU" b="0"/>
              <a:t>How did the fraction of the length of ribbon determine what strategy you used? </a:t>
            </a:r>
          </a:p>
          <a:p>
            <a:pPr marL="952485" lvl="1" indent="-342900">
              <a:buFont typeface="Arial" panose="020B0604020202020204" pitchFamily="34" charset="0"/>
              <a:buChar char="•"/>
            </a:pPr>
            <a:r>
              <a:rPr lang="en-AU" b="0"/>
              <a:t>Can you use the same strategy to find the total length if you are given five sixths of a length? Select students to test and justify strategies used.</a:t>
            </a:r>
          </a:p>
          <a:p>
            <a:endParaRPr lang="en-AU" b="0"/>
          </a:p>
          <a:p>
            <a:pPr marL="342900" indent="-342900">
              <a:buFont typeface="+mj-lt"/>
              <a:buAutoNum type="arabicPeriod"/>
            </a:pPr>
            <a:endParaRPr lang="en-AU" b="0"/>
          </a:p>
          <a:p>
            <a:endParaRPr lang="en-AU" b="0"/>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Build up to the whole 2</a:t>
            </a:r>
          </a:p>
          <a:p>
            <a:pPr marL="342900" indent="-342900">
              <a:buFont typeface="+mj-lt"/>
              <a:buAutoNum type="arabicPeriod"/>
            </a:pPr>
            <a:r>
              <a:rPr lang="en-AU" b="0"/>
              <a:t>Remind students that if a fraction of a total is known it can be used to find the total amount.</a:t>
            </a:r>
          </a:p>
          <a:p>
            <a:pPr marL="342900" indent="-342900">
              <a:buFont typeface="+mj-lt"/>
              <a:buAutoNum type="arabicPeriod"/>
            </a:pPr>
            <a:r>
              <a:rPr lang="en-AU" b="0"/>
              <a:t>Explain that you want to buy a rug for your living room. The website states that five eighths of the rug is 250 cm. Ask how long the whole rug is.</a:t>
            </a:r>
          </a:p>
          <a:p>
            <a:pPr marL="342900" indent="-342900">
              <a:buFont typeface="+mj-lt"/>
              <a:buAutoNum type="arabicPeriod"/>
            </a:pPr>
            <a:r>
              <a:rPr lang="en-AU" b="0"/>
              <a:t>Ask students how they could find the total length of a rug if they know five eighths of the length.</a:t>
            </a:r>
          </a:p>
          <a:p>
            <a:pPr marL="342900" indent="-342900">
              <a:buFont typeface="+mj-lt"/>
              <a:buAutoNum type="arabicPeriod"/>
            </a:pPr>
            <a:r>
              <a:rPr lang="en-AU" b="0"/>
              <a:t>Allow time for students to think and then turn and talk to discuss how they could find the total length.</a:t>
            </a:r>
          </a:p>
          <a:p>
            <a:pPr marL="342900" indent="-342900">
              <a:buFont typeface="+mj-lt"/>
              <a:buAutoNum type="arabicPeriod"/>
            </a:pPr>
            <a:r>
              <a:rPr lang="en-AU" b="0"/>
              <a:t>Select students to share and explain their strategy. Record and test student responses.</a:t>
            </a:r>
          </a:p>
          <a:p>
            <a:pPr marL="342900" indent="-342900">
              <a:buFont typeface="+mj-lt"/>
              <a:buAutoNum type="arabicPeriod"/>
            </a:pPr>
            <a:r>
              <a:rPr lang="en-AU" b="0"/>
              <a:t>Tell students that there is another rug you like, but five eighths of the rug is 260 cm. Ask what the total length of this rug would be.</a:t>
            </a:r>
          </a:p>
          <a:p>
            <a:pPr marL="342900" indent="-342900">
              <a:buFont typeface="+mj-lt"/>
              <a:buAutoNum type="arabicPeriod"/>
            </a:pPr>
            <a:r>
              <a:rPr lang="en-AU" b="0"/>
              <a:t>Select students to share their findings and explain their strategy. Record and test student responses.</a:t>
            </a:r>
          </a:p>
          <a:p>
            <a:pPr marL="0" indent="0">
              <a:buFont typeface="+mj-lt"/>
              <a:buNone/>
            </a:pPr>
            <a:endParaRPr lang="en-AU" b="0"/>
          </a:p>
          <a:p>
            <a:pPr marL="0" indent="0">
              <a:buFont typeface="+mj-lt"/>
              <a:buNone/>
            </a:pPr>
            <a:r>
              <a:rPr lang="en-AU" b="0"/>
              <a:t>The prompts below outlines stimulus prompts to generate conversation about the topic, along with anticipated responses from students.</a:t>
            </a:r>
          </a:p>
          <a:p>
            <a:endParaRPr lang="en-AU" b="0"/>
          </a:p>
          <a:p>
            <a:r>
              <a:rPr lang="en-AU" b="0"/>
              <a:t>Prompt</a:t>
            </a:r>
          </a:p>
          <a:p>
            <a:pPr marL="895335" lvl="1" indent="-285750">
              <a:buFont typeface="Arial" panose="020B0604020202020204" pitchFamily="34" charset="0"/>
              <a:buChar char="•"/>
            </a:pPr>
            <a:r>
              <a:rPr lang="en-AU" b="0"/>
              <a:t>How can you find the total length of the rug if five eighths of the rug is 260 cm?</a:t>
            </a:r>
          </a:p>
          <a:p>
            <a:endParaRPr lang="en-AU" b="0"/>
          </a:p>
          <a:p>
            <a:r>
              <a:rPr lang="en-AU" b="0"/>
              <a:t>Anticipated student responses</a:t>
            </a:r>
          </a:p>
          <a:p>
            <a:pPr marL="895335" lvl="1" indent="-285750">
              <a:buFont typeface="Arial" panose="020B0604020202020204" pitchFamily="34" charset="0"/>
              <a:buChar char="•"/>
            </a:pPr>
            <a:r>
              <a:rPr lang="en-AU" b="0"/>
              <a:t>We would find out how long one-eighth of the rug is first, then build it up to have all 8 of those amounts for the total length.</a:t>
            </a:r>
          </a:p>
          <a:p>
            <a:pPr marL="895335" lvl="1" indent="-285750">
              <a:buFont typeface="Arial" panose="020B0604020202020204" pitchFamily="34" charset="0"/>
              <a:buChar char="•"/>
            </a:pPr>
            <a:r>
              <a:rPr lang="en-AU" b="0"/>
              <a:t>260 cm divided by 5 equals 52 cm.</a:t>
            </a:r>
          </a:p>
          <a:p>
            <a:pPr marL="895335" lvl="1" indent="-285750">
              <a:buFont typeface="Arial" panose="020B0604020202020204" pitchFamily="34" charset="0"/>
              <a:buChar char="•"/>
            </a:pPr>
            <a:r>
              <a:rPr lang="en-AU" b="0"/>
              <a:t>One eighth is 52 cm long, so the total length of the rug is 416 cm long.</a:t>
            </a:r>
          </a:p>
          <a:p>
            <a:pPr marL="895335" lvl="1" indent="-285750">
              <a:buFont typeface="Arial" panose="020B0604020202020204" pitchFamily="34" charset="0"/>
              <a:buChar char="•"/>
            </a:pPr>
            <a:r>
              <a:rPr lang="en-AU" b="0"/>
              <a:t>416 cm is the same as 4 metres and 16 centimetres or 4.16 m.</a:t>
            </a:r>
          </a:p>
          <a:p>
            <a:endParaRPr lang="en-AU" b="0"/>
          </a:p>
          <a:p>
            <a:pPr marL="342900" indent="-342900">
              <a:buFont typeface="+mj-lt"/>
              <a:buAutoNum type="arabicPeriod"/>
            </a:pPr>
            <a:endParaRPr lang="en-AU" b="0"/>
          </a:p>
          <a:p>
            <a:endParaRPr lang="en-AU" b="0"/>
          </a:p>
          <a:p>
            <a:pPr marL="342900" indent="-342900">
              <a:buFont typeface="+mj-lt"/>
              <a:buAutoNum type="arabicPeriod"/>
            </a:pPr>
            <a:endParaRPr lang="en-AU" b="0"/>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 </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Given fractional parts 1</a:t>
            </a:r>
          </a:p>
          <a:p>
            <a:r>
              <a:rPr lang="en-AU" b="0" i="1"/>
              <a:t>Note:</a:t>
            </a:r>
            <a:r>
              <a:rPr lang="en-AU" b="0"/>
              <a:t> to further support students, revise number sense activities 5 and 6, drawing on students thinking and strategies used to solve each task.</a:t>
            </a:r>
          </a:p>
          <a:p>
            <a:endParaRPr lang="en-AU" b="0"/>
          </a:p>
          <a:p>
            <a:pPr marL="342900" indent="-342900">
              <a:buFont typeface="+mj-lt"/>
              <a:buAutoNum type="arabicPeriod"/>
            </a:pPr>
            <a:r>
              <a:rPr lang="en-AU" b="0"/>
              <a:t>Remind students that if a fraction of a total is known it can be used to find the total amount.</a:t>
            </a:r>
          </a:p>
          <a:p>
            <a:pPr marL="342900" indent="-342900">
              <a:buFont typeface="+mj-lt"/>
              <a:buAutoNum type="arabicPeriod"/>
            </a:pPr>
            <a:r>
              <a:rPr lang="en-AU" b="0"/>
              <a:t>Explain that a chef is preparing 12 pizzas for a party. So far, she has topped 3 pizzas and has already used 45 slices of pepperoni. Each pizza needs the same number of pepperoni slices. The chef wants to know the number of pepperoni slices she will need for all 12 pizzas.</a:t>
            </a:r>
          </a:p>
          <a:p>
            <a:pPr marL="342900" indent="-342900">
              <a:buFont typeface="+mj-lt"/>
              <a:buAutoNum type="arabicPeriod"/>
            </a:pPr>
            <a:r>
              <a:rPr lang="en-AU" b="0"/>
              <a:t>Ask students how they could find the total number of objects if they were given 4-tenths of a collection.</a:t>
            </a:r>
          </a:p>
          <a:p>
            <a:pPr marL="342900" indent="-342900">
              <a:buFont typeface="+mj-lt"/>
              <a:buAutoNum type="arabicPeriod"/>
            </a:pPr>
            <a:r>
              <a:rPr lang="en-AU" b="0"/>
              <a:t>Allow time for students to think and then turn and talk to discuss how they could find the total number.</a:t>
            </a:r>
          </a:p>
          <a:p>
            <a:pPr marL="342900" indent="-342900">
              <a:buFont typeface="+mj-lt"/>
              <a:buAutoNum type="arabicPeriod"/>
            </a:pPr>
            <a:r>
              <a:rPr lang="en-AU" b="0"/>
              <a:t>Select students to share and explain their strategy. Record and test student responses.</a:t>
            </a:r>
          </a:p>
          <a:p>
            <a:endParaRPr lang="en-AU" b="0"/>
          </a:p>
          <a:p>
            <a:pPr marL="342900" indent="-342900">
              <a:buFont typeface="+mj-lt"/>
              <a:buAutoNum type="arabicPeriod"/>
            </a:pPr>
            <a:endParaRPr lang="en-AU" b="0"/>
          </a:p>
          <a:p>
            <a:endParaRPr lang="en-AU" b="0"/>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Given fractional parts 2</a:t>
            </a:r>
          </a:p>
          <a:p>
            <a:pPr marL="342900" indent="-342900">
              <a:buFont typeface="+mj-lt"/>
              <a:buAutoNum type="arabicPeriod"/>
            </a:pPr>
            <a:r>
              <a:rPr lang="en-AU" b="0"/>
              <a:t>Revise the idea that if a fraction of a total is known it can be used to find the total amount.</a:t>
            </a:r>
          </a:p>
          <a:p>
            <a:pPr marL="342900" indent="-342900">
              <a:buFont typeface="+mj-lt"/>
              <a:buAutoNum type="arabicPeriod"/>
            </a:pPr>
            <a:r>
              <a:rPr lang="en-AU" b="0"/>
              <a:t>Pose the scenario: Liam ordered 128 glow sticks for the school disco. Three-eighths were delivered. Ask: </a:t>
            </a:r>
          </a:p>
          <a:p>
            <a:pPr marL="952485" lvl="1" indent="-342900">
              <a:buFont typeface="Arial" panose="020B0604020202020204" pitchFamily="34" charset="0"/>
              <a:buChar char="•"/>
            </a:pPr>
            <a:r>
              <a:rPr lang="en-AU" b="0"/>
              <a:t>How many glow sticks were delivered?</a:t>
            </a:r>
          </a:p>
          <a:p>
            <a:pPr marL="952485" lvl="1" indent="-342900">
              <a:buFont typeface="Arial" panose="020B0604020202020204" pitchFamily="34" charset="0"/>
              <a:buChar char="•"/>
            </a:pPr>
            <a:r>
              <a:rPr lang="en-AU" b="0"/>
              <a:t>How many glow sticks still need to be delivered?</a:t>
            </a:r>
          </a:p>
          <a:p>
            <a:pPr marL="342900" indent="-342900">
              <a:buFont typeface="+mj-lt"/>
              <a:buAutoNum type="arabicPeriod"/>
            </a:pPr>
            <a:r>
              <a:rPr lang="en-AU" b="0"/>
              <a:t>Students solve the problem in their workbooks.</a:t>
            </a:r>
          </a:p>
          <a:p>
            <a:pPr marL="342900" indent="-342900">
              <a:buFont typeface="+mj-lt"/>
              <a:buAutoNum type="arabicPeriod"/>
            </a:pPr>
            <a:r>
              <a:rPr lang="en-AU" b="0"/>
              <a:t>Select students to share and explain their strategy.</a:t>
            </a:r>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18" Type="http://schemas.openxmlformats.org/officeDocument/2006/relationships/image" Target="../media/image35.svg"/><Relationship Id="rId3" Type="http://schemas.openxmlformats.org/officeDocument/2006/relationships/image" Target="../media/image20.svg"/><Relationship Id="rId7" Type="http://schemas.openxmlformats.org/officeDocument/2006/relationships/image" Target="../media/image24.svg"/><Relationship Id="rId12" Type="http://schemas.openxmlformats.org/officeDocument/2006/relationships/image" Target="../media/image29.svg"/><Relationship Id="rId17" Type="http://schemas.openxmlformats.org/officeDocument/2006/relationships/image" Target="../media/image34.svg"/><Relationship Id="rId2" Type="http://schemas.openxmlformats.org/officeDocument/2006/relationships/notesSlide" Target="../notesSlides/notesSlide24.xml"/><Relationship Id="rId16" Type="http://schemas.openxmlformats.org/officeDocument/2006/relationships/image" Target="../media/image33.svg"/><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svg"/><Relationship Id="rId19" Type="http://schemas.openxmlformats.org/officeDocument/2006/relationships/image" Target="../media/image12.png"/><Relationship Id="rId4" Type="http://schemas.openxmlformats.org/officeDocument/2006/relationships/image" Target="../media/image21.svg"/><Relationship Id="rId9" Type="http://schemas.openxmlformats.org/officeDocument/2006/relationships/image" Target="../media/image26.svg"/><Relationship Id="rId14" Type="http://schemas.openxmlformats.org/officeDocument/2006/relationships/image" Target="../media/image31.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48.svg"/><Relationship Id="rId4" Type="http://schemas.openxmlformats.org/officeDocument/2006/relationships/image" Target="../media/image47.sv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60.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www.cleanup.org.au/clean-up-our-wast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youtube.com/watch?v=GTs3w9zLwT8"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3 Year B Unit 34 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34</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74481" y="2131565"/>
            <a:ext cx="11243037" cy="893226"/>
          </a:xfrm>
        </p:spPr>
        <p:txBody>
          <a:bodyPr/>
          <a:lstStyle/>
          <a:p>
            <a:pPr algn="ctr"/>
            <a:r>
              <a:rPr lang="en-US" sz="4400"/>
              <a:t>0.75 is </a:t>
            </a:r>
            <a:r>
              <a:rPr lang="en-US" sz="4400" b="1"/>
              <a:t>equivalent</a:t>
            </a:r>
            <a:r>
              <a:rPr lang="en-US" sz="4400"/>
              <a:t> to</a:t>
            </a:r>
            <a:r>
              <a:rPr lang="en-US" sz="4400" dirty="0"/>
              <a:t>:</a:t>
            </a:r>
            <a:endParaRPr lang="en-US" sz="4400"/>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43779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Box 7">
            <a:extLst>
              <a:ext uri="{FF2B5EF4-FFF2-40B4-BE49-F238E27FC236}">
                <a16:creationId xmlns:a16="http://schemas.microsoft.com/office/drawing/2014/main" id="{88A621C0-BB45-9EBF-0AB6-1C5A401A145E}"/>
              </a:ext>
            </a:extLst>
          </p:cNvPr>
          <p:cNvSpPr txBox="1"/>
          <p:nvPr/>
        </p:nvSpPr>
        <p:spPr>
          <a:xfrm>
            <a:off x="809360" y="5385809"/>
            <a:ext cx="134223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25%</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43779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Box 12">
            <a:extLst>
              <a:ext uri="{FF2B5EF4-FFF2-40B4-BE49-F238E27FC236}">
                <a16:creationId xmlns:a16="http://schemas.microsoft.com/office/drawing/2014/main" id="{CCBC1B03-1D0A-2040-9E3D-9FE6A4A23682}"/>
              </a:ext>
            </a:extLst>
          </p:cNvPr>
          <p:cNvSpPr txBox="1"/>
          <p:nvPr/>
        </p:nvSpPr>
        <p:spPr>
          <a:xfrm>
            <a:off x="3695600" y="5385809"/>
            <a:ext cx="157770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50%</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43779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3E5D3D59-9919-2D3C-526D-1568218436F0}"/>
              </a:ext>
            </a:extLst>
          </p:cNvPr>
          <p:cNvSpPr txBox="1"/>
          <p:nvPr/>
        </p:nvSpPr>
        <p:spPr>
          <a:xfrm>
            <a:off x="6753988" y="5385809"/>
            <a:ext cx="14688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75%</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43779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Box 14">
            <a:extLst>
              <a:ext uri="{FF2B5EF4-FFF2-40B4-BE49-F238E27FC236}">
                <a16:creationId xmlns:a16="http://schemas.microsoft.com/office/drawing/2014/main" id="{094F1D1A-97B7-077C-841A-261166A79826}"/>
              </a:ext>
            </a:extLst>
          </p:cNvPr>
          <p:cNvSpPr txBox="1"/>
          <p:nvPr/>
        </p:nvSpPr>
        <p:spPr>
          <a:xfrm>
            <a:off x="9821280" y="5385809"/>
            <a:ext cx="134223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45%</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5" name="Text Placeholder 17">
            <a:extLst>
              <a:ext uri="{FF2B5EF4-FFF2-40B4-BE49-F238E27FC236}">
                <a16:creationId xmlns:a16="http://schemas.microsoft.com/office/drawing/2014/main" id="{4BAB2177-8D95-7727-5E96-A52C700A3E0E}"/>
              </a:ext>
              <a:ext uri="{C183D7F6-B498-43B3-948B-1728B52AA6E4}">
                <adec:decorative xmlns:adec="http://schemas.microsoft.com/office/drawing/2017/decorative" val="0"/>
              </a:ext>
            </a:extLst>
          </p:cNvPr>
          <p:cNvSpPr txBox="1">
            <a:spLocks/>
          </p:cNvSpPr>
          <p:nvPr/>
        </p:nvSpPr>
        <p:spPr>
          <a:xfrm>
            <a:off x="1309011" y="1279092"/>
            <a:ext cx="9690365" cy="307933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The </a:t>
            </a:r>
            <a:r>
              <a:rPr lang="en-US" sz="4400" b="1"/>
              <a:t>distance</a:t>
            </a:r>
            <a:r>
              <a:rPr lang="en-US" sz="4400"/>
              <a:t> between Sydney and Melbourne is </a:t>
            </a:r>
            <a:r>
              <a:rPr lang="en-US" sz="4400" b="1"/>
              <a:t>best measured </a:t>
            </a:r>
            <a:r>
              <a:rPr lang="en-US" sz="4400"/>
              <a:t>in:</a:t>
            </a:r>
          </a:p>
        </p:txBody>
      </p:sp>
      <p:sp>
        <p:nvSpPr>
          <p:cNvPr id="7" name="Text Placeholder 17">
            <a:extLst>
              <a:ext uri="{FF2B5EF4-FFF2-40B4-BE49-F238E27FC236}">
                <a16:creationId xmlns:a16="http://schemas.microsoft.com/office/drawing/2014/main" id="{02C6707E-13A6-640D-9897-988722E43C8C}"/>
              </a:ext>
            </a:extLst>
          </p:cNvPr>
          <p:cNvSpPr txBox="1">
            <a:spLocks/>
          </p:cNvSpPr>
          <p:nvPr/>
        </p:nvSpPr>
        <p:spPr>
          <a:xfrm>
            <a:off x="1309011" y="5324274"/>
            <a:ext cx="912311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Communicate</a:t>
            </a:r>
            <a:r>
              <a:rPr lang="en-US" sz="4400"/>
              <a:t> your </a:t>
            </a:r>
            <a:r>
              <a:rPr lang="en-US" sz="4400" b="1"/>
              <a:t>reasoning</a:t>
            </a:r>
            <a:r>
              <a:rPr lang="en-US" sz="4400"/>
              <a:t>.</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0A3CDAA7-672C-27CD-286E-3E01339059A7}"/>
              </a:ext>
            </a:extLst>
          </p:cNvPr>
          <p:cNvSpPr txBox="1"/>
          <p:nvPr/>
        </p:nvSpPr>
        <p:spPr>
          <a:xfrm>
            <a:off x="1716157" y="3962474"/>
            <a:ext cx="3410779" cy="769441"/>
          </a:xfrm>
          <a:prstGeom prst="rect">
            <a:avLst/>
          </a:prstGeom>
          <a:noFill/>
        </p:spPr>
        <p:txBody>
          <a:bodyPr wrap="square">
            <a:spAutoFit/>
          </a:bodyPr>
          <a:lstStyle/>
          <a:p>
            <a:r>
              <a:rPr lang="en-US" sz="4400"/>
              <a:t>a) </a:t>
            </a:r>
            <a:r>
              <a:rPr lang="en-US" sz="4400" err="1"/>
              <a:t>kilometres</a:t>
            </a:r>
            <a:endParaRPr lang="en-AU" sz="4400"/>
          </a:p>
        </p:txBody>
      </p:sp>
      <p:sp>
        <p:nvSpPr>
          <p:cNvPr id="12" name="TextBox 11">
            <a:extLst>
              <a:ext uri="{FF2B5EF4-FFF2-40B4-BE49-F238E27FC236}">
                <a16:creationId xmlns:a16="http://schemas.microsoft.com/office/drawing/2014/main" id="{43BEEBF9-FB68-9240-D860-1243FD3898F6}"/>
              </a:ext>
            </a:extLst>
          </p:cNvPr>
          <p:cNvSpPr txBox="1"/>
          <p:nvPr/>
        </p:nvSpPr>
        <p:spPr>
          <a:xfrm>
            <a:off x="7416249" y="3896758"/>
            <a:ext cx="3059594" cy="769441"/>
          </a:xfrm>
          <a:prstGeom prst="rect">
            <a:avLst/>
          </a:prstGeom>
          <a:noFill/>
        </p:spPr>
        <p:txBody>
          <a:bodyPr wrap="square">
            <a:spAutoFit/>
          </a:bodyPr>
          <a:lstStyle/>
          <a:p>
            <a:r>
              <a:rPr lang="en-US" sz="4400"/>
              <a:t>b) </a:t>
            </a:r>
            <a:r>
              <a:rPr lang="en-US" sz="4400" err="1"/>
              <a:t>metres</a:t>
            </a:r>
            <a:endParaRPr lang="en-AU" sz="4400"/>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5" name="Text Placeholder 5">
            <a:extLst>
              <a:ext uri="{FF2B5EF4-FFF2-40B4-BE49-F238E27FC236}">
                <a16:creationId xmlns:a16="http://schemas.microsoft.com/office/drawing/2014/main" id="{6A0113A5-C855-D9FC-26B4-C584403895C7}"/>
              </a:ext>
            </a:extLst>
          </p:cNvPr>
          <p:cNvSpPr txBox="1">
            <a:spLocks/>
          </p:cNvSpPr>
          <p:nvPr/>
        </p:nvSpPr>
        <p:spPr>
          <a:xfrm>
            <a:off x="393363" y="1374698"/>
            <a:ext cx="11243037" cy="50261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Select an </a:t>
            </a:r>
            <a:r>
              <a:rPr lang="en-AU" sz="4400" b="1"/>
              <a:t>efficient multiplicative strategy </a:t>
            </a:r>
            <a:r>
              <a:rPr lang="en-AU" sz="4400"/>
              <a:t>to solve:</a:t>
            </a:r>
          </a:p>
          <a:p>
            <a:pPr algn="ctr"/>
            <a:r>
              <a:rPr lang="en-AU" sz="5400" b="1" dirty="0">
                <a:solidFill>
                  <a:srgbClr val="146CFD"/>
                </a:solidFill>
              </a:rPr>
              <a:t>15 x 800</a:t>
            </a:r>
          </a:p>
          <a:p>
            <a:pPr algn="ctr"/>
            <a:r>
              <a:rPr lang="en-AU" sz="4400" b="1"/>
              <a:t>Communicate </a:t>
            </a:r>
            <a:r>
              <a:rPr lang="en-AU" sz="4400"/>
              <a:t>your</a:t>
            </a:r>
            <a:r>
              <a:rPr lang="en-AU" sz="4400" b="1"/>
              <a:t> reasoning</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5" name="Text Placeholder 17">
            <a:extLst>
              <a:ext uri="{FF2B5EF4-FFF2-40B4-BE49-F238E27FC236}">
                <a16:creationId xmlns:a16="http://schemas.microsoft.com/office/drawing/2014/main" id="{53851572-2A5A-66D6-78A5-DD9876160590}"/>
              </a:ext>
            </a:extLst>
          </p:cNvPr>
          <p:cNvSpPr txBox="1">
            <a:spLocks/>
          </p:cNvSpPr>
          <p:nvPr/>
        </p:nvSpPr>
        <p:spPr>
          <a:xfrm>
            <a:off x="474478" y="896802"/>
            <a:ext cx="11243037" cy="232102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Which of these quadrilaterals have </a:t>
            </a:r>
            <a:r>
              <a:rPr lang="en-AU" sz="4000" b="1"/>
              <a:t>diagonals</a:t>
            </a:r>
            <a:r>
              <a:rPr lang="en-AU" sz="4000"/>
              <a:t> as </a:t>
            </a:r>
            <a:r>
              <a:rPr lang="en-AU" sz="4000" b="1"/>
              <a:t>lines</a:t>
            </a:r>
            <a:r>
              <a:rPr lang="en-AU" sz="4000"/>
              <a:t> </a:t>
            </a:r>
            <a:r>
              <a:rPr lang="en-AU" sz="4000" b="1"/>
              <a:t>of</a:t>
            </a:r>
            <a:r>
              <a:rPr lang="en-AU" sz="4000"/>
              <a:t> </a:t>
            </a:r>
            <a:r>
              <a:rPr lang="en-AU" sz="4000" b="1"/>
              <a:t>symmetry</a:t>
            </a:r>
            <a:r>
              <a:rPr lang="en-AU" sz="4000"/>
              <a:t>? </a:t>
            </a:r>
          </a:p>
          <a:p>
            <a:pPr algn="ctr"/>
            <a:r>
              <a:rPr lang="en-AU" sz="4000"/>
              <a:t>You may select </a:t>
            </a:r>
            <a:r>
              <a:rPr lang="en-AU" sz="4000" b="1"/>
              <a:t>more than one </a:t>
            </a:r>
            <a:r>
              <a:rPr lang="en-AU" sz="4000"/>
              <a:t>answer</a:t>
            </a:r>
            <a:r>
              <a:rPr lang="en-AU" sz="4000" dirty="0"/>
              <a:t>.</a:t>
            </a:r>
            <a:endParaRPr lang="en-US" sz="4000"/>
          </a:p>
        </p:txBody>
      </p:sp>
      <p:pic>
        <p:nvPicPr>
          <p:cNvPr id="8" name="Picture 7" descr="Three four-sided shapes are shown in separate panels labelled A, B and C.&#10;&#10;In panel A is a trapezium.&#10;&#10;In panel B is a rhombus.&#10;&#10;In panel C is a parallelogram.">
            <a:extLst>
              <a:ext uri="{FF2B5EF4-FFF2-40B4-BE49-F238E27FC236}">
                <a16:creationId xmlns:a16="http://schemas.microsoft.com/office/drawing/2014/main" id="{CF4C9DB7-7D8F-0D94-7AD1-2E0EA34A9ADC}"/>
              </a:ext>
            </a:extLst>
          </p:cNvPr>
          <p:cNvPicPr>
            <a:picLocks noChangeAspect="1"/>
          </p:cNvPicPr>
          <p:nvPr/>
        </p:nvPicPr>
        <p:blipFill>
          <a:blip r:embed="rId3"/>
          <a:stretch>
            <a:fillRect/>
          </a:stretch>
        </p:blipFill>
        <p:spPr>
          <a:xfrm>
            <a:off x="1747522" y="3772231"/>
            <a:ext cx="8696950" cy="2851271"/>
          </a:xfrm>
          <a:prstGeom prst="rect">
            <a:avLst/>
          </a:prstGeom>
          <a:solidFill>
            <a:schemeClr val="bg1"/>
          </a:solidFill>
          <a:ln>
            <a:noFill/>
          </a:ln>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5" name="Text Placeholder 17">
            <a:extLst>
              <a:ext uri="{FF2B5EF4-FFF2-40B4-BE49-F238E27FC236}">
                <a16:creationId xmlns:a16="http://schemas.microsoft.com/office/drawing/2014/main" id="{04F0AFA4-2964-DB2E-C536-5C7D76DC9B80}"/>
              </a:ext>
            </a:extLst>
          </p:cNvPr>
          <p:cNvSpPr txBox="1">
            <a:spLocks/>
          </p:cNvSpPr>
          <p:nvPr/>
        </p:nvSpPr>
        <p:spPr>
          <a:xfrm>
            <a:off x="551481" y="824680"/>
            <a:ext cx="11089038" cy="199944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Which spinner </a:t>
            </a:r>
            <a:r>
              <a:rPr lang="en-US" sz="4400"/>
              <a:t>shows </a:t>
            </a:r>
            <a:r>
              <a:rPr lang="en-US" sz="4400" b="1">
                <a:solidFill>
                  <a:srgbClr val="FF0000"/>
                </a:solidFill>
              </a:rPr>
              <a:t>red</a:t>
            </a:r>
            <a:r>
              <a:rPr lang="en-US" sz="4400"/>
              <a:t> as </a:t>
            </a:r>
            <a:r>
              <a:rPr lang="en-US" sz="4400" b="1"/>
              <a:t>more likely </a:t>
            </a:r>
            <a:r>
              <a:rPr lang="en-US" sz="4400"/>
              <a:t>to be spun?</a:t>
            </a:r>
          </a:p>
        </p:txBody>
      </p:sp>
      <p:pic>
        <p:nvPicPr>
          <p:cNvPr id="8" name="Picture 7" descr="Three spinners labelled A, B and C are shown side by side.&#10;&#10;Spinner A is divided into 3 equal sections coloured yellow, blue and red.&#10;&#10;Spinner B is divided into 3 sections. One half of the spinner is red, while the other half is divided into 2 equal sections coloured yellow and blue.&#10;&#10;Spinner C is divided into 3 sections. Two larger equal sections are coloured blue and yellow, and one smaller section on the right is coloured red.">
            <a:extLst>
              <a:ext uri="{FF2B5EF4-FFF2-40B4-BE49-F238E27FC236}">
                <a16:creationId xmlns:a16="http://schemas.microsoft.com/office/drawing/2014/main" id="{FF3046E8-F994-18AC-9A40-F930E4FC2529}"/>
              </a:ext>
            </a:extLst>
          </p:cNvPr>
          <p:cNvPicPr>
            <a:picLocks noChangeAspect="1"/>
          </p:cNvPicPr>
          <p:nvPr/>
        </p:nvPicPr>
        <p:blipFill>
          <a:blip r:embed="rId3"/>
          <a:stretch>
            <a:fillRect/>
          </a:stretch>
        </p:blipFill>
        <p:spPr>
          <a:xfrm>
            <a:off x="0" y="2824120"/>
            <a:ext cx="12192000" cy="3057907"/>
          </a:xfrm>
          <a:prstGeom prst="rect">
            <a:avLst/>
          </a:prstGeom>
        </p:spPr>
      </p:pic>
      <p:sp>
        <p:nvSpPr>
          <p:cNvPr id="9" name="Text Placeholder 17">
            <a:extLst>
              <a:ext uri="{FF2B5EF4-FFF2-40B4-BE49-F238E27FC236}">
                <a16:creationId xmlns:a16="http://schemas.microsoft.com/office/drawing/2014/main" id="{F278032E-61C9-CFF3-75E5-12FA1AC9CEF2}"/>
              </a:ext>
            </a:extLst>
          </p:cNvPr>
          <p:cNvSpPr txBox="1">
            <a:spLocks/>
          </p:cNvSpPr>
          <p:nvPr/>
        </p:nvSpPr>
        <p:spPr>
          <a:xfrm>
            <a:off x="551481" y="5692395"/>
            <a:ext cx="11089038" cy="100360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Communicate </a:t>
            </a:r>
            <a:r>
              <a:rPr lang="en-US" sz="4400"/>
              <a:t>your</a:t>
            </a:r>
            <a:r>
              <a:rPr lang="en-US" sz="4400" b="1"/>
              <a:t> reasoning</a:t>
            </a:r>
            <a:r>
              <a:rPr lang="en-US" sz="4400"/>
              <a:t>.</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fractions, decimals and percentages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1E8FFD6-721A-F1B9-C419-32925A37F52B}"/>
                  </a:ext>
                </a:extLst>
              </p:cNvPr>
              <p:cNvSpPr txBox="1"/>
              <p:nvPr/>
            </p:nvSpPr>
            <p:spPr>
              <a:xfrm>
                <a:off x="360000" y="1627164"/>
                <a:ext cx="5632492" cy="4870836"/>
              </a:xfrm>
              <a:prstGeom prst="rect">
                <a:avLst/>
              </a:prstGeom>
              <a:noFill/>
            </p:spPr>
            <p:txBody>
              <a:bodyPr wrap="square" lIns="0" tIns="0" rIns="0" bIns="0" rtlCol="0">
                <a:noAutofit/>
              </a:bodyPr>
              <a:lstStyle/>
              <a:p>
                <a:pPr marL="342900" indent="-342900" algn="l">
                  <a:spcAft>
                    <a:spcPts val="3600"/>
                  </a:spcAft>
                  <a:buFont typeface="Arial" panose="020B0604020202020204" pitchFamily="34" charset="0"/>
                  <a:buChar char="•"/>
                </a:pPr>
                <a:r>
                  <a:rPr lang="en-AU" sz="2800">
                    <a:latin typeface="Arial" panose="020B0604020202020204" pitchFamily="34" charset="0"/>
                    <a:cs typeface="Arial" panose="020B0604020202020204" pitchFamily="34" charset="0"/>
                  </a:rPr>
                  <a:t>Colour </a:t>
                </a:r>
                <a14:m>
                  <m:oMath xmlns:m="http://schemas.openxmlformats.org/officeDocument/2006/math">
                    <m:f>
                      <m:fPr>
                        <m:ctrlPr>
                          <a:rPr lang="en-AU" sz="2800" b="0" i="1" smtClean="0">
                            <a:latin typeface="Cambria Math" panose="02040503050406030204" pitchFamily="18" charset="0"/>
                            <a:cs typeface="Arial" panose="020B0604020202020204" pitchFamily="34" charset="0"/>
                          </a:rPr>
                        </m:ctrlPr>
                      </m:fPr>
                      <m:num>
                        <m:r>
                          <a:rPr lang="en-AU" sz="2800" b="0" i="1" smtClean="0">
                            <a:latin typeface="Cambria Math" panose="02040503050406030204" pitchFamily="18" charset="0"/>
                            <a:cs typeface="Arial" panose="020B0604020202020204" pitchFamily="34" charset="0"/>
                          </a:rPr>
                          <m:t>1</m:t>
                        </m:r>
                      </m:num>
                      <m:den>
                        <m:r>
                          <a:rPr lang="en-AU" sz="2800" b="0" i="1" smtClean="0">
                            <a:latin typeface="Cambria Math" panose="02040503050406030204" pitchFamily="18" charset="0"/>
                            <a:cs typeface="Arial" panose="020B0604020202020204" pitchFamily="34" charset="0"/>
                          </a:rPr>
                          <m:t>3</m:t>
                        </m:r>
                      </m:den>
                    </m:f>
                  </m:oMath>
                </a14:m>
                <a:r>
                  <a:rPr lang="en-AU" sz="2800">
                    <a:latin typeface="Arial" panose="020B0604020202020204" pitchFamily="34" charset="0"/>
                    <a:cs typeface="Arial" panose="020B0604020202020204" pitchFamily="34" charset="0"/>
                  </a:rPr>
                  <a:t> of the squares in blue</a:t>
                </a:r>
              </a:p>
              <a:p>
                <a:pPr marL="342900" indent="-342900" algn="l">
                  <a:spcAft>
                    <a:spcPts val="3600"/>
                  </a:spcAft>
                  <a:buFont typeface="Arial" panose="020B0604020202020204" pitchFamily="34" charset="0"/>
                  <a:buChar char="•"/>
                </a:pPr>
                <a:r>
                  <a:rPr lang="en-AU" sz="2800">
                    <a:latin typeface="Arial" panose="020B0604020202020204" pitchFamily="34" charset="0"/>
                    <a:cs typeface="Arial" panose="020B0604020202020204" pitchFamily="34" charset="0"/>
                  </a:rPr>
                  <a:t>Put an ‘X’ in 50% of the remaining squares</a:t>
                </a:r>
              </a:p>
              <a:p>
                <a:pPr marL="342900" indent="-342900" algn="l">
                  <a:spcAft>
                    <a:spcPts val="3600"/>
                  </a:spcAft>
                  <a:buFont typeface="Arial" panose="020B0604020202020204" pitchFamily="34" charset="0"/>
                  <a:buChar char="•"/>
                </a:pPr>
                <a:r>
                  <a:rPr lang="en-AU" sz="2800">
                    <a:latin typeface="Arial" panose="020B0604020202020204" pitchFamily="34" charset="0"/>
                    <a:cs typeface="Arial" panose="020B0604020202020204" pitchFamily="34" charset="0"/>
                  </a:rPr>
                  <a:t>Put a black dot in 0.25 of the remaining squares </a:t>
                </a:r>
              </a:p>
              <a:p>
                <a:pPr marL="342900" indent="-342900" algn="l">
                  <a:spcAft>
                    <a:spcPts val="3600"/>
                  </a:spcAft>
                  <a:buFont typeface="Arial" panose="020B0604020202020204" pitchFamily="34" charset="0"/>
                  <a:buChar char="•"/>
                </a:pPr>
                <a:r>
                  <a:rPr lang="en-AU" sz="2800">
                    <a:latin typeface="Arial" panose="020B0604020202020204" pitchFamily="34" charset="0"/>
                    <a:cs typeface="Arial" panose="020B0604020202020204" pitchFamily="34" charset="0"/>
                  </a:rPr>
                  <a:t>Put your initials in </a:t>
                </a:r>
                <a14:m>
                  <m:oMath xmlns:m="http://schemas.openxmlformats.org/officeDocument/2006/math">
                    <m:f>
                      <m:fPr>
                        <m:ctrlPr>
                          <a:rPr lang="en-AU" sz="2800" b="0" i="1" smtClean="0">
                            <a:latin typeface="Cambria Math" panose="02040503050406030204" pitchFamily="18" charset="0"/>
                            <a:cs typeface="Arial" panose="020B0604020202020204" pitchFamily="34" charset="0"/>
                          </a:rPr>
                        </m:ctrlPr>
                      </m:fPr>
                      <m:num>
                        <m:r>
                          <a:rPr lang="en-AU" sz="2800" b="0" i="1" smtClean="0">
                            <a:latin typeface="Cambria Math" panose="02040503050406030204" pitchFamily="18" charset="0"/>
                            <a:cs typeface="Arial" panose="020B0604020202020204" pitchFamily="34" charset="0"/>
                          </a:rPr>
                          <m:t>1</m:t>
                        </m:r>
                      </m:num>
                      <m:den>
                        <m:r>
                          <a:rPr lang="en-AU" sz="2800" b="0" i="1" smtClean="0">
                            <a:latin typeface="Cambria Math" panose="02040503050406030204" pitchFamily="18" charset="0"/>
                            <a:cs typeface="Arial" panose="020B0604020202020204" pitchFamily="34" charset="0"/>
                          </a:rPr>
                          <m:t>5</m:t>
                        </m:r>
                      </m:den>
                    </m:f>
                  </m:oMath>
                </a14:m>
                <a:r>
                  <a:rPr lang="en-AU" sz="2800">
                    <a:latin typeface="Arial" panose="020B0604020202020204" pitchFamily="34" charset="0"/>
                    <a:cs typeface="Arial" panose="020B0604020202020204" pitchFamily="34" charset="0"/>
                  </a:rPr>
                  <a:t> of the remaining squares.</a:t>
                </a:r>
              </a:p>
            </p:txBody>
          </p:sp>
        </mc:Choice>
        <mc:Fallback xmlns="">
          <p:sp>
            <p:nvSpPr>
              <p:cNvPr id="8" name="TextBox 7">
                <a:extLst>
                  <a:ext uri="{FF2B5EF4-FFF2-40B4-BE49-F238E27FC236}">
                    <a16:creationId xmlns:a16="http://schemas.microsoft.com/office/drawing/2014/main" id="{F1E8FFD6-721A-F1B9-C419-32925A37F52B}"/>
                  </a:ext>
                </a:extLst>
              </p:cNvPr>
              <p:cNvSpPr txBox="1">
                <a:spLocks noRot="1" noChangeAspect="1" noMove="1" noResize="1" noEditPoints="1" noAdjustHandles="1" noChangeArrowheads="1" noChangeShapeType="1" noTextEdit="1"/>
              </p:cNvSpPr>
              <p:nvPr/>
            </p:nvSpPr>
            <p:spPr>
              <a:xfrm>
                <a:off x="360000" y="1627164"/>
                <a:ext cx="5632492" cy="4870836"/>
              </a:xfrm>
              <a:prstGeom prst="rect">
                <a:avLst/>
              </a:prstGeom>
              <a:blipFill>
                <a:blip r:embed="rId3"/>
                <a:stretch>
                  <a:fillRect l="-3571" t="-626" b="-1126"/>
                </a:stretch>
              </a:blipFill>
            </p:spPr>
            <p:txBody>
              <a:bodyPr/>
              <a:lstStyle/>
              <a:p>
                <a:r>
                  <a:rPr lang="en-US">
                    <a:noFill/>
                  </a:rPr>
                  <a:t> </a:t>
                </a:r>
              </a:p>
            </p:txBody>
          </p:sp>
        </mc:Fallback>
      </mc:AlternateContent>
      <p:pic>
        <p:nvPicPr>
          <p:cNvPr id="7" name="Picture 6" descr="Grid paper">
            <a:extLst>
              <a:ext uri="{FF2B5EF4-FFF2-40B4-BE49-F238E27FC236}">
                <a16:creationId xmlns:a16="http://schemas.microsoft.com/office/drawing/2014/main" id="{7D2CDD4C-9F29-D6A8-A93A-6932828B5081}"/>
              </a:ext>
            </a:extLst>
          </p:cNvPr>
          <p:cNvPicPr>
            <a:picLocks noChangeAspect="1"/>
          </p:cNvPicPr>
          <p:nvPr/>
        </p:nvPicPr>
        <p:blipFill>
          <a:blip r:embed="rId4"/>
          <a:stretch>
            <a:fillRect/>
          </a:stretch>
        </p:blipFill>
        <p:spPr>
          <a:xfrm>
            <a:off x="5822357" y="1961500"/>
            <a:ext cx="6313400" cy="3690257"/>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1367972"/>
            <a:ext cx="11243037" cy="893226"/>
          </a:xfrm>
        </p:spPr>
        <p:txBody>
          <a:bodyPr/>
          <a:lstStyle/>
          <a:p>
            <a:pPr algn="ctr"/>
            <a:r>
              <a:rPr lang="en-AU" sz="7200">
                <a:solidFill>
                  <a:schemeClr val="accent2"/>
                </a:solidFill>
              </a:rPr>
              <a:t>#</a:t>
            </a:r>
          </a:p>
          <a:p>
            <a:pPr algn="ctr"/>
            <a:r>
              <a:rPr lang="en-AU" sz="4400"/>
              <a:t>This symbol means </a:t>
            </a:r>
            <a:r>
              <a:rPr lang="en-AU" sz="4400" b="1"/>
              <a:t>percentage</a:t>
            </a:r>
            <a:r>
              <a:rPr lang="en-AU" sz="440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9" name="Text Placeholder 5">
            <a:extLst>
              <a:ext uri="{FF2B5EF4-FFF2-40B4-BE49-F238E27FC236}">
                <a16:creationId xmlns:a16="http://schemas.microsoft.com/office/drawing/2014/main" id="{9AB466C6-CD4D-D383-DCAA-1C66C1211EEF}"/>
              </a:ext>
            </a:extLst>
          </p:cNvPr>
          <p:cNvSpPr txBox="1">
            <a:spLocks/>
          </p:cNvSpPr>
          <p:nvPr/>
        </p:nvSpPr>
        <p:spPr>
          <a:xfrm>
            <a:off x="474481" y="1094659"/>
            <a:ext cx="11243037" cy="91550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Convert</a:t>
            </a:r>
            <a:r>
              <a:rPr lang="en-AU" sz="4400" dirty="0"/>
              <a:t> the following </a:t>
            </a:r>
            <a:r>
              <a:rPr lang="en-AU" sz="4400" b="1" dirty="0"/>
              <a:t>distances</a:t>
            </a:r>
            <a:r>
              <a:rPr lang="en-AU" sz="4400" dirty="0"/>
              <a:t>:</a:t>
            </a:r>
          </a:p>
        </p:txBody>
      </p:sp>
      <p:sp>
        <p:nvSpPr>
          <p:cNvPr id="8" name="Text Placeholder 5">
            <a:extLst>
              <a:ext uri="{FF2B5EF4-FFF2-40B4-BE49-F238E27FC236}">
                <a16:creationId xmlns:a16="http://schemas.microsoft.com/office/drawing/2014/main" id="{ED2B0E06-191F-87E1-093A-2409FD75971A}"/>
              </a:ext>
            </a:extLst>
          </p:cNvPr>
          <p:cNvSpPr txBox="1">
            <a:spLocks/>
          </p:cNvSpPr>
          <p:nvPr/>
        </p:nvSpPr>
        <p:spPr>
          <a:xfrm>
            <a:off x="360000" y="2173186"/>
            <a:ext cx="11243037" cy="360644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gn="ctr">
              <a:buFont typeface="+mj-lt"/>
              <a:buAutoNum type="alphaLcParenR"/>
            </a:pPr>
            <a:r>
              <a:rPr lang="en-AU" sz="4400" dirty="0"/>
              <a:t>100 m is equivalent to __ km.</a:t>
            </a:r>
          </a:p>
          <a:p>
            <a:pPr marL="742950" indent="-742950" algn="ctr">
              <a:buFont typeface="+mj-lt"/>
              <a:buAutoNum type="alphaLcParenR"/>
            </a:pPr>
            <a:r>
              <a:rPr lang="en-AU" sz="4400" dirty="0"/>
              <a:t>10 m is equivalent to __ km.</a:t>
            </a:r>
          </a:p>
          <a:p>
            <a:pPr marL="742950" indent="-742950" algn="ctr">
              <a:buFont typeface="+mj-lt"/>
              <a:buAutoNum type="alphaLcParenR"/>
            </a:pPr>
            <a:r>
              <a:rPr lang="en-AU" sz="4400" dirty="0"/>
              <a:t>1250 m is equal to __ kilometres.</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5" name="TextBox 4">
            <a:extLst>
              <a:ext uri="{FF2B5EF4-FFF2-40B4-BE49-F238E27FC236}">
                <a16:creationId xmlns:a16="http://schemas.microsoft.com/office/drawing/2014/main" id="{1FD7FC01-0666-5352-A50C-038FA6BFD181}"/>
              </a:ext>
            </a:extLst>
          </p:cNvPr>
          <p:cNvSpPr txBox="1"/>
          <p:nvPr/>
        </p:nvSpPr>
        <p:spPr>
          <a:xfrm>
            <a:off x="1050300" y="1296553"/>
            <a:ext cx="10091399" cy="1998176"/>
          </a:xfrm>
          <a:prstGeom prst="rect">
            <a:avLst/>
          </a:prstGeom>
          <a:noFill/>
        </p:spPr>
        <p:txBody>
          <a:bodyPr wrap="square">
            <a:spAutoFit/>
          </a:bodyPr>
          <a:lstStyle/>
          <a:p>
            <a:pPr algn="ctr">
              <a:lnSpc>
                <a:spcPct val="150000"/>
              </a:lnSpc>
            </a:pPr>
            <a:r>
              <a:rPr lang="en-AU" sz="4400" b="1">
                <a:latin typeface="Arial" panose="020B0604020202020204" pitchFamily="34" charset="0"/>
                <a:ea typeface="Calibri" panose="020F0502020204030204" pitchFamily="34" charset="0"/>
              </a:rPr>
              <a:t>9</a:t>
            </a:r>
            <a:r>
              <a:rPr lang="en-AU" sz="4400" b="1">
                <a:effectLst/>
                <a:latin typeface="Arial" panose="020B0604020202020204" pitchFamily="34" charset="0"/>
                <a:ea typeface="Calibri" panose="020F0502020204030204" pitchFamily="34" charset="0"/>
              </a:rPr>
              <a:t> slices of pepperoni </a:t>
            </a:r>
            <a:r>
              <a:rPr lang="en-AU" sz="4400">
                <a:effectLst/>
                <a:latin typeface="Arial" panose="020B0604020202020204" pitchFamily="34" charset="0"/>
                <a:ea typeface="Calibri" panose="020F0502020204030204" pitchFamily="34" charset="0"/>
              </a:rPr>
              <a:t>are needed to for </a:t>
            </a:r>
            <a:r>
              <a:rPr lang="en-AU" sz="4400" b="1">
                <a:effectLst/>
                <a:latin typeface="Arial" panose="020B0604020202020204" pitchFamily="34" charset="0"/>
                <a:ea typeface="Calibri" panose="020F0502020204030204" pitchFamily="34" charset="0"/>
              </a:rPr>
              <a:t>3 pizza slices</a:t>
            </a:r>
            <a:r>
              <a:rPr lang="en-AU" sz="4400">
                <a:effectLst/>
                <a:latin typeface="Arial" panose="020B0604020202020204" pitchFamily="34" charset="0"/>
                <a:ea typeface="Calibri" panose="020F0502020204030204" pitchFamily="34" charset="0"/>
              </a:rPr>
              <a:t>. </a:t>
            </a:r>
          </a:p>
        </p:txBody>
      </p:sp>
      <p:sp>
        <p:nvSpPr>
          <p:cNvPr id="7" name="TextBox 6">
            <a:extLst>
              <a:ext uri="{FF2B5EF4-FFF2-40B4-BE49-F238E27FC236}">
                <a16:creationId xmlns:a16="http://schemas.microsoft.com/office/drawing/2014/main" id="{C6FC8716-A2E5-B86E-8136-4C68864C80B0}"/>
              </a:ext>
            </a:extLst>
          </p:cNvPr>
          <p:cNvSpPr txBox="1"/>
          <p:nvPr/>
        </p:nvSpPr>
        <p:spPr>
          <a:xfrm>
            <a:off x="1050300" y="4126872"/>
            <a:ext cx="10091399" cy="1998176"/>
          </a:xfrm>
          <a:prstGeom prst="rect">
            <a:avLst/>
          </a:prstGeom>
          <a:noFill/>
        </p:spPr>
        <p:txBody>
          <a:bodyPr wrap="square">
            <a:spAutoFit/>
          </a:bodyPr>
          <a:lstStyle/>
          <a:p>
            <a:pPr algn="ctr">
              <a:lnSpc>
                <a:spcPct val="150000"/>
              </a:lnSpc>
            </a:pPr>
            <a:r>
              <a:rPr lang="en-AU" sz="4400" b="1" dirty="0">
                <a:effectLst/>
                <a:latin typeface="Arial" panose="020B0604020202020204" pitchFamily="34" charset="0"/>
                <a:ea typeface="Calibri" panose="020F0502020204030204" pitchFamily="34" charset="0"/>
              </a:rPr>
              <a:t>How many </a:t>
            </a:r>
            <a:r>
              <a:rPr lang="en-AU" sz="4400" dirty="0">
                <a:latin typeface="Arial" panose="020B0604020202020204" pitchFamily="34" charset="0"/>
                <a:ea typeface="Calibri" panose="020F0502020204030204" pitchFamily="34" charset="0"/>
              </a:rPr>
              <a:t>slices of pepperoni</a:t>
            </a:r>
            <a:r>
              <a:rPr lang="en-AU" sz="4400" dirty="0">
                <a:effectLst/>
                <a:latin typeface="Arial" panose="020B0604020202020204" pitchFamily="34" charset="0"/>
                <a:ea typeface="Calibri" panose="020F0502020204030204" pitchFamily="34" charset="0"/>
              </a:rPr>
              <a:t> are needed for </a:t>
            </a:r>
            <a:r>
              <a:rPr lang="en-AU" sz="4400" b="1" dirty="0">
                <a:effectLst/>
                <a:latin typeface="Arial" panose="020B0604020202020204" pitchFamily="34" charset="0"/>
                <a:ea typeface="Calibri" panose="020F0502020204030204" pitchFamily="34" charset="0"/>
              </a:rPr>
              <a:t>24</a:t>
            </a:r>
            <a:r>
              <a:rPr lang="en-AU" sz="4400" dirty="0">
                <a:effectLst/>
                <a:latin typeface="Arial" panose="020B0604020202020204" pitchFamily="34" charset="0"/>
                <a:ea typeface="Calibri" panose="020F0502020204030204" pitchFamily="34" charset="0"/>
              </a:rPr>
              <a:t> pizza slices? </a:t>
            </a:r>
            <a:endParaRPr lang="en-AU" sz="4400" dirty="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5" name="Text Placeholder 5">
            <a:extLst>
              <a:ext uri="{FF2B5EF4-FFF2-40B4-BE49-F238E27FC236}">
                <a16:creationId xmlns:a16="http://schemas.microsoft.com/office/drawing/2014/main" id="{67D78E4E-9105-B88A-3D5E-B37572666B7E}"/>
              </a:ext>
            </a:extLst>
          </p:cNvPr>
          <p:cNvSpPr txBox="1">
            <a:spLocks/>
          </p:cNvSpPr>
          <p:nvPr/>
        </p:nvSpPr>
        <p:spPr>
          <a:xfrm>
            <a:off x="246024" y="770656"/>
            <a:ext cx="11828954" cy="200905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The shape has been </a:t>
            </a:r>
            <a:r>
              <a:rPr lang="en-AU" sz="4400" b="1"/>
              <a:t>translated, reflected </a:t>
            </a:r>
            <a:r>
              <a:rPr lang="en-AU" sz="4400"/>
              <a:t>and</a:t>
            </a:r>
            <a:r>
              <a:rPr lang="en-AU" sz="4400" b="1"/>
              <a:t> rotated.</a:t>
            </a:r>
            <a:endParaRPr lang="en-AU" sz="4400"/>
          </a:p>
        </p:txBody>
      </p:sp>
      <p:pic>
        <p:nvPicPr>
          <p:cNvPr id="9" name="Picture 8" descr="Three labelled panels are shown side by side demonstrating transformations of a red parallelogram with a black dot marked near one corner.&#10;&#10;The first panel is labelled “Translated”. &#10;&#10;The second panel is labelled “Reflected”. &#10;&#10;The third panel is labelled “Rotated”. ">
            <a:extLst>
              <a:ext uri="{FF2B5EF4-FFF2-40B4-BE49-F238E27FC236}">
                <a16:creationId xmlns:a16="http://schemas.microsoft.com/office/drawing/2014/main" id="{4B4F867D-0055-8857-1E5B-AE36BFC3EA3D}"/>
              </a:ext>
            </a:extLst>
          </p:cNvPr>
          <p:cNvPicPr>
            <a:picLocks noChangeAspect="1"/>
          </p:cNvPicPr>
          <p:nvPr/>
        </p:nvPicPr>
        <p:blipFill>
          <a:blip r:embed="rId3"/>
          <a:srcRect l="1202" t="7958" r="890" b="6904"/>
          <a:stretch>
            <a:fillRect/>
          </a:stretch>
        </p:blipFill>
        <p:spPr>
          <a:xfrm>
            <a:off x="1128032" y="2860598"/>
            <a:ext cx="9935936" cy="1858359"/>
          </a:xfrm>
          <a:prstGeom prst="rect">
            <a:avLst/>
          </a:prstGeom>
          <a:solidFill>
            <a:schemeClr val="bg1"/>
          </a:solidFill>
          <a:ln>
            <a:noFill/>
          </a:ln>
          <a:effectLst/>
        </p:spPr>
      </p:pic>
      <p:sp>
        <p:nvSpPr>
          <p:cNvPr id="7" name="Text Placeholder 5">
            <a:extLst>
              <a:ext uri="{FF2B5EF4-FFF2-40B4-BE49-F238E27FC236}">
                <a16:creationId xmlns:a16="http://schemas.microsoft.com/office/drawing/2014/main" id="{78366427-1FB9-73FC-0CB2-2D2BC712211F}"/>
              </a:ext>
            </a:extLst>
          </p:cNvPr>
          <p:cNvSpPr txBox="1">
            <a:spLocks/>
          </p:cNvSpPr>
          <p:nvPr/>
        </p:nvSpPr>
        <p:spPr>
          <a:xfrm>
            <a:off x="1094540" y="4611970"/>
            <a:ext cx="10474608" cy="217135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AU" sz="4400"/>
              <a:t>What has </a:t>
            </a:r>
            <a:r>
              <a:rPr lang="en-AU" sz="4400" b="1"/>
              <a:t>changed</a:t>
            </a:r>
            <a:r>
              <a:rPr lang="en-AU" sz="4400"/>
              <a:t> about the shape?</a:t>
            </a:r>
          </a:p>
          <a:p>
            <a:pPr marL="742950" indent="-742950">
              <a:buFont typeface="+mj-lt"/>
              <a:buAutoNum type="alphaLcParenR"/>
            </a:pPr>
            <a:r>
              <a:rPr lang="en-AU" sz="4400"/>
              <a:t>What has </a:t>
            </a:r>
            <a:r>
              <a:rPr lang="en-AU" sz="4400" b="1"/>
              <a:t>stayed the same</a:t>
            </a:r>
            <a:r>
              <a:rPr lang="en-AU" sz="4400"/>
              <a:t>?</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5" name="Text Placeholder 5">
            <a:extLst>
              <a:ext uri="{FF2B5EF4-FFF2-40B4-BE49-F238E27FC236}">
                <a16:creationId xmlns:a16="http://schemas.microsoft.com/office/drawing/2014/main" id="{4C23641F-E388-7DC8-235E-65F741A08912}"/>
              </a:ext>
            </a:extLst>
          </p:cNvPr>
          <p:cNvSpPr txBox="1">
            <a:spLocks/>
          </p:cNvSpPr>
          <p:nvPr/>
        </p:nvSpPr>
        <p:spPr>
          <a:xfrm>
            <a:off x="912365" y="855723"/>
            <a:ext cx="10367268" cy="202356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The </a:t>
            </a:r>
            <a:r>
              <a:rPr lang="en-AU" sz="4400" b="1"/>
              <a:t>expected probability </a:t>
            </a:r>
            <a:r>
              <a:rPr lang="en-AU" sz="4400"/>
              <a:t>of </a:t>
            </a:r>
            <a:r>
              <a:rPr lang="en-AU" sz="4400" b="1"/>
              <a:t>rolling a 6 </a:t>
            </a:r>
            <a:r>
              <a:rPr lang="en-AU" sz="4400"/>
              <a:t>is </a:t>
            </a:r>
            <a:r>
              <a:rPr lang="en-AU" sz="4400" b="1"/>
              <a:t>1 out of 6</a:t>
            </a:r>
            <a:r>
              <a:rPr lang="en-AU" sz="4400"/>
              <a:t>.</a:t>
            </a:r>
          </a:p>
        </p:txBody>
      </p:sp>
      <p:sp>
        <p:nvSpPr>
          <p:cNvPr id="7" name="Text Placeholder 5">
            <a:extLst>
              <a:ext uri="{FF2B5EF4-FFF2-40B4-BE49-F238E27FC236}">
                <a16:creationId xmlns:a16="http://schemas.microsoft.com/office/drawing/2014/main" id="{FAC1F9C2-D269-AC79-2CC1-1512EC7F7CF0}"/>
              </a:ext>
            </a:extLst>
          </p:cNvPr>
          <p:cNvSpPr txBox="1">
            <a:spLocks/>
          </p:cNvSpPr>
          <p:nvPr/>
        </p:nvSpPr>
        <p:spPr>
          <a:xfrm>
            <a:off x="277991" y="2971250"/>
            <a:ext cx="11636015" cy="91550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4400"/>
          </a:p>
        </p:txBody>
      </p:sp>
      <p:sp>
        <p:nvSpPr>
          <p:cNvPr id="10" name="Rectangle: Rounded Corners 9" descr="2 sixes in 13 rolls &#10;">
            <a:extLst>
              <a:ext uri="{FF2B5EF4-FFF2-40B4-BE49-F238E27FC236}">
                <a16:creationId xmlns:a16="http://schemas.microsoft.com/office/drawing/2014/main" id="{A7419A06-E60B-5BED-7FFF-2E9107BF085B}"/>
              </a:ext>
            </a:extLst>
          </p:cNvPr>
          <p:cNvSpPr/>
          <p:nvPr/>
        </p:nvSpPr>
        <p:spPr>
          <a:xfrm>
            <a:off x="1157161" y="4342077"/>
            <a:ext cx="4086478" cy="1205714"/>
          </a:xfrm>
          <a:prstGeom prst="roundRect">
            <a:avLst/>
          </a:prstGeom>
          <a:solidFill>
            <a:schemeClr val="accent4"/>
          </a:solidFill>
          <a:ln>
            <a:solidFill>
              <a:schemeClr val="accent4">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a:solidFill>
                  <a:schemeClr val="tx1"/>
                </a:solidFill>
              </a:rPr>
              <a:t>2 sixes in 13 rolls </a:t>
            </a:r>
          </a:p>
        </p:txBody>
      </p:sp>
      <p:sp>
        <p:nvSpPr>
          <p:cNvPr id="11" name="Rectangle: Rounded Corners 10" descr="17 sixes in 18 rolls&#10;">
            <a:extLst>
              <a:ext uri="{FF2B5EF4-FFF2-40B4-BE49-F238E27FC236}">
                <a16:creationId xmlns:a16="http://schemas.microsoft.com/office/drawing/2014/main" id="{27DCF7DC-9474-98CE-466C-C44C831AC2AC}"/>
              </a:ext>
            </a:extLst>
          </p:cNvPr>
          <p:cNvSpPr/>
          <p:nvPr/>
        </p:nvSpPr>
        <p:spPr>
          <a:xfrm>
            <a:off x="6943998" y="4342076"/>
            <a:ext cx="4086478" cy="1205714"/>
          </a:xfrm>
          <a:prstGeom prst="roundRect">
            <a:avLst/>
          </a:prstGeom>
          <a:solidFill>
            <a:schemeClr val="accent6"/>
          </a:solidFill>
          <a:ln>
            <a:solidFill>
              <a:schemeClr val="accent6">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a:solidFill>
                  <a:schemeClr val="tx1"/>
                </a:solidFill>
              </a:rPr>
              <a:t>17 sixes in 18 rolls</a:t>
            </a:r>
          </a:p>
        </p:txBody>
      </p:sp>
      <p:sp>
        <p:nvSpPr>
          <p:cNvPr id="9" name="Text Placeholder 5">
            <a:extLst>
              <a:ext uri="{FF2B5EF4-FFF2-40B4-BE49-F238E27FC236}">
                <a16:creationId xmlns:a16="http://schemas.microsoft.com/office/drawing/2014/main" id="{91F4364E-325F-3A0E-10FB-B3D3B70C7CE5}"/>
              </a:ext>
            </a:extLst>
          </p:cNvPr>
          <p:cNvSpPr txBox="1">
            <a:spLocks/>
          </p:cNvSpPr>
          <p:nvPr/>
        </p:nvSpPr>
        <p:spPr>
          <a:xfrm>
            <a:off x="912366" y="5673777"/>
            <a:ext cx="10367268" cy="91550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CBF0EE26-1FA8-E0B0-61A3-9E8760092632}"/>
              </a:ext>
            </a:extLst>
          </p:cNvPr>
          <p:cNvSpPr txBox="1"/>
          <p:nvPr/>
        </p:nvSpPr>
        <p:spPr>
          <a:xfrm>
            <a:off x="360000" y="3117309"/>
            <a:ext cx="11585976" cy="769441"/>
          </a:xfrm>
          <a:prstGeom prst="rect">
            <a:avLst/>
          </a:prstGeom>
          <a:noFill/>
        </p:spPr>
        <p:txBody>
          <a:bodyPr wrap="square">
            <a:spAutoFit/>
          </a:bodyPr>
          <a:lstStyle/>
          <a:p>
            <a:pPr algn="ctr"/>
            <a:r>
              <a:rPr lang="en-AU" sz="4400"/>
              <a:t>Which </a:t>
            </a:r>
            <a:r>
              <a:rPr lang="en-AU" sz="4400" b="1"/>
              <a:t>observed result </a:t>
            </a:r>
            <a:r>
              <a:rPr lang="en-AU" sz="4400"/>
              <a:t>is </a:t>
            </a:r>
            <a:r>
              <a:rPr lang="en-AU" sz="4400" b="1"/>
              <a:t>more reasonable</a:t>
            </a:r>
            <a:r>
              <a:rPr lang="en-AU" sz="4400"/>
              <a:t>?</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connections between benchmark fractions, decimals and percentages</a:t>
            </a:r>
          </a:p>
        </p:txBody>
      </p:sp>
      <p:pic>
        <p:nvPicPr>
          <p:cNvPr id="7" name="Picture 6" descr="The question 'What would you rather... one-quarter of $40, 10 percent of $50 or 0.5 of $30?">
            <a:extLst>
              <a:ext uri="{FF2B5EF4-FFF2-40B4-BE49-F238E27FC236}">
                <a16:creationId xmlns:a16="http://schemas.microsoft.com/office/drawing/2014/main" id="{413494C1-1B97-034E-B1AF-F5C141C1E17E}"/>
              </a:ext>
            </a:extLst>
          </p:cNvPr>
          <p:cNvPicPr>
            <a:picLocks noChangeAspect="1"/>
          </p:cNvPicPr>
          <p:nvPr/>
        </p:nvPicPr>
        <p:blipFill>
          <a:blip r:embed="rId3"/>
          <a:stretch>
            <a:fillRect/>
          </a:stretch>
        </p:blipFill>
        <p:spPr>
          <a:xfrm>
            <a:off x="2303223" y="1629235"/>
            <a:ext cx="8820777" cy="5066765"/>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p:txBody>
          <a:bodyPr/>
          <a:lstStyle/>
          <a:p>
            <a:pPr algn="ctr"/>
            <a:r>
              <a:rPr lang="en-US" sz="4400"/>
              <a:t>25% is </a:t>
            </a:r>
            <a:r>
              <a:rPr lang="en-US" sz="4400" b="1"/>
              <a:t>equivalent</a:t>
            </a:r>
            <a:r>
              <a:rPr lang="en-US" sz="4400"/>
              <a:t> to</a:t>
            </a:r>
            <a:r>
              <a:rPr lang="en-US" sz="4400" dirty="0"/>
              <a:t>:</a:t>
            </a:r>
            <a:endParaRPr lang="en-US" sz="4400"/>
          </a:p>
        </p:txBody>
      </p:sp>
      <p:sp>
        <p:nvSpPr>
          <p:cNvPr id="6" name="TextBox 5">
            <a:extLst>
              <a:ext uri="{FF2B5EF4-FFF2-40B4-BE49-F238E27FC236}">
                <a16:creationId xmlns:a16="http://schemas.microsoft.com/office/drawing/2014/main" id="{61512D49-7986-ECAC-DBCF-E7A4109018AF}"/>
              </a:ext>
            </a:extLst>
          </p:cNvPr>
          <p:cNvSpPr txBox="1"/>
          <p:nvPr/>
        </p:nvSpPr>
        <p:spPr>
          <a:xfrm>
            <a:off x="1215766"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D140308-C5D8-7802-5201-CC7264C2D25F}"/>
                  </a:ext>
                </a:extLst>
              </p:cNvPr>
              <p:cNvSpPr txBox="1"/>
              <p:nvPr/>
            </p:nvSpPr>
            <p:spPr>
              <a:xfrm>
                <a:off x="809360" y="5041159"/>
                <a:ext cx="1342239" cy="13828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AU" sz="4800" b="0" i="1" smtClean="0">
                              <a:latin typeface="Cambria Math" panose="02040503050406030204" pitchFamily="18" charset="0"/>
                            </a:rPr>
                            <m:t>2</m:t>
                          </m:r>
                        </m:num>
                        <m:den>
                          <m:r>
                            <a:rPr lang="en-AU" sz="4800" b="0" i="1" smtClean="0">
                              <a:latin typeface="Cambria Math" panose="02040503050406030204" pitchFamily="18" charset="0"/>
                            </a:rPr>
                            <m:t>5</m:t>
                          </m:r>
                        </m:den>
                      </m:f>
                    </m:oMath>
                  </m:oMathPara>
                </a14:m>
                <a:endParaRPr lang="en-US" sz="4800"/>
              </a:p>
            </p:txBody>
          </p:sp>
        </mc:Choice>
        <mc:Fallback xmlns="">
          <p:sp>
            <p:nvSpPr>
              <p:cNvPr id="14" name="TextBox 13">
                <a:extLst>
                  <a:ext uri="{FF2B5EF4-FFF2-40B4-BE49-F238E27FC236}">
                    <a16:creationId xmlns:a16="http://schemas.microsoft.com/office/drawing/2014/main" id="{1D140308-C5D8-7802-5201-CC7264C2D25F}"/>
                  </a:ext>
                </a:extLst>
              </p:cNvPr>
              <p:cNvSpPr txBox="1">
                <a:spLocks noRot="1" noChangeAspect="1" noMove="1" noResize="1" noEditPoints="1" noAdjustHandles="1" noChangeArrowheads="1" noChangeShapeType="1" noTextEdit="1"/>
              </p:cNvSpPr>
              <p:nvPr/>
            </p:nvSpPr>
            <p:spPr>
              <a:xfrm>
                <a:off x="809360" y="5041159"/>
                <a:ext cx="1342239" cy="1382879"/>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8B6E52C-CDA2-D531-9663-0A825AC6226A}"/>
              </a:ext>
            </a:extLst>
          </p:cNvPr>
          <p:cNvSpPr txBox="1"/>
          <p:nvPr/>
        </p:nvSpPr>
        <p:spPr>
          <a:xfrm>
            <a:off x="4219739"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5" name="TextBox 14">
            <a:extLst>
              <a:ext uri="{FF2B5EF4-FFF2-40B4-BE49-F238E27FC236}">
                <a16:creationId xmlns:a16="http://schemas.microsoft.com/office/drawing/2014/main" id="{243ED15F-4EC2-0A9A-E671-EAEBB4F79756}"/>
              </a:ext>
            </a:extLst>
          </p:cNvPr>
          <p:cNvSpPr txBox="1"/>
          <p:nvPr/>
        </p:nvSpPr>
        <p:spPr>
          <a:xfrm>
            <a:off x="3695600" y="5041159"/>
            <a:ext cx="157770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0.25</a:t>
            </a:r>
          </a:p>
        </p:txBody>
      </p:sp>
      <p:sp>
        <p:nvSpPr>
          <p:cNvPr id="8" name="TextBox 7">
            <a:extLst>
              <a:ext uri="{FF2B5EF4-FFF2-40B4-BE49-F238E27FC236}">
                <a16:creationId xmlns:a16="http://schemas.microsoft.com/office/drawing/2014/main" id="{180902FE-032D-10E4-B96F-DB43B9907B59}"/>
              </a:ext>
            </a:extLst>
          </p:cNvPr>
          <p:cNvSpPr txBox="1"/>
          <p:nvPr/>
        </p:nvSpPr>
        <p:spPr>
          <a:xfrm>
            <a:off x="7223712"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Box 15">
            <a:extLst>
              <a:ext uri="{FF2B5EF4-FFF2-40B4-BE49-F238E27FC236}">
                <a16:creationId xmlns:a16="http://schemas.microsoft.com/office/drawing/2014/main" id="{65D0DB1D-E1FD-B466-7F28-496F519A3B0B}"/>
              </a:ext>
            </a:extLst>
          </p:cNvPr>
          <p:cNvSpPr txBox="1"/>
          <p:nvPr/>
        </p:nvSpPr>
        <p:spPr>
          <a:xfrm>
            <a:off x="6753988" y="5041159"/>
            <a:ext cx="14688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2.5</a:t>
            </a:r>
          </a:p>
        </p:txBody>
      </p:sp>
      <p:sp>
        <p:nvSpPr>
          <p:cNvPr id="13" name="TextBox 12">
            <a:extLst>
              <a:ext uri="{FF2B5EF4-FFF2-40B4-BE49-F238E27FC236}">
                <a16:creationId xmlns:a16="http://schemas.microsoft.com/office/drawing/2014/main" id="{D493934E-4D9D-3203-F0EA-8B61653BC335}"/>
              </a:ext>
            </a:extLst>
          </p:cNvPr>
          <p:cNvSpPr txBox="1"/>
          <p:nvPr/>
        </p:nvSpPr>
        <p:spPr>
          <a:xfrm>
            <a:off x="10227686"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FA116E5-29FD-BE9D-FDDD-DBE0B6096E35}"/>
                  </a:ext>
                </a:extLst>
              </p:cNvPr>
              <p:cNvSpPr txBox="1"/>
              <p:nvPr/>
            </p:nvSpPr>
            <p:spPr>
              <a:xfrm>
                <a:off x="9821280" y="5041159"/>
                <a:ext cx="1342239" cy="13876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AU" sz="4800" b="0" i="1" smtClean="0">
                              <a:latin typeface="Cambria Math" panose="02040503050406030204" pitchFamily="18" charset="0"/>
                            </a:rPr>
                            <m:t>1</m:t>
                          </m:r>
                        </m:num>
                        <m:den>
                          <m:r>
                            <a:rPr lang="en-AU" sz="4800" b="0" i="1" smtClean="0">
                              <a:latin typeface="Cambria Math" panose="02040503050406030204" pitchFamily="18" charset="0"/>
                            </a:rPr>
                            <m:t>2</m:t>
                          </m:r>
                        </m:den>
                      </m:f>
                    </m:oMath>
                  </m:oMathPara>
                </a14:m>
                <a:endParaRPr lang="en-US" sz="4800"/>
              </a:p>
            </p:txBody>
          </p:sp>
        </mc:Choice>
        <mc:Fallback xmlns="">
          <p:sp>
            <p:nvSpPr>
              <p:cNvPr id="17" name="TextBox 16">
                <a:extLst>
                  <a:ext uri="{FF2B5EF4-FFF2-40B4-BE49-F238E27FC236}">
                    <a16:creationId xmlns:a16="http://schemas.microsoft.com/office/drawing/2014/main" id="{5FA116E5-29FD-BE9D-FDDD-DBE0B6096E35}"/>
                  </a:ext>
                </a:extLst>
              </p:cNvPr>
              <p:cNvSpPr txBox="1">
                <a:spLocks noRot="1" noChangeAspect="1" noMove="1" noResize="1" noEditPoints="1" noAdjustHandles="1" noChangeArrowheads="1" noChangeShapeType="1" noTextEdit="1"/>
              </p:cNvSpPr>
              <p:nvPr/>
            </p:nvSpPr>
            <p:spPr>
              <a:xfrm>
                <a:off x="9821280" y="5041159"/>
                <a:ext cx="1342239" cy="1387688"/>
              </a:xfrm>
              <a:prstGeom prst="rect">
                <a:avLst/>
              </a:prstGeom>
              <a:blipFill>
                <a:blip r:embed="rId4"/>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5" name="Text Placeholder 17">
            <a:extLst>
              <a:ext uri="{FF2B5EF4-FFF2-40B4-BE49-F238E27FC236}">
                <a16:creationId xmlns:a16="http://schemas.microsoft.com/office/drawing/2014/main" id="{9809B38D-3E19-1BC5-30B7-80364DF13888}"/>
              </a:ext>
            </a:extLst>
          </p:cNvPr>
          <p:cNvSpPr txBox="1">
            <a:spLocks/>
          </p:cNvSpPr>
          <p:nvPr/>
        </p:nvSpPr>
        <p:spPr>
          <a:xfrm>
            <a:off x="736724" y="905601"/>
            <a:ext cx="1071855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Both </a:t>
            </a:r>
            <a:r>
              <a:rPr lang="en-US" sz="4400" b="1"/>
              <a:t>rectangles</a:t>
            </a:r>
            <a:r>
              <a:rPr lang="en-US" sz="4400"/>
              <a:t> have an </a:t>
            </a:r>
            <a:r>
              <a:rPr lang="en-US" sz="4400" b="1"/>
              <a:t>area</a:t>
            </a:r>
            <a:r>
              <a:rPr lang="en-US" sz="4400"/>
              <a:t> of </a:t>
            </a:r>
            <a:r>
              <a:rPr lang="en-US" sz="4400" b="1"/>
              <a:t>24 m</a:t>
            </a:r>
            <a:r>
              <a:rPr lang="en-US" sz="4400" b="1" baseline="30000"/>
              <a:t>2</a:t>
            </a:r>
            <a:r>
              <a:rPr lang="en-US" sz="4400"/>
              <a:t>.</a:t>
            </a:r>
          </a:p>
        </p:txBody>
      </p:sp>
      <p:pic>
        <p:nvPicPr>
          <p:cNvPr id="10" name="Picture 9" descr="Two rectangles are shown side by side.&#10;&#10;The rectangle on the left is outlined in blue. The top side is labelled 12 metres and the left side is labelled 2 metres.&#10;&#10;The rectangle on the right is outlined in red. The top side is labelled 8 metres and the left side is labelled 3 metres.">
            <a:extLst>
              <a:ext uri="{FF2B5EF4-FFF2-40B4-BE49-F238E27FC236}">
                <a16:creationId xmlns:a16="http://schemas.microsoft.com/office/drawing/2014/main" id="{95C8B0B6-D671-0CEB-7C28-730D21A19279}"/>
              </a:ext>
            </a:extLst>
          </p:cNvPr>
          <p:cNvPicPr>
            <a:picLocks noChangeAspect="1"/>
          </p:cNvPicPr>
          <p:nvPr/>
        </p:nvPicPr>
        <p:blipFill>
          <a:blip r:embed="rId3"/>
          <a:srcRect l="2214" t="8693" r="2918" b="10724"/>
          <a:stretch>
            <a:fillRect/>
          </a:stretch>
        </p:blipFill>
        <p:spPr>
          <a:xfrm>
            <a:off x="1136569" y="2344428"/>
            <a:ext cx="9590699" cy="1565833"/>
          </a:xfrm>
          <a:prstGeom prst="rect">
            <a:avLst/>
          </a:prstGeom>
          <a:ln>
            <a:noFill/>
          </a:ln>
          <a:effectLst>
            <a:outerShdw blurRad="292100" dist="139700" dir="2700000" algn="tl" rotWithShape="0">
              <a:srgbClr val="333333">
                <a:alpha val="65000"/>
              </a:srgbClr>
            </a:outerShdw>
          </a:effectLst>
        </p:spPr>
      </p:pic>
      <p:sp>
        <p:nvSpPr>
          <p:cNvPr id="7" name="Text Placeholder 17">
            <a:extLst>
              <a:ext uri="{FF2B5EF4-FFF2-40B4-BE49-F238E27FC236}">
                <a16:creationId xmlns:a16="http://schemas.microsoft.com/office/drawing/2014/main" id="{1DD44783-8314-8C76-FF8C-13B8EEB10A28}"/>
              </a:ext>
            </a:extLst>
          </p:cNvPr>
          <p:cNvSpPr txBox="1">
            <a:spLocks/>
          </p:cNvSpPr>
          <p:nvPr/>
        </p:nvSpPr>
        <p:spPr>
          <a:xfrm>
            <a:off x="352656" y="4467505"/>
            <a:ext cx="1148668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Which </a:t>
            </a:r>
            <a:r>
              <a:rPr lang="en-US" sz="4400" b="1"/>
              <a:t>rectangle</a:t>
            </a:r>
            <a:r>
              <a:rPr lang="en-US" sz="4400"/>
              <a:t> has the </a:t>
            </a:r>
            <a:r>
              <a:rPr lang="en-US" sz="4400" b="1"/>
              <a:t>largest perimeter</a:t>
            </a:r>
            <a:r>
              <a:rPr lang="en-US" sz="4400"/>
              <a:t>?</a:t>
            </a:r>
          </a:p>
        </p:txBody>
      </p:sp>
      <p:sp>
        <p:nvSpPr>
          <p:cNvPr id="8" name="Text Placeholder 17">
            <a:extLst>
              <a:ext uri="{FF2B5EF4-FFF2-40B4-BE49-F238E27FC236}">
                <a16:creationId xmlns:a16="http://schemas.microsoft.com/office/drawing/2014/main" id="{68415259-C038-CFE1-96F3-B43545100BA8}"/>
              </a:ext>
            </a:extLst>
          </p:cNvPr>
          <p:cNvSpPr txBox="1">
            <a:spLocks/>
          </p:cNvSpPr>
          <p:nvPr/>
        </p:nvSpPr>
        <p:spPr>
          <a:xfrm>
            <a:off x="651974" y="5528722"/>
            <a:ext cx="1088805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Communicate</a:t>
            </a:r>
            <a:r>
              <a:rPr lang="en-US" sz="4400"/>
              <a:t> your </a:t>
            </a:r>
            <a:r>
              <a:rPr lang="en-US" sz="4400" b="1"/>
              <a:t>reasoning</a:t>
            </a:r>
            <a:r>
              <a:rPr lang="en-US" sz="4400"/>
              <a:t>.</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5" name="TextBox 4">
            <a:extLst>
              <a:ext uri="{FF2B5EF4-FFF2-40B4-BE49-F238E27FC236}">
                <a16:creationId xmlns:a16="http://schemas.microsoft.com/office/drawing/2014/main" id="{38DDC692-F9D5-2C49-F722-32ACAE1E1A52}"/>
              </a:ext>
            </a:extLst>
          </p:cNvPr>
          <p:cNvSpPr txBox="1"/>
          <p:nvPr/>
        </p:nvSpPr>
        <p:spPr>
          <a:xfrm>
            <a:off x="456870" y="1538766"/>
            <a:ext cx="11278260" cy="982513"/>
          </a:xfrm>
          <a:prstGeom prst="rect">
            <a:avLst/>
          </a:prstGeom>
          <a:noFill/>
        </p:spPr>
        <p:txBody>
          <a:bodyPr wrap="square">
            <a:spAutoFit/>
          </a:bodyPr>
          <a:lstStyle/>
          <a:p>
            <a:pPr algn="ctr">
              <a:lnSpc>
                <a:spcPct val="150000"/>
              </a:lnSpc>
            </a:pPr>
            <a:r>
              <a:rPr lang="en-AU" sz="4400"/>
              <a:t>A printer prints </a:t>
            </a:r>
            <a:r>
              <a:rPr lang="en-AU" sz="4400" b="1"/>
              <a:t>15 pages </a:t>
            </a:r>
            <a:r>
              <a:rPr lang="en-AU" sz="4400"/>
              <a:t>every </a:t>
            </a:r>
            <a:r>
              <a:rPr lang="en-AU" sz="4400" b="1"/>
              <a:t>5 seconds</a:t>
            </a:r>
            <a:r>
              <a:rPr lang="en-AU" sz="4400"/>
              <a:t>.</a:t>
            </a:r>
          </a:p>
        </p:txBody>
      </p:sp>
      <p:sp>
        <p:nvSpPr>
          <p:cNvPr id="7" name="TextBox 6">
            <a:extLst>
              <a:ext uri="{FF2B5EF4-FFF2-40B4-BE49-F238E27FC236}">
                <a16:creationId xmlns:a16="http://schemas.microsoft.com/office/drawing/2014/main" id="{C9B16C8A-2564-30FC-30CE-851B068E4C70}"/>
              </a:ext>
            </a:extLst>
          </p:cNvPr>
          <p:cNvSpPr txBox="1"/>
          <p:nvPr/>
        </p:nvSpPr>
        <p:spPr>
          <a:xfrm>
            <a:off x="681481" y="3429000"/>
            <a:ext cx="10829037" cy="1998176"/>
          </a:xfrm>
          <a:prstGeom prst="rect">
            <a:avLst/>
          </a:prstGeom>
          <a:noFill/>
        </p:spPr>
        <p:txBody>
          <a:bodyPr wrap="square">
            <a:spAutoFit/>
          </a:bodyPr>
          <a:lstStyle/>
          <a:p>
            <a:pPr algn="ctr">
              <a:lnSpc>
                <a:spcPct val="150000"/>
              </a:lnSpc>
            </a:pPr>
            <a:r>
              <a:rPr lang="en-AU" sz="4400" b="1"/>
              <a:t>How many pages </a:t>
            </a:r>
            <a:r>
              <a:rPr lang="en-AU" sz="4400"/>
              <a:t>does it print in </a:t>
            </a:r>
            <a:r>
              <a:rPr lang="en-AU" sz="4400" b="1"/>
              <a:t>1 minute</a:t>
            </a:r>
            <a:r>
              <a:rPr lang="en-AU" sz="4400"/>
              <a:t>?</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5" name="Text Placeholder 5">
            <a:extLst>
              <a:ext uri="{FF2B5EF4-FFF2-40B4-BE49-F238E27FC236}">
                <a16:creationId xmlns:a16="http://schemas.microsoft.com/office/drawing/2014/main" id="{526A6220-4F82-B78C-D255-E9F53EA067BC}"/>
              </a:ext>
            </a:extLst>
          </p:cNvPr>
          <p:cNvSpPr txBox="1">
            <a:spLocks/>
          </p:cNvSpPr>
          <p:nvPr/>
        </p:nvSpPr>
        <p:spPr>
          <a:xfrm>
            <a:off x="261078" y="955202"/>
            <a:ext cx="11684898" cy="10123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a:t>Label</a:t>
            </a:r>
            <a:r>
              <a:rPr lang="en-AU" sz="4000"/>
              <a:t> what is happening to the </a:t>
            </a:r>
            <a:r>
              <a:rPr lang="en-AU" sz="4000" b="1"/>
              <a:t>shape</a:t>
            </a:r>
            <a:r>
              <a:rPr lang="en-AU" sz="4000"/>
              <a:t> in each box.</a:t>
            </a:r>
          </a:p>
        </p:txBody>
      </p:sp>
      <p:sp>
        <p:nvSpPr>
          <p:cNvPr id="7" name="Text Placeholder 5">
            <a:extLst>
              <a:ext uri="{FF2B5EF4-FFF2-40B4-BE49-F238E27FC236}">
                <a16:creationId xmlns:a16="http://schemas.microsoft.com/office/drawing/2014/main" id="{D84BAF03-6B82-3D5C-850A-383E91563BEE}"/>
              </a:ext>
            </a:extLst>
          </p:cNvPr>
          <p:cNvSpPr txBox="1">
            <a:spLocks/>
          </p:cNvSpPr>
          <p:nvPr/>
        </p:nvSpPr>
        <p:spPr>
          <a:xfrm>
            <a:off x="1456572" y="2261107"/>
            <a:ext cx="1938117" cy="1012306"/>
          </a:xfrm>
          <a:prstGeom prst="rect">
            <a:avLst/>
          </a:prstGeom>
          <a:ln w="38100">
            <a:solidFill>
              <a:schemeClr val="accent2"/>
            </a:solidFill>
          </a:ln>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reflect</a:t>
            </a:r>
          </a:p>
        </p:txBody>
      </p:sp>
      <p:sp>
        <p:nvSpPr>
          <p:cNvPr id="8" name="Text Placeholder 5">
            <a:extLst>
              <a:ext uri="{FF2B5EF4-FFF2-40B4-BE49-F238E27FC236}">
                <a16:creationId xmlns:a16="http://schemas.microsoft.com/office/drawing/2014/main" id="{8CB07FED-6DFE-18D4-0B47-1FD7BD384C5A}"/>
              </a:ext>
            </a:extLst>
          </p:cNvPr>
          <p:cNvSpPr txBox="1">
            <a:spLocks/>
          </p:cNvSpPr>
          <p:nvPr/>
        </p:nvSpPr>
        <p:spPr>
          <a:xfrm>
            <a:off x="4454013" y="2261107"/>
            <a:ext cx="2418709" cy="1012306"/>
          </a:xfrm>
          <a:prstGeom prst="rect">
            <a:avLst/>
          </a:prstGeom>
          <a:ln w="38100">
            <a:solidFill>
              <a:schemeClr val="accent2"/>
            </a:solidFill>
          </a:ln>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translate</a:t>
            </a:r>
          </a:p>
        </p:txBody>
      </p:sp>
      <p:sp>
        <p:nvSpPr>
          <p:cNvPr id="9" name="Text Placeholder 5">
            <a:extLst>
              <a:ext uri="{FF2B5EF4-FFF2-40B4-BE49-F238E27FC236}">
                <a16:creationId xmlns:a16="http://schemas.microsoft.com/office/drawing/2014/main" id="{7D1F0E1E-A1DB-C1A5-2795-28D613D350CB}"/>
              </a:ext>
            </a:extLst>
          </p:cNvPr>
          <p:cNvSpPr txBox="1">
            <a:spLocks/>
          </p:cNvSpPr>
          <p:nvPr/>
        </p:nvSpPr>
        <p:spPr>
          <a:xfrm>
            <a:off x="7932045" y="2261107"/>
            <a:ext cx="1715263" cy="1012306"/>
          </a:xfrm>
          <a:prstGeom prst="rect">
            <a:avLst/>
          </a:prstGeom>
          <a:ln w="38100">
            <a:solidFill>
              <a:schemeClr val="accent2"/>
            </a:solidFill>
          </a:ln>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rotate</a:t>
            </a:r>
          </a:p>
        </p:txBody>
      </p:sp>
      <p:pic>
        <p:nvPicPr>
          <p:cNvPr id="17" name="Picture 16">
            <a:extLst>
              <a:ext uri="{FF2B5EF4-FFF2-40B4-BE49-F238E27FC236}">
                <a16:creationId xmlns:a16="http://schemas.microsoft.com/office/drawing/2014/main" id="{9EB6AD8F-8EBE-9A63-97C5-9C3F26A3D08F}"/>
              </a:ext>
            </a:extLst>
          </p:cNvPr>
          <p:cNvPicPr>
            <a:picLocks noChangeAspect="1"/>
          </p:cNvPicPr>
          <p:nvPr/>
        </p:nvPicPr>
        <p:blipFill>
          <a:blip r:embed="rId3"/>
          <a:srcRect l="68518" r="509"/>
          <a:stretch>
            <a:fillRect/>
          </a:stretch>
        </p:blipFill>
        <p:spPr>
          <a:xfrm>
            <a:off x="8283190" y="4335321"/>
            <a:ext cx="3662786" cy="1669265"/>
          </a:xfrm>
          <a:prstGeom prst="rect">
            <a:avLst/>
          </a:prstGeom>
        </p:spPr>
      </p:pic>
      <p:pic>
        <p:nvPicPr>
          <p:cNvPr id="18" name="Picture 17">
            <a:extLst>
              <a:ext uri="{FF2B5EF4-FFF2-40B4-BE49-F238E27FC236}">
                <a16:creationId xmlns:a16="http://schemas.microsoft.com/office/drawing/2014/main" id="{5C0E8CA9-D083-5256-503F-0FBFAFAB97DD}"/>
              </a:ext>
            </a:extLst>
          </p:cNvPr>
          <p:cNvPicPr>
            <a:picLocks noChangeAspect="1"/>
          </p:cNvPicPr>
          <p:nvPr/>
        </p:nvPicPr>
        <p:blipFill>
          <a:blip r:embed="rId3"/>
          <a:srcRect l="34171" r="34347"/>
          <a:stretch>
            <a:fillRect/>
          </a:stretch>
        </p:blipFill>
        <p:spPr>
          <a:xfrm>
            <a:off x="4209085" y="4335320"/>
            <a:ext cx="3722960" cy="1669266"/>
          </a:xfrm>
          <a:prstGeom prst="rect">
            <a:avLst/>
          </a:prstGeom>
        </p:spPr>
      </p:pic>
      <p:pic>
        <p:nvPicPr>
          <p:cNvPr id="19" name="Picture 18">
            <a:extLst>
              <a:ext uri="{FF2B5EF4-FFF2-40B4-BE49-F238E27FC236}">
                <a16:creationId xmlns:a16="http://schemas.microsoft.com/office/drawing/2014/main" id="{854B9AEB-FA39-8275-F04F-FA13B6CA1AE5}"/>
              </a:ext>
            </a:extLst>
          </p:cNvPr>
          <p:cNvPicPr>
            <a:picLocks noChangeAspect="1"/>
          </p:cNvPicPr>
          <p:nvPr/>
        </p:nvPicPr>
        <p:blipFill>
          <a:blip r:embed="rId3"/>
          <a:srcRect r="68518"/>
          <a:stretch>
            <a:fillRect/>
          </a:stretch>
        </p:blipFill>
        <p:spPr>
          <a:xfrm>
            <a:off x="134982" y="4335321"/>
            <a:ext cx="3722959" cy="1669265"/>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8" name="TextBox 7">
            <a:extLst>
              <a:ext uri="{FF2B5EF4-FFF2-40B4-BE49-F238E27FC236}">
                <a16:creationId xmlns:a16="http://schemas.microsoft.com/office/drawing/2014/main" id="{8504EA2E-4169-31C7-A1FD-DC32A54728CA}"/>
              </a:ext>
            </a:extLst>
          </p:cNvPr>
          <p:cNvSpPr txBox="1"/>
          <p:nvPr/>
        </p:nvSpPr>
        <p:spPr>
          <a:xfrm>
            <a:off x="246024" y="950569"/>
            <a:ext cx="6422176" cy="2482667"/>
          </a:xfrm>
          <a:prstGeom prst="rect">
            <a:avLst/>
          </a:prstGeom>
          <a:noFill/>
        </p:spPr>
        <p:txBody>
          <a:bodyPr wrap="square">
            <a:spAutoFit/>
          </a:bodyPr>
          <a:lstStyle/>
          <a:p>
            <a:pPr rtl="0" fontAlgn="base">
              <a:lnSpc>
                <a:spcPct val="150000"/>
              </a:lnSpc>
              <a:spcAft>
                <a:spcPts val="600"/>
              </a:spcAft>
              <a:buNone/>
            </a:pPr>
            <a:r>
              <a:rPr lang="en-AU" sz="3600" b="1" i="0" u="none" strike="noStrike">
                <a:solidFill>
                  <a:srgbClr val="000000"/>
                </a:solidFill>
                <a:effectLst/>
                <a:latin typeface="Arial" panose="020B0604020202020204" pitchFamily="34" charset="0"/>
              </a:rPr>
              <a:t>Record</a:t>
            </a:r>
            <a:r>
              <a:rPr lang="en-AU" sz="3600" b="0" i="0" u="none" strike="noStrike">
                <a:solidFill>
                  <a:srgbClr val="000000"/>
                </a:solidFill>
                <a:effectLst/>
                <a:latin typeface="Arial" panose="020B0604020202020204" pitchFamily="34" charset="0"/>
              </a:rPr>
              <a:t> the </a:t>
            </a:r>
            <a:r>
              <a:rPr lang="en-AU" sz="3600" b="1" i="0" u="none" strike="noStrike">
                <a:solidFill>
                  <a:srgbClr val="000000"/>
                </a:solidFill>
                <a:effectLst/>
                <a:latin typeface="Arial" panose="020B0604020202020204" pitchFamily="34" charset="0"/>
              </a:rPr>
              <a:t>coordinates</a:t>
            </a:r>
            <a:r>
              <a:rPr lang="en-AU" sz="3600" b="0" i="0" u="none" strike="noStrike">
                <a:solidFill>
                  <a:srgbClr val="000000"/>
                </a:solidFill>
                <a:effectLst/>
                <a:latin typeface="Arial" panose="020B0604020202020204" pitchFamily="34" charset="0"/>
              </a:rPr>
              <a:t> of each heart on the </a:t>
            </a:r>
            <a:r>
              <a:rPr lang="en-AU" sz="3600" b="1" i="0" u="none" strike="noStrike">
                <a:solidFill>
                  <a:srgbClr val="000000"/>
                </a:solidFill>
                <a:effectLst/>
                <a:latin typeface="Arial" panose="020B0604020202020204" pitchFamily="34" charset="0"/>
              </a:rPr>
              <a:t>Cartesian plane</a:t>
            </a:r>
            <a:r>
              <a:rPr lang="en-AU" sz="3600" b="0" i="0" u="none" strike="noStrike">
                <a:solidFill>
                  <a:srgbClr val="000000"/>
                </a:solidFill>
                <a:effectLst/>
                <a:latin typeface="Arial" panose="020B0604020202020204" pitchFamily="34" charset="0"/>
              </a:rPr>
              <a:t>.</a:t>
            </a:r>
            <a:r>
              <a:rPr lang="en-US" sz="3600" b="0" i="0">
                <a:solidFill>
                  <a:srgbClr val="22272B"/>
                </a:solidFill>
                <a:effectLst/>
                <a:latin typeface="Arial" panose="020B0604020202020204" pitchFamily="34" charset="0"/>
              </a:rPr>
              <a:t>​</a:t>
            </a:r>
          </a:p>
        </p:txBody>
      </p:sp>
      <p:grpSp>
        <p:nvGrpSpPr>
          <p:cNvPr id="20" name="Group 19" descr="a) green heart&#10;b) yellow heart&#10;c) purple heart&#10;d) blue heart&#10;">
            <a:extLst>
              <a:ext uri="{FF2B5EF4-FFF2-40B4-BE49-F238E27FC236}">
                <a16:creationId xmlns:a16="http://schemas.microsoft.com/office/drawing/2014/main" id="{779145DC-43BE-4C05-36DD-AFE54FBC4C2A}"/>
              </a:ext>
            </a:extLst>
          </p:cNvPr>
          <p:cNvGrpSpPr/>
          <p:nvPr/>
        </p:nvGrpSpPr>
        <p:grpSpPr>
          <a:xfrm>
            <a:off x="2315967" y="3311422"/>
            <a:ext cx="1141145" cy="3186578"/>
            <a:chOff x="1481475" y="2912545"/>
            <a:chExt cx="1141145" cy="3186578"/>
          </a:xfrm>
        </p:grpSpPr>
        <p:sp>
          <p:nvSpPr>
            <p:cNvPr id="10" name="TextBox 9">
              <a:extLst>
                <a:ext uri="{FF2B5EF4-FFF2-40B4-BE49-F238E27FC236}">
                  <a16:creationId xmlns:a16="http://schemas.microsoft.com/office/drawing/2014/main" id="{EA304939-14B0-3C1D-96B4-6AFBB28117E3}"/>
                </a:ext>
              </a:extLst>
            </p:cNvPr>
            <p:cNvSpPr txBox="1"/>
            <p:nvPr/>
          </p:nvSpPr>
          <p:spPr>
            <a:xfrm>
              <a:off x="1481475" y="2912545"/>
              <a:ext cx="737850" cy="3186578"/>
            </a:xfrm>
            <a:prstGeom prst="rect">
              <a:avLst/>
            </a:prstGeom>
            <a:noFill/>
          </p:spPr>
          <p:txBody>
            <a:bodyPr wrap="square">
              <a:spAutoFit/>
            </a:bodyPr>
            <a:lstStyle/>
            <a:p>
              <a:pPr marL="514350" indent="-514350" rtl="0" fontAlgn="base">
                <a:lnSpc>
                  <a:spcPct val="150000"/>
                </a:lnSpc>
                <a:spcAft>
                  <a:spcPts val="600"/>
                </a:spcAft>
                <a:buFont typeface="+mj-lt"/>
                <a:buAutoNum type="alphaLcParenR"/>
              </a:pPr>
              <a:r>
                <a:rPr lang="en-AU" sz="3200" b="0" i="0" u="none" strike="noStrike">
                  <a:effectLst/>
                  <a:latin typeface="Arial" panose="020B0604020202020204" pitchFamily="34" charset="0"/>
                </a:rPr>
                <a:t> </a:t>
              </a:r>
              <a:endParaRPr lang="en-AU" sz="3200" b="0" i="0" u="none" strike="noStrike">
                <a:solidFill>
                  <a:srgbClr val="FF751F"/>
                </a:solidFill>
                <a:effectLst/>
                <a:latin typeface="Arial" panose="020B0604020202020204" pitchFamily="34" charset="0"/>
              </a:endParaRPr>
            </a:p>
            <a:p>
              <a:pPr marL="514350" indent="-514350" rtl="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p:txBody>
        </p:sp>
        <p:grpSp>
          <p:nvGrpSpPr>
            <p:cNvPr id="4" name="Group 45">
              <a:extLst>
                <a:ext uri="{FF2B5EF4-FFF2-40B4-BE49-F238E27FC236}">
                  <a16:creationId xmlns:a16="http://schemas.microsoft.com/office/drawing/2014/main" id="{51314288-2B3D-0A92-ACE5-D61FF31F184F}"/>
                </a:ext>
              </a:extLst>
            </p:cNvPr>
            <p:cNvGrpSpPr/>
            <p:nvPr/>
          </p:nvGrpSpPr>
          <p:grpSpPr>
            <a:xfrm>
              <a:off x="2051862" y="3987422"/>
              <a:ext cx="570758" cy="477361"/>
              <a:chOff x="0" y="0"/>
              <a:chExt cx="698500" cy="584200"/>
            </a:xfrm>
          </p:grpSpPr>
          <p:sp>
            <p:nvSpPr>
              <p:cNvPr id="5" name="Freeform 46">
                <a:extLst>
                  <a:ext uri="{FF2B5EF4-FFF2-40B4-BE49-F238E27FC236}">
                    <a16:creationId xmlns:a16="http://schemas.microsoft.com/office/drawing/2014/main" id="{2A9B33B9-27C0-678A-74ED-BC6F6CFB1BB7}"/>
                  </a:ext>
                </a:extLst>
              </p:cNvPr>
              <p:cNvSpPr/>
              <p:nvPr/>
            </p:nvSpPr>
            <p:spPr>
              <a:xfrm>
                <a:off x="0" y="0"/>
                <a:ext cx="698500" cy="584200"/>
              </a:xfrm>
              <a:custGeom>
                <a:avLst/>
                <a:gdLst/>
                <a:ahLst/>
                <a:cxnLst/>
                <a:rect l="l" t="t" r="r" b="b"/>
                <a:pathLst>
                  <a:path w="698500" h="584200">
                    <a:moveTo>
                      <a:pt x="698500" y="176714"/>
                    </a:moveTo>
                    <a:cubicBezTo>
                      <a:pt x="693867" y="67967"/>
                      <a:pt x="617595" y="0"/>
                      <a:pt x="517807" y="0"/>
                    </a:cubicBezTo>
                    <a:cubicBezTo>
                      <a:pt x="442018" y="2"/>
                      <a:pt x="371789" y="45644"/>
                      <a:pt x="342391" y="110355"/>
                    </a:cubicBezTo>
                    <a:cubicBezTo>
                      <a:pt x="314122" y="45646"/>
                      <a:pt x="246606" y="0"/>
                      <a:pt x="173732" y="0"/>
                    </a:cubicBezTo>
                    <a:cubicBezTo>
                      <a:pt x="77783" y="0"/>
                      <a:pt x="4455" y="67967"/>
                      <a:pt x="0" y="176714"/>
                    </a:cubicBezTo>
                    <a:cubicBezTo>
                      <a:pt x="0" y="402599"/>
                      <a:pt x="173168" y="513406"/>
                      <a:pt x="342391" y="584200"/>
                    </a:cubicBezTo>
                    <a:cubicBezTo>
                      <a:pt x="518403" y="513408"/>
                      <a:pt x="698500" y="402626"/>
                      <a:pt x="698500" y="176714"/>
                    </a:cubicBezTo>
                    <a:close/>
                  </a:path>
                </a:pathLst>
              </a:custGeom>
              <a:solidFill>
                <a:srgbClr val="FFDE59"/>
              </a:solidFill>
            </p:spPr>
            <p:txBody>
              <a:bodyPr/>
              <a:lstStyle/>
              <a:p>
                <a:endParaRPr lang="en-AU"/>
              </a:p>
            </p:txBody>
          </p:sp>
          <p:sp>
            <p:nvSpPr>
              <p:cNvPr id="9" name="TextBox 47">
                <a:extLst>
                  <a:ext uri="{FF2B5EF4-FFF2-40B4-BE49-F238E27FC236}">
                    <a16:creationId xmlns:a16="http://schemas.microsoft.com/office/drawing/2014/main" id="{F55D0235-3C36-69CD-8BBB-CDC7DF13024E}"/>
                  </a:ext>
                </a:extLst>
              </p:cNvPr>
              <p:cNvSpPr txBox="1"/>
              <p:nvPr/>
            </p:nvSpPr>
            <p:spPr>
              <a:xfrm>
                <a:off x="63500" y="79375"/>
                <a:ext cx="571500" cy="428625"/>
              </a:xfrm>
              <a:prstGeom prst="rect">
                <a:avLst/>
              </a:prstGeom>
            </p:spPr>
            <p:txBody>
              <a:bodyPr lIns="50800" tIns="50800" rIns="50800" bIns="50800" rtlCol="0" anchor="ctr"/>
              <a:lstStyle/>
              <a:p>
                <a:pPr algn="ctr">
                  <a:lnSpc>
                    <a:spcPts val="2072"/>
                  </a:lnSpc>
                </a:pPr>
                <a:endParaRPr/>
              </a:p>
            </p:txBody>
          </p:sp>
        </p:grpSp>
        <p:grpSp>
          <p:nvGrpSpPr>
            <p:cNvPr id="11" name="Group 48">
              <a:extLst>
                <a:ext uri="{FF2B5EF4-FFF2-40B4-BE49-F238E27FC236}">
                  <a16:creationId xmlns:a16="http://schemas.microsoft.com/office/drawing/2014/main" id="{4A70FA5A-595E-7365-718C-E9C17BA7FE63}"/>
                </a:ext>
              </a:extLst>
            </p:cNvPr>
            <p:cNvGrpSpPr/>
            <p:nvPr/>
          </p:nvGrpSpPr>
          <p:grpSpPr>
            <a:xfrm>
              <a:off x="2051862" y="3182757"/>
              <a:ext cx="570758" cy="477361"/>
              <a:chOff x="0" y="0"/>
              <a:chExt cx="698500" cy="584200"/>
            </a:xfrm>
          </p:grpSpPr>
          <p:sp>
            <p:nvSpPr>
              <p:cNvPr id="12" name="Freeform 49">
                <a:extLst>
                  <a:ext uri="{FF2B5EF4-FFF2-40B4-BE49-F238E27FC236}">
                    <a16:creationId xmlns:a16="http://schemas.microsoft.com/office/drawing/2014/main" id="{9817D7BF-AC39-D5E9-3699-9030FC22233C}"/>
                  </a:ext>
                </a:extLst>
              </p:cNvPr>
              <p:cNvSpPr/>
              <p:nvPr/>
            </p:nvSpPr>
            <p:spPr>
              <a:xfrm>
                <a:off x="0" y="0"/>
                <a:ext cx="698500" cy="584200"/>
              </a:xfrm>
              <a:custGeom>
                <a:avLst/>
                <a:gdLst/>
                <a:ahLst/>
                <a:cxnLst/>
                <a:rect l="l" t="t" r="r" b="b"/>
                <a:pathLst>
                  <a:path w="698500" h="584200">
                    <a:moveTo>
                      <a:pt x="698500" y="176714"/>
                    </a:moveTo>
                    <a:cubicBezTo>
                      <a:pt x="693867" y="67967"/>
                      <a:pt x="617595" y="0"/>
                      <a:pt x="517807" y="0"/>
                    </a:cubicBezTo>
                    <a:cubicBezTo>
                      <a:pt x="442018" y="2"/>
                      <a:pt x="371789" y="45644"/>
                      <a:pt x="342391" y="110355"/>
                    </a:cubicBezTo>
                    <a:cubicBezTo>
                      <a:pt x="314122" y="45646"/>
                      <a:pt x="246606" y="0"/>
                      <a:pt x="173732" y="0"/>
                    </a:cubicBezTo>
                    <a:cubicBezTo>
                      <a:pt x="77783" y="0"/>
                      <a:pt x="4455" y="67967"/>
                      <a:pt x="0" y="176714"/>
                    </a:cubicBezTo>
                    <a:cubicBezTo>
                      <a:pt x="0" y="402599"/>
                      <a:pt x="173168" y="513406"/>
                      <a:pt x="342391" y="584200"/>
                    </a:cubicBezTo>
                    <a:cubicBezTo>
                      <a:pt x="518403" y="513408"/>
                      <a:pt x="698500" y="402626"/>
                      <a:pt x="698500" y="176714"/>
                    </a:cubicBezTo>
                    <a:close/>
                  </a:path>
                </a:pathLst>
              </a:custGeom>
              <a:solidFill>
                <a:srgbClr val="00BF63"/>
              </a:solidFill>
            </p:spPr>
            <p:txBody>
              <a:bodyPr/>
              <a:lstStyle/>
              <a:p>
                <a:endParaRPr lang="en-AU"/>
              </a:p>
            </p:txBody>
          </p:sp>
          <p:sp>
            <p:nvSpPr>
              <p:cNvPr id="13" name="TextBox 50">
                <a:extLst>
                  <a:ext uri="{FF2B5EF4-FFF2-40B4-BE49-F238E27FC236}">
                    <a16:creationId xmlns:a16="http://schemas.microsoft.com/office/drawing/2014/main" id="{6ED129C8-3CE5-1FBF-03A8-0DB9ACD8684E}"/>
                  </a:ext>
                </a:extLst>
              </p:cNvPr>
              <p:cNvSpPr txBox="1"/>
              <p:nvPr/>
            </p:nvSpPr>
            <p:spPr>
              <a:xfrm>
                <a:off x="63500" y="79375"/>
                <a:ext cx="571500" cy="428625"/>
              </a:xfrm>
              <a:prstGeom prst="rect">
                <a:avLst/>
              </a:prstGeom>
            </p:spPr>
            <p:txBody>
              <a:bodyPr lIns="50800" tIns="50800" rIns="50800" bIns="50800" rtlCol="0" anchor="ctr"/>
              <a:lstStyle/>
              <a:p>
                <a:pPr algn="ctr">
                  <a:lnSpc>
                    <a:spcPts val="2072"/>
                  </a:lnSpc>
                </a:pPr>
                <a:endParaRPr/>
              </a:p>
            </p:txBody>
          </p:sp>
        </p:grpSp>
        <p:grpSp>
          <p:nvGrpSpPr>
            <p:cNvPr id="14" name="Group 51">
              <a:extLst>
                <a:ext uri="{FF2B5EF4-FFF2-40B4-BE49-F238E27FC236}">
                  <a16:creationId xmlns:a16="http://schemas.microsoft.com/office/drawing/2014/main" id="{004997BF-A2CF-76C3-F919-A5D29E7EE7D5}"/>
                </a:ext>
              </a:extLst>
            </p:cNvPr>
            <p:cNvGrpSpPr/>
            <p:nvPr/>
          </p:nvGrpSpPr>
          <p:grpSpPr>
            <a:xfrm>
              <a:off x="2051862" y="4792087"/>
              <a:ext cx="570758" cy="477361"/>
              <a:chOff x="0" y="0"/>
              <a:chExt cx="698500" cy="584200"/>
            </a:xfrm>
          </p:grpSpPr>
          <p:sp>
            <p:nvSpPr>
              <p:cNvPr id="15" name="Freeform 52">
                <a:extLst>
                  <a:ext uri="{FF2B5EF4-FFF2-40B4-BE49-F238E27FC236}">
                    <a16:creationId xmlns:a16="http://schemas.microsoft.com/office/drawing/2014/main" id="{D88A2C12-0AD6-379E-84B3-E3F40A485B27}"/>
                  </a:ext>
                </a:extLst>
              </p:cNvPr>
              <p:cNvSpPr/>
              <p:nvPr/>
            </p:nvSpPr>
            <p:spPr>
              <a:xfrm>
                <a:off x="0" y="0"/>
                <a:ext cx="698500" cy="584200"/>
              </a:xfrm>
              <a:custGeom>
                <a:avLst/>
                <a:gdLst/>
                <a:ahLst/>
                <a:cxnLst/>
                <a:rect l="l" t="t" r="r" b="b"/>
                <a:pathLst>
                  <a:path w="698500" h="584200">
                    <a:moveTo>
                      <a:pt x="698500" y="176714"/>
                    </a:moveTo>
                    <a:cubicBezTo>
                      <a:pt x="693867" y="67967"/>
                      <a:pt x="617595" y="0"/>
                      <a:pt x="517807" y="0"/>
                    </a:cubicBezTo>
                    <a:cubicBezTo>
                      <a:pt x="442018" y="2"/>
                      <a:pt x="371789" y="45644"/>
                      <a:pt x="342391" y="110355"/>
                    </a:cubicBezTo>
                    <a:cubicBezTo>
                      <a:pt x="314122" y="45646"/>
                      <a:pt x="246606" y="0"/>
                      <a:pt x="173732" y="0"/>
                    </a:cubicBezTo>
                    <a:cubicBezTo>
                      <a:pt x="77783" y="0"/>
                      <a:pt x="4455" y="67967"/>
                      <a:pt x="0" y="176714"/>
                    </a:cubicBezTo>
                    <a:cubicBezTo>
                      <a:pt x="0" y="402599"/>
                      <a:pt x="173168" y="513406"/>
                      <a:pt x="342391" y="584200"/>
                    </a:cubicBezTo>
                    <a:cubicBezTo>
                      <a:pt x="518403" y="513408"/>
                      <a:pt x="698500" y="402626"/>
                      <a:pt x="698500" y="176714"/>
                    </a:cubicBezTo>
                    <a:close/>
                  </a:path>
                </a:pathLst>
              </a:custGeom>
              <a:solidFill>
                <a:srgbClr val="8C52FF"/>
              </a:solidFill>
            </p:spPr>
            <p:txBody>
              <a:bodyPr/>
              <a:lstStyle/>
              <a:p>
                <a:endParaRPr lang="en-AU"/>
              </a:p>
            </p:txBody>
          </p:sp>
          <p:sp>
            <p:nvSpPr>
              <p:cNvPr id="16" name="TextBox 53">
                <a:extLst>
                  <a:ext uri="{FF2B5EF4-FFF2-40B4-BE49-F238E27FC236}">
                    <a16:creationId xmlns:a16="http://schemas.microsoft.com/office/drawing/2014/main" id="{2E6102DD-CA3C-07FD-EAC5-600037367CDF}"/>
                  </a:ext>
                </a:extLst>
              </p:cNvPr>
              <p:cNvSpPr txBox="1"/>
              <p:nvPr/>
            </p:nvSpPr>
            <p:spPr>
              <a:xfrm>
                <a:off x="63500" y="79375"/>
                <a:ext cx="571500" cy="428625"/>
              </a:xfrm>
              <a:prstGeom prst="rect">
                <a:avLst/>
              </a:prstGeom>
            </p:spPr>
            <p:txBody>
              <a:bodyPr lIns="50800" tIns="50800" rIns="50800" bIns="50800" rtlCol="0" anchor="ctr"/>
              <a:lstStyle/>
              <a:p>
                <a:pPr algn="ctr">
                  <a:lnSpc>
                    <a:spcPts val="2072"/>
                  </a:lnSpc>
                </a:pPr>
                <a:endParaRPr/>
              </a:p>
            </p:txBody>
          </p:sp>
        </p:grpSp>
        <p:grpSp>
          <p:nvGrpSpPr>
            <p:cNvPr id="17" name="Group 54">
              <a:extLst>
                <a:ext uri="{FF2B5EF4-FFF2-40B4-BE49-F238E27FC236}">
                  <a16:creationId xmlns:a16="http://schemas.microsoft.com/office/drawing/2014/main" id="{2DF4A222-E335-B624-45ED-A2A0273E130E}"/>
                </a:ext>
              </a:extLst>
            </p:cNvPr>
            <p:cNvGrpSpPr/>
            <p:nvPr/>
          </p:nvGrpSpPr>
          <p:grpSpPr>
            <a:xfrm>
              <a:off x="2051862" y="5596753"/>
              <a:ext cx="570758" cy="477361"/>
              <a:chOff x="0" y="0"/>
              <a:chExt cx="698500" cy="584200"/>
            </a:xfrm>
          </p:grpSpPr>
          <p:sp>
            <p:nvSpPr>
              <p:cNvPr id="18" name="Freeform 55">
                <a:extLst>
                  <a:ext uri="{FF2B5EF4-FFF2-40B4-BE49-F238E27FC236}">
                    <a16:creationId xmlns:a16="http://schemas.microsoft.com/office/drawing/2014/main" id="{7160D0EF-4006-F634-9289-E48B7AF64981}"/>
                  </a:ext>
                </a:extLst>
              </p:cNvPr>
              <p:cNvSpPr/>
              <p:nvPr/>
            </p:nvSpPr>
            <p:spPr>
              <a:xfrm>
                <a:off x="0" y="0"/>
                <a:ext cx="698500" cy="584200"/>
              </a:xfrm>
              <a:custGeom>
                <a:avLst/>
                <a:gdLst/>
                <a:ahLst/>
                <a:cxnLst/>
                <a:rect l="l" t="t" r="r" b="b"/>
                <a:pathLst>
                  <a:path w="698500" h="584200">
                    <a:moveTo>
                      <a:pt x="698500" y="176714"/>
                    </a:moveTo>
                    <a:cubicBezTo>
                      <a:pt x="693867" y="67967"/>
                      <a:pt x="617595" y="0"/>
                      <a:pt x="517807" y="0"/>
                    </a:cubicBezTo>
                    <a:cubicBezTo>
                      <a:pt x="442018" y="2"/>
                      <a:pt x="371789" y="45644"/>
                      <a:pt x="342391" y="110355"/>
                    </a:cubicBezTo>
                    <a:cubicBezTo>
                      <a:pt x="314122" y="45646"/>
                      <a:pt x="246606" y="0"/>
                      <a:pt x="173732" y="0"/>
                    </a:cubicBezTo>
                    <a:cubicBezTo>
                      <a:pt x="77783" y="0"/>
                      <a:pt x="4455" y="67967"/>
                      <a:pt x="0" y="176714"/>
                    </a:cubicBezTo>
                    <a:cubicBezTo>
                      <a:pt x="0" y="402599"/>
                      <a:pt x="173168" y="513406"/>
                      <a:pt x="342391" y="584200"/>
                    </a:cubicBezTo>
                    <a:cubicBezTo>
                      <a:pt x="518403" y="513408"/>
                      <a:pt x="698500" y="402626"/>
                      <a:pt x="698500" y="176714"/>
                    </a:cubicBezTo>
                    <a:close/>
                  </a:path>
                </a:pathLst>
              </a:custGeom>
              <a:solidFill>
                <a:srgbClr val="38B6FF"/>
              </a:solidFill>
            </p:spPr>
            <p:txBody>
              <a:bodyPr/>
              <a:lstStyle/>
              <a:p>
                <a:endParaRPr lang="en-AU"/>
              </a:p>
            </p:txBody>
          </p:sp>
          <p:sp>
            <p:nvSpPr>
              <p:cNvPr id="19" name="TextBox 56">
                <a:extLst>
                  <a:ext uri="{FF2B5EF4-FFF2-40B4-BE49-F238E27FC236}">
                    <a16:creationId xmlns:a16="http://schemas.microsoft.com/office/drawing/2014/main" id="{E19F9355-DF13-E016-589B-0F9E2D073CDB}"/>
                  </a:ext>
                </a:extLst>
              </p:cNvPr>
              <p:cNvSpPr txBox="1"/>
              <p:nvPr/>
            </p:nvSpPr>
            <p:spPr>
              <a:xfrm>
                <a:off x="63500" y="79375"/>
                <a:ext cx="571500" cy="428625"/>
              </a:xfrm>
              <a:prstGeom prst="rect">
                <a:avLst/>
              </a:prstGeom>
            </p:spPr>
            <p:txBody>
              <a:bodyPr lIns="50800" tIns="50800" rIns="50800" bIns="50800" rtlCol="0" anchor="ctr"/>
              <a:lstStyle/>
              <a:p>
                <a:pPr algn="ctr">
                  <a:lnSpc>
                    <a:spcPts val="2072"/>
                  </a:lnSpc>
                </a:pPr>
                <a:endParaRPr/>
              </a:p>
            </p:txBody>
          </p:sp>
        </p:grpSp>
      </p:grpSp>
      <p:pic>
        <p:nvPicPr>
          <p:cNvPr id="7" name="Picture 6" descr="A coordinate grid is shown with the x-axis running horizontally and the y-axis running vertically, both labelled and marked with positive and negative numbers. Four hearts are placed at different points on the grid.">
            <a:extLst>
              <a:ext uri="{FF2B5EF4-FFF2-40B4-BE49-F238E27FC236}">
                <a16:creationId xmlns:a16="http://schemas.microsoft.com/office/drawing/2014/main" id="{5723E755-D53E-C616-B2A8-09EBDBC036A0}"/>
              </a:ext>
            </a:extLst>
          </p:cNvPr>
          <p:cNvPicPr>
            <a:picLocks noChangeAspect="1"/>
          </p:cNvPicPr>
          <p:nvPr/>
        </p:nvPicPr>
        <p:blipFill>
          <a:blip r:embed="rId3"/>
          <a:stretch>
            <a:fillRect/>
          </a:stretch>
        </p:blipFill>
        <p:spPr>
          <a:xfrm>
            <a:off x="6183237" y="1140231"/>
            <a:ext cx="5660763" cy="5419761"/>
          </a:xfrm>
          <a:prstGeom prst="rect">
            <a:avLst/>
          </a:prstGeom>
          <a:solidFill>
            <a:schemeClr val="bg1"/>
          </a:solidFill>
          <a:ln>
            <a:noFill/>
          </a:ln>
          <a:effectLst/>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equivalent percentages, decimals and fractions</a:t>
            </a:r>
          </a:p>
        </p:txBody>
      </p:sp>
      <p:grpSp>
        <p:nvGrpSpPr>
          <p:cNvPr id="31" name="Group 30" descr="Image with various diagrams showing fractions, percentages and decimals for students to identify which is the odd one out that does not have a match.">
            <a:extLst>
              <a:ext uri="{FF2B5EF4-FFF2-40B4-BE49-F238E27FC236}">
                <a16:creationId xmlns:a16="http://schemas.microsoft.com/office/drawing/2014/main" id="{1C37DEFE-6C0A-AA44-DAF7-3C56125A8927}"/>
              </a:ext>
            </a:extLst>
          </p:cNvPr>
          <p:cNvGrpSpPr>
            <a:grpSpLocks noChangeAspect="1"/>
          </p:cNvGrpSpPr>
          <p:nvPr/>
        </p:nvGrpSpPr>
        <p:grpSpPr>
          <a:xfrm>
            <a:off x="777711" y="1429585"/>
            <a:ext cx="10636577" cy="5068415"/>
            <a:chOff x="228386" y="1129319"/>
            <a:chExt cx="11818419" cy="5631574"/>
          </a:xfrm>
        </p:grpSpPr>
        <p:sp>
          <p:nvSpPr>
            <p:cNvPr id="5" name="Freeform 2">
              <a:extLst>
                <a:ext uri="{FF2B5EF4-FFF2-40B4-BE49-F238E27FC236}">
                  <a16:creationId xmlns:a16="http://schemas.microsoft.com/office/drawing/2014/main" id="{3C7E4736-3151-2D7E-72C8-8D2CAE9BBBB2}"/>
                </a:ext>
              </a:extLst>
            </p:cNvPr>
            <p:cNvSpPr/>
            <p:nvPr/>
          </p:nvSpPr>
          <p:spPr>
            <a:xfrm>
              <a:off x="985837" y="1465407"/>
              <a:ext cx="1294268" cy="1122483"/>
            </a:xfrm>
            <a:custGeom>
              <a:avLst/>
              <a:gdLst/>
              <a:ahLst/>
              <a:cxnLst/>
              <a:rect l="l" t="t" r="r" b="b"/>
              <a:pathLst>
                <a:path w="1294268" h="1122483">
                  <a:moveTo>
                    <a:pt x="0" y="0"/>
                  </a:moveTo>
                  <a:lnTo>
                    <a:pt x="1294268" y="0"/>
                  </a:lnTo>
                  <a:lnTo>
                    <a:pt x="1294268" y="1122484"/>
                  </a:lnTo>
                  <a:lnTo>
                    <a:pt x="0" y="11224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7" name="Freeform 3">
              <a:extLst>
                <a:ext uri="{FF2B5EF4-FFF2-40B4-BE49-F238E27FC236}">
                  <a16:creationId xmlns:a16="http://schemas.microsoft.com/office/drawing/2014/main" id="{EE6D0658-7A0D-D0B6-88D5-DE51101AAF3F}"/>
                </a:ext>
              </a:extLst>
            </p:cNvPr>
            <p:cNvSpPr/>
            <p:nvPr/>
          </p:nvSpPr>
          <p:spPr>
            <a:xfrm>
              <a:off x="513777" y="4721947"/>
              <a:ext cx="1884053" cy="1884053"/>
            </a:xfrm>
            <a:custGeom>
              <a:avLst/>
              <a:gdLst/>
              <a:ahLst/>
              <a:cxnLst/>
              <a:rect l="l" t="t" r="r" b="b"/>
              <a:pathLst>
                <a:path w="1884053" h="1884053">
                  <a:moveTo>
                    <a:pt x="0" y="0"/>
                  </a:moveTo>
                  <a:lnTo>
                    <a:pt x="1884052" y="0"/>
                  </a:lnTo>
                  <a:lnTo>
                    <a:pt x="1884052" y="1884052"/>
                  </a:lnTo>
                  <a:lnTo>
                    <a:pt x="0" y="188405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Freeform 4">
              <a:extLst>
                <a:ext uri="{FF2B5EF4-FFF2-40B4-BE49-F238E27FC236}">
                  <a16:creationId xmlns:a16="http://schemas.microsoft.com/office/drawing/2014/main" id="{6DB448C8-EA7F-10B8-C45D-32357058FC21}"/>
                </a:ext>
              </a:extLst>
            </p:cNvPr>
            <p:cNvSpPr/>
            <p:nvPr/>
          </p:nvSpPr>
          <p:spPr>
            <a:xfrm>
              <a:off x="2697486" y="1179652"/>
              <a:ext cx="733653" cy="1783959"/>
            </a:xfrm>
            <a:custGeom>
              <a:avLst/>
              <a:gdLst/>
              <a:ahLst/>
              <a:cxnLst/>
              <a:rect l="l" t="t" r="r" b="b"/>
              <a:pathLst>
                <a:path w="733653" h="1783959">
                  <a:moveTo>
                    <a:pt x="0" y="0"/>
                  </a:moveTo>
                  <a:lnTo>
                    <a:pt x="733653" y="0"/>
                  </a:lnTo>
                  <a:lnTo>
                    <a:pt x="733653" y="1783959"/>
                  </a:lnTo>
                  <a:lnTo>
                    <a:pt x="0" y="178395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5">
              <a:extLst>
                <a:ext uri="{FF2B5EF4-FFF2-40B4-BE49-F238E27FC236}">
                  <a16:creationId xmlns:a16="http://schemas.microsoft.com/office/drawing/2014/main" id="{1E7AF222-89A8-95CE-3F36-671BD95CD224}"/>
                </a:ext>
              </a:extLst>
            </p:cNvPr>
            <p:cNvSpPr/>
            <p:nvPr/>
          </p:nvSpPr>
          <p:spPr>
            <a:xfrm>
              <a:off x="8675088" y="1356634"/>
              <a:ext cx="1443550" cy="1445357"/>
            </a:xfrm>
            <a:custGeom>
              <a:avLst/>
              <a:gdLst/>
              <a:ahLst/>
              <a:cxnLst/>
              <a:rect l="l" t="t" r="r" b="b"/>
              <a:pathLst>
                <a:path w="1443550" h="1445357">
                  <a:moveTo>
                    <a:pt x="0" y="0"/>
                  </a:moveTo>
                  <a:lnTo>
                    <a:pt x="1443550" y="0"/>
                  </a:lnTo>
                  <a:lnTo>
                    <a:pt x="1443550" y="1445357"/>
                  </a:lnTo>
                  <a:lnTo>
                    <a:pt x="0" y="1445357"/>
                  </a:lnTo>
                  <a:lnTo>
                    <a:pt x="0" y="0"/>
                  </a:lnTo>
                  <a:close/>
                </a:path>
              </a:pathLst>
            </a:custGeom>
            <a:blipFill>
              <a:blip r:embed="rId6"/>
              <a:stretch>
                <a:fillRect/>
              </a:stretch>
            </a:blipFill>
          </p:spPr>
          <p:txBody>
            <a:bodyPr/>
            <a:lstStyle/>
            <a:p>
              <a:endParaRPr lang="en-AU"/>
            </a:p>
          </p:txBody>
        </p:sp>
        <p:sp>
          <p:nvSpPr>
            <p:cNvPr id="10" name="Freeform 6">
              <a:extLst>
                <a:ext uri="{FF2B5EF4-FFF2-40B4-BE49-F238E27FC236}">
                  <a16:creationId xmlns:a16="http://schemas.microsoft.com/office/drawing/2014/main" id="{AC601BEF-7874-551D-B7F4-EA959D5581AF}"/>
                </a:ext>
              </a:extLst>
            </p:cNvPr>
            <p:cNvSpPr/>
            <p:nvPr/>
          </p:nvSpPr>
          <p:spPr>
            <a:xfrm>
              <a:off x="4166800" y="1327940"/>
              <a:ext cx="1855610" cy="983474"/>
            </a:xfrm>
            <a:custGeom>
              <a:avLst/>
              <a:gdLst/>
              <a:ahLst/>
              <a:cxnLst/>
              <a:rect l="l" t="t" r="r" b="b"/>
              <a:pathLst>
                <a:path w="1855610" h="983474">
                  <a:moveTo>
                    <a:pt x="0" y="0"/>
                  </a:moveTo>
                  <a:lnTo>
                    <a:pt x="1855611" y="0"/>
                  </a:lnTo>
                  <a:lnTo>
                    <a:pt x="1855611" y="983473"/>
                  </a:lnTo>
                  <a:lnTo>
                    <a:pt x="0" y="98347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1" name="Freeform 7">
              <a:extLst>
                <a:ext uri="{FF2B5EF4-FFF2-40B4-BE49-F238E27FC236}">
                  <a16:creationId xmlns:a16="http://schemas.microsoft.com/office/drawing/2014/main" id="{401872AE-FEA2-3DFC-C32F-B7F8D3B9C55D}"/>
                </a:ext>
              </a:extLst>
            </p:cNvPr>
            <p:cNvSpPr/>
            <p:nvPr/>
          </p:nvSpPr>
          <p:spPr>
            <a:xfrm>
              <a:off x="5906710" y="2871687"/>
              <a:ext cx="1956334" cy="2040505"/>
            </a:xfrm>
            <a:custGeom>
              <a:avLst/>
              <a:gdLst/>
              <a:ahLst/>
              <a:cxnLst/>
              <a:rect l="l" t="t" r="r" b="b"/>
              <a:pathLst>
                <a:path w="1956334" h="2040505">
                  <a:moveTo>
                    <a:pt x="0" y="0"/>
                  </a:moveTo>
                  <a:lnTo>
                    <a:pt x="1956335" y="0"/>
                  </a:lnTo>
                  <a:lnTo>
                    <a:pt x="1956335" y="2040506"/>
                  </a:lnTo>
                  <a:lnTo>
                    <a:pt x="0" y="204050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grpSp>
          <p:nvGrpSpPr>
            <p:cNvPr id="30" name="Group 29">
              <a:extLst>
                <a:ext uri="{FF2B5EF4-FFF2-40B4-BE49-F238E27FC236}">
                  <a16:creationId xmlns:a16="http://schemas.microsoft.com/office/drawing/2014/main" id="{62608BCC-AB03-EA6F-0639-750B118287AA}"/>
                </a:ext>
              </a:extLst>
            </p:cNvPr>
            <p:cNvGrpSpPr/>
            <p:nvPr/>
          </p:nvGrpSpPr>
          <p:grpSpPr>
            <a:xfrm>
              <a:off x="3972929" y="5533197"/>
              <a:ext cx="4246141" cy="1162803"/>
              <a:chOff x="3472954" y="6301854"/>
              <a:chExt cx="4246141" cy="1162803"/>
            </a:xfrm>
          </p:grpSpPr>
          <p:sp>
            <p:nvSpPr>
              <p:cNvPr id="12" name="Freeform 8">
                <a:extLst>
                  <a:ext uri="{FF2B5EF4-FFF2-40B4-BE49-F238E27FC236}">
                    <a16:creationId xmlns:a16="http://schemas.microsoft.com/office/drawing/2014/main" id="{EFE0BC7C-0827-7918-F4AF-32484026D4B0}"/>
                  </a:ext>
                </a:extLst>
              </p:cNvPr>
              <p:cNvSpPr/>
              <p:nvPr/>
            </p:nvSpPr>
            <p:spPr>
              <a:xfrm>
                <a:off x="6103900" y="6547610"/>
                <a:ext cx="964389" cy="917046"/>
              </a:xfrm>
              <a:custGeom>
                <a:avLst/>
                <a:gdLst/>
                <a:ahLst/>
                <a:cxnLst/>
                <a:rect l="l" t="t" r="r" b="b"/>
                <a:pathLst>
                  <a:path w="964389" h="917046">
                    <a:moveTo>
                      <a:pt x="0" y="0"/>
                    </a:moveTo>
                    <a:lnTo>
                      <a:pt x="964389" y="0"/>
                    </a:lnTo>
                    <a:lnTo>
                      <a:pt x="964389" y="917047"/>
                    </a:lnTo>
                    <a:lnTo>
                      <a:pt x="0" y="91704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AU"/>
              </a:p>
            </p:txBody>
          </p:sp>
          <p:grpSp>
            <p:nvGrpSpPr>
              <p:cNvPr id="13" name="Group 9">
                <a:extLst>
                  <a:ext uri="{FF2B5EF4-FFF2-40B4-BE49-F238E27FC236}">
                    <a16:creationId xmlns:a16="http://schemas.microsoft.com/office/drawing/2014/main" id="{3192FAA5-9ABC-20B7-806B-8C54C6F27CB6}"/>
                  </a:ext>
                </a:extLst>
              </p:cNvPr>
              <p:cNvGrpSpPr/>
              <p:nvPr/>
            </p:nvGrpSpPr>
            <p:grpSpPr>
              <a:xfrm>
                <a:off x="3472954" y="6301854"/>
                <a:ext cx="4246141" cy="1162803"/>
                <a:chOff x="0" y="0"/>
                <a:chExt cx="5661521" cy="1550403"/>
              </a:xfrm>
            </p:grpSpPr>
            <p:sp>
              <p:nvSpPr>
                <p:cNvPr id="14" name="Freeform 10">
                  <a:extLst>
                    <a:ext uri="{FF2B5EF4-FFF2-40B4-BE49-F238E27FC236}">
                      <a16:creationId xmlns:a16="http://schemas.microsoft.com/office/drawing/2014/main" id="{86B9DBF5-43C5-D108-DB36-81E9A41CD0CD}"/>
                    </a:ext>
                  </a:extLst>
                </p:cNvPr>
                <p:cNvSpPr/>
                <p:nvPr/>
              </p:nvSpPr>
              <p:spPr>
                <a:xfrm>
                  <a:off x="76012" y="0"/>
                  <a:ext cx="5509497" cy="1499603"/>
                </a:xfrm>
                <a:custGeom>
                  <a:avLst/>
                  <a:gdLst/>
                  <a:ahLst/>
                  <a:cxnLst/>
                  <a:rect l="l" t="t" r="r" b="b"/>
                  <a:pathLst>
                    <a:path w="5509497" h="1499603">
                      <a:moveTo>
                        <a:pt x="0" y="0"/>
                      </a:moveTo>
                      <a:lnTo>
                        <a:pt x="5509497" y="0"/>
                      </a:lnTo>
                      <a:lnTo>
                        <a:pt x="5509497" y="1499603"/>
                      </a:lnTo>
                      <a:lnTo>
                        <a:pt x="0" y="1499603"/>
                      </a:lnTo>
                      <a:lnTo>
                        <a:pt x="0" y="0"/>
                      </a:lnTo>
                      <a:close/>
                    </a:path>
                  </a:pathLst>
                </a:custGeom>
                <a:blipFill>
                  <a:blip>
                    <a:extLst>
                      <a:ext uri="{96DAC541-7B7A-43D3-8B79-37D633B846F1}">
                        <asvg:svgBlip xmlns:asvg="http://schemas.microsoft.com/office/drawing/2016/SVG/main" r:embed="rId10"/>
                      </a:ext>
                    </a:extLst>
                  </a:blip>
                  <a:stretch>
                    <a:fillRect b="-63491"/>
                  </a:stretch>
                </a:blipFill>
              </p:spPr>
              <p:txBody>
                <a:bodyPr/>
                <a:lstStyle/>
                <a:p>
                  <a:endParaRPr lang="en-AU"/>
                </a:p>
              </p:txBody>
            </p:sp>
            <p:sp>
              <p:nvSpPr>
                <p:cNvPr id="15" name="AutoShape 11">
                  <a:extLst>
                    <a:ext uri="{FF2B5EF4-FFF2-40B4-BE49-F238E27FC236}">
                      <a16:creationId xmlns:a16="http://schemas.microsoft.com/office/drawing/2014/main" id="{0463D48E-A36D-9A49-26D0-F68E6E4CC581}"/>
                    </a:ext>
                  </a:extLst>
                </p:cNvPr>
                <p:cNvSpPr/>
                <p:nvPr/>
              </p:nvSpPr>
              <p:spPr>
                <a:xfrm>
                  <a:off x="0" y="1525003"/>
                  <a:ext cx="5661521" cy="0"/>
                </a:xfrm>
                <a:prstGeom prst="line">
                  <a:avLst/>
                </a:prstGeom>
                <a:ln w="50800" cap="flat">
                  <a:solidFill>
                    <a:srgbClr val="000000"/>
                  </a:solidFill>
                  <a:prstDash val="solid"/>
                  <a:headEnd type="arrow" w="med" len="sm"/>
                  <a:tailEnd type="arrow" w="med" len="sm"/>
                </a:ln>
              </p:spPr>
              <p:txBody>
                <a:bodyPr/>
                <a:lstStyle/>
                <a:p>
                  <a:endParaRPr lang="en-AU"/>
                </a:p>
              </p:txBody>
            </p:sp>
          </p:grpSp>
        </p:grpSp>
        <p:sp>
          <p:nvSpPr>
            <p:cNvPr id="16" name="Freeform 12">
              <a:extLst>
                <a:ext uri="{FF2B5EF4-FFF2-40B4-BE49-F238E27FC236}">
                  <a16:creationId xmlns:a16="http://schemas.microsoft.com/office/drawing/2014/main" id="{2BD4FA4B-AE69-6B00-1127-DD213D6B0001}"/>
                </a:ext>
              </a:extLst>
            </p:cNvPr>
            <p:cNvSpPr/>
            <p:nvPr/>
          </p:nvSpPr>
          <p:spPr>
            <a:xfrm>
              <a:off x="1896230" y="3194575"/>
              <a:ext cx="1656952" cy="1650739"/>
            </a:xfrm>
            <a:custGeom>
              <a:avLst/>
              <a:gdLst/>
              <a:ahLst/>
              <a:cxnLst/>
              <a:rect l="l" t="t" r="r" b="b"/>
              <a:pathLst>
                <a:path w="1656952" h="1650739">
                  <a:moveTo>
                    <a:pt x="0" y="0"/>
                  </a:moveTo>
                  <a:lnTo>
                    <a:pt x="1656953" y="0"/>
                  </a:lnTo>
                  <a:lnTo>
                    <a:pt x="1656953" y="1650739"/>
                  </a:lnTo>
                  <a:lnTo>
                    <a:pt x="0" y="1650739"/>
                  </a:lnTo>
                  <a:lnTo>
                    <a:pt x="0" y="0"/>
                  </a:lnTo>
                  <a:close/>
                </a:path>
              </a:pathLst>
            </a:custGeom>
            <a:blipFill>
              <a:blip r:embed="rId11"/>
              <a:stretch>
                <a:fillRect/>
              </a:stretch>
            </a:blipFill>
          </p:spPr>
          <p:txBody>
            <a:bodyPr/>
            <a:lstStyle/>
            <a:p>
              <a:endParaRPr lang="en-AU"/>
            </a:p>
          </p:txBody>
        </p:sp>
        <p:sp>
          <p:nvSpPr>
            <p:cNvPr id="17" name="Freeform 13">
              <a:extLst>
                <a:ext uri="{FF2B5EF4-FFF2-40B4-BE49-F238E27FC236}">
                  <a16:creationId xmlns:a16="http://schemas.microsoft.com/office/drawing/2014/main" id="{EAB1DF66-7EE0-4639-DC6B-222E93DA0849}"/>
                </a:ext>
              </a:extLst>
            </p:cNvPr>
            <p:cNvSpPr/>
            <p:nvPr/>
          </p:nvSpPr>
          <p:spPr>
            <a:xfrm>
              <a:off x="9592110" y="5081204"/>
              <a:ext cx="1633498" cy="1679689"/>
            </a:xfrm>
            <a:custGeom>
              <a:avLst/>
              <a:gdLst/>
              <a:ahLst/>
              <a:cxnLst/>
              <a:rect l="l" t="t" r="r" b="b"/>
              <a:pathLst>
                <a:path w="1633498" h="1679689">
                  <a:moveTo>
                    <a:pt x="0" y="0"/>
                  </a:moveTo>
                  <a:lnTo>
                    <a:pt x="1633498" y="0"/>
                  </a:lnTo>
                  <a:lnTo>
                    <a:pt x="1633498" y="1679689"/>
                  </a:lnTo>
                  <a:lnTo>
                    <a:pt x="0" y="1679689"/>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AU"/>
            </a:p>
          </p:txBody>
        </p:sp>
        <p:sp>
          <p:nvSpPr>
            <p:cNvPr id="18" name="Freeform 14">
              <a:extLst>
                <a:ext uri="{FF2B5EF4-FFF2-40B4-BE49-F238E27FC236}">
                  <a16:creationId xmlns:a16="http://schemas.microsoft.com/office/drawing/2014/main" id="{87B00E6A-BB50-A5B8-701F-64C6A8FD4019}"/>
                </a:ext>
              </a:extLst>
            </p:cNvPr>
            <p:cNvSpPr/>
            <p:nvPr/>
          </p:nvSpPr>
          <p:spPr>
            <a:xfrm>
              <a:off x="4119451" y="4166140"/>
              <a:ext cx="1381012" cy="1018496"/>
            </a:xfrm>
            <a:custGeom>
              <a:avLst/>
              <a:gdLst/>
              <a:ahLst/>
              <a:cxnLst/>
              <a:rect l="l" t="t" r="r" b="b"/>
              <a:pathLst>
                <a:path w="1381012" h="1018496">
                  <a:moveTo>
                    <a:pt x="0" y="0"/>
                  </a:moveTo>
                  <a:lnTo>
                    <a:pt x="1381012" y="0"/>
                  </a:lnTo>
                  <a:lnTo>
                    <a:pt x="1381012" y="1018496"/>
                  </a:lnTo>
                  <a:lnTo>
                    <a:pt x="0" y="1018496"/>
                  </a:lnTo>
                  <a:lnTo>
                    <a:pt x="0" y="0"/>
                  </a:lnTo>
                  <a:close/>
                </a:path>
              </a:pathLst>
            </a:custGeom>
            <a:blipFill>
              <a:blip r:embed="rId13"/>
              <a:stretch>
                <a:fillRect/>
              </a:stretch>
            </a:blipFill>
          </p:spPr>
          <p:txBody>
            <a:bodyPr/>
            <a:lstStyle/>
            <a:p>
              <a:endParaRPr lang="en-AU"/>
            </a:p>
          </p:txBody>
        </p:sp>
        <p:sp>
          <p:nvSpPr>
            <p:cNvPr id="19" name="Freeform 15">
              <a:extLst>
                <a:ext uri="{FF2B5EF4-FFF2-40B4-BE49-F238E27FC236}">
                  <a16:creationId xmlns:a16="http://schemas.microsoft.com/office/drawing/2014/main" id="{FBF5F508-EC46-17F0-BCBC-453314B93401}"/>
                </a:ext>
              </a:extLst>
            </p:cNvPr>
            <p:cNvSpPr/>
            <p:nvPr/>
          </p:nvSpPr>
          <p:spPr>
            <a:xfrm>
              <a:off x="10564647" y="1155917"/>
              <a:ext cx="1482158" cy="1482158"/>
            </a:xfrm>
            <a:custGeom>
              <a:avLst/>
              <a:gdLst/>
              <a:ahLst/>
              <a:cxnLst/>
              <a:rect l="l" t="t" r="r" b="b"/>
              <a:pathLst>
                <a:path w="1482158" h="1482158">
                  <a:moveTo>
                    <a:pt x="0" y="0"/>
                  </a:moveTo>
                  <a:lnTo>
                    <a:pt x="1482158" y="0"/>
                  </a:lnTo>
                  <a:lnTo>
                    <a:pt x="1482158" y="1482158"/>
                  </a:lnTo>
                  <a:lnTo>
                    <a:pt x="0" y="1482158"/>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AU"/>
            </a:p>
          </p:txBody>
        </p:sp>
        <p:grpSp>
          <p:nvGrpSpPr>
            <p:cNvPr id="20" name="Group 16">
              <a:extLst>
                <a:ext uri="{FF2B5EF4-FFF2-40B4-BE49-F238E27FC236}">
                  <a16:creationId xmlns:a16="http://schemas.microsoft.com/office/drawing/2014/main" id="{7B5604A8-ACF2-B260-65E6-061C2835183F}"/>
                </a:ext>
              </a:extLst>
            </p:cNvPr>
            <p:cNvGrpSpPr/>
            <p:nvPr/>
          </p:nvGrpSpPr>
          <p:grpSpPr>
            <a:xfrm>
              <a:off x="228386" y="2845772"/>
              <a:ext cx="1081416" cy="1876175"/>
              <a:chOff x="0" y="0"/>
              <a:chExt cx="1441888" cy="2501567"/>
            </a:xfrm>
          </p:grpSpPr>
          <p:sp>
            <p:nvSpPr>
              <p:cNvPr id="21" name="Freeform 17">
                <a:extLst>
                  <a:ext uri="{FF2B5EF4-FFF2-40B4-BE49-F238E27FC236}">
                    <a16:creationId xmlns:a16="http://schemas.microsoft.com/office/drawing/2014/main" id="{F72FE905-9A11-1FBC-BE25-33E39A941E41}"/>
                  </a:ext>
                </a:extLst>
              </p:cNvPr>
              <p:cNvSpPr/>
              <p:nvPr/>
            </p:nvSpPr>
            <p:spPr>
              <a:xfrm>
                <a:off x="0" y="1161940"/>
                <a:ext cx="1441888" cy="177687"/>
              </a:xfrm>
              <a:custGeom>
                <a:avLst/>
                <a:gdLst/>
                <a:ahLst/>
                <a:cxnLst/>
                <a:rect l="l" t="t" r="r" b="b"/>
                <a:pathLst>
                  <a:path w="1441888" h="177687">
                    <a:moveTo>
                      <a:pt x="0" y="0"/>
                    </a:moveTo>
                    <a:lnTo>
                      <a:pt x="1441888" y="0"/>
                    </a:lnTo>
                    <a:lnTo>
                      <a:pt x="1441888" y="177687"/>
                    </a:lnTo>
                    <a:lnTo>
                      <a:pt x="0" y="177687"/>
                    </a:lnTo>
                    <a:lnTo>
                      <a:pt x="0" y="0"/>
                    </a:lnTo>
                    <a:close/>
                  </a:path>
                </a:pathLst>
              </a:custGeom>
              <a:blipFill>
                <a:blip>
                  <a:extLst>
                    <a:ext uri="{96DAC541-7B7A-43D3-8B79-37D633B846F1}">
                      <asvg:svgBlip xmlns:asvg="http://schemas.microsoft.com/office/drawing/2016/SVG/main" r:embed="rId15"/>
                    </a:ext>
                  </a:extLst>
                </a:blip>
                <a:stretch>
                  <a:fillRect l="-37337" r="-356568" b="-162337"/>
                </a:stretch>
              </a:blipFill>
            </p:spPr>
            <p:txBody>
              <a:bodyPr/>
              <a:lstStyle/>
              <a:p>
                <a:endParaRPr lang="en-AU"/>
              </a:p>
            </p:txBody>
          </p:sp>
          <p:sp>
            <p:nvSpPr>
              <p:cNvPr id="22" name="TextBox 18">
                <a:extLst>
                  <a:ext uri="{FF2B5EF4-FFF2-40B4-BE49-F238E27FC236}">
                    <a16:creationId xmlns:a16="http://schemas.microsoft.com/office/drawing/2014/main" id="{9B7FA14E-4FCC-FD91-2684-E8634AAFB904}"/>
                  </a:ext>
                </a:extLst>
              </p:cNvPr>
              <p:cNvSpPr txBox="1"/>
              <p:nvPr/>
            </p:nvSpPr>
            <p:spPr>
              <a:xfrm>
                <a:off x="558345" y="-114300"/>
                <a:ext cx="481025" cy="2615867"/>
              </a:xfrm>
              <a:prstGeom prst="rect">
                <a:avLst/>
              </a:prstGeom>
            </p:spPr>
            <p:txBody>
              <a:bodyPr lIns="0" tIns="0" rIns="0" bIns="0" rtlCol="0" anchor="t">
                <a:spAutoFit/>
              </a:bodyPr>
              <a:lstStyle/>
              <a:p>
                <a:pPr algn="ctr">
                  <a:lnSpc>
                    <a:spcPts val="8050"/>
                  </a:lnSpc>
                </a:pPr>
                <a:r>
                  <a:rPr lang="en-US" sz="5750">
                    <a:solidFill>
                      <a:srgbClr val="000000"/>
                    </a:solidFill>
                    <a:latin typeface="Anton"/>
                    <a:ea typeface="Anton"/>
                    <a:cs typeface="Anton"/>
                    <a:sym typeface="Anton"/>
                  </a:rPr>
                  <a:t>1</a:t>
                </a:r>
              </a:p>
              <a:p>
                <a:pPr algn="ctr">
                  <a:lnSpc>
                    <a:spcPts val="8050"/>
                  </a:lnSpc>
                  <a:spcBef>
                    <a:spcPct val="0"/>
                  </a:spcBef>
                </a:pPr>
                <a:r>
                  <a:rPr lang="en-US" sz="5750">
                    <a:solidFill>
                      <a:srgbClr val="000000"/>
                    </a:solidFill>
                    <a:latin typeface="Anton"/>
                    <a:ea typeface="Anton"/>
                    <a:cs typeface="Anton"/>
                    <a:sym typeface="Anton"/>
                  </a:rPr>
                  <a:t>8</a:t>
                </a:r>
              </a:p>
            </p:txBody>
          </p:sp>
        </p:grpSp>
        <p:grpSp>
          <p:nvGrpSpPr>
            <p:cNvPr id="29" name="Group 28">
              <a:extLst>
                <a:ext uri="{FF2B5EF4-FFF2-40B4-BE49-F238E27FC236}">
                  <a16:creationId xmlns:a16="http://schemas.microsoft.com/office/drawing/2014/main" id="{C71D7C47-B627-0A5C-62D5-8E46825FC5FC}"/>
                </a:ext>
              </a:extLst>
            </p:cNvPr>
            <p:cNvGrpSpPr/>
            <p:nvPr/>
          </p:nvGrpSpPr>
          <p:grpSpPr>
            <a:xfrm>
              <a:off x="6346273" y="1129319"/>
              <a:ext cx="1403874" cy="1458571"/>
              <a:chOff x="4739284" y="1066404"/>
              <a:chExt cx="1403874" cy="1458571"/>
            </a:xfrm>
          </p:grpSpPr>
          <p:sp>
            <p:nvSpPr>
              <p:cNvPr id="23" name="Freeform 19">
                <a:extLst>
                  <a:ext uri="{FF2B5EF4-FFF2-40B4-BE49-F238E27FC236}">
                    <a16:creationId xmlns:a16="http://schemas.microsoft.com/office/drawing/2014/main" id="{FD083B52-5E04-9071-5509-5B0F841D3DF4}"/>
                  </a:ext>
                </a:extLst>
              </p:cNvPr>
              <p:cNvSpPr/>
              <p:nvPr/>
            </p:nvSpPr>
            <p:spPr>
              <a:xfrm>
                <a:off x="4739284" y="1066404"/>
                <a:ext cx="1403874" cy="1458571"/>
              </a:xfrm>
              <a:custGeom>
                <a:avLst/>
                <a:gdLst/>
                <a:ahLst/>
                <a:cxnLst/>
                <a:rect l="l" t="t" r="r" b="b"/>
                <a:pathLst>
                  <a:path w="1403874" h="1458571">
                    <a:moveTo>
                      <a:pt x="0" y="0"/>
                    </a:moveTo>
                    <a:lnTo>
                      <a:pt x="1403874" y="0"/>
                    </a:lnTo>
                    <a:lnTo>
                      <a:pt x="1403874" y="1458570"/>
                    </a:lnTo>
                    <a:lnTo>
                      <a:pt x="0" y="1458570"/>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AU"/>
              </a:p>
            </p:txBody>
          </p:sp>
          <p:sp>
            <p:nvSpPr>
              <p:cNvPr id="24" name="Freeform 20">
                <a:extLst>
                  <a:ext uri="{FF2B5EF4-FFF2-40B4-BE49-F238E27FC236}">
                    <a16:creationId xmlns:a16="http://schemas.microsoft.com/office/drawing/2014/main" id="{D5E6E93E-9186-457D-FF0E-F37FFF982EF3}"/>
                  </a:ext>
                </a:extLst>
              </p:cNvPr>
              <p:cNvSpPr/>
              <p:nvPr/>
            </p:nvSpPr>
            <p:spPr>
              <a:xfrm rot="14811210">
                <a:off x="5671912" y="1531083"/>
                <a:ext cx="357220" cy="308995"/>
              </a:xfrm>
              <a:custGeom>
                <a:avLst/>
                <a:gdLst/>
                <a:ahLst/>
                <a:cxnLst/>
                <a:rect l="l" t="t" r="r" b="b"/>
                <a:pathLst>
                  <a:path w="357220" h="308995">
                    <a:moveTo>
                      <a:pt x="0" y="0"/>
                    </a:moveTo>
                    <a:lnTo>
                      <a:pt x="357221" y="0"/>
                    </a:lnTo>
                    <a:lnTo>
                      <a:pt x="357221" y="308995"/>
                    </a:lnTo>
                    <a:lnTo>
                      <a:pt x="0" y="308995"/>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AU"/>
              </a:p>
            </p:txBody>
          </p:sp>
        </p:grpSp>
        <p:sp>
          <p:nvSpPr>
            <p:cNvPr id="25" name="Freeform 21">
              <a:extLst>
                <a:ext uri="{FF2B5EF4-FFF2-40B4-BE49-F238E27FC236}">
                  <a16:creationId xmlns:a16="http://schemas.microsoft.com/office/drawing/2014/main" id="{18BCF158-6112-58BA-58A4-2BEEDD2AE5CF}"/>
                </a:ext>
              </a:extLst>
            </p:cNvPr>
            <p:cNvSpPr/>
            <p:nvPr/>
          </p:nvSpPr>
          <p:spPr>
            <a:xfrm>
              <a:off x="10310644" y="3220857"/>
              <a:ext cx="1580449" cy="1562669"/>
            </a:xfrm>
            <a:custGeom>
              <a:avLst/>
              <a:gdLst/>
              <a:ahLst/>
              <a:cxnLst/>
              <a:rect l="l" t="t" r="r" b="b"/>
              <a:pathLst>
                <a:path w="1580449" h="1562669">
                  <a:moveTo>
                    <a:pt x="0" y="0"/>
                  </a:moveTo>
                  <a:lnTo>
                    <a:pt x="1580449" y="0"/>
                  </a:lnTo>
                  <a:lnTo>
                    <a:pt x="1580449" y="1562669"/>
                  </a:lnTo>
                  <a:lnTo>
                    <a:pt x="0" y="1562669"/>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AU"/>
            </a:p>
          </p:txBody>
        </p:sp>
        <p:sp>
          <p:nvSpPr>
            <p:cNvPr id="26" name="TextBox 22">
              <a:extLst>
                <a:ext uri="{FF2B5EF4-FFF2-40B4-BE49-F238E27FC236}">
                  <a16:creationId xmlns:a16="http://schemas.microsoft.com/office/drawing/2014/main" id="{887AD8AC-959B-CB34-7812-D411BF2E1AF1}"/>
                </a:ext>
              </a:extLst>
            </p:cNvPr>
            <p:cNvSpPr txBox="1"/>
            <p:nvPr/>
          </p:nvSpPr>
          <p:spPr>
            <a:xfrm>
              <a:off x="8479089" y="2969797"/>
              <a:ext cx="1707541" cy="940899"/>
            </a:xfrm>
            <a:prstGeom prst="rect">
              <a:avLst/>
            </a:prstGeom>
          </p:spPr>
          <p:txBody>
            <a:bodyPr wrap="square" lIns="0" tIns="0" rIns="0" bIns="0" rtlCol="0" anchor="t">
              <a:spAutoFit/>
            </a:bodyPr>
            <a:lstStyle/>
            <a:p>
              <a:pPr algn="ctr">
                <a:lnSpc>
                  <a:spcPts val="7638"/>
                </a:lnSpc>
                <a:spcBef>
                  <a:spcPct val="0"/>
                </a:spcBef>
              </a:pPr>
              <a:r>
                <a:rPr lang="en-US" sz="5456">
                  <a:solidFill>
                    <a:srgbClr val="000000"/>
                  </a:solidFill>
                  <a:latin typeface="League Spartan"/>
                  <a:ea typeface="League Spartan"/>
                  <a:cs typeface="League Spartan"/>
                  <a:sym typeface="League Spartan"/>
                </a:rPr>
                <a:t>0.1</a:t>
              </a:r>
            </a:p>
          </p:txBody>
        </p:sp>
        <p:sp>
          <p:nvSpPr>
            <p:cNvPr id="27" name="TextBox 23">
              <a:extLst>
                <a:ext uri="{FF2B5EF4-FFF2-40B4-BE49-F238E27FC236}">
                  <a16:creationId xmlns:a16="http://schemas.microsoft.com/office/drawing/2014/main" id="{9E04A96C-E977-2411-7EF2-9D023F4BF64E}"/>
                </a:ext>
              </a:extLst>
            </p:cNvPr>
            <p:cNvSpPr txBox="1"/>
            <p:nvPr/>
          </p:nvSpPr>
          <p:spPr>
            <a:xfrm>
              <a:off x="7465776" y="4251497"/>
              <a:ext cx="2228823" cy="940899"/>
            </a:xfrm>
            <a:prstGeom prst="rect">
              <a:avLst/>
            </a:prstGeom>
          </p:spPr>
          <p:txBody>
            <a:bodyPr wrap="square" lIns="0" tIns="0" rIns="0" bIns="0" rtlCol="0" anchor="t">
              <a:spAutoFit/>
            </a:bodyPr>
            <a:lstStyle/>
            <a:p>
              <a:pPr algn="ctr">
                <a:lnSpc>
                  <a:spcPts val="7638"/>
                </a:lnSpc>
                <a:spcBef>
                  <a:spcPct val="0"/>
                </a:spcBef>
              </a:pPr>
              <a:r>
                <a:rPr lang="en-US" sz="5456">
                  <a:solidFill>
                    <a:srgbClr val="5E17EB"/>
                  </a:solidFill>
                  <a:latin typeface="League Spartan"/>
                  <a:ea typeface="League Spartan"/>
                  <a:cs typeface="League Spartan"/>
                  <a:sym typeface="League Spartan"/>
                </a:rPr>
                <a:t>0.25</a:t>
              </a:r>
            </a:p>
          </p:txBody>
        </p:sp>
        <p:sp>
          <p:nvSpPr>
            <p:cNvPr id="28" name="TextBox 24">
              <a:extLst>
                <a:ext uri="{FF2B5EF4-FFF2-40B4-BE49-F238E27FC236}">
                  <a16:creationId xmlns:a16="http://schemas.microsoft.com/office/drawing/2014/main" id="{28BEE809-3525-8D0B-EA42-0C8D35325625}"/>
                </a:ext>
              </a:extLst>
            </p:cNvPr>
            <p:cNvSpPr txBox="1"/>
            <p:nvPr/>
          </p:nvSpPr>
          <p:spPr>
            <a:xfrm>
              <a:off x="3506966" y="2801991"/>
              <a:ext cx="1813163" cy="765120"/>
            </a:xfrm>
            <a:prstGeom prst="rect">
              <a:avLst/>
            </a:prstGeom>
          </p:spPr>
          <p:txBody>
            <a:bodyPr wrap="square" lIns="0" tIns="0" rIns="0" bIns="0" rtlCol="0" anchor="t">
              <a:spAutoFit/>
            </a:bodyPr>
            <a:lstStyle/>
            <a:p>
              <a:pPr algn="ctr">
                <a:lnSpc>
                  <a:spcPts val="6214"/>
                </a:lnSpc>
                <a:spcBef>
                  <a:spcPct val="0"/>
                </a:spcBef>
              </a:pPr>
              <a:r>
                <a:rPr lang="en-US" sz="4438">
                  <a:solidFill>
                    <a:srgbClr val="38B6FF"/>
                  </a:solidFill>
                  <a:latin typeface="League Spartan"/>
                  <a:ea typeface="League Spartan"/>
                  <a:cs typeface="League Spartan"/>
                  <a:sym typeface="League Spartan"/>
                </a:rPr>
                <a:t>0.75</a:t>
              </a:r>
            </a:p>
          </p:txBody>
        </p:sp>
      </p:gr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19"/>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p:txBody>
              <a:bodyPr/>
              <a:lstStyle/>
              <a:p>
                <a:pPr algn="ctr"/>
                <a:r>
                  <a:rPr lang="en-AU" sz="4400"/>
                  <a:t>75%, 0.75 and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4</m:t>
                        </m:r>
                      </m:den>
                    </m:f>
                  </m:oMath>
                </a14:m>
                <a:r>
                  <a:rPr lang="en-AU" sz="4400"/>
                  <a:t> are </a:t>
                </a:r>
                <a:r>
                  <a:rPr lang="en-AU" sz="4400" b="1"/>
                  <a:t>equivalent</a:t>
                </a:r>
                <a:r>
                  <a:rPr lang="en-AU" sz="4400"/>
                  <a:t>.</a:t>
                </a:r>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blipFill>
                <a:blip r:embed="rId3"/>
                <a:stretch>
                  <a:fillRect b="-66438"/>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42081752"/>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5" name="Picture Placeholder 10">
            <a:extLst>
              <a:ext uri="{FF2B5EF4-FFF2-40B4-BE49-F238E27FC236}">
                <a16:creationId xmlns:a16="http://schemas.microsoft.com/office/drawing/2014/main" id="{F6C42D30-5ACB-DD89-EC2C-2B63F2D7361E}"/>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Convert </a:t>
            </a:r>
            <a:r>
              <a:rPr lang="en-AU" sz="4400">
                <a:latin typeface="Arial"/>
                <a:cs typeface="Arial"/>
              </a:rPr>
              <a:t>these measurements between </a:t>
            </a:r>
            <a:r>
              <a:rPr lang="en-AU" sz="4400" b="1">
                <a:latin typeface="Arial"/>
                <a:cs typeface="Arial"/>
              </a:rPr>
              <a:t>metres</a:t>
            </a:r>
            <a:r>
              <a:rPr lang="en-AU" sz="4400">
                <a:latin typeface="Arial"/>
                <a:cs typeface="Arial"/>
              </a:rPr>
              <a:t> and </a:t>
            </a:r>
            <a:r>
              <a:rPr lang="en-AU" sz="4400" b="1">
                <a:latin typeface="Arial"/>
                <a:cs typeface="Arial"/>
              </a:rPr>
              <a:t>kilometres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CF7861D1-3721-2670-E80E-4420336277C5}"/>
              </a:ext>
            </a:extLst>
          </p:cNvPr>
          <p:cNvSpPr txBox="1">
            <a:spLocks/>
          </p:cNvSpPr>
          <p:nvPr/>
        </p:nvSpPr>
        <p:spPr>
          <a:xfrm>
            <a:off x="1376814" y="2842974"/>
            <a:ext cx="4166820"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967 m</a:t>
            </a:r>
          </a:p>
          <a:p>
            <a:pPr marL="742950" indent="-742950">
              <a:buFont typeface="+mj-lt"/>
              <a:buAutoNum type="alphaLcParenR"/>
            </a:pPr>
            <a:r>
              <a:rPr lang="en-US" sz="4400">
                <a:latin typeface="Arial"/>
                <a:cs typeface="Arial"/>
              </a:rPr>
              <a:t>8.24 km</a:t>
            </a:r>
          </a:p>
          <a:p>
            <a:pPr marL="742950" indent="-742950">
              <a:buFont typeface="+mj-lt"/>
              <a:buAutoNum type="alphaLcParenR"/>
            </a:pPr>
            <a:r>
              <a:rPr lang="en-US" sz="4400">
                <a:latin typeface="Arial"/>
                <a:cs typeface="Arial"/>
              </a:rPr>
              <a:t>7308 m</a:t>
            </a:r>
            <a:endParaRPr lang="en-US" sz="4400"/>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7" name="Text Placeholder 17">
            <a:extLst>
              <a:ext uri="{FF2B5EF4-FFF2-40B4-BE49-F238E27FC236}">
                <a16:creationId xmlns:a16="http://schemas.microsoft.com/office/drawing/2014/main" id="{2B34CE53-A813-B2EC-7846-44C7269D0EDB}"/>
              </a:ext>
            </a:extLst>
          </p:cNvPr>
          <p:cNvSpPr txBox="1">
            <a:spLocks/>
          </p:cNvSpPr>
          <p:nvPr/>
        </p:nvSpPr>
        <p:spPr>
          <a:xfrm>
            <a:off x="595301" y="1184223"/>
            <a:ext cx="510972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1"/>
              <a:t>Calculate</a:t>
            </a:r>
            <a:r>
              <a:rPr lang="en-AU" sz="4400"/>
              <a:t>:</a:t>
            </a:r>
            <a:endParaRPr lang="en-US" sz="4400"/>
          </a:p>
        </p:txBody>
      </p:sp>
      <p:sp>
        <p:nvSpPr>
          <p:cNvPr id="5" name="Text Placeholder 17">
            <a:extLst>
              <a:ext uri="{FF2B5EF4-FFF2-40B4-BE49-F238E27FC236}">
                <a16:creationId xmlns:a16="http://schemas.microsoft.com/office/drawing/2014/main" id="{D74C82B9-7861-C7F4-A8A9-8BEA5DD5AA5F}"/>
              </a:ext>
            </a:extLst>
          </p:cNvPr>
          <p:cNvSpPr txBox="1">
            <a:spLocks/>
          </p:cNvSpPr>
          <p:nvPr/>
        </p:nvSpPr>
        <p:spPr>
          <a:xfrm>
            <a:off x="3982686" y="1991939"/>
            <a:ext cx="5109721" cy="434539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AU" sz="4400"/>
              <a:t>24.15 × 10 =</a:t>
            </a:r>
          </a:p>
          <a:p>
            <a:pPr marL="742950" indent="-742950">
              <a:buFont typeface="+mj-lt"/>
              <a:buAutoNum type="alphaLcParenR"/>
            </a:pPr>
            <a:r>
              <a:rPr lang="en-AU" sz="4400"/>
              <a:t>3.106 × 100 =</a:t>
            </a:r>
          </a:p>
          <a:p>
            <a:pPr marL="742950" indent="-742950">
              <a:buFont typeface="+mj-lt"/>
              <a:buAutoNum type="alphaLcParenR"/>
            </a:pPr>
            <a:r>
              <a:rPr lang="en-AU" sz="4400"/>
              <a:t>7.8 ÷ 10 =</a:t>
            </a:r>
          </a:p>
          <a:p>
            <a:pPr marL="742950" indent="-742950">
              <a:buFont typeface="+mj-lt"/>
              <a:buAutoNum type="alphaLcParenR"/>
            </a:pPr>
            <a:r>
              <a:rPr lang="en-AU" sz="4400"/>
              <a:t>9.1 ÷ 100 =</a:t>
            </a:r>
            <a:endParaRPr lang="en-US" sz="4400"/>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5" name="TextBox 4">
            <a:extLst>
              <a:ext uri="{FF2B5EF4-FFF2-40B4-BE49-F238E27FC236}">
                <a16:creationId xmlns:a16="http://schemas.microsoft.com/office/drawing/2014/main" id="{3C523D01-7724-13D8-A822-CE85B25B1AEE}"/>
              </a:ext>
            </a:extLst>
          </p:cNvPr>
          <p:cNvSpPr txBox="1"/>
          <p:nvPr/>
        </p:nvSpPr>
        <p:spPr>
          <a:xfrm>
            <a:off x="311446" y="848956"/>
            <a:ext cx="6210734" cy="3140417"/>
          </a:xfrm>
          <a:prstGeom prst="rect">
            <a:avLst/>
          </a:prstGeom>
          <a:noFill/>
        </p:spPr>
        <p:txBody>
          <a:bodyPr wrap="square" lIns="0" tIns="0" rIns="0" bIns="0" rtlCol="0">
            <a:noAutofit/>
          </a:bodyPr>
          <a:lstStyle/>
          <a:p>
            <a:pPr algn="ctr">
              <a:lnSpc>
                <a:spcPct val="150000"/>
              </a:lnSpc>
              <a:spcAft>
                <a:spcPts val="600"/>
              </a:spcAft>
            </a:pPr>
            <a:r>
              <a:rPr lang="en-AU" sz="3600" dirty="0"/>
              <a:t>This is one way this </a:t>
            </a:r>
            <a:r>
              <a:rPr lang="en-AU" sz="3600" b="1" dirty="0"/>
              <a:t>composite L-shape </a:t>
            </a:r>
            <a:r>
              <a:rPr lang="en-AU" sz="3600" dirty="0"/>
              <a:t>could be </a:t>
            </a:r>
            <a:r>
              <a:rPr lang="en-AU" sz="3600" b="1" dirty="0"/>
              <a:t>dissected</a:t>
            </a:r>
            <a:r>
              <a:rPr lang="en-AU" sz="3600" dirty="0"/>
              <a:t> to </a:t>
            </a:r>
            <a:r>
              <a:rPr lang="en-AU" sz="3600" b="1" dirty="0"/>
              <a:t>calculate</a:t>
            </a:r>
            <a:r>
              <a:rPr lang="en-AU" sz="3600" dirty="0"/>
              <a:t> its </a:t>
            </a:r>
            <a:r>
              <a:rPr lang="en-AU" sz="3600" b="1" dirty="0"/>
              <a:t>area</a:t>
            </a:r>
            <a:r>
              <a:rPr lang="en-AU" sz="3600" dirty="0"/>
              <a:t>.</a:t>
            </a:r>
            <a:endParaRPr lang="en-AU" sz="3600" b="1" dirty="0"/>
          </a:p>
          <a:p>
            <a:pPr algn="ctr">
              <a:lnSpc>
                <a:spcPct val="150000"/>
              </a:lnSpc>
              <a:spcAft>
                <a:spcPts val="600"/>
              </a:spcAft>
            </a:pPr>
            <a:r>
              <a:rPr lang="en-AU" sz="3600" dirty="0"/>
              <a:t> </a:t>
            </a:r>
          </a:p>
        </p:txBody>
      </p:sp>
      <p:sp>
        <p:nvSpPr>
          <p:cNvPr id="7" name="TextBox 6">
            <a:extLst>
              <a:ext uri="{FF2B5EF4-FFF2-40B4-BE49-F238E27FC236}">
                <a16:creationId xmlns:a16="http://schemas.microsoft.com/office/drawing/2014/main" id="{2DFDD56E-2AEF-1E07-DC62-E9ED247001C5}"/>
              </a:ext>
            </a:extLst>
          </p:cNvPr>
          <p:cNvSpPr txBox="1"/>
          <p:nvPr/>
        </p:nvSpPr>
        <p:spPr>
          <a:xfrm>
            <a:off x="359999" y="4309596"/>
            <a:ext cx="6113629" cy="2299303"/>
          </a:xfrm>
          <a:prstGeom prst="rect">
            <a:avLst/>
          </a:prstGeom>
          <a:noFill/>
        </p:spPr>
        <p:txBody>
          <a:bodyPr wrap="square" lIns="0" tIns="0" rIns="0" bIns="0" rtlCol="0">
            <a:noAutofit/>
          </a:bodyPr>
          <a:lstStyle/>
          <a:p>
            <a:pPr algn="ctr">
              <a:lnSpc>
                <a:spcPct val="150000"/>
              </a:lnSpc>
              <a:spcAft>
                <a:spcPts val="600"/>
              </a:spcAft>
            </a:pPr>
            <a:r>
              <a:rPr lang="en-AU" sz="3600" b="1" dirty="0"/>
              <a:t>Draw</a:t>
            </a:r>
            <a:r>
              <a:rPr lang="en-AU" sz="3600" dirty="0"/>
              <a:t> a </a:t>
            </a:r>
            <a:r>
              <a:rPr lang="en-AU" sz="3600" b="1" dirty="0"/>
              <a:t>different way </a:t>
            </a:r>
            <a:r>
              <a:rPr lang="en-AU" sz="3600" dirty="0"/>
              <a:t>it may be </a:t>
            </a:r>
            <a:r>
              <a:rPr lang="en-AU" sz="3600" b="1" dirty="0"/>
              <a:t>dissected</a:t>
            </a:r>
            <a:r>
              <a:rPr lang="en-AU" sz="3600" dirty="0"/>
              <a:t> and </a:t>
            </a:r>
            <a:r>
              <a:rPr lang="en-AU" sz="3600" b="1" dirty="0"/>
              <a:t>calculate</a:t>
            </a:r>
            <a:r>
              <a:rPr lang="en-AU" sz="3600" dirty="0"/>
              <a:t> the </a:t>
            </a:r>
            <a:r>
              <a:rPr lang="en-AU" sz="3600" b="1" dirty="0"/>
              <a:t>area</a:t>
            </a:r>
            <a:r>
              <a:rPr lang="en-AU" sz="3600" dirty="0"/>
              <a:t>.</a:t>
            </a:r>
            <a:endParaRPr lang="en-AU" sz="3600" b="1" dirty="0"/>
          </a:p>
          <a:p>
            <a:pPr algn="ctr">
              <a:lnSpc>
                <a:spcPct val="150000"/>
              </a:lnSpc>
              <a:spcAft>
                <a:spcPts val="600"/>
              </a:spcAft>
            </a:pPr>
            <a:r>
              <a:rPr lang="en-AU" sz="3600" dirty="0"/>
              <a:t> </a:t>
            </a:r>
          </a:p>
        </p:txBody>
      </p:sp>
      <p:pic>
        <p:nvPicPr>
          <p:cNvPr id="9" name="Picture 8" descr="An L-shaped composite shape is drawn with thick black lines. The shape is made from two connected rectangular sections. A dotted horizontal line runs across the middle part of the shape from the left side to the inner corner of the L-shape.">
            <a:extLst>
              <a:ext uri="{FF2B5EF4-FFF2-40B4-BE49-F238E27FC236}">
                <a16:creationId xmlns:a16="http://schemas.microsoft.com/office/drawing/2014/main" id="{407F241F-1EDF-7CC2-159E-7337DE0B9F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77185" y="1908049"/>
            <a:ext cx="5154816" cy="3744903"/>
          </a:xfrm>
          <a:prstGeom prst="rect">
            <a:avLst/>
          </a:prstGeom>
          <a:solidFill>
            <a:schemeClr val="bg1"/>
          </a:solidFill>
          <a:ln>
            <a:noFill/>
          </a:ln>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5" name="Picture Placeholder 10">
            <a:extLst>
              <a:ext uri="{FF2B5EF4-FFF2-40B4-BE49-F238E27FC236}">
                <a16:creationId xmlns:a16="http://schemas.microsoft.com/office/drawing/2014/main" id="{8C836733-A732-FC6C-354A-EC79A7473D90}"/>
              </a:ext>
            </a:extLst>
          </p:cNvPr>
          <p:cNvSpPr txBox="1">
            <a:spLocks/>
          </p:cNvSpPr>
          <p:nvPr/>
        </p:nvSpPr>
        <p:spPr>
          <a:xfrm>
            <a:off x="348000" y="905601"/>
            <a:ext cx="2102010" cy="107904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dirty="0">
                <a:latin typeface="Arial"/>
                <a:cs typeface="Arial"/>
              </a:rPr>
              <a:t>Identify</a:t>
            </a:r>
            <a:r>
              <a:rPr lang="en-AU" sz="3600" dirty="0">
                <a:latin typeface="Arial"/>
                <a:cs typeface="Arial"/>
              </a:rPr>
              <a:t>:</a:t>
            </a:r>
          </a:p>
        </p:txBody>
      </p:sp>
      <p:sp>
        <p:nvSpPr>
          <p:cNvPr id="11" name="Rectangle: Rounded Corners 10" descr="right angle&#10;">
            <a:extLst>
              <a:ext uri="{FF2B5EF4-FFF2-40B4-BE49-F238E27FC236}">
                <a16:creationId xmlns:a16="http://schemas.microsoft.com/office/drawing/2014/main" id="{E26E9C4D-2885-4FB0-E502-E468AA8DE811}"/>
              </a:ext>
            </a:extLst>
          </p:cNvPr>
          <p:cNvSpPr/>
          <p:nvPr/>
        </p:nvSpPr>
        <p:spPr>
          <a:xfrm>
            <a:off x="246024" y="2080000"/>
            <a:ext cx="2702492" cy="845123"/>
          </a:xfrm>
          <a:prstGeom prst="roundRect">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rPr>
              <a:t>right angle</a:t>
            </a:r>
          </a:p>
        </p:txBody>
      </p:sp>
      <p:sp>
        <p:nvSpPr>
          <p:cNvPr id="14" name="Rectangle: Rounded Corners 13" descr="angles on a straight line&#10;">
            <a:extLst>
              <a:ext uri="{FF2B5EF4-FFF2-40B4-BE49-F238E27FC236}">
                <a16:creationId xmlns:a16="http://schemas.microsoft.com/office/drawing/2014/main" id="{291D77AE-AA85-6CA5-4A38-EAEE4B58B0F2}"/>
              </a:ext>
            </a:extLst>
          </p:cNvPr>
          <p:cNvSpPr/>
          <p:nvPr/>
        </p:nvSpPr>
        <p:spPr>
          <a:xfrm>
            <a:off x="246024" y="3740502"/>
            <a:ext cx="2738716" cy="845123"/>
          </a:xfrm>
          <a:prstGeom prst="roundRect">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angles on a straight line</a:t>
            </a:r>
          </a:p>
        </p:txBody>
      </p:sp>
      <p:sp>
        <p:nvSpPr>
          <p:cNvPr id="15" name="Rectangle: Rounded Corners 14" descr="angles embedded at a point&#10;">
            <a:extLst>
              <a:ext uri="{FF2B5EF4-FFF2-40B4-BE49-F238E27FC236}">
                <a16:creationId xmlns:a16="http://schemas.microsoft.com/office/drawing/2014/main" id="{D49BDC57-9287-FDE2-1386-92C46A75EF35}"/>
              </a:ext>
            </a:extLst>
          </p:cNvPr>
          <p:cNvSpPr/>
          <p:nvPr/>
        </p:nvSpPr>
        <p:spPr>
          <a:xfrm>
            <a:off x="246024" y="5371260"/>
            <a:ext cx="2738716" cy="845123"/>
          </a:xfrm>
          <a:prstGeom prst="roundRect">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angles embedded at a point</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7" name="Picture 16" descr="A rectangle is filled with many irregular shapes outlined in black, creating a mosaic-like pattern.&#10;&#10;Three coloured angle markings are drawn on top of the pattern:&#10;&#10;A pink angle labelled A near the upper left centre is formed by three thick lines meeting at one point.&#10;&#10;A light blue set of several thick lines labelled B radiates from one central point near the lower middle of the image, creating multiple angles.&#10;&#10;A green angle labelled C on the right centre is formed by two thick lines creating a wide angle.&#10;">
            <a:extLst>
              <a:ext uri="{FF2B5EF4-FFF2-40B4-BE49-F238E27FC236}">
                <a16:creationId xmlns:a16="http://schemas.microsoft.com/office/drawing/2014/main" id="{426D5DCD-1D42-6A83-DE08-3409017C359D}"/>
              </a:ext>
            </a:extLst>
          </p:cNvPr>
          <p:cNvPicPr>
            <a:picLocks noChangeAspect="1"/>
          </p:cNvPicPr>
          <p:nvPr/>
        </p:nvPicPr>
        <p:blipFill>
          <a:blip r:embed="rId4">
            <a:extLst>
              <a:ext uri="{28A0092B-C50C-407E-A947-70E740481C1C}">
                <a14:useLocalDpi xmlns:a14="http://schemas.microsoft.com/office/drawing/2010/main" val="0"/>
              </a:ext>
            </a:extLst>
          </a:blip>
          <a:srcRect t="30329" b="28062"/>
          <a:stretch>
            <a:fillRect/>
          </a:stretch>
        </p:blipFill>
        <p:spPr>
          <a:xfrm>
            <a:off x="3487552" y="1184223"/>
            <a:ext cx="8356448" cy="4917706"/>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recall commonly used equivalent percentages, decimals and fractions</a:t>
            </a:r>
          </a:p>
        </p:txBody>
      </p:sp>
      <p:pic>
        <p:nvPicPr>
          <p:cNvPr id="7" name="Picture 6" descr="A cartoon of an teacher with dark curly hair stands holding an open book and smiling. A speech bubble above her reads, “Zero point five.”&#10;&#10;To the right are two seated school-aged students holding small whiteboards. One student holds a whiteboard showing “50%” written in blue. The other student holds a whiteboard showing the fraction one half written in green.">
            <a:extLst>
              <a:ext uri="{FF2B5EF4-FFF2-40B4-BE49-F238E27FC236}">
                <a16:creationId xmlns:a16="http://schemas.microsoft.com/office/drawing/2014/main" id="{77A8112B-24C7-7633-E8ED-46FE7106E23A}"/>
              </a:ext>
            </a:extLst>
          </p:cNvPr>
          <p:cNvPicPr>
            <a:picLocks noChangeAspect="1"/>
          </p:cNvPicPr>
          <p:nvPr/>
        </p:nvPicPr>
        <p:blipFill>
          <a:blip r:embed="rId3"/>
          <a:srcRect l="9927" r="4813"/>
          <a:stretch>
            <a:fillRect/>
          </a:stretch>
        </p:blipFill>
        <p:spPr>
          <a:xfrm>
            <a:off x="2406108" y="1651805"/>
            <a:ext cx="7379784" cy="4734586"/>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184019"/>
                <a:ext cx="11243037" cy="2517791"/>
              </a:xfrm>
            </p:spPr>
            <p:txBody>
              <a:bodyPr/>
              <a:lstStyle/>
              <a:p>
                <a:pPr algn="ctr"/>
                <a:r>
                  <a:rPr lang="en-US" sz="4400"/>
                  <a:t>If we have </a:t>
                </a:r>
                <a14:m>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6</m:t>
                        </m:r>
                      </m:den>
                    </m:f>
                  </m:oMath>
                </a14:m>
                <a:r>
                  <a:rPr lang="en-US" sz="4400"/>
                  <a:t> of a length, how much more is needed to create the whole?</a:t>
                </a:r>
              </a:p>
            </p:txBody>
          </p:sp>
        </mc:Choice>
        <mc:Fallback xmlns="">
          <p:sp>
            <p:nvSpPr>
              <p:cNvPr id="18" name="Text Placeholder 17">
                <a:extLst>
                  <a:ext uri="{FF2B5EF4-FFF2-40B4-BE49-F238E27FC236}">
                    <a16:creationId xmlns:a16="http://schemas.microsoft.com/office/drawing/2014/main" id="{E180F3B1-ACC7-4559-EA73-174DB17A0983}"/>
                  </a:ext>
                </a:extLst>
              </p:cNvPr>
              <p:cNvSpPr>
                <a:spLocks noGrp="1" noRot="1" noChangeAspect="1" noMove="1" noResize="1" noEditPoints="1" noAdjustHandles="1" noChangeArrowheads="1" noChangeShapeType="1" noTextEdit="1"/>
              </p:cNvSpPr>
              <p:nvPr>
                <p:ph type="body" sz="quarter" idx="24"/>
              </p:nvPr>
            </p:nvSpPr>
            <p:spPr>
              <a:xfrm>
                <a:off x="360000" y="1184019"/>
                <a:ext cx="11243037" cy="2517791"/>
              </a:xfrm>
              <a:blipFill>
                <a:blip r:embed="rId3"/>
                <a:stretch>
                  <a:fillRect r="-1356" b="-508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1C29816-81FA-214C-258F-79064C96BFC4}"/>
              </a:ext>
            </a:extLst>
          </p:cNvPr>
          <p:cNvSpPr txBox="1"/>
          <p:nvPr/>
        </p:nvSpPr>
        <p:spPr>
          <a:xfrm>
            <a:off x="1215766"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29FE52A-021C-6F79-1152-539A1089D853}"/>
                  </a:ext>
                </a:extLst>
              </p:cNvPr>
              <p:cNvSpPr txBox="1"/>
              <p:nvPr/>
            </p:nvSpPr>
            <p:spPr>
              <a:xfrm>
                <a:off x="809360" y="5041159"/>
                <a:ext cx="1342239" cy="13828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AU" sz="4800" b="0" i="1" smtClean="0">
                              <a:latin typeface="Cambria Math" panose="02040503050406030204" pitchFamily="18" charset="0"/>
                            </a:rPr>
                            <m:t>3</m:t>
                          </m:r>
                        </m:num>
                        <m:den>
                          <m:r>
                            <a:rPr lang="en-AU" sz="4800" b="0" i="1" smtClean="0">
                              <a:latin typeface="Cambria Math" panose="02040503050406030204" pitchFamily="18" charset="0"/>
                            </a:rPr>
                            <m:t>6</m:t>
                          </m:r>
                        </m:den>
                      </m:f>
                    </m:oMath>
                  </m:oMathPara>
                </a14:m>
                <a:endParaRPr lang="en-US" sz="4800"/>
              </a:p>
            </p:txBody>
          </p:sp>
        </mc:Choice>
        <mc:Fallback xmlns="">
          <p:sp>
            <p:nvSpPr>
              <p:cNvPr id="14" name="TextBox 13">
                <a:extLst>
                  <a:ext uri="{FF2B5EF4-FFF2-40B4-BE49-F238E27FC236}">
                    <a16:creationId xmlns:a16="http://schemas.microsoft.com/office/drawing/2014/main" id="{329FE52A-021C-6F79-1152-539A1089D853}"/>
                  </a:ext>
                </a:extLst>
              </p:cNvPr>
              <p:cNvSpPr txBox="1">
                <a:spLocks noRot="1" noChangeAspect="1" noMove="1" noResize="1" noEditPoints="1" noAdjustHandles="1" noChangeArrowheads="1" noChangeShapeType="1" noTextEdit="1"/>
              </p:cNvSpPr>
              <p:nvPr/>
            </p:nvSpPr>
            <p:spPr>
              <a:xfrm>
                <a:off x="809360" y="5041159"/>
                <a:ext cx="1342239" cy="1382879"/>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3BF1780-0BDC-37AF-4160-43E33D38581A}"/>
              </a:ext>
            </a:extLst>
          </p:cNvPr>
          <p:cNvSpPr txBox="1"/>
          <p:nvPr/>
        </p:nvSpPr>
        <p:spPr>
          <a:xfrm>
            <a:off x="4219739"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C189832-3B41-4D8C-7144-249FE2DCEAF2}"/>
                  </a:ext>
                </a:extLst>
              </p:cNvPr>
              <p:cNvSpPr txBox="1"/>
              <p:nvPr/>
            </p:nvSpPr>
            <p:spPr>
              <a:xfrm>
                <a:off x="3695600" y="5041159"/>
                <a:ext cx="1577705" cy="13876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AU" sz="4800" b="0" i="1" smtClean="0">
                              <a:latin typeface="Cambria Math" panose="02040503050406030204" pitchFamily="18" charset="0"/>
                            </a:rPr>
                            <m:t>4</m:t>
                          </m:r>
                        </m:num>
                        <m:den>
                          <m:r>
                            <a:rPr lang="en-AU" sz="4800" i="1">
                              <a:latin typeface="Cambria Math" panose="02040503050406030204" pitchFamily="18" charset="0"/>
                            </a:rPr>
                            <m:t>6</m:t>
                          </m:r>
                        </m:den>
                      </m:f>
                    </m:oMath>
                  </m:oMathPara>
                </a14:m>
                <a:endParaRPr lang="en-US" sz="4800"/>
              </a:p>
            </p:txBody>
          </p:sp>
        </mc:Choice>
        <mc:Fallback xmlns="">
          <p:sp>
            <p:nvSpPr>
              <p:cNvPr id="15" name="TextBox 14">
                <a:extLst>
                  <a:ext uri="{FF2B5EF4-FFF2-40B4-BE49-F238E27FC236}">
                    <a16:creationId xmlns:a16="http://schemas.microsoft.com/office/drawing/2014/main" id="{DC189832-3B41-4D8C-7144-249FE2DCEAF2}"/>
                  </a:ext>
                </a:extLst>
              </p:cNvPr>
              <p:cNvSpPr txBox="1">
                <a:spLocks noRot="1" noChangeAspect="1" noMove="1" noResize="1" noEditPoints="1" noAdjustHandles="1" noChangeArrowheads="1" noChangeShapeType="1" noTextEdit="1"/>
              </p:cNvSpPr>
              <p:nvPr/>
            </p:nvSpPr>
            <p:spPr>
              <a:xfrm>
                <a:off x="3695600" y="5041159"/>
                <a:ext cx="1577705" cy="1387688"/>
              </a:xfrm>
              <a:prstGeom prst="rect">
                <a:avLst/>
              </a:prstGeom>
              <a:blipFill>
                <a:blip r:embed="rId5"/>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A0488F8-550B-C926-8460-67FFC7E4D4E8}"/>
              </a:ext>
            </a:extLst>
          </p:cNvPr>
          <p:cNvSpPr txBox="1"/>
          <p:nvPr/>
        </p:nvSpPr>
        <p:spPr>
          <a:xfrm>
            <a:off x="7223712"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852F501-4F23-D906-9C27-2943773460A2}"/>
                  </a:ext>
                </a:extLst>
              </p:cNvPr>
              <p:cNvSpPr txBox="1"/>
              <p:nvPr/>
            </p:nvSpPr>
            <p:spPr>
              <a:xfrm>
                <a:off x="6753988" y="5041159"/>
                <a:ext cx="1468875" cy="13876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14:m>
                  <m:oMathPara xmlns:m="http://schemas.openxmlformats.org/officeDocument/2006/math">
                    <m:oMathParaPr>
                      <m:jc m:val="centerGroup"/>
                    </m:oMathParaPr>
                    <m:oMath xmlns:m="http://schemas.openxmlformats.org/officeDocument/2006/math">
                      <m:f>
                        <m:fPr>
                          <m:ctrlPr>
                            <a:rPr lang="en-US" sz="4800" i="1">
                              <a:latin typeface="Cambria Math" panose="02040503050406030204" pitchFamily="18" charset="0"/>
                            </a:rPr>
                          </m:ctrlPr>
                        </m:fPr>
                        <m:num>
                          <m:r>
                            <a:rPr lang="en-AU" sz="4800" i="1">
                              <a:latin typeface="Cambria Math" panose="02040503050406030204" pitchFamily="18" charset="0"/>
                            </a:rPr>
                            <m:t>2</m:t>
                          </m:r>
                        </m:num>
                        <m:den>
                          <m:r>
                            <a:rPr lang="en-AU" sz="4800" i="1">
                              <a:latin typeface="Cambria Math" panose="02040503050406030204" pitchFamily="18" charset="0"/>
                            </a:rPr>
                            <m:t>6</m:t>
                          </m:r>
                        </m:den>
                      </m:f>
                    </m:oMath>
                  </m:oMathPara>
                </a14:m>
                <a:endParaRPr lang="en-US" sz="4800"/>
              </a:p>
            </p:txBody>
          </p:sp>
        </mc:Choice>
        <mc:Fallback xmlns="">
          <p:sp>
            <p:nvSpPr>
              <p:cNvPr id="16" name="TextBox 15">
                <a:extLst>
                  <a:ext uri="{FF2B5EF4-FFF2-40B4-BE49-F238E27FC236}">
                    <a16:creationId xmlns:a16="http://schemas.microsoft.com/office/drawing/2014/main" id="{0852F501-4F23-D906-9C27-2943773460A2}"/>
                  </a:ext>
                </a:extLst>
              </p:cNvPr>
              <p:cNvSpPr txBox="1">
                <a:spLocks noRot="1" noChangeAspect="1" noMove="1" noResize="1" noEditPoints="1" noAdjustHandles="1" noChangeArrowheads="1" noChangeShapeType="1" noTextEdit="1"/>
              </p:cNvSpPr>
              <p:nvPr/>
            </p:nvSpPr>
            <p:spPr>
              <a:xfrm>
                <a:off x="6753988" y="5041159"/>
                <a:ext cx="1468875" cy="1387688"/>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D482B13-9676-FDE0-FBDC-F4A5F0E08438}"/>
              </a:ext>
            </a:extLst>
          </p:cNvPr>
          <p:cNvSpPr txBox="1"/>
          <p:nvPr/>
        </p:nvSpPr>
        <p:spPr>
          <a:xfrm>
            <a:off x="10227686" y="40332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D8AE01E-E647-1227-2AFD-EA3409C48CF5}"/>
                  </a:ext>
                </a:extLst>
              </p:cNvPr>
              <p:cNvSpPr txBox="1"/>
              <p:nvPr/>
            </p:nvSpPr>
            <p:spPr>
              <a:xfrm>
                <a:off x="9821280" y="5041159"/>
                <a:ext cx="1342239" cy="13876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AU" sz="4800" b="0" i="1" smtClean="0">
                              <a:latin typeface="Cambria Math" panose="02040503050406030204" pitchFamily="18" charset="0"/>
                            </a:rPr>
                            <m:t>1</m:t>
                          </m:r>
                        </m:num>
                        <m:den>
                          <m:r>
                            <a:rPr lang="en-AU" sz="4800" b="0" i="1" smtClean="0">
                              <a:latin typeface="Cambria Math" panose="02040503050406030204" pitchFamily="18" charset="0"/>
                            </a:rPr>
                            <m:t>6</m:t>
                          </m:r>
                        </m:den>
                      </m:f>
                    </m:oMath>
                  </m:oMathPara>
                </a14:m>
                <a:endParaRPr lang="en-US" sz="4800"/>
              </a:p>
            </p:txBody>
          </p:sp>
        </mc:Choice>
        <mc:Fallback xmlns="">
          <p:sp>
            <p:nvSpPr>
              <p:cNvPr id="17" name="TextBox 16">
                <a:extLst>
                  <a:ext uri="{FF2B5EF4-FFF2-40B4-BE49-F238E27FC236}">
                    <a16:creationId xmlns:a16="http://schemas.microsoft.com/office/drawing/2014/main" id="{1D8AE01E-E647-1227-2AFD-EA3409C48CF5}"/>
                  </a:ext>
                </a:extLst>
              </p:cNvPr>
              <p:cNvSpPr txBox="1">
                <a:spLocks noRot="1" noChangeAspect="1" noMove="1" noResize="1" noEditPoints="1" noAdjustHandles="1" noChangeArrowheads="1" noChangeShapeType="1" noTextEdit="1"/>
              </p:cNvSpPr>
              <p:nvPr/>
            </p:nvSpPr>
            <p:spPr>
              <a:xfrm>
                <a:off x="9821280" y="5041159"/>
                <a:ext cx="1342239" cy="1387688"/>
              </a:xfrm>
              <a:prstGeom prst="rect">
                <a:avLst/>
              </a:prstGeom>
              <a:blipFill>
                <a:blip r:embed="rId7"/>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5" name="Picture Placeholder 10">
            <a:extLst>
              <a:ext uri="{FF2B5EF4-FFF2-40B4-BE49-F238E27FC236}">
                <a16:creationId xmlns:a16="http://schemas.microsoft.com/office/drawing/2014/main" id="{5EC7BADC-B27B-BD26-10CF-8946D93F08EA}"/>
              </a:ext>
            </a:extLst>
          </p:cNvPr>
          <p:cNvSpPr txBox="1">
            <a:spLocks/>
          </p:cNvSpPr>
          <p:nvPr/>
        </p:nvSpPr>
        <p:spPr>
          <a:xfrm>
            <a:off x="814172" y="916457"/>
            <a:ext cx="10563656" cy="97548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Record these</a:t>
            </a:r>
            <a:r>
              <a:rPr lang="en-AU" sz="4400" b="1">
                <a:latin typeface="Arial"/>
                <a:cs typeface="Arial"/>
              </a:rPr>
              <a:t> equivalent </a:t>
            </a:r>
            <a:r>
              <a:rPr lang="en-AU" sz="4400">
                <a:latin typeface="Arial"/>
                <a:cs typeface="Arial"/>
              </a:rPr>
              <a:t>measurements using </a:t>
            </a:r>
            <a:r>
              <a:rPr lang="en-AU" sz="4400" b="1">
                <a:latin typeface="Arial"/>
                <a:cs typeface="Arial"/>
              </a:rPr>
              <a:t>decimal notation.</a:t>
            </a:r>
            <a:endParaRPr lang="en-US" sz="4400">
              <a:latin typeface="Arial"/>
              <a:cs typeface="Arial"/>
            </a:endParaRPr>
          </a:p>
        </p:txBody>
      </p:sp>
      <p:sp>
        <p:nvSpPr>
          <p:cNvPr id="7" name="Picture Placeholder 10">
            <a:extLst>
              <a:ext uri="{FF2B5EF4-FFF2-40B4-BE49-F238E27FC236}">
                <a16:creationId xmlns:a16="http://schemas.microsoft.com/office/drawing/2014/main" id="{CE20C6BA-0F3C-3DF3-45C1-79917C5214F7}"/>
              </a:ext>
            </a:extLst>
          </p:cNvPr>
          <p:cNvSpPr txBox="1">
            <a:spLocks/>
          </p:cNvSpPr>
          <p:nvPr/>
        </p:nvSpPr>
        <p:spPr>
          <a:xfrm>
            <a:off x="1500722" y="2849340"/>
            <a:ext cx="9623277" cy="375666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215 mm = ____ </a:t>
            </a:r>
            <a:r>
              <a:rPr lang="en-US" sz="4400" dirty="0" err="1">
                <a:latin typeface="Arial"/>
                <a:cs typeface="Arial"/>
              </a:rPr>
              <a:t>centimetres</a:t>
            </a:r>
            <a:endParaRPr lang="en-US" sz="4400">
              <a:latin typeface="Arial"/>
              <a:cs typeface="Arial"/>
            </a:endParaRPr>
          </a:p>
          <a:p>
            <a:pPr marL="742950" indent="-742950">
              <a:buFont typeface="+mj-lt"/>
              <a:buAutoNum type="alphaLcParenR"/>
            </a:pPr>
            <a:r>
              <a:rPr lang="en-US" sz="4400">
                <a:latin typeface="Arial"/>
                <a:cs typeface="Arial"/>
              </a:rPr>
              <a:t>625 cm = ____ </a:t>
            </a:r>
            <a:r>
              <a:rPr lang="en-US" sz="4400" err="1">
                <a:latin typeface="Arial"/>
                <a:cs typeface="Arial"/>
              </a:rPr>
              <a:t>metres</a:t>
            </a:r>
            <a:endParaRPr lang="en-US" sz="4400">
              <a:latin typeface="Arial"/>
              <a:cs typeface="Arial"/>
            </a:endParaRPr>
          </a:p>
          <a:p>
            <a:pPr marL="742950" indent="-742950">
              <a:buFont typeface="+mj-lt"/>
              <a:buAutoNum type="alphaLcParenR"/>
            </a:pPr>
            <a:r>
              <a:rPr lang="en-US" sz="4400">
                <a:latin typeface="Arial"/>
                <a:cs typeface="Arial"/>
              </a:rPr>
              <a:t>3475 m = ____ </a:t>
            </a:r>
            <a:r>
              <a:rPr lang="en-US" sz="4400" err="1">
                <a:latin typeface="Arial"/>
                <a:cs typeface="Arial"/>
              </a:rPr>
              <a:t>kilometres</a:t>
            </a:r>
            <a:r>
              <a:rPr lang="en-US" sz="4400">
                <a:latin typeface="Arial"/>
                <a:cs typeface="Arial"/>
              </a:rPr>
              <a:t> </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5" name="Text Placeholder 17">
            <a:extLst>
              <a:ext uri="{FF2B5EF4-FFF2-40B4-BE49-F238E27FC236}">
                <a16:creationId xmlns:a16="http://schemas.microsoft.com/office/drawing/2014/main" id="{CCBDFC22-15EE-A33A-5B78-81C80AC256F6}"/>
              </a:ext>
            </a:extLst>
          </p:cNvPr>
          <p:cNvSpPr txBox="1">
            <a:spLocks/>
          </p:cNvSpPr>
          <p:nvPr/>
        </p:nvSpPr>
        <p:spPr>
          <a:xfrm>
            <a:off x="375814" y="1232459"/>
            <a:ext cx="11440372" cy="200605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this number sentence </a:t>
            </a:r>
            <a:r>
              <a:rPr lang="en-AU" sz="4400" b="1"/>
              <a:t>with</a:t>
            </a:r>
            <a:r>
              <a:rPr lang="en-AU" sz="4400"/>
              <a:t> </a:t>
            </a:r>
            <a:r>
              <a:rPr lang="en-AU" sz="4400" b="1"/>
              <a:t>brackets</a:t>
            </a:r>
            <a:r>
              <a:rPr lang="en-AU" sz="4400"/>
              <a:t> to make this </a:t>
            </a:r>
            <a:r>
              <a:rPr lang="en-AU" sz="4400" b="1"/>
              <a:t>equation correct.</a:t>
            </a:r>
            <a:endParaRPr lang="en-US" sz="4400"/>
          </a:p>
        </p:txBody>
      </p:sp>
      <p:sp>
        <p:nvSpPr>
          <p:cNvPr id="7" name="Text Placeholder 17">
            <a:extLst>
              <a:ext uri="{FF2B5EF4-FFF2-40B4-BE49-F238E27FC236}">
                <a16:creationId xmlns:a16="http://schemas.microsoft.com/office/drawing/2014/main" id="{BF7614E8-59BA-CD42-63A3-47768C84D79B}"/>
              </a:ext>
            </a:extLst>
          </p:cNvPr>
          <p:cNvSpPr txBox="1">
            <a:spLocks/>
          </p:cNvSpPr>
          <p:nvPr/>
        </p:nvSpPr>
        <p:spPr>
          <a:xfrm>
            <a:off x="375814" y="3874229"/>
            <a:ext cx="11440372" cy="200605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dirty="0">
                <a:solidFill>
                  <a:srgbClr val="146CFD"/>
                </a:solidFill>
              </a:rPr>
              <a:t>3 + 5 × 9 = 72</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8" name="Text Placeholder 5">
            <a:extLst>
              <a:ext uri="{FF2B5EF4-FFF2-40B4-BE49-F238E27FC236}">
                <a16:creationId xmlns:a16="http://schemas.microsoft.com/office/drawing/2014/main" id="{A475F92E-62B5-FFD3-A725-495437CD01B0}"/>
              </a:ext>
            </a:extLst>
          </p:cNvPr>
          <p:cNvSpPr txBox="1">
            <a:spLocks/>
          </p:cNvSpPr>
          <p:nvPr/>
        </p:nvSpPr>
        <p:spPr>
          <a:xfrm>
            <a:off x="214171" y="1088099"/>
            <a:ext cx="6862489" cy="220907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dirty="0"/>
              <a:t>A student </a:t>
            </a:r>
            <a:r>
              <a:rPr lang="en-AU" sz="2800" b="1" dirty="0"/>
              <a:t>dissected</a:t>
            </a:r>
            <a:r>
              <a:rPr lang="en-AU" sz="2800" dirty="0"/>
              <a:t> this </a:t>
            </a:r>
            <a:r>
              <a:rPr lang="en-AU" sz="2800" b="1" dirty="0"/>
              <a:t>composite L-shape</a:t>
            </a:r>
            <a:r>
              <a:rPr lang="en-AU" sz="2800" dirty="0"/>
              <a:t> to </a:t>
            </a:r>
            <a:r>
              <a:rPr lang="en-AU" sz="2800" b="1" dirty="0"/>
              <a:t>calculate</a:t>
            </a:r>
            <a:r>
              <a:rPr lang="en-AU" sz="2800" dirty="0"/>
              <a:t> its </a:t>
            </a:r>
            <a:r>
              <a:rPr lang="en-AU" sz="2800" b="1" dirty="0"/>
              <a:t>area</a:t>
            </a:r>
            <a:r>
              <a:rPr lang="en-AU" sz="2800" dirty="0"/>
              <a:t>.</a:t>
            </a:r>
          </a:p>
        </p:txBody>
      </p:sp>
      <p:sp>
        <p:nvSpPr>
          <p:cNvPr id="11" name="Text Placeholder 5">
            <a:extLst>
              <a:ext uri="{FF2B5EF4-FFF2-40B4-BE49-F238E27FC236}">
                <a16:creationId xmlns:a16="http://schemas.microsoft.com/office/drawing/2014/main" id="{6217CC33-62BA-ED8E-FA06-1EC9FE9340BF}"/>
              </a:ext>
            </a:extLst>
          </p:cNvPr>
          <p:cNvSpPr txBox="1">
            <a:spLocks/>
          </p:cNvSpPr>
          <p:nvPr/>
        </p:nvSpPr>
        <p:spPr>
          <a:xfrm>
            <a:off x="214169" y="2643573"/>
            <a:ext cx="7254737" cy="312632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lphaLcParenR"/>
            </a:pPr>
            <a:r>
              <a:rPr lang="en-AU" sz="2800" dirty="0"/>
              <a:t>Is this an </a:t>
            </a:r>
            <a:r>
              <a:rPr lang="en-AU" sz="2800" b="1" dirty="0"/>
              <a:t>effective way </a:t>
            </a:r>
            <a:r>
              <a:rPr lang="en-AU" sz="2800" dirty="0"/>
              <a:t>to </a:t>
            </a:r>
            <a:r>
              <a:rPr lang="en-AU" sz="2800" b="1" dirty="0"/>
              <a:t>dissect </a:t>
            </a:r>
            <a:r>
              <a:rPr lang="en-AU" sz="2800" dirty="0"/>
              <a:t>the shape?</a:t>
            </a:r>
          </a:p>
          <a:p>
            <a:pPr marL="514350" indent="-514350">
              <a:buFont typeface="+mj-lt"/>
              <a:buAutoNum type="alphaLcParenR"/>
            </a:pPr>
            <a:r>
              <a:rPr lang="en-AU" sz="2800" dirty="0"/>
              <a:t>Communicate your reasoning</a:t>
            </a:r>
          </a:p>
          <a:p>
            <a:pPr marL="514350" indent="-514350">
              <a:buFont typeface="+mj-lt"/>
              <a:buAutoNum type="alphaLcParenR"/>
            </a:pPr>
            <a:r>
              <a:rPr lang="en-AU" sz="2800" dirty="0"/>
              <a:t>Draw how you would dissect the composite L-shape to calculate its area.</a:t>
            </a:r>
          </a:p>
          <a:p>
            <a:pPr algn="ctr"/>
            <a:endParaRPr lang="en-AU" sz="3200" dirty="0"/>
          </a:p>
        </p:txBody>
      </p:sp>
      <p:pic>
        <p:nvPicPr>
          <p:cNvPr id="7" name="Picture 6" descr="A blue L-shaped figure is drawn on a whiteboard. A dotted diagonal line runs from the bottom left corner of the shape to the inner corner where the two rectangular sections meet.">
            <a:extLst>
              <a:ext uri="{FF2B5EF4-FFF2-40B4-BE49-F238E27FC236}">
                <a16:creationId xmlns:a16="http://schemas.microsoft.com/office/drawing/2014/main" id="{9B8464C7-2528-FBD9-92CA-126C6FBDC6D3}"/>
              </a:ext>
            </a:extLst>
          </p:cNvPr>
          <p:cNvPicPr>
            <a:picLocks noChangeAspect="1"/>
          </p:cNvPicPr>
          <p:nvPr/>
        </p:nvPicPr>
        <p:blipFill>
          <a:blip r:embed="rId3"/>
          <a:srcRect l="5236" r="6919"/>
          <a:stretch>
            <a:fillRect/>
          </a:stretch>
        </p:blipFill>
        <p:spPr>
          <a:xfrm>
            <a:off x="7177845" y="1628246"/>
            <a:ext cx="4799984" cy="3337854"/>
          </a:xfrm>
          <a:prstGeom prst="rect">
            <a:avLst/>
          </a:prstGeom>
          <a:solidFill>
            <a:schemeClr val="bg1"/>
          </a:solidFill>
          <a:ln>
            <a:noFill/>
          </a:ln>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5" name="Text Placeholder 17">
            <a:extLst>
              <a:ext uri="{FF2B5EF4-FFF2-40B4-BE49-F238E27FC236}">
                <a16:creationId xmlns:a16="http://schemas.microsoft.com/office/drawing/2014/main" id="{72A350CE-4513-497D-D262-5B14F3776C1C}"/>
              </a:ext>
            </a:extLst>
          </p:cNvPr>
          <p:cNvSpPr txBox="1">
            <a:spLocks/>
          </p:cNvSpPr>
          <p:nvPr/>
        </p:nvSpPr>
        <p:spPr>
          <a:xfrm>
            <a:off x="280486" y="1030752"/>
            <a:ext cx="11631027" cy="91550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Match </a:t>
            </a:r>
            <a:r>
              <a:rPr lang="en-AU" sz="4400"/>
              <a:t>the</a:t>
            </a:r>
            <a:r>
              <a:rPr lang="en-AU" sz="4400" b="1"/>
              <a:t> </a:t>
            </a:r>
            <a:r>
              <a:rPr lang="en-AU" sz="4400"/>
              <a:t>triangle to the classification.</a:t>
            </a:r>
            <a:endParaRPr lang="en-US" sz="4400"/>
          </a:p>
        </p:txBody>
      </p:sp>
      <p:grpSp>
        <p:nvGrpSpPr>
          <p:cNvPr id="11" name="Group 10" descr="1. equilateral">
            <a:extLst>
              <a:ext uri="{FF2B5EF4-FFF2-40B4-BE49-F238E27FC236}">
                <a16:creationId xmlns:a16="http://schemas.microsoft.com/office/drawing/2014/main" id="{38F04607-44DC-B661-C27B-4C9C52FAFEBE}"/>
              </a:ext>
            </a:extLst>
          </p:cNvPr>
          <p:cNvGrpSpPr>
            <a:grpSpLocks noChangeAspect="1"/>
          </p:cNvGrpSpPr>
          <p:nvPr/>
        </p:nvGrpSpPr>
        <p:grpSpPr>
          <a:xfrm>
            <a:off x="339146" y="2160441"/>
            <a:ext cx="4017870" cy="977212"/>
            <a:chOff x="307035" y="2097409"/>
            <a:chExt cx="4017870" cy="977212"/>
          </a:xfrm>
        </p:grpSpPr>
        <p:sp>
          <p:nvSpPr>
            <p:cNvPr id="7" name="Picture Placeholder 10">
              <a:extLst>
                <a:ext uri="{FF2B5EF4-FFF2-40B4-BE49-F238E27FC236}">
                  <a16:creationId xmlns:a16="http://schemas.microsoft.com/office/drawing/2014/main" id="{51B12A20-C997-A643-724D-AB5192559B36}"/>
                </a:ext>
              </a:extLst>
            </p:cNvPr>
            <p:cNvSpPr txBox="1">
              <a:spLocks/>
            </p:cNvSpPr>
            <p:nvPr/>
          </p:nvSpPr>
          <p:spPr>
            <a:xfrm>
              <a:off x="307035" y="2097409"/>
              <a:ext cx="3146378" cy="8319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rabicPeriod"/>
              </a:pPr>
              <a:r>
                <a:rPr lang="en-AU" sz="3600" dirty="0">
                  <a:latin typeface="Arial"/>
                  <a:cs typeface="Arial"/>
                </a:rPr>
                <a:t>equilateral</a:t>
              </a:r>
            </a:p>
          </p:txBody>
        </p:sp>
        <p:sp>
          <p:nvSpPr>
            <p:cNvPr id="19" name="Freeform 2">
              <a:extLst>
                <a:ext uri="{FF2B5EF4-FFF2-40B4-BE49-F238E27FC236}">
                  <a16:creationId xmlns:a16="http://schemas.microsoft.com/office/drawing/2014/main" id="{C81804BD-D4CF-430F-0B59-D436925BAA68}"/>
                </a:ext>
              </a:extLst>
            </p:cNvPr>
            <p:cNvSpPr>
              <a:spLocks noChangeAspect="1"/>
            </p:cNvSpPr>
            <p:nvPr/>
          </p:nvSpPr>
          <p:spPr>
            <a:xfrm flipV="1">
              <a:off x="3453413" y="2321871"/>
              <a:ext cx="871492" cy="752750"/>
            </a:xfrm>
            <a:custGeom>
              <a:avLst/>
              <a:gdLst/>
              <a:ahLst/>
              <a:cxnLst/>
              <a:rect l="l" t="t" r="r" b="b"/>
              <a:pathLst>
                <a:path w="742072" h="640964">
                  <a:moveTo>
                    <a:pt x="0" y="640964"/>
                  </a:moveTo>
                  <a:lnTo>
                    <a:pt x="742072" y="640964"/>
                  </a:lnTo>
                  <a:lnTo>
                    <a:pt x="742072" y="0"/>
                  </a:lnTo>
                  <a:lnTo>
                    <a:pt x="0" y="0"/>
                  </a:lnTo>
                  <a:lnTo>
                    <a:pt x="0" y="64096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grpSp>
      <p:grpSp>
        <p:nvGrpSpPr>
          <p:cNvPr id="14" name="Group 13" descr="2. isosceles">
            <a:extLst>
              <a:ext uri="{FF2B5EF4-FFF2-40B4-BE49-F238E27FC236}">
                <a16:creationId xmlns:a16="http://schemas.microsoft.com/office/drawing/2014/main" id="{D259B772-9401-5AF7-C974-B0ADD335632C}"/>
              </a:ext>
            </a:extLst>
          </p:cNvPr>
          <p:cNvGrpSpPr/>
          <p:nvPr/>
        </p:nvGrpSpPr>
        <p:grpSpPr>
          <a:xfrm>
            <a:off x="360000" y="3650862"/>
            <a:ext cx="3978051" cy="997867"/>
            <a:chOff x="-799373" y="3602467"/>
            <a:chExt cx="3978051" cy="997867"/>
          </a:xfrm>
        </p:grpSpPr>
        <p:sp>
          <p:nvSpPr>
            <p:cNvPr id="21" name="Freeform 4">
              <a:extLst>
                <a:ext uri="{FF2B5EF4-FFF2-40B4-BE49-F238E27FC236}">
                  <a16:creationId xmlns:a16="http://schemas.microsoft.com/office/drawing/2014/main" id="{8E760F15-6A37-BFAB-54F5-19DD07223D34}"/>
                </a:ext>
              </a:extLst>
            </p:cNvPr>
            <p:cNvSpPr>
              <a:spLocks noChangeAspect="1"/>
            </p:cNvSpPr>
            <p:nvPr/>
          </p:nvSpPr>
          <p:spPr>
            <a:xfrm rot="5400000">
              <a:off x="2446570" y="3627322"/>
              <a:ext cx="611689" cy="852527"/>
            </a:xfrm>
            <a:custGeom>
              <a:avLst/>
              <a:gdLst/>
              <a:ahLst/>
              <a:cxnLst/>
              <a:rect l="l" t="t" r="r" b="b"/>
              <a:pathLst>
                <a:path w="529891" h="738523">
                  <a:moveTo>
                    <a:pt x="0" y="0"/>
                  </a:moveTo>
                  <a:lnTo>
                    <a:pt x="529890" y="0"/>
                  </a:lnTo>
                  <a:lnTo>
                    <a:pt x="529890" y="738524"/>
                  </a:lnTo>
                  <a:lnTo>
                    <a:pt x="0" y="7385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4" name="Picture Placeholder 10">
              <a:extLst>
                <a:ext uri="{FF2B5EF4-FFF2-40B4-BE49-F238E27FC236}">
                  <a16:creationId xmlns:a16="http://schemas.microsoft.com/office/drawing/2014/main" id="{38D08114-E66A-FF5F-5CD4-74F7E27F3BF5}"/>
                </a:ext>
              </a:extLst>
            </p:cNvPr>
            <p:cNvSpPr txBox="1">
              <a:spLocks/>
            </p:cNvSpPr>
            <p:nvPr/>
          </p:nvSpPr>
          <p:spPr>
            <a:xfrm>
              <a:off x="-799373" y="3602467"/>
              <a:ext cx="3146378" cy="997867"/>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rabicPeriod" startAt="2"/>
              </a:pPr>
              <a:r>
                <a:rPr lang="en-AU" sz="3600" dirty="0">
                  <a:latin typeface="Arial"/>
                  <a:cs typeface="Arial"/>
                </a:rPr>
                <a:t>isosceles</a:t>
              </a:r>
            </a:p>
          </p:txBody>
        </p:sp>
      </p:grpSp>
      <p:grpSp>
        <p:nvGrpSpPr>
          <p:cNvPr id="18" name="Group 17" descr="3. scalene">
            <a:extLst>
              <a:ext uri="{FF2B5EF4-FFF2-40B4-BE49-F238E27FC236}">
                <a16:creationId xmlns:a16="http://schemas.microsoft.com/office/drawing/2014/main" id="{944E6A6E-96D3-B502-E12A-178A3B6F4DDF}"/>
              </a:ext>
            </a:extLst>
          </p:cNvPr>
          <p:cNvGrpSpPr/>
          <p:nvPr/>
        </p:nvGrpSpPr>
        <p:grpSpPr>
          <a:xfrm>
            <a:off x="373275" y="5031587"/>
            <a:ext cx="4353768" cy="1005861"/>
            <a:chOff x="434101" y="5172956"/>
            <a:chExt cx="4353768" cy="1005861"/>
          </a:xfrm>
        </p:grpSpPr>
        <p:sp>
          <p:nvSpPr>
            <p:cNvPr id="20" name="Freeform 3">
              <a:extLst>
                <a:ext uri="{FF2B5EF4-FFF2-40B4-BE49-F238E27FC236}">
                  <a16:creationId xmlns:a16="http://schemas.microsoft.com/office/drawing/2014/main" id="{95E047FD-62FD-5A42-B05C-52E1D4D5E685}"/>
                </a:ext>
              </a:extLst>
            </p:cNvPr>
            <p:cNvSpPr>
              <a:spLocks noChangeAspect="1"/>
            </p:cNvSpPr>
            <p:nvPr/>
          </p:nvSpPr>
          <p:spPr>
            <a:xfrm rot="1457917">
              <a:off x="3176320" y="5445562"/>
              <a:ext cx="1611549" cy="733255"/>
            </a:xfrm>
            <a:custGeom>
              <a:avLst/>
              <a:gdLst/>
              <a:ahLst/>
              <a:cxnLst/>
              <a:rect l="l" t="t" r="r" b="b"/>
              <a:pathLst>
                <a:path w="1151320" h="523851">
                  <a:moveTo>
                    <a:pt x="0" y="0"/>
                  </a:moveTo>
                  <a:lnTo>
                    <a:pt x="1151320" y="0"/>
                  </a:lnTo>
                  <a:lnTo>
                    <a:pt x="1151320" y="523851"/>
                  </a:lnTo>
                  <a:lnTo>
                    <a:pt x="0" y="5238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Picture Placeholder 10">
              <a:extLst>
                <a:ext uri="{FF2B5EF4-FFF2-40B4-BE49-F238E27FC236}">
                  <a16:creationId xmlns:a16="http://schemas.microsoft.com/office/drawing/2014/main" id="{EA1AC62C-BD4F-A428-B5C4-65079234DD78}"/>
                </a:ext>
              </a:extLst>
            </p:cNvPr>
            <p:cNvSpPr txBox="1">
              <a:spLocks/>
            </p:cNvSpPr>
            <p:nvPr/>
          </p:nvSpPr>
          <p:spPr>
            <a:xfrm>
              <a:off x="434101" y="5172956"/>
              <a:ext cx="3146378" cy="8319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rabicPeriod" startAt="3"/>
              </a:pPr>
              <a:r>
                <a:rPr lang="en-AU" sz="3600">
                  <a:latin typeface="Arial"/>
                  <a:cs typeface="Arial"/>
                </a:rPr>
                <a:t>scalene</a:t>
              </a:r>
              <a:endParaRPr lang="en-US" sz="3600" b="1"/>
            </a:p>
          </p:txBody>
        </p:sp>
      </p:grpSp>
      <p:grpSp>
        <p:nvGrpSpPr>
          <p:cNvPr id="22" name="Group 21" descr="A. no equal sides and no equal angles&#10;">
            <a:extLst>
              <a:ext uri="{FF2B5EF4-FFF2-40B4-BE49-F238E27FC236}">
                <a16:creationId xmlns:a16="http://schemas.microsoft.com/office/drawing/2014/main" id="{5EB01325-9E1A-A9C4-5F98-D4FD928E7964}"/>
              </a:ext>
            </a:extLst>
          </p:cNvPr>
          <p:cNvGrpSpPr/>
          <p:nvPr/>
        </p:nvGrpSpPr>
        <p:grpSpPr>
          <a:xfrm>
            <a:off x="5248944" y="2319123"/>
            <a:ext cx="5957384" cy="1109877"/>
            <a:chOff x="3648744" y="2406024"/>
            <a:chExt cx="5957384" cy="1109877"/>
          </a:xfrm>
        </p:grpSpPr>
        <p:sp>
          <p:nvSpPr>
            <p:cNvPr id="9" name="Rectangle: Rounded Corners 8" descr="A. no equal sides and no equal angles&#10;">
              <a:extLst>
                <a:ext uri="{FF2B5EF4-FFF2-40B4-BE49-F238E27FC236}">
                  <a16:creationId xmlns:a16="http://schemas.microsoft.com/office/drawing/2014/main" id="{C42A2A06-9269-AA17-D86F-81CC7B745B5D}"/>
                </a:ext>
              </a:extLst>
            </p:cNvPr>
            <p:cNvSpPr/>
            <p:nvPr/>
          </p:nvSpPr>
          <p:spPr>
            <a:xfrm>
              <a:off x="3648744" y="2406024"/>
              <a:ext cx="5957384" cy="1109877"/>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96A635D9-F16C-D60A-72AB-37E4857FDC1A}"/>
                </a:ext>
              </a:extLst>
            </p:cNvPr>
            <p:cNvSpPr txBox="1"/>
            <p:nvPr/>
          </p:nvSpPr>
          <p:spPr>
            <a:xfrm>
              <a:off x="3860780" y="2672037"/>
              <a:ext cx="5642771" cy="577850"/>
            </a:xfrm>
            <a:prstGeom prst="rect">
              <a:avLst/>
            </a:prstGeom>
            <a:noFill/>
            <a:ln>
              <a:noFill/>
            </a:ln>
          </p:spPr>
          <p:txBody>
            <a:bodyPr wrap="square">
              <a:spAutoFit/>
            </a:bodyPr>
            <a:lstStyle/>
            <a:p>
              <a:pPr>
                <a:lnSpc>
                  <a:spcPct val="150000"/>
                </a:lnSpc>
              </a:pPr>
              <a:r>
                <a:rPr lang="en-AU" b="1" i="0">
                  <a:effectLst/>
                </a:rPr>
                <a:t>A. </a:t>
              </a:r>
              <a:r>
                <a:rPr lang="en-AU" b="0" i="0">
                  <a:effectLst/>
                </a:rPr>
                <a:t>no equal sides and no equal angles</a:t>
              </a:r>
              <a:endParaRPr lang="en-AU"/>
            </a:p>
          </p:txBody>
        </p:sp>
      </p:grpSp>
      <p:grpSp>
        <p:nvGrpSpPr>
          <p:cNvPr id="23" name="Group 22" descr="B. 3 equal sides and 3 equal angles&#10;">
            <a:extLst>
              <a:ext uri="{FF2B5EF4-FFF2-40B4-BE49-F238E27FC236}">
                <a16:creationId xmlns:a16="http://schemas.microsoft.com/office/drawing/2014/main" id="{33AB257F-8DCA-84BD-5007-36FDAAE3FDBB}"/>
              </a:ext>
            </a:extLst>
          </p:cNvPr>
          <p:cNvGrpSpPr/>
          <p:nvPr/>
        </p:nvGrpSpPr>
        <p:grpSpPr>
          <a:xfrm>
            <a:off x="5248944" y="3774112"/>
            <a:ext cx="5962915" cy="1109877"/>
            <a:chOff x="3648744" y="3861013"/>
            <a:chExt cx="5962915" cy="1109877"/>
          </a:xfrm>
        </p:grpSpPr>
        <p:sp>
          <p:nvSpPr>
            <p:cNvPr id="12" name="Rectangle: Rounded Corners 11">
              <a:extLst>
                <a:ext uri="{FF2B5EF4-FFF2-40B4-BE49-F238E27FC236}">
                  <a16:creationId xmlns:a16="http://schemas.microsoft.com/office/drawing/2014/main" id="{BA8B590F-5095-D6F4-8A4B-6F8F94C13C5D}"/>
                </a:ext>
              </a:extLst>
            </p:cNvPr>
            <p:cNvSpPr/>
            <p:nvPr/>
          </p:nvSpPr>
          <p:spPr>
            <a:xfrm>
              <a:off x="3648744" y="3861013"/>
              <a:ext cx="5962915" cy="1109877"/>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B097D771-FBDB-FE0A-4EC7-1395F51E00FE}"/>
                </a:ext>
              </a:extLst>
            </p:cNvPr>
            <p:cNvSpPr txBox="1"/>
            <p:nvPr/>
          </p:nvSpPr>
          <p:spPr>
            <a:xfrm>
              <a:off x="3839985" y="4127026"/>
              <a:ext cx="5426479" cy="577850"/>
            </a:xfrm>
            <a:prstGeom prst="rect">
              <a:avLst/>
            </a:prstGeom>
            <a:noFill/>
          </p:spPr>
          <p:txBody>
            <a:bodyPr wrap="square">
              <a:spAutoFit/>
            </a:bodyPr>
            <a:lstStyle/>
            <a:p>
              <a:pPr>
                <a:lnSpc>
                  <a:spcPct val="150000"/>
                </a:lnSpc>
              </a:pPr>
              <a:r>
                <a:rPr lang="en-AU" b="1" i="0">
                  <a:effectLst/>
                </a:rPr>
                <a:t>B. </a:t>
              </a:r>
              <a:r>
                <a:rPr lang="en-AU" b="0" i="0">
                  <a:effectLst/>
                </a:rPr>
                <a:t>3 equal sides and 3 equal angles</a:t>
              </a:r>
              <a:endParaRPr lang="en-AU"/>
            </a:p>
          </p:txBody>
        </p:sp>
      </p:grpSp>
      <p:grpSp>
        <p:nvGrpSpPr>
          <p:cNvPr id="24" name="Group 23" descr="C. 2 equal sides and 2 equal angles&#10;">
            <a:extLst>
              <a:ext uri="{FF2B5EF4-FFF2-40B4-BE49-F238E27FC236}">
                <a16:creationId xmlns:a16="http://schemas.microsoft.com/office/drawing/2014/main" id="{FCB926C3-0F95-733F-131C-9B001536EED1}"/>
              </a:ext>
            </a:extLst>
          </p:cNvPr>
          <p:cNvGrpSpPr/>
          <p:nvPr/>
        </p:nvGrpSpPr>
        <p:grpSpPr>
          <a:xfrm>
            <a:off x="5248944" y="5275376"/>
            <a:ext cx="5957384" cy="1109877"/>
            <a:chOff x="3648744" y="5362277"/>
            <a:chExt cx="5957384" cy="1109877"/>
          </a:xfrm>
        </p:grpSpPr>
        <p:sp>
          <p:nvSpPr>
            <p:cNvPr id="15" name="Rectangle: Rounded Corners 14">
              <a:extLst>
                <a:ext uri="{FF2B5EF4-FFF2-40B4-BE49-F238E27FC236}">
                  <a16:creationId xmlns:a16="http://schemas.microsoft.com/office/drawing/2014/main" id="{5608E32B-77A9-8A10-F121-352E7C94330A}"/>
                </a:ext>
              </a:extLst>
            </p:cNvPr>
            <p:cNvSpPr/>
            <p:nvPr/>
          </p:nvSpPr>
          <p:spPr>
            <a:xfrm>
              <a:off x="3648744" y="5362277"/>
              <a:ext cx="5957384" cy="1109877"/>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3E4A6EF1-4644-F8BD-4946-A1FBCEE0317F}"/>
                </a:ext>
              </a:extLst>
            </p:cNvPr>
            <p:cNvSpPr txBox="1"/>
            <p:nvPr/>
          </p:nvSpPr>
          <p:spPr>
            <a:xfrm>
              <a:off x="3839297" y="5628290"/>
              <a:ext cx="5664255" cy="577850"/>
            </a:xfrm>
            <a:prstGeom prst="rect">
              <a:avLst/>
            </a:prstGeom>
            <a:noFill/>
          </p:spPr>
          <p:txBody>
            <a:bodyPr wrap="square">
              <a:spAutoFit/>
            </a:bodyPr>
            <a:lstStyle/>
            <a:p>
              <a:pPr>
                <a:lnSpc>
                  <a:spcPct val="150000"/>
                </a:lnSpc>
              </a:pPr>
              <a:r>
                <a:rPr lang="en-AU" b="1" i="0">
                  <a:effectLst/>
                </a:rPr>
                <a:t>C. </a:t>
              </a:r>
              <a:r>
                <a:rPr lang="en-AU" b="0" i="0">
                  <a:effectLst/>
                </a:rPr>
                <a:t>2 equal sides and 2 equal angles</a:t>
              </a:r>
              <a:endParaRPr lang="en-AU"/>
            </a:p>
          </p:txBody>
        </p:sp>
      </p:gr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build up to the whole 1</a:t>
            </a:r>
          </a:p>
        </p:txBody>
      </p:sp>
      <p:pic>
        <p:nvPicPr>
          <p:cNvPr id="12" name="Picture 11" descr="Two horizontal ribbon models are shown one above the other.&#10;&#10;The top ribbon is divided into 5 equal sections. The first 3 sections are shaded light blue and the last 2 sections are unshaded. Below the ribbon is a purple ribbon strip that matches the length of the 3 shaded sections. Underneath is a red measurement line with arrows at both ends labelled three fifths.&#10;&#10;The bottom ribbon is divided into 5 equal sections, with all 5 sections shaded light blue. Below it is a longer purple ribbon strip matching the full length of the ribbon. Underneath is a red measurement line with arrows at both ends labelled “Total length”.">
            <a:extLst>
              <a:ext uri="{FF2B5EF4-FFF2-40B4-BE49-F238E27FC236}">
                <a16:creationId xmlns:a16="http://schemas.microsoft.com/office/drawing/2014/main" id="{6A752A4A-B6E4-1E17-C48D-AFE5113492DB}"/>
              </a:ext>
            </a:extLst>
          </p:cNvPr>
          <p:cNvPicPr>
            <a:picLocks noChangeAspect="1"/>
          </p:cNvPicPr>
          <p:nvPr/>
        </p:nvPicPr>
        <p:blipFill>
          <a:blip r:embed="rId3"/>
          <a:stretch>
            <a:fillRect/>
          </a:stretch>
        </p:blipFill>
        <p:spPr>
          <a:xfrm>
            <a:off x="908913" y="1034467"/>
            <a:ext cx="10374173" cy="554432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366322"/>
            <a:ext cx="11243037" cy="893226"/>
          </a:xfrm>
        </p:spPr>
        <p:txBody>
          <a:bodyPr/>
          <a:lstStyle/>
          <a:p>
            <a:pPr algn="ctr"/>
            <a:r>
              <a:rPr lang="en-AU" sz="4400"/>
              <a:t>The total length is 30 m.</a:t>
            </a:r>
          </a:p>
        </p:txBody>
      </p:sp>
      <p:pic>
        <p:nvPicPr>
          <p:cNvPr id="8" name="Picture 7" descr="A horizontal bar model is divided into 5 equal sections. The first 3 sections are shaded light blue and the last 2 sections are unshaded. Under the shaded part is a red measurement line with arrows at both ends labelled 21 metres.">
            <a:extLst>
              <a:ext uri="{FF2B5EF4-FFF2-40B4-BE49-F238E27FC236}">
                <a16:creationId xmlns:a16="http://schemas.microsoft.com/office/drawing/2014/main" id="{44DF0E9B-725E-54F6-22F7-087BE231EAEF}"/>
              </a:ext>
            </a:extLst>
          </p:cNvPr>
          <p:cNvPicPr>
            <a:picLocks noChangeAspect="1"/>
          </p:cNvPicPr>
          <p:nvPr/>
        </p:nvPicPr>
        <p:blipFill>
          <a:blip r:embed="rId3"/>
          <a:srcRect t="11119" b="11924"/>
          <a:stretch>
            <a:fillRect/>
          </a:stretch>
        </p:blipFill>
        <p:spPr>
          <a:xfrm>
            <a:off x="1393832" y="2869729"/>
            <a:ext cx="9414076" cy="1782283"/>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8" name="Picture Placeholder 10">
            <a:extLst>
              <a:ext uri="{FF2B5EF4-FFF2-40B4-BE49-F238E27FC236}">
                <a16:creationId xmlns:a16="http://schemas.microsoft.com/office/drawing/2014/main" id="{38FEE190-D94A-968A-C8EE-5DFE57DA9AC8}"/>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Convert </a:t>
            </a:r>
            <a:r>
              <a:rPr lang="en-AU" sz="4400">
                <a:latin typeface="Arial"/>
                <a:cs typeface="Arial"/>
              </a:rPr>
              <a:t>these measurements between </a:t>
            </a:r>
            <a:r>
              <a:rPr lang="en-AU" sz="4400" b="1">
                <a:latin typeface="Arial"/>
                <a:cs typeface="Arial"/>
              </a:rPr>
              <a:t>grams</a:t>
            </a:r>
            <a:r>
              <a:rPr lang="en-AU" sz="4400">
                <a:latin typeface="Arial"/>
                <a:cs typeface="Arial"/>
              </a:rPr>
              <a:t> and </a:t>
            </a:r>
            <a:r>
              <a:rPr lang="en-AU" sz="4400" b="1">
                <a:latin typeface="Arial"/>
                <a:cs typeface="Arial"/>
              </a:rPr>
              <a:t>kilograms</a:t>
            </a:r>
            <a:r>
              <a:rPr lang="en-AU" sz="4400">
                <a:latin typeface="Arial"/>
                <a:cs typeface="Arial"/>
              </a:rPr>
              <a:t>: </a:t>
            </a:r>
            <a:endParaRPr lang="en-US" sz="4400">
              <a:latin typeface="Arial"/>
              <a:cs typeface="Arial"/>
            </a:endParaRPr>
          </a:p>
        </p:txBody>
      </p:sp>
      <p:sp>
        <p:nvSpPr>
          <p:cNvPr id="9" name="Picture Placeholder 10">
            <a:extLst>
              <a:ext uri="{FF2B5EF4-FFF2-40B4-BE49-F238E27FC236}">
                <a16:creationId xmlns:a16="http://schemas.microsoft.com/office/drawing/2014/main" id="{07176F70-D729-CFC6-C704-C8E087AB5DF7}"/>
              </a:ext>
            </a:extLst>
          </p:cNvPr>
          <p:cNvSpPr txBox="1">
            <a:spLocks/>
          </p:cNvSpPr>
          <p:nvPr/>
        </p:nvSpPr>
        <p:spPr>
          <a:xfrm>
            <a:off x="1376814" y="2938663"/>
            <a:ext cx="4166820" cy="34816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480 g</a:t>
            </a:r>
          </a:p>
          <a:p>
            <a:pPr marL="742950" indent="-742950">
              <a:buFont typeface="+mj-lt"/>
              <a:buAutoNum type="alphaLcParenR"/>
            </a:pPr>
            <a:r>
              <a:rPr lang="en-US" sz="4400">
                <a:latin typeface="Arial"/>
                <a:cs typeface="Arial"/>
              </a:rPr>
              <a:t>86.25 kg</a:t>
            </a:r>
          </a:p>
          <a:p>
            <a:pPr marL="742950" indent="-742950">
              <a:buFont typeface="+mj-lt"/>
              <a:buAutoNum type="alphaLcParenR"/>
            </a:pPr>
            <a:r>
              <a:rPr lang="en-US" sz="4400">
                <a:latin typeface="Arial"/>
                <a:cs typeface="Arial"/>
              </a:rPr>
              <a:t>3508 g</a:t>
            </a:r>
            <a:endParaRPr lang="en-US" sz="4400"/>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5" name="Picture Placeholder 10">
            <a:extLst>
              <a:ext uri="{FF2B5EF4-FFF2-40B4-BE49-F238E27FC236}">
                <a16:creationId xmlns:a16="http://schemas.microsoft.com/office/drawing/2014/main" id="{C3353AFE-0C3E-788F-FEDA-6D07C2F15276}"/>
              </a:ext>
            </a:extLst>
          </p:cNvPr>
          <p:cNvSpPr txBox="1">
            <a:spLocks/>
          </p:cNvSpPr>
          <p:nvPr/>
        </p:nvSpPr>
        <p:spPr>
          <a:xfrm>
            <a:off x="814172" y="1344858"/>
            <a:ext cx="10563656" cy="111873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Solve</a:t>
            </a:r>
            <a:r>
              <a:rPr lang="en-AU" sz="4400">
                <a:latin typeface="Arial"/>
                <a:cs typeface="Arial"/>
              </a:rPr>
              <a:t>:</a:t>
            </a:r>
            <a:endParaRPr lang="en-US" sz="4400">
              <a:latin typeface="Arial"/>
              <a:cs typeface="Arial"/>
            </a:endParaRPr>
          </a:p>
        </p:txBody>
      </p:sp>
      <p:sp>
        <p:nvSpPr>
          <p:cNvPr id="7" name="Picture Placeholder 10">
            <a:extLst>
              <a:ext uri="{FF2B5EF4-FFF2-40B4-BE49-F238E27FC236}">
                <a16:creationId xmlns:a16="http://schemas.microsoft.com/office/drawing/2014/main" id="{5374EDED-5A9E-6C4C-B4D9-7A5C2988229A}"/>
              </a:ext>
            </a:extLst>
          </p:cNvPr>
          <p:cNvSpPr txBox="1">
            <a:spLocks/>
          </p:cNvSpPr>
          <p:nvPr/>
        </p:nvSpPr>
        <p:spPr>
          <a:xfrm>
            <a:off x="814172" y="2463588"/>
            <a:ext cx="6487026" cy="34816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spcBef>
                <a:spcPts val="1200"/>
              </a:spcBef>
              <a:buFont typeface="+mj-lt"/>
              <a:buAutoNum type="alphaLcPeriod"/>
            </a:pPr>
            <a:r>
              <a:rPr lang="en-US" sz="4400" dirty="0">
                <a:latin typeface="Arial"/>
                <a:cs typeface="Arial"/>
              </a:rPr>
              <a:t>(24 ÷ 3) × 2 =</a:t>
            </a:r>
          </a:p>
          <a:p>
            <a:pPr marL="742950" indent="-742950">
              <a:spcBef>
                <a:spcPts val="1200"/>
              </a:spcBef>
              <a:buFont typeface="+mj-lt"/>
              <a:buAutoNum type="alphaLcPeriod"/>
            </a:pPr>
            <a:r>
              <a:rPr lang="en-US" sz="4400" dirty="0">
                <a:latin typeface="Arial"/>
                <a:cs typeface="Arial"/>
              </a:rPr>
              <a:t>11 + (16 ÷ 4) =</a:t>
            </a:r>
          </a:p>
          <a:p>
            <a:pPr marL="742950" indent="-742950">
              <a:spcBef>
                <a:spcPts val="1200"/>
              </a:spcBef>
              <a:buFont typeface="+mj-lt"/>
              <a:buAutoNum type="alphaLcPeriod"/>
            </a:pPr>
            <a:r>
              <a:rPr lang="en-US" sz="4400" dirty="0">
                <a:latin typeface="Arial"/>
                <a:cs typeface="Arial"/>
              </a:rPr>
              <a:t>(4 × 9) + (15 ÷ 3) =</a:t>
            </a:r>
            <a:endParaRPr lang="en-US" sz="4400" dirty="0"/>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8" name="Text Placeholder 5">
            <a:extLst>
              <a:ext uri="{FF2B5EF4-FFF2-40B4-BE49-F238E27FC236}">
                <a16:creationId xmlns:a16="http://schemas.microsoft.com/office/drawing/2014/main" id="{E7ED4672-3DF5-2BCA-62B5-6D8A1F2AF4B8}"/>
              </a:ext>
            </a:extLst>
          </p:cNvPr>
          <p:cNvSpPr txBox="1">
            <a:spLocks/>
          </p:cNvSpPr>
          <p:nvPr/>
        </p:nvSpPr>
        <p:spPr>
          <a:xfrm>
            <a:off x="246024" y="1069366"/>
            <a:ext cx="11843840" cy="209327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dirty="0"/>
              <a:t>Nat is calculating the area of a parallelogram. Explain</a:t>
            </a:r>
            <a:r>
              <a:rPr lang="en-AU" sz="4000" dirty="0"/>
              <a:t> what she is doing in each step.</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Side-by-side view of a parallelogram and a rectangle with blue arrows showing the same base and red arrows indicting the same height. &#10;Two parallelograms against a grid background, both with dotted lines added to represent the process of transforming them into rectangles.">
            <a:extLst>
              <a:ext uri="{FF2B5EF4-FFF2-40B4-BE49-F238E27FC236}">
                <a16:creationId xmlns:a16="http://schemas.microsoft.com/office/drawing/2014/main" id="{5571FC98-3D7A-A51A-F8DF-AC8CD270B9A3}"/>
              </a:ext>
            </a:extLst>
          </p:cNvPr>
          <p:cNvGrpSpPr/>
          <p:nvPr/>
        </p:nvGrpSpPr>
        <p:grpSpPr>
          <a:xfrm>
            <a:off x="2096087" y="3326404"/>
            <a:ext cx="7446633" cy="2981619"/>
            <a:chOff x="2096087" y="3326404"/>
            <a:chExt cx="7446633" cy="2981619"/>
          </a:xfrm>
        </p:grpSpPr>
        <p:pic>
          <p:nvPicPr>
            <p:cNvPr id="7" name="Picture 6" descr="A two-step diagram on a grid shows a shape changing between step 1 and step 2. In step 1, a parallelogram has a blue double-headed arrow across the bottom and a red double-headed arrow from bottom to top to show its height. Dashed guide lines are added near the sides. In step 2, the diagram becomes a rectangle with the same blue bottom arrow and red vertical height arrow. A dashed sloping line is drawn inside the rectangle.">
              <a:extLst>
                <a:ext uri="{FF2B5EF4-FFF2-40B4-BE49-F238E27FC236}">
                  <a16:creationId xmlns:a16="http://schemas.microsoft.com/office/drawing/2014/main" id="{A71AEE2C-B3AE-0004-0E7D-D5BB79A10A69}"/>
                </a:ext>
              </a:extLst>
            </p:cNvPr>
            <p:cNvPicPr>
              <a:picLocks noChangeAspect="1"/>
            </p:cNvPicPr>
            <p:nvPr/>
          </p:nvPicPr>
          <p:blipFill>
            <a:blip r:embed="rId4"/>
            <a:srcRect l="1481" r="517" b="1821"/>
            <a:stretch>
              <a:fillRect/>
            </a:stretch>
          </p:blipFill>
          <p:spPr>
            <a:xfrm>
              <a:off x="2096087" y="3326404"/>
              <a:ext cx="7446633" cy="2981619"/>
            </a:xfrm>
            <a:prstGeom prst="rect">
              <a:avLst/>
            </a:prstGeom>
            <a:solidFill>
              <a:schemeClr val="bg1"/>
            </a:solidFill>
            <a:ln>
              <a:noFill/>
            </a:ln>
            <a:effectLst/>
          </p:spPr>
        </p:pic>
        <p:sp>
          <p:nvSpPr>
            <p:cNvPr id="5" name="TextBox 4" descr="Side-by-side view of a parallelogram and a rectangle with blue arrows showing the same base and red arrows indicting the same height.">
              <a:extLst>
                <a:ext uri="{FF2B5EF4-FFF2-40B4-BE49-F238E27FC236}">
                  <a16:creationId xmlns:a16="http://schemas.microsoft.com/office/drawing/2014/main" id="{CFDD7299-DE23-8ADB-0C90-99F9FA9D0A3E}"/>
                </a:ext>
              </a:extLst>
            </p:cNvPr>
            <p:cNvSpPr txBox="1"/>
            <p:nvPr/>
          </p:nvSpPr>
          <p:spPr>
            <a:xfrm>
              <a:off x="2331720" y="3535449"/>
              <a:ext cx="1143000" cy="461665"/>
            </a:xfrm>
            <a:prstGeom prst="rect">
              <a:avLst/>
            </a:prstGeom>
            <a:noFill/>
          </p:spPr>
          <p:txBody>
            <a:bodyPr wrap="square">
              <a:spAutoFit/>
            </a:bodyPr>
            <a:lstStyle/>
            <a:p>
              <a:r>
                <a:rPr lang="en-AU" sz="2400" b="1"/>
                <a:t>step 1</a:t>
              </a:r>
              <a:endParaRPr lang="en-AU" b="1"/>
            </a:p>
          </p:txBody>
        </p:sp>
        <p:sp>
          <p:nvSpPr>
            <p:cNvPr id="9" name="TextBox 8" descr="Side-by-side view of a parallelogram and a rectangle with blue arrows showing the same base and red arrows indicting the same height.">
              <a:extLst>
                <a:ext uri="{FF2B5EF4-FFF2-40B4-BE49-F238E27FC236}">
                  <a16:creationId xmlns:a16="http://schemas.microsoft.com/office/drawing/2014/main" id="{304D0085-26FD-CD10-689A-FD18CC5F510C}"/>
                </a:ext>
              </a:extLst>
            </p:cNvPr>
            <p:cNvSpPr txBox="1"/>
            <p:nvPr/>
          </p:nvSpPr>
          <p:spPr>
            <a:xfrm>
              <a:off x="6366803" y="3501617"/>
              <a:ext cx="1143000" cy="461665"/>
            </a:xfrm>
            <a:prstGeom prst="rect">
              <a:avLst/>
            </a:prstGeom>
            <a:noFill/>
          </p:spPr>
          <p:txBody>
            <a:bodyPr wrap="square">
              <a:spAutoFit/>
            </a:bodyPr>
            <a:lstStyle/>
            <a:p>
              <a:r>
                <a:rPr lang="en-AU" sz="2400" b="1"/>
                <a:t>step 2</a:t>
              </a:r>
              <a:endParaRPr lang="en-AU" b="1"/>
            </a:p>
          </p:txBody>
        </p:sp>
      </p:gr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5" name="TextBox 4">
            <a:extLst>
              <a:ext uri="{FF2B5EF4-FFF2-40B4-BE49-F238E27FC236}">
                <a16:creationId xmlns:a16="http://schemas.microsoft.com/office/drawing/2014/main" id="{61D61355-53AB-55C2-0814-3ECC11EA9521}"/>
              </a:ext>
            </a:extLst>
          </p:cNvPr>
          <p:cNvSpPr txBox="1"/>
          <p:nvPr/>
        </p:nvSpPr>
        <p:spPr>
          <a:xfrm>
            <a:off x="931090" y="3021861"/>
            <a:ext cx="6097464" cy="982513"/>
          </a:xfrm>
          <a:prstGeom prst="rect">
            <a:avLst/>
          </a:prstGeom>
          <a:noFill/>
        </p:spPr>
        <p:txBody>
          <a:bodyPr wrap="square">
            <a:spAutoFit/>
          </a:bodyPr>
          <a:lstStyle/>
          <a:p>
            <a:pPr>
              <a:lnSpc>
                <a:spcPct val="150000"/>
              </a:lnSpc>
            </a:pPr>
            <a:r>
              <a:rPr lang="en-AU" sz="4400" b="1" i="0" u="none" strike="noStrike" dirty="0">
                <a:solidFill>
                  <a:srgbClr val="000000"/>
                </a:solidFill>
                <a:effectLst/>
              </a:rPr>
              <a:t>Name</a:t>
            </a:r>
            <a:r>
              <a:rPr lang="en-AU" sz="4400" b="0" i="0" u="none" strike="noStrike" dirty="0">
                <a:solidFill>
                  <a:srgbClr val="000000"/>
                </a:solidFill>
                <a:effectLst/>
              </a:rPr>
              <a:t> this </a:t>
            </a:r>
            <a:r>
              <a:rPr lang="en-AU" sz="4400" b="1" i="0" u="none" strike="noStrike" dirty="0">
                <a:solidFill>
                  <a:srgbClr val="000000"/>
                </a:solidFill>
                <a:effectLst/>
              </a:rPr>
              <a:t>object</a:t>
            </a:r>
            <a:r>
              <a:rPr lang="en-AU" sz="4400" b="0" i="0" u="none" strike="noStrike" dirty="0">
                <a:solidFill>
                  <a:srgbClr val="000000"/>
                </a:solidFill>
                <a:effectLst/>
              </a:rPr>
              <a:t>.</a:t>
            </a:r>
            <a:endParaRPr lang="en-AU" sz="4400" dirty="0"/>
          </a:p>
        </p:txBody>
      </p:sp>
      <p:sp>
        <p:nvSpPr>
          <p:cNvPr id="8" name="Freeform 2" descr="A three-dimensional green prism is shown with solid and dashed edges. The shape has 2 matching hexagonal faces, one at the top and one at the bottom. Connecting these are 6 rectangular side faces. Some hidden edges inside the shape are shown with dashed lines.">
            <a:extLst>
              <a:ext uri="{FF2B5EF4-FFF2-40B4-BE49-F238E27FC236}">
                <a16:creationId xmlns:a16="http://schemas.microsoft.com/office/drawing/2014/main" id="{D42AAF90-6F2B-91A3-D607-43E8375F3242}"/>
              </a:ext>
            </a:extLst>
          </p:cNvPr>
          <p:cNvSpPr/>
          <p:nvPr/>
        </p:nvSpPr>
        <p:spPr>
          <a:xfrm>
            <a:off x="6672958" y="1404364"/>
            <a:ext cx="4202687" cy="4435553"/>
          </a:xfrm>
          <a:custGeom>
            <a:avLst/>
            <a:gdLst/>
            <a:ahLst/>
            <a:cxnLst/>
            <a:rect l="l" t="t" r="r" b="b"/>
            <a:pathLst>
              <a:path w="2290806" h="2417737">
                <a:moveTo>
                  <a:pt x="0" y="0"/>
                </a:moveTo>
                <a:lnTo>
                  <a:pt x="2290806" y="0"/>
                </a:lnTo>
                <a:lnTo>
                  <a:pt x="2290806" y="2417737"/>
                </a:lnTo>
                <a:lnTo>
                  <a:pt x="0" y="2417737"/>
                </a:lnTo>
                <a:lnTo>
                  <a:pt x="0" y="0"/>
                </a:lnTo>
                <a:close/>
              </a:path>
            </a:pathLst>
          </a:custGeom>
          <a:blipFill>
            <a:blip r:embed="rId3"/>
            <a:stretch>
              <a:fillRect/>
            </a:stretch>
          </a:blipFill>
          <a:ln cap="sq">
            <a:noFill/>
            <a:prstDash val="solid"/>
            <a:miter/>
          </a:ln>
        </p:spPr>
        <p:txBody>
          <a:bodyPr/>
          <a:lstStyle/>
          <a:p>
            <a:endParaRPr lang="en-AU"/>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build up to the whole 2</a:t>
            </a:r>
          </a:p>
        </p:txBody>
      </p:sp>
      <p:pic>
        <p:nvPicPr>
          <p:cNvPr id="5" name="Picture 4" descr="A rectangular blue rug with a decorative white looping pattern around the border is shown at the top of the image.&#10;&#10;Below the rug is a bar model divided into 8 equal sections. The first 5 sections are shaded light blue and the remaining 3 sections are unshaded. Underneath the shaded part is a red measurement line with arrows at both ends labelled 250 centimetres.">
            <a:extLst>
              <a:ext uri="{FF2B5EF4-FFF2-40B4-BE49-F238E27FC236}">
                <a16:creationId xmlns:a16="http://schemas.microsoft.com/office/drawing/2014/main" id="{70D41492-B852-2CD6-A0C0-1B8458D15831}"/>
              </a:ext>
            </a:extLst>
          </p:cNvPr>
          <p:cNvPicPr>
            <a:picLocks noChangeAspect="1"/>
          </p:cNvPicPr>
          <p:nvPr/>
        </p:nvPicPr>
        <p:blipFill>
          <a:blip r:embed="rId3"/>
          <a:stretch>
            <a:fillRect/>
          </a:stretch>
        </p:blipFill>
        <p:spPr>
          <a:xfrm>
            <a:off x="1345678" y="1129890"/>
            <a:ext cx="9500644" cy="5476110"/>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7" name="Picture 6" descr="A horizontal bar model is divided into 8 equal sections. The first 5 sections are shaded light blue and the remaining 3 sections are unshaded. Under the shaded part is a red measurement line with arrows at both ends labelled 35 centimetres.">
            <a:extLst>
              <a:ext uri="{FF2B5EF4-FFF2-40B4-BE49-F238E27FC236}">
                <a16:creationId xmlns:a16="http://schemas.microsoft.com/office/drawing/2014/main" id="{8A4AFC5B-E817-7F25-9645-B892DFD6F564}"/>
              </a:ext>
            </a:extLst>
          </p:cNvPr>
          <p:cNvPicPr>
            <a:picLocks noChangeAspect="1"/>
          </p:cNvPicPr>
          <p:nvPr/>
        </p:nvPicPr>
        <p:blipFill>
          <a:blip r:embed="rId3"/>
          <a:srcRect t="19060" b="4486"/>
          <a:stretch>
            <a:fillRect/>
          </a:stretch>
        </p:blipFill>
        <p:spPr>
          <a:xfrm>
            <a:off x="376177" y="1338576"/>
            <a:ext cx="11439646" cy="193586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474481" y="3428999"/>
            <a:ext cx="11243037" cy="893226"/>
          </a:xfrm>
        </p:spPr>
        <p:txBody>
          <a:bodyPr/>
          <a:lstStyle/>
          <a:p>
            <a:pPr algn="ctr"/>
            <a:r>
              <a:rPr lang="en-US" sz="4400"/>
              <a:t>The remaining part of the length equals</a:t>
            </a:r>
            <a:r>
              <a:rPr lang="en-US" sz="4400" dirty="0"/>
              <a:t>:</a:t>
            </a:r>
            <a:endParaRPr lang="en-US" sz="4400"/>
          </a:p>
        </p:txBody>
      </p:sp>
      <p:sp>
        <p:nvSpPr>
          <p:cNvPr id="8" name="TextBox 7">
            <a:extLst>
              <a:ext uri="{FF2B5EF4-FFF2-40B4-BE49-F238E27FC236}">
                <a16:creationId xmlns:a16="http://schemas.microsoft.com/office/drawing/2014/main" id="{622F1DA5-210C-665B-FD72-61370BE8B7DE}"/>
              </a:ext>
            </a:extLst>
          </p:cNvPr>
          <p:cNvSpPr txBox="1"/>
          <p:nvPr/>
        </p:nvSpPr>
        <p:spPr>
          <a:xfrm>
            <a:off x="1215766" y="47509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6" name="TextBox 15">
            <a:extLst>
              <a:ext uri="{FF2B5EF4-FFF2-40B4-BE49-F238E27FC236}">
                <a16:creationId xmlns:a16="http://schemas.microsoft.com/office/drawing/2014/main" id="{4339AA93-C150-C058-4A77-68C738E46785}"/>
              </a:ext>
            </a:extLst>
          </p:cNvPr>
          <p:cNvSpPr txBox="1"/>
          <p:nvPr/>
        </p:nvSpPr>
        <p:spPr>
          <a:xfrm>
            <a:off x="623519" y="5751270"/>
            <a:ext cx="171392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56 cm</a:t>
            </a:r>
          </a:p>
        </p:txBody>
      </p:sp>
      <p:sp>
        <p:nvSpPr>
          <p:cNvPr id="13" name="TextBox 12">
            <a:extLst>
              <a:ext uri="{FF2B5EF4-FFF2-40B4-BE49-F238E27FC236}">
                <a16:creationId xmlns:a16="http://schemas.microsoft.com/office/drawing/2014/main" id="{C6F5ED97-781A-5514-E321-D345F58C6A1B}"/>
              </a:ext>
            </a:extLst>
          </p:cNvPr>
          <p:cNvSpPr txBox="1"/>
          <p:nvPr/>
        </p:nvSpPr>
        <p:spPr>
          <a:xfrm>
            <a:off x="4219739" y="47509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Box 16">
            <a:extLst>
              <a:ext uri="{FF2B5EF4-FFF2-40B4-BE49-F238E27FC236}">
                <a16:creationId xmlns:a16="http://schemas.microsoft.com/office/drawing/2014/main" id="{1B985645-EC8B-8B24-733A-93A140931CC0}"/>
              </a:ext>
            </a:extLst>
          </p:cNvPr>
          <p:cNvSpPr txBox="1"/>
          <p:nvPr/>
        </p:nvSpPr>
        <p:spPr>
          <a:xfrm>
            <a:off x="3613246" y="5776789"/>
            <a:ext cx="1742413"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15 cm</a:t>
            </a:r>
          </a:p>
        </p:txBody>
      </p:sp>
      <p:sp>
        <p:nvSpPr>
          <p:cNvPr id="14" name="TextBox 13">
            <a:extLst>
              <a:ext uri="{FF2B5EF4-FFF2-40B4-BE49-F238E27FC236}">
                <a16:creationId xmlns:a16="http://schemas.microsoft.com/office/drawing/2014/main" id="{A2094B91-A306-5D65-C755-32BC351CBE33}"/>
              </a:ext>
            </a:extLst>
          </p:cNvPr>
          <p:cNvSpPr txBox="1"/>
          <p:nvPr/>
        </p:nvSpPr>
        <p:spPr>
          <a:xfrm>
            <a:off x="7223712" y="47509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9" name="TextBox 18">
            <a:extLst>
              <a:ext uri="{FF2B5EF4-FFF2-40B4-BE49-F238E27FC236}">
                <a16:creationId xmlns:a16="http://schemas.microsoft.com/office/drawing/2014/main" id="{B4510F46-E7BA-0095-52EC-ECDA794B8F43}"/>
              </a:ext>
            </a:extLst>
          </p:cNvPr>
          <p:cNvSpPr txBox="1"/>
          <p:nvPr/>
        </p:nvSpPr>
        <p:spPr>
          <a:xfrm>
            <a:off x="6616022" y="5759336"/>
            <a:ext cx="1742413"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a:t>35 cm</a:t>
            </a:r>
          </a:p>
        </p:txBody>
      </p:sp>
      <p:sp>
        <p:nvSpPr>
          <p:cNvPr id="15" name="TextBox 14">
            <a:extLst>
              <a:ext uri="{FF2B5EF4-FFF2-40B4-BE49-F238E27FC236}">
                <a16:creationId xmlns:a16="http://schemas.microsoft.com/office/drawing/2014/main" id="{6C869846-9BC9-E939-CB56-D0A38A9BF22F}"/>
              </a:ext>
            </a:extLst>
          </p:cNvPr>
          <p:cNvSpPr txBox="1"/>
          <p:nvPr/>
        </p:nvSpPr>
        <p:spPr>
          <a:xfrm>
            <a:off x="10227686" y="47509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0" name="TextBox 19">
            <a:extLst>
              <a:ext uri="{FF2B5EF4-FFF2-40B4-BE49-F238E27FC236}">
                <a16:creationId xmlns:a16="http://schemas.microsoft.com/office/drawing/2014/main" id="{342979A6-4A15-7962-C676-AA6397D16CFE}"/>
              </a:ext>
            </a:extLst>
          </p:cNvPr>
          <p:cNvSpPr txBox="1"/>
          <p:nvPr/>
        </p:nvSpPr>
        <p:spPr>
          <a:xfrm>
            <a:off x="9618799" y="5778475"/>
            <a:ext cx="174720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21 cm</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10" name="Picture Placeholder 10">
            <a:extLst>
              <a:ext uri="{FF2B5EF4-FFF2-40B4-BE49-F238E27FC236}">
                <a16:creationId xmlns:a16="http://schemas.microsoft.com/office/drawing/2014/main" id="{150BD448-9FEA-232D-1D68-8E4303C13162}"/>
              </a:ext>
            </a:extLst>
          </p:cNvPr>
          <p:cNvSpPr txBox="1">
            <a:spLocks/>
          </p:cNvSpPr>
          <p:nvPr/>
        </p:nvSpPr>
        <p:spPr>
          <a:xfrm>
            <a:off x="814172" y="905601"/>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Record these measurements using </a:t>
            </a:r>
            <a:r>
              <a:rPr lang="en-AU" sz="4400" b="1">
                <a:latin typeface="Arial"/>
                <a:cs typeface="Arial"/>
              </a:rPr>
              <a:t>tonnes and kilograms</a:t>
            </a:r>
            <a:r>
              <a:rPr lang="en-AU" sz="4400">
                <a:latin typeface="Arial"/>
                <a:cs typeface="Arial"/>
              </a:rPr>
              <a:t>: </a:t>
            </a:r>
            <a:endParaRPr lang="en-US" sz="4400">
              <a:latin typeface="Arial"/>
              <a:cs typeface="Arial"/>
            </a:endParaRPr>
          </a:p>
        </p:txBody>
      </p:sp>
      <p:sp>
        <p:nvSpPr>
          <p:cNvPr id="11" name="Picture Placeholder 10">
            <a:extLst>
              <a:ext uri="{FF2B5EF4-FFF2-40B4-BE49-F238E27FC236}">
                <a16:creationId xmlns:a16="http://schemas.microsoft.com/office/drawing/2014/main" id="{86019EAE-1794-2FDB-8923-6A96DE8D66A7}"/>
              </a:ext>
            </a:extLst>
          </p:cNvPr>
          <p:cNvSpPr txBox="1">
            <a:spLocks/>
          </p:cNvSpPr>
          <p:nvPr/>
        </p:nvSpPr>
        <p:spPr>
          <a:xfrm>
            <a:off x="1376814" y="3034374"/>
            <a:ext cx="4166820" cy="34816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4.5 t</a:t>
            </a:r>
          </a:p>
          <a:p>
            <a:pPr marL="742950" indent="-742950">
              <a:buFont typeface="+mj-lt"/>
              <a:buAutoNum type="alphaLcParenR"/>
            </a:pPr>
            <a:r>
              <a:rPr lang="en-US" sz="4400">
                <a:latin typeface="Arial"/>
                <a:cs typeface="Arial"/>
              </a:rPr>
              <a:t>37.05 t</a:t>
            </a:r>
          </a:p>
          <a:p>
            <a:pPr marL="742950" indent="-742950">
              <a:buFont typeface="+mj-lt"/>
              <a:buAutoNum type="alphaLcParenR"/>
            </a:pPr>
            <a:r>
              <a:rPr lang="en-US" sz="4400">
                <a:latin typeface="Arial"/>
                <a:cs typeface="Arial"/>
              </a:rPr>
              <a:t>61.90 t</a:t>
            </a:r>
            <a:endParaRPr lang="en-US" sz="4400"/>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5" name="Picture Placeholder 10">
            <a:extLst>
              <a:ext uri="{FF2B5EF4-FFF2-40B4-BE49-F238E27FC236}">
                <a16:creationId xmlns:a16="http://schemas.microsoft.com/office/drawing/2014/main" id="{667B8344-A953-3BC1-20FC-8B5B0931DD31}"/>
              </a:ext>
            </a:extLst>
          </p:cNvPr>
          <p:cNvSpPr txBox="1">
            <a:spLocks/>
          </p:cNvSpPr>
          <p:nvPr/>
        </p:nvSpPr>
        <p:spPr>
          <a:xfrm>
            <a:off x="814172" y="819846"/>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Complete </a:t>
            </a:r>
            <a:r>
              <a:rPr lang="en-AU" sz="4400">
                <a:latin typeface="Arial"/>
                <a:cs typeface="Arial"/>
              </a:rPr>
              <a:t>these number sentences by</a:t>
            </a:r>
            <a:r>
              <a:rPr lang="en-AU" sz="4400" b="1">
                <a:latin typeface="Arial"/>
                <a:cs typeface="Arial"/>
              </a:rPr>
              <a:t> recording the missing numbers</a:t>
            </a:r>
            <a:r>
              <a:rPr lang="en-AU" sz="4400">
                <a:latin typeface="Arial"/>
                <a:cs typeface="Arial"/>
              </a:rPr>
              <a:t>:</a:t>
            </a:r>
            <a:r>
              <a:rPr lang="en-AU" sz="4400" b="1">
                <a:latin typeface="Arial"/>
                <a:cs typeface="Arial"/>
              </a:rPr>
              <a:t> </a:t>
            </a:r>
            <a:endParaRPr lang="en-US" sz="4400" b="1">
              <a:latin typeface="Arial"/>
              <a:cs typeface="Arial"/>
            </a:endParaRPr>
          </a:p>
        </p:txBody>
      </p:sp>
      <p:sp>
        <p:nvSpPr>
          <p:cNvPr id="7" name="Picture Placeholder 10">
            <a:extLst>
              <a:ext uri="{FF2B5EF4-FFF2-40B4-BE49-F238E27FC236}">
                <a16:creationId xmlns:a16="http://schemas.microsoft.com/office/drawing/2014/main" id="{300E757E-6BF6-8309-4F46-7A23047A67F1}"/>
              </a:ext>
            </a:extLst>
          </p:cNvPr>
          <p:cNvSpPr txBox="1">
            <a:spLocks/>
          </p:cNvSpPr>
          <p:nvPr/>
        </p:nvSpPr>
        <p:spPr>
          <a:xfrm>
            <a:off x="3533921" y="3034374"/>
            <a:ext cx="5124157" cy="34816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7 × __ = 14 + 21</a:t>
            </a:r>
          </a:p>
          <a:p>
            <a:pPr marL="742950" indent="-742950">
              <a:buFont typeface="+mj-lt"/>
              <a:buAutoNum type="alphaLcParenR"/>
            </a:pPr>
            <a:r>
              <a:rPr lang="en-US" sz="4400">
                <a:latin typeface="Arial"/>
                <a:cs typeface="Arial"/>
              </a:rPr>
              <a:t>__ × 8 = 2 × 32</a:t>
            </a:r>
          </a:p>
          <a:p>
            <a:pPr marL="742950" indent="-742950">
              <a:buFont typeface="+mj-lt"/>
              <a:buAutoNum type="alphaLcParenR"/>
            </a:pPr>
            <a:r>
              <a:rPr lang="en-US" sz="4400">
                <a:latin typeface="Arial"/>
                <a:cs typeface="Arial"/>
              </a:rPr>
              <a:t>4 × __ = 70 − 10</a:t>
            </a:r>
            <a:endParaRPr lang="en-US" sz="440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grpSp>
        <p:nvGrpSpPr>
          <p:cNvPr id="4" name="Group 3">
            <a:extLst>
              <a:ext uri="{FF2B5EF4-FFF2-40B4-BE49-F238E27FC236}">
                <a16:creationId xmlns:a16="http://schemas.microsoft.com/office/drawing/2014/main" id="{5D2E72CD-8052-F520-10D7-0A4306B2113E}"/>
              </a:ext>
            </a:extLst>
          </p:cNvPr>
          <p:cNvGrpSpPr/>
          <p:nvPr/>
        </p:nvGrpSpPr>
        <p:grpSpPr>
          <a:xfrm>
            <a:off x="467543" y="2599537"/>
            <a:ext cx="11256914" cy="4096463"/>
            <a:chOff x="454172" y="95793"/>
            <a:chExt cx="11256914" cy="4096463"/>
          </a:xfrm>
        </p:grpSpPr>
        <p:sp>
          <p:nvSpPr>
            <p:cNvPr id="8" name="Picture Placeholder 10" descr="The area of a triangle is a) the area of a b) with the same c) and d). &#10;">
              <a:extLst>
                <a:ext uri="{FF2B5EF4-FFF2-40B4-BE49-F238E27FC236}">
                  <a16:creationId xmlns:a16="http://schemas.microsoft.com/office/drawing/2014/main" id="{9546C409-9913-FB58-7EBB-A4B466CEC4E2}"/>
                </a:ext>
              </a:extLst>
            </p:cNvPr>
            <p:cNvSpPr txBox="1">
              <a:spLocks/>
            </p:cNvSpPr>
            <p:nvPr/>
          </p:nvSpPr>
          <p:spPr>
            <a:xfrm>
              <a:off x="454172" y="95793"/>
              <a:ext cx="11256914" cy="409646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Aft>
                  <a:spcPts val="600"/>
                </a:spcAft>
              </a:pPr>
              <a:r>
                <a:rPr lang="en-AU" sz="4400" dirty="0"/>
                <a:t>The area of a </a:t>
              </a:r>
              <a:r>
                <a:rPr lang="en-AU" sz="4400" b="1" dirty="0"/>
                <a:t>triangle</a:t>
              </a:r>
              <a:r>
                <a:rPr lang="en-AU" sz="4400" dirty="0"/>
                <a:t> is ______ the area of a ______________ with the same _______ and __________. </a:t>
              </a:r>
            </a:p>
          </p:txBody>
        </p:sp>
        <p:grpSp>
          <p:nvGrpSpPr>
            <p:cNvPr id="13" name="Group 12">
              <a:extLst>
                <a:ext uri="{FF2B5EF4-FFF2-40B4-BE49-F238E27FC236}">
                  <a16:creationId xmlns:a16="http://schemas.microsoft.com/office/drawing/2014/main" id="{83CB4385-D992-7713-9B71-56EF6BE2AA48}"/>
                </a:ext>
              </a:extLst>
            </p:cNvPr>
            <p:cNvGrpSpPr/>
            <p:nvPr/>
          </p:nvGrpSpPr>
          <p:grpSpPr>
            <a:xfrm>
              <a:off x="2605684" y="419412"/>
              <a:ext cx="8027793" cy="3453400"/>
              <a:chOff x="2617684" y="-366994"/>
              <a:chExt cx="8027793" cy="3453400"/>
            </a:xfrm>
          </p:grpSpPr>
          <p:sp>
            <p:nvSpPr>
              <p:cNvPr id="9" name="Picture Placeholder 10">
                <a:extLst>
                  <a:ext uri="{FF2B5EF4-FFF2-40B4-BE49-F238E27FC236}">
                    <a16:creationId xmlns:a16="http://schemas.microsoft.com/office/drawing/2014/main" id="{C6BE3B61-8593-0078-06C9-F2B606AB543D}"/>
                  </a:ext>
                </a:extLst>
              </p:cNvPr>
              <p:cNvSpPr txBox="1">
                <a:spLocks/>
              </p:cNvSpPr>
              <p:nvPr/>
            </p:nvSpPr>
            <p:spPr>
              <a:xfrm>
                <a:off x="7351609" y="-366994"/>
                <a:ext cx="720000" cy="7713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AU" sz="2400" dirty="0">
                    <a:solidFill>
                      <a:schemeClr val="accent2"/>
                    </a:solidFill>
                  </a:rPr>
                  <a:t>a)</a:t>
                </a:r>
              </a:p>
            </p:txBody>
          </p:sp>
          <p:sp>
            <p:nvSpPr>
              <p:cNvPr id="10" name="Picture Placeholder 10">
                <a:extLst>
                  <a:ext uri="{FF2B5EF4-FFF2-40B4-BE49-F238E27FC236}">
                    <a16:creationId xmlns:a16="http://schemas.microsoft.com/office/drawing/2014/main" id="{2707099F-439C-D65B-96A1-0CA30381EC53}"/>
                  </a:ext>
                </a:extLst>
              </p:cNvPr>
              <p:cNvSpPr txBox="1">
                <a:spLocks/>
              </p:cNvSpPr>
              <p:nvPr/>
            </p:nvSpPr>
            <p:spPr>
              <a:xfrm>
                <a:off x="2617684" y="971950"/>
                <a:ext cx="720000" cy="7713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AU" sz="2400" dirty="0">
                    <a:solidFill>
                      <a:schemeClr val="accent2"/>
                    </a:solidFill>
                  </a:rPr>
                  <a:t>b)</a:t>
                </a:r>
              </a:p>
            </p:txBody>
          </p:sp>
          <p:sp>
            <p:nvSpPr>
              <p:cNvPr id="11" name="Picture Placeholder 10">
                <a:extLst>
                  <a:ext uri="{FF2B5EF4-FFF2-40B4-BE49-F238E27FC236}">
                    <a16:creationId xmlns:a16="http://schemas.microsoft.com/office/drawing/2014/main" id="{1CE7302A-6F87-8D27-F214-004CBB591F4B}"/>
                  </a:ext>
                </a:extLst>
              </p:cNvPr>
              <p:cNvSpPr txBox="1">
                <a:spLocks/>
              </p:cNvSpPr>
              <p:nvPr/>
            </p:nvSpPr>
            <p:spPr>
              <a:xfrm>
                <a:off x="2836759" y="2315068"/>
                <a:ext cx="720000" cy="7713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AU" sz="2400">
                    <a:solidFill>
                      <a:schemeClr val="accent2"/>
                    </a:solidFill>
                  </a:rPr>
                  <a:t>d)</a:t>
                </a:r>
              </a:p>
            </p:txBody>
          </p:sp>
          <p:sp>
            <p:nvSpPr>
              <p:cNvPr id="12" name="Picture Placeholder 10">
                <a:extLst>
                  <a:ext uri="{FF2B5EF4-FFF2-40B4-BE49-F238E27FC236}">
                    <a16:creationId xmlns:a16="http://schemas.microsoft.com/office/drawing/2014/main" id="{9EB911B4-3328-8DB3-FB90-446025D1223F}"/>
                  </a:ext>
                </a:extLst>
              </p:cNvPr>
              <p:cNvSpPr txBox="1">
                <a:spLocks/>
              </p:cNvSpPr>
              <p:nvPr/>
            </p:nvSpPr>
            <p:spPr>
              <a:xfrm>
                <a:off x="9925477" y="971950"/>
                <a:ext cx="720000" cy="77133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AU" sz="2400" dirty="0">
                    <a:solidFill>
                      <a:schemeClr val="accent2"/>
                    </a:solidFill>
                  </a:rPr>
                  <a:t>c)</a:t>
                </a:r>
              </a:p>
            </p:txBody>
          </p:sp>
        </p:grpSp>
      </p:gr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21" name="Rectangle: Rounded Corners 20">
            <a:extLst>
              <a:ext uri="{FF2B5EF4-FFF2-40B4-BE49-F238E27FC236}">
                <a16:creationId xmlns:a16="http://schemas.microsoft.com/office/drawing/2014/main" id="{8342A188-6153-582C-E8B1-869DE691F0E5}"/>
              </a:ext>
            </a:extLst>
          </p:cNvPr>
          <p:cNvSpPr/>
          <p:nvPr/>
        </p:nvSpPr>
        <p:spPr>
          <a:xfrm>
            <a:off x="8423268" y="1991376"/>
            <a:ext cx="2304000" cy="7200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accent1"/>
                </a:solidFill>
              </a:rPr>
              <a:t>parallelogram</a:t>
            </a:r>
          </a:p>
        </p:txBody>
      </p:sp>
      <p:sp>
        <p:nvSpPr>
          <p:cNvPr id="22" name="Rectangle: Rounded Corners 21">
            <a:extLst>
              <a:ext uri="{FF2B5EF4-FFF2-40B4-BE49-F238E27FC236}">
                <a16:creationId xmlns:a16="http://schemas.microsoft.com/office/drawing/2014/main" id="{AAFDC785-8B0F-A102-434E-F8236E0A8E0B}"/>
              </a:ext>
            </a:extLst>
          </p:cNvPr>
          <p:cNvSpPr/>
          <p:nvPr/>
        </p:nvSpPr>
        <p:spPr>
          <a:xfrm>
            <a:off x="5853319" y="1991376"/>
            <a:ext cx="2304000" cy="7200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accent1"/>
                </a:solidFill>
              </a:rPr>
              <a:t>base length</a:t>
            </a:r>
          </a:p>
        </p:txBody>
      </p:sp>
      <p:sp>
        <p:nvSpPr>
          <p:cNvPr id="23" name="Rectangle: Rounded Corners 22">
            <a:extLst>
              <a:ext uri="{FF2B5EF4-FFF2-40B4-BE49-F238E27FC236}">
                <a16:creationId xmlns:a16="http://schemas.microsoft.com/office/drawing/2014/main" id="{B4A902FC-1942-2388-DF18-85B22F55E5C1}"/>
              </a:ext>
            </a:extLst>
          </p:cNvPr>
          <p:cNvSpPr/>
          <p:nvPr/>
        </p:nvSpPr>
        <p:spPr>
          <a:xfrm>
            <a:off x="3283370" y="2025856"/>
            <a:ext cx="2304000" cy="7200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accent1"/>
                </a:solidFill>
              </a:rPr>
              <a:t>height</a:t>
            </a:r>
          </a:p>
        </p:txBody>
      </p:sp>
      <p:sp>
        <p:nvSpPr>
          <p:cNvPr id="24" name="Rectangle: Rounded Corners 23">
            <a:extLst>
              <a:ext uri="{FF2B5EF4-FFF2-40B4-BE49-F238E27FC236}">
                <a16:creationId xmlns:a16="http://schemas.microsoft.com/office/drawing/2014/main" id="{E2C2E85A-428D-BCD4-8AF2-F82DDE1918E5}"/>
              </a:ext>
            </a:extLst>
          </p:cNvPr>
          <p:cNvSpPr/>
          <p:nvPr/>
        </p:nvSpPr>
        <p:spPr>
          <a:xfrm>
            <a:off x="713423" y="2025856"/>
            <a:ext cx="2304000" cy="720000"/>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solidFill>
                  <a:schemeClr val="accent1"/>
                </a:solidFill>
              </a:rPr>
              <a:t>half</a:t>
            </a:r>
          </a:p>
        </p:txBody>
      </p:sp>
      <p:sp>
        <p:nvSpPr>
          <p:cNvPr id="26" name="TextBox 25">
            <a:extLst>
              <a:ext uri="{FF2B5EF4-FFF2-40B4-BE49-F238E27FC236}">
                <a16:creationId xmlns:a16="http://schemas.microsoft.com/office/drawing/2014/main" id="{64530936-ACBE-31ED-D30D-10B4377B677D}"/>
              </a:ext>
            </a:extLst>
          </p:cNvPr>
          <p:cNvSpPr txBox="1"/>
          <p:nvPr/>
        </p:nvSpPr>
        <p:spPr>
          <a:xfrm>
            <a:off x="246024" y="952334"/>
            <a:ext cx="9113329" cy="769441"/>
          </a:xfrm>
          <a:prstGeom prst="rect">
            <a:avLst/>
          </a:prstGeom>
          <a:noFill/>
        </p:spPr>
        <p:txBody>
          <a:bodyPr wrap="square">
            <a:spAutoFit/>
          </a:bodyPr>
          <a:lstStyle/>
          <a:p>
            <a:pPr>
              <a:spcAft>
                <a:spcPts val="0"/>
              </a:spcAft>
            </a:pPr>
            <a:r>
              <a:rPr lang="en-AU" sz="4400" dirty="0"/>
              <a:t>Record the missing words:</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5" name="Picture Placeholder 10">
            <a:extLst>
              <a:ext uri="{FF2B5EF4-FFF2-40B4-BE49-F238E27FC236}">
                <a16:creationId xmlns:a16="http://schemas.microsoft.com/office/drawing/2014/main" id="{4A4DCE10-641A-C144-70BB-5E4C6439F4E9}"/>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Record </a:t>
            </a:r>
            <a:r>
              <a:rPr lang="en-AU" sz="4400">
                <a:latin typeface="Arial"/>
                <a:cs typeface="Arial"/>
              </a:rPr>
              <a:t>these measurements using </a:t>
            </a:r>
            <a:r>
              <a:rPr lang="en-AU" sz="4400" b="1">
                <a:latin typeface="Arial"/>
                <a:cs typeface="Arial"/>
              </a:rPr>
              <a:t>decimal notation</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D01E8A75-FDC6-661F-767C-6C6F42E2F9FC}"/>
              </a:ext>
            </a:extLst>
          </p:cNvPr>
          <p:cNvSpPr txBox="1">
            <a:spLocks/>
          </p:cNvSpPr>
          <p:nvPr/>
        </p:nvSpPr>
        <p:spPr>
          <a:xfrm>
            <a:off x="1376813" y="2938663"/>
            <a:ext cx="8748261" cy="34816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6 kilograms and 80 grams</a:t>
            </a:r>
          </a:p>
          <a:p>
            <a:pPr marL="742950" indent="-742950">
              <a:buFont typeface="+mj-lt"/>
              <a:buAutoNum type="alphaLcParenR"/>
            </a:pPr>
            <a:r>
              <a:rPr lang="en-US" sz="4400">
                <a:latin typeface="Arial"/>
                <a:cs typeface="Arial"/>
              </a:rPr>
              <a:t>23 kilograms and 150 grams</a:t>
            </a:r>
          </a:p>
          <a:p>
            <a:pPr marL="742950" indent="-742950">
              <a:buFont typeface="+mj-lt"/>
              <a:buAutoNum type="alphaLcParenR"/>
            </a:pPr>
            <a:r>
              <a:rPr lang="en-US" sz="4400">
                <a:latin typeface="Arial"/>
                <a:cs typeface="Arial"/>
              </a:rPr>
              <a:t>42 kilograms and 500 grams</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given fractional parts 1</a:t>
            </a:r>
          </a:p>
        </p:txBody>
      </p:sp>
      <p:pic>
        <p:nvPicPr>
          <p:cNvPr id="5" name="Picture 4" descr="A cartoon of a smiling chef wearing a white chef’s hat and uniform stands holding a spatula. To the right of the chef are three round pepperoni pizzas with yellow cheese bases, red sauce edges and multiple pepperoni slices on top.">
            <a:extLst>
              <a:ext uri="{FF2B5EF4-FFF2-40B4-BE49-F238E27FC236}">
                <a16:creationId xmlns:a16="http://schemas.microsoft.com/office/drawing/2014/main" id="{7783A0E8-5CE5-B225-269E-023F88DAC515}"/>
              </a:ext>
            </a:extLst>
          </p:cNvPr>
          <p:cNvPicPr>
            <a:picLocks noChangeAspect="1"/>
          </p:cNvPicPr>
          <p:nvPr/>
        </p:nvPicPr>
        <p:blipFill>
          <a:blip r:embed="rId3"/>
          <a:srcRect t="6496" b="2061"/>
          <a:stretch>
            <a:fillRect/>
          </a:stretch>
        </p:blipFill>
        <p:spPr>
          <a:xfrm>
            <a:off x="387787" y="1530838"/>
            <a:ext cx="11439216" cy="4551582"/>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1325004"/>
                <a:ext cx="11243037" cy="3605812"/>
              </a:xfrm>
            </p:spPr>
            <p:txBody>
              <a:bodyPr/>
              <a:lstStyle/>
              <a:p>
                <a:pPr algn="ctr"/>
                <a:r>
                  <a:rPr lang="en-AU" sz="4400"/>
                  <a:t>Stacey and Erin collected 42 golf balls.</a:t>
                </a:r>
              </a:p>
              <a:p>
                <a:pPr algn="ctr"/>
                <a:r>
                  <a:rPr lang="en-AU" sz="4400"/>
                  <a:t>Stacey collected </a:t>
                </a:r>
                <a14:m>
                  <m:oMath xmlns:m="http://schemas.openxmlformats.org/officeDocument/2006/math">
                    <m:f>
                      <m:fPr>
                        <m:ctrlPr>
                          <a:rPr lang="en-AU" sz="4400" i="1" dirty="0" smtClean="0">
                            <a:latin typeface="Cambria Math" panose="02040503050406030204" pitchFamily="18" charset="0"/>
                          </a:rPr>
                        </m:ctrlPr>
                      </m:fPr>
                      <m:num>
                        <m:r>
                          <a:rPr lang="en-AU" sz="4400" b="0" i="1" dirty="0" smtClean="0">
                            <a:latin typeface="Cambria Math" panose="02040503050406030204" pitchFamily="18" charset="0"/>
                          </a:rPr>
                          <m:t>2</m:t>
                        </m:r>
                      </m:num>
                      <m:den>
                        <m:r>
                          <a:rPr lang="en-AU" sz="4400" b="0" i="1" dirty="0" smtClean="0">
                            <a:latin typeface="Cambria Math" panose="02040503050406030204" pitchFamily="18" charset="0"/>
                          </a:rPr>
                          <m:t>3</m:t>
                        </m:r>
                      </m:den>
                    </m:f>
                  </m:oMath>
                </a14:m>
                <a:r>
                  <a:rPr lang="en-AU" sz="4400"/>
                  <a:t> of </a:t>
                </a:r>
                <a:r>
                  <a:rPr lang="en-AU" sz="4400" dirty="0"/>
                  <a:t>the </a:t>
                </a:r>
                <a:r>
                  <a:rPr lang="en-AU" sz="4400"/>
                  <a:t>golf balls.</a:t>
                </a:r>
              </a:p>
              <a:p>
                <a:pPr algn="ctr"/>
                <a:r>
                  <a:rPr lang="en-AU" sz="4400"/>
                  <a:t>She collected 28 in total.</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360001" y="1325004"/>
                <a:ext cx="11243037" cy="3605812"/>
              </a:xfrm>
              <a:blipFill>
                <a:blip r:embed="rId3"/>
                <a:stretch>
                  <a:fillRect b="-5405"/>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468868980"/>
              </p:ext>
            </p:extLst>
          </p:nvPr>
        </p:nvGraphicFramePr>
        <p:xfrm>
          <a:off x="2442981" y="558813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9" name="Picture Placeholder 10">
            <a:extLst>
              <a:ext uri="{FF2B5EF4-FFF2-40B4-BE49-F238E27FC236}">
                <a16:creationId xmlns:a16="http://schemas.microsoft.com/office/drawing/2014/main" id="{D3E21552-C206-3CA2-9F03-C90FB5BA1B3A}"/>
              </a:ext>
            </a:extLst>
          </p:cNvPr>
          <p:cNvSpPr txBox="1">
            <a:spLocks/>
          </p:cNvSpPr>
          <p:nvPr/>
        </p:nvSpPr>
        <p:spPr>
          <a:xfrm>
            <a:off x="587085" y="1132762"/>
            <a:ext cx="11017827" cy="2042284"/>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A chef places </a:t>
            </a:r>
            <a:r>
              <a:rPr lang="en-AU" sz="4400" b="1">
                <a:latin typeface="Arial"/>
                <a:cs typeface="Arial"/>
              </a:rPr>
              <a:t>3.75 kg of flour</a:t>
            </a:r>
            <a:r>
              <a:rPr lang="en-AU" sz="4400">
                <a:latin typeface="Arial"/>
                <a:cs typeface="Arial"/>
              </a:rPr>
              <a:t>, </a:t>
            </a:r>
            <a:r>
              <a:rPr lang="en-AU" sz="4400" b="1">
                <a:latin typeface="Arial"/>
                <a:cs typeface="Arial"/>
              </a:rPr>
              <a:t>300 g of butter</a:t>
            </a:r>
            <a:r>
              <a:rPr lang="en-AU" sz="4400">
                <a:latin typeface="Arial"/>
                <a:cs typeface="Arial"/>
              </a:rPr>
              <a:t> and </a:t>
            </a:r>
            <a:r>
              <a:rPr lang="en-AU" sz="4400" b="1">
                <a:latin typeface="Arial"/>
                <a:cs typeface="Arial"/>
              </a:rPr>
              <a:t>1 kg 125 g of sugar </a:t>
            </a:r>
            <a:r>
              <a:rPr lang="en-AU" sz="4400">
                <a:latin typeface="Arial"/>
                <a:cs typeface="Arial"/>
              </a:rPr>
              <a:t>in a bowl. </a:t>
            </a:r>
            <a:endParaRPr lang="en-US" sz="4400">
              <a:latin typeface="Arial"/>
              <a:cs typeface="Arial"/>
            </a:endParaRPr>
          </a:p>
        </p:txBody>
      </p:sp>
      <p:sp>
        <p:nvSpPr>
          <p:cNvPr id="10" name="Picture Placeholder 10">
            <a:extLst>
              <a:ext uri="{FF2B5EF4-FFF2-40B4-BE49-F238E27FC236}">
                <a16:creationId xmlns:a16="http://schemas.microsoft.com/office/drawing/2014/main" id="{62B5CC7C-B592-DDCB-0C9C-8B12A4027D4D}"/>
              </a:ext>
            </a:extLst>
          </p:cNvPr>
          <p:cNvSpPr txBox="1">
            <a:spLocks/>
          </p:cNvSpPr>
          <p:nvPr/>
        </p:nvSpPr>
        <p:spPr>
          <a:xfrm>
            <a:off x="251460" y="3560980"/>
            <a:ext cx="11353453" cy="102120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What is the </a:t>
            </a:r>
            <a:r>
              <a:rPr lang="en-AU" sz="4400" b="1"/>
              <a:t>total mass </a:t>
            </a:r>
            <a:r>
              <a:rPr lang="en-AU" sz="4400">
                <a:latin typeface="Arial"/>
                <a:cs typeface="Arial"/>
              </a:rPr>
              <a:t>of </a:t>
            </a:r>
            <a:r>
              <a:rPr lang="en-AU" sz="4400" b="1">
                <a:latin typeface="Arial"/>
                <a:cs typeface="Arial"/>
              </a:rPr>
              <a:t>all ingredients</a:t>
            </a:r>
            <a:r>
              <a:rPr lang="en-AU" sz="4400">
                <a:latin typeface="Arial"/>
                <a:cs typeface="Arial"/>
              </a:rPr>
              <a:t>?</a:t>
            </a:r>
            <a:endParaRPr lang="en-US" sz="4400">
              <a:latin typeface="Arial"/>
              <a:cs typeface="Arial"/>
            </a:endParaRPr>
          </a:p>
        </p:txBody>
      </p:sp>
      <p:sp>
        <p:nvSpPr>
          <p:cNvPr id="11" name="Picture Placeholder 10">
            <a:extLst>
              <a:ext uri="{FF2B5EF4-FFF2-40B4-BE49-F238E27FC236}">
                <a16:creationId xmlns:a16="http://schemas.microsoft.com/office/drawing/2014/main" id="{5EC77A94-DF17-934F-8266-E9BDBC5C5FBD}"/>
              </a:ext>
            </a:extLst>
          </p:cNvPr>
          <p:cNvSpPr txBox="1">
            <a:spLocks/>
          </p:cNvSpPr>
          <p:nvPr/>
        </p:nvSpPr>
        <p:spPr>
          <a:xfrm>
            <a:off x="161112" y="4968117"/>
            <a:ext cx="11869775" cy="102120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Record</a:t>
            </a:r>
            <a:r>
              <a:rPr lang="en-AU" sz="4400">
                <a:latin typeface="Arial"/>
                <a:cs typeface="Arial"/>
              </a:rPr>
              <a:t> your answer in </a:t>
            </a:r>
            <a:r>
              <a:rPr lang="en-AU" sz="4400" b="1">
                <a:latin typeface="Arial"/>
                <a:cs typeface="Arial"/>
              </a:rPr>
              <a:t>grams</a:t>
            </a:r>
            <a:r>
              <a:rPr lang="en-AU" sz="4400">
                <a:latin typeface="Arial"/>
                <a:cs typeface="Arial"/>
              </a:rPr>
              <a:t> and </a:t>
            </a:r>
            <a:r>
              <a:rPr lang="en-AU" sz="4400" b="1">
                <a:latin typeface="Arial"/>
                <a:cs typeface="Arial"/>
              </a:rPr>
              <a:t>kilograms</a:t>
            </a:r>
            <a:r>
              <a:rPr lang="en-AU" sz="4400">
                <a:latin typeface="Arial"/>
                <a:cs typeface="Arial"/>
              </a:rPr>
              <a:t>.</a:t>
            </a:r>
            <a:endParaRPr lang="en-US" sz="4400">
              <a:latin typeface="Arial"/>
              <a:cs typeface="Arial"/>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5" name="Picture Placeholder 10">
            <a:extLst>
              <a:ext uri="{FF2B5EF4-FFF2-40B4-BE49-F238E27FC236}">
                <a16:creationId xmlns:a16="http://schemas.microsoft.com/office/drawing/2014/main" id="{21248AE0-EC59-BBFA-4853-9F3C9C640E3F}"/>
              </a:ext>
            </a:extLst>
          </p:cNvPr>
          <p:cNvSpPr txBox="1">
            <a:spLocks/>
          </p:cNvSpPr>
          <p:nvPr/>
        </p:nvSpPr>
        <p:spPr>
          <a:xfrm>
            <a:off x="1319690" y="1056464"/>
            <a:ext cx="9565319" cy="2042284"/>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latin typeface="Arial"/>
                <a:cs typeface="Arial"/>
              </a:rPr>
              <a:t>Describe</a:t>
            </a:r>
            <a:r>
              <a:rPr lang="en-AU" sz="4400" dirty="0">
                <a:latin typeface="Arial"/>
                <a:cs typeface="Arial"/>
              </a:rPr>
              <a:t> the </a:t>
            </a:r>
            <a:r>
              <a:rPr lang="en-AU" sz="4400" b="1" dirty="0">
                <a:latin typeface="Arial"/>
                <a:cs typeface="Arial"/>
              </a:rPr>
              <a:t>pattern</a:t>
            </a:r>
            <a:r>
              <a:rPr lang="en-AU" sz="4400" dirty="0">
                <a:latin typeface="Arial"/>
                <a:cs typeface="Arial"/>
              </a:rPr>
              <a:t> of </a:t>
            </a:r>
            <a:r>
              <a:rPr lang="en-AU" sz="4400" b="1" dirty="0">
                <a:latin typeface="Arial"/>
                <a:cs typeface="Arial"/>
              </a:rPr>
              <a:t>multiples</a:t>
            </a:r>
            <a:r>
              <a:rPr lang="en-AU" sz="4400" dirty="0">
                <a:latin typeface="Arial"/>
                <a:cs typeface="Arial"/>
              </a:rPr>
              <a:t> using </a:t>
            </a:r>
            <a:r>
              <a:rPr lang="en-AU" sz="4400" b="1" dirty="0">
                <a:latin typeface="Arial"/>
                <a:cs typeface="Arial"/>
              </a:rPr>
              <a:t>words</a:t>
            </a:r>
            <a:r>
              <a:rPr lang="en-AU" sz="4400" dirty="0">
                <a:latin typeface="Arial"/>
                <a:cs typeface="Arial"/>
              </a:rPr>
              <a:t>. </a:t>
            </a:r>
            <a:endParaRPr lang="en-US" sz="4400" dirty="0">
              <a:latin typeface="Arial"/>
              <a:cs typeface="Arial"/>
            </a:endParaRP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Three groups of stick shapes are shown across the image.&#10;&#10;The first group contains 5 sticks arranged to form a pentagon shape.&#10;&#10;The second group contains 10 sticks arranged as 2 connected pentagon shapes sharing one side.&#10;&#10;The third group contains 15 sticks arranged as 3 connected pentagon shapes sharing sides in a row.">
            <a:extLst>
              <a:ext uri="{FF2B5EF4-FFF2-40B4-BE49-F238E27FC236}">
                <a16:creationId xmlns:a16="http://schemas.microsoft.com/office/drawing/2014/main" id="{47F3E7B0-2F67-BF0F-86DF-BB099FAEDDED}"/>
              </a:ext>
            </a:extLst>
          </p:cNvPr>
          <p:cNvGrpSpPr/>
          <p:nvPr/>
        </p:nvGrpSpPr>
        <p:grpSpPr>
          <a:xfrm>
            <a:off x="378863" y="3565732"/>
            <a:ext cx="11434273" cy="2132657"/>
            <a:chOff x="378863" y="3565732"/>
            <a:chExt cx="11434273" cy="2132657"/>
          </a:xfrm>
        </p:grpSpPr>
        <p:pic>
          <p:nvPicPr>
            <p:cNvPr id="8" name="Picture 7" descr="Three groups of stick shapes are shown across the image.&#10;&#10;The first group contains 5 sticks arranged to form a pentagon shape.&#10;&#10;The second group contains 10 sticks arranged as 2 connected pentagon shapes sharing one side.&#10;&#10;The third group contains 15 sticks arranged as 3 connected pentagon shapes sharing sides in a row.">
              <a:extLst>
                <a:ext uri="{FF2B5EF4-FFF2-40B4-BE49-F238E27FC236}">
                  <a16:creationId xmlns:a16="http://schemas.microsoft.com/office/drawing/2014/main" id="{94317497-1835-C2EB-736A-7FC7A3843384}"/>
                </a:ext>
              </a:extLst>
            </p:cNvPr>
            <p:cNvPicPr>
              <a:picLocks noChangeAspect="1"/>
            </p:cNvPicPr>
            <p:nvPr/>
          </p:nvPicPr>
          <p:blipFill>
            <a:blip r:embed="rId4"/>
            <a:stretch>
              <a:fillRect/>
            </a:stretch>
          </p:blipFill>
          <p:spPr>
            <a:xfrm>
              <a:off x="378863" y="3565732"/>
              <a:ext cx="11434273" cy="2132657"/>
            </a:xfrm>
            <a:prstGeom prst="rect">
              <a:avLst/>
            </a:prstGeom>
          </p:spPr>
        </p:pic>
        <p:sp>
          <p:nvSpPr>
            <p:cNvPr id="7" name="TextBox 6">
              <a:extLst>
                <a:ext uri="{FF2B5EF4-FFF2-40B4-BE49-F238E27FC236}">
                  <a16:creationId xmlns:a16="http://schemas.microsoft.com/office/drawing/2014/main" id="{00916A5C-D8AD-EE63-7799-A2B475953860}"/>
                </a:ext>
              </a:extLst>
            </p:cNvPr>
            <p:cNvSpPr txBox="1"/>
            <p:nvPr/>
          </p:nvSpPr>
          <p:spPr>
            <a:xfrm>
              <a:off x="2328672" y="4632060"/>
              <a:ext cx="658368" cy="1015663"/>
            </a:xfrm>
            <a:prstGeom prst="rect">
              <a:avLst/>
            </a:prstGeom>
            <a:noFill/>
          </p:spPr>
          <p:txBody>
            <a:bodyPr wrap="square">
              <a:spAutoFit/>
            </a:bodyPr>
            <a:lstStyle/>
            <a:p>
              <a:r>
                <a:rPr lang="en-AU" sz="6000" dirty="0">
                  <a:latin typeface="Arial"/>
                  <a:cs typeface="Arial"/>
                </a:rPr>
                <a:t>,</a:t>
              </a:r>
              <a:endParaRPr lang="en-AU" sz="6000" dirty="0"/>
            </a:p>
          </p:txBody>
        </p:sp>
        <p:sp>
          <p:nvSpPr>
            <p:cNvPr id="9" name="TextBox 8">
              <a:extLst>
                <a:ext uri="{FF2B5EF4-FFF2-40B4-BE49-F238E27FC236}">
                  <a16:creationId xmlns:a16="http://schemas.microsoft.com/office/drawing/2014/main" id="{E460B439-173F-BBAD-0CA2-A37C6A8B1DC2}"/>
                </a:ext>
              </a:extLst>
            </p:cNvPr>
            <p:cNvSpPr txBox="1"/>
            <p:nvPr/>
          </p:nvSpPr>
          <p:spPr>
            <a:xfrm>
              <a:off x="6297168" y="4682726"/>
              <a:ext cx="658368" cy="1015663"/>
            </a:xfrm>
            <a:prstGeom prst="rect">
              <a:avLst/>
            </a:prstGeom>
            <a:noFill/>
          </p:spPr>
          <p:txBody>
            <a:bodyPr wrap="square">
              <a:spAutoFit/>
            </a:bodyPr>
            <a:lstStyle/>
            <a:p>
              <a:r>
                <a:rPr lang="en-AU" sz="6000" dirty="0">
                  <a:latin typeface="Arial"/>
                  <a:cs typeface="Arial"/>
                </a:rPr>
                <a:t>,</a:t>
              </a:r>
              <a:endParaRPr lang="en-AU" sz="6000" dirty="0"/>
            </a:p>
          </p:txBody>
        </p:sp>
      </p:gr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5" name="Text Placeholder 5">
            <a:extLst>
              <a:ext uri="{FF2B5EF4-FFF2-40B4-BE49-F238E27FC236}">
                <a16:creationId xmlns:a16="http://schemas.microsoft.com/office/drawing/2014/main" id="{1BEB9549-AC27-F291-9FD1-7E9C09BE33C3}"/>
              </a:ext>
            </a:extLst>
          </p:cNvPr>
          <p:cNvSpPr txBox="1">
            <a:spLocks/>
          </p:cNvSpPr>
          <p:nvPr/>
        </p:nvSpPr>
        <p:spPr>
          <a:xfrm>
            <a:off x="360000" y="896140"/>
            <a:ext cx="11495840" cy="193673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If the </a:t>
            </a:r>
            <a:r>
              <a:rPr lang="en-AU" sz="4000" b="1"/>
              <a:t>area</a:t>
            </a:r>
            <a:r>
              <a:rPr lang="en-AU" sz="4000"/>
              <a:t> of this </a:t>
            </a:r>
            <a:r>
              <a:rPr lang="en-AU" sz="4000" b="1"/>
              <a:t>parallelogram</a:t>
            </a:r>
            <a:r>
              <a:rPr lang="en-AU" sz="4000"/>
              <a:t> is 100 cm</a:t>
            </a:r>
            <a:r>
              <a:rPr lang="en-AU" sz="4000" baseline="30000"/>
              <a:t>2</a:t>
            </a:r>
            <a:r>
              <a:rPr lang="en-AU" sz="4000"/>
              <a:t>, what is the </a:t>
            </a:r>
            <a:r>
              <a:rPr lang="en-AU" sz="4000" b="1"/>
              <a:t>area</a:t>
            </a:r>
            <a:r>
              <a:rPr lang="en-AU" sz="4000"/>
              <a:t> of the </a:t>
            </a:r>
            <a:r>
              <a:rPr lang="en-AU" sz="4000" b="1"/>
              <a:t>triangle</a:t>
            </a:r>
            <a:r>
              <a:rPr lang="en-AU" sz="4000"/>
              <a:t>?</a:t>
            </a:r>
          </a:p>
        </p:txBody>
      </p:sp>
      <p:pic>
        <p:nvPicPr>
          <p:cNvPr id="14" name="Picture 13" descr="Side-by-side view of a parallelogram and a triangle with blue arrows showing the same base and red arrows indicting the same height. A scale of one square equals 1 cm squared is indicated below the grid.">
            <a:extLst>
              <a:ext uri="{FF2B5EF4-FFF2-40B4-BE49-F238E27FC236}">
                <a16:creationId xmlns:a16="http://schemas.microsoft.com/office/drawing/2014/main" id="{6BFD3F55-3006-997C-CA13-021D24BAE846}"/>
              </a:ext>
            </a:extLst>
          </p:cNvPr>
          <p:cNvPicPr>
            <a:picLocks noChangeAspect="1"/>
          </p:cNvPicPr>
          <p:nvPr/>
        </p:nvPicPr>
        <p:blipFill>
          <a:blip r:embed="rId3"/>
          <a:stretch>
            <a:fillRect/>
          </a:stretch>
        </p:blipFill>
        <p:spPr>
          <a:xfrm>
            <a:off x="1346728" y="2832872"/>
            <a:ext cx="9498543" cy="3333181"/>
          </a:xfrm>
          <a:prstGeom prst="rect">
            <a:avLst/>
          </a:prstGeom>
          <a:solidFill>
            <a:schemeClr val="bg1"/>
          </a:solidFill>
          <a:ln>
            <a:noFill/>
          </a:ln>
          <a:effectLst/>
        </p:spPr>
      </p:pic>
      <p:sp>
        <p:nvSpPr>
          <p:cNvPr id="12" name="Text Placeholder 5">
            <a:extLst>
              <a:ext uri="{FF2B5EF4-FFF2-40B4-BE49-F238E27FC236}">
                <a16:creationId xmlns:a16="http://schemas.microsoft.com/office/drawing/2014/main" id="{657AE713-D6E6-8886-114D-63F711019B68}"/>
              </a:ext>
            </a:extLst>
          </p:cNvPr>
          <p:cNvSpPr txBox="1">
            <a:spLocks/>
          </p:cNvSpPr>
          <p:nvPr/>
        </p:nvSpPr>
        <p:spPr>
          <a:xfrm>
            <a:off x="890421" y="5987661"/>
            <a:ext cx="10411158" cy="81318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5" name="TextBox 4">
            <a:extLst>
              <a:ext uri="{FF2B5EF4-FFF2-40B4-BE49-F238E27FC236}">
                <a16:creationId xmlns:a16="http://schemas.microsoft.com/office/drawing/2014/main" id="{8639A46C-3201-1084-9984-C7DE0F6AEA20}"/>
              </a:ext>
            </a:extLst>
          </p:cNvPr>
          <p:cNvSpPr txBox="1"/>
          <p:nvPr/>
        </p:nvSpPr>
        <p:spPr>
          <a:xfrm>
            <a:off x="850003" y="1851935"/>
            <a:ext cx="10491993" cy="1998176"/>
          </a:xfrm>
          <a:prstGeom prst="rect">
            <a:avLst/>
          </a:prstGeom>
          <a:noFill/>
        </p:spPr>
        <p:txBody>
          <a:bodyPr wrap="square">
            <a:spAutoFit/>
          </a:bodyPr>
          <a:lstStyle/>
          <a:p>
            <a:pPr algn="ctr">
              <a:lnSpc>
                <a:spcPct val="150000"/>
              </a:lnSpc>
            </a:pPr>
            <a:r>
              <a:rPr lang="en-AU" sz="4400"/>
              <a:t>A bush hike </a:t>
            </a:r>
            <a:r>
              <a:rPr lang="en-AU" sz="4400" b="1"/>
              <a:t>started</a:t>
            </a:r>
            <a:r>
              <a:rPr lang="en-AU" sz="4400"/>
              <a:t> at </a:t>
            </a:r>
            <a:r>
              <a:rPr lang="en-AU" sz="4400" b="1"/>
              <a:t>8:15 am </a:t>
            </a:r>
            <a:r>
              <a:rPr lang="en-AU" sz="4400"/>
              <a:t>and </a:t>
            </a:r>
            <a:r>
              <a:rPr lang="en-AU" sz="4400" b="1"/>
              <a:t>finished</a:t>
            </a:r>
            <a:r>
              <a:rPr lang="en-AU" sz="4400"/>
              <a:t> at </a:t>
            </a:r>
            <a:r>
              <a:rPr lang="en-AU" sz="4400" b="1"/>
              <a:t>3:25 pm</a:t>
            </a:r>
            <a:r>
              <a:rPr lang="en-AU" sz="4400"/>
              <a:t>.</a:t>
            </a:r>
          </a:p>
        </p:txBody>
      </p:sp>
      <p:sp>
        <p:nvSpPr>
          <p:cNvPr id="7" name="TextBox 6">
            <a:extLst>
              <a:ext uri="{FF2B5EF4-FFF2-40B4-BE49-F238E27FC236}">
                <a16:creationId xmlns:a16="http://schemas.microsoft.com/office/drawing/2014/main" id="{35D918E9-F9CE-7B53-BDC6-53216322EF2C}"/>
              </a:ext>
            </a:extLst>
          </p:cNvPr>
          <p:cNvSpPr txBox="1"/>
          <p:nvPr/>
        </p:nvSpPr>
        <p:spPr>
          <a:xfrm>
            <a:off x="850003" y="4026566"/>
            <a:ext cx="10491993" cy="982513"/>
          </a:xfrm>
          <a:prstGeom prst="rect">
            <a:avLst/>
          </a:prstGeom>
          <a:noFill/>
        </p:spPr>
        <p:txBody>
          <a:bodyPr wrap="square">
            <a:spAutoFit/>
          </a:bodyPr>
          <a:lstStyle/>
          <a:p>
            <a:pPr algn="ctr">
              <a:lnSpc>
                <a:spcPct val="150000"/>
              </a:lnSpc>
            </a:pPr>
            <a:r>
              <a:rPr lang="en-AU" sz="4400"/>
              <a:t>How much </a:t>
            </a:r>
            <a:r>
              <a:rPr lang="en-AU" sz="4400" b="1"/>
              <a:t>time</a:t>
            </a:r>
            <a:r>
              <a:rPr lang="en-AU" sz="4400"/>
              <a:t> has </a:t>
            </a:r>
            <a:r>
              <a:rPr lang="en-AU" sz="4400" b="1"/>
              <a:t>elapsed</a:t>
            </a:r>
            <a:r>
              <a:rPr lang="en-AU" sz="4400"/>
              <a:t>?</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given fractional parts 2</a:t>
            </a:r>
          </a:p>
        </p:txBody>
      </p:sp>
      <p:pic>
        <p:nvPicPr>
          <p:cNvPr id="8" name="Picture 7" descr="A cartoon of a boy wearing a blue vest, white shirt, red tie and shorts standing waving. Above him hangs a silver disco ball shining yellow beams of light with small sparkling stars around it.&#10;&#10;Below the disco ball are three separate groups of brightly coloured glow sticks in blue, yellow, pink and green, arranged in overlapping bundles.">
            <a:extLst>
              <a:ext uri="{FF2B5EF4-FFF2-40B4-BE49-F238E27FC236}">
                <a16:creationId xmlns:a16="http://schemas.microsoft.com/office/drawing/2014/main" id="{B0E3A85C-D520-B06C-DB54-22D90BF5B3AE}"/>
              </a:ext>
            </a:extLst>
          </p:cNvPr>
          <p:cNvPicPr>
            <a:picLocks noChangeAspect="1"/>
          </p:cNvPicPr>
          <p:nvPr/>
        </p:nvPicPr>
        <p:blipFill>
          <a:blip r:embed="rId3"/>
          <a:srcRect l="12645" r="5056"/>
          <a:stretch>
            <a:fillRect/>
          </a:stretch>
        </p:blipFill>
        <p:spPr>
          <a:xfrm>
            <a:off x="2137906" y="1085140"/>
            <a:ext cx="6811456" cy="5412860"/>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266999"/>
            <a:ext cx="11484000" cy="3429001"/>
          </a:xfrm>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9 March 2026) and was not modified.</a:t>
            </a:r>
          </a:p>
          <a:p>
            <a:r>
              <a:rPr lang="en-AU"/>
              <a:t>Behind the News (6 August 2023) </a:t>
            </a:r>
            <a:r>
              <a:rPr lang="en-AU" u="sng">
                <a:hlinkClick r:id="rId9"/>
              </a:rPr>
              <a:t>‘Australia's Plastic Waste Problem – Behind the News’</a:t>
            </a:r>
            <a:r>
              <a:rPr lang="en-AU"/>
              <a:t> [video], </a:t>
            </a:r>
            <a:r>
              <a:rPr lang="en-AU" i="1"/>
              <a:t>Behind the News</a:t>
            </a:r>
            <a:r>
              <a:rPr lang="en-AU"/>
              <a:t>, YouTube, accessed 9 March 2026. </a:t>
            </a:r>
          </a:p>
          <a:p>
            <a:r>
              <a:rPr lang="en-AU"/>
              <a:t>Clarke D (1996) </a:t>
            </a:r>
            <a:r>
              <a:rPr lang="en-AU" i="1"/>
              <a:t>The Case of the Mystery Bone: A Unit of Work on Measurement for Grades 5 to 8</a:t>
            </a:r>
            <a:r>
              <a:rPr lang="en-AU"/>
              <a:t>, Australian Association of Mathematics Teachers Inc, Australia. </a:t>
            </a:r>
          </a:p>
          <a:p>
            <a:r>
              <a:rPr lang="en-AU"/>
              <a:t>Clean Up Australia (2024) </a:t>
            </a:r>
            <a:r>
              <a:rPr lang="en-AU" i="1" u="sng">
                <a:hlinkClick r:id="rId10"/>
              </a:rPr>
              <a:t>Clean Up Our Waste</a:t>
            </a:r>
            <a:r>
              <a:rPr lang="en-AU"/>
              <a:t>, Clean Up Australia website, accessed 9 March 2026. </a:t>
            </a:r>
          </a:p>
          <a:p>
            <a:r>
              <a:rPr lang="en-AU"/>
              <a:t>Grant J, Lewis E and Woods A (2007) </a:t>
            </a:r>
            <a:r>
              <a:rPr lang="en-AU" i="1"/>
              <a:t>Maths-in-a-Box 3</a:t>
            </a:r>
            <a:r>
              <a:rPr lang="en-AU"/>
              <a:t>, Cambridge University Press, Australia. </a:t>
            </a:r>
          </a:p>
          <a:p>
            <a:r>
              <a:rPr lang="en-AU"/>
              <a:t>Sullivan P and Lilburn P (2017) </a:t>
            </a:r>
            <a:r>
              <a:rPr lang="en-AU" i="1"/>
              <a:t>Open-ended Maths Activities: Using ‘Good’ Questions to Enhance Learning in Mathematics</a:t>
            </a:r>
            <a:r>
              <a:rPr lang="en-AU"/>
              <a:t>, Revised </a:t>
            </a:r>
            <a:r>
              <a:rPr lang="en-AU" err="1"/>
              <a:t>edn</a:t>
            </a:r>
            <a:r>
              <a:rPr lang="en-AU"/>
              <a:t>, Oxford University Press ANZ, Great Britain.</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E54D6B-1AB5-4F9C-BFED-0B71185E1779}"/>
</file>

<file path=customXml/itemProps2.xml><?xml version="1.0" encoding="utf-8"?>
<ds:datastoreItem xmlns:ds="http://schemas.openxmlformats.org/officeDocument/2006/customXml" ds:itemID="{CE555570-2BD4-426B-AA32-0A79CB6508A8}">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microsoft.com/sharepoint/v3"/>
    <ds:schemaRef ds:uri="7e763d47-3c66-4c58-9425-1477fd3ccd1e"/>
    <ds:schemaRef ds:uri="http://purl.org/dc/dcmitype/"/>
    <ds:schemaRef ds:uri="http://purl.org/dc/terms/"/>
    <ds:schemaRef ds:uri="http://schemas.openxmlformats.org/package/2006/metadata/core-properties"/>
    <ds:schemaRef ds:uri="60129b06-f64b-40a8-96e2-c5b2f86112b1"/>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8</TotalTime>
  <Words>5839</Words>
  <Application>Microsoft Office PowerPoint</Application>
  <PresentationFormat>Widescreen</PresentationFormat>
  <Paragraphs>814</Paragraphs>
  <Slides>68</Slides>
  <Notes>68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Wingdings</vt:lpstr>
      <vt:lpstr>Times New Roman</vt:lpstr>
      <vt:lpstr>Cambria Math</vt:lpstr>
      <vt:lpstr>Anton</vt:lpstr>
      <vt:lpstr>Calibri</vt:lpstr>
      <vt:lpstr>Public Sans Light</vt:lpstr>
      <vt:lpstr>League Spartan</vt:lpstr>
      <vt:lpstr>Montserrat</vt:lpstr>
      <vt:lpstr>Public Sans</vt:lpstr>
      <vt:lpstr>Arial</vt:lpstr>
      <vt:lpstr>Aptos Narrow</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fractions, decimals and percentages</vt:lpstr>
      <vt:lpstr>Review of learning 2</vt:lpstr>
      <vt:lpstr>True or false (1)</vt:lpstr>
      <vt:lpstr>Short response (5)</vt:lpstr>
      <vt:lpstr>Short response (6)</vt:lpstr>
      <vt:lpstr>Short response (7)</vt:lpstr>
      <vt:lpstr>Short response (8)</vt:lpstr>
      <vt:lpstr>Activity 2 – connections between benchmark fractions, decimals and percentages</vt:lpstr>
      <vt:lpstr>Review of learning 3</vt:lpstr>
      <vt:lpstr>Multiple choice (2)</vt:lpstr>
      <vt:lpstr>Short response (9)</vt:lpstr>
      <vt:lpstr>Short response (10)</vt:lpstr>
      <vt:lpstr>Short response (11)</vt:lpstr>
      <vt:lpstr>Short response (12)</vt:lpstr>
      <vt:lpstr>Activity 3 – equivalent percentages, decimals and fractions</vt:lpstr>
      <vt:lpstr>Review of learning 4</vt:lpstr>
      <vt:lpstr>True or false (2)</vt:lpstr>
      <vt:lpstr>Short response (13)</vt:lpstr>
      <vt:lpstr>Short response (14)</vt:lpstr>
      <vt:lpstr>Short response (15)</vt:lpstr>
      <vt:lpstr>Short response (16)</vt:lpstr>
      <vt:lpstr>Activity 4 – recall commonly used equivalent percentages, decimals and fractions</vt:lpstr>
      <vt:lpstr>Review of learning 5</vt:lpstr>
      <vt:lpstr>Multiple choice (3)</vt:lpstr>
      <vt:lpstr>Short response (17)</vt:lpstr>
      <vt:lpstr>Short response (18)</vt:lpstr>
      <vt:lpstr>Short response (19)</vt:lpstr>
      <vt:lpstr>Short response (20)</vt:lpstr>
      <vt:lpstr>Activity 5 – build up to the whole 1</vt:lpstr>
      <vt:lpstr>Review of learning 6</vt:lpstr>
      <vt:lpstr>True or false (3)</vt:lpstr>
      <vt:lpstr>Short response (21)</vt:lpstr>
      <vt:lpstr>Short response (22)</vt:lpstr>
      <vt:lpstr>Short response (23)</vt:lpstr>
      <vt:lpstr>Short response (24)</vt:lpstr>
      <vt:lpstr>Activity 6 – build up to the whole 2</vt:lpstr>
      <vt:lpstr>Review of learning 7</vt:lpstr>
      <vt:lpstr>Multiple choice (4)</vt:lpstr>
      <vt:lpstr>Short response (25)</vt:lpstr>
      <vt:lpstr>Short response (26)</vt:lpstr>
      <vt:lpstr>Short response (31)</vt:lpstr>
      <vt:lpstr>Short response (28)</vt:lpstr>
      <vt:lpstr>Activity 7 – given fractional parts 1</vt:lpstr>
      <vt:lpstr>Review of learning 8</vt:lpstr>
      <vt:lpstr>True or false (4)</vt:lpstr>
      <vt:lpstr>Short response (29)</vt:lpstr>
      <vt:lpstr>Short response (30)</vt:lpstr>
      <vt:lpstr>Short response (27)</vt:lpstr>
      <vt:lpstr>Short response (32)</vt:lpstr>
      <vt:lpstr>Activity 8 – given fractional parts 2</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2026-06-21T22:48:56Z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