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74"/>
  </p:notesMasterIdLst>
  <p:handoutMasterIdLst>
    <p:handoutMasterId r:id="rId75"/>
  </p:handoutMasterIdLst>
  <p:sldIdLst>
    <p:sldId id="365" r:id="rId5"/>
    <p:sldId id="26505" r:id="rId6"/>
    <p:sldId id="26359" r:id="rId7"/>
    <p:sldId id="271" r:id="rId8"/>
    <p:sldId id="26646" r:id="rId9"/>
    <p:sldId id="358" r:id="rId10"/>
    <p:sldId id="26652" r:id="rId11"/>
    <p:sldId id="26581" r:id="rId12"/>
    <p:sldId id="26582" r:id="rId13"/>
    <p:sldId id="26576" r:id="rId14"/>
    <p:sldId id="26583" r:id="rId15"/>
    <p:sldId id="26586" r:id="rId16"/>
    <p:sldId id="26587" r:id="rId17"/>
    <p:sldId id="26588" r:id="rId18"/>
    <p:sldId id="26589" r:id="rId19"/>
    <p:sldId id="26590" r:id="rId20"/>
    <p:sldId id="26591" r:id="rId21"/>
    <p:sldId id="26650" r:id="rId22"/>
    <p:sldId id="26592" r:id="rId23"/>
    <p:sldId id="26593" r:id="rId24"/>
    <p:sldId id="26596" r:id="rId25"/>
    <p:sldId id="26597" r:id="rId26"/>
    <p:sldId id="26598" r:id="rId27"/>
    <p:sldId id="26599" r:id="rId28"/>
    <p:sldId id="26600" r:id="rId29"/>
    <p:sldId id="26601" r:id="rId30"/>
    <p:sldId id="26604" r:id="rId31"/>
    <p:sldId id="26605" r:id="rId32"/>
    <p:sldId id="26606" r:id="rId33"/>
    <p:sldId id="26607" r:id="rId34"/>
    <p:sldId id="26608" r:id="rId35"/>
    <p:sldId id="26609" r:id="rId36"/>
    <p:sldId id="26610" r:id="rId37"/>
    <p:sldId id="26647" r:id="rId38"/>
    <p:sldId id="26614" r:id="rId39"/>
    <p:sldId id="26615" r:id="rId40"/>
    <p:sldId id="26616" r:id="rId41"/>
    <p:sldId id="26617" r:id="rId42"/>
    <p:sldId id="26618" r:id="rId43"/>
    <p:sldId id="26619" r:id="rId44"/>
    <p:sldId id="26622" r:id="rId45"/>
    <p:sldId id="26623" r:id="rId46"/>
    <p:sldId id="26624" r:id="rId47"/>
    <p:sldId id="26625" r:id="rId48"/>
    <p:sldId id="26626" r:id="rId49"/>
    <p:sldId id="26627" r:id="rId50"/>
    <p:sldId id="26628" r:id="rId51"/>
    <p:sldId id="26649" r:id="rId52"/>
    <p:sldId id="26632" r:id="rId53"/>
    <p:sldId id="26633" r:id="rId54"/>
    <p:sldId id="26634" r:id="rId55"/>
    <p:sldId id="26635" r:id="rId56"/>
    <p:sldId id="26636" r:id="rId57"/>
    <p:sldId id="26637" r:id="rId58"/>
    <p:sldId id="26640" r:id="rId59"/>
    <p:sldId id="26641" r:id="rId60"/>
    <p:sldId id="26642" r:id="rId61"/>
    <p:sldId id="26643" r:id="rId62"/>
    <p:sldId id="26644" r:id="rId63"/>
    <p:sldId id="26645" r:id="rId64"/>
    <p:sldId id="26393" r:id="rId65"/>
    <p:sldId id="26387" r:id="rId66"/>
    <p:sldId id="26395" r:id="rId67"/>
    <p:sldId id="26391" r:id="rId68"/>
    <p:sldId id="26402" r:id="rId69"/>
    <p:sldId id="26507" r:id="rId70"/>
    <p:sldId id="26653" r:id="rId71"/>
    <p:sldId id="360" r:id="rId72"/>
    <p:sldId id="361" r:id="rId73"/>
  </p:sldIdLst>
  <p:sldSz cx="12192000" cy="6858000"/>
  <p:notesSz cx="6858000" cy="9144000"/>
  <p:embeddedFontLst>
    <p:embeddedFont>
      <p:font typeface="Edu NSW ACT Foundation" panose="020B0604020202020204" charset="0"/>
      <p:regular r:id="rId76"/>
      <p:bold r:id="rId77"/>
    </p:embeddedFont>
    <p:embeddedFont>
      <p:font typeface="Montserrat" panose="00000500000000000000" pitchFamily="2" charset="0"/>
      <p:regular r:id="rId78"/>
      <p:bold r:id="rId79"/>
      <p:italic r:id="rId80"/>
      <p:boldItalic r:id="rId81"/>
    </p:embeddedFont>
    <p:embeddedFont>
      <p:font typeface="Public Sans" pitchFamily="2" charset="0"/>
      <p:regular r:id="rId82"/>
      <p:bold r:id="rId83"/>
      <p:italic r:id="rId84"/>
      <p:boldItalic r:id="rId85"/>
    </p:embeddedFont>
    <p:embeddedFont>
      <p:font typeface="Public Sans Light" pitchFamily="2" charset="0"/>
      <p:regular r:id="rId86"/>
      <p:italic r:id="rId87"/>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365"/>
          </p14:sldIdLst>
        </p14:section>
        <p14:section name="Slide templates" id="{D5A8010D-981F-43AA-A0D6-182EC53CAA84}">
          <p14:sldIdLst>
            <p14:sldId id="26505"/>
            <p14:sldId id="26359"/>
          </p14:sldIdLst>
        </p14:section>
        <p14:section name="Review of learning 1" id="{4B1EDACC-5006-43DF-9D93-DE177A158796}">
          <p14:sldIdLst>
            <p14:sldId id="271"/>
            <p14:sldId id="26646"/>
            <p14:sldId id="358"/>
            <p14:sldId id="26652"/>
            <p14:sldId id="26581"/>
            <p14:sldId id="26582"/>
            <p14:sldId id="26576"/>
          </p14:sldIdLst>
        </p14:section>
        <p14:section name="Review of learning 2" id="{0AC6BBCB-7E49-46CE-B777-EFCDD4B60F91}">
          <p14:sldIdLst>
            <p14:sldId id="26583"/>
            <p14:sldId id="26586"/>
            <p14:sldId id="26587"/>
            <p14:sldId id="26588"/>
            <p14:sldId id="26589"/>
            <p14:sldId id="26590"/>
            <p14:sldId id="26591"/>
            <p14:sldId id="26650"/>
          </p14:sldIdLst>
        </p14:section>
        <p14:section name="Review of learning 3" id="{6F5E1C19-5255-4FF7-A3CD-4549F7EF69B2}">
          <p14:sldIdLst>
            <p14:sldId id="26592"/>
            <p14:sldId id="26593"/>
            <p14:sldId id="26596"/>
            <p14:sldId id="26597"/>
            <p14:sldId id="26598"/>
            <p14:sldId id="26599"/>
            <p14:sldId id="26600"/>
          </p14:sldIdLst>
        </p14:section>
        <p14:section name="Review of learning 4" id="{6EB8E1CE-ED7B-4635-88AB-9D1D052BB011}">
          <p14:sldIdLst>
            <p14:sldId id="26601"/>
            <p14:sldId id="26604"/>
            <p14:sldId id="26605"/>
            <p14:sldId id="26606"/>
            <p14:sldId id="26607"/>
            <p14:sldId id="26608"/>
            <p14:sldId id="26609"/>
          </p14:sldIdLst>
        </p14:section>
        <p14:section name="Review of learning 5" id="{E365C8CF-14E0-4F5A-BCE8-2E930DEEA864}">
          <p14:sldIdLst>
            <p14:sldId id="26610"/>
            <p14:sldId id="26647"/>
            <p14:sldId id="26614"/>
            <p14:sldId id="26615"/>
            <p14:sldId id="26616"/>
            <p14:sldId id="26617"/>
            <p14:sldId id="26618"/>
          </p14:sldIdLst>
        </p14:section>
        <p14:section name="Review of learning 6" id="{6721D3DC-F7BB-49CA-9E61-8454C104591D}">
          <p14:sldIdLst>
            <p14:sldId id="26619"/>
            <p14:sldId id="26622"/>
            <p14:sldId id="26623"/>
            <p14:sldId id="26624"/>
            <p14:sldId id="26625"/>
            <p14:sldId id="26626"/>
            <p14:sldId id="26627"/>
          </p14:sldIdLst>
        </p14:section>
        <p14:section name="Review of learning 7" id="{CF63834E-0BE9-495B-9761-037C836F185E}">
          <p14:sldIdLst>
            <p14:sldId id="26628"/>
            <p14:sldId id="26649"/>
            <p14:sldId id="26632"/>
            <p14:sldId id="26633"/>
            <p14:sldId id="26634"/>
            <p14:sldId id="26635"/>
            <p14:sldId id="26636"/>
          </p14:sldIdLst>
        </p14:section>
        <p14:section name="Review of learning 8" id="{6FF8F7EC-803E-4F84-BA41-6B3ED673D597}">
          <p14:sldIdLst>
            <p14:sldId id="26637"/>
            <p14:sldId id="26640"/>
            <p14:sldId id="26641"/>
            <p14:sldId id="26642"/>
            <p14:sldId id="26643"/>
            <p14:sldId id="26644"/>
            <p14:sldId id="26645"/>
          </p14:sldIdLst>
        </p14:section>
        <p14:section name="Assets" id="{ACCADEBA-79DB-4F18-8F19-E4DF86159DFB}">
          <p14:sldIdLst>
            <p14:sldId id="26393"/>
            <p14:sldId id="26387"/>
            <p14:sldId id="26395"/>
            <p14:sldId id="26391"/>
            <p14:sldId id="26402"/>
            <p14:sldId id="26507"/>
            <p14:sldId id="26653"/>
          </p14:sldIdLst>
        </p14:section>
        <p14:section name="References &amp; copyright" id="{DBC31484-F5F8-4CB1-8DB4-A562A9780899}">
          <p14:sldIdLst>
            <p14:sldId id="360"/>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NH" userId="S::Natalie.Hawkins7@det.nsw.edu.au::91d64da8-8826-47c8-b06a-208beda74d22" providerId="AD"/>
  <p188:author id="{7177351D-0273-191D-F776-806FD0E72AD9}" name="Sundren Naicker" initials="SN" userId="S::Sundren.Naicker@det.nsw.edu.au::a553bd6d-fc4b-4438-a461-744bbb36d97b" providerId="AD"/>
  <p188:author id="{8EAAFC52-5D86-6FE7-9D47-1FD3C7D0804D}" name="Lisa Kew" initials="LK" userId="S::LISA.JONES13@det.nsw.edu.au::687d7c21-e1c8-437d-b64b-4b01e8e7487e" providerId="AD"/>
  <p188:author id="{95D16B7D-CADB-F2BF-AC29-D680545C75EE}" name="Carrie Webeck" initials="CW" userId="S::CARRIE-ANN.WEBECK@det.nsw.edu.au::e5c4b697-ca15-4f3a-a906-1289ddc2fc07"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A927"/>
    <a:srgbClr val="146CFD"/>
    <a:srgbClr val="FFFFFF"/>
    <a:srgbClr val="666F6F"/>
    <a:srgbClr val="38B6FF"/>
    <a:srgbClr val="00ACC2"/>
    <a:srgbClr val="447F2F"/>
    <a:srgbClr val="EA9B0C"/>
    <a:srgbClr val="007A8A"/>
    <a:srgbClr val="9B680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F295D63-61D8-40B7-A7B8-E97AF45B7539}" v="294" dt="2026-02-05T23:20:27.511"/>
  </p1510:revLst>
</p1510:revInfo>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2366" autoAdjust="0"/>
  </p:normalViewPr>
  <p:slideViewPr>
    <p:cSldViewPr snapToGrid="0">
      <p:cViewPr varScale="1">
        <p:scale>
          <a:sx n="70" d="100"/>
          <a:sy n="70" d="100"/>
        </p:scale>
        <p:origin x="1080" y="64"/>
      </p:cViewPr>
      <p:guideLst>
        <p:guide orient="horz" pos="2160"/>
        <p:guide pos="3863"/>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9.fntdata"/><Relationship Id="rId89" Type="http://schemas.openxmlformats.org/officeDocument/2006/relationships/viewProps" Target="viewProp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notesMaster" Target="notesMasters/notesMaster1.xml"/><Relationship Id="rId79" Type="http://schemas.openxmlformats.org/officeDocument/2006/relationships/font" Target="fonts/font4.fntdata"/><Relationship Id="rId5" Type="http://schemas.openxmlformats.org/officeDocument/2006/relationships/slide" Target="slides/slide1.xml"/><Relationship Id="rId90" Type="http://schemas.openxmlformats.org/officeDocument/2006/relationships/theme" Target="theme/theme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font" Target="fonts/font5.fntdata"/><Relationship Id="rId85" Type="http://schemas.openxmlformats.org/officeDocument/2006/relationships/font" Target="fonts/font10.fntdata"/><Relationship Id="rId93" Type="http://schemas.microsoft.com/office/2018/10/relationships/authors" Target="author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handoutMaster" Target="handoutMasters/handoutMaster1.xml"/><Relationship Id="rId83" Type="http://schemas.openxmlformats.org/officeDocument/2006/relationships/font" Target="fonts/font8.fntdata"/><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font" Target="fonts/font3.fntdata"/><Relationship Id="rId81" Type="http://schemas.openxmlformats.org/officeDocument/2006/relationships/font" Target="fonts/font6.fntdata"/><Relationship Id="rId86" Type="http://schemas.openxmlformats.org/officeDocument/2006/relationships/font" Target="fonts/font11.fntdata"/><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font" Target="fonts/font1.fntdata"/><Relationship Id="rId7" Type="http://schemas.openxmlformats.org/officeDocument/2006/relationships/slide" Target="slides/slide3.xml"/><Relationship Id="rId71" Type="http://schemas.openxmlformats.org/officeDocument/2006/relationships/slide" Target="slides/slide67.xml"/><Relationship Id="rId92" Type="http://schemas.microsoft.com/office/2015/10/relationships/revisionInfo" Target="revisionInfo.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font" Target="fonts/font12.fntdata"/><Relationship Id="rId61" Type="http://schemas.openxmlformats.org/officeDocument/2006/relationships/slide" Target="slides/slide57.xml"/><Relationship Id="rId82" Type="http://schemas.openxmlformats.org/officeDocument/2006/relationships/font" Target="fonts/font7.fntdata"/><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font" Target="fonts/font2.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9/02/2026</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9/02/2026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193358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Reviews may include a combination of question types, requiring students to recall facts and key ideas, as well as apply their knowledge to solve problems and answer questions. To support active engagement, a mix of techniques should be employed.” (AERO, 2024).</a:t>
            </a:r>
          </a:p>
          <a:p>
            <a:endParaRPr lang="en-AU" dirty="0"/>
          </a:p>
          <a:p>
            <a:r>
              <a:rPr lang="en-AU" dirty="0"/>
              <a:t>This Review of Learning slide deck revisits key concepts from the following units:</a:t>
            </a:r>
          </a:p>
          <a:p>
            <a:pPr marL="285750" indent="-285750">
              <a:buFont typeface="Arial" panose="020B0604020202020204" pitchFamily="34" charset="0"/>
              <a:buChar char="•"/>
            </a:pPr>
            <a:r>
              <a:rPr lang="en-AU" dirty="0"/>
              <a:t>Stage 2 Year A Unit 6</a:t>
            </a:r>
          </a:p>
          <a:p>
            <a:pPr marL="285750" indent="-285750">
              <a:buFont typeface="Arial" panose="020B0604020202020204" pitchFamily="34" charset="0"/>
              <a:buChar char="•"/>
            </a:pPr>
            <a:r>
              <a:rPr lang="en-AU" dirty="0"/>
              <a:t>Stage 2 Year A Unit 5</a:t>
            </a:r>
          </a:p>
          <a:p>
            <a:pPr marL="285750" indent="-285750">
              <a:buFont typeface="Arial" panose="020B0604020202020204" pitchFamily="34" charset="0"/>
              <a:buChar char="•"/>
            </a:pPr>
            <a:r>
              <a:rPr lang="en-AU" dirty="0"/>
              <a:t>Stage 2 Year A Unit 4</a:t>
            </a:r>
          </a:p>
          <a:p>
            <a:pPr marL="285750" indent="-285750">
              <a:buFont typeface="Arial" panose="020B0604020202020204" pitchFamily="34" charset="0"/>
              <a:buChar char="•"/>
            </a:pPr>
            <a:r>
              <a:rPr lang="en-AU" dirty="0"/>
              <a:t>Stage 1 (non-number content)</a:t>
            </a:r>
          </a:p>
          <a:p>
            <a:pPr marL="285750" indent="-285750">
              <a:buFont typeface="Arial" panose="020B0604020202020204" pitchFamily="34" charset="0"/>
              <a:buChar char="•"/>
            </a:pPr>
            <a:endParaRPr lang="en-AU" dirty="0"/>
          </a:p>
          <a:p>
            <a:r>
              <a:rPr lang="en-AU" dirty="0"/>
              <a:t>It also includes opportunities to review prior learning in non-number content, supporting consolidation across focus areas.</a:t>
            </a:r>
          </a:p>
          <a:p>
            <a:endParaRPr lang="en-AU" dirty="0"/>
          </a:p>
          <a:p>
            <a:r>
              <a:rPr lang="en-AU" dirty="0"/>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p>
          <a:p>
            <a:endParaRPr lang="en-AU" dirty="0"/>
          </a:p>
          <a:p>
            <a:r>
              <a:rPr lang="en-AU" b="1" dirty="0"/>
              <a:t>1.</a:t>
            </a:r>
          </a:p>
          <a:p>
            <a:r>
              <a:rPr lang="en-AU" b="1" dirty="0"/>
              <a:t>Multiple-choice questions/True or false: </a:t>
            </a:r>
            <a:r>
              <a:rPr lang="en-AU" dirty="0"/>
              <a:t>Designed to promote active retrieval of key concepts and identify common misconceptions in number, supporting consolidation, understanding and fluency.</a:t>
            </a:r>
            <a:br>
              <a:rPr lang="en-AU" dirty="0"/>
            </a:br>
            <a:r>
              <a:rPr lang="en-AU" dirty="0"/>
              <a:t>These questions:</a:t>
            </a:r>
          </a:p>
          <a:p>
            <a:endParaRPr lang="en-AU" dirty="0"/>
          </a:p>
          <a:p>
            <a:pPr marL="285750" indent="-285750">
              <a:buFont typeface="Wingdings" panose="05000000000000000000" pitchFamily="2" charset="2"/>
              <a:buChar char="ü"/>
            </a:pPr>
            <a:r>
              <a:rPr lang="en-AU" dirty="0"/>
              <a:t>support spaced and interleaved practice</a:t>
            </a:r>
          </a:p>
          <a:p>
            <a:pPr marL="285750" indent="-285750">
              <a:buFont typeface="Wingdings" panose="05000000000000000000" pitchFamily="2" charset="2"/>
              <a:buChar char="ü"/>
            </a:pPr>
            <a:r>
              <a:rPr lang="en-AU" dirty="0"/>
              <a:t>help identify and address common misconceptions </a:t>
            </a:r>
          </a:p>
          <a:p>
            <a:pPr marL="285750" indent="-285750">
              <a:buFont typeface="Wingdings" panose="05000000000000000000" pitchFamily="2" charset="2"/>
              <a:buChar char="ü"/>
            </a:pPr>
            <a:r>
              <a:rPr lang="en-AU" dirty="0"/>
              <a:t>support active recall and immediate feedback</a:t>
            </a:r>
          </a:p>
          <a:p>
            <a:pPr marL="285750" indent="-285750">
              <a:buFont typeface="Wingdings" panose="05000000000000000000" pitchFamily="2" charset="2"/>
              <a:buChar char="ü"/>
            </a:pPr>
            <a:r>
              <a:rPr lang="en-AU" dirty="0"/>
              <a:t>support whole class participation</a:t>
            </a:r>
          </a:p>
          <a:p>
            <a:pPr marL="285750" indent="-285750">
              <a:buFont typeface="Wingdings" panose="05000000000000000000" pitchFamily="2" charset="2"/>
              <a:buChar char="ü"/>
            </a:pPr>
            <a:r>
              <a:rPr lang="en-AU" dirty="0"/>
              <a:t>identify areas requiring reteach</a:t>
            </a:r>
          </a:p>
          <a:p>
            <a:endParaRPr lang="en-AU" dirty="0"/>
          </a:p>
          <a:p>
            <a:r>
              <a:rPr lang="en-AU" b="1" dirty="0"/>
              <a:t>2.</a:t>
            </a:r>
            <a:br>
              <a:rPr lang="en-AU" b="1" dirty="0"/>
            </a:br>
            <a:r>
              <a:rPr lang="en-AU" b="1" dirty="0"/>
              <a:t>Short-response question sets: </a:t>
            </a:r>
            <a:r>
              <a:rPr lang="en-AU" dirty="0"/>
              <a:t>Carefully grouped questions that encourage spaced and interleaved practice across multiple focus areas, helping students revisit and apply knowledge from different points in time.</a:t>
            </a:r>
            <a:br>
              <a:rPr lang="en-AU" dirty="0"/>
            </a:br>
            <a:r>
              <a:rPr lang="en-AU" dirty="0"/>
              <a:t>These questions:</a:t>
            </a:r>
          </a:p>
          <a:p>
            <a:endParaRPr lang="en-AU" dirty="0"/>
          </a:p>
          <a:p>
            <a:pPr marL="285750" indent="-285750">
              <a:buFont typeface="Wingdings" panose="05000000000000000000" pitchFamily="2" charset="2"/>
              <a:buChar char="ü"/>
            </a:pPr>
            <a:r>
              <a:rPr lang="en-AU" dirty="0"/>
              <a:t>have a combination of question types </a:t>
            </a:r>
          </a:p>
          <a:p>
            <a:pPr marL="285750" indent="-285750">
              <a:buFont typeface="Wingdings" panose="05000000000000000000" pitchFamily="2" charset="2"/>
              <a:buChar char="ü"/>
            </a:pPr>
            <a:r>
              <a:rPr lang="en-AU" dirty="0"/>
              <a:t>address a range of focus areas</a:t>
            </a:r>
          </a:p>
          <a:p>
            <a:pPr marL="285750" indent="-285750">
              <a:buFont typeface="Wingdings" panose="05000000000000000000" pitchFamily="2" charset="2"/>
              <a:buChar char="ü"/>
            </a:pPr>
            <a:r>
              <a:rPr lang="en-AU" dirty="0"/>
              <a:t>build automaticity and fluency</a:t>
            </a:r>
          </a:p>
          <a:p>
            <a:pPr marL="285750" indent="-285750">
              <a:buFont typeface="Wingdings" panose="05000000000000000000" pitchFamily="2" charset="2"/>
              <a:buChar char="ü"/>
            </a:pPr>
            <a:r>
              <a:rPr lang="en-AU" dirty="0"/>
              <a:t>support active recall </a:t>
            </a:r>
          </a:p>
          <a:p>
            <a:pPr marL="285750" indent="-285750">
              <a:buFont typeface="Wingdings" panose="05000000000000000000" pitchFamily="2" charset="2"/>
              <a:buChar char="ü"/>
            </a:pPr>
            <a:r>
              <a:rPr lang="en-AU" dirty="0"/>
              <a:t>allow for immediate feedback</a:t>
            </a:r>
          </a:p>
          <a:p>
            <a:pPr marL="285750" indent="-285750">
              <a:buFont typeface="Wingdings" panose="05000000000000000000" pitchFamily="2" charset="2"/>
              <a:buChar char="ü"/>
            </a:pPr>
            <a:r>
              <a:rPr lang="en-AU" dirty="0"/>
              <a:t>identify content requiring reteach</a:t>
            </a:r>
          </a:p>
          <a:p>
            <a:endParaRPr lang="en-AU" dirty="0"/>
          </a:p>
          <a:p>
            <a:r>
              <a:rPr lang="en-AU" b="1" dirty="0"/>
              <a:t>3.</a:t>
            </a:r>
          </a:p>
          <a:p>
            <a:r>
              <a:rPr lang="en-AU" b="1" dirty="0"/>
              <a:t>Developing number sense activities: </a:t>
            </a:r>
            <a:r>
              <a:rPr lang="en-AU" dirty="0"/>
              <a:t>A variety of practical, purposeful tasks that reinforce current learning and build on prior knowledge. These activities promote reasoning, problem-solving and conceptual understanding.</a:t>
            </a:r>
            <a:br>
              <a:rPr lang="en-AU" dirty="0"/>
            </a:br>
            <a:br>
              <a:rPr lang="en-AU" dirty="0"/>
            </a:br>
            <a:endParaRPr lang="en-AU" dirty="0"/>
          </a:p>
          <a:p>
            <a:r>
              <a:rPr lang="en-AU" dirty="0"/>
              <a:t>The review of learning resources are designed to work support teaching and learning in mathematics. For the most effective implementation, use the resources flexibly, adapting to meet student learning needs and individual classroom contexts.</a:t>
            </a:r>
          </a:p>
        </p:txBody>
      </p:sp>
      <p:sp>
        <p:nvSpPr>
          <p:cNvPr id="4" name="Slide Number Placeholder 3"/>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008813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a:t>Click lesson numbers to go to specific lessons</a:t>
            </a:r>
          </a:p>
          <a:p>
            <a:pPr marL="171450" indent="-171450">
              <a:buFont typeface="Arial"/>
              <a:buChar char="•"/>
            </a:pPr>
            <a:r>
              <a:rPr lang="en-AU">
                <a:cs typeface="Calibri"/>
              </a:rPr>
              <a:t>Interactive features can be viewed in slide show</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84D29-B4F5-A86B-480F-44D16C2AEE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6826A8-A5AE-3179-C5C9-8D9DF711AC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D7954E-9F4D-0D11-4B0B-3FF0F27CD732}"/>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a:t>
            </a:r>
            <a:r>
              <a:rPr lang="en-AU" dirty="0">
                <a:latin typeface="Arial"/>
                <a:cs typeface="Arial"/>
              </a:rPr>
              <a:t>1</a:t>
            </a:r>
            <a:r>
              <a:rPr lang="en-AU" sz="1600" b="0" i="0" dirty="0">
                <a:solidFill>
                  <a:schemeClr val="tx1"/>
                </a:solidFill>
                <a:latin typeface="Arial"/>
                <a:cs typeface="Arial"/>
              </a:rPr>
              <a:t>)</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Additive relations A</a:t>
            </a:r>
          </a:p>
        </p:txBody>
      </p:sp>
      <p:sp>
        <p:nvSpPr>
          <p:cNvPr id="4" name="Slide Number Placeholder 3">
            <a:extLst>
              <a:ext uri="{FF2B5EF4-FFF2-40B4-BE49-F238E27FC236}">
                <a16:creationId xmlns:a16="http://schemas.microsoft.com/office/drawing/2014/main" id="{A00CD198-B3C3-B3AF-86B2-4D9C310AEBD8}"/>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37299477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kern="1200" dirty="0">
                <a:solidFill>
                  <a:schemeClr val="tx1"/>
                </a:solidFill>
                <a:effectLst/>
                <a:latin typeface="Arial" panose="020B0604020202020204" pitchFamily="34" charset="0"/>
                <a:ea typeface="+mn-ea"/>
                <a:cs typeface="Arial" panose="020B0604020202020204" pitchFamily="34" charset="0"/>
              </a:rPr>
              <a:t>Representing numbers using place value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2015271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E93AC-3723-7BD7-ADC3-52B990D37C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6CB4EC-6A18-7EDB-DA25-1D7DCD3F35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DD94B-03A7-4BE3-3DC6-FBCD0E53CF11}"/>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i="0" dirty="0">
                <a:solidFill>
                  <a:schemeClr val="tx1"/>
                </a:solidFill>
                <a:latin typeface="Arial"/>
                <a:cs typeface="Arial"/>
              </a:rPr>
              <a:t>Data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523DEE-1850-6F8B-E4C0-003DC76B97AC}"/>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8929509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AA5DC-5346-6496-E50A-627900C76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F893E-77C8-9FE3-F2E1-569411DD2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9FFFA4-D314-0D12-F2DB-A84ED5285E01}"/>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Partitioned fractions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C12CB1F-4BE7-7218-BE74-35A8BE7058F4}"/>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1243443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EB86B-E4DE-73C3-F794-C15C0B9E1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B38E0-6D6D-6B33-AD6B-85EF6722A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9C22BD-B1C4-666B-422D-5FAF088CD36E}"/>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i="0" dirty="0">
                <a:solidFill>
                  <a:schemeClr val="tx1"/>
                </a:solidFill>
                <a:latin typeface="Arial"/>
                <a:cs typeface="Arial"/>
              </a:rPr>
              <a:t>Non-spatial measure B (</a:t>
            </a:r>
            <a:r>
              <a:rPr lang="en-AU" sz="1600" b="1" i="0" dirty="0">
                <a:solidFill>
                  <a:schemeClr val="tx1"/>
                </a:solidFill>
                <a:latin typeface="Arial"/>
                <a:cs typeface="Arial"/>
              </a:rPr>
              <a:t>Note: </a:t>
            </a:r>
            <a:r>
              <a:rPr lang="en-AU" sz="1600" i="0" dirty="0">
                <a:solidFill>
                  <a:schemeClr val="tx1"/>
                </a:solidFill>
                <a:latin typeface="Arial"/>
                <a:cs typeface="Arial"/>
              </a:rPr>
              <a:t>Stage 1 content reviewed)</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F7102AC-F76D-5520-FFA6-0732CFB27A0D}"/>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805232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1293A-ACA0-181C-3343-03B9753F5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A34DF-F40A-E614-1AB8-591BE945AE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D5BA51-EFD0-1051-0159-B701E597365D}"/>
              </a:ext>
            </a:extLst>
          </p:cNvPr>
          <p:cNvSpPr>
            <a:spLocks noGrp="1"/>
          </p:cNvSpPr>
          <p:nvPr>
            <p:ph type="body" idx="1"/>
          </p:nvPr>
        </p:nvSpPr>
        <p:spPr/>
        <p:txBody>
          <a:bodyPr/>
          <a:lstStyle/>
          <a:p>
            <a:r>
              <a:rPr lang="en-AU" dirty="0">
                <a:latin typeface="Arial"/>
                <a:cs typeface="Arial"/>
              </a:rPr>
              <a:t>This is a developing number sense activity. </a:t>
            </a:r>
            <a:endParaRPr lang="en-AU" dirty="0"/>
          </a:p>
          <a:p>
            <a:endParaRPr lang="en-AU" dirty="0">
              <a:latin typeface="Arial"/>
              <a:cs typeface="Arial"/>
            </a:endParaRPr>
          </a:p>
          <a:p>
            <a:r>
              <a:rPr lang="en-AU" dirty="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b="1" dirty="0"/>
          </a:p>
          <a:p>
            <a:endParaRPr lang="en-AU" b="1" dirty="0">
              <a:latin typeface="Arial"/>
              <a:cs typeface="Arial"/>
            </a:endParaRPr>
          </a:p>
          <a:p>
            <a:r>
              <a:rPr lang="en-AU" b="1" dirty="0">
                <a:latin typeface="Arial"/>
                <a:cs typeface="Arial"/>
              </a:rPr>
              <a:t>Syllabus focus area:</a:t>
            </a:r>
            <a:endParaRPr lang="en-AU" dirty="0">
              <a:latin typeface="Arial"/>
              <a:cs typeface="Arial"/>
            </a:endParaRPr>
          </a:p>
          <a:p>
            <a:r>
              <a:rPr lang="en-AU" dirty="0">
                <a:latin typeface="Arial"/>
                <a:cs typeface="Arial"/>
              </a:rPr>
              <a:t>Additive relations A</a:t>
            </a:r>
          </a:p>
          <a:p>
            <a:endParaRPr lang="en-AU" b="1" dirty="0">
              <a:latin typeface="Arial"/>
              <a:cs typeface="Arial"/>
            </a:endParaRPr>
          </a:p>
          <a:p>
            <a:r>
              <a:rPr lang="en-AU" b="1" dirty="0">
                <a:latin typeface="Arial"/>
                <a:cs typeface="Arial"/>
              </a:rPr>
              <a:t>Equals sign means 'the same as'</a:t>
            </a:r>
          </a:p>
          <a:p>
            <a:pPr marL="285750" indent="-285750">
              <a:buFont typeface="Arial"/>
              <a:buChar char="•"/>
            </a:pPr>
            <a:endParaRPr lang="en-AU" dirty="0">
              <a:latin typeface="Arial"/>
              <a:cs typeface="Arial"/>
            </a:endParaRPr>
          </a:p>
          <a:p>
            <a:r>
              <a:rPr lang="en-AU" dirty="0">
                <a:latin typeface="Arial"/>
                <a:cs typeface="Arial"/>
              </a:rPr>
              <a:t>This activity is an adaptation of </a:t>
            </a:r>
            <a:r>
              <a:rPr lang="en-AU" i="1" dirty="0">
                <a:latin typeface="Arial"/>
                <a:cs typeface="Arial"/>
              </a:rPr>
              <a:t>Balancing Act – A dice game [PDF 250 KB]</a:t>
            </a:r>
            <a:r>
              <a:rPr lang="en-AU" dirty="0">
                <a:latin typeface="Arial"/>
                <a:cs typeface="Arial"/>
              </a:rPr>
              <a:t> from Primary Learning.</a:t>
            </a:r>
          </a:p>
          <a:p>
            <a:endParaRPr lang="en-AU" dirty="0">
              <a:latin typeface="Arial"/>
              <a:cs typeface="Arial"/>
            </a:endParaRPr>
          </a:p>
          <a:p>
            <a:pPr marL="342900" indent="-342900">
              <a:buFont typeface="Arial"/>
              <a:buChar char="•"/>
            </a:pPr>
            <a:r>
              <a:rPr lang="en-AU" dirty="0">
                <a:latin typeface="Arial"/>
                <a:cs typeface="Arial"/>
              </a:rPr>
              <a:t>Students play in pairs. Each pair are given a 6-sided die, an individual whiteboard and whiteboard marker.</a:t>
            </a:r>
          </a:p>
          <a:p>
            <a:pPr marL="342900" indent="-342900">
              <a:buFont typeface="Arial"/>
              <a:buChar char="•"/>
            </a:pPr>
            <a:r>
              <a:rPr lang="en-AU" dirty="0">
                <a:latin typeface="Arial"/>
                <a:cs typeface="Arial"/>
              </a:rPr>
              <a:t>Student A rolls the die 10 times and tries to use as many of the numbers as they can to make a number sentence that balances. For example, if they roll a 1, 1, 2, 2, 2, 3, 4, 4, 5, 6 they could make the number sentence 6 + 5 + 4 = 4 + 3 + 1 + 2 + 2 + 2 + 1 (both sides equal 15).</a:t>
            </a:r>
          </a:p>
          <a:p>
            <a:pPr marL="342900" indent="-342900">
              <a:buFont typeface="Arial"/>
              <a:buChar char="•"/>
            </a:pPr>
            <a:r>
              <a:rPr lang="en-AU" dirty="0">
                <a:latin typeface="Arial"/>
                <a:cs typeface="Arial"/>
              </a:rPr>
              <a:t>Students write their equation on the whiteboard for their partner to check and must include at least one plus sign on either side of their equation.</a:t>
            </a:r>
          </a:p>
          <a:p>
            <a:pPr marL="342900" indent="-342900">
              <a:buFont typeface="Arial"/>
              <a:buChar char="•"/>
            </a:pPr>
            <a:endParaRPr lang="en-AU" b="1" dirty="0"/>
          </a:p>
          <a:p>
            <a:pPr marL="342900" indent="-342900">
              <a:buFont typeface="Arial"/>
              <a:buChar char="•"/>
            </a:pPr>
            <a:endParaRPr lang="en-AU" dirty="0"/>
          </a:p>
          <a:p>
            <a:endParaRPr lang="en-AU" dirty="0"/>
          </a:p>
        </p:txBody>
      </p:sp>
      <p:sp>
        <p:nvSpPr>
          <p:cNvPr id="4" name="Slide Number Placeholder 3">
            <a:extLst>
              <a:ext uri="{FF2B5EF4-FFF2-40B4-BE49-F238E27FC236}">
                <a16:creationId xmlns:a16="http://schemas.microsoft.com/office/drawing/2014/main" id="{366CB7F3-C8D4-58F8-3AEE-E8514DAE136E}"/>
              </a:ext>
            </a:extLst>
          </p:cNvPr>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29155965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E144-6368-170B-8DA4-670B1C3D0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E9757-8C6B-F81D-9C0D-C6268C969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7F240-21FF-8986-C44B-3C887372C581}"/>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C2BA03A-216B-16E6-14C0-97AFF5EB3638}"/>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21872838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B1C04-6FEB-250D-63C2-367347074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1FEE9-C351-590B-FAE2-EAE2B6B9A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466A9-D491-FA43-72DA-90EF16FC513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2)</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Additive relations A</a:t>
            </a:r>
          </a:p>
        </p:txBody>
      </p:sp>
      <p:sp>
        <p:nvSpPr>
          <p:cNvPr id="4" name="Slide Number Placeholder 3">
            <a:extLst>
              <a:ext uri="{FF2B5EF4-FFF2-40B4-BE49-F238E27FC236}">
                <a16:creationId xmlns:a16="http://schemas.microsoft.com/office/drawing/2014/main" id="{335C0D79-4D8F-FF5C-70C7-6DF8F997051A}"/>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20520847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7B5D-03CC-5CEC-A3EB-1E59D8CAF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B7E80-EABB-1C39-5313-B4A3AD15F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D537F6-925D-5584-F18D-3EDE7D241D67}"/>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i="0" dirty="0">
                <a:solidFill>
                  <a:schemeClr val="tx1"/>
                </a:solidFill>
                <a:latin typeface="Arial"/>
                <a:cs typeface="Arial"/>
              </a:rPr>
              <a:t>Representing number using place value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98F3768-A034-3C0D-6695-0FF8CE8DCC83}"/>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12757177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1957-37CB-22ED-655F-1FF375858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04F12-B5F3-C3DD-399D-DA978ACD2A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D5BBD-B48A-DBF2-DD77-C00A6522095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Data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AF8CE9-E4A5-A7C2-D2A0-31891536A971}"/>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6220390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D4C57-6045-AB0E-671E-EC0E14C02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81149-5C94-1283-6077-F0E5B1CF7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B8C4D-555B-E702-8712-5039987854C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b="0"/>
              <a:t>Partitioned fractions A</a:t>
            </a:r>
          </a:p>
        </p:txBody>
      </p:sp>
      <p:sp>
        <p:nvSpPr>
          <p:cNvPr id="4" name="Slide Number Placeholder 3">
            <a:extLst>
              <a:ext uri="{FF2B5EF4-FFF2-40B4-BE49-F238E27FC236}">
                <a16:creationId xmlns:a16="http://schemas.microsoft.com/office/drawing/2014/main" id="{C66A0B8C-6089-7AFA-24BA-C5DA3F260D41}"/>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0636120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F1762-6B1B-7910-D7E9-05CB9F1F0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790E7-BF47-798B-48D4-65DCA6CF9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D8BDD6-6756-877A-0B16-706287D5F17B}"/>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i="0" dirty="0">
                <a:solidFill>
                  <a:schemeClr val="tx1"/>
                </a:solidFill>
                <a:latin typeface="Arial"/>
                <a:cs typeface="Arial"/>
              </a:rPr>
              <a:t>Non-spatial measure B (</a:t>
            </a:r>
            <a:r>
              <a:rPr lang="en-AU" sz="1600" b="1" i="0" dirty="0">
                <a:solidFill>
                  <a:schemeClr val="tx1"/>
                </a:solidFill>
                <a:latin typeface="Arial"/>
                <a:cs typeface="Arial"/>
              </a:rPr>
              <a:t>Note: </a:t>
            </a:r>
            <a:r>
              <a:rPr lang="en-AU" sz="1600" i="0" dirty="0">
                <a:solidFill>
                  <a:schemeClr val="tx1"/>
                </a:solidFill>
                <a:latin typeface="Arial"/>
                <a:cs typeface="Arial"/>
              </a:rPr>
              <a:t>Stage 1 content reviewed)</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410BE7-9EE3-D2B2-AB59-C7EC71A23A65}"/>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9344892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67566-822C-331E-5FDF-63BF85923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C742F-F5FE-204E-3BB9-AF03DC4DD4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1210D7-4F5C-F395-88C9-169EC0C2B6DB}"/>
              </a:ext>
            </a:extLst>
          </p:cNvPr>
          <p:cNvSpPr>
            <a:spLocks noGrp="1"/>
          </p:cNvSpPr>
          <p:nvPr>
            <p:ph type="body" idx="1"/>
          </p:nvPr>
        </p:nvSpPr>
        <p:spPr/>
        <p:txBody>
          <a:bodyPr/>
          <a:lstStyle/>
          <a:p>
            <a:r>
              <a:rPr lang="en-AU" dirty="0">
                <a:latin typeface="Arial"/>
                <a:cs typeface="Arial"/>
              </a:rPr>
              <a:t>This is a developing number sense activity. </a:t>
            </a:r>
            <a:endParaRPr lang="en-US" dirty="0">
              <a:latin typeface="Arial"/>
              <a:cs typeface="Arial"/>
            </a:endParaRPr>
          </a:p>
          <a:p>
            <a:endParaRPr lang="en-AU" dirty="0">
              <a:latin typeface="Arial"/>
              <a:cs typeface="Arial"/>
            </a:endParaRPr>
          </a:p>
          <a:p>
            <a:r>
              <a:rPr lang="en-AU" dirty="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b="1" dirty="0"/>
          </a:p>
          <a:p>
            <a:r>
              <a:rPr lang="en-AU" b="1" dirty="0">
                <a:latin typeface="Arial"/>
                <a:cs typeface="Arial"/>
              </a:rPr>
              <a:t>Syllabus focus area:</a:t>
            </a:r>
            <a:endParaRPr lang="en-AU" dirty="0">
              <a:latin typeface="Arial"/>
              <a:cs typeface="Arial"/>
            </a:endParaRPr>
          </a:p>
          <a:p>
            <a:r>
              <a:rPr lang="en-AU" dirty="0">
                <a:latin typeface="Arial"/>
                <a:cs typeface="Arial"/>
              </a:rPr>
              <a:t>Additive relations A</a:t>
            </a:r>
          </a:p>
          <a:p>
            <a:endParaRPr lang="en-AU" dirty="0">
              <a:solidFill>
                <a:srgbClr val="000000"/>
              </a:solidFill>
              <a:latin typeface="Arial"/>
              <a:cs typeface="Arial"/>
            </a:endParaRPr>
          </a:p>
          <a:p>
            <a:r>
              <a:rPr lang="en-AU" b="1" dirty="0">
                <a:latin typeface="Arial"/>
                <a:cs typeface="Arial"/>
              </a:rPr>
              <a:t>Equivalent number sentences</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dirty="0">
                <a:solidFill>
                  <a:srgbClr val="000000"/>
                </a:solidFill>
                <a:latin typeface="Arial"/>
                <a:cs typeface="Arial"/>
              </a:rPr>
              <a:t>This resource corresponds to Resource 17 – true or false? in Stage 2 Unit 6. </a:t>
            </a:r>
            <a:endParaRPr lang="en-AU" dirty="0">
              <a:latin typeface="Arial"/>
              <a:cs typeface="Arial"/>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dirty="0">
                <a:latin typeface="Arial"/>
                <a:cs typeface="Arial"/>
              </a:rPr>
              <a:t>This activity is an adaptation of </a:t>
            </a:r>
            <a:r>
              <a:rPr lang="en-AU" i="1" dirty="0">
                <a:latin typeface="Arial"/>
                <a:cs typeface="Arial"/>
              </a:rPr>
              <a:t>True or false?</a:t>
            </a:r>
            <a:r>
              <a:rPr lang="en-AU" dirty="0">
                <a:latin typeface="Arial"/>
                <a:cs typeface="Arial"/>
              </a:rPr>
              <a:t> from NRICH by the University of Cambridge.</a:t>
            </a:r>
          </a:p>
          <a:p>
            <a:endParaRPr lang="en-AU" dirty="0">
              <a:latin typeface="Arial"/>
              <a:cs typeface="Arial"/>
            </a:endParaRPr>
          </a:p>
          <a:p>
            <a:pPr marL="342900" indent="-342900">
              <a:buFont typeface="Arial"/>
              <a:buChar char="•"/>
            </a:pPr>
            <a:r>
              <a:rPr lang="en-AU" dirty="0">
                <a:latin typeface="Arial"/>
                <a:cs typeface="Arial"/>
              </a:rPr>
              <a:t>Ask students if the number sentence is true or false. Students turn and talk to a partner to justify their answer.</a:t>
            </a:r>
          </a:p>
          <a:p>
            <a:pPr marL="342900" indent="-342900">
              <a:buFont typeface="Arial"/>
              <a:buChar char="•"/>
            </a:pPr>
            <a:r>
              <a:rPr lang="en-AU" dirty="0">
                <a:latin typeface="Arial"/>
                <a:cs typeface="Arial"/>
              </a:rPr>
              <a:t>Ask students how they know whether a particular number sentence is true or false.</a:t>
            </a:r>
          </a:p>
          <a:p>
            <a:pPr marL="342900" indent="-342900">
              <a:buFont typeface="Arial"/>
              <a:buChar char="•"/>
            </a:pPr>
            <a:r>
              <a:rPr lang="en-AU" dirty="0">
                <a:latin typeface="Arial"/>
                <a:cs typeface="Arial"/>
              </a:rPr>
              <a:t>Emphasise to students that ‘=’ means ‘has the same value as’ and not just the ‘total’ or the ‘answer’.</a:t>
            </a:r>
          </a:p>
          <a:p>
            <a:pPr marL="342900" indent="-342900">
              <a:buFont typeface="Arial"/>
              <a:buChar char="•"/>
            </a:pPr>
            <a:endParaRPr lang="en-AU" dirty="0">
              <a:latin typeface="Arial"/>
              <a:cs typeface="Arial"/>
            </a:endParaRPr>
          </a:p>
          <a:p>
            <a:pPr marL="342900" indent="-342900">
              <a:buFont typeface="Arial"/>
              <a:buChar char="•"/>
            </a:pPr>
            <a:r>
              <a:rPr lang="en-AU" dirty="0">
                <a:latin typeface="Arial"/>
                <a:cs typeface="Arial"/>
              </a:rPr>
              <a:t>NEXT SLIDE: </a:t>
            </a:r>
          </a:p>
          <a:p>
            <a:pPr marL="342900" indent="-342900">
              <a:buFont typeface="Arial"/>
              <a:buChar char="•"/>
            </a:pPr>
            <a:r>
              <a:rPr lang="en-AU" dirty="0">
                <a:latin typeface="Arial"/>
                <a:cs typeface="Arial"/>
              </a:rPr>
              <a:t>Resource 17– True or false? and ask students:</a:t>
            </a:r>
          </a:p>
          <a:p>
            <a:r>
              <a:rPr lang="en-AU" dirty="0">
                <a:latin typeface="Arial"/>
                <a:cs typeface="Arial"/>
              </a:rPr>
              <a:t>   Which statements are true?</a:t>
            </a:r>
          </a:p>
          <a:p>
            <a:r>
              <a:rPr lang="en-AU" dirty="0">
                <a:latin typeface="Arial"/>
                <a:cs typeface="Arial"/>
              </a:rPr>
              <a:t>   Which are false?</a:t>
            </a:r>
          </a:p>
          <a:p>
            <a:r>
              <a:rPr lang="en-AU" dirty="0">
                <a:latin typeface="Arial"/>
                <a:cs typeface="Arial"/>
              </a:rPr>
              <a:t>   How do you know?</a:t>
            </a:r>
          </a:p>
          <a:p>
            <a:r>
              <a:rPr lang="en-AU" dirty="0">
                <a:latin typeface="Arial"/>
                <a:cs typeface="Arial"/>
              </a:rPr>
              <a:t>   Can you decide without doing any calculating?</a:t>
            </a:r>
          </a:p>
          <a:p>
            <a:pPr marL="285750" indent="-285750">
              <a:buFont typeface="Arial"/>
              <a:buChar char="•"/>
            </a:pPr>
            <a:r>
              <a:rPr lang="en-AU" dirty="0">
                <a:latin typeface="Arial"/>
                <a:cs typeface="Arial"/>
              </a:rPr>
              <a:t> Go through each number sentence one by one as a class.</a:t>
            </a:r>
          </a:p>
          <a:p>
            <a:pPr marL="285750" indent="-285750">
              <a:buFont typeface="Arial"/>
              <a:buChar char="•"/>
            </a:pPr>
            <a:endParaRPr lang="en-AU" b="0" dirty="0"/>
          </a:p>
          <a:p>
            <a:endParaRPr lang="en-AU" b="1" dirty="0"/>
          </a:p>
          <a:p>
            <a:pPr marL="342900" indent="-342900">
              <a:buFont typeface="Arial" panose="020F0302020204030204"/>
              <a:buChar char="•"/>
            </a:pPr>
            <a:endParaRPr lang="en-AU" dirty="0"/>
          </a:p>
          <a:p>
            <a:endParaRPr lang="en-AU" dirty="0"/>
          </a:p>
        </p:txBody>
      </p:sp>
      <p:sp>
        <p:nvSpPr>
          <p:cNvPr id="4" name="Slide Number Placeholder 3">
            <a:extLst>
              <a:ext uri="{FF2B5EF4-FFF2-40B4-BE49-F238E27FC236}">
                <a16:creationId xmlns:a16="http://schemas.microsoft.com/office/drawing/2014/main" id="{889ECE03-A21E-964D-516E-668B074B3F60}"/>
              </a:ext>
            </a:extLst>
          </p:cNvPr>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33240111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latin typeface="Arial"/>
                <a:cs typeface="Arial"/>
              </a:rPr>
              <a:t>This is a developing number sense activity. </a:t>
            </a:r>
            <a:endParaRPr lang="en-AU" dirty="0"/>
          </a:p>
          <a:p>
            <a:endParaRPr lang="en-AU" dirty="0">
              <a:latin typeface="Arial"/>
              <a:cs typeface="Arial"/>
            </a:endParaRPr>
          </a:p>
          <a:p>
            <a:r>
              <a:rPr lang="en-AU" dirty="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b="1" dirty="0"/>
          </a:p>
          <a:p>
            <a:endParaRPr lang="en-AU" b="1" dirty="0">
              <a:latin typeface="Arial"/>
              <a:cs typeface="Arial"/>
            </a:endParaRPr>
          </a:p>
          <a:p>
            <a:r>
              <a:rPr lang="en-AU" b="1" dirty="0">
                <a:latin typeface="Arial"/>
                <a:cs typeface="Arial"/>
              </a:rPr>
              <a:t>Syllabus focus area:</a:t>
            </a:r>
            <a:endParaRPr lang="en-AU" dirty="0">
              <a:latin typeface="Arial"/>
              <a:cs typeface="Arial"/>
            </a:endParaRPr>
          </a:p>
          <a:p>
            <a:r>
              <a:rPr lang="en-AU" dirty="0">
                <a:latin typeface="Arial"/>
                <a:cs typeface="Arial"/>
              </a:rPr>
              <a:t>Additive relations A</a:t>
            </a:r>
          </a:p>
          <a:p>
            <a:endParaRPr lang="en-AU" b="1" dirty="0">
              <a:solidFill>
                <a:srgbClr val="002664"/>
              </a:solidFill>
              <a:latin typeface="Arial"/>
              <a:cs typeface="Arial"/>
            </a:endParaRPr>
          </a:p>
          <a:p>
            <a:r>
              <a:rPr lang="en-AU" b="1" dirty="0">
                <a:solidFill>
                  <a:srgbClr val="002664"/>
                </a:solidFill>
                <a:latin typeface="Arial"/>
                <a:cs typeface="Arial"/>
              </a:rPr>
              <a:t>Equivalent number sentences continued</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dirty="0">
                <a:solidFill>
                  <a:srgbClr val="000000"/>
                </a:solidFill>
                <a:latin typeface="Arial"/>
                <a:cs typeface="Arial"/>
              </a:rPr>
              <a:t>This resource corresponds to Resource 17 – true or false? in Stage 2 Unit 6. </a:t>
            </a:r>
            <a:endParaRPr lang="en-AU" dirty="0">
              <a:latin typeface="Arial"/>
              <a:cs typeface="Arial"/>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dirty="0">
                <a:latin typeface="Arial"/>
                <a:cs typeface="Arial"/>
              </a:rPr>
              <a:t>This activity is an adaptation of </a:t>
            </a:r>
            <a:r>
              <a:rPr lang="en-AU" i="1" dirty="0">
                <a:latin typeface="Arial"/>
                <a:cs typeface="Arial"/>
              </a:rPr>
              <a:t>True or false?</a:t>
            </a:r>
            <a:r>
              <a:rPr lang="en-AU" dirty="0">
                <a:latin typeface="Arial"/>
                <a:cs typeface="Arial"/>
              </a:rPr>
              <a:t> from NRICH by the University of Cambridge.</a:t>
            </a:r>
          </a:p>
          <a:p>
            <a:endParaRPr lang="en-AU" dirty="0">
              <a:latin typeface="Arial"/>
              <a:cs typeface="Arial"/>
            </a:endParaRPr>
          </a:p>
          <a:p>
            <a:r>
              <a:rPr lang="en-AU" dirty="0">
                <a:latin typeface="Arial"/>
                <a:cs typeface="Arial"/>
              </a:rPr>
              <a:t>Ask students:</a:t>
            </a:r>
          </a:p>
          <a:p>
            <a:r>
              <a:rPr lang="en-AU" dirty="0">
                <a:latin typeface="Arial"/>
                <a:cs typeface="Arial"/>
              </a:rPr>
              <a:t>   Which statements are true?</a:t>
            </a:r>
          </a:p>
          <a:p>
            <a:r>
              <a:rPr lang="en-AU" dirty="0">
                <a:latin typeface="Arial"/>
                <a:cs typeface="Arial"/>
              </a:rPr>
              <a:t>   Which are false?</a:t>
            </a:r>
          </a:p>
          <a:p>
            <a:r>
              <a:rPr lang="en-AU" dirty="0">
                <a:latin typeface="Arial"/>
                <a:cs typeface="Arial"/>
              </a:rPr>
              <a:t>   How do you know?</a:t>
            </a:r>
          </a:p>
          <a:p>
            <a:r>
              <a:rPr lang="en-AU" dirty="0">
                <a:latin typeface="Arial"/>
                <a:cs typeface="Arial"/>
              </a:rPr>
              <a:t>   Can you decide without doing any calculating?</a:t>
            </a:r>
          </a:p>
          <a:p>
            <a:pPr marL="285750" indent="-285750">
              <a:buFont typeface="Arial"/>
              <a:buChar char="•"/>
            </a:pPr>
            <a:r>
              <a:rPr lang="en-AU" dirty="0">
                <a:latin typeface="Arial"/>
                <a:cs typeface="Arial"/>
              </a:rPr>
              <a:t> Go through each number sentence one by one as a class.</a:t>
            </a:r>
          </a:p>
          <a:p>
            <a:endParaRPr lang="en-AU" b="1" dirty="0">
              <a:solidFill>
                <a:srgbClr val="002664"/>
              </a:solidFill>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17070441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B0071-6D83-491B-87D9-D91F9F51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47847-8441-5351-352B-27E3A1C096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E9331-0D17-BC5D-F23B-6C96CFA74E4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880D4E9-0C6D-F114-415D-92C511B7277D}"/>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25800484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80149-0CB0-EDDD-5B08-8F680C7A71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C2F04F-A596-FC76-5186-7631AA37EF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0421AD-6A32-B849-3496-F3785A5CCA51}"/>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latin typeface="Arial"/>
                <a:cs typeface="Arial"/>
              </a:rPr>
              <a:t>Additive relations A</a:t>
            </a:r>
          </a:p>
        </p:txBody>
      </p:sp>
      <p:sp>
        <p:nvSpPr>
          <p:cNvPr id="4" name="Slide Number Placeholder 3">
            <a:extLst>
              <a:ext uri="{FF2B5EF4-FFF2-40B4-BE49-F238E27FC236}">
                <a16:creationId xmlns:a16="http://schemas.microsoft.com/office/drawing/2014/main" id="{AA748202-3E97-0613-B01D-37F69F9E7D13}"/>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22527051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FED08-B5FE-FC1F-FD00-5453D9B6A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65B7C-7F80-5109-C77F-F3696C07A0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F1AA4-F995-0002-8AAE-1D902ABEA6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pPr marL="0" marR="0" lvl="0" indent="0" algn="l" defTabSz="1219170" rtl="0" eaLnBrk="1" fontAlgn="auto" latinLnBrk="0" hangingPunct="1">
              <a:lnSpc>
                <a:spcPct val="100000"/>
              </a:lnSpc>
              <a:spcBef>
                <a:spcPts val="0"/>
              </a:spcBef>
              <a:spcAft>
                <a:spcPts val="0"/>
              </a:spcAft>
              <a:buClrTx/>
              <a:buSzTx/>
              <a:buFontTx/>
              <a:buNone/>
              <a:tabLst/>
              <a:defRPr/>
            </a:pPr>
            <a:r>
              <a:rPr lang="en-AU" b="1"/>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i="0">
                <a:solidFill>
                  <a:schemeClr val="tx1"/>
                </a:solidFill>
                <a:latin typeface="Arial"/>
                <a:cs typeface="Arial"/>
              </a:rPr>
              <a:t>Representing number using place value A</a:t>
            </a:r>
            <a:endParaRPr lang="en-AU" sz="1600" i="0">
              <a:solidFill>
                <a:schemeClr val="tx1"/>
              </a:solidFill>
              <a:latin typeface="Arial" panose="020B0604020202020204" pitchFamily="34" charset="0"/>
              <a:cs typeface="Arial" panose="020B0604020202020204" pitchFamily="34" charset="0"/>
            </a:endParaRPr>
          </a:p>
          <a:p>
            <a:endParaRPr lang="en-AU" b="1"/>
          </a:p>
        </p:txBody>
      </p:sp>
      <p:sp>
        <p:nvSpPr>
          <p:cNvPr id="4" name="Slide Number Placeholder 3">
            <a:extLst>
              <a:ext uri="{FF2B5EF4-FFF2-40B4-BE49-F238E27FC236}">
                <a16:creationId xmlns:a16="http://schemas.microsoft.com/office/drawing/2014/main" id="{1A29EA8C-3E94-B009-565F-7C0388062C7E}"/>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37221427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DAD2-BC75-474C-281B-03B15440D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3558A-0F49-BFA8-C859-8BA0CFF69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B09B3-BD05-50CB-7CE8-E8F3F11C893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b="0"/>
              <a:t>Data A</a:t>
            </a:r>
            <a:endParaRPr lang="en-AU" sz="1600" b="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F38D5F0-35F9-4ED4-9973-07488D5155D9}"/>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6369782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F8757-48C8-BC0B-A2EC-4B071C000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5F7F6-7049-41AD-27D4-DE9D42964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76780-9CD4-51EA-5782-75AFC89B09C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b="0"/>
              <a:t>Partitioned fractions A</a:t>
            </a:r>
          </a:p>
          <a:p>
            <a:pPr>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B062400-1A0E-9153-7D29-B2EECE2ADA1F}"/>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32081005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46E4-A4D3-ACCA-68D8-9C73C11B2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5AF9E-4B5E-989D-9866-2AD0A9C82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847B3-D2E9-3BD6-B10A-D87BD6414E5B}"/>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i="0" dirty="0">
                <a:solidFill>
                  <a:schemeClr val="tx1"/>
                </a:solidFill>
                <a:latin typeface="Arial"/>
                <a:cs typeface="Arial"/>
              </a:rPr>
              <a:t>Non-spatial measure B (</a:t>
            </a:r>
            <a:r>
              <a:rPr lang="en-AU" sz="1600" b="1" i="0" dirty="0">
                <a:solidFill>
                  <a:schemeClr val="tx1"/>
                </a:solidFill>
                <a:latin typeface="Arial"/>
                <a:cs typeface="Arial"/>
              </a:rPr>
              <a:t>Note: </a:t>
            </a:r>
            <a:r>
              <a:rPr lang="en-AU" sz="1600" i="0" dirty="0">
                <a:solidFill>
                  <a:schemeClr val="tx1"/>
                </a:solidFill>
                <a:latin typeface="Arial"/>
                <a:cs typeface="Arial"/>
              </a:rPr>
              <a:t>Stage 1 content reviewed)</a:t>
            </a:r>
            <a:endParaRPr lang="en-AU" sz="1600" i="0" dirty="0">
              <a:solidFill>
                <a:schemeClr val="tx1"/>
              </a:solidFill>
              <a:latin typeface="Arial" panose="020B0604020202020204" pitchFamily="34" charset="0"/>
              <a:cs typeface="Arial" panose="020B0604020202020204" pitchFamily="34" charset="0"/>
            </a:endParaRPr>
          </a:p>
          <a:p>
            <a:endParaRPr lang="en-AU" b="1" dirty="0"/>
          </a:p>
        </p:txBody>
      </p:sp>
      <p:sp>
        <p:nvSpPr>
          <p:cNvPr id="4" name="Slide Number Placeholder 3">
            <a:extLst>
              <a:ext uri="{FF2B5EF4-FFF2-40B4-BE49-F238E27FC236}">
                <a16:creationId xmlns:a16="http://schemas.microsoft.com/office/drawing/2014/main" id="{791E6D43-E1C2-968D-25C5-69AF215362A9}"/>
              </a:ext>
            </a:extLst>
          </p:cNvPr>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26638420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6D09E-2538-67C5-A171-741A0407E9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294EF9-C5FF-6A99-B06D-E60D2E2A99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1EA6DF-BECC-03F2-F321-ADAC2B4C90F5}"/>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latin typeface="Arial"/>
                <a:cs typeface="Arial"/>
              </a:rPr>
              <a:t>Additive relations A</a:t>
            </a:r>
          </a:p>
          <a:p>
            <a:endParaRPr lang="en-AU" dirty="0"/>
          </a:p>
          <a:p>
            <a:endParaRPr lang="en-AU" dirty="0"/>
          </a:p>
          <a:p>
            <a:r>
              <a:rPr lang="en-AU" b="1" dirty="0">
                <a:latin typeface="Arial"/>
                <a:cs typeface="Arial"/>
              </a:rPr>
              <a:t>Recognising equal value</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dirty="0">
                <a:solidFill>
                  <a:srgbClr val="000000"/>
                </a:solidFill>
                <a:latin typeface="Arial"/>
                <a:cs typeface="Arial"/>
              </a:rPr>
              <a:t>This resource corresponds to Resource of Resource 18 – snap cards in Stage 2 Unit 6. </a:t>
            </a:r>
            <a:endParaRPr lang="en-AU" dirty="0">
              <a:latin typeface="Arial"/>
              <a:cs typeface="Arial"/>
            </a:endParaRPr>
          </a:p>
          <a:p>
            <a:r>
              <a:rPr lang="en-AU" dirty="0">
                <a:latin typeface="Arial"/>
                <a:cs typeface="Arial"/>
              </a:rPr>
              <a:t>This activity is an adaptation of </a:t>
            </a:r>
            <a:r>
              <a:rPr lang="en-AU" i="1" dirty="0">
                <a:latin typeface="Arial"/>
                <a:cs typeface="Arial"/>
              </a:rPr>
              <a:t>Same Name snap</a:t>
            </a:r>
            <a:r>
              <a:rPr lang="en-AU" dirty="0">
                <a:latin typeface="Arial"/>
                <a:cs typeface="Arial"/>
              </a:rPr>
              <a:t> from NZ Maths by New Zealand Ministry of Education.</a:t>
            </a:r>
          </a:p>
          <a:p>
            <a:endParaRPr lang="en-AU" dirty="0">
              <a:latin typeface="Arial"/>
              <a:cs typeface="Arial"/>
            </a:endParaRPr>
          </a:p>
          <a:p>
            <a:pPr marL="285750" indent="-285750">
              <a:buFont typeface="Arial"/>
              <a:buChar char="•"/>
            </a:pPr>
            <a:r>
              <a:rPr lang="en-AU" dirty="0">
                <a:latin typeface="Arial"/>
                <a:cs typeface="Arial"/>
              </a:rPr>
              <a:t>The game can be played in pairs or in small groups. Provide a set of Resource 18 – snap cards to each group.</a:t>
            </a:r>
          </a:p>
          <a:p>
            <a:pPr marL="285750" indent="-285750">
              <a:buFont typeface="Arial"/>
              <a:buChar char="•"/>
            </a:pPr>
            <a:r>
              <a:rPr lang="en-AU" dirty="0"/>
              <a:t>Students shuffle all the cards and hand them out so that each player has the same number of cards.</a:t>
            </a:r>
          </a:p>
          <a:p>
            <a:pPr marL="285750" indent="-285750">
              <a:buFont typeface="Arial"/>
              <a:buChar char="•"/>
            </a:pPr>
            <a:r>
              <a:rPr lang="en-AU" dirty="0"/>
              <a:t>Each player takes it in turns to place their cards one on top of another in a pile in the middle. If 2 cards have number sentences of equal value, the first student to recognise this can call out ‘same value’. For example, if 2 + 3 is placed on top of 1 + 4, a student must say ‘Same value! 5!’</a:t>
            </a:r>
          </a:p>
          <a:p>
            <a:pPr marL="285750" indent="-285750">
              <a:buFont typeface="Arial"/>
              <a:buChar char="•"/>
            </a:pPr>
            <a:r>
              <a:rPr lang="en-AU" dirty="0"/>
              <a:t>The student then collects the pile of cards from the middle and the game starts again.</a:t>
            </a:r>
          </a:p>
          <a:p>
            <a:pPr marL="285750" indent="-285750">
              <a:buFont typeface="Arial"/>
              <a:buChar char="•"/>
            </a:pPr>
            <a:r>
              <a:rPr lang="en-AU" dirty="0"/>
              <a:t>The player with the greatest number of cards at the end of the game wins.</a:t>
            </a:r>
          </a:p>
          <a:p>
            <a:endParaRPr lang="en-AU" b="1" dirty="0"/>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3A047C17-2D96-3866-B8F9-D9D688EC56F9}"/>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32366978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5BD7-182E-E445-4BEE-0EFBDDE2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F9A88-E143-58E6-5E6C-5EBE54E77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853F96-1837-F922-637D-37721278423F}"/>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4073A49-16BC-F75B-0843-031DD5844E53}"/>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26558921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129A-A241-1227-E39D-803C0BABD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5E368-EE69-7F77-469C-BEC25AF77C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1666F-DCE5-6E5D-81AA-653595088B0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4)</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t>Additive relations A</a:t>
            </a:r>
          </a:p>
        </p:txBody>
      </p:sp>
      <p:sp>
        <p:nvSpPr>
          <p:cNvPr id="4" name="Slide Number Placeholder 3">
            <a:extLst>
              <a:ext uri="{FF2B5EF4-FFF2-40B4-BE49-F238E27FC236}">
                <a16:creationId xmlns:a16="http://schemas.microsoft.com/office/drawing/2014/main" id="{919100AA-9F2D-B3DF-BA29-892C09F36338}"/>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36788492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26DE5-F70E-020E-83A9-F7EE03174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4F2CF-BF1B-0DAE-6858-6D1EC839F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0E4536-36A2-46E0-BC68-CAECC1DE1CE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i="0">
                <a:solidFill>
                  <a:schemeClr val="tx1"/>
                </a:solidFill>
                <a:latin typeface="Arial"/>
                <a:cs typeface="Arial"/>
              </a:rPr>
              <a:t>Representing number using place value B</a:t>
            </a:r>
            <a:endParaRPr lang="en-AU" sz="1600" i="0">
              <a:solidFill>
                <a:schemeClr val="tx1"/>
              </a:solidFill>
              <a:latin typeface="Arial" panose="020B0604020202020204" pitchFamily="34" charset="0"/>
              <a:cs typeface="Arial" panose="020B0604020202020204" pitchFamily="34" charset="0"/>
            </a:endParaRPr>
          </a:p>
          <a:p>
            <a:pPr>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37214E7-26D1-36C4-1617-C202790A45B6}"/>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36164405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D824-640F-D2F4-5977-6163AE9B7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584F1-7BDB-7461-AFFD-782DDDAA2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FD904F-4D98-0993-FF07-278E7D946DB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Data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8A84B2-3EF5-AC61-A21F-AE35F3F9D9FD}"/>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422936684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B8D8-AFD2-EFEC-E3BD-B83D8A6E7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C4EF-68CA-016A-6199-289D7E5DB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5B0011-6439-4EA5-2F3D-EE8A8C78B02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b="0"/>
              <a:t>Partitioned fractions A</a:t>
            </a:r>
          </a:p>
          <a:p>
            <a:pPr>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15CD9B8-FC69-AA44-875E-5F3A0B6DE9C6}"/>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0271881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C9758-6224-611D-EC30-D43D9D0B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89BFD-4C3F-E5EC-27C6-E95DBF2DD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9EB86-4DE6-C4D9-92DC-3B53ACA8C2D2}"/>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i="0" dirty="0">
                <a:solidFill>
                  <a:schemeClr val="tx1"/>
                </a:solidFill>
                <a:latin typeface="Arial"/>
                <a:cs typeface="Arial"/>
              </a:rPr>
              <a:t>Three-dimensional spatial structure B (</a:t>
            </a:r>
            <a:r>
              <a:rPr lang="en-AU" sz="1600" b="1" i="0" dirty="0">
                <a:solidFill>
                  <a:schemeClr val="tx1"/>
                </a:solidFill>
                <a:latin typeface="Arial"/>
                <a:cs typeface="Arial"/>
              </a:rPr>
              <a:t>Note: </a:t>
            </a:r>
            <a:r>
              <a:rPr lang="en-AU" sz="1600" i="0" dirty="0">
                <a:solidFill>
                  <a:schemeClr val="tx1"/>
                </a:solidFill>
                <a:latin typeface="Arial"/>
                <a:cs typeface="Arial"/>
              </a:rPr>
              <a:t>Stage 1 content reviewed)</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8A801-CA5F-28C2-0A5B-F0EA9FAA4A59}"/>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294990773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676F3-8AAD-12F7-FDFB-4406471D5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3C158-04F4-B169-237F-2EDC1D845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2A1832-7052-DC2A-CF30-4DC6FD0D8185}"/>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latin typeface="Arial"/>
                <a:cs typeface="Arial"/>
              </a:rPr>
              <a:t>Additive relations A</a:t>
            </a:r>
          </a:p>
          <a:p>
            <a:endParaRPr lang="en-AU" dirty="0"/>
          </a:p>
          <a:p>
            <a:endParaRPr lang="en-AU" dirty="0"/>
          </a:p>
          <a:p>
            <a:r>
              <a:rPr lang="en-AU" b="1" dirty="0">
                <a:latin typeface="Arial"/>
                <a:cs typeface="Arial"/>
              </a:rPr>
              <a:t>Non-stop equivalence</a:t>
            </a:r>
          </a:p>
          <a:p>
            <a:pPr marL="285750" indent="-285750">
              <a:buFont typeface="Arial"/>
              <a:buChar char="•"/>
            </a:pPr>
            <a:r>
              <a:rPr lang="en-AU" dirty="0">
                <a:latin typeface="Arial"/>
                <a:cs typeface="Arial"/>
              </a:rPr>
              <a:t>Display subtraction number fact on the whiteboard. For example, 20 – 14 = 6.</a:t>
            </a:r>
          </a:p>
          <a:p>
            <a:pPr marL="285750" indent="-285750">
              <a:buFont typeface="Arial"/>
              <a:buChar char="•"/>
            </a:pPr>
            <a:r>
              <a:rPr lang="en-AU" dirty="0">
                <a:latin typeface="Arial"/>
                <a:cs typeface="Arial"/>
              </a:rPr>
              <a:t>Think-aloud – “The equals sign means the same as. You need to build a chain of subtraction number sentences that are all the same value.”</a:t>
            </a:r>
          </a:p>
          <a:p>
            <a:pPr marL="285750" indent="-285750">
              <a:buFont typeface="Arial"/>
              <a:buChar char="•"/>
            </a:pPr>
            <a:r>
              <a:rPr lang="en-AU" dirty="0">
                <a:latin typeface="Arial"/>
                <a:cs typeface="Arial"/>
              </a:rPr>
              <a:t>In pairs, Student A adds the first subtraction number sentence with the same difference. For example, 20 – 14 = 25 – 19.</a:t>
            </a:r>
          </a:p>
          <a:p>
            <a:pPr marL="285750" indent="-285750">
              <a:buFont typeface="Arial"/>
              <a:buChar char="•"/>
            </a:pPr>
            <a:r>
              <a:rPr lang="en-AU" dirty="0">
                <a:latin typeface="Arial"/>
                <a:cs typeface="Arial"/>
              </a:rPr>
              <a:t>Student B adds a different subtraction number sentence with the same difference.</a:t>
            </a:r>
          </a:p>
          <a:p>
            <a:pPr marL="285750" indent="-285750">
              <a:buFont typeface="Arial"/>
              <a:buChar char="•"/>
            </a:pPr>
            <a:r>
              <a:rPr lang="en-AU" dirty="0">
                <a:latin typeface="Arial"/>
                <a:cs typeface="Arial"/>
              </a:rPr>
              <a:t>Students continue to take turns to add a subtraction number sentence with the same difference.</a:t>
            </a:r>
          </a:p>
          <a:p>
            <a:pPr marL="285750" indent="-285750">
              <a:buFont typeface="Arial"/>
              <a:buChar char="•"/>
            </a:pPr>
            <a:r>
              <a:rPr lang="en-AU" dirty="0">
                <a:latin typeface="Arial"/>
                <a:cs typeface="Arial"/>
              </a:rPr>
              <a:t>After a few minutes, pairs swap individual whiteboards with another pair to check each other’s subtraction chains.</a:t>
            </a:r>
          </a:p>
          <a:p>
            <a:endParaRPr lang="en-AU" b="1" dirty="0">
              <a:latin typeface="Arial"/>
              <a:cs typeface="Arial"/>
            </a:endParaRPr>
          </a:p>
          <a:p>
            <a:endParaRPr lang="en-AU" b="0" dirty="0"/>
          </a:p>
          <a:p>
            <a:endParaRPr lang="en-AU" b="1" dirty="0"/>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D981557F-9334-0A62-59BD-5F2ABA9538F7}"/>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21450673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3710-FB2F-FB00-243F-B91970B56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868A8-8D98-D4B0-033B-3856896AA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AEDE1-4304-3A6D-6C4F-3D965617786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E233C5D-85DC-0BB6-32A7-310B7FAD1F4A}"/>
              </a:ext>
            </a:extLst>
          </p:cNvPr>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100048159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62720-0BC8-FA7F-BC47-1C78ADEABE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48631-F898-32A6-78A2-76AA2975DE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3E66D4-BAB0-850A-44DB-0959EA3E6EA0}"/>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solidFill>
                  <a:srgbClr val="000000"/>
                </a:solidFill>
                <a:latin typeface="Arial"/>
                <a:cs typeface="Arial"/>
              </a:rPr>
              <a:t>Additive relations A</a:t>
            </a:r>
            <a:endParaRPr lang="en-US">
              <a:latin typeface="Arial"/>
              <a:cs typeface="Arial"/>
            </a:endParaRPr>
          </a:p>
        </p:txBody>
      </p:sp>
      <p:sp>
        <p:nvSpPr>
          <p:cNvPr id="4" name="Slide Number Placeholder 3">
            <a:extLst>
              <a:ext uri="{FF2B5EF4-FFF2-40B4-BE49-F238E27FC236}">
                <a16:creationId xmlns:a16="http://schemas.microsoft.com/office/drawing/2014/main" id="{25E3C821-F7BD-A5FD-0747-F0B52FC6EDC5}"/>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85335418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4DD3-5721-14F5-EDD2-E30B6126D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F02D0-E214-A760-36A9-3FB3B4F9AA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92B00-F70A-F579-2146-5C8C6E8A49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i="0">
                <a:solidFill>
                  <a:schemeClr val="tx1"/>
                </a:solidFill>
                <a:latin typeface="Arial"/>
                <a:cs typeface="Arial"/>
              </a:rPr>
              <a:t>Representing number using place value A</a:t>
            </a:r>
            <a:endParaRPr lang="en-AU" sz="1600" i="0">
              <a:solidFill>
                <a:schemeClr val="tx1"/>
              </a:solidFill>
              <a:latin typeface="Arial" panose="020B0604020202020204" pitchFamily="34" charset="0"/>
              <a:cs typeface="Arial" panose="020B0604020202020204" pitchFamily="34" charset="0"/>
            </a:endParaRPr>
          </a:p>
          <a:p>
            <a:pPr>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929B697-56AA-87E8-FCD6-8EB978298970}"/>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112284894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FD1E-52E6-C1FC-15B4-19971F891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D7B59-84DD-0587-09E6-630DBC0C73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1635F-F80B-95B6-C888-A9F51291AF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Data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2095171-3401-20DE-1F94-F14D43F4E62A}"/>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263333466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4A660-2C9E-41E2-C1B0-CFD681698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759E8-2964-387A-B4FB-89B79D97B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95F0F-A841-FDA0-2381-E9895B7E30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pPr marL="0" marR="0" lvl="0" indent="0" algn="l" defTabSz="1219170" rtl="0" eaLnBrk="1" fontAlgn="auto" latinLnBrk="0" hangingPunct="1">
              <a:lnSpc>
                <a:spcPct val="100000"/>
              </a:lnSpc>
              <a:spcBef>
                <a:spcPts val="0"/>
              </a:spcBef>
              <a:spcAft>
                <a:spcPts val="0"/>
              </a:spcAft>
              <a:buClrTx/>
              <a:buSzTx/>
              <a:buFontTx/>
              <a:buNone/>
              <a:tabLst/>
              <a:defRPr/>
            </a:pPr>
            <a:r>
              <a:rPr lang="en-AU" b="1"/>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b="0"/>
              <a:t>Partitioned fractions A</a:t>
            </a:r>
          </a:p>
          <a:p>
            <a:endParaRPr lang="en-AU" b="1"/>
          </a:p>
        </p:txBody>
      </p:sp>
      <p:sp>
        <p:nvSpPr>
          <p:cNvPr id="4" name="Slide Number Placeholder 3">
            <a:extLst>
              <a:ext uri="{FF2B5EF4-FFF2-40B4-BE49-F238E27FC236}">
                <a16:creationId xmlns:a16="http://schemas.microsoft.com/office/drawing/2014/main" id="{2290EF94-C4D7-1238-EA14-ACE66F50C157}"/>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14757977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EADE3-0A66-DDC8-F848-D4D6A3248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1B31F-81E8-DBCD-6376-E8C3323BE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8DDBC-F9E2-477F-9199-D93FB956E519}"/>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Geometric measure B </a:t>
            </a:r>
            <a:r>
              <a:rPr lang="en-AU" sz="1600" i="0" dirty="0">
                <a:solidFill>
                  <a:schemeClr val="tx1"/>
                </a:solidFill>
                <a:latin typeface="Arial"/>
                <a:cs typeface="Arial"/>
              </a:rPr>
              <a:t>(</a:t>
            </a:r>
            <a:r>
              <a:rPr lang="en-AU" sz="1600" b="1" i="0" dirty="0">
                <a:solidFill>
                  <a:schemeClr val="tx1"/>
                </a:solidFill>
                <a:latin typeface="Arial"/>
                <a:cs typeface="Arial"/>
              </a:rPr>
              <a:t>Note: </a:t>
            </a:r>
            <a:r>
              <a:rPr lang="en-AU" sz="1600" i="0" dirty="0">
                <a:solidFill>
                  <a:schemeClr val="tx1"/>
                </a:solidFill>
                <a:latin typeface="Arial"/>
                <a:cs typeface="Arial"/>
              </a:rPr>
              <a:t>Stage 1 content reviewed)</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CAC6B19-DCCE-9D5D-6371-30B15F03922A}"/>
              </a:ext>
            </a:extLst>
          </p:cNvPr>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326676227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7A62D-A6C8-A936-3396-403B2DD48B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BE3FA-FB8B-EBAC-E399-A757856431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E67F65-9BAE-6E80-4AA0-AD3FDCDCC8EB}"/>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latin typeface="Arial"/>
                <a:cs typeface="Arial"/>
              </a:rPr>
              <a:t>Additive relations A</a:t>
            </a:r>
          </a:p>
          <a:p>
            <a:endParaRPr lang="en-AU" dirty="0">
              <a:latin typeface="Arial"/>
              <a:cs typeface="Arial"/>
            </a:endParaRPr>
          </a:p>
          <a:p>
            <a:r>
              <a:rPr lang="en-AU" b="1" dirty="0">
                <a:solidFill>
                  <a:srgbClr val="002664"/>
                </a:solidFill>
                <a:latin typeface="Arial"/>
                <a:cs typeface="Arial"/>
              </a:rPr>
              <a:t>Use addition and subtraction 1</a:t>
            </a:r>
            <a:endParaRPr lang="en-AU" b="1" dirty="0">
              <a:latin typeface="Arial"/>
              <a:cs typeface="Arial"/>
            </a:endParaRPr>
          </a:p>
          <a:p>
            <a:r>
              <a:rPr lang="en-AU" b="0" dirty="0">
                <a:latin typeface="Arial"/>
                <a:cs typeface="Arial"/>
              </a:rPr>
              <a:t>This </a:t>
            </a:r>
            <a:r>
              <a:rPr lang="en-AU" dirty="0">
                <a:latin typeface="Arial"/>
                <a:cs typeface="Arial"/>
              </a:rPr>
              <a:t>activity is an adaptation of </a:t>
            </a:r>
            <a:r>
              <a:rPr lang="en-AU" i="1" dirty="0">
                <a:latin typeface="Arial"/>
                <a:cs typeface="Arial"/>
              </a:rPr>
              <a:t>Target Number</a:t>
            </a:r>
            <a:r>
              <a:rPr lang="en-AU" dirty="0">
                <a:latin typeface="Arial"/>
                <a:cs typeface="Arial"/>
              </a:rPr>
              <a:t> from Math for Love by Finkel.</a:t>
            </a:r>
          </a:p>
          <a:p>
            <a:endParaRPr lang="en-AU" dirty="0">
              <a:latin typeface="Arial"/>
              <a:cs typeface="Arial"/>
            </a:endParaRPr>
          </a:p>
          <a:p>
            <a:pPr marL="285750" indent="-285750">
              <a:buFont typeface="Arial"/>
              <a:buChar char="•"/>
            </a:pPr>
            <a:r>
              <a:rPr lang="en-AU" dirty="0">
                <a:latin typeface="Arial"/>
                <a:cs typeface="Arial"/>
              </a:rPr>
              <a:t>Write a 2-digit ‘target’ number on the board. For example, 35.</a:t>
            </a:r>
          </a:p>
          <a:p>
            <a:pPr marL="285750" indent="-285750">
              <a:buFont typeface="Arial"/>
              <a:buChar char="•"/>
            </a:pPr>
            <a:r>
              <a:rPr lang="en-AU" dirty="0">
                <a:latin typeface="Arial"/>
                <a:cs typeface="Arial"/>
              </a:rPr>
              <a:t>Using individual whiteboards, students write down as many different number sentences that have the target number as the answer. They must use addition and subtraction </a:t>
            </a:r>
            <a:r>
              <a:rPr lang="en-AU" b="0" dirty="0">
                <a:latin typeface="Arial"/>
                <a:cs typeface="Arial"/>
              </a:rPr>
              <a:t>in </a:t>
            </a:r>
            <a:r>
              <a:rPr lang="en-AU" dirty="0">
                <a:latin typeface="Arial"/>
                <a:cs typeface="Arial"/>
              </a:rPr>
              <a:t>their number sentence</a:t>
            </a:r>
            <a:r>
              <a:rPr lang="en-AU" b="0" dirty="0">
                <a:latin typeface="Arial"/>
                <a:cs typeface="Arial"/>
              </a:rPr>
              <a:t>. </a:t>
            </a:r>
            <a:r>
              <a:rPr lang="en-AU" dirty="0">
                <a:latin typeface="Arial"/>
                <a:cs typeface="Arial"/>
              </a:rPr>
              <a:t>For example, 32 + 7 − 4 = 35.</a:t>
            </a:r>
          </a:p>
          <a:p>
            <a:pPr marL="285750" indent="-285750">
              <a:buFont typeface="Arial"/>
              <a:buChar char="•"/>
            </a:pPr>
            <a:r>
              <a:rPr lang="en-AU" dirty="0">
                <a:latin typeface="Arial"/>
                <a:cs typeface="Arial"/>
              </a:rPr>
              <a:t>Students turn and talk to a partner to share one of their number sentences and describe the strategies they used to create it.</a:t>
            </a:r>
          </a:p>
          <a:p>
            <a:endParaRPr lang="en-AU" dirty="0"/>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43302DC7-71EB-F55D-06D0-906EA93562E1}"/>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40273956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905A-2EC2-DC72-9C47-14B15A1A4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48A9B-C10A-348F-52A1-8EA508CD0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02976-C4DE-57E6-A9ED-B6E094CF8255}"/>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A335D8-90A0-A351-0754-DD4ACAAF1287}"/>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317624344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8966-B098-4FE4-D07C-7D3AB05F5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881B3-B9F6-08FC-4960-D3C1CDF72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9F3500-7454-FC1A-323C-21B7E06BF8A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6)</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Additive relations A</a:t>
            </a:r>
          </a:p>
          <a:p>
            <a:pPr>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871BA68-1842-8899-7220-9C736B5675D4}"/>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192390997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1894F-CD5A-1A5B-E0D4-52B59932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C736A-77DC-E3C8-9B14-1C7BB5F1C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4085F-7886-1B1C-BE0D-0329AB222B5A}"/>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pPr marL="0" marR="0" lvl="0" indent="0" algn="l" defTabSz="1219170" rtl="0" eaLnBrk="1" fontAlgn="auto" latinLnBrk="0" hangingPunct="1">
              <a:lnSpc>
                <a:spcPct val="100000"/>
              </a:lnSpc>
              <a:spcBef>
                <a:spcPts val="0"/>
              </a:spcBef>
              <a:spcAft>
                <a:spcPts val="0"/>
              </a:spcAft>
              <a:buClrTx/>
              <a:buSzTx/>
              <a:buFontTx/>
              <a:buNone/>
              <a:tabLst/>
              <a:defRPr/>
            </a:pPr>
            <a:r>
              <a:rPr lang="en-AU" b="1" dirty="0"/>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i="0" dirty="0">
                <a:solidFill>
                  <a:schemeClr val="tx1"/>
                </a:solidFill>
                <a:latin typeface="Arial"/>
                <a:cs typeface="Arial"/>
              </a:rPr>
              <a:t>Representing number using place value B</a:t>
            </a:r>
            <a:endParaRPr lang="en-AU" sz="1600" i="0" dirty="0">
              <a:solidFill>
                <a:schemeClr val="tx1"/>
              </a:solidFill>
              <a:latin typeface="Arial" panose="020B0604020202020204" pitchFamily="34" charset="0"/>
              <a:cs typeface="Arial" panose="020B0604020202020204" pitchFamily="34" charset="0"/>
            </a:endParaRPr>
          </a:p>
          <a:p>
            <a:endParaRPr lang="en-AU" b="1" dirty="0"/>
          </a:p>
        </p:txBody>
      </p:sp>
      <p:sp>
        <p:nvSpPr>
          <p:cNvPr id="4" name="Slide Number Placeholder 3">
            <a:extLst>
              <a:ext uri="{FF2B5EF4-FFF2-40B4-BE49-F238E27FC236}">
                <a16:creationId xmlns:a16="http://schemas.microsoft.com/office/drawing/2014/main" id="{9499D83A-49FB-1D76-1A06-BD94441FE3F8}"/>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373792240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4D60-6C55-F1DC-1147-C0034AAE6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5A0D5-48C3-DB82-36E2-EB26917E8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6A875-4296-FC05-CA13-99A666F902D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Data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DB7087-7973-1B44-E804-72FF5E9F33A7}"/>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135309701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8064-5153-D494-16C2-0978F1A86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89123-0D0C-8292-6DB6-B68F79520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AA3FF-3110-B3E0-9AA8-F1E405508B0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pPr marL="0" marR="0" lvl="0" indent="0" algn="l" defTabSz="1219170" rtl="0" eaLnBrk="1" fontAlgn="auto" latinLnBrk="0" hangingPunct="1">
              <a:lnSpc>
                <a:spcPct val="100000"/>
              </a:lnSpc>
              <a:spcBef>
                <a:spcPts val="0"/>
              </a:spcBef>
              <a:spcAft>
                <a:spcPts val="0"/>
              </a:spcAft>
              <a:buClrTx/>
              <a:buSzTx/>
              <a:buFontTx/>
              <a:buNone/>
              <a:tabLst/>
              <a:defRPr/>
            </a:pPr>
            <a:r>
              <a:rPr lang="en-AU" b="1"/>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b="0"/>
              <a:t>Partitioned fractions A</a:t>
            </a:r>
          </a:p>
          <a:p>
            <a:endParaRPr lang="en-AU" b="1"/>
          </a:p>
        </p:txBody>
      </p:sp>
      <p:sp>
        <p:nvSpPr>
          <p:cNvPr id="4" name="Slide Number Placeholder 3">
            <a:extLst>
              <a:ext uri="{FF2B5EF4-FFF2-40B4-BE49-F238E27FC236}">
                <a16:creationId xmlns:a16="http://schemas.microsoft.com/office/drawing/2014/main" id="{A56274FD-50CF-5B73-6D8E-B6E8124D6C29}"/>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369703433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E7677-F12C-A1FF-304A-2976B662D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88EDB-8B5A-F6CC-7B46-A0C946BED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BDFBA5-5516-556D-0CE9-9866C25700BD}"/>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dirty="0">
                <a:latin typeface="Arial"/>
                <a:cs typeface="Arial"/>
              </a:rPr>
              <a:t>Geometric measure B </a:t>
            </a:r>
            <a:r>
              <a:rPr lang="en-AU" sz="1600" i="0" dirty="0">
                <a:solidFill>
                  <a:schemeClr val="tx1"/>
                </a:solidFill>
                <a:latin typeface="Arial"/>
                <a:cs typeface="Arial"/>
              </a:rPr>
              <a:t>(</a:t>
            </a:r>
            <a:r>
              <a:rPr lang="en-AU" sz="1600" b="1" i="0" dirty="0">
                <a:solidFill>
                  <a:schemeClr val="tx1"/>
                </a:solidFill>
                <a:latin typeface="Arial"/>
                <a:cs typeface="Arial"/>
              </a:rPr>
              <a:t>Note: </a:t>
            </a:r>
            <a:r>
              <a:rPr lang="en-AU" sz="1600" i="0" dirty="0">
                <a:solidFill>
                  <a:schemeClr val="tx1"/>
                </a:solidFill>
                <a:latin typeface="Arial"/>
                <a:cs typeface="Arial"/>
              </a:rPr>
              <a:t>Stage 1 content reviewed)</a:t>
            </a:r>
            <a:endParaRPr lang="en-AU" sz="1600" i="0" dirty="0">
              <a:solidFill>
                <a:schemeClr val="tx1"/>
              </a:solidFill>
              <a:latin typeface="Arial" panose="020B0604020202020204" pitchFamily="34" charset="0"/>
              <a:cs typeface="Arial" panose="020B0604020202020204" pitchFamily="34" charset="0"/>
            </a:endParaRPr>
          </a:p>
          <a:p>
            <a:pPr>
              <a:defRPr/>
            </a:pP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07057D8-5CAF-CBB6-0299-BBF0B3225D3C}"/>
              </a:ext>
            </a:extLst>
          </p:cNvPr>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110266619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E7CE0-932C-F4C0-78ED-51F01146D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956BBB-67C8-BA20-D221-7A68FDD19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23513-ADF1-902E-116A-54778B585618}"/>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latin typeface="Arial"/>
                <a:cs typeface="Arial"/>
              </a:rPr>
              <a:t>Additive relations A</a:t>
            </a:r>
          </a:p>
          <a:p>
            <a:endParaRPr lang="en-AU" dirty="0">
              <a:latin typeface="Arial"/>
              <a:cs typeface="Arial"/>
            </a:endParaRPr>
          </a:p>
          <a:p>
            <a:endParaRPr lang="en-AU" dirty="0"/>
          </a:p>
          <a:p>
            <a:r>
              <a:rPr lang="en-AU" b="1" dirty="0">
                <a:latin typeface="Arial"/>
                <a:cs typeface="Arial"/>
              </a:rPr>
              <a:t>Related addition and subtraction facts</a:t>
            </a:r>
          </a:p>
          <a:p>
            <a:pPr marL="285750" indent="-285750">
              <a:buFont typeface="Arial"/>
              <a:buChar char="•"/>
            </a:pPr>
            <a:r>
              <a:rPr lang="en-AU" dirty="0">
                <a:latin typeface="Arial"/>
                <a:cs typeface="Arial"/>
              </a:rPr>
              <a:t>Students determine related addition and subtraction facts from a given number sentence.</a:t>
            </a:r>
          </a:p>
          <a:p>
            <a:pPr marL="285750" indent="-285750">
              <a:buFont typeface="Arial"/>
              <a:buChar char="•"/>
            </a:pPr>
            <a:r>
              <a:rPr lang="en-AU" dirty="0">
                <a:latin typeface="Arial"/>
                <a:cs typeface="Arial"/>
              </a:rPr>
              <a:t>Ask students </a:t>
            </a:r>
            <a:r>
              <a:rPr lang="en-AU" b="0" dirty="0">
                <a:latin typeface="Arial"/>
                <a:cs typeface="Arial"/>
              </a:rPr>
              <a:t>to </a:t>
            </a:r>
            <a:r>
              <a:rPr lang="en-AU" dirty="0">
                <a:latin typeface="Arial"/>
                <a:cs typeface="Arial"/>
              </a:rPr>
              <a:t>list on their individual whiteboard all the addition and subtraction facts they know by looking at this number sentence. For example, they should list 13 + 22 = 35, 35 – 13 = 22 and 35 </a:t>
            </a:r>
            <a:r>
              <a:rPr lang="en-AU" b="0" dirty="0">
                <a:latin typeface="Arial"/>
                <a:cs typeface="Arial"/>
              </a:rPr>
              <a:t>– </a:t>
            </a:r>
            <a:r>
              <a:rPr lang="en-AU" dirty="0">
                <a:latin typeface="Arial"/>
                <a:cs typeface="Arial"/>
              </a:rPr>
              <a:t>22 = 13.</a:t>
            </a:r>
          </a:p>
          <a:p>
            <a:pPr marL="285750" indent="-285750">
              <a:buFont typeface="Arial"/>
              <a:buChar char="•"/>
            </a:pPr>
            <a:r>
              <a:rPr lang="en-AU" dirty="0">
                <a:latin typeface="Arial"/>
                <a:cs typeface="Arial"/>
              </a:rPr>
              <a:t>Students display and compare individual whiteboards.</a:t>
            </a:r>
          </a:p>
          <a:p>
            <a:pPr marL="285750" indent="-285750">
              <a:buFont typeface="Arial"/>
              <a:buChar char="•"/>
            </a:pPr>
            <a:r>
              <a:rPr lang="en-AU" dirty="0">
                <a:latin typeface="Arial"/>
                <a:cs typeface="Arial"/>
              </a:rPr>
              <a:t>Repeat for different number sentences, alternating between starting with addition and subtraction number sentences</a:t>
            </a:r>
            <a:r>
              <a:rPr lang="en-AU" b="0" dirty="0">
                <a:latin typeface="Arial"/>
                <a:cs typeface="Arial"/>
              </a:rPr>
              <a:t>.</a:t>
            </a:r>
            <a:endParaRPr lang="en-AU" dirty="0">
              <a:latin typeface="Arial"/>
              <a:cs typeface="Arial"/>
            </a:endParaRPr>
          </a:p>
          <a:p>
            <a:endParaRPr lang="en-AU" b="0" dirty="0"/>
          </a:p>
          <a:p>
            <a:endParaRPr lang="en-AU" b="1" dirty="0"/>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122EB8A0-FCBF-889F-A186-13976AE53D97}"/>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108033779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AF04B-1E1F-DCFF-DFA5-FCAA7E29B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DD47-36A4-A286-C2FE-AF7871D1B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4AAC7E-965A-2B42-BE0E-7B66A92D345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ED1CBCA-4579-C266-1407-210ADF104C98}"/>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161814656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D1DFF-1757-40E7-9609-EE66A92DDC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6A7D61-A142-CC5B-AD36-03DE7BC3B5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D16482-D121-8A8E-5C1D-D72018CCF16B}"/>
              </a:ext>
            </a:extLst>
          </p:cNvPr>
          <p:cNvSpPr>
            <a:spLocks noGrp="1"/>
          </p:cNvSpPr>
          <p:nvPr>
            <p:ph type="body" idx="1"/>
          </p:nvPr>
        </p:nvSpPr>
        <p:spPr/>
        <p:txBody>
          <a:bodyPr/>
          <a:lstStyle/>
          <a:p>
            <a:pPr marL="0" indent="0" algn="l">
              <a:buFont typeface="Wingdings" panose="05000000000000000000" pitchFamily="2" charset="2"/>
              <a:buNone/>
            </a:pPr>
            <a:r>
              <a:rPr lang="en-AU" sz="1600" b="0" i="0" dirty="0">
                <a:solidFill>
                  <a:schemeClr val="tx1"/>
                </a:solidFill>
                <a:latin typeface="Arial"/>
                <a:cs typeface="Arial"/>
              </a:rPr>
              <a:t>This question connects to the content in the developing number sense activity (Activity 7)</a:t>
            </a:r>
          </a:p>
          <a:p>
            <a:pPr>
              <a:buFont typeface="Wingdings" panose="05000000000000000000" pitchFamily="2" charset="2"/>
              <a:defRPr/>
            </a:pPr>
            <a:endParaRPr lang="en-AU" dirty="0">
              <a:latin typeface="Arial"/>
              <a:cs typeface="Arial"/>
            </a:endParaRPr>
          </a:p>
          <a:p>
            <a:pPr>
              <a:defRPr/>
            </a:pPr>
            <a:r>
              <a:rPr lang="en-AU" b="1" dirty="0">
                <a:latin typeface="Arial"/>
                <a:cs typeface="Arial"/>
              </a:rPr>
              <a:t>Syllabus focus area:</a:t>
            </a:r>
            <a:endParaRPr lang="en-US" dirty="0">
              <a:solidFill>
                <a:srgbClr val="444444"/>
              </a:solidFill>
              <a:latin typeface="Arial"/>
              <a:cs typeface="Arial"/>
            </a:endParaRPr>
          </a:p>
          <a:p>
            <a:pPr>
              <a:defRPr/>
            </a:pPr>
            <a:r>
              <a:rPr lang="en-AU" dirty="0">
                <a:highlight>
                  <a:srgbClr val="FFFF00"/>
                </a:highlight>
                <a:latin typeface="Arial"/>
                <a:cs typeface="Arial"/>
              </a:rPr>
              <a:t>Additive relations A</a:t>
            </a:r>
          </a:p>
        </p:txBody>
      </p:sp>
      <p:sp>
        <p:nvSpPr>
          <p:cNvPr id="4" name="Slide Number Placeholder 3">
            <a:extLst>
              <a:ext uri="{FF2B5EF4-FFF2-40B4-BE49-F238E27FC236}">
                <a16:creationId xmlns:a16="http://schemas.microsoft.com/office/drawing/2014/main" id="{43AA7DAA-37B4-0D95-9755-B59CC60212E6}"/>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323504170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3A993-1E03-2D88-D68D-39CA40929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750E1-10B7-126F-B5BF-F813FF345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61C2FE-11E8-16C7-B7AD-CCC8AE9AA06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2C553AD-A391-D2C3-151E-CF15794588DC}"/>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115352071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67C6-6600-129D-9A15-8C378BA60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4C7E7-0661-46C6-F4A0-5CA82DE96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94BCB-7BF6-AF2A-5134-EEE9763A7925}"/>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b="0"/>
              <a:t>Data A</a:t>
            </a:r>
          </a:p>
        </p:txBody>
      </p:sp>
      <p:sp>
        <p:nvSpPr>
          <p:cNvPr id="4" name="Slide Number Placeholder 3">
            <a:extLst>
              <a:ext uri="{FF2B5EF4-FFF2-40B4-BE49-F238E27FC236}">
                <a16:creationId xmlns:a16="http://schemas.microsoft.com/office/drawing/2014/main" id="{D2CAC20D-565A-DC93-F58C-5FDC1FE4EA5F}"/>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208047960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F7D5-67F0-D6BC-4DF2-A9E6C7E58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15A4D-B93C-9B57-4221-C31FFE7EE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95F2E-EBA7-A8F1-54D9-F5BC7C7D59F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b="0"/>
              <a:t>Partitioned fractions B</a:t>
            </a:r>
          </a:p>
          <a:p>
            <a:pPr>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5B70F96-4D2B-837C-B26B-E0E8158C2AD0}"/>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90989210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625F9-0FB4-1EDC-1758-FA2D84C06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6E23D-8324-27B8-39AC-97FBE8567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0E2A5-C32B-F405-8BDD-E6F16211E2ED}"/>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b="0" i="0" kern="1200" dirty="0">
                <a:solidFill>
                  <a:schemeClr val="tx1"/>
                </a:solidFill>
                <a:effectLst/>
                <a:latin typeface="Arial" panose="020B0604020202020204" pitchFamily="34" charset="0"/>
                <a:ea typeface="+mn-ea"/>
                <a:cs typeface="Arial" panose="020B0604020202020204" pitchFamily="34" charset="0"/>
              </a:rPr>
              <a:t>Two-dimensional spatial structure B </a:t>
            </a:r>
            <a:r>
              <a:rPr lang="en-AU" sz="1600" i="0" dirty="0">
                <a:solidFill>
                  <a:schemeClr val="tx1"/>
                </a:solidFill>
                <a:latin typeface="Arial"/>
                <a:cs typeface="Arial"/>
              </a:rPr>
              <a:t>(</a:t>
            </a:r>
            <a:r>
              <a:rPr lang="en-AU" sz="1600" b="1" i="0" dirty="0">
                <a:solidFill>
                  <a:schemeClr val="tx1"/>
                </a:solidFill>
                <a:latin typeface="Arial"/>
                <a:cs typeface="Arial"/>
              </a:rPr>
              <a:t>Note: </a:t>
            </a:r>
            <a:r>
              <a:rPr lang="en-AU" sz="1600" i="0" dirty="0">
                <a:solidFill>
                  <a:schemeClr val="tx1"/>
                </a:solidFill>
                <a:latin typeface="Arial"/>
                <a:cs typeface="Arial"/>
              </a:rPr>
              <a:t>Stage 1 content reviewed)</a:t>
            </a:r>
            <a:endParaRPr lang="en-AU" sz="1600" b="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E08614-54B2-63B3-D9B4-7D7A56651530}"/>
              </a:ext>
            </a:extLst>
          </p:cNvPr>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377517250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1357B-A944-5573-7E80-6FBE51335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A7C31-6BC3-5464-5C99-5E100141D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D5C401-C069-0E6A-B54F-9F060D925B5F}"/>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latin typeface="Arial"/>
                <a:cs typeface="Arial"/>
              </a:rPr>
              <a:t>Additive relations A</a:t>
            </a:r>
          </a:p>
          <a:p>
            <a:endParaRPr lang="en-AU" dirty="0"/>
          </a:p>
          <a:p>
            <a:r>
              <a:rPr lang="en-AU" b="1" dirty="0">
                <a:latin typeface="Arial" panose="020B0604020202020204" pitchFamily="34" charset="0"/>
                <a:cs typeface="Arial" panose="020B0604020202020204" pitchFamily="34" charset="0"/>
              </a:rPr>
              <a:t>O</a:t>
            </a:r>
            <a:r>
              <a:rPr lang="en-AU" b="1" dirty="0">
                <a:latin typeface="Arial"/>
                <a:cs typeface="Arial"/>
              </a:rPr>
              <a:t>ne adds, one subtracts</a:t>
            </a:r>
          </a:p>
          <a:p>
            <a:r>
              <a:rPr lang="en-AU" dirty="0">
                <a:solidFill>
                  <a:srgbClr val="000000"/>
                </a:solidFill>
                <a:latin typeface="Arial"/>
                <a:cs typeface="Arial"/>
              </a:rPr>
              <a:t>This resource corresponds to Resource </a:t>
            </a:r>
            <a:r>
              <a:rPr lang="en-AU" dirty="0">
                <a:latin typeface="Arial"/>
                <a:cs typeface="Arial"/>
              </a:rPr>
              <a:t>17 </a:t>
            </a:r>
            <a:r>
              <a:rPr lang="en-AU" b="0" dirty="0">
                <a:latin typeface="Arial"/>
                <a:cs typeface="Arial"/>
              </a:rPr>
              <a:t>– </a:t>
            </a:r>
            <a:r>
              <a:rPr lang="en-AU" dirty="0">
                <a:latin typeface="Arial"/>
                <a:cs typeface="Arial"/>
              </a:rPr>
              <a:t>playing cards and Figure15 in Stage 2 Unit 6.</a:t>
            </a:r>
          </a:p>
          <a:p>
            <a:endParaRPr lang="en-AU" dirty="0">
              <a:solidFill>
                <a:srgbClr val="000000"/>
              </a:solidFill>
              <a:latin typeface="Arial"/>
              <a:cs typeface="Arial"/>
            </a:endParaRPr>
          </a:p>
          <a:p>
            <a:pPr marL="285750" indent="-285750">
              <a:buFont typeface="Arial" panose="020B0604020202020204" pitchFamily="34" charset="0"/>
              <a:buChar char="•"/>
            </a:pPr>
            <a:r>
              <a:rPr lang="en-AU" dirty="0">
                <a:latin typeface="Arial"/>
                <a:cs typeface="Arial"/>
              </a:rPr>
              <a:t>Give pairs of students a set of cards from </a:t>
            </a:r>
            <a:r>
              <a:rPr lang="en-AU" b="0" dirty="0">
                <a:latin typeface="Arial"/>
                <a:cs typeface="Arial"/>
              </a:rPr>
              <a:t>Resource </a:t>
            </a:r>
            <a:r>
              <a:rPr lang="en-AU" dirty="0">
                <a:latin typeface="Arial"/>
                <a:cs typeface="Arial"/>
              </a:rPr>
              <a:t>17 </a:t>
            </a:r>
            <a:r>
              <a:rPr lang="en-AU" b="0" dirty="0">
                <a:latin typeface="Arial"/>
                <a:cs typeface="Arial"/>
              </a:rPr>
              <a:t>– </a:t>
            </a:r>
            <a:r>
              <a:rPr lang="en-AU" dirty="0">
                <a:latin typeface="Arial"/>
                <a:cs typeface="Arial"/>
              </a:rPr>
              <a:t>playing cards. They will also need a whiteboard each to record their number sentences.</a:t>
            </a:r>
          </a:p>
          <a:p>
            <a:pPr marL="285750" indent="-285750">
              <a:buFont typeface="Arial"/>
              <a:buChar char="•"/>
            </a:pPr>
            <a:r>
              <a:rPr lang="en-AU" dirty="0"/>
              <a:t>One student starts with the number 50 at the top of their whiteboard. Their aim is to subtract numbers until they reach zero. The other student starts with zero at the top of their whiteboard. Their aim is to add numbers until they reach 50.</a:t>
            </a:r>
          </a:p>
          <a:p>
            <a:pPr marL="285750" indent="-285750">
              <a:buFont typeface="Arial"/>
              <a:buChar char="•"/>
            </a:pPr>
            <a:r>
              <a:rPr lang="en-AU" dirty="0"/>
              <a:t>Students place the cards </a:t>
            </a:r>
            <a:r>
              <a:rPr lang="en-AU" b="0" dirty="0"/>
              <a:t>in </a:t>
            </a:r>
            <a:r>
              <a:rPr lang="en-AU" dirty="0"/>
              <a:t>a pile between them, face down.</a:t>
            </a:r>
          </a:p>
          <a:p>
            <a:pPr marL="285750" indent="-285750">
              <a:buFont typeface="Arial"/>
              <a:buChar char="•"/>
            </a:pPr>
            <a:r>
              <a:rPr lang="en-AU" dirty="0">
                <a:latin typeface="Arial"/>
                <a:cs typeface="Arial"/>
              </a:rPr>
              <a:t>The first student turns over 3 cards. They must select 2 cards for both players to use. These cards can be used individually or combined to make a 2-digit number. If a 2-digit number is made, both students must use the exact same number. The card that is not selected is discarded to a rubbish pile.</a:t>
            </a:r>
          </a:p>
          <a:p>
            <a:pPr marL="285750" indent="-285750">
              <a:buFont typeface="Arial"/>
              <a:buChar char="•"/>
            </a:pPr>
            <a:r>
              <a:rPr lang="en-AU" dirty="0">
                <a:latin typeface="Arial"/>
                <a:cs typeface="Arial"/>
              </a:rPr>
              <a:t>Both students record their number sentence on their individual whiteboard</a:t>
            </a:r>
            <a:r>
              <a:rPr lang="en-AU" b="0" dirty="0">
                <a:latin typeface="Arial"/>
                <a:cs typeface="Arial"/>
              </a:rPr>
              <a:t>. </a:t>
            </a:r>
            <a:endParaRPr lang="en-AU" dirty="0">
              <a:latin typeface="Arial"/>
              <a:cs typeface="Arial"/>
            </a:endParaRPr>
          </a:p>
          <a:p>
            <a:pPr marL="285750" indent="-285750">
              <a:buFont typeface="Arial"/>
              <a:buChar char="•"/>
            </a:pPr>
            <a:r>
              <a:rPr lang="en-AU" dirty="0">
                <a:latin typeface="Arial"/>
                <a:cs typeface="Arial"/>
              </a:rPr>
              <a:t>Ask students the following:</a:t>
            </a:r>
          </a:p>
          <a:p>
            <a:r>
              <a:rPr lang="en-AU" dirty="0">
                <a:latin typeface="Arial"/>
                <a:cs typeface="Arial"/>
              </a:rPr>
              <a:t>   What do you think will happen if 2-digit numbers continue to be added or subtracted to each list?</a:t>
            </a:r>
          </a:p>
          <a:p>
            <a:r>
              <a:rPr lang="en-AU" dirty="0">
                <a:latin typeface="Arial"/>
                <a:cs typeface="Arial"/>
              </a:rPr>
              <a:t>   How many turns do you think will be needed to reach your target number?</a:t>
            </a:r>
          </a:p>
          <a:p>
            <a:pPr marL="285750" indent="-285750">
              <a:buFont typeface="Arial"/>
              <a:buChar char="•"/>
            </a:pPr>
            <a:r>
              <a:rPr lang="en-AU" dirty="0">
                <a:latin typeface="Arial"/>
                <a:cs typeface="Arial"/>
              </a:rPr>
              <a:t>The second student repeats this process by turning over 3 cards from the top of the pile and choosing which 2 to keep and use.</a:t>
            </a:r>
          </a:p>
          <a:p>
            <a:pPr marL="285750" indent="-285750">
              <a:buFont typeface="Arial"/>
              <a:buChar char="•"/>
            </a:pPr>
            <a:r>
              <a:rPr lang="en-AU" dirty="0">
                <a:latin typeface="Arial"/>
                <a:cs typeface="Arial"/>
              </a:rPr>
              <a:t>The game continues, with the players taking turns to select the cards and recording their individual number sentences until a player hits their target number (see Figure 15).</a:t>
            </a:r>
          </a:p>
          <a:p>
            <a:pPr marL="285750" indent="-285750">
              <a:buFont typeface="Arial"/>
              <a:buChar char="•"/>
            </a:pPr>
            <a:r>
              <a:rPr lang="en-AU" sz="1600" kern="1200" dirty="0">
                <a:solidFill>
                  <a:schemeClr val="tx1"/>
                </a:solidFill>
                <a:effectLst/>
                <a:latin typeface="Arial" panose="020B0604020202020204" pitchFamily="34" charset="0"/>
                <a:ea typeface="+mn-ea"/>
                <a:cs typeface="Arial" panose="020B0604020202020204" pitchFamily="34" charset="0"/>
              </a:rPr>
              <a:t>If time permits, students swap roles and play again. Prior to playing, have students predict whether they'll finish at the same time.</a:t>
            </a:r>
          </a:p>
          <a:p>
            <a:endParaRPr lang="en-AU" sz="1600" b="1" kern="1200" dirty="0">
              <a:solidFill>
                <a:schemeClr val="tx1"/>
              </a:solidFill>
              <a:effectLst/>
              <a:latin typeface="Arial" panose="020B0604020202020204" pitchFamily="34" charset="0"/>
              <a:ea typeface="+mn-ea"/>
              <a:cs typeface="Arial" panose="020B0604020202020204" pitchFamily="34" charset="0"/>
            </a:endParaRPr>
          </a:p>
          <a:p>
            <a:r>
              <a:rPr lang="en-AU" sz="1600" b="1" kern="1200" dirty="0">
                <a:solidFill>
                  <a:schemeClr val="tx1"/>
                </a:solidFill>
                <a:effectLst/>
                <a:latin typeface="Arial" panose="020B0604020202020204" pitchFamily="34" charset="0"/>
                <a:ea typeface="+mn-ea"/>
                <a:cs typeface="Arial" panose="020B0604020202020204" pitchFamily="34" charset="0"/>
              </a:rPr>
              <a:t>Note:</a:t>
            </a:r>
            <a:r>
              <a:rPr lang="en-AU" sz="1600" kern="1200" dirty="0">
                <a:solidFill>
                  <a:schemeClr val="tx1"/>
                </a:solidFill>
                <a:effectLst/>
                <a:latin typeface="Arial" panose="020B0604020202020204" pitchFamily="34" charset="0"/>
                <a:ea typeface="+mn-ea"/>
                <a:cs typeface="Arial" panose="020B0604020202020204" pitchFamily="34" charset="0"/>
              </a:rPr>
              <a:t> the power in this activity comes from the students noticing what is happening as they progress through the game. As each player is using the same numbers, students should both reach their target number at the same time. A class discussion of how and why this happens is an important teaching opportunity.</a:t>
            </a:r>
          </a:p>
          <a:p>
            <a:pPr marL="285750" indent="-285750">
              <a:buFont typeface="Arial"/>
              <a:buChar char="•"/>
            </a:pPr>
            <a:endParaRPr lang="en-AU" dirty="0">
              <a:latin typeface="Arial"/>
              <a:cs typeface="Arial"/>
            </a:endParaRPr>
          </a:p>
          <a:p>
            <a:endParaRPr lang="en-AU" b="0" dirty="0"/>
          </a:p>
          <a:p>
            <a:endParaRPr lang="en-AU" b="1" dirty="0"/>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DCB68029-1079-7750-C066-A2D83C7716ED}"/>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189733854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F317-3364-6231-8AEE-C5FF33E12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BBFEF-D03E-AA3B-A2A8-4361146016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33587-4268-C522-FE25-34BEE041EE4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946D6C7-77F1-CF1E-B9CE-772F33F99BCA}"/>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25539304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F09C7-9EF0-30BA-87E1-D6AF0E164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39073-7E68-EC8A-8A3D-D71BD9D9DC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013DB-9260-43A5-1F20-1F554DE03BF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8)</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Additive relations A</a:t>
            </a:r>
          </a:p>
        </p:txBody>
      </p:sp>
      <p:sp>
        <p:nvSpPr>
          <p:cNvPr id="4" name="Slide Number Placeholder 3">
            <a:extLst>
              <a:ext uri="{FF2B5EF4-FFF2-40B4-BE49-F238E27FC236}">
                <a16:creationId xmlns:a16="http://schemas.microsoft.com/office/drawing/2014/main" id="{563542BF-7873-12F2-CA52-467C64AD3406}"/>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118234673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4BF0-4FF1-036E-4A2B-1C3E4099E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E256E-6846-CC17-BB34-FA4EF65FF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44099-A3F4-08E3-E889-DE3740D7F876}"/>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sz="1600" kern="1200" dirty="0">
                <a:solidFill>
                  <a:schemeClr val="tx1"/>
                </a:solidFill>
                <a:effectLst/>
                <a:latin typeface="Arial" panose="020B0604020202020204" pitchFamily="34" charset="0"/>
                <a:ea typeface="+mn-ea"/>
                <a:cs typeface="Arial" panose="020B0604020202020204" pitchFamily="34" charset="0"/>
              </a:rPr>
              <a:t>Additive relations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6D057D0-815E-46FE-671F-96E8CA565CEB}"/>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146011219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9A7E-601D-B217-99C4-FE98372AE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8F7CC-0813-1EB4-3899-00043B698E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173D81-8131-41F7-E5D2-A718743F021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b="0"/>
              <a:t>Data A</a:t>
            </a:r>
          </a:p>
        </p:txBody>
      </p:sp>
      <p:sp>
        <p:nvSpPr>
          <p:cNvPr id="4" name="Slide Number Placeholder 3">
            <a:extLst>
              <a:ext uri="{FF2B5EF4-FFF2-40B4-BE49-F238E27FC236}">
                <a16:creationId xmlns:a16="http://schemas.microsoft.com/office/drawing/2014/main" id="{48526F28-86A3-8899-A53B-8E710CE7D4E7}"/>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158114540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39377-2907-3BBD-108B-DD487534A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6FD2F-B33D-7099-B438-B12BAD2292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0F68AC-1A84-3F75-4358-F96C471F3AE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b="0"/>
              <a:t>Partitioned fractions B</a:t>
            </a:r>
          </a:p>
          <a:p>
            <a:pPr>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B35F9B-B1C6-0A98-E12E-C2968DF42BFC}"/>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327813774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DD36A-CE7B-347E-7CEE-779F36A55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E6A57-CAC2-8726-654E-4A9B76F58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745F70-34F1-B28B-2FD7-63AFA2193B42}"/>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r>
              <a:rPr lang="en-AU" sz="1600" b="0" i="0" kern="1200" dirty="0">
                <a:solidFill>
                  <a:schemeClr val="tx1"/>
                </a:solidFill>
                <a:effectLst/>
                <a:latin typeface="Arial" panose="020B0604020202020204" pitchFamily="34" charset="0"/>
                <a:ea typeface="+mn-ea"/>
                <a:cs typeface="Arial" panose="020B0604020202020204" pitchFamily="34" charset="0"/>
              </a:rPr>
              <a:t>Two-dimensional spatial structure B </a:t>
            </a:r>
            <a:r>
              <a:rPr lang="en-AU" sz="1600" i="0" dirty="0">
                <a:solidFill>
                  <a:schemeClr val="tx1"/>
                </a:solidFill>
                <a:latin typeface="Arial"/>
                <a:cs typeface="Arial"/>
              </a:rPr>
              <a:t>(</a:t>
            </a:r>
            <a:r>
              <a:rPr lang="en-AU" sz="1600" b="1" i="0" dirty="0">
                <a:solidFill>
                  <a:schemeClr val="tx1"/>
                </a:solidFill>
                <a:latin typeface="Arial"/>
                <a:cs typeface="Arial"/>
              </a:rPr>
              <a:t>Note: </a:t>
            </a:r>
            <a:r>
              <a:rPr lang="en-AU" sz="1600" i="0" dirty="0">
                <a:solidFill>
                  <a:schemeClr val="tx1"/>
                </a:solidFill>
                <a:latin typeface="Arial"/>
                <a:cs typeface="Arial"/>
              </a:rPr>
              <a:t>Stage 1 content reviewed)</a:t>
            </a:r>
            <a:endParaRPr lang="en-AU" sz="1600" b="0" i="0" kern="1200" dirty="0">
              <a:solidFill>
                <a:schemeClr val="tx1"/>
              </a:solidFill>
              <a:effectLst/>
              <a:latin typeface="Arial" panose="020B0604020202020204" pitchFamily="34" charset="0"/>
              <a:ea typeface="+mn-ea"/>
              <a:cs typeface="Arial" panose="020B0604020202020204" pitchFamily="34" charset="0"/>
            </a:endParaRPr>
          </a:p>
          <a:p>
            <a:br>
              <a:rPr lang="en-AU" sz="1600" b="0" i="0" kern="1200" dirty="0">
                <a:solidFill>
                  <a:schemeClr val="tx1"/>
                </a:solidFill>
                <a:effectLst/>
                <a:latin typeface="Arial" panose="020B0604020202020204" pitchFamily="34" charset="0"/>
                <a:ea typeface="+mn-ea"/>
                <a:cs typeface="Arial" panose="020B0604020202020204" pitchFamily="34" charset="0"/>
              </a:rPr>
            </a:b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7D4E9E5-FBA0-8012-41E7-84518A8FA12F}"/>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396120054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A89CE-950F-1265-1510-ABEA61986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08BC2A-CE18-88CF-8C8A-8964058F19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2D6F4-AE56-63AB-5986-7D394322BF33}"/>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latin typeface="Arial"/>
                <a:cs typeface="Arial"/>
              </a:rPr>
              <a:t>Additive relations A</a:t>
            </a:r>
          </a:p>
          <a:p>
            <a:endParaRPr lang="en-AU" dirty="0"/>
          </a:p>
          <a:p>
            <a:r>
              <a:rPr lang="en-AU" b="1" dirty="0">
                <a:latin typeface="Arial" panose="020B0604020202020204" pitchFamily="34" charset="0"/>
                <a:cs typeface="Arial" panose="020B0604020202020204" pitchFamily="34" charset="0"/>
              </a:rPr>
              <a:t>U</a:t>
            </a:r>
            <a:r>
              <a:rPr lang="en-AU" b="1" dirty="0">
                <a:latin typeface="Arial"/>
                <a:cs typeface="Arial"/>
              </a:rPr>
              <a:t>se addition and subtraction 2</a:t>
            </a:r>
          </a:p>
          <a:p>
            <a:r>
              <a:rPr lang="en-AU" b="0" dirty="0">
                <a:latin typeface="Arial"/>
                <a:cs typeface="Arial"/>
              </a:rPr>
              <a:t>This </a:t>
            </a:r>
            <a:r>
              <a:rPr lang="en-AU" dirty="0">
                <a:latin typeface="Arial"/>
                <a:cs typeface="Arial"/>
              </a:rPr>
              <a:t>activity is an adaptation of </a:t>
            </a:r>
            <a:r>
              <a:rPr lang="en-AU" i="1" dirty="0">
                <a:latin typeface="Arial"/>
                <a:cs typeface="Arial"/>
              </a:rPr>
              <a:t>Target Number</a:t>
            </a:r>
            <a:r>
              <a:rPr lang="en-AU" dirty="0">
                <a:latin typeface="Arial"/>
                <a:cs typeface="Arial"/>
              </a:rPr>
              <a:t> from Math for Love by Finkel.</a:t>
            </a:r>
          </a:p>
          <a:p>
            <a:endParaRPr lang="en-AU" dirty="0">
              <a:latin typeface="Arial"/>
              <a:cs typeface="Arial"/>
            </a:endParaRPr>
          </a:p>
          <a:p>
            <a:pPr marL="285750" indent="-285750">
              <a:buFont typeface="Arial"/>
              <a:buChar char="•"/>
            </a:pPr>
            <a:r>
              <a:rPr lang="en-AU" dirty="0">
                <a:latin typeface="Arial"/>
                <a:cs typeface="Arial"/>
              </a:rPr>
              <a:t>Write a 2-digit ‘target’ number on the board.</a:t>
            </a:r>
          </a:p>
          <a:p>
            <a:pPr marL="285750" indent="-285750">
              <a:buFont typeface="Arial"/>
              <a:buChar char="•"/>
            </a:pPr>
            <a:r>
              <a:rPr lang="en-AU" dirty="0">
                <a:latin typeface="Arial"/>
                <a:cs typeface="Arial"/>
              </a:rPr>
              <a:t>Using individual whiteboards, students write down as many different number sentences that have the target number as the answer. They must use addition and subtraction </a:t>
            </a:r>
            <a:r>
              <a:rPr lang="en-AU" b="0" dirty="0">
                <a:latin typeface="Arial"/>
                <a:cs typeface="Arial"/>
              </a:rPr>
              <a:t>in </a:t>
            </a:r>
            <a:r>
              <a:rPr lang="en-AU" dirty="0">
                <a:latin typeface="Arial"/>
                <a:cs typeface="Arial"/>
              </a:rPr>
              <a:t>their number sentence</a:t>
            </a:r>
            <a:r>
              <a:rPr lang="en-AU" b="0" dirty="0">
                <a:latin typeface="Arial"/>
                <a:cs typeface="Arial"/>
              </a:rPr>
              <a:t>. </a:t>
            </a:r>
            <a:r>
              <a:rPr lang="en-AU" dirty="0">
                <a:latin typeface="Arial"/>
                <a:cs typeface="Arial"/>
              </a:rPr>
              <a:t>For example, 32 + 7 − 4 = 35.</a:t>
            </a:r>
          </a:p>
          <a:p>
            <a:pPr marL="285750" indent="-285750">
              <a:buFont typeface="Arial"/>
              <a:buChar char="•"/>
            </a:pPr>
            <a:r>
              <a:rPr lang="en-AU" dirty="0">
                <a:latin typeface="Arial"/>
                <a:cs typeface="Arial"/>
              </a:rPr>
              <a:t>Students turn and talk to a partner to share one of their number sentences and describe the strategies they used to create it.</a:t>
            </a:r>
          </a:p>
          <a:p>
            <a:endParaRPr lang="en-AU" b="1" dirty="0"/>
          </a:p>
          <a:p>
            <a:endParaRPr lang="en-AU" b="1" dirty="0"/>
          </a:p>
          <a:p>
            <a:pPr marL="342900" indent="-342900">
              <a:buFont typeface="+mj-lt"/>
              <a:buAutoNum type="arabicPeriod"/>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E60FA97F-9E70-99B7-AAAC-955F14E790F4}"/>
              </a:ext>
            </a:extLst>
          </p:cNvPr>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45214230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8AB36-B6ED-6ECD-8CF4-84257D0799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FE55D5-5639-DE69-A2D8-696E7A3457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A55242-B4BD-6377-9CCD-B4C50FD03717}"/>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[Focus area A/B]</a:t>
            </a:r>
          </a:p>
        </p:txBody>
      </p:sp>
      <p:sp>
        <p:nvSpPr>
          <p:cNvPr id="4" name="Slide Number Placeholder 3">
            <a:extLst>
              <a:ext uri="{FF2B5EF4-FFF2-40B4-BE49-F238E27FC236}">
                <a16:creationId xmlns:a16="http://schemas.microsoft.com/office/drawing/2014/main" id="{D0956C29-A4E0-39C4-3DC1-CB67914E66AD}"/>
              </a:ext>
            </a:extLst>
          </p:cNvPr>
          <p:cNvSpPr>
            <a:spLocks noGrp="1"/>
          </p:cNvSpPr>
          <p:nvPr>
            <p:ph type="sldNum" sz="quarter" idx="5"/>
          </p:nvPr>
        </p:nvSpPr>
        <p:spPr/>
        <p:txBody>
          <a:bodyPr/>
          <a:lstStyle/>
          <a:p>
            <a:fld id="{B07158C4-A119-4B78-9DE8-A50001BC31DC}" type="slidenum">
              <a:rPr lang="en-AU" smtClean="0"/>
              <a:pPr/>
              <a:t>67</a:t>
            </a:fld>
            <a:endParaRPr lang="en-AU"/>
          </a:p>
        </p:txBody>
      </p:sp>
    </p:spTree>
    <p:extLst>
      <p:ext uri="{BB962C8B-B14F-4D97-AF65-F5344CB8AC3E}">
        <p14:creationId xmlns:p14="http://schemas.microsoft.com/office/powerpoint/2010/main" val="29121575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B07158C4-A119-4B78-9DE8-A50001BC31DC}" type="slidenum">
              <a:rPr lang="en-AU" smtClean="0"/>
              <a:pPr/>
              <a:t>68</a:t>
            </a:fld>
            <a:endParaRPr lang="en-AU"/>
          </a:p>
        </p:txBody>
      </p:sp>
    </p:spTree>
    <p:extLst>
      <p:ext uri="{BB962C8B-B14F-4D97-AF65-F5344CB8AC3E}">
        <p14:creationId xmlns:p14="http://schemas.microsoft.com/office/powerpoint/2010/main" val="413248540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69</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40.xml"/><Relationship Id="rId3" Type="http://schemas.openxmlformats.org/officeDocument/2006/relationships/slide" Target="slide4.xml"/><Relationship Id="rId7" Type="http://schemas.openxmlformats.org/officeDocument/2006/relationships/slide" Target="slide33.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6.xml"/><Relationship Id="rId5" Type="http://schemas.openxmlformats.org/officeDocument/2006/relationships/slide" Target="slide19.xml"/><Relationship Id="rId10" Type="http://schemas.openxmlformats.org/officeDocument/2006/relationships/slide" Target="slide54.xml"/><Relationship Id="rId4" Type="http://schemas.openxmlformats.org/officeDocument/2006/relationships/slide" Target="slide11.xml"/><Relationship Id="rId9" Type="http://schemas.openxmlformats.org/officeDocument/2006/relationships/slide" Target="slide4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svg"/><Relationship Id="rId3" Type="http://schemas.openxmlformats.org/officeDocument/2006/relationships/image" Target="../media/image12.png"/><Relationship Id="rId7" Type="http://schemas.openxmlformats.org/officeDocument/2006/relationships/image" Target="../media/image16.svg"/><Relationship Id="rId12" Type="http://schemas.openxmlformats.org/officeDocument/2006/relationships/image" Target="../media/image21.png"/><Relationship Id="rId2" Type="http://schemas.openxmlformats.org/officeDocument/2006/relationships/notesSlide" Target="../notesSlides/notesSlide10.xml"/><Relationship Id="rId16" Type="http://schemas.openxmlformats.org/officeDocument/2006/relationships/image" Target="../media/image25.svg"/><Relationship Id="rId1" Type="http://schemas.openxmlformats.org/officeDocument/2006/relationships/slideLayout" Target="../slideLayouts/slideLayout4.xml"/><Relationship Id="rId6" Type="http://schemas.openxmlformats.org/officeDocument/2006/relationships/image" Target="../media/image15.png"/><Relationship Id="rId11" Type="http://schemas.openxmlformats.org/officeDocument/2006/relationships/image" Target="../media/image20.svg"/><Relationship Id="rId5" Type="http://schemas.openxmlformats.org/officeDocument/2006/relationships/image" Target="../media/image14.svg"/><Relationship Id="rId15" Type="http://schemas.openxmlformats.org/officeDocument/2006/relationships/image" Target="../media/image24.sv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svg"/><Relationship Id="rId14" Type="http://schemas.openxmlformats.org/officeDocument/2006/relationships/image" Target="../media/image2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4.xml"/><Relationship Id="rId4" Type="http://schemas.openxmlformats.org/officeDocument/2006/relationships/image" Target="../media/image31.png"/></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32.png"/></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6.xml"/><Relationship Id="rId1" Type="http://schemas.openxmlformats.org/officeDocument/2006/relationships/slideLayout" Target="../slideLayouts/slideLayout4.xml"/><Relationship Id="rId4" Type="http://schemas.openxmlformats.org/officeDocument/2006/relationships/image" Target="../media/image33.png"/></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4.xml"/><Relationship Id="rId4" Type="http://schemas.openxmlformats.org/officeDocument/2006/relationships/image" Target="../media/image34.png"/></Relationships>
</file>

<file path=ppt/slides/_rels/slide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1.xml"/><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4.xml"/><Relationship Id="rId4" Type="http://schemas.openxmlformats.org/officeDocument/2006/relationships/image" Target="../media/image35.png"/></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4.xml"/><Relationship Id="rId1" Type="http://schemas.openxmlformats.org/officeDocument/2006/relationships/slideLayout" Target="../slideLayouts/slideLayout4.xml"/><Relationship Id="rId4" Type="http://schemas.openxmlformats.org/officeDocument/2006/relationships/image" Target="../media/image36.png"/></Relationships>
</file>

<file path=ppt/slides/_rels/slide4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9.xml"/><Relationship Id="rId1" Type="http://schemas.openxmlformats.org/officeDocument/2006/relationships/slideLayout" Target="../slideLayouts/slideLayout4.xml"/><Relationship Id="rId5" Type="http://schemas.openxmlformats.org/officeDocument/2006/relationships/hyperlink" Target="https://www.didax.com/apps/120-board/" TargetMode="External"/><Relationship Id="rId4" Type="http://schemas.openxmlformats.org/officeDocument/2006/relationships/image" Target="../media/image37.png"/></Relationships>
</file>

<file path=ppt/slides/_rels/slide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0.xml"/><Relationship Id="rId1" Type="http://schemas.openxmlformats.org/officeDocument/2006/relationships/slideLayout" Target="../slideLayouts/slideLayout4.xml"/><Relationship Id="rId4" Type="http://schemas.openxmlformats.org/officeDocument/2006/relationships/image" Target="../media/image38.png"/></Relationships>
</file>

<file path=ppt/slides/_rels/slide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1.xml"/><Relationship Id="rId1" Type="http://schemas.openxmlformats.org/officeDocument/2006/relationships/slideLayout" Target="../slideLayouts/slideLayout4.xml"/><Relationship Id="rId4" Type="http://schemas.openxmlformats.org/officeDocument/2006/relationships/image" Target="../media/image39.png"/></Relationships>
</file>

<file path=ppt/slides/_rels/slide5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2.xml"/><Relationship Id="rId1" Type="http://schemas.openxmlformats.org/officeDocument/2006/relationships/slideLayout" Target="../slideLayouts/slideLayout4.xml"/><Relationship Id="rId4" Type="http://schemas.openxmlformats.org/officeDocument/2006/relationships/image" Target="../media/image40.png"/></Relationships>
</file>

<file path=ppt/slides/_rels/slide5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3.xml"/><Relationship Id="rId1" Type="http://schemas.openxmlformats.org/officeDocument/2006/relationships/slideLayout" Target="../slideLayouts/slideLayout4.xml"/><Relationship Id="rId4" Type="http://schemas.openxmlformats.org/officeDocument/2006/relationships/image" Target="../media/image41.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5.xml"/><Relationship Id="rId1" Type="http://schemas.openxmlformats.org/officeDocument/2006/relationships/slideLayout" Target="../slideLayouts/slideLayout8.xml"/><Relationship Id="rId4" Type="http://schemas.openxmlformats.org/officeDocument/2006/relationships/image" Target="../media/image42.png"/></Relationships>
</file>

<file path=ppt/slides/_rels/slide5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6.xml"/><Relationship Id="rId1" Type="http://schemas.openxmlformats.org/officeDocument/2006/relationships/slideLayout" Target="../slideLayouts/slideLayout4.xml"/><Relationship Id="rId4" Type="http://schemas.openxmlformats.org/officeDocument/2006/relationships/image" Target="../media/image43.png"/></Relationships>
</file>

<file path=ppt/slides/_rels/slide5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7.xml"/><Relationship Id="rId1" Type="http://schemas.openxmlformats.org/officeDocument/2006/relationships/slideLayout" Target="../slideLayouts/slideLayout4.xml"/><Relationship Id="rId5" Type="http://schemas.openxmlformats.org/officeDocument/2006/relationships/image" Target="../media/image44.png"/><Relationship Id="rId4" Type="http://schemas.openxmlformats.org/officeDocument/2006/relationships/image" Target="../media/image38.png"/></Relationships>
</file>

<file path=ppt/slides/_rels/slide5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8.xml"/><Relationship Id="rId1" Type="http://schemas.openxmlformats.org/officeDocument/2006/relationships/slideLayout" Target="../slideLayouts/slideLayout4.xml"/><Relationship Id="rId4" Type="http://schemas.openxmlformats.org/officeDocument/2006/relationships/image" Target="../media/image45.png"/></Relationships>
</file>

<file path=ppt/slides/_rels/slide5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9.xml"/><Relationship Id="rId1" Type="http://schemas.openxmlformats.org/officeDocument/2006/relationships/slideLayout" Target="../slideLayouts/slideLayout4.xml"/><Relationship Id="rId4" Type="http://schemas.openxmlformats.org/officeDocument/2006/relationships/image" Target="../media/image46.png"/></Relationships>
</file>

<file path=ppt/slides/_rels/slide6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5.xml"/><Relationship Id="rId1" Type="http://schemas.openxmlformats.org/officeDocument/2006/relationships/slideLayout" Target="../slideLayouts/slideLayout11.xml"/><Relationship Id="rId6" Type="http://schemas.openxmlformats.org/officeDocument/2006/relationships/image" Target="../media/image48.svg"/><Relationship Id="rId5" Type="http://schemas.openxmlformats.org/officeDocument/2006/relationships/image" Target="../media/image47.png"/><Relationship Id="rId4" Type="http://schemas.openxmlformats.org/officeDocument/2006/relationships/slide" Target="slide1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8" Type="http://schemas.openxmlformats.org/officeDocument/2006/relationships/hyperlink" Target="https://primarylearning.com.au/wp-content/uploads/2018/10/balancing-act-a-dice-game.pdf"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www.mathstart.net/earth-day-hooray.html" TargetMode="External"/><Relationship Id="rId12" Type="http://schemas.openxmlformats.org/officeDocument/2006/relationships/hyperlink" Target="https://aifs.gov.au/resources/short-articles/too-much-time-screens#:~:text=no%20screen%20time%20for%20children,years%20(not%20including%20schoolwork)." TargetMode="External"/><Relationship Id="rId2" Type="http://schemas.openxmlformats.org/officeDocument/2006/relationships/notesSlide" Target="../notesSlides/notesSlide68.xml"/><Relationship Id="rId1" Type="http://schemas.openxmlformats.org/officeDocument/2006/relationships/slideLayout" Target="../slideLayouts/slideLayout13.xml"/><Relationship Id="rId6" Type="http://schemas.openxmlformats.org/officeDocument/2006/relationships/hyperlink" Target="https://mathforlove.com/lesson/target-number/" TargetMode="External"/><Relationship Id="rId11" Type="http://schemas.openxmlformats.org/officeDocument/2006/relationships/hyperlink" Target="https://newzealandcurriculum.tahurangi.education.govt.nz/equality-and-equations/5637167084.p" TargetMode="External"/><Relationship Id="rId5" Type="http://schemas.openxmlformats.org/officeDocument/2006/relationships/hyperlink" Target="https://curriculum.nsw.edu.au/" TargetMode="External"/><Relationship Id="rId10" Type="http://schemas.openxmlformats.org/officeDocument/2006/relationships/hyperlink" Target="https://nrich.maths.org/14797" TargetMode="External"/><Relationship Id="rId4" Type="http://schemas.openxmlformats.org/officeDocument/2006/relationships/hyperlink" Target="https://educationstandards.nsw.edu.au/wps/portal/nesa/home" TargetMode="External"/><Relationship Id="rId9" Type="http://schemas.openxmlformats.org/officeDocument/2006/relationships/hyperlink" Target="https://sites.google.com/education.nsw.gov.au/thinkingwhilemovingmathematics/thinking-while-moving/home-thinking-while-moving-in-mathematics/stage-2/multiplicative-relations-s2/chicken-scramble-multiply-s2" TargetMode="External"/></Relationships>
</file>

<file path=ppt/slides/_rels/slide69.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69.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998069-8808-F7B7-147A-0D45AF051C4E}"/>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41E659CE-3503-CAAB-868D-643BC7328B29}"/>
              </a:ext>
            </a:extLst>
          </p:cNvPr>
          <p:cNvSpPr>
            <a:spLocks noGrp="1"/>
          </p:cNvSpPr>
          <p:nvPr>
            <p:ph type="pic" sz="quarter" idx="13"/>
          </p:nvPr>
        </p:nvSpPr>
        <p:spPr>
          <a:xfrm>
            <a:off x="354000" y="1931625"/>
            <a:ext cx="11483999" cy="4498641"/>
          </a:xfrm>
        </p:spPr>
        <p:txBody>
          <a:bodyPr/>
          <a:lstStyle/>
          <a:p>
            <a:pPr marL="342900" indent="-342900">
              <a:lnSpc>
                <a:spcPct val="150000"/>
              </a:lnSpc>
              <a:buFont typeface="Arial"/>
              <a:buChar char="•"/>
            </a:pPr>
            <a:r>
              <a:rPr lang="en-AU" sz="1800" dirty="0">
                <a:latin typeface="+mn-lt"/>
                <a:ea typeface="+mn-lt"/>
                <a:cs typeface="+mn-lt"/>
              </a:rPr>
              <a:t>This resource is not a teaching and learning program. It should be used in conjunction with Stage 2 Year A Unit 6.</a:t>
            </a:r>
            <a:endParaRPr lang="en-AU" sz="1800" dirty="0">
              <a:solidFill>
                <a:srgbClr val="22272B"/>
              </a:solidFill>
              <a:latin typeface="+mn-lt"/>
            </a:endParaRPr>
          </a:p>
          <a:p>
            <a:pPr marL="342900" indent="-342900">
              <a:lnSpc>
                <a:spcPct val="150000"/>
              </a:lnSpc>
              <a:buFont typeface="Arial"/>
              <a:buChar char="•"/>
            </a:pPr>
            <a:r>
              <a:rPr lang="en-AU" sz="1800" dirty="0">
                <a:solidFill>
                  <a:srgbClr val="22272B"/>
                </a:solidFill>
                <a:latin typeface="+mn-lt"/>
              </a:rPr>
              <a:t>Classroom teachers are encouraged to </a:t>
            </a:r>
            <a:r>
              <a:rPr lang="en-AU" sz="1800" b="1" dirty="0">
                <a:solidFill>
                  <a:srgbClr val="22272B"/>
                </a:solidFill>
                <a:latin typeface="+mn-lt"/>
              </a:rPr>
              <a:t>add and adapt</a:t>
            </a:r>
            <a:r>
              <a:rPr lang="en-AU" sz="1800" dirty="0">
                <a:solidFill>
                  <a:srgbClr val="22272B"/>
                </a:solidFill>
                <a:latin typeface="+mn-lt"/>
              </a:rPr>
              <a:t> slides as required to meet the needs of their students.</a:t>
            </a:r>
          </a:p>
          <a:p>
            <a:pPr marL="342900" indent="-342900">
              <a:lnSpc>
                <a:spcPct val="150000"/>
              </a:lnSpc>
              <a:buFont typeface="Arial"/>
              <a:buChar char="•"/>
            </a:pPr>
            <a:r>
              <a:rPr lang="en-AU" sz="1800" dirty="0">
                <a:solidFill>
                  <a:srgbClr val="22272B"/>
                </a:solidFill>
                <a:latin typeface="+mn-lt"/>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dirty="0">
                <a:solidFill>
                  <a:srgbClr val="22272B"/>
                </a:solidFill>
                <a:latin typeface="+mn-lt"/>
              </a:rPr>
              <a:t>To convert the PowerPoint to Google Slides:</a:t>
            </a:r>
          </a:p>
          <a:p>
            <a:pPr marL="913765" lvl="1" indent="-457200">
              <a:lnSpc>
                <a:spcPct val="150000"/>
              </a:lnSpc>
              <a:buFont typeface="+mj-lt"/>
              <a:buAutoNum type="arabicPeriod"/>
            </a:pPr>
            <a:r>
              <a:rPr lang="en-AU" dirty="0">
                <a:solidFill>
                  <a:srgbClr val="22272B"/>
                </a:solidFill>
                <a:latin typeface="+mn-lt"/>
              </a:rPr>
              <a:t>Upload the file into Google Drive and open it.</a:t>
            </a:r>
          </a:p>
          <a:p>
            <a:pPr marL="913765" lvl="1" indent="-457200">
              <a:lnSpc>
                <a:spcPct val="150000"/>
              </a:lnSpc>
              <a:buFont typeface="+mj-lt"/>
              <a:buAutoNum type="arabicPeriod"/>
            </a:pPr>
            <a:r>
              <a:rPr lang="en-AU" dirty="0">
                <a:solidFill>
                  <a:srgbClr val="22272B"/>
                </a:solidFill>
                <a:latin typeface="+mn-lt"/>
              </a:rPr>
              <a:t>Go to File &gt; Save as Google Slides.</a:t>
            </a:r>
          </a:p>
          <a:p>
            <a:pPr marL="456565" lvl="1">
              <a:lnSpc>
                <a:spcPct val="150000"/>
              </a:lnSpc>
            </a:pPr>
            <a:r>
              <a:rPr lang="en-AU" dirty="0">
                <a:solidFill>
                  <a:srgbClr val="22272B"/>
                </a:solidFill>
                <a:latin typeface="+mn-lt"/>
              </a:rPr>
              <a:t>(Note – conversion may cause formatting changes in the slides.)</a:t>
            </a:r>
          </a:p>
        </p:txBody>
      </p:sp>
      <p:sp>
        <p:nvSpPr>
          <p:cNvPr id="2" name="Slide Number Placeholder 1">
            <a:extLst>
              <a:ext uri="{FF2B5EF4-FFF2-40B4-BE49-F238E27FC236}">
                <a16:creationId xmlns:a16="http://schemas.microsoft.com/office/drawing/2014/main" id="{CD087911-6789-4356-F538-4C4ABF1219E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202856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EF38185-B00A-9878-8E80-7D55E5647711}"/>
              </a:ext>
            </a:extLst>
          </p:cNvPr>
          <p:cNvSpPr>
            <a:spLocks noGrp="1"/>
          </p:cNvSpPr>
          <p:nvPr>
            <p:ph type="ctrTitle"/>
          </p:nvPr>
        </p:nvSpPr>
        <p:spPr/>
        <p:txBody>
          <a:bodyPr/>
          <a:lstStyle/>
          <a:p>
            <a:r>
              <a:rPr lang="en-AU">
                <a:effectLst/>
                <a:latin typeface="+mj-lt"/>
                <a:ea typeface="Times New Roman" panose="02020603050405020304" pitchFamily="18" charset="0"/>
              </a:rPr>
              <a:t>Review of Learning</a:t>
            </a:r>
            <a:endParaRPr lang="en-AU">
              <a:latin typeface="+mj-lt"/>
            </a:endParaRPr>
          </a:p>
        </p:txBody>
      </p:sp>
      <p:sp>
        <p:nvSpPr>
          <p:cNvPr id="11" name="Text Placeholder 10">
            <a:extLst>
              <a:ext uri="{FF2B5EF4-FFF2-40B4-BE49-F238E27FC236}">
                <a16:creationId xmlns:a16="http://schemas.microsoft.com/office/drawing/2014/main" id="{3D12AD43-6748-1D46-1B69-DCBF45A45856}"/>
              </a:ext>
            </a:extLst>
          </p:cNvPr>
          <p:cNvSpPr>
            <a:spLocks noGrp="1"/>
          </p:cNvSpPr>
          <p:nvPr>
            <p:ph type="body" sz="quarter" idx="10"/>
          </p:nvPr>
        </p:nvSpPr>
        <p:spPr/>
        <p:txBody>
          <a:bodyPr/>
          <a:lstStyle/>
          <a:p>
            <a:r>
              <a:rPr lang="en-AU">
                <a:latin typeface="+mj-lt"/>
                <a:cs typeface="Arial"/>
              </a:rPr>
              <a:t>Mathematics Stage 2 – Unit 6</a:t>
            </a:r>
          </a:p>
        </p:txBody>
      </p:sp>
      <p:pic>
        <p:nvPicPr>
          <p:cNvPr id="5" name="Picture Placeholder 4" descr="A group of dice on an orange surface&#10;&#10;">
            <a:extLst>
              <a:ext uri="{FF2B5EF4-FFF2-40B4-BE49-F238E27FC236}">
                <a16:creationId xmlns:a16="http://schemas.microsoft.com/office/drawing/2014/main" id="{80978C62-0887-B1BD-5142-01CF7146B8A8}"/>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830" r="1830"/>
          <a:stretch>
            <a:fillRect/>
          </a:stretch>
        </p:blipFill>
        <p:spPr/>
      </p:pic>
    </p:spTree>
    <p:extLst>
      <p:ext uri="{BB962C8B-B14F-4D97-AF65-F5344CB8AC3E}">
        <p14:creationId xmlns:p14="http://schemas.microsoft.com/office/powerpoint/2010/main" val="1661965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RoL1">
            <a:extLst>
              <a:ext uri="{FF2B5EF4-FFF2-40B4-BE49-F238E27FC236}">
                <a16:creationId xmlns:a16="http://schemas.microsoft.com/office/drawing/2014/main" id="{1B4FCA10-C38C-7EB1-6B3D-6210A414C65B}"/>
              </a:ext>
              <a:ext uri="{C183D7F6-B498-43B3-948B-1728B52AA6E4}">
                <adec:decorative xmlns:adec="http://schemas.microsoft.com/office/drawing/2017/decorative" val="1"/>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1</a:t>
              </a:r>
              <a:endParaRPr lang="en-AU">
                <a:solidFill>
                  <a:schemeClr val="accent1"/>
                </a:solidFill>
              </a:endParaRP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1</a:t>
              </a:r>
            </a:p>
          </p:txBody>
        </p:sp>
      </p:grpSp>
      <p:grpSp>
        <p:nvGrpSpPr>
          <p:cNvPr id="7" name="RoL2">
            <a:extLst>
              <a:ext uri="{FF2B5EF4-FFF2-40B4-BE49-F238E27FC236}">
                <a16:creationId xmlns:a16="http://schemas.microsoft.com/office/drawing/2014/main" id="{AF7A23A4-F1DB-31F7-E62C-F1BFA9349F64}"/>
              </a:ext>
              <a:ext uri="{C183D7F6-B498-43B3-948B-1728B52AA6E4}">
                <adec:decorative xmlns:adec="http://schemas.microsoft.com/office/drawing/2017/decorative" val="1"/>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2</a:t>
              </a:r>
              <a:endParaRPr lang="en-AU">
                <a:solidFill>
                  <a:schemeClr val="accent1"/>
                </a:solidFill>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RoL3">
            <a:extLst>
              <a:ext uri="{FF2B5EF4-FFF2-40B4-BE49-F238E27FC236}">
                <a16:creationId xmlns:a16="http://schemas.microsoft.com/office/drawing/2014/main" id="{DF37B4A1-413C-FC0F-E0B4-307A5BFA5855}"/>
              </a:ext>
              <a:ext uri="{C183D7F6-B498-43B3-948B-1728B52AA6E4}">
                <adec:decorative xmlns:adec="http://schemas.microsoft.com/office/drawing/2017/decorative" val="1"/>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3</a:t>
              </a:r>
              <a:endParaRPr lang="en-AU">
                <a:solidFill>
                  <a:schemeClr val="accent1"/>
                </a:solidFill>
              </a:endParaRP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RoL4">
            <a:extLst>
              <a:ext uri="{FF2B5EF4-FFF2-40B4-BE49-F238E27FC236}">
                <a16:creationId xmlns:a16="http://schemas.microsoft.com/office/drawing/2014/main" id="{C989DA6E-4839-1BBD-77AB-6F9CC520B670}"/>
              </a:ext>
              <a:ext uri="{C183D7F6-B498-43B3-948B-1728B52AA6E4}">
                <adec:decorative xmlns:adec="http://schemas.microsoft.com/office/drawing/2017/decorative" val="1"/>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4</a:t>
              </a:r>
              <a:endParaRPr lang="en-AU">
                <a:solidFill>
                  <a:schemeClr val="accent1"/>
                </a:solidFill>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7" name="RoL5">
            <a:extLst>
              <a:ext uri="{FF2B5EF4-FFF2-40B4-BE49-F238E27FC236}">
                <a16:creationId xmlns:a16="http://schemas.microsoft.com/office/drawing/2014/main" id="{5CA7685F-33D7-262A-AE71-7F572C4FD60A}"/>
              </a:ext>
              <a:ext uri="{C183D7F6-B498-43B3-948B-1728B52AA6E4}">
                <adec:decorative xmlns:adec="http://schemas.microsoft.com/office/drawing/2017/decorative" val="1"/>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5</a:t>
              </a:r>
              <a:endParaRPr lang="en-AU">
                <a:solidFill>
                  <a:schemeClr val="accent1"/>
                </a:solidFill>
              </a:endParaRPr>
            </a:p>
          </p:txBody>
        </p:sp>
        <p:sp>
          <p:nvSpPr>
            <p:cNvPr id="19" name="Oval 18">
              <a:hlinkClick r:id="rId7"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grpSp>
        <p:nvGrpSpPr>
          <p:cNvPr id="11" name="RoL6">
            <a:extLst>
              <a:ext uri="{FF2B5EF4-FFF2-40B4-BE49-F238E27FC236}">
                <a16:creationId xmlns:a16="http://schemas.microsoft.com/office/drawing/2014/main" id="{98348D52-CA50-F15C-B472-B152337D805F}"/>
              </a:ext>
              <a:ext uri="{C183D7F6-B498-43B3-948B-1728B52AA6E4}">
                <adec:decorative xmlns:adec="http://schemas.microsoft.com/office/drawing/2017/decorative" val="1"/>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6</a:t>
              </a:r>
              <a:endParaRPr lang="en-AU">
                <a:solidFill>
                  <a:schemeClr val="accent1"/>
                </a:solidFill>
              </a:endParaRPr>
            </a:p>
          </p:txBody>
        </p:sp>
        <p:sp>
          <p:nvSpPr>
            <p:cNvPr id="45" name="Oval 44">
              <a:hlinkClick r:id="rId8"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RoL7">
            <a:extLst>
              <a:ext uri="{FF2B5EF4-FFF2-40B4-BE49-F238E27FC236}">
                <a16:creationId xmlns:a16="http://schemas.microsoft.com/office/drawing/2014/main" id="{E73741F1-615E-A4A4-088D-E0A9187F983E}"/>
              </a:ext>
              <a:ext uri="{C183D7F6-B498-43B3-948B-1728B52AA6E4}">
                <adec:decorative xmlns:adec="http://schemas.microsoft.com/office/drawing/2017/decorative" val="1"/>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7</a:t>
              </a:r>
              <a:endParaRPr lang="en-AU">
                <a:solidFill>
                  <a:schemeClr val="accent1"/>
                </a:solidFill>
              </a:endParaRPr>
            </a:p>
          </p:txBody>
        </p:sp>
        <p:sp>
          <p:nvSpPr>
            <p:cNvPr id="42" name="Oval 41">
              <a:hlinkClick r:id="rId9"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RoL8">
            <a:extLst>
              <a:ext uri="{FF2B5EF4-FFF2-40B4-BE49-F238E27FC236}">
                <a16:creationId xmlns:a16="http://schemas.microsoft.com/office/drawing/2014/main" id="{8E45D1B3-369A-D013-FFE7-B91D37B811F7}"/>
              </a:ext>
              <a:ext uri="{C183D7F6-B498-43B3-948B-1728B52AA6E4}">
                <adec:decorative xmlns:adec="http://schemas.microsoft.com/office/drawing/2017/decorative" val="1"/>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rPr>
                <a:t>Review of learning </a:t>
              </a:r>
              <a:r>
                <a:rPr lang="en-AU">
                  <a:solidFill>
                    <a:schemeClr val="accent1"/>
                  </a:solidFill>
                  <a:latin typeface="+mj-lt"/>
                </a:rPr>
                <a:t>8</a:t>
              </a:r>
              <a:endParaRPr lang="en-AU">
                <a:solidFill>
                  <a:schemeClr val="accent1"/>
                </a:solidFill>
              </a:endParaRPr>
            </a:p>
          </p:txBody>
        </p:sp>
        <p:sp>
          <p:nvSpPr>
            <p:cNvPr id="39" name="Oval 38">
              <a:hlinkClick r:id="rId10"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rPr>
              <a:t>Review of learning 1</a:t>
            </a: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02BEC-BF78-56D7-9F45-000CDC8A501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45A8139-FDDB-532B-B162-01D27E23A37C}"/>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(1)</a:t>
            </a:r>
          </a:p>
        </p:txBody>
      </p:sp>
      <p:pic>
        <p:nvPicPr>
          <p:cNvPr id="4" name="Picture 3" descr="image of a finger selecting an option for a multiple choice or true and false">
            <a:extLst>
              <a:ext uri="{FF2B5EF4-FFF2-40B4-BE49-F238E27FC236}">
                <a16:creationId xmlns:a16="http://schemas.microsoft.com/office/drawing/2014/main" id="{9BDCD778-E71A-A4F2-9CEF-2A78DFB28F68}"/>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a:extLst>
              <a:ext uri="{FF2B5EF4-FFF2-40B4-BE49-F238E27FC236}">
                <a16:creationId xmlns:a16="http://schemas.microsoft.com/office/drawing/2014/main" id="{8326B5E5-C4FA-60BB-FBD1-105717701AB5}"/>
              </a:ext>
            </a:extLst>
          </p:cNvPr>
          <p:cNvSpPr>
            <a:spLocks noGrp="1"/>
          </p:cNvSpPr>
          <p:nvPr>
            <p:ph type="body" sz="quarter" idx="28"/>
          </p:nvPr>
        </p:nvSpPr>
        <p:spPr>
          <a:xfrm>
            <a:off x="360000" y="854818"/>
            <a:ext cx="11161440" cy="1776438"/>
          </a:xfrm>
        </p:spPr>
        <p:txBody>
          <a:bodyPr vert="horz" lIns="0" tIns="0" rIns="0" bIns="0" rtlCol="0" anchor="t">
            <a:noAutofit/>
          </a:bodyPr>
          <a:lstStyle/>
          <a:p>
            <a:pPr algn="ctr"/>
            <a:r>
              <a:rPr lang="en-US" sz="4400" dirty="0">
                <a:latin typeface="Arial"/>
                <a:cs typeface="Arial"/>
              </a:rPr>
              <a:t>Which number sentence is equivalent to</a:t>
            </a:r>
          </a:p>
        </p:txBody>
      </p:sp>
      <p:sp>
        <p:nvSpPr>
          <p:cNvPr id="9" name="B">
            <a:extLst>
              <a:ext uri="{FF2B5EF4-FFF2-40B4-BE49-F238E27FC236}">
                <a16:creationId xmlns:a16="http://schemas.microsoft.com/office/drawing/2014/main" id="{2579E796-78E6-099B-1516-BE205CC4FACD}"/>
              </a:ext>
            </a:extLst>
          </p:cNvPr>
          <p:cNvSpPr txBox="1"/>
          <p:nvPr/>
        </p:nvSpPr>
        <p:spPr>
          <a:xfrm>
            <a:off x="670560" y="333019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F399B6F6-69CC-336D-6578-FD4E095E833B}"/>
              </a:ext>
            </a:extLst>
          </p:cNvPr>
          <p:cNvSpPr>
            <a:spLocks noGrp="1"/>
          </p:cNvSpPr>
          <p:nvPr>
            <p:ph type="body" sz="quarter" idx="31"/>
          </p:nvPr>
        </p:nvSpPr>
        <p:spPr>
          <a:xfrm>
            <a:off x="1345520" y="3378831"/>
            <a:ext cx="10175920" cy="641396"/>
          </a:xfrm>
        </p:spPr>
        <p:txBody>
          <a:bodyPr anchor="ctr"/>
          <a:lstStyle/>
          <a:p>
            <a:r>
              <a:rPr lang="en-US" sz="3200" dirty="0">
                <a:ea typeface="+mn-lt"/>
                <a:cs typeface="+mn-lt"/>
              </a:rPr>
              <a:t>5 + 4 + 2 + 6</a:t>
            </a:r>
            <a:endParaRPr lang="en-US" sz="3200" dirty="0"/>
          </a:p>
        </p:txBody>
      </p:sp>
      <p:sp>
        <p:nvSpPr>
          <p:cNvPr id="10" name="B">
            <a:extLst>
              <a:ext uri="{FF2B5EF4-FFF2-40B4-BE49-F238E27FC236}">
                <a16:creationId xmlns:a16="http://schemas.microsoft.com/office/drawing/2014/main" id="{04CBC687-138E-8135-BF08-A76285D998BD}"/>
              </a:ext>
            </a:extLst>
          </p:cNvPr>
          <p:cNvSpPr txBox="1"/>
          <p:nvPr/>
        </p:nvSpPr>
        <p:spPr>
          <a:xfrm>
            <a:off x="670559" y="417811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22AB8397-9C8A-8BCB-A678-8D975278DBA7}"/>
              </a:ext>
            </a:extLst>
          </p:cNvPr>
          <p:cNvSpPr>
            <a:spLocks noGrp="1"/>
          </p:cNvSpPr>
          <p:nvPr>
            <p:ph type="body" sz="quarter" idx="30"/>
          </p:nvPr>
        </p:nvSpPr>
        <p:spPr>
          <a:xfrm>
            <a:off x="1345520" y="4226744"/>
            <a:ext cx="10175920" cy="641396"/>
          </a:xfrm>
        </p:spPr>
        <p:txBody>
          <a:bodyPr anchor="ctr"/>
          <a:lstStyle/>
          <a:p>
            <a:r>
              <a:rPr lang="en-US" sz="3200" dirty="0">
                <a:ea typeface="+mn-lt"/>
                <a:cs typeface="+mn-lt"/>
              </a:rPr>
              <a:t>4 + 3 + 2 + 1 + 5</a:t>
            </a:r>
            <a:endParaRPr lang="en-US" sz="3200" dirty="0"/>
          </a:p>
        </p:txBody>
      </p:sp>
      <p:sp>
        <p:nvSpPr>
          <p:cNvPr id="12" name="C">
            <a:extLst>
              <a:ext uri="{FF2B5EF4-FFF2-40B4-BE49-F238E27FC236}">
                <a16:creationId xmlns:a16="http://schemas.microsoft.com/office/drawing/2014/main" id="{C605E3A9-768F-B21E-1E87-27B06AEB3AF5}"/>
              </a:ext>
            </a:extLst>
          </p:cNvPr>
          <p:cNvSpPr txBox="1"/>
          <p:nvPr/>
        </p:nvSpPr>
        <p:spPr>
          <a:xfrm>
            <a:off x="670558" y="502816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C</a:t>
            </a:r>
          </a:p>
        </p:txBody>
      </p:sp>
      <p:sp>
        <p:nvSpPr>
          <p:cNvPr id="16" name="C text">
            <a:extLst>
              <a:ext uri="{FF2B5EF4-FFF2-40B4-BE49-F238E27FC236}">
                <a16:creationId xmlns:a16="http://schemas.microsoft.com/office/drawing/2014/main" id="{1D0C85C6-176D-2C26-0652-149EAFA02616}"/>
              </a:ext>
            </a:extLst>
          </p:cNvPr>
          <p:cNvSpPr>
            <a:spLocks noGrp="1"/>
          </p:cNvSpPr>
          <p:nvPr>
            <p:ph type="body" sz="quarter" idx="29"/>
          </p:nvPr>
        </p:nvSpPr>
        <p:spPr>
          <a:xfrm>
            <a:off x="1345520" y="5076797"/>
            <a:ext cx="10175920" cy="641396"/>
          </a:xfrm>
        </p:spPr>
        <p:txBody>
          <a:bodyPr anchor="ctr"/>
          <a:lstStyle/>
          <a:p>
            <a:r>
              <a:rPr lang="en-US" sz="3200" dirty="0">
                <a:ea typeface="+mn-lt"/>
                <a:cs typeface="+mn-lt"/>
              </a:rPr>
              <a:t>4 + 3 + 2 + 2 + 2</a:t>
            </a:r>
            <a:endParaRPr lang="en-US" sz="3200" dirty="0"/>
          </a:p>
        </p:txBody>
      </p:sp>
      <p:sp>
        <p:nvSpPr>
          <p:cNvPr id="11" name="D">
            <a:extLst>
              <a:ext uri="{FF2B5EF4-FFF2-40B4-BE49-F238E27FC236}">
                <a16:creationId xmlns:a16="http://schemas.microsoft.com/office/drawing/2014/main" id="{8EADE37E-99CA-3A50-524F-30E28DF3B7C4}"/>
              </a:ext>
            </a:extLst>
          </p:cNvPr>
          <p:cNvSpPr txBox="1"/>
          <p:nvPr/>
        </p:nvSpPr>
        <p:spPr>
          <a:xfrm>
            <a:off x="670557" y="587821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D9186568-D62F-6B45-E8D1-7BD11DA09597}"/>
              </a:ext>
            </a:extLst>
          </p:cNvPr>
          <p:cNvSpPr>
            <a:spLocks noGrp="1"/>
          </p:cNvSpPr>
          <p:nvPr>
            <p:ph type="body" sz="quarter" idx="27"/>
          </p:nvPr>
        </p:nvSpPr>
        <p:spPr>
          <a:xfrm>
            <a:off x="1345520" y="5926850"/>
            <a:ext cx="10175920" cy="641396"/>
          </a:xfrm>
        </p:spPr>
        <p:txBody>
          <a:bodyPr anchor="ctr"/>
          <a:lstStyle/>
          <a:p>
            <a:r>
              <a:rPr lang="en-US" sz="3200" dirty="0">
                <a:ea typeface="+mn-lt"/>
                <a:cs typeface="+mn-lt"/>
              </a:rPr>
              <a:t>2 + 2 + 3 + 2 + 3</a:t>
            </a:r>
            <a:endParaRPr lang="en-US" sz="3200" dirty="0"/>
          </a:p>
        </p:txBody>
      </p:sp>
      <p:sp>
        <p:nvSpPr>
          <p:cNvPr id="2" name="Slide Number Placeholder 1">
            <a:extLst>
              <a:ext uri="{FF2B5EF4-FFF2-40B4-BE49-F238E27FC236}">
                <a16:creationId xmlns:a16="http://schemas.microsoft.com/office/drawing/2014/main" id="{FB6D3FD4-B645-8933-2300-635C9B9344DB}"/>
              </a:ext>
              <a:ext uri="{C183D7F6-B498-43B3-948B-1728B52AA6E4}">
                <adec:decorative xmlns:adec="http://schemas.microsoft.com/office/drawing/2017/decorative" val="1"/>
              </a:ext>
            </a:extLst>
          </p:cNvPr>
          <p:cNvSpPr>
            <a:spLocks noGrp="1"/>
          </p:cNvSpPr>
          <p:nvPr>
            <p:ph type="sldNum" sz="quarter" idx="12"/>
          </p:nvPr>
        </p:nvSpPr>
        <p:spPr>
          <a:xfrm>
            <a:off x="11161440" y="6526880"/>
            <a:ext cx="720000" cy="180000"/>
          </a:xfrm>
        </p:spPr>
        <p:txBody>
          <a:bodyPr/>
          <a:lstStyle/>
          <a:p>
            <a:fld id="{10A01DC5-1685-4615-8240-15192985C6A2}" type="slidenum">
              <a:rPr lang="en-AU" smtClean="0"/>
              <a:t>5</a:t>
            </a:fld>
            <a:endParaRPr lang="en-AU"/>
          </a:p>
        </p:txBody>
      </p:sp>
      <p:sp>
        <p:nvSpPr>
          <p:cNvPr id="5" name="Rectangle: Rounded Corners 4">
            <a:extLst>
              <a:ext uri="{FF2B5EF4-FFF2-40B4-BE49-F238E27FC236}">
                <a16:creationId xmlns:a16="http://schemas.microsoft.com/office/drawing/2014/main" id="{BCB18FF3-E620-9779-B0FA-57F155A00D09}"/>
              </a:ext>
            </a:extLst>
          </p:cNvPr>
          <p:cNvSpPr/>
          <p:nvPr/>
        </p:nvSpPr>
        <p:spPr>
          <a:xfrm>
            <a:off x="3297425" y="1891111"/>
            <a:ext cx="5597149" cy="1275939"/>
          </a:xfrm>
          <a:prstGeom prst="roundRect">
            <a:avLst/>
          </a:prstGeom>
          <a:noFill/>
          <a:ln w="38100"/>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400" b="1" dirty="0">
                <a:solidFill>
                  <a:schemeClr val="accent1"/>
                </a:solidFill>
              </a:rPr>
              <a:t>4 + 3 + 2 + 6 </a:t>
            </a:r>
          </a:p>
        </p:txBody>
      </p:sp>
    </p:spTree>
    <p:extLst>
      <p:ext uri="{BB962C8B-B14F-4D97-AF65-F5344CB8AC3E}">
        <p14:creationId xmlns:p14="http://schemas.microsoft.com/office/powerpoint/2010/main" val="1286545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2FCFCE-567A-FEA7-C18E-789999BB63E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a:t>
            </a:r>
          </a:p>
        </p:txBody>
      </p:sp>
      <p:pic>
        <p:nvPicPr>
          <p:cNvPr id="3" name="Picture 2" descr="image of a clipboard with a pencil recording short answer responses">
            <a:extLst>
              <a:ext uri="{FF2B5EF4-FFF2-40B4-BE49-F238E27FC236}">
                <a16:creationId xmlns:a16="http://schemas.microsoft.com/office/drawing/2014/main" id="{69E4B2B2-713D-5998-87AB-5FC222AE389E}"/>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9FBF960C-E1C6-DB3C-329C-19D27D3A7582}"/>
              </a:ext>
            </a:extLst>
          </p:cNvPr>
          <p:cNvSpPr txBox="1"/>
          <p:nvPr/>
        </p:nvSpPr>
        <p:spPr>
          <a:xfrm>
            <a:off x="2039257" y="1406072"/>
            <a:ext cx="8113486" cy="914400"/>
          </a:xfrm>
          <a:prstGeom prst="rect">
            <a:avLst/>
          </a:prstGeom>
          <a:noFill/>
        </p:spPr>
        <p:txBody>
          <a:bodyPr wrap="none" lIns="0" tIns="0" rIns="0" bIns="0" rtlCol="0">
            <a:noAutofit/>
          </a:bodyPr>
          <a:lstStyle/>
          <a:p>
            <a:pPr algn="l"/>
            <a:r>
              <a:rPr lang="en-AU" sz="4400" dirty="0"/>
              <a:t>Record this number in </a:t>
            </a:r>
            <a:r>
              <a:rPr lang="en-AU" sz="4400" b="1" dirty="0"/>
              <a:t>words</a:t>
            </a:r>
            <a:r>
              <a:rPr lang="en-AU" sz="4400" dirty="0"/>
              <a:t>.</a:t>
            </a:r>
            <a:endParaRPr lang="en-AU" sz="1800" dirty="0"/>
          </a:p>
        </p:txBody>
      </p:sp>
      <p:pic>
        <p:nvPicPr>
          <p:cNvPr id="5" name="Picture 4" descr="A place value chart shaped like two connected “houses” sits on a grid. The left house is labelled Thousands and has three columns labelled H, T, O (hundreds, tens, ones within the thousands period). The right house also has three columns labelled H, T, O. In the number row, the digits are placed as 3 in the left house O column, and 6, 5, 1 in the right house H, T, O columns, forming the number 3 651.">
            <a:extLst>
              <a:ext uri="{FF2B5EF4-FFF2-40B4-BE49-F238E27FC236}">
                <a16:creationId xmlns:a16="http://schemas.microsoft.com/office/drawing/2014/main" id="{8F209618-E1A8-82CD-9875-DA7226A65E4C}"/>
              </a:ext>
            </a:extLst>
          </p:cNvPr>
          <p:cNvPicPr>
            <a:picLocks noChangeAspect="1"/>
          </p:cNvPicPr>
          <p:nvPr/>
        </p:nvPicPr>
        <p:blipFill>
          <a:blip r:embed="rId4"/>
          <a:stretch>
            <a:fillRect/>
          </a:stretch>
        </p:blipFill>
        <p:spPr>
          <a:xfrm>
            <a:off x="2638678" y="2561771"/>
            <a:ext cx="6914644" cy="3367415"/>
          </a:xfrm>
          <a:prstGeom prst="rect">
            <a:avLst/>
          </a:prstGeom>
        </p:spPr>
      </p:pic>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a:t>
            </a:fld>
            <a:endParaRPr lang="en-AU"/>
          </a:p>
        </p:txBody>
      </p:sp>
    </p:spTree>
    <p:extLst>
      <p:ext uri="{BB962C8B-B14F-4D97-AF65-F5344CB8AC3E}">
        <p14:creationId xmlns:p14="http://schemas.microsoft.com/office/powerpoint/2010/main" val="106354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409E7-816B-F5DB-3952-1CA93DB0182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A69C90C-BBA6-983C-27C7-A140ACC427BC}"/>
              </a:ext>
            </a:extLst>
          </p:cNvPr>
          <p:cNvSpPr>
            <a:spLocks noGrp="1"/>
          </p:cNvSpPr>
          <p:nvPr>
            <p:ph type="title"/>
          </p:nvPr>
        </p:nvSpPr>
        <p:spPr>
          <a:xfrm>
            <a:off x="360000" y="360000"/>
            <a:ext cx="10367268" cy="545601"/>
          </a:xfrm>
        </p:spPr>
        <p:txBody>
          <a:bodyPr/>
          <a:lstStyle/>
          <a:p>
            <a:r>
              <a:rPr lang="en-AU" dirty="0">
                <a:latin typeface="Arial"/>
                <a:cs typeface="Arial"/>
              </a:rPr>
              <a:t>Short response </a:t>
            </a:r>
            <a:r>
              <a:rPr lang="en-AU" dirty="0">
                <a:solidFill>
                  <a:schemeClr val="bg1"/>
                </a:solidFill>
                <a:latin typeface="Arial"/>
                <a:cs typeface="Arial"/>
              </a:rPr>
              <a:t>(2)</a:t>
            </a:r>
            <a:br>
              <a:rPr lang="en-AU" dirty="0">
                <a:highlight>
                  <a:srgbClr val="FEA927"/>
                </a:highlight>
                <a:latin typeface="Arial"/>
                <a:cs typeface="Arial"/>
              </a:rPr>
            </a:br>
            <a:br>
              <a:rPr lang="en-AU" dirty="0"/>
            </a:br>
            <a:endParaRPr lang="en-AU" dirty="0"/>
          </a:p>
        </p:txBody>
      </p:sp>
      <p:pic>
        <p:nvPicPr>
          <p:cNvPr id="3" name="Picture 2" descr="image of a clipboard with a pencil recording short answer responses">
            <a:extLst>
              <a:ext uri="{FF2B5EF4-FFF2-40B4-BE49-F238E27FC236}">
                <a16:creationId xmlns:a16="http://schemas.microsoft.com/office/drawing/2014/main" id="{7A0B44DA-7266-34CC-0C08-255E748ADEA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4F40EFF3-9837-C516-FC94-9331E875B18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a:t>
            </a:fld>
            <a:endParaRPr lang="en-AU"/>
          </a:p>
        </p:txBody>
      </p:sp>
      <p:sp>
        <p:nvSpPr>
          <p:cNvPr id="7" name="TextBox 6">
            <a:extLst>
              <a:ext uri="{FF2B5EF4-FFF2-40B4-BE49-F238E27FC236}">
                <a16:creationId xmlns:a16="http://schemas.microsoft.com/office/drawing/2014/main" id="{9743088D-C60B-42DD-C993-7E6BF029743D}"/>
              </a:ext>
            </a:extLst>
          </p:cNvPr>
          <p:cNvSpPr txBox="1"/>
          <p:nvPr/>
        </p:nvSpPr>
        <p:spPr>
          <a:xfrm>
            <a:off x="453524" y="966034"/>
            <a:ext cx="10670476" cy="467820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lnSpc>
                <a:spcPct val="150000"/>
              </a:lnSpc>
            </a:pPr>
            <a:r>
              <a:rPr lang="en-US" sz="4400" dirty="0">
                <a:ea typeface="+mn-lt"/>
                <a:cs typeface="+mn-lt"/>
              </a:rPr>
              <a:t>Create a </a:t>
            </a:r>
            <a:r>
              <a:rPr lang="en-US" sz="4400" b="1" dirty="0">
                <a:ea typeface="+mn-lt"/>
                <a:cs typeface="+mn-lt"/>
              </a:rPr>
              <a:t>list</a:t>
            </a:r>
            <a:r>
              <a:rPr lang="en-US" sz="4400" dirty="0">
                <a:ea typeface="+mn-lt"/>
                <a:cs typeface="+mn-lt"/>
              </a:rPr>
              <a:t> of </a:t>
            </a:r>
            <a:r>
              <a:rPr lang="en-US" sz="4400" b="1" dirty="0">
                <a:ea typeface="+mn-lt"/>
                <a:cs typeface="+mn-lt"/>
              </a:rPr>
              <a:t>possible categories </a:t>
            </a:r>
            <a:r>
              <a:rPr lang="en-US" sz="4400" dirty="0">
                <a:ea typeface="+mn-lt"/>
                <a:cs typeface="+mn-lt"/>
              </a:rPr>
              <a:t>for this question:</a:t>
            </a:r>
          </a:p>
          <a:p>
            <a:pPr algn="ctr">
              <a:lnSpc>
                <a:spcPct val="150000"/>
              </a:lnSpc>
            </a:pPr>
            <a:r>
              <a:rPr lang="en-US" sz="4800" dirty="0"/>
              <a:t>What is the most common </a:t>
            </a:r>
            <a:r>
              <a:rPr lang="en-US" sz="4800" b="1" dirty="0"/>
              <a:t>eye </a:t>
            </a:r>
            <a:r>
              <a:rPr lang="en-US" sz="4800" b="1" dirty="0" err="1"/>
              <a:t>colour</a:t>
            </a:r>
            <a:r>
              <a:rPr lang="en-US" sz="4800" b="1" dirty="0"/>
              <a:t> </a:t>
            </a:r>
            <a:r>
              <a:rPr lang="en-US" sz="4800" dirty="0"/>
              <a:t>in our class?</a:t>
            </a:r>
          </a:p>
          <a:p>
            <a:pPr algn="ctr"/>
            <a:endParaRPr lang="en-US" sz="2800" dirty="0">
              <a:cs typeface="Arial"/>
            </a:endParaRPr>
          </a:p>
        </p:txBody>
      </p:sp>
    </p:spTree>
    <p:extLst>
      <p:ext uri="{BB962C8B-B14F-4D97-AF65-F5344CB8AC3E}">
        <p14:creationId xmlns:p14="http://schemas.microsoft.com/office/powerpoint/2010/main" val="2636458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CA30-0F81-EF60-3DBE-2C408AF023D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EDF9EE2-B4DE-CF91-3A69-C4D930AFA2C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(3)</a:t>
            </a:r>
          </a:p>
        </p:txBody>
      </p:sp>
      <p:pic>
        <p:nvPicPr>
          <p:cNvPr id="3" name="Picture 2" descr="image of a clipboard with a pencil recording short answer responses">
            <a:extLst>
              <a:ext uri="{FF2B5EF4-FFF2-40B4-BE49-F238E27FC236}">
                <a16:creationId xmlns:a16="http://schemas.microsoft.com/office/drawing/2014/main" id="{AE7CD0B4-5C73-21ED-199C-D91A99981CD2}"/>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7" name="Picture 6" descr="3x4 grid with three blue squares and five white or unshaded squares">
            <a:extLst>
              <a:ext uri="{FF2B5EF4-FFF2-40B4-BE49-F238E27FC236}">
                <a16:creationId xmlns:a16="http://schemas.microsoft.com/office/drawing/2014/main" id="{493C0F85-6120-DFE4-427C-53D5E2B23746}"/>
              </a:ext>
            </a:extLst>
          </p:cNvPr>
          <p:cNvPicPr>
            <a:picLocks noChangeAspect="1"/>
          </p:cNvPicPr>
          <p:nvPr/>
        </p:nvPicPr>
        <p:blipFill>
          <a:blip r:embed="rId4">
            <a:extLst>
              <a:ext uri="{28A0092B-C50C-407E-A947-70E740481C1C}">
                <a14:useLocalDpi xmlns:a14="http://schemas.microsoft.com/office/drawing/2010/main" val="0"/>
              </a:ext>
            </a:extLst>
          </a:blip>
          <a:srcRect l="13585" t="7345" r="17052" b="6744"/>
          <a:stretch>
            <a:fillRect/>
          </a:stretch>
        </p:blipFill>
        <p:spPr>
          <a:xfrm>
            <a:off x="7861300" y="1443284"/>
            <a:ext cx="3594100" cy="4794094"/>
          </a:xfrm>
          <a:prstGeom prst="rect">
            <a:avLst/>
          </a:prstGeom>
          <a:ln>
            <a:noFill/>
          </a:ln>
          <a:effectLst>
            <a:outerShdw blurRad="292100" dist="139700" dir="2700000" algn="tl" rotWithShape="0">
              <a:srgbClr val="333333">
                <a:alpha val="65000"/>
              </a:srgbClr>
            </a:outerShdw>
          </a:effectLst>
        </p:spPr>
      </p:pic>
      <p:sp>
        <p:nvSpPr>
          <p:cNvPr id="8" name="TextBox 7">
            <a:extLst>
              <a:ext uri="{FF2B5EF4-FFF2-40B4-BE49-F238E27FC236}">
                <a16:creationId xmlns:a16="http://schemas.microsoft.com/office/drawing/2014/main" id="{B84C72A6-5917-06B9-8387-02087979E9C6}"/>
              </a:ext>
            </a:extLst>
          </p:cNvPr>
          <p:cNvSpPr txBox="1"/>
          <p:nvPr/>
        </p:nvSpPr>
        <p:spPr>
          <a:xfrm>
            <a:off x="360000" y="1545169"/>
            <a:ext cx="7221857" cy="439883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lnSpc>
                <a:spcPct val="150000"/>
              </a:lnSpc>
            </a:pPr>
            <a:r>
              <a:rPr lang="en-US" sz="4400" dirty="0">
                <a:cs typeface="Arial"/>
              </a:rPr>
              <a:t>What </a:t>
            </a:r>
            <a:r>
              <a:rPr lang="en-US" sz="4400" b="1" dirty="0">
                <a:cs typeface="Arial"/>
              </a:rPr>
              <a:t>fraction </a:t>
            </a:r>
            <a:r>
              <a:rPr lang="en-US" sz="4400" dirty="0">
                <a:cs typeface="Arial"/>
              </a:rPr>
              <a:t>of the shape is </a:t>
            </a:r>
            <a:r>
              <a:rPr lang="en-US" sz="4400" b="1" dirty="0">
                <a:cs typeface="Arial"/>
              </a:rPr>
              <a:t>blue</a:t>
            </a:r>
            <a:r>
              <a:rPr lang="en-US" sz="4400" dirty="0">
                <a:cs typeface="Arial"/>
              </a:rPr>
              <a:t>?</a:t>
            </a:r>
          </a:p>
          <a:p>
            <a:pPr algn="ctr">
              <a:lnSpc>
                <a:spcPct val="150000"/>
              </a:lnSpc>
            </a:pPr>
            <a:endParaRPr lang="en-US" sz="2000" dirty="0">
              <a:cs typeface="Arial"/>
            </a:endParaRPr>
          </a:p>
          <a:p>
            <a:pPr algn="ctr">
              <a:lnSpc>
                <a:spcPct val="150000"/>
              </a:lnSpc>
            </a:pPr>
            <a:r>
              <a:rPr lang="en-US" sz="4400" dirty="0">
                <a:cs typeface="Arial"/>
              </a:rPr>
              <a:t>What </a:t>
            </a:r>
            <a:r>
              <a:rPr lang="en-US" sz="4400" b="1" dirty="0">
                <a:cs typeface="Arial"/>
              </a:rPr>
              <a:t>fraction</a:t>
            </a:r>
            <a:r>
              <a:rPr lang="en-US" sz="4400" dirty="0">
                <a:cs typeface="Arial"/>
              </a:rPr>
              <a:t> of the shape is </a:t>
            </a:r>
            <a:r>
              <a:rPr lang="en-US" sz="4400" b="1" dirty="0">
                <a:cs typeface="Arial"/>
              </a:rPr>
              <a:t>white</a:t>
            </a:r>
            <a:r>
              <a:rPr lang="en-US" sz="4400" dirty="0">
                <a:cs typeface="Arial"/>
              </a:rPr>
              <a:t>?</a:t>
            </a:r>
          </a:p>
        </p:txBody>
      </p:sp>
      <p:sp>
        <p:nvSpPr>
          <p:cNvPr id="2" name="Slide Number Placeholder 1">
            <a:extLst>
              <a:ext uri="{FF2B5EF4-FFF2-40B4-BE49-F238E27FC236}">
                <a16:creationId xmlns:a16="http://schemas.microsoft.com/office/drawing/2014/main" id="{4BE7CE53-8469-5597-4AA2-2E907B1CE2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8</a:t>
            </a:fld>
            <a:endParaRPr lang="en-AU"/>
          </a:p>
        </p:txBody>
      </p:sp>
    </p:spTree>
    <p:extLst>
      <p:ext uri="{BB962C8B-B14F-4D97-AF65-F5344CB8AC3E}">
        <p14:creationId xmlns:p14="http://schemas.microsoft.com/office/powerpoint/2010/main" val="127430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2423E-F2E2-B49F-2327-BC3E79940CA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A135D9-427D-42CB-A5F0-ABB98DAD7054}"/>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(4)</a:t>
            </a:r>
          </a:p>
        </p:txBody>
      </p:sp>
      <p:pic>
        <p:nvPicPr>
          <p:cNvPr id="3" name="Picture 2" descr="image of a clipboard with a pencil recording short answer responses">
            <a:extLst>
              <a:ext uri="{FF2B5EF4-FFF2-40B4-BE49-F238E27FC236}">
                <a16:creationId xmlns:a16="http://schemas.microsoft.com/office/drawing/2014/main" id="{FC9A4B87-D950-48CA-7AF9-006C90DB933D}"/>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7" name="Picture 6" descr="An equal arm balance shows that 3 pencils have the same mass as 6 rulers. &#10;">
            <a:extLst>
              <a:ext uri="{FF2B5EF4-FFF2-40B4-BE49-F238E27FC236}">
                <a16:creationId xmlns:a16="http://schemas.microsoft.com/office/drawing/2014/main" id="{9E611EF7-2B30-C67C-BF6E-FB5A3D52A57D}"/>
              </a:ext>
            </a:extLst>
          </p:cNvPr>
          <p:cNvPicPr>
            <a:picLocks noChangeAspect="1"/>
          </p:cNvPicPr>
          <p:nvPr/>
        </p:nvPicPr>
        <p:blipFill>
          <a:blip r:embed="rId4"/>
          <a:srcRect l="10443" t="7873" r="10189"/>
          <a:stretch>
            <a:fillRect/>
          </a:stretch>
        </p:blipFill>
        <p:spPr>
          <a:xfrm>
            <a:off x="457964" y="905601"/>
            <a:ext cx="3966084" cy="2912883"/>
          </a:xfrm>
          <a:prstGeom prst="rect">
            <a:avLst/>
          </a:prstGeom>
        </p:spPr>
      </p:pic>
      <p:sp>
        <p:nvSpPr>
          <p:cNvPr id="11" name="TextBox 10">
            <a:extLst>
              <a:ext uri="{FF2B5EF4-FFF2-40B4-BE49-F238E27FC236}">
                <a16:creationId xmlns:a16="http://schemas.microsoft.com/office/drawing/2014/main" id="{AE99520C-FEE5-DB2A-B0E4-25616103CDA5}"/>
              </a:ext>
            </a:extLst>
          </p:cNvPr>
          <p:cNvSpPr txBox="1"/>
          <p:nvPr/>
        </p:nvSpPr>
        <p:spPr>
          <a:xfrm>
            <a:off x="4773482" y="905601"/>
            <a:ext cx="6823060" cy="1435100"/>
          </a:xfrm>
          <a:prstGeom prst="rect">
            <a:avLst/>
          </a:prstGeom>
          <a:noFill/>
        </p:spPr>
        <p:txBody>
          <a:bodyPr wrap="square" lIns="0" tIns="0" rIns="0" bIns="0" rtlCol="0">
            <a:noAutofit/>
          </a:bodyPr>
          <a:lstStyle/>
          <a:p>
            <a:pPr algn="ctr">
              <a:lnSpc>
                <a:spcPct val="150000"/>
              </a:lnSpc>
            </a:pPr>
            <a:r>
              <a:rPr lang="en-AU" sz="3600" dirty="0"/>
              <a:t>This equal arm balance shows that </a:t>
            </a:r>
            <a:r>
              <a:rPr lang="en-AU" sz="3600" b="1" dirty="0"/>
              <a:t>3 pencils </a:t>
            </a:r>
            <a:r>
              <a:rPr lang="en-AU" sz="3600" dirty="0"/>
              <a:t>has the </a:t>
            </a:r>
            <a:r>
              <a:rPr lang="en-AU" sz="3600" b="1" dirty="0"/>
              <a:t>same mass </a:t>
            </a:r>
            <a:r>
              <a:rPr lang="en-AU" sz="3600" dirty="0"/>
              <a:t>as</a:t>
            </a:r>
            <a:r>
              <a:rPr lang="en-AU" sz="3600" b="1" dirty="0"/>
              <a:t> 6 rulers. </a:t>
            </a:r>
          </a:p>
          <a:p>
            <a:pPr algn="ctr">
              <a:lnSpc>
                <a:spcPct val="150000"/>
              </a:lnSpc>
            </a:pPr>
            <a:endParaRPr lang="en-AU" sz="3600" b="1" dirty="0"/>
          </a:p>
        </p:txBody>
      </p:sp>
      <p:pic>
        <p:nvPicPr>
          <p:cNvPr id="9" name="Picture 8" descr="This equal arm balance shows that 6 pencils have the same mass as 1 book rulers. &#10;">
            <a:extLst>
              <a:ext uri="{FF2B5EF4-FFF2-40B4-BE49-F238E27FC236}">
                <a16:creationId xmlns:a16="http://schemas.microsoft.com/office/drawing/2014/main" id="{B375BDA3-895C-E72B-A60D-E5B2C51EF152}"/>
              </a:ext>
            </a:extLst>
          </p:cNvPr>
          <p:cNvPicPr>
            <a:picLocks noChangeAspect="1"/>
          </p:cNvPicPr>
          <p:nvPr/>
        </p:nvPicPr>
        <p:blipFill>
          <a:blip r:embed="rId5"/>
          <a:stretch>
            <a:fillRect/>
          </a:stretch>
        </p:blipFill>
        <p:spPr>
          <a:xfrm>
            <a:off x="540892" y="3781237"/>
            <a:ext cx="4011119" cy="3076764"/>
          </a:xfrm>
          <a:prstGeom prst="rect">
            <a:avLst/>
          </a:prstGeom>
        </p:spPr>
      </p:pic>
      <p:sp>
        <p:nvSpPr>
          <p:cNvPr id="12" name="TextBox 11">
            <a:extLst>
              <a:ext uri="{FF2B5EF4-FFF2-40B4-BE49-F238E27FC236}">
                <a16:creationId xmlns:a16="http://schemas.microsoft.com/office/drawing/2014/main" id="{6BBCB2A3-6DFA-D88A-18A4-FC1DC958D86F}"/>
              </a:ext>
            </a:extLst>
          </p:cNvPr>
          <p:cNvSpPr txBox="1"/>
          <p:nvPr/>
        </p:nvSpPr>
        <p:spPr>
          <a:xfrm>
            <a:off x="5137012" y="4015333"/>
            <a:ext cx="6096000" cy="2482667"/>
          </a:xfrm>
          <a:prstGeom prst="rect">
            <a:avLst/>
          </a:prstGeom>
          <a:noFill/>
        </p:spPr>
        <p:txBody>
          <a:bodyPr wrap="square">
            <a:spAutoFit/>
          </a:bodyPr>
          <a:lstStyle/>
          <a:p>
            <a:pPr algn="ctr">
              <a:lnSpc>
                <a:spcPct val="150000"/>
              </a:lnSpc>
            </a:pPr>
            <a:r>
              <a:rPr lang="en-AU" sz="3600" dirty="0"/>
              <a:t>If the mass of the book is </a:t>
            </a:r>
            <a:r>
              <a:rPr lang="en-AU" sz="3600" b="1" dirty="0"/>
              <a:t>6 pencils</a:t>
            </a:r>
            <a:r>
              <a:rPr lang="en-AU" sz="3600" dirty="0"/>
              <a:t>, what is the mass of the book in </a:t>
            </a:r>
            <a:r>
              <a:rPr lang="en-AU" sz="3600" b="1" dirty="0"/>
              <a:t>rulers</a:t>
            </a:r>
            <a:r>
              <a:rPr lang="en-AU" sz="3600" dirty="0"/>
              <a:t>? </a:t>
            </a:r>
          </a:p>
        </p:txBody>
      </p:sp>
      <p:sp>
        <p:nvSpPr>
          <p:cNvPr id="2" name="Slide Number Placeholder 1">
            <a:extLst>
              <a:ext uri="{FF2B5EF4-FFF2-40B4-BE49-F238E27FC236}">
                <a16:creationId xmlns:a16="http://schemas.microsoft.com/office/drawing/2014/main" id="{391F93CB-988D-BE1F-57FD-B3D1C9E40F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9</a:t>
            </a:fld>
            <a:endParaRPr lang="en-AU"/>
          </a:p>
        </p:txBody>
      </p:sp>
    </p:spTree>
    <p:extLst>
      <p:ext uri="{BB962C8B-B14F-4D97-AF65-F5344CB8AC3E}">
        <p14:creationId xmlns:p14="http://schemas.microsoft.com/office/powerpoint/2010/main" val="28446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746C6-FA22-32E8-8566-C234C402B66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D77CC03-C72F-F73A-A565-4FA55751E368}"/>
              </a:ext>
            </a:extLst>
          </p:cNvPr>
          <p:cNvSpPr>
            <a:spLocks noGrp="1"/>
          </p:cNvSpPr>
          <p:nvPr>
            <p:ph type="title"/>
          </p:nvPr>
        </p:nvSpPr>
        <p:spPr>
          <a:xfrm>
            <a:off x="360000" y="360000"/>
            <a:ext cx="10367268" cy="545601"/>
          </a:xfrm>
        </p:spPr>
        <p:txBody>
          <a:bodyPr/>
          <a:lstStyle/>
          <a:p>
            <a:r>
              <a:rPr lang="en-AU">
                <a:latin typeface="Arial"/>
                <a:cs typeface="Arial"/>
              </a:rPr>
              <a:t>Activity 1 – equals sign means 'the same as'</a:t>
            </a:r>
          </a:p>
        </p:txBody>
      </p:sp>
      <p:pic>
        <p:nvPicPr>
          <p:cNvPr id="4" name="Picture 3" descr="image of a head with cogs turning inside">
            <a:extLst>
              <a:ext uri="{FF2B5EF4-FFF2-40B4-BE49-F238E27FC236}">
                <a16:creationId xmlns:a16="http://schemas.microsoft.com/office/drawing/2014/main" id="{8C7CF980-54BA-5CDE-FA07-65080BB2C43B}"/>
              </a:ext>
            </a:extLst>
          </p:cNvPr>
          <p:cNvPicPr>
            <a:picLocks noChangeAspect="1"/>
          </p:cNvPicPr>
          <p:nvPr/>
        </p:nvPicPr>
        <p:blipFill>
          <a:blip r:embed="rId3"/>
          <a:stretch>
            <a:fillRect/>
          </a:stretch>
        </p:blipFill>
        <p:spPr>
          <a:xfrm>
            <a:off x="11107003" y="240894"/>
            <a:ext cx="720000" cy="856364"/>
          </a:xfrm>
          <a:prstGeom prst="rect">
            <a:avLst/>
          </a:prstGeom>
        </p:spPr>
      </p:pic>
      <p:grpSp>
        <p:nvGrpSpPr>
          <p:cNvPr id="18" name="Group 4" descr="10 6- sided dice displaying the numbers:&#10;1, 1, 2, 2, 2, 2, 3, 4, 4, 5, 6">
            <a:extLst>
              <a:ext uri="{FF2B5EF4-FFF2-40B4-BE49-F238E27FC236}">
                <a16:creationId xmlns:a16="http://schemas.microsoft.com/office/drawing/2014/main" id="{D628930E-E8A6-D957-295A-495D6C1DDAC2}"/>
              </a:ext>
            </a:extLst>
          </p:cNvPr>
          <p:cNvGrpSpPr/>
          <p:nvPr/>
        </p:nvGrpSpPr>
        <p:grpSpPr>
          <a:xfrm>
            <a:off x="3249225" y="1641093"/>
            <a:ext cx="5693549" cy="2288560"/>
            <a:chOff x="0" y="0"/>
            <a:chExt cx="14521797" cy="5761781"/>
          </a:xfrm>
          <a:effectLst>
            <a:outerShdw blurRad="50800" dist="38100" dir="2700000" algn="tl" rotWithShape="0">
              <a:prstClr val="black">
                <a:alpha val="40000"/>
              </a:prstClr>
            </a:outerShdw>
          </a:effectLst>
        </p:grpSpPr>
        <p:sp>
          <p:nvSpPr>
            <p:cNvPr id="8" name="Freeform 5">
              <a:extLst>
                <a:ext uri="{FF2B5EF4-FFF2-40B4-BE49-F238E27FC236}">
                  <a16:creationId xmlns:a16="http://schemas.microsoft.com/office/drawing/2014/main" id="{137B74BE-0687-A223-194B-F18423534A47}"/>
                </a:ext>
              </a:extLst>
            </p:cNvPr>
            <p:cNvSpPr/>
            <p:nvPr/>
          </p:nvSpPr>
          <p:spPr>
            <a:xfrm>
              <a:off x="3249024" y="3166860"/>
              <a:ext cx="2588038" cy="2550394"/>
            </a:xfrm>
            <a:custGeom>
              <a:avLst/>
              <a:gdLst/>
              <a:ahLst/>
              <a:cxnLst/>
              <a:rect l="l" t="t" r="r" b="b"/>
              <a:pathLst>
                <a:path w="2588038" h="2550394">
                  <a:moveTo>
                    <a:pt x="0" y="0"/>
                  </a:moveTo>
                  <a:lnTo>
                    <a:pt x="2588038" y="0"/>
                  </a:lnTo>
                  <a:lnTo>
                    <a:pt x="2588038" y="2550394"/>
                  </a:lnTo>
                  <a:lnTo>
                    <a:pt x="0" y="255039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9" name="Freeform 6">
              <a:extLst>
                <a:ext uri="{FF2B5EF4-FFF2-40B4-BE49-F238E27FC236}">
                  <a16:creationId xmlns:a16="http://schemas.microsoft.com/office/drawing/2014/main" id="{0F4C7425-2AAB-1A18-12AB-A006DC93F65C}"/>
                </a:ext>
              </a:extLst>
            </p:cNvPr>
            <p:cNvSpPr/>
            <p:nvPr/>
          </p:nvSpPr>
          <p:spPr>
            <a:xfrm>
              <a:off x="0" y="3166860"/>
              <a:ext cx="2633223" cy="2594921"/>
            </a:xfrm>
            <a:custGeom>
              <a:avLst/>
              <a:gdLst/>
              <a:ahLst/>
              <a:cxnLst/>
              <a:rect l="l" t="t" r="r" b="b"/>
              <a:pathLst>
                <a:path w="2633223" h="2594921">
                  <a:moveTo>
                    <a:pt x="0" y="0"/>
                  </a:moveTo>
                  <a:lnTo>
                    <a:pt x="2633223" y="0"/>
                  </a:lnTo>
                  <a:lnTo>
                    <a:pt x="2633223" y="2594921"/>
                  </a:lnTo>
                  <a:lnTo>
                    <a:pt x="0" y="259492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AU"/>
            </a:p>
          </p:txBody>
        </p:sp>
        <p:sp>
          <p:nvSpPr>
            <p:cNvPr id="10" name="Freeform 7">
              <a:extLst>
                <a:ext uri="{FF2B5EF4-FFF2-40B4-BE49-F238E27FC236}">
                  <a16:creationId xmlns:a16="http://schemas.microsoft.com/office/drawing/2014/main" id="{59BCE922-9608-DB33-B9F5-8B9D4ABA2DD9}"/>
                </a:ext>
              </a:extLst>
            </p:cNvPr>
            <p:cNvSpPr/>
            <p:nvPr/>
          </p:nvSpPr>
          <p:spPr>
            <a:xfrm>
              <a:off x="52758" y="0"/>
              <a:ext cx="2633223" cy="2594921"/>
            </a:xfrm>
            <a:custGeom>
              <a:avLst/>
              <a:gdLst/>
              <a:ahLst/>
              <a:cxnLst/>
              <a:rect l="l" t="t" r="r" b="b"/>
              <a:pathLst>
                <a:path w="2633223" h="2594921">
                  <a:moveTo>
                    <a:pt x="0" y="0"/>
                  </a:moveTo>
                  <a:lnTo>
                    <a:pt x="2633223" y="0"/>
                  </a:lnTo>
                  <a:lnTo>
                    <a:pt x="2633223" y="2594921"/>
                  </a:lnTo>
                  <a:lnTo>
                    <a:pt x="0" y="259492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AU"/>
            </a:p>
          </p:txBody>
        </p:sp>
        <p:sp>
          <p:nvSpPr>
            <p:cNvPr id="11" name="Freeform 8">
              <a:extLst>
                <a:ext uri="{FF2B5EF4-FFF2-40B4-BE49-F238E27FC236}">
                  <a16:creationId xmlns:a16="http://schemas.microsoft.com/office/drawing/2014/main" id="{146C1793-1051-EFF1-440F-63BBA6B0AB3E}"/>
                </a:ext>
              </a:extLst>
            </p:cNvPr>
            <p:cNvSpPr/>
            <p:nvPr/>
          </p:nvSpPr>
          <p:spPr>
            <a:xfrm>
              <a:off x="11976632" y="3209109"/>
              <a:ext cx="2545165" cy="2508144"/>
            </a:xfrm>
            <a:custGeom>
              <a:avLst/>
              <a:gdLst/>
              <a:ahLst/>
              <a:cxnLst/>
              <a:rect l="l" t="t" r="r" b="b"/>
              <a:pathLst>
                <a:path w="2545165" h="2508144">
                  <a:moveTo>
                    <a:pt x="0" y="0"/>
                  </a:moveTo>
                  <a:lnTo>
                    <a:pt x="2545164" y="0"/>
                  </a:lnTo>
                  <a:lnTo>
                    <a:pt x="2545164" y="2508145"/>
                  </a:lnTo>
                  <a:lnTo>
                    <a:pt x="0" y="250814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AU"/>
            </a:p>
          </p:txBody>
        </p:sp>
        <p:sp>
          <p:nvSpPr>
            <p:cNvPr id="12" name="Freeform 9">
              <a:extLst>
                <a:ext uri="{FF2B5EF4-FFF2-40B4-BE49-F238E27FC236}">
                  <a16:creationId xmlns:a16="http://schemas.microsoft.com/office/drawing/2014/main" id="{857DDBA2-F215-165C-26A9-FAE1F989E1CA}"/>
                </a:ext>
              </a:extLst>
            </p:cNvPr>
            <p:cNvSpPr/>
            <p:nvPr/>
          </p:nvSpPr>
          <p:spPr>
            <a:xfrm>
              <a:off x="6044784" y="0"/>
              <a:ext cx="2633223" cy="2594921"/>
            </a:xfrm>
            <a:custGeom>
              <a:avLst/>
              <a:gdLst/>
              <a:ahLst/>
              <a:cxnLst/>
              <a:rect l="l" t="t" r="r" b="b"/>
              <a:pathLst>
                <a:path w="2633223" h="2594921">
                  <a:moveTo>
                    <a:pt x="0" y="0"/>
                  </a:moveTo>
                  <a:lnTo>
                    <a:pt x="2633223" y="0"/>
                  </a:lnTo>
                  <a:lnTo>
                    <a:pt x="2633223" y="2594921"/>
                  </a:lnTo>
                  <a:lnTo>
                    <a:pt x="0" y="2594921"/>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AU"/>
            </a:p>
          </p:txBody>
        </p:sp>
        <p:sp>
          <p:nvSpPr>
            <p:cNvPr id="13" name="Freeform 10">
              <a:extLst>
                <a:ext uri="{FF2B5EF4-FFF2-40B4-BE49-F238E27FC236}">
                  <a16:creationId xmlns:a16="http://schemas.microsoft.com/office/drawing/2014/main" id="{B714496E-8CC0-A654-F8D6-11619006FD37}"/>
                </a:ext>
              </a:extLst>
            </p:cNvPr>
            <p:cNvSpPr/>
            <p:nvPr/>
          </p:nvSpPr>
          <p:spPr>
            <a:xfrm>
              <a:off x="9056082" y="3209109"/>
              <a:ext cx="2590350" cy="2552672"/>
            </a:xfrm>
            <a:custGeom>
              <a:avLst/>
              <a:gdLst/>
              <a:ahLst/>
              <a:cxnLst/>
              <a:rect l="l" t="t" r="r" b="b"/>
              <a:pathLst>
                <a:path w="2590350" h="2552672">
                  <a:moveTo>
                    <a:pt x="0" y="0"/>
                  </a:moveTo>
                  <a:lnTo>
                    <a:pt x="2590350" y="0"/>
                  </a:lnTo>
                  <a:lnTo>
                    <a:pt x="2590350" y="2552672"/>
                  </a:lnTo>
                  <a:lnTo>
                    <a:pt x="0" y="2552672"/>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AU"/>
            </a:p>
          </p:txBody>
        </p:sp>
        <p:sp>
          <p:nvSpPr>
            <p:cNvPr id="14" name="Freeform 11">
              <a:extLst>
                <a:ext uri="{FF2B5EF4-FFF2-40B4-BE49-F238E27FC236}">
                  <a16:creationId xmlns:a16="http://schemas.microsoft.com/office/drawing/2014/main" id="{0BFDCBAC-96E7-2839-3B6D-5BCB1FDDE94A}"/>
                </a:ext>
              </a:extLst>
            </p:cNvPr>
            <p:cNvSpPr/>
            <p:nvPr/>
          </p:nvSpPr>
          <p:spPr>
            <a:xfrm>
              <a:off x="3054982" y="0"/>
              <a:ext cx="2633223" cy="2594921"/>
            </a:xfrm>
            <a:custGeom>
              <a:avLst/>
              <a:gdLst/>
              <a:ahLst/>
              <a:cxnLst/>
              <a:rect l="l" t="t" r="r" b="b"/>
              <a:pathLst>
                <a:path w="2633223" h="2594921">
                  <a:moveTo>
                    <a:pt x="0" y="0"/>
                  </a:moveTo>
                  <a:lnTo>
                    <a:pt x="2633223" y="0"/>
                  </a:lnTo>
                  <a:lnTo>
                    <a:pt x="2633223" y="2594921"/>
                  </a:lnTo>
                  <a:lnTo>
                    <a:pt x="0" y="259492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AU"/>
            </a:p>
          </p:txBody>
        </p:sp>
        <p:sp>
          <p:nvSpPr>
            <p:cNvPr id="15" name="Freeform 12">
              <a:extLst>
                <a:ext uri="{FF2B5EF4-FFF2-40B4-BE49-F238E27FC236}">
                  <a16:creationId xmlns:a16="http://schemas.microsoft.com/office/drawing/2014/main" id="{42DD5963-099C-3B8A-D4E7-D6596D8242FF}"/>
                </a:ext>
              </a:extLst>
            </p:cNvPr>
            <p:cNvSpPr/>
            <p:nvPr/>
          </p:nvSpPr>
          <p:spPr>
            <a:xfrm>
              <a:off x="11827044" y="0"/>
              <a:ext cx="2633223" cy="2594921"/>
            </a:xfrm>
            <a:custGeom>
              <a:avLst/>
              <a:gdLst/>
              <a:ahLst/>
              <a:cxnLst/>
              <a:rect l="l" t="t" r="r" b="b"/>
              <a:pathLst>
                <a:path w="2633223" h="2594921">
                  <a:moveTo>
                    <a:pt x="0" y="0"/>
                  </a:moveTo>
                  <a:lnTo>
                    <a:pt x="2633223" y="0"/>
                  </a:lnTo>
                  <a:lnTo>
                    <a:pt x="2633223" y="2594921"/>
                  </a:lnTo>
                  <a:lnTo>
                    <a:pt x="0" y="2594921"/>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AU"/>
            </a:p>
          </p:txBody>
        </p:sp>
        <p:sp>
          <p:nvSpPr>
            <p:cNvPr id="16" name="Freeform 13">
              <a:extLst>
                <a:ext uri="{FF2B5EF4-FFF2-40B4-BE49-F238E27FC236}">
                  <a16:creationId xmlns:a16="http://schemas.microsoft.com/office/drawing/2014/main" id="{CFAD31C9-C36E-0C87-BF67-E2C28CCDDE89}"/>
                </a:ext>
              </a:extLst>
            </p:cNvPr>
            <p:cNvSpPr/>
            <p:nvPr/>
          </p:nvSpPr>
          <p:spPr>
            <a:xfrm>
              <a:off x="9013209" y="0"/>
              <a:ext cx="2633223" cy="2594921"/>
            </a:xfrm>
            <a:custGeom>
              <a:avLst/>
              <a:gdLst/>
              <a:ahLst/>
              <a:cxnLst/>
              <a:rect l="l" t="t" r="r" b="b"/>
              <a:pathLst>
                <a:path w="2633223" h="2594921">
                  <a:moveTo>
                    <a:pt x="0" y="0"/>
                  </a:moveTo>
                  <a:lnTo>
                    <a:pt x="2633223" y="0"/>
                  </a:lnTo>
                  <a:lnTo>
                    <a:pt x="2633223" y="2594921"/>
                  </a:lnTo>
                  <a:lnTo>
                    <a:pt x="0" y="2594921"/>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AU"/>
            </a:p>
          </p:txBody>
        </p:sp>
        <p:sp>
          <p:nvSpPr>
            <p:cNvPr id="17" name="Freeform 14">
              <a:extLst>
                <a:ext uri="{FF2B5EF4-FFF2-40B4-BE49-F238E27FC236}">
                  <a16:creationId xmlns:a16="http://schemas.microsoft.com/office/drawing/2014/main" id="{75E849BE-42D2-DFFC-8B53-27619CF5A7AC}"/>
                </a:ext>
              </a:extLst>
            </p:cNvPr>
            <p:cNvSpPr/>
            <p:nvPr/>
          </p:nvSpPr>
          <p:spPr>
            <a:xfrm>
              <a:off x="6131924" y="3189123"/>
              <a:ext cx="2588038" cy="2550394"/>
            </a:xfrm>
            <a:custGeom>
              <a:avLst/>
              <a:gdLst/>
              <a:ahLst/>
              <a:cxnLst/>
              <a:rect l="l" t="t" r="r" b="b"/>
              <a:pathLst>
                <a:path w="2588038" h="2550394">
                  <a:moveTo>
                    <a:pt x="0" y="0"/>
                  </a:moveTo>
                  <a:lnTo>
                    <a:pt x="2588038" y="0"/>
                  </a:lnTo>
                  <a:lnTo>
                    <a:pt x="2588038" y="2550394"/>
                  </a:lnTo>
                  <a:lnTo>
                    <a:pt x="0" y="2550394"/>
                  </a:lnTo>
                  <a:lnTo>
                    <a:pt x="0" y="0"/>
                  </a:lnTo>
                  <a:close/>
                </a:path>
              </a:pathLst>
            </a:custGeom>
            <a:blipFill>
              <a:blip r:embed="rId4">
                <a:extLst>
                  <a:ext uri="{96DAC541-7B7A-43D3-8B79-37D633B846F1}">
                    <asvg:svgBlip xmlns:asvg="http://schemas.microsoft.com/office/drawing/2016/SVG/main" r:embed="rId16"/>
                  </a:ext>
                </a:extLst>
              </a:blip>
              <a:stretch>
                <a:fillRect/>
              </a:stretch>
            </a:blipFill>
          </p:spPr>
          <p:txBody>
            <a:bodyPr/>
            <a:lstStyle/>
            <a:p>
              <a:endParaRPr lang="en-AU"/>
            </a:p>
          </p:txBody>
        </p:sp>
      </p:grpSp>
      <p:sp>
        <p:nvSpPr>
          <p:cNvPr id="31" name="TextBox 30">
            <a:extLst>
              <a:ext uri="{FF2B5EF4-FFF2-40B4-BE49-F238E27FC236}">
                <a16:creationId xmlns:a16="http://schemas.microsoft.com/office/drawing/2014/main" id="{100FEFCA-495B-6B96-2A39-866C5F21A647}"/>
              </a:ext>
            </a:extLst>
          </p:cNvPr>
          <p:cNvSpPr txBox="1"/>
          <p:nvPr/>
        </p:nvSpPr>
        <p:spPr>
          <a:xfrm>
            <a:off x="1359581" y="4541392"/>
            <a:ext cx="9602253" cy="123110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AU" sz="4400" baseline="0">
                <a:solidFill>
                  <a:srgbClr val="22272B"/>
                </a:solidFill>
                <a:latin typeface="Edu NSW ACT Foundation"/>
              </a:rPr>
              <a:t>6 + 5 + 4 = 4 + 3 + 1 + 2 + 2 + 2 + 1</a:t>
            </a:r>
            <a:endParaRPr lang="en-US" sz="4400"/>
          </a:p>
          <a:p>
            <a:pPr algn="ctr"/>
            <a:endParaRPr lang="en-US" sz="3600"/>
          </a:p>
        </p:txBody>
      </p:sp>
      <p:sp>
        <p:nvSpPr>
          <p:cNvPr id="2" name="Slide Number Placeholder 1">
            <a:extLst>
              <a:ext uri="{FF2B5EF4-FFF2-40B4-BE49-F238E27FC236}">
                <a16:creationId xmlns:a16="http://schemas.microsoft.com/office/drawing/2014/main" id="{50B43993-9C30-0CC3-DF2A-4A100C52F6A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10</a:t>
            </a:fld>
            <a:endParaRPr lang="en-AU"/>
          </a:p>
        </p:txBody>
      </p:sp>
    </p:spTree>
    <p:extLst>
      <p:ext uri="{BB962C8B-B14F-4D97-AF65-F5344CB8AC3E}">
        <p14:creationId xmlns:p14="http://schemas.microsoft.com/office/powerpoint/2010/main" val="3027897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0BEA8-D559-A435-EEF0-28E2AFD04D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21F8AB-0B6A-B8B9-7B23-724B5428069F}"/>
              </a:ext>
            </a:extLst>
          </p:cNvPr>
          <p:cNvSpPr>
            <a:spLocks noGrp="1"/>
          </p:cNvSpPr>
          <p:nvPr>
            <p:ph type="ctrTitle"/>
          </p:nvPr>
        </p:nvSpPr>
        <p:spPr/>
        <p:txBody>
          <a:bodyPr/>
          <a:lstStyle/>
          <a:p>
            <a:r>
              <a:rPr lang="en-AU">
                <a:latin typeface="+mj-lt"/>
              </a:rPr>
              <a:t>Review of learning 2</a:t>
            </a:r>
          </a:p>
        </p:txBody>
      </p:sp>
    </p:spTree>
    <p:extLst>
      <p:ext uri="{BB962C8B-B14F-4D97-AF65-F5344CB8AC3E}">
        <p14:creationId xmlns:p14="http://schemas.microsoft.com/office/powerpoint/2010/main" val="177814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6EC1-1F53-FC13-BF87-681E5C2B8D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4B5FD60-0B86-5755-366A-8B1C7AD817A2}"/>
              </a:ext>
            </a:extLst>
          </p:cNvPr>
          <p:cNvSpPr>
            <a:spLocks noGrp="1"/>
          </p:cNvSpPr>
          <p:nvPr>
            <p:ph type="title"/>
          </p:nvPr>
        </p:nvSpPr>
        <p:spPr/>
        <p:txBody>
          <a:bodyPr/>
          <a:lstStyle/>
          <a:p>
            <a:r>
              <a:rPr lang="en-US"/>
              <a:t>True or false </a:t>
            </a:r>
            <a:r>
              <a:rPr lang="en-US">
                <a:solidFill>
                  <a:schemeClr val="bg1"/>
                </a:solidFill>
              </a:rPr>
              <a:t>(1)</a:t>
            </a:r>
          </a:p>
        </p:txBody>
      </p:sp>
      <p:pic>
        <p:nvPicPr>
          <p:cNvPr id="4" name="Picture 3" descr="image of a finger selecting an option for a multiple choice or true and false">
            <a:extLst>
              <a:ext uri="{FF2B5EF4-FFF2-40B4-BE49-F238E27FC236}">
                <a16:creationId xmlns:a16="http://schemas.microsoft.com/office/drawing/2014/main" id="{6FB50F61-F068-87AB-4B10-FC2CEB84FBCE}"/>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8CC0313E-620B-44F6-1CF2-E78C8F63E324}"/>
              </a:ext>
            </a:extLst>
          </p:cNvPr>
          <p:cNvSpPr>
            <a:spLocks noGrp="1"/>
          </p:cNvSpPr>
          <p:nvPr>
            <p:ph type="body" sz="quarter" idx="22"/>
          </p:nvPr>
        </p:nvSpPr>
        <p:spPr>
          <a:xfrm>
            <a:off x="474481" y="1883327"/>
            <a:ext cx="11243037" cy="893226"/>
          </a:xfrm>
        </p:spPr>
        <p:txBody>
          <a:bodyPr vert="horz" lIns="0" tIns="0" rIns="0" bIns="0" rtlCol="0" anchor="t">
            <a:noAutofit/>
          </a:bodyPr>
          <a:lstStyle/>
          <a:p>
            <a:pPr algn="ctr"/>
            <a:r>
              <a:rPr lang="en-AU" sz="5400" dirty="0">
                <a:latin typeface="Arial"/>
                <a:cs typeface="Arial"/>
              </a:rPr>
              <a:t>15 + 7 = 22 + 7 </a:t>
            </a:r>
            <a:endParaRPr lang="en-AU" sz="5400" dirty="0"/>
          </a:p>
        </p:txBody>
      </p:sp>
      <p:graphicFrame>
        <p:nvGraphicFramePr>
          <p:cNvPr id="12" name="Table 11">
            <a:extLst>
              <a:ext uri="{FF2B5EF4-FFF2-40B4-BE49-F238E27FC236}">
                <a16:creationId xmlns:a16="http://schemas.microsoft.com/office/drawing/2014/main" id="{6E7954F0-28D9-426D-5A8E-F0473D1F3B51}"/>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9FE886CB-34FF-0292-C29C-0B025043076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12</a:t>
            </a:fld>
            <a:endParaRPr lang="en-AU"/>
          </a:p>
        </p:txBody>
      </p:sp>
    </p:spTree>
    <p:extLst>
      <p:ext uri="{BB962C8B-B14F-4D97-AF65-F5344CB8AC3E}">
        <p14:creationId xmlns:p14="http://schemas.microsoft.com/office/powerpoint/2010/main" val="50916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E9BF-15AF-2BAB-123A-1F037454C06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6CBE5C-EB4F-B9C0-4EE6-3D6DB0966B5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(5)</a:t>
            </a:r>
          </a:p>
        </p:txBody>
      </p:sp>
      <p:pic>
        <p:nvPicPr>
          <p:cNvPr id="3" name="Picture 2" descr="image of a clipboard with a pencil recording short answer responses">
            <a:extLst>
              <a:ext uri="{FF2B5EF4-FFF2-40B4-BE49-F238E27FC236}">
                <a16:creationId xmlns:a16="http://schemas.microsoft.com/office/drawing/2014/main" id="{C7718586-1339-6B81-E608-E6AA891DE5E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3" name="TextBox 22">
            <a:extLst>
              <a:ext uri="{FF2B5EF4-FFF2-40B4-BE49-F238E27FC236}">
                <a16:creationId xmlns:a16="http://schemas.microsoft.com/office/drawing/2014/main" id="{C39CB58F-5C16-4556-1CE3-F03435895A6B}"/>
              </a:ext>
            </a:extLst>
          </p:cNvPr>
          <p:cNvSpPr txBox="1"/>
          <p:nvPr/>
        </p:nvSpPr>
        <p:spPr>
          <a:xfrm>
            <a:off x="574002" y="1299576"/>
            <a:ext cx="6726684" cy="914400"/>
          </a:xfrm>
          <a:prstGeom prst="rect">
            <a:avLst/>
          </a:prstGeom>
          <a:noFill/>
        </p:spPr>
        <p:txBody>
          <a:bodyPr wrap="none" lIns="0" tIns="0" rIns="0" bIns="0" rtlCol="0">
            <a:noAutofit/>
          </a:bodyPr>
          <a:lstStyle/>
          <a:p>
            <a:r>
              <a:rPr lang="en-AU" sz="4400" dirty="0"/>
              <a:t>Complete this sequence:</a:t>
            </a:r>
          </a:p>
        </p:txBody>
      </p:sp>
      <p:sp>
        <p:nvSpPr>
          <p:cNvPr id="4" name="TextBox 3">
            <a:extLst>
              <a:ext uri="{FF2B5EF4-FFF2-40B4-BE49-F238E27FC236}">
                <a16:creationId xmlns:a16="http://schemas.microsoft.com/office/drawing/2014/main" id="{E2D93A55-42B1-300F-6BAB-32EFEDDED43D}"/>
              </a:ext>
            </a:extLst>
          </p:cNvPr>
          <p:cNvSpPr txBox="1"/>
          <p:nvPr/>
        </p:nvSpPr>
        <p:spPr>
          <a:xfrm>
            <a:off x="388049" y="3266875"/>
            <a:ext cx="11557927" cy="1331317"/>
          </a:xfrm>
          <a:prstGeom prst="rect">
            <a:avLst/>
          </a:prstGeom>
          <a:noFill/>
        </p:spPr>
        <p:txBody>
          <a:bodyPr wrap="square" lIns="0" tIns="0" rIns="0" bIns="0" rtlCol="0" anchor="t">
            <a:noAutofit/>
          </a:bodyPr>
          <a:lstStyle/>
          <a:p>
            <a:r>
              <a:rPr lang="en-AU" sz="1800" dirty="0"/>
              <a:t>       </a:t>
            </a:r>
            <a:endParaRPr lang="en-US" dirty="0"/>
          </a:p>
          <a:p>
            <a:r>
              <a:rPr lang="en-AU" sz="4400" dirty="0"/>
              <a:t>1230,1330,1430,____,____,____,1830,____ </a:t>
            </a:r>
          </a:p>
        </p:txBody>
      </p:sp>
      <p:sp>
        <p:nvSpPr>
          <p:cNvPr id="5" name="TextBox 4">
            <a:extLst>
              <a:ext uri="{FF2B5EF4-FFF2-40B4-BE49-F238E27FC236}">
                <a16:creationId xmlns:a16="http://schemas.microsoft.com/office/drawing/2014/main" id="{F14473D9-B283-8B28-2CD5-FAD6A0509280}"/>
              </a:ext>
            </a:extLst>
          </p:cNvPr>
          <p:cNvSpPr txBox="1"/>
          <p:nvPr/>
        </p:nvSpPr>
        <p:spPr>
          <a:xfrm>
            <a:off x="941596" y="4953175"/>
            <a:ext cx="10088880" cy="982513"/>
          </a:xfrm>
          <a:prstGeom prst="rect">
            <a:avLst/>
          </a:prstGeom>
          <a:noFill/>
        </p:spPr>
        <p:txBody>
          <a:bodyPr wrap="square">
            <a:spAutoFit/>
          </a:bodyPr>
          <a:lstStyle/>
          <a:p>
            <a:pPr algn="ctr">
              <a:lnSpc>
                <a:spcPct val="150000"/>
              </a:lnSpc>
            </a:pPr>
            <a:r>
              <a:rPr lang="en-US" sz="4400" b="1" dirty="0">
                <a:cs typeface="Arial"/>
              </a:rPr>
              <a:t>Communicate </a:t>
            </a:r>
            <a:r>
              <a:rPr lang="en-US" sz="4400" dirty="0">
                <a:cs typeface="Arial"/>
              </a:rPr>
              <a:t>your </a:t>
            </a:r>
            <a:r>
              <a:rPr lang="en-US" sz="4400" b="1" dirty="0">
                <a:cs typeface="Arial"/>
              </a:rPr>
              <a:t>reasoning</a:t>
            </a:r>
            <a:r>
              <a:rPr lang="en-US" sz="4400" dirty="0">
                <a:cs typeface="Arial"/>
              </a:rPr>
              <a:t>.</a:t>
            </a:r>
          </a:p>
        </p:txBody>
      </p:sp>
      <p:sp>
        <p:nvSpPr>
          <p:cNvPr id="2" name="Slide Number Placeholder 1">
            <a:extLst>
              <a:ext uri="{FF2B5EF4-FFF2-40B4-BE49-F238E27FC236}">
                <a16:creationId xmlns:a16="http://schemas.microsoft.com/office/drawing/2014/main" id="{82981BCB-7B1E-1C61-0E18-C94BA5A8FC1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13</a:t>
            </a:fld>
            <a:endParaRPr lang="en-AU"/>
          </a:p>
        </p:txBody>
      </p:sp>
    </p:spTree>
    <p:extLst>
      <p:ext uri="{BB962C8B-B14F-4D97-AF65-F5344CB8AC3E}">
        <p14:creationId xmlns:p14="http://schemas.microsoft.com/office/powerpoint/2010/main" val="1446765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3E44-DDF8-BB15-F13B-7E68A1EFC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3D9D8F9-BDFB-13F9-6557-DD00B95ECD0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(6)</a:t>
            </a:r>
          </a:p>
        </p:txBody>
      </p:sp>
      <p:pic>
        <p:nvPicPr>
          <p:cNvPr id="3" name="Picture 2" descr="image of a clipboard with a pencil recording short answer responses">
            <a:extLst>
              <a:ext uri="{FF2B5EF4-FFF2-40B4-BE49-F238E27FC236}">
                <a16:creationId xmlns:a16="http://schemas.microsoft.com/office/drawing/2014/main" id="{9C8770A4-A467-8E0A-C417-8D3F46A5320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974E5AD4-3EE4-EC1B-8489-E3C061AEE8DA}"/>
              </a:ext>
            </a:extLst>
          </p:cNvPr>
          <p:cNvSpPr txBox="1"/>
          <p:nvPr/>
        </p:nvSpPr>
        <p:spPr>
          <a:xfrm>
            <a:off x="663209" y="1201836"/>
            <a:ext cx="10367267" cy="56561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lnSpc>
                <a:spcPct val="150000"/>
              </a:lnSpc>
            </a:pPr>
            <a:r>
              <a:rPr lang="en-US" sz="4000" dirty="0">
                <a:cs typeface="Arial"/>
              </a:rPr>
              <a:t>Would a tally table be an </a:t>
            </a:r>
            <a:r>
              <a:rPr lang="en-US" sz="4000" b="1" dirty="0">
                <a:cs typeface="Arial"/>
              </a:rPr>
              <a:t>efficient way </a:t>
            </a:r>
            <a:r>
              <a:rPr lang="en-US" sz="4000" dirty="0">
                <a:cs typeface="Arial"/>
              </a:rPr>
              <a:t>to collect data on </a:t>
            </a:r>
            <a:r>
              <a:rPr lang="en-US" sz="4000" b="1" dirty="0">
                <a:cs typeface="Arial"/>
              </a:rPr>
              <a:t>eye </a:t>
            </a:r>
            <a:r>
              <a:rPr lang="en-US" sz="4000" b="1" dirty="0" err="1">
                <a:cs typeface="Arial"/>
              </a:rPr>
              <a:t>colour</a:t>
            </a:r>
            <a:r>
              <a:rPr lang="en-US" sz="4000" b="1" dirty="0">
                <a:cs typeface="Arial"/>
              </a:rPr>
              <a:t> in your class</a:t>
            </a:r>
            <a:r>
              <a:rPr lang="en-US" sz="4000" dirty="0">
                <a:cs typeface="Arial"/>
              </a:rPr>
              <a:t>? </a:t>
            </a:r>
          </a:p>
          <a:p>
            <a:pPr algn="ctr">
              <a:lnSpc>
                <a:spcPct val="150000"/>
              </a:lnSpc>
            </a:pPr>
            <a:endParaRPr lang="en-US" sz="1200" dirty="0">
              <a:cs typeface="Arial"/>
            </a:endParaRPr>
          </a:p>
          <a:p>
            <a:pPr algn="ctr">
              <a:lnSpc>
                <a:spcPct val="150000"/>
              </a:lnSpc>
            </a:pPr>
            <a:r>
              <a:rPr lang="en-US" sz="4000" dirty="0">
                <a:cs typeface="Arial"/>
              </a:rPr>
              <a:t>When is a tally chart </a:t>
            </a:r>
            <a:r>
              <a:rPr lang="en-US" sz="4000" b="1" dirty="0">
                <a:cs typeface="Arial"/>
              </a:rPr>
              <a:t>not an efficient method</a:t>
            </a:r>
            <a:r>
              <a:rPr lang="en-US" sz="4000" dirty="0">
                <a:cs typeface="Arial"/>
              </a:rPr>
              <a:t>?</a:t>
            </a:r>
          </a:p>
          <a:p>
            <a:pPr algn="ctr">
              <a:lnSpc>
                <a:spcPct val="150000"/>
              </a:lnSpc>
            </a:pPr>
            <a:endParaRPr lang="en-US" sz="1200" dirty="0">
              <a:cs typeface="Arial"/>
            </a:endParaRPr>
          </a:p>
          <a:p>
            <a:pPr algn="ctr">
              <a:lnSpc>
                <a:spcPct val="150000"/>
              </a:lnSpc>
            </a:pPr>
            <a:r>
              <a:rPr lang="en-US" sz="4000" b="1" dirty="0">
                <a:cs typeface="Arial"/>
              </a:rPr>
              <a:t>Communicate</a:t>
            </a:r>
            <a:r>
              <a:rPr lang="en-US" sz="4000" dirty="0">
                <a:cs typeface="Arial"/>
              </a:rPr>
              <a:t> your </a:t>
            </a:r>
            <a:r>
              <a:rPr lang="en-US" sz="4000" b="1" dirty="0">
                <a:cs typeface="Arial"/>
              </a:rPr>
              <a:t>reasoning. </a:t>
            </a:r>
            <a:endParaRPr lang="en-US" sz="4000" b="1" dirty="0"/>
          </a:p>
          <a:p>
            <a:pPr algn="ctr">
              <a:lnSpc>
                <a:spcPct val="150000"/>
              </a:lnSpc>
            </a:pPr>
            <a:endParaRPr lang="en-US" dirty="0">
              <a:cs typeface="Arial"/>
            </a:endParaRPr>
          </a:p>
        </p:txBody>
      </p:sp>
      <p:sp>
        <p:nvSpPr>
          <p:cNvPr id="2" name="Slide Number Placeholder 1">
            <a:extLst>
              <a:ext uri="{FF2B5EF4-FFF2-40B4-BE49-F238E27FC236}">
                <a16:creationId xmlns:a16="http://schemas.microsoft.com/office/drawing/2014/main" id="{9796E3F7-51EE-97B3-1DDD-CDAEB05CFFC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14</a:t>
            </a:fld>
            <a:endParaRPr lang="en-AU"/>
          </a:p>
        </p:txBody>
      </p:sp>
    </p:spTree>
    <p:extLst>
      <p:ext uri="{BB962C8B-B14F-4D97-AF65-F5344CB8AC3E}">
        <p14:creationId xmlns:p14="http://schemas.microsoft.com/office/powerpoint/2010/main" val="6034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065EB-977E-8A0B-776E-365C47F513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A20AE0F-3055-9CF7-2815-4C587C167EC6}"/>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(7)</a:t>
            </a:r>
          </a:p>
        </p:txBody>
      </p:sp>
      <p:pic>
        <p:nvPicPr>
          <p:cNvPr id="3" name="Picture 2" descr="image of a clipboard with a pencil recording short answer responses">
            <a:extLst>
              <a:ext uri="{FF2B5EF4-FFF2-40B4-BE49-F238E27FC236}">
                <a16:creationId xmlns:a16="http://schemas.microsoft.com/office/drawing/2014/main" id="{F22768F3-1D34-7E31-8299-4A2308A11FC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9" name="TextBox 8">
            <a:extLst>
              <a:ext uri="{FF2B5EF4-FFF2-40B4-BE49-F238E27FC236}">
                <a16:creationId xmlns:a16="http://schemas.microsoft.com/office/drawing/2014/main" id="{CD9A8F07-A8A1-6577-41A9-13E3EEF6D0CB}"/>
              </a:ext>
            </a:extLst>
          </p:cNvPr>
          <p:cNvSpPr txBox="1"/>
          <p:nvPr/>
        </p:nvSpPr>
        <p:spPr>
          <a:xfrm>
            <a:off x="3170871" y="820593"/>
            <a:ext cx="6096000" cy="982513"/>
          </a:xfrm>
          <a:prstGeom prst="rect">
            <a:avLst/>
          </a:prstGeom>
          <a:noFill/>
        </p:spPr>
        <p:txBody>
          <a:bodyPr wrap="square">
            <a:spAutoFit/>
          </a:bodyPr>
          <a:lstStyle/>
          <a:p>
            <a:pPr algn="ctr">
              <a:lnSpc>
                <a:spcPct val="150000"/>
              </a:lnSpc>
            </a:pPr>
            <a:r>
              <a:rPr lang="en-US" sz="4400" dirty="0">
                <a:cs typeface="Arial"/>
              </a:rPr>
              <a:t>Draw a fraction strip. </a:t>
            </a:r>
          </a:p>
        </p:txBody>
      </p:sp>
      <p:pic>
        <p:nvPicPr>
          <p:cNvPr id="7" name="Picture 6" descr="A fraction strip.">
            <a:extLst>
              <a:ext uri="{FF2B5EF4-FFF2-40B4-BE49-F238E27FC236}">
                <a16:creationId xmlns:a16="http://schemas.microsoft.com/office/drawing/2014/main" id="{EF9BC172-A7CA-002A-AF63-D06D98E5926A}"/>
              </a:ext>
            </a:extLst>
          </p:cNvPr>
          <p:cNvPicPr>
            <a:picLocks noChangeAspect="1"/>
          </p:cNvPicPr>
          <p:nvPr/>
        </p:nvPicPr>
        <p:blipFill>
          <a:blip r:embed="rId4"/>
          <a:srcRect t="57648" b="21290"/>
          <a:stretch>
            <a:fillRect/>
          </a:stretch>
        </p:blipFill>
        <p:spPr>
          <a:xfrm flipV="1">
            <a:off x="532771" y="1869290"/>
            <a:ext cx="11454205" cy="915500"/>
          </a:xfrm>
          <a:prstGeom prst="rect">
            <a:avLst/>
          </a:prstGeom>
          <a:ln>
            <a:noFill/>
          </a:ln>
          <a:effectLst/>
        </p:spPr>
      </p:pic>
      <p:sp>
        <p:nvSpPr>
          <p:cNvPr id="11" name="TextBox 10">
            <a:extLst>
              <a:ext uri="{FF2B5EF4-FFF2-40B4-BE49-F238E27FC236}">
                <a16:creationId xmlns:a16="http://schemas.microsoft.com/office/drawing/2014/main" id="{46BCAB01-E1F4-7FA2-1BF7-3BB5EC8CBE02}"/>
              </a:ext>
            </a:extLst>
          </p:cNvPr>
          <p:cNvSpPr txBox="1"/>
          <p:nvPr/>
        </p:nvSpPr>
        <p:spPr>
          <a:xfrm>
            <a:off x="699751" y="2746002"/>
            <a:ext cx="11144249" cy="173259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lnSpc>
                <a:spcPct val="150000"/>
              </a:lnSpc>
            </a:pPr>
            <a:r>
              <a:rPr lang="en-US" sz="4000" dirty="0">
                <a:cs typeface="Arial"/>
              </a:rPr>
              <a:t>Use your knowledge of what </a:t>
            </a:r>
            <a:r>
              <a:rPr lang="en-US" sz="4000" b="1" dirty="0">
                <a:solidFill>
                  <a:srgbClr val="146CFD"/>
                </a:solidFill>
                <a:cs typeface="Arial"/>
              </a:rPr>
              <a:t>half</a:t>
            </a:r>
            <a:r>
              <a:rPr lang="en-US" sz="4000" dirty="0">
                <a:cs typeface="Arial"/>
              </a:rPr>
              <a:t> looks like to divide your strip into </a:t>
            </a:r>
            <a:r>
              <a:rPr lang="en-US" sz="4000" b="1" dirty="0">
                <a:cs typeface="Arial"/>
              </a:rPr>
              <a:t>thirds.</a:t>
            </a:r>
            <a:endParaRPr lang="en-US" sz="3600" b="1" dirty="0"/>
          </a:p>
        </p:txBody>
      </p:sp>
      <p:pic>
        <p:nvPicPr>
          <p:cNvPr id="5" name="Picture 4" descr="A fraction strip half-filled with blue.">
            <a:extLst>
              <a:ext uri="{FF2B5EF4-FFF2-40B4-BE49-F238E27FC236}">
                <a16:creationId xmlns:a16="http://schemas.microsoft.com/office/drawing/2014/main" id="{8A75B60D-9FAA-6FD8-38FE-21304E1F69AF}"/>
              </a:ext>
            </a:extLst>
          </p:cNvPr>
          <p:cNvPicPr>
            <a:picLocks noChangeAspect="1"/>
          </p:cNvPicPr>
          <p:nvPr/>
        </p:nvPicPr>
        <p:blipFill>
          <a:blip r:embed="rId4"/>
          <a:srcRect t="20621" b="58316"/>
          <a:stretch>
            <a:fillRect/>
          </a:stretch>
        </p:blipFill>
        <p:spPr>
          <a:xfrm flipV="1">
            <a:off x="532772" y="4663979"/>
            <a:ext cx="11454205" cy="915499"/>
          </a:xfrm>
          <a:prstGeom prst="rect">
            <a:avLst/>
          </a:prstGeom>
          <a:ln>
            <a:noFill/>
          </a:ln>
          <a:effectLst/>
        </p:spPr>
      </p:pic>
      <p:sp>
        <p:nvSpPr>
          <p:cNvPr id="2" name="Slide Number Placeholder 1">
            <a:extLst>
              <a:ext uri="{FF2B5EF4-FFF2-40B4-BE49-F238E27FC236}">
                <a16:creationId xmlns:a16="http://schemas.microsoft.com/office/drawing/2014/main" id="{3235C9A5-5146-B61D-40A7-3861511E29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15</a:t>
            </a:fld>
            <a:endParaRPr lang="en-AU"/>
          </a:p>
        </p:txBody>
      </p:sp>
    </p:spTree>
    <p:extLst>
      <p:ext uri="{BB962C8B-B14F-4D97-AF65-F5344CB8AC3E}">
        <p14:creationId xmlns:p14="http://schemas.microsoft.com/office/powerpoint/2010/main" val="34314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2E500-9DDC-61C8-5913-B1F20498E1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62D5D31-12A0-FCE7-14C6-C3B229423A2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(8)</a:t>
            </a:r>
          </a:p>
        </p:txBody>
      </p:sp>
      <p:pic>
        <p:nvPicPr>
          <p:cNvPr id="3" name="Picture 2" descr="image of a clipboard with a pencil recording short answer responses">
            <a:extLst>
              <a:ext uri="{FF2B5EF4-FFF2-40B4-BE49-F238E27FC236}">
                <a16:creationId xmlns:a16="http://schemas.microsoft.com/office/drawing/2014/main" id="{5D2DD89E-AAB3-5EBB-F36F-72D71287FEE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4C2A4405-68F2-143B-7FB9-D83160DDCF47}"/>
              </a:ext>
            </a:extLst>
          </p:cNvPr>
          <p:cNvSpPr txBox="1"/>
          <p:nvPr/>
        </p:nvSpPr>
        <p:spPr>
          <a:xfrm>
            <a:off x="831297" y="905601"/>
            <a:ext cx="10367268" cy="5816977"/>
          </a:xfrm>
          <a:prstGeom prst="rect">
            <a:avLst/>
          </a:prstGeom>
          <a:noFill/>
        </p:spPr>
        <p:txBody>
          <a:bodyPr wrap="square">
            <a:spAutoFit/>
          </a:bodyPr>
          <a:lstStyle/>
          <a:p>
            <a:pPr>
              <a:lnSpc>
                <a:spcPct val="150000"/>
              </a:lnSpc>
            </a:pPr>
            <a:r>
              <a:rPr lang="en-AU" sz="4400" dirty="0"/>
              <a:t>Order these units of time from </a:t>
            </a:r>
            <a:r>
              <a:rPr lang="en-AU" sz="4400" b="1" dirty="0"/>
              <a:t>shortest</a:t>
            </a:r>
            <a:r>
              <a:rPr lang="en-AU" sz="4400" dirty="0"/>
              <a:t> to </a:t>
            </a:r>
            <a:r>
              <a:rPr lang="en-AU" sz="4400" b="1" dirty="0"/>
              <a:t>longest</a:t>
            </a:r>
            <a:r>
              <a:rPr lang="en-AU" sz="4400" dirty="0"/>
              <a:t>:</a:t>
            </a:r>
          </a:p>
          <a:p>
            <a:pPr marL="3770313" indent="-900113">
              <a:lnSpc>
                <a:spcPct val="150000"/>
              </a:lnSpc>
              <a:buFont typeface="Arial" panose="020B0604020202020204" pitchFamily="34" charset="0"/>
              <a:buChar char="•"/>
              <a:tabLst>
                <a:tab pos="3319463" algn="l"/>
                <a:tab pos="3671888" algn="l"/>
              </a:tabLst>
            </a:pPr>
            <a:r>
              <a:rPr lang="en-AU" sz="4400" dirty="0"/>
              <a:t>one </a:t>
            </a:r>
            <a:r>
              <a:rPr lang="en-AU" sz="4400" b="1" dirty="0"/>
              <a:t>minute</a:t>
            </a:r>
          </a:p>
          <a:p>
            <a:pPr marL="3770313" indent="-900113">
              <a:lnSpc>
                <a:spcPct val="150000"/>
              </a:lnSpc>
              <a:buFont typeface="Arial" panose="020B0604020202020204" pitchFamily="34" charset="0"/>
              <a:buChar char="•"/>
              <a:tabLst>
                <a:tab pos="3319463" algn="l"/>
                <a:tab pos="3671888" algn="l"/>
              </a:tabLst>
            </a:pPr>
            <a:r>
              <a:rPr lang="en-AU" sz="4400" dirty="0"/>
              <a:t>one </a:t>
            </a:r>
            <a:r>
              <a:rPr lang="en-AU" sz="4400" b="1" dirty="0"/>
              <a:t>hour</a:t>
            </a:r>
            <a:r>
              <a:rPr lang="en-AU" sz="4400" dirty="0"/>
              <a:t>  </a:t>
            </a:r>
          </a:p>
          <a:p>
            <a:pPr marL="3770313" indent="-900113">
              <a:lnSpc>
                <a:spcPct val="150000"/>
              </a:lnSpc>
              <a:buFont typeface="Arial" panose="020B0604020202020204" pitchFamily="34" charset="0"/>
              <a:buChar char="•"/>
              <a:tabLst>
                <a:tab pos="3319463" algn="l"/>
                <a:tab pos="3671888" algn="l"/>
              </a:tabLst>
            </a:pPr>
            <a:r>
              <a:rPr lang="en-AU" sz="4400" dirty="0"/>
              <a:t>one </a:t>
            </a:r>
            <a:r>
              <a:rPr lang="en-AU" sz="4400" b="1" dirty="0"/>
              <a:t>second</a:t>
            </a:r>
          </a:p>
          <a:p>
            <a:pPr algn="ctr"/>
            <a:endParaRPr lang="en-AU" sz="2400" dirty="0"/>
          </a:p>
          <a:p>
            <a:pPr algn="l"/>
            <a:endParaRPr lang="en-AU" sz="1800" dirty="0"/>
          </a:p>
        </p:txBody>
      </p:sp>
      <p:sp>
        <p:nvSpPr>
          <p:cNvPr id="2" name="Slide Number Placeholder 1">
            <a:extLst>
              <a:ext uri="{FF2B5EF4-FFF2-40B4-BE49-F238E27FC236}">
                <a16:creationId xmlns:a16="http://schemas.microsoft.com/office/drawing/2014/main" id="{46FA1740-3E84-C0AC-89BB-08009897108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16</a:t>
            </a:fld>
            <a:endParaRPr lang="en-AU"/>
          </a:p>
        </p:txBody>
      </p:sp>
    </p:spTree>
    <p:extLst>
      <p:ext uri="{BB962C8B-B14F-4D97-AF65-F5344CB8AC3E}">
        <p14:creationId xmlns:p14="http://schemas.microsoft.com/office/powerpoint/2010/main" val="484808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9613E-331A-83D0-CBD3-A2BA82CF95D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3ED363-305A-3A65-38AF-556DA2DAC322}"/>
              </a:ext>
            </a:extLst>
          </p:cNvPr>
          <p:cNvSpPr>
            <a:spLocks noGrp="1"/>
          </p:cNvSpPr>
          <p:nvPr>
            <p:ph type="title"/>
          </p:nvPr>
        </p:nvSpPr>
        <p:spPr>
          <a:xfrm>
            <a:off x="360000" y="360000"/>
            <a:ext cx="10367268" cy="545601"/>
          </a:xfrm>
        </p:spPr>
        <p:txBody>
          <a:bodyPr/>
          <a:lstStyle/>
          <a:p>
            <a:r>
              <a:rPr lang="en-AU" dirty="0">
                <a:latin typeface="Arial"/>
                <a:cs typeface="Arial"/>
              </a:rPr>
              <a:t>Activity 2 – equivalent number sentences (1)</a:t>
            </a:r>
          </a:p>
        </p:txBody>
      </p:sp>
      <p:pic>
        <p:nvPicPr>
          <p:cNvPr id="4" name="Picture 3" descr="image of a head with cogs turning inside">
            <a:extLst>
              <a:ext uri="{FF2B5EF4-FFF2-40B4-BE49-F238E27FC236}">
                <a16:creationId xmlns:a16="http://schemas.microsoft.com/office/drawing/2014/main" id="{D6502462-26FB-38CD-06DC-5F98705966BE}"/>
              </a:ext>
            </a:extLst>
          </p:cNvPr>
          <p:cNvPicPr>
            <a:picLocks noChangeAspect="1"/>
          </p:cNvPicPr>
          <p:nvPr/>
        </p:nvPicPr>
        <p:blipFill>
          <a:blip r:embed="rId3"/>
          <a:stretch>
            <a:fillRect/>
          </a:stretch>
        </p:blipFill>
        <p:spPr>
          <a:xfrm>
            <a:off x="11107003" y="240894"/>
            <a:ext cx="720000" cy="856364"/>
          </a:xfrm>
          <a:prstGeom prst="rect">
            <a:avLst/>
          </a:prstGeom>
        </p:spPr>
      </p:pic>
      <p:sp>
        <p:nvSpPr>
          <p:cNvPr id="3" name="TextBox 2">
            <a:extLst>
              <a:ext uri="{FF2B5EF4-FFF2-40B4-BE49-F238E27FC236}">
                <a16:creationId xmlns:a16="http://schemas.microsoft.com/office/drawing/2014/main" id="{555DD77F-8D05-611A-833F-3924D943E6E0}"/>
              </a:ext>
            </a:extLst>
          </p:cNvPr>
          <p:cNvSpPr txBox="1"/>
          <p:nvPr/>
        </p:nvSpPr>
        <p:spPr>
          <a:xfrm>
            <a:off x="2835680" y="2799657"/>
            <a:ext cx="6289963" cy="120032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5400" dirty="0">
                <a:latin typeface="Arial"/>
                <a:ea typeface="Arial"/>
                <a:cs typeface="Arial"/>
              </a:rPr>
              <a:t>27 + 13 = 11 + 29 </a:t>
            </a:r>
            <a:endParaRPr lang="en-US" sz="5400" dirty="0"/>
          </a:p>
          <a:p>
            <a:pPr algn="ctr"/>
            <a:endParaRPr lang="en-US" dirty="0"/>
          </a:p>
        </p:txBody>
      </p:sp>
      <p:sp>
        <p:nvSpPr>
          <p:cNvPr id="2" name="Slide Number Placeholder 1">
            <a:extLst>
              <a:ext uri="{FF2B5EF4-FFF2-40B4-BE49-F238E27FC236}">
                <a16:creationId xmlns:a16="http://schemas.microsoft.com/office/drawing/2014/main" id="{667A3C9A-16B3-82E5-17C0-1858EAFCD54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17</a:t>
            </a:fld>
            <a:endParaRPr lang="en-AU"/>
          </a:p>
        </p:txBody>
      </p:sp>
    </p:spTree>
    <p:extLst>
      <p:ext uri="{BB962C8B-B14F-4D97-AF65-F5344CB8AC3E}">
        <p14:creationId xmlns:p14="http://schemas.microsoft.com/office/powerpoint/2010/main" val="263946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3CD2BF3-0BDD-3AAB-E56A-5AEB0CE5BEAD}"/>
              </a:ext>
            </a:extLst>
          </p:cNvPr>
          <p:cNvSpPr>
            <a:spLocks noGrp="1"/>
          </p:cNvSpPr>
          <p:nvPr>
            <p:ph type="title"/>
          </p:nvPr>
        </p:nvSpPr>
        <p:spPr/>
        <p:txBody>
          <a:bodyPr/>
          <a:lstStyle/>
          <a:p>
            <a:r>
              <a:rPr lang="en-AU" dirty="0">
                <a:latin typeface="Arial"/>
                <a:cs typeface="Arial"/>
              </a:rPr>
              <a:t>Activity 2 – equivalent number sentences (2)</a:t>
            </a:r>
            <a:endParaRPr lang="en-US" dirty="0">
              <a:latin typeface="Arial"/>
              <a:cs typeface="Arial"/>
            </a:endParaRPr>
          </a:p>
          <a:p>
            <a:endParaRPr lang="en-US" dirty="0"/>
          </a:p>
        </p:txBody>
      </p:sp>
      <p:graphicFrame>
        <p:nvGraphicFramePr>
          <p:cNvPr id="9" name="Table 8">
            <a:extLst>
              <a:ext uri="{FF2B5EF4-FFF2-40B4-BE49-F238E27FC236}">
                <a16:creationId xmlns:a16="http://schemas.microsoft.com/office/drawing/2014/main" id="{A84E6492-9733-1851-DC93-412E8CC00004}"/>
              </a:ext>
            </a:extLst>
          </p:cNvPr>
          <p:cNvGraphicFramePr>
            <a:graphicFrameLocks noGrp="1"/>
          </p:cNvGraphicFramePr>
          <p:nvPr>
            <p:extLst>
              <p:ext uri="{D42A27DB-BD31-4B8C-83A1-F6EECF244321}">
                <p14:modId xmlns:p14="http://schemas.microsoft.com/office/powerpoint/2010/main" val="3601669412"/>
              </p:ext>
            </p:extLst>
          </p:nvPr>
        </p:nvGraphicFramePr>
        <p:xfrm>
          <a:off x="2912178" y="1575486"/>
          <a:ext cx="6120130" cy="4477902"/>
        </p:xfrm>
        <a:graphic>
          <a:graphicData uri="http://schemas.openxmlformats.org/drawingml/2006/table">
            <a:tbl>
              <a:tblPr firstRow="1" firstCol="1" bandRow="1">
                <a:tableStyleId>{5A111915-BE36-4E01-A7E5-04B1672EAD32}</a:tableStyleId>
              </a:tblPr>
              <a:tblGrid>
                <a:gridCol w="3060065">
                  <a:extLst>
                    <a:ext uri="{9D8B030D-6E8A-4147-A177-3AD203B41FA5}">
                      <a16:colId xmlns:a16="http://schemas.microsoft.com/office/drawing/2014/main" val="1984571365"/>
                    </a:ext>
                  </a:extLst>
                </a:gridCol>
                <a:gridCol w="3060065">
                  <a:extLst>
                    <a:ext uri="{9D8B030D-6E8A-4147-A177-3AD203B41FA5}">
                      <a16:colId xmlns:a16="http://schemas.microsoft.com/office/drawing/2014/main" val="632087600"/>
                    </a:ext>
                  </a:extLst>
                </a:gridCol>
              </a:tblGrid>
              <a:tr h="746317">
                <a:tc>
                  <a:txBody>
                    <a:bodyPr/>
                    <a:lstStyle/>
                    <a:p>
                      <a:pPr algn="ctr">
                        <a:lnSpc>
                          <a:spcPct val="107000"/>
                        </a:lnSpc>
                        <a:spcAft>
                          <a:spcPts val="800"/>
                        </a:spcAft>
                        <a:buNone/>
                      </a:pPr>
                      <a:r>
                        <a:rPr lang="en-US" sz="2400" b="0">
                          <a:solidFill>
                            <a:srgbClr val="000000"/>
                          </a:solidFill>
                          <a:effectLst/>
                        </a:rPr>
                        <a:t>19 + 15 = 34</a:t>
                      </a:r>
                      <a:endParaRPr lang="en-US" b="0">
                        <a:effectLst/>
                      </a:endParaRPr>
                    </a:p>
                  </a:txBody>
                  <a:tcPr marL="68580" marR="6858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US" sz="2400" b="0">
                          <a:solidFill>
                            <a:srgbClr val="000000"/>
                          </a:solidFill>
                          <a:effectLst/>
                        </a:rPr>
                        <a:t>34 = 19 + 15</a:t>
                      </a:r>
                      <a:endParaRPr lang="en-US" b="0">
                        <a:effectLst/>
                      </a:endParaRPr>
                    </a:p>
                  </a:txBody>
                  <a:tcPr marL="68580" marR="6858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15104466"/>
                  </a:ext>
                </a:extLst>
              </a:tr>
              <a:tr h="746317">
                <a:tc>
                  <a:txBody>
                    <a:bodyPr/>
                    <a:lstStyle/>
                    <a:p>
                      <a:pPr algn="ctr">
                        <a:lnSpc>
                          <a:spcPct val="107000"/>
                        </a:lnSpc>
                        <a:spcAft>
                          <a:spcPts val="800"/>
                        </a:spcAft>
                        <a:buNone/>
                      </a:pPr>
                      <a:r>
                        <a:rPr lang="en-US" sz="2400" b="0">
                          <a:solidFill>
                            <a:srgbClr val="000000"/>
                          </a:solidFill>
                          <a:effectLst/>
                        </a:rPr>
                        <a:t>19 + 15 = 15 + 19</a:t>
                      </a:r>
                      <a:endParaRPr lang="en-US" b="0">
                        <a:effectLst/>
                      </a:endParaRPr>
                    </a:p>
                  </a:txBody>
                  <a:tcPr marL="68580" marR="6858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US" sz="2400">
                          <a:solidFill>
                            <a:srgbClr val="000000"/>
                          </a:solidFill>
                          <a:effectLst/>
                        </a:rPr>
                        <a:t>19 + 15 = 21 + 13</a:t>
                      </a:r>
                      <a:endParaRPr lang="en-US">
                        <a:effectLst/>
                      </a:endParaRPr>
                    </a:p>
                  </a:txBody>
                  <a:tcPr marL="68580" marR="6858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88993482"/>
                  </a:ext>
                </a:extLst>
              </a:tr>
              <a:tr h="746317">
                <a:tc>
                  <a:txBody>
                    <a:bodyPr/>
                    <a:lstStyle/>
                    <a:p>
                      <a:pPr algn="ctr">
                        <a:lnSpc>
                          <a:spcPct val="107000"/>
                        </a:lnSpc>
                        <a:spcAft>
                          <a:spcPts val="800"/>
                        </a:spcAft>
                        <a:buNone/>
                      </a:pPr>
                      <a:r>
                        <a:rPr lang="en-US" sz="2400" b="0">
                          <a:solidFill>
                            <a:srgbClr val="000000"/>
                          </a:solidFill>
                          <a:effectLst/>
                        </a:rPr>
                        <a:t>19 + 15 = 34 + 0</a:t>
                      </a:r>
                      <a:endParaRPr lang="en-US" b="0">
                        <a:effectLst/>
                      </a:endParaRPr>
                    </a:p>
                  </a:txBody>
                  <a:tcPr marL="68580" marR="6858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US" sz="2400">
                          <a:solidFill>
                            <a:srgbClr val="000000"/>
                          </a:solidFill>
                          <a:effectLst/>
                        </a:rPr>
                        <a:t>19 + 15 = 22 + 18</a:t>
                      </a:r>
                      <a:endParaRPr lang="en-US">
                        <a:effectLst/>
                      </a:endParaRPr>
                    </a:p>
                  </a:txBody>
                  <a:tcPr marL="68580" marR="6858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07305512"/>
                  </a:ext>
                </a:extLst>
              </a:tr>
              <a:tr h="746317">
                <a:tc>
                  <a:txBody>
                    <a:bodyPr/>
                    <a:lstStyle/>
                    <a:p>
                      <a:pPr algn="ctr">
                        <a:lnSpc>
                          <a:spcPct val="107000"/>
                        </a:lnSpc>
                        <a:spcAft>
                          <a:spcPts val="800"/>
                        </a:spcAft>
                        <a:buNone/>
                      </a:pPr>
                      <a:r>
                        <a:rPr lang="en-US" sz="2400" b="0">
                          <a:solidFill>
                            <a:srgbClr val="000000"/>
                          </a:solidFill>
                          <a:effectLst/>
                        </a:rPr>
                        <a:t>34 = 16 + 17</a:t>
                      </a:r>
                      <a:endParaRPr lang="en-US" b="0">
                        <a:effectLst/>
                      </a:endParaRPr>
                    </a:p>
                  </a:txBody>
                  <a:tcPr marL="68580" marR="6858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US" sz="2400">
                          <a:solidFill>
                            <a:srgbClr val="000000"/>
                          </a:solidFill>
                          <a:effectLst/>
                        </a:rPr>
                        <a:t>19 + 15 = 20 + 16</a:t>
                      </a:r>
                      <a:endParaRPr lang="en-US">
                        <a:effectLst/>
                      </a:endParaRPr>
                    </a:p>
                  </a:txBody>
                  <a:tcPr marL="68580" marR="6858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66015940"/>
                  </a:ext>
                </a:extLst>
              </a:tr>
              <a:tr h="746317">
                <a:tc>
                  <a:txBody>
                    <a:bodyPr/>
                    <a:lstStyle/>
                    <a:p>
                      <a:pPr algn="ctr">
                        <a:lnSpc>
                          <a:spcPct val="107000"/>
                        </a:lnSpc>
                        <a:spcAft>
                          <a:spcPts val="800"/>
                        </a:spcAft>
                        <a:buNone/>
                      </a:pPr>
                      <a:r>
                        <a:rPr lang="en-US" sz="2400" b="0">
                          <a:solidFill>
                            <a:srgbClr val="000000"/>
                          </a:solidFill>
                          <a:effectLst/>
                        </a:rPr>
                        <a:t>19 + 15 = 0 + 34</a:t>
                      </a:r>
                      <a:endParaRPr lang="en-US" b="0">
                        <a:effectLst/>
                      </a:endParaRPr>
                    </a:p>
                  </a:txBody>
                  <a:tcPr marL="68580" marR="6858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US" sz="2400">
                          <a:solidFill>
                            <a:srgbClr val="000000"/>
                          </a:solidFill>
                          <a:effectLst/>
                        </a:rPr>
                        <a:t>19 + 15 = 34 + 15</a:t>
                      </a:r>
                      <a:endParaRPr lang="en-US">
                        <a:effectLst/>
                      </a:endParaRPr>
                    </a:p>
                  </a:txBody>
                  <a:tcPr marL="68580" marR="6858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30264047"/>
                  </a:ext>
                </a:extLst>
              </a:tr>
              <a:tr h="746317">
                <a:tc>
                  <a:txBody>
                    <a:bodyPr/>
                    <a:lstStyle/>
                    <a:p>
                      <a:pPr algn="ctr">
                        <a:lnSpc>
                          <a:spcPct val="107000"/>
                        </a:lnSpc>
                        <a:spcAft>
                          <a:spcPts val="800"/>
                        </a:spcAft>
                        <a:buNone/>
                      </a:pPr>
                      <a:r>
                        <a:rPr lang="en-US" sz="2400" b="0">
                          <a:solidFill>
                            <a:srgbClr val="000000"/>
                          </a:solidFill>
                          <a:effectLst/>
                        </a:rPr>
                        <a:t>34 = 34</a:t>
                      </a:r>
                      <a:endParaRPr lang="en-US" b="0">
                        <a:effectLst/>
                      </a:endParaRPr>
                    </a:p>
                  </a:txBody>
                  <a:tcPr marL="68580" marR="6858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US" sz="2400">
                          <a:solidFill>
                            <a:srgbClr val="000000"/>
                          </a:solidFill>
                          <a:effectLst/>
                        </a:rPr>
                        <a:t>15 + 19 = 20 + 14</a:t>
                      </a:r>
                      <a:endParaRPr lang="en-US">
                        <a:effectLst/>
                      </a:endParaRPr>
                    </a:p>
                  </a:txBody>
                  <a:tcPr marL="68580" marR="68580" marT="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35596591"/>
                  </a:ext>
                </a:extLst>
              </a:tr>
            </a:tbl>
          </a:graphicData>
        </a:graphic>
      </p:graphicFrame>
      <p:sp>
        <p:nvSpPr>
          <p:cNvPr id="2" name="Slide Number Placeholder 1">
            <a:extLst>
              <a:ext uri="{FF2B5EF4-FFF2-40B4-BE49-F238E27FC236}">
                <a16:creationId xmlns:a16="http://schemas.microsoft.com/office/drawing/2014/main" id="{A181EACB-5CDE-6D11-B373-929BBA2A6AA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18</a:t>
            </a:fld>
            <a:endParaRPr lang="en-AU"/>
          </a:p>
        </p:txBody>
      </p:sp>
    </p:spTree>
    <p:extLst>
      <p:ext uri="{BB962C8B-B14F-4D97-AF65-F5344CB8AC3E}">
        <p14:creationId xmlns:p14="http://schemas.microsoft.com/office/powerpoint/2010/main" val="1722098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ECE3-7912-F0C8-58C9-549063BABD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67CD74-5F87-CD4F-1AEB-6D7CEDAED948}"/>
              </a:ext>
            </a:extLst>
          </p:cNvPr>
          <p:cNvSpPr>
            <a:spLocks noGrp="1"/>
          </p:cNvSpPr>
          <p:nvPr>
            <p:ph type="ctrTitle"/>
          </p:nvPr>
        </p:nvSpPr>
        <p:spPr/>
        <p:txBody>
          <a:bodyPr/>
          <a:lstStyle/>
          <a:p>
            <a:r>
              <a:rPr lang="en-AU">
                <a:latin typeface="+mj-lt"/>
              </a:rPr>
              <a:t>Review of learning 3</a:t>
            </a:r>
          </a:p>
        </p:txBody>
      </p:sp>
    </p:spTree>
    <p:extLst>
      <p:ext uri="{BB962C8B-B14F-4D97-AF65-F5344CB8AC3E}">
        <p14:creationId xmlns:p14="http://schemas.microsoft.com/office/powerpoint/2010/main" val="74392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BE6EE-66D0-13E9-6B7D-36691643B44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C07F923-847F-595A-850B-B126A4C8B487}"/>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(2)</a:t>
            </a:r>
          </a:p>
        </p:txBody>
      </p:sp>
      <p:pic>
        <p:nvPicPr>
          <p:cNvPr id="4" name="Picture 3" descr="image of a finger selecting an option for a multiple choice or true and false">
            <a:extLst>
              <a:ext uri="{FF2B5EF4-FFF2-40B4-BE49-F238E27FC236}">
                <a16:creationId xmlns:a16="http://schemas.microsoft.com/office/drawing/2014/main" id="{5F5E1EF3-7C5A-15B4-C7B4-000AE4784B4B}"/>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60D87FE7-103F-733E-E64E-89AD0B777B6B}"/>
              </a:ext>
            </a:extLst>
          </p:cNvPr>
          <p:cNvSpPr>
            <a:spLocks noGrp="1"/>
          </p:cNvSpPr>
          <p:nvPr>
            <p:ph type="body" sz="quarter" idx="24"/>
          </p:nvPr>
        </p:nvSpPr>
        <p:spPr>
          <a:xfrm>
            <a:off x="1117836" y="1000515"/>
            <a:ext cx="9956328" cy="3090222"/>
          </a:xfrm>
        </p:spPr>
        <p:txBody>
          <a:bodyPr vert="horz" lIns="0" tIns="0" rIns="0" bIns="0" rtlCol="0" anchor="t">
            <a:noAutofit/>
          </a:bodyPr>
          <a:lstStyle/>
          <a:p>
            <a:pPr algn="ctr"/>
            <a:r>
              <a:rPr lang="en-US" sz="4400" dirty="0">
                <a:latin typeface="Arial"/>
                <a:cs typeface="Arial"/>
              </a:rPr>
              <a:t>Which of the following are equivalent to</a:t>
            </a:r>
          </a:p>
          <a:p>
            <a:pPr algn="ctr"/>
            <a:r>
              <a:rPr lang="en-US" sz="4400" dirty="0">
                <a:latin typeface="Arial"/>
                <a:cs typeface="Arial"/>
              </a:rPr>
              <a:t>12 + 13?</a:t>
            </a:r>
          </a:p>
          <a:p>
            <a:pPr algn="ctr"/>
            <a:r>
              <a:rPr lang="en-US" sz="4400" dirty="0">
                <a:latin typeface="Arial"/>
                <a:cs typeface="Arial"/>
              </a:rPr>
              <a:t>You may select more than one answer.  </a:t>
            </a:r>
            <a:endParaRPr lang="en-US" sz="4400" dirty="0"/>
          </a:p>
        </p:txBody>
      </p:sp>
      <p:sp>
        <p:nvSpPr>
          <p:cNvPr id="9" name="TextBox 8">
            <a:extLst>
              <a:ext uri="{FF2B5EF4-FFF2-40B4-BE49-F238E27FC236}">
                <a16:creationId xmlns:a16="http://schemas.microsoft.com/office/drawing/2014/main" id="{AF13415D-5ABE-8CE1-9EF6-D83C6FF3BAC9}"/>
              </a:ext>
            </a:extLst>
          </p:cNvPr>
          <p:cNvSpPr txBox="1"/>
          <p:nvPr/>
        </p:nvSpPr>
        <p:spPr>
          <a:xfrm>
            <a:off x="1387610" y="475541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p:sp>
        <p:nvSpPr>
          <p:cNvPr id="15" name="TextBox 14">
            <a:extLst>
              <a:ext uri="{FF2B5EF4-FFF2-40B4-BE49-F238E27FC236}">
                <a16:creationId xmlns:a16="http://schemas.microsoft.com/office/drawing/2014/main" id="{6751F6CB-3FA6-8A2B-4254-3C09CDA36847}"/>
              </a:ext>
            </a:extLst>
          </p:cNvPr>
          <p:cNvSpPr txBox="1"/>
          <p:nvPr/>
        </p:nvSpPr>
        <p:spPr>
          <a:xfrm>
            <a:off x="651274" y="5553664"/>
            <a:ext cx="1967564" cy="95410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4400" baseline="0" dirty="0">
                <a:solidFill>
                  <a:srgbClr val="22272B"/>
                </a:solidFill>
                <a:latin typeface="Arial"/>
              </a:rPr>
              <a:t>13 + 12</a:t>
            </a:r>
            <a:r>
              <a:rPr sz="2800" dirty="0">
                <a:latin typeface="Arial"/>
                <a:ea typeface="Arial"/>
                <a:cs typeface="Arial"/>
              </a:rPr>
              <a:t>​</a:t>
            </a:r>
            <a:endParaRPr lang="en-US" sz="2800" dirty="0">
              <a:cs typeface="Arial"/>
            </a:endParaRPr>
          </a:p>
          <a:p>
            <a:pPr algn="l"/>
            <a:endParaRPr lang="en-US" sz="1800" dirty="0"/>
          </a:p>
        </p:txBody>
      </p:sp>
      <p:sp>
        <p:nvSpPr>
          <p:cNvPr id="10" name="TextBox 9">
            <a:extLst>
              <a:ext uri="{FF2B5EF4-FFF2-40B4-BE49-F238E27FC236}">
                <a16:creationId xmlns:a16="http://schemas.microsoft.com/office/drawing/2014/main" id="{06BFC4FD-CDBD-E74C-2B4B-957276E8D806}"/>
              </a:ext>
            </a:extLst>
          </p:cNvPr>
          <p:cNvSpPr txBox="1"/>
          <p:nvPr/>
        </p:nvSpPr>
        <p:spPr>
          <a:xfrm>
            <a:off x="4305661" y="475541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B</a:t>
            </a:r>
          </a:p>
        </p:txBody>
      </p:sp>
      <p:sp>
        <p:nvSpPr>
          <p:cNvPr id="16" name="TextBox 15">
            <a:extLst>
              <a:ext uri="{FF2B5EF4-FFF2-40B4-BE49-F238E27FC236}">
                <a16:creationId xmlns:a16="http://schemas.microsoft.com/office/drawing/2014/main" id="{0EA005BC-0145-1F8C-0546-2BEB7509DE7B}"/>
              </a:ext>
            </a:extLst>
          </p:cNvPr>
          <p:cNvSpPr txBox="1"/>
          <p:nvPr/>
        </p:nvSpPr>
        <p:spPr>
          <a:xfrm>
            <a:off x="3644559" y="5553664"/>
            <a:ext cx="1967564" cy="67710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4400" baseline="0" dirty="0">
                <a:solidFill>
                  <a:srgbClr val="22272B"/>
                </a:solidFill>
                <a:latin typeface="Arial"/>
              </a:rPr>
              <a:t>13 - 12</a:t>
            </a:r>
            <a:endParaRPr lang="en-US" sz="1800" dirty="0"/>
          </a:p>
        </p:txBody>
      </p:sp>
      <p:sp>
        <p:nvSpPr>
          <p:cNvPr id="12" name="TextBox 11">
            <a:extLst>
              <a:ext uri="{FF2B5EF4-FFF2-40B4-BE49-F238E27FC236}">
                <a16:creationId xmlns:a16="http://schemas.microsoft.com/office/drawing/2014/main" id="{0CCBA3B1-EB4D-D918-A8D0-B78C7621C52A}"/>
              </a:ext>
            </a:extLst>
          </p:cNvPr>
          <p:cNvSpPr txBox="1"/>
          <p:nvPr/>
        </p:nvSpPr>
        <p:spPr>
          <a:xfrm>
            <a:off x="7223712" y="475541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C</a:t>
            </a:r>
          </a:p>
        </p:txBody>
      </p:sp>
      <p:sp>
        <p:nvSpPr>
          <p:cNvPr id="17" name="TextBox 16">
            <a:extLst>
              <a:ext uri="{FF2B5EF4-FFF2-40B4-BE49-F238E27FC236}">
                <a16:creationId xmlns:a16="http://schemas.microsoft.com/office/drawing/2014/main" id="{50928A5C-EE42-FC2C-2CB8-9D9906780F56}"/>
              </a:ext>
            </a:extLst>
          </p:cNvPr>
          <p:cNvSpPr txBox="1"/>
          <p:nvPr/>
        </p:nvSpPr>
        <p:spPr>
          <a:xfrm>
            <a:off x="6637844" y="5575635"/>
            <a:ext cx="1967564" cy="95410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4400" baseline="0" dirty="0">
                <a:solidFill>
                  <a:srgbClr val="22272B"/>
                </a:solidFill>
                <a:latin typeface="Arial"/>
              </a:rPr>
              <a:t>30 - 5</a:t>
            </a:r>
            <a:r>
              <a:rPr sz="2800" dirty="0">
                <a:latin typeface="Arial"/>
                <a:ea typeface="Arial"/>
                <a:cs typeface="Arial"/>
              </a:rPr>
              <a:t>​</a:t>
            </a:r>
            <a:endParaRPr lang="en-US" sz="2800" dirty="0">
              <a:cs typeface="Arial"/>
            </a:endParaRPr>
          </a:p>
          <a:p>
            <a:pPr algn="l"/>
            <a:endParaRPr lang="en-US" sz="1800" dirty="0"/>
          </a:p>
        </p:txBody>
      </p:sp>
      <p:sp>
        <p:nvSpPr>
          <p:cNvPr id="11" name="TextBox 10">
            <a:extLst>
              <a:ext uri="{FF2B5EF4-FFF2-40B4-BE49-F238E27FC236}">
                <a16:creationId xmlns:a16="http://schemas.microsoft.com/office/drawing/2014/main" id="{002A7C63-4C7D-5EB4-47F9-AF81CCED5985}"/>
              </a:ext>
            </a:extLst>
          </p:cNvPr>
          <p:cNvSpPr txBox="1"/>
          <p:nvPr/>
        </p:nvSpPr>
        <p:spPr>
          <a:xfrm>
            <a:off x="10141763" y="475541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9" name="TextBox 18">
            <a:extLst>
              <a:ext uri="{FF2B5EF4-FFF2-40B4-BE49-F238E27FC236}">
                <a16:creationId xmlns:a16="http://schemas.microsoft.com/office/drawing/2014/main" id="{B8CCF998-865B-077F-070D-317DB5C217CC}"/>
              </a:ext>
            </a:extLst>
          </p:cNvPr>
          <p:cNvSpPr txBox="1"/>
          <p:nvPr/>
        </p:nvSpPr>
        <p:spPr>
          <a:xfrm>
            <a:off x="9375576" y="5553664"/>
            <a:ext cx="1967564" cy="95410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AU" sz="4400" baseline="0" dirty="0">
                <a:solidFill>
                  <a:srgbClr val="22272B"/>
                </a:solidFill>
                <a:latin typeface="Arial"/>
              </a:rPr>
              <a:t>13 + 14</a:t>
            </a:r>
            <a:endParaRPr lang="en-US" sz="2800" dirty="0">
              <a:cs typeface="Arial"/>
            </a:endParaRPr>
          </a:p>
          <a:p>
            <a:pPr algn="l"/>
            <a:endParaRPr lang="en-US" sz="1800" dirty="0"/>
          </a:p>
        </p:txBody>
      </p:sp>
      <p:sp>
        <p:nvSpPr>
          <p:cNvPr id="2" name="Slide Number Placeholder 1">
            <a:extLst>
              <a:ext uri="{FF2B5EF4-FFF2-40B4-BE49-F238E27FC236}">
                <a16:creationId xmlns:a16="http://schemas.microsoft.com/office/drawing/2014/main" id="{A1293A7A-9C27-9EEF-CD29-DBB1D9D84022}"/>
              </a:ext>
              <a:ext uri="{C183D7F6-B498-43B3-948B-1728B52AA6E4}">
                <adec:decorative xmlns:adec="http://schemas.microsoft.com/office/drawing/2017/decorative" val="0"/>
              </a:ext>
            </a:extLst>
          </p:cNvPr>
          <p:cNvSpPr>
            <a:spLocks noGrp="1"/>
          </p:cNvSpPr>
          <p:nvPr>
            <p:ph type="sldNum" sz="quarter" idx="12"/>
          </p:nvPr>
        </p:nvSpPr>
        <p:spPr/>
        <p:txBody>
          <a:bodyPr/>
          <a:lstStyle/>
          <a:p>
            <a:fld id="{10A01DC5-1685-4615-8240-15192985C6A2}" type="slidenum">
              <a:rPr lang="en-AU" smtClean="0"/>
              <a:t>20</a:t>
            </a:fld>
            <a:endParaRPr lang="en-AU"/>
          </a:p>
        </p:txBody>
      </p:sp>
    </p:spTree>
    <p:extLst>
      <p:ext uri="{BB962C8B-B14F-4D97-AF65-F5344CB8AC3E}">
        <p14:creationId xmlns:p14="http://schemas.microsoft.com/office/powerpoint/2010/main" val="4166538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76592-8546-AA66-F9DD-D95356B3BAF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F3775D0-0B24-4768-0204-CF0839C6FC4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(9)</a:t>
            </a:r>
          </a:p>
        </p:txBody>
      </p:sp>
      <p:pic>
        <p:nvPicPr>
          <p:cNvPr id="3" name="Picture 2" descr="image of a clipboard with a pencil recording short answer responses">
            <a:extLst>
              <a:ext uri="{FF2B5EF4-FFF2-40B4-BE49-F238E27FC236}">
                <a16:creationId xmlns:a16="http://schemas.microsoft.com/office/drawing/2014/main" id="{5EA70859-D7F4-2B7A-27DC-68B58B2816C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73FA2339-E948-21B4-BDFD-A9053CEF4B15}"/>
              </a:ext>
            </a:extLst>
          </p:cNvPr>
          <p:cNvSpPr txBox="1"/>
          <p:nvPr/>
        </p:nvSpPr>
        <p:spPr>
          <a:xfrm>
            <a:off x="2364702" y="1217776"/>
            <a:ext cx="9243098" cy="914400"/>
          </a:xfrm>
          <a:prstGeom prst="rect">
            <a:avLst/>
          </a:prstGeom>
          <a:noFill/>
        </p:spPr>
        <p:txBody>
          <a:bodyPr wrap="none" lIns="0" tIns="0" rIns="0" bIns="0" rtlCol="0">
            <a:noAutofit/>
          </a:bodyPr>
          <a:lstStyle/>
          <a:p>
            <a:r>
              <a:rPr lang="en-AU" sz="4400" dirty="0"/>
              <a:t>One </a:t>
            </a:r>
            <a:r>
              <a:rPr lang="en-AU" sz="4400" b="1" dirty="0"/>
              <a:t>thousand</a:t>
            </a:r>
            <a:r>
              <a:rPr lang="en-AU" sz="4400" dirty="0"/>
              <a:t> is </a:t>
            </a:r>
            <a:r>
              <a:rPr lang="en-AU" sz="4400" b="1" dirty="0"/>
              <a:t>the same as: </a:t>
            </a:r>
          </a:p>
        </p:txBody>
      </p:sp>
      <p:sp>
        <p:nvSpPr>
          <p:cNvPr id="4" name="TextBox 3">
            <a:extLst>
              <a:ext uri="{FF2B5EF4-FFF2-40B4-BE49-F238E27FC236}">
                <a16:creationId xmlns:a16="http://schemas.microsoft.com/office/drawing/2014/main" id="{86EAEFD1-8A61-8479-3472-194F4AB07B50}"/>
              </a:ext>
            </a:extLst>
          </p:cNvPr>
          <p:cNvSpPr txBox="1"/>
          <p:nvPr/>
        </p:nvSpPr>
        <p:spPr>
          <a:xfrm>
            <a:off x="4155402" y="2444351"/>
            <a:ext cx="5661698" cy="4045973"/>
          </a:xfrm>
          <a:prstGeom prst="rect">
            <a:avLst/>
          </a:prstGeom>
          <a:noFill/>
        </p:spPr>
        <p:txBody>
          <a:bodyPr wrap="square" lIns="0" tIns="0" rIns="0" bIns="0" rtlCol="0">
            <a:noAutofit/>
          </a:bodyPr>
          <a:lstStyle/>
          <a:p>
            <a:pPr marL="457200" lvl="0" indent="-457200">
              <a:lnSpc>
                <a:spcPct val="150000"/>
              </a:lnSpc>
              <a:spcBef>
                <a:spcPts val="1200"/>
              </a:spcBef>
              <a:spcAft>
                <a:spcPts val="600"/>
              </a:spcAft>
              <a:buFont typeface="Arial" panose="020B0604020202020204" pitchFamily="34" charset="0"/>
              <a:buChar char="•"/>
            </a:pPr>
            <a:r>
              <a:rPr lang="en-AU" sz="4400" dirty="0">
                <a:latin typeface="Arial" panose="020B0604020202020204" pitchFamily="34" charset="0"/>
                <a:ea typeface="Calibri" panose="020F0502020204030204" pitchFamily="34" charset="0"/>
                <a:cs typeface="Times New Roman" panose="02020603050405020304" pitchFamily="18" charset="0"/>
              </a:rPr>
              <a:t>_______ hundreds </a:t>
            </a:r>
          </a:p>
          <a:p>
            <a:pPr marL="457200" lvl="0" indent="-457200">
              <a:lnSpc>
                <a:spcPct val="150000"/>
              </a:lnSpc>
              <a:spcBef>
                <a:spcPts val="1200"/>
              </a:spcBef>
              <a:spcAft>
                <a:spcPts val="600"/>
              </a:spcAft>
              <a:buFont typeface="Arial" panose="020B0604020202020204" pitchFamily="34" charset="0"/>
              <a:buChar char="•"/>
            </a:pPr>
            <a:r>
              <a:rPr lang="en-AU" sz="4400" dirty="0">
                <a:latin typeface="Arial" panose="020B0604020202020204" pitchFamily="34" charset="0"/>
                <a:ea typeface="Calibri" panose="020F0502020204030204" pitchFamily="34" charset="0"/>
                <a:cs typeface="Times New Roman" panose="02020603050405020304" pitchFamily="18" charset="0"/>
              </a:rPr>
              <a:t>_______ tens </a:t>
            </a:r>
          </a:p>
          <a:p>
            <a:pPr marL="457200" lvl="0" indent="-457200">
              <a:lnSpc>
                <a:spcPct val="150000"/>
              </a:lnSpc>
              <a:spcBef>
                <a:spcPts val="1200"/>
              </a:spcBef>
              <a:spcAft>
                <a:spcPts val="600"/>
              </a:spcAft>
              <a:buFont typeface="Arial" panose="020B0604020202020204" pitchFamily="34" charset="0"/>
              <a:buChar char="•"/>
            </a:pPr>
            <a:r>
              <a:rPr lang="en-AU" sz="4400" dirty="0">
                <a:latin typeface="Arial" panose="020B0604020202020204" pitchFamily="34" charset="0"/>
                <a:ea typeface="Calibri" panose="020F0502020204030204" pitchFamily="34" charset="0"/>
                <a:cs typeface="Times New Roman" panose="02020603050405020304" pitchFamily="18" charset="0"/>
              </a:rPr>
              <a:t>_______ </a:t>
            </a:r>
            <a:r>
              <a:rPr lang="en-AU" sz="4400" dirty="0">
                <a:effectLst/>
                <a:latin typeface="Arial" panose="020B0604020202020204" pitchFamily="34" charset="0"/>
                <a:ea typeface="Calibri" panose="020F0502020204030204" pitchFamily="34" charset="0"/>
                <a:cs typeface="Times New Roman" panose="02020603050405020304" pitchFamily="18" charset="0"/>
              </a:rPr>
              <a:t>ones. </a:t>
            </a:r>
          </a:p>
          <a:p>
            <a:pPr marL="457200" lvl="0" indent="-457200">
              <a:lnSpc>
                <a:spcPct val="150000"/>
              </a:lnSpc>
              <a:spcBef>
                <a:spcPts val="1200"/>
              </a:spcBef>
              <a:spcAft>
                <a:spcPts val="600"/>
              </a:spcAft>
              <a:buFont typeface="Arial" panose="020B0604020202020204" pitchFamily="34" charset="0"/>
              <a:buChar char="•"/>
            </a:pPr>
            <a:endParaRPr lang="en-AU" sz="4400" dirty="0">
              <a:effectLst/>
              <a:latin typeface="Arial" panose="020B0604020202020204" pitchFamily="34" charset="0"/>
              <a:ea typeface="Calibri" panose="020F0502020204030204" pitchFamily="34" charset="0"/>
              <a:cs typeface="Times New Roman" panose="02020603050405020304" pitchFamily="18" charset="0"/>
            </a:endParaRPr>
          </a:p>
          <a:p>
            <a:pPr algn="l"/>
            <a:endParaRPr lang="en-AU" sz="3200" dirty="0"/>
          </a:p>
          <a:p>
            <a:pPr algn="l"/>
            <a:endParaRPr lang="en-AU" sz="3600" dirty="0"/>
          </a:p>
          <a:p>
            <a:pPr algn="l"/>
            <a:endParaRPr lang="en-AU" sz="3600" dirty="0"/>
          </a:p>
          <a:p>
            <a:pPr algn="l"/>
            <a:endParaRPr lang="en-AU" sz="1800" dirty="0"/>
          </a:p>
          <a:p>
            <a:pPr algn="l"/>
            <a:endParaRPr lang="en-AU" sz="1800" dirty="0"/>
          </a:p>
        </p:txBody>
      </p:sp>
      <p:sp>
        <p:nvSpPr>
          <p:cNvPr id="2" name="Slide Number Placeholder 1">
            <a:extLst>
              <a:ext uri="{FF2B5EF4-FFF2-40B4-BE49-F238E27FC236}">
                <a16:creationId xmlns:a16="http://schemas.microsoft.com/office/drawing/2014/main" id="{6F4A34C4-F847-0934-D1D0-89AAB0D7E88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21</a:t>
            </a:fld>
            <a:endParaRPr lang="en-AU"/>
          </a:p>
        </p:txBody>
      </p:sp>
    </p:spTree>
    <p:extLst>
      <p:ext uri="{BB962C8B-B14F-4D97-AF65-F5344CB8AC3E}">
        <p14:creationId xmlns:p14="http://schemas.microsoft.com/office/powerpoint/2010/main" val="66481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06CCD-AF1B-DF29-E79F-904E76F4C11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DA13F8-3530-8D03-3161-194CC3B55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(10)</a:t>
            </a:r>
          </a:p>
        </p:txBody>
      </p:sp>
      <p:pic>
        <p:nvPicPr>
          <p:cNvPr id="3" name="Picture 2" descr="image of a clipboard with a pencil recording short answer responses">
            <a:extLst>
              <a:ext uri="{FF2B5EF4-FFF2-40B4-BE49-F238E27FC236}">
                <a16:creationId xmlns:a16="http://schemas.microsoft.com/office/drawing/2014/main" id="{95A63C50-93CA-645D-9F2D-21E08F0D170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B6CBDD24-1D4C-75ED-6A72-FE4B359A01FB}"/>
              </a:ext>
            </a:extLst>
          </p:cNvPr>
          <p:cNvSpPr txBox="1"/>
          <p:nvPr/>
        </p:nvSpPr>
        <p:spPr>
          <a:xfrm>
            <a:off x="545490" y="825155"/>
            <a:ext cx="10938510" cy="190584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lnSpc>
                <a:spcPct val="150000"/>
              </a:lnSpc>
            </a:pPr>
            <a:r>
              <a:rPr lang="en-US" sz="4400" dirty="0">
                <a:cs typeface="Arial"/>
              </a:rPr>
              <a:t>What is missing that would help us </a:t>
            </a:r>
            <a:r>
              <a:rPr lang="en-US" sz="4400" b="1" dirty="0">
                <a:cs typeface="Arial"/>
              </a:rPr>
              <a:t>understand </a:t>
            </a:r>
            <a:r>
              <a:rPr lang="en-US" sz="4400" dirty="0">
                <a:cs typeface="Arial"/>
              </a:rPr>
              <a:t>the data?</a:t>
            </a:r>
          </a:p>
        </p:txBody>
      </p:sp>
      <p:pic>
        <p:nvPicPr>
          <p:cNvPr id="8" name="Picture 7" descr="A picture graph with 4 columns labelled chips, fruit, muffins and yoghurt. Each column has a symbol: 4 chip packets, 3 pieces of fruit, 2 muffins and 3 yoghurts.">
            <a:extLst>
              <a:ext uri="{FF2B5EF4-FFF2-40B4-BE49-F238E27FC236}">
                <a16:creationId xmlns:a16="http://schemas.microsoft.com/office/drawing/2014/main" id="{370E1410-C6A2-8047-7413-380B04D1D8F4}"/>
              </a:ext>
            </a:extLst>
          </p:cNvPr>
          <p:cNvPicPr>
            <a:picLocks noChangeAspect="1"/>
          </p:cNvPicPr>
          <p:nvPr/>
        </p:nvPicPr>
        <p:blipFill>
          <a:blip r:embed="rId4"/>
          <a:srcRect t="6087"/>
          <a:stretch>
            <a:fillRect/>
          </a:stretch>
        </p:blipFill>
        <p:spPr>
          <a:xfrm>
            <a:off x="2380560" y="2831000"/>
            <a:ext cx="7430880" cy="3775000"/>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C449ABDF-CA21-927E-7367-4325D9C01F9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22</a:t>
            </a:fld>
            <a:endParaRPr lang="en-AU"/>
          </a:p>
        </p:txBody>
      </p:sp>
    </p:spTree>
    <p:extLst>
      <p:ext uri="{BB962C8B-B14F-4D97-AF65-F5344CB8AC3E}">
        <p14:creationId xmlns:p14="http://schemas.microsoft.com/office/powerpoint/2010/main" val="404228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F93E5-F139-F392-251F-752BCC53FF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FD7EA02-B2B2-9AE1-FADE-A274B950D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(11)</a:t>
            </a:r>
          </a:p>
        </p:txBody>
      </p:sp>
      <p:pic>
        <p:nvPicPr>
          <p:cNvPr id="3" name="Picture 2" descr="image of a clipboard with a pencil recording short answer responses">
            <a:extLst>
              <a:ext uri="{FF2B5EF4-FFF2-40B4-BE49-F238E27FC236}">
                <a16:creationId xmlns:a16="http://schemas.microsoft.com/office/drawing/2014/main" id="{CDC9578D-E509-83DC-F7E6-82182EFDC994}"/>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0F6637AD-621F-B40D-234F-056C73D52382}"/>
              </a:ext>
            </a:extLst>
          </p:cNvPr>
          <p:cNvSpPr txBox="1"/>
          <p:nvPr/>
        </p:nvSpPr>
        <p:spPr>
          <a:xfrm>
            <a:off x="579100" y="1112571"/>
            <a:ext cx="11264900" cy="3582134"/>
          </a:xfrm>
          <a:prstGeom prst="rect">
            <a:avLst/>
          </a:prstGeom>
          <a:noFill/>
        </p:spPr>
        <p:txBody>
          <a:bodyPr wrap="square">
            <a:spAutoFit/>
          </a:bodyPr>
          <a:lstStyle/>
          <a:p>
            <a:pPr algn="ctr">
              <a:lnSpc>
                <a:spcPct val="150000"/>
              </a:lnSpc>
            </a:pPr>
            <a:r>
              <a:rPr lang="en-AU" sz="3900" dirty="0"/>
              <a:t>How many </a:t>
            </a:r>
            <a:r>
              <a:rPr lang="en-AU" sz="3900" b="1" dirty="0"/>
              <a:t>quarters</a:t>
            </a:r>
            <a:r>
              <a:rPr lang="en-AU" sz="3900" dirty="0"/>
              <a:t> of the strip are shown by the </a:t>
            </a:r>
            <a:r>
              <a:rPr lang="en-AU" sz="3900" dirty="0">
                <a:solidFill>
                  <a:srgbClr val="38B6FF"/>
                </a:solidFill>
              </a:rPr>
              <a:t>blue parts</a:t>
            </a:r>
            <a:r>
              <a:rPr lang="en-AU" sz="3900" dirty="0"/>
              <a:t>?</a:t>
            </a:r>
          </a:p>
          <a:p>
            <a:pPr algn="ctr">
              <a:lnSpc>
                <a:spcPct val="150000"/>
              </a:lnSpc>
            </a:pPr>
            <a:r>
              <a:rPr lang="en-AU" sz="3900" dirty="0"/>
              <a:t>What </a:t>
            </a:r>
            <a:r>
              <a:rPr lang="en-AU" sz="3900" b="1" dirty="0"/>
              <a:t>fraction</a:t>
            </a:r>
            <a:r>
              <a:rPr lang="en-AU" sz="3900" dirty="0"/>
              <a:t> of the strip is shown by the </a:t>
            </a:r>
          </a:p>
          <a:p>
            <a:pPr algn="ctr">
              <a:lnSpc>
                <a:spcPct val="150000"/>
              </a:lnSpc>
            </a:pPr>
            <a:r>
              <a:rPr lang="en-AU" sz="3900" dirty="0">
                <a:solidFill>
                  <a:srgbClr val="FEA927"/>
                </a:solidFill>
              </a:rPr>
              <a:t>orange part</a:t>
            </a:r>
            <a:r>
              <a:rPr lang="en-AU" sz="3900" dirty="0"/>
              <a:t>?</a:t>
            </a:r>
          </a:p>
        </p:txBody>
      </p:sp>
      <p:pic>
        <p:nvPicPr>
          <p:cNvPr id="5" name="Picture 4" descr="A fraction strip partitioned into 4 parts. 1 part is ornage and the remaining 3 are blue.">
            <a:extLst>
              <a:ext uri="{FF2B5EF4-FFF2-40B4-BE49-F238E27FC236}">
                <a16:creationId xmlns:a16="http://schemas.microsoft.com/office/drawing/2014/main" id="{1809C4B2-746A-21EC-7F14-40A104F3F17D}"/>
              </a:ext>
              <a:ext uri="{C183D7F6-B498-43B3-948B-1728B52AA6E4}">
                <adec:decorative xmlns:adec="http://schemas.microsoft.com/office/drawing/2017/decorative" val="0"/>
              </a:ext>
            </a:extLst>
          </p:cNvPr>
          <p:cNvPicPr>
            <a:picLocks noChangeAspect="1"/>
          </p:cNvPicPr>
          <p:nvPr/>
        </p:nvPicPr>
        <p:blipFill>
          <a:blip r:embed="rId4"/>
          <a:stretch>
            <a:fillRect/>
          </a:stretch>
        </p:blipFill>
        <p:spPr>
          <a:xfrm>
            <a:off x="360000" y="4888242"/>
            <a:ext cx="11264900" cy="1300622"/>
          </a:xfrm>
          <a:prstGeom prst="rect">
            <a:avLst/>
          </a:prstGeom>
        </p:spPr>
      </p:pic>
      <p:sp>
        <p:nvSpPr>
          <p:cNvPr id="2" name="Slide Number Placeholder 1">
            <a:extLst>
              <a:ext uri="{FF2B5EF4-FFF2-40B4-BE49-F238E27FC236}">
                <a16:creationId xmlns:a16="http://schemas.microsoft.com/office/drawing/2014/main" id="{60D2A36A-A9B5-D2C0-90BB-0368FCAF4E8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23</a:t>
            </a:fld>
            <a:endParaRPr lang="en-AU"/>
          </a:p>
        </p:txBody>
      </p:sp>
    </p:spTree>
    <p:extLst>
      <p:ext uri="{BB962C8B-B14F-4D97-AF65-F5344CB8AC3E}">
        <p14:creationId xmlns:p14="http://schemas.microsoft.com/office/powerpoint/2010/main" val="1331896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0840-D7CC-4CCB-8D3E-7D33347E78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74460B9-92F5-903A-AAF0-6C45AAE06521}"/>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(12)</a:t>
            </a:r>
          </a:p>
        </p:txBody>
      </p:sp>
      <p:pic>
        <p:nvPicPr>
          <p:cNvPr id="3" name="Picture 2" descr="image of a clipboard with a pencil recording short answer responses">
            <a:extLst>
              <a:ext uri="{FF2B5EF4-FFF2-40B4-BE49-F238E27FC236}">
                <a16:creationId xmlns:a16="http://schemas.microsoft.com/office/drawing/2014/main" id="{4F225E6B-742A-E393-5D68-B394EB858BA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14E87746-778D-6920-D939-4F5DC9F1E1F3}"/>
              </a:ext>
            </a:extLst>
          </p:cNvPr>
          <p:cNvSpPr txBox="1"/>
          <p:nvPr/>
        </p:nvSpPr>
        <p:spPr>
          <a:xfrm>
            <a:off x="1291263" y="930377"/>
            <a:ext cx="9344098" cy="89018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lnSpc>
                <a:spcPct val="150000"/>
              </a:lnSpc>
            </a:pPr>
            <a:r>
              <a:rPr lang="en-US" sz="4400" dirty="0">
                <a:cs typeface="Arial"/>
              </a:rPr>
              <a:t>Record the time shown on this clock</a:t>
            </a:r>
            <a:r>
              <a:rPr lang="en-US" dirty="0">
                <a:cs typeface="Arial"/>
              </a:rPr>
              <a:t>.</a:t>
            </a:r>
          </a:p>
        </p:txBody>
      </p:sp>
      <p:pic>
        <p:nvPicPr>
          <p:cNvPr id="10" name="Picture 9" descr="An analog clock displaying a long hand pointing to the 3 and a shorter hand pointing past the 4. ">
            <a:extLst>
              <a:ext uri="{FF2B5EF4-FFF2-40B4-BE49-F238E27FC236}">
                <a16:creationId xmlns:a16="http://schemas.microsoft.com/office/drawing/2014/main" id="{0F4542FB-493F-0DE0-D24E-6199D8DD5EDD}"/>
              </a:ext>
            </a:extLst>
          </p:cNvPr>
          <p:cNvPicPr>
            <a:picLocks noChangeAspect="1"/>
          </p:cNvPicPr>
          <p:nvPr/>
        </p:nvPicPr>
        <p:blipFill>
          <a:blip r:embed="rId4"/>
          <a:stretch>
            <a:fillRect/>
          </a:stretch>
        </p:blipFill>
        <p:spPr>
          <a:xfrm>
            <a:off x="3723263" y="1845333"/>
            <a:ext cx="4745473" cy="4760667"/>
          </a:xfrm>
          <a:prstGeom prst="rect">
            <a:avLst/>
          </a:prstGeom>
        </p:spPr>
      </p:pic>
      <p:sp>
        <p:nvSpPr>
          <p:cNvPr id="2" name="Slide Number Placeholder 1">
            <a:extLst>
              <a:ext uri="{FF2B5EF4-FFF2-40B4-BE49-F238E27FC236}">
                <a16:creationId xmlns:a16="http://schemas.microsoft.com/office/drawing/2014/main" id="{341BE9D8-9322-2BA9-592E-BBC8E8C4C8A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24</a:t>
            </a:fld>
            <a:endParaRPr lang="en-AU"/>
          </a:p>
        </p:txBody>
      </p:sp>
    </p:spTree>
    <p:extLst>
      <p:ext uri="{BB962C8B-B14F-4D97-AF65-F5344CB8AC3E}">
        <p14:creationId xmlns:p14="http://schemas.microsoft.com/office/powerpoint/2010/main" val="252900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F9C3A-F1CC-1B05-83FC-899792199CD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15E8592-49BC-C596-FF4A-EFC9B38B3EC9}"/>
              </a:ext>
            </a:extLst>
          </p:cNvPr>
          <p:cNvSpPr>
            <a:spLocks noGrp="1"/>
          </p:cNvSpPr>
          <p:nvPr>
            <p:ph type="title"/>
          </p:nvPr>
        </p:nvSpPr>
        <p:spPr>
          <a:xfrm>
            <a:off x="429273" y="401564"/>
            <a:ext cx="10367268" cy="545601"/>
          </a:xfrm>
        </p:spPr>
        <p:txBody>
          <a:bodyPr/>
          <a:lstStyle/>
          <a:p>
            <a:r>
              <a:rPr lang="en-AU">
                <a:latin typeface="Arial"/>
                <a:cs typeface="Arial"/>
              </a:rPr>
              <a:t>Activity 3 – </a:t>
            </a:r>
            <a:r>
              <a:rPr lang="en-AU" err="1">
                <a:latin typeface="Arial"/>
                <a:cs typeface="Arial"/>
              </a:rPr>
              <a:t>recognising</a:t>
            </a:r>
            <a:r>
              <a:rPr lang="en-AU">
                <a:latin typeface="Arial"/>
                <a:cs typeface="Arial"/>
              </a:rPr>
              <a:t> equal value</a:t>
            </a:r>
            <a:endParaRPr lang="en-US">
              <a:latin typeface="Arial"/>
              <a:cs typeface="Arial"/>
            </a:endParaRPr>
          </a:p>
          <a:p>
            <a:endParaRPr lang="en-AU">
              <a:latin typeface="Arial"/>
              <a:cs typeface="Arial"/>
            </a:endParaRPr>
          </a:p>
        </p:txBody>
      </p:sp>
      <p:pic>
        <p:nvPicPr>
          <p:cNvPr id="4" name="Picture 3" descr="image of a head with cogs turning inside">
            <a:extLst>
              <a:ext uri="{FF2B5EF4-FFF2-40B4-BE49-F238E27FC236}">
                <a16:creationId xmlns:a16="http://schemas.microsoft.com/office/drawing/2014/main" id="{296D4226-C1D0-BEBB-1948-F7CDF78884C4}"/>
              </a:ext>
            </a:extLst>
          </p:cNvPr>
          <p:cNvPicPr>
            <a:picLocks noChangeAspect="1"/>
          </p:cNvPicPr>
          <p:nvPr/>
        </p:nvPicPr>
        <p:blipFill>
          <a:blip r:embed="rId3"/>
          <a:stretch>
            <a:fillRect/>
          </a:stretch>
        </p:blipFill>
        <p:spPr>
          <a:xfrm>
            <a:off x="11107003" y="240894"/>
            <a:ext cx="720000" cy="856364"/>
          </a:xfrm>
          <a:prstGeom prst="rect">
            <a:avLst/>
          </a:prstGeom>
        </p:spPr>
      </p:pic>
      <p:graphicFrame>
        <p:nvGraphicFramePr>
          <p:cNvPr id="9" name="Table 8">
            <a:extLst>
              <a:ext uri="{FF2B5EF4-FFF2-40B4-BE49-F238E27FC236}">
                <a16:creationId xmlns:a16="http://schemas.microsoft.com/office/drawing/2014/main" id="{9F098C1D-798D-18D7-E4CB-D1421839B9FA}"/>
              </a:ext>
            </a:extLst>
          </p:cNvPr>
          <p:cNvGraphicFramePr>
            <a:graphicFrameLocks noGrp="1"/>
          </p:cNvGraphicFramePr>
          <p:nvPr>
            <p:extLst>
              <p:ext uri="{D42A27DB-BD31-4B8C-83A1-F6EECF244321}">
                <p14:modId xmlns:p14="http://schemas.microsoft.com/office/powerpoint/2010/main" val="2344166696"/>
              </p:ext>
            </p:extLst>
          </p:nvPr>
        </p:nvGraphicFramePr>
        <p:xfrm>
          <a:off x="1399309" y="1246909"/>
          <a:ext cx="8981964" cy="4935229"/>
        </p:xfrm>
        <a:graphic>
          <a:graphicData uri="http://schemas.openxmlformats.org/drawingml/2006/table">
            <a:tbl>
              <a:tblPr firstRow="1" firstCol="1" bandRow="1">
                <a:tableStyleId>{5A111915-BE36-4E01-A7E5-04B1672EAD32}</a:tableStyleId>
              </a:tblPr>
              <a:tblGrid>
                <a:gridCol w="1795833">
                  <a:extLst>
                    <a:ext uri="{9D8B030D-6E8A-4147-A177-3AD203B41FA5}">
                      <a16:colId xmlns:a16="http://schemas.microsoft.com/office/drawing/2014/main" val="3630776271"/>
                    </a:ext>
                  </a:extLst>
                </a:gridCol>
                <a:gridCol w="1795833">
                  <a:extLst>
                    <a:ext uri="{9D8B030D-6E8A-4147-A177-3AD203B41FA5}">
                      <a16:colId xmlns:a16="http://schemas.microsoft.com/office/drawing/2014/main" val="692064699"/>
                    </a:ext>
                  </a:extLst>
                </a:gridCol>
                <a:gridCol w="1796766">
                  <a:extLst>
                    <a:ext uri="{9D8B030D-6E8A-4147-A177-3AD203B41FA5}">
                      <a16:colId xmlns:a16="http://schemas.microsoft.com/office/drawing/2014/main" val="2756808588"/>
                    </a:ext>
                  </a:extLst>
                </a:gridCol>
                <a:gridCol w="1796766">
                  <a:extLst>
                    <a:ext uri="{9D8B030D-6E8A-4147-A177-3AD203B41FA5}">
                      <a16:colId xmlns:a16="http://schemas.microsoft.com/office/drawing/2014/main" val="6246494"/>
                    </a:ext>
                  </a:extLst>
                </a:gridCol>
                <a:gridCol w="1796766">
                  <a:extLst>
                    <a:ext uri="{9D8B030D-6E8A-4147-A177-3AD203B41FA5}">
                      <a16:colId xmlns:a16="http://schemas.microsoft.com/office/drawing/2014/main" val="131033703"/>
                    </a:ext>
                  </a:extLst>
                </a:gridCol>
              </a:tblGrid>
              <a:tr h="493522">
                <a:tc>
                  <a:txBody>
                    <a:bodyPr/>
                    <a:lstStyle/>
                    <a:p>
                      <a:pPr lvl="0" algn="ctr">
                        <a:lnSpc>
                          <a:spcPct val="107000"/>
                        </a:lnSpc>
                        <a:spcAft>
                          <a:spcPts val="800"/>
                        </a:spcAft>
                        <a:buNone/>
                      </a:pPr>
                      <a:r>
                        <a:rPr lang="en-US" sz="1800" b="0" dirty="0">
                          <a:solidFill>
                            <a:schemeClr val="tx1"/>
                          </a:solidFill>
                          <a:effectLst/>
                        </a:rPr>
                        <a:t>1 + 2</a:t>
                      </a:r>
                      <a:endParaRPr lang="en-US" b="0" dirty="0">
                        <a:solidFill>
                          <a:schemeClr val="tx1"/>
                        </a:solidFill>
                        <a:effectLst/>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US" b="0" dirty="0">
                          <a:solidFill>
                            <a:schemeClr val="tx1"/>
                          </a:solidFill>
                          <a:effectLst/>
                        </a:rPr>
                        <a:t>6 - 2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US" b="0" dirty="0">
                          <a:solidFill>
                            <a:schemeClr val="tx1"/>
                          </a:solidFill>
                          <a:effectLst/>
                        </a:rPr>
                        <a:t>5 + 1 + 1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US" b="0" dirty="0">
                          <a:solidFill>
                            <a:schemeClr val="tx1"/>
                          </a:solidFill>
                          <a:effectLst/>
                        </a:rPr>
                        <a:t>5 - 2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US" b="0" dirty="0">
                          <a:solidFill>
                            <a:schemeClr val="tx1"/>
                          </a:solidFill>
                          <a:effectLst/>
                        </a:rPr>
                        <a:t>7 - 1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44445661"/>
                  </a:ext>
                </a:extLst>
              </a:tr>
              <a:tr h="493523">
                <a:tc>
                  <a:txBody>
                    <a:bodyPr/>
                    <a:lstStyle/>
                    <a:p>
                      <a:pPr algn="ctr">
                        <a:lnSpc>
                          <a:spcPct val="107000"/>
                        </a:lnSpc>
                        <a:spcAft>
                          <a:spcPts val="800"/>
                        </a:spcAft>
                        <a:buNone/>
                      </a:pPr>
                      <a:r>
                        <a:rPr lang="en-US" sz="1800" b="0" dirty="0">
                          <a:effectLst/>
                        </a:rPr>
                        <a:t>10 - 5</a:t>
                      </a:r>
                      <a:endParaRPr lang="en-US" b="0" dirty="0">
                        <a:effectLst/>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US" sz="1800">
                          <a:effectLst/>
                        </a:rPr>
                        <a:t>10 - 3</a:t>
                      </a:r>
                      <a:endParaRPr lang="en-US">
                        <a:effectLst/>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US" sz="1800" dirty="0">
                          <a:effectLst/>
                        </a:rPr>
                        <a:t>8 - 3</a:t>
                      </a:r>
                      <a:endParaRPr lang="en-US" dirty="0">
                        <a:effectLst/>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US" sz="1800" dirty="0">
                          <a:effectLst/>
                        </a:rPr>
                        <a:t>1 + 1 + 1 </a:t>
                      </a:r>
                      <a:endParaRPr lang="en-US" dirty="0">
                        <a:effectLst/>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US" sz="1800" dirty="0">
                          <a:effectLst/>
                        </a:rPr>
                        <a:t>9 + 0</a:t>
                      </a:r>
                      <a:endParaRPr lang="en-US" dirty="0">
                        <a:effectLst/>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5023476"/>
                  </a:ext>
                </a:extLst>
              </a:tr>
              <a:tr h="493523">
                <a:tc>
                  <a:txBody>
                    <a:bodyPr/>
                    <a:lstStyle/>
                    <a:p>
                      <a:pPr algn="ctr">
                        <a:lnSpc>
                          <a:spcPct val="107000"/>
                        </a:lnSpc>
                        <a:spcAft>
                          <a:spcPts val="800"/>
                        </a:spcAft>
                        <a:buNone/>
                      </a:pPr>
                      <a:r>
                        <a:rPr lang="en-US" sz="1800" b="0">
                          <a:effectLst/>
                        </a:rPr>
                        <a:t>8 - 1</a:t>
                      </a:r>
                      <a:endParaRPr lang="en-US" b="0">
                        <a:effectLst/>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US" sz="1800" dirty="0">
                          <a:effectLst/>
                        </a:rPr>
                        <a:t>6 - 1</a:t>
                      </a:r>
                      <a:endParaRPr lang="en-US" dirty="0">
                        <a:effectLst/>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US" sz="1800">
                          <a:effectLst/>
                        </a:rPr>
                        <a:t>6 - 3</a:t>
                      </a:r>
                      <a:endParaRPr lang="en-US">
                        <a:effectLst/>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US" sz="1800">
                          <a:effectLst/>
                        </a:rPr>
                        <a:t>9 - 2</a:t>
                      </a:r>
                      <a:endParaRPr lang="en-US">
                        <a:effectLst/>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US" sz="1800">
                          <a:effectLst/>
                        </a:rPr>
                        <a:t>8 + 3</a:t>
                      </a:r>
                      <a:endParaRPr lang="en-US">
                        <a:effectLst/>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20007551"/>
                  </a:ext>
                </a:extLst>
              </a:tr>
              <a:tr h="493523">
                <a:tc>
                  <a:txBody>
                    <a:bodyPr/>
                    <a:lstStyle/>
                    <a:p>
                      <a:pPr algn="ctr">
                        <a:lnSpc>
                          <a:spcPct val="107000"/>
                        </a:lnSpc>
                        <a:spcAft>
                          <a:spcPts val="800"/>
                        </a:spcAft>
                        <a:buNone/>
                      </a:pPr>
                      <a:r>
                        <a:rPr lang="en-US" sz="1800" b="0" dirty="0">
                          <a:effectLst/>
                        </a:rPr>
                        <a:t>7 - 4</a:t>
                      </a:r>
                      <a:endParaRPr lang="en-US" b="0" dirty="0">
                        <a:effectLst/>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US" sz="1800" dirty="0">
                          <a:effectLst/>
                        </a:rPr>
                        <a:t>7 - 2</a:t>
                      </a:r>
                      <a:endParaRPr lang="en-US" dirty="0">
                        <a:effectLst/>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US" sz="1800">
                          <a:effectLst/>
                        </a:rPr>
                        <a:t>4 + 4</a:t>
                      </a:r>
                      <a:endParaRPr lang="en-US">
                        <a:effectLst/>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US" sz="1800">
                          <a:effectLst/>
                        </a:rPr>
                        <a:t>4 - 2</a:t>
                      </a:r>
                      <a:endParaRPr lang="en-US">
                        <a:effectLst/>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US" sz="1800">
                          <a:effectLst/>
                        </a:rPr>
                        <a:t>11 - 3</a:t>
                      </a:r>
                      <a:endParaRPr lang="en-US">
                        <a:effectLst/>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33965749"/>
                  </a:ext>
                </a:extLst>
              </a:tr>
              <a:tr h="493523">
                <a:tc>
                  <a:txBody>
                    <a:bodyPr/>
                    <a:lstStyle/>
                    <a:p>
                      <a:pPr algn="ctr">
                        <a:lnSpc>
                          <a:spcPct val="107000"/>
                        </a:lnSpc>
                        <a:spcAft>
                          <a:spcPts val="800"/>
                        </a:spcAft>
                        <a:buNone/>
                      </a:pPr>
                      <a:r>
                        <a:rPr lang="en-US" sz="1800" b="0" dirty="0">
                          <a:effectLst/>
                        </a:rPr>
                        <a:t>9 - 4</a:t>
                      </a:r>
                      <a:endParaRPr lang="en-US" b="0" dirty="0">
                        <a:effectLst/>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US" sz="1800">
                          <a:effectLst/>
                        </a:rPr>
                        <a:t>10 - 2</a:t>
                      </a:r>
                      <a:endParaRPr lang="en-US">
                        <a:effectLst/>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US" sz="1800">
                          <a:effectLst/>
                        </a:rPr>
                        <a:t>1 + 1</a:t>
                      </a:r>
                      <a:endParaRPr lang="en-US">
                        <a:effectLst/>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US" sz="1800">
                          <a:effectLst/>
                        </a:rPr>
                        <a:t>3 + 2</a:t>
                      </a:r>
                      <a:endParaRPr lang="en-US">
                        <a:effectLst/>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US" sz="1800">
                          <a:effectLst/>
                        </a:rPr>
                        <a:t>3 + 7 + 2</a:t>
                      </a:r>
                      <a:endParaRPr lang="en-US">
                        <a:effectLst/>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77346298"/>
                  </a:ext>
                </a:extLst>
              </a:tr>
              <a:tr h="493523">
                <a:tc>
                  <a:txBody>
                    <a:bodyPr/>
                    <a:lstStyle/>
                    <a:p>
                      <a:pPr algn="ctr">
                        <a:lnSpc>
                          <a:spcPct val="107000"/>
                        </a:lnSpc>
                        <a:spcAft>
                          <a:spcPts val="800"/>
                        </a:spcAft>
                        <a:buNone/>
                      </a:pPr>
                      <a:r>
                        <a:rPr lang="en-US" sz="1800" b="0" dirty="0">
                          <a:effectLst/>
                        </a:rPr>
                        <a:t>9 - 1</a:t>
                      </a:r>
                      <a:endParaRPr lang="en-US" b="0" dirty="0">
                        <a:effectLst/>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US" sz="1800">
                          <a:effectLst/>
                        </a:rPr>
                        <a:t>10 - 8</a:t>
                      </a:r>
                      <a:endParaRPr lang="en-US">
                        <a:effectLst/>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US" sz="1800">
                          <a:effectLst/>
                        </a:rPr>
                        <a:t>4 + 1</a:t>
                      </a:r>
                      <a:endParaRPr lang="en-US">
                        <a:effectLst/>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US" sz="1800" dirty="0">
                          <a:effectLst/>
                        </a:rPr>
                        <a:t>5 + 2 + 1</a:t>
                      </a:r>
                      <a:endParaRPr lang="en-US" dirty="0">
                        <a:effectLst/>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US" sz="1800">
                          <a:effectLst/>
                        </a:rPr>
                        <a:t>5 + 7 - 0</a:t>
                      </a:r>
                      <a:endParaRPr lang="en-US">
                        <a:effectLst/>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64945123"/>
                  </a:ext>
                </a:extLst>
              </a:tr>
              <a:tr h="493523">
                <a:tc>
                  <a:txBody>
                    <a:bodyPr/>
                    <a:lstStyle/>
                    <a:p>
                      <a:pPr algn="ctr">
                        <a:lnSpc>
                          <a:spcPct val="107000"/>
                        </a:lnSpc>
                        <a:spcAft>
                          <a:spcPts val="800"/>
                        </a:spcAft>
                        <a:buNone/>
                      </a:pPr>
                      <a:r>
                        <a:rPr lang="en-US" sz="1800" b="0" dirty="0">
                          <a:effectLst/>
                        </a:rPr>
                        <a:t>5 - 3</a:t>
                      </a:r>
                      <a:endParaRPr lang="en-US" b="0" dirty="0">
                        <a:effectLst/>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US" sz="1800">
                          <a:effectLst/>
                        </a:rPr>
                        <a:t>3 + 2 + 1</a:t>
                      </a:r>
                      <a:endParaRPr lang="en-US">
                        <a:effectLst/>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US" sz="1800">
                          <a:effectLst/>
                        </a:rPr>
                        <a:t>5 + 2 + 2</a:t>
                      </a:r>
                      <a:endParaRPr lang="en-US">
                        <a:effectLst/>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US" sz="1800">
                          <a:effectLst/>
                        </a:rPr>
                        <a:t>2 + 0</a:t>
                      </a:r>
                      <a:endParaRPr lang="en-US">
                        <a:effectLst/>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US" sz="1800">
                          <a:effectLst/>
                        </a:rPr>
                        <a:t>6 + 2</a:t>
                      </a:r>
                      <a:endParaRPr lang="en-US">
                        <a:effectLst/>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96705795"/>
                  </a:ext>
                </a:extLst>
              </a:tr>
              <a:tr h="493523">
                <a:tc>
                  <a:txBody>
                    <a:bodyPr/>
                    <a:lstStyle/>
                    <a:p>
                      <a:pPr algn="ctr">
                        <a:lnSpc>
                          <a:spcPct val="107000"/>
                        </a:lnSpc>
                        <a:spcAft>
                          <a:spcPts val="800"/>
                        </a:spcAft>
                        <a:buNone/>
                      </a:pPr>
                      <a:r>
                        <a:rPr lang="en-US" sz="1800" b="0" dirty="0">
                          <a:effectLst/>
                        </a:rPr>
                        <a:t>3 + 1 + 2</a:t>
                      </a:r>
                      <a:endParaRPr lang="en-US" b="0" dirty="0">
                        <a:effectLst/>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US" sz="1800" dirty="0">
                          <a:effectLst/>
                        </a:rPr>
                        <a:t>5 + 1 + 3</a:t>
                      </a:r>
                      <a:endParaRPr lang="en-US" dirty="0">
                        <a:effectLst/>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US" sz="1800">
                          <a:effectLst/>
                        </a:rPr>
                        <a:t>2 + 1 + 1</a:t>
                      </a:r>
                      <a:endParaRPr lang="en-US">
                        <a:effectLst/>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US" sz="1800">
                          <a:effectLst/>
                        </a:rPr>
                        <a:t>10 - 4</a:t>
                      </a:r>
                      <a:endParaRPr lang="en-US">
                        <a:effectLst/>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US" sz="1800">
                          <a:effectLst/>
                        </a:rPr>
                        <a:t>1 + 1 + 1</a:t>
                      </a:r>
                      <a:endParaRPr lang="en-US">
                        <a:effectLst/>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6853439"/>
                  </a:ext>
                </a:extLst>
              </a:tr>
              <a:tr h="493523">
                <a:tc>
                  <a:txBody>
                    <a:bodyPr/>
                    <a:lstStyle/>
                    <a:p>
                      <a:pPr algn="ctr">
                        <a:lnSpc>
                          <a:spcPct val="107000"/>
                        </a:lnSpc>
                        <a:spcAft>
                          <a:spcPts val="800"/>
                        </a:spcAft>
                        <a:buNone/>
                      </a:pPr>
                      <a:r>
                        <a:rPr lang="en-US" sz="1800" b="0" dirty="0">
                          <a:effectLst/>
                        </a:rPr>
                        <a:t>2 + 7</a:t>
                      </a:r>
                      <a:endParaRPr lang="en-US" b="0" dirty="0">
                        <a:effectLst/>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US" sz="1800">
                          <a:effectLst/>
                        </a:rPr>
                        <a:t>3 + 1</a:t>
                      </a:r>
                      <a:endParaRPr lang="en-US">
                        <a:effectLst/>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US" sz="1800">
                          <a:effectLst/>
                        </a:rPr>
                        <a:t>9 - 3</a:t>
                      </a:r>
                      <a:endParaRPr lang="en-US">
                        <a:effectLst/>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US" sz="1800" dirty="0">
                          <a:effectLst/>
                        </a:rPr>
                        <a:t>10 - 1</a:t>
                      </a:r>
                      <a:endParaRPr lang="en-US" dirty="0">
                        <a:effectLst/>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US" sz="1800">
                          <a:effectLst/>
                        </a:rPr>
                        <a:t>6 - 3</a:t>
                      </a:r>
                      <a:endParaRPr lang="en-US">
                        <a:effectLst/>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30042221"/>
                  </a:ext>
                </a:extLst>
              </a:tr>
              <a:tr h="493523">
                <a:tc>
                  <a:txBody>
                    <a:bodyPr/>
                    <a:lstStyle/>
                    <a:p>
                      <a:pPr algn="ctr">
                        <a:lnSpc>
                          <a:spcPct val="107000"/>
                        </a:lnSpc>
                        <a:spcAft>
                          <a:spcPts val="800"/>
                        </a:spcAft>
                        <a:buNone/>
                      </a:pPr>
                      <a:r>
                        <a:rPr lang="en-US" sz="1800" b="0" dirty="0">
                          <a:effectLst/>
                        </a:rPr>
                        <a:t>2 + 2 + 0</a:t>
                      </a:r>
                      <a:endParaRPr lang="en-US" b="0" dirty="0">
                        <a:effectLst/>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US" sz="1800">
                          <a:effectLst/>
                        </a:rPr>
                        <a:t>8 - 2</a:t>
                      </a:r>
                      <a:endParaRPr lang="en-US">
                        <a:effectLst/>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US" sz="1800">
                          <a:effectLst/>
                        </a:rPr>
                        <a:t>1 + 8</a:t>
                      </a:r>
                      <a:endParaRPr lang="en-US">
                        <a:effectLst/>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US" sz="1800">
                          <a:effectLst/>
                        </a:rPr>
                        <a:t>5 - 1</a:t>
                      </a:r>
                      <a:endParaRPr lang="en-US">
                        <a:effectLst/>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07000"/>
                        </a:lnSpc>
                        <a:spcAft>
                          <a:spcPts val="800"/>
                        </a:spcAft>
                        <a:buNone/>
                      </a:pPr>
                      <a:r>
                        <a:rPr lang="en-US" sz="1800" dirty="0">
                          <a:effectLst/>
                        </a:rPr>
                        <a:t>10 - 2</a:t>
                      </a:r>
                      <a:endParaRPr lang="en-US" dirty="0">
                        <a:effectLst/>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58642300"/>
                  </a:ext>
                </a:extLst>
              </a:tr>
            </a:tbl>
          </a:graphicData>
        </a:graphic>
      </p:graphicFrame>
      <p:sp>
        <p:nvSpPr>
          <p:cNvPr id="2" name="Slide Number Placeholder 1">
            <a:extLst>
              <a:ext uri="{FF2B5EF4-FFF2-40B4-BE49-F238E27FC236}">
                <a16:creationId xmlns:a16="http://schemas.microsoft.com/office/drawing/2014/main" id="{F13284F3-A3C3-7E9C-A841-487691CF37C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25</a:t>
            </a:fld>
            <a:endParaRPr lang="en-AU"/>
          </a:p>
        </p:txBody>
      </p:sp>
    </p:spTree>
    <p:extLst>
      <p:ext uri="{BB962C8B-B14F-4D97-AF65-F5344CB8AC3E}">
        <p14:creationId xmlns:p14="http://schemas.microsoft.com/office/powerpoint/2010/main" val="1583710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DF9B-3550-BFA9-EED0-38CBAC7E961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CD758A-1643-8963-9FA0-97E7FF62C8FF}"/>
              </a:ext>
            </a:extLst>
          </p:cNvPr>
          <p:cNvSpPr>
            <a:spLocks noGrp="1"/>
          </p:cNvSpPr>
          <p:nvPr>
            <p:ph type="ctrTitle"/>
          </p:nvPr>
        </p:nvSpPr>
        <p:spPr/>
        <p:txBody>
          <a:bodyPr/>
          <a:lstStyle/>
          <a:p>
            <a:r>
              <a:rPr lang="en-AU">
                <a:latin typeface="+mj-lt"/>
              </a:rPr>
              <a:t>Review of learning 4</a:t>
            </a:r>
          </a:p>
        </p:txBody>
      </p:sp>
    </p:spTree>
    <p:extLst>
      <p:ext uri="{BB962C8B-B14F-4D97-AF65-F5344CB8AC3E}">
        <p14:creationId xmlns:p14="http://schemas.microsoft.com/office/powerpoint/2010/main" val="250843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1E96E-77B4-2C82-4376-4892043A4FD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DA66D7F-0F12-2ED7-6EE7-87E24A15E5B6}"/>
              </a:ext>
            </a:extLst>
          </p:cNvPr>
          <p:cNvSpPr>
            <a:spLocks noGrp="1"/>
          </p:cNvSpPr>
          <p:nvPr>
            <p:ph type="title"/>
          </p:nvPr>
        </p:nvSpPr>
        <p:spPr/>
        <p:txBody>
          <a:bodyPr/>
          <a:lstStyle/>
          <a:p>
            <a:r>
              <a:rPr lang="en-US"/>
              <a:t>True or false </a:t>
            </a:r>
            <a:r>
              <a:rPr lang="en-US">
                <a:solidFill>
                  <a:schemeClr val="bg1"/>
                </a:solidFill>
              </a:rPr>
              <a:t>(2)</a:t>
            </a:r>
          </a:p>
        </p:txBody>
      </p:sp>
      <p:pic>
        <p:nvPicPr>
          <p:cNvPr id="4" name="Picture 3" descr="image of a finger selecting an option for a multiple choice or true and false">
            <a:extLst>
              <a:ext uri="{FF2B5EF4-FFF2-40B4-BE49-F238E27FC236}">
                <a16:creationId xmlns:a16="http://schemas.microsoft.com/office/drawing/2014/main" id="{10894CBE-266A-B58D-5858-0C2919DF6112}"/>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Box 5">
            <a:extLst>
              <a:ext uri="{FF2B5EF4-FFF2-40B4-BE49-F238E27FC236}">
                <a16:creationId xmlns:a16="http://schemas.microsoft.com/office/drawing/2014/main" id="{6726CE5B-1244-270E-DD5B-5BB88D4AC5BD}"/>
              </a:ext>
            </a:extLst>
          </p:cNvPr>
          <p:cNvSpPr txBox="1"/>
          <p:nvPr/>
        </p:nvSpPr>
        <p:spPr>
          <a:xfrm>
            <a:off x="3160295" y="2365024"/>
            <a:ext cx="5871410" cy="923330"/>
          </a:xfrm>
          <a:prstGeom prst="rect">
            <a:avLst/>
          </a:prstGeom>
          <a:noFill/>
        </p:spPr>
        <p:txBody>
          <a:bodyPr wrap="square">
            <a:spAutoFit/>
          </a:bodyPr>
          <a:lstStyle/>
          <a:p>
            <a:r>
              <a:rPr lang="en-AU" sz="5400" dirty="0">
                <a:effectLst/>
                <a:latin typeface="Arial" panose="020B0604020202020204" pitchFamily="34" charset="0"/>
                <a:ea typeface="Calibri" panose="020F0502020204030204" pitchFamily="34" charset="0"/>
              </a:rPr>
              <a:t>25 – 14 = 28 – 17</a:t>
            </a:r>
            <a:endParaRPr lang="en-AU" sz="5400" dirty="0"/>
          </a:p>
        </p:txBody>
      </p:sp>
      <p:graphicFrame>
        <p:nvGraphicFramePr>
          <p:cNvPr id="12" name="Table 11">
            <a:extLst>
              <a:ext uri="{FF2B5EF4-FFF2-40B4-BE49-F238E27FC236}">
                <a16:creationId xmlns:a16="http://schemas.microsoft.com/office/drawing/2014/main" id="{0C09EB67-5723-E2C5-3550-4148039E5CF8}"/>
              </a:ext>
            </a:extLst>
          </p:cNvPr>
          <p:cNvGraphicFramePr>
            <a:graphicFrameLocks noGrp="1"/>
          </p:cNvGraphicFramePr>
          <p:nvPr>
            <p:extLst>
              <p:ext uri="{D42A27DB-BD31-4B8C-83A1-F6EECF244321}">
                <p14:modId xmlns:p14="http://schemas.microsoft.com/office/powerpoint/2010/main" val="2916376085"/>
              </p:ext>
            </p:extLst>
          </p:nvPr>
        </p:nvGraphicFramePr>
        <p:xfrm>
          <a:off x="2557462" y="5459582"/>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5543D758-EFDD-EFF7-9F6F-60499B8070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27</a:t>
            </a:fld>
            <a:endParaRPr lang="en-AU"/>
          </a:p>
        </p:txBody>
      </p:sp>
    </p:spTree>
    <p:extLst>
      <p:ext uri="{BB962C8B-B14F-4D97-AF65-F5344CB8AC3E}">
        <p14:creationId xmlns:p14="http://schemas.microsoft.com/office/powerpoint/2010/main" val="18194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CA98-100A-82FC-58FD-FFDA6148D27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0B1BA5-248F-FC3D-9ED9-FCB290EF8BE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(13)</a:t>
            </a:r>
          </a:p>
        </p:txBody>
      </p:sp>
      <p:pic>
        <p:nvPicPr>
          <p:cNvPr id="3" name="Picture 2" descr="image of a clipboard with a pencil recording short answer responses">
            <a:extLst>
              <a:ext uri="{FF2B5EF4-FFF2-40B4-BE49-F238E27FC236}">
                <a16:creationId xmlns:a16="http://schemas.microsoft.com/office/drawing/2014/main" id="{B6B8916C-EC27-6464-77C1-A2C737717E1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71FA9ACF-F951-B294-2478-788418A6E5C2}"/>
              </a:ext>
            </a:extLst>
          </p:cNvPr>
          <p:cNvSpPr txBox="1"/>
          <p:nvPr/>
        </p:nvSpPr>
        <p:spPr>
          <a:xfrm>
            <a:off x="246024" y="905601"/>
            <a:ext cx="11467005" cy="5414496"/>
          </a:xfrm>
          <a:prstGeom prst="rect">
            <a:avLst/>
          </a:prstGeom>
          <a:noFill/>
        </p:spPr>
        <p:txBody>
          <a:bodyPr wrap="square">
            <a:spAutoFit/>
          </a:bodyPr>
          <a:lstStyle/>
          <a:p>
            <a:pPr algn="ctr">
              <a:lnSpc>
                <a:spcPct val="150000"/>
              </a:lnSpc>
            </a:pPr>
            <a:r>
              <a:rPr lang="en-AU" sz="4400" dirty="0"/>
              <a:t>Arrange the following digits to form a </a:t>
            </a:r>
            <a:r>
              <a:rPr lang="en-AU" sz="4400" b="1" dirty="0"/>
              <a:t>4 different 3-digit </a:t>
            </a:r>
            <a:r>
              <a:rPr lang="en-AU" sz="4400" dirty="0"/>
              <a:t>numbers:</a:t>
            </a:r>
          </a:p>
          <a:p>
            <a:pPr algn="ctr">
              <a:lnSpc>
                <a:spcPct val="150000"/>
              </a:lnSpc>
            </a:pPr>
            <a:r>
              <a:rPr lang="en-AU" sz="6000" b="1" dirty="0">
                <a:solidFill>
                  <a:schemeClr val="accent1">
                    <a:lumMod val="75000"/>
                    <a:lumOff val="25000"/>
                  </a:schemeClr>
                </a:solidFill>
              </a:rPr>
              <a:t>3, 8, 6</a:t>
            </a:r>
          </a:p>
          <a:p>
            <a:pPr algn="ctr">
              <a:lnSpc>
                <a:spcPct val="150000"/>
              </a:lnSpc>
            </a:pPr>
            <a:r>
              <a:rPr lang="en-AU" sz="4400" dirty="0"/>
              <a:t>Then, sort these </a:t>
            </a:r>
            <a:r>
              <a:rPr lang="en-AU" sz="4400" b="1" dirty="0"/>
              <a:t>3-digit numbers </a:t>
            </a:r>
            <a:r>
              <a:rPr lang="en-AU" sz="4400" dirty="0"/>
              <a:t>into </a:t>
            </a:r>
            <a:r>
              <a:rPr lang="en-AU" sz="4400" b="1" dirty="0"/>
              <a:t>ascending order</a:t>
            </a:r>
            <a:r>
              <a:rPr lang="en-AU" sz="4400" dirty="0"/>
              <a:t>.  </a:t>
            </a:r>
          </a:p>
        </p:txBody>
      </p:sp>
      <p:sp>
        <p:nvSpPr>
          <p:cNvPr id="2" name="Slide Number Placeholder 1">
            <a:extLst>
              <a:ext uri="{FF2B5EF4-FFF2-40B4-BE49-F238E27FC236}">
                <a16:creationId xmlns:a16="http://schemas.microsoft.com/office/drawing/2014/main" id="{12689097-B53F-3D67-9672-54777688B02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28</a:t>
            </a:fld>
            <a:endParaRPr lang="en-AU"/>
          </a:p>
        </p:txBody>
      </p:sp>
    </p:spTree>
    <p:extLst>
      <p:ext uri="{BB962C8B-B14F-4D97-AF65-F5344CB8AC3E}">
        <p14:creationId xmlns:p14="http://schemas.microsoft.com/office/powerpoint/2010/main" val="287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77FF-2A16-10CF-68D0-D060D759E70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B6525A-9343-F89F-87C0-124967484F38}"/>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(14)</a:t>
            </a:r>
          </a:p>
        </p:txBody>
      </p:sp>
      <p:pic>
        <p:nvPicPr>
          <p:cNvPr id="3" name="Picture 2" descr="image of a clipboard with a pencil recording short answer responses">
            <a:extLst>
              <a:ext uri="{FF2B5EF4-FFF2-40B4-BE49-F238E27FC236}">
                <a16:creationId xmlns:a16="http://schemas.microsoft.com/office/drawing/2014/main" id="{5F20B6C4-74D6-9AE8-543F-873936583C3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9F78EA62-E495-3B58-5F9B-7805B133A74C}"/>
              </a:ext>
            </a:extLst>
          </p:cNvPr>
          <p:cNvSpPr txBox="1"/>
          <p:nvPr/>
        </p:nvSpPr>
        <p:spPr>
          <a:xfrm>
            <a:off x="756732" y="764995"/>
            <a:ext cx="10367268" cy="190584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lvl="0" algn="ctr">
              <a:lnSpc>
                <a:spcPct val="150000"/>
              </a:lnSpc>
            </a:pPr>
            <a:r>
              <a:rPr lang="en-AU" sz="4400" dirty="0"/>
              <a:t>What data has been </a:t>
            </a:r>
            <a:r>
              <a:rPr lang="en-AU" sz="4400" b="1" dirty="0"/>
              <a:t>collected</a:t>
            </a:r>
            <a:r>
              <a:rPr lang="en-AU" sz="4400" dirty="0"/>
              <a:t>?</a:t>
            </a:r>
          </a:p>
          <a:p>
            <a:pPr lvl="0" algn="ctr">
              <a:lnSpc>
                <a:spcPct val="150000"/>
              </a:lnSpc>
            </a:pPr>
            <a:r>
              <a:rPr lang="en-AU" sz="4400" dirty="0"/>
              <a:t>How is it </a:t>
            </a:r>
            <a:r>
              <a:rPr lang="en-AU" sz="4400" b="1" dirty="0"/>
              <a:t>represented</a:t>
            </a:r>
            <a:r>
              <a:rPr lang="en-AU" sz="4400" dirty="0"/>
              <a:t>?</a:t>
            </a:r>
          </a:p>
        </p:txBody>
      </p:sp>
      <p:pic>
        <p:nvPicPr>
          <p:cNvPr id="9" name="Picture 8" descr="Dot plot showing number of class pets by type, with four dots for dogs, two dots for cats, zero dots for birds, and three dots for fish. Black dots are arranged vertically above pet categories labeled on a horizontal axis .">
            <a:extLst>
              <a:ext uri="{FF2B5EF4-FFF2-40B4-BE49-F238E27FC236}">
                <a16:creationId xmlns:a16="http://schemas.microsoft.com/office/drawing/2014/main" id="{796ABDEE-41C2-6443-ED41-FB76B53F73D5}"/>
              </a:ext>
            </a:extLst>
          </p:cNvPr>
          <p:cNvPicPr>
            <a:picLocks noChangeAspect="1"/>
          </p:cNvPicPr>
          <p:nvPr/>
        </p:nvPicPr>
        <p:blipFill>
          <a:blip r:embed="rId4"/>
          <a:stretch>
            <a:fillRect/>
          </a:stretch>
        </p:blipFill>
        <p:spPr>
          <a:xfrm>
            <a:off x="3393989" y="2849174"/>
            <a:ext cx="5404022" cy="3835112"/>
          </a:xfrm>
          <a:prstGeom prst="rect">
            <a:avLst/>
          </a:prstGeom>
        </p:spPr>
      </p:pic>
      <p:sp>
        <p:nvSpPr>
          <p:cNvPr id="2" name="Slide Number Placeholder 1">
            <a:extLst>
              <a:ext uri="{FF2B5EF4-FFF2-40B4-BE49-F238E27FC236}">
                <a16:creationId xmlns:a16="http://schemas.microsoft.com/office/drawing/2014/main" id="{97BF6F51-2AEF-BB3D-81B3-B9127FE54FD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29</a:t>
            </a:fld>
            <a:endParaRPr lang="en-AU"/>
          </a:p>
        </p:txBody>
      </p:sp>
    </p:spTree>
    <p:extLst>
      <p:ext uri="{BB962C8B-B14F-4D97-AF65-F5344CB8AC3E}">
        <p14:creationId xmlns:p14="http://schemas.microsoft.com/office/powerpoint/2010/main" val="7243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E3725-9A89-0933-A940-2CE05148EF2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946FFF-848E-9812-E601-ED8530B7FCD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(15)</a:t>
            </a:r>
          </a:p>
        </p:txBody>
      </p:sp>
      <p:pic>
        <p:nvPicPr>
          <p:cNvPr id="3" name="Picture 2" descr="image of a clipboard with a pencil recording short answer responses">
            <a:extLst>
              <a:ext uri="{FF2B5EF4-FFF2-40B4-BE49-F238E27FC236}">
                <a16:creationId xmlns:a16="http://schemas.microsoft.com/office/drawing/2014/main" id="{71518DCE-2BBE-0AC2-F72B-B5E11C24F8A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551713E2-E1AC-B614-4F81-5D8E6F024DAC}"/>
              </a:ext>
            </a:extLst>
          </p:cNvPr>
          <p:cNvSpPr txBox="1"/>
          <p:nvPr/>
        </p:nvSpPr>
        <p:spPr>
          <a:xfrm>
            <a:off x="1265769" y="1184223"/>
            <a:ext cx="9461499" cy="1998176"/>
          </a:xfrm>
          <a:prstGeom prst="rect">
            <a:avLst/>
          </a:prstGeom>
          <a:noFill/>
        </p:spPr>
        <p:txBody>
          <a:bodyPr wrap="square">
            <a:spAutoFit/>
          </a:bodyPr>
          <a:lstStyle/>
          <a:p>
            <a:pPr algn="ctr">
              <a:lnSpc>
                <a:spcPct val="150000"/>
              </a:lnSpc>
            </a:pPr>
            <a:r>
              <a:rPr lang="en-US" sz="4400" dirty="0">
                <a:cs typeface="Arial"/>
              </a:rPr>
              <a:t>Record the </a:t>
            </a:r>
            <a:r>
              <a:rPr lang="en-US" sz="4400" b="1" dirty="0">
                <a:cs typeface="Arial"/>
              </a:rPr>
              <a:t>fraction </a:t>
            </a:r>
            <a:r>
              <a:rPr lang="en-US" sz="4400" dirty="0">
                <a:cs typeface="Arial"/>
              </a:rPr>
              <a:t>shown in </a:t>
            </a:r>
            <a:r>
              <a:rPr lang="en-US" sz="4400" b="1" dirty="0">
                <a:solidFill>
                  <a:srgbClr val="666F6F"/>
                </a:solidFill>
                <a:cs typeface="Arial"/>
              </a:rPr>
              <a:t>grey</a:t>
            </a:r>
            <a:r>
              <a:rPr lang="en-US" sz="4400" dirty="0">
                <a:cs typeface="Arial"/>
              </a:rPr>
              <a:t> that </a:t>
            </a:r>
            <a:r>
              <a:rPr lang="en-US" sz="4400" b="1" dirty="0">
                <a:cs typeface="Arial"/>
              </a:rPr>
              <a:t>completes one whole</a:t>
            </a:r>
            <a:r>
              <a:rPr lang="en-US" sz="4400" dirty="0">
                <a:cs typeface="Arial"/>
              </a:rPr>
              <a:t>.</a:t>
            </a:r>
            <a:endParaRPr lang="en-AU" sz="4400" dirty="0"/>
          </a:p>
        </p:txBody>
      </p:sp>
      <p:pic>
        <p:nvPicPr>
          <p:cNvPr id="13" name="Picture 12" descr="A fraction strip bar with 6 purple parts and one grey part. The grey part is equivalent to 2 of the purple parts.">
            <a:extLst>
              <a:ext uri="{FF2B5EF4-FFF2-40B4-BE49-F238E27FC236}">
                <a16:creationId xmlns:a16="http://schemas.microsoft.com/office/drawing/2014/main" id="{C10F4401-22A3-CD54-C537-B54605E8482B}"/>
              </a:ext>
            </a:extLst>
          </p:cNvPr>
          <p:cNvPicPr>
            <a:picLocks noChangeAspect="1"/>
          </p:cNvPicPr>
          <p:nvPr/>
        </p:nvPicPr>
        <p:blipFill>
          <a:blip r:embed="rId4"/>
          <a:stretch>
            <a:fillRect/>
          </a:stretch>
        </p:blipFill>
        <p:spPr>
          <a:xfrm>
            <a:off x="664925" y="3829501"/>
            <a:ext cx="10862149" cy="667798"/>
          </a:xfrm>
          <a:prstGeom prst="rect">
            <a:avLst/>
          </a:prstGeom>
        </p:spPr>
      </p:pic>
      <p:sp>
        <p:nvSpPr>
          <p:cNvPr id="2" name="Slide Number Placeholder 1">
            <a:extLst>
              <a:ext uri="{FF2B5EF4-FFF2-40B4-BE49-F238E27FC236}">
                <a16:creationId xmlns:a16="http://schemas.microsoft.com/office/drawing/2014/main" id="{247CE97E-586E-C333-9F6D-2E7F908C23F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30</a:t>
            </a:fld>
            <a:endParaRPr lang="en-AU"/>
          </a:p>
        </p:txBody>
      </p:sp>
    </p:spTree>
    <p:extLst>
      <p:ext uri="{BB962C8B-B14F-4D97-AF65-F5344CB8AC3E}">
        <p14:creationId xmlns:p14="http://schemas.microsoft.com/office/powerpoint/2010/main" val="194185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94F1-D43D-A45D-3AB1-8D1AEF2162E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49D0780-0279-B8AE-5921-49907D85CF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(16)</a:t>
            </a:r>
          </a:p>
        </p:txBody>
      </p:sp>
      <p:pic>
        <p:nvPicPr>
          <p:cNvPr id="3" name="Picture 2" descr="image of a clipboard with a pencil recording short answer responses">
            <a:extLst>
              <a:ext uri="{FF2B5EF4-FFF2-40B4-BE49-F238E27FC236}">
                <a16:creationId xmlns:a16="http://schemas.microsoft.com/office/drawing/2014/main" id="{602A5C36-777A-4A3B-4BB2-D0CC6ABD673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0" name="TextBox 9">
            <a:extLst>
              <a:ext uri="{FF2B5EF4-FFF2-40B4-BE49-F238E27FC236}">
                <a16:creationId xmlns:a16="http://schemas.microsoft.com/office/drawing/2014/main" id="{7D48E813-865A-30EC-04F9-09A3CA4A3DE4}"/>
              </a:ext>
            </a:extLst>
          </p:cNvPr>
          <p:cNvSpPr txBox="1"/>
          <p:nvPr/>
        </p:nvSpPr>
        <p:spPr>
          <a:xfrm>
            <a:off x="704850" y="905601"/>
            <a:ext cx="10419150" cy="1998176"/>
          </a:xfrm>
          <a:prstGeom prst="rect">
            <a:avLst/>
          </a:prstGeom>
          <a:noFill/>
        </p:spPr>
        <p:txBody>
          <a:bodyPr wrap="square">
            <a:spAutoFit/>
          </a:bodyPr>
          <a:lstStyle/>
          <a:p>
            <a:pPr algn="ctr">
              <a:lnSpc>
                <a:spcPct val="150000"/>
              </a:lnSpc>
            </a:pPr>
            <a:r>
              <a:rPr lang="en-AU" sz="4400" b="1" dirty="0"/>
              <a:t>Describe</a:t>
            </a:r>
            <a:r>
              <a:rPr lang="en-AU" sz="4400" dirty="0"/>
              <a:t> the three-dimensional object using the words </a:t>
            </a:r>
            <a:r>
              <a:rPr lang="en-AU" sz="4400" b="1" dirty="0"/>
              <a:t>face, edge and vertex</a:t>
            </a:r>
            <a:r>
              <a:rPr lang="en-AU" sz="4400" dirty="0"/>
              <a:t>.</a:t>
            </a:r>
          </a:p>
        </p:txBody>
      </p:sp>
      <p:pic>
        <p:nvPicPr>
          <p:cNvPr id="5" name="Picture 4" descr="A blue triangular prism">
            <a:extLst>
              <a:ext uri="{FF2B5EF4-FFF2-40B4-BE49-F238E27FC236}">
                <a16:creationId xmlns:a16="http://schemas.microsoft.com/office/drawing/2014/main" id="{71FFCC17-69E9-75B0-BCBC-6FE36BB71452}"/>
              </a:ext>
            </a:extLst>
          </p:cNvPr>
          <p:cNvPicPr>
            <a:picLocks noChangeAspect="1"/>
          </p:cNvPicPr>
          <p:nvPr/>
        </p:nvPicPr>
        <p:blipFill>
          <a:blip r:embed="rId4"/>
          <a:stretch>
            <a:fillRect/>
          </a:stretch>
        </p:blipFill>
        <p:spPr>
          <a:xfrm>
            <a:off x="3825892" y="3054300"/>
            <a:ext cx="4177269" cy="3443700"/>
          </a:xfrm>
          <a:prstGeom prst="rect">
            <a:avLst/>
          </a:prstGeom>
        </p:spPr>
      </p:pic>
      <p:sp>
        <p:nvSpPr>
          <p:cNvPr id="2" name="Slide Number Placeholder 1">
            <a:extLst>
              <a:ext uri="{FF2B5EF4-FFF2-40B4-BE49-F238E27FC236}">
                <a16:creationId xmlns:a16="http://schemas.microsoft.com/office/drawing/2014/main" id="{C47FF89B-D856-D739-4F5E-3F6B3FB63C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31</a:t>
            </a:fld>
            <a:endParaRPr lang="en-AU"/>
          </a:p>
        </p:txBody>
      </p:sp>
    </p:spTree>
    <p:extLst>
      <p:ext uri="{BB962C8B-B14F-4D97-AF65-F5344CB8AC3E}">
        <p14:creationId xmlns:p14="http://schemas.microsoft.com/office/powerpoint/2010/main" val="27089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BD60A-E779-22FD-4578-BEB4E67B734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0E50385-A185-E6F9-B9FE-E9FBF4957437}"/>
              </a:ext>
            </a:extLst>
          </p:cNvPr>
          <p:cNvSpPr>
            <a:spLocks noGrp="1"/>
          </p:cNvSpPr>
          <p:nvPr>
            <p:ph type="title"/>
          </p:nvPr>
        </p:nvSpPr>
        <p:spPr>
          <a:xfrm>
            <a:off x="360000" y="360000"/>
            <a:ext cx="10367268" cy="545601"/>
          </a:xfrm>
        </p:spPr>
        <p:txBody>
          <a:bodyPr/>
          <a:lstStyle/>
          <a:p>
            <a:r>
              <a:rPr lang="en-AU">
                <a:latin typeface="Arial"/>
                <a:cs typeface="Arial"/>
              </a:rPr>
              <a:t>Activity 4 – non-stop equivalence</a:t>
            </a:r>
            <a:endParaRPr lang="en-AU"/>
          </a:p>
        </p:txBody>
      </p:sp>
      <p:pic>
        <p:nvPicPr>
          <p:cNvPr id="4" name="Picture 3" descr="image of a head with cogs turning inside">
            <a:extLst>
              <a:ext uri="{FF2B5EF4-FFF2-40B4-BE49-F238E27FC236}">
                <a16:creationId xmlns:a16="http://schemas.microsoft.com/office/drawing/2014/main" id="{A43A6869-C067-0F7B-A324-667A71E83728}"/>
              </a:ext>
            </a:extLst>
          </p:cNvPr>
          <p:cNvPicPr>
            <a:picLocks noChangeAspect="1"/>
          </p:cNvPicPr>
          <p:nvPr/>
        </p:nvPicPr>
        <p:blipFill>
          <a:blip r:embed="rId3"/>
          <a:stretch>
            <a:fillRect/>
          </a:stretch>
        </p:blipFill>
        <p:spPr>
          <a:xfrm>
            <a:off x="11107003" y="240894"/>
            <a:ext cx="720000" cy="856364"/>
          </a:xfrm>
          <a:prstGeom prst="rect">
            <a:avLst/>
          </a:prstGeom>
        </p:spPr>
      </p:pic>
      <p:sp>
        <p:nvSpPr>
          <p:cNvPr id="3" name="TextBox 2">
            <a:extLst>
              <a:ext uri="{FF2B5EF4-FFF2-40B4-BE49-F238E27FC236}">
                <a16:creationId xmlns:a16="http://schemas.microsoft.com/office/drawing/2014/main" id="{0DE73AFC-97A4-C277-6AB7-E83AC30D96F4}"/>
              </a:ext>
            </a:extLst>
          </p:cNvPr>
          <p:cNvSpPr txBox="1"/>
          <p:nvPr/>
        </p:nvSpPr>
        <p:spPr>
          <a:xfrm>
            <a:off x="4184073" y="3013363"/>
            <a:ext cx="6096000" cy="110799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5400" dirty="0">
                <a:latin typeface="Arial"/>
                <a:ea typeface="Arial"/>
                <a:cs typeface="Arial"/>
              </a:rPr>
              <a:t>20 – 14 = 6</a:t>
            </a:r>
            <a:r>
              <a:rPr lang="en-US" sz="5400" dirty="0"/>
              <a:t> </a:t>
            </a:r>
          </a:p>
          <a:p>
            <a:pPr algn="l"/>
            <a:endParaRPr lang="en-US" sz="1800" dirty="0"/>
          </a:p>
        </p:txBody>
      </p:sp>
      <p:sp>
        <p:nvSpPr>
          <p:cNvPr id="2" name="Slide Number Placeholder 1">
            <a:extLst>
              <a:ext uri="{FF2B5EF4-FFF2-40B4-BE49-F238E27FC236}">
                <a16:creationId xmlns:a16="http://schemas.microsoft.com/office/drawing/2014/main" id="{5B1015B8-4B7B-5E27-FE5A-8B7B8AE6D31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32</a:t>
            </a:fld>
            <a:endParaRPr lang="en-AU"/>
          </a:p>
        </p:txBody>
      </p:sp>
    </p:spTree>
    <p:extLst>
      <p:ext uri="{BB962C8B-B14F-4D97-AF65-F5344CB8AC3E}">
        <p14:creationId xmlns:p14="http://schemas.microsoft.com/office/powerpoint/2010/main" val="2412672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E969-6427-B4CC-9D22-A9702C3552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E887C5-E8F6-203B-99C2-DCBB078A85C7}"/>
              </a:ext>
            </a:extLst>
          </p:cNvPr>
          <p:cNvSpPr>
            <a:spLocks noGrp="1"/>
          </p:cNvSpPr>
          <p:nvPr>
            <p:ph type="ctrTitle"/>
          </p:nvPr>
        </p:nvSpPr>
        <p:spPr/>
        <p:txBody>
          <a:bodyPr/>
          <a:lstStyle/>
          <a:p>
            <a:r>
              <a:rPr lang="en-AU">
                <a:latin typeface="+mj-lt"/>
              </a:rPr>
              <a:t>Review of learning 5</a:t>
            </a:r>
          </a:p>
        </p:txBody>
      </p:sp>
    </p:spTree>
    <p:extLst>
      <p:ext uri="{BB962C8B-B14F-4D97-AF65-F5344CB8AC3E}">
        <p14:creationId xmlns:p14="http://schemas.microsoft.com/office/powerpoint/2010/main" val="41193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39682-B13B-E2E6-A499-AE7CFEE8DFF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AD856DE-9E15-F340-6484-81955C31DCF4}"/>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(3)</a:t>
            </a:r>
          </a:p>
        </p:txBody>
      </p:sp>
      <p:pic>
        <p:nvPicPr>
          <p:cNvPr id="4" name="Picture 3" descr="image of a finger selecting an option for a multiple choice or true and false">
            <a:extLst>
              <a:ext uri="{FF2B5EF4-FFF2-40B4-BE49-F238E27FC236}">
                <a16:creationId xmlns:a16="http://schemas.microsoft.com/office/drawing/2014/main" id="{66E99097-B223-76CB-98A1-2D5773AF8E9E}"/>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a:extLst>
              <a:ext uri="{FF2B5EF4-FFF2-40B4-BE49-F238E27FC236}">
                <a16:creationId xmlns:a16="http://schemas.microsoft.com/office/drawing/2014/main" id="{C96A552F-AC6B-6B29-144E-B61A631E97CE}"/>
              </a:ext>
            </a:extLst>
          </p:cNvPr>
          <p:cNvSpPr>
            <a:spLocks noGrp="1"/>
          </p:cNvSpPr>
          <p:nvPr>
            <p:ph type="body" sz="quarter" idx="28"/>
          </p:nvPr>
        </p:nvSpPr>
        <p:spPr>
          <a:xfrm>
            <a:off x="670557" y="1415827"/>
            <a:ext cx="11243037" cy="754243"/>
          </a:xfrm>
        </p:spPr>
        <p:txBody>
          <a:bodyPr vert="horz" lIns="0" tIns="0" rIns="0" bIns="0" rtlCol="0" anchor="t">
            <a:noAutofit/>
          </a:bodyPr>
          <a:lstStyle/>
          <a:p>
            <a:pPr algn="ctr"/>
            <a:r>
              <a:rPr lang="en-US" sz="4400" dirty="0"/>
              <a:t>17 – 9 + 13 is the same as:</a:t>
            </a:r>
            <a:endParaRPr lang="en-US" sz="4400" dirty="0">
              <a:solidFill>
                <a:srgbClr val="000000"/>
              </a:solidFill>
            </a:endParaRPr>
          </a:p>
          <a:p>
            <a:pPr algn="ctr"/>
            <a:endParaRPr lang="en-US" sz="4400" dirty="0"/>
          </a:p>
        </p:txBody>
      </p:sp>
      <p:sp>
        <p:nvSpPr>
          <p:cNvPr id="9" name="B">
            <a:extLst>
              <a:ext uri="{FF2B5EF4-FFF2-40B4-BE49-F238E27FC236}">
                <a16:creationId xmlns:a16="http://schemas.microsoft.com/office/drawing/2014/main" id="{8B0BBB3C-FC71-5899-8378-058EBBB23E5C}"/>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p:sp>
        <p:nvSpPr>
          <p:cNvPr id="18" name="A text">
            <a:extLst>
              <a:ext uri="{FF2B5EF4-FFF2-40B4-BE49-F238E27FC236}">
                <a16:creationId xmlns:a16="http://schemas.microsoft.com/office/drawing/2014/main" id="{617CAF57-D7E5-901C-098A-364EC0461F45}"/>
              </a:ext>
            </a:extLst>
          </p:cNvPr>
          <p:cNvSpPr>
            <a:spLocks noGrp="1"/>
          </p:cNvSpPr>
          <p:nvPr>
            <p:ph type="body" sz="quarter" idx="31"/>
          </p:nvPr>
        </p:nvSpPr>
        <p:spPr>
          <a:xfrm>
            <a:off x="1345520" y="2789325"/>
            <a:ext cx="10175920" cy="641396"/>
          </a:xfrm>
        </p:spPr>
        <p:txBody>
          <a:bodyPr anchor="ctr"/>
          <a:lstStyle/>
          <a:p>
            <a:r>
              <a:rPr lang="en-US" sz="4400" dirty="0">
                <a:cs typeface="Arial"/>
              </a:rPr>
              <a:t>21</a:t>
            </a:r>
            <a:endParaRPr lang="en-US" sz="4400" dirty="0"/>
          </a:p>
        </p:txBody>
      </p:sp>
      <p:sp>
        <p:nvSpPr>
          <p:cNvPr id="10" name="B">
            <a:extLst>
              <a:ext uri="{FF2B5EF4-FFF2-40B4-BE49-F238E27FC236}">
                <a16:creationId xmlns:a16="http://schemas.microsoft.com/office/drawing/2014/main" id="{1BD38033-43C3-A0A1-88CB-3ABF45A80763}"/>
              </a:ext>
            </a:extLst>
          </p:cNvPr>
          <p:cNvSpPr txBox="1"/>
          <p:nvPr/>
        </p:nvSpPr>
        <p:spPr>
          <a:xfrm>
            <a:off x="670556" y="381182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B</a:t>
            </a:r>
          </a:p>
        </p:txBody>
      </p:sp>
      <p:sp>
        <p:nvSpPr>
          <p:cNvPr id="17" name="B text">
            <a:extLst>
              <a:ext uri="{FF2B5EF4-FFF2-40B4-BE49-F238E27FC236}">
                <a16:creationId xmlns:a16="http://schemas.microsoft.com/office/drawing/2014/main" id="{70250DA3-3DC6-9EA8-7604-90B40861762F}"/>
              </a:ext>
            </a:extLst>
          </p:cNvPr>
          <p:cNvSpPr>
            <a:spLocks noGrp="1"/>
          </p:cNvSpPr>
          <p:nvPr>
            <p:ph type="body" sz="quarter" idx="30"/>
          </p:nvPr>
        </p:nvSpPr>
        <p:spPr>
          <a:xfrm>
            <a:off x="1345520" y="3773127"/>
            <a:ext cx="10175920" cy="641396"/>
          </a:xfrm>
        </p:spPr>
        <p:txBody>
          <a:bodyPr anchor="ctr"/>
          <a:lstStyle/>
          <a:p>
            <a:r>
              <a:rPr lang="en-US" sz="4400" dirty="0"/>
              <a:t>8</a:t>
            </a:r>
          </a:p>
        </p:txBody>
      </p:sp>
      <p:sp>
        <p:nvSpPr>
          <p:cNvPr id="12" name="C">
            <a:extLst>
              <a:ext uri="{FF2B5EF4-FFF2-40B4-BE49-F238E27FC236}">
                <a16:creationId xmlns:a16="http://schemas.microsoft.com/office/drawing/2014/main" id="{8CBBF2BA-64EE-4290-7852-A8F6CCA03E54}"/>
              </a:ext>
            </a:extLst>
          </p:cNvPr>
          <p:cNvSpPr txBox="1"/>
          <p:nvPr/>
        </p:nvSpPr>
        <p:spPr>
          <a:xfrm>
            <a:off x="670556" y="479458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C</a:t>
            </a:r>
          </a:p>
        </p:txBody>
      </p:sp>
      <p:sp>
        <p:nvSpPr>
          <p:cNvPr id="16" name="C text">
            <a:extLst>
              <a:ext uri="{FF2B5EF4-FFF2-40B4-BE49-F238E27FC236}">
                <a16:creationId xmlns:a16="http://schemas.microsoft.com/office/drawing/2014/main" id="{6A85EAC1-9E3A-72A5-46CB-2C4D277F778E}"/>
              </a:ext>
            </a:extLst>
          </p:cNvPr>
          <p:cNvSpPr>
            <a:spLocks noGrp="1"/>
          </p:cNvSpPr>
          <p:nvPr>
            <p:ph type="body" sz="quarter" idx="29"/>
          </p:nvPr>
        </p:nvSpPr>
        <p:spPr>
          <a:xfrm>
            <a:off x="1308080" y="4756929"/>
            <a:ext cx="10175920" cy="641396"/>
          </a:xfrm>
        </p:spPr>
        <p:txBody>
          <a:bodyPr anchor="ctr"/>
          <a:lstStyle/>
          <a:p>
            <a:r>
              <a:rPr lang="en-US" sz="4400" dirty="0">
                <a:cs typeface="Arial"/>
              </a:rPr>
              <a:t>22</a:t>
            </a:r>
            <a:endParaRPr lang="en-US" sz="4400" dirty="0"/>
          </a:p>
        </p:txBody>
      </p:sp>
      <p:sp>
        <p:nvSpPr>
          <p:cNvPr id="11" name="D">
            <a:extLst>
              <a:ext uri="{FF2B5EF4-FFF2-40B4-BE49-F238E27FC236}">
                <a16:creationId xmlns:a16="http://schemas.microsoft.com/office/drawing/2014/main" id="{388F2FE9-EF5E-B818-71B7-04503183ED79}"/>
              </a:ext>
            </a:extLst>
          </p:cNvPr>
          <p:cNvSpPr txBox="1"/>
          <p:nvPr/>
        </p:nvSpPr>
        <p:spPr>
          <a:xfrm>
            <a:off x="670557" y="57773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D</a:t>
            </a:r>
          </a:p>
        </p:txBody>
      </p:sp>
      <p:sp>
        <p:nvSpPr>
          <p:cNvPr id="14" name="D text">
            <a:extLst>
              <a:ext uri="{FF2B5EF4-FFF2-40B4-BE49-F238E27FC236}">
                <a16:creationId xmlns:a16="http://schemas.microsoft.com/office/drawing/2014/main" id="{ECE21105-74CC-BDAC-6C3E-529F6564C0C4}"/>
              </a:ext>
            </a:extLst>
          </p:cNvPr>
          <p:cNvSpPr>
            <a:spLocks noGrp="1"/>
          </p:cNvSpPr>
          <p:nvPr>
            <p:ph type="body" sz="quarter" idx="27"/>
          </p:nvPr>
        </p:nvSpPr>
        <p:spPr>
          <a:xfrm>
            <a:off x="1308080" y="5740730"/>
            <a:ext cx="10175920" cy="641396"/>
          </a:xfrm>
        </p:spPr>
        <p:txBody>
          <a:bodyPr anchor="ctr"/>
          <a:lstStyle/>
          <a:p>
            <a:r>
              <a:rPr lang="en-US" sz="4400" dirty="0">
                <a:cs typeface="Arial"/>
              </a:rPr>
              <a:t>39</a:t>
            </a:r>
            <a:endParaRPr lang="en-US" sz="4400" dirty="0"/>
          </a:p>
        </p:txBody>
      </p:sp>
      <p:sp>
        <p:nvSpPr>
          <p:cNvPr id="2" name="Slide Number Placeholder 1">
            <a:extLst>
              <a:ext uri="{FF2B5EF4-FFF2-40B4-BE49-F238E27FC236}">
                <a16:creationId xmlns:a16="http://schemas.microsoft.com/office/drawing/2014/main" id="{8DFF93A7-A994-839D-06D7-96E09B120AB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34</a:t>
            </a:fld>
            <a:endParaRPr lang="en-AU"/>
          </a:p>
        </p:txBody>
      </p:sp>
    </p:spTree>
    <p:extLst>
      <p:ext uri="{BB962C8B-B14F-4D97-AF65-F5344CB8AC3E}">
        <p14:creationId xmlns:p14="http://schemas.microsoft.com/office/powerpoint/2010/main" val="1723177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8A6B-C68A-FF44-E71E-18A9E64F0EF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9FCD6D4-3BA7-FB4B-7855-CDFBF1074A04}"/>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(17)</a:t>
            </a:r>
          </a:p>
        </p:txBody>
      </p:sp>
      <p:pic>
        <p:nvPicPr>
          <p:cNvPr id="3" name="Picture 2" descr="image of a clipboard with a pencil recording short answer responses">
            <a:extLst>
              <a:ext uri="{FF2B5EF4-FFF2-40B4-BE49-F238E27FC236}">
                <a16:creationId xmlns:a16="http://schemas.microsoft.com/office/drawing/2014/main" id="{2D93CD05-EEB0-3C8B-380D-9FC3C1D1498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5E36BDC5-EA62-4123-19EA-33CBC75630E3}"/>
              </a:ext>
            </a:extLst>
          </p:cNvPr>
          <p:cNvSpPr txBox="1"/>
          <p:nvPr/>
        </p:nvSpPr>
        <p:spPr>
          <a:xfrm>
            <a:off x="756732" y="1570166"/>
            <a:ext cx="10367268" cy="3373263"/>
          </a:xfrm>
          <a:prstGeom prst="rect">
            <a:avLst/>
          </a:prstGeom>
          <a:noFill/>
        </p:spPr>
        <p:txBody>
          <a:bodyPr wrap="square" lIns="0" tIns="0" rIns="0" bIns="0" rtlCol="0" anchor="t">
            <a:noAutofit/>
          </a:bodyPr>
          <a:lstStyle/>
          <a:p>
            <a:pPr algn="ctr">
              <a:lnSpc>
                <a:spcPct val="150000"/>
              </a:lnSpc>
            </a:pPr>
            <a:r>
              <a:rPr lang="en-AU" sz="4400" dirty="0"/>
              <a:t>Partition the following number in </a:t>
            </a:r>
          </a:p>
          <a:p>
            <a:pPr algn="ctr">
              <a:lnSpc>
                <a:spcPct val="150000"/>
              </a:lnSpc>
            </a:pPr>
            <a:r>
              <a:rPr lang="en-AU" sz="4400" b="1" dirty="0"/>
              <a:t>non-standard form.</a:t>
            </a:r>
            <a:endParaRPr lang="en-AU" sz="4400" dirty="0"/>
          </a:p>
          <a:p>
            <a:pPr algn="ctr">
              <a:lnSpc>
                <a:spcPct val="150000"/>
              </a:lnSpc>
            </a:pPr>
            <a:endParaRPr lang="en-AU" sz="1800" dirty="0"/>
          </a:p>
          <a:p>
            <a:pPr algn="ctr">
              <a:lnSpc>
                <a:spcPct val="150000"/>
              </a:lnSpc>
            </a:pPr>
            <a:r>
              <a:rPr lang="en-AU" sz="5400" b="1" dirty="0">
                <a:solidFill>
                  <a:schemeClr val="accent1">
                    <a:lumMod val="75000"/>
                    <a:lumOff val="25000"/>
                  </a:schemeClr>
                </a:solidFill>
              </a:rPr>
              <a:t>3725</a:t>
            </a:r>
          </a:p>
        </p:txBody>
      </p:sp>
      <p:sp>
        <p:nvSpPr>
          <p:cNvPr id="2" name="Slide Number Placeholder 1">
            <a:extLst>
              <a:ext uri="{FF2B5EF4-FFF2-40B4-BE49-F238E27FC236}">
                <a16:creationId xmlns:a16="http://schemas.microsoft.com/office/drawing/2014/main" id="{7D07BE7B-7F4A-3286-1609-FE23686ED1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35</a:t>
            </a:fld>
            <a:endParaRPr lang="en-AU"/>
          </a:p>
        </p:txBody>
      </p:sp>
    </p:spTree>
    <p:extLst>
      <p:ext uri="{BB962C8B-B14F-4D97-AF65-F5344CB8AC3E}">
        <p14:creationId xmlns:p14="http://schemas.microsoft.com/office/powerpoint/2010/main" val="1873457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5DD2C-2360-F941-78C2-119C5F7439E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B668BC7-E07F-8763-81B9-7969BEF094AA}"/>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(18)</a:t>
            </a:r>
          </a:p>
        </p:txBody>
      </p:sp>
      <p:pic>
        <p:nvPicPr>
          <p:cNvPr id="3" name="Picture 2" descr="image of a clipboard with a pencil recording short answer responses">
            <a:extLst>
              <a:ext uri="{FF2B5EF4-FFF2-40B4-BE49-F238E27FC236}">
                <a16:creationId xmlns:a16="http://schemas.microsoft.com/office/drawing/2014/main" id="{E34FFB15-F7DE-0945-FB9C-D8A36F224B6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CD4EF908-9D31-4427-E364-FF2734353ADF}"/>
              </a:ext>
            </a:extLst>
          </p:cNvPr>
          <p:cNvSpPr txBox="1"/>
          <p:nvPr/>
        </p:nvSpPr>
        <p:spPr>
          <a:xfrm>
            <a:off x="360001" y="851571"/>
            <a:ext cx="10670476" cy="227754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lnSpc>
                <a:spcPct val="150000"/>
              </a:lnSpc>
            </a:pPr>
            <a:r>
              <a:rPr lang="en-US" sz="4000" dirty="0">
                <a:ea typeface="+mn-lt"/>
                <a:cs typeface="+mn-lt"/>
              </a:rPr>
              <a:t>What </a:t>
            </a:r>
            <a:r>
              <a:rPr lang="en-US" sz="4000" b="1" dirty="0">
                <a:ea typeface="+mn-lt"/>
                <a:cs typeface="+mn-lt"/>
              </a:rPr>
              <a:t>data</a:t>
            </a:r>
            <a:r>
              <a:rPr lang="en-US" sz="4000" dirty="0">
                <a:ea typeface="+mn-lt"/>
                <a:cs typeface="+mn-lt"/>
              </a:rPr>
              <a:t> could be represented by this graph?</a:t>
            </a:r>
            <a:endParaRPr lang="en-US" sz="4000" dirty="0"/>
          </a:p>
          <a:p>
            <a:pPr algn="ctr">
              <a:lnSpc>
                <a:spcPct val="150000"/>
              </a:lnSpc>
            </a:pPr>
            <a:r>
              <a:rPr lang="en-US" sz="4000" b="1" dirty="0">
                <a:ea typeface="+mn-lt"/>
                <a:cs typeface="+mn-lt"/>
              </a:rPr>
              <a:t>Record</a:t>
            </a:r>
            <a:r>
              <a:rPr lang="en-US" sz="4000" dirty="0">
                <a:ea typeface="+mn-lt"/>
                <a:cs typeface="+mn-lt"/>
              </a:rPr>
              <a:t> possible </a:t>
            </a:r>
            <a:r>
              <a:rPr lang="en-US" sz="4000" b="1" dirty="0">
                <a:ea typeface="+mn-lt"/>
                <a:cs typeface="+mn-lt"/>
              </a:rPr>
              <a:t>labels </a:t>
            </a:r>
            <a:r>
              <a:rPr lang="en-US" sz="4000" dirty="0">
                <a:ea typeface="+mn-lt"/>
                <a:cs typeface="+mn-lt"/>
              </a:rPr>
              <a:t>for the 2 axes.</a:t>
            </a:r>
            <a:endParaRPr lang="en-US" sz="4000" dirty="0"/>
          </a:p>
          <a:p>
            <a:pPr algn="ctr"/>
            <a:endParaRPr lang="en-US" sz="2800" dirty="0">
              <a:cs typeface="Arial"/>
            </a:endParaRPr>
          </a:p>
        </p:txBody>
      </p:sp>
      <p:pic>
        <p:nvPicPr>
          <p:cNvPr id="8" name="Picture 7" descr="A bar graph with coloured columns: 7 pink, 5 yellow, 9 blue, 2 green, and 4 orange blocks stacked vertically.">
            <a:extLst>
              <a:ext uri="{FF2B5EF4-FFF2-40B4-BE49-F238E27FC236}">
                <a16:creationId xmlns:a16="http://schemas.microsoft.com/office/drawing/2014/main" id="{5ED5C26A-A031-1F43-DFA1-31C21D725D1B}"/>
              </a:ext>
            </a:extLst>
          </p:cNvPr>
          <p:cNvPicPr>
            <a:picLocks noChangeAspect="1"/>
          </p:cNvPicPr>
          <p:nvPr/>
        </p:nvPicPr>
        <p:blipFill>
          <a:blip r:embed="rId4"/>
          <a:srcRect l="21026" t="12617" r="22422" b="17811"/>
          <a:stretch>
            <a:fillRect/>
          </a:stretch>
        </p:blipFill>
        <p:spPr>
          <a:xfrm>
            <a:off x="2064116" y="2611800"/>
            <a:ext cx="8420260" cy="3886200"/>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C6278ABA-47B2-1E8F-9361-762350052C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36</a:t>
            </a:fld>
            <a:endParaRPr lang="en-AU"/>
          </a:p>
        </p:txBody>
      </p:sp>
    </p:spTree>
    <p:extLst>
      <p:ext uri="{BB962C8B-B14F-4D97-AF65-F5344CB8AC3E}">
        <p14:creationId xmlns:p14="http://schemas.microsoft.com/office/powerpoint/2010/main" val="3073205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CB53-A4C0-A55A-FFE1-4FB771BE398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CC4B563-2BB1-344B-48AD-6B4DBD04F7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(19)</a:t>
            </a:r>
          </a:p>
        </p:txBody>
      </p:sp>
      <p:pic>
        <p:nvPicPr>
          <p:cNvPr id="3" name="Picture 2" descr="image of a clipboard with a pencil recording short answer responses">
            <a:extLst>
              <a:ext uri="{FF2B5EF4-FFF2-40B4-BE49-F238E27FC236}">
                <a16:creationId xmlns:a16="http://schemas.microsoft.com/office/drawing/2014/main" id="{B38D0ADF-3DD6-732F-15F0-9E23C650943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9" name="TextBox 8">
            <a:extLst>
              <a:ext uri="{FF2B5EF4-FFF2-40B4-BE49-F238E27FC236}">
                <a16:creationId xmlns:a16="http://schemas.microsoft.com/office/drawing/2014/main" id="{1115D729-54FE-0926-A889-EFF455DDFED8}"/>
              </a:ext>
            </a:extLst>
          </p:cNvPr>
          <p:cNvSpPr txBox="1"/>
          <p:nvPr/>
        </p:nvSpPr>
        <p:spPr>
          <a:xfrm>
            <a:off x="1211124" y="1527730"/>
            <a:ext cx="9912876" cy="1998176"/>
          </a:xfrm>
          <a:prstGeom prst="rect">
            <a:avLst/>
          </a:prstGeom>
          <a:noFill/>
        </p:spPr>
        <p:txBody>
          <a:bodyPr wrap="square">
            <a:spAutoFit/>
          </a:bodyPr>
          <a:lstStyle/>
          <a:p>
            <a:pPr algn="ctr">
              <a:lnSpc>
                <a:spcPct val="150000"/>
              </a:lnSpc>
            </a:pPr>
            <a:r>
              <a:rPr lang="en-AU" sz="4400" dirty="0"/>
              <a:t>What is the </a:t>
            </a:r>
            <a:r>
              <a:rPr lang="en-AU" sz="4400" b="1" dirty="0">
                <a:solidFill>
                  <a:srgbClr val="666F6F"/>
                </a:solidFill>
              </a:rPr>
              <a:t>missing fraction quantity </a:t>
            </a:r>
            <a:r>
              <a:rPr lang="en-AU" sz="4400" dirty="0"/>
              <a:t>that completes </a:t>
            </a:r>
            <a:r>
              <a:rPr lang="en-AU" sz="4400" b="1" dirty="0"/>
              <a:t>one whole</a:t>
            </a:r>
            <a:r>
              <a:rPr lang="en-AU" sz="4400" dirty="0"/>
              <a:t>?</a:t>
            </a:r>
          </a:p>
        </p:txBody>
      </p:sp>
      <p:pic>
        <p:nvPicPr>
          <p:cNvPr id="7" name="Picture 6" descr="A fraction strip with four parts light blue and one part in grey. The grey part is equivalent to 4 blue parts.">
            <a:extLst>
              <a:ext uri="{FF2B5EF4-FFF2-40B4-BE49-F238E27FC236}">
                <a16:creationId xmlns:a16="http://schemas.microsoft.com/office/drawing/2014/main" id="{C93DA6AE-8372-0D73-FFB0-7168DE5E36BB}"/>
              </a:ext>
            </a:extLst>
          </p:cNvPr>
          <p:cNvPicPr>
            <a:picLocks noChangeAspect="1"/>
          </p:cNvPicPr>
          <p:nvPr/>
        </p:nvPicPr>
        <p:blipFill>
          <a:blip r:embed="rId4"/>
          <a:stretch>
            <a:fillRect/>
          </a:stretch>
        </p:blipFill>
        <p:spPr>
          <a:xfrm>
            <a:off x="855587" y="4024013"/>
            <a:ext cx="11234482" cy="1109691"/>
          </a:xfrm>
          <a:prstGeom prst="rect">
            <a:avLst/>
          </a:prstGeom>
        </p:spPr>
      </p:pic>
      <p:sp>
        <p:nvSpPr>
          <p:cNvPr id="11" name="TextBox 10">
            <a:extLst>
              <a:ext uri="{FF2B5EF4-FFF2-40B4-BE49-F238E27FC236}">
                <a16:creationId xmlns:a16="http://schemas.microsoft.com/office/drawing/2014/main" id="{DEB13228-2B9B-12C3-1483-9486268C2E10}"/>
              </a:ext>
              <a:ext uri="{C183D7F6-B498-43B3-948B-1728B52AA6E4}">
                <adec:decorative xmlns:adec="http://schemas.microsoft.com/office/drawing/2017/decorative" val="1"/>
              </a:ext>
            </a:extLst>
          </p:cNvPr>
          <p:cNvSpPr txBox="1"/>
          <p:nvPr/>
        </p:nvSpPr>
        <p:spPr>
          <a:xfrm>
            <a:off x="8796000" y="4348025"/>
            <a:ext cx="513100" cy="461665"/>
          </a:xfrm>
          <a:prstGeom prst="rect">
            <a:avLst/>
          </a:prstGeom>
          <a:noFill/>
        </p:spPr>
        <p:txBody>
          <a:bodyPr wrap="square">
            <a:spAutoFit/>
          </a:bodyPr>
          <a:lstStyle/>
          <a:p>
            <a:r>
              <a:rPr lang="en-AU" sz="2400" dirty="0"/>
              <a:t>?</a:t>
            </a:r>
            <a:endParaRPr lang="en-AU" dirty="0"/>
          </a:p>
        </p:txBody>
      </p:sp>
      <p:sp>
        <p:nvSpPr>
          <p:cNvPr id="2" name="Slide Number Placeholder 1">
            <a:extLst>
              <a:ext uri="{FF2B5EF4-FFF2-40B4-BE49-F238E27FC236}">
                <a16:creationId xmlns:a16="http://schemas.microsoft.com/office/drawing/2014/main" id="{7EF03837-CD4E-1218-9144-F017FA537B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37</a:t>
            </a:fld>
            <a:endParaRPr lang="en-AU"/>
          </a:p>
        </p:txBody>
      </p:sp>
    </p:spTree>
    <p:extLst>
      <p:ext uri="{BB962C8B-B14F-4D97-AF65-F5344CB8AC3E}">
        <p14:creationId xmlns:p14="http://schemas.microsoft.com/office/powerpoint/2010/main" val="411818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DB769-B15B-0A1A-67BB-631316F013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EBDC36-B60F-D91B-E29F-D0E33662F0B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(20)</a:t>
            </a:r>
          </a:p>
        </p:txBody>
      </p:sp>
      <p:pic>
        <p:nvPicPr>
          <p:cNvPr id="3" name="Picture 2" descr="image of a clipboard with a pencil recording short answer responses">
            <a:extLst>
              <a:ext uri="{FF2B5EF4-FFF2-40B4-BE49-F238E27FC236}">
                <a16:creationId xmlns:a16="http://schemas.microsoft.com/office/drawing/2014/main" id="{8579B78F-E8F7-2A31-5798-ADB627F83149}"/>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00E2C7D7-975A-D079-1550-F3F649CCEE3F}"/>
              </a:ext>
            </a:extLst>
          </p:cNvPr>
          <p:cNvSpPr txBox="1"/>
          <p:nvPr/>
        </p:nvSpPr>
        <p:spPr>
          <a:xfrm>
            <a:off x="1247775" y="2194352"/>
            <a:ext cx="9696450" cy="1998176"/>
          </a:xfrm>
          <a:prstGeom prst="rect">
            <a:avLst/>
          </a:prstGeom>
          <a:noFill/>
        </p:spPr>
        <p:txBody>
          <a:bodyPr wrap="square">
            <a:spAutoFit/>
          </a:bodyPr>
          <a:lstStyle/>
          <a:p>
            <a:pPr algn="ctr">
              <a:lnSpc>
                <a:spcPct val="150000"/>
              </a:lnSpc>
            </a:pPr>
            <a:r>
              <a:rPr lang="en-AU" sz="4400" dirty="0"/>
              <a:t>Describe a </a:t>
            </a:r>
            <a:r>
              <a:rPr lang="en-AU" sz="4400" b="1" dirty="0"/>
              <a:t>path </a:t>
            </a:r>
            <a:r>
              <a:rPr lang="en-AU" sz="4400" dirty="0"/>
              <a:t>from </a:t>
            </a:r>
            <a:r>
              <a:rPr lang="en-AU" sz="4400" b="1" dirty="0"/>
              <a:t>where you are sitting</a:t>
            </a:r>
            <a:r>
              <a:rPr lang="en-AU" sz="4400" dirty="0"/>
              <a:t> to the </a:t>
            </a:r>
            <a:r>
              <a:rPr lang="en-AU" sz="4400" b="1" dirty="0"/>
              <a:t>classroom door</a:t>
            </a:r>
            <a:r>
              <a:rPr lang="en-AU" sz="4400" dirty="0"/>
              <a:t>. </a:t>
            </a:r>
          </a:p>
        </p:txBody>
      </p:sp>
      <p:sp>
        <p:nvSpPr>
          <p:cNvPr id="2" name="Slide Number Placeholder 1">
            <a:extLst>
              <a:ext uri="{FF2B5EF4-FFF2-40B4-BE49-F238E27FC236}">
                <a16:creationId xmlns:a16="http://schemas.microsoft.com/office/drawing/2014/main" id="{6E0381E3-2DB8-73E7-C1C9-7163E688626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38</a:t>
            </a:fld>
            <a:endParaRPr lang="en-AU"/>
          </a:p>
        </p:txBody>
      </p:sp>
    </p:spTree>
    <p:extLst>
      <p:ext uri="{BB962C8B-B14F-4D97-AF65-F5344CB8AC3E}">
        <p14:creationId xmlns:p14="http://schemas.microsoft.com/office/powerpoint/2010/main" val="179502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8C752-60AE-8F34-02FE-7A059F7EC67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165B703-4BF0-919D-3A82-B0D8690C78C3}"/>
              </a:ext>
            </a:extLst>
          </p:cNvPr>
          <p:cNvSpPr>
            <a:spLocks noGrp="1"/>
          </p:cNvSpPr>
          <p:nvPr>
            <p:ph type="title"/>
          </p:nvPr>
        </p:nvSpPr>
        <p:spPr>
          <a:xfrm>
            <a:off x="360000" y="360000"/>
            <a:ext cx="10367268" cy="545601"/>
          </a:xfrm>
        </p:spPr>
        <p:txBody>
          <a:bodyPr/>
          <a:lstStyle/>
          <a:p>
            <a:r>
              <a:rPr lang="en-AU" dirty="0">
                <a:latin typeface="Arial"/>
                <a:cs typeface="Arial"/>
              </a:rPr>
              <a:t>Activity 5 – use addition and subtraction 1</a:t>
            </a:r>
          </a:p>
        </p:txBody>
      </p:sp>
      <p:pic>
        <p:nvPicPr>
          <p:cNvPr id="4" name="Picture 3" descr="image of a head with cogs turning inside">
            <a:extLst>
              <a:ext uri="{FF2B5EF4-FFF2-40B4-BE49-F238E27FC236}">
                <a16:creationId xmlns:a16="http://schemas.microsoft.com/office/drawing/2014/main" id="{310F3533-70A3-049C-FD4D-BE7CFB970246}"/>
              </a:ext>
            </a:extLst>
          </p:cNvPr>
          <p:cNvPicPr>
            <a:picLocks noChangeAspect="1"/>
          </p:cNvPicPr>
          <p:nvPr/>
        </p:nvPicPr>
        <p:blipFill>
          <a:blip r:embed="rId3"/>
          <a:stretch>
            <a:fillRect/>
          </a:stretch>
        </p:blipFill>
        <p:spPr>
          <a:xfrm>
            <a:off x="11107003" y="240894"/>
            <a:ext cx="720000" cy="856364"/>
          </a:xfrm>
          <a:prstGeom prst="rect">
            <a:avLst/>
          </a:prstGeom>
        </p:spPr>
      </p:pic>
      <p:sp>
        <p:nvSpPr>
          <p:cNvPr id="5" name="TextBox 4">
            <a:extLst>
              <a:ext uri="{FF2B5EF4-FFF2-40B4-BE49-F238E27FC236}">
                <a16:creationId xmlns:a16="http://schemas.microsoft.com/office/drawing/2014/main" id="{BE232898-DA89-D07B-A613-0DA30D56BD72}"/>
              </a:ext>
            </a:extLst>
          </p:cNvPr>
          <p:cNvSpPr txBox="1"/>
          <p:nvPr/>
        </p:nvSpPr>
        <p:spPr>
          <a:xfrm>
            <a:off x="5258818" y="2422585"/>
            <a:ext cx="2743200" cy="147732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9600">
                <a:cs typeface="Arial"/>
              </a:rPr>
              <a:t>35</a:t>
            </a:r>
            <a:endParaRPr lang="en-US" sz="9600"/>
          </a:p>
        </p:txBody>
      </p:sp>
      <p:sp>
        <p:nvSpPr>
          <p:cNvPr id="2" name="Slide Number Placeholder 1">
            <a:extLst>
              <a:ext uri="{FF2B5EF4-FFF2-40B4-BE49-F238E27FC236}">
                <a16:creationId xmlns:a16="http://schemas.microsoft.com/office/drawing/2014/main" id="{3056E265-7FEE-677A-4128-6A92340D540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39</a:t>
            </a:fld>
            <a:endParaRPr lang="en-AU"/>
          </a:p>
        </p:txBody>
      </p:sp>
    </p:spTree>
    <p:extLst>
      <p:ext uri="{BB962C8B-B14F-4D97-AF65-F5344CB8AC3E}">
        <p14:creationId xmlns:p14="http://schemas.microsoft.com/office/powerpoint/2010/main" val="1229437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47A72-3CE0-EEDF-F581-1C72D9F9D93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C9C6836-E69A-E531-CE2B-FD2948273D56}"/>
              </a:ext>
            </a:extLst>
          </p:cNvPr>
          <p:cNvSpPr>
            <a:spLocks noGrp="1"/>
          </p:cNvSpPr>
          <p:nvPr>
            <p:ph type="ctrTitle"/>
          </p:nvPr>
        </p:nvSpPr>
        <p:spPr/>
        <p:txBody>
          <a:bodyPr/>
          <a:lstStyle/>
          <a:p>
            <a:r>
              <a:rPr lang="en-AU">
                <a:latin typeface="+mj-lt"/>
              </a:rPr>
              <a:t>Review of learning 6</a:t>
            </a:r>
          </a:p>
        </p:txBody>
      </p:sp>
    </p:spTree>
    <p:extLst>
      <p:ext uri="{BB962C8B-B14F-4D97-AF65-F5344CB8AC3E}">
        <p14:creationId xmlns:p14="http://schemas.microsoft.com/office/powerpoint/2010/main" val="31033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B432-F3DF-0955-9F52-3DACF4B5B3E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96F0155-A6F4-0D5E-C07C-33FCB952EC5D}"/>
              </a:ext>
            </a:extLst>
          </p:cNvPr>
          <p:cNvSpPr>
            <a:spLocks noGrp="1"/>
          </p:cNvSpPr>
          <p:nvPr>
            <p:ph type="title"/>
          </p:nvPr>
        </p:nvSpPr>
        <p:spPr/>
        <p:txBody>
          <a:bodyPr/>
          <a:lstStyle/>
          <a:p>
            <a:r>
              <a:rPr lang="en-US"/>
              <a:t>True or false </a:t>
            </a:r>
            <a:r>
              <a:rPr lang="en-US">
                <a:solidFill>
                  <a:schemeClr val="bg1"/>
                </a:solidFill>
              </a:rPr>
              <a:t>(3)</a:t>
            </a:r>
          </a:p>
        </p:txBody>
      </p:sp>
      <p:pic>
        <p:nvPicPr>
          <p:cNvPr id="4" name="Picture 3" descr="image of a finger selecting an option for a multiple choice or true and false">
            <a:extLst>
              <a:ext uri="{FF2B5EF4-FFF2-40B4-BE49-F238E27FC236}">
                <a16:creationId xmlns:a16="http://schemas.microsoft.com/office/drawing/2014/main" id="{239F5F22-5449-95CB-BD5E-F141E81E86FF}"/>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B4E45FD3-3CB9-7929-21B5-6CF9A37684C0}"/>
              </a:ext>
            </a:extLst>
          </p:cNvPr>
          <p:cNvSpPr>
            <a:spLocks noGrp="1"/>
          </p:cNvSpPr>
          <p:nvPr>
            <p:ph type="body" sz="quarter" idx="22"/>
          </p:nvPr>
        </p:nvSpPr>
        <p:spPr/>
        <p:txBody>
          <a:bodyPr vert="horz" lIns="0" tIns="0" rIns="0" bIns="0" rtlCol="0" anchor="t">
            <a:noAutofit/>
          </a:bodyPr>
          <a:lstStyle/>
          <a:p>
            <a:pPr algn="ctr"/>
            <a:r>
              <a:rPr lang="en-AU" sz="4400">
                <a:latin typeface="Arial"/>
                <a:cs typeface="Arial"/>
              </a:rPr>
              <a:t> 24 + 37 = 61 and 61 – 37 = 24 </a:t>
            </a:r>
            <a:endParaRPr lang="en-AU" sz="4400"/>
          </a:p>
          <a:p>
            <a:pPr algn="ctr"/>
            <a:r>
              <a:rPr lang="en-AU" sz="4400">
                <a:latin typeface="Arial"/>
                <a:cs typeface="Arial"/>
              </a:rPr>
              <a:t>are related number facts.</a:t>
            </a:r>
            <a:endParaRPr lang="en-AU" sz="4400"/>
          </a:p>
        </p:txBody>
      </p:sp>
      <p:graphicFrame>
        <p:nvGraphicFramePr>
          <p:cNvPr id="12" name="Table 11">
            <a:extLst>
              <a:ext uri="{FF2B5EF4-FFF2-40B4-BE49-F238E27FC236}">
                <a16:creationId xmlns:a16="http://schemas.microsoft.com/office/drawing/2014/main" id="{EB40C059-5597-0CF6-B41C-53C5C0669382}"/>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DD7F305F-4DA6-37EC-D1B7-85EBA54909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41</a:t>
            </a:fld>
            <a:endParaRPr lang="en-AU"/>
          </a:p>
        </p:txBody>
      </p:sp>
    </p:spTree>
    <p:extLst>
      <p:ext uri="{BB962C8B-B14F-4D97-AF65-F5344CB8AC3E}">
        <p14:creationId xmlns:p14="http://schemas.microsoft.com/office/powerpoint/2010/main" val="385980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F156-ACD3-31BC-F90B-1BA3C4271C8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1D002B7-D42B-5011-390B-E0592473793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(21)</a:t>
            </a:r>
          </a:p>
        </p:txBody>
      </p:sp>
      <p:pic>
        <p:nvPicPr>
          <p:cNvPr id="3" name="Picture 2" descr="image of a clipboard with a pencil recording short answer responses">
            <a:extLst>
              <a:ext uri="{FF2B5EF4-FFF2-40B4-BE49-F238E27FC236}">
                <a16:creationId xmlns:a16="http://schemas.microsoft.com/office/drawing/2014/main" id="{4BDD99B8-CF6E-F7A3-575D-5F08BFBF6D73}"/>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0" name="TextBox 9">
            <a:extLst>
              <a:ext uri="{FF2B5EF4-FFF2-40B4-BE49-F238E27FC236}">
                <a16:creationId xmlns:a16="http://schemas.microsoft.com/office/drawing/2014/main" id="{AD268A9F-E095-8A53-3FC4-471C55CE90A0}"/>
              </a:ext>
            </a:extLst>
          </p:cNvPr>
          <p:cNvSpPr txBox="1"/>
          <p:nvPr/>
        </p:nvSpPr>
        <p:spPr>
          <a:xfrm>
            <a:off x="1257685" y="2621540"/>
            <a:ext cx="10088880" cy="1998176"/>
          </a:xfrm>
          <a:prstGeom prst="rect">
            <a:avLst/>
          </a:prstGeom>
          <a:noFill/>
        </p:spPr>
        <p:txBody>
          <a:bodyPr wrap="square">
            <a:spAutoFit/>
          </a:bodyPr>
          <a:lstStyle/>
          <a:p>
            <a:pPr algn="ctr">
              <a:lnSpc>
                <a:spcPct val="150000"/>
              </a:lnSpc>
            </a:pPr>
            <a:r>
              <a:rPr lang="en-US" sz="4400" dirty="0">
                <a:cs typeface="Arial"/>
              </a:rPr>
              <a:t>How many </a:t>
            </a:r>
            <a:r>
              <a:rPr lang="en-US" sz="4400" b="1" dirty="0">
                <a:cs typeface="Arial"/>
              </a:rPr>
              <a:t>hundreds</a:t>
            </a:r>
            <a:r>
              <a:rPr lang="en-US" sz="4400" dirty="0">
                <a:cs typeface="Arial"/>
              </a:rPr>
              <a:t> are in the </a:t>
            </a:r>
            <a:r>
              <a:rPr lang="en-US" sz="4400" b="1" dirty="0">
                <a:cs typeface="Arial"/>
              </a:rPr>
              <a:t>hundreds place</a:t>
            </a:r>
            <a:r>
              <a:rPr lang="en-US" sz="4400" dirty="0">
                <a:cs typeface="Arial"/>
              </a:rPr>
              <a:t>?</a:t>
            </a:r>
          </a:p>
        </p:txBody>
      </p:sp>
      <p:sp>
        <p:nvSpPr>
          <p:cNvPr id="2" name="Slide Number Placeholder 1">
            <a:extLst>
              <a:ext uri="{FF2B5EF4-FFF2-40B4-BE49-F238E27FC236}">
                <a16:creationId xmlns:a16="http://schemas.microsoft.com/office/drawing/2014/main" id="{F0139FD8-B5E6-E3E1-790F-C625C4C68B4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42</a:t>
            </a:fld>
            <a:endParaRPr lang="en-AU"/>
          </a:p>
        </p:txBody>
      </p:sp>
      <p:sp>
        <p:nvSpPr>
          <p:cNvPr id="5" name="TextBox 4">
            <a:extLst>
              <a:ext uri="{FF2B5EF4-FFF2-40B4-BE49-F238E27FC236}">
                <a16:creationId xmlns:a16="http://schemas.microsoft.com/office/drawing/2014/main" id="{88FB49B8-D511-3C5B-37BC-CD026BBE9C16}"/>
              </a:ext>
            </a:extLst>
          </p:cNvPr>
          <p:cNvSpPr txBox="1"/>
          <p:nvPr/>
        </p:nvSpPr>
        <p:spPr>
          <a:xfrm>
            <a:off x="4797777" y="1130289"/>
            <a:ext cx="6096000" cy="1107996"/>
          </a:xfrm>
          <a:prstGeom prst="rect">
            <a:avLst/>
          </a:prstGeom>
          <a:noFill/>
        </p:spPr>
        <p:txBody>
          <a:bodyPr wrap="square">
            <a:spAutoFit/>
          </a:bodyPr>
          <a:lstStyle/>
          <a:p>
            <a:r>
              <a:rPr lang="en-US" sz="6600" dirty="0">
                <a:solidFill>
                  <a:schemeClr val="accent2">
                    <a:lumMod val="75000"/>
                  </a:schemeClr>
                </a:solidFill>
                <a:cs typeface="Arial"/>
              </a:rPr>
              <a:t>1326</a:t>
            </a:r>
            <a:endParaRPr lang="en-AU" sz="6600" dirty="0">
              <a:solidFill>
                <a:schemeClr val="accent2">
                  <a:lumMod val="75000"/>
                </a:schemeClr>
              </a:solidFill>
            </a:endParaRPr>
          </a:p>
        </p:txBody>
      </p:sp>
    </p:spTree>
    <p:extLst>
      <p:ext uri="{BB962C8B-B14F-4D97-AF65-F5344CB8AC3E}">
        <p14:creationId xmlns:p14="http://schemas.microsoft.com/office/powerpoint/2010/main" val="334821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69D0-0B65-247C-6D36-C3D9EA86849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5EB2CF-5D89-9797-8321-44F22ADC981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(22)</a:t>
            </a:r>
          </a:p>
        </p:txBody>
      </p:sp>
      <p:pic>
        <p:nvPicPr>
          <p:cNvPr id="3" name="Picture 2" descr="image of a clipboard with a pencil recording short answer responses">
            <a:extLst>
              <a:ext uri="{FF2B5EF4-FFF2-40B4-BE49-F238E27FC236}">
                <a16:creationId xmlns:a16="http://schemas.microsoft.com/office/drawing/2014/main" id="{4B3A2BE0-B930-2216-835B-AE9E6856E5F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03ED6156-2DDC-EA25-434B-3F7F67A02BD1}"/>
              </a:ext>
            </a:extLst>
          </p:cNvPr>
          <p:cNvSpPr txBox="1"/>
          <p:nvPr/>
        </p:nvSpPr>
        <p:spPr>
          <a:xfrm>
            <a:off x="472353" y="1545169"/>
            <a:ext cx="5348061" cy="4952831"/>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lnSpc>
                <a:spcPct val="150000"/>
              </a:lnSpc>
            </a:pPr>
            <a:r>
              <a:rPr lang="en-US" sz="4400" dirty="0">
                <a:cs typeface="Arial"/>
              </a:rPr>
              <a:t>What is the </a:t>
            </a:r>
            <a:r>
              <a:rPr lang="en-US" sz="4400" b="1" dirty="0">
                <a:cs typeface="Arial"/>
              </a:rPr>
              <a:t>recommended daily screen time </a:t>
            </a:r>
            <a:r>
              <a:rPr lang="en-US" sz="4400" dirty="0">
                <a:cs typeface="Arial"/>
              </a:rPr>
              <a:t>for a </a:t>
            </a:r>
          </a:p>
          <a:p>
            <a:pPr algn="ctr">
              <a:lnSpc>
                <a:spcPct val="150000"/>
              </a:lnSpc>
            </a:pPr>
            <a:r>
              <a:rPr lang="en-US" sz="4400" b="1" dirty="0">
                <a:cs typeface="Arial"/>
              </a:rPr>
              <a:t>9</a:t>
            </a:r>
            <a:r>
              <a:rPr lang="en-US" sz="4400" dirty="0">
                <a:cs typeface="Arial"/>
              </a:rPr>
              <a:t> year old?</a:t>
            </a:r>
          </a:p>
          <a:p>
            <a:pPr algn="ctr">
              <a:lnSpc>
                <a:spcPct val="150000"/>
              </a:lnSpc>
            </a:pPr>
            <a:endParaRPr lang="en-US" sz="4400" b="1" dirty="0">
              <a:cs typeface="Arial"/>
            </a:endParaRPr>
          </a:p>
        </p:txBody>
      </p:sp>
      <p:pic>
        <p:nvPicPr>
          <p:cNvPr id="7" name="Picture 6" descr="Column graph showing recommended daily screen time for children in Australia. 0–2 years is zero hours, 2–5 years is 1 hour and 5–13 years is 2 hours per day. ">
            <a:extLst>
              <a:ext uri="{FF2B5EF4-FFF2-40B4-BE49-F238E27FC236}">
                <a16:creationId xmlns:a16="http://schemas.microsoft.com/office/drawing/2014/main" id="{5FF5F60B-6374-44F1-8E57-AC5211CC9669}"/>
              </a:ext>
            </a:extLst>
          </p:cNvPr>
          <p:cNvPicPr>
            <a:picLocks noChangeAspect="1"/>
          </p:cNvPicPr>
          <p:nvPr/>
        </p:nvPicPr>
        <p:blipFill>
          <a:blip r:embed="rId4"/>
          <a:stretch>
            <a:fillRect/>
          </a:stretch>
        </p:blipFill>
        <p:spPr>
          <a:xfrm>
            <a:off x="6371587" y="1164743"/>
            <a:ext cx="5472413" cy="5531257"/>
          </a:xfrm>
          <a:prstGeom prst="rect">
            <a:avLst/>
          </a:prstGeom>
        </p:spPr>
      </p:pic>
      <p:sp>
        <p:nvSpPr>
          <p:cNvPr id="2" name="Slide Number Placeholder 1">
            <a:extLst>
              <a:ext uri="{FF2B5EF4-FFF2-40B4-BE49-F238E27FC236}">
                <a16:creationId xmlns:a16="http://schemas.microsoft.com/office/drawing/2014/main" id="{0EF31EE8-79A7-0DBA-B9DB-8A157B4E86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43</a:t>
            </a:fld>
            <a:endParaRPr lang="en-AU"/>
          </a:p>
        </p:txBody>
      </p:sp>
    </p:spTree>
    <p:extLst>
      <p:ext uri="{BB962C8B-B14F-4D97-AF65-F5344CB8AC3E}">
        <p14:creationId xmlns:p14="http://schemas.microsoft.com/office/powerpoint/2010/main" val="292605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976A-D32B-E916-870D-31227D48EB2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14A0A-A3B4-3657-0EBE-0BA190D282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(23)</a:t>
            </a:r>
          </a:p>
        </p:txBody>
      </p:sp>
      <p:pic>
        <p:nvPicPr>
          <p:cNvPr id="3" name="Picture 2" descr="image of a clipboard with a pencil recording short answer responses">
            <a:extLst>
              <a:ext uri="{FF2B5EF4-FFF2-40B4-BE49-F238E27FC236}">
                <a16:creationId xmlns:a16="http://schemas.microsoft.com/office/drawing/2014/main" id="{414B841E-8840-471A-4D5D-BE5947D1F0D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4" name="TextBox 13">
            <a:extLst>
              <a:ext uri="{FF2B5EF4-FFF2-40B4-BE49-F238E27FC236}">
                <a16:creationId xmlns:a16="http://schemas.microsoft.com/office/drawing/2014/main" id="{25937C21-72C4-D2E5-A016-9B44E9592B4E}"/>
              </a:ext>
            </a:extLst>
          </p:cNvPr>
          <p:cNvSpPr txBox="1"/>
          <p:nvPr/>
        </p:nvSpPr>
        <p:spPr>
          <a:xfrm>
            <a:off x="1371600" y="1414249"/>
            <a:ext cx="9448800" cy="4029501"/>
          </a:xfrm>
          <a:prstGeom prst="rect">
            <a:avLst/>
          </a:prstGeom>
          <a:noFill/>
        </p:spPr>
        <p:txBody>
          <a:bodyPr wrap="square">
            <a:spAutoFit/>
          </a:bodyPr>
          <a:lstStyle/>
          <a:p>
            <a:pPr>
              <a:lnSpc>
                <a:spcPct val="150000"/>
              </a:lnSpc>
            </a:pPr>
            <a:r>
              <a:rPr lang="en-AU" sz="4400" dirty="0"/>
              <a:t>What fraction is represented by:</a:t>
            </a:r>
          </a:p>
          <a:p>
            <a:pPr marL="342900" indent="-342900">
              <a:lnSpc>
                <a:spcPct val="150000"/>
              </a:lnSpc>
              <a:buFont typeface="Arial" panose="020B0604020202020204" pitchFamily="34" charset="0"/>
              <a:buChar char="•"/>
            </a:pPr>
            <a:r>
              <a:rPr lang="en-AU" sz="4400" dirty="0"/>
              <a:t>blue</a:t>
            </a:r>
          </a:p>
          <a:p>
            <a:pPr marL="342900" indent="-342900">
              <a:lnSpc>
                <a:spcPct val="150000"/>
              </a:lnSpc>
              <a:buFont typeface="Arial" panose="020B0604020202020204" pitchFamily="34" charset="0"/>
              <a:buChar char="•"/>
            </a:pPr>
            <a:r>
              <a:rPr lang="en-AU" sz="4400" dirty="0"/>
              <a:t>yellow</a:t>
            </a:r>
          </a:p>
          <a:p>
            <a:pPr marL="342900" indent="-342900">
              <a:lnSpc>
                <a:spcPct val="150000"/>
              </a:lnSpc>
              <a:buFont typeface="Arial" panose="020B0604020202020204" pitchFamily="34" charset="0"/>
              <a:buChar char="•"/>
            </a:pPr>
            <a:r>
              <a:rPr lang="en-AU" sz="4400" dirty="0"/>
              <a:t>green</a:t>
            </a:r>
          </a:p>
        </p:txBody>
      </p:sp>
      <p:pic>
        <p:nvPicPr>
          <p:cNvPr id="13" name="Picture 12" descr="A strip partitioned into 8 equal parts  with the following colours:&#10;5 yellow 2 green and 1 blue.">
            <a:extLst>
              <a:ext uri="{FF2B5EF4-FFF2-40B4-BE49-F238E27FC236}">
                <a16:creationId xmlns:a16="http://schemas.microsoft.com/office/drawing/2014/main" id="{28D09A3E-4412-C3FB-C954-8B9811FA21F7}"/>
              </a:ext>
            </a:extLst>
          </p:cNvPr>
          <p:cNvPicPr>
            <a:picLocks noChangeAspect="1"/>
          </p:cNvPicPr>
          <p:nvPr/>
        </p:nvPicPr>
        <p:blipFill>
          <a:blip r:embed="rId4"/>
          <a:stretch>
            <a:fillRect/>
          </a:stretch>
        </p:blipFill>
        <p:spPr>
          <a:xfrm>
            <a:off x="4152524" y="3132189"/>
            <a:ext cx="7691476" cy="1943845"/>
          </a:xfrm>
          <a:prstGeom prst="rect">
            <a:avLst/>
          </a:prstGeom>
        </p:spPr>
      </p:pic>
      <p:sp>
        <p:nvSpPr>
          <p:cNvPr id="2" name="Slide Number Placeholder 1">
            <a:extLst>
              <a:ext uri="{FF2B5EF4-FFF2-40B4-BE49-F238E27FC236}">
                <a16:creationId xmlns:a16="http://schemas.microsoft.com/office/drawing/2014/main" id="{64360D9A-5A72-254F-3BE7-8A0F2BAE4D9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44</a:t>
            </a:fld>
            <a:endParaRPr lang="en-AU"/>
          </a:p>
        </p:txBody>
      </p:sp>
    </p:spTree>
    <p:extLst>
      <p:ext uri="{BB962C8B-B14F-4D97-AF65-F5344CB8AC3E}">
        <p14:creationId xmlns:p14="http://schemas.microsoft.com/office/powerpoint/2010/main" val="88828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62A58-43E6-D46E-B85F-792D2368237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D1F7A2B-D3A6-7777-75B4-1AEC24DBAE2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(24)</a:t>
            </a:r>
          </a:p>
        </p:txBody>
      </p:sp>
      <p:pic>
        <p:nvPicPr>
          <p:cNvPr id="3" name="Picture 2" descr="image of a clipboard with a pencil recording short answer responses">
            <a:extLst>
              <a:ext uri="{FF2B5EF4-FFF2-40B4-BE49-F238E27FC236}">
                <a16:creationId xmlns:a16="http://schemas.microsoft.com/office/drawing/2014/main" id="{7F0D925D-1709-7016-D09D-4DDBD08A31D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B285D5E3-4DE4-798B-E708-0A6F392F07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45</a:t>
            </a:fld>
            <a:endParaRPr lang="en-AU"/>
          </a:p>
        </p:txBody>
      </p:sp>
      <p:sp>
        <p:nvSpPr>
          <p:cNvPr id="7" name="TextBox 6">
            <a:extLst>
              <a:ext uri="{FF2B5EF4-FFF2-40B4-BE49-F238E27FC236}">
                <a16:creationId xmlns:a16="http://schemas.microsoft.com/office/drawing/2014/main" id="{C5383A95-E94A-A2A0-7774-ADDD5DB3E74B}"/>
              </a:ext>
            </a:extLst>
          </p:cNvPr>
          <p:cNvSpPr txBox="1"/>
          <p:nvPr/>
        </p:nvSpPr>
        <p:spPr>
          <a:xfrm>
            <a:off x="2346325" y="1922081"/>
            <a:ext cx="7858125" cy="3013838"/>
          </a:xfrm>
          <a:prstGeom prst="rect">
            <a:avLst/>
          </a:prstGeom>
          <a:noFill/>
        </p:spPr>
        <p:txBody>
          <a:bodyPr wrap="square">
            <a:spAutoFit/>
          </a:bodyPr>
          <a:lstStyle/>
          <a:p>
            <a:pPr algn="ctr">
              <a:lnSpc>
                <a:spcPct val="150000"/>
              </a:lnSpc>
            </a:pPr>
            <a:r>
              <a:rPr lang="en-AU" sz="4400" dirty="0"/>
              <a:t>Make </a:t>
            </a:r>
            <a:r>
              <a:rPr lang="en-AU" sz="4400" b="1" dirty="0"/>
              <a:t>a list </a:t>
            </a:r>
            <a:r>
              <a:rPr lang="en-AU" sz="4400" dirty="0"/>
              <a:t>of objects in your classroom that are </a:t>
            </a:r>
            <a:r>
              <a:rPr lang="en-AU" sz="4400" b="1" dirty="0"/>
              <a:t>shorter</a:t>
            </a:r>
            <a:r>
              <a:rPr lang="en-AU" sz="4400" dirty="0"/>
              <a:t> than </a:t>
            </a:r>
            <a:r>
              <a:rPr lang="en-AU" sz="4400" b="1" dirty="0"/>
              <a:t>one metre</a:t>
            </a:r>
            <a:r>
              <a:rPr lang="en-AU" sz="4400" dirty="0"/>
              <a:t>.</a:t>
            </a:r>
          </a:p>
        </p:txBody>
      </p:sp>
    </p:spTree>
    <p:extLst>
      <p:ext uri="{BB962C8B-B14F-4D97-AF65-F5344CB8AC3E}">
        <p14:creationId xmlns:p14="http://schemas.microsoft.com/office/powerpoint/2010/main" val="317348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916E8-10AB-1681-C643-3B5D7EBF5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5556EA1-7C0C-9CC3-9B78-9D878371AFC2}"/>
              </a:ext>
            </a:extLst>
          </p:cNvPr>
          <p:cNvSpPr>
            <a:spLocks noGrp="1"/>
          </p:cNvSpPr>
          <p:nvPr>
            <p:ph type="title"/>
          </p:nvPr>
        </p:nvSpPr>
        <p:spPr>
          <a:xfrm>
            <a:off x="360000" y="360000"/>
            <a:ext cx="10367268" cy="545601"/>
          </a:xfrm>
        </p:spPr>
        <p:txBody>
          <a:bodyPr/>
          <a:lstStyle/>
          <a:p>
            <a:r>
              <a:rPr lang="en-AU">
                <a:latin typeface="Arial"/>
                <a:cs typeface="Arial"/>
              </a:rPr>
              <a:t>Activity 6 – related addition and subtraction facts</a:t>
            </a:r>
            <a:endParaRPr lang="en-AU"/>
          </a:p>
        </p:txBody>
      </p:sp>
      <p:pic>
        <p:nvPicPr>
          <p:cNvPr id="4" name="Picture 3" descr="image of a head with cogs turning inside">
            <a:extLst>
              <a:ext uri="{FF2B5EF4-FFF2-40B4-BE49-F238E27FC236}">
                <a16:creationId xmlns:a16="http://schemas.microsoft.com/office/drawing/2014/main" id="{98F6F9F3-5640-0D69-7B77-0C79E603F675}"/>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E7F63B6C-A8E8-F8A3-E306-F4D41772B63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46</a:t>
            </a:fld>
            <a:endParaRPr lang="en-AU"/>
          </a:p>
        </p:txBody>
      </p:sp>
      <p:sp>
        <p:nvSpPr>
          <p:cNvPr id="3" name="TextBox 2">
            <a:extLst>
              <a:ext uri="{FF2B5EF4-FFF2-40B4-BE49-F238E27FC236}">
                <a16:creationId xmlns:a16="http://schemas.microsoft.com/office/drawing/2014/main" id="{CDED2652-E7FD-F8AA-EE7B-83A8AA56C9EC}"/>
              </a:ext>
            </a:extLst>
          </p:cNvPr>
          <p:cNvSpPr txBox="1"/>
          <p:nvPr/>
        </p:nvSpPr>
        <p:spPr>
          <a:xfrm>
            <a:off x="3959903" y="2875002"/>
            <a:ext cx="6096000" cy="110799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5400" dirty="0">
                <a:latin typeface="Arial"/>
                <a:ea typeface="Arial"/>
                <a:cs typeface="Arial"/>
              </a:rPr>
              <a:t>22 + 13 = 35</a:t>
            </a:r>
            <a:r>
              <a:rPr lang="en-US" sz="5400" dirty="0"/>
              <a:t> </a:t>
            </a:r>
          </a:p>
          <a:p>
            <a:pPr algn="l"/>
            <a:endParaRPr lang="en-US" sz="1800"/>
          </a:p>
        </p:txBody>
      </p:sp>
    </p:spTree>
    <p:extLst>
      <p:ext uri="{BB962C8B-B14F-4D97-AF65-F5344CB8AC3E}">
        <p14:creationId xmlns:p14="http://schemas.microsoft.com/office/powerpoint/2010/main" val="3712722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86C0-33B0-D3E7-0595-8DD2D365CF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BD97D9-4FF5-59A1-EA03-387CC607D598}"/>
              </a:ext>
            </a:extLst>
          </p:cNvPr>
          <p:cNvSpPr>
            <a:spLocks noGrp="1"/>
          </p:cNvSpPr>
          <p:nvPr>
            <p:ph type="ctrTitle"/>
          </p:nvPr>
        </p:nvSpPr>
        <p:spPr/>
        <p:txBody>
          <a:bodyPr/>
          <a:lstStyle/>
          <a:p>
            <a:r>
              <a:rPr lang="en-AU">
                <a:latin typeface="+mj-lt"/>
              </a:rPr>
              <a:t>Review of learning 7</a:t>
            </a:r>
          </a:p>
        </p:txBody>
      </p:sp>
    </p:spTree>
    <p:extLst>
      <p:ext uri="{BB962C8B-B14F-4D97-AF65-F5344CB8AC3E}">
        <p14:creationId xmlns:p14="http://schemas.microsoft.com/office/powerpoint/2010/main" val="121631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8A56D-828E-BDF9-63DD-03FD19E9913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9288D3B-561A-789B-48D4-AC81732C3788}"/>
              </a:ext>
            </a:extLst>
          </p:cNvPr>
          <p:cNvSpPr>
            <a:spLocks noGrp="1"/>
          </p:cNvSpPr>
          <p:nvPr>
            <p:ph type="title"/>
          </p:nvPr>
        </p:nvSpPr>
        <p:spPr>
          <a:xfrm>
            <a:off x="360000" y="360000"/>
            <a:ext cx="9901600" cy="545601"/>
          </a:xfrm>
        </p:spPr>
        <p:txBody>
          <a:bodyPr/>
          <a:lstStyle/>
          <a:p>
            <a:r>
              <a:rPr lang="en-US" dirty="0"/>
              <a:t>Multiple choice </a:t>
            </a:r>
            <a:r>
              <a:rPr lang="en-US" dirty="0">
                <a:solidFill>
                  <a:schemeClr val="bg1"/>
                </a:solidFill>
              </a:rPr>
              <a:t>(4)</a:t>
            </a:r>
            <a:endParaRPr lang="en-US" dirty="0"/>
          </a:p>
        </p:txBody>
      </p:sp>
      <p:pic>
        <p:nvPicPr>
          <p:cNvPr id="4" name="Picture 3" descr="image of a finger selecting an option for a multiple choice or true and false">
            <a:extLst>
              <a:ext uri="{FF2B5EF4-FFF2-40B4-BE49-F238E27FC236}">
                <a16:creationId xmlns:a16="http://schemas.microsoft.com/office/drawing/2014/main" id="{F942F2DD-AE1F-3ED7-0C1F-998AB07E7F56}"/>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a:extLst>
              <a:ext uri="{FF2B5EF4-FFF2-40B4-BE49-F238E27FC236}">
                <a16:creationId xmlns:a16="http://schemas.microsoft.com/office/drawing/2014/main" id="{95B984CE-6EF0-3287-0E68-8E22D0F7ACF9}"/>
              </a:ext>
            </a:extLst>
          </p:cNvPr>
          <p:cNvSpPr>
            <a:spLocks noGrp="1"/>
          </p:cNvSpPr>
          <p:nvPr>
            <p:ph type="body" sz="quarter" idx="28"/>
          </p:nvPr>
        </p:nvSpPr>
        <p:spPr>
          <a:xfrm>
            <a:off x="360000" y="1088164"/>
            <a:ext cx="11243037" cy="754243"/>
          </a:xfrm>
        </p:spPr>
        <p:txBody>
          <a:bodyPr/>
          <a:lstStyle/>
          <a:p>
            <a:pPr algn="ctr"/>
            <a:r>
              <a:rPr lang="en-US" sz="4400" dirty="0">
                <a:latin typeface="Arial"/>
                <a:cs typeface="Arial"/>
              </a:rPr>
              <a:t>50 </a:t>
            </a:r>
            <a:r>
              <a:rPr lang="en-AU" sz="4400" dirty="0">
                <a:latin typeface="Arial"/>
                <a:cs typeface="Arial"/>
              </a:rPr>
              <a:t>– </a:t>
            </a:r>
            <a:r>
              <a:rPr lang="en-US" sz="4400" dirty="0">
                <a:latin typeface="Arial"/>
                <a:cs typeface="Arial"/>
              </a:rPr>
              <a:t>7</a:t>
            </a:r>
            <a:r>
              <a:rPr lang="en-AU" sz="4400" dirty="0">
                <a:latin typeface="Arial"/>
                <a:cs typeface="Arial"/>
              </a:rPr>
              <a:t>– </a:t>
            </a:r>
            <a:r>
              <a:rPr lang="en-US" sz="4400" dirty="0">
                <a:latin typeface="Arial"/>
                <a:cs typeface="Arial"/>
              </a:rPr>
              <a:t>3 </a:t>
            </a:r>
            <a:r>
              <a:rPr lang="en-AU" sz="4400" dirty="0">
                <a:latin typeface="Arial"/>
                <a:cs typeface="Arial"/>
              </a:rPr>
              <a:t>–</a:t>
            </a:r>
            <a:r>
              <a:rPr lang="en-US" sz="4400" dirty="0">
                <a:latin typeface="Arial"/>
                <a:cs typeface="Arial"/>
              </a:rPr>
              <a:t>10 =</a:t>
            </a:r>
            <a:endParaRPr lang="en-US" sz="4400" dirty="0"/>
          </a:p>
          <a:p>
            <a:endParaRPr lang="en-US" sz="4400" dirty="0"/>
          </a:p>
        </p:txBody>
      </p:sp>
      <p:sp>
        <p:nvSpPr>
          <p:cNvPr id="9" name="B">
            <a:extLst>
              <a:ext uri="{FF2B5EF4-FFF2-40B4-BE49-F238E27FC236}">
                <a16:creationId xmlns:a16="http://schemas.microsoft.com/office/drawing/2014/main" id="{E3EC21E2-0509-A43A-3D96-4BA7B8759C9D}"/>
              </a:ext>
            </a:extLst>
          </p:cNvPr>
          <p:cNvSpPr txBox="1"/>
          <p:nvPr/>
        </p:nvSpPr>
        <p:spPr>
          <a:xfrm>
            <a:off x="670556" y="2365621"/>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A</a:t>
            </a:r>
          </a:p>
        </p:txBody>
      </p:sp>
      <p:sp>
        <p:nvSpPr>
          <p:cNvPr id="18" name="A text">
            <a:extLst>
              <a:ext uri="{FF2B5EF4-FFF2-40B4-BE49-F238E27FC236}">
                <a16:creationId xmlns:a16="http://schemas.microsoft.com/office/drawing/2014/main" id="{BE47A701-5710-8E61-D174-0644C878A18D}"/>
              </a:ext>
            </a:extLst>
          </p:cNvPr>
          <p:cNvSpPr>
            <a:spLocks noGrp="1"/>
          </p:cNvSpPr>
          <p:nvPr>
            <p:ph type="body" sz="quarter" idx="31"/>
          </p:nvPr>
        </p:nvSpPr>
        <p:spPr>
          <a:xfrm>
            <a:off x="1345520" y="2180097"/>
            <a:ext cx="10175920" cy="641396"/>
          </a:xfrm>
        </p:spPr>
        <p:txBody>
          <a:bodyPr anchor="t"/>
          <a:lstStyle/>
          <a:p>
            <a:r>
              <a:rPr lang="en-US" sz="4400" dirty="0">
                <a:solidFill>
                  <a:srgbClr val="22272B"/>
                </a:solidFill>
              </a:rPr>
              <a:t>12 + 18 + 10</a:t>
            </a:r>
            <a:endParaRPr lang="en-US" sz="4400" dirty="0"/>
          </a:p>
          <a:p>
            <a:endParaRPr lang="en-US" sz="3600" dirty="0"/>
          </a:p>
        </p:txBody>
      </p:sp>
      <p:sp>
        <p:nvSpPr>
          <p:cNvPr id="10" name="B">
            <a:extLst>
              <a:ext uri="{FF2B5EF4-FFF2-40B4-BE49-F238E27FC236}">
                <a16:creationId xmlns:a16="http://schemas.microsoft.com/office/drawing/2014/main" id="{149F7EA5-34AE-0E46-E398-CFE99509B828}"/>
              </a:ext>
            </a:extLst>
          </p:cNvPr>
          <p:cNvSpPr txBox="1"/>
          <p:nvPr/>
        </p:nvSpPr>
        <p:spPr>
          <a:xfrm>
            <a:off x="670559" y="342271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AAEFF739-9514-8C0A-0CED-58E56F017B82}"/>
              </a:ext>
            </a:extLst>
          </p:cNvPr>
          <p:cNvSpPr>
            <a:spLocks noGrp="1"/>
          </p:cNvSpPr>
          <p:nvPr>
            <p:ph type="body" sz="quarter" idx="30"/>
          </p:nvPr>
        </p:nvSpPr>
        <p:spPr>
          <a:xfrm>
            <a:off x="1345520" y="3235148"/>
            <a:ext cx="10175920" cy="641396"/>
          </a:xfrm>
        </p:spPr>
        <p:txBody>
          <a:bodyPr anchor="t"/>
          <a:lstStyle/>
          <a:p>
            <a:r>
              <a:rPr lang="en-US" sz="4400" dirty="0">
                <a:solidFill>
                  <a:srgbClr val="22272B"/>
                </a:solidFill>
              </a:rPr>
              <a:t>7 + 13 + 10</a:t>
            </a:r>
            <a:endParaRPr lang="en-US" sz="4400" dirty="0"/>
          </a:p>
          <a:p>
            <a:endParaRPr lang="en-US" sz="3600" dirty="0"/>
          </a:p>
        </p:txBody>
      </p:sp>
      <p:sp>
        <p:nvSpPr>
          <p:cNvPr id="12" name="C">
            <a:extLst>
              <a:ext uri="{FF2B5EF4-FFF2-40B4-BE49-F238E27FC236}">
                <a16:creationId xmlns:a16="http://schemas.microsoft.com/office/drawing/2014/main" id="{EE1A6F2C-C53D-023F-5109-2D99038A2CC4}"/>
              </a:ext>
            </a:extLst>
          </p:cNvPr>
          <p:cNvSpPr txBox="1"/>
          <p:nvPr/>
        </p:nvSpPr>
        <p:spPr>
          <a:xfrm>
            <a:off x="670558" y="447981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0DD20211-8861-B73C-132C-D9E5D672E845}"/>
              </a:ext>
            </a:extLst>
          </p:cNvPr>
          <p:cNvSpPr>
            <a:spLocks noGrp="1"/>
          </p:cNvSpPr>
          <p:nvPr>
            <p:ph type="body" sz="quarter" idx="29"/>
          </p:nvPr>
        </p:nvSpPr>
        <p:spPr>
          <a:xfrm>
            <a:off x="1345520" y="4290199"/>
            <a:ext cx="10175920" cy="641396"/>
          </a:xfrm>
        </p:spPr>
        <p:txBody>
          <a:bodyPr anchor="t"/>
          <a:lstStyle/>
          <a:p>
            <a:r>
              <a:rPr lang="en-US" sz="4400" dirty="0">
                <a:solidFill>
                  <a:srgbClr val="22272B"/>
                </a:solidFill>
              </a:rPr>
              <a:t>10 + 3 + 7 + 50</a:t>
            </a:r>
            <a:endParaRPr lang="en-US" sz="4400" dirty="0"/>
          </a:p>
          <a:p>
            <a:endParaRPr lang="en-US" sz="3600" dirty="0"/>
          </a:p>
        </p:txBody>
      </p:sp>
      <p:sp>
        <p:nvSpPr>
          <p:cNvPr id="11" name="D">
            <a:extLst>
              <a:ext uri="{FF2B5EF4-FFF2-40B4-BE49-F238E27FC236}">
                <a16:creationId xmlns:a16="http://schemas.microsoft.com/office/drawing/2014/main" id="{C10C17A9-F508-D7A2-A9D3-C88910EF4F53}"/>
              </a:ext>
            </a:extLst>
          </p:cNvPr>
          <p:cNvSpPr txBox="1"/>
          <p:nvPr/>
        </p:nvSpPr>
        <p:spPr>
          <a:xfrm>
            <a:off x="670555" y="553691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dirty="0"/>
              <a:t>D</a:t>
            </a:r>
          </a:p>
        </p:txBody>
      </p:sp>
      <p:sp>
        <p:nvSpPr>
          <p:cNvPr id="14" name="D text">
            <a:extLst>
              <a:ext uri="{FF2B5EF4-FFF2-40B4-BE49-F238E27FC236}">
                <a16:creationId xmlns:a16="http://schemas.microsoft.com/office/drawing/2014/main" id="{9190A628-3E35-4C7E-1B15-3396BD525BBD}"/>
              </a:ext>
            </a:extLst>
          </p:cNvPr>
          <p:cNvSpPr>
            <a:spLocks noGrp="1"/>
          </p:cNvSpPr>
          <p:nvPr>
            <p:ph type="body" sz="quarter" idx="27"/>
          </p:nvPr>
        </p:nvSpPr>
        <p:spPr>
          <a:xfrm>
            <a:off x="1345520" y="5345249"/>
            <a:ext cx="10175920" cy="641396"/>
          </a:xfrm>
        </p:spPr>
        <p:txBody>
          <a:bodyPr anchor="t"/>
          <a:lstStyle/>
          <a:p>
            <a:r>
              <a:rPr lang="en-US" sz="4400" dirty="0">
                <a:cs typeface="Arial"/>
              </a:rPr>
              <a:t>12 + 8 + 10</a:t>
            </a:r>
          </a:p>
          <a:p>
            <a:endParaRPr lang="en-US" sz="3600" dirty="0"/>
          </a:p>
        </p:txBody>
      </p:sp>
      <p:sp>
        <p:nvSpPr>
          <p:cNvPr id="2" name="Slide Number Placeholder 1">
            <a:extLst>
              <a:ext uri="{FF2B5EF4-FFF2-40B4-BE49-F238E27FC236}">
                <a16:creationId xmlns:a16="http://schemas.microsoft.com/office/drawing/2014/main" id="{E49832F8-1137-BC27-B013-8CE31E74C15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48</a:t>
            </a:fld>
            <a:endParaRPr lang="en-AU"/>
          </a:p>
        </p:txBody>
      </p:sp>
    </p:spTree>
    <p:extLst>
      <p:ext uri="{BB962C8B-B14F-4D97-AF65-F5344CB8AC3E}">
        <p14:creationId xmlns:p14="http://schemas.microsoft.com/office/powerpoint/2010/main" val="1032853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2251-DF10-C8DB-1C57-FDC0798EB71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E911EA-787B-F6E6-4161-4190166C5EE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(25)</a:t>
            </a:r>
          </a:p>
        </p:txBody>
      </p:sp>
      <p:pic>
        <p:nvPicPr>
          <p:cNvPr id="3" name="Picture 2" descr="image of a clipboard with a pencil recording short answer responses">
            <a:extLst>
              <a:ext uri="{FF2B5EF4-FFF2-40B4-BE49-F238E27FC236}">
                <a16:creationId xmlns:a16="http://schemas.microsoft.com/office/drawing/2014/main" id="{3BDDE108-B743-E59F-31B4-5F4FCBC7EB6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TextBox 10">
            <a:extLst>
              <a:ext uri="{FF2B5EF4-FFF2-40B4-BE49-F238E27FC236}">
                <a16:creationId xmlns:a16="http://schemas.microsoft.com/office/drawing/2014/main" id="{7A123A13-AF6C-F7F8-A50A-18A455AB7AFA}"/>
              </a:ext>
            </a:extLst>
          </p:cNvPr>
          <p:cNvSpPr txBox="1"/>
          <p:nvPr/>
        </p:nvSpPr>
        <p:spPr>
          <a:xfrm>
            <a:off x="1465970" y="2278720"/>
            <a:ext cx="9260059" cy="3337580"/>
          </a:xfrm>
          <a:prstGeom prst="rect">
            <a:avLst/>
          </a:prstGeom>
          <a:noFill/>
        </p:spPr>
        <p:txBody>
          <a:bodyPr wrap="square">
            <a:spAutoFit/>
          </a:bodyPr>
          <a:lstStyle/>
          <a:p>
            <a:pPr algn="ctr">
              <a:lnSpc>
                <a:spcPct val="150000"/>
              </a:lnSpc>
            </a:pPr>
            <a:r>
              <a:rPr lang="en-AU" sz="4400" dirty="0">
                <a:effectLst/>
                <a:latin typeface="Arial" panose="020B0604020202020204" pitchFamily="34" charset="0"/>
                <a:ea typeface="Calibri" panose="020F0502020204030204" pitchFamily="34" charset="0"/>
              </a:rPr>
              <a:t>Use the </a:t>
            </a:r>
            <a:r>
              <a:rPr lang="en-AU" sz="4400" b="1" dirty="0">
                <a:effectLst/>
                <a:latin typeface="Arial" panose="020B0604020202020204" pitchFamily="34" charset="0"/>
                <a:ea typeface="Calibri" panose="020F0502020204030204" pitchFamily="34" charset="0"/>
              </a:rPr>
              <a:t>bridging the decade </a:t>
            </a:r>
            <a:r>
              <a:rPr lang="en-AU" sz="4400" dirty="0">
                <a:effectLst/>
                <a:latin typeface="Arial" panose="020B0604020202020204" pitchFamily="34" charset="0"/>
                <a:ea typeface="Calibri" panose="020F0502020204030204" pitchFamily="34" charset="0"/>
              </a:rPr>
              <a:t>strategy to solve:</a:t>
            </a:r>
          </a:p>
          <a:p>
            <a:pPr algn="ctr">
              <a:lnSpc>
                <a:spcPct val="150000"/>
              </a:lnSpc>
            </a:pPr>
            <a:r>
              <a:rPr lang="en-AU" sz="6000" dirty="0">
                <a:effectLst/>
                <a:latin typeface="Arial" panose="020B0604020202020204" pitchFamily="34" charset="0"/>
                <a:ea typeface="Calibri" panose="020F0502020204030204" pitchFamily="34" charset="0"/>
              </a:rPr>
              <a:t>43 + 58</a:t>
            </a:r>
            <a:endParaRPr lang="en-AU" sz="6000" dirty="0"/>
          </a:p>
        </p:txBody>
      </p:sp>
      <p:pic>
        <p:nvPicPr>
          <p:cNvPr id="14" name="Picture 13" descr="Internet symbol">
            <a:extLst>
              <a:ext uri="{FF2B5EF4-FFF2-40B4-BE49-F238E27FC236}">
                <a16:creationId xmlns:a16="http://schemas.microsoft.com/office/drawing/2014/main" id="{5BDAFF8E-17D4-849E-D953-A426C3AD130D}"/>
              </a:ext>
            </a:extLst>
          </p:cNvPr>
          <p:cNvPicPr>
            <a:picLocks noChangeAspect="1"/>
          </p:cNvPicPr>
          <p:nvPr/>
        </p:nvPicPr>
        <p:blipFill>
          <a:blip r:embed="rId4"/>
          <a:stretch>
            <a:fillRect/>
          </a:stretch>
        </p:blipFill>
        <p:spPr>
          <a:xfrm>
            <a:off x="6096000" y="633345"/>
            <a:ext cx="856266" cy="856266"/>
          </a:xfrm>
          <a:prstGeom prst="rect">
            <a:avLst/>
          </a:prstGeom>
        </p:spPr>
      </p:pic>
      <p:sp>
        <p:nvSpPr>
          <p:cNvPr id="16" name="TextBox 15">
            <a:extLst>
              <a:ext uri="{FF2B5EF4-FFF2-40B4-BE49-F238E27FC236}">
                <a16:creationId xmlns:a16="http://schemas.microsoft.com/office/drawing/2014/main" id="{8D432D02-832C-952E-6514-65D6F4B37400}"/>
              </a:ext>
            </a:extLst>
          </p:cNvPr>
          <p:cNvSpPr txBox="1"/>
          <p:nvPr/>
        </p:nvSpPr>
        <p:spPr>
          <a:xfrm>
            <a:off x="6952266" y="917355"/>
            <a:ext cx="6097424" cy="461665"/>
          </a:xfrm>
          <a:prstGeom prst="rect">
            <a:avLst/>
          </a:prstGeom>
          <a:noFill/>
        </p:spPr>
        <p:txBody>
          <a:bodyPr wrap="square">
            <a:spAutoFit/>
          </a:bodyPr>
          <a:lstStyle/>
          <a:p>
            <a:r>
              <a:rPr lang="en-AU" u="sng" dirty="0">
                <a:solidFill>
                  <a:srgbClr val="2F5496"/>
                </a:solidFill>
                <a:latin typeface="Arial" panose="020B0604020202020204" pitchFamily="34" charset="0"/>
                <a:ea typeface="Calibri" panose="020F0502020204030204" pitchFamily="34" charset="0"/>
                <a:hlinkClick r:id="rId5"/>
              </a:rPr>
              <a:t>I</a:t>
            </a:r>
            <a:r>
              <a:rPr lang="en-AU" sz="2400" u="sng" dirty="0">
                <a:solidFill>
                  <a:srgbClr val="2F5496"/>
                </a:solidFill>
                <a:effectLst/>
                <a:latin typeface="Arial" panose="020B0604020202020204" pitchFamily="34" charset="0"/>
                <a:ea typeface="Calibri" panose="020F0502020204030204" pitchFamily="34" charset="0"/>
                <a:hlinkClick r:id="rId5"/>
              </a:rPr>
              <a:t>nteractive 120 number chart</a:t>
            </a:r>
            <a:endParaRPr lang="en-AU" dirty="0"/>
          </a:p>
        </p:txBody>
      </p:sp>
      <p:sp>
        <p:nvSpPr>
          <p:cNvPr id="12" name="Slide Number Placeholder 1">
            <a:extLst>
              <a:ext uri="{FF2B5EF4-FFF2-40B4-BE49-F238E27FC236}">
                <a16:creationId xmlns:a16="http://schemas.microsoft.com/office/drawing/2014/main" id="{1803AFBF-ECFF-3006-6CAA-CC3B688F4BC0}"/>
              </a:ext>
              <a:ext uri="{C183D7F6-B498-43B3-948B-1728B52AA6E4}">
                <adec:decorative xmlns:adec="http://schemas.microsoft.com/office/drawing/2017/decorative" val="1"/>
              </a:ext>
            </a:extLst>
          </p:cNvPr>
          <p:cNvSpPr txBox="1">
            <a:spLocks/>
          </p:cNvSpPr>
          <p:nvPr/>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49</a:t>
            </a:fld>
            <a:endParaRPr lang="en-AU"/>
          </a:p>
        </p:txBody>
      </p:sp>
    </p:spTree>
    <p:extLst>
      <p:ext uri="{BB962C8B-B14F-4D97-AF65-F5344CB8AC3E}">
        <p14:creationId xmlns:p14="http://schemas.microsoft.com/office/powerpoint/2010/main" val="3421045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FDA5-04FD-A818-D8EE-F166EE820F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278584-1D03-2A7C-E8C8-43BF5F89AB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(26)</a:t>
            </a:r>
          </a:p>
        </p:txBody>
      </p:sp>
      <p:pic>
        <p:nvPicPr>
          <p:cNvPr id="3" name="Picture 2" descr="image of a clipboard with a pencil recording short answer responses">
            <a:extLst>
              <a:ext uri="{FF2B5EF4-FFF2-40B4-BE49-F238E27FC236}">
                <a16:creationId xmlns:a16="http://schemas.microsoft.com/office/drawing/2014/main" id="{5DACDB15-40FB-10CA-304C-024754D6DBAE}"/>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E188FB3B-F139-C199-0953-9DC0C53D7DF8}"/>
              </a:ext>
            </a:extLst>
          </p:cNvPr>
          <p:cNvSpPr txBox="1"/>
          <p:nvPr/>
        </p:nvSpPr>
        <p:spPr>
          <a:xfrm>
            <a:off x="246024" y="1359841"/>
            <a:ext cx="5444657" cy="538718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342900" indent="-342900">
              <a:lnSpc>
                <a:spcPct val="150000"/>
              </a:lnSpc>
              <a:spcAft>
                <a:spcPts val="1200"/>
              </a:spcAft>
              <a:buAutoNum type="arabicPeriod"/>
            </a:pPr>
            <a:r>
              <a:rPr lang="en-US" sz="3200" dirty="0">
                <a:cs typeface="Arial"/>
              </a:rPr>
              <a:t>What is the </a:t>
            </a:r>
            <a:r>
              <a:rPr lang="en-US" sz="3200" b="1" dirty="0">
                <a:cs typeface="Arial"/>
              </a:rPr>
              <a:t>most common </a:t>
            </a:r>
            <a:r>
              <a:rPr lang="en-US" sz="3200" dirty="0">
                <a:cs typeface="Arial"/>
              </a:rPr>
              <a:t>way to travel to school?</a:t>
            </a:r>
          </a:p>
          <a:p>
            <a:pPr marL="342900" indent="-342900">
              <a:lnSpc>
                <a:spcPct val="150000"/>
              </a:lnSpc>
              <a:spcAft>
                <a:spcPts val="1200"/>
              </a:spcAft>
              <a:buAutoNum type="arabicPeriod"/>
            </a:pPr>
            <a:r>
              <a:rPr lang="en-US" sz="3200" dirty="0">
                <a:cs typeface="Arial"/>
              </a:rPr>
              <a:t>How many </a:t>
            </a:r>
            <a:r>
              <a:rPr lang="en-US" sz="3200" b="1" dirty="0">
                <a:cs typeface="Arial"/>
              </a:rPr>
              <a:t>more</a:t>
            </a:r>
            <a:r>
              <a:rPr lang="en-US" sz="3200" dirty="0">
                <a:cs typeface="Arial"/>
              </a:rPr>
              <a:t> students travel by </a:t>
            </a:r>
            <a:r>
              <a:rPr lang="en-US" sz="3200" b="1" dirty="0">
                <a:cs typeface="Arial"/>
              </a:rPr>
              <a:t>car </a:t>
            </a:r>
            <a:r>
              <a:rPr lang="en-US" sz="3200" dirty="0">
                <a:cs typeface="Arial"/>
              </a:rPr>
              <a:t>than by </a:t>
            </a:r>
            <a:r>
              <a:rPr lang="en-US" sz="3200" b="1" dirty="0">
                <a:cs typeface="Arial"/>
              </a:rPr>
              <a:t>walking</a:t>
            </a:r>
            <a:r>
              <a:rPr lang="en-US" sz="3200" dirty="0">
                <a:cs typeface="Arial"/>
              </a:rPr>
              <a:t>?</a:t>
            </a:r>
          </a:p>
          <a:p>
            <a:pPr marL="342900" indent="-342900">
              <a:lnSpc>
                <a:spcPct val="150000"/>
              </a:lnSpc>
              <a:spcAft>
                <a:spcPts val="1200"/>
              </a:spcAft>
              <a:buAutoNum type="arabicPeriod"/>
            </a:pPr>
            <a:r>
              <a:rPr lang="en-US" sz="3200" dirty="0">
                <a:cs typeface="Arial"/>
              </a:rPr>
              <a:t>How many students were </a:t>
            </a:r>
            <a:r>
              <a:rPr lang="en-US" sz="3200" b="1" dirty="0">
                <a:cs typeface="Arial"/>
              </a:rPr>
              <a:t>surveyed</a:t>
            </a:r>
            <a:r>
              <a:rPr lang="en-US" sz="3200" dirty="0">
                <a:cs typeface="Arial"/>
              </a:rPr>
              <a:t>?</a:t>
            </a:r>
          </a:p>
        </p:txBody>
      </p:sp>
      <p:pic>
        <p:nvPicPr>
          <p:cNvPr id="7" name="Picture 6" descr="Column graph showing how students travel to school most days. Car is 12 students, bike is 3, walk is 4, public transport is 8, scooter is 3.">
            <a:extLst>
              <a:ext uri="{FF2B5EF4-FFF2-40B4-BE49-F238E27FC236}">
                <a16:creationId xmlns:a16="http://schemas.microsoft.com/office/drawing/2014/main" id="{8C01E2D0-3EEA-CE97-A4A5-C7B16D204079}"/>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5525311" y="2088456"/>
            <a:ext cx="6420665" cy="3852532"/>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7272EA4F-3F06-6846-819D-1E1E70AD911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50</a:t>
            </a:fld>
            <a:endParaRPr lang="en-AU"/>
          </a:p>
        </p:txBody>
      </p:sp>
    </p:spTree>
    <p:extLst>
      <p:ext uri="{BB962C8B-B14F-4D97-AF65-F5344CB8AC3E}">
        <p14:creationId xmlns:p14="http://schemas.microsoft.com/office/powerpoint/2010/main" val="41103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E59B-9BEF-7D49-551E-3074A6DFFA7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379C9-D3D6-8DF3-10D6-65CC2C3BA62B}"/>
              </a:ext>
            </a:extLst>
          </p:cNvPr>
          <p:cNvSpPr>
            <a:spLocks noGrp="1"/>
          </p:cNvSpPr>
          <p:nvPr>
            <p:ph type="title"/>
          </p:nvPr>
        </p:nvSpPr>
        <p:spPr>
          <a:xfrm>
            <a:off x="360000" y="360000"/>
            <a:ext cx="10367268" cy="545601"/>
          </a:xfrm>
        </p:spPr>
        <p:txBody>
          <a:bodyPr/>
          <a:lstStyle/>
          <a:p>
            <a:r>
              <a:rPr lang="en-AU" dirty="0"/>
              <a:t>Short response </a:t>
            </a:r>
            <a:r>
              <a:rPr lang="en-AU" dirty="0">
                <a:solidFill>
                  <a:schemeClr val="bg1"/>
                </a:solidFill>
              </a:rPr>
              <a:t>(27)</a:t>
            </a:r>
          </a:p>
        </p:txBody>
      </p:sp>
      <p:pic>
        <p:nvPicPr>
          <p:cNvPr id="3" name="Picture 2" descr="image of a clipboard with a pencil recording short answer responses">
            <a:extLst>
              <a:ext uri="{FF2B5EF4-FFF2-40B4-BE49-F238E27FC236}">
                <a16:creationId xmlns:a16="http://schemas.microsoft.com/office/drawing/2014/main" id="{6F1984CA-3815-83E6-2CEF-D3AC5609C15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E2D3DA14-23C1-BEF3-C7DE-42D4326F460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51</a:t>
            </a:fld>
            <a:endParaRPr lang="en-AU"/>
          </a:p>
        </p:txBody>
      </p:sp>
      <p:pic>
        <p:nvPicPr>
          <p:cNvPr id="14" name="Picture 13" descr="a strip partitioned into 8 equal parts  with the following colours:&#10;4 yellow 3 green and 1 blue.">
            <a:extLst>
              <a:ext uri="{FF2B5EF4-FFF2-40B4-BE49-F238E27FC236}">
                <a16:creationId xmlns:a16="http://schemas.microsoft.com/office/drawing/2014/main" id="{E0C8E4EE-081D-D8D8-9EE5-47C1928042E6}"/>
              </a:ext>
            </a:extLst>
          </p:cNvPr>
          <p:cNvPicPr>
            <a:picLocks noChangeAspect="1"/>
          </p:cNvPicPr>
          <p:nvPr/>
        </p:nvPicPr>
        <p:blipFill>
          <a:blip r:embed="rId4"/>
          <a:stretch>
            <a:fillRect/>
          </a:stretch>
        </p:blipFill>
        <p:spPr>
          <a:xfrm>
            <a:off x="2241360" y="1013918"/>
            <a:ext cx="7907755" cy="1472581"/>
          </a:xfrm>
          <a:prstGeom prst="rect">
            <a:avLst/>
          </a:prstGeom>
        </p:spPr>
      </p:pic>
      <p:sp>
        <p:nvSpPr>
          <p:cNvPr id="15" name="TextBox 14">
            <a:extLst>
              <a:ext uri="{FF2B5EF4-FFF2-40B4-BE49-F238E27FC236}">
                <a16:creationId xmlns:a16="http://schemas.microsoft.com/office/drawing/2014/main" id="{A6E5B9C7-E78D-126E-9893-831CD1927FD5}"/>
              </a:ext>
            </a:extLst>
          </p:cNvPr>
          <p:cNvSpPr txBox="1"/>
          <p:nvPr/>
        </p:nvSpPr>
        <p:spPr>
          <a:xfrm>
            <a:off x="736600" y="2486499"/>
            <a:ext cx="10917276" cy="4029501"/>
          </a:xfrm>
          <a:prstGeom prst="rect">
            <a:avLst/>
          </a:prstGeom>
          <a:noFill/>
        </p:spPr>
        <p:txBody>
          <a:bodyPr wrap="square">
            <a:spAutoFit/>
          </a:bodyPr>
          <a:lstStyle/>
          <a:p>
            <a:pPr algn="ctr">
              <a:lnSpc>
                <a:spcPct val="150000"/>
              </a:lnSpc>
            </a:pPr>
            <a:r>
              <a:rPr lang="en-AU" sz="4400" dirty="0"/>
              <a:t>Sarah said 4-eighths are yellow and Bella said one-half is yellow. </a:t>
            </a:r>
          </a:p>
          <a:p>
            <a:pPr algn="ctr">
              <a:lnSpc>
                <a:spcPct val="150000"/>
              </a:lnSpc>
            </a:pPr>
            <a:r>
              <a:rPr lang="en-AU" sz="4400" dirty="0"/>
              <a:t>Who is correct?</a:t>
            </a:r>
          </a:p>
          <a:p>
            <a:pPr algn="ctr">
              <a:lnSpc>
                <a:spcPct val="150000"/>
              </a:lnSpc>
            </a:pPr>
            <a:r>
              <a:rPr lang="en-AU" sz="4400" b="1" dirty="0"/>
              <a:t>Communicate</a:t>
            </a:r>
            <a:r>
              <a:rPr lang="en-AU" sz="4400" dirty="0"/>
              <a:t> your </a:t>
            </a:r>
            <a:r>
              <a:rPr lang="en-AU" sz="4400" b="1" dirty="0"/>
              <a:t>reasoning</a:t>
            </a:r>
            <a:r>
              <a:rPr lang="en-AU" sz="4400" dirty="0"/>
              <a:t>. </a:t>
            </a:r>
          </a:p>
        </p:txBody>
      </p:sp>
    </p:spTree>
    <p:extLst>
      <p:ext uri="{BB962C8B-B14F-4D97-AF65-F5344CB8AC3E}">
        <p14:creationId xmlns:p14="http://schemas.microsoft.com/office/powerpoint/2010/main" val="368486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659C-52F1-8E74-099C-EE67C3721A0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4A8999-8A41-AC47-3114-D0B5AAC2A64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(28)</a:t>
            </a:r>
          </a:p>
        </p:txBody>
      </p:sp>
      <p:pic>
        <p:nvPicPr>
          <p:cNvPr id="3" name="Picture 2" descr="image of a clipboard with a pencil recording short answer responses">
            <a:extLst>
              <a:ext uri="{FF2B5EF4-FFF2-40B4-BE49-F238E27FC236}">
                <a16:creationId xmlns:a16="http://schemas.microsoft.com/office/drawing/2014/main" id="{981E4643-C0C9-5325-74DA-A071DDDC65A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23B0E339-1A21-2647-20E6-CEB4EE6B71A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52</a:t>
            </a:fld>
            <a:endParaRPr lang="en-AU"/>
          </a:p>
        </p:txBody>
      </p:sp>
      <p:sp>
        <p:nvSpPr>
          <p:cNvPr id="11" name="TextBox 10">
            <a:extLst>
              <a:ext uri="{FF2B5EF4-FFF2-40B4-BE49-F238E27FC236}">
                <a16:creationId xmlns:a16="http://schemas.microsoft.com/office/drawing/2014/main" id="{0AA15031-DFA0-9ADE-6422-78556287B2CA}"/>
              </a:ext>
            </a:extLst>
          </p:cNvPr>
          <p:cNvSpPr txBox="1"/>
          <p:nvPr/>
        </p:nvSpPr>
        <p:spPr>
          <a:xfrm>
            <a:off x="1020898" y="850629"/>
            <a:ext cx="10562897" cy="1047390"/>
          </a:xfrm>
          <a:prstGeom prst="rect">
            <a:avLst/>
          </a:prstGeom>
          <a:noFill/>
        </p:spPr>
        <p:txBody>
          <a:bodyPr wrap="none" lIns="0" tIns="0" rIns="0" bIns="0" rtlCol="0">
            <a:noAutofit/>
          </a:bodyPr>
          <a:lstStyle/>
          <a:p>
            <a:pPr algn="ctr">
              <a:lnSpc>
                <a:spcPct val="150000"/>
              </a:lnSpc>
            </a:pPr>
            <a:r>
              <a:rPr lang="en-AU" sz="3600" dirty="0"/>
              <a:t>Describe the turn each shape has made. </a:t>
            </a:r>
          </a:p>
          <a:p>
            <a:pPr algn="ctr">
              <a:lnSpc>
                <a:spcPct val="150000"/>
              </a:lnSpc>
            </a:pPr>
            <a:r>
              <a:rPr lang="en-AU" sz="3600" dirty="0"/>
              <a:t>Use words such as </a:t>
            </a:r>
            <a:r>
              <a:rPr lang="en-AU" sz="3600" b="1" dirty="0"/>
              <a:t>quarter, half</a:t>
            </a:r>
            <a:r>
              <a:rPr lang="en-AU" sz="3600" dirty="0"/>
              <a:t>, and </a:t>
            </a:r>
            <a:r>
              <a:rPr lang="en-AU" sz="3600" b="1" dirty="0"/>
              <a:t>full</a:t>
            </a:r>
            <a:r>
              <a:rPr lang="en-AU" sz="3600" dirty="0"/>
              <a:t> turn.</a:t>
            </a:r>
          </a:p>
        </p:txBody>
      </p:sp>
      <p:pic>
        <p:nvPicPr>
          <p:cNvPr id="9" name="Picture 8" descr="Three rows of paired arrows: first row green, second row blue, third row yellow; directions differ between left and right arrows showing turn of the shape from original(left group) to final(right group) position.">
            <a:extLst>
              <a:ext uri="{FF2B5EF4-FFF2-40B4-BE49-F238E27FC236}">
                <a16:creationId xmlns:a16="http://schemas.microsoft.com/office/drawing/2014/main" id="{89E76353-7EE8-18E5-D099-4C8D1C207D1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94191" y="2889384"/>
            <a:ext cx="6203618" cy="3806616"/>
          </a:xfrm>
          <a:prstGeom prst="rect">
            <a:avLst/>
          </a:prstGeom>
          <a:effectLst/>
        </p:spPr>
      </p:pic>
      <p:sp>
        <p:nvSpPr>
          <p:cNvPr id="4" name="TextBox 3">
            <a:extLst>
              <a:ext uri="{FF2B5EF4-FFF2-40B4-BE49-F238E27FC236}">
                <a16:creationId xmlns:a16="http://schemas.microsoft.com/office/drawing/2014/main" id="{CA7D49E9-165B-F0F4-83B3-0D350D34989E}"/>
              </a:ext>
              <a:ext uri="{C183D7F6-B498-43B3-948B-1728B52AA6E4}">
                <adec:decorative xmlns:adec="http://schemas.microsoft.com/office/drawing/2017/decorative" val="1"/>
              </a:ext>
            </a:extLst>
          </p:cNvPr>
          <p:cNvSpPr txBox="1"/>
          <p:nvPr/>
        </p:nvSpPr>
        <p:spPr>
          <a:xfrm>
            <a:off x="2376487" y="3070719"/>
            <a:ext cx="1700213" cy="1047390"/>
          </a:xfrm>
          <a:prstGeom prst="rect">
            <a:avLst/>
          </a:prstGeom>
          <a:noFill/>
        </p:spPr>
        <p:txBody>
          <a:bodyPr wrap="none" lIns="0" tIns="0" rIns="0" bIns="0" rtlCol="0">
            <a:noAutofit/>
          </a:bodyPr>
          <a:lstStyle/>
          <a:p>
            <a:pPr algn="ctr">
              <a:lnSpc>
                <a:spcPct val="150000"/>
              </a:lnSpc>
            </a:pPr>
            <a:r>
              <a:rPr lang="en-AU" sz="3200" dirty="0"/>
              <a:t>1.</a:t>
            </a:r>
          </a:p>
          <a:p>
            <a:pPr algn="ctr">
              <a:lnSpc>
                <a:spcPct val="150000"/>
              </a:lnSpc>
            </a:pPr>
            <a:endParaRPr lang="en-AU" sz="3200" dirty="0"/>
          </a:p>
          <a:p>
            <a:pPr algn="ctr">
              <a:lnSpc>
                <a:spcPct val="150000"/>
              </a:lnSpc>
            </a:pPr>
            <a:r>
              <a:rPr lang="en-AU" sz="3200" dirty="0"/>
              <a:t>2.</a:t>
            </a:r>
          </a:p>
          <a:p>
            <a:pPr algn="ctr">
              <a:lnSpc>
                <a:spcPct val="150000"/>
              </a:lnSpc>
            </a:pPr>
            <a:endParaRPr lang="en-AU" sz="3200" dirty="0"/>
          </a:p>
          <a:p>
            <a:pPr algn="ctr">
              <a:lnSpc>
                <a:spcPct val="150000"/>
              </a:lnSpc>
            </a:pPr>
            <a:r>
              <a:rPr lang="en-AU" sz="3200" dirty="0"/>
              <a:t>3.</a:t>
            </a:r>
          </a:p>
          <a:p>
            <a:pPr algn="ctr">
              <a:lnSpc>
                <a:spcPct val="150000"/>
              </a:lnSpc>
            </a:pPr>
            <a:endParaRPr lang="en-AU" sz="3600" dirty="0"/>
          </a:p>
        </p:txBody>
      </p:sp>
    </p:spTree>
    <p:extLst>
      <p:ext uri="{BB962C8B-B14F-4D97-AF65-F5344CB8AC3E}">
        <p14:creationId xmlns:p14="http://schemas.microsoft.com/office/powerpoint/2010/main" val="39975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FF0DA-B2BE-8F8C-8ED1-71AD29C1DD9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C14F34-167C-56D8-3CA3-124A3E6153BF}"/>
              </a:ext>
            </a:extLst>
          </p:cNvPr>
          <p:cNvSpPr>
            <a:spLocks noGrp="1"/>
          </p:cNvSpPr>
          <p:nvPr>
            <p:ph type="title"/>
          </p:nvPr>
        </p:nvSpPr>
        <p:spPr>
          <a:xfrm>
            <a:off x="360000" y="360000"/>
            <a:ext cx="10367268" cy="545601"/>
          </a:xfrm>
        </p:spPr>
        <p:txBody>
          <a:bodyPr/>
          <a:lstStyle/>
          <a:p>
            <a:r>
              <a:rPr lang="en-AU">
                <a:latin typeface="Arial"/>
                <a:cs typeface="Arial"/>
              </a:rPr>
              <a:t>Activity 7 – one adds, one subtracts</a:t>
            </a:r>
            <a:endParaRPr lang="en-US">
              <a:latin typeface="Arial"/>
              <a:cs typeface="Arial"/>
            </a:endParaRPr>
          </a:p>
          <a:p>
            <a:endParaRPr lang="en-AU"/>
          </a:p>
        </p:txBody>
      </p:sp>
      <p:pic>
        <p:nvPicPr>
          <p:cNvPr id="4" name="Picture 3" descr="image of a head with cogs turning inside">
            <a:extLst>
              <a:ext uri="{FF2B5EF4-FFF2-40B4-BE49-F238E27FC236}">
                <a16:creationId xmlns:a16="http://schemas.microsoft.com/office/drawing/2014/main" id="{862A61D7-0DAF-1BF8-46D6-A2E9DEA92CB9}"/>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94C6EA6A-6671-77F5-F9DD-DDF1F66E758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53</a:t>
            </a:fld>
            <a:endParaRPr lang="en-AU"/>
          </a:p>
        </p:txBody>
      </p:sp>
      <p:pic>
        <p:nvPicPr>
          <p:cNvPr id="3" name="Picture 2" descr="Two whiteboards showing different number sentences. The one on the left has five number sentences showing subtraction. The one on the right has five number sentences showing addition. In the centre there are two cards, a 3 and a 6, with a rubbish pile at the top and a draw card pile below.">
            <a:extLst>
              <a:ext uri="{FF2B5EF4-FFF2-40B4-BE49-F238E27FC236}">
                <a16:creationId xmlns:a16="http://schemas.microsoft.com/office/drawing/2014/main" id="{F20D50CE-A705-5970-81F7-D9FB42590D13}"/>
              </a:ext>
            </a:extLst>
          </p:cNvPr>
          <p:cNvPicPr>
            <a:picLocks noChangeAspect="1"/>
          </p:cNvPicPr>
          <p:nvPr/>
        </p:nvPicPr>
        <p:blipFill>
          <a:blip r:embed="rId4"/>
          <a:stretch>
            <a:fillRect/>
          </a:stretch>
        </p:blipFill>
        <p:spPr>
          <a:xfrm>
            <a:off x="2069444" y="1097258"/>
            <a:ext cx="8053112" cy="5409620"/>
          </a:xfrm>
          <a:prstGeom prst="rect">
            <a:avLst/>
          </a:prstGeom>
          <a:ln>
            <a:noFill/>
          </a:ln>
          <a:effectLst/>
        </p:spPr>
      </p:pic>
    </p:spTree>
    <p:extLst>
      <p:ext uri="{BB962C8B-B14F-4D97-AF65-F5344CB8AC3E}">
        <p14:creationId xmlns:p14="http://schemas.microsoft.com/office/powerpoint/2010/main" val="349470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1EC6-FF83-C9C5-49C3-C8B210104C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249DAA-DB7D-DBE7-72E4-BE3464E5EE01}"/>
              </a:ext>
            </a:extLst>
          </p:cNvPr>
          <p:cNvSpPr>
            <a:spLocks noGrp="1"/>
          </p:cNvSpPr>
          <p:nvPr>
            <p:ph type="ctrTitle"/>
          </p:nvPr>
        </p:nvSpPr>
        <p:spPr/>
        <p:txBody>
          <a:bodyPr/>
          <a:lstStyle/>
          <a:p>
            <a:r>
              <a:rPr lang="en-AU">
                <a:latin typeface="+mj-lt"/>
              </a:rPr>
              <a:t>Review of learning 8</a:t>
            </a:r>
          </a:p>
        </p:txBody>
      </p:sp>
    </p:spTree>
    <p:extLst>
      <p:ext uri="{BB962C8B-B14F-4D97-AF65-F5344CB8AC3E}">
        <p14:creationId xmlns:p14="http://schemas.microsoft.com/office/powerpoint/2010/main" val="109051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6ED3-12E6-92D4-2D70-B9D66967E94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C611A7C-D422-1D96-3A9E-D440F242FEF1}"/>
              </a:ext>
            </a:extLst>
          </p:cNvPr>
          <p:cNvSpPr>
            <a:spLocks noGrp="1"/>
          </p:cNvSpPr>
          <p:nvPr>
            <p:ph type="title"/>
          </p:nvPr>
        </p:nvSpPr>
        <p:spPr/>
        <p:txBody>
          <a:bodyPr/>
          <a:lstStyle/>
          <a:p>
            <a:r>
              <a:rPr lang="en-US"/>
              <a:t>True or false </a:t>
            </a:r>
            <a:r>
              <a:rPr lang="en-US">
                <a:solidFill>
                  <a:schemeClr val="bg1"/>
                </a:solidFill>
              </a:rPr>
              <a:t>(4)</a:t>
            </a:r>
          </a:p>
        </p:txBody>
      </p:sp>
      <p:graphicFrame>
        <p:nvGraphicFramePr>
          <p:cNvPr id="12" name="Table 11">
            <a:extLst>
              <a:ext uri="{FF2B5EF4-FFF2-40B4-BE49-F238E27FC236}">
                <a16:creationId xmlns:a16="http://schemas.microsoft.com/office/drawing/2014/main" id="{3F8CBB11-5402-CF1C-E0D6-3FC912DFC86F}"/>
              </a:ext>
            </a:extLst>
          </p:cNvPr>
          <p:cNvGraphicFramePr>
            <a:graphicFrameLocks noGrp="1"/>
          </p:cNvGraphicFramePr>
          <p:nvPr>
            <p:extLst>
              <p:ext uri="{D42A27DB-BD31-4B8C-83A1-F6EECF244321}">
                <p14:modId xmlns:p14="http://schemas.microsoft.com/office/powerpoint/2010/main" val="315499473"/>
              </p:ext>
            </p:extLst>
          </p:nvPr>
        </p:nvGraphicFramePr>
        <p:xfrm>
          <a:off x="2558642" y="5267227"/>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descr="image of a finger selecting an option for a multiple choice or true and false">
            <a:extLst>
              <a:ext uri="{FF2B5EF4-FFF2-40B4-BE49-F238E27FC236}">
                <a16:creationId xmlns:a16="http://schemas.microsoft.com/office/drawing/2014/main" id="{64B989F8-67C4-FE7B-CC90-5BE7E2CD867D}"/>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9D3A219B-EA44-A8FA-5624-110943E229E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55</a:t>
            </a:fld>
            <a:endParaRPr lang="en-AU"/>
          </a:p>
        </p:txBody>
      </p:sp>
      <p:pic>
        <p:nvPicPr>
          <p:cNvPr id="7" name="Picture 6" descr="A picture of a balance scale with 16+8- on the left arm and 27-9+3 on the right arm with an equal to symbol in the middle of the balance.&#10;&#10;">
            <a:extLst>
              <a:ext uri="{FF2B5EF4-FFF2-40B4-BE49-F238E27FC236}">
                <a16:creationId xmlns:a16="http://schemas.microsoft.com/office/drawing/2014/main" id="{E16EB0F9-0DB1-6BE3-5B62-09BC31005292}"/>
              </a:ext>
            </a:extLst>
          </p:cNvPr>
          <p:cNvPicPr>
            <a:picLocks noChangeAspect="1"/>
          </p:cNvPicPr>
          <p:nvPr/>
        </p:nvPicPr>
        <p:blipFill>
          <a:blip r:embed="rId4"/>
          <a:srcRect l="26175" t="32666" r="24750" b="7590"/>
          <a:stretch>
            <a:fillRect/>
          </a:stretch>
        </p:blipFill>
        <p:spPr>
          <a:xfrm>
            <a:off x="2830421" y="847840"/>
            <a:ext cx="6531157" cy="4419387"/>
          </a:xfrm>
          <a:prstGeom prst="rect">
            <a:avLst/>
          </a:prstGeom>
          <a:effectLst/>
        </p:spPr>
      </p:pic>
    </p:spTree>
    <p:extLst>
      <p:ext uri="{BB962C8B-B14F-4D97-AF65-F5344CB8AC3E}">
        <p14:creationId xmlns:p14="http://schemas.microsoft.com/office/powerpoint/2010/main" val="231400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A94A0-1585-B5DE-F663-2CC0EB52E35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9928648-20AD-4C71-4F25-32B0522F5B9B}"/>
              </a:ext>
            </a:extLst>
          </p:cNvPr>
          <p:cNvSpPr>
            <a:spLocks noGrp="1"/>
          </p:cNvSpPr>
          <p:nvPr>
            <p:ph type="title"/>
          </p:nvPr>
        </p:nvSpPr>
        <p:spPr>
          <a:xfrm>
            <a:off x="360000" y="360000"/>
            <a:ext cx="10367268" cy="545601"/>
          </a:xfrm>
        </p:spPr>
        <p:txBody>
          <a:bodyPr/>
          <a:lstStyle/>
          <a:p>
            <a:r>
              <a:rPr lang="en-AU" dirty="0">
                <a:latin typeface="Arial"/>
                <a:cs typeface="Arial"/>
              </a:rPr>
              <a:t>Short response </a:t>
            </a:r>
            <a:r>
              <a:rPr lang="en-AU" dirty="0">
                <a:solidFill>
                  <a:schemeClr val="bg1"/>
                </a:solidFill>
                <a:latin typeface="Arial"/>
                <a:cs typeface="Arial"/>
              </a:rPr>
              <a:t>(29)</a:t>
            </a:r>
            <a:br>
              <a:rPr lang="en-AU" dirty="0">
                <a:solidFill>
                  <a:schemeClr val="bg1"/>
                </a:solidFill>
                <a:latin typeface="Arial"/>
                <a:cs typeface="Arial"/>
              </a:rPr>
            </a:br>
            <a:endParaRPr lang="en-AU" dirty="0">
              <a:solidFill>
                <a:schemeClr val="bg1"/>
              </a:solidFill>
            </a:endParaRPr>
          </a:p>
        </p:txBody>
      </p:sp>
      <p:pic>
        <p:nvPicPr>
          <p:cNvPr id="3" name="Picture 2" descr="image of a clipboard with a pencil recording short answer responses">
            <a:extLst>
              <a:ext uri="{FF2B5EF4-FFF2-40B4-BE49-F238E27FC236}">
                <a16:creationId xmlns:a16="http://schemas.microsoft.com/office/drawing/2014/main" id="{4A6BDB97-E652-19FE-8B5C-2AD4CC92796D}"/>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1" name="TextBox 10">
            <a:extLst>
              <a:ext uri="{FF2B5EF4-FFF2-40B4-BE49-F238E27FC236}">
                <a16:creationId xmlns:a16="http://schemas.microsoft.com/office/drawing/2014/main" id="{7F84C0A6-5CFA-9386-A268-5DBD847E3FAD}"/>
              </a:ext>
            </a:extLst>
          </p:cNvPr>
          <p:cNvSpPr txBox="1"/>
          <p:nvPr/>
        </p:nvSpPr>
        <p:spPr>
          <a:xfrm>
            <a:off x="447722" y="1197434"/>
            <a:ext cx="11566529" cy="728341"/>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50000"/>
              </a:lnSpc>
            </a:pPr>
            <a:r>
              <a:rPr lang="en-US" sz="3600" dirty="0">
                <a:cs typeface="Arial"/>
              </a:rPr>
              <a:t>Use this </a:t>
            </a:r>
            <a:r>
              <a:rPr lang="en-US" sz="3600" b="1" dirty="0">
                <a:cs typeface="Arial"/>
              </a:rPr>
              <a:t>bar model </a:t>
            </a:r>
            <a:r>
              <a:rPr lang="en-US" sz="3600" dirty="0">
                <a:cs typeface="Arial"/>
              </a:rPr>
              <a:t>to complete the number sentences</a:t>
            </a:r>
          </a:p>
        </p:txBody>
      </p:sp>
      <p:pic>
        <p:nvPicPr>
          <p:cNvPr id="10" name="Picture 9" descr="A bar model showing 17 + 54 = 60.">
            <a:extLst>
              <a:ext uri="{FF2B5EF4-FFF2-40B4-BE49-F238E27FC236}">
                <a16:creationId xmlns:a16="http://schemas.microsoft.com/office/drawing/2014/main" id="{5F9178A2-B61E-8416-2441-725853B15532}"/>
              </a:ext>
            </a:extLst>
          </p:cNvPr>
          <p:cNvPicPr>
            <a:picLocks noChangeAspect="1"/>
          </p:cNvPicPr>
          <p:nvPr/>
        </p:nvPicPr>
        <p:blipFill>
          <a:blip r:embed="rId4"/>
          <a:stretch>
            <a:fillRect/>
          </a:stretch>
        </p:blipFill>
        <p:spPr>
          <a:xfrm>
            <a:off x="447722" y="3429000"/>
            <a:ext cx="5796917" cy="2082595"/>
          </a:xfrm>
          <a:prstGeom prst="rect">
            <a:avLst/>
          </a:prstGeom>
        </p:spPr>
      </p:pic>
      <p:sp>
        <p:nvSpPr>
          <p:cNvPr id="5" name="TextBox 4">
            <a:extLst>
              <a:ext uri="{FF2B5EF4-FFF2-40B4-BE49-F238E27FC236}">
                <a16:creationId xmlns:a16="http://schemas.microsoft.com/office/drawing/2014/main" id="{7406DA1F-9D82-4D26-AD43-1605652B5ED6}"/>
              </a:ext>
            </a:extLst>
          </p:cNvPr>
          <p:cNvSpPr txBox="1"/>
          <p:nvPr/>
        </p:nvSpPr>
        <p:spPr>
          <a:xfrm>
            <a:off x="6721186" y="1644511"/>
            <a:ext cx="5224790" cy="472815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200000"/>
              </a:lnSpc>
            </a:pPr>
            <a:r>
              <a:rPr lang="en-US" sz="5400" dirty="0">
                <a:cs typeface="Arial"/>
              </a:rPr>
              <a:t>70 – 17 =          </a:t>
            </a:r>
          </a:p>
          <a:p>
            <a:pPr>
              <a:lnSpc>
                <a:spcPct val="200000"/>
              </a:lnSpc>
            </a:pPr>
            <a:r>
              <a:rPr lang="en-US" sz="5400" dirty="0">
                <a:cs typeface="Arial"/>
              </a:rPr>
              <a:t>70 – 54 =</a:t>
            </a:r>
          </a:p>
          <a:p>
            <a:pPr>
              <a:lnSpc>
                <a:spcPct val="200000"/>
              </a:lnSpc>
            </a:pPr>
            <a:r>
              <a:rPr lang="en-US" sz="5400" dirty="0">
                <a:cs typeface="Arial"/>
              </a:rPr>
              <a:t>70 = ___ + ___</a:t>
            </a:r>
          </a:p>
        </p:txBody>
      </p:sp>
      <p:sp>
        <p:nvSpPr>
          <p:cNvPr id="2" name="Slide Number Placeholder 1">
            <a:extLst>
              <a:ext uri="{FF2B5EF4-FFF2-40B4-BE49-F238E27FC236}">
                <a16:creationId xmlns:a16="http://schemas.microsoft.com/office/drawing/2014/main" id="{2E6FBF1D-90A0-E2F9-37E9-7676EDC470DA}"/>
              </a:ext>
              <a:ext uri="{C183D7F6-B498-43B3-948B-1728B52AA6E4}">
                <adec:decorative xmlns:adec="http://schemas.microsoft.com/office/drawing/2017/decorative" val="1"/>
              </a:ext>
            </a:extLst>
          </p:cNvPr>
          <p:cNvSpPr>
            <a:spLocks noGrp="1"/>
          </p:cNvSpPr>
          <p:nvPr>
            <p:ph type="sldNum" sz="quarter" idx="12"/>
          </p:nvPr>
        </p:nvSpPr>
        <p:spPr>
          <a:xfrm>
            <a:off x="11225976" y="6499277"/>
            <a:ext cx="720000" cy="180000"/>
          </a:xfrm>
        </p:spPr>
        <p:txBody>
          <a:bodyPr/>
          <a:lstStyle/>
          <a:p>
            <a:fld id="{10A01DC5-1685-4615-8240-15192985C6A2}" type="slidenum">
              <a:rPr lang="en-AU" smtClean="0"/>
              <a:t>56</a:t>
            </a:fld>
            <a:endParaRPr lang="en-AU"/>
          </a:p>
        </p:txBody>
      </p:sp>
    </p:spTree>
    <p:extLst>
      <p:ext uri="{BB962C8B-B14F-4D97-AF65-F5344CB8AC3E}">
        <p14:creationId xmlns:p14="http://schemas.microsoft.com/office/powerpoint/2010/main" val="1507145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3CCB-181C-6291-FC2D-548E34B4A09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E187202-6628-8726-E165-5E95BD2A2CDA}"/>
              </a:ext>
            </a:extLst>
          </p:cNvPr>
          <p:cNvSpPr>
            <a:spLocks noGrp="1"/>
          </p:cNvSpPr>
          <p:nvPr>
            <p:ph type="title"/>
          </p:nvPr>
        </p:nvSpPr>
        <p:spPr>
          <a:xfrm>
            <a:off x="360000" y="360000"/>
            <a:ext cx="10367268" cy="545601"/>
          </a:xfrm>
        </p:spPr>
        <p:txBody>
          <a:bodyPr/>
          <a:lstStyle/>
          <a:p>
            <a:r>
              <a:rPr lang="en-AU" dirty="0">
                <a:latin typeface="Arial"/>
                <a:cs typeface="Arial"/>
              </a:rPr>
              <a:t>Short response </a:t>
            </a:r>
            <a:r>
              <a:rPr lang="en-AU" dirty="0">
                <a:solidFill>
                  <a:schemeClr val="bg1"/>
                </a:solidFill>
                <a:latin typeface="Arial"/>
                <a:cs typeface="Arial"/>
              </a:rPr>
              <a:t>(30)</a:t>
            </a:r>
            <a:br>
              <a:rPr lang="en-AU" dirty="0">
                <a:solidFill>
                  <a:schemeClr val="bg1"/>
                </a:solidFill>
                <a:latin typeface="Arial"/>
                <a:cs typeface="Arial"/>
              </a:rPr>
            </a:br>
            <a:br>
              <a:rPr lang="en-AU" dirty="0">
                <a:solidFill>
                  <a:schemeClr val="bg1"/>
                </a:solidFill>
              </a:rPr>
            </a:br>
            <a:endParaRPr lang="en-AU" dirty="0">
              <a:solidFill>
                <a:schemeClr val="bg1"/>
              </a:solidFill>
            </a:endParaRPr>
          </a:p>
        </p:txBody>
      </p:sp>
      <p:pic>
        <p:nvPicPr>
          <p:cNvPr id="3" name="Picture 2" descr="image of a clipboard with a pencil recording short answer responses">
            <a:extLst>
              <a:ext uri="{FF2B5EF4-FFF2-40B4-BE49-F238E27FC236}">
                <a16:creationId xmlns:a16="http://schemas.microsoft.com/office/drawing/2014/main" id="{D48B7122-4823-634E-9085-7F5757ED1862}"/>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721F6AC-7871-D576-6F10-6FB969DD520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57</a:t>
            </a:fld>
            <a:endParaRPr lang="en-AU"/>
          </a:p>
        </p:txBody>
      </p:sp>
      <p:sp>
        <p:nvSpPr>
          <p:cNvPr id="9" name="TextBox 8">
            <a:extLst>
              <a:ext uri="{FF2B5EF4-FFF2-40B4-BE49-F238E27FC236}">
                <a16:creationId xmlns:a16="http://schemas.microsoft.com/office/drawing/2014/main" id="{54BCCFDF-0784-2D43-86B4-482DF4E09FC7}"/>
              </a:ext>
              <a:ext uri="{C183D7F6-B498-43B3-948B-1728B52AA6E4}">
                <adec:decorative xmlns:adec="http://schemas.microsoft.com/office/drawing/2017/decorative" val="0"/>
              </a:ext>
            </a:extLst>
          </p:cNvPr>
          <p:cNvSpPr txBox="1"/>
          <p:nvPr/>
        </p:nvSpPr>
        <p:spPr>
          <a:xfrm>
            <a:off x="930300" y="820602"/>
            <a:ext cx="10553700" cy="3302251"/>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lnSpc>
                <a:spcPct val="150000"/>
              </a:lnSpc>
            </a:pPr>
            <a:r>
              <a:rPr lang="en-US" sz="3600" b="1" dirty="0">
                <a:cs typeface="Arial"/>
              </a:rPr>
              <a:t>Compare</a:t>
            </a:r>
            <a:r>
              <a:rPr lang="en-US" sz="3600" dirty="0">
                <a:cs typeface="Arial"/>
              </a:rPr>
              <a:t> the column graph and tally table. </a:t>
            </a:r>
          </a:p>
          <a:p>
            <a:pPr algn="ctr">
              <a:lnSpc>
                <a:spcPct val="150000"/>
              </a:lnSpc>
            </a:pPr>
            <a:r>
              <a:rPr lang="en-US" sz="3600" dirty="0">
                <a:cs typeface="Arial"/>
              </a:rPr>
              <a:t>Which do you find </a:t>
            </a:r>
            <a:r>
              <a:rPr lang="en-US" sz="3600" b="1" dirty="0">
                <a:cs typeface="Arial"/>
              </a:rPr>
              <a:t>easier to understand</a:t>
            </a:r>
            <a:r>
              <a:rPr lang="en-US" sz="3600" dirty="0">
                <a:cs typeface="Arial"/>
              </a:rPr>
              <a:t>?</a:t>
            </a:r>
          </a:p>
          <a:p>
            <a:pPr algn="ctr">
              <a:lnSpc>
                <a:spcPct val="150000"/>
              </a:lnSpc>
            </a:pPr>
            <a:r>
              <a:rPr lang="en-US" sz="3600" b="1" dirty="0">
                <a:cs typeface="Arial"/>
              </a:rPr>
              <a:t>Communicate</a:t>
            </a:r>
            <a:r>
              <a:rPr lang="en-US" sz="3600" dirty="0">
                <a:cs typeface="Arial"/>
              </a:rPr>
              <a:t> your </a:t>
            </a:r>
            <a:r>
              <a:rPr lang="en-US" sz="3600" b="1" dirty="0">
                <a:cs typeface="Arial"/>
              </a:rPr>
              <a:t>reasoning</a:t>
            </a:r>
            <a:r>
              <a:rPr lang="en-US" sz="3600" dirty="0">
                <a:cs typeface="Arial"/>
              </a:rPr>
              <a:t>.</a:t>
            </a:r>
            <a:endParaRPr lang="en-US" sz="3600" dirty="0"/>
          </a:p>
          <a:p>
            <a:pPr algn="ctr">
              <a:lnSpc>
                <a:spcPct val="150000"/>
              </a:lnSpc>
            </a:pPr>
            <a:r>
              <a:rPr lang="en-US" sz="4000" dirty="0">
                <a:cs typeface="Arial"/>
              </a:rPr>
              <a:t> </a:t>
            </a:r>
          </a:p>
        </p:txBody>
      </p:sp>
      <p:pic>
        <p:nvPicPr>
          <p:cNvPr id="5" name="Picture 4" descr="Column graph showing how students travel to school most days. Car is 12 students, bike is 3, walk is 4, public transport is 8, scooter is 3.">
            <a:extLst>
              <a:ext uri="{FF2B5EF4-FFF2-40B4-BE49-F238E27FC236}">
                <a16:creationId xmlns:a16="http://schemas.microsoft.com/office/drawing/2014/main" id="{BC835C12-FEA2-D4E1-92AA-BD85548ECC84}"/>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375949" y="3505282"/>
            <a:ext cx="5167685" cy="3100718"/>
          </a:xfrm>
          <a:prstGeom prst="rect">
            <a:avLst/>
          </a:prstGeom>
          <a:ln>
            <a:noFill/>
          </a:ln>
          <a:effectLst>
            <a:outerShdw blurRad="292100" dist="139700" dir="2700000" algn="tl" rotWithShape="0">
              <a:srgbClr val="333333">
                <a:alpha val="65000"/>
              </a:srgbClr>
            </a:outerShdw>
          </a:effectLst>
        </p:spPr>
      </p:pic>
      <p:pic>
        <p:nvPicPr>
          <p:cNvPr id="7" name="Picture 6" descr="A tally table with the title: 'How do students travel to school most days?' The table shows the mode of transport, tally marks and a numeral for the frequency. Car is 12, bike is 3, walk is 4, public transport is 8 and scooter is 3.">
            <a:extLst>
              <a:ext uri="{FF2B5EF4-FFF2-40B4-BE49-F238E27FC236}">
                <a16:creationId xmlns:a16="http://schemas.microsoft.com/office/drawing/2014/main" id="{E11DDED9-84EF-0CFC-7859-B48411A4BA27}"/>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6207150" y="3526103"/>
            <a:ext cx="5569239" cy="307989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490087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5ABA3-4748-8E7D-DDC9-C9DF4C47111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47F77AF-C187-96CF-9F9A-FA65AF1CE19E}"/>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(31)</a:t>
            </a:r>
          </a:p>
        </p:txBody>
      </p:sp>
      <p:pic>
        <p:nvPicPr>
          <p:cNvPr id="3" name="Picture 2" descr="image of a clipboard with a pencil recording short answer responses">
            <a:extLst>
              <a:ext uri="{FF2B5EF4-FFF2-40B4-BE49-F238E27FC236}">
                <a16:creationId xmlns:a16="http://schemas.microsoft.com/office/drawing/2014/main" id="{77944112-784D-22C3-1462-ED0056915B9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B7478634-1FD3-F6F8-9B44-323C87C83B4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58</a:t>
            </a:fld>
            <a:endParaRPr lang="en-AU"/>
          </a:p>
        </p:txBody>
      </p:sp>
      <p:sp>
        <p:nvSpPr>
          <p:cNvPr id="20" name="TextBox 19">
            <a:extLst>
              <a:ext uri="{FF2B5EF4-FFF2-40B4-BE49-F238E27FC236}">
                <a16:creationId xmlns:a16="http://schemas.microsoft.com/office/drawing/2014/main" id="{D318BEA3-2BCA-F375-9DC9-701E960F90C1}"/>
              </a:ext>
            </a:extLst>
          </p:cNvPr>
          <p:cNvSpPr txBox="1"/>
          <p:nvPr/>
        </p:nvSpPr>
        <p:spPr>
          <a:xfrm>
            <a:off x="1998059" y="1596495"/>
            <a:ext cx="8195879" cy="769441"/>
          </a:xfrm>
          <a:prstGeom prst="rect">
            <a:avLst/>
          </a:prstGeom>
          <a:noFill/>
        </p:spPr>
        <p:txBody>
          <a:bodyPr wrap="square">
            <a:spAutoFit/>
          </a:bodyPr>
          <a:lstStyle/>
          <a:p>
            <a:pPr algn="ctr"/>
            <a:r>
              <a:rPr lang="en-AU" sz="4400" dirty="0"/>
              <a:t>Record the </a:t>
            </a:r>
            <a:r>
              <a:rPr lang="en-AU" sz="4400" b="1" dirty="0"/>
              <a:t>missing fractions</a:t>
            </a:r>
            <a:r>
              <a:rPr lang="en-AU" sz="4400" dirty="0"/>
              <a:t>.</a:t>
            </a:r>
          </a:p>
        </p:txBody>
      </p:sp>
      <p:pic>
        <p:nvPicPr>
          <p:cNvPr id="5" name="Picture 4" descr="A number line from 0 to 2 with each whole split into quarters.&#10;&#10;From 0 to 2, the entire section is shaded purple and divided into 8equal parts (quarters). The first three tick marks are labelled 1/4, 2/4, 3/4, and 1 is marked at the next tick.&#10;Under the three tick marks between 1 and 2 are three empty boxes for the missing fraction labels.">
            <a:extLst>
              <a:ext uri="{FF2B5EF4-FFF2-40B4-BE49-F238E27FC236}">
                <a16:creationId xmlns:a16="http://schemas.microsoft.com/office/drawing/2014/main" id="{C6534D11-9238-603B-E53D-30D7B27DD02F}"/>
              </a:ext>
            </a:extLst>
          </p:cNvPr>
          <p:cNvPicPr>
            <a:picLocks noChangeAspect="1"/>
          </p:cNvPicPr>
          <p:nvPr/>
        </p:nvPicPr>
        <p:blipFill>
          <a:blip r:embed="rId4"/>
          <a:stretch>
            <a:fillRect/>
          </a:stretch>
        </p:blipFill>
        <p:spPr>
          <a:xfrm>
            <a:off x="521787" y="2679603"/>
            <a:ext cx="11148422" cy="2341016"/>
          </a:xfrm>
          <a:prstGeom prst="rect">
            <a:avLst/>
          </a:prstGeom>
        </p:spPr>
      </p:pic>
    </p:spTree>
    <p:extLst>
      <p:ext uri="{BB962C8B-B14F-4D97-AF65-F5344CB8AC3E}">
        <p14:creationId xmlns:p14="http://schemas.microsoft.com/office/powerpoint/2010/main" val="289845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57432-9B72-74D4-70AE-7786B368DBE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E62588C-05BB-B2C0-C849-14E973555613}"/>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(32)</a:t>
            </a:r>
          </a:p>
        </p:txBody>
      </p:sp>
      <p:pic>
        <p:nvPicPr>
          <p:cNvPr id="3" name="Picture 2" descr="image of a clipboard with a pencil recording short answer responses">
            <a:extLst>
              <a:ext uri="{FF2B5EF4-FFF2-40B4-BE49-F238E27FC236}">
                <a16:creationId xmlns:a16="http://schemas.microsoft.com/office/drawing/2014/main" id="{850D1A9D-F8AF-AA84-34F9-CCDC3026C74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0CDA8BC4-AEAB-FF2A-DCCC-487AC0BDC1A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59</a:t>
            </a:fld>
            <a:endParaRPr lang="en-AU"/>
          </a:p>
        </p:txBody>
      </p:sp>
      <p:sp>
        <p:nvSpPr>
          <p:cNvPr id="15" name="TextBox 14">
            <a:extLst>
              <a:ext uri="{FF2B5EF4-FFF2-40B4-BE49-F238E27FC236}">
                <a16:creationId xmlns:a16="http://schemas.microsoft.com/office/drawing/2014/main" id="{8F7BF978-4E3B-757C-7021-7A7EB02EC66F}"/>
              </a:ext>
            </a:extLst>
          </p:cNvPr>
          <p:cNvSpPr txBox="1"/>
          <p:nvPr/>
        </p:nvSpPr>
        <p:spPr>
          <a:xfrm>
            <a:off x="491500" y="828033"/>
            <a:ext cx="11209000" cy="1998176"/>
          </a:xfrm>
          <a:prstGeom prst="rect">
            <a:avLst/>
          </a:prstGeom>
          <a:noFill/>
        </p:spPr>
        <p:txBody>
          <a:bodyPr wrap="square">
            <a:spAutoFit/>
          </a:bodyPr>
          <a:lstStyle/>
          <a:p>
            <a:pPr algn="ctr">
              <a:lnSpc>
                <a:spcPct val="150000"/>
              </a:lnSpc>
            </a:pPr>
            <a:r>
              <a:rPr lang="en-AU" sz="4400" dirty="0"/>
              <a:t>Use the blue square to </a:t>
            </a:r>
            <a:r>
              <a:rPr lang="en-AU" sz="4400" b="1" dirty="0"/>
              <a:t>calculate the area </a:t>
            </a:r>
            <a:r>
              <a:rPr lang="en-AU" sz="4400" dirty="0"/>
              <a:t>of the larger white rectangle.</a:t>
            </a:r>
          </a:p>
        </p:txBody>
      </p:sp>
      <p:pic>
        <p:nvPicPr>
          <p:cNvPr id="5" name="Picture 4" descr="A large rectangle is outlined in black. Two blue squares have been placed inside the rectangle.">
            <a:extLst>
              <a:ext uri="{FF2B5EF4-FFF2-40B4-BE49-F238E27FC236}">
                <a16:creationId xmlns:a16="http://schemas.microsoft.com/office/drawing/2014/main" id="{F5EFA337-FEC8-65F1-9B58-2E639C3CFDE1}"/>
              </a:ext>
            </a:extLst>
          </p:cNvPr>
          <p:cNvPicPr>
            <a:picLocks noChangeAspect="1"/>
          </p:cNvPicPr>
          <p:nvPr/>
        </p:nvPicPr>
        <p:blipFill>
          <a:blip r:embed="rId4"/>
          <a:stretch>
            <a:fillRect/>
          </a:stretch>
        </p:blipFill>
        <p:spPr>
          <a:xfrm>
            <a:off x="2747306" y="2781090"/>
            <a:ext cx="6382078" cy="4076910"/>
          </a:xfrm>
          <a:prstGeom prst="rect">
            <a:avLst/>
          </a:prstGeom>
        </p:spPr>
      </p:pic>
    </p:spTree>
    <p:extLst>
      <p:ext uri="{BB962C8B-B14F-4D97-AF65-F5344CB8AC3E}">
        <p14:creationId xmlns:p14="http://schemas.microsoft.com/office/powerpoint/2010/main" val="379023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C354E-6F66-3F0A-34EA-C1D6B7F7C3F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B1EB96-2EB7-2FE9-A90B-2CE5990B0C1D}"/>
              </a:ext>
            </a:extLst>
          </p:cNvPr>
          <p:cNvSpPr>
            <a:spLocks noGrp="1"/>
          </p:cNvSpPr>
          <p:nvPr>
            <p:ph type="title"/>
          </p:nvPr>
        </p:nvSpPr>
        <p:spPr>
          <a:xfrm>
            <a:off x="360000" y="360000"/>
            <a:ext cx="10367268" cy="545601"/>
          </a:xfrm>
        </p:spPr>
        <p:txBody>
          <a:bodyPr/>
          <a:lstStyle/>
          <a:p>
            <a:r>
              <a:rPr lang="en-AU">
                <a:latin typeface="Arial"/>
                <a:cs typeface="Arial"/>
              </a:rPr>
              <a:t>Activity 8 – use addition and subtraction </a:t>
            </a:r>
            <a:r>
              <a:rPr lang="en-AU">
                <a:solidFill>
                  <a:schemeClr val="bg1"/>
                </a:solidFill>
                <a:latin typeface="Arial"/>
                <a:cs typeface="Arial"/>
              </a:rPr>
              <a:t>2</a:t>
            </a:r>
            <a:endParaRPr lang="en-US">
              <a:solidFill>
                <a:schemeClr val="bg1"/>
              </a:solidFill>
              <a:latin typeface="Arial"/>
              <a:cs typeface="Arial"/>
            </a:endParaRPr>
          </a:p>
          <a:p>
            <a:endParaRPr lang="en-AU">
              <a:latin typeface="Arial"/>
              <a:cs typeface="Arial"/>
            </a:endParaRPr>
          </a:p>
        </p:txBody>
      </p:sp>
      <p:pic>
        <p:nvPicPr>
          <p:cNvPr id="4" name="Picture 3" descr="image of a head with cogs turning inside">
            <a:extLst>
              <a:ext uri="{FF2B5EF4-FFF2-40B4-BE49-F238E27FC236}">
                <a16:creationId xmlns:a16="http://schemas.microsoft.com/office/drawing/2014/main" id="{2307795C-5521-91B9-C866-EC547ED62852}"/>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6A9323DD-7508-20BE-AA13-86EA01A4DD4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60</a:t>
            </a:fld>
            <a:endParaRPr lang="en-AU"/>
          </a:p>
        </p:txBody>
      </p:sp>
      <p:sp>
        <p:nvSpPr>
          <p:cNvPr id="5" name="TextBox 4">
            <a:extLst>
              <a:ext uri="{FF2B5EF4-FFF2-40B4-BE49-F238E27FC236}">
                <a16:creationId xmlns:a16="http://schemas.microsoft.com/office/drawing/2014/main" id="{42983B6B-7497-91B7-4BA7-4B37661E6317}"/>
              </a:ext>
            </a:extLst>
          </p:cNvPr>
          <p:cNvSpPr txBox="1"/>
          <p:nvPr/>
        </p:nvSpPr>
        <p:spPr>
          <a:xfrm>
            <a:off x="3621087" y="1913303"/>
            <a:ext cx="4949825" cy="67710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4400">
                <a:cs typeface="Arial"/>
              </a:rPr>
              <a:t>Target Number: 35</a:t>
            </a:r>
          </a:p>
        </p:txBody>
      </p:sp>
      <p:sp>
        <p:nvSpPr>
          <p:cNvPr id="8" name="TextBox 7">
            <a:extLst>
              <a:ext uri="{FF2B5EF4-FFF2-40B4-BE49-F238E27FC236}">
                <a16:creationId xmlns:a16="http://schemas.microsoft.com/office/drawing/2014/main" id="{38ABF2A7-D127-5968-86C0-8235466900BA}"/>
              </a:ext>
            </a:extLst>
          </p:cNvPr>
          <p:cNvSpPr txBox="1"/>
          <p:nvPr/>
        </p:nvSpPr>
        <p:spPr>
          <a:xfrm>
            <a:off x="957294" y="3300714"/>
            <a:ext cx="4949825" cy="67710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AU" sz="4400">
                <a:solidFill>
                  <a:srgbClr val="000000"/>
                </a:solidFill>
                <a:cs typeface="Arial"/>
              </a:rPr>
              <a:t>32 + 7 − 4 = 35</a:t>
            </a:r>
            <a:endParaRPr lang="en-US" sz="4400"/>
          </a:p>
        </p:txBody>
      </p:sp>
      <p:sp>
        <p:nvSpPr>
          <p:cNvPr id="9" name="TextBox 8">
            <a:extLst>
              <a:ext uri="{FF2B5EF4-FFF2-40B4-BE49-F238E27FC236}">
                <a16:creationId xmlns:a16="http://schemas.microsoft.com/office/drawing/2014/main" id="{4F0944C7-574D-C205-3EE1-378CF8B88605}"/>
              </a:ext>
            </a:extLst>
          </p:cNvPr>
          <p:cNvSpPr txBox="1"/>
          <p:nvPr/>
        </p:nvSpPr>
        <p:spPr>
          <a:xfrm>
            <a:off x="6284883" y="3300714"/>
            <a:ext cx="4949825" cy="67710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4400">
                <a:cs typeface="Arial"/>
              </a:rPr>
              <a:t>30 + 20 – 15 = 35</a:t>
            </a:r>
            <a:endParaRPr lang="en-US" sz="4400"/>
          </a:p>
        </p:txBody>
      </p:sp>
      <p:sp>
        <p:nvSpPr>
          <p:cNvPr id="10" name="TextBox 9">
            <a:extLst>
              <a:ext uri="{FF2B5EF4-FFF2-40B4-BE49-F238E27FC236}">
                <a16:creationId xmlns:a16="http://schemas.microsoft.com/office/drawing/2014/main" id="{323E979F-E3AF-1DAB-36BC-6ED31DB9850E}"/>
              </a:ext>
            </a:extLst>
          </p:cNvPr>
          <p:cNvSpPr txBox="1"/>
          <p:nvPr/>
        </p:nvSpPr>
        <p:spPr>
          <a:xfrm>
            <a:off x="930257" y="4759236"/>
            <a:ext cx="4949825" cy="67710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4400">
                <a:cs typeface="Arial"/>
              </a:rPr>
              <a:t>60</a:t>
            </a:r>
            <a:r>
              <a:rPr lang="en-AU" sz="4400">
                <a:solidFill>
                  <a:srgbClr val="000000"/>
                </a:solidFill>
                <a:cs typeface="Arial"/>
              </a:rPr>
              <a:t>−</a:t>
            </a:r>
            <a:r>
              <a:rPr lang="en-US" sz="4400">
                <a:cs typeface="Arial"/>
              </a:rPr>
              <a:t> 30 + 5 = 35</a:t>
            </a:r>
            <a:endParaRPr lang="en-US" sz="4400"/>
          </a:p>
        </p:txBody>
      </p:sp>
      <p:sp>
        <p:nvSpPr>
          <p:cNvPr id="12" name="TextBox 11">
            <a:extLst>
              <a:ext uri="{FF2B5EF4-FFF2-40B4-BE49-F238E27FC236}">
                <a16:creationId xmlns:a16="http://schemas.microsoft.com/office/drawing/2014/main" id="{9230C520-AF29-6EAE-E473-4CE6AAC65C66}"/>
              </a:ext>
            </a:extLst>
          </p:cNvPr>
          <p:cNvSpPr txBox="1"/>
          <p:nvPr/>
        </p:nvSpPr>
        <p:spPr>
          <a:xfrm>
            <a:off x="6174175" y="4759236"/>
            <a:ext cx="4949825" cy="677108"/>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4400">
                <a:cs typeface="Arial"/>
              </a:rPr>
              <a:t>27 + 22 – 2 = 35</a:t>
            </a:r>
            <a:endParaRPr lang="en-US" sz="4400"/>
          </a:p>
        </p:txBody>
      </p:sp>
    </p:spTree>
    <p:extLst>
      <p:ext uri="{BB962C8B-B14F-4D97-AF65-F5344CB8AC3E}">
        <p14:creationId xmlns:p14="http://schemas.microsoft.com/office/powerpoint/2010/main" val="3281973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61</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62</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 uri="{C183D7F6-B498-43B3-948B-1728B52AA6E4}">
                <adec:decorative xmlns:adec="http://schemas.microsoft.com/office/drawing/2017/decorative" val="1"/>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 uri="{C183D7F6-B498-43B3-948B-1728B52AA6E4}">
                <adec:decorative xmlns:adec="http://schemas.microsoft.com/office/drawing/2017/decorative" val="1"/>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 uri="{C183D7F6-B498-43B3-948B-1728B52AA6E4}">
                <adec:decorative xmlns:adec="http://schemas.microsoft.com/office/drawing/2017/decorative" val="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 uri="{C183D7F6-B498-43B3-948B-1728B52AA6E4}">
                <adec:decorative xmlns:adec="http://schemas.microsoft.com/office/drawing/2017/decorative" val="1"/>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 uri="{C183D7F6-B498-43B3-948B-1728B52AA6E4}">
                <adec:decorative xmlns:adec="http://schemas.microsoft.com/office/drawing/2017/decorative" val="1"/>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 uri="{C183D7F6-B498-43B3-948B-1728B52AA6E4}">
                <adec:decorative xmlns:adec="http://schemas.microsoft.com/office/drawing/2017/decorative" val="1"/>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 uri="{C183D7F6-B498-43B3-948B-1728B52AA6E4}">
                <adec:decorative xmlns:adec="http://schemas.microsoft.com/office/drawing/2017/decorative" val="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63</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65</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a:t>Multiple choice </a:t>
            </a:r>
            <a:r>
              <a:rPr lang="en-US">
                <a:solidFill>
                  <a:schemeClr val="bg1"/>
                </a:solidFill>
              </a:rPr>
              <a:t>(5)</a:t>
            </a:r>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p:txBody>
          <a:bodyPr/>
          <a:lstStyle/>
          <a:p>
            <a:endParaRPr lang="en-US"/>
          </a:p>
        </p:txBody>
      </p:sp>
      <p:sp>
        <p:nvSpPr>
          <p:cNvPr id="14" name="Picture Placeholder 13">
            <a:extLst>
              <a:ext uri="{FF2B5EF4-FFF2-40B4-BE49-F238E27FC236}">
                <a16:creationId xmlns:a16="http://schemas.microsoft.com/office/drawing/2014/main" id="{4FA186F1-8869-12E5-B876-921846416E5E}"/>
              </a:ext>
            </a:extLst>
          </p:cNvPr>
          <p:cNvSpPr>
            <a:spLocks noGrp="1"/>
          </p:cNvSpPr>
          <p:nvPr>
            <p:ph type="pic" sz="quarter" idx="20"/>
          </p:nvPr>
        </p:nvSpPr>
        <p:spPr/>
        <p:txBody>
          <a:bodyPr/>
          <a:lstStyle/>
          <a:p>
            <a:endParaRPr lang="en-AU"/>
          </a:p>
        </p:txBody>
      </p:sp>
      <p:sp>
        <p:nvSpPr>
          <p:cNvPr id="15" name="Picture Placeholder 14">
            <a:extLst>
              <a:ext uri="{FF2B5EF4-FFF2-40B4-BE49-F238E27FC236}">
                <a16:creationId xmlns:a16="http://schemas.microsoft.com/office/drawing/2014/main" id="{DB800E16-CD9D-162D-C6C8-704C32626305}"/>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63A3BB78-AEDF-9AFC-ED52-CA2DCA61D2C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288C0556-FCBE-941B-2BA2-8C65E6E874CA}"/>
              </a:ext>
            </a:extLst>
          </p:cNvPr>
          <p:cNvSpPr>
            <a:spLocks noGrp="1"/>
          </p:cNvSpPr>
          <p:nvPr>
            <p:ph type="pic" sz="quarter" idx="23"/>
          </p:nvPr>
        </p:nvSpPr>
        <p:spPr/>
        <p:txBody>
          <a:bodyPr/>
          <a:lstStyle/>
          <a:p>
            <a:endParaRPr lang="en-AU"/>
          </a:p>
        </p:txBody>
      </p:sp>
      <p:sp>
        <p:nvSpPr>
          <p:cNvPr id="9" name="TextBox 8">
            <a:extLst>
              <a:ext uri="{FF2B5EF4-FFF2-40B4-BE49-F238E27FC236}">
                <a16:creationId xmlns:a16="http://schemas.microsoft.com/office/drawing/2014/main" id="{40925CB5-DA36-8590-C133-CAA805E3F6B0}"/>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4FA85E5F-0765-ABDF-E173-0F271C718E84}"/>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2" name="TextBox 11">
            <a:extLst>
              <a:ext uri="{FF2B5EF4-FFF2-40B4-BE49-F238E27FC236}">
                <a16:creationId xmlns:a16="http://schemas.microsoft.com/office/drawing/2014/main" id="{3BF7E817-ED87-F068-6991-9872B9D8A1D9}"/>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1" name="TextBox 10">
            <a:extLst>
              <a:ext uri="{FF2B5EF4-FFF2-40B4-BE49-F238E27FC236}">
                <a16:creationId xmlns:a16="http://schemas.microsoft.com/office/drawing/2014/main" id="{5B5ACF4E-5C00-647E-137E-A741C1139CAB}"/>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2" name="Slide Number Placeholder 1">
            <a:extLst>
              <a:ext uri="{FF2B5EF4-FFF2-40B4-BE49-F238E27FC236}">
                <a16:creationId xmlns:a16="http://schemas.microsoft.com/office/drawing/2014/main" id="{F98F811F-90F9-6EF5-D718-C527F19B166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66</a:t>
            </a:fld>
            <a:endParaRPr lang="en-AU"/>
          </a:p>
        </p:txBody>
      </p:sp>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67FB7-077E-9817-222C-C491743F1BB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AFF2460-C5D0-2862-886A-4AE61BB449C5}"/>
              </a:ext>
            </a:extLst>
          </p:cNvPr>
          <p:cNvSpPr>
            <a:spLocks noGrp="1"/>
          </p:cNvSpPr>
          <p:nvPr>
            <p:ph type="title"/>
          </p:nvPr>
        </p:nvSpPr>
        <p:spPr>
          <a:xfrm>
            <a:off x="360000" y="360000"/>
            <a:ext cx="9901600" cy="545601"/>
          </a:xfrm>
        </p:spPr>
        <p:txBody>
          <a:bodyPr/>
          <a:lstStyle/>
          <a:p>
            <a:r>
              <a:rPr lang="en-US"/>
              <a:t>Multiple choice</a:t>
            </a:r>
          </a:p>
        </p:txBody>
      </p:sp>
      <p:sp>
        <p:nvSpPr>
          <p:cNvPr id="15" name="Text Placeholder">
            <a:extLst>
              <a:ext uri="{FF2B5EF4-FFF2-40B4-BE49-F238E27FC236}">
                <a16:creationId xmlns:a16="http://schemas.microsoft.com/office/drawing/2014/main" id="{9AFD0C7D-4BC3-F5D7-6E6F-E02C54AE828C}"/>
              </a:ext>
            </a:extLst>
          </p:cNvPr>
          <p:cNvSpPr>
            <a:spLocks noGrp="1"/>
          </p:cNvSpPr>
          <p:nvPr>
            <p:ph type="body" sz="quarter" idx="28"/>
          </p:nvPr>
        </p:nvSpPr>
        <p:spPr>
          <a:xfrm>
            <a:off x="360000" y="1625945"/>
            <a:ext cx="11243037" cy="754243"/>
          </a:xfrm>
        </p:spPr>
        <p:txBody>
          <a:bodyPr/>
          <a:lstStyle/>
          <a:p>
            <a:endParaRPr lang="en-US" sz="4400"/>
          </a:p>
        </p:txBody>
      </p:sp>
      <p:sp>
        <p:nvSpPr>
          <p:cNvPr id="9" name="B">
            <a:extLst>
              <a:ext uri="{FF2B5EF4-FFF2-40B4-BE49-F238E27FC236}">
                <a16:creationId xmlns:a16="http://schemas.microsoft.com/office/drawing/2014/main" id="{6EDEB802-9453-BBD6-61D7-1C8547099897}"/>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9842AE09-A311-D180-EF42-5A5DF38FC7EF}"/>
              </a:ext>
            </a:extLst>
          </p:cNvPr>
          <p:cNvSpPr>
            <a:spLocks noGrp="1"/>
          </p:cNvSpPr>
          <p:nvPr>
            <p:ph type="body" sz="quarter" idx="31"/>
          </p:nvPr>
        </p:nvSpPr>
        <p:spPr>
          <a:xfrm>
            <a:off x="1345520" y="2877704"/>
            <a:ext cx="10175920" cy="641396"/>
          </a:xfrm>
        </p:spPr>
        <p:txBody>
          <a:bodyPr anchor="ctr"/>
          <a:lstStyle/>
          <a:p>
            <a:endParaRPr lang="en-US" sz="3600"/>
          </a:p>
        </p:txBody>
      </p:sp>
      <p:sp>
        <p:nvSpPr>
          <p:cNvPr id="10" name="B">
            <a:extLst>
              <a:ext uri="{FF2B5EF4-FFF2-40B4-BE49-F238E27FC236}">
                <a16:creationId xmlns:a16="http://schemas.microsoft.com/office/drawing/2014/main" id="{5C366AA5-6710-9853-36A4-DCF9575BE827}"/>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B946AB2F-2F28-4B67-899F-3E82C2644BCC}"/>
              </a:ext>
            </a:extLst>
          </p:cNvPr>
          <p:cNvSpPr>
            <a:spLocks noGrp="1"/>
          </p:cNvSpPr>
          <p:nvPr>
            <p:ph type="body" sz="quarter" idx="30"/>
          </p:nvPr>
        </p:nvSpPr>
        <p:spPr>
          <a:xfrm>
            <a:off x="1345520" y="3725617"/>
            <a:ext cx="10175920" cy="641396"/>
          </a:xfrm>
        </p:spPr>
        <p:txBody>
          <a:bodyPr anchor="ctr"/>
          <a:lstStyle/>
          <a:p>
            <a:endParaRPr lang="en-US" sz="3600"/>
          </a:p>
        </p:txBody>
      </p:sp>
      <p:sp>
        <p:nvSpPr>
          <p:cNvPr id="12" name="C">
            <a:extLst>
              <a:ext uri="{FF2B5EF4-FFF2-40B4-BE49-F238E27FC236}">
                <a16:creationId xmlns:a16="http://schemas.microsoft.com/office/drawing/2014/main" id="{85EA16B2-5FDB-B35B-F0F0-4FE67038EBC7}"/>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CC7DD452-5939-2700-0862-807EA7D9A76B}"/>
              </a:ext>
            </a:extLst>
          </p:cNvPr>
          <p:cNvSpPr>
            <a:spLocks noGrp="1"/>
          </p:cNvSpPr>
          <p:nvPr>
            <p:ph type="body" sz="quarter" idx="29"/>
          </p:nvPr>
        </p:nvSpPr>
        <p:spPr>
          <a:xfrm>
            <a:off x="1345520" y="4575670"/>
            <a:ext cx="10175920" cy="641396"/>
          </a:xfrm>
        </p:spPr>
        <p:txBody>
          <a:bodyPr anchor="ctr"/>
          <a:lstStyle/>
          <a:p>
            <a:endParaRPr lang="en-US" sz="3600"/>
          </a:p>
        </p:txBody>
      </p:sp>
      <p:sp>
        <p:nvSpPr>
          <p:cNvPr id="11" name="D">
            <a:extLst>
              <a:ext uri="{FF2B5EF4-FFF2-40B4-BE49-F238E27FC236}">
                <a16:creationId xmlns:a16="http://schemas.microsoft.com/office/drawing/2014/main" id="{51C778A9-8573-7168-39A4-896AAAD13D54}"/>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3120B541-BF16-3C9E-4C42-0689302DA744}"/>
              </a:ext>
            </a:extLst>
          </p:cNvPr>
          <p:cNvSpPr>
            <a:spLocks noGrp="1"/>
          </p:cNvSpPr>
          <p:nvPr>
            <p:ph type="body" sz="quarter" idx="27"/>
          </p:nvPr>
        </p:nvSpPr>
        <p:spPr>
          <a:xfrm>
            <a:off x="1345520" y="5425723"/>
            <a:ext cx="10175920" cy="641396"/>
          </a:xfrm>
        </p:spPr>
        <p:txBody>
          <a:bodyPr anchor="ctr"/>
          <a:lstStyle/>
          <a:p>
            <a:endParaRPr lang="en-US" sz="3600"/>
          </a:p>
        </p:txBody>
      </p:sp>
      <p:sp>
        <p:nvSpPr>
          <p:cNvPr id="2" name="Slide Number Placeholder 1">
            <a:extLst>
              <a:ext uri="{FF2B5EF4-FFF2-40B4-BE49-F238E27FC236}">
                <a16:creationId xmlns:a16="http://schemas.microsoft.com/office/drawing/2014/main" id="{29D977CA-EA0D-DCAA-D403-DF8026DF353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67</a:t>
            </a:fld>
            <a:endParaRPr lang="en-AU"/>
          </a:p>
        </p:txBody>
      </p:sp>
    </p:spTree>
    <p:extLst>
      <p:ext uri="{BB962C8B-B14F-4D97-AF65-F5344CB8AC3E}">
        <p14:creationId xmlns:p14="http://schemas.microsoft.com/office/powerpoint/2010/main" val="41267755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latin typeface="+mj-lt"/>
              </a:rPr>
              <a:t>References</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p:txBody>
          <a:bodyPr/>
          <a:lstStyle/>
          <a:p>
            <a:pPr fontAlgn="base"/>
            <a:r>
              <a:rPr lang="en-AU" dirty="0"/>
              <a:t>Finkel D (2015) </a:t>
            </a:r>
            <a:r>
              <a:rPr lang="en-AU" u="sng" dirty="0">
                <a:hlinkClick r:id="rId6"/>
              </a:rPr>
              <a:t>‘Target Number’, </a:t>
            </a:r>
            <a:r>
              <a:rPr lang="en-AU" dirty="0"/>
              <a:t>Free Lessons, Math for Love website, accessed 12 August 2024.</a:t>
            </a:r>
            <a:r>
              <a:rPr lang="en-US" dirty="0"/>
              <a:t>​</a:t>
            </a:r>
          </a:p>
          <a:p>
            <a:pPr fontAlgn="base"/>
            <a:r>
              <a:rPr lang="en-AU" dirty="0"/>
              <a:t>Murphy SJ (n.d.) </a:t>
            </a:r>
            <a:r>
              <a:rPr lang="en-AU" u="sng" dirty="0">
                <a:hlinkClick r:id="rId7"/>
              </a:rPr>
              <a:t>Earth Day Hooray! </a:t>
            </a:r>
            <a:r>
              <a:rPr lang="en-AU" dirty="0"/>
              <a:t>(Adriani R </a:t>
            </a:r>
            <a:r>
              <a:rPr lang="en-AU" dirty="0" err="1"/>
              <a:t>illus</a:t>
            </a:r>
            <a:r>
              <a:rPr lang="en-AU" dirty="0"/>
              <a:t>), </a:t>
            </a:r>
            <a:r>
              <a:rPr lang="en-AU" dirty="0" err="1"/>
              <a:t>MathStart</a:t>
            </a:r>
            <a:r>
              <a:rPr lang="en-AU" dirty="0"/>
              <a:t> website, accessed 12 August 2024.</a:t>
            </a:r>
            <a:r>
              <a:rPr lang="en-US" dirty="0"/>
              <a:t>​</a:t>
            </a:r>
          </a:p>
          <a:p>
            <a:pPr fontAlgn="base"/>
            <a:r>
              <a:rPr lang="en-AU" dirty="0"/>
              <a:t>Primary Learning (2018) </a:t>
            </a:r>
            <a:r>
              <a:rPr lang="en-AU" u="sng" dirty="0">
                <a:hlinkClick r:id="rId8"/>
              </a:rPr>
              <a:t>Balancing Act – A dice game [PDF 250 KB</a:t>
            </a:r>
            <a:r>
              <a:rPr lang="en-AU" dirty="0"/>
              <a:t>], Primary Learning, accessed 12 August 2024.</a:t>
            </a:r>
            <a:r>
              <a:rPr lang="en-US" dirty="0"/>
              <a:t>​</a:t>
            </a:r>
          </a:p>
          <a:p>
            <a:pPr fontAlgn="base"/>
            <a:r>
              <a:rPr lang="en-AU" dirty="0"/>
              <a:t>State of New South Wales (Department of Education) (n.d.) </a:t>
            </a:r>
            <a:r>
              <a:rPr lang="en-AU" u="sng" dirty="0">
                <a:hlinkClick r:id="rId9"/>
              </a:rPr>
              <a:t>Chicken Scramble</a:t>
            </a:r>
            <a:r>
              <a:rPr lang="en-AU" dirty="0"/>
              <a:t> School Sport Unit, NSW Department of Education, accessed 12 August 2024</a:t>
            </a:r>
            <a:r>
              <a:rPr lang="en-US" dirty="0"/>
              <a:t>​</a:t>
            </a:r>
          </a:p>
          <a:p>
            <a:pPr fontAlgn="base"/>
            <a:r>
              <a:rPr lang="en-AU" dirty="0"/>
              <a:t>University of Cambridge (Faculty of Mathematics) (1997–2023) </a:t>
            </a:r>
            <a:r>
              <a:rPr lang="en-AU" u="sng" dirty="0">
                <a:hlinkClick r:id="rId10"/>
              </a:rPr>
              <a:t>True or False?, </a:t>
            </a:r>
            <a:r>
              <a:rPr lang="en-AU" dirty="0"/>
              <a:t>NRICH website, accessed 12 August 2024.</a:t>
            </a:r>
            <a:r>
              <a:rPr lang="en-US" dirty="0"/>
              <a:t>​</a:t>
            </a:r>
          </a:p>
          <a:p>
            <a:pPr fontAlgn="base"/>
            <a:r>
              <a:rPr lang="en-AU" dirty="0"/>
              <a:t>New Zealand Ministry of Education (2025) </a:t>
            </a:r>
            <a:r>
              <a:rPr lang="en-AU" u="sng" dirty="0">
                <a:hlinkClick r:id="rId11"/>
              </a:rPr>
              <a:t>‘Equality and equations’</a:t>
            </a:r>
            <a:r>
              <a:rPr lang="en-AU" dirty="0"/>
              <a:t>, </a:t>
            </a:r>
            <a:r>
              <a:rPr lang="en-AU" i="1" dirty="0"/>
              <a:t>Algebra</a:t>
            </a:r>
            <a:r>
              <a:rPr lang="en-AU" dirty="0"/>
              <a:t>, </a:t>
            </a:r>
            <a:r>
              <a:rPr lang="en-AU" dirty="0" err="1"/>
              <a:t>Tāhūrangi</a:t>
            </a:r>
            <a:r>
              <a:rPr lang="en-AU" dirty="0"/>
              <a:t> - New Zealand Curriculum website, accessed 13 September 2025.</a:t>
            </a:r>
          </a:p>
          <a:p>
            <a:pPr fontAlgn="base"/>
            <a:r>
              <a:rPr lang="en-AU" dirty="0"/>
              <a:t>Australian Institute of Family Studies (2021) </a:t>
            </a:r>
            <a:r>
              <a:rPr lang="en-AU" i="1" u="sng" dirty="0">
                <a:hlinkClick r:id="rId12"/>
              </a:rPr>
              <a:t>Too much time on screens? Screen time effects and guidelines for children and young people</a:t>
            </a:r>
            <a:r>
              <a:rPr lang="en-AU" dirty="0"/>
              <a:t>, Australian Institute of Family Studies website, accessed 10 August 2025.</a:t>
            </a:r>
          </a:p>
          <a:p>
            <a:pPr fontAlgn="base"/>
            <a:endParaRPr lang="en-AU" dirty="0"/>
          </a:p>
          <a:p>
            <a:pPr fontAlgn="base"/>
            <a:endParaRPr lang="en-US" dirty="0"/>
          </a:p>
          <a:p>
            <a:endParaRPr lang="en-AU" dirty="0"/>
          </a:p>
        </p:txBody>
      </p:sp>
      <p:sp>
        <p:nvSpPr>
          <p:cNvPr id="2" name="Slide Number Placeholder 1">
            <a:extLst>
              <a:ext uri="{FF2B5EF4-FFF2-40B4-BE49-F238E27FC236}">
                <a16:creationId xmlns:a16="http://schemas.microsoft.com/office/drawing/2014/main" id="{48223418-AC99-D403-B6BA-7F5E5111A87A}"/>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68</a:t>
            </a:fld>
            <a:endParaRPr lang="en-AU"/>
          </a:p>
        </p:txBody>
      </p:sp>
    </p:spTree>
    <p:extLst>
      <p:ext uri="{BB962C8B-B14F-4D97-AF65-F5344CB8AC3E}">
        <p14:creationId xmlns:p14="http://schemas.microsoft.com/office/powerpoint/2010/main" val="118101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Review of learning template" id="{8077A738-7D06-4B54-972E-94806C6B7F6D}" vid="{415614B2-02FF-41DC-B617-EAE1A180D5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9983aa10-8768-4afe-b503-cad2303d02b1">
      <Terms xmlns="http://schemas.microsoft.com/office/infopath/2007/PartnerControls"/>
    </lcf76f155ced4ddcb4097134ff3c332f>
    <TaxCatchAll xmlns="33c4fa9b-9104-422a-9d36-2aa3be9e17bc"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225CD7B5461E64DBD81A4688FEB92F3" ma:contentTypeVersion="12" ma:contentTypeDescription="Create a new document." ma:contentTypeScope="" ma:versionID="32399663726c23a2f642d658b0aca0e5">
  <xsd:schema xmlns:xsd="http://www.w3.org/2001/XMLSchema" xmlns:xs="http://www.w3.org/2001/XMLSchema" xmlns:p="http://schemas.microsoft.com/office/2006/metadata/properties" xmlns:ns2="9983aa10-8768-4afe-b503-cad2303d02b1" xmlns:ns3="33c4fa9b-9104-422a-9d36-2aa3be9e17bc" targetNamespace="http://schemas.microsoft.com/office/2006/metadata/properties" ma:root="true" ma:fieldsID="94f9f2d3303c22dd8eead538cc2519f2" ns2:_="" ns3:_="">
    <xsd:import namespace="9983aa10-8768-4afe-b503-cad2303d02b1"/>
    <xsd:import namespace="33c4fa9b-9104-422a-9d36-2aa3be9e17b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83aa10-8768-4afe-b503-cad2303d02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3c4fa9b-9104-422a-9d36-2aa3be9e17bc"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1e7c5dc-00dd-4604-80db-069fb80082d9}" ma:internalName="TaxCatchAll" ma:showField="CatchAllData" ma:web="33c4fa9b-9104-422a-9d36-2aa3be9e17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E555570-2BD4-426B-AA32-0A79CB6508A8}">
  <ds:schemaRefs>
    <ds:schemaRef ds:uri="http://www.w3.org/XML/1998/namespace"/>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60129b06-f64b-40a8-96e2-c5b2f86112b1"/>
    <ds:schemaRef ds:uri="http://schemas.microsoft.com/office/2006/metadata/properties"/>
    <ds:schemaRef ds:uri="7e763d47-3c66-4c58-9425-1477fd3ccd1e"/>
    <ds:schemaRef ds:uri="http://purl.org/dc/dcmitype/"/>
    <ds:schemaRef ds:uri="http://purl.org/dc/terms/"/>
  </ds:schemaRefs>
</ds:datastoreItem>
</file>

<file path=customXml/itemProps2.xml><?xml version="1.0" encoding="utf-8"?>
<ds:datastoreItem xmlns:ds="http://schemas.openxmlformats.org/officeDocument/2006/customXml" ds:itemID="{1BBF1075-4992-4DA3-A5BC-433A425AD955}">
  <ds:schemaRefs>
    <ds:schemaRef ds:uri="http://schemas.microsoft.com/sharepoint/v3/contenttype/forms"/>
  </ds:schemaRefs>
</ds:datastoreItem>
</file>

<file path=customXml/itemProps3.xml><?xml version="1.0" encoding="utf-8"?>
<ds:datastoreItem xmlns:ds="http://schemas.openxmlformats.org/officeDocument/2006/customXml" ds:itemID="{0A4617FE-2A7F-462C-82DD-58104C8FEA76}"/>
</file>

<file path=docProps/app.xml><?xml version="1.0" encoding="utf-8"?>
<Properties xmlns="http://schemas.openxmlformats.org/officeDocument/2006/extended-properties" xmlns:vt="http://schemas.openxmlformats.org/officeDocument/2006/docPropsVTypes">
  <Template>Review of learning template (1)</Template>
  <TotalTime>1866</TotalTime>
  <Words>6215</Words>
  <Application>Microsoft Office PowerPoint</Application>
  <PresentationFormat>Widescreen</PresentationFormat>
  <Paragraphs>865</Paragraphs>
  <Slides>69</Slides>
  <Notes>69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69</vt:i4>
      </vt:variant>
    </vt:vector>
  </HeadingPairs>
  <TitlesOfParts>
    <vt:vector size="78" baseType="lpstr">
      <vt:lpstr>Montserrat</vt:lpstr>
      <vt:lpstr>Calibri</vt:lpstr>
      <vt:lpstr>Arial</vt:lpstr>
      <vt:lpstr>Wingdings</vt:lpstr>
      <vt:lpstr>Edu NSW ACT Foundation</vt:lpstr>
      <vt:lpstr>Public Sans Light</vt:lpstr>
      <vt:lpstr>Public Sans</vt:lpstr>
      <vt:lpstr>Times New Roman</vt:lpstr>
      <vt:lpstr>NSWG Corporate</vt:lpstr>
      <vt:lpstr>Instructions for use</vt:lpstr>
      <vt:lpstr>Review of Learning</vt:lpstr>
      <vt:lpstr>Lessons</vt:lpstr>
      <vt:lpstr>Review of learning 1</vt:lpstr>
      <vt:lpstr>Multiple choice (1)</vt:lpstr>
      <vt:lpstr>Short response (1)</vt:lpstr>
      <vt:lpstr>Short response (2)  </vt:lpstr>
      <vt:lpstr>Short response (3)</vt:lpstr>
      <vt:lpstr>Short response (4)</vt:lpstr>
      <vt:lpstr>Activity 1 – equals sign means 'the same as'</vt:lpstr>
      <vt:lpstr>Review of learning 2</vt:lpstr>
      <vt:lpstr>True or false (1)</vt:lpstr>
      <vt:lpstr>Short response (5)</vt:lpstr>
      <vt:lpstr>Short response (6)</vt:lpstr>
      <vt:lpstr>Short response (7)</vt:lpstr>
      <vt:lpstr>Short response (8)</vt:lpstr>
      <vt:lpstr>Activity 2 – equivalent number sentences (1)</vt:lpstr>
      <vt:lpstr>Activity 2 – equivalent number sentences (2) </vt:lpstr>
      <vt:lpstr>Review of learning 3</vt:lpstr>
      <vt:lpstr>Multiple choice (2)</vt:lpstr>
      <vt:lpstr>Short response (9)</vt:lpstr>
      <vt:lpstr>Short response (10)</vt:lpstr>
      <vt:lpstr>Short response (11)</vt:lpstr>
      <vt:lpstr>Short response (12)</vt:lpstr>
      <vt:lpstr>Activity 3 – recognising equal value </vt:lpstr>
      <vt:lpstr>Review of learning 4</vt:lpstr>
      <vt:lpstr>True or false (2)</vt:lpstr>
      <vt:lpstr>Short response (13)</vt:lpstr>
      <vt:lpstr>Short response (14)</vt:lpstr>
      <vt:lpstr>Short response (15)</vt:lpstr>
      <vt:lpstr>Short response (16)</vt:lpstr>
      <vt:lpstr>Activity 4 – non-stop equivalence</vt:lpstr>
      <vt:lpstr>Review of learning 5</vt:lpstr>
      <vt:lpstr>Multiple choice (3)</vt:lpstr>
      <vt:lpstr>Short response (17)</vt:lpstr>
      <vt:lpstr>Short response (18)</vt:lpstr>
      <vt:lpstr>Short response (19)</vt:lpstr>
      <vt:lpstr>Short response (20)</vt:lpstr>
      <vt:lpstr>Activity 5 – use addition and subtraction 1</vt:lpstr>
      <vt:lpstr>Review of learning 6</vt:lpstr>
      <vt:lpstr>True or false (3)</vt:lpstr>
      <vt:lpstr>Short response (21)</vt:lpstr>
      <vt:lpstr>Short response (22)</vt:lpstr>
      <vt:lpstr>Short response (23)</vt:lpstr>
      <vt:lpstr>Short response (24)</vt:lpstr>
      <vt:lpstr>Activity 6 – related addition and subtraction facts</vt:lpstr>
      <vt:lpstr>Review of learning 7</vt:lpstr>
      <vt:lpstr>Multiple choice (4)</vt:lpstr>
      <vt:lpstr>Short response (25)</vt:lpstr>
      <vt:lpstr>Short response (26)</vt:lpstr>
      <vt:lpstr>Short response (27)</vt:lpstr>
      <vt:lpstr>Short response (28)</vt:lpstr>
      <vt:lpstr>Activity 7 – one adds, one subtracts </vt:lpstr>
      <vt:lpstr>Review of learning 8</vt:lpstr>
      <vt:lpstr>True or false (4)</vt:lpstr>
      <vt:lpstr>Short response (29) </vt:lpstr>
      <vt:lpstr>Short response (30)  </vt:lpstr>
      <vt:lpstr>Short response (31)</vt:lpstr>
      <vt:lpstr>Short response (32)</vt:lpstr>
      <vt:lpstr>Activity 8 – use addition and subtraction 2 </vt:lpstr>
      <vt:lpstr>Double Venn diagram</vt:lpstr>
      <vt:lpstr>Frayer</vt:lpstr>
      <vt:lpstr>Spider map</vt:lpstr>
      <vt:lpstr>Cline</vt:lpstr>
      <vt:lpstr>Compare and contrast</vt:lpstr>
      <vt:lpstr>Multiple choice (5)</vt:lpstr>
      <vt:lpstr>Multiple choice</vt:lpstr>
      <vt:lpstr>References</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Nat Hawkins</dc:creator>
  <cp:keywords/>
  <dc:description/>
  <cp:lastModifiedBy>Daniel Archer</cp:lastModifiedBy>
  <cp:revision>2</cp:revision>
  <dcterms:created xsi:type="dcterms:W3CDTF">2025-10-28T21:34:25Z</dcterms:created>
  <dcterms:modified xsi:type="dcterms:W3CDTF">2026-02-08T20:39:38Z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0x0101001225CD7B5461E64DBD81A4688FEB92F3</vt:lpwstr>
  </property>
  <property fmtid="{D5CDD505-2E9C-101B-9397-08002B2CF9AE}" pid="10" name="MediaServiceImageTags">
    <vt:lpwstr/>
  </property>
</Properties>
</file>