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05" r:id="rId6"/>
    <p:sldId id="26359" r:id="rId7"/>
    <p:sldId id="271" r:id="rId8"/>
    <p:sldId id="26651"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47"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48"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507" r:id="rId69"/>
    <p:sldId id="26649" r:id="rId70"/>
    <p:sldId id="360" r:id="rId71"/>
    <p:sldId id="26650" r:id="rId72"/>
    <p:sldId id="361" r:id="rId73"/>
  </p:sldIdLst>
  <p:sldSz cx="12192000" cy="6858000"/>
  <p:notesSz cx="6858000" cy="9144000"/>
  <p:embeddedFontLst>
    <p:embeddedFont>
      <p:font typeface="Cambria Math" panose="02040503050406030204" pitchFamily="18" charset="0"/>
      <p:regular r:id="rId76"/>
    </p:embeddedFon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
      <p:font typeface="Public Sans Semi-Bold" panose="020B0604020202020204" charset="0"/>
      <p:regular r:id="rId87"/>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651"/>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47"/>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76652228-BA2A-8E0F-B69D-752F252CA8C9}" name="Carolyn Matthews" initials="CM" userId="S::Carolyn.Matthews2@det.nsw.edu.au::7f53049a-bf0f-477a-aa49-60e3a8d71d98" providerId="AD"/>
  <p188:author id="{8EAAFC52-5D86-6FE7-9D47-1FD3C7D0804D}" name="Lisa Kew" initials="LK" userId="S::LISA.JONES13@det.nsw.edu.au::687d7c21-e1c8-437d-b64b-4b01e8e7487e" providerId="AD"/>
  <p188:author id="{117A025F-CECB-7403-D4EE-15F295013070}" name="Carolyn Matthews" initials="" userId="S::carolyn.matthews2@det.nsw.edu.au::7f53049a-bf0f-477a-aa49-60e3a8d71d98" providerId="AD"/>
  <p188:author id="{95D16B7D-CADB-F2BF-AC29-D680545C75EE}" name="Carrie Webeck" initials=""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7B2D"/>
    <a:srgbClr val="EA9B0C"/>
    <a:srgbClr val="C8DFAD"/>
    <a:srgbClr val="EDF9E0"/>
    <a:srgbClr val="FFFF99"/>
    <a:srgbClr val="007A8A"/>
    <a:srgbClr val="9B6808"/>
    <a:srgbClr val="B51458"/>
    <a:srgbClr val="00ACC2"/>
    <a:srgbClr val="64BB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4B9D8A-FCDF-48FC-825C-2FA31C8D30AD}" v="1501" dt="2026-03-31T21:26:51.200"/>
    <p1510:client id="{C7C18BC8-63E6-48F5-AE53-5E9D5FE51E00}" v="998" dt="2026-03-31T21:29:39.596"/>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3" d="100"/>
          <a:sy n="23" d="100"/>
        </p:scale>
        <p:origin x="642" y="24"/>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2/04/2026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B Unit 30</a:t>
            </a:r>
          </a:p>
          <a:p>
            <a:pPr marL="285750" indent="-285750">
              <a:buFont typeface="Arial" panose="020B0604020202020204" pitchFamily="34" charset="0"/>
              <a:buChar char="•"/>
            </a:pPr>
            <a:r>
              <a:rPr lang="en-AU"/>
              <a:t>Stage 2 Year B Unit 29</a:t>
            </a:r>
          </a:p>
          <a:p>
            <a:pPr marL="285750" indent="-285750">
              <a:buFont typeface="Arial" panose="020B0604020202020204" pitchFamily="34" charset="0"/>
              <a:buChar char="•"/>
            </a:pPr>
            <a:r>
              <a:rPr lang="en-AU"/>
              <a:t>Stage 2 Year B Unit 28</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D5D28-BBB8-F38B-81A2-10E595039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6A49E-7607-822A-54A8-FFD767097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4C10A-A7F2-C77B-E577-1F1BC997AE3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p:txBody>
      </p:sp>
      <p:sp>
        <p:nvSpPr>
          <p:cNvPr id="4" name="Slide Number Placeholder 3">
            <a:extLst>
              <a:ext uri="{FF2B5EF4-FFF2-40B4-BE49-F238E27FC236}">
                <a16:creationId xmlns:a16="http://schemas.microsoft.com/office/drawing/2014/main" id="{464F98BE-C370-80BE-837D-3CBA38FCEF15}"/>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25272750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The slide is interactive when displayed in the presentation mode in the desktop app.</a:t>
            </a:r>
          </a:p>
          <a:p>
            <a:endParaRPr lang="en-AU"/>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 </a:t>
            </a:r>
          </a:p>
          <a:p>
            <a:pPr>
              <a:defRPr/>
            </a:pPr>
            <a:r>
              <a:rPr lang="en-AU">
                <a:latin typeface="Arial"/>
                <a:cs typeface="Arial"/>
              </a:rPr>
              <a:t>Multiplicative relations A  </a:t>
            </a:r>
          </a:p>
          <a:p>
            <a:endParaRPr lang="en-AU"/>
          </a:p>
          <a:p>
            <a:r>
              <a:rPr lang="en-AU" b="1"/>
              <a:t>Using arrays</a:t>
            </a:r>
          </a:p>
          <a:p>
            <a:pPr lvl="0"/>
            <a:r>
              <a:rPr lang="en-AU" sz="1600" kern="1200" dirty="0">
                <a:solidFill>
                  <a:schemeClr val="tx1"/>
                </a:solidFill>
                <a:effectLst/>
                <a:latin typeface="Arial"/>
                <a:cs typeface="Arial"/>
              </a:rPr>
              <a:t>1. Demonstrate to students how to link multiplication and division using arrays. Roll two 10-sided dice and use the numbers rolled to form an array using the interactive counters on the slide. </a:t>
            </a:r>
          </a:p>
          <a:p>
            <a:pPr lvl="0"/>
            <a:r>
              <a:rPr lang="en-AU" sz="1600" kern="1200" dirty="0">
                <a:solidFill>
                  <a:schemeClr val="tx1"/>
                </a:solidFill>
                <a:effectLst/>
                <a:latin typeface="Arial"/>
                <a:cs typeface="Arial"/>
              </a:rPr>
              <a:t>2. From the array, record multiplication and division number sentences (see Figure 21 – array number sentences in Stage 2 Year B Unit 30).</a:t>
            </a:r>
          </a:p>
          <a:p>
            <a:pPr lvl="0"/>
            <a:r>
              <a:rPr lang="en-AU" sz="1600" kern="1200">
                <a:solidFill>
                  <a:schemeClr val="tx1"/>
                </a:solidFill>
                <a:effectLst/>
                <a:latin typeface="Arial" panose="020B0604020202020204" pitchFamily="34" charset="0"/>
                <a:ea typeface="+mn-ea"/>
                <a:cs typeface="Arial" panose="020B0604020202020204" pitchFamily="34" charset="0"/>
              </a:rPr>
              <a:t>3. Highlight to students: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link between multiplication and division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commutative property of multiplication.</a:t>
            </a:r>
          </a:p>
          <a:p>
            <a:pPr lvl="0"/>
            <a:r>
              <a:rPr lang="en-AU" sz="1600" kern="1200" dirty="0">
                <a:solidFill>
                  <a:schemeClr val="tx1"/>
                </a:solidFill>
                <a:effectLst/>
                <a:latin typeface="Arial"/>
                <a:cs typeface="Arial"/>
              </a:rPr>
              <a:t>4. Once students are confident, provide them with two 10-sided dice, counters and their workbooks. Students record their number sentences in their workbook.</a:t>
            </a:r>
          </a:p>
          <a:p>
            <a:pPr lvl="0"/>
            <a:r>
              <a:rPr lang="en-AU" sz="1600" kern="1200">
                <a:solidFill>
                  <a:schemeClr val="tx1"/>
                </a:solidFill>
                <a:effectLst/>
                <a:latin typeface="Arial" panose="020B0604020202020204" pitchFamily="34" charset="0"/>
                <a:ea typeface="+mn-ea"/>
                <a:cs typeface="Arial" panose="020B0604020202020204" pitchFamily="34" charset="0"/>
              </a:rPr>
              <a:t>5. Select students to share and explain their arrays and number sentences.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latin typeface="Arial"/>
                <a:cs typeface="Arial"/>
              </a:rPr>
              <a:t>Multiplicative relations A</a:t>
            </a:r>
          </a:p>
          <a:p>
            <a:endParaRPr lang="en-AU"/>
          </a:p>
          <a:p>
            <a:r>
              <a:rPr lang="en-AU" b="1"/>
              <a:t>Fact families</a:t>
            </a:r>
          </a:p>
          <a:p>
            <a:r>
              <a:rPr lang="en-AU" b="0"/>
              <a:t>This resource corresponds to Resource 13 – making fact families in Stage 2 Year B Unit 30.</a:t>
            </a:r>
          </a:p>
          <a:p>
            <a:endParaRPr lang="en-AU" b="0"/>
          </a:p>
          <a:p>
            <a:pPr lvl="0"/>
            <a:r>
              <a:rPr lang="en-AU" sz="1600" kern="1200">
                <a:solidFill>
                  <a:schemeClr val="tx1"/>
                </a:solidFill>
                <a:effectLst/>
                <a:latin typeface="Arial" panose="020B0604020202020204" pitchFamily="34" charset="0"/>
                <a:ea typeface="+mn-ea"/>
                <a:cs typeface="Arial" panose="020B0604020202020204" pitchFamily="34" charset="0"/>
              </a:rPr>
              <a:t>1. Explain that 8 is a multiple of 2 and 4 (record the skip counting pattern by 2 and then by 4 to confirm that 8 is in both patterns). Explain that 2 and 4 are called factors of 8.</a:t>
            </a:r>
          </a:p>
          <a:p>
            <a:pPr lvl="0"/>
            <a:r>
              <a:rPr lang="en-AU" sz="1600" kern="1200">
                <a:solidFill>
                  <a:schemeClr val="tx1"/>
                </a:solidFill>
                <a:effectLst/>
                <a:latin typeface="Arial" panose="020B0604020202020204" pitchFamily="34" charset="0"/>
                <a:ea typeface="+mn-ea"/>
                <a:cs typeface="Arial" panose="020B0604020202020204" pitchFamily="34" charset="0"/>
              </a:rPr>
              <a:t>2. Select one fact family from </a:t>
            </a:r>
            <a:r>
              <a:rPr lang="en-AU" b="0"/>
              <a:t>Resource 13 – making fact families to</a:t>
            </a:r>
            <a:r>
              <a:rPr lang="en-AU" sz="1600" kern="1200">
                <a:solidFill>
                  <a:schemeClr val="tx1"/>
                </a:solidFill>
                <a:effectLst/>
                <a:latin typeface="Arial" panose="020B0604020202020204" pitchFamily="34" charset="0"/>
                <a:ea typeface="+mn-ea"/>
                <a:cs typeface="Arial" panose="020B0604020202020204" pitchFamily="34" charset="0"/>
              </a:rPr>
              <a: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model how to write multiplication and division sentences using fact families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use arrays to prove the commutative property of multiplication.</a:t>
            </a: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highlight to students that the number at the top of the triangle is the product of the 2 factors at the bottom of the triangle. For division, ensure students understand that the product of the fact family must be at the start of the sentence. Division is not commutative, so 2 ÷ 4 = 8 is not correct.</a:t>
            </a:r>
          </a:p>
          <a:p>
            <a:pPr lvl="0"/>
            <a:r>
              <a:rPr lang="en-AU" sz="1600" kern="1200" dirty="0">
                <a:solidFill>
                  <a:schemeClr val="tx1"/>
                </a:solidFill>
                <a:effectLst/>
                <a:latin typeface="Arial"/>
                <a:cs typeface="Arial"/>
              </a:rPr>
              <a:t>3. Provide students with </a:t>
            </a:r>
            <a:r>
              <a:rPr lang="en-AU" b="0" dirty="0">
                <a:latin typeface="Arial"/>
                <a:cs typeface="Arial"/>
              </a:rPr>
              <a:t>Resource 13 – making fact families</a:t>
            </a:r>
            <a:r>
              <a:rPr lang="en-AU" sz="1600" kern="1200" dirty="0">
                <a:solidFill>
                  <a:schemeClr val="tx1"/>
                </a:solidFill>
                <a:effectLst/>
                <a:latin typeface="Arial"/>
                <a:cs typeface="Arial"/>
              </a:rPr>
              <a:t>. Students identify the fact families for the remaining triangles and record the number sentences.</a:t>
            </a: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students may need concrete materials, such as counters, to manipulate while completing the activity. This activity can be differentiated by having students find other factors of the top number and writing out the fact families.</a:t>
            </a:r>
          </a:p>
          <a:p>
            <a:pPr lvl="0"/>
            <a:r>
              <a:rPr lang="en-AU" sz="1600" kern="1200">
                <a:solidFill>
                  <a:schemeClr val="tx1"/>
                </a:solidFill>
                <a:effectLst/>
                <a:latin typeface="Arial" panose="020B0604020202020204" pitchFamily="34" charset="0"/>
                <a:ea typeface="+mn-ea"/>
                <a:cs typeface="Arial" panose="020B0604020202020204" pitchFamily="34" charset="0"/>
              </a:rPr>
              <a:t>4. Select students to share and explain their work and record each student’s responses for the class to see.</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latin typeface="Arial"/>
                <a:cs typeface="Arial"/>
              </a:rPr>
              <a:t>Multiplicative relations A</a:t>
            </a:r>
          </a:p>
          <a:p>
            <a:endParaRPr lang="en-AU"/>
          </a:p>
          <a:p>
            <a:r>
              <a:rPr lang="en-AU" b="1"/>
              <a:t>Recalling fact families</a:t>
            </a:r>
          </a:p>
          <a:p>
            <a:pPr lvl="0"/>
            <a:r>
              <a:rPr lang="en-AU" sz="1600" kern="1200">
                <a:solidFill>
                  <a:schemeClr val="tx1"/>
                </a:solidFill>
                <a:effectLst/>
                <a:latin typeface="Arial" panose="020B0604020202020204" pitchFamily="34" charset="0"/>
                <a:ea typeface="+mn-ea"/>
                <a:cs typeface="Arial" panose="020B0604020202020204" pitchFamily="34" charset="0"/>
              </a:rPr>
              <a:t>1. Provide each student with whiteboards or workbooks.</a:t>
            </a:r>
          </a:p>
          <a:p>
            <a:pPr lvl="0"/>
            <a:r>
              <a:rPr lang="en-AU" sz="1600" kern="1200" dirty="0">
                <a:solidFill>
                  <a:schemeClr val="tx1"/>
                </a:solidFill>
                <a:effectLst/>
                <a:latin typeface="Arial"/>
                <a:cs typeface="Arial"/>
              </a:rPr>
              <a:t>2. Explain that students will be engaging in speed rounds to recall the 4 related number sentences that represent fact families for multiples of 2 and 4 and 5 and 10.</a:t>
            </a:r>
          </a:p>
          <a:p>
            <a:pPr lvl="0"/>
            <a:r>
              <a:rPr lang="en-AU" sz="1600" kern="1200">
                <a:solidFill>
                  <a:schemeClr val="tx1"/>
                </a:solidFill>
                <a:effectLst/>
                <a:latin typeface="Arial" panose="020B0604020202020204" pitchFamily="34" charset="0"/>
                <a:ea typeface="+mn-ea"/>
                <a:cs typeface="Arial" panose="020B0604020202020204" pitchFamily="34" charset="0"/>
              </a:rPr>
              <a:t>3. Model how to play with an example. For example, 4 × 5.</a:t>
            </a:r>
          </a:p>
          <a:p>
            <a:pPr lvl="0"/>
            <a:r>
              <a:rPr lang="en-AU" sz="1600" kern="1200" dirty="0">
                <a:solidFill>
                  <a:schemeClr val="tx1"/>
                </a:solidFill>
                <a:effectLst/>
                <a:latin typeface="Arial"/>
                <a:cs typeface="Arial"/>
              </a:rPr>
              <a:t>4. Provide students with a range of examples, for example, 10 × 6, 5 × 3, 2 × 9, to record number sentences that represent fact families for multiples of 2 and 4 and 5 and 10.</a:t>
            </a:r>
          </a:p>
          <a:p>
            <a:pPr lvl="0"/>
            <a:r>
              <a:rPr lang="en-AU" sz="1600" kern="1200">
                <a:solidFill>
                  <a:schemeClr val="tx1"/>
                </a:solidFill>
                <a:effectLst/>
                <a:latin typeface="Arial" panose="020B0604020202020204" pitchFamily="34" charset="0"/>
                <a:ea typeface="+mn-ea"/>
                <a:cs typeface="Arial" panose="020B0604020202020204" pitchFamily="34" charset="0"/>
              </a:rPr>
              <a:t>5. Once students have written the 4 number sentences for each round, encourage them to turn their boards to the front so their recordings can be checked for accuracy.</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latin typeface="Arial"/>
                <a:cs typeface="Arial"/>
              </a:rPr>
              <a:t>Multiplicative relations A</a:t>
            </a:r>
          </a:p>
          <a:p>
            <a:endParaRPr lang="en-AU"/>
          </a:p>
          <a:p>
            <a:r>
              <a:rPr lang="en-AU" sz="1600" b="1" kern="1200">
                <a:solidFill>
                  <a:schemeClr val="tx1"/>
                </a:solidFill>
                <a:effectLst/>
                <a:latin typeface="Arial" panose="020B0604020202020204" pitchFamily="34" charset="0"/>
                <a:ea typeface="+mn-ea"/>
                <a:cs typeface="Arial" panose="020B0604020202020204" pitchFamily="34" charset="0"/>
              </a:rPr>
              <a:t>Solving problems with fact families</a:t>
            </a:r>
          </a:p>
          <a:p>
            <a:r>
              <a:rPr lang="en-AU" b="0"/>
              <a:t>This resource corresponds to Resource 14 – lots of buttons in Stage 2 Year B Unit 30. </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Explain that students will work in pairs to solve the problem.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problem asking you to find out?</a:t>
            </a:r>
          </a:p>
          <a:p>
            <a:pPr marL="285750" lvl="0" indent="-285750">
              <a:buFont typeface="Arial" panose="020B0604020202020204" pitchFamily="34" charset="0"/>
              <a:buChar char="•"/>
            </a:pPr>
            <a:r>
              <a:rPr lang="en-AU" sz="1600" kern="1200" dirty="0">
                <a:solidFill>
                  <a:schemeClr val="tx1"/>
                </a:solidFill>
                <a:effectLst/>
                <a:latin typeface="Arial"/>
                <a:cs typeface="Arial"/>
              </a:rPr>
              <a:t>How many different parts are there to the problem? Can you use the same strategy to solve each part?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strategy do you think will work best to find a solution for this problem?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can you record the solution?</a:t>
            </a:r>
          </a:p>
          <a:p>
            <a:pPr lvl="0"/>
            <a:r>
              <a:rPr lang="en-AU" sz="1600" kern="1200">
                <a:solidFill>
                  <a:schemeClr val="tx1"/>
                </a:solidFill>
                <a:effectLst/>
                <a:latin typeface="Arial" panose="020B0604020202020204" pitchFamily="34" charset="0"/>
                <a:ea typeface="+mn-ea"/>
                <a:cs typeface="Arial" panose="020B0604020202020204" pitchFamily="34" charset="0"/>
              </a:rPr>
              <a:t>2. After students have had the opportunity to work on the solution,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do you know the strategy you are using is working?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can you check that the answer is correct?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fact family helped you with this problem?</a:t>
            </a:r>
          </a:p>
          <a:p>
            <a:pPr lvl="0"/>
            <a:r>
              <a:rPr lang="en-AU" sz="1600" kern="1200">
                <a:solidFill>
                  <a:schemeClr val="tx1"/>
                </a:solidFill>
                <a:effectLst/>
                <a:latin typeface="Arial" panose="020B0604020202020204" pitchFamily="34" charset="0"/>
                <a:ea typeface="+mn-ea"/>
                <a:cs typeface="Arial" panose="020B0604020202020204" pitchFamily="34" charset="0"/>
              </a:rPr>
              <a:t>3. In pairs, students choose a fact family and create a word problem to match.</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2720-0BC8-FA7F-BC47-1C78ADEAB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48631-F898-32A6-78A2-76AA2975D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E66D4-BAB0-850A-44DB-0959EA3E6EA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dirty="0">
                <a:solidFill>
                  <a:schemeClr val="tx1"/>
                </a:solidFill>
                <a:effectLst/>
                <a:latin typeface="Arial"/>
                <a:cs typeface="Arial"/>
              </a:rPr>
              <a:t>Representing number using place value B</a:t>
            </a:r>
            <a:endParaRPr lang="en-AU">
              <a:latin typeface="Arial"/>
              <a:cs typeface="Arial"/>
            </a:endParaRPr>
          </a:p>
        </p:txBody>
      </p:sp>
      <p:sp>
        <p:nvSpPr>
          <p:cNvPr id="4" name="Slide Number Placeholder 3">
            <a:extLst>
              <a:ext uri="{FF2B5EF4-FFF2-40B4-BE49-F238E27FC236}">
                <a16:creationId xmlns:a16="http://schemas.microsoft.com/office/drawing/2014/main" id="{25E3C821-F7BD-A5FD-0747-F0B52FC6EDC5}"/>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8533541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 using place value B</a:t>
            </a:r>
          </a:p>
          <a:p>
            <a:endParaRPr lang="en-AU"/>
          </a:p>
          <a:p>
            <a:r>
              <a:rPr lang="en-AU" b="1"/>
              <a:t>Ordering decimals</a:t>
            </a:r>
          </a:p>
          <a:p>
            <a:pPr lvl="0"/>
            <a:r>
              <a:rPr lang="en-AU" sz="1600" kern="1200">
                <a:solidFill>
                  <a:schemeClr val="tx1"/>
                </a:solidFill>
                <a:effectLst/>
                <a:latin typeface="Arial" panose="020B0604020202020204" pitchFamily="34" charset="0"/>
                <a:ea typeface="+mn-ea"/>
                <a:cs typeface="Arial" panose="020B0604020202020204" pitchFamily="34" charset="0"/>
              </a:rPr>
              <a:t>1. Provide pairs of students with playing cards with the face cards removed. Students divide the cards between them (aces are ones).</a:t>
            </a:r>
          </a:p>
          <a:p>
            <a:pPr lvl="0"/>
            <a:r>
              <a:rPr lang="en-AU" sz="1600" kern="1200">
                <a:solidFill>
                  <a:schemeClr val="tx1"/>
                </a:solidFill>
                <a:effectLst/>
                <a:latin typeface="Arial" panose="020B0604020202020204" pitchFamily="34" charset="0"/>
                <a:ea typeface="+mn-ea"/>
                <a:cs typeface="Arial" panose="020B0604020202020204" pitchFamily="34" charset="0"/>
              </a:rPr>
              <a:t>2. Each students’ cards remain face down in a pile in front on them.</a:t>
            </a:r>
          </a:p>
          <a:p>
            <a:pPr lvl="0"/>
            <a:r>
              <a:rPr lang="en-AU" sz="1600" kern="1200">
                <a:solidFill>
                  <a:schemeClr val="tx1"/>
                </a:solidFill>
                <a:effectLst/>
                <a:latin typeface="Arial" panose="020B0604020202020204" pitchFamily="34" charset="0"/>
                <a:ea typeface="+mn-ea"/>
                <a:cs typeface="Arial" panose="020B0604020202020204" pitchFamily="34" charset="0"/>
              </a:rPr>
              <a:t>3. On whiteboards, students draw a box large enough to fit a playing card, a dot and then 2 more boxes.</a:t>
            </a:r>
          </a:p>
          <a:p>
            <a:pPr lvl="0"/>
            <a:r>
              <a:rPr lang="en-AU" sz="1600" kern="1200">
                <a:solidFill>
                  <a:schemeClr val="tx1"/>
                </a:solidFill>
                <a:effectLst/>
                <a:latin typeface="Arial" panose="020B0604020202020204" pitchFamily="34" charset="0"/>
                <a:ea typeface="+mn-ea"/>
                <a:cs typeface="Arial" panose="020B0604020202020204" pitchFamily="34" charset="0"/>
              </a:rPr>
              <a:t>4. Each student turns over 3 cards, placing them into the boxes on their whiteboard (see Figure 23 – example student whiteboard in Stage 2 Year B Unit 30).</a:t>
            </a:r>
          </a:p>
          <a:p>
            <a:pPr lvl="0"/>
            <a:r>
              <a:rPr lang="en-AU" sz="1600" kern="1200">
                <a:solidFill>
                  <a:schemeClr val="tx1"/>
                </a:solidFill>
                <a:effectLst/>
                <a:latin typeface="Arial" panose="020B0604020202020204" pitchFamily="34" charset="0"/>
                <a:ea typeface="+mn-ea"/>
                <a:cs typeface="Arial" panose="020B0604020202020204" pitchFamily="34" charset="0"/>
              </a:rPr>
              <a:t>5. Students then record their decimal on a sticky note.</a:t>
            </a:r>
          </a:p>
          <a:p>
            <a:pPr lvl="0"/>
            <a:r>
              <a:rPr lang="en-AU" sz="1600" kern="1200">
                <a:solidFill>
                  <a:schemeClr val="tx1"/>
                </a:solidFill>
                <a:effectLst/>
                <a:latin typeface="Arial" panose="020B0604020202020204" pitchFamily="34" charset="0"/>
                <a:ea typeface="+mn-ea"/>
                <a:cs typeface="Arial" panose="020B0604020202020204" pitchFamily="34" charset="0"/>
              </a:rPr>
              <a:t>6. Pairs of students compare their decimals and place the sticky notes in ascending order.</a:t>
            </a:r>
          </a:p>
          <a:p>
            <a:r>
              <a:rPr lang="en-AU" sz="1600" kern="1200">
                <a:solidFill>
                  <a:schemeClr val="tx1"/>
                </a:solidFill>
                <a:effectLst/>
                <a:latin typeface="Arial" panose="020B0604020202020204" pitchFamily="34" charset="0"/>
                <a:ea typeface="+mn-ea"/>
                <a:cs typeface="Arial" panose="020B0604020202020204" pitchFamily="34" charset="0"/>
              </a:rPr>
              <a:t>7. Repeat the process, adding the new sticky notes to the order (see Figure 24 – ascending order in Stage 2 Year B Unit 30).</a:t>
            </a: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 using place value B</a:t>
            </a:r>
          </a:p>
          <a:p>
            <a:endParaRPr lang="en-AU"/>
          </a:p>
          <a:p>
            <a:r>
              <a:rPr lang="en-AU" b="1"/>
              <a:t>Comparing and ordering decimals</a:t>
            </a:r>
          </a:p>
          <a:p>
            <a:pPr lvl="0"/>
            <a:r>
              <a:rPr lang="en-AU" sz="1600" kern="1200">
                <a:solidFill>
                  <a:schemeClr val="tx1"/>
                </a:solidFill>
                <a:effectLst/>
                <a:latin typeface="Arial" panose="020B0604020202020204" pitchFamily="34" charset="0"/>
                <a:ea typeface="+mn-ea"/>
                <a:cs typeface="Arial" panose="020B0604020202020204" pitchFamily="34" charset="0"/>
              </a:rPr>
              <a:t>1. Provide pairs with two 10-sided dice and a whiteboard. Students draw a number line from zero to one.</a:t>
            </a:r>
          </a:p>
          <a:p>
            <a:pPr lvl="0"/>
            <a:r>
              <a:rPr lang="en-AU" sz="1600" kern="1200">
                <a:solidFill>
                  <a:schemeClr val="tx1"/>
                </a:solidFill>
                <a:effectLst/>
                <a:latin typeface="Arial" panose="020B0604020202020204" pitchFamily="34" charset="0"/>
                <a:ea typeface="+mn-ea"/>
                <a:cs typeface="Arial" panose="020B0604020202020204" pitchFamily="34" charset="0"/>
              </a:rPr>
              <a:t>2. Students take turns to roll the dice and arrange them to make the largest number between zero and one with 2 decimal places, such as 0.86. Students record their decimal on the number line (see Figure 25 – number line example in Stage 2 Year B Unit 30).</a:t>
            </a:r>
          </a:p>
          <a:p>
            <a:pPr lvl="0"/>
            <a:r>
              <a:rPr lang="en-AU" sz="1600" kern="1200">
                <a:solidFill>
                  <a:schemeClr val="tx1"/>
                </a:solidFill>
                <a:effectLst/>
                <a:latin typeface="Arial" panose="020B0604020202020204" pitchFamily="34" charset="0"/>
                <a:ea typeface="+mn-ea"/>
                <a:cs typeface="Arial" panose="020B0604020202020204" pitchFamily="34" charset="0"/>
              </a:rPr>
              <a:t>3. Students repeat this process to create another decimal number each and place it on the number line.</a:t>
            </a:r>
          </a:p>
          <a:p>
            <a:pPr lvl="0"/>
            <a:r>
              <a:rPr lang="en-AU" sz="1600" kern="1200">
                <a:solidFill>
                  <a:schemeClr val="tx1"/>
                </a:solidFill>
                <a:effectLst/>
                <a:latin typeface="Arial" panose="020B0604020202020204" pitchFamily="34" charset="0"/>
                <a:ea typeface="+mn-ea"/>
                <a:cs typeface="Arial" panose="020B0604020202020204" pitchFamily="34" charset="0"/>
              </a:rPr>
              <a:t>4. Students read the decimals in order from zero to one, using their place value knowledge to justify how they know the order is correct.</a:t>
            </a: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the focus for this activity can be easily changed, for example, students could be aiming for closest to zero, closet to 0.5 or the smallest decimal.</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dirty="0">
                <a:solidFill>
                  <a:schemeClr val="tx1"/>
                </a:solidFill>
                <a:effectLst/>
                <a:latin typeface="Arial"/>
                <a:cs typeface="Arial"/>
              </a:rPr>
              <a:t>Representing number using place value B</a:t>
            </a:r>
            <a:endParaRPr lang="en-AU" dirty="0">
              <a:latin typeface="Arial"/>
              <a:cs typeface="Arial"/>
            </a:endParaRP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 using place value B</a:t>
            </a:r>
          </a:p>
          <a:p>
            <a:endParaRPr lang="en-AU"/>
          </a:p>
          <a:p>
            <a:r>
              <a:rPr lang="en-AU" b="1"/>
              <a:t>Comparing decimals</a:t>
            </a:r>
          </a:p>
          <a:p>
            <a:pPr lvl="0"/>
            <a:r>
              <a:rPr lang="en-AU" sz="1600" kern="1200">
                <a:solidFill>
                  <a:schemeClr val="tx1"/>
                </a:solidFill>
                <a:effectLst/>
                <a:latin typeface="Arial" panose="020B0604020202020204" pitchFamily="34" charset="0"/>
                <a:ea typeface="+mn-ea"/>
                <a:cs typeface="Arial" panose="020B0604020202020204" pitchFamily="34" charset="0"/>
              </a:rPr>
              <a:t>1. Explain to students that they will play a quick game called ‘Decimal Dash’. A secret decimal will be described using clues. Students must use their place value knowledge to work out the number and record their answer on their whiteboards.</a:t>
            </a:r>
          </a:p>
          <a:p>
            <a:pPr lvl="0"/>
            <a:r>
              <a:rPr lang="en-AU" sz="1600" kern="1200">
                <a:solidFill>
                  <a:schemeClr val="tx1"/>
                </a:solidFill>
                <a:effectLst/>
                <a:latin typeface="Arial" panose="020B0604020202020204" pitchFamily="34" charset="0"/>
                <a:ea typeface="+mn-ea"/>
                <a:cs typeface="Arial" panose="020B0604020202020204" pitchFamily="34" charset="0"/>
              </a:rPr>
              <a:t>2. State: the secret decimal is between 0 and 1. Some clues to help you are: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it is greater than 0.4 but less than 0.6</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hundredths digit is 8.</a:t>
            </a:r>
          </a:p>
          <a:p>
            <a:pPr lvl="0"/>
            <a:r>
              <a:rPr lang="en-AU" sz="1600" kern="1200">
                <a:solidFill>
                  <a:schemeClr val="tx1"/>
                </a:solidFill>
                <a:effectLst/>
                <a:latin typeface="Arial" panose="020B0604020202020204" pitchFamily="34" charset="0"/>
                <a:ea typeface="+mn-ea"/>
                <a:cs typeface="Arial" panose="020B0604020202020204" pitchFamily="34" charset="0"/>
              </a:rPr>
              <a:t>3. Students record their answers. For example, 0.48 or 0.58.</a:t>
            </a:r>
          </a:p>
          <a:p>
            <a:pPr lvl="0"/>
            <a:r>
              <a:rPr lang="en-AU" sz="1600" kern="1200">
                <a:solidFill>
                  <a:schemeClr val="tx1"/>
                </a:solidFill>
                <a:effectLst/>
                <a:latin typeface="Arial" panose="020B0604020202020204" pitchFamily="34" charset="0"/>
                <a:ea typeface="+mn-ea"/>
                <a:cs typeface="Arial" panose="020B0604020202020204" pitchFamily="34" charset="0"/>
              </a:rPr>
              <a:t>4. Repeat the process for several rounds using different clues.</a:t>
            </a: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to extend the activity, include clues that connect fractions and decimals. For example, the secret decimal is equal to three-quarters (0.75).</a:t>
            </a:r>
          </a:p>
          <a:p>
            <a:pPr lvl="0"/>
            <a:r>
              <a:rPr lang="en-AU" sz="1600" kern="1200">
                <a:solidFill>
                  <a:schemeClr val="tx1"/>
                </a:solidFill>
                <a:effectLst/>
                <a:latin typeface="Arial" panose="020B0604020202020204" pitchFamily="34" charset="0"/>
                <a:ea typeface="+mn-ea"/>
                <a:cs typeface="Arial" panose="020B0604020202020204" pitchFamily="34" charset="0"/>
              </a:rPr>
              <a:t>5. After several rounds, discuss: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clues did you find most helpful and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your understanding of place value help you order and compare decimals?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 using place value B</a:t>
            </a:r>
          </a:p>
          <a:p>
            <a:endParaRPr lang="en-AU"/>
          </a:p>
          <a:p>
            <a:r>
              <a:rPr lang="en-AU" sz="1600" b="1" kern="1200">
                <a:solidFill>
                  <a:schemeClr val="tx1"/>
                </a:solidFill>
                <a:effectLst/>
                <a:latin typeface="Arial" panose="020B0604020202020204" pitchFamily="34" charset="0"/>
                <a:ea typeface="+mn-ea"/>
                <a:cs typeface="Arial" panose="020B0604020202020204" pitchFamily="34" charset="0"/>
              </a:rPr>
              <a:t>Fractions and decimals connections</a:t>
            </a:r>
          </a:p>
          <a:p>
            <a:r>
              <a:rPr lang="en-AU" b="0"/>
              <a:t>This resource corresponds to Resource 15 – fractions and decimals in Stage 2 Year B Unit 30. </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Students label the correct fractions and matching decimal benchmarks. For example, 0.5 is the same as half.</a:t>
            </a:r>
          </a:p>
          <a:p>
            <a:pPr lvl="0"/>
            <a:r>
              <a:rPr lang="en-AU" sz="1600" kern="1200">
                <a:solidFill>
                  <a:schemeClr val="tx1"/>
                </a:solidFill>
                <a:effectLst/>
                <a:latin typeface="Arial" panose="020B0604020202020204" pitchFamily="34" charset="0"/>
                <a:ea typeface="+mn-ea"/>
                <a:cs typeface="Arial" panose="020B0604020202020204" pitchFamily="34" charset="0"/>
              </a:rPr>
              <a:t>2. Students then add any other matching fractions and decimals to the number lines that they know. For example, one-fifth is the same as 0.2.</a:t>
            </a:r>
          </a:p>
          <a:p>
            <a:pPr lvl="0"/>
            <a:r>
              <a:rPr lang="en-AU" sz="1600" kern="1200">
                <a:solidFill>
                  <a:schemeClr val="tx1"/>
                </a:solidFill>
                <a:effectLst/>
                <a:latin typeface="Arial" panose="020B0604020202020204" pitchFamily="34" charset="0"/>
                <a:ea typeface="+mn-ea"/>
                <a:cs typeface="Arial" panose="020B0604020202020204" pitchFamily="34" charset="0"/>
              </a:rPr>
              <a:t>3. Select students to share and explain the fractions and decimals they selected.</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55590-1A2B-8FE6-526C-BB8A93AEA3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55C67-ABD3-5469-54DA-D07F25DEA8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820A32-D456-505F-62B6-15AA82A7B852}"/>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38A9D510-07C0-9DA9-EF45-F6A026EF28DF}"/>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271660985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0.sv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8.sv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10.sv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7.png"/><Relationship Id="rId7"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svg"/><Relationship Id="rId10" Type="http://schemas.openxmlformats.org/officeDocument/2006/relationships/image" Target="../media/image30.svg"/><Relationship Id="rId4" Type="http://schemas.openxmlformats.org/officeDocument/2006/relationships/image" Target="../media/image24.png"/><Relationship Id="rId9"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34.sv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 Id="rId4" Type="http://schemas.openxmlformats.org/officeDocument/2006/relationships/image" Target="../media/image370.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380.png"/></Relationships>
</file>

<file path=ppt/slides/_rels/slide4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7.png"/><Relationship Id="rId7" Type="http://schemas.openxmlformats.org/officeDocument/2006/relationships/image" Target="../media/image45.svg"/><Relationship Id="rId2" Type="http://schemas.openxmlformats.org/officeDocument/2006/relationships/notesSlide" Target="../notesSlides/notesSlide49.xml"/><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7.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48.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51.png"/></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12" Type="http://schemas.openxmlformats.org/officeDocument/2006/relationships/hyperlink" Target="https://app.education.nsw.gov.au/sport/PageByName?name=FIND_RESULTS&amp;assoId=-1&amp;tempId=10&amp;layId=10"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www.didax.com/apps/geoboard/" TargetMode="External"/><Relationship Id="rId5" Type="http://schemas.openxmlformats.org/officeDocument/2006/relationships/hyperlink" Target="https://curriculum.nsw.edu.au/" TargetMode="External"/><Relationship Id="rId10" Type="http://schemas.openxmlformats.org/officeDocument/2006/relationships/hyperlink" Target="https://polypad.amplify.com/p/JQHDndMjUbbTPA"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abc.net.au/education/time-tools-12-hour-to-the-minute/13801920"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toytheater.com/stopwatch/"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toytheater.com/clock/"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toytheater.com/time/"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nrich.maths.org/1812"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aligns to the learning in Stage 2 Year B Unit 30 and revisits content from earlier sample units.</a:t>
            </a: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30</a:t>
            </a: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E8B51-2F90-C672-235F-2666EEF119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2F3055C-CDD9-8479-476F-AFD15E3C7358}"/>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sp>
        <p:nvSpPr>
          <p:cNvPr id="18" name="Text Placeholder 17">
            <a:extLst>
              <a:ext uri="{FF2B5EF4-FFF2-40B4-BE49-F238E27FC236}">
                <a16:creationId xmlns:a16="http://schemas.microsoft.com/office/drawing/2014/main" id="{9F26F202-5DC9-97CC-95D8-C931529BE906}"/>
              </a:ext>
            </a:extLst>
          </p:cNvPr>
          <p:cNvSpPr>
            <a:spLocks noGrp="1"/>
          </p:cNvSpPr>
          <p:nvPr>
            <p:ph type="body" sz="quarter" idx="24"/>
          </p:nvPr>
        </p:nvSpPr>
        <p:spPr>
          <a:xfrm>
            <a:off x="360000" y="1184019"/>
            <a:ext cx="11243037" cy="893226"/>
          </a:xfrm>
        </p:spPr>
        <p:txBody>
          <a:bodyPr/>
          <a:lstStyle/>
          <a:p>
            <a:pPr algn="ctr"/>
            <a:r>
              <a:rPr lang="en-AU" sz="3200"/>
              <a:t>Andrea builds an array with </a:t>
            </a:r>
            <a:r>
              <a:rPr lang="en-AU" sz="3200" b="1"/>
              <a:t>4 rows of 5 counters</a:t>
            </a:r>
            <a:r>
              <a:rPr lang="en-AU" sz="3200"/>
              <a:t>. Which set of number sentences correctly shows the related multiplication and division facts?</a:t>
            </a:r>
          </a:p>
        </p:txBody>
      </p:sp>
      <p:sp>
        <p:nvSpPr>
          <p:cNvPr id="9" name="TextBox 8">
            <a:extLst>
              <a:ext uri="{FF2B5EF4-FFF2-40B4-BE49-F238E27FC236}">
                <a16:creationId xmlns:a16="http://schemas.microsoft.com/office/drawing/2014/main" id="{B0FD3E23-A1AB-A572-F9A8-D2E47B1BE771}"/>
              </a:ext>
            </a:extLst>
          </p:cNvPr>
          <p:cNvSpPr txBox="1"/>
          <p:nvPr/>
        </p:nvSpPr>
        <p:spPr>
          <a:xfrm>
            <a:off x="1274131" y="343974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2E5F21EF-86CE-43F5-5A60-2DBA0DE21DE9}"/>
              </a:ext>
            </a:extLst>
          </p:cNvPr>
          <p:cNvSpPr txBox="1"/>
          <p:nvPr/>
        </p:nvSpPr>
        <p:spPr>
          <a:xfrm>
            <a:off x="4252139" y="343974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2613E731-E2EB-3671-DD57-51C24CA2D670}"/>
              </a:ext>
            </a:extLst>
          </p:cNvPr>
          <p:cNvSpPr txBox="1"/>
          <p:nvPr/>
        </p:nvSpPr>
        <p:spPr>
          <a:xfrm>
            <a:off x="7200966" y="343974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70CA45D3-9F62-1568-C38B-08B3367A908D}"/>
              </a:ext>
            </a:extLst>
          </p:cNvPr>
          <p:cNvSpPr txBox="1"/>
          <p:nvPr/>
        </p:nvSpPr>
        <p:spPr>
          <a:xfrm>
            <a:off x="10227686" y="343974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pic>
        <p:nvPicPr>
          <p:cNvPr id="4" name="Picture 3">
            <a:extLst>
              <a:ext uri="{FF2B5EF4-FFF2-40B4-BE49-F238E27FC236}">
                <a16:creationId xmlns:a16="http://schemas.microsoft.com/office/drawing/2014/main" id="{D2699E88-B966-8229-19CE-C6507C2AF78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20AAC3D2-937B-884A-2BCF-033539FB165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5" name="TextBox 4">
            <a:extLst>
              <a:ext uri="{FF2B5EF4-FFF2-40B4-BE49-F238E27FC236}">
                <a16:creationId xmlns:a16="http://schemas.microsoft.com/office/drawing/2014/main" id="{936EDC83-CB9C-3798-140E-B47E65AD46D9}"/>
              </a:ext>
            </a:extLst>
          </p:cNvPr>
          <p:cNvSpPr txBox="1"/>
          <p:nvPr/>
        </p:nvSpPr>
        <p:spPr>
          <a:xfrm>
            <a:off x="614286" y="4387826"/>
            <a:ext cx="1849120" cy="2128174"/>
          </a:xfrm>
          <a:prstGeom prst="rect">
            <a:avLst/>
          </a:prstGeom>
          <a:noFill/>
          <a:ln>
            <a:solidFill>
              <a:schemeClr val="accent1"/>
            </a:solidFill>
          </a:ln>
        </p:spPr>
        <p:txBody>
          <a:bodyPr wrap="square" lIns="0" tIns="0" rIns="0" bIns="0" rtlCol="0">
            <a:noAutofit/>
          </a:bodyPr>
          <a:lstStyle/>
          <a:p>
            <a:pPr algn="ctr">
              <a:lnSpc>
                <a:spcPct val="150000"/>
              </a:lnSpc>
            </a:pPr>
            <a:r>
              <a:rPr lang="en-AU"/>
              <a:t>4 × 5 = 20</a:t>
            </a:r>
          </a:p>
          <a:p>
            <a:pPr algn="ctr">
              <a:lnSpc>
                <a:spcPct val="150000"/>
              </a:lnSpc>
            </a:pPr>
            <a:r>
              <a:rPr lang="en-AU"/>
              <a:t>5 × 4 = 20</a:t>
            </a:r>
          </a:p>
          <a:p>
            <a:pPr algn="ctr">
              <a:lnSpc>
                <a:spcPct val="150000"/>
              </a:lnSpc>
            </a:pPr>
            <a:r>
              <a:rPr lang="en-AU"/>
              <a:t>20 ÷ 4 = 5</a:t>
            </a:r>
          </a:p>
          <a:p>
            <a:pPr algn="ctr">
              <a:lnSpc>
                <a:spcPct val="150000"/>
              </a:lnSpc>
            </a:pPr>
            <a:r>
              <a:rPr lang="en-AU"/>
              <a:t>20 ÷ 5 = 4</a:t>
            </a:r>
          </a:p>
          <a:p>
            <a:pPr algn="ctr">
              <a:lnSpc>
                <a:spcPct val="150000"/>
              </a:lnSpc>
            </a:pPr>
            <a:endParaRPr lang="en-AU"/>
          </a:p>
        </p:txBody>
      </p:sp>
      <p:sp>
        <p:nvSpPr>
          <p:cNvPr id="6" name="TextBox 5">
            <a:extLst>
              <a:ext uri="{FF2B5EF4-FFF2-40B4-BE49-F238E27FC236}">
                <a16:creationId xmlns:a16="http://schemas.microsoft.com/office/drawing/2014/main" id="{E582664A-1EE3-9289-70E3-BABF489271FD}"/>
              </a:ext>
            </a:extLst>
          </p:cNvPr>
          <p:cNvSpPr txBox="1"/>
          <p:nvPr/>
        </p:nvSpPr>
        <p:spPr>
          <a:xfrm>
            <a:off x="3592294" y="4387826"/>
            <a:ext cx="1849120" cy="2128174"/>
          </a:xfrm>
          <a:prstGeom prst="rect">
            <a:avLst/>
          </a:prstGeom>
          <a:noFill/>
          <a:ln>
            <a:solidFill>
              <a:schemeClr val="accent1"/>
            </a:solidFill>
          </a:ln>
        </p:spPr>
        <p:txBody>
          <a:bodyPr wrap="square" lIns="0" tIns="0" rIns="0" bIns="0" rtlCol="0">
            <a:noAutofit/>
          </a:bodyPr>
          <a:lstStyle/>
          <a:p>
            <a:pPr algn="ctr">
              <a:lnSpc>
                <a:spcPct val="150000"/>
              </a:lnSpc>
            </a:pPr>
            <a:r>
              <a:rPr lang="en-AU"/>
              <a:t>4 × 5 = 9</a:t>
            </a:r>
          </a:p>
          <a:p>
            <a:pPr algn="ctr">
              <a:lnSpc>
                <a:spcPct val="150000"/>
              </a:lnSpc>
            </a:pPr>
            <a:r>
              <a:rPr lang="en-AU"/>
              <a:t>5 × 4 = 9</a:t>
            </a:r>
          </a:p>
          <a:p>
            <a:pPr algn="ctr">
              <a:lnSpc>
                <a:spcPct val="150000"/>
              </a:lnSpc>
            </a:pPr>
            <a:r>
              <a:rPr lang="en-AU"/>
              <a:t>20 ÷ 4 = 5</a:t>
            </a:r>
          </a:p>
          <a:p>
            <a:pPr algn="ctr">
              <a:lnSpc>
                <a:spcPct val="150000"/>
              </a:lnSpc>
            </a:pPr>
            <a:r>
              <a:rPr lang="en-AU"/>
              <a:t>20 ÷ 5 = 4</a:t>
            </a:r>
          </a:p>
        </p:txBody>
      </p:sp>
      <p:sp>
        <p:nvSpPr>
          <p:cNvPr id="13" name="TextBox 12">
            <a:extLst>
              <a:ext uri="{FF2B5EF4-FFF2-40B4-BE49-F238E27FC236}">
                <a16:creationId xmlns:a16="http://schemas.microsoft.com/office/drawing/2014/main" id="{8CB99C19-8C31-A797-FE69-D8EDC3258D9A}"/>
              </a:ext>
            </a:extLst>
          </p:cNvPr>
          <p:cNvSpPr txBox="1"/>
          <p:nvPr/>
        </p:nvSpPr>
        <p:spPr>
          <a:xfrm>
            <a:off x="6511938" y="4397301"/>
            <a:ext cx="1849120" cy="2128174"/>
          </a:xfrm>
          <a:prstGeom prst="rect">
            <a:avLst/>
          </a:prstGeom>
          <a:noFill/>
          <a:ln>
            <a:solidFill>
              <a:schemeClr val="accent1"/>
            </a:solidFill>
          </a:ln>
        </p:spPr>
        <p:txBody>
          <a:bodyPr wrap="square" lIns="0" tIns="0" rIns="0" bIns="0" rtlCol="0">
            <a:noAutofit/>
          </a:bodyPr>
          <a:lstStyle/>
          <a:p>
            <a:pPr algn="ctr">
              <a:lnSpc>
                <a:spcPct val="150000"/>
              </a:lnSpc>
            </a:pPr>
            <a:r>
              <a:rPr lang="en-AU"/>
              <a:t>4 × 5 = 20</a:t>
            </a:r>
          </a:p>
          <a:p>
            <a:pPr algn="ctr">
              <a:lnSpc>
                <a:spcPct val="150000"/>
              </a:lnSpc>
            </a:pPr>
            <a:r>
              <a:rPr lang="en-AU"/>
              <a:t>5 × 4 = 20</a:t>
            </a:r>
          </a:p>
          <a:p>
            <a:pPr algn="ctr">
              <a:lnSpc>
                <a:spcPct val="150000"/>
              </a:lnSpc>
            </a:pPr>
            <a:r>
              <a:rPr lang="en-AU"/>
              <a:t>20 ÷ 4 = 4</a:t>
            </a:r>
          </a:p>
          <a:p>
            <a:pPr algn="ctr">
              <a:lnSpc>
                <a:spcPct val="150000"/>
              </a:lnSpc>
            </a:pPr>
            <a:r>
              <a:rPr lang="en-AU"/>
              <a:t>20 ÷ 5 = 5</a:t>
            </a:r>
          </a:p>
        </p:txBody>
      </p:sp>
      <p:sp>
        <p:nvSpPr>
          <p:cNvPr id="14" name="TextBox 13">
            <a:extLst>
              <a:ext uri="{FF2B5EF4-FFF2-40B4-BE49-F238E27FC236}">
                <a16:creationId xmlns:a16="http://schemas.microsoft.com/office/drawing/2014/main" id="{A278FC3C-5AF6-DEDC-8450-5B7EC9A552C3}"/>
              </a:ext>
            </a:extLst>
          </p:cNvPr>
          <p:cNvSpPr txBox="1"/>
          <p:nvPr/>
        </p:nvSpPr>
        <p:spPr>
          <a:xfrm>
            <a:off x="9489946" y="4441880"/>
            <a:ext cx="1849120" cy="2128174"/>
          </a:xfrm>
          <a:prstGeom prst="rect">
            <a:avLst/>
          </a:prstGeom>
          <a:noFill/>
          <a:ln>
            <a:solidFill>
              <a:schemeClr val="accent1"/>
            </a:solidFill>
          </a:ln>
        </p:spPr>
        <p:txBody>
          <a:bodyPr wrap="square" lIns="0" tIns="0" rIns="0" bIns="0" rtlCol="0">
            <a:noAutofit/>
          </a:bodyPr>
          <a:lstStyle/>
          <a:p>
            <a:pPr algn="ctr">
              <a:lnSpc>
                <a:spcPct val="150000"/>
              </a:lnSpc>
            </a:pPr>
            <a:r>
              <a:rPr lang="en-AU"/>
              <a:t>4 × 5 = 20</a:t>
            </a:r>
          </a:p>
          <a:p>
            <a:pPr algn="ctr">
              <a:lnSpc>
                <a:spcPct val="150000"/>
              </a:lnSpc>
            </a:pPr>
            <a:r>
              <a:rPr lang="en-AU"/>
              <a:t>5 × 2 = 20</a:t>
            </a:r>
          </a:p>
          <a:p>
            <a:pPr algn="ctr">
              <a:lnSpc>
                <a:spcPct val="150000"/>
              </a:lnSpc>
            </a:pPr>
            <a:r>
              <a:rPr lang="en-AU"/>
              <a:t>4 ÷ 20 = 5</a:t>
            </a:r>
          </a:p>
          <a:p>
            <a:pPr algn="ctr">
              <a:lnSpc>
                <a:spcPct val="150000"/>
              </a:lnSpc>
            </a:pPr>
            <a:r>
              <a:rPr lang="en-AU"/>
              <a:t>5 ÷ 20 = 4</a:t>
            </a:r>
          </a:p>
        </p:txBody>
      </p:sp>
    </p:spTree>
    <p:extLst>
      <p:ext uri="{BB962C8B-B14F-4D97-AF65-F5344CB8AC3E}">
        <p14:creationId xmlns:p14="http://schemas.microsoft.com/office/powerpoint/2010/main" val="2406852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78348"/>
            <a:ext cx="915500" cy="915500"/>
          </a:xfrm>
          <a:prstGeom prst="rect">
            <a:avLst/>
          </a:prstGeom>
        </p:spPr>
      </p:pic>
      <p:sp>
        <p:nvSpPr>
          <p:cNvPr id="4" name="TextBox 3">
            <a:extLst>
              <a:ext uri="{FF2B5EF4-FFF2-40B4-BE49-F238E27FC236}">
                <a16:creationId xmlns:a16="http://schemas.microsoft.com/office/drawing/2014/main" id="{DB80FA78-C3AD-87D1-52C0-85C6D4A3CE85}"/>
              </a:ext>
            </a:extLst>
          </p:cNvPr>
          <p:cNvSpPr txBox="1"/>
          <p:nvPr/>
        </p:nvSpPr>
        <p:spPr>
          <a:xfrm>
            <a:off x="470435" y="1058351"/>
            <a:ext cx="11251130" cy="5179027"/>
          </a:xfrm>
          <a:prstGeom prst="rect">
            <a:avLst/>
          </a:prstGeom>
          <a:noFill/>
        </p:spPr>
        <p:txBody>
          <a:bodyPr wrap="square" lIns="0" tIns="0" rIns="0" bIns="0" rtlCol="0">
            <a:noAutofit/>
          </a:bodyPr>
          <a:lstStyle/>
          <a:p>
            <a:pPr>
              <a:lnSpc>
                <a:spcPct val="150000"/>
              </a:lnSpc>
            </a:pPr>
            <a:r>
              <a:rPr lang="en-AU" sz="4400"/>
              <a:t>Draw and label the </a:t>
            </a:r>
            <a:r>
              <a:rPr lang="en-AU" sz="4400" b="1"/>
              <a:t>angle</a:t>
            </a:r>
            <a:r>
              <a:rPr lang="en-AU" sz="4400"/>
              <a:t> using the terms:</a:t>
            </a:r>
          </a:p>
          <a:p>
            <a:pPr marL="571500" indent="-571500">
              <a:lnSpc>
                <a:spcPct val="150000"/>
              </a:lnSpc>
              <a:buFont typeface="Arial" panose="020B0604020202020204" pitchFamily="34" charset="0"/>
              <a:buChar char="•"/>
            </a:pPr>
            <a:r>
              <a:rPr lang="en-AU" sz="4400"/>
              <a:t>arm</a:t>
            </a:r>
          </a:p>
          <a:p>
            <a:pPr marL="571500" indent="-571500">
              <a:lnSpc>
                <a:spcPct val="150000"/>
              </a:lnSpc>
              <a:buFont typeface="Arial" panose="020B0604020202020204" pitchFamily="34" charset="0"/>
              <a:buChar char="•"/>
            </a:pPr>
            <a:r>
              <a:rPr lang="en-AU" sz="4400"/>
              <a:t>angle</a:t>
            </a:r>
          </a:p>
          <a:p>
            <a:pPr marL="571500" indent="-571500">
              <a:lnSpc>
                <a:spcPct val="150000"/>
              </a:lnSpc>
              <a:buFont typeface="Arial" panose="020B0604020202020204" pitchFamily="34" charset="0"/>
              <a:buChar char="•"/>
            </a:pPr>
            <a:r>
              <a:rPr lang="en-AU" sz="4400"/>
              <a:t>vertex</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7" name="Picture 6" descr="An angle with arrows pointing to labels 1 through to 4.">
            <a:extLst>
              <a:ext uri="{FF2B5EF4-FFF2-40B4-BE49-F238E27FC236}">
                <a16:creationId xmlns:a16="http://schemas.microsoft.com/office/drawing/2014/main" id="{0ADA83D0-A133-8395-E29F-0B856147A47C}"/>
              </a:ext>
            </a:extLst>
          </p:cNvPr>
          <p:cNvPicPr>
            <a:picLocks noChangeAspect="1"/>
          </p:cNvPicPr>
          <p:nvPr/>
        </p:nvPicPr>
        <p:blipFill>
          <a:blip r:embed="rId4"/>
          <a:stretch>
            <a:fillRect/>
          </a:stretch>
        </p:blipFill>
        <p:spPr>
          <a:xfrm>
            <a:off x="4254841" y="2200589"/>
            <a:ext cx="6472427" cy="429741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340392"/>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9" name="TextBox 8">
            <a:extLst>
              <a:ext uri="{FF2B5EF4-FFF2-40B4-BE49-F238E27FC236}">
                <a16:creationId xmlns:a16="http://schemas.microsoft.com/office/drawing/2014/main" id="{FA8C2944-45EA-2EF0-A522-78BC77343E83}"/>
              </a:ext>
            </a:extLst>
          </p:cNvPr>
          <p:cNvSpPr txBox="1"/>
          <p:nvPr/>
        </p:nvSpPr>
        <p:spPr>
          <a:xfrm>
            <a:off x="967112" y="798142"/>
            <a:ext cx="9911760" cy="2244777"/>
          </a:xfrm>
          <a:prstGeom prst="rect">
            <a:avLst/>
          </a:prstGeom>
          <a:noFill/>
        </p:spPr>
        <p:txBody>
          <a:bodyPr wrap="square" lIns="0" tIns="0" rIns="0" bIns="0" rtlCol="0">
            <a:noAutofit/>
          </a:bodyPr>
          <a:lstStyle/>
          <a:p>
            <a:pPr algn="ctr">
              <a:lnSpc>
                <a:spcPct val="150000"/>
              </a:lnSpc>
            </a:pPr>
            <a:r>
              <a:rPr lang="en-AU" sz="4000"/>
              <a:t>Name the following three-dimensional object. Identify the number of </a:t>
            </a:r>
            <a:r>
              <a:rPr lang="en-AU" sz="4000" b="1"/>
              <a:t>faces</a:t>
            </a:r>
            <a:r>
              <a:rPr lang="en-AU" sz="4000"/>
              <a:t>, </a:t>
            </a:r>
            <a:r>
              <a:rPr lang="en-AU" sz="4000" b="1"/>
              <a:t>vertices</a:t>
            </a:r>
            <a:r>
              <a:rPr lang="en-AU" sz="4000"/>
              <a:t> and </a:t>
            </a:r>
            <a:r>
              <a:rPr lang="en-AU" sz="4000" b="1"/>
              <a:t>edges.</a:t>
            </a:r>
            <a:endParaRPr lang="en-AU" sz="4000"/>
          </a:p>
        </p:txBody>
      </p:sp>
      <p:sp>
        <p:nvSpPr>
          <p:cNvPr id="10" name="Freeform 2" descr="A pyramid.">
            <a:extLst>
              <a:ext uri="{FF2B5EF4-FFF2-40B4-BE49-F238E27FC236}">
                <a16:creationId xmlns:a16="http://schemas.microsoft.com/office/drawing/2014/main" id="{0D68845C-2ABF-C8B7-10B4-776933C66A37}"/>
              </a:ext>
            </a:extLst>
          </p:cNvPr>
          <p:cNvSpPr/>
          <p:nvPr/>
        </p:nvSpPr>
        <p:spPr>
          <a:xfrm>
            <a:off x="4507382" y="3582000"/>
            <a:ext cx="2831220" cy="3024000"/>
          </a:xfrm>
          <a:custGeom>
            <a:avLst/>
            <a:gdLst/>
            <a:ahLst/>
            <a:cxnLst/>
            <a:rect l="l" t="t" r="r" b="b"/>
            <a:pathLst>
              <a:path w="2831220" h="3024000">
                <a:moveTo>
                  <a:pt x="0" y="0"/>
                </a:moveTo>
                <a:lnTo>
                  <a:pt x="2831220" y="0"/>
                </a:lnTo>
                <a:lnTo>
                  <a:pt x="2831220" y="3024000"/>
                </a:lnTo>
                <a:lnTo>
                  <a:pt x="0" y="3024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8" name="TextBox 7">
            <a:extLst>
              <a:ext uri="{FF2B5EF4-FFF2-40B4-BE49-F238E27FC236}">
                <a16:creationId xmlns:a16="http://schemas.microsoft.com/office/drawing/2014/main" id="{5B524F58-D85D-8C51-1734-84F56BD4395E}"/>
              </a:ext>
            </a:extLst>
          </p:cNvPr>
          <p:cNvSpPr txBox="1"/>
          <p:nvPr/>
        </p:nvSpPr>
        <p:spPr>
          <a:xfrm>
            <a:off x="360000" y="1065439"/>
            <a:ext cx="4161200" cy="5374640"/>
          </a:xfrm>
          <a:prstGeom prst="rect">
            <a:avLst/>
          </a:prstGeom>
          <a:noFill/>
        </p:spPr>
        <p:txBody>
          <a:bodyPr wrap="square" lIns="0" tIns="0" rIns="0" bIns="0" rtlCol="0">
            <a:noAutofit/>
          </a:bodyPr>
          <a:lstStyle/>
          <a:p>
            <a:pPr algn="ctr">
              <a:lnSpc>
                <a:spcPct val="150000"/>
              </a:lnSpc>
            </a:pPr>
            <a:r>
              <a:rPr lang="en-AU" sz="3000"/>
              <a:t>Tessa started at the </a:t>
            </a:r>
            <a:r>
              <a:rPr lang="en-AU" sz="3000" b="1"/>
              <a:t>fire station</a:t>
            </a:r>
            <a:r>
              <a:rPr lang="en-AU" sz="3000"/>
              <a:t> and made a </a:t>
            </a:r>
            <a:r>
              <a:rPr lang="en-AU" sz="3000">
                <a:solidFill>
                  <a:schemeClr val="accent2"/>
                </a:solidFill>
              </a:rPr>
              <a:t>quarter-turn</a:t>
            </a:r>
            <a:r>
              <a:rPr lang="en-AU" sz="3000"/>
              <a:t> down the road to go to the </a:t>
            </a:r>
            <a:r>
              <a:rPr lang="en-AU" sz="3000" b="1"/>
              <a:t>bank</a:t>
            </a:r>
            <a:r>
              <a:rPr lang="en-AU" sz="3000"/>
              <a:t>.</a:t>
            </a:r>
          </a:p>
          <a:p>
            <a:pPr algn="ctr">
              <a:lnSpc>
                <a:spcPct val="150000"/>
              </a:lnSpc>
            </a:pPr>
            <a:r>
              <a:rPr lang="en-AU" sz="3000"/>
              <a:t>Describe Tessa’s </a:t>
            </a:r>
            <a:r>
              <a:rPr lang="en-AU" sz="3000">
                <a:solidFill>
                  <a:schemeClr val="accent2"/>
                </a:solidFill>
              </a:rPr>
              <a:t>quarter-turn</a:t>
            </a:r>
            <a:r>
              <a:rPr lang="en-AU" sz="3000"/>
              <a:t> as type of  </a:t>
            </a:r>
            <a:r>
              <a:rPr lang="en-AU" sz="3000" b="1"/>
              <a:t>angle.</a:t>
            </a:r>
            <a:endParaRPr lang="en-AU" sz="3000"/>
          </a:p>
        </p:txBody>
      </p:sp>
      <p:pic>
        <p:nvPicPr>
          <p:cNvPr id="7" name="Picture 6" descr="A simple street map on a 5 by 6 grid. The streets are represented by grey squares with entrances on the bottom, top and right-hand side. The streets are lined with shops, parks and other common buildings such as a bank, town hall and a fire station.  A lady's trip has been documented on the map by a quarter-turn from the fire station to the bank.">
            <a:extLst>
              <a:ext uri="{FF2B5EF4-FFF2-40B4-BE49-F238E27FC236}">
                <a16:creationId xmlns:a16="http://schemas.microsoft.com/office/drawing/2014/main" id="{F8E140A7-D756-F15F-FD91-4248FB86AC41}"/>
              </a:ext>
            </a:extLst>
          </p:cNvPr>
          <p:cNvPicPr>
            <a:picLocks noChangeAspect="1"/>
          </p:cNvPicPr>
          <p:nvPr/>
        </p:nvPicPr>
        <p:blipFill>
          <a:blip r:embed="rId4"/>
          <a:stretch>
            <a:fillRect/>
          </a:stretch>
        </p:blipFill>
        <p:spPr>
          <a:xfrm>
            <a:off x="4793311" y="726473"/>
            <a:ext cx="6085561" cy="5588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4" name="TextBox 3">
            <a:extLst>
              <a:ext uri="{FF2B5EF4-FFF2-40B4-BE49-F238E27FC236}">
                <a16:creationId xmlns:a16="http://schemas.microsoft.com/office/drawing/2014/main" id="{ABC4797B-2AC4-CDE1-7456-839F0B541A94}"/>
              </a:ext>
            </a:extLst>
          </p:cNvPr>
          <p:cNvSpPr txBox="1"/>
          <p:nvPr/>
        </p:nvSpPr>
        <p:spPr>
          <a:xfrm>
            <a:off x="708000" y="1343056"/>
            <a:ext cx="10666800" cy="1569137"/>
          </a:xfrm>
          <a:prstGeom prst="rect">
            <a:avLst/>
          </a:prstGeom>
          <a:noFill/>
        </p:spPr>
        <p:txBody>
          <a:bodyPr wrap="square" lIns="0" tIns="0" rIns="0" bIns="0" rtlCol="0">
            <a:noAutofit/>
          </a:bodyPr>
          <a:lstStyle/>
          <a:p>
            <a:pPr algn="ctr">
              <a:lnSpc>
                <a:spcPct val="150000"/>
              </a:lnSpc>
            </a:pPr>
            <a:r>
              <a:rPr lang="en-AU" sz="4000"/>
              <a:t>How many minutes remaining until the next hour on the digital times?</a:t>
            </a:r>
          </a:p>
        </p:txBody>
      </p:sp>
      <p:grpSp>
        <p:nvGrpSpPr>
          <p:cNvPr id="15" name="Group 14" descr="a) 4:48">
            <a:extLst>
              <a:ext uri="{FF2B5EF4-FFF2-40B4-BE49-F238E27FC236}">
                <a16:creationId xmlns:a16="http://schemas.microsoft.com/office/drawing/2014/main" id="{AEE6EF93-927C-F2A0-4163-279AAA82C654}"/>
              </a:ext>
            </a:extLst>
          </p:cNvPr>
          <p:cNvGrpSpPr/>
          <p:nvPr/>
        </p:nvGrpSpPr>
        <p:grpSpPr>
          <a:xfrm>
            <a:off x="708000" y="3830320"/>
            <a:ext cx="2762636" cy="1982647"/>
            <a:chOff x="708000" y="3830320"/>
            <a:chExt cx="2762636" cy="1982647"/>
          </a:xfrm>
        </p:grpSpPr>
        <p:pic>
          <p:nvPicPr>
            <p:cNvPr id="9" name="Picture 8">
              <a:extLst>
                <a:ext uri="{FF2B5EF4-FFF2-40B4-BE49-F238E27FC236}">
                  <a16:creationId xmlns:a16="http://schemas.microsoft.com/office/drawing/2014/main" id="{7D5B5260-355A-E3AA-BC65-72D739386262}"/>
                </a:ext>
              </a:extLst>
            </p:cNvPr>
            <p:cNvPicPr>
              <a:picLocks noChangeAspect="1"/>
            </p:cNvPicPr>
            <p:nvPr/>
          </p:nvPicPr>
          <p:blipFill>
            <a:blip r:embed="rId4"/>
            <a:stretch>
              <a:fillRect/>
            </a:stretch>
          </p:blipFill>
          <p:spPr>
            <a:xfrm>
              <a:off x="708000" y="4536439"/>
              <a:ext cx="2762636" cy="1276528"/>
            </a:xfrm>
            <a:prstGeom prst="rect">
              <a:avLst/>
            </a:prstGeom>
          </p:spPr>
        </p:pic>
        <p:sp>
          <p:nvSpPr>
            <p:cNvPr id="12" name="TextBox 11">
              <a:extLst>
                <a:ext uri="{FF2B5EF4-FFF2-40B4-BE49-F238E27FC236}">
                  <a16:creationId xmlns:a16="http://schemas.microsoft.com/office/drawing/2014/main" id="{D9DAE952-8702-C238-8CE6-1AFE0EEA3A25}"/>
                </a:ext>
              </a:extLst>
            </p:cNvPr>
            <p:cNvSpPr txBox="1"/>
            <p:nvPr/>
          </p:nvSpPr>
          <p:spPr>
            <a:xfrm>
              <a:off x="782320" y="3830320"/>
              <a:ext cx="670560" cy="574039"/>
            </a:xfrm>
            <a:prstGeom prst="rect">
              <a:avLst/>
            </a:prstGeom>
            <a:noFill/>
          </p:spPr>
          <p:txBody>
            <a:bodyPr wrap="square" lIns="0" tIns="0" rIns="0" bIns="0" rtlCol="0">
              <a:noAutofit/>
            </a:bodyPr>
            <a:lstStyle/>
            <a:p>
              <a:pPr algn="l"/>
              <a:r>
                <a:rPr lang="en-AU" sz="4000"/>
                <a:t>a)</a:t>
              </a:r>
            </a:p>
          </p:txBody>
        </p:sp>
      </p:grpSp>
      <p:grpSp>
        <p:nvGrpSpPr>
          <p:cNvPr id="16" name="Group 15" descr="b) 12:54">
            <a:extLst>
              <a:ext uri="{FF2B5EF4-FFF2-40B4-BE49-F238E27FC236}">
                <a16:creationId xmlns:a16="http://schemas.microsoft.com/office/drawing/2014/main" id="{3DD866DD-C254-9132-7BD9-7535A2399486}"/>
              </a:ext>
            </a:extLst>
          </p:cNvPr>
          <p:cNvGrpSpPr/>
          <p:nvPr/>
        </p:nvGrpSpPr>
        <p:grpSpPr>
          <a:xfrm>
            <a:off x="4699738" y="3830319"/>
            <a:ext cx="3077004" cy="1887385"/>
            <a:chOff x="4699738" y="3830319"/>
            <a:chExt cx="3077004" cy="1887385"/>
          </a:xfrm>
        </p:grpSpPr>
        <p:pic>
          <p:nvPicPr>
            <p:cNvPr id="7" name="Picture 6">
              <a:extLst>
                <a:ext uri="{FF2B5EF4-FFF2-40B4-BE49-F238E27FC236}">
                  <a16:creationId xmlns:a16="http://schemas.microsoft.com/office/drawing/2014/main" id="{05B25464-562B-611D-F7F4-FA63FA154802}"/>
                </a:ext>
              </a:extLst>
            </p:cNvPr>
            <p:cNvPicPr>
              <a:picLocks noChangeAspect="1"/>
            </p:cNvPicPr>
            <p:nvPr/>
          </p:nvPicPr>
          <p:blipFill>
            <a:blip r:embed="rId5"/>
            <a:stretch>
              <a:fillRect/>
            </a:stretch>
          </p:blipFill>
          <p:spPr>
            <a:xfrm>
              <a:off x="4699738" y="4536439"/>
              <a:ext cx="3077004" cy="1181265"/>
            </a:xfrm>
            <a:prstGeom prst="rect">
              <a:avLst/>
            </a:prstGeom>
          </p:spPr>
        </p:pic>
        <p:sp>
          <p:nvSpPr>
            <p:cNvPr id="13" name="TextBox 12">
              <a:extLst>
                <a:ext uri="{FF2B5EF4-FFF2-40B4-BE49-F238E27FC236}">
                  <a16:creationId xmlns:a16="http://schemas.microsoft.com/office/drawing/2014/main" id="{86B9C456-8727-B44E-28BD-7CB480FB64AC}"/>
                </a:ext>
              </a:extLst>
            </p:cNvPr>
            <p:cNvSpPr txBox="1"/>
            <p:nvPr/>
          </p:nvSpPr>
          <p:spPr>
            <a:xfrm>
              <a:off x="4791178" y="3830319"/>
              <a:ext cx="670560" cy="574039"/>
            </a:xfrm>
            <a:prstGeom prst="rect">
              <a:avLst/>
            </a:prstGeom>
            <a:noFill/>
          </p:spPr>
          <p:txBody>
            <a:bodyPr wrap="square" lIns="0" tIns="0" rIns="0" bIns="0" rtlCol="0">
              <a:noAutofit/>
            </a:bodyPr>
            <a:lstStyle/>
            <a:p>
              <a:pPr algn="l"/>
              <a:r>
                <a:rPr lang="en-AU" sz="4000"/>
                <a:t>b)</a:t>
              </a:r>
            </a:p>
          </p:txBody>
        </p:sp>
      </p:grpSp>
      <p:grpSp>
        <p:nvGrpSpPr>
          <p:cNvPr id="17" name="Group 16" descr="c) 7:39">
            <a:extLst>
              <a:ext uri="{FF2B5EF4-FFF2-40B4-BE49-F238E27FC236}">
                <a16:creationId xmlns:a16="http://schemas.microsoft.com/office/drawing/2014/main" id="{A392CB79-7B47-F797-66B9-F5BB4303D8C5}"/>
              </a:ext>
            </a:extLst>
          </p:cNvPr>
          <p:cNvGrpSpPr/>
          <p:nvPr/>
        </p:nvGrpSpPr>
        <p:grpSpPr>
          <a:xfrm>
            <a:off x="8721364" y="3830319"/>
            <a:ext cx="2762636" cy="1930253"/>
            <a:chOff x="8721364" y="3830319"/>
            <a:chExt cx="2762636" cy="1930253"/>
          </a:xfrm>
        </p:grpSpPr>
        <p:pic>
          <p:nvPicPr>
            <p:cNvPr id="11" name="Picture 10">
              <a:extLst>
                <a:ext uri="{FF2B5EF4-FFF2-40B4-BE49-F238E27FC236}">
                  <a16:creationId xmlns:a16="http://schemas.microsoft.com/office/drawing/2014/main" id="{290B5026-536A-0520-E735-F9789FEF447A}"/>
                </a:ext>
              </a:extLst>
            </p:cNvPr>
            <p:cNvPicPr>
              <a:picLocks noChangeAspect="1"/>
            </p:cNvPicPr>
            <p:nvPr/>
          </p:nvPicPr>
          <p:blipFill>
            <a:blip r:embed="rId6"/>
            <a:stretch>
              <a:fillRect/>
            </a:stretch>
          </p:blipFill>
          <p:spPr>
            <a:xfrm>
              <a:off x="8721364" y="4493570"/>
              <a:ext cx="2762636" cy="1267002"/>
            </a:xfrm>
            <a:prstGeom prst="rect">
              <a:avLst/>
            </a:prstGeom>
          </p:spPr>
        </p:pic>
        <p:sp>
          <p:nvSpPr>
            <p:cNvPr id="14" name="TextBox 13">
              <a:extLst>
                <a:ext uri="{FF2B5EF4-FFF2-40B4-BE49-F238E27FC236}">
                  <a16:creationId xmlns:a16="http://schemas.microsoft.com/office/drawing/2014/main" id="{67DE42A4-A0B4-87AD-C03F-A19FBFFF3D06}"/>
                </a:ext>
              </a:extLst>
            </p:cNvPr>
            <p:cNvSpPr txBox="1"/>
            <p:nvPr/>
          </p:nvSpPr>
          <p:spPr>
            <a:xfrm>
              <a:off x="8800036" y="3830319"/>
              <a:ext cx="670560" cy="574039"/>
            </a:xfrm>
            <a:prstGeom prst="rect">
              <a:avLst/>
            </a:prstGeom>
            <a:noFill/>
          </p:spPr>
          <p:txBody>
            <a:bodyPr wrap="square" lIns="0" tIns="0" rIns="0" bIns="0" rtlCol="0">
              <a:noAutofit/>
            </a:bodyPr>
            <a:lstStyle/>
            <a:p>
              <a:pPr algn="l"/>
              <a:r>
                <a:rPr lang="en-AU" sz="4000"/>
                <a:t>c)</a:t>
              </a:r>
            </a:p>
          </p:txBody>
        </p:sp>
      </p:gr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using arrays</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Oval 2" descr="Yellow counter">
            <a:extLst>
              <a:ext uri="{FF2B5EF4-FFF2-40B4-BE49-F238E27FC236}">
                <a16:creationId xmlns:a16="http://schemas.microsoft.com/office/drawing/2014/main" id="{5E898D90-B650-7E93-9C86-BE594625C6A2}"/>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 name="Oval 4" descr="Yellow counter">
            <a:extLst>
              <a:ext uri="{FF2B5EF4-FFF2-40B4-BE49-F238E27FC236}">
                <a16:creationId xmlns:a16="http://schemas.microsoft.com/office/drawing/2014/main" id="{B1538D09-AFD3-9CF8-162C-4A1D7C437A31}"/>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7" name="Oval 6" descr="Yellow counter">
            <a:extLst>
              <a:ext uri="{FF2B5EF4-FFF2-40B4-BE49-F238E27FC236}">
                <a16:creationId xmlns:a16="http://schemas.microsoft.com/office/drawing/2014/main" id="{5041DC4E-F283-55EE-5C89-46AF76E32853}"/>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8" name="Oval 7" descr="Yellow counter">
            <a:extLst>
              <a:ext uri="{FF2B5EF4-FFF2-40B4-BE49-F238E27FC236}">
                <a16:creationId xmlns:a16="http://schemas.microsoft.com/office/drawing/2014/main" id="{32AB6210-7127-D0B2-8DEC-2217EA4A1A2D}"/>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9" name="Oval 8" descr="Yellow counter">
            <a:extLst>
              <a:ext uri="{FF2B5EF4-FFF2-40B4-BE49-F238E27FC236}">
                <a16:creationId xmlns:a16="http://schemas.microsoft.com/office/drawing/2014/main" id="{9B9AED96-B9C0-5D02-4F03-57E91052D75B}"/>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0" name="Oval 9" descr="Yellow counter">
            <a:extLst>
              <a:ext uri="{FF2B5EF4-FFF2-40B4-BE49-F238E27FC236}">
                <a16:creationId xmlns:a16="http://schemas.microsoft.com/office/drawing/2014/main" id="{D73C7C20-EF24-7791-FE91-727733AC89CF}"/>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1" name="Oval 10" descr="Yellow counter">
            <a:extLst>
              <a:ext uri="{FF2B5EF4-FFF2-40B4-BE49-F238E27FC236}">
                <a16:creationId xmlns:a16="http://schemas.microsoft.com/office/drawing/2014/main" id="{E2BEB568-DF51-A6BD-182F-7023B5EFDFBC}"/>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2" name="Oval 11" descr="Yellow counter">
            <a:extLst>
              <a:ext uri="{FF2B5EF4-FFF2-40B4-BE49-F238E27FC236}">
                <a16:creationId xmlns:a16="http://schemas.microsoft.com/office/drawing/2014/main" id="{2F51A0E1-B554-6F30-ADB7-1B7C45151C94}"/>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3" name="Oval 12" descr="Yellow counter">
            <a:extLst>
              <a:ext uri="{FF2B5EF4-FFF2-40B4-BE49-F238E27FC236}">
                <a16:creationId xmlns:a16="http://schemas.microsoft.com/office/drawing/2014/main" id="{0C906308-C9F2-01B7-DF96-B5FB16E85F57}"/>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4" name="Oval 13" descr="Yellow counter">
            <a:extLst>
              <a:ext uri="{FF2B5EF4-FFF2-40B4-BE49-F238E27FC236}">
                <a16:creationId xmlns:a16="http://schemas.microsoft.com/office/drawing/2014/main" id="{BD8599EF-D364-7981-B89F-60172B8812AA}"/>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5" name="Oval 14" descr="Yellow counter">
            <a:extLst>
              <a:ext uri="{FF2B5EF4-FFF2-40B4-BE49-F238E27FC236}">
                <a16:creationId xmlns:a16="http://schemas.microsoft.com/office/drawing/2014/main" id="{1B086582-55E5-B86E-AFB0-DC24CB068D35}"/>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6" name="Oval 15" descr="Yellow counter">
            <a:extLst>
              <a:ext uri="{FF2B5EF4-FFF2-40B4-BE49-F238E27FC236}">
                <a16:creationId xmlns:a16="http://schemas.microsoft.com/office/drawing/2014/main" id="{6CA2985B-9FFB-0BE4-B4A7-D68F32D0CFAF}"/>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7" name="Oval 16" descr="Yellow counter">
            <a:extLst>
              <a:ext uri="{FF2B5EF4-FFF2-40B4-BE49-F238E27FC236}">
                <a16:creationId xmlns:a16="http://schemas.microsoft.com/office/drawing/2014/main" id="{7D36F9FE-1315-88CC-379E-D01189FC1DE0}"/>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8" name="Oval 17" descr="Yellow counter">
            <a:extLst>
              <a:ext uri="{FF2B5EF4-FFF2-40B4-BE49-F238E27FC236}">
                <a16:creationId xmlns:a16="http://schemas.microsoft.com/office/drawing/2014/main" id="{6FCF1B41-EFE3-E6C9-8B1E-0AB198A87D50}"/>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9" name="Oval 18" descr="Yellow counter">
            <a:extLst>
              <a:ext uri="{FF2B5EF4-FFF2-40B4-BE49-F238E27FC236}">
                <a16:creationId xmlns:a16="http://schemas.microsoft.com/office/drawing/2014/main" id="{1894532A-3A17-BB80-9FB4-088E6F74BD83}"/>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0" name="Oval 19" descr="Yellow counter">
            <a:extLst>
              <a:ext uri="{FF2B5EF4-FFF2-40B4-BE49-F238E27FC236}">
                <a16:creationId xmlns:a16="http://schemas.microsoft.com/office/drawing/2014/main" id="{DBED6C1B-B809-116F-970F-503FD2D7E28B}"/>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1" name="Oval 20" descr="Yellow counter">
            <a:extLst>
              <a:ext uri="{FF2B5EF4-FFF2-40B4-BE49-F238E27FC236}">
                <a16:creationId xmlns:a16="http://schemas.microsoft.com/office/drawing/2014/main" id="{98BA1F38-F542-4A2E-8198-32291A6B414D}"/>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2" name="Oval 21" descr="Yellow counter">
            <a:extLst>
              <a:ext uri="{FF2B5EF4-FFF2-40B4-BE49-F238E27FC236}">
                <a16:creationId xmlns:a16="http://schemas.microsoft.com/office/drawing/2014/main" id="{BE3E4BB8-E2E8-E9E7-EB2C-FF0775884AF5}"/>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3" name="Oval 22" descr="Yellow counter">
            <a:extLst>
              <a:ext uri="{FF2B5EF4-FFF2-40B4-BE49-F238E27FC236}">
                <a16:creationId xmlns:a16="http://schemas.microsoft.com/office/drawing/2014/main" id="{5C00D49A-EBD3-0FD9-F220-215C00B9B255}"/>
              </a:ext>
            </a:extLst>
          </p:cNvPr>
          <p:cNvSpPr/>
          <p:nvPr/>
        </p:nvSpPr>
        <p:spPr>
          <a:xfrm>
            <a:off x="360000" y="2084752"/>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5" name="Oval 24" descr="Red counter">
            <a:extLst>
              <a:ext uri="{FF2B5EF4-FFF2-40B4-BE49-F238E27FC236}">
                <a16:creationId xmlns:a16="http://schemas.microsoft.com/office/drawing/2014/main" id="{0F96FA05-8B2F-B36A-3CF3-E4E7F208480B}"/>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6" name="Oval 25" descr="Red counter">
            <a:extLst>
              <a:ext uri="{FF2B5EF4-FFF2-40B4-BE49-F238E27FC236}">
                <a16:creationId xmlns:a16="http://schemas.microsoft.com/office/drawing/2014/main" id="{CAEA5B9E-7C63-3C52-3E6F-0BB03DFF7FB7}"/>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7" name="Oval 26" descr="Red counter">
            <a:extLst>
              <a:ext uri="{FF2B5EF4-FFF2-40B4-BE49-F238E27FC236}">
                <a16:creationId xmlns:a16="http://schemas.microsoft.com/office/drawing/2014/main" id="{51949FCA-8F26-7DCD-266C-8B13B7A09DF0}"/>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8" name="Oval 27" descr="Red counter">
            <a:extLst>
              <a:ext uri="{FF2B5EF4-FFF2-40B4-BE49-F238E27FC236}">
                <a16:creationId xmlns:a16="http://schemas.microsoft.com/office/drawing/2014/main" id="{4B24EB47-FD79-DBF9-F1A2-B273004232B8}"/>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9" name="Oval 28" descr="Red counter">
            <a:extLst>
              <a:ext uri="{FF2B5EF4-FFF2-40B4-BE49-F238E27FC236}">
                <a16:creationId xmlns:a16="http://schemas.microsoft.com/office/drawing/2014/main" id="{B81721B8-F5C6-4FD8-70AE-CDDA962144CD}"/>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0" name="Oval 29" descr="Red counter">
            <a:extLst>
              <a:ext uri="{FF2B5EF4-FFF2-40B4-BE49-F238E27FC236}">
                <a16:creationId xmlns:a16="http://schemas.microsoft.com/office/drawing/2014/main" id="{F999EE4B-7BEA-C4F8-AC8F-64609EB621F1}"/>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1" name="Oval 30" descr="Red counter">
            <a:extLst>
              <a:ext uri="{FF2B5EF4-FFF2-40B4-BE49-F238E27FC236}">
                <a16:creationId xmlns:a16="http://schemas.microsoft.com/office/drawing/2014/main" id="{E34373FF-57DE-CE09-028F-6AB296D545F8}"/>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2" name="Oval 31" descr="Red counter">
            <a:extLst>
              <a:ext uri="{FF2B5EF4-FFF2-40B4-BE49-F238E27FC236}">
                <a16:creationId xmlns:a16="http://schemas.microsoft.com/office/drawing/2014/main" id="{31412DCF-86DF-2216-80B0-2B5C1288A0AE}"/>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3" name="Oval 32" descr="Red counter">
            <a:extLst>
              <a:ext uri="{FF2B5EF4-FFF2-40B4-BE49-F238E27FC236}">
                <a16:creationId xmlns:a16="http://schemas.microsoft.com/office/drawing/2014/main" id="{A72EF9E3-1846-F086-8A8C-E2C847FF44AD}"/>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4" name="Oval 33" descr="Red counter">
            <a:extLst>
              <a:ext uri="{FF2B5EF4-FFF2-40B4-BE49-F238E27FC236}">
                <a16:creationId xmlns:a16="http://schemas.microsoft.com/office/drawing/2014/main" id="{845D867B-69DD-66F2-3396-E0F968D9EE3A}"/>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5" name="Oval 34" descr="Red counter">
            <a:extLst>
              <a:ext uri="{FF2B5EF4-FFF2-40B4-BE49-F238E27FC236}">
                <a16:creationId xmlns:a16="http://schemas.microsoft.com/office/drawing/2014/main" id="{EF3F3BCC-930C-340B-D23A-CB4888E12190}"/>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6" name="Oval 35" descr="Red counter">
            <a:extLst>
              <a:ext uri="{FF2B5EF4-FFF2-40B4-BE49-F238E27FC236}">
                <a16:creationId xmlns:a16="http://schemas.microsoft.com/office/drawing/2014/main" id="{66303349-3238-6262-5A52-F140C4656850}"/>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7" name="Oval 36" descr="Red counter">
            <a:extLst>
              <a:ext uri="{FF2B5EF4-FFF2-40B4-BE49-F238E27FC236}">
                <a16:creationId xmlns:a16="http://schemas.microsoft.com/office/drawing/2014/main" id="{E05DEA04-5C89-E4CB-D2E9-CC7B5916C106}"/>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8" name="Oval 37" descr="Red counter">
            <a:extLst>
              <a:ext uri="{FF2B5EF4-FFF2-40B4-BE49-F238E27FC236}">
                <a16:creationId xmlns:a16="http://schemas.microsoft.com/office/drawing/2014/main" id="{59830891-0351-CAFF-554D-F85945AF509F}"/>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9" name="Oval 38" descr="Red counter">
            <a:extLst>
              <a:ext uri="{FF2B5EF4-FFF2-40B4-BE49-F238E27FC236}">
                <a16:creationId xmlns:a16="http://schemas.microsoft.com/office/drawing/2014/main" id="{38B2E927-25E9-387E-B7F8-56DDF07AFE81}"/>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0" name="Oval 39" descr="Red counter">
            <a:extLst>
              <a:ext uri="{FF2B5EF4-FFF2-40B4-BE49-F238E27FC236}">
                <a16:creationId xmlns:a16="http://schemas.microsoft.com/office/drawing/2014/main" id="{667C25B2-C1D4-164F-866C-76320697A8FE}"/>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1" name="Oval 40" descr="Red counter">
            <a:extLst>
              <a:ext uri="{FF2B5EF4-FFF2-40B4-BE49-F238E27FC236}">
                <a16:creationId xmlns:a16="http://schemas.microsoft.com/office/drawing/2014/main" id="{0586E6D3-E5FC-60F3-5BAD-59C1E70B87FE}"/>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2" name="Oval 41" descr="Red counter">
            <a:extLst>
              <a:ext uri="{FF2B5EF4-FFF2-40B4-BE49-F238E27FC236}">
                <a16:creationId xmlns:a16="http://schemas.microsoft.com/office/drawing/2014/main" id="{D92DA5E3-CF2A-DE4D-F325-5CD852D07CF2}"/>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3" name="Oval 42" descr="Red counter">
            <a:extLst>
              <a:ext uri="{FF2B5EF4-FFF2-40B4-BE49-F238E27FC236}">
                <a16:creationId xmlns:a16="http://schemas.microsoft.com/office/drawing/2014/main" id="{FCF2E47F-6D60-28AA-9886-0FE1F0B72649}"/>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4" name="Oval 43" descr="Red counter">
            <a:extLst>
              <a:ext uri="{FF2B5EF4-FFF2-40B4-BE49-F238E27FC236}">
                <a16:creationId xmlns:a16="http://schemas.microsoft.com/office/drawing/2014/main" id="{4820763D-4E8A-860C-79E6-FCC87488B321}"/>
              </a:ext>
            </a:extLst>
          </p:cNvPr>
          <p:cNvSpPr/>
          <p:nvPr/>
        </p:nvSpPr>
        <p:spPr>
          <a:xfrm>
            <a:off x="369180" y="3406776"/>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5" name="Oval 44" descr="Blue counter">
            <a:extLst>
              <a:ext uri="{FF2B5EF4-FFF2-40B4-BE49-F238E27FC236}">
                <a16:creationId xmlns:a16="http://schemas.microsoft.com/office/drawing/2014/main" id="{672549E1-76A6-93BA-416D-99740DB2D336}"/>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6" name="Oval 45" descr="Blue counter">
            <a:extLst>
              <a:ext uri="{FF2B5EF4-FFF2-40B4-BE49-F238E27FC236}">
                <a16:creationId xmlns:a16="http://schemas.microsoft.com/office/drawing/2014/main" id="{679EF527-EC89-3E43-BE3B-A2CA6539F532}"/>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7" name="Oval 46" descr="Blue counter">
            <a:extLst>
              <a:ext uri="{FF2B5EF4-FFF2-40B4-BE49-F238E27FC236}">
                <a16:creationId xmlns:a16="http://schemas.microsoft.com/office/drawing/2014/main" id="{F4F19E95-47CA-D103-E9D3-2355DF587B64}"/>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8" name="Oval 47" descr="Blue counter">
            <a:extLst>
              <a:ext uri="{FF2B5EF4-FFF2-40B4-BE49-F238E27FC236}">
                <a16:creationId xmlns:a16="http://schemas.microsoft.com/office/drawing/2014/main" id="{3DF18BEF-CCE0-5999-9724-C25EE5465823}"/>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9" name="Oval 48" descr="Blue counter">
            <a:extLst>
              <a:ext uri="{FF2B5EF4-FFF2-40B4-BE49-F238E27FC236}">
                <a16:creationId xmlns:a16="http://schemas.microsoft.com/office/drawing/2014/main" id="{D63529CF-4EA2-50DC-07B8-5710DA6A8552}"/>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0" name="Oval 49" descr="Blue counter">
            <a:extLst>
              <a:ext uri="{FF2B5EF4-FFF2-40B4-BE49-F238E27FC236}">
                <a16:creationId xmlns:a16="http://schemas.microsoft.com/office/drawing/2014/main" id="{86EBA869-77E0-7CA6-4E0A-19BC53196EE7}"/>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1" name="Oval 50" descr="Blue counter">
            <a:extLst>
              <a:ext uri="{FF2B5EF4-FFF2-40B4-BE49-F238E27FC236}">
                <a16:creationId xmlns:a16="http://schemas.microsoft.com/office/drawing/2014/main" id="{00BD5D89-6EA4-B03A-F8A8-530BB0325AC1}"/>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2" name="Oval 51" descr="Blue counter">
            <a:extLst>
              <a:ext uri="{FF2B5EF4-FFF2-40B4-BE49-F238E27FC236}">
                <a16:creationId xmlns:a16="http://schemas.microsoft.com/office/drawing/2014/main" id="{3E765066-2AB7-5FD2-3030-B821008407A3}"/>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3" name="Oval 52" descr="Blue counter">
            <a:extLst>
              <a:ext uri="{FF2B5EF4-FFF2-40B4-BE49-F238E27FC236}">
                <a16:creationId xmlns:a16="http://schemas.microsoft.com/office/drawing/2014/main" id="{B3455F19-1AE6-8C5D-FAC0-4E796C4D1F9D}"/>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4" name="Oval 53" descr="Blue counter">
            <a:extLst>
              <a:ext uri="{FF2B5EF4-FFF2-40B4-BE49-F238E27FC236}">
                <a16:creationId xmlns:a16="http://schemas.microsoft.com/office/drawing/2014/main" id="{D4CE30FD-9854-23AD-F1D3-5AF152112071}"/>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5" name="Oval 54" descr="Blue counter">
            <a:extLst>
              <a:ext uri="{FF2B5EF4-FFF2-40B4-BE49-F238E27FC236}">
                <a16:creationId xmlns:a16="http://schemas.microsoft.com/office/drawing/2014/main" id="{2EFC2866-B0BF-754C-A436-4B80E417E23E}"/>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6" name="Oval 55" descr="Blue counter">
            <a:extLst>
              <a:ext uri="{FF2B5EF4-FFF2-40B4-BE49-F238E27FC236}">
                <a16:creationId xmlns:a16="http://schemas.microsoft.com/office/drawing/2014/main" id="{AD47CC13-6669-13AC-5A0A-0F34EF76DD5F}"/>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7" name="Oval 56" descr="Blue counter">
            <a:extLst>
              <a:ext uri="{FF2B5EF4-FFF2-40B4-BE49-F238E27FC236}">
                <a16:creationId xmlns:a16="http://schemas.microsoft.com/office/drawing/2014/main" id="{5CB8B70D-7000-EDCF-0770-49A0496018F6}"/>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8" name="Oval 57" descr="Blue counter">
            <a:extLst>
              <a:ext uri="{FF2B5EF4-FFF2-40B4-BE49-F238E27FC236}">
                <a16:creationId xmlns:a16="http://schemas.microsoft.com/office/drawing/2014/main" id="{521385D5-C5E8-D2A2-45DC-25134494AAFB}"/>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9" name="Oval 58" descr="Blue counter">
            <a:extLst>
              <a:ext uri="{FF2B5EF4-FFF2-40B4-BE49-F238E27FC236}">
                <a16:creationId xmlns:a16="http://schemas.microsoft.com/office/drawing/2014/main" id="{AC825901-86F3-1AF8-00C7-AEA51975868D}"/>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60" name="Oval 59" descr="Blue counter">
            <a:extLst>
              <a:ext uri="{FF2B5EF4-FFF2-40B4-BE49-F238E27FC236}">
                <a16:creationId xmlns:a16="http://schemas.microsoft.com/office/drawing/2014/main" id="{5FA02E86-4A37-C3F9-F656-C5B2AE4EA2CF}"/>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61" name="Oval 60" descr="Blue counter">
            <a:extLst>
              <a:ext uri="{FF2B5EF4-FFF2-40B4-BE49-F238E27FC236}">
                <a16:creationId xmlns:a16="http://schemas.microsoft.com/office/drawing/2014/main" id="{3B58DECA-9E57-4361-2417-7952F18C52F9}"/>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62" name="Oval 61" descr="Blue counter">
            <a:extLst>
              <a:ext uri="{FF2B5EF4-FFF2-40B4-BE49-F238E27FC236}">
                <a16:creationId xmlns:a16="http://schemas.microsoft.com/office/drawing/2014/main" id="{77C25613-FDC7-16A2-F2D7-69C52A56E661}"/>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63" name="Oval 62" descr="Blue counter">
            <a:extLst>
              <a:ext uri="{FF2B5EF4-FFF2-40B4-BE49-F238E27FC236}">
                <a16:creationId xmlns:a16="http://schemas.microsoft.com/office/drawing/2014/main" id="{4D733144-663B-6D44-5D38-1CDD06A3C813}"/>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64" name="Oval 63" descr="Blue counter">
            <a:extLst>
              <a:ext uri="{FF2B5EF4-FFF2-40B4-BE49-F238E27FC236}">
                <a16:creationId xmlns:a16="http://schemas.microsoft.com/office/drawing/2014/main" id="{5A3FDC2E-0F9A-ED8B-6154-5BE687B32A9C}"/>
              </a:ext>
            </a:extLst>
          </p:cNvPr>
          <p:cNvSpPr/>
          <p:nvPr/>
        </p:nvSpPr>
        <p:spPr>
          <a:xfrm>
            <a:off x="369180" y="4779470"/>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65" name="TextBox 64">
            <a:extLst>
              <a:ext uri="{FF2B5EF4-FFF2-40B4-BE49-F238E27FC236}">
                <a16:creationId xmlns:a16="http://schemas.microsoft.com/office/drawing/2014/main" id="{0AF78CB9-325C-44CA-9C8D-790C245610A5}"/>
              </a:ext>
              <a:ext uri="{C183D7F6-B498-43B3-948B-1728B52AA6E4}">
                <adec:decorative xmlns:adec="http://schemas.microsoft.com/office/drawing/2017/decorative" val="1"/>
              </a:ext>
            </a:extLst>
          </p:cNvPr>
          <p:cNvSpPr txBox="1"/>
          <p:nvPr/>
        </p:nvSpPr>
        <p:spPr>
          <a:xfrm>
            <a:off x="5933440" y="1188720"/>
            <a:ext cx="5628640" cy="5029200"/>
          </a:xfrm>
          <a:prstGeom prst="rect">
            <a:avLst/>
          </a:prstGeom>
          <a:noFill/>
        </p:spPr>
        <p:txBody>
          <a:bodyPr wrap="square" lIns="0" tIns="0" rIns="0" bIns="0" rtlCol="0">
            <a:noAutofit/>
          </a:bodyPr>
          <a:lstStyle/>
          <a:p>
            <a:pPr algn="ctr"/>
            <a:endParaRPr lang="en-AU" sz="4400"/>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0" y="1054103"/>
            <a:ext cx="11243037" cy="893226"/>
          </a:xfrm>
        </p:spPr>
        <p:txBody>
          <a:bodyPr/>
          <a:lstStyle/>
          <a:p>
            <a:pPr algn="ctr"/>
            <a:r>
              <a:rPr lang="en-AU" sz="3600"/>
              <a:t>The following fact family is accurately recorded:</a:t>
            </a:r>
          </a:p>
          <a:p>
            <a:pPr algn="ctr"/>
            <a:r>
              <a:rPr lang="en-AU" sz="4000"/>
              <a:t>	</a:t>
            </a:r>
            <a:r>
              <a:rPr lang="en-AU" sz="3200"/>
              <a:t>8  ×  2 = 16</a:t>
            </a:r>
          </a:p>
          <a:p>
            <a:pPr algn="ctr"/>
            <a:r>
              <a:rPr lang="en-AU" sz="3200"/>
              <a:t>	2  ×  8 = 16</a:t>
            </a:r>
          </a:p>
          <a:p>
            <a:pPr algn="ctr"/>
            <a:r>
              <a:rPr lang="en-AU" sz="3200"/>
              <a:t>      16 ÷  2 = 8</a:t>
            </a:r>
          </a:p>
          <a:p>
            <a:pPr algn="ctr"/>
            <a:r>
              <a:rPr lang="en-AU" sz="3200"/>
              <a:t>       2 ÷ 16 = 8</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724885057"/>
              </p:ext>
            </p:extLst>
          </p:nvPr>
        </p:nvGraphicFramePr>
        <p:xfrm>
          <a:off x="2319079" y="557956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5" name="TextBox 4">
            <a:extLst>
              <a:ext uri="{FF2B5EF4-FFF2-40B4-BE49-F238E27FC236}">
                <a16:creationId xmlns:a16="http://schemas.microsoft.com/office/drawing/2014/main" id="{6D9DC692-2CF4-624F-766C-19054B2E2CB4}"/>
              </a:ext>
            </a:extLst>
          </p:cNvPr>
          <p:cNvSpPr txBox="1"/>
          <p:nvPr/>
        </p:nvSpPr>
        <p:spPr>
          <a:xfrm>
            <a:off x="702880" y="1285781"/>
            <a:ext cx="11141120" cy="1859280"/>
          </a:xfrm>
          <a:prstGeom prst="rect">
            <a:avLst/>
          </a:prstGeom>
          <a:noFill/>
        </p:spPr>
        <p:txBody>
          <a:bodyPr wrap="square" lIns="0" tIns="0" rIns="0" bIns="0" rtlCol="0">
            <a:noAutofit/>
          </a:bodyPr>
          <a:lstStyle/>
          <a:p>
            <a:pPr algn="ctr">
              <a:lnSpc>
                <a:spcPct val="150000"/>
              </a:lnSpc>
            </a:pPr>
            <a:r>
              <a:rPr lang="en-AU" sz="4400"/>
              <a:t>Identify which of the following shapes contain a </a:t>
            </a:r>
            <a:r>
              <a:rPr lang="en-AU" sz="4400" b="1"/>
              <a:t>right angle </a:t>
            </a:r>
            <a:r>
              <a:rPr lang="en-AU" sz="4400"/>
              <a:t>using an angle tester:</a:t>
            </a:r>
          </a:p>
        </p:txBody>
      </p:sp>
      <p:pic>
        <p:nvPicPr>
          <p:cNvPr id="8" name="Picture 7" descr="4 shapes: a right-angled triangle, a parallelogram, a trapezium and a square being tested for right angles with a straw angle tester. ">
            <a:extLst>
              <a:ext uri="{FF2B5EF4-FFF2-40B4-BE49-F238E27FC236}">
                <a16:creationId xmlns:a16="http://schemas.microsoft.com/office/drawing/2014/main" id="{BBA85CD5-55A0-1938-FA84-79FC91AD7556}"/>
              </a:ext>
            </a:extLst>
          </p:cNvPr>
          <p:cNvPicPr>
            <a:picLocks noChangeAspect="1"/>
          </p:cNvPicPr>
          <p:nvPr/>
        </p:nvPicPr>
        <p:blipFill>
          <a:blip r:embed="rId4"/>
          <a:stretch>
            <a:fillRect/>
          </a:stretch>
        </p:blipFill>
        <p:spPr>
          <a:xfrm>
            <a:off x="623123" y="3712939"/>
            <a:ext cx="10945753" cy="251495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8" name="TextBox 7">
            <a:extLst>
              <a:ext uri="{FF2B5EF4-FFF2-40B4-BE49-F238E27FC236}">
                <a16:creationId xmlns:a16="http://schemas.microsoft.com/office/drawing/2014/main" id="{FDCD973C-098C-D921-29DF-3E41D6B66B2E}"/>
              </a:ext>
            </a:extLst>
          </p:cNvPr>
          <p:cNvSpPr txBox="1"/>
          <p:nvPr/>
        </p:nvSpPr>
        <p:spPr>
          <a:xfrm>
            <a:off x="967112" y="798142"/>
            <a:ext cx="9911760" cy="2244777"/>
          </a:xfrm>
          <a:prstGeom prst="rect">
            <a:avLst/>
          </a:prstGeom>
          <a:noFill/>
        </p:spPr>
        <p:txBody>
          <a:bodyPr wrap="square" lIns="0" tIns="0" rIns="0" bIns="0" rtlCol="0">
            <a:noAutofit/>
          </a:bodyPr>
          <a:lstStyle/>
          <a:p>
            <a:pPr algn="ctr">
              <a:lnSpc>
                <a:spcPct val="150000"/>
              </a:lnSpc>
            </a:pPr>
            <a:r>
              <a:rPr lang="en-AU" sz="4000"/>
              <a:t>Name the following three-dimensional object. Identify the number of </a:t>
            </a:r>
            <a:r>
              <a:rPr lang="en-AU" sz="4000" b="1"/>
              <a:t>faces</a:t>
            </a:r>
            <a:r>
              <a:rPr lang="en-AU" sz="4000"/>
              <a:t>, </a:t>
            </a:r>
            <a:r>
              <a:rPr lang="en-AU" sz="4000" b="1"/>
              <a:t>vertices</a:t>
            </a:r>
            <a:r>
              <a:rPr lang="en-AU" sz="4000"/>
              <a:t> and </a:t>
            </a:r>
            <a:r>
              <a:rPr lang="en-AU" sz="4000" b="1"/>
              <a:t>edges.</a:t>
            </a:r>
            <a:endParaRPr lang="en-AU" sz="4000"/>
          </a:p>
        </p:txBody>
      </p:sp>
      <p:sp>
        <p:nvSpPr>
          <p:cNvPr id="9" name="Freeform 3" descr="Triangular prism.">
            <a:extLst>
              <a:ext uri="{FF2B5EF4-FFF2-40B4-BE49-F238E27FC236}">
                <a16:creationId xmlns:a16="http://schemas.microsoft.com/office/drawing/2014/main" id="{0A86AE57-E52A-4099-A9C1-67EB117F1AD6}"/>
              </a:ext>
            </a:extLst>
          </p:cNvPr>
          <p:cNvSpPr/>
          <p:nvPr/>
        </p:nvSpPr>
        <p:spPr>
          <a:xfrm>
            <a:off x="3784592" y="3684700"/>
            <a:ext cx="4276800" cy="2603502"/>
          </a:xfrm>
          <a:custGeom>
            <a:avLst/>
            <a:gdLst/>
            <a:ahLst/>
            <a:cxnLst/>
            <a:rect l="l" t="t" r="r" b="b"/>
            <a:pathLst>
              <a:path w="4276800" h="2603502">
                <a:moveTo>
                  <a:pt x="0" y="0"/>
                </a:moveTo>
                <a:lnTo>
                  <a:pt x="4276800" y="0"/>
                </a:lnTo>
                <a:lnTo>
                  <a:pt x="4276800" y="2603502"/>
                </a:lnTo>
                <a:lnTo>
                  <a:pt x="0" y="26035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5" name="Text Placeholder 5">
            <a:extLst>
              <a:ext uri="{FF2B5EF4-FFF2-40B4-BE49-F238E27FC236}">
                <a16:creationId xmlns:a16="http://schemas.microsoft.com/office/drawing/2014/main" id="{48FB78E8-20F4-CEAB-6086-57B0C2AAADBE}"/>
              </a:ext>
            </a:extLst>
          </p:cNvPr>
          <p:cNvSpPr txBox="1">
            <a:spLocks/>
          </p:cNvSpPr>
          <p:nvPr/>
        </p:nvSpPr>
        <p:spPr>
          <a:xfrm>
            <a:off x="360000" y="1301482"/>
            <a:ext cx="4964475"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600"/>
              <a:t>Use </a:t>
            </a:r>
            <a:r>
              <a:rPr lang="en-AU" sz="3600" b="1"/>
              <a:t>landmarks </a:t>
            </a:r>
            <a:r>
              <a:rPr lang="en-AU" sz="3600"/>
              <a:t>and </a:t>
            </a:r>
            <a:r>
              <a:rPr lang="en-AU" sz="3600" b="1"/>
              <a:t>directional language </a:t>
            </a:r>
            <a:r>
              <a:rPr lang="en-AU" sz="3600"/>
              <a:t>to describe a</a:t>
            </a:r>
            <a:r>
              <a:rPr lang="en-AU" sz="3600" b="1"/>
              <a:t> route </a:t>
            </a:r>
            <a:r>
              <a:rPr lang="en-AU" sz="3600"/>
              <a:t>from the </a:t>
            </a:r>
            <a:r>
              <a:rPr lang="en-AU" sz="3600" b="1"/>
              <a:t>school </a:t>
            </a:r>
            <a:r>
              <a:rPr lang="en-AU" sz="3600"/>
              <a:t>to the </a:t>
            </a:r>
            <a:r>
              <a:rPr lang="en-AU" sz="3600" b="1"/>
              <a:t>supermarket.</a:t>
            </a:r>
          </a:p>
        </p:txBody>
      </p:sp>
      <p:grpSp>
        <p:nvGrpSpPr>
          <p:cNvPr id="10" name="Group 9" descr="A series of roads joined at intersections to represent a street map. At different locations on the map are the following landmarks: a forest, a farm, a factory, wind turbines, a supermarket, two houses, a school, a hospital, a park with a lake, a fairground, two apartment buildings, a museum, a petrol station and a repair shop.  ">
            <a:extLst>
              <a:ext uri="{FF2B5EF4-FFF2-40B4-BE49-F238E27FC236}">
                <a16:creationId xmlns:a16="http://schemas.microsoft.com/office/drawing/2014/main" id="{1916FF0C-46F0-B634-5FAF-91571C740DF1}"/>
              </a:ext>
            </a:extLst>
          </p:cNvPr>
          <p:cNvGrpSpPr/>
          <p:nvPr/>
        </p:nvGrpSpPr>
        <p:grpSpPr>
          <a:xfrm>
            <a:off x="5066364" y="1301482"/>
            <a:ext cx="6690354" cy="4780014"/>
            <a:chOff x="5066364" y="1301482"/>
            <a:chExt cx="6690354" cy="4780014"/>
          </a:xfrm>
        </p:grpSpPr>
        <p:pic>
          <p:nvPicPr>
            <p:cNvPr id="4" name="Picture 3" descr="A series of roads joined at intersections to represent a street map. At different locations on the map are the following landmarks: a forest, a farm, a factory, wind turbines, a supermarket, two houses, a school, a hospital, a park with a lake, a fairground, two apartment buildings, a museum, a petrol station and a repair shop.  ">
              <a:extLst>
                <a:ext uri="{FF2B5EF4-FFF2-40B4-BE49-F238E27FC236}">
                  <a16:creationId xmlns:a16="http://schemas.microsoft.com/office/drawing/2014/main" id="{47253BD2-7FAE-0B31-4983-0550624570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6364" y="1301482"/>
              <a:ext cx="6690354" cy="4780014"/>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ECECA570-6390-A798-2B8A-19E40C985665}"/>
                </a:ext>
              </a:extLst>
            </p:cNvPr>
            <p:cNvSpPr txBox="1"/>
            <p:nvPr/>
          </p:nvSpPr>
          <p:spPr>
            <a:xfrm>
              <a:off x="5831840" y="3286760"/>
              <a:ext cx="914400" cy="172720"/>
            </a:xfrm>
            <a:prstGeom prst="rect">
              <a:avLst/>
            </a:prstGeom>
            <a:solidFill>
              <a:srgbClr val="C8DFAD"/>
            </a:solidFill>
          </p:spPr>
          <p:txBody>
            <a:bodyPr wrap="square" lIns="0" tIns="0" rIns="0" bIns="0" rtlCol="0">
              <a:noAutofit/>
            </a:bodyPr>
            <a:lstStyle/>
            <a:p>
              <a:pPr algn="ctr"/>
              <a:r>
                <a:rPr lang="en-AU" sz="1000" b="1"/>
                <a:t>supermarket</a:t>
              </a:r>
            </a:p>
          </p:txBody>
        </p:sp>
        <p:sp>
          <p:nvSpPr>
            <p:cNvPr id="8" name="Oval 7">
              <a:extLst>
                <a:ext uri="{FF2B5EF4-FFF2-40B4-BE49-F238E27FC236}">
                  <a16:creationId xmlns:a16="http://schemas.microsoft.com/office/drawing/2014/main" id="{86222E7B-E293-B45E-BF70-C87890E1F46A}"/>
                </a:ext>
              </a:extLst>
            </p:cNvPr>
            <p:cNvSpPr/>
            <p:nvPr/>
          </p:nvSpPr>
          <p:spPr>
            <a:xfrm>
              <a:off x="7556360" y="2481943"/>
              <a:ext cx="1004836" cy="804817"/>
            </a:xfrm>
            <a:prstGeom prst="ellipse">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71982C65-BC97-0884-4E1F-25152254CFFC}"/>
                </a:ext>
              </a:extLst>
            </p:cNvPr>
            <p:cNvSpPr/>
            <p:nvPr/>
          </p:nvSpPr>
          <p:spPr>
            <a:xfrm>
              <a:off x="5786622" y="3057071"/>
              <a:ext cx="1004836" cy="804817"/>
            </a:xfrm>
            <a:prstGeom prst="ellipse">
              <a:avLst/>
            </a:prstGeom>
            <a:no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4" name="TextBox 3">
            <a:extLst>
              <a:ext uri="{FF2B5EF4-FFF2-40B4-BE49-F238E27FC236}">
                <a16:creationId xmlns:a16="http://schemas.microsoft.com/office/drawing/2014/main" id="{DEF87043-FF76-DD63-D1F9-735D754B2C6D}"/>
              </a:ext>
            </a:extLst>
          </p:cNvPr>
          <p:cNvSpPr txBox="1"/>
          <p:nvPr/>
        </p:nvSpPr>
        <p:spPr>
          <a:xfrm>
            <a:off x="975360" y="1107440"/>
            <a:ext cx="10148640" cy="2590800"/>
          </a:xfrm>
          <a:prstGeom prst="rect">
            <a:avLst/>
          </a:prstGeom>
          <a:noFill/>
        </p:spPr>
        <p:txBody>
          <a:bodyPr wrap="square" lIns="0" tIns="0" rIns="0" bIns="0" rtlCol="0">
            <a:noAutofit/>
          </a:bodyPr>
          <a:lstStyle/>
          <a:p>
            <a:pPr algn="ctr">
              <a:lnSpc>
                <a:spcPct val="150000"/>
              </a:lnSpc>
            </a:pPr>
            <a:r>
              <a:rPr lang="en-AU" sz="3600" b="1"/>
              <a:t>Record</a:t>
            </a:r>
            <a:r>
              <a:rPr lang="en-AU" sz="3600"/>
              <a:t> the following lengths using a combination of </a:t>
            </a:r>
            <a:r>
              <a:rPr lang="en-AU" sz="3600" b="1"/>
              <a:t>metres</a:t>
            </a:r>
            <a:r>
              <a:rPr lang="en-AU" sz="3600"/>
              <a:t> and </a:t>
            </a:r>
            <a:r>
              <a:rPr lang="en-AU" sz="3600" b="1"/>
              <a:t>centimetres</a:t>
            </a:r>
            <a:r>
              <a:rPr lang="en-AU" sz="3600"/>
              <a:t>.</a:t>
            </a:r>
          </a:p>
          <a:p>
            <a:pPr algn="ctr">
              <a:lnSpc>
                <a:spcPct val="150000"/>
              </a:lnSpc>
            </a:pPr>
            <a:r>
              <a:rPr lang="en-AU" sz="3600"/>
              <a:t>For example, 1.25 m = 1 m and 25 cm</a:t>
            </a:r>
          </a:p>
          <a:p>
            <a:pPr algn="l"/>
            <a:endParaRPr lang="en-AU" sz="3600"/>
          </a:p>
          <a:p>
            <a:pPr algn="l"/>
            <a:endParaRPr lang="en-AU" sz="3600"/>
          </a:p>
        </p:txBody>
      </p:sp>
      <p:sp>
        <p:nvSpPr>
          <p:cNvPr id="5" name="TextBox 4">
            <a:extLst>
              <a:ext uri="{FF2B5EF4-FFF2-40B4-BE49-F238E27FC236}">
                <a16:creationId xmlns:a16="http://schemas.microsoft.com/office/drawing/2014/main" id="{612935B9-AC6C-48BC-A60B-D1D10FD9E412}"/>
              </a:ext>
            </a:extLst>
          </p:cNvPr>
          <p:cNvSpPr txBox="1"/>
          <p:nvPr/>
        </p:nvSpPr>
        <p:spPr>
          <a:xfrm>
            <a:off x="975360" y="4013200"/>
            <a:ext cx="4155440" cy="2484800"/>
          </a:xfrm>
          <a:prstGeom prst="rect">
            <a:avLst/>
          </a:prstGeom>
          <a:noFill/>
        </p:spPr>
        <p:txBody>
          <a:bodyPr wrap="square" lIns="0" tIns="0" rIns="0" bIns="0" rtlCol="0">
            <a:noAutofit/>
          </a:bodyPr>
          <a:lstStyle/>
          <a:p>
            <a:pPr marL="285750" indent="-285750" algn="l">
              <a:lnSpc>
                <a:spcPct val="150000"/>
              </a:lnSpc>
              <a:buFont typeface="Arial" panose="020B0604020202020204" pitchFamily="34" charset="0"/>
              <a:buChar char="•"/>
            </a:pPr>
            <a:r>
              <a:rPr lang="en-AU" sz="3600"/>
              <a:t>7.59 m</a:t>
            </a:r>
          </a:p>
          <a:p>
            <a:pPr marL="285750" indent="-285750" algn="l">
              <a:lnSpc>
                <a:spcPct val="150000"/>
              </a:lnSpc>
              <a:buFont typeface="Arial" panose="020B0604020202020204" pitchFamily="34" charset="0"/>
              <a:buChar char="•"/>
            </a:pPr>
            <a:r>
              <a:rPr lang="en-AU" sz="3600"/>
              <a:t>9.14 m</a:t>
            </a:r>
          </a:p>
          <a:p>
            <a:pPr marL="285750" indent="-285750" algn="l">
              <a:lnSpc>
                <a:spcPct val="150000"/>
              </a:lnSpc>
              <a:buFont typeface="Arial" panose="020B0604020202020204" pitchFamily="34" charset="0"/>
              <a:buChar char="•"/>
            </a:pPr>
            <a:r>
              <a:rPr lang="en-AU" sz="3600"/>
              <a:t>10.72 m</a:t>
            </a:r>
          </a:p>
        </p:txBody>
      </p:sp>
      <p:sp>
        <p:nvSpPr>
          <p:cNvPr id="7" name="TextBox 6">
            <a:extLst>
              <a:ext uri="{FF2B5EF4-FFF2-40B4-BE49-F238E27FC236}">
                <a16:creationId xmlns:a16="http://schemas.microsoft.com/office/drawing/2014/main" id="{CCBDCEFC-E097-EA13-192B-EFC642ED097B}"/>
              </a:ext>
            </a:extLst>
          </p:cNvPr>
          <p:cNvSpPr txBox="1"/>
          <p:nvPr/>
        </p:nvSpPr>
        <p:spPr>
          <a:xfrm>
            <a:off x="7589520" y="4001983"/>
            <a:ext cx="4155440" cy="2484800"/>
          </a:xfrm>
          <a:prstGeom prst="rect">
            <a:avLst/>
          </a:prstGeom>
          <a:noFill/>
        </p:spPr>
        <p:txBody>
          <a:bodyPr wrap="square" lIns="0" tIns="0" rIns="0" bIns="0" rtlCol="0">
            <a:noAutofit/>
          </a:bodyPr>
          <a:lstStyle/>
          <a:p>
            <a:pPr marL="285750" indent="-285750" algn="l">
              <a:lnSpc>
                <a:spcPct val="150000"/>
              </a:lnSpc>
              <a:buFont typeface="Arial" panose="020B0604020202020204" pitchFamily="34" charset="0"/>
              <a:buChar char="•"/>
            </a:pPr>
            <a:r>
              <a:rPr lang="en-AU" sz="3600"/>
              <a:t>15.5 m</a:t>
            </a:r>
          </a:p>
          <a:p>
            <a:pPr marL="285750" indent="-285750" algn="l">
              <a:lnSpc>
                <a:spcPct val="150000"/>
              </a:lnSpc>
              <a:buFont typeface="Arial" panose="020B0604020202020204" pitchFamily="34" charset="0"/>
              <a:buChar char="•"/>
            </a:pPr>
            <a:r>
              <a:rPr lang="en-AU" sz="3600"/>
              <a:t>12.1 m</a:t>
            </a:r>
          </a:p>
          <a:p>
            <a:pPr marL="285750" indent="-285750" algn="l">
              <a:lnSpc>
                <a:spcPct val="150000"/>
              </a:lnSpc>
              <a:buFont typeface="Arial" panose="020B0604020202020204" pitchFamily="34" charset="0"/>
              <a:buChar char="•"/>
            </a:pPr>
            <a:r>
              <a:rPr lang="en-AU" sz="3600"/>
              <a:t>22.09 m</a:t>
            </a: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fact families</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3" name="Picture 2" descr="Three fact family triangles with numbers in each corner. The 2 numbers in the bottom corners of each triangle are factors of the number in the top corner.&#10;The first triangle shows 4, 2, and 8.&#10;The second triangle shows 4, 4, and 16.&#10;The third triangle shows 4, 6, and 24.">
            <a:extLst>
              <a:ext uri="{FF2B5EF4-FFF2-40B4-BE49-F238E27FC236}">
                <a16:creationId xmlns:a16="http://schemas.microsoft.com/office/drawing/2014/main" id="{BDE8C3B7-3D1B-44F6-C158-0C387C3E75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0805" y="1693840"/>
            <a:ext cx="10776117" cy="3749040"/>
          </a:xfrm>
          <a:prstGeom prst="rect">
            <a:avLst/>
          </a:prstGeom>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360000" y="1300826"/>
            <a:ext cx="11243037" cy="893226"/>
          </a:xfrm>
        </p:spPr>
        <p:txBody>
          <a:bodyPr/>
          <a:lstStyle/>
          <a:p>
            <a:pPr algn="ctr"/>
            <a:r>
              <a:rPr lang="en-AU" sz="2800"/>
              <a:t>Which number sentences have been </a:t>
            </a:r>
            <a:r>
              <a:rPr lang="en-AU" sz="2800" b="1"/>
              <a:t>accurately recorded </a:t>
            </a:r>
            <a:r>
              <a:rPr lang="en-AU" sz="2800"/>
              <a:t>to represent fact families for multiples of 2 and 4 and 5 and 10? There may be </a:t>
            </a:r>
            <a:r>
              <a:rPr lang="en-AU" sz="2800" b="1"/>
              <a:t>more than one correct answer</a:t>
            </a:r>
            <a:r>
              <a:rPr lang="en-AU" sz="2800"/>
              <a:t>.</a:t>
            </a:r>
          </a:p>
        </p:txBody>
      </p:sp>
      <p:sp>
        <p:nvSpPr>
          <p:cNvPr id="9" name="TextBox 8">
            <a:extLst>
              <a:ext uri="{FF2B5EF4-FFF2-40B4-BE49-F238E27FC236}">
                <a16:creationId xmlns:a16="http://schemas.microsoft.com/office/drawing/2014/main" id="{AF13415D-5ABE-8CE1-9EF6-D83C6FF3BAC9}"/>
              </a:ext>
            </a:extLst>
          </p:cNvPr>
          <p:cNvSpPr txBox="1"/>
          <p:nvPr/>
        </p:nvSpPr>
        <p:spPr>
          <a:xfrm>
            <a:off x="1274131" y="333926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6BFC4FD-CDBD-E74C-2B4B-957276E8D806}"/>
              </a:ext>
            </a:extLst>
          </p:cNvPr>
          <p:cNvSpPr txBox="1"/>
          <p:nvPr/>
        </p:nvSpPr>
        <p:spPr>
          <a:xfrm>
            <a:off x="4252139" y="333926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200966" y="333926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227686" y="333926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5" name="TextBox 4">
            <a:extLst>
              <a:ext uri="{FF2B5EF4-FFF2-40B4-BE49-F238E27FC236}">
                <a16:creationId xmlns:a16="http://schemas.microsoft.com/office/drawing/2014/main" id="{92E88C52-ABED-3957-7494-B3FB1C9CEEAE}"/>
              </a:ext>
            </a:extLst>
          </p:cNvPr>
          <p:cNvSpPr txBox="1"/>
          <p:nvPr/>
        </p:nvSpPr>
        <p:spPr>
          <a:xfrm>
            <a:off x="614286" y="4387826"/>
            <a:ext cx="1849120" cy="2128174"/>
          </a:xfrm>
          <a:prstGeom prst="rect">
            <a:avLst/>
          </a:prstGeom>
          <a:noFill/>
          <a:ln>
            <a:solidFill>
              <a:schemeClr val="accent1"/>
            </a:solidFill>
          </a:ln>
        </p:spPr>
        <p:txBody>
          <a:bodyPr wrap="square" lIns="0" tIns="0" rIns="0" bIns="0" rtlCol="0">
            <a:noAutofit/>
          </a:bodyPr>
          <a:lstStyle/>
          <a:p>
            <a:pPr algn="ctr">
              <a:lnSpc>
                <a:spcPct val="150000"/>
              </a:lnSpc>
            </a:pPr>
            <a:r>
              <a:rPr lang="en-AU"/>
              <a:t>2 × 9 = 18</a:t>
            </a:r>
          </a:p>
          <a:p>
            <a:pPr algn="ctr">
              <a:lnSpc>
                <a:spcPct val="150000"/>
              </a:lnSpc>
            </a:pPr>
            <a:r>
              <a:rPr lang="en-AU"/>
              <a:t>9 × 2 = 18</a:t>
            </a:r>
          </a:p>
          <a:p>
            <a:pPr algn="ctr">
              <a:lnSpc>
                <a:spcPct val="150000"/>
              </a:lnSpc>
            </a:pPr>
            <a:r>
              <a:rPr lang="en-AU"/>
              <a:t>18 ÷ 2 = 9</a:t>
            </a:r>
          </a:p>
          <a:p>
            <a:pPr algn="ctr">
              <a:lnSpc>
                <a:spcPct val="150000"/>
              </a:lnSpc>
            </a:pPr>
            <a:r>
              <a:rPr lang="en-AU"/>
              <a:t>18 ÷ 9 = 2</a:t>
            </a:r>
          </a:p>
          <a:p>
            <a:pPr algn="ctr">
              <a:lnSpc>
                <a:spcPct val="150000"/>
              </a:lnSpc>
            </a:pPr>
            <a:endParaRPr lang="en-AU"/>
          </a:p>
        </p:txBody>
      </p:sp>
      <p:sp>
        <p:nvSpPr>
          <p:cNvPr id="6" name="TextBox 5">
            <a:extLst>
              <a:ext uri="{FF2B5EF4-FFF2-40B4-BE49-F238E27FC236}">
                <a16:creationId xmlns:a16="http://schemas.microsoft.com/office/drawing/2014/main" id="{ACEFD964-BA1E-4856-4B14-1067D6D30668}"/>
              </a:ext>
            </a:extLst>
          </p:cNvPr>
          <p:cNvSpPr txBox="1"/>
          <p:nvPr/>
        </p:nvSpPr>
        <p:spPr>
          <a:xfrm>
            <a:off x="3592294" y="4387826"/>
            <a:ext cx="1849120" cy="2128174"/>
          </a:xfrm>
          <a:prstGeom prst="rect">
            <a:avLst/>
          </a:prstGeom>
          <a:noFill/>
          <a:ln>
            <a:solidFill>
              <a:schemeClr val="accent1"/>
            </a:solidFill>
          </a:ln>
        </p:spPr>
        <p:txBody>
          <a:bodyPr wrap="square" lIns="0" tIns="0" rIns="0" bIns="0" rtlCol="0">
            <a:noAutofit/>
          </a:bodyPr>
          <a:lstStyle/>
          <a:p>
            <a:pPr algn="ctr">
              <a:lnSpc>
                <a:spcPct val="150000"/>
              </a:lnSpc>
            </a:pPr>
            <a:r>
              <a:rPr lang="en-AU"/>
              <a:t>4 × 6 = 24</a:t>
            </a:r>
          </a:p>
          <a:p>
            <a:pPr algn="ctr">
              <a:lnSpc>
                <a:spcPct val="150000"/>
              </a:lnSpc>
            </a:pPr>
            <a:r>
              <a:rPr lang="en-AU"/>
              <a:t>6 × 4 = 24</a:t>
            </a:r>
          </a:p>
          <a:p>
            <a:pPr algn="ctr">
              <a:lnSpc>
                <a:spcPct val="150000"/>
              </a:lnSpc>
            </a:pPr>
            <a:r>
              <a:rPr lang="en-AU"/>
              <a:t>24 ÷ 4 = 6</a:t>
            </a:r>
          </a:p>
          <a:p>
            <a:pPr algn="ctr">
              <a:lnSpc>
                <a:spcPct val="150000"/>
              </a:lnSpc>
            </a:pPr>
            <a:r>
              <a:rPr lang="en-AU"/>
              <a:t>24 ÷ 6 = 4</a:t>
            </a:r>
          </a:p>
        </p:txBody>
      </p:sp>
      <p:sp>
        <p:nvSpPr>
          <p:cNvPr id="13" name="TextBox 12">
            <a:extLst>
              <a:ext uri="{FF2B5EF4-FFF2-40B4-BE49-F238E27FC236}">
                <a16:creationId xmlns:a16="http://schemas.microsoft.com/office/drawing/2014/main" id="{2C7E2963-508B-8E9D-70E1-B770EC5AD4F4}"/>
              </a:ext>
            </a:extLst>
          </p:cNvPr>
          <p:cNvSpPr txBox="1"/>
          <p:nvPr/>
        </p:nvSpPr>
        <p:spPr>
          <a:xfrm>
            <a:off x="6511938" y="4397301"/>
            <a:ext cx="1849120" cy="2128174"/>
          </a:xfrm>
          <a:prstGeom prst="rect">
            <a:avLst/>
          </a:prstGeom>
          <a:noFill/>
          <a:ln>
            <a:solidFill>
              <a:schemeClr val="accent1"/>
            </a:solidFill>
          </a:ln>
        </p:spPr>
        <p:txBody>
          <a:bodyPr wrap="square" lIns="0" tIns="0" rIns="0" bIns="0" rtlCol="0">
            <a:noAutofit/>
          </a:bodyPr>
          <a:lstStyle/>
          <a:p>
            <a:pPr algn="ctr">
              <a:lnSpc>
                <a:spcPct val="150000"/>
              </a:lnSpc>
            </a:pPr>
            <a:r>
              <a:rPr lang="en-AU"/>
              <a:t>2 × 10 = 22</a:t>
            </a:r>
          </a:p>
          <a:p>
            <a:pPr algn="ctr">
              <a:lnSpc>
                <a:spcPct val="150000"/>
              </a:lnSpc>
            </a:pPr>
            <a:r>
              <a:rPr lang="en-AU"/>
              <a:t>10 × 2 = 22</a:t>
            </a:r>
          </a:p>
          <a:p>
            <a:pPr algn="ctr">
              <a:lnSpc>
                <a:spcPct val="150000"/>
              </a:lnSpc>
            </a:pPr>
            <a:r>
              <a:rPr lang="en-AU"/>
              <a:t>20 ÷ 2 = 10</a:t>
            </a:r>
          </a:p>
          <a:p>
            <a:pPr algn="ctr">
              <a:lnSpc>
                <a:spcPct val="150000"/>
              </a:lnSpc>
            </a:pPr>
            <a:r>
              <a:rPr lang="en-AU"/>
              <a:t>20 ÷ 10 = 2</a:t>
            </a:r>
          </a:p>
        </p:txBody>
      </p:sp>
      <p:sp>
        <p:nvSpPr>
          <p:cNvPr id="14" name="TextBox 13">
            <a:extLst>
              <a:ext uri="{FF2B5EF4-FFF2-40B4-BE49-F238E27FC236}">
                <a16:creationId xmlns:a16="http://schemas.microsoft.com/office/drawing/2014/main" id="{26666B72-5BF7-2519-B8D0-8C2427669883}"/>
              </a:ext>
            </a:extLst>
          </p:cNvPr>
          <p:cNvSpPr txBox="1"/>
          <p:nvPr/>
        </p:nvSpPr>
        <p:spPr>
          <a:xfrm>
            <a:off x="9489946" y="4441880"/>
            <a:ext cx="1849120" cy="2128174"/>
          </a:xfrm>
          <a:prstGeom prst="rect">
            <a:avLst/>
          </a:prstGeom>
          <a:noFill/>
          <a:ln>
            <a:solidFill>
              <a:schemeClr val="accent1"/>
            </a:solidFill>
          </a:ln>
        </p:spPr>
        <p:txBody>
          <a:bodyPr wrap="square" lIns="0" tIns="0" rIns="0" bIns="0" rtlCol="0">
            <a:noAutofit/>
          </a:bodyPr>
          <a:lstStyle/>
          <a:p>
            <a:pPr algn="ctr">
              <a:lnSpc>
                <a:spcPct val="150000"/>
              </a:lnSpc>
            </a:pPr>
            <a:r>
              <a:rPr lang="en-AU"/>
              <a:t>5 × 8 = 40</a:t>
            </a:r>
          </a:p>
          <a:p>
            <a:pPr algn="ctr">
              <a:lnSpc>
                <a:spcPct val="150000"/>
              </a:lnSpc>
            </a:pPr>
            <a:r>
              <a:rPr lang="en-AU"/>
              <a:t>8 × 5 = 40</a:t>
            </a:r>
          </a:p>
          <a:p>
            <a:pPr algn="ctr">
              <a:lnSpc>
                <a:spcPct val="150000"/>
              </a:lnSpc>
            </a:pPr>
            <a:r>
              <a:rPr lang="en-AU"/>
              <a:t>40 ÷ 5 = 8</a:t>
            </a:r>
          </a:p>
          <a:p>
            <a:pPr algn="ctr">
              <a:lnSpc>
                <a:spcPct val="150000"/>
              </a:lnSpc>
            </a:pPr>
            <a:r>
              <a:rPr lang="en-AU"/>
              <a:t>40 ÷ 8 = 5</a:t>
            </a:r>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E21C64C-F889-5481-9D14-D92BC0E7ACC8}"/>
              </a:ext>
            </a:extLst>
          </p:cNvPr>
          <p:cNvSpPr txBox="1"/>
          <p:nvPr/>
        </p:nvSpPr>
        <p:spPr>
          <a:xfrm>
            <a:off x="360000" y="905601"/>
            <a:ext cx="10881360" cy="915500"/>
          </a:xfrm>
          <a:prstGeom prst="rect">
            <a:avLst/>
          </a:prstGeom>
          <a:noFill/>
        </p:spPr>
        <p:txBody>
          <a:bodyPr wrap="square" lIns="0" tIns="0" rIns="0" bIns="0" rtlCol="0">
            <a:noAutofit/>
          </a:bodyPr>
          <a:lstStyle/>
          <a:p>
            <a:pPr algn="ctr">
              <a:lnSpc>
                <a:spcPct val="150000"/>
              </a:lnSpc>
            </a:pPr>
            <a:r>
              <a:rPr lang="en-AU" sz="4000"/>
              <a:t>Match each angle to its description:</a:t>
            </a:r>
          </a:p>
        </p:txBody>
      </p:sp>
      <p:grpSp>
        <p:nvGrpSpPr>
          <p:cNvPr id="15" name="Group 14" descr="A reflex angle">
            <a:extLst>
              <a:ext uri="{FF2B5EF4-FFF2-40B4-BE49-F238E27FC236}">
                <a16:creationId xmlns:a16="http://schemas.microsoft.com/office/drawing/2014/main" id="{E46C2B9F-F2FE-DC5C-93B3-6BC8F475FCF3}"/>
              </a:ext>
            </a:extLst>
          </p:cNvPr>
          <p:cNvGrpSpPr/>
          <p:nvPr/>
        </p:nvGrpSpPr>
        <p:grpSpPr>
          <a:xfrm>
            <a:off x="456248" y="1773983"/>
            <a:ext cx="1621589" cy="2531053"/>
            <a:chOff x="456248" y="1773983"/>
            <a:chExt cx="1621589" cy="2531053"/>
          </a:xfrm>
        </p:grpSpPr>
        <p:pic>
          <p:nvPicPr>
            <p:cNvPr id="9" name="Picture 8">
              <a:extLst>
                <a:ext uri="{FF2B5EF4-FFF2-40B4-BE49-F238E27FC236}">
                  <a16:creationId xmlns:a16="http://schemas.microsoft.com/office/drawing/2014/main" id="{31821B05-3BF2-AD25-EC41-5D00CEBDABB4}"/>
                </a:ext>
              </a:extLst>
            </p:cNvPr>
            <p:cNvPicPr>
              <a:picLocks noChangeAspect="1"/>
            </p:cNvPicPr>
            <p:nvPr/>
          </p:nvPicPr>
          <p:blipFill>
            <a:blip r:embed="rId4"/>
            <a:stretch>
              <a:fillRect/>
            </a:stretch>
          </p:blipFill>
          <p:spPr>
            <a:xfrm rot="9489074">
              <a:off x="829709" y="2057132"/>
              <a:ext cx="1248128" cy="2247904"/>
            </a:xfrm>
            <a:prstGeom prst="rect">
              <a:avLst/>
            </a:prstGeom>
          </p:spPr>
        </p:pic>
        <p:sp>
          <p:nvSpPr>
            <p:cNvPr id="14" name="TextBox 13">
              <a:extLst>
                <a:ext uri="{FF2B5EF4-FFF2-40B4-BE49-F238E27FC236}">
                  <a16:creationId xmlns:a16="http://schemas.microsoft.com/office/drawing/2014/main" id="{3EE92893-424F-06BE-A484-7DE29127B276}"/>
                </a:ext>
              </a:extLst>
            </p:cNvPr>
            <p:cNvSpPr txBox="1"/>
            <p:nvPr/>
          </p:nvSpPr>
          <p:spPr>
            <a:xfrm>
              <a:off x="456248" y="1773983"/>
              <a:ext cx="494392" cy="545601"/>
            </a:xfrm>
            <a:prstGeom prst="rect">
              <a:avLst/>
            </a:prstGeom>
            <a:noFill/>
          </p:spPr>
          <p:txBody>
            <a:bodyPr wrap="square" lIns="0" tIns="0" rIns="0" bIns="0" rtlCol="0">
              <a:noAutofit/>
            </a:bodyPr>
            <a:lstStyle/>
            <a:p>
              <a:pPr algn="ctr"/>
              <a:r>
                <a:rPr lang="en-AU" sz="3600"/>
                <a:t>A.</a:t>
              </a:r>
            </a:p>
          </p:txBody>
        </p:sp>
      </p:grpSp>
      <p:grpSp>
        <p:nvGrpSpPr>
          <p:cNvPr id="17" name="Group 16" descr="B. An acute angle">
            <a:extLst>
              <a:ext uri="{FF2B5EF4-FFF2-40B4-BE49-F238E27FC236}">
                <a16:creationId xmlns:a16="http://schemas.microsoft.com/office/drawing/2014/main" id="{2B2DC4FC-9099-470B-9CAE-581D9AD014E0}"/>
              </a:ext>
            </a:extLst>
          </p:cNvPr>
          <p:cNvGrpSpPr/>
          <p:nvPr/>
        </p:nvGrpSpPr>
        <p:grpSpPr>
          <a:xfrm>
            <a:off x="3313466" y="3398999"/>
            <a:ext cx="1586854" cy="1738536"/>
            <a:chOff x="3313466" y="3398999"/>
            <a:chExt cx="1586854" cy="1738536"/>
          </a:xfrm>
        </p:grpSpPr>
        <p:pic>
          <p:nvPicPr>
            <p:cNvPr id="11" name="Picture 10">
              <a:extLst>
                <a:ext uri="{FF2B5EF4-FFF2-40B4-BE49-F238E27FC236}">
                  <a16:creationId xmlns:a16="http://schemas.microsoft.com/office/drawing/2014/main" id="{8B1147B2-F05F-50C4-63FF-988D819009A5}"/>
                </a:ext>
              </a:extLst>
            </p:cNvPr>
            <p:cNvPicPr>
              <a:picLocks noChangeAspect="1"/>
            </p:cNvPicPr>
            <p:nvPr/>
          </p:nvPicPr>
          <p:blipFill>
            <a:blip r:embed="rId5"/>
            <a:stretch>
              <a:fillRect/>
            </a:stretch>
          </p:blipFill>
          <p:spPr>
            <a:xfrm rot="5400000">
              <a:off x="3510425" y="3747641"/>
              <a:ext cx="1192935" cy="1586854"/>
            </a:xfrm>
            <a:prstGeom prst="rect">
              <a:avLst/>
            </a:prstGeom>
          </p:spPr>
        </p:pic>
        <p:sp>
          <p:nvSpPr>
            <p:cNvPr id="16" name="TextBox 15">
              <a:extLst>
                <a:ext uri="{FF2B5EF4-FFF2-40B4-BE49-F238E27FC236}">
                  <a16:creationId xmlns:a16="http://schemas.microsoft.com/office/drawing/2014/main" id="{9F8D71AF-00AF-B65B-AB03-8727217D481C}"/>
                </a:ext>
              </a:extLst>
            </p:cNvPr>
            <p:cNvSpPr txBox="1"/>
            <p:nvPr/>
          </p:nvSpPr>
          <p:spPr>
            <a:xfrm>
              <a:off x="3383804" y="3398999"/>
              <a:ext cx="494392" cy="545601"/>
            </a:xfrm>
            <a:prstGeom prst="rect">
              <a:avLst/>
            </a:prstGeom>
            <a:noFill/>
          </p:spPr>
          <p:txBody>
            <a:bodyPr wrap="square" lIns="0" tIns="0" rIns="0" bIns="0" rtlCol="0">
              <a:noAutofit/>
            </a:bodyPr>
            <a:lstStyle/>
            <a:p>
              <a:pPr algn="ctr"/>
              <a:r>
                <a:rPr lang="en-AU" sz="3600"/>
                <a:t>B.</a:t>
              </a:r>
            </a:p>
          </p:txBody>
        </p:sp>
      </p:grpSp>
      <p:grpSp>
        <p:nvGrpSpPr>
          <p:cNvPr id="19" name="Group 18" descr="C. A right angle">
            <a:extLst>
              <a:ext uri="{FF2B5EF4-FFF2-40B4-BE49-F238E27FC236}">
                <a16:creationId xmlns:a16="http://schemas.microsoft.com/office/drawing/2014/main" id="{8E7F0C29-1A3E-B4A5-416C-74F1B8E2A008}"/>
              </a:ext>
            </a:extLst>
          </p:cNvPr>
          <p:cNvGrpSpPr/>
          <p:nvPr/>
        </p:nvGrpSpPr>
        <p:grpSpPr>
          <a:xfrm>
            <a:off x="456248" y="4917484"/>
            <a:ext cx="1749366" cy="1420100"/>
            <a:chOff x="456248" y="4917484"/>
            <a:chExt cx="1749366" cy="1420100"/>
          </a:xfrm>
        </p:grpSpPr>
        <p:pic>
          <p:nvPicPr>
            <p:cNvPr id="13" name="Picture 12">
              <a:extLst>
                <a:ext uri="{FF2B5EF4-FFF2-40B4-BE49-F238E27FC236}">
                  <a16:creationId xmlns:a16="http://schemas.microsoft.com/office/drawing/2014/main" id="{774E3979-A30D-7B18-E134-87C2F7F0779A}"/>
                </a:ext>
              </a:extLst>
            </p:cNvPr>
            <p:cNvPicPr>
              <a:picLocks noChangeAspect="1"/>
            </p:cNvPicPr>
            <p:nvPr/>
          </p:nvPicPr>
          <p:blipFill>
            <a:blip r:embed="rId6"/>
            <a:stretch>
              <a:fillRect/>
            </a:stretch>
          </p:blipFill>
          <p:spPr>
            <a:xfrm rot="13475170">
              <a:off x="858652" y="4917484"/>
              <a:ext cx="1346962" cy="1420100"/>
            </a:xfrm>
            <a:prstGeom prst="rect">
              <a:avLst/>
            </a:prstGeom>
          </p:spPr>
        </p:pic>
        <p:sp>
          <p:nvSpPr>
            <p:cNvPr id="18" name="TextBox 17">
              <a:extLst>
                <a:ext uri="{FF2B5EF4-FFF2-40B4-BE49-F238E27FC236}">
                  <a16:creationId xmlns:a16="http://schemas.microsoft.com/office/drawing/2014/main" id="{999F860C-E490-1436-E772-8E3D9668C603}"/>
                </a:ext>
              </a:extLst>
            </p:cNvPr>
            <p:cNvSpPr txBox="1"/>
            <p:nvPr/>
          </p:nvSpPr>
          <p:spPr>
            <a:xfrm>
              <a:off x="456248" y="5011227"/>
              <a:ext cx="494392" cy="545601"/>
            </a:xfrm>
            <a:prstGeom prst="rect">
              <a:avLst/>
            </a:prstGeom>
            <a:noFill/>
          </p:spPr>
          <p:txBody>
            <a:bodyPr wrap="square" lIns="0" tIns="0" rIns="0" bIns="0" rtlCol="0">
              <a:noAutofit/>
            </a:bodyPr>
            <a:lstStyle/>
            <a:p>
              <a:pPr algn="ctr"/>
              <a:r>
                <a:rPr lang="en-AU" sz="3600"/>
                <a:t>C.</a:t>
              </a:r>
            </a:p>
          </p:txBody>
        </p:sp>
      </p:grpSp>
      <p:sp>
        <p:nvSpPr>
          <p:cNvPr id="7" name="TextBox 6">
            <a:extLst>
              <a:ext uri="{FF2B5EF4-FFF2-40B4-BE49-F238E27FC236}">
                <a16:creationId xmlns:a16="http://schemas.microsoft.com/office/drawing/2014/main" id="{5357D333-51EB-7F23-7735-D80DCC9E53FF}"/>
              </a:ext>
            </a:extLst>
          </p:cNvPr>
          <p:cNvSpPr txBox="1"/>
          <p:nvPr/>
        </p:nvSpPr>
        <p:spPr>
          <a:xfrm>
            <a:off x="5543634" y="2096220"/>
            <a:ext cx="6094324" cy="4144661"/>
          </a:xfrm>
          <a:prstGeom prst="rect">
            <a:avLst/>
          </a:prstGeom>
          <a:noFill/>
        </p:spPr>
        <p:txBody>
          <a:bodyPr wrap="square">
            <a:spAutoFit/>
          </a:bodyPr>
          <a:lstStyle/>
          <a:p>
            <a:pPr marL="742950" indent="-742950">
              <a:lnSpc>
                <a:spcPct val="150000"/>
              </a:lnSpc>
              <a:buFont typeface="+mj-lt"/>
              <a:buAutoNum type="arabicPeriod"/>
            </a:pPr>
            <a:r>
              <a:rPr lang="en-AU" sz="3600" b="1"/>
              <a:t>less than </a:t>
            </a:r>
            <a:r>
              <a:rPr lang="en-AU" sz="3600"/>
              <a:t>a right angle</a:t>
            </a:r>
          </a:p>
          <a:p>
            <a:pPr marL="742950" indent="-742950">
              <a:lnSpc>
                <a:spcPct val="150000"/>
              </a:lnSpc>
              <a:buFont typeface="+mj-lt"/>
              <a:buAutoNum type="arabicPeriod"/>
            </a:pPr>
            <a:r>
              <a:rPr lang="en-AU" sz="3600" b="1"/>
              <a:t>about the same as </a:t>
            </a:r>
            <a:r>
              <a:rPr lang="en-AU" sz="3600"/>
              <a:t>a right angle</a:t>
            </a:r>
          </a:p>
          <a:p>
            <a:pPr marL="742950" indent="-742950">
              <a:lnSpc>
                <a:spcPct val="150000"/>
              </a:lnSpc>
              <a:buFont typeface="+mj-lt"/>
              <a:buAutoNum type="arabicPeriod"/>
            </a:pPr>
            <a:r>
              <a:rPr lang="en-AU" sz="3600" b="1"/>
              <a:t>greater than </a:t>
            </a:r>
            <a:r>
              <a:rPr lang="en-AU" sz="3600"/>
              <a:t>a right angle.</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7" name="TextBox 6">
            <a:extLst>
              <a:ext uri="{FF2B5EF4-FFF2-40B4-BE49-F238E27FC236}">
                <a16:creationId xmlns:a16="http://schemas.microsoft.com/office/drawing/2014/main" id="{8A811590-0386-3EFD-744B-D157D436DC7C}"/>
              </a:ext>
            </a:extLst>
          </p:cNvPr>
          <p:cNvSpPr txBox="1"/>
          <p:nvPr/>
        </p:nvSpPr>
        <p:spPr>
          <a:xfrm>
            <a:off x="248692" y="1334502"/>
            <a:ext cx="11059347" cy="2094498"/>
          </a:xfrm>
          <a:prstGeom prst="rect">
            <a:avLst/>
          </a:prstGeom>
          <a:noFill/>
        </p:spPr>
        <p:txBody>
          <a:bodyPr wrap="square" lIns="0" tIns="0" rIns="0" bIns="0" rtlCol="0">
            <a:noAutofit/>
          </a:bodyPr>
          <a:lstStyle/>
          <a:p>
            <a:pPr algn="ctr">
              <a:lnSpc>
                <a:spcPct val="150000"/>
              </a:lnSpc>
            </a:pPr>
            <a:r>
              <a:rPr lang="en-AU" sz="4400"/>
              <a:t>Sketch a pyramid showing </a:t>
            </a:r>
            <a:r>
              <a:rPr lang="en-AU" sz="4400" b="1"/>
              <a:t>depth.</a:t>
            </a:r>
            <a:r>
              <a:rPr lang="en-AU" sz="4400"/>
              <a:t> Think about the 2D shapes that can be seen. </a:t>
            </a:r>
          </a:p>
        </p:txBody>
      </p:sp>
      <p:sp>
        <p:nvSpPr>
          <p:cNvPr id="5" name="Freeform 2" descr="A pyramid.">
            <a:extLst>
              <a:ext uri="{FF2B5EF4-FFF2-40B4-BE49-F238E27FC236}">
                <a16:creationId xmlns:a16="http://schemas.microsoft.com/office/drawing/2014/main" id="{55EB12EE-0CD0-E6D9-1D45-A7243FFD3E72}"/>
              </a:ext>
            </a:extLst>
          </p:cNvPr>
          <p:cNvSpPr/>
          <p:nvPr/>
        </p:nvSpPr>
        <p:spPr>
          <a:xfrm>
            <a:off x="4853891" y="3720249"/>
            <a:ext cx="2831220" cy="3024000"/>
          </a:xfrm>
          <a:custGeom>
            <a:avLst/>
            <a:gdLst/>
            <a:ahLst/>
            <a:cxnLst/>
            <a:rect l="l" t="t" r="r" b="b"/>
            <a:pathLst>
              <a:path w="2831220" h="3024000">
                <a:moveTo>
                  <a:pt x="0" y="0"/>
                </a:moveTo>
                <a:lnTo>
                  <a:pt x="2831220" y="0"/>
                </a:lnTo>
                <a:lnTo>
                  <a:pt x="2831220" y="3024000"/>
                </a:lnTo>
                <a:lnTo>
                  <a:pt x="0" y="3024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09861F7-B7A2-BD84-459D-C035A1263179}"/>
              </a:ext>
            </a:extLst>
          </p:cNvPr>
          <p:cNvSpPr txBox="1"/>
          <p:nvPr/>
        </p:nvSpPr>
        <p:spPr>
          <a:xfrm>
            <a:off x="385049" y="1133520"/>
            <a:ext cx="4140880" cy="5364480"/>
          </a:xfrm>
          <a:prstGeom prst="rect">
            <a:avLst/>
          </a:prstGeom>
          <a:noFill/>
        </p:spPr>
        <p:txBody>
          <a:bodyPr wrap="square" lIns="0" tIns="0" rIns="0" bIns="0" rtlCol="0">
            <a:noAutofit/>
          </a:bodyPr>
          <a:lstStyle/>
          <a:p>
            <a:pPr algn="l">
              <a:lnSpc>
                <a:spcPct val="150000"/>
              </a:lnSpc>
            </a:pPr>
            <a:r>
              <a:rPr lang="en-AU" sz="3200"/>
              <a:t>Use the </a:t>
            </a:r>
            <a:r>
              <a:rPr lang="en-AU" sz="3200" b="1"/>
              <a:t>grid map </a:t>
            </a:r>
            <a:r>
              <a:rPr lang="en-AU" sz="3200"/>
              <a:t>to locate the </a:t>
            </a:r>
            <a:r>
              <a:rPr lang="en-AU" sz="3200" b="1"/>
              <a:t>position</a:t>
            </a:r>
            <a:r>
              <a:rPr lang="en-AU" sz="3200"/>
              <a:t> of the:</a:t>
            </a:r>
          </a:p>
          <a:p>
            <a:pPr marL="285750" indent="-285750" algn="l">
              <a:lnSpc>
                <a:spcPct val="150000"/>
              </a:lnSpc>
              <a:buFont typeface="Arial" panose="020B0604020202020204" pitchFamily="34" charset="0"/>
              <a:buChar char="•"/>
            </a:pPr>
            <a:r>
              <a:rPr lang="en-AU" sz="3200"/>
              <a:t>ship</a:t>
            </a:r>
          </a:p>
          <a:p>
            <a:pPr marL="285750" indent="-285750" algn="l">
              <a:lnSpc>
                <a:spcPct val="150000"/>
              </a:lnSpc>
              <a:buFont typeface="Arial" panose="020B0604020202020204" pitchFamily="34" charset="0"/>
              <a:buChar char="•"/>
            </a:pPr>
            <a:r>
              <a:rPr lang="en-AU" sz="3200"/>
              <a:t>mermaid</a:t>
            </a:r>
          </a:p>
          <a:p>
            <a:pPr marL="285750" indent="-285750" algn="l">
              <a:lnSpc>
                <a:spcPct val="150000"/>
              </a:lnSpc>
              <a:buFont typeface="Arial" panose="020B0604020202020204" pitchFamily="34" charset="0"/>
              <a:buChar char="•"/>
            </a:pPr>
            <a:r>
              <a:rPr lang="en-AU" sz="3200"/>
              <a:t>treasure chest</a:t>
            </a:r>
          </a:p>
          <a:p>
            <a:pPr marL="285750" indent="-285750" algn="l">
              <a:lnSpc>
                <a:spcPct val="150000"/>
              </a:lnSpc>
              <a:buFont typeface="Arial" panose="020B0604020202020204" pitchFamily="34" charset="0"/>
              <a:buChar char="•"/>
            </a:pPr>
            <a:r>
              <a:rPr lang="en-AU" sz="3200"/>
              <a:t>sharks.</a:t>
            </a:r>
          </a:p>
        </p:txBody>
      </p:sp>
      <p:sp>
        <p:nvSpPr>
          <p:cNvPr id="7" name="Freeform 2" descr="An image of the ship.">
            <a:extLst>
              <a:ext uri="{FF2B5EF4-FFF2-40B4-BE49-F238E27FC236}">
                <a16:creationId xmlns:a16="http://schemas.microsoft.com/office/drawing/2014/main" id="{64C5F2FD-06B8-456E-87E6-A148FACF8877}"/>
              </a:ext>
            </a:extLst>
          </p:cNvPr>
          <p:cNvSpPr/>
          <p:nvPr/>
        </p:nvSpPr>
        <p:spPr>
          <a:xfrm>
            <a:off x="3883724" y="3315956"/>
            <a:ext cx="642205" cy="645656"/>
          </a:xfrm>
          <a:custGeom>
            <a:avLst/>
            <a:gdLst/>
            <a:ahLst/>
            <a:cxnLst/>
            <a:rect l="l" t="t" r="r" b="b"/>
            <a:pathLst>
              <a:path w="899587" h="841114">
                <a:moveTo>
                  <a:pt x="0" y="0"/>
                </a:moveTo>
                <a:lnTo>
                  <a:pt x="899587" y="0"/>
                </a:lnTo>
                <a:lnTo>
                  <a:pt x="899587" y="841114"/>
                </a:lnTo>
                <a:lnTo>
                  <a:pt x="0" y="8411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3" descr="An image of the mermaid.">
            <a:extLst>
              <a:ext uri="{FF2B5EF4-FFF2-40B4-BE49-F238E27FC236}">
                <a16:creationId xmlns:a16="http://schemas.microsoft.com/office/drawing/2014/main" id="{1FFD3880-14AA-574F-EBCC-F35084BDAE1F}"/>
              </a:ext>
            </a:extLst>
          </p:cNvPr>
          <p:cNvSpPr/>
          <p:nvPr/>
        </p:nvSpPr>
        <p:spPr>
          <a:xfrm>
            <a:off x="3883724" y="4082192"/>
            <a:ext cx="446030" cy="680726"/>
          </a:xfrm>
          <a:custGeom>
            <a:avLst/>
            <a:gdLst/>
            <a:ahLst/>
            <a:cxnLst/>
            <a:rect l="l" t="t" r="r" b="b"/>
            <a:pathLst>
              <a:path w="632577" h="969466">
                <a:moveTo>
                  <a:pt x="0" y="0"/>
                </a:moveTo>
                <a:lnTo>
                  <a:pt x="632577" y="0"/>
                </a:lnTo>
                <a:lnTo>
                  <a:pt x="632577" y="969466"/>
                </a:lnTo>
                <a:lnTo>
                  <a:pt x="0" y="969466"/>
                </a:lnTo>
                <a:lnTo>
                  <a:pt x="0" y="0"/>
                </a:lnTo>
                <a:close/>
              </a:path>
            </a:pathLst>
          </a:custGeom>
          <a:blipFill>
            <a:blip r:embed="rId6"/>
            <a:stretch>
              <a:fillRect/>
            </a:stretch>
          </a:blipFill>
        </p:spPr>
        <p:txBody>
          <a:bodyPr/>
          <a:lstStyle/>
          <a:p>
            <a:endParaRPr lang="en-AU"/>
          </a:p>
        </p:txBody>
      </p:sp>
      <p:sp>
        <p:nvSpPr>
          <p:cNvPr id="9" name="Freeform 4" descr="An image of the treasure chest.">
            <a:extLst>
              <a:ext uri="{FF2B5EF4-FFF2-40B4-BE49-F238E27FC236}">
                <a16:creationId xmlns:a16="http://schemas.microsoft.com/office/drawing/2014/main" id="{18C4BAC7-D871-6101-571E-83B04EDB65E5}"/>
              </a:ext>
            </a:extLst>
          </p:cNvPr>
          <p:cNvSpPr/>
          <p:nvPr/>
        </p:nvSpPr>
        <p:spPr>
          <a:xfrm>
            <a:off x="3883724" y="4894796"/>
            <a:ext cx="491169" cy="545601"/>
          </a:xfrm>
          <a:custGeom>
            <a:avLst/>
            <a:gdLst/>
            <a:ahLst/>
            <a:cxnLst/>
            <a:rect l="l" t="t" r="r" b="b"/>
            <a:pathLst>
              <a:path w="677953" h="696229">
                <a:moveTo>
                  <a:pt x="0" y="0"/>
                </a:moveTo>
                <a:lnTo>
                  <a:pt x="677953" y="0"/>
                </a:lnTo>
                <a:lnTo>
                  <a:pt x="677953" y="696229"/>
                </a:lnTo>
                <a:lnTo>
                  <a:pt x="0" y="69622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grpSp>
        <p:nvGrpSpPr>
          <p:cNvPr id="10" name="Group 5" descr="An image of sharks.">
            <a:extLst>
              <a:ext uri="{FF2B5EF4-FFF2-40B4-BE49-F238E27FC236}">
                <a16:creationId xmlns:a16="http://schemas.microsoft.com/office/drawing/2014/main" id="{9ADEBC1D-326F-A89B-D2FF-F5EF52EAE701}"/>
              </a:ext>
            </a:extLst>
          </p:cNvPr>
          <p:cNvGrpSpPr/>
          <p:nvPr/>
        </p:nvGrpSpPr>
        <p:grpSpPr>
          <a:xfrm>
            <a:off x="3793485" y="5668316"/>
            <a:ext cx="732444" cy="419568"/>
            <a:chOff x="0" y="0"/>
            <a:chExt cx="1222237" cy="752119"/>
          </a:xfrm>
        </p:grpSpPr>
        <p:sp>
          <p:nvSpPr>
            <p:cNvPr id="11" name="Freeform 6">
              <a:extLst>
                <a:ext uri="{FF2B5EF4-FFF2-40B4-BE49-F238E27FC236}">
                  <a16:creationId xmlns:a16="http://schemas.microsoft.com/office/drawing/2014/main" id="{93FB67B8-6489-BC7E-231D-F2D245B492A3}"/>
                </a:ext>
              </a:extLst>
            </p:cNvPr>
            <p:cNvSpPr/>
            <p:nvPr/>
          </p:nvSpPr>
          <p:spPr>
            <a:xfrm>
              <a:off x="0" y="0"/>
              <a:ext cx="877903" cy="649648"/>
            </a:xfrm>
            <a:custGeom>
              <a:avLst/>
              <a:gdLst/>
              <a:ahLst/>
              <a:cxnLst/>
              <a:rect l="l" t="t" r="r" b="b"/>
              <a:pathLst>
                <a:path w="877903" h="649648">
                  <a:moveTo>
                    <a:pt x="0" y="0"/>
                  </a:moveTo>
                  <a:lnTo>
                    <a:pt x="877903" y="0"/>
                  </a:lnTo>
                  <a:lnTo>
                    <a:pt x="877903" y="649648"/>
                  </a:lnTo>
                  <a:lnTo>
                    <a:pt x="0" y="6496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AU"/>
            </a:p>
          </p:txBody>
        </p:sp>
        <p:sp>
          <p:nvSpPr>
            <p:cNvPr id="12" name="Freeform 7">
              <a:extLst>
                <a:ext uri="{FF2B5EF4-FFF2-40B4-BE49-F238E27FC236}">
                  <a16:creationId xmlns:a16="http://schemas.microsoft.com/office/drawing/2014/main" id="{11AE3BE0-ACB2-0D22-A8E1-59B87ED7B28C}"/>
                </a:ext>
              </a:extLst>
            </p:cNvPr>
            <p:cNvSpPr/>
            <p:nvPr/>
          </p:nvSpPr>
          <p:spPr>
            <a:xfrm>
              <a:off x="533569" y="242505"/>
              <a:ext cx="688668" cy="509614"/>
            </a:xfrm>
            <a:custGeom>
              <a:avLst/>
              <a:gdLst/>
              <a:ahLst/>
              <a:cxnLst/>
              <a:rect l="l" t="t" r="r" b="b"/>
              <a:pathLst>
                <a:path w="688668" h="509614">
                  <a:moveTo>
                    <a:pt x="0" y="0"/>
                  </a:moveTo>
                  <a:lnTo>
                    <a:pt x="688668" y="0"/>
                  </a:lnTo>
                  <a:lnTo>
                    <a:pt x="688668" y="509614"/>
                  </a:lnTo>
                  <a:lnTo>
                    <a:pt x="0" y="50961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AU"/>
            </a:p>
          </p:txBody>
        </p:sp>
      </p:grpSp>
      <p:pic>
        <p:nvPicPr>
          <p:cNvPr id="4" name="Picture 3" descr="A treasure map with grid references">
            <a:extLst>
              <a:ext uri="{FF2B5EF4-FFF2-40B4-BE49-F238E27FC236}">
                <a16:creationId xmlns:a16="http://schemas.microsoft.com/office/drawing/2014/main" id="{95DD2640-3E02-9F61-99C8-D7A3E3F09A68}"/>
              </a:ext>
            </a:extLst>
          </p:cNvPr>
          <p:cNvPicPr>
            <a:picLocks noChangeAspect="1"/>
          </p:cNvPicPr>
          <p:nvPr/>
        </p:nvPicPr>
        <p:blipFill>
          <a:blip r:embed="rId11"/>
          <a:stretch>
            <a:fillRect/>
          </a:stretch>
        </p:blipFill>
        <p:spPr>
          <a:xfrm>
            <a:off x="4677533" y="1373903"/>
            <a:ext cx="6637423" cy="4952417"/>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4" name="TextBox 3">
            <a:extLst>
              <a:ext uri="{FF2B5EF4-FFF2-40B4-BE49-F238E27FC236}">
                <a16:creationId xmlns:a16="http://schemas.microsoft.com/office/drawing/2014/main" id="{8FE83571-AD69-062F-4372-6300C6CD5B3B}"/>
              </a:ext>
            </a:extLst>
          </p:cNvPr>
          <p:cNvSpPr txBox="1"/>
          <p:nvPr/>
        </p:nvSpPr>
        <p:spPr>
          <a:xfrm>
            <a:off x="538480" y="1247151"/>
            <a:ext cx="10769600" cy="1991360"/>
          </a:xfrm>
          <a:prstGeom prst="rect">
            <a:avLst/>
          </a:prstGeom>
          <a:noFill/>
        </p:spPr>
        <p:txBody>
          <a:bodyPr wrap="square" lIns="0" tIns="0" rIns="0" bIns="0" rtlCol="0">
            <a:noAutofit/>
          </a:bodyPr>
          <a:lstStyle/>
          <a:p>
            <a:pPr algn="ctr">
              <a:lnSpc>
                <a:spcPct val="150000"/>
              </a:lnSpc>
            </a:pPr>
            <a:r>
              <a:rPr lang="en-AU" sz="4000"/>
              <a:t>Place the following </a:t>
            </a:r>
            <a:r>
              <a:rPr lang="en-AU" sz="4000" b="1"/>
              <a:t>lengths in order </a:t>
            </a:r>
            <a:r>
              <a:rPr lang="en-AU" sz="4000"/>
              <a:t>from </a:t>
            </a:r>
            <a:r>
              <a:rPr lang="en-AU" sz="4000" b="1"/>
              <a:t>shortest to longest</a:t>
            </a:r>
            <a:r>
              <a:rPr lang="en-AU" sz="4000"/>
              <a:t>:</a:t>
            </a:r>
          </a:p>
          <a:p>
            <a:pPr algn="ctr">
              <a:lnSpc>
                <a:spcPct val="150000"/>
              </a:lnSpc>
            </a:pPr>
            <a:endParaRPr lang="en-AU" sz="4000"/>
          </a:p>
          <a:p>
            <a:pPr algn="ctr"/>
            <a:endParaRPr lang="en-AU" sz="1800"/>
          </a:p>
        </p:txBody>
      </p:sp>
      <p:sp>
        <p:nvSpPr>
          <p:cNvPr id="5" name="TextBox 4">
            <a:extLst>
              <a:ext uri="{FF2B5EF4-FFF2-40B4-BE49-F238E27FC236}">
                <a16:creationId xmlns:a16="http://schemas.microsoft.com/office/drawing/2014/main" id="{5F0EA411-F376-134C-3483-D19472F9EF7F}"/>
              </a:ext>
            </a:extLst>
          </p:cNvPr>
          <p:cNvSpPr txBox="1"/>
          <p:nvPr/>
        </p:nvSpPr>
        <p:spPr>
          <a:xfrm>
            <a:off x="4988560" y="2959440"/>
            <a:ext cx="5405120" cy="3556560"/>
          </a:xfrm>
          <a:prstGeom prst="rect">
            <a:avLst/>
          </a:prstGeom>
          <a:noFill/>
        </p:spPr>
        <p:txBody>
          <a:bodyPr wrap="square" lIns="0" tIns="0" rIns="0" bIns="0" rtlCol="0">
            <a:noAutofit/>
          </a:bodyPr>
          <a:lstStyle/>
          <a:p>
            <a:pPr marL="285750" indent="-285750" algn="l">
              <a:lnSpc>
                <a:spcPct val="150000"/>
              </a:lnSpc>
              <a:buFont typeface="Arial" panose="020B0604020202020204" pitchFamily="34" charset="0"/>
              <a:buChar char="•"/>
            </a:pPr>
            <a:r>
              <a:rPr lang="en-AU" sz="4000">
                <a:solidFill>
                  <a:schemeClr val="accent2"/>
                </a:solidFill>
              </a:rPr>
              <a:t>129 cm</a:t>
            </a:r>
          </a:p>
          <a:p>
            <a:pPr marL="285750" indent="-285750">
              <a:lnSpc>
                <a:spcPct val="150000"/>
              </a:lnSpc>
              <a:buFont typeface="Arial" panose="020B0604020202020204" pitchFamily="34" charset="0"/>
              <a:buChar char="•"/>
            </a:pPr>
            <a:r>
              <a:rPr lang="en-AU" sz="4000">
                <a:solidFill>
                  <a:schemeClr val="accent2"/>
                </a:solidFill>
              </a:rPr>
              <a:t>1.36 m</a:t>
            </a:r>
          </a:p>
          <a:p>
            <a:pPr marL="285750" indent="-285750">
              <a:lnSpc>
                <a:spcPct val="150000"/>
              </a:lnSpc>
              <a:buFont typeface="Arial" panose="020B0604020202020204" pitchFamily="34" charset="0"/>
              <a:buChar char="•"/>
            </a:pPr>
            <a:r>
              <a:rPr lang="en-AU" sz="4000">
                <a:solidFill>
                  <a:schemeClr val="accent2"/>
                </a:solidFill>
              </a:rPr>
              <a:t>130 cm</a:t>
            </a:r>
          </a:p>
          <a:p>
            <a:pPr marL="285750" indent="-285750">
              <a:lnSpc>
                <a:spcPct val="150000"/>
              </a:lnSpc>
              <a:buFont typeface="Arial" panose="020B0604020202020204" pitchFamily="34" charset="0"/>
              <a:buChar char="•"/>
            </a:pPr>
            <a:r>
              <a:rPr lang="en-AU" sz="4000">
                <a:solidFill>
                  <a:schemeClr val="accent2"/>
                </a:solidFill>
              </a:rPr>
              <a:t>1.4 m</a:t>
            </a:r>
          </a:p>
          <a:p>
            <a:pPr marL="285750" indent="-285750" algn="l">
              <a:lnSpc>
                <a:spcPct val="150000"/>
              </a:lnSpc>
              <a:buFont typeface="Arial" panose="020B0604020202020204" pitchFamily="34" charset="0"/>
              <a:buChar char="•"/>
            </a:pPr>
            <a:endParaRPr lang="en-AU" sz="4000">
              <a:solidFill>
                <a:schemeClr val="accent2"/>
              </a:solidFill>
            </a:endParaRPr>
          </a:p>
        </p:txBody>
      </p:sp>
      <p:sp>
        <p:nvSpPr>
          <p:cNvPr id="7" name="TextBox 6">
            <a:extLst>
              <a:ext uri="{FF2B5EF4-FFF2-40B4-BE49-F238E27FC236}">
                <a16:creationId xmlns:a16="http://schemas.microsoft.com/office/drawing/2014/main" id="{58E08446-E8D9-CA16-638D-64439F203278}"/>
              </a:ext>
            </a:extLst>
          </p:cNvPr>
          <p:cNvSpPr txBox="1"/>
          <p:nvPr/>
        </p:nvSpPr>
        <p:spPr>
          <a:xfrm>
            <a:off x="7691120" y="3301440"/>
            <a:ext cx="5405120" cy="3556560"/>
          </a:xfrm>
          <a:prstGeom prst="rect">
            <a:avLst/>
          </a:prstGeom>
          <a:noFill/>
        </p:spPr>
        <p:txBody>
          <a:bodyPr wrap="square" lIns="0" tIns="0" rIns="0" bIns="0" rtlCol="0">
            <a:noAutofit/>
          </a:bodyPr>
          <a:lstStyle/>
          <a:p>
            <a:pPr marL="285750" indent="-285750" algn="l">
              <a:lnSpc>
                <a:spcPct val="150000"/>
              </a:lnSpc>
              <a:buFont typeface="Arial" panose="020B0604020202020204" pitchFamily="34" charset="0"/>
              <a:buChar char="•"/>
            </a:pPr>
            <a:endParaRPr lang="en-AU" sz="4000">
              <a:solidFill>
                <a:schemeClr val="accent2"/>
              </a:solidFill>
            </a:endParaRP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recalling fact families</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12000" y="172160"/>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3" name="TextBox 2">
            <a:extLst>
              <a:ext uri="{FF2B5EF4-FFF2-40B4-BE49-F238E27FC236}">
                <a16:creationId xmlns:a16="http://schemas.microsoft.com/office/drawing/2014/main" id="{4AB23C99-4D92-06B9-099B-E9821BC44F3F}"/>
              </a:ext>
            </a:extLst>
          </p:cNvPr>
          <p:cNvSpPr txBox="1"/>
          <p:nvPr/>
        </p:nvSpPr>
        <p:spPr>
          <a:xfrm>
            <a:off x="609600" y="1524560"/>
            <a:ext cx="10779760" cy="5161280"/>
          </a:xfrm>
          <a:prstGeom prst="rect">
            <a:avLst/>
          </a:prstGeom>
          <a:noFill/>
        </p:spPr>
        <p:txBody>
          <a:bodyPr wrap="square" lIns="0" tIns="0" rIns="0" bIns="0" rtlCol="0">
            <a:noAutofit/>
          </a:bodyPr>
          <a:lstStyle/>
          <a:p>
            <a:pPr algn="ctr">
              <a:lnSpc>
                <a:spcPct val="150000"/>
              </a:lnSpc>
            </a:pPr>
            <a:r>
              <a:rPr lang="en-AU" sz="4400"/>
              <a:t>4 × 5 = 20</a:t>
            </a:r>
          </a:p>
          <a:p>
            <a:pPr algn="ctr">
              <a:lnSpc>
                <a:spcPct val="150000"/>
              </a:lnSpc>
            </a:pPr>
            <a:r>
              <a:rPr lang="en-AU" sz="4400"/>
              <a:t>5 × 4 = 20</a:t>
            </a:r>
          </a:p>
          <a:p>
            <a:pPr algn="ctr">
              <a:lnSpc>
                <a:spcPct val="150000"/>
              </a:lnSpc>
            </a:pPr>
            <a:r>
              <a:rPr lang="en-AU" sz="4400"/>
              <a:t>20 ÷ 4 = 5</a:t>
            </a:r>
          </a:p>
          <a:p>
            <a:pPr algn="ctr">
              <a:lnSpc>
                <a:spcPct val="150000"/>
              </a:lnSpc>
            </a:pPr>
            <a:r>
              <a:rPr lang="en-AU" sz="4400"/>
              <a:t>20 ÷ 5 = 4</a:t>
            </a:r>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60001" y="1054103"/>
            <a:ext cx="11243037" cy="893226"/>
          </a:xfrm>
        </p:spPr>
        <p:txBody>
          <a:bodyPr/>
          <a:lstStyle/>
          <a:p>
            <a:pPr algn="ctr"/>
            <a:r>
              <a:rPr lang="en-AU" sz="3600"/>
              <a:t>Ralph says the following is a correct fact family:</a:t>
            </a:r>
          </a:p>
          <a:p>
            <a:pPr algn="ctr"/>
            <a:r>
              <a:rPr lang="en-AU" sz="3600"/>
              <a:t>4 × 5 = 20</a:t>
            </a:r>
          </a:p>
          <a:p>
            <a:pPr algn="ctr"/>
            <a:r>
              <a:rPr lang="en-AU" sz="3600"/>
              <a:t>2 × 10 = 20</a:t>
            </a:r>
          </a:p>
          <a:p>
            <a:pPr algn="ctr"/>
            <a:r>
              <a:rPr lang="en-AU" sz="3600"/>
              <a:t>20 ÷ 4 = 5</a:t>
            </a:r>
          </a:p>
          <a:p>
            <a:pPr algn="ctr"/>
            <a:r>
              <a:rPr lang="en-AU" sz="3600"/>
              <a:t>20 ÷ 10 = 2</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3212913385"/>
              </p:ext>
            </p:extLst>
          </p:nvPr>
        </p:nvGraphicFramePr>
        <p:xfrm>
          <a:off x="2442980" y="562491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0"/>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4" name="TextBox 3">
            <a:extLst>
              <a:ext uri="{FF2B5EF4-FFF2-40B4-BE49-F238E27FC236}">
                <a16:creationId xmlns:a16="http://schemas.microsoft.com/office/drawing/2014/main" id="{D7C84441-C768-4C6E-8F6E-EF4919C5BF83}"/>
              </a:ext>
            </a:extLst>
          </p:cNvPr>
          <p:cNvSpPr txBox="1"/>
          <p:nvPr/>
        </p:nvSpPr>
        <p:spPr>
          <a:xfrm>
            <a:off x="530404" y="1120845"/>
            <a:ext cx="10593596" cy="1599617"/>
          </a:xfrm>
          <a:prstGeom prst="rect">
            <a:avLst/>
          </a:prstGeom>
          <a:noFill/>
        </p:spPr>
        <p:txBody>
          <a:bodyPr wrap="square" lIns="0" tIns="0" rIns="0" bIns="0" rtlCol="0">
            <a:noAutofit/>
          </a:bodyPr>
          <a:lstStyle/>
          <a:p>
            <a:pPr algn="ctr"/>
            <a:r>
              <a:rPr lang="en-AU" sz="3600"/>
              <a:t>Match the </a:t>
            </a:r>
            <a:r>
              <a:rPr lang="en-AU" sz="3600" b="1"/>
              <a:t>angles</a:t>
            </a:r>
            <a:r>
              <a:rPr lang="en-AU" sz="3600"/>
              <a:t> to the number of </a:t>
            </a:r>
            <a:r>
              <a:rPr lang="en-AU" sz="3600" b="1"/>
              <a:t>quarter-turns</a:t>
            </a:r>
            <a:r>
              <a:rPr lang="en-AU" sz="3600"/>
              <a:t>:</a:t>
            </a:r>
          </a:p>
        </p:txBody>
      </p:sp>
      <p:sp>
        <p:nvSpPr>
          <p:cNvPr id="5" name="TextBox 4">
            <a:extLst>
              <a:ext uri="{FF2B5EF4-FFF2-40B4-BE49-F238E27FC236}">
                <a16:creationId xmlns:a16="http://schemas.microsoft.com/office/drawing/2014/main" id="{2DE46BBC-BCC4-28EF-1FF1-A16C35B00249}"/>
              </a:ext>
            </a:extLst>
          </p:cNvPr>
          <p:cNvSpPr txBox="1"/>
          <p:nvPr/>
        </p:nvSpPr>
        <p:spPr>
          <a:xfrm>
            <a:off x="924560" y="2441840"/>
            <a:ext cx="4795520" cy="4074160"/>
          </a:xfrm>
          <a:prstGeom prst="rect">
            <a:avLst/>
          </a:prstGeom>
          <a:noFill/>
        </p:spPr>
        <p:txBody>
          <a:bodyPr wrap="square" lIns="0" tIns="0" rIns="0" bIns="0" rtlCol="0">
            <a:noAutofit/>
          </a:bodyPr>
          <a:lstStyle/>
          <a:p>
            <a:pPr algn="l">
              <a:lnSpc>
                <a:spcPct val="150000"/>
              </a:lnSpc>
            </a:pPr>
            <a:r>
              <a:rPr lang="en-AU" sz="3600"/>
              <a:t>a. 1 quarter-turn</a:t>
            </a:r>
          </a:p>
          <a:p>
            <a:pPr algn="l">
              <a:lnSpc>
                <a:spcPct val="150000"/>
              </a:lnSpc>
            </a:pPr>
            <a:r>
              <a:rPr lang="en-AU" sz="3600"/>
              <a:t>b. 2 quarter-turns</a:t>
            </a:r>
          </a:p>
          <a:p>
            <a:pPr algn="l">
              <a:lnSpc>
                <a:spcPct val="150000"/>
              </a:lnSpc>
            </a:pPr>
            <a:r>
              <a:rPr lang="en-AU" sz="3600"/>
              <a:t>c. 3 quarter-turns</a:t>
            </a:r>
          </a:p>
          <a:p>
            <a:pPr algn="l">
              <a:lnSpc>
                <a:spcPct val="150000"/>
              </a:lnSpc>
            </a:pPr>
            <a:r>
              <a:rPr lang="en-AU" sz="3600"/>
              <a:t>d. 4 quarter turns</a:t>
            </a:r>
          </a:p>
        </p:txBody>
      </p:sp>
      <p:pic>
        <p:nvPicPr>
          <p:cNvPr id="9" name="Picture 8" descr="Images of: 1. reflex angle, 2. straight angle, 3. angle of revolution and 4. right angle.">
            <a:extLst>
              <a:ext uri="{FF2B5EF4-FFF2-40B4-BE49-F238E27FC236}">
                <a16:creationId xmlns:a16="http://schemas.microsoft.com/office/drawing/2014/main" id="{74966780-80A4-4FE3-3985-6833ECEE8677}"/>
              </a:ext>
            </a:extLst>
          </p:cNvPr>
          <p:cNvPicPr>
            <a:picLocks noChangeAspect="1"/>
          </p:cNvPicPr>
          <p:nvPr/>
        </p:nvPicPr>
        <p:blipFill>
          <a:blip r:embed="rId4"/>
          <a:stretch>
            <a:fillRect/>
          </a:stretch>
        </p:blipFill>
        <p:spPr>
          <a:xfrm>
            <a:off x="6198642" y="1870630"/>
            <a:ext cx="4446796" cy="453381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10" name="TextBox 9">
            <a:extLst>
              <a:ext uri="{FF2B5EF4-FFF2-40B4-BE49-F238E27FC236}">
                <a16:creationId xmlns:a16="http://schemas.microsoft.com/office/drawing/2014/main" id="{109A0535-B24A-AA17-B386-40C2FF5F1640}"/>
              </a:ext>
            </a:extLst>
          </p:cNvPr>
          <p:cNvSpPr txBox="1"/>
          <p:nvPr/>
        </p:nvSpPr>
        <p:spPr>
          <a:xfrm>
            <a:off x="360000" y="1564640"/>
            <a:ext cx="4980459" cy="5293360"/>
          </a:xfrm>
          <a:prstGeom prst="rect">
            <a:avLst/>
          </a:prstGeom>
          <a:noFill/>
        </p:spPr>
        <p:txBody>
          <a:bodyPr wrap="square" lIns="0" tIns="0" rIns="0" bIns="0" rtlCol="0">
            <a:noAutofit/>
          </a:bodyPr>
          <a:lstStyle/>
          <a:p>
            <a:pPr algn="ctr">
              <a:lnSpc>
                <a:spcPct val="150000"/>
              </a:lnSpc>
            </a:pPr>
            <a:r>
              <a:rPr lang="en-AU" sz="4400"/>
              <a:t>Sketch a </a:t>
            </a:r>
            <a:r>
              <a:rPr lang="en-AU" sz="4400" b="1"/>
              <a:t>prism</a:t>
            </a:r>
            <a:r>
              <a:rPr lang="en-AU" sz="4400"/>
              <a:t> showing </a:t>
            </a:r>
            <a:r>
              <a:rPr lang="en-AU" sz="4400" b="1"/>
              <a:t>depth</a:t>
            </a:r>
            <a:r>
              <a:rPr lang="en-AU" sz="4400"/>
              <a:t>. Think about the </a:t>
            </a:r>
            <a:r>
              <a:rPr lang="en-AU" sz="4400" b="1"/>
              <a:t>2D shapes </a:t>
            </a:r>
            <a:r>
              <a:rPr lang="en-AU" sz="4400"/>
              <a:t>that can be seen. </a:t>
            </a:r>
          </a:p>
        </p:txBody>
      </p:sp>
      <p:sp>
        <p:nvSpPr>
          <p:cNvPr id="11" name="Freeform 4" descr="Rectangular prism.">
            <a:extLst>
              <a:ext uri="{FF2B5EF4-FFF2-40B4-BE49-F238E27FC236}">
                <a16:creationId xmlns:a16="http://schemas.microsoft.com/office/drawing/2014/main" id="{E5746B0F-665A-28F8-8522-3B9C079481F9}"/>
              </a:ext>
            </a:extLst>
          </p:cNvPr>
          <p:cNvSpPr/>
          <p:nvPr/>
        </p:nvSpPr>
        <p:spPr>
          <a:xfrm>
            <a:off x="6228080" y="2121188"/>
            <a:ext cx="5344160" cy="2816572"/>
          </a:xfrm>
          <a:custGeom>
            <a:avLst/>
            <a:gdLst/>
            <a:ahLst/>
            <a:cxnLst/>
            <a:rect l="l" t="t" r="r" b="b"/>
            <a:pathLst>
              <a:path w="4276800" h="2159784">
                <a:moveTo>
                  <a:pt x="0" y="0"/>
                </a:moveTo>
                <a:lnTo>
                  <a:pt x="4276800" y="0"/>
                </a:lnTo>
                <a:lnTo>
                  <a:pt x="4276800" y="2159784"/>
                </a:lnTo>
                <a:lnTo>
                  <a:pt x="0" y="21597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4" name="Text Placeholder 5">
            <a:extLst>
              <a:ext uri="{FF2B5EF4-FFF2-40B4-BE49-F238E27FC236}">
                <a16:creationId xmlns:a16="http://schemas.microsoft.com/office/drawing/2014/main" id="{A802717F-B20C-AB69-186D-8A738DBD6945}"/>
              </a:ext>
            </a:extLst>
          </p:cNvPr>
          <p:cNvSpPr txBox="1">
            <a:spLocks/>
          </p:cNvSpPr>
          <p:nvPr/>
        </p:nvSpPr>
        <p:spPr>
          <a:xfrm>
            <a:off x="360000" y="1436382"/>
            <a:ext cx="10670476"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a:t>Complete the number of quarter turns:</a:t>
            </a:r>
          </a:p>
          <a:p>
            <a:pPr marL="514350" indent="-514350">
              <a:buAutoNum type="arabicPeriod"/>
            </a:pPr>
            <a:r>
              <a:rPr lang="en-US" sz="2800"/>
              <a:t>To face east, I make _____ quarter-turn right from north.</a:t>
            </a:r>
          </a:p>
          <a:p>
            <a:pPr marL="514350" indent="-514350">
              <a:buAutoNum type="arabicPeriod"/>
            </a:pPr>
            <a:r>
              <a:rPr lang="en-US" sz="2800"/>
              <a:t>To face south, I make _____ quarter-turns left from east.</a:t>
            </a:r>
          </a:p>
          <a:p>
            <a:pPr marL="514350" indent="-514350">
              <a:buAutoNum type="arabicPeriod"/>
            </a:pPr>
            <a:r>
              <a:rPr lang="en-US" sz="2800"/>
              <a:t>To face north, I make _____ quarter-turns left from south. </a:t>
            </a:r>
            <a:endParaRPr lang="en-AU" sz="2800"/>
          </a:p>
        </p:txBody>
      </p:sp>
      <p:pic>
        <p:nvPicPr>
          <p:cNvPr id="8" name="Picture 7" descr="Compass directions of north, south, east and west">
            <a:extLst>
              <a:ext uri="{FF2B5EF4-FFF2-40B4-BE49-F238E27FC236}">
                <a16:creationId xmlns:a16="http://schemas.microsoft.com/office/drawing/2014/main" id="{8242C13A-E2AF-F8B6-DDC5-2B4153475F6B}"/>
              </a:ext>
            </a:extLst>
          </p:cNvPr>
          <p:cNvPicPr>
            <a:picLocks noChangeAspect="1"/>
          </p:cNvPicPr>
          <p:nvPr/>
        </p:nvPicPr>
        <p:blipFill>
          <a:blip r:embed="rId3"/>
          <a:stretch>
            <a:fillRect/>
          </a:stretch>
        </p:blipFill>
        <p:spPr>
          <a:xfrm>
            <a:off x="4109987" y="4744580"/>
            <a:ext cx="2207459" cy="17714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5" name="Rectangle 1">
            <a:extLst>
              <a:ext uri="{FF2B5EF4-FFF2-40B4-BE49-F238E27FC236}">
                <a16:creationId xmlns:a16="http://schemas.microsoft.com/office/drawing/2014/main" id="{C0364B8D-91AF-4245-81D1-7BE8FAE854D8}"/>
              </a:ext>
              <a:ext uri="{C183D7F6-B498-43B3-948B-1728B52AA6E4}">
                <adec:decorative xmlns:adec="http://schemas.microsoft.com/office/drawing/2017/decorative" val="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B6E118C-51D8-EE0F-A16D-D04EAFFD3C50}"/>
              </a:ext>
            </a:extLst>
          </p:cNvPr>
          <p:cNvSpPr txBox="1"/>
          <p:nvPr/>
        </p:nvSpPr>
        <p:spPr>
          <a:xfrm>
            <a:off x="666080" y="1250360"/>
            <a:ext cx="10656640" cy="1971040"/>
          </a:xfrm>
          <a:prstGeom prst="rect">
            <a:avLst/>
          </a:prstGeom>
          <a:noFill/>
        </p:spPr>
        <p:txBody>
          <a:bodyPr wrap="square" lIns="0" tIns="0" rIns="0" bIns="0" rtlCol="0">
            <a:noAutofit/>
          </a:bodyPr>
          <a:lstStyle/>
          <a:p>
            <a:pPr algn="ctr"/>
            <a:r>
              <a:rPr lang="en-AU" sz="4400" b="1"/>
              <a:t>Estimate</a:t>
            </a:r>
            <a:r>
              <a:rPr lang="en-AU" sz="4400"/>
              <a:t> and then </a:t>
            </a:r>
            <a:r>
              <a:rPr lang="en-AU" sz="4400" b="1"/>
              <a:t>calculate</a:t>
            </a:r>
            <a:r>
              <a:rPr lang="en-AU" sz="4400"/>
              <a:t> the </a:t>
            </a:r>
            <a:r>
              <a:rPr lang="en-AU" sz="4400" b="1"/>
              <a:t>perimeter</a:t>
            </a:r>
            <a:r>
              <a:rPr lang="en-AU" sz="4400"/>
              <a:t> of the quadrilateral:</a:t>
            </a:r>
          </a:p>
          <a:p>
            <a:pPr algn="l"/>
            <a:endParaRPr lang="en-AU" sz="3600"/>
          </a:p>
        </p:txBody>
      </p:sp>
      <p:grpSp>
        <p:nvGrpSpPr>
          <p:cNvPr id="11" name="Group 10" descr="A rectangle with the side lengths 29 cm and 8 cm.">
            <a:extLst>
              <a:ext uri="{FF2B5EF4-FFF2-40B4-BE49-F238E27FC236}">
                <a16:creationId xmlns:a16="http://schemas.microsoft.com/office/drawing/2014/main" id="{C58A2B66-3573-3DC5-B0CA-BCFF4C430541}"/>
              </a:ext>
            </a:extLst>
          </p:cNvPr>
          <p:cNvGrpSpPr/>
          <p:nvPr/>
        </p:nvGrpSpPr>
        <p:grpSpPr>
          <a:xfrm>
            <a:off x="1236236" y="2951820"/>
            <a:ext cx="9794240" cy="3497580"/>
            <a:chOff x="1236236" y="2951820"/>
            <a:chExt cx="9794240" cy="3497580"/>
          </a:xfrm>
        </p:grpSpPr>
        <p:sp>
          <p:nvSpPr>
            <p:cNvPr id="5" name="Rectangle 4" descr="A rectangle with the side lengths 29 cm and 8 cm.">
              <a:extLst>
                <a:ext uri="{FF2B5EF4-FFF2-40B4-BE49-F238E27FC236}">
                  <a16:creationId xmlns:a16="http://schemas.microsoft.com/office/drawing/2014/main" id="{84444BB6-1F6C-F8CD-31B7-A7EB00B2CF36}"/>
                </a:ext>
              </a:extLst>
            </p:cNvPr>
            <p:cNvSpPr/>
            <p:nvPr/>
          </p:nvSpPr>
          <p:spPr>
            <a:xfrm>
              <a:off x="2712720" y="3566160"/>
              <a:ext cx="6766560" cy="2377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5448EC93-81E9-9427-1F6B-E18472795A1D}"/>
                </a:ext>
              </a:extLst>
            </p:cNvPr>
            <p:cNvSpPr txBox="1"/>
            <p:nvPr/>
          </p:nvSpPr>
          <p:spPr>
            <a:xfrm>
              <a:off x="5318760" y="2951820"/>
              <a:ext cx="1554480" cy="441960"/>
            </a:xfrm>
            <a:prstGeom prst="rect">
              <a:avLst/>
            </a:prstGeom>
            <a:noFill/>
          </p:spPr>
          <p:txBody>
            <a:bodyPr wrap="square" lIns="0" tIns="0" rIns="0" bIns="0" rtlCol="0">
              <a:noAutofit/>
            </a:bodyPr>
            <a:lstStyle/>
            <a:p>
              <a:pPr algn="ctr"/>
              <a:r>
                <a:rPr lang="en-AU" sz="3600"/>
                <a:t>29 cm</a:t>
              </a:r>
            </a:p>
          </p:txBody>
        </p:sp>
        <p:sp>
          <p:nvSpPr>
            <p:cNvPr id="8" name="TextBox 7">
              <a:extLst>
                <a:ext uri="{FF2B5EF4-FFF2-40B4-BE49-F238E27FC236}">
                  <a16:creationId xmlns:a16="http://schemas.microsoft.com/office/drawing/2014/main" id="{EA4D5693-F18E-6C6B-D32E-29412ECB64C5}"/>
                </a:ext>
              </a:extLst>
            </p:cNvPr>
            <p:cNvSpPr txBox="1"/>
            <p:nvPr/>
          </p:nvSpPr>
          <p:spPr>
            <a:xfrm>
              <a:off x="9475996" y="4426740"/>
              <a:ext cx="1554480" cy="441960"/>
            </a:xfrm>
            <a:prstGeom prst="rect">
              <a:avLst/>
            </a:prstGeom>
            <a:noFill/>
          </p:spPr>
          <p:txBody>
            <a:bodyPr wrap="square" lIns="0" tIns="0" rIns="0" bIns="0" rtlCol="0">
              <a:noAutofit/>
            </a:bodyPr>
            <a:lstStyle/>
            <a:p>
              <a:pPr algn="ctr"/>
              <a:r>
                <a:rPr lang="en-AU" sz="3600"/>
                <a:t>8 cm</a:t>
              </a:r>
            </a:p>
          </p:txBody>
        </p:sp>
        <p:sp>
          <p:nvSpPr>
            <p:cNvPr id="9" name="TextBox 8">
              <a:extLst>
                <a:ext uri="{FF2B5EF4-FFF2-40B4-BE49-F238E27FC236}">
                  <a16:creationId xmlns:a16="http://schemas.microsoft.com/office/drawing/2014/main" id="{3ADD0A39-1670-69FA-80EF-8715F10F9829}"/>
                </a:ext>
              </a:extLst>
            </p:cNvPr>
            <p:cNvSpPr txBox="1"/>
            <p:nvPr/>
          </p:nvSpPr>
          <p:spPr>
            <a:xfrm>
              <a:off x="1236236" y="4426740"/>
              <a:ext cx="1554480" cy="441960"/>
            </a:xfrm>
            <a:prstGeom prst="rect">
              <a:avLst/>
            </a:prstGeom>
            <a:noFill/>
          </p:spPr>
          <p:txBody>
            <a:bodyPr wrap="square" lIns="0" tIns="0" rIns="0" bIns="0" rtlCol="0">
              <a:noAutofit/>
            </a:bodyPr>
            <a:lstStyle/>
            <a:p>
              <a:pPr algn="ctr"/>
              <a:r>
                <a:rPr lang="en-AU" sz="3600"/>
                <a:t>8 cm</a:t>
              </a:r>
            </a:p>
          </p:txBody>
        </p:sp>
        <p:sp>
          <p:nvSpPr>
            <p:cNvPr id="10" name="TextBox 9">
              <a:extLst>
                <a:ext uri="{FF2B5EF4-FFF2-40B4-BE49-F238E27FC236}">
                  <a16:creationId xmlns:a16="http://schemas.microsoft.com/office/drawing/2014/main" id="{2A4CFC01-F88E-16B7-0AC8-7E71A42966AE}"/>
                </a:ext>
              </a:extLst>
            </p:cNvPr>
            <p:cNvSpPr txBox="1"/>
            <p:nvPr/>
          </p:nvSpPr>
          <p:spPr>
            <a:xfrm>
              <a:off x="5318760" y="6007440"/>
              <a:ext cx="1554480" cy="441960"/>
            </a:xfrm>
            <a:prstGeom prst="rect">
              <a:avLst/>
            </a:prstGeom>
            <a:noFill/>
          </p:spPr>
          <p:txBody>
            <a:bodyPr wrap="square" lIns="0" tIns="0" rIns="0" bIns="0" rtlCol="0">
              <a:noAutofit/>
            </a:bodyPr>
            <a:lstStyle/>
            <a:p>
              <a:pPr algn="ctr"/>
              <a:r>
                <a:rPr lang="en-AU" sz="3600"/>
                <a:t>29 cm</a:t>
              </a:r>
            </a:p>
          </p:txBody>
        </p:sp>
      </p:gr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solving problems with fact families</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extBox 2">
            <a:extLst>
              <a:ext uri="{FF2B5EF4-FFF2-40B4-BE49-F238E27FC236}">
                <a16:creationId xmlns:a16="http://schemas.microsoft.com/office/drawing/2014/main" id="{CA4994A4-0E45-D875-492D-9AD995AF4A16}"/>
              </a:ext>
            </a:extLst>
          </p:cNvPr>
          <p:cNvSpPr txBox="1"/>
          <p:nvPr/>
        </p:nvSpPr>
        <p:spPr>
          <a:xfrm>
            <a:off x="447040" y="1259840"/>
            <a:ext cx="11094720" cy="4907280"/>
          </a:xfrm>
          <a:prstGeom prst="rect">
            <a:avLst/>
          </a:prstGeom>
          <a:noFill/>
        </p:spPr>
        <p:txBody>
          <a:bodyPr wrap="square" lIns="0" tIns="0" rIns="0" bIns="0" rtlCol="0">
            <a:noAutofit/>
          </a:bodyPr>
          <a:lstStyle/>
          <a:p>
            <a:pPr marL="457200" indent="-457200" algn="ctr">
              <a:lnSpc>
                <a:spcPct val="150000"/>
              </a:lnSpc>
              <a:buFont typeface="Arial" panose="020B0604020202020204" pitchFamily="34" charset="0"/>
              <a:buChar char="•"/>
            </a:pPr>
            <a:r>
              <a:rPr lang="en-AU" sz="3200"/>
              <a:t>A shirt maker received a delivery of buttons.</a:t>
            </a:r>
          </a:p>
          <a:p>
            <a:pPr marL="457200" indent="-457200" algn="ctr">
              <a:lnSpc>
                <a:spcPct val="150000"/>
              </a:lnSpc>
              <a:buFont typeface="Arial" panose="020B0604020202020204" pitchFamily="34" charset="0"/>
              <a:buChar char="•"/>
            </a:pPr>
            <a:r>
              <a:rPr lang="en-AU" sz="3200"/>
              <a:t>There are 6 packets of buttons.</a:t>
            </a:r>
          </a:p>
          <a:p>
            <a:pPr marL="457200" indent="-457200" algn="ctr">
              <a:lnSpc>
                <a:spcPct val="150000"/>
              </a:lnSpc>
              <a:buFont typeface="Arial" panose="020B0604020202020204" pitchFamily="34" charset="0"/>
              <a:buChar char="•"/>
            </a:pPr>
            <a:r>
              <a:rPr lang="en-AU" sz="3200"/>
              <a:t>In each packet there are 10 buttons.</a:t>
            </a:r>
          </a:p>
          <a:p>
            <a:pPr marL="457200" indent="-457200" algn="ctr">
              <a:lnSpc>
                <a:spcPct val="150000"/>
              </a:lnSpc>
              <a:buFont typeface="Arial" panose="020B0604020202020204" pitchFamily="34" charset="0"/>
              <a:buChar char="•"/>
            </a:pPr>
            <a:r>
              <a:rPr lang="en-AU" sz="3200"/>
              <a:t>How many buttons are there all together?</a:t>
            </a:r>
          </a:p>
          <a:p>
            <a:pPr marL="457200" indent="-457200" algn="ctr">
              <a:lnSpc>
                <a:spcPct val="150000"/>
              </a:lnSpc>
              <a:buFont typeface="Arial" panose="020B0604020202020204" pitchFamily="34" charset="0"/>
              <a:buChar char="•"/>
            </a:pPr>
            <a:endParaRPr lang="en-AU" sz="3200"/>
          </a:p>
          <a:p>
            <a:pPr marL="457200" indent="-457200" algn="ctr">
              <a:lnSpc>
                <a:spcPct val="150000"/>
              </a:lnSpc>
              <a:buFont typeface="Arial" panose="020B0604020202020204" pitchFamily="34" charset="0"/>
              <a:buChar char="•"/>
            </a:pPr>
            <a:r>
              <a:rPr lang="en-AU" sz="3200"/>
              <a:t>If the shirt maker is using the new buttons to sew onto 10 shirts, how many buttons will be used on each shirt?</a:t>
            </a:r>
          </a:p>
          <a:p>
            <a:pPr algn="ctr"/>
            <a:endParaRPr lang="en-AU" sz="1800"/>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9682-B13B-E2E6-A499-AE7CFEE8DF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D856DE-9E15-F340-6484-81955C31DCF4}"/>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66E99097-B223-76CB-98A1-2D5773AF8E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C96A552F-AC6B-6B29-144E-B61A631E97CE}"/>
              </a:ext>
            </a:extLst>
          </p:cNvPr>
          <p:cNvSpPr>
            <a:spLocks noGrp="1"/>
          </p:cNvSpPr>
          <p:nvPr>
            <p:ph type="body" sz="quarter" idx="28"/>
          </p:nvPr>
        </p:nvSpPr>
        <p:spPr>
          <a:xfrm>
            <a:off x="360000" y="1000333"/>
            <a:ext cx="11243037" cy="754243"/>
          </a:xfrm>
        </p:spPr>
        <p:txBody>
          <a:bodyPr/>
          <a:lstStyle/>
          <a:p>
            <a:r>
              <a:rPr lang="en-US" sz="3600"/>
              <a:t>Which of the following lists the decimals in </a:t>
            </a:r>
            <a:r>
              <a:rPr lang="en-US" sz="3600" b="1"/>
              <a:t>ascending order</a:t>
            </a:r>
            <a:r>
              <a:rPr lang="en-US" sz="3600"/>
              <a:t>?</a:t>
            </a:r>
          </a:p>
        </p:txBody>
      </p:sp>
      <p:sp>
        <p:nvSpPr>
          <p:cNvPr id="9" name="B">
            <a:extLst>
              <a:ext uri="{FF2B5EF4-FFF2-40B4-BE49-F238E27FC236}">
                <a16:creationId xmlns:a16="http://schemas.microsoft.com/office/drawing/2014/main" id="{8B0BBB3C-FC71-5899-8378-058EBBB23E5C}"/>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617CAF57-D7E5-901C-098A-364EC0461F45}"/>
              </a:ext>
            </a:extLst>
          </p:cNvPr>
          <p:cNvSpPr>
            <a:spLocks noGrp="1"/>
          </p:cNvSpPr>
          <p:nvPr>
            <p:ph type="body" sz="quarter" idx="31"/>
          </p:nvPr>
        </p:nvSpPr>
        <p:spPr>
          <a:xfrm>
            <a:off x="1345520" y="2877704"/>
            <a:ext cx="10175920" cy="641396"/>
          </a:xfrm>
        </p:spPr>
        <p:txBody>
          <a:bodyPr anchor="ctr"/>
          <a:lstStyle/>
          <a:p>
            <a:r>
              <a:rPr lang="en-US" sz="3600"/>
              <a:t>0.56, 0.65, 0.6, 0.61</a:t>
            </a:r>
          </a:p>
        </p:txBody>
      </p:sp>
      <p:sp>
        <p:nvSpPr>
          <p:cNvPr id="10" name="B">
            <a:extLst>
              <a:ext uri="{FF2B5EF4-FFF2-40B4-BE49-F238E27FC236}">
                <a16:creationId xmlns:a16="http://schemas.microsoft.com/office/drawing/2014/main" id="{1BD38033-43C3-A0A1-88CB-3ABF45A80763}"/>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70250DA3-3DC6-9EA8-7604-90B40861762F}"/>
              </a:ext>
            </a:extLst>
          </p:cNvPr>
          <p:cNvSpPr>
            <a:spLocks noGrp="1"/>
          </p:cNvSpPr>
          <p:nvPr>
            <p:ph type="body" sz="quarter" idx="30"/>
          </p:nvPr>
        </p:nvSpPr>
        <p:spPr>
          <a:xfrm>
            <a:off x="1345520" y="3725617"/>
            <a:ext cx="10175920" cy="641396"/>
          </a:xfrm>
        </p:spPr>
        <p:txBody>
          <a:bodyPr anchor="ctr"/>
          <a:lstStyle/>
          <a:p>
            <a:r>
              <a:rPr lang="en-US" sz="3600"/>
              <a:t>0.56, 0.6, 0.61, 0.65</a:t>
            </a:r>
          </a:p>
        </p:txBody>
      </p:sp>
      <p:sp>
        <p:nvSpPr>
          <p:cNvPr id="12" name="C">
            <a:extLst>
              <a:ext uri="{FF2B5EF4-FFF2-40B4-BE49-F238E27FC236}">
                <a16:creationId xmlns:a16="http://schemas.microsoft.com/office/drawing/2014/main" id="{8CBBF2BA-64EE-4290-7852-A8F6CCA03E5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6A85EAC1-9E3A-72A5-46CB-2C4D277F778E}"/>
              </a:ext>
            </a:extLst>
          </p:cNvPr>
          <p:cNvSpPr>
            <a:spLocks noGrp="1"/>
          </p:cNvSpPr>
          <p:nvPr>
            <p:ph type="body" sz="quarter" idx="29"/>
          </p:nvPr>
        </p:nvSpPr>
        <p:spPr>
          <a:xfrm>
            <a:off x="1345520" y="4575670"/>
            <a:ext cx="10175920" cy="641396"/>
          </a:xfrm>
        </p:spPr>
        <p:txBody>
          <a:bodyPr anchor="ctr"/>
          <a:lstStyle/>
          <a:p>
            <a:r>
              <a:rPr lang="en-US" sz="3600"/>
              <a:t>0.61, 0.6, 0.56, 0.65</a:t>
            </a:r>
          </a:p>
        </p:txBody>
      </p:sp>
      <p:sp>
        <p:nvSpPr>
          <p:cNvPr id="11" name="D">
            <a:extLst>
              <a:ext uri="{FF2B5EF4-FFF2-40B4-BE49-F238E27FC236}">
                <a16:creationId xmlns:a16="http://schemas.microsoft.com/office/drawing/2014/main" id="{388F2FE9-EF5E-B818-71B7-04503183ED79}"/>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ECE21105-74CC-BDAC-6C3E-529F6564C0C4}"/>
              </a:ext>
            </a:extLst>
          </p:cNvPr>
          <p:cNvSpPr>
            <a:spLocks noGrp="1"/>
          </p:cNvSpPr>
          <p:nvPr>
            <p:ph type="body" sz="quarter" idx="27"/>
          </p:nvPr>
        </p:nvSpPr>
        <p:spPr>
          <a:xfrm>
            <a:off x="1345520" y="5425723"/>
            <a:ext cx="10175920" cy="641396"/>
          </a:xfrm>
        </p:spPr>
        <p:txBody>
          <a:bodyPr anchor="ctr"/>
          <a:lstStyle/>
          <a:p>
            <a:r>
              <a:rPr lang="en-US" sz="3600"/>
              <a:t>0.65, 0.61, 0.6, 0.56</a:t>
            </a:r>
          </a:p>
        </p:txBody>
      </p:sp>
      <p:sp>
        <p:nvSpPr>
          <p:cNvPr id="2" name="Slide Number Placeholder 1">
            <a:extLst>
              <a:ext uri="{FF2B5EF4-FFF2-40B4-BE49-F238E27FC236}">
                <a16:creationId xmlns:a16="http://schemas.microsoft.com/office/drawing/2014/main" id="{8DFF93A7-A994-839D-06D7-96E09B120AB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17231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4" name="TextBox 3">
            <a:extLst>
              <a:ext uri="{FF2B5EF4-FFF2-40B4-BE49-F238E27FC236}">
                <a16:creationId xmlns:a16="http://schemas.microsoft.com/office/drawing/2014/main" id="{C6D1D549-A6F5-F356-2FD8-1A2590CB75EE}"/>
              </a:ext>
            </a:extLst>
          </p:cNvPr>
          <p:cNvSpPr txBox="1"/>
          <p:nvPr/>
        </p:nvSpPr>
        <p:spPr>
          <a:xfrm>
            <a:off x="360000" y="1181085"/>
            <a:ext cx="10512316" cy="386080"/>
          </a:xfrm>
          <a:prstGeom prst="rect">
            <a:avLst/>
          </a:prstGeom>
          <a:noFill/>
        </p:spPr>
        <p:txBody>
          <a:bodyPr wrap="square" lIns="0" tIns="0" rIns="0" bIns="0" rtlCol="0">
            <a:noAutofit/>
          </a:bodyPr>
          <a:lstStyle/>
          <a:p>
            <a:pPr algn="ctr"/>
            <a:r>
              <a:rPr lang="en-AU" sz="2600"/>
              <a:t>Name the </a:t>
            </a:r>
            <a:r>
              <a:rPr lang="en-AU" sz="2600" b="1"/>
              <a:t>angle</a:t>
            </a:r>
            <a:r>
              <a:rPr lang="en-AU" sz="2600"/>
              <a:t> in comparison to </a:t>
            </a:r>
            <a:r>
              <a:rPr lang="en-AU" sz="2600" b="1"/>
              <a:t>quarter-turns</a:t>
            </a:r>
            <a:r>
              <a:rPr lang="en-AU" sz="2600"/>
              <a:t>:</a:t>
            </a:r>
          </a:p>
        </p:txBody>
      </p:sp>
      <p:sp>
        <p:nvSpPr>
          <p:cNvPr id="7" name="TextBox 6">
            <a:extLst>
              <a:ext uri="{FF2B5EF4-FFF2-40B4-BE49-F238E27FC236}">
                <a16:creationId xmlns:a16="http://schemas.microsoft.com/office/drawing/2014/main" id="{EA4AD099-E1B9-862F-F418-54FB22D05805}"/>
              </a:ext>
            </a:extLst>
          </p:cNvPr>
          <p:cNvSpPr txBox="1"/>
          <p:nvPr/>
        </p:nvSpPr>
        <p:spPr>
          <a:xfrm>
            <a:off x="1082362" y="1842649"/>
            <a:ext cx="10276977" cy="2880475"/>
          </a:xfrm>
          <a:prstGeom prst="rect">
            <a:avLst/>
          </a:prstGeom>
          <a:noFill/>
        </p:spPr>
        <p:txBody>
          <a:bodyPr wrap="square" lIns="0" tIns="0" rIns="0" bIns="0" rtlCol="0">
            <a:noAutofit/>
          </a:bodyPr>
          <a:lstStyle/>
          <a:p>
            <a:pPr marL="514350" indent="-514350">
              <a:lnSpc>
                <a:spcPct val="150000"/>
              </a:lnSpc>
              <a:buFont typeface="+mj-lt"/>
              <a:buAutoNum type="alphaLcParenR"/>
            </a:pPr>
            <a:r>
              <a:rPr lang="en-AU" sz="2000"/>
              <a:t>One quarter-turn is a _______ angle.</a:t>
            </a:r>
          </a:p>
          <a:p>
            <a:pPr marL="514350" indent="-514350">
              <a:lnSpc>
                <a:spcPct val="150000"/>
              </a:lnSpc>
              <a:buFont typeface="+mj-lt"/>
              <a:buAutoNum type="alphaLcParenR"/>
            </a:pPr>
            <a:r>
              <a:rPr lang="en-AU" sz="2000"/>
              <a:t>Less than one quarter-turn is an _____ angle</a:t>
            </a:r>
          </a:p>
          <a:p>
            <a:pPr marL="514350" indent="-514350">
              <a:lnSpc>
                <a:spcPct val="150000"/>
              </a:lnSpc>
              <a:buFont typeface="+mj-lt"/>
              <a:buAutoNum type="alphaLcParenR"/>
            </a:pPr>
            <a:r>
              <a:rPr lang="en-AU" sz="2000"/>
              <a:t>More than one quarter-turn and less than 2 quarter-turns is an _____ angle.</a:t>
            </a:r>
          </a:p>
          <a:p>
            <a:pPr marL="514350" indent="-514350">
              <a:lnSpc>
                <a:spcPct val="150000"/>
              </a:lnSpc>
              <a:buFont typeface="+mj-lt"/>
              <a:buAutoNum type="alphaLcParenR"/>
            </a:pPr>
            <a:r>
              <a:rPr lang="en-AU" sz="2000"/>
              <a:t>Equal to 2 quarter-turns is an ______ angle.</a:t>
            </a:r>
          </a:p>
          <a:p>
            <a:pPr marL="514350" indent="-514350">
              <a:lnSpc>
                <a:spcPct val="150000"/>
              </a:lnSpc>
              <a:buFont typeface="+mj-lt"/>
              <a:buAutoNum type="alphaLcParenR"/>
            </a:pPr>
            <a:r>
              <a:rPr lang="en-AU" sz="2000"/>
              <a:t>More than 2 quarter-turns and less than 4 quarter-turns is a _______ angle</a:t>
            </a:r>
          </a:p>
          <a:p>
            <a:pPr marL="514350" indent="-514350">
              <a:lnSpc>
                <a:spcPct val="150000"/>
              </a:lnSpc>
              <a:buFont typeface="+mj-lt"/>
              <a:buAutoNum type="alphaLcParenR"/>
            </a:pPr>
            <a:r>
              <a:rPr lang="en-AU" sz="2000"/>
              <a:t>Equal to 4 quarter-turns is an ______________</a:t>
            </a:r>
          </a:p>
        </p:txBody>
      </p:sp>
      <p:graphicFrame>
        <p:nvGraphicFramePr>
          <p:cNvPr id="8" name="Table 7">
            <a:extLst>
              <a:ext uri="{FF2B5EF4-FFF2-40B4-BE49-F238E27FC236}">
                <a16:creationId xmlns:a16="http://schemas.microsoft.com/office/drawing/2014/main" id="{322859FE-760F-0EC6-7BD8-D52C18BDA2C4}"/>
              </a:ext>
            </a:extLst>
          </p:cNvPr>
          <p:cNvGraphicFramePr>
            <a:graphicFrameLocks noGrp="1"/>
          </p:cNvGraphicFramePr>
          <p:nvPr>
            <p:extLst>
              <p:ext uri="{D42A27DB-BD31-4B8C-83A1-F6EECF244321}">
                <p14:modId xmlns:p14="http://schemas.microsoft.com/office/powerpoint/2010/main" val="2427427983"/>
              </p:ext>
            </p:extLst>
          </p:nvPr>
        </p:nvGraphicFramePr>
        <p:xfrm>
          <a:off x="1135781" y="5111016"/>
          <a:ext cx="9298002" cy="952906"/>
        </p:xfrm>
        <a:graphic>
          <a:graphicData uri="http://schemas.openxmlformats.org/drawingml/2006/table">
            <a:tbl>
              <a:tblPr firstRow="1" bandRow="1">
                <a:tableStyleId>{5940675A-B579-460E-94D1-54222C63F5DA}</a:tableStyleId>
              </a:tblPr>
              <a:tblGrid>
                <a:gridCol w="1549667">
                  <a:extLst>
                    <a:ext uri="{9D8B030D-6E8A-4147-A177-3AD203B41FA5}">
                      <a16:colId xmlns:a16="http://schemas.microsoft.com/office/drawing/2014/main" val="571503646"/>
                    </a:ext>
                  </a:extLst>
                </a:gridCol>
                <a:gridCol w="1549667">
                  <a:extLst>
                    <a:ext uri="{9D8B030D-6E8A-4147-A177-3AD203B41FA5}">
                      <a16:colId xmlns:a16="http://schemas.microsoft.com/office/drawing/2014/main" val="3472050407"/>
                    </a:ext>
                  </a:extLst>
                </a:gridCol>
                <a:gridCol w="1549667">
                  <a:extLst>
                    <a:ext uri="{9D8B030D-6E8A-4147-A177-3AD203B41FA5}">
                      <a16:colId xmlns:a16="http://schemas.microsoft.com/office/drawing/2014/main" val="3622248859"/>
                    </a:ext>
                  </a:extLst>
                </a:gridCol>
                <a:gridCol w="1549667">
                  <a:extLst>
                    <a:ext uri="{9D8B030D-6E8A-4147-A177-3AD203B41FA5}">
                      <a16:colId xmlns:a16="http://schemas.microsoft.com/office/drawing/2014/main" val="2390086457"/>
                    </a:ext>
                  </a:extLst>
                </a:gridCol>
                <a:gridCol w="1549667">
                  <a:extLst>
                    <a:ext uri="{9D8B030D-6E8A-4147-A177-3AD203B41FA5}">
                      <a16:colId xmlns:a16="http://schemas.microsoft.com/office/drawing/2014/main" val="69082673"/>
                    </a:ext>
                  </a:extLst>
                </a:gridCol>
                <a:gridCol w="1549667">
                  <a:extLst>
                    <a:ext uri="{9D8B030D-6E8A-4147-A177-3AD203B41FA5}">
                      <a16:colId xmlns:a16="http://schemas.microsoft.com/office/drawing/2014/main" val="1746193475"/>
                    </a:ext>
                  </a:extLst>
                </a:gridCol>
              </a:tblGrid>
              <a:tr h="952906">
                <a:tc>
                  <a:txBody>
                    <a:bodyPr/>
                    <a:lstStyle/>
                    <a:p>
                      <a:pPr algn="ctr"/>
                      <a:r>
                        <a:rPr lang="en-AU" b="1"/>
                        <a:t>Acute</a:t>
                      </a:r>
                    </a:p>
                  </a:txBody>
                  <a:tcPr anchor="ctr">
                    <a:solidFill>
                      <a:schemeClr val="accent3">
                        <a:lumMod val="40000"/>
                        <a:lumOff val="60000"/>
                      </a:schemeClr>
                    </a:solidFill>
                  </a:tcPr>
                </a:tc>
                <a:tc>
                  <a:txBody>
                    <a:bodyPr/>
                    <a:lstStyle/>
                    <a:p>
                      <a:pPr algn="ctr"/>
                      <a:r>
                        <a:rPr lang="en-AU" b="1"/>
                        <a:t>Angle of revolution</a:t>
                      </a:r>
                    </a:p>
                  </a:txBody>
                  <a:tcPr anchor="ctr">
                    <a:solidFill>
                      <a:schemeClr val="accent3">
                        <a:lumMod val="40000"/>
                        <a:lumOff val="60000"/>
                      </a:schemeClr>
                    </a:solidFill>
                  </a:tcPr>
                </a:tc>
                <a:tc>
                  <a:txBody>
                    <a:bodyPr/>
                    <a:lstStyle/>
                    <a:p>
                      <a:pPr algn="ctr"/>
                      <a:r>
                        <a:rPr lang="en-AU" b="1"/>
                        <a:t>Straight </a:t>
                      </a:r>
                    </a:p>
                  </a:txBody>
                  <a:tcPr anchor="ctr">
                    <a:solidFill>
                      <a:schemeClr val="accent3">
                        <a:lumMod val="40000"/>
                        <a:lumOff val="60000"/>
                      </a:schemeClr>
                    </a:solidFill>
                  </a:tcPr>
                </a:tc>
                <a:tc>
                  <a:txBody>
                    <a:bodyPr/>
                    <a:lstStyle/>
                    <a:p>
                      <a:pPr algn="ctr"/>
                      <a:r>
                        <a:rPr lang="en-AU" b="1"/>
                        <a:t>Obtuse</a:t>
                      </a:r>
                    </a:p>
                  </a:txBody>
                  <a:tcPr anchor="ctr">
                    <a:solidFill>
                      <a:schemeClr val="accent3">
                        <a:lumMod val="40000"/>
                        <a:lumOff val="60000"/>
                      </a:schemeClr>
                    </a:solidFill>
                  </a:tcPr>
                </a:tc>
                <a:tc>
                  <a:txBody>
                    <a:bodyPr/>
                    <a:lstStyle/>
                    <a:p>
                      <a:pPr algn="ctr"/>
                      <a:r>
                        <a:rPr lang="en-AU" b="1"/>
                        <a:t>Reflex</a:t>
                      </a:r>
                    </a:p>
                  </a:txBody>
                  <a:tcPr anchor="ctr">
                    <a:solidFill>
                      <a:schemeClr val="accent3">
                        <a:lumMod val="40000"/>
                        <a:lumOff val="60000"/>
                      </a:schemeClr>
                    </a:solidFill>
                  </a:tcPr>
                </a:tc>
                <a:tc>
                  <a:txBody>
                    <a:bodyPr/>
                    <a:lstStyle/>
                    <a:p>
                      <a:pPr algn="ctr"/>
                      <a:r>
                        <a:rPr lang="en-AU" b="1"/>
                        <a:t>Right </a:t>
                      </a:r>
                    </a:p>
                  </a:txBody>
                  <a:tcPr anchor="ctr">
                    <a:solidFill>
                      <a:schemeClr val="accent3">
                        <a:lumMod val="40000"/>
                        <a:lumOff val="60000"/>
                      </a:schemeClr>
                    </a:solidFill>
                  </a:tcPr>
                </a:tc>
                <a:extLst>
                  <a:ext uri="{0D108BD9-81ED-4DB2-BD59-A6C34878D82A}">
                    <a16:rowId xmlns:a16="http://schemas.microsoft.com/office/drawing/2014/main" val="1816943186"/>
                  </a:ext>
                </a:extLst>
              </a:tr>
            </a:tbl>
          </a:graphicData>
        </a:graphic>
      </p:graphicFrame>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67128" y="306271"/>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5" name="TextBox 4">
            <a:extLst>
              <a:ext uri="{FF2B5EF4-FFF2-40B4-BE49-F238E27FC236}">
                <a16:creationId xmlns:a16="http://schemas.microsoft.com/office/drawing/2014/main" id="{12E8CC32-C77F-BD82-620E-3D5EC89792ED}"/>
              </a:ext>
            </a:extLst>
          </p:cNvPr>
          <p:cNvSpPr txBox="1"/>
          <p:nvPr/>
        </p:nvSpPr>
        <p:spPr>
          <a:xfrm>
            <a:off x="581530" y="1214934"/>
            <a:ext cx="11028940" cy="173259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000" dirty="0">
                <a:cs typeface="Arial"/>
              </a:rPr>
              <a:t>Record the capacity of a </a:t>
            </a:r>
            <a:r>
              <a:rPr lang="en-US" sz="4000" b="1" dirty="0">
                <a:cs typeface="Arial"/>
              </a:rPr>
              <a:t>2-litre</a:t>
            </a:r>
            <a:r>
              <a:rPr lang="en-US" sz="4000" dirty="0">
                <a:cs typeface="Arial"/>
              </a:rPr>
              <a:t> milk container using the </a:t>
            </a:r>
            <a:r>
              <a:rPr lang="en-US" sz="4000" b="1" dirty="0">
                <a:cs typeface="Arial"/>
              </a:rPr>
              <a:t>abbreviation for </a:t>
            </a:r>
            <a:r>
              <a:rPr lang="en-US" sz="4000" b="1" dirty="0" err="1">
                <a:cs typeface="Arial"/>
              </a:rPr>
              <a:t>litres</a:t>
            </a:r>
            <a:r>
              <a:rPr lang="en-US" sz="4000" dirty="0">
                <a:cs typeface="Arial"/>
              </a:rPr>
              <a:t>.</a:t>
            </a:r>
          </a:p>
        </p:txBody>
      </p:sp>
      <p:pic>
        <p:nvPicPr>
          <p:cNvPr id="8" name="Picture 7" descr="An image of 1L milk carton">
            <a:extLst>
              <a:ext uri="{FF2B5EF4-FFF2-40B4-BE49-F238E27FC236}">
                <a16:creationId xmlns:a16="http://schemas.microsoft.com/office/drawing/2014/main" id="{E5D74CF7-A212-8DCF-B583-7A9D151E022A}"/>
              </a:ext>
            </a:extLst>
          </p:cNvPr>
          <p:cNvPicPr>
            <a:picLocks noChangeAspect="1"/>
          </p:cNvPicPr>
          <p:nvPr/>
        </p:nvPicPr>
        <p:blipFill>
          <a:blip r:embed="rId4"/>
          <a:srcRect r="78898"/>
          <a:stretch>
            <a:fillRect/>
          </a:stretch>
        </p:blipFill>
        <p:spPr>
          <a:xfrm>
            <a:off x="5110083" y="3647526"/>
            <a:ext cx="1319594" cy="2755199"/>
          </a:xfrm>
          <a:prstGeom prst="rect">
            <a:avLst/>
          </a:prstGeom>
          <a:ln>
            <a:noFill/>
          </a:ln>
          <a:effectLst/>
        </p:spPr>
      </p:pic>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24000" y="162000"/>
            <a:ext cx="915500" cy="9155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4" name="TextBox 3">
            <a:extLst>
              <a:ext uri="{FF2B5EF4-FFF2-40B4-BE49-F238E27FC236}">
                <a16:creationId xmlns:a16="http://schemas.microsoft.com/office/drawing/2014/main" id="{CDB507DB-A44D-632D-89F9-456E064DBF42}"/>
              </a:ext>
            </a:extLst>
          </p:cNvPr>
          <p:cNvSpPr txBox="1"/>
          <p:nvPr/>
        </p:nvSpPr>
        <p:spPr>
          <a:xfrm>
            <a:off x="457200" y="1308391"/>
            <a:ext cx="11277600" cy="4241217"/>
          </a:xfrm>
          <a:prstGeom prst="rect">
            <a:avLst/>
          </a:prstGeom>
          <a:noFill/>
        </p:spPr>
        <p:txBody>
          <a:bodyPr wrap="square" lIns="0" tIns="0" rIns="0" bIns="0" rtlCol="0">
            <a:noAutofit/>
          </a:bodyPr>
          <a:lstStyle/>
          <a:p>
            <a:pPr algn="ctr">
              <a:lnSpc>
                <a:spcPct val="150000"/>
              </a:lnSpc>
            </a:pPr>
            <a:r>
              <a:rPr lang="en-AU" sz="4000"/>
              <a:t>A bag contains </a:t>
            </a:r>
            <a:r>
              <a:rPr lang="en-AU" sz="4000">
                <a:solidFill>
                  <a:srgbClr val="FF0000"/>
                </a:solidFill>
              </a:rPr>
              <a:t>2</a:t>
            </a:r>
            <a:r>
              <a:rPr lang="en-AU" sz="4000"/>
              <a:t> red grapes and </a:t>
            </a:r>
            <a:r>
              <a:rPr lang="en-AU" sz="4000">
                <a:solidFill>
                  <a:srgbClr val="427B2D"/>
                </a:solidFill>
              </a:rPr>
              <a:t>6</a:t>
            </a:r>
            <a:r>
              <a:rPr lang="en-AU" sz="4000"/>
              <a:t> green grapes. Describe the likelihood of picking a </a:t>
            </a:r>
            <a:r>
              <a:rPr lang="en-AU" sz="4000">
                <a:solidFill>
                  <a:srgbClr val="FF0000"/>
                </a:solidFill>
              </a:rPr>
              <a:t>red grape </a:t>
            </a:r>
            <a:r>
              <a:rPr lang="en-AU" sz="4000"/>
              <a:t>and the likelihood of picking a </a:t>
            </a:r>
            <a:r>
              <a:rPr lang="en-AU" sz="4000">
                <a:solidFill>
                  <a:srgbClr val="427B2D"/>
                </a:solidFill>
              </a:rPr>
              <a:t>green grape </a:t>
            </a:r>
            <a:r>
              <a:rPr lang="en-AU" sz="4000"/>
              <a:t>using the words </a:t>
            </a:r>
            <a:r>
              <a:rPr lang="en-AU" sz="4000" b="1"/>
              <a:t>equally likely, likely or unlikely</a:t>
            </a:r>
            <a:r>
              <a:rPr lang="en-AU" sz="4000"/>
              <a:t>.</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4" name="TextBox 3">
            <a:extLst>
              <a:ext uri="{FF2B5EF4-FFF2-40B4-BE49-F238E27FC236}">
                <a16:creationId xmlns:a16="http://schemas.microsoft.com/office/drawing/2014/main" id="{7C72B099-6C04-063D-BEE1-FD54870943D8}"/>
              </a:ext>
            </a:extLst>
          </p:cNvPr>
          <p:cNvSpPr txBox="1"/>
          <p:nvPr/>
        </p:nvSpPr>
        <p:spPr>
          <a:xfrm>
            <a:off x="360000" y="905601"/>
            <a:ext cx="10764000" cy="1300480"/>
          </a:xfrm>
          <a:prstGeom prst="rect">
            <a:avLst/>
          </a:prstGeom>
          <a:noFill/>
        </p:spPr>
        <p:txBody>
          <a:bodyPr wrap="square" lIns="0" tIns="0" rIns="0" bIns="0" rtlCol="0">
            <a:noAutofit/>
          </a:bodyPr>
          <a:lstStyle/>
          <a:p>
            <a:pPr algn="ctr">
              <a:lnSpc>
                <a:spcPct val="150000"/>
              </a:lnSpc>
            </a:pPr>
            <a:r>
              <a:rPr lang="en-AU" sz="2800"/>
              <a:t>Sort the following polygons into 2 groups:</a:t>
            </a:r>
          </a:p>
          <a:p>
            <a:pPr algn="ctr">
              <a:lnSpc>
                <a:spcPct val="150000"/>
              </a:lnSpc>
            </a:pPr>
            <a:r>
              <a:rPr lang="en-AU" sz="2800"/>
              <a:t>Group 1: polygons that </a:t>
            </a:r>
            <a:r>
              <a:rPr lang="en-AU" sz="2800" b="1"/>
              <a:t>have parallel sides</a:t>
            </a:r>
          </a:p>
          <a:p>
            <a:pPr algn="ctr">
              <a:lnSpc>
                <a:spcPct val="150000"/>
              </a:lnSpc>
            </a:pPr>
            <a:r>
              <a:rPr lang="en-AU" sz="2800"/>
              <a:t>Group 2: polygons that </a:t>
            </a:r>
            <a:r>
              <a:rPr lang="en-AU" sz="2800" b="1"/>
              <a:t>do not have parallel sides </a:t>
            </a:r>
          </a:p>
        </p:txBody>
      </p:sp>
      <p:pic>
        <p:nvPicPr>
          <p:cNvPr id="7" name="Picture 6" descr="Images of the following labelled shapes: 1. triangle, 2 square, 3. parallelogram, 4. rhombus, 5. kite and 6. rectangle.">
            <a:extLst>
              <a:ext uri="{FF2B5EF4-FFF2-40B4-BE49-F238E27FC236}">
                <a16:creationId xmlns:a16="http://schemas.microsoft.com/office/drawing/2014/main" id="{E1EB4EDA-27C9-3460-E4B4-02A744E53C81}"/>
              </a:ext>
            </a:extLst>
          </p:cNvPr>
          <p:cNvPicPr>
            <a:picLocks noChangeAspect="1"/>
          </p:cNvPicPr>
          <p:nvPr/>
        </p:nvPicPr>
        <p:blipFill>
          <a:blip r:embed="rId4"/>
          <a:stretch>
            <a:fillRect/>
          </a:stretch>
        </p:blipFill>
        <p:spPr>
          <a:xfrm>
            <a:off x="3454401" y="2947787"/>
            <a:ext cx="4966968" cy="36457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ordering decimals</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3" name="TextBox 2">
            <a:extLst>
              <a:ext uri="{FF2B5EF4-FFF2-40B4-BE49-F238E27FC236}">
                <a16:creationId xmlns:a16="http://schemas.microsoft.com/office/drawing/2014/main" id="{68AC10DD-08E6-E7FC-2EE3-842424FA3E5C}"/>
              </a:ext>
            </a:extLst>
          </p:cNvPr>
          <p:cNvSpPr txBox="1"/>
          <p:nvPr/>
        </p:nvSpPr>
        <p:spPr>
          <a:xfrm>
            <a:off x="360000" y="2212340"/>
            <a:ext cx="2088560" cy="2197100"/>
          </a:xfrm>
          <a:prstGeom prst="rect">
            <a:avLst/>
          </a:prstGeom>
          <a:solidFill>
            <a:srgbClr val="FFFF99"/>
          </a:solidFill>
        </p:spPr>
        <p:txBody>
          <a:bodyPr wrap="square" lIns="0" tIns="0" rIns="0" bIns="0" rtlCol="0">
            <a:noAutofit/>
          </a:bodyPr>
          <a:lstStyle/>
          <a:p>
            <a:pPr algn="ctr"/>
            <a:endParaRPr lang="en-AU" sz="1800"/>
          </a:p>
          <a:p>
            <a:pPr algn="ctr"/>
            <a:endParaRPr lang="en-AU" sz="1800"/>
          </a:p>
          <a:p>
            <a:pPr algn="ctr"/>
            <a:endParaRPr lang="en-AU" sz="1800"/>
          </a:p>
          <a:p>
            <a:pPr algn="ctr"/>
            <a:endParaRPr lang="en-AU" sz="1800"/>
          </a:p>
          <a:p>
            <a:pPr algn="ctr"/>
            <a:r>
              <a:rPr lang="en-AU" sz="4400"/>
              <a:t>.</a:t>
            </a:r>
          </a:p>
        </p:txBody>
      </p:sp>
      <p:sp>
        <p:nvSpPr>
          <p:cNvPr id="9" name="TextBox 8">
            <a:extLst>
              <a:ext uri="{FF2B5EF4-FFF2-40B4-BE49-F238E27FC236}">
                <a16:creationId xmlns:a16="http://schemas.microsoft.com/office/drawing/2014/main" id="{7B8AF9D7-F280-1C3F-A0ED-0C8C551ED8E0}"/>
              </a:ext>
            </a:extLst>
          </p:cNvPr>
          <p:cNvSpPr txBox="1"/>
          <p:nvPr/>
        </p:nvSpPr>
        <p:spPr>
          <a:xfrm>
            <a:off x="2702220" y="2212340"/>
            <a:ext cx="2088560" cy="2197100"/>
          </a:xfrm>
          <a:prstGeom prst="rect">
            <a:avLst/>
          </a:prstGeom>
          <a:solidFill>
            <a:srgbClr val="FFFF99"/>
          </a:solidFill>
        </p:spPr>
        <p:txBody>
          <a:bodyPr wrap="square" lIns="0" tIns="0" rIns="0" bIns="0" rtlCol="0">
            <a:noAutofit/>
          </a:bodyPr>
          <a:lstStyle/>
          <a:p>
            <a:pPr algn="ctr"/>
            <a:endParaRPr lang="en-AU" sz="1800"/>
          </a:p>
          <a:p>
            <a:pPr algn="ctr"/>
            <a:endParaRPr lang="en-AU" sz="1800"/>
          </a:p>
          <a:p>
            <a:pPr algn="ctr"/>
            <a:endParaRPr lang="en-AU" sz="1800"/>
          </a:p>
          <a:p>
            <a:pPr algn="ctr"/>
            <a:endParaRPr lang="en-AU" sz="1800"/>
          </a:p>
          <a:p>
            <a:pPr algn="ctr"/>
            <a:r>
              <a:rPr lang="en-AU" sz="4400"/>
              <a:t>.</a:t>
            </a:r>
          </a:p>
        </p:txBody>
      </p:sp>
      <p:sp>
        <p:nvSpPr>
          <p:cNvPr id="10" name="TextBox 9">
            <a:extLst>
              <a:ext uri="{FF2B5EF4-FFF2-40B4-BE49-F238E27FC236}">
                <a16:creationId xmlns:a16="http://schemas.microsoft.com/office/drawing/2014/main" id="{BFB7C7B6-D550-F193-C6D4-78143C04F3B6}"/>
              </a:ext>
            </a:extLst>
          </p:cNvPr>
          <p:cNvSpPr txBox="1"/>
          <p:nvPr/>
        </p:nvSpPr>
        <p:spPr>
          <a:xfrm>
            <a:off x="5044440" y="2212340"/>
            <a:ext cx="2088560" cy="2197100"/>
          </a:xfrm>
          <a:prstGeom prst="rect">
            <a:avLst/>
          </a:prstGeom>
          <a:solidFill>
            <a:srgbClr val="FFFF99"/>
          </a:solidFill>
        </p:spPr>
        <p:txBody>
          <a:bodyPr wrap="square" lIns="0" tIns="0" rIns="0" bIns="0" rtlCol="0">
            <a:noAutofit/>
          </a:bodyPr>
          <a:lstStyle/>
          <a:p>
            <a:pPr algn="ctr"/>
            <a:endParaRPr lang="en-AU" sz="1800"/>
          </a:p>
          <a:p>
            <a:pPr algn="ctr"/>
            <a:endParaRPr lang="en-AU" sz="1800"/>
          </a:p>
          <a:p>
            <a:pPr algn="ctr"/>
            <a:endParaRPr lang="en-AU" sz="1800"/>
          </a:p>
          <a:p>
            <a:pPr algn="ctr"/>
            <a:endParaRPr lang="en-AU" sz="1800"/>
          </a:p>
          <a:p>
            <a:pPr algn="ctr"/>
            <a:r>
              <a:rPr lang="en-AU" sz="4400"/>
              <a:t>.</a:t>
            </a:r>
          </a:p>
        </p:txBody>
      </p:sp>
      <p:sp>
        <p:nvSpPr>
          <p:cNvPr id="11" name="TextBox 10">
            <a:extLst>
              <a:ext uri="{FF2B5EF4-FFF2-40B4-BE49-F238E27FC236}">
                <a16:creationId xmlns:a16="http://schemas.microsoft.com/office/drawing/2014/main" id="{4B815215-9C63-C966-4461-EAA7077E097E}"/>
              </a:ext>
            </a:extLst>
          </p:cNvPr>
          <p:cNvSpPr txBox="1"/>
          <p:nvPr/>
        </p:nvSpPr>
        <p:spPr>
          <a:xfrm>
            <a:off x="7386660" y="2212340"/>
            <a:ext cx="2088560" cy="2197100"/>
          </a:xfrm>
          <a:prstGeom prst="rect">
            <a:avLst/>
          </a:prstGeom>
          <a:solidFill>
            <a:srgbClr val="FFFF99"/>
          </a:solidFill>
        </p:spPr>
        <p:txBody>
          <a:bodyPr wrap="square" lIns="0" tIns="0" rIns="0" bIns="0" rtlCol="0">
            <a:noAutofit/>
          </a:bodyPr>
          <a:lstStyle/>
          <a:p>
            <a:pPr algn="ctr"/>
            <a:endParaRPr lang="en-AU" sz="1800"/>
          </a:p>
          <a:p>
            <a:pPr algn="ctr"/>
            <a:endParaRPr lang="en-AU" sz="1800"/>
          </a:p>
          <a:p>
            <a:pPr algn="ctr"/>
            <a:endParaRPr lang="en-AU" sz="1800"/>
          </a:p>
          <a:p>
            <a:pPr algn="ctr"/>
            <a:endParaRPr lang="en-AU" sz="1800"/>
          </a:p>
          <a:p>
            <a:pPr algn="ctr"/>
            <a:r>
              <a:rPr lang="en-AU" sz="4400"/>
              <a:t>.</a:t>
            </a:r>
          </a:p>
        </p:txBody>
      </p:sp>
      <p:sp>
        <p:nvSpPr>
          <p:cNvPr id="12" name="TextBox 11">
            <a:extLst>
              <a:ext uri="{FF2B5EF4-FFF2-40B4-BE49-F238E27FC236}">
                <a16:creationId xmlns:a16="http://schemas.microsoft.com/office/drawing/2014/main" id="{2A0E1499-92FB-0C9A-BD93-0E0FE0E5EFC1}"/>
              </a:ext>
            </a:extLst>
          </p:cNvPr>
          <p:cNvSpPr txBox="1"/>
          <p:nvPr/>
        </p:nvSpPr>
        <p:spPr>
          <a:xfrm>
            <a:off x="9728880" y="2247900"/>
            <a:ext cx="2088560" cy="2197100"/>
          </a:xfrm>
          <a:prstGeom prst="rect">
            <a:avLst/>
          </a:prstGeom>
          <a:solidFill>
            <a:srgbClr val="FFFF99"/>
          </a:solidFill>
        </p:spPr>
        <p:txBody>
          <a:bodyPr wrap="square" lIns="0" tIns="0" rIns="0" bIns="0" rtlCol="0">
            <a:noAutofit/>
          </a:bodyPr>
          <a:lstStyle/>
          <a:p>
            <a:pPr algn="ctr"/>
            <a:endParaRPr lang="en-AU" sz="1800"/>
          </a:p>
          <a:p>
            <a:pPr algn="ctr"/>
            <a:endParaRPr lang="en-AU" sz="1800"/>
          </a:p>
          <a:p>
            <a:pPr algn="ctr"/>
            <a:endParaRPr lang="en-AU" sz="1800"/>
          </a:p>
          <a:p>
            <a:pPr algn="ctr"/>
            <a:endParaRPr lang="en-AU" sz="1800"/>
          </a:p>
          <a:p>
            <a:pPr algn="ctr"/>
            <a:r>
              <a:rPr lang="en-AU" sz="4400"/>
              <a:t>.</a:t>
            </a:r>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1" y="1016640"/>
            <a:ext cx="11243037" cy="893226"/>
          </a:xfrm>
        </p:spPr>
        <p:txBody>
          <a:bodyPr/>
          <a:lstStyle/>
          <a:p>
            <a:pPr algn="ctr"/>
            <a:r>
              <a:rPr lang="en-AU" sz="4400"/>
              <a:t>The following decimals are correctly arranged in </a:t>
            </a:r>
            <a:r>
              <a:rPr lang="en-AU" sz="4400" b="1"/>
              <a:t>ascending order</a:t>
            </a:r>
            <a:r>
              <a:rPr lang="en-AU" sz="4400"/>
              <a:t>:</a:t>
            </a:r>
          </a:p>
          <a:p>
            <a:pPr algn="ctr"/>
            <a:r>
              <a:rPr lang="en-AU" sz="4400">
                <a:solidFill>
                  <a:schemeClr val="accent2"/>
                </a:solidFill>
              </a:rPr>
              <a:t>0.3, 0.4, 0.35, 0.36</a:t>
            </a:r>
            <a:endParaRPr lang="en-AU" sz="4400"/>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2655693232"/>
              </p:ext>
            </p:extLst>
          </p:nvPr>
        </p:nvGraphicFramePr>
        <p:xfrm>
          <a:off x="2442981" y="471209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5" name="Text Placeholder 5">
            <a:extLst>
              <a:ext uri="{FF2B5EF4-FFF2-40B4-BE49-F238E27FC236}">
                <a16:creationId xmlns:a16="http://schemas.microsoft.com/office/drawing/2014/main" id="{29363F1A-94B3-D9F1-E61A-146657228C75}"/>
              </a:ext>
            </a:extLst>
          </p:cNvPr>
          <p:cNvSpPr txBox="1">
            <a:spLocks/>
          </p:cNvSpPr>
          <p:nvPr/>
        </p:nvSpPr>
        <p:spPr>
          <a:xfrm>
            <a:off x="474481" y="5538274"/>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B3648C5F-860F-5900-22E7-4852D9B38A41}"/>
              </a:ext>
            </a:extLst>
          </p:cNvPr>
          <p:cNvSpPr txBox="1"/>
          <p:nvPr/>
        </p:nvSpPr>
        <p:spPr>
          <a:xfrm>
            <a:off x="451440" y="1184223"/>
            <a:ext cx="5191760" cy="5155617"/>
          </a:xfrm>
          <a:prstGeom prst="rect">
            <a:avLst/>
          </a:prstGeom>
          <a:noFill/>
        </p:spPr>
        <p:txBody>
          <a:bodyPr wrap="square" lIns="0" tIns="0" rIns="0" bIns="0" rtlCol="0">
            <a:noAutofit/>
          </a:bodyPr>
          <a:lstStyle/>
          <a:p>
            <a:pPr algn="ctr">
              <a:lnSpc>
                <a:spcPct val="150000"/>
              </a:lnSpc>
            </a:pPr>
            <a:r>
              <a:rPr lang="en-AU" sz="4400"/>
              <a:t>Record the </a:t>
            </a:r>
            <a:r>
              <a:rPr lang="en-AU" sz="4400" b="1"/>
              <a:t>digital times</a:t>
            </a:r>
            <a:r>
              <a:rPr lang="en-AU" sz="4400"/>
              <a:t> for the times displayed on the </a:t>
            </a:r>
            <a:r>
              <a:rPr lang="en-AU" sz="4400" err="1"/>
              <a:t>analog</a:t>
            </a:r>
            <a:r>
              <a:rPr lang="en-AU" sz="4400"/>
              <a:t> clocks </a:t>
            </a:r>
            <a:r>
              <a:rPr lang="en-AU" sz="4400" b="1"/>
              <a:t>to the minute</a:t>
            </a:r>
            <a:r>
              <a:rPr lang="en-AU" sz="4400"/>
              <a:t>.</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10" name="Picture 9" descr="Images of 6 analog clocks showing the variety of times.">
            <a:extLst>
              <a:ext uri="{FF2B5EF4-FFF2-40B4-BE49-F238E27FC236}">
                <a16:creationId xmlns:a16="http://schemas.microsoft.com/office/drawing/2014/main" id="{C3F46C16-F26E-3A70-8A7A-9C52439D5739}"/>
              </a:ext>
            </a:extLst>
          </p:cNvPr>
          <p:cNvPicPr>
            <a:picLocks noChangeAspect="1"/>
          </p:cNvPicPr>
          <p:nvPr/>
        </p:nvPicPr>
        <p:blipFill>
          <a:blip r:embed="rId4"/>
          <a:stretch>
            <a:fillRect/>
          </a:stretch>
        </p:blipFill>
        <p:spPr>
          <a:xfrm>
            <a:off x="6040140" y="726473"/>
            <a:ext cx="4687128" cy="581586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4" name="TextBox 3">
            <a:extLst>
              <a:ext uri="{FF2B5EF4-FFF2-40B4-BE49-F238E27FC236}">
                <a16:creationId xmlns:a16="http://schemas.microsoft.com/office/drawing/2014/main" id="{CD33D61C-A106-EAB4-6296-960FA8E3C296}"/>
              </a:ext>
            </a:extLst>
          </p:cNvPr>
          <p:cNvSpPr txBox="1"/>
          <p:nvPr/>
        </p:nvSpPr>
        <p:spPr>
          <a:xfrm>
            <a:off x="1389284" y="3137836"/>
            <a:ext cx="9413432" cy="3253339"/>
          </a:xfrm>
          <a:prstGeom prst="rect">
            <a:avLst/>
          </a:prstGeom>
          <a:noFill/>
        </p:spPr>
        <p:txBody>
          <a:bodyPr wrap="square" lIns="0" tIns="0" rIns="0" bIns="0" rtlCol="0">
            <a:noAutofit/>
          </a:bodyPr>
          <a:lstStyle/>
          <a:p>
            <a:pPr algn="l"/>
            <a:r>
              <a:rPr lang="en-US" sz="4800"/>
              <a:t>1000 mL is equal to _______ </a:t>
            </a:r>
            <a:r>
              <a:rPr lang="en-US" sz="4800" err="1"/>
              <a:t>litre</a:t>
            </a:r>
            <a:r>
              <a:rPr lang="en-US" sz="4800"/>
              <a:t>.</a:t>
            </a:r>
            <a:endParaRPr lang="en-AU" sz="4800"/>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4" name="TextBox 3">
            <a:extLst>
              <a:ext uri="{FF2B5EF4-FFF2-40B4-BE49-F238E27FC236}">
                <a16:creationId xmlns:a16="http://schemas.microsoft.com/office/drawing/2014/main" id="{46F0EC0F-DA99-8CC4-C988-66E7CBDCCF58}"/>
              </a:ext>
            </a:extLst>
          </p:cNvPr>
          <p:cNvSpPr txBox="1"/>
          <p:nvPr/>
        </p:nvSpPr>
        <p:spPr>
          <a:xfrm>
            <a:off x="379120" y="1134784"/>
            <a:ext cx="11104880" cy="4023360"/>
          </a:xfrm>
          <a:prstGeom prst="rect">
            <a:avLst/>
          </a:prstGeom>
          <a:noFill/>
        </p:spPr>
        <p:txBody>
          <a:bodyPr wrap="square" lIns="0" tIns="0" rIns="0" bIns="0" rtlCol="0">
            <a:noAutofit/>
          </a:bodyPr>
          <a:lstStyle/>
          <a:p>
            <a:pPr algn="ctr">
              <a:lnSpc>
                <a:spcPct val="150000"/>
              </a:lnSpc>
            </a:pPr>
            <a:r>
              <a:rPr lang="en-AU" sz="4400" dirty="0"/>
              <a:t>Ryan is rolling a </a:t>
            </a:r>
            <a:r>
              <a:rPr lang="en-AU" sz="4400" b="1" dirty="0"/>
              <a:t>6-sided dice twice</a:t>
            </a:r>
            <a:r>
              <a:rPr lang="en-AU" sz="4400" dirty="0"/>
              <a:t>.</a:t>
            </a:r>
          </a:p>
          <a:p>
            <a:pPr algn="ctr">
              <a:lnSpc>
                <a:spcPct val="150000"/>
              </a:lnSpc>
            </a:pPr>
            <a:r>
              <a:rPr lang="en-AU" sz="4400" dirty="0"/>
              <a:t>Does the </a:t>
            </a:r>
            <a:r>
              <a:rPr lang="en-AU" sz="4400" b="1" dirty="0"/>
              <a:t>outcome</a:t>
            </a:r>
            <a:r>
              <a:rPr lang="en-AU" sz="4400" dirty="0"/>
              <a:t> of the first roll </a:t>
            </a:r>
            <a:r>
              <a:rPr lang="en-AU" sz="4400" b="1" dirty="0"/>
              <a:t>affect the chance </a:t>
            </a:r>
            <a:r>
              <a:rPr lang="en-AU" sz="4400" dirty="0"/>
              <a:t>of rolling a 3 on the second roll?</a:t>
            </a:r>
          </a:p>
          <a:p>
            <a:pPr algn="ctr">
              <a:lnSpc>
                <a:spcPct val="150000"/>
              </a:lnSpc>
            </a:pPr>
            <a:endParaRPr lang="en-AU" sz="4400" b="1" dirty="0"/>
          </a:p>
          <a:p>
            <a:pPr algn="ctr">
              <a:lnSpc>
                <a:spcPct val="150000"/>
              </a:lnSpc>
            </a:pPr>
            <a:r>
              <a:rPr lang="en-AU" sz="4400" b="1" dirty="0"/>
              <a:t>Communicate</a:t>
            </a:r>
            <a:r>
              <a:rPr lang="en-AU" sz="4400" dirty="0"/>
              <a:t> your </a:t>
            </a:r>
            <a:r>
              <a:rPr lang="en-AU" sz="4400" b="1" dirty="0"/>
              <a:t>reasoning</a:t>
            </a:r>
            <a:r>
              <a:rPr lang="en-AU" sz="4400" dirty="0"/>
              <a:t>.</a:t>
            </a:r>
          </a:p>
        </p:txBody>
      </p:sp>
      <p:pic>
        <p:nvPicPr>
          <p:cNvPr id="7" name="Picture 6" descr="A 6-sided die with 3 rolled.">
            <a:extLst>
              <a:ext uri="{FF2B5EF4-FFF2-40B4-BE49-F238E27FC236}">
                <a16:creationId xmlns:a16="http://schemas.microsoft.com/office/drawing/2014/main" id="{42996A11-3391-6CFA-6B0E-9768AFD3739D}"/>
              </a:ext>
            </a:extLst>
          </p:cNvPr>
          <p:cNvPicPr>
            <a:picLocks noChangeAspect="1"/>
          </p:cNvPicPr>
          <p:nvPr/>
        </p:nvPicPr>
        <p:blipFill>
          <a:blip r:embed="rId4"/>
          <a:stretch>
            <a:fillRect/>
          </a:stretch>
        </p:blipFill>
        <p:spPr>
          <a:xfrm>
            <a:off x="10420043" y="4352531"/>
            <a:ext cx="1220866" cy="1370685"/>
          </a:xfrm>
          <a:prstGeom prst="rect">
            <a:avLst/>
          </a:prstGeom>
          <a:ln>
            <a:noFill/>
          </a:ln>
          <a:effectLst/>
        </p:spPr>
      </p:pic>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4" name="TextBox 3">
            <a:extLst>
              <a:ext uri="{FF2B5EF4-FFF2-40B4-BE49-F238E27FC236}">
                <a16:creationId xmlns:a16="http://schemas.microsoft.com/office/drawing/2014/main" id="{E46B44E4-3056-87B3-4784-5CA347CD8990}"/>
              </a:ext>
            </a:extLst>
          </p:cNvPr>
          <p:cNvSpPr txBox="1"/>
          <p:nvPr/>
        </p:nvSpPr>
        <p:spPr>
          <a:xfrm>
            <a:off x="497840" y="1382926"/>
            <a:ext cx="4754880" cy="2986943"/>
          </a:xfrm>
          <a:prstGeom prst="rect">
            <a:avLst/>
          </a:prstGeom>
          <a:noFill/>
        </p:spPr>
        <p:txBody>
          <a:bodyPr wrap="square" lIns="0" tIns="0" rIns="0" bIns="0" rtlCol="0">
            <a:noAutofit/>
          </a:bodyPr>
          <a:lstStyle/>
          <a:p>
            <a:pPr algn="ctr">
              <a:lnSpc>
                <a:spcPct val="150000"/>
              </a:lnSpc>
            </a:pPr>
            <a:r>
              <a:rPr lang="en-AU" sz="4000"/>
              <a:t>Do the 2 rectangles have the </a:t>
            </a:r>
            <a:r>
              <a:rPr lang="en-AU" sz="4000" b="1"/>
              <a:t>same area</a:t>
            </a:r>
            <a:r>
              <a:rPr lang="en-AU" sz="4000"/>
              <a:t>?</a:t>
            </a:r>
          </a:p>
        </p:txBody>
      </p:sp>
      <p:sp>
        <p:nvSpPr>
          <p:cNvPr id="7" name="TextBox 6">
            <a:extLst>
              <a:ext uri="{FF2B5EF4-FFF2-40B4-BE49-F238E27FC236}">
                <a16:creationId xmlns:a16="http://schemas.microsoft.com/office/drawing/2014/main" id="{64C3EDAF-6E44-8CD0-D57D-DDFA1EF94890}"/>
              </a:ext>
            </a:extLst>
          </p:cNvPr>
          <p:cNvSpPr txBox="1"/>
          <p:nvPr/>
        </p:nvSpPr>
        <p:spPr>
          <a:xfrm>
            <a:off x="-208901" y="5794407"/>
            <a:ext cx="7449157" cy="901593"/>
          </a:xfrm>
          <a:prstGeom prst="rect">
            <a:avLst/>
          </a:prstGeom>
          <a:noFill/>
        </p:spPr>
        <p:txBody>
          <a:bodyPr wrap="square">
            <a:spAutoFit/>
          </a:bodyPr>
          <a:lstStyle/>
          <a:p>
            <a:pPr algn="ctr">
              <a:lnSpc>
                <a:spcPct val="150000"/>
              </a:lnSpc>
            </a:pPr>
            <a:r>
              <a:rPr lang="en-AU" sz="4000" b="1"/>
              <a:t>Communicate</a:t>
            </a:r>
            <a:r>
              <a:rPr lang="en-AU" sz="4000"/>
              <a:t> your </a:t>
            </a:r>
            <a:r>
              <a:rPr lang="en-AU" sz="4000" b="1"/>
              <a:t>thinking</a:t>
            </a:r>
            <a:r>
              <a:rPr lang="en-AU" sz="4000"/>
              <a:t>.</a:t>
            </a:r>
          </a:p>
        </p:txBody>
      </p:sp>
      <p:pic>
        <p:nvPicPr>
          <p:cNvPr id="9" name="Picture 8" descr="2 rectangles with different sides lengths ">
            <a:extLst>
              <a:ext uri="{FF2B5EF4-FFF2-40B4-BE49-F238E27FC236}">
                <a16:creationId xmlns:a16="http://schemas.microsoft.com/office/drawing/2014/main" id="{5863EA8A-E817-494D-1891-68482B603778}"/>
              </a:ext>
            </a:extLst>
          </p:cNvPr>
          <p:cNvPicPr>
            <a:picLocks noChangeAspect="1"/>
          </p:cNvPicPr>
          <p:nvPr/>
        </p:nvPicPr>
        <p:blipFill>
          <a:blip r:embed="rId4"/>
          <a:stretch>
            <a:fillRect/>
          </a:stretch>
        </p:blipFill>
        <p:spPr>
          <a:xfrm>
            <a:off x="5650184" y="1184223"/>
            <a:ext cx="5249008" cy="47441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comparing and ordering decimals</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5" name="Picture 4" descr="Number line 0-1">
            <a:extLst>
              <a:ext uri="{FF2B5EF4-FFF2-40B4-BE49-F238E27FC236}">
                <a16:creationId xmlns:a16="http://schemas.microsoft.com/office/drawing/2014/main" id="{87C43271-5169-C894-D86F-EE9ECF8425F5}"/>
              </a:ext>
            </a:extLst>
          </p:cNvPr>
          <p:cNvPicPr>
            <a:picLocks noChangeAspect="1"/>
          </p:cNvPicPr>
          <p:nvPr/>
        </p:nvPicPr>
        <p:blipFill>
          <a:blip r:embed="rId4"/>
          <a:stretch>
            <a:fillRect/>
          </a:stretch>
        </p:blipFill>
        <p:spPr>
          <a:xfrm>
            <a:off x="212711" y="2164080"/>
            <a:ext cx="11766577" cy="2275840"/>
          </a:xfrm>
          <a:prstGeom prst="rect">
            <a:avLst/>
          </a:prstGeom>
        </p:spPr>
      </p:pic>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360000" y="850863"/>
            <a:ext cx="11243037" cy="754243"/>
          </a:xfrm>
        </p:spPr>
        <p:txBody>
          <a:bodyPr/>
          <a:lstStyle/>
          <a:p>
            <a:pPr algn="ctr"/>
            <a:r>
              <a:rPr lang="en-AU" sz="4400"/>
              <a:t>Which clue would help you identify the decimal </a:t>
            </a:r>
            <a:r>
              <a:rPr lang="en-AU" sz="4400">
                <a:solidFill>
                  <a:schemeClr val="accent2"/>
                </a:solidFill>
              </a:rPr>
              <a:t>0.43</a:t>
            </a:r>
            <a:r>
              <a:rPr lang="en-AU" sz="4400"/>
              <a:t>?</a:t>
            </a:r>
            <a:endParaRPr lang="en-US" sz="4400"/>
          </a:p>
        </p:txBody>
      </p:sp>
      <p:sp>
        <p:nvSpPr>
          <p:cNvPr id="9" name="B">
            <a:extLst>
              <a:ext uri="{FF2B5EF4-FFF2-40B4-BE49-F238E27FC236}">
                <a16:creationId xmlns:a16="http://schemas.microsoft.com/office/drawing/2014/main" id="{C9B406B5-1B1B-BC84-2596-01F05852F38E}"/>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345520" y="2877704"/>
            <a:ext cx="10175920" cy="641396"/>
          </a:xfrm>
        </p:spPr>
        <p:txBody>
          <a:bodyPr anchor="ctr"/>
          <a:lstStyle/>
          <a:p>
            <a:r>
              <a:rPr lang="en-AU" sz="3600"/>
              <a:t>It is </a:t>
            </a:r>
            <a:r>
              <a:rPr lang="en-AU" sz="3600" b="1"/>
              <a:t>less than </a:t>
            </a:r>
            <a:r>
              <a:rPr lang="en-AU" sz="3600">
                <a:solidFill>
                  <a:schemeClr val="accent2"/>
                </a:solidFill>
              </a:rPr>
              <a:t>0.5</a:t>
            </a:r>
            <a:r>
              <a:rPr lang="en-AU" sz="3600"/>
              <a:t> and the </a:t>
            </a:r>
            <a:r>
              <a:rPr lang="en-AU" sz="3600" b="1"/>
              <a:t>hundredths </a:t>
            </a:r>
            <a:r>
              <a:rPr lang="en-AU" sz="3600"/>
              <a:t>digit is </a:t>
            </a:r>
            <a:r>
              <a:rPr lang="en-AU" sz="3600">
                <a:solidFill>
                  <a:schemeClr val="accent2"/>
                </a:solidFill>
              </a:rPr>
              <a:t>3</a:t>
            </a:r>
            <a:r>
              <a:rPr lang="en-AU" sz="3600"/>
              <a:t>.</a:t>
            </a:r>
            <a:endParaRPr lang="en-US" sz="3600"/>
          </a:p>
        </p:txBody>
      </p:sp>
      <p:sp>
        <p:nvSpPr>
          <p:cNvPr id="10" name="B">
            <a:extLst>
              <a:ext uri="{FF2B5EF4-FFF2-40B4-BE49-F238E27FC236}">
                <a16:creationId xmlns:a16="http://schemas.microsoft.com/office/drawing/2014/main" id="{E50622FB-E2C3-695B-EB8A-A6DCC20CB21A}"/>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345520" y="3725617"/>
            <a:ext cx="10175920" cy="641396"/>
          </a:xfrm>
        </p:spPr>
        <p:txBody>
          <a:bodyPr anchor="ctr"/>
          <a:lstStyle/>
          <a:p>
            <a:r>
              <a:rPr lang="en-AU" sz="3600"/>
              <a:t>It is </a:t>
            </a:r>
            <a:r>
              <a:rPr lang="en-AU" sz="3600" b="1"/>
              <a:t>greater than </a:t>
            </a:r>
            <a:r>
              <a:rPr lang="en-AU" sz="3600">
                <a:solidFill>
                  <a:schemeClr val="accent2"/>
                </a:solidFill>
              </a:rPr>
              <a:t>0.5</a:t>
            </a:r>
            <a:r>
              <a:rPr lang="en-AU" sz="3600"/>
              <a:t> and the </a:t>
            </a:r>
            <a:r>
              <a:rPr lang="en-AU" sz="3600" b="1"/>
              <a:t>tenths</a:t>
            </a:r>
            <a:r>
              <a:rPr lang="en-AU" sz="3600"/>
              <a:t> digit is </a:t>
            </a:r>
            <a:r>
              <a:rPr lang="en-AU" sz="3600">
                <a:solidFill>
                  <a:schemeClr val="accent2"/>
                </a:solidFill>
              </a:rPr>
              <a:t>3</a:t>
            </a:r>
            <a:r>
              <a:rPr lang="en-AU" sz="3600"/>
              <a:t>.</a:t>
            </a:r>
            <a:endParaRPr lang="en-US" sz="3600"/>
          </a:p>
        </p:txBody>
      </p:sp>
      <p:sp>
        <p:nvSpPr>
          <p:cNvPr id="12" name="C">
            <a:extLst>
              <a:ext uri="{FF2B5EF4-FFF2-40B4-BE49-F238E27FC236}">
                <a16:creationId xmlns:a16="http://schemas.microsoft.com/office/drawing/2014/main" id="{0C258EAC-2959-18FA-F510-CFBA4E15CEE5}"/>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345520" y="4575670"/>
                <a:ext cx="10175920" cy="641396"/>
              </a:xfrm>
            </p:spPr>
            <p:txBody>
              <a:bodyPr anchor="ctr"/>
              <a:lstStyle/>
              <a:p>
                <a:r>
                  <a:rPr lang="en-AU" sz="3600"/>
                  <a:t>It is </a:t>
                </a:r>
                <a:r>
                  <a:rPr lang="en-AU" sz="3600" b="1"/>
                  <a:t>equal to</a:t>
                </a:r>
                <a:r>
                  <a:rPr lang="en-AU" sz="3600"/>
                  <a:t> </a:t>
                </a:r>
                <a14:m>
                  <m:oMath xmlns:m="http://schemas.openxmlformats.org/officeDocument/2006/math">
                    <m:f>
                      <m:fPr>
                        <m:ctrlPr>
                          <a:rPr lang="en-AU" sz="3600" b="0" i="1" smtClean="0">
                            <a:solidFill>
                              <a:schemeClr val="accent2"/>
                            </a:solidFill>
                            <a:latin typeface="Cambria Math" panose="02040503050406030204" pitchFamily="18" charset="0"/>
                          </a:rPr>
                        </m:ctrlPr>
                      </m:fPr>
                      <m:num>
                        <m:r>
                          <a:rPr lang="en-AU" sz="3600" b="0" i="1" smtClean="0">
                            <a:solidFill>
                              <a:schemeClr val="accent2"/>
                            </a:solidFill>
                            <a:latin typeface="Cambria Math" panose="02040503050406030204" pitchFamily="18" charset="0"/>
                          </a:rPr>
                          <m:t>1</m:t>
                        </m:r>
                      </m:num>
                      <m:den>
                        <m:r>
                          <a:rPr lang="en-AU" sz="3600" b="0" i="1" smtClean="0">
                            <a:solidFill>
                              <a:schemeClr val="accent2"/>
                            </a:solidFill>
                            <a:latin typeface="Cambria Math" panose="02040503050406030204" pitchFamily="18" charset="0"/>
                          </a:rPr>
                          <m:t>3</m:t>
                        </m:r>
                      </m:den>
                    </m:f>
                  </m:oMath>
                </a14:m>
                <a:r>
                  <a:rPr lang="en-AU" sz="3600"/>
                  <a:t>.</a:t>
                </a:r>
                <a:endParaRPr lang="en-US" sz="3600"/>
              </a:p>
            </p:txBody>
          </p:sp>
        </mc:Choice>
        <mc:Fallback xmlns="">
          <p:sp>
            <p:nvSpPr>
              <p:cNvPr id="16" name="C text">
                <a:extLst>
                  <a:ext uri="{FF2B5EF4-FFF2-40B4-BE49-F238E27FC236}">
                    <a16:creationId xmlns:a16="http://schemas.microsoft.com/office/drawing/2014/main" id="{4F46D482-F339-0F56-69AD-E717BD10B08B}"/>
                  </a:ext>
                </a:extLst>
              </p:cNvPr>
              <p:cNvSpPr>
                <a:spLocks noGrp="1" noRot="1" noChangeAspect="1" noMove="1" noResize="1" noEditPoints="1" noAdjustHandles="1" noChangeArrowheads="1" noChangeShapeType="1" noTextEdit="1"/>
              </p:cNvSpPr>
              <p:nvPr>
                <p:ph type="body" sz="quarter" idx="29"/>
              </p:nvPr>
            </p:nvSpPr>
            <p:spPr>
              <a:xfrm>
                <a:off x="1345520" y="4575670"/>
                <a:ext cx="10175920" cy="641396"/>
              </a:xfrm>
              <a:blipFill>
                <a:blip r:embed="rId4"/>
                <a:stretch>
                  <a:fillRect l="-2756" b="-56190"/>
                </a:stretch>
              </a:blipFill>
            </p:spPr>
            <p:txBody>
              <a:bodyPr/>
              <a:lstStyle/>
              <a:p>
                <a:r>
                  <a:rPr lang="en-US">
                    <a:noFill/>
                  </a:rPr>
                  <a:t> </a:t>
                </a:r>
              </a:p>
            </p:txBody>
          </p:sp>
        </mc:Fallback>
      </mc:AlternateContent>
      <p:sp>
        <p:nvSpPr>
          <p:cNvPr id="11" name="D">
            <a:extLst>
              <a:ext uri="{FF2B5EF4-FFF2-40B4-BE49-F238E27FC236}">
                <a16:creationId xmlns:a16="http://schemas.microsoft.com/office/drawing/2014/main" id="{14776889-F079-73F7-28AB-FA54A997A57B}"/>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345520" y="5425723"/>
            <a:ext cx="10498480" cy="641396"/>
          </a:xfrm>
        </p:spPr>
        <p:txBody>
          <a:bodyPr anchor="ctr"/>
          <a:lstStyle/>
          <a:p>
            <a:r>
              <a:rPr lang="en-AU" sz="3600"/>
              <a:t>It is </a:t>
            </a:r>
            <a:r>
              <a:rPr lang="en-AU" sz="3600" b="1"/>
              <a:t>greater than </a:t>
            </a:r>
            <a:r>
              <a:rPr lang="en-AU" sz="3600">
                <a:solidFill>
                  <a:schemeClr val="accent2"/>
                </a:solidFill>
              </a:rPr>
              <a:t>0.4</a:t>
            </a:r>
            <a:r>
              <a:rPr lang="en-AU" sz="3600"/>
              <a:t> and the </a:t>
            </a:r>
            <a:r>
              <a:rPr lang="en-AU" sz="3600" b="1"/>
              <a:t>hundredths</a:t>
            </a:r>
            <a:r>
              <a:rPr lang="en-AU" sz="3600"/>
              <a:t> digit is </a:t>
            </a:r>
            <a:r>
              <a:rPr lang="en-AU" sz="3600">
                <a:solidFill>
                  <a:schemeClr val="accent2"/>
                </a:solidFill>
              </a:rPr>
              <a:t>4</a:t>
            </a:r>
            <a:r>
              <a:rPr lang="en-AU" sz="3600"/>
              <a:t>.</a:t>
            </a:r>
            <a:endParaRPr lang="en-US" sz="3600"/>
          </a:p>
        </p:txBody>
      </p:sp>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CC24159-4589-F4B3-5425-1813F4545E63}"/>
              </a:ext>
            </a:extLst>
          </p:cNvPr>
          <p:cNvSpPr txBox="1"/>
          <p:nvPr/>
        </p:nvSpPr>
        <p:spPr>
          <a:xfrm>
            <a:off x="783830" y="1138530"/>
            <a:ext cx="10562000" cy="1788160"/>
          </a:xfrm>
          <a:prstGeom prst="rect">
            <a:avLst/>
          </a:prstGeom>
          <a:noFill/>
        </p:spPr>
        <p:txBody>
          <a:bodyPr wrap="square" lIns="0" tIns="0" rIns="0" bIns="0" rtlCol="0">
            <a:noAutofit/>
          </a:bodyPr>
          <a:lstStyle/>
          <a:p>
            <a:pPr algn="ctr"/>
            <a:r>
              <a:rPr lang="en-AU" sz="4400"/>
              <a:t>How many of each workshop could be held in </a:t>
            </a:r>
            <a:r>
              <a:rPr lang="en-AU" sz="4400" b="1"/>
              <a:t>2 hours</a:t>
            </a:r>
            <a:r>
              <a:rPr lang="en-AU" sz="4400"/>
              <a:t>?</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CC277EA-904E-3AE2-A8A5-71CFD91CFCC7}"/>
                  </a:ext>
                </a:extLst>
              </p:cNvPr>
              <p:cNvGraphicFramePr>
                <a:graphicFrameLocks noGrp="1"/>
              </p:cNvGraphicFramePr>
              <p:nvPr>
                <p:extLst>
                  <p:ext uri="{D42A27DB-BD31-4B8C-83A1-F6EECF244321}">
                    <p14:modId xmlns:p14="http://schemas.microsoft.com/office/powerpoint/2010/main" val="375755041"/>
                  </p:ext>
                </p:extLst>
              </p:nvPr>
            </p:nvGraphicFramePr>
            <p:xfrm>
              <a:off x="360000" y="2926690"/>
              <a:ext cx="11409660" cy="3175316"/>
            </p:xfrm>
            <a:graphic>
              <a:graphicData uri="http://schemas.openxmlformats.org/drawingml/2006/table">
                <a:tbl>
                  <a:tblPr firstRow="1" firstCol="1" bandRow="1">
                    <a:tableStyleId>{5A111915-BE36-4E01-A7E5-04B1672EAD32}</a:tableStyleId>
                  </a:tblPr>
                  <a:tblGrid>
                    <a:gridCol w="3186599">
                      <a:extLst>
                        <a:ext uri="{9D8B030D-6E8A-4147-A177-3AD203B41FA5}">
                          <a16:colId xmlns:a16="http://schemas.microsoft.com/office/drawing/2014/main" val="1773925039"/>
                        </a:ext>
                      </a:extLst>
                    </a:gridCol>
                    <a:gridCol w="8223061">
                      <a:extLst>
                        <a:ext uri="{9D8B030D-6E8A-4147-A177-3AD203B41FA5}">
                          <a16:colId xmlns:a16="http://schemas.microsoft.com/office/drawing/2014/main" val="1606082646"/>
                        </a:ext>
                      </a:extLst>
                    </a:gridCol>
                  </a:tblGrid>
                  <a:tr h="616909">
                    <a:tc>
                      <a:txBody>
                        <a:bodyPr/>
                        <a:lstStyle/>
                        <a:p>
                          <a:pPr>
                            <a:lnSpc>
                              <a:spcPct val="150000"/>
                            </a:lnSpc>
                            <a:spcBef>
                              <a:spcPts val="1200"/>
                            </a:spcBef>
                            <a:spcAft>
                              <a:spcPts val="600"/>
                            </a:spcAft>
                            <a:buNone/>
                          </a:pPr>
                          <a:r>
                            <a:rPr lang="en-AU" sz="1800">
                              <a:solidFill>
                                <a:schemeClr val="tx1"/>
                              </a:solidFill>
                              <a:effectLst/>
                            </a:rPr>
                            <a:t>Workshops</a:t>
                          </a:r>
                          <a:endParaRPr lang="en-AU" sz="18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lnSpc>
                              <a:spcPct val="150000"/>
                            </a:lnSpc>
                            <a:spcBef>
                              <a:spcPts val="1200"/>
                            </a:spcBef>
                            <a:spcAft>
                              <a:spcPts val="600"/>
                            </a:spcAft>
                            <a:buNone/>
                          </a:pPr>
                          <a:r>
                            <a:rPr lang="en-AU" sz="1800">
                              <a:effectLst/>
                            </a:rPr>
                            <a:t>2 hours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941882706"/>
                      </a:ext>
                    </a:extLst>
                  </a:tr>
                  <a:tr h="616909">
                    <a:tc>
                      <a:txBody>
                        <a:bodyPr/>
                        <a:lstStyle/>
                        <a:p>
                          <a:pPr>
                            <a:lnSpc>
                              <a:spcPct val="150000"/>
                            </a:lnSpc>
                            <a:spcBef>
                              <a:spcPts val="1200"/>
                            </a:spcBef>
                            <a:spcAft>
                              <a:spcPts val="600"/>
                            </a:spcAft>
                            <a:buNone/>
                          </a:pPr>
                          <a:r>
                            <a:rPr lang="en-AU" sz="1800" b="0">
                              <a:effectLst/>
                            </a:rPr>
                            <a:t>Painting = 60 minutes</a:t>
                          </a:r>
                          <a:endParaRPr lang="en-AU" sz="18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 </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1320376"/>
                      </a:ext>
                    </a:extLst>
                  </a:tr>
                  <a:tr h="616909">
                    <a:tc>
                      <a:txBody>
                        <a:bodyPr/>
                        <a:lstStyle/>
                        <a:p>
                          <a:pPr>
                            <a:lnSpc>
                              <a:spcPct val="150000"/>
                            </a:lnSpc>
                            <a:spcBef>
                              <a:spcPts val="1200"/>
                            </a:spcBef>
                            <a:spcAft>
                              <a:spcPts val="600"/>
                            </a:spcAft>
                            <a:buNone/>
                          </a:pPr>
                          <a:r>
                            <a:rPr lang="en-AU" sz="1800" b="0">
                              <a:effectLst/>
                            </a:rPr>
                            <a:t>Photography = one hour</a:t>
                          </a:r>
                          <a:endParaRPr lang="en-AU" sz="18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 </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5787191"/>
                      </a:ext>
                    </a:extLst>
                  </a:tr>
                  <a:tr h="616909">
                    <a:tc>
                      <a:txBody>
                        <a:bodyPr/>
                        <a:lstStyle/>
                        <a:p>
                          <a:pPr>
                            <a:lnSpc>
                              <a:spcPct val="150000"/>
                            </a:lnSpc>
                            <a:spcBef>
                              <a:spcPts val="1200"/>
                            </a:spcBef>
                            <a:spcAft>
                              <a:spcPts val="600"/>
                            </a:spcAft>
                            <a:buNone/>
                          </a:pPr>
                          <a:r>
                            <a:rPr lang="en-AU" sz="1800" b="0">
                              <a:effectLst/>
                            </a:rPr>
                            <a:t>Drawing = 30 minutes</a:t>
                          </a:r>
                          <a:endParaRPr lang="en-AU" sz="18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 </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6466848"/>
                      </a:ext>
                    </a:extLst>
                  </a:tr>
                  <a:tr h="707680">
                    <a:tc>
                      <a:txBody>
                        <a:bodyPr/>
                        <a:lstStyle/>
                        <a:p>
                          <a:pPr>
                            <a:lnSpc>
                              <a:spcPct val="150000"/>
                            </a:lnSpc>
                            <a:spcBef>
                              <a:spcPts val="1200"/>
                            </a:spcBef>
                            <a:spcAft>
                              <a:spcPts val="600"/>
                            </a:spcAft>
                            <a:buNone/>
                          </a:pPr>
                          <a:r>
                            <a:rPr lang="en-AU" sz="1800" b="0">
                              <a:effectLst/>
                            </a:rPr>
                            <a:t>Origami = </a:t>
                          </a:r>
                          <a14:m>
                            <m:oMath xmlns:m="http://schemas.openxmlformats.org/officeDocument/2006/math">
                              <m:f>
                                <m:fPr>
                                  <m:ctrlPr>
                                    <a:rPr lang="en-AU" sz="1800" b="0" i="1">
                                      <a:effectLst/>
                                      <a:latin typeface="Cambria Math" panose="02040503050406030204" pitchFamily="18" charset="0"/>
                                    </a:rPr>
                                  </m:ctrlPr>
                                </m:fPr>
                                <m:num>
                                  <m:r>
                                    <a:rPr lang="en-AU" sz="1800" b="0" i="1">
                                      <a:effectLst/>
                                      <a:latin typeface="Cambria Math" panose="02040503050406030204" pitchFamily="18" charset="0"/>
                                    </a:rPr>
                                    <m:t>1</m:t>
                                  </m:r>
                                </m:num>
                                <m:den>
                                  <m:r>
                                    <a:rPr lang="en-AU" sz="1800" b="0" i="1">
                                      <a:effectLst/>
                                      <a:latin typeface="Cambria Math" panose="02040503050406030204" pitchFamily="18" charset="0"/>
                                    </a:rPr>
                                    <m:t>2</m:t>
                                  </m:r>
                                </m:den>
                              </m:f>
                            </m:oMath>
                          </a14:m>
                          <a:r>
                            <a:rPr lang="en-AU" sz="1800" b="0">
                              <a:effectLst/>
                            </a:rPr>
                            <a:t> an hour</a:t>
                          </a:r>
                          <a:endParaRPr lang="en-AU" sz="18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 </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804945868"/>
                      </a:ext>
                    </a:extLst>
                  </a:tr>
                </a:tbl>
              </a:graphicData>
            </a:graphic>
          </p:graphicFrame>
        </mc:Choice>
        <mc:Fallback xmlns="">
          <p:graphicFrame>
            <p:nvGraphicFramePr>
              <p:cNvPr id="4" name="Table 3">
                <a:extLst>
                  <a:ext uri="{FF2B5EF4-FFF2-40B4-BE49-F238E27FC236}">
                    <a16:creationId xmlns:a16="http://schemas.microsoft.com/office/drawing/2014/main" id="{CCC277EA-904E-3AE2-A8A5-71CFD91CFCC7}"/>
                  </a:ext>
                </a:extLst>
              </p:cNvPr>
              <p:cNvGraphicFramePr>
                <a:graphicFrameLocks noGrp="1"/>
              </p:cNvGraphicFramePr>
              <p:nvPr>
                <p:extLst>
                  <p:ext uri="{D42A27DB-BD31-4B8C-83A1-F6EECF244321}">
                    <p14:modId xmlns:p14="http://schemas.microsoft.com/office/powerpoint/2010/main" val="375755041"/>
                  </p:ext>
                </p:extLst>
              </p:nvPr>
            </p:nvGraphicFramePr>
            <p:xfrm>
              <a:off x="360000" y="2926690"/>
              <a:ext cx="11409660" cy="3175316"/>
            </p:xfrm>
            <a:graphic>
              <a:graphicData uri="http://schemas.openxmlformats.org/drawingml/2006/table">
                <a:tbl>
                  <a:tblPr firstRow="1" firstCol="1" bandRow="1">
                    <a:tableStyleId>{5A111915-BE36-4E01-A7E5-04B1672EAD32}</a:tableStyleId>
                  </a:tblPr>
                  <a:tblGrid>
                    <a:gridCol w="3186599">
                      <a:extLst>
                        <a:ext uri="{9D8B030D-6E8A-4147-A177-3AD203B41FA5}">
                          <a16:colId xmlns:a16="http://schemas.microsoft.com/office/drawing/2014/main" val="1773925039"/>
                        </a:ext>
                      </a:extLst>
                    </a:gridCol>
                    <a:gridCol w="8223061">
                      <a:extLst>
                        <a:ext uri="{9D8B030D-6E8A-4147-A177-3AD203B41FA5}">
                          <a16:colId xmlns:a16="http://schemas.microsoft.com/office/drawing/2014/main" val="1606082646"/>
                        </a:ext>
                      </a:extLst>
                    </a:gridCol>
                  </a:tblGrid>
                  <a:tr h="616909">
                    <a:tc>
                      <a:txBody>
                        <a:bodyPr/>
                        <a:lstStyle/>
                        <a:p>
                          <a:pPr>
                            <a:lnSpc>
                              <a:spcPct val="150000"/>
                            </a:lnSpc>
                            <a:spcBef>
                              <a:spcPts val="1200"/>
                            </a:spcBef>
                            <a:spcAft>
                              <a:spcPts val="600"/>
                            </a:spcAft>
                            <a:buNone/>
                          </a:pPr>
                          <a:r>
                            <a:rPr lang="en-AU" sz="1800">
                              <a:solidFill>
                                <a:schemeClr val="tx1"/>
                              </a:solidFill>
                              <a:effectLst/>
                            </a:rPr>
                            <a:t>Workshops</a:t>
                          </a:r>
                          <a:endParaRPr lang="en-AU" sz="18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lnSpc>
                              <a:spcPct val="150000"/>
                            </a:lnSpc>
                            <a:spcBef>
                              <a:spcPts val="1200"/>
                            </a:spcBef>
                            <a:spcAft>
                              <a:spcPts val="600"/>
                            </a:spcAft>
                            <a:buNone/>
                          </a:pPr>
                          <a:r>
                            <a:rPr lang="en-AU" sz="1800">
                              <a:effectLst/>
                            </a:rPr>
                            <a:t>2 hours</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941882706"/>
                      </a:ext>
                    </a:extLst>
                  </a:tr>
                  <a:tr h="616909">
                    <a:tc>
                      <a:txBody>
                        <a:bodyPr/>
                        <a:lstStyle/>
                        <a:p>
                          <a:pPr>
                            <a:lnSpc>
                              <a:spcPct val="150000"/>
                            </a:lnSpc>
                            <a:spcBef>
                              <a:spcPts val="1200"/>
                            </a:spcBef>
                            <a:spcAft>
                              <a:spcPts val="600"/>
                            </a:spcAft>
                            <a:buNone/>
                          </a:pPr>
                          <a:r>
                            <a:rPr lang="en-AU" sz="1800" b="0">
                              <a:effectLst/>
                            </a:rPr>
                            <a:t>Painting = 60 minutes</a:t>
                          </a:r>
                          <a:endParaRPr lang="en-AU" sz="18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 </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1320376"/>
                      </a:ext>
                    </a:extLst>
                  </a:tr>
                  <a:tr h="616909">
                    <a:tc>
                      <a:txBody>
                        <a:bodyPr/>
                        <a:lstStyle/>
                        <a:p>
                          <a:pPr>
                            <a:lnSpc>
                              <a:spcPct val="150000"/>
                            </a:lnSpc>
                            <a:spcBef>
                              <a:spcPts val="1200"/>
                            </a:spcBef>
                            <a:spcAft>
                              <a:spcPts val="600"/>
                            </a:spcAft>
                            <a:buNone/>
                          </a:pPr>
                          <a:r>
                            <a:rPr lang="en-AU" sz="1800" b="0">
                              <a:effectLst/>
                            </a:rPr>
                            <a:t>Photography = one hour</a:t>
                          </a:r>
                          <a:endParaRPr lang="en-AU" sz="18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nSpc>
                              <a:spcPct val="150000"/>
                            </a:lnSpc>
                            <a:spcBef>
                              <a:spcPts val="1200"/>
                            </a:spcBef>
                            <a:spcAft>
                              <a:spcPts val="600"/>
                            </a:spcAft>
                            <a:buNone/>
                          </a:pPr>
                          <a:r>
                            <a:rPr lang="en-AU" sz="1800">
                              <a:effectLst/>
                            </a:rPr>
                            <a:t> </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5787191"/>
                      </a:ext>
                    </a:extLst>
                  </a:tr>
                  <a:tr h="616909">
                    <a:tc>
                      <a:txBody>
                        <a:bodyPr/>
                        <a:lstStyle/>
                        <a:p>
                          <a:pPr>
                            <a:lnSpc>
                              <a:spcPct val="150000"/>
                            </a:lnSpc>
                            <a:spcBef>
                              <a:spcPts val="1200"/>
                            </a:spcBef>
                            <a:spcAft>
                              <a:spcPts val="600"/>
                            </a:spcAft>
                            <a:buNone/>
                          </a:pPr>
                          <a:r>
                            <a:rPr lang="en-AU" sz="1800" b="0">
                              <a:effectLst/>
                            </a:rPr>
                            <a:t>Drawing = 30 minutes</a:t>
                          </a:r>
                          <a:endParaRPr lang="en-AU" sz="18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1800">
                              <a:effectLst/>
                            </a:rPr>
                            <a:t> </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6466848"/>
                      </a:ext>
                    </a:extLst>
                  </a:tr>
                  <a:tr h="707680">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1" t="-350000" r="-258317" b="-2586"/>
                          </a:stretch>
                        </a:blipFill>
                      </a:tcPr>
                    </a:tc>
                    <a:tc>
                      <a:txBody>
                        <a:bodyPr/>
                        <a:lstStyle/>
                        <a:p>
                          <a:pPr>
                            <a:lnSpc>
                              <a:spcPct val="150000"/>
                            </a:lnSpc>
                            <a:spcBef>
                              <a:spcPts val="1200"/>
                            </a:spcBef>
                            <a:spcAft>
                              <a:spcPts val="600"/>
                            </a:spcAft>
                            <a:buNone/>
                          </a:pPr>
                          <a:r>
                            <a:rPr lang="en-AU" sz="1800">
                              <a:effectLst/>
                            </a:rPr>
                            <a:t> </a:t>
                          </a:r>
                          <a:endParaRPr lang="en-AU"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804945868"/>
                      </a:ext>
                    </a:extLst>
                  </a:tr>
                </a:tbl>
              </a:graphicData>
            </a:graphic>
          </p:graphicFrame>
        </mc:Fallback>
      </mc:AlternateContent>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7" name="TextBox 6">
            <a:extLst>
              <a:ext uri="{FF2B5EF4-FFF2-40B4-BE49-F238E27FC236}">
                <a16:creationId xmlns:a16="http://schemas.microsoft.com/office/drawing/2014/main" id="{1C5E3594-2772-0A50-6C75-A515B4AC16BD}"/>
              </a:ext>
            </a:extLst>
          </p:cNvPr>
          <p:cNvSpPr txBox="1"/>
          <p:nvPr/>
        </p:nvSpPr>
        <p:spPr>
          <a:xfrm>
            <a:off x="436880" y="1088104"/>
            <a:ext cx="10593596" cy="2458720"/>
          </a:xfrm>
          <a:prstGeom prst="rect">
            <a:avLst/>
          </a:prstGeom>
          <a:noFill/>
        </p:spPr>
        <p:txBody>
          <a:bodyPr wrap="square" lIns="0" tIns="0" rIns="0" bIns="0" rtlCol="0">
            <a:noAutofit/>
          </a:bodyPr>
          <a:lstStyle/>
          <a:p>
            <a:pPr algn="ctr">
              <a:lnSpc>
                <a:spcPct val="150000"/>
              </a:lnSpc>
            </a:pPr>
            <a:r>
              <a:rPr lang="en-AU" sz="3200"/>
              <a:t>Record the capacities of the containers from </a:t>
            </a:r>
            <a:r>
              <a:rPr lang="en-AU" sz="3200" b="1"/>
              <a:t>smallest to largest capacity</a:t>
            </a:r>
            <a:r>
              <a:rPr lang="en-AU" sz="3200"/>
              <a:t>. Use </a:t>
            </a:r>
            <a:r>
              <a:rPr lang="en-AU" sz="3200" b="1"/>
              <a:t>millilitres (mL) </a:t>
            </a:r>
            <a:r>
              <a:rPr lang="en-AU" sz="3200"/>
              <a:t>when recording.</a:t>
            </a:r>
          </a:p>
        </p:txBody>
      </p:sp>
      <p:grpSp>
        <p:nvGrpSpPr>
          <p:cNvPr id="8" name="Group 2" descr="500 mL shampoo bottle">
            <a:extLst>
              <a:ext uri="{FF2B5EF4-FFF2-40B4-BE49-F238E27FC236}">
                <a16:creationId xmlns:a16="http://schemas.microsoft.com/office/drawing/2014/main" id="{3BC22AE9-080B-23F4-5DF0-6C1F778A061A}"/>
              </a:ext>
            </a:extLst>
          </p:cNvPr>
          <p:cNvGrpSpPr/>
          <p:nvPr/>
        </p:nvGrpSpPr>
        <p:grpSpPr>
          <a:xfrm>
            <a:off x="1057503" y="4628397"/>
            <a:ext cx="903944" cy="1944595"/>
            <a:chOff x="0" y="0"/>
            <a:chExt cx="1205258" cy="2592793"/>
          </a:xfrm>
        </p:grpSpPr>
        <p:sp>
          <p:nvSpPr>
            <p:cNvPr id="9" name="Freeform 3">
              <a:extLst>
                <a:ext uri="{FF2B5EF4-FFF2-40B4-BE49-F238E27FC236}">
                  <a16:creationId xmlns:a16="http://schemas.microsoft.com/office/drawing/2014/main" id="{4CD84C19-EDAC-819C-EA65-D57459F74594}"/>
                </a:ext>
              </a:extLst>
            </p:cNvPr>
            <p:cNvSpPr/>
            <p:nvPr/>
          </p:nvSpPr>
          <p:spPr>
            <a:xfrm>
              <a:off x="0" y="0"/>
              <a:ext cx="1205258" cy="2592793"/>
            </a:xfrm>
            <a:custGeom>
              <a:avLst/>
              <a:gdLst/>
              <a:ahLst/>
              <a:cxnLst/>
              <a:rect l="l" t="t" r="r" b="b"/>
              <a:pathLst>
                <a:path w="1205258" h="2592793">
                  <a:moveTo>
                    <a:pt x="0" y="0"/>
                  </a:moveTo>
                  <a:lnTo>
                    <a:pt x="1205258" y="0"/>
                  </a:lnTo>
                  <a:lnTo>
                    <a:pt x="1205258" y="2592793"/>
                  </a:lnTo>
                  <a:lnTo>
                    <a:pt x="0" y="2592793"/>
                  </a:lnTo>
                  <a:lnTo>
                    <a:pt x="0" y="0"/>
                  </a:lnTo>
                  <a:close/>
                </a:path>
              </a:pathLst>
            </a:custGeom>
            <a:blipFill>
              <a:blip r:embed="rId4"/>
              <a:stretch>
                <a:fillRect/>
              </a:stretch>
            </a:blipFill>
          </p:spPr>
          <p:txBody>
            <a:bodyPr/>
            <a:lstStyle/>
            <a:p>
              <a:endParaRPr lang="en-AU"/>
            </a:p>
          </p:txBody>
        </p:sp>
        <p:sp>
          <p:nvSpPr>
            <p:cNvPr id="10" name="TextBox 4">
              <a:extLst>
                <a:ext uri="{FF2B5EF4-FFF2-40B4-BE49-F238E27FC236}">
                  <a16:creationId xmlns:a16="http://schemas.microsoft.com/office/drawing/2014/main" id="{30C82642-41C1-A407-DC03-12BBA8DB82B7}"/>
                </a:ext>
              </a:extLst>
            </p:cNvPr>
            <p:cNvSpPr txBox="1"/>
            <p:nvPr/>
          </p:nvSpPr>
          <p:spPr>
            <a:xfrm>
              <a:off x="435910" y="2231009"/>
              <a:ext cx="610747" cy="223351"/>
            </a:xfrm>
            <a:prstGeom prst="rect">
              <a:avLst/>
            </a:prstGeom>
          </p:spPr>
          <p:txBody>
            <a:bodyPr lIns="0" tIns="0" rIns="0" bIns="0" rtlCol="0" anchor="t">
              <a:spAutoFit/>
            </a:bodyPr>
            <a:lstStyle/>
            <a:p>
              <a:pPr algn="ctr">
                <a:lnSpc>
                  <a:spcPts val="1400"/>
                </a:lnSpc>
              </a:pPr>
              <a:r>
                <a:rPr lang="en-US" sz="1000" b="1">
                  <a:solidFill>
                    <a:srgbClr val="FFFFFF"/>
                  </a:solidFill>
                  <a:latin typeface="Public Sans Semi-Bold"/>
                  <a:ea typeface="Public Sans Semi-Bold"/>
                  <a:cs typeface="Public Sans Semi-Bold"/>
                  <a:sym typeface="Public Sans Semi-Bold"/>
                </a:rPr>
                <a:t>500 mL</a:t>
              </a:r>
            </a:p>
          </p:txBody>
        </p:sp>
      </p:grpSp>
      <p:grpSp>
        <p:nvGrpSpPr>
          <p:cNvPr id="11" name="Group 5" descr="250 mL juice container.">
            <a:extLst>
              <a:ext uri="{FF2B5EF4-FFF2-40B4-BE49-F238E27FC236}">
                <a16:creationId xmlns:a16="http://schemas.microsoft.com/office/drawing/2014/main" id="{E1EE8364-F370-6E28-1691-172FDF3C566D}"/>
              </a:ext>
            </a:extLst>
          </p:cNvPr>
          <p:cNvGrpSpPr/>
          <p:nvPr/>
        </p:nvGrpSpPr>
        <p:grpSpPr>
          <a:xfrm>
            <a:off x="3093176" y="5329420"/>
            <a:ext cx="730320" cy="1096165"/>
            <a:chOff x="0" y="0"/>
            <a:chExt cx="973760" cy="1461554"/>
          </a:xfrm>
        </p:grpSpPr>
        <p:sp>
          <p:nvSpPr>
            <p:cNvPr id="12" name="Freeform 6">
              <a:extLst>
                <a:ext uri="{FF2B5EF4-FFF2-40B4-BE49-F238E27FC236}">
                  <a16:creationId xmlns:a16="http://schemas.microsoft.com/office/drawing/2014/main" id="{7E6F1345-0DCB-C26A-04F5-07D32F8AA425}"/>
                </a:ext>
              </a:extLst>
            </p:cNvPr>
            <p:cNvSpPr/>
            <p:nvPr/>
          </p:nvSpPr>
          <p:spPr>
            <a:xfrm>
              <a:off x="0" y="0"/>
              <a:ext cx="973760" cy="1461554"/>
            </a:xfrm>
            <a:custGeom>
              <a:avLst/>
              <a:gdLst/>
              <a:ahLst/>
              <a:cxnLst/>
              <a:rect l="l" t="t" r="r" b="b"/>
              <a:pathLst>
                <a:path w="973760" h="1461554">
                  <a:moveTo>
                    <a:pt x="0" y="0"/>
                  </a:moveTo>
                  <a:lnTo>
                    <a:pt x="973760" y="0"/>
                  </a:lnTo>
                  <a:lnTo>
                    <a:pt x="973760" y="1461554"/>
                  </a:lnTo>
                  <a:lnTo>
                    <a:pt x="0" y="1461554"/>
                  </a:lnTo>
                  <a:lnTo>
                    <a:pt x="0" y="0"/>
                  </a:lnTo>
                  <a:close/>
                </a:path>
              </a:pathLst>
            </a:custGeom>
            <a:blipFill>
              <a:blip r:embed="rId5"/>
              <a:stretch>
                <a:fillRect/>
              </a:stretch>
            </a:blipFill>
          </p:spPr>
          <p:txBody>
            <a:bodyPr/>
            <a:lstStyle/>
            <a:p>
              <a:endParaRPr lang="en-AU"/>
            </a:p>
          </p:txBody>
        </p:sp>
        <p:sp>
          <p:nvSpPr>
            <p:cNvPr id="13" name="TextBox 7">
              <a:extLst>
                <a:ext uri="{FF2B5EF4-FFF2-40B4-BE49-F238E27FC236}">
                  <a16:creationId xmlns:a16="http://schemas.microsoft.com/office/drawing/2014/main" id="{17462373-0A37-C627-4DC1-54BDCCF34442}"/>
                </a:ext>
              </a:extLst>
            </p:cNvPr>
            <p:cNvSpPr txBox="1"/>
            <p:nvPr/>
          </p:nvSpPr>
          <p:spPr>
            <a:xfrm rot="446882">
              <a:off x="80274" y="1206964"/>
              <a:ext cx="594752" cy="216957"/>
            </a:xfrm>
            <a:prstGeom prst="rect">
              <a:avLst/>
            </a:prstGeom>
          </p:spPr>
          <p:txBody>
            <a:bodyPr lIns="0" tIns="0" rIns="0" bIns="0" rtlCol="0" anchor="t">
              <a:spAutoFit/>
            </a:bodyPr>
            <a:lstStyle/>
            <a:p>
              <a:pPr algn="ctr">
                <a:lnSpc>
                  <a:spcPts val="1363"/>
                </a:lnSpc>
              </a:pPr>
              <a:r>
                <a:rPr lang="en-US" sz="973" b="1">
                  <a:solidFill>
                    <a:srgbClr val="93552B"/>
                  </a:solidFill>
                  <a:latin typeface="Public Sans Semi-Bold"/>
                  <a:ea typeface="Public Sans Semi-Bold"/>
                  <a:cs typeface="Public Sans Semi-Bold"/>
                  <a:sym typeface="Public Sans Semi-Bold"/>
                </a:rPr>
                <a:t>250 mL</a:t>
              </a:r>
            </a:p>
          </p:txBody>
        </p:sp>
      </p:grpSp>
      <p:grpSp>
        <p:nvGrpSpPr>
          <p:cNvPr id="14" name="Group 8" descr="1500 mL water bottle.">
            <a:extLst>
              <a:ext uri="{FF2B5EF4-FFF2-40B4-BE49-F238E27FC236}">
                <a16:creationId xmlns:a16="http://schemas.microsoft.com/office/drawing/2014/main" id="{5F41FDB7-AE46-97D4-3A45-8C86774F7B3F}"/>
              </a:ext>
            </a:extLst>
          </p:cNvPr>
          <p:cNvGrpSpPr/>
          <p:nvPr/>
        </p:nvGrpSpPr>
        <p:grpSpPr>
          <a:xfrm>
            <a:off x="4955225" y="2842146"/>
            <a:ext cx="1408394" cy="3730846"/>
            <a:chOff x="0" y="0"/>
            <a:chExt cx="1877859" cy="4974461"/>
          </a:xfrm>
        </p:grpSpPr>
        <p:sp>
          <p:nvSpPr>
            <p:cNvPr id="15" name="Freeform 9">
              <a:extLst>
                <a:ext uri="{FF2B5EF4-FFF2-40B4-BE49-F238E27FC236}">
                  <a16:creationId xmlns:a16="http://schemas.microsoft.com/office/drawing/2014/main" id="{565B9FBB-44DC-8750-85C8-DD010C08F564}"/>
                </a:ext>
              </a:extLst>
            </p:cNvPr>
            <p:cNvSpPr/>
            <p:nvPr/>
          </p:nvSpPr>
          <p:spPr>
            <a:xfrm>
              <a:off x="0" y="0"/>
              <a:ext cx="1877859" cy="4974461"/>
            </a:xfrm>
            <a:custGeom>
              <a:avLst/>
              <a:gdLst/>
              <a:ahLst/>
              <a:cxnLst/>
              <a:rect l="l" t="t" r="r" b="b"/>
              <a:pathLst>
                <a:path w="1877859" h="4974461">
                  <a:moveTo>
                    <a:pt x="0" y="0"/>
                  </a:moveTo>
                  <a:lnTo>
                    <a:pt x="1877859" y="0"/>
                  </a:lnTo>
                  <a:lnTo>
                    <a:pt x="1877859" y="4974461"/>
                  </a:lnTo>
                  <a:lnTo>
                    <a:pt x="0" y="497446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6" name="TextBox 10">
              <a:extLst>
                <a:ext uri="{FF2B5EF4-FFF2-40B4-BE49-F238E27FC236}">
                  <a16:creationId xmlns:a16="http://schemas.microsoft.com/office/drawing/2014/main" id="{10D339A3-011D-7698-F10C-1BB70F29FB23}"/>
                </a:ext>
              </a:extLst>
            </p:cNvPr>
            <p:cNvSpPr txBox="1"/>
            <p:nvPr/>
          </p:nvSpPr>
          <p:spPr>
            <a:xfrm rot="-112795">
              <a:off x="1070171" y="2585861"/>
              <a:ext cx="681523" cy="223351"/>
            </a:xfrm>
            <a:prstGeom prst="rect">
              <a:avLst/>
            </a:prstGeom>
          </p:spPr>
          <p:txBody>
            <a:bodyPr lIns="0" tIns="0" rIns="0" bIns="0" rtlCol="0" anchor="t">
              <a:spAutoFit/>
            </a:bodyPr>
            <a:lstStyle/>
            <a:p>
              <a:pPr algn="ctr">
                <a:lnSpc>
                  <a:spcPts val="1400"/>
                </a:lnSpc>
              </a:pPr>
              <a:r>
                <a:rPr lang="en-US" sz="1000" b="1">
                  <a:solidFill>
                    <a:srgbClr val="B3DFF7"/>
                  </a:solidFill>
                  <a:latin typeface="Public Sans Semi-Bold"/>
                  <a:ea typeface="Public Sans Semi-Bold"/>
                  <a:cs typeface="Public Sans Semi-Bold"/>
                  <a:sym typeface="Public Sans Semi-Bold"/>
                </a:rPr>
                <a:t>1500 mL</a:t>
              </a:r>
            </a:p>
          </p:txBody>
        </p:sp>
      </p:grpSp>
      <p:grpSp>
        <p:nvGrpSpPr>
          <p:cNvPr id="17" name="Group 11" descr="750 mL mouth wash.">
            <a:extLst>
              <a:ext uri="{FF2B5EF4-FFF2-40B4-BE49-F238E27FC236}">
                <a16:creationId xmlns:a16="http://schemas.microsoft.com/office/drawing/2014/main" id="{5E12345C-511A-5508-17D2-5B3E0084727D}"/>
              </a:ext>
            </a:extLst>
          </p:cNvPr>
          <p:cNvGrpSpPr/>
          <p:nvPr/>
        </p:nvGrpSpPr>
        <p:grpSpPr>
          <a:xfrm>
            <a:off x="7495349" y="4406587"/>
            <a:ext cx="1206351" cy="2018998"/>
            <a:chOff x="0" y="0"/>
            <a:chExt cx="1608468" cy="2691997"/>
          </a:xfrm>
        </p:grpSpPr>
        <p:sp>
          <p:nvSpPr>
            <p:cNvPr id="18" name="Freeform 12">
              <a:extLst>
                <a:ext uri="{FF2B5EF4-FFF2-40B4-BE49-F238E27FC236}">
                  <a16:creationId xmlns:a16="http://schemas.microsoft.com/office/drawing/2014/main" id="{E2DFE389-29B9-0ECE-2028-1A64C9C32F9A}"/>
                </a:ext>
              </a:extLst>
            </p:cNvPr>
            <p:cNvSpPr/>
            <p:nvPr/>
          </p:nvSpPr>
          <p:spPr>
            <a:xfrm>
              <a:off x="0" y="0"/>
              <a:ext cx="1608468" cy="2691997"/>
            </a:xfrm>
            <a:custGeom>
              <a:avLst/>
              <a:gdLst/>
              <a:ahLst/>
              <a:cxnLst/>
              <a:rect l="l" t="t" r="r" b="b"/>
              <a:pathLst>
                <a:path w="1608468" h="2691997">
                  <a:moveTo>
                    <a:pt x="0" y="0"/>
                  </a:moveTo>
                  <a:lnTo>
                    <a:pt x="1608468" y="0"/>
                  </a:lnTo>
                  <a:lnTo>
                    <a:pt x="1608468" y="2691997"/>
                  </a:lnTo>
                  <a:lnTo>
                    <a:pt x="0" y="2691997"/>
                  </a:lnTo>
                  <a:lnTo>
                    <a:pt x="0" y="0"/>
                  </a:lnTo>
                  <a:close/>
                </a:path>
              </a:pathLst>
            </a:custGeom>
            <a:blipFill>
              <a:blip r:embed="rId8"/>
              <a:stretch>
                <a:fillRect/>
              </a:stretch>
            </a:blipFill>
          </p:spPr>
          <p:txBody>
            <a:bodyPr/>
            <a:lstStyle/>
            <a:p>
              <a:endParaRPr lang="en-AU"/>
            </a:p>
          </p:txBody>
        </p:sp>
        <p:sp>
          <p:nvSpPr>
            <p:cNvPr id="19" name="TextBox 13">
              <a:extLst>
                <a:ext uri="{FF2B5EF4-FFF2-40B4-BE49-F238E27FC236}">
                  <a16:creationId xmlns:a16="http://schemas.microsoft.com/office/drawing/2014/main" id="{6130EBC6-4285-ACBF-087E-D5F01460BB32}"/>
                </a:ext>
              </a:extLst>
            </p:cNvPr>
            <p:cNvSpPr txBox="1"/>
            <p:nvPr/>
          </p:nvSpPr>
          <p:spPr>
            <a:xfrm>
              <a:off x="807246" y="2292701"/>
              <a:ext cx="681523" cy="223351"/>
            </a:xfrm>
            <a:prstGeom prst="rect">
              <a:avLst/>
            </a:prstGeom>
          </p:spPr>
          <p:txBody>
            <a:bodyPr lIns="0" tIns="0" rIns="0" bIns="0" rtlCol="0" anchor="t">
              <a:spAutoFit/>
            </a:bodyPr>
            <a:lstStyle/>
            <a:p>
              <a:pPr algn="ctr">
                <a:lnSpc>
                  <a:spcPts val="1400"/>
                </a:lnSpc>
              </a:pPr>
              <a:r>
                <a:rPr lang="en-US" sz="1000" b="1">
                  <a:solidFill>
                    <a:srgbClr val="FFFFFF"/>
                  </a:solidFill>
                  <a:latin typeface="Public Sans Semi-Bold"/>
                  <a:ea typeface="Public Sans Semi-Bold"/>
                  <a:cs typeface="Public Sans Semi-Bold"/>
                  <a:sym typeface="Public Sans Semi-Bold"/>
                </a:rPr>
                <a:t>750 mL</a:t>
              </a:r>
            </a:p>
          </p:txBody>
        </p:sp>
      </p:grpSp>
      <p:grpSp>
        <p:nvGrpSpPr>
          <p:cNvPr id="20" name="Group 14" descr="1000 mL olive oil">
            <a:extLst>
              <a:ext uri="{FF2B5EF4-FFF2-40B4-BE49-F238E27FC236}">
                <a16:creationId xmlns:a16="http://schemas.microsoft.com/office/drawing/2014/main" id="{2CB47C66-3939-F4AC-7E22-5CBC7720E95C}"/>
              </a:ext>
            </a:extLst>
          </p:cNvPr>
          <p:cNvGrpSpPr/>
          <p:nvPr/>
        </p:nvGrpSpPr>
        <p:grpSpPr>
          <a:xfrm>
            <a:off x="9833429" y="3504017"/>
            <a:ext cx="893839" cy="3068975"/>
            <a:chOff x="0" y="0"/>
            <a:chExt cx="1191785" cy="4091967"/>
          </a:xfrm>
        </p:grpSpPr>
        <p:sp>
          <p:nvSpPr>
            <p:cNvPr id="21" name="Freeform 15">
              <a:extLst>
                <a:ext uri="{FF2B5EF4-FFF2-40B4-BE49-F238E27FC236}">
                  <a16:creationId xmlns:a16="http://schemas.microsoft.com/office/drawing/2014/main" id="{FD1FF7BA-112E-82FD-152B-6BE706CF9A15}"/>
                </a:ext>
              </a:extLst>
            </p:cNvPr>
            <p:cNvSpPr/>
            <p:nvPr/>
          </p:nvSpPr>
          <p:spPr>
            <a:xfrm>
              <a:off x="0" y="0"/>
              <a:ext cx="1191785" cy="4091967"/>
            </a:xfrm>
            <a:custGeom>
              <a:avLst/>
              <a:gdLst/>
              <a:ahLst/>
              <a:cxnLst/>
              <a:rect l="l" t="t" r="r" b="b"/>
              <a:pathLst>
                <a:path w="1191785" h="4091967">
                  <a:moveTo>
                    <a:pt x="0" y="0"/>
                  </a:moveTo>
                  <a:lnTo>
                    <a:pt x="1191785" y="0"/>
                  </a:lnTo>
                  <a:lnTo>
                    <a:pt x="1191785" y="4091967"/>
                  </a:lnTo>
                  <a:lnTo>
                    <a:pt x="0" y="4091967"/>
                  </a:lnTo>
                  <a:lnTo>
                    <a:pt x="0" y="0"/>
                  </a:lnTo>
                  <a:close/>
                </a:path>
              </a:pathLst>
            </a:custGeom>
            <a:blipFill>
              <a:blip r:embed="rId9"/>
              <a:stretch>
                <a:fillRect/>
              </a:stretch>
            </a:blipFill>
          </p:spPr>
          <p:txBody>
            <a:bodyPr/>
            <a:lstStyle/>
            <a:p>
              <a:endParaRPr lang="en-AU"/>
            </a:p>
          </p:txBody>
        </p:sp>
        <p:grpSp>
          <p:nvGrpSpPr>
            <p:cNvPr id="22" name="Group 16">
              <a:extLst>
                <a:ext uri="{FF2B5EF4-FFF2-40B4-BE49-F238E27FC236}">
                  <a16:creationId xmlns:a16="http://schemas.microsoft.com/office/drawing/2014/main" id="{C49634B4-2862-80BB-06A8-8506831A6442}"/>
                </a:ext>
              </a:extLst>
            </p:cNvPr>
            <p:cNvGrpSpPr/>
            <p:nvPr/>
          </p:nvGrpSpPr>
          <p:grpSpPr>
            <a:xfrm>
              <a:off x="304913" y="2910504"/>
              <a:ext cx="545510" cy="469581"/>
              <a:chOff x="0" y="-28575"/>
              <a:chExt cx="146624" cy="126215"/>
            </a:xfrm>
          </p:grpSpPr>
          <p:sp>
            <p:nvSpPr>
              <p:cNvPr id="24" name="Freeform 17">
                <a:extLst>
                  <a:ext uri="{FF2B5EF4-FFF2-40B4-BE49-F238E27FC236}">
                    <a16:creationId xmlns:a16="http://schemas.microsoft.com/office/drawing/2014/main" id="{64F7D393-0C3E-4CFE-265E-176BEE01C4F9}"/>
                  </a:ext>
                </a:extLst>
              </p:cNvPr>
              <p:cNvSpPr/>
              <p:nvPr/>
            </p:nvSpPr>
            <p:spPr>
              <a:xfrm>
                <a:off x="0" y="0"/>
                <a:ext cx="146624" cy="97640"/>
              </a:xfrm>
              <a:custGeom>
                <a:avLst/>
                <a:gdLst/>
                <a:ahLst/>
                <a:cxnLst/>
                <a:rect l="l" t="t" r="r" b="b"/>
                <a:pathLst>
                  <a:path w="146624" h="97640">
                    <a:moveTo>
                      <a:pt x="0" y="0"/>
                    </a:moveTo>
                    <a:lnTo>
                      <a:pt x="146624" y="0"/>
                    </a:lnTo>
                    <a:lnTo>
                      <a:pt x="146624" y="97640"/>
                    </a:lnTo>
                    <a:lnTo>
                      <a:pt x="0" y="97640"/>
                    </a:lnTo>
                    <a:close/>
                  </a:path>
                </a:pathLst>
              </a:custGeom>
              <a:solidFill>
                <a:srgbClr val="EDF2CB"/>
              </a:solidFill>
            </p:spPr>
            <p:txBody>
              <a:bodyPr/>
              <a:lstStyle/>
              <a:p>
                <a:endParaRPr lang="en-AU"/>
              </a:p>
            </p:txBody>
          </p:sp>
          <p:sp>
            <p:nvSpPr>
              <p:cNvPr id="25" name="TextBox 18">
                <a:extLst>
                  <a:ext uri="{FF2B5EF4-FFF2-40B4-BE49-F238E27FC236}">
                    <a16:creationId xmlns:a16="http://schemas.microsoft.com/office/drawing/2014/main" id="{7DA94240-9562-D578-6A41-AF5A68AFEEF5}"/>
                  </a:ext>
                </a:extLst>
              </p:cNvPr>
              <p:cNvSpPr txBox="1"/>
              <p:nvPr/>
            </p:nvSpPr>
            <p:spPr>
              <a:xfrm>
                <a:off x="0" y="-28575"/>
                <a:ext cx="146624" cy="126215"/>
              </a:xfrm>
              <a:prstGeom prst="rect">
                <a:avLst/>
              </a:prstGeom>
            </p:spPr>
            <p:txBody>
              <a:bodyPr lIns="50800" tIns="50800" rIns="50800" bIns="50800" rtlCol="0" anchor="ctr"/>
              <a:lstStyle/>
              <a:p>
                <a:pPr algn="ctr">
                  <a:lnSpc>
                    <a:spcPts val="1400"/>
                  </a:lnSpc>
                </a:pPr>
                <a:endParaRPr/>
              </a:p>
            </p:txBody>
          </p:sp>
        </p:grpSp>
        <p:sp>
          <p:nvSpPr>
            <p:cNvPr id="23" name="TextBox 19">
              <a:extLst>
                <a:ext uri="{FF2B5EF4-FFF2-40B4-BE49-F238E27FC236}">
                  <a16:creationId xmlns:a16="http://schemas.microsoft.com/office/drawing/2014/main" id="{6D2DC76A-2C2F-86F5-596A-4C8DF238DE2B}"/>
                </a:ext>
              </a:extLst>
            </p:cNvPr>
            <p:cNvSpPr txBox="1"/>
            <p:nvPr/>
          </p:nvSpPr>
          <p:spPr>
            <a:xfrm>
              <a:off x="236907" y="3136072"/>
              <a:ext cx="681523" cy="223351"/>
            </a:xfrm>
            <a:prstGeom prst="rect">
              <a:avLst/>
            </a:prstGeom>
          </p:spPr>
          <p:txBody>
            <a:bodyPr lIns="0" tIns="0" rIns="0" bIns="0" rtlCol="0" anchor="t">
              <a:spAutoFit/>
            </a:bodyPr>
            <a:lstStyle/>
            <a:p>
              <a:pPr algn="ctr">
                <a:lnSpc>
                  <a:spcPts val="1400"/>
                </a:lnSpc>
              </a:pPr>
              <a:r>
                <a:rPr lang="en-US" sz="1000" b="1">
                  <a:solidFill>
                    <a:srgbClr val="93552B"/>
                  </a:solidFill>
                  <a:latin typeface="Public Sans Semi-Bold"/>
                  <a:ea typeface="Public Sans Semi-Bold"/>
                  <a:cs typeface="Public Sans Semi-Bold"/>
                  <a:sym typeface="Public Sans Semi-Bold"/>
                </a:rPr>
                <a:t>1000 mL</a:t>
              </a:r>
            </a:p>
          </p:txBody>
        </p:sp>
      </p:gr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5" name="TextBox 4">
            <a:extLst>
              <a:ext uri="{FF2B5EF4-FFF2-40B4-BE49-F238E27FC236}">
                <a16:creationId xmlns:a16="http://schemas.microsoft.com/office/drawing/2014/main" id="{A625E07D-8AF6-8B4C-12BF-D020C9E7ACC5}"/>
              </a:ext>
            </a:extLst>
          </p:cNvPr>
          <p:cNvSpPr txBox="1"/>
          <p:nvPr/>
        </p:nvSpPr>
        <p:spPr>
          <a:xfrm>
            <a:off x="359999" y="1009213"/>
            <a:ext cx="7446063" cy="5090025"/>
          </a:xfrm>
          <a:prstGeom prst="rect">
            <a:avLst/>
          </a:prstGeom>
          <a:noFill/>
        </p:spPr>
        <p:txBody>
          <a:bodyPr wrap="square" lIns="0" tIns="0" rIns="0" bIns="0" rtlCol="0">
            <a:noAutofit/>
          </a:bodyPr>
          <a:lstStyle/>
          <a:p>
            <a:pPr algn="ctr">
              <a:lnSpc>
                <a:spcPct val="150000"/>
              </a:lnSpc>
            </a:pPr>
            <a:r>
              <a:rPr lang="en-AU" sz="3600"/>
              <a:t>Emily spins the spinner.</a:t>
            </a:r>
            <a:br>
              <a:rPr lang="en-AU" sz="3600"/>
            </a:br>
            <a:endParaRPr lang="en-AU" sz="3600"/>
          </a:p>
          <a:p>
            <a:pPr marL="457200" indent="-457200" algn="ctr">
              <a:lnSpc>
                <a:spcPct val="150000"/>
              </a:lnSpc>
              <a:buFont typeface="Arial" panose="020B0604020202020204" pitchFamily="34" charset="0"/>
              <a:buChar char="•"/>
            </a:pPr>
            <a:r>
              <a:rPr lang="en-AU" sz="3600"/>
              <a:t>List all the </a:t>
            </a:r>
            <a:r>
              <a:rPr lang="en-AU" sz="3600" b="1"/>
              <a:t>possible outcomes </a:t>
            </a:r>
            <a:r>
              <a:rPr lang="en-AU" sz="3600"/>
              <a:t>of one spin.</a:t>
            </a:r>
            <a:br>
              <a:rPr lang="en-AU" sz="3600"/>
            </a:br>
            <a:endParaRPr lang="en-AU" sz="3600"/>
          </a:p>
          <a:p>
            <a:pPr marL="457200" indent="-457200" algn="ctr">
              <a:lnSpc>
                <a:spcPct val="150000"/>
              </a:lnSpc>
              <a:buFont typeface="Arial" panose="020B0604020202020204" pitchFamily="34" charset="0"/>
              <a:buChar char="•"/>
            </a:pPr>
            <a:r>
              <a:rPr lang="en-AU" sz="3600"/>
              <a:t>What does the term </a:t>
            </a:r>
            <a:r>
              <a:rPr lang="en-AU" sz="3600" b="1"/>
              <a:t>outcome</a:t>
            </a:r>
            <a:r>
              <a:rPr lang="en-AU" sz="3600"/>
              <a:t> mean in chance experiments?  </a:t>
            </a:r>
          </a:p>
        </p:txBody>
      </p:sp>
      <p:pic>
        <p:nvPicPr>
          <p:cNvPr id="4" name="Picture 3" descr="A spinner separated into 4 quarters. The colours of each quarter are green, bluem red and yellow.">
            <a:extLst>
              <a:ext uri="{FF2B5EF4-FFF2-40B4-BE49-F238E27FC236}">
                <a16:creationId xmlns:a16="http://schemas.microsoft.com/office/drawing/2014/main" id="{61E4CBDD-2CD1-6F4A-7175-2EFB24854CAD}"/>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503" b="92237" l="9108" r="92007">
                        <a14:foregroundMark x1="29926" y1="8503" x2="29926" y2="8503"/>
                        <a14:foregroundMark x1="92379" y1="30499" x2="92379" y2="30499"/>
                        <a14:foregroundMark x1="72305" y1="92237" x2="72305" y2="92237"/>
                        <a14:foregroundMark x1="9108" y1="72458" x2="9108" y2="72458"/>
                      </a14:backgroundRemoval>
                    </a14:imgEffect>
                  </a14:imgLayer>
                </a14:imgProps>
              </a:ext>
            </a:extLst>
          </a:blip>
          <a:stretch>
            <a:fillRect/>
          </a:stretch>
        </p:blipFill>
        <p:spPr>
          <a:xfrm>
            <a:off x="8065555" y="1523998"/>
            <a:ext cx="4037937" cy="406045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4" name="TextBox 3">
            <a:extLst>
              <a:ext uri="{FF2B5EF4-FFF2-40B4-BE49-F238E27FC236}">
                <a16:creationId xmlns:a16="http://schemas.microsoft.com/office/drawing/2014/main" id="{A593D4FC-E424-133A-22E4-66F76736D2C3}"/>
              </a:ext>
            </a:extLst>
          </p:cNvPr>
          <p:cNvSpPr txBox="1"/>
          <p:nvPr/>
        </p:nvSpPr>
        <p:spPr>
          <a:xfrm>
            <a:off x="705440" y="1041983"/>
            <a:ext cx="10560800" cy="1589457"/>
          </a:xfrm>
          <a:prstGeom prst="rect">
            <a:avLst/>
          </a:prstGeom>
          <a:noFill/>
        </p:spPr>
        <p:txBody>
          <a:bodyPr wrap="square" lIns="0" tIns="0" rIns="0" bIns="0" rtlCol="0">
            <a:noAutofit/>
          </a:bodyPr>
          <a:lstStyle/>
          <a:p>
            <a:pPr algn="ctr"/>
            <a:r>
              <a:rPr lang="en-AU" sz="4400" b="1"/>
              <a:t>Record</a:t>
            </a:r>
            <a:r>
              <a:rPr lang="en-AU" sz="4400"/>
              <a:t> and </a:t>
            </a:r>
            <a:r>
              <a:rPr lang="en-AU" sz="4400" b="1"/>
              <a:t>compare</a:t>
            </a:r>
            <a:r>
              <a:rPr lang="en-AU" sz="4400"/>
              <a:t> the </a:t>
            </a:r>
            <a:r>
              <a:rPr lang="en-AU" sz="4400" b="1"/>
              <a:t>volume</a:t>
            </a:r>
            <a:r>
              <a:rPr lang="en-AU" sz="4400"/>
              <a:t> of these 2 objects made from</a:t>
            </a:r>
          </a:p>
          <a:p>
            <a:pPr algn="ctr"/>
            <a:r>
              <a:rPr lang="en-AU" sz="4400" b="1"/>
              <a:t>cubic-centimetre blocks</a:t>
            </a:r>
            <a:r>
              <a:rPr lang="en-AU" sz="4400"/>
              <a:t>.</a:t>
            </a:r>
          </a:p>
        </p:txBody>
      </p:sp>
      <p:pic>
        <p:nvPicPr>
          <p:cNvPr id="8" name="Picture 7" descr="2 rectangular prisms made from cubic centimetres">
            <a:extLst>
              <a:ext uri="{FF2B5EF4-FFF2-40B4-BE49-F238E27FC236}">
                <a16:creationId xmlns:a16="http://schemas.microsoft.com/office/drawing/2014/main" id="{45E37186-089B-5C72-F461-398681293796}"/>
              </a:ext>
            </a:extLst>
          </p:cNvPr>
          <p:cNvPicPr>
            <a:picLocks noChangeAspect="1"/>
          </p:cNvPicPr>
          <p:nvPr/>
        </p:nvPicPr>
        <p:blipFill>
          <a:blip r:embed="rId4"/>
          <a:stretch>
            <a:fillRect/>
          </a:stretch>
        </p:blipFill>
        <p:spPr>
          <a:xfrm>
            <a:off x="3575501" y="3266824"/>
            <a:ext cx="4540483" cy="3429176"/>
          </a:xfrm>
          <a:prstGeom prst="rect">
            <a:avLst/>
          </a:prstGeom>
        </p:spPr>
      </p:pic>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comparing decimals</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3" name="TextBox 2">
            <a:extLst>
              <a:ext uri="{FF2B5EF4-FFF2-40B4-BE49-F238E27FC236}">
                <a16:creationId xmlns:a16="http://schemas.microsoft.com/office/drawing/2014/main" id="{548D69CC-B5E0-CA15-D1C7-D1025FD006DF}"/>
              </a:ext>
            </a:extLst>
          </p:cNvPr>
          <p:cNvSpPr txBox="1"/>
          <p:nvPr/>
        </p:nvSpPr>
        <p:spPr>
          <a:xfrm>
            <a:off x="531520" y="1542937"/>
            <a:ext cx="10952480" cy="4592320"/>
          </a:xfrm>
          <a:prstGeom prst="rect">
            <a:avLst/>
          </a:prstGeom>
          <a:noFill/>
        </p:spPr>
        <p:txBody>
          <a:bodyPr wrap="square" lIns="0" tIns="0" rIns="0" bIns="0" rtlCol="0">
            <a:noAutofit/>
          </a:bodyPr>
          <a:lstStyle/>
          <a:p>
            <a:pPr lvl="0">
              <a:lnSpc>
                <a:spcPct val="150000"/>
              </a:lnSpc>
            </a:pPr>
            <a:r>
              <a:rPr lang="en-AU" sz="4400">
                <a:latin typeface="Arial" panose="020B0604020202020204" pitchFamily="34" charset="0"/>
                <a:cs typeface="Arial" panose="020B0604020202020204" pitchFamily="34" charset="0"/>
              </a:rPr>
              <a:t>Secret decimal clues:</a:t>
            </a:r>
          </a:p>
          <a:p>
            <a:pPr marL="285750" lvl="0" indent="-285750">
              <a:lnSpc>
                <a:spcPct val="150000"/>
              </a:lnSpc>
              <a:buFont typeface="Arial" panose="020B0604020202020204" pitchFamily="34" charset="0"/>
              <a:buChar char="•"/>
            </a:pPr>
            <a:r>
              <a:rPr lang="en-AU" sz="4400">
                <a:latin typeface="Arial" panose="020B0604020202020204" pitchFamily="34" charset="0"/>
                <a:cs typeface="Arial" panose="020B0604020202020204" pitchFamily="34" charset="0"/>
              </a:rPr>
              <a:t>It is between 0 and 1.</a:t>
            </a:r>
          </a:p>
          <a:p>
            <a:pPr marL="285750" lvl="0" indent="-285750">
              <a:lnSpc>
                <a:spcPct val="150000"/>
              </a:lnSpc>
              <a:buFont typeface="Arial" panose="020B0604020202020204" pitchFamily="34" charset="0"/>
              <a:buChar char="•"/>
            </a:pPr>
            <a:r>
              <a:rPr lang="en-AU" sz="4400">
                <a:latin typeface="Arial" panose="020B0604020202020204" pitchFamily="34" charset="0"/>
                <a:cs typeface="Arial" panose="020B0604020202020204" pitchFamily="34" charset="0"/>
              </a:rPr>
              <a:t>It is greater than 0.4 but less than 0.6.</a:t>
            </a:r>
          </a:p>
          <a:p>
            <a:pPr marL="285750" lvl="0" indent="-285750">
              <a:lnSpc>
                <a:spcPct val="150000"/>
              </a:lnSpc>
              <a:buFont typeface="Arial" panose="020B0604020202020204" pitchFamily="34" charset="0"/>
              <a:buChar char="•"/>
            </a:pPr>
            <a:r>
              <a:rPr lang="en-AU" sz="4400">
                <a:latin typeface="Arial" panose="020B0604020202020204" pitchFamily="34" charset="0"/>
                <a:cs typeface="Arial" panose="020B0604020202020204" pitchFamily="34" charset="0"/>
              </a:rPr>
              <a:t>The hundredths digit is 8.</a:t>
            </a:r>
          </a:p>
          <a:p>
            <a:pPr algn="l"/>
            <a:endParaRPr lang="en-AU" sz="1800"/>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59999" y="1096956"/>
                <a:ext cx="11243037" cy="893226"/>
              </a:xfrm>
            </p:spPr>
            <p:txBody>
              <a:bodyPr/>
              <a:lstStyle/>
              <a:p>
                <a:pPr algn="ctr"/>
                <a:r>
                  <a:rPr lang="en-AU" sz="4400">
                    <a:solidFill>
                      <a:schemeClr val="accent2"/>
                    </a:solidFill>
                  </a:rPr>
                  <a:t>0.25</a:t>
                </a:r>
                <a:r>
                  <a:rPr lang="en-AU" sz="4400"/>
                  <a:t> is equal to </a:t>
                </a:r>
                <a14:m>
                  <m:oMath xmlns:m="http://schemas.openxmlformats.org/officeDocument/2006/math">
                    <m:f>
                      <m:fPr>
                        <m:ctrlPr>
                          <a:rPr lang="en-AU" sz="4400" b="0" i="1" smtClean="0">
                            <a:solidFill>
                              <a:schemeClr val="accent2"/>
                            </a:solidFill>
                            <a:latin typeface="Cambria Math" panose="02040503050406030204" pitchFamily="18" charset="0"/>
                          </a:rPr>
                        </m:ctrlPr>
                      </m:fPr>
                      <m:num>
                        <m:r>
                          <a:rPr lang="en-AU" sz="4400" b="0" i="1" smtClean="0">
                            <a:solidFill>
                              <a:schemeClr val="accent2"/>
                            </a:solidFill>
                            <a:latin typeface="Cambria Math" panose="02040503050406030204" pitchFamily="18" charset="0"/>
                          </a:rPr>
                          <m:t>1</m:t>
                        </m:r>
                      </m:num>
                      <m:den>
                        <m:r>
                          <a:rPr lang="en-AU" sz="4400" b="0" i="1" smtClean="0">
                            <a:solidFill>
                              <a:schemeClr val="accent2"/>
                            </a:solidFill>
                            <a:latin typeface="Cambria Math" panose="02040503050406030204" pitchFamily="18" charset="0"/>
                          </a:rPr>
                          <m:t>2</m:t>
                        </m:r>
                      </m:den>
                    </m:f>
                  </m:oMath>
                </a14:m>
                <a:r>
                  <a:rPr lang="en-AU" sz="4400"/>
                  <a:t> because they both contain the numeral </a:t>
                </a:r>
                <a:r>
                  <a:rPr lang="en-AU" sz="4400">
                    <a:solidFill>
                      <a:schemeClr val="accent2"/>
                    </a:solidFill>
                  </a:rPr>
                  <a:t>2</a:t>
                </a:r>
                <a:r>
                  <a:rPr lang="en-AU" sz="4400"/>
                  <a:t>.</a:t>
                </a:r>
              </a:p>
            </p:txBody>
          </p:sp>
        </mc:Choice>
        <mc:Fallback xmlns="">
          <p:sp>
            <p:nvSpPr>
              <p:cNvPr id="6" name="Text Placeholder 5">
                <a:extLst>
                  <a:ext uri="{FF2B5EF4-FFF2-40B4-BE49-F238E27FC236}">
                    <a16:creationId xmlns:a16="http://schemas.microsoft.com/office/drawing/2014/main" id="{C7D683F9-6194-51C3-10DE-058E032E33CF}"/>
                  </a:ext>
                </a:extLst>
              </p:cNvPr>
              <p:cNvSpPr>
                <a:spLocks noGrp="1" noRot="1" noChangeAspect="1" noMove="1" noResize="1" noEditPoints="1" noAdjustHandles="1" noChangeArrowheads="1" noChangeShapeType="1" noTextEdit="1"/>
              </p:cNvSpPr>
              <p:nvPr>
                <p:ph type="body" sz="quarter" idx="22"/>
              </p:nvPr>
            </p:nvSpPr>
            <p:spPr>
              <a:xfrm>
                <a:off x="359999" y="1096956"/>
                <a:ext cx="11243037" cy="893226"/>
              </a:xfrm>
              <a:blipFill>
                <a:blip r:embed="rId3"/>
                <a:stretch>
                  <a:fillRect l="-1356" r="-2766" b="-195890"/>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900924788"/>
              </p:ext>
            </p:extLst>
          </p:nvPr>
        </p:nvGraphicFramePr>
        <p:xfrm>
          <a:off x="2442980" y="396798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5" name="Text Placeholder 5">
            <a:extLst>
              <a:ext uri="{FF2B5EF4-FFF2-40B4-BE49-F238E27FC236}">
                <a16:creationId xmlns:a16="http://schemas.microsoft.com/office/drawing/2014/main" id="{82A9D0F5-1A52-4BDF-CA86-A09370D782A7}"/>
              </a:ext>
            </a:extLst>
          </p:cNvPr>
          <p:cNvSpPr txBox="1">
            <a:spLocks/>
          </p:cNvSpPr>
          <p:nvPr/>
        </p:nvSpPr>
        <p:spPr>
          <a:xfrm>
            <a:off x="474481" y="5344356"/>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4" name="TextBox 3">
            <a:extLst>
              <a:ext uri="{FF2B5EF4-FFF2-40B4-BE49-F238E27FC236}">
                <a16:creationId xmlns:a16="http://schemas.microsoft.com/office/drawing/2014/main" id="{CD51E0F4-3A34-FB0C-ADFC-42E3B35CBB74}"/>
              </a:ext>
            </a:extLst>
          </p:cNvPr>
          <p:cNvSpPr txBox="1"/>
          <p:nvPr/>
        </p:nvSpPr>
        <p:spPr>
          <a:xfrm>
            <a:off x="639133" y="1616965"/>
            <a:ext cx="10670476" cy="4525697"/>
          </a:xfrm>
          <a:prstGeom prst="rect">
            <a:avLst/>
          </a:prstGeom>
          <a:noFill/>
        </p:spPr>
        <p:txBody>
          <a:bodyPr wrap="square" lIns="0" tIns="0" rIns="0" bIns="0" rtlCol="0">
            <a:noAutofit/>
          </a:bodyPr>
          <a:lstStyle/>
          <a:p>
            <a:pPr algn="l">
              <a:lnSpc>
                <a:spcPct val="150000"/>
              </a:lnSpc>
            </a:pPr>
            <a:r>
              <a:rPr lang="en-AU" sz="4400"/>
              <a:t>Record the following as </a:t>
            </a:r>
            <a:r>
              <a:rPr lang="en-AU" sz="4400" b="1"/>
              <a:t>digital times</a:t>
            </a:r>
            <a:r>
              <a:rPr lang="en-AU" sz="4400"/>
              <a:t>:</a:t>
            </a:r>
          </a:p>
          <a:p>
            <a:pPr marL="571500" indent="-571500" algn="l">
              <a:lnSpc>
                <a:spcPct val="150000"/>
              </a:lnSpc>
              <a:buFont typeface="Arial" panose="020B0604020202020204" pitchFamily="34" charset="0"/>
              <a:buChar char="•"/>
            </a:pPr>
            <a:r>
              <a:rPr lang="en-AU" sz="4400"/>
              <a:t>20 minutes and 39 seconds</a:t>
            </a:r>
          </a:p>
          <a:p>
            <a:pPr marL="571500" indent="-571500" algn="l">
              <a:lnSpc>
                <a:spcPct val="150000"/>
              </a:lnSpc>
              <a:buFont typeface="Arial" panose="020B0604020202020204" pitchFamily="34" charset="0"/>
              <a:buChar char="•"/>
            </a:pPr>
            <a:r>
              <a:rPr lang="en-AU" sz="4400"/>
              <a:t>35 minutes and 10 seconds</a:t>
            </a:r>
          </a:p>
          <a:p>
            <a:pPr marL="571500" indent="-571500" algn="l">
              <a:lnSpc>
                <a:spcPct val="150000"/>
              </a:lnSpc>
              <a:buFont typeface="Arial" panose="020B0604020202020204" pitchFamily="34" charset="0"/>
              <a:buChar char="•"/>
            </a:pPr>
            <a:r>
              <a:rPr lang="en-AU" sz="4400"/>
              <a:t>42 seconds</a:t>
            </a:r>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4" name="TextBox 3">
            <a:extLst>
              <a:ext uri="{FF2B5EF4-FFF2-40B4-BE49-F238E27FC236}">
                <a16:creationId xmlns:a16="http://schemas.microsoft.com/office/drawing/2014/main" id="{7C9E439C-43EB-6AC9-0D8A-DCE2BA528916}"/>
              </a:ext>
            </a:extLst>
          </p:cNvPr>
          <p:cNvSpPr txBox="1"/>
          <p:nvPr/>
        </p:nvSpPr>
        <p:spPr>
          <a:xfrm>
            <a:off x="581204" y="1574800"/>
            <a:ext cx="11102796" cy="4236720"/>
          </a:xfrm>
          <a:prstGeom prst="rect">
            <a:avLst/>
          </a:prstGeom>
          <a:noFill/>
        </p:spPr>
        <p:txBody>
          <a:bodyPr wrap="square" lIns="0" tIns="0" rIns="0" bIns="0" rtlCol="0">
            <a:noAutofit/>
          </a:bodyPr>
          <a:lstStyle/>
          <a:p>
            <a:pPr algn="ctr">
              <a:lnSpc>
                <a:spcPct val="150000"/>
              </a:lnSpc>
            </a:pPr>
            <a:r>
              <a:rPr lang="en-AU" sz="4400"/>
              <a:t>The </a:t>
            </a:r>
            <a:r>
              <a:rPr lang="en-AU" sz="4400" b="1"/>
              <a:t>capacities</a:t>
            </a:r>
            <a:r>
              <a:rPr lang="en-AU" sz="4400"/>
              <a:t> of 5 containers are:</a:t>
            </a:r>
          </a:p>
          <a:p>
            <a:pPr algn="ctr">
              <a:lnSpc>
                <a:spcPct val="150000"/>
              </a:lnSpc>
            </a:pPr>
            <a:r>
              <a:rPr lang="en-AU" sz="4400">
                <a:solidFill>
                  <a:schemeClr val="accent2"/>
                </a:solidFill>
              </a:rPr>
              <a:t>430 mL</a:t>
            </a:r>
            <a:r>
              <a:rPr lang="en-AU" sz="4400"/>
              <a:t>, </a:t>
            </a:r>
            <a:r>
              <a:rPr lang="en-AU" sz="4400">
                <a:solidFill>
                  <a:schemeClr val="accent2"/>
                </a:solidFill>
              </a:rPr>
              <a:t>870 mL</a:t>
            </a:r>
            <a:r>
              <a:rPr lang="en-AU" sz="4400"/>
              <a:t>, </a:t>
            </a:r>
            <a:r>
              <a:rPr lang="en-AU" sz="4400">
                <a:solidFill>
                  <a:schemeClr val="accent2"/>
                </a:solidFill>
              </a:rPr>
              <a:t>250 mL</a:t>
            </a:r>
            <a:r>
              <a:rPr lang="en-AU" sz="4400"/>
              <a:t>, </a:t>
            </a:r>
            <a:r>
              <a:rPr lang="en-AU" sz="4400">
                <a:solidFill>
                  <a:schemeClr val="accent2"/>
                </a:solidFill>
              </a:rPr>
              <a:t>610 mL</a:t>
            </a:r>
            <a:r>
              <a:rPr lang="en-AU" sz="4400"/>
              <a:t>, </a:t>
            </a:r>
            <a:r>
              <a:rPr lang="en-AU" sz="4400">
                <a:solidFill>
                  <a:schemeClr val="accent2"/>
                </a:solidFill>
              </a:rPr>
              <a:t>990 mL</a:t>
            </a:r>
            <a:endParaRPr lang="en-AU" sz="4400"/>
          </a:p>
          <a:p>
            <a:pPr algn="ctr">
              <a:lnSpc>
                <a:spcPct val="150000"/>
              </a:lnSpc>
            </a:pPr>
            <a:br>
              <a:rPr lang="en-AU" sz="4400" b="1"/>
            </a:br>
            <a:r>
              <a:rPr lang="en-AU" sz="4400" b="1"/>
              <a:t>Order</a:t>
            </a:r>
            <a:r>
              <a:rPr lang="en-AU" sz="4400"/>
              <a:t> the containers from </a:t>
            </a:r>
            <a:r>
              <a:rPr lang="en-AU" sz="4400" b="1"/>
              <a:t>smallest to largest capacity</a:t>
            </a:r>
            <a:r>
              <a:rPr lang="en-AU" sz="4400"/>
              <a:t>.</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4" name="TextBox 3">
            <a:extLst>
              <a:ext uri="{FF2B5EF4-FFF2-40B4-BE49-F238E27FC236}">
                <a16:creationId xmlns:a16="http://schemas.microsoft.com/office/drawing/2014/main" id="{3546880D-FFA0-D1FB-FDEC-F01EE106922E}"/>
              </a:ext>
            </a:extLst>
          </p:cNvPr>
          <p:cNvSpPr txBox="1"/>
          <p:nvPr/>
        </p:nvSpPr>
        <p:spPr>
          <a:xfrm>
            <a:off x="486306" y="1258807"/>
            <a:ext cx="6593840" cy="5313680"/>
          </a:xfrm>
          <a:prstGeom prst="rect">
            <a:avLst/>
          </a:prstGeom>
          <a:noFill/>
        </p:spPr>
        <p:txBody>
          <a:bodyPr wrap="square" lIns="0" tIns="0" rIns="0" bIns="0" rtlCol="0">
            <a:noAutofit/>
          </a:bodyPr>
          <a:lstStyle/>
          <a:p>
            <a:pPr algn="l">
              <a:lnSpc>
                <a:spcPct val="150000"/>
              </a:lnSpc>
            </a:pPr>
            <a:r>
              <a:rPr lang="en-AU"/>
              <a:t>A bag contains </a:t>
            </a:r>
            <a:r>
              <a:rPr lang="en-AU">
                <a:solidFill>
                  <a:srgbClr val="FF0000"/>
                </a:solidFill>
              </a:rPr>
              <a:t>5 red</a:t>
            </a:r>
            <a:r>
              <a:rPr lang="en-AU"/>
              <a:t>, </a:t>
            </a:r>
            <a:r>
              <a:rPr lang="en-AU">
                <a:solidFill>
                  <a:srgbClr val="7030A0"/>
                </a:solidFill>
              </a:rPr>
              <a:t>4 purple</a:t>
            </a:r>
            <a:r>
              <a:rPr lang="en-AU"/>
              <a:t>, and </a:t>
            </a:r>
            <a:r>
              <a:rPr lang="en-AU">
                <a:solidFill>
                  <a:srgbClr val="EA9B0C"/>
                </a:solidFill>
              </a:rPr>
              <a:t>3 orange </a:t>
            </a:r>
            <a:r>
              <a:rPr lang="en-AU"/>
              <a:t>marbles. You draw </a:t>
            </a:r>
            <a:r>
              <a:rPr lang="en-AU" b="1"/>
              <a:t>one marble </a:t>
            </a:r>
            <a:r>
              <a:rPr lang="en-AU"/>
              <a:t>at a time and </a:t>
            </a:r>
            <a:r>
              <a:rPr lang="en-AU" b="1"/>
              <a:t>do not </a:t>
            </a:r>
            <a:r>
              <a:rPr lang="en-AU"/>
              <a:t>put it back.</a:t>
            </a:r>
          </a:p>
          <a:p>
            <a:pPr marL="285750" indent="-285750" algn="l">
              <a:lnSpc>
                <a:spcPct val="150000"/>
              </a:lnSpc>
              <a:buFont typeface="Arial" panose="020B0604020202020204" pitchFamily="34" charset="0"/>
              <a:buChar char="•"/>
            </a:pPr>
            <a:r>
              <a:rPr lang="en-AU"/>
              <a:t>Which colour is </a:t>
            </a:r>
            <a:r>
              <a:rPr lang="en-AU" b="1"/>
              <a:t>most likely </a:t>
            </a:r>
            <a:r>
              <a:rPr lang="en-AU"/>
              <a:t>to be drawn first? Why?</a:t>
            </a:r>
          </a:p>
          <a:p>
            <a:pPr marL="285750" indent="-285750" algn="l">
              <a:lnSpc>
                <a:spcPct val="150000"/>
              </a:lnSpc>
              <a:buFont typeface="Arial" panose="020B0604020202020204" pitchFamily="34" charset="0"/>
              <a:buChar char="•"/>
            </a:pPr>
            <a:r>
              <a:rPr lang="en-AU"/>
              <a:t>If you draw a </a:t>
            </a:r>
            <a:r>
              <a:rPr lang="en-AU">
                <a:solidFill>
                  <a:srgbClr val="FF0000"/>
                </a:solidFill>
              </a:rPr>
              <a:t>red marble </a:t>
            </a:r>
            <a:r>
              <a:rPr lang="en-AU"/>
              <a:t>first, how does that affect the </a:t>
            </a:r>
            <a:r>
              <a:rPr lang="en-AU" b="1"/>
              <a:t>likelihood</a:t>
            </a:r>
            <a:r>
              <a:rPr lang="en-AU"/>
              <a:t> of drawing another </a:t>
            </a:r>
            <a:r>
              <a:rPr lang="en-AU">
                <a:solidFill>
                  <a:srgbClr val="FF0000"/>
                </a:solidFill>
              </a:rPr>
              <a:t>red marble</a:t>
            </a:r>
            <a:r>
              <a:rPr lang="en-AU"/>
              <a:t> next?</a:t>
            </a:r>
          </a:p>
          <a:p>
            <a:pPr marL="285750" indent="-285750" algn="l">
              <a:lnSpc>
                <a:spcPct val="150000"/>
              </a:lnSpc>
              <a:buFont typeface="Arial" panose="020B0604020202020204" pitchFamily="34" charset="0"/>
              <a:buChar char="•"/>
            </a:pPr>
            <a:r>
              <a:rPr lang="en-AU"/>
              <a:t>Which colour is now </a:t>
            </a:r>
            <a:r>
              <a:rPr lang="en-AU" b="1"/>
              <a:t>least likely </a:t>
            </a:r>
            <a:r>
              <a:rPr lang="en-AU"/>
              <a:t>to be drawn?</a:t>
            </a:r>
          </a:p>
        </p:txBody>
      </p:sp>
      <p:pic>
        <p:nvPicPr>
          <p:cNvPr id="7" name="Picture 6" descr="A line drawing of a bag containing 5 red counters, 4 purple counters and 3 orange counters. ">
            <a:extLst>
              <a:ext uri="{FF2B5EF4-FFF2-40B4-BE49-F238E27FC236}">
                <a16:creationId xmlns:a16="http://schemas.microsoft.com/office/drawing/2014/main" id="{F1A01945-E954-8872-2FC8-CEB05056E711}"/>
              </a:ext>
            </a:extLst>
          </p:cNvPr>
          <p:cNvPicPr>
            <a:picLocks noChangeAspect="1"/>
          </p:cNvPicPr>
          <p:nvPr/>
        </p:nvPicPr>
        <p:blipFill>
          <a:blip r:embed="rId4"/>
          <a:stretch>
            <a:fillRect/>
          </a:stretch>
        </p:blipFill>
        <p:spPr>
          <a:xfrm>
            <a:off x="7402958" y="1389665"/>
            <a:ext cx="3964882" cy="499081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01600" y="351201"/>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4" name="TextBox 3">
            <a:extLst>
              <a:ext uri="{FF2B5EF4-FFF2-40B4-BE49-F238E27FC236}">
                <a16:creationId xmlns:a16="http://schemas.microsoft.com/office/drawing/2014/main" id="{2FED5477-12DA-A356-FF76-8730C50CFEEB}"/>
              </a:ext>
            </a:extLst>
          </p:cNvPr>
          <p:cNvSpPr txBox="1"/>
          <p:nvPr/>
        </p:nvSpPr>
        <p:spPr>
          <a:xfrm>
            <a:off x="809362" y="1332694"/>
            <a:ext cx="10573276" cy="1802817"/>
          </a:xfrm>
          <a:prstGeom prst="rect">
            <a:avLst/>
          </a:prstGeom>
          <a:noFill/>
        </p:spPr>
        <p:txBody>
          <a:bodyPr wrap="square" lIns="0" tIns="0" rIns="0" bIns="0" rtlCol="0">
            <a:noAutofit/>
          </a:bodyPr>
          <a:lstStyle/>
          <a:p>
            <a:pPr algn="ctr"/>
            <a:r>
              <a:rPr lang="en-AU" sz="4400"/>
              <a:t>Sketch the </a:t>
            </a:r>
            <a:r>
              <a:rPr lang="en-AU" sz="4400" b="1"/>
              <a:t>top</a:t>
            </a:r>
            <a:r>
              <a:rPr lang="en-AU" sz="4400"/>
              <a:t>, </a:t>
            </a:r>
            <a:r>
              <a:rPr lang="en-AU" sz="4400" b="1"/>
              <a:t>front</a:t>
            </a:r>
            <a:r>
              <a:rPr lang="en-AU" sz="4400"/>
              <a:t> and </a:t>
            </a:r>
            <a:r>
              <a:rPr lang="en-AU" sz="4400" b="1"/>
              <a:t>side</a:t>
            </a:r>
            <a:r>
              <a:rPr lang="en-AU" sz="4400"/>
              <a:t> </a:t>
            </a:r>
            <a:r>
              <a:rPr lang="en-AU" sz="4400" b="1"/>
              <a:t>views</a:t>
            </a:r>
            <a:r>
              <a:rPr lang="en-AU" sz="4400"/>
              <a:t> of the three-dimensional object displayed.</a:t>
            </a:r>
          </a:p>
        </p:txBody>
      </p:sp>
      <p:pic>
        <p:nvPicPr>
          <p:cNvPr id="7" name="Picture 6" descr="A triangular prism">
            <a:extLst>
              <a:ext uri="{FF2B5EF4-FFF2-40B4-BE49-F238E27FC236}">
                <a16:creationId xmlns:a16="http://schemas.microsoft.com/office/drawing/2014/main" id="{4DEE0155-6DF2-30EC-4C79-4C1BC20D18C4}"/>
              </a:ext>
            </a:extLst>
          </p:cNvPr>
          <p:cNvPicPr>
            <a:picLocks noChangeAspect="1"/>
          </p:cNvPicPr>
          <p:nvPr/>
        </p:nvPicPr>
        <p:blipFill>
          <a:blip r:embed="rId4"/>
          <a:stretch>
            <a:fillRect/>
          </a:stretch>
        </p:blipFill>
        <p:spPr>
          <a:xfrm>
            <a:off x="4267557" y="2856889"/>
            <a:ext cx="3982006" cy="383911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fractions and decimals connections</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3" name="Picture 2" descr="Two 0 to 1 number lines stacked on top of one another.&#10;The first number line is labelled 'Fractions' and is partitioned into quarters. 0, 1/4 and 1 are marked on the number line.&#10;The second number line is labelled 'Decimals'. The number line is partitioned into quarters. 0, 0.5 and 1 are marked on the number line.">
            <a:extLst>
              <a:ext uri="{FF2B5EF4-FFF2-40B4-BE49-F238E27FC236}">
                <a16:creationId xmlns:a16="http://schemas.microsoft.com/office/drawing/2014/main" id="{E036B41E-DA97-C59D-F347-A76C904965ED}"/>
              </a:ext>
            </a:extLst>
          </p:cNvPr>
          <p:cNvPicPr>
            <a:picLocks noChangeAspect="1"/>
          </p:cNvPicPr>
          <p:nvPr/>
        </p:nvPicPr>
        <p:blipFill>
          <a:blip r:embed="rId4"/>
          <a:stretch>
            <a:fillRect/>
          </a:stretch>
        </p:blipFill>
        <p:spPr>
          <a:xfrm>
            <a:off x="1543685" y="1259818"/>
            <a:ext cx="8831798" cy="5139528"/>
          </a:xfrm>
          <a:prstGeom prst="rect">
            <a:avLst/>
          </a:prstGeom>
        </p:spPr>
      </p:pic>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360000" y="3291604"/>
            <a:ext cx="11484000" cy="2927351"/>
          </a:xfrm>
        </p:spPr>
        <p:txBody>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11 November 2025 and was not modified.</a:t>
            </a:r>
          </a:p>
          <a:p>
            <a:r>
              <a:rPr lang="en-AU"/>
              <a:t>ABC (Australian Broadcasting Corporation) (2022) </a:t>
            </a:r>
            <a:r>
              <a:rPr lang="en-AU" i="1" u="sng">
                <a:hlinkClick r:id="rId9"/>
              </a:rPr>
              <a:t>Time Tools: 12-hour to the minute</a:t>
            </a:r>
            <a:r>
              <a:rPr lang="en-AU"/>
              <a:t>, ABC Education website, accessed 11 November 2025.</a:t>
            </a:r>
          </a:p>
          <a:p>
            <a:r>
              <a:rPr lang="en-AU"/>
              <a:t>Amplify Education, Inc (2024) </a:t>
            </a:r>
            <a:r>
              <a:rPr lang="en-AU" i="1" u="sng" err="1">
                <a:hlinkClick r:id="rId10"/>
              </a:rPr>
              <a:t>Polypad</a:t>
            </a:r>
            <a:r>
              <a:rPr lang="en-AU"/>
              <a:t>, Amplify website, accessed 11 November 2025.</a:t>
            </a:r>
          </a:p>
          <a:p>
            <a:r>
              <a:rPr lang="en-AU" err="1"/>
              <a:t>Didax</a:t>
            </a:r>
            <a:r>
              <a:rPr lang="en-AU"/>
              <a:t>, Inc (</a:t>
            </a:r>
            <a:r>
              <a:rPr lang="en-AU" err="1"/>
              <a:t>n.d</a:t>
            </a:r>
            <a:r>
              <a:rPr lang="en-AU"/>
              <a:t>) </a:t>
            </a:r>
            <a:r>
              <a:rPr lang="en-AU" i="1" u="sng">
                <a:hlinkClick r:id="rId11"/>
              </a:rPr>
              <a:t>Geoboard</a:t>
            </a:r>
            <a:r>
              <a:rPr lang="en-AU"/>
              <a:t>, </a:t>
            </a:r>
            <a:r>
              <a:rPr lang="en-AU" err="1"/>
              <a:t>Didax</a:t>
            </a:r>
            <a:r>
              <a:rPr lang="en-AU"/>
              <a:t> website, accessed 11 March 2026.</a:t>
            </a:r>
          </a:p>
          <a:p>
            <a:r>
              <a:rPr lang="en-AU"/>
              <a:t>New South Wales Department of Education (n.d.) ‘</a:t>
            </a:r>
            <a:r>
              <a:rPr lang="en-AU" u="sng">
                <a:hlinkClick r:id="rId12"/>
              </a:rPr>
              <a:t>Representative school sport results and records</a:t>
            </a:r>
            <a:r>
              <a:rPr lang="en-AU"/>
              <a:t>’, </a:t>
            </a:r>
            <a:r>
              <a:rPr lang="en-AU" i="1"/>
              <a:t>Representative sport</a:t>
            </a:r>
            <a:r>
              <a:rPr lang="en-AU"/>
              <a:t>, NSW Department of Education website, accessed 11 November 2025.</a:t>
            </a:r>
          </a:p>
          <a:p>
            <a:r>
              <a:rPr lang="en-AU"/>
              <a:t>Sullivan P (2018) </a:t>
            </a:r>
            <a:r>
              <a:rPr lang="en-AU" i="1"/>
              <a:t>Challenging Mathematical tasks: Unlocking the Potential of all Students</a:t>
            </a:r>
            <a:r>
              <a:rPr lang="en-AU"/>
              <a:t>, Oxford University Press, Australia.</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DF9ED-B72F-8C5F-600C-D57C709550E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B27679-648F-15E6-4DB1-8819FA568BFB}"/>
              </a:ext>
            </a:extLst>
          </p:cNvPr>
          <p:cNvSpPr>
            <a:spLocks noGrp="1"/>
          </p:cNvSpPr>
          <p:nvPr>
            <p:ph type="title"/>
          </p:nvPr>
        </p:nvSpPr>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2FD75E33-292D-B56F-8177-0D0D5003EA3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D68E408C-B742-CA79-91FC-834CBFD7CCD0}"/>
              </a:ext>
            </a:extLst>
          </p:cNvPr>
          <p:cNvSpPr>
            <a:spLocks noGrp="1"/>
          </p:cNvSpPr>
          <p:nvPr>
            <p:ph idx="1"/>
          </p:nvPr>
        </p:nvSpPr>
        <p:spPr/>
        <p:txBody>
          <a:bodyPr/>
          <a:lstStyle/>
          <a:p>
            <a:r>
              <a:rPr lang="en-AU"/>
              <a:t>Siemon D, Warren E, Beswick K, Faragher R, Miller J, Horne M, </a:t>
            </a:r>
            <a:r>
              <a:rPr lang="en-AU" err="1"/>
              <a:t>Jazby</a:t>
            </a:r>
            <a:r>
              <a:rPr lang="en-AU"/>
              <a:t> D, Breed M, Clark J and Brady K (2021) </a:t>
            </a:r>
            <a:r>
              <a:rPr lang="en-AU" i="1"/>
              <a:t>Teaching Mathematics: Foundations to Middle Years</a:t>
            </a:r>
            <a:r>
              <a:rPr lang="en-AU"/>
              <a:t>, 3rd </a:t>
            </a:r>
            <a:r>
              <a:rPr lang="en-AU" err="1"/>
              <a:t>edn</a:t>
            </a:r>
            <a:r>
              <a:rPr lang="en-AU"/>
              <a:t>, Oxford University Press Australia and New Zealand.</a:t>
            </a:r>
          </a:p>
          <a:p>
            <a:r>
              <a:rPr lang="en-AU"/>
              <a:t>Toy </a:t>
            </a:r>
            <a:r>
              <a:rPr lang="en-AU" err="1"/>
              <a:t>Theater</a:t>
            </a:r>
            <a:r>
              <a:rPr lang="en-AU"/>
              <a:t> (n.d.) ‘</a:t>
            </a:r>
            <a:r>
              <a:rPr lang="en-AU" u="sng">
                <a:hlinkClick r:id="rId6"/>
              </a:rPr>
              <a:t>Active </a:t>
            </a:r>
            <a:r>
              <a:rPr lang="en-AU" u="sng" err="1">
                <a:hlinkClick r:id="rId6"/>
              </a:rPr>
              <a:t>analog</a:t>
            </a:r>
            <a:r>
              <a:rPr lang="en-AU" u="sng">
                <a:hlinkClick r:id="rId6"/>
              </a:rPr>
              <a:t> clock: Time</a:t>
            </a:r>
            <a:r>
              <a:rPr lang="en-AU"/>
              <a:t>’, </a:t>
            </a:r>
            <a:r>
              <a:rPr lang="en-AU" i="1"/>
              <a:t>Time Manipulatives</a:t>
            </a:r>
            <a:r>
              <a:rPr lang="en-AU"/>
              <a:t>, Toy </a:t>
            </a:r>
            <a:r>
              <a:rPr lang="en-AU" err="1"/>
              <a:t>Theater</a:t>
            </a:r>
            <a:r>
              <a:rPr lang="en-AU"/>
              <a:t> website, accessed 11 November 2025.</a:t>
            </a:r>
          </a:p>
          <a:p>
            <a:r>
              <a:rPr lang="en-AU"/>
              <a:t>Toy </a:t>
            </a:r>
            <a:r>
              <a:rPr lang="en-AU" err="1"/>
              <a:t>Theater</a:t>
            </a:r>
            <a:r>
              <a:rPr lang="en-AU"/>
              <a:t> (n.d.) ‘</a:t>
            </a:r>
            <a:r>
              <a:rPr lang="en-AU" u="sng">
                <a:hlinkClick r:id="rId7"/>
              </a:rPr>
              <a:t>Interactive Clock | Telling Time</a:t>
            </a:r>
            <a:r>
              <a:rPr lang="en-AU"/>
              <a:t>’, </a:t>
            </a:r>
            <a:r>
              <a:rPr lang="en-AU" i="1"/>
              <a:t>Time Manipulatives</a:t>
            </a:r>
            <a:r>
              <a:rPr lang="en-AU"/>
              <a:t>, Toy </a:t>
            </a:r>
            <a:r>
              <a:rPr lang="en-AU" err="1"/>
              <a:t>Theater</a:t>
            </a:r>
            <a:r>
              <a:rPr lang="en-AU"/>
              <a:t> website, accessed 11 November 2025.</a:t>
            </a:r>
          </a:p>
          <a:p>
            <a:r>
              <a:rPr lang="en-AU"/>
              <a:t>Toy </a:t>
            </a:r>
            <a:r>
              <a:rPr lang="en-AU" err="1"/>
              <a:t>Theater</a:t>
            </a:r>
            <a:r>
              <a:rPr lang="en-AU"/>
              <a:t> (n.d.) ‘</a:t>
            </a:r>
            <a:r>
              <a:rPr lang="en-AU" u="sng">
                <a:hlinkClick r:id="rId8"/>
              </a:rPr>
              <a:t>Stop Watch</a:t>
            </a:r>
            <a:r>
              <a:rPr lang="en-AU"/>
              <a:t>’, </a:t>
            </a:r>
            <a:r>
              <a:rPr lang="en-AU" i="1"/>
              <a:t>Time Manipulatives</a:t>
            </a:r>
            <a:r>
              <a:rPr lang="en-AU"/>
              <a:t>, Toy </a:t>
            </a:r>
            <a:r>
              <a:rPr lang="en-AU" err="1"/>
              <a:t>Theater</a:t>
            </a:r>
            <a:r>
              <a:rPr lang="en-AU"/>
              <a:t> website, accessed 11 November 2025.</a:t>
            </a:r>
          </a:p>
          <a:p>
            <a:r>
              <a:rPr lang="en-AU"/>
              <a:t>University of Cambridge (n.d.) </a:t>
            </a:r>
            <a:r>
              <a:rPr lang="en-AU" i="1" u="sng">
                <a:hlinkClick r:id="rId9"/>
              </a:rPr>
              <a:t>Clocks</a:t>
            </a:r>
            <a:r>
              <a:rPr lang="en-AU"/>
              <a:t>, NRICH website, accessed 11 November 2025.</a:t>
            </a:r>
          </a:p>
          <a:p>
            <a:r>
              <a:rPr lang="en-AU"/>
              <a:t>Van de Walle J, Karp K, Bay-Williams JM, Brass A, Bentley B, Ferguson S, Goff W, Livy S, Marshman M, Martin D, Pearn C, </a:t>
            </a:r>
            <a:r>
              <a:rPr lang="en-AU" err="1"/>
              <a:t>Prodromou</a:t>
            </a:r>
            <a:r>
              <a:rPr lang="en-AU"/>
              <a:t> T, Symons D and Wilkie K (2019) </a:t>
            </a:r>
            <a:r>
              <a:rPr lang="en-AU" i="1"/>
              <a:t>Primary and Middle Years Mathematics: Teaching Developmentally</a:t>
            </a:r>
            <a:r>
              <a:rPr lang="en-AU"/>
              <a:t>, 1st Australian </a:t>
            </a:r>
            <a:r>
              <a:rPr lang="en-AU" err="1"/>
              <a:t>edn</a:t>
            </a:r>
            <a:r>
              <a:rPr lang="en-AU"/>
              <a:t>, Pearson Education Australia, Melbourne.</a:t>
            </a:r>
          </a:p>
        </p:txBody>
      </p:sp>
      <p:sp>
        <p:nvSpPr>
          <p:cNvPr id="2" name="Slide Number Placeholder 1">
            <a:extLst>
              <a:ext uri="{FF2B5EF4-FFF2-40B4-BE49-F238E27FC236}">
                <a16:creationId xmlns:a16="http://schemas.microsoft.com/office/drawing/2014/main" id="{794128B4-A336-6188-BC7E-6F7EB2F220FD}"/>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2612966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0B238544-53FA-49B0-B3A8-C65C3220FBC5}"/>
</file>

<file path=customXml/itemProps3.xml><?xml version="1.0" encoding="utf-8"?>
<ds:datastoreItem xmlns:ds="http://schemas.openxmlformats.org/officeDocument/2006/customXml" ds:itemID="{CE555570-2BD4-426B-AA32-0A79CB6508A8}">
  <ds:schemaRefs>
    <ds:schemaRef ds:uri="http://www.w3.org/XML/1998/namespace"/>
    <ds:schemaRef ds:uri="7e763d47-3c66-4c58-9425-1477fd3ccd1e"/>
    <ds:schemaRef ds:uri="http://purl.org/dc/dcmitype/"/>
    <ds:schemaRef ds:uri="http://purl.org/dc/terms/"/>
    <ds:schemaRef ds:uri="60129b06-f64b-40a8-96e2-c5b2f86112b1"/>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schemas.openxmlformats.org/package/2006/metadata/core-properties"/>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0</TotalTime>
  <Words>6624</Words>
  <Application>Microsoft Office PowerPoint</Application>
  <PresentationFormat>Widescreen</PresentationFormat>
  <Paragraphs>866</Paragraphs>
  <Slides>69</Slides>
  <Notes>69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69</vt:i4>
      </vt:variant>
    </vt:vector>
  </HeadingPairs>
  <TitlesOfParts>
    <vt:vector size="79" baseType="lpstr">
      <vt:lpstr>Public Sans Semi-Bold</vt:lpstr>
      <vt:lpstr>Public Sans</vt:lpstr>
      <vt:lpstr>Montserrat</vt:lpstr>
      <vt:lpstr>Arial</vt:lpstr>
      <vt:lpstr>Times New Roman</vt:lpstr>
      <vt:lpstr>Calibri</vt:lpstr>
      <vt:lpstr>Cambria Math</vt:lpstr>
      <vt:lpstr>Wingdings</vt:lpstr>
      <vt:lpstr>Public Sans Light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using arrays</vt:lpstr>
      <vt:lpstr>Review of learning 2</vt:lpstr>
      <vt:lpstr>True or false (1)</vt:lpstr>
      <vt:lpstr>Short response (5)</vt:lpstr>
      <vt:lpstr>Short response (6)</vt:lpstr>
      <vt:lpstr>Short response (7)</vt:lpstr>
      <vt:lpstr>Short response (8)</vt:lpstr>
      <vt:lpstr>Activity 2 – fact families</vt:lpstr>
      <vt:lpstr>Review of learning 3</vt:lpstr>
      <vt:lpstr>Multiple choice (2)</vt:lpstr>
      <vt:lpstr>Short response (9)</vt:lpstr>
      <vt:lpstr>Short response (10)</vt:lpstr>
      <vt:lpstr>Short response (11)</vt:lpstr>
      <vt:lpstr>Short response (12)</vt:lpstr>
      <vt:lpstr>Activity 3 – recalling fact families</vt:lpstr>
      <vt:lpstr>Review of learning 4</vt:lpstr>
      <vt:lpstr>True or false (2)</vt:lpstr>
      <vt:lpstr>Short response (13)</vt:lpstr>
      <vt:lpstr>Short response (14)</vt:lpstr>
      <vt:lpstr>Short response (15)</vt:lpstr>
      <vt:lpstr>Short response (16)</vt:lpstr>
      <vt:lpstr>Activity 4 – solving problems with fact families</vt:lpstr>
      <vt:lpstr>Review of learning 5</vt:lpstr>
      <vt:lpstr>Multiple choice (3)</vt:lpstr>
      <vt:lpstr>Short response (17)</vt:lpstr>
      <vt:lpstr>Short response (18)</vt:lpstr>
      <vt:lpstr>Short response (19)</vt:lpstr>
      <vt:lpstr>Short response (20)</vt:lpstr>
      <vt:lpstr>Activity 5 – ordering decimals</vt:lpstr>
      <vt:lpstr>Review of learning 6</vt:lpstr>
      <vt:lpstr>True or false (3)</vt:lpstr>
      <vt:lpstr>Short response (21)</vt:lpstr>
      <vt:lpstr>Short response (22)</vt:lpstr>
      <vt:lpstr>Short response (23)</vt:lpstr>
      <vt:lpstr>Short response (24)</vt:lpstr>
      <vt:lpstr>Activity 6 – comparing and ordering decimals</vt:lpstr>
      <vt:lpstr>Review of learning 7</vt:lpstr>
      <vt:lpstr>Multiple choice (4)</vt:lpstr>
      <vt:lpstr>Short response (25)</vt:lpstr>
      <vt:lpstr>Short response (26)</vt:lpstr>
      <vt:lpstr>Short response (27)</vt:lpstr>
      <vt:lpstr>Short response (28)</vt:lpstr>
      <vt:lpstr>Activity 7 – comparing decimals</vt:lpstr>
      <vt:lpstr>Review of learning 8</vt:lpstr>
      <vt:lpstr>True or false (4)</vt:lpstr>
      <vt:lpstr>Short response (29)</vt:lpstr>
      <vt:lpstr>Short response (30)</vt:lpstr>
      <vt:lpstr>Short response (31)</vt:lpstr>
      <vt:lpstr>Short response (32)</vt:lpstr>
      <vt:lpstr>Activity 8 – fractions and decimals connections</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11</cp:revision>
  <dcterms:created xsi:type="dcterms:W3CDTF">2025-10-28T21:34:25Z</dcterms:created>
  <dcterms:modified xsi:type="dcterms:W3CDTF">2026-04-01T22:11:18Z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